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433" r:id="rId4"/>
    <p:sldId id="461" r:id="rId5"/>
    <p:sldId id="462" r:id="rId6"/>
    <p:sldId id="463" r:id="rId7"/>
    <p:sldId id="464" r:id="rId8"/>
    <p:sldId id="465" r:id="rId9"/>
    <p:sldId id="466" r:id="rId10"/>
    <p:sldId id="467" r:id="rId11"/>
    <p:sldId id="276" r:id="rId12"/>
    <p:sldId id="468" r:id="rId13"/>
    <p:sldId id="469" r:id="rId14"/>
    <p:sldId id="470" r:id="rId15"/>
    <p:sldId id="471" r:id="rId16"/>
    <p:sldId id="472" r:id="rId17"/>
    <p:sldId id="473" r:id="rId18"/>
    <p:sldId id="474" r:id="rId19"/>
    <p:sldId id="475" r:id="rId20"/>
    <p:sldId id="476" r:id="rId21"/>
    <p:sldId id="493" r:id="rId22"/>
    <p:sldId id="477" r:id="rId23"/>
    <p:sldId id="478" r:id="rId24"/>
    <p:sldId id="479" r:id="rId25"/>
    <p:sldId id="480" r:id="rId26"/>
    <p:sldId id="481" r:id="rId27"/>
    <p:sldId id="482" r:id="rId28"/>
    <p:sldId id="483" r:id="rId29"/>
    <p:sldId id="484" r:id="rId30"/>
    <p:sldId id="284" r:id="rId31"/>
    <p:sldId id="285" r:id="rId32"/>
    <p:sldId id="485" r:id="rId33"/>
    <p:sldId id="486" r:id="rId34"/>
    <p:sldId id="487" r:id="rId35"/>
    <p:sldId id="488" r:id="rId36"/>
    <p:sldId id="489" r:id="rId37"/>
    <p:sldId id="490" r:id="rId38"/>
    <p:sldId id="491" r:id="rId39"/>
    <p:sldId id="492" r:id="rId40"/>
    <p:sldId id="293" r:id="rId41"/>
    <p:sldId id="294" r:id="rId42"/>
    <p:sldId id="301" r:id="rId43"/>
  </p:sldIdLst>
  <p:sldSz cx="12192000" cy="6858000"/>
  <p:notesSz cx="6858000" cy="9144000"/>
  <p:embeddedFontLst>
    <p:embeddedFont>
      <p:font typeface="Work Sans"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0"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0" autoAdjust="0"/>
    <p:restoredTop sz="84892" autoAdjust="0"/>
  </p:normalViewPr>
  <p:slideViewPr>
    <p:cSldViewPr snapToGrid="0">
      <p:cViewPr varScale="1">
        <p:scale>
          <a:sx n="91" d="100"/>
          <a:sy n="91" d="100"/>
        </p:scale>
        <p:origin x="1236"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5282815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571505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985178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43862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2440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0324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8349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1712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5094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7084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35623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1155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08735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4400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62331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6129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4667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9514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8417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3025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4525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119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47420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3918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0250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26776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1209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5371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7999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9957281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9812760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9399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72686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24320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3073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566238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64033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4788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71097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42856912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7589704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28866091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0" y="1168663"/>
            <a:ext cx="6104302"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5646420" y="3809720"/>
            <a:ext cx="6104302"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1000"/>
              </a:spcBef>
              <a:spcAft>
                <a:spcPts val="0"/>
              </a:spcAft>
              <a:buSzPts val="3200"/>
              <a:buNone/>
              <a:defRPr sz="32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48"/>
          <p:cNvSpPr>
            <a:spLocks noGrp="1"/>
          </p:cNvSpPr>
          <p:nvPr>
            <p:ph type="pic" idx="2"/>
          </p:nvPr>
        </p:nvSpPr>
        <p:spPr>
          <a:xfrm>
            <a:off x="475250" y="808037"/>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3" name="Content Placeholder 2">
            <a:extLst>
              <a:ext uri="{FF2B5EF4-FFF2-40B4-BE49-F238E27FC236}">
                <a16:creationId xmlns:a16="http://schemas.microsoft.com/office/drawing/2014/main" id="{F7D70076-6CFC-D4B5-6BBE-EF013756950C}"/>
              </a:ext>
            </a:extLst>
          </p:cNvPr>
          <p:cNvSpPr>
            <a:spLocks noGrp="1"/>
          </p:cNvSpPr>
          <p:nvPr>
            <p:ph sz="quarter" idx="10"/>
          </p:nvPr>
        </p:nvSpPr>
        <p:spPr>
          <a:xfrm>
            <a:off x="2003425" y="6323013"/>
            <a:ext cx="9078913" cy="366712"/>
          </a:xfrm>
        </p:spPr>
        <p:txBody>
          <a:bodyPr/>
          <a:lstStyle>
            <a:lvl1pPr marL="76200" indent="0">
              <a:lnSpc>
                <a:spcPct val="100000"/>
              </a:lnSpc>
              <a:buNone/>
              <a:defRPr>
                <a:solidFill>
                  <a:schemeClr val="bg1"/>
                </a:solidFill>
              </a:defRPr>
            </a:lvl1pPr>
            <a:lvl2pPr marL="533400" indent="0">
              <a:lnSpc>
                <a:spcPct val="100000"/>
              </a:lnSpc>
              <a:buNone/>
              <a:defRPr>
                <a:solidFill>
                  <a:schemeClr val="bg1"/>
                </a:solidFill>
              </a:defRPr>
            </a:lvl2pPr>
            <a:lvl3pPr marL="1021081" indent="0">
              <a:lnSpc>
                <a:spcPct val="100000"/>
              </a:lnSpc>
              <a:buNone/>
              <a:defRPr>
                <a:solidFill>
                  <a:schemeClr val="bg1"/>
                </a:solidFill>
              </a:defRPr>
            </a:lvl3pPr>
            <a:lvl4pPr marL="1447800" indent="0">
              <a:lnSpc>
                <a:spcPct val="100000"/>
              </a:lnSpc>
              <a:buNone/>
              <a:defRPr>
                <a:solidFill>
                  <a:schemeClr val="bg1"/>
                </a:solidFill>
              </a:defRPr>
            </a:lvl4pPr>
            <a:lvl5pPr marL="1854200" indent="0">
              <a:lnSpc>
                <a:spcPct val="100000"/>
              </a:lnSpc>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1949597"/>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a:p>
        </p:txBody>
      </p:sp>
      <p:sp>
        <p:nvSpPr>
          <p:cNvPr id="3" name="Content Placeholder 2">
            <a:extLst>
              <a:ext uri="{FF2B5EF4-FFF2-40B4-BE49-F238E27FC236}">
                <a16:creationId xmlns:a16="http://schemas.microsoft.com/office/drawing/2014/main" id="{32297178-F863-EFA9-6BF4-9FA6CA84CAA9}"/>
              </a:ext>
            </a:extLst>
          </p:cNvPr>
          <p:cNvSpPr>
            <a:spLocks noGrp="1"/>
          </p:cNvSpPr>
          <p:nvPr>
            <p:ph sz="quarter" idx="10"/>
          </p:nvPr>
        </p:nvSpPr>
        <p:spPr>
          <a:xfrm>
            <a:off x="476250" y="3638550"/>
            <a:ext cx="3614738" cy="55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709A593E-EAB9-AE63-978F-971B8E7CB99C}"/>
              </a:ext>
            </a:extLst>
          </p:cNvPr>
          <p:cNvSpPr>
            <a:spLocks noGrp="1"/>
          </p:cNvSpPr>
          <p:nvPr>
            <p:ph sz="quarter" idx="11"/>
          </p:nvPr>
        </p:nvSpPr>
        <p:spPr>
          <a:xfrm>
            <a:off x="476250" y="4322763"/>
            <a:ext cx="3614738"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3582A457-38B9-62FF-7A48-3AE85AD5F62A}"/>
              </a:ext>
            </a:extLst>
          </p:cNvPr>
          <p:cNvSpPr>
            <a:spLocks noGrp="1"/>
          </p:cNvSpPr>
          <p:nvPr>
            <p:ph type="pic" sz="quarter" idx="12"/>
          </p:nvPr>
        </p:nvSpPr>
        <p:spPr>
          <a:xfrm>
            <a:off x="4254500" y="3638550"/>
            <a:ext cx="731838" cy="1116013"/>
          </a:xfrm>
        </p:spPr>
        <p:txBody>
          <a:bodyPr/>
          <a:lstStyle/>
          <a:p>
            <a:endParaRPr lang="en-IN"/>
          </a:p>
        </p:txBody>
      </p:sp>
      <p:sp>
        <p:nvSpPr>
          <p:cNvPr id="9" name="Picture Placeholder 8">
            <a:extLst>
              <a:ext uri="{FF2B5EF4-FFF2-40B4-BE49-F238E27FC236}">
                <a16:creationId xmlns:a16="http://schemas.microsoft.com/office/drawing/2014/main" id="{CF4EA4DE-E1AD-04DF-5F12-78017A679FBA}"/>
              </a:ext>
            </a:extLst>
          </p:cNvPr>
          <p:cNvSpPr>
            <a:spLocks noGrp="1"/>
          </p:cNvSpPr>
          <p:nvPr>
            <p:ph type="pic" sz="quarter" idx="13"/>
          </p:nvPr>
        </p:nvSpPr>
        <p:spPr>
          <a:xfrm>
            <a:off x="5149850" y="3638550"/>
            <a:ext cx="731838" cy="1116013"/>
          </a:xfrm>
        </p:spPr>
        <p:txBody>
          <a:bodyPr/>
          <a:lstStyle/>
          <a:p>
            <a:endParaRPr lang="en-IN"/>
          </a:p>
        </p:txBody>
      </p:sp>
    </p:spTree>
    <p:extLst>
      <p:ext uri="{BB962C8B-B14F-4D97-AF65-F5344CB8AC3E}">
        <p14:creationId xmlns:p14="http://schemas.microsoft.com/office/powerpoint/2010/main" val="249650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A7F9FA33-4D98-36CA-A5E4-E52BE41F17F8}"/>
              </a:ext>
            </a:extLst>
          </p:cNvPr>
          <p:cNvSpPr txBox="1">
            <a:spLocks/>
          </p:cNvSpPr>
          <p:nvPr userDrawn="1"/>
        </p:nvSpPr>
        <p:spPr>
          <a:xfrm>
            <a:off x="2034955" y="6333523"/>
            <a:ext cx="9284685"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4"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Arial"/>
              <a:buNone/>
            </a:pPr>
            <a:r>
              <a:rPr lang="en-US" sz="4000">
                <a:latin typeface="Work Sans" pitchFamily="2" charset="0"/>
                <a:ea typeface="Arial"/>
                <a:cs typeface="Arial"/>
                <a:sym typeface="Arial"/>
              </a:rPr>
              <a:t>Automotive Technology: </a:t>
            </a:r>
            <a:br>
              <a:rPr lang="en-US" sz="4000">
                <a:latin typeface="Work Sans" pitchFamily="2" charset="0"/>
                <a:ea typeface="Arial"/>
                <a:cs typeface="Arial"/>
                <a:sym typeface="Arial"/>
              </a:rPr>
            </a:br>
            <a:r>
              <a:rPr lang="en-US" sz="4000">
                <a:latin typeface="Work Sans" pitchFamily="2" charset="0"/>
                <a:ea typeface="Arial"/>
                <a:cs typeface="Arial"/>
                <a:sym typeface="Arial"/>
              </a:rPr>
              <a:t>A Systems Approach, 8e</a:t>
            </a:r>
            <a:endParaRPr sz="400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None/>
            </a:pPr>
            <a:r>
              <a:rPr lang="en-US" dirty="0">
                <a:latin typeface="Work Sans" pitchFamily="2" charset="0"/>
                <a:ea typeface="Arial"/>
                <a:cs typeface="Arial"/>
                <a:sym typeface="Arial"/>
              </a:rPr>
              <a:t>Chapter 10: </a:t>
            </a:r>
            <a:r>
              <a:rPr lang="en-US" dirty="0">
                <a:latin typeface="Work Sans" pitchFamily="2" charset="0"/>
              </a:rPr>
              <a:t>Engine Disassembly and Cleaning</a:t>
            </a:r>
            <a:endParaRPr lang="en-US" dirty="0">
              <a:latin typeface="Work Sans" pitchFamily="2" charset="0"/>
              <a:ea typeface="Arial"/>
              <a:cs typeface="Arial"/>
              <a:sym typeface="Arial"/>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03F519B-78CF-D293-361F-4076EF521DAB}"/>
              </a:ext>
            </a:extLst>
          </p:cNvPr>
          <p:cNvPicPr>
            <a:picLocks noGrp="1" noChangeAspect="1"/>
          </p:cNvPicPr>
          <p:nvPr>
            <p:ph type="pic" idx="2"/>
          </p:nvPr>
        </p:nvPicPr>
        <p:blipFill rotWithShape="1">
          <a:blip r:embed="rId3"/>
          <a:stretch/>
        </p:blipFill>
        <p:spPr>
          <a:xfrm>
            <a:off x="631265" y="556465"/>
            <a:ext cx="4381500" cy="5611091"/>
          </a:xfrm>
          <a:prstGeom prst="rect">
            <a:avLst/>
          </a:prstGeom>
        </p:spPr>
      </p:pic>
      <p:sp>
        <p:nvSpPr>
          <p:cNvPr id="7" name="Content Placeholder 4">
            <a:extLst>
              <a:ext uri="{FF2B5EF4-FFF2-40B4-BE49-F238E27FC236}">
                <a16:creationId xmlns:a16="http://schemas.microsoft.com/office/drawing/2014/main" id="{ED9C7C92-0A67-ABA6-636D-0378A58ED731}"/>
              </a:ext>
            </a:extLst>
          </p:cNvPr>
          <p:cNvSpPr txBox="1">
            <a:spLocks noGrp="1"/>
          </p:cNvSpPr>
          <p:nvPr>
            <p:ph sz="quarter" idx="10"/>
          </p:nvPr>
        </p:nvSpPr>
        <p:spPr>
          <a:xfrm>
            <a:off x="2034955" y="6333523"/>
            <a:ext cx="9284685"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ts val="2800"/>
              <a:buChar char="•"/>
            </a:pPr>
            <a:r>
              <a:rPr lang="en-US" dirty="0"/>
              <a:t>10.01 Prepare an engine for </a:t>
            </a:r>
            <a:r>
              <a:rPr lang="en-US"/>
              <a:t>removal.</a:t>
            </a:r>
            <a:endParaRPr lang="en-US" dirty="0"/>
          </a:p>
          <a:p>
            <a:pPr marL="357188" marR="0" lvl="0" indent="-357188" algn="l" rtl="0">
              <a:spcAft>
                <a:spcPts val="600"/>
              </a:spcAft>
              <a:buSzPts val="2800"/>
              <a:buChar char="•"/>
            </a:pPr>
            <a:r>
              <a:rPr lang="en-US" dirty="0"/>
              <a:t>10.02 Remove an engine from a FWD and a RWD vehicle.</a:t>
            </a:r>
          </a:p>
          <a:p>
            <a:pPr marL="357188" marR="0" lvl="0" indent="-357188" algn="l" rtl="0">
              <a:spcAft>
                <a:spcPts val="600"/>
              </a:spcAft>
              <a:buSzPts val="2800"/>
              <a:buChar char="•"/>
            </a:pPr>
            <a:r>
              <a:rPr lang="en-US" dirty="0"/>
              <a:t>10.03 Separate the engine into its basic </a:t>
            </a:r>
            <a:r>
              <a:rPr lang="en-US"/>
              <a:t>components.</a:t>
            </a:r>
            <a:endParaRPr lang="en-US" dirty="0"/>
          </a:p>
          <a:p>
            <a:pPr marL="357188" marR="0" lvl="0" indent="-357188" algn="l" rtl="0">
              <a:spcAft>
                <a:spcPts val="600"/>
              </a:spcAft>
              <a:buSzPts val="2800"/>
              <a:buChar char="•"/>
            </a:pPr>
            <a:r>
              <a:rPr lang="en-US" dirty="0"/>
              <a:t>10.04 Clean engine parts using the appropriate method for the construction of the part.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ts val="2800"/>
              <a:buChar char="•"/>
            </a:pPr>
            <a:r>
              <a:rPr lang="en-US" dirty="0"/>
              <a:t>10.05 Inspect engine parts for </a:t>
            </a:r>
            <a:r>
              <a:rPr lang="en-US"/>
              <a:t>cracks.</a:t>
            </a:r>
            <a:endParaRPr lang="en-US" dirty="0"/>
          </a:p>
          <a:p>
            <a:pPr marL="357188" marR="0" lvl="0" indent="-357188" algn="l" rtl="0">
              <a:spcAft>
                <a:spcPts val="600"/>
              </a:spcAft>
              <a:buSzPts val="2800"/>
              <a:buChar char="•"/>
            </a:pPr>
            <a:r>
              <a:rPr lang="en-US" dirty="0"/>
              <a:t>10.06 Perform common services to an engine while it is in a </a:t>
            </a:r>
            <a:r>
              <a:rPr lang="en-US"/>
              <a:t>vehicle.</a:t>
            </a:r>
            <a:endParaRPr lang="en-US" dirty="0"/>
          </a:p>
          <a:p>
            <a:pPr marL="357188" marR="0" lvl="0" indent="-357188" algn="l" rtl="0">
              <a:spcAft>
                <a:spcPts val="600"/>
              </a:spcAft>
              <a:buSzPts val="2800"/>
              <a:buChar char="•"/>
            </a:pPr>
            <a:r>
              <a:rPr lang="en-US" dirty="0"/>
              <a:t>10.07 Remove and reinstall a cylinder </a:t>
            </a:r>
            <a:r>
              <a:rPr lang="en-US"/>
              <a:t>head.</a:t>
            </a:r>
            <a:endParaRPr lang="en-US" dirty="0"/>
          </a:p>
        </p:txBody>
      </p:sp>
    </p:spTree>
    <p:extLst>
      <p:ext uri="{BB962C8B-B14F-4D97-AF65-F5344CB8AC3E}">
        <p14:creationId xmlns:p14="http://schemas.microsoft.com/office/powerpoint/2010/main" val="41415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(1 of 7)</a:t>
            </a:r>
            <a:endParaRPr dirty="0">
              <a:solidFill>
                <a:schemeClr val="accent1"/>
              </a:solidFill>
            </a:endParaRPr>
          </a:p>
        </p:txBody>
      </p:sp>
      <p:sp>
        <p:nvSpPr>
          <p:cNvPr id="145" name="Google Shape;145;p4"/>
          <p:cNvSpPr txBox="1">
            <a:spLocks noGrp="1"/>
          </p:cNvSpPr>
          <p:nvPr>
            <p:ph type="body" idx="1"/>
          </p:nvPr>
        </p:nvSpPr>
        <p:spPr>
          <a:xfrm>
            <a:off x="476843" y="1563624"/>
            <a:ext cx="6554578" cy="4521866"/>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400" b="1" dirty="0"/>
              <a:t>10.01 Prepare an engine for removal.</a:t>
            </a:r>
          </a:p>
          <a:p>
            <a:pPr marL="357188" indent="-357188">
              <a:spcAft>
                <a:spcPts val="600"/>
              </a:spcAft>
              <a:buSzPct val="100000"/>
            </a:pPr>
            <a:r>
              <a:rPr lang="en-US" sz="2400" dirty="0"/>
              <a:t>Make sure you have the tools and equipment required for the job.</a:t>
            </a:r>
          </a:p>
          <a:p>
            <a:pPr marL="357188" indent="-357188">
              <a:spcAft>
                <a:spcPts val="600"/>
              </a:spcAft>
              <a:buSzPct val="100000"/>
            </a:pPr>
            <a:r>
              <a:rPr lang="en-US" sz="2400" dirty="0"/>
              <a:t>You will also need an engine hoist or crane and a jack.</a:t>
            </a:r>
          </a:p>
          <a:p>
            <a:pPr marL="357188" indent="-357188">
              <a:spcAft>
                <a:spcPts val="600"/>
              </a:spcAft>
              <a:buSzPct val="100000"/>
            </a:pPr>
            <a:r>
              <a:rPr lang="en-US" sz="2400" dirty="0"/>
              <a:t>The procedures for engine removal vary.</a:t>
            </a:r>
          </a:p>
          <a:p>
            <a:pPr marL="714375" lvl="1" indent="-357188">
              <a:spcAft>
                <a:spcPts val="600"/>
              </a:spcAft>
              <a:buSzPct val="100000"/>
            </a:pPr>
            <a:r>
              <a:rPr lang="en-US" sz="2200" dirty="0"/>
              <a:t>Depending on whether the engine is removed from the bottom of the vehicle or through the hood opening.</a:t>
            </a:r>
          </a:p>
        </p:txBody>
      </p:sp>
      <p:pic>
        <p:nvPicPr>
          <p:cNvPr id="7" name="Picture Placeholder 6" descr="An engine hoisted by a hydraulic system. The hydraulic hoist has a square base, with two extendable legs. The main frame stands vertically up. A horizontal extendable boom is attached to the main frame. A hydraulic jack is attached between the main frame and the boom, to move the boom up and down.">
            <a:extLst>
              <a:ext uri="{FF2B5EF4-FFF2-40B4-BE49-F238E27FC236}">
                <a16:creationId xmlns:a16="http://schemas.microsoft.com/office/drawing/2014/main" id="{A9D17352-F93B-63D0-5815-FC8DC12297AE}"/>
              </a:ext>
            </a:extLst>
          </p:cNvPr>
          <p:cNvPicPr>
            <a:picLocks noGrp="1" noChangeAspect="1"/>
          </p:cNvPicPr>
          <p:nvPr>
            <p:ph type="pic" sz="quarter" idx="12"/>
          </p:nvPr>
        </p:nvPicPr>
        <p:blipFill>
          <a:blip r:embed="rId3"/>
          <a:srcRect b="15509"/>
          <a:stretch/>
        </p:blipFill>
        <p:spPr>
          <a:xfrm>
            <a:off x="7245116" y="1779742"/>
            <a:ext cx="4470041" cy="3298517"/>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(2 of 7)</a:t>
            </a:r>
            <a:endParaRPr dirty="0">
              <a:solidFill>
                <a:schemeClr val="accent1"/>
              </a:solidFill>
            </a:endParaRPr>
          </a:p>
        </p:txBody>
      </p:sp>
      <p:sp>
        <p:nvSpPr>
          <p:cNvPr id="145" name="Google Shape;145;p4"/>
          <p:cNvSpPr txBox="1">
            <a:spLocks noGrp="1"/>
          </p:cNvSpPr>
          <p:nvPr>
            <p:ph type="body" idx="1"/>
          </p:nvPr>
        </p:nvSpPr>
        <p:spPr>
          <a:xfrm>
            <a:off x="476844" y="1563624"/>
            <a:ext cx="7447956" cy="4637479"/>
          </a:xfrm>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1800" dirty="0"/>
              <a:t>When removing an engine, open the hood and put fender covers on both front fenders.</a:t>
            </a:r>
          </a:p>
          <a:p>
            <a:pPr marL="357188" indent="-357188">
              <a:spcAft>
                <a:spcPts val="400"/>
              </a:spcAft>
              <a:buSzPct val="100000"/>
            </a:pPr>
            <a:r>
              <a:rPr lang="en-US" sz="1800" dirty="0"/>
              <a:t>Once the vehicle is in position, relieve the pressure in the fuel system using the procedures given by the manufacturer.</a:t>
            </a:r>
          </a:p>
          <a:p>
            <a:pPr marL="357188" indent="-357188">
              <a:spcAft>
                <a:spcPts val="400"/>
              </a:spcAft>
              <a:buSzPct val="100000"/>
            </a:pPr>
            <a:r>
              <a:rPr lang="en-US" sz="1800" dirty="0"/>
              <a:t>Install a memory saver before you disconnect the battery to prevent the vehicle’s computers and other devices from losing what they have stored in their memory.</a:t>
            </a:r>
          </a:p>
          <a:p>
            <a:pPr marL="357188" indent="-357188">
              <a:spcAft>
                <a:spcPts val="400"/>
              </a:spcAft>
              <a:buSzPct val="100000"/>
            </a:pPr>
            <a:r>
              <a:rPr lang="en-US" sz="1800" dirty="0"/>
              <a:t>Disconnect all negative battery cables and place them away from the battery.</a:t>
            </a:r>
          </a:p>
          <a:p>
            <a:pPr marL="357188" indent="-357188">
              <a:spcAft>
                <a:spcPts val="400"/>
              </a:spcAft>
              <a:buSzPct val="100000"/>
            </a:pPr>
            <a:r>
              <a:rPr lang="en-US" sz="1800" dirty="0"/>
              <a:t>If the battery will be in the way of engine removal, remove the positive cables and the battery.</a:t>
            </a:r>
          </a:p>
          <a:p>
            <a:pPr marL="357188" indent="-357188">
              <a:spcAft>
                <a:spcPts val="400"/>
              </a:spcAft>
              <a:buSzPct val="100000"/>
            </a:pPr>
            <a:r>
              <a:rPr lang="en-US" sz="1800" dirty="0"/>
              <a:t>If the vehicle is a hybrid, you will need to disconnect the high-voltage wiring.</a:t>
            </a:r>
          </a:p>
        </p:txBody>
      </p:sp>
      <p:pic>
        <p:nvPicPr>
          <p:cNvPr id="7" name="Picture Placeholder 6" descr="A fender covers are placed on both front fenders on the hood of a vehicle.">
            <a:extLst>
              <a:ext uri="{FF2B5EF4-FFF2-40B4-BE49-F238E27FC236}">
                <a16:creationId xmlns:a16="http://schemas.microsoft.com/office/drawing/2014/main" id="{64EBB567-4833-4439-E2C4-5E2E09193AA6}"/>
              </a:ext>
            </a:extLst>
          </p:cNvPr>
          <p:cNvPicPr>
            <a:picLocks noGrp="1" noChangeAspect="1"/>
          </p:cNvPicPr>
          <p:nvPr>
            <p:ph type="pic" sz="quarter" idx="12"/>
          </p:nvPr>
        </p:nvPicPr>
        <p:blipFill>
          <a:blip r:embed="rId3"/>
          <a:srcRect b="13441"/>
          <a:stretch/>
        </p:blipFill>
        <p:spPr>
          <a:xfrm>
            <a:off x="7785027" y="1931383"/>
            <a:ext cx="4110995" cy="2995234"/>
          </a:xfrm>
          <a:prstGeom prst="rect">
            <a:avLst/>
          </a:prstGeom>
        </p:spPr>
      </p:pic>
    </p:spTree>
    <p:extLst>
      <p:ext uri="{BB962C8B-B14F-4D97-AF65-F5344CB8AC3E}">
        <p14:creationId xmlns:p14="http://schemas.microsoft.com/office/powerpoint/2010/main" val="3436351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(3 of 7)</a:t>
            </a:r>
            <a:endParaRPr dirty="0">
              <a:solidFill>
                <a:schemeClr val="accent1"/>
              </a:solidFill>
            </a:endParaRPr>
          </a:p>
        </p:txBody>
      </p:sp>
      <p:pic>
        <p:nvPicPr>
          <p:cNvPr id="11" name="Picture Placeholder 10" descr="An automobile engine cooling system with a cylindrical head, linkages, and hoses.">
            <a:extLst>
              <a:ext uri="{FF2B5EF4-FFF2-40B4-BE49-F238E27FC236}">
                <a16:creationId xmlns:a16="http://schemas.microsoft.com/office/drawing/2014/main" id="{A964F670-B5F7-77E6-676B-E4120C1B30AE}"/>
              </a:ext>
            </a:extLst>
          </p:cNvPr>
          <p:cNvPicPr>
            <a:picLocks noGrp="1" noChangeAspect="1"/>
          </p:cNvPicPr>
          <p:nvPr>
            <p:ph type="pic" sz="quarter" idx="12"/>
          </p:nvPr>
        </p:nvPicPr>
        <p:blipFill>
          <a:blip r:embed="rId3"/>
          <a:srcRect b="17207"/>
          <a:stretch/>
        </p:blipFill>
        <p:spPr>
          <a:xfrm>
            <a:off x="518573" y="1810204"/>
            <a:ext cx="4437509" cy="3237592"/>
          </a:xfrm>
          <a:prstGeom prst="rect">
            <a:avLst/>
          </a:prstGeom>
        </p:spPr>
      </p:pic>
      <p:sp>
        <p:nvSpPr>
          <p:cNvPr id="145" name="Google Shape;145;p4"/>
          <p:cNvSpPr txBox="1">
            <a:spLocks noGrp="1"/>
          </p:cNvSpPr>
          <p:nvPr>
            <p:ph type="body" idx="1"/>
          </p:nvPr>
        </p:nvSpPr>
        <p:spPr>
          <a:xfrm>
            <a:off x="4995677" y="1563624"/>
            <a:ext cx="6723081" cy="4563907"/>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400" dirty="0"/>
              <a:t>Underbody Connections</a:t>
            </a:r>
          </a:p>
          <a:p>
            <a:pPr marL="714375" lvl="1" indent="-357188">
              <a:spcAft>
                <a:spcPts val="600"/>
              </a:spcAft>
              <a:buSzPct val="100000"/>
            </a:pPr>
            <a:r>
              <a:rPr lang="en-US" sz="2200" dirty="0"/>
              <a:t>While you are under the vehicle to drain the fluids, disconnect the shift linkage, transmission cooling lines, all electrical connections, vacuum hoses, and clutch linkages from the transmission. </a:t>
            </a:r>
          </a:p>
          <a:p>
            <a:pPr marL="714375" lvl="1" indent="-357188">
              <a:spcAft>
                <a:spcPts val="600"/>
              </a:spcAft>
              <a:buSzPct val="100000"/>
            </a:pPr>
            <a:r>
              <a:rPr lang="en-US" sz="2200" dirty="0"/>
              <a:t>If the clutch is hydraulically operated, unbolt the slave cylinder and set it aside, if possible. </a:t>
            </a:r>
          </a:p>
          <a:p>
            <a:pPr marL="714375" lvl="1" indent="-357188">
              <a:spcAft>
                <a:spcPts val="600"/>
              </a:spcAft>
              <a:buSzPct val="100000"/>
            </a:pPr>
            <a:r>
              <a:rPr lang="en-US" sz="2200" dirty="0"/>
              <a:t>If this is not possible, disconnect and plug the line into the cylinder.</a:t>
            </a:r>
          </a:p>
        </p:txBody>
      </p:sp>
    </p:spTree>
    <p:extLst>
      <p:ext uri="{BB962C8B-B14F-4D97-AF65-F5344CB8AC3E}">
        <p14:creationId xmlns:p14="http://schemas.microsoft.com/office/powerpoint/2010/main" val="3306626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(4 of 7)</a:t>
            </a:r>
            <a:endParaRPr dirty="0">
              <a:solidFill>
                <a:schemeClr val="accent1"/>
              </a:solidFill>
            </a:endParaRPr>
          </a:p>
        </p:txBody>
      </p:sp>
      <p:sp>
        <p:nvSpPr>
          <p:cNvPr id="145" name="Google Shape;145;p4"/>
          <p:cNvSpPr txBox="1">
            <a:spLocks noGrp="1"/>
          </p:cNvSpPr>
          <p:nvPr>
            <p:ph type="body" idx="1"/>
          </p:nvPr>
        </p:nvSpPr>
        <p:spPr>
          <a:xfrm>
            <a:off x="476843" y="1563624"/>
            <a:ext cx="6964481" cy="4521866"/>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t>Remove the air intake ducts and air cleaner assembly.</a:t>
            </a:r>
          </a:p>
          <a:p>
            <a:pPr marL="357188" indent="-357188">
              <a:buSzPct val="100000"/>
            </a:pPr>
            <a:r>
              <a:rPr lang="en-US" sz="2000" dirty="0"/>
              <a:t>Depressurize the fuel system if possible. This is especially important for engines with direct fuel injection.</a:t>
            </a:r>
          </a:p>
          <a:p>
            <a:pPr marL="357188" indent="-357188">
              <a:buSzPct val="100000"/>
            </a:pPr>
            <a:r>
              <a:rPr lang="en-US" sz="2000" dirty="0"/>
              <a:t>Disconnect and plug the fuel line at the fuel rail.</a:t>
            </a:r>
          </a:p>
          <a:p>
            <a:pPr marL="357188" indent="-357188">
              <a:buSzPct val="100000"/>
            </a:pPr>
            <a:r>
              <a:rPr lang="en-US" sz="2000" dirty="0"/>
              <a:t>Make sure all fuel lines are closed off with pinch pliers or an appropriate plug or cap.</a:t>
            </a:r>
          </a:p>
          <a:p>
            <a:pPr marL="357188" indent="-357188">
              <a:buSzPct val="100000"/>
            </a:pPr>
            <a:r>
              <a:rPr lang="en-US" sz="2000" dirty="0"/>
              <a:t>Most late-model fuel lines have quick-connect fittings that are separated by squeezing the retainer tabs together and pulling the fitting off the fuel line nipple.</a:t>
            </a:r>
          </a:p>
          <a:p>
            <a:pPr marL="357188" indent="-357188">
              <a:buSzPct val="100000"/>
            </a:pPr>
            <a:r>
              <a:rPr lang="en-US" sz="2000" dirty="0"/>
              <a:t>Disconnect all vacuum lines at the engine.</a:t>
            </a:r>
          </a:p>
        </p:txBody>
      </p:sp>
      <p:pic>
        <p:nvPicPr>
          <p:cNvPr id="7" name="Picture Placeholder 6" descr="The structure of an air-fuel system with the following labeled components: Pressure regulator, Fuel rail, Injector, Fuel filter, Supply fuel line, In-tank pump, and Return fuel line.">
            <a:extLst>
              <a:ext uri="{FF2B5EF4-FFF2-40B4-BE49-F238E27FC236}">
                <a16:creationId xmlns:a16="http://schemas.microsoft.com/office/drawing/2014/main" id="{406B9C75-09F9-605E-DF54-05DEF5FF6BC7}"/>
              </a:ext>
            </a:extLst>
          </p:cNvPr>
          <p:cNvPicPr>
            <a:picLocks noGrp="1" noChangeAspect="1"/>
          </p:cNvPicPr>
          <p:nvPr>
            <p:ph type="pic" sz="quarter" idx="12"/>
          </p:nvPr>
        </p:nvPicPr>
        <p:blipFill>
          <a:blip r:embed="rId3"/>
          <a:srcRect b="4974"/>
          <a:stretch/>
        </p:blipFill>
        <p:spPr>
          <a:xfrm>
            <a:off x="7419509" y="2234502"/>
            <a:ext cx="4425696" cy="3006958"/>
          </a:xfrm>
          <a:prstGeom prst="rect">
            <a:avLst/>
          </a:prstGeom>
        </p:spPr>
      </p:pic>
    </p:spTree>
    <p:extLst>
      <p:ext uri="{BB962C8B-B14F-4D97-AF65-F5344CB8AC3E}">
        <p14:creationId xmlns:p14="http://schemas.microsoft.com/office/powerpoint/2010/main" val="636245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(5 of 7)</a:t>
            </a:r>
            <a:endParaRPr dirty="0">
              <a:solidFill>
                <a:schemeClr val="accent1"/>
              </a:solidFill>
            </a:endParaRPr>
          </a:p>
        </p:txBody>
      </p:sp>
      <p:sp>
        <p:nvSpPr>
          <p:cNvPr id="145" name="Google Shape;145;p4"/>
          <p:cNvSpPr txBox="1">
            <a:spLocks noGrp="1"/>
          </p:cNvSpPr>
          <p:nvPr>
            <p:ph type="body" idx="1"/>
          </p:nvPr>
        </p:nvSpPr>
        <p:spPr>
          <a:xfrm>
            <a:off x="476843" y="1563624"/>
            <a:ext cx="7134823" cy="4534513"/>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400" dirty="0"/>
              <a:t>Accessories</a:t>
            </a:r>
          </a:p>
          <a:p>
            <a:pPr marL="714375" lvl="1" indent="-357188">
              <a:spcAft>
                <a:spcPts val="600"/>
              </a:spcAft>
              <a:buSzPct val="100000"/>
            </a:pPr>
            <a:r>
              <a:rPr lang="en-US" sz="2200" dirty="0"/>
              <a:t>Remove all drive belts.</a:t>
            </a:r>
          </a:p>
          <a:p>
            <a:pPr marL="714375" lvl="1" indent="-357188">
              <a:spcAft>
                <a:spcPts val="600"/>
              </a:spcAft>
              <a:buSzPct val="100000"/>
            </a:pPr>
            <a:r>
              <a:rPr lang="en-US" sz="2200" dirty="0"/>
              <a:t>Unbolt and move the power-steering pump and air-conditioning (A/C) compressor out of the way.</a:t>
            </a:r>
          </a:p>
          <a:p>
            <a:pPr marL="714375" lvl="1" indent="-357188">
              <a:spcAft>
                <a:spcPts val="600"/>
              </a:spcAft>
              <a:buSzPct val="100000"/>
            </a:pPr>
            <a:r>
              <a:rPr lang="en-US" sz="2200" dirty="0"/>
              <a:t>Don’t disconnect the lines unless necessary. </a:t>
            </a:r>
          </a:p>
          <a:p>
            <a:pPr marL="714375" lvl="1" indent="-357188">
              <a:spcAft>
                <a:spcPts val="600"/>
              </a:spcAft>
              <a:buSzPct val="100000"/>
            </a:pPr>
            <a:r>
              <a:rPr lang="en-US" sz="2200" dirty="0"/>
              <a:t>If the pressure hoses at the A/C compressor must be disconnected, do not loosen the fittings until the refrigerant has been captured by a refrigerant reclaimer/recycling machine.</a:t>
            </a:r>
          </a:p>
        </p:txBody>
      </p:sp>
      <p:pic>
        <p:nvPicPr>
          <p:cNvPr id="7" name="Picture Placeholder 6" descr="Two sets of drive belts. The first drive belt runs through the generator pulley, air pump pulley, crankshaft pulley, and water pump pulley. The second drive belt runs through the Air conditioning compressor pulley, crankshaft pulley, and power-steering pump pulley.">
            <a:extLst>
              <a:ext uri="{FF2B5EF4-FFF2-40B4-BE49-F238E27FC236}">
                <a16:creationId xmlns:a16="http://schemas.microsoft.com/office/drawing/2014/main" id="{E7C8DAC6-71CA-325E-02DC-C8816F27CD0A}"/>
              </a:ext>
            </a:extLst>
          </p:cNvPr>
          <p:cNvPicPr>
            <a:picLocks noGrp="1" noChangeAspect="1"/>
          </p:cNvPicPr>
          <p:nvPr>
            <p:ph type="pic" sz="quarter" idx="12"/>
          </p:nvPr>
        </p:nvPicPr>
        <p:blipFill>
          <a:blip r:embed="rId3"/>
          <a:srcRect b="10347"/>
          <a:stretch/>
        </p:blipFill>
        <p:spPr>
          <a:xfrm>
            <a:off x="7954566" y="1416246"/>
            <a:ext cx="3699627" cy="4025508"/>
          </a:xfrm>
          <a:prstGeom prst="rect">
            <a:avLst/>
          </a:prstGeom>
        </p:spPr>
      </p:pic>
    </p:spTree>
    <p:extLst>
      <p:ext uri="{BB962C8B-B14F-4D97-AF65-F5344CB8AC3E}">
        <p14:creationId xmlns:p14="http://schemas.microsoft.com/office/powerpoint/2010/main" val="2382124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(6 of 7)</a:t>
            </a:r>
            <a:endParaRPr dirty="0">
              <a:solidFill>
                <a:schemeClr val="accent1"/>
              </a:solidFill>
            </a:endParaRPr>
          </a:p>
        </p:txBody>
      </p:sp>
      <p:sp>
        <p:nvSpPr>
          <p:cNvPr id="145" name="Google Shape;145;p4"/>
          <p:cNvSpPr txBox="1">
            <a:spLocks noGrp="1"/>
          </p:cNvSpPr>
          <p:nvPr>
            <p:ph type="body" idx="1"/>
          </p:nvPr>
        </p:nvSpPr>
        <p:spPr>
          <a:xfrm>
            <a:off x="476844" y="1563624"/>
            <a:ext cx="6638660" cy="4511355"/>
          </a:xfrm>
          <a:prstGeom prst="rect">
            <a:avLst/>
          </a:prstGeom>
          <a:noFill/>
          <a:ln>
            <a:noFill/>
          </a:ln>
        </p:spPr>
        <p:txBody>
          <a:bodyPr spcFirstLastPara="1" wrap="square" lIns="91425" tIns="45700" rIns="91425" bIns="45700" anchor="t" anchorCtr="0">
            <a:noAutofit/>
          </a:bodyPr>
          <a:lstStyle/>
          <a:p>
            <a:pPr marL="357188" indent="-357188">
              <a:spcAft>
                <a:spcPts val="600"/>
              </a:spcAft>
              <a:buSzPts val="2800"/>
            </a:pPr>
            <a:r>
              <a:rPr lang="en-US" sz="2400" dirty="0"/>
              <a:t>Electrical Connections</a:t>
            </a:r>
          </a:p>
          <a:p>
            <a:pPr marL="714375" lvl="1" indent="-357188">
              <a:spcAft>
                <a:spcPts val="600"/>
              </a:spcAft>
              <a:buSzPts val="2800"/>
            </a:pPr>
            <a:r>
              <a:rPr lang="en-US" sz="2200" dirty="0"/>
              <a:t>Unplug all electrical connectors between the engine and the vehicle.</a:t>
            </a:r>
          </a:p>
          <a:p>
            <a:pPr marL="714375" lvl="1" indent="-357188">
              <a:spcAft>
                <a:spcPts val="600"/>
              </a:spcAft>
              <a:buSzPts val="2800"/>
            </a:pPr>
            <a:r>
              <a:rPr lang="en-US" sz="2200" dirty="0"/>
              <a:t>Use masking tape to label all wires that are disconnected.</a:t>
            </a:r>
          </a:p>
          <a:p>
            <a:pPr marL="714375" lvl="1" indent="-357188">
              <a:spcAft>
                <a:spcPts val="600"/>
              </a:spcAft>
              <a:buSzPts val="2800"/>
            </a:pPr>
            <a:r>
              <a:rPr lang="en-US" sz="2200" dirty="0"/>
              <a:t>Most engines have a crankshaft position sensor attached above the flywheel or </a:t>
            </a:r>
            <a:r>
              <a:rPr lang="en-US" sz="2200" dirty="0" err="1"/>
              <a:t>flexplate</a:t>
            </a:r>
            <a:r>
              <a:rPr lang="en-US" sz="2200" dirty="0"/>
              <a:t>.</a:t>
            </a:r>
          </a:p>
          <a:p>
            <a:pPr marL="714375" lvl="1" indent="-357188">
              <a:spcAft>
                <a:spcPts val="600"/>
              </a:spcAft>
              <a:buSzPts val="2800"/>
            </a:pPr>
            <a:r>
              <a:rPr lang="en-US" sz="2200" dirty="0"/>
              <a:t>This sensor must be removed before separating the engine from the bell housing.</a:t>
            </a:r>
          </a:p>
        </p:txBody>
      </p:sp>
      <p:pic>
        <p:nvPicPr>
          <p:cNvPr id="7" name="Picture Placeholder 6" descr="A close-up view of the electrical wires between the engine and the vehicle. The disconnected wires are labeled using strips of a masking tape.">
            <a:extLst>
              <a:ext uri="{FF2B5EF4-FFF2-40B4-BE49-F238E27FC236}">
                <a16:creationId xmlns:a16="http://schemas.microsoft.com/office/drawing/2014/main" id="{B66D3AF6-79C9-2742-1179-E517C296E7D6}"/>
              </a:ext>
            </a:extLst>
          </p:cNvPr>
          <p:cNvPicPr>
            <a:picLocks noGrp="1" noChangeAspect="1"/>
          </p:cNvPicPr>
          <p:nvPr>
            <p:ph type="pic" sz="quarter" idx="12"/>
          </p:nvPr>
        </p:nvPicPr>
        <p:blipFill>
          <a:blip r:embed="rId3"/>
          <a:srcRect b="16090"/>
          <a:stretch/>
        </p:blipFill>
        <p:spPr>
          <a:xfrm>
            <a:off x="7140696" y="1750157"/>
            <a:ext cx="4587161" cy="3357687"/>
          </a:xfrm>
          <a:prstGeom prst="rect">
            <a:avLst/>
          </a:prstGeom>
        </p:spPr>
      </p:pic>
    </p:spTree>
    <p:extLst>
      <p:ext uri="{BB962C8B-B14F-4D97-AF65-F5344CB8AC3E}">
        <p14:creationId xmlns:p14="http://schemas.microsoft.com/office/powerpoint/2010/main" val="1872262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solidFill>
                  <a:schemeClr val="accent1"/>
                </a:solidFill>
              </a:rPr>
              <a:t>Removing an Engine </a:t>
            </a:r>
            <a:r>
              <a:rPr lang="en-US" dirty="0">
                <a:solidFill>
                  <a:schemeClr val="accent1"/>
                </a:solidFill>
              </a:rPr>
              <a:t>(7 of 7)</a:t>
            </a:r>
            <a:endParaRPr dirty="0">
              <a:solidFill>
                <a:schemeClr val="accent1"/>
              </a:solidFill>
            </a:endParaRPr>
          </a:p>
        </p:txBody>
      </p:sp>
      <p:sp>
        <p:nvSpPr>
          <p:cNvPr id="145" name="Google Shape;145;p4"/>
          <p:cNvSpPr txBox="1">
            <a:spLocks noGrp="1"/>
          </p:cNvSpPr>
          <p:nvPr>
            <p:ph type="body" idx="1"/>
          </p:nvPr>
        </p:nvSpPr>
        <p:spPr>
          <a:xfrm>
            <a:off x="476844" y="1563624"/>
            <a:ext cx="6932949" cy="4605948"/>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600" dirty="0"/>
              <a:t>Disconnect the exhaust system; try to do this at the exhaust </a:t>
            </a:r>
            <a:r>
              <a:rPr lang="en-US" sz="1600"/>
              <a:t>manifold.</a:t>
            </a:r>
            <a:endParaRPr lang="en-US" sz="1600" dirty="0"/>
          </a:p>
          <a:p>
            <a:pPr marL="357188" indent="-357188">
              <a:spcAft>
                <a:spcPts val="600"/>
              </a:spcAft>
              <a:buSzPct val="100000"/>
            </a:pPr>
            <a:r>
              <a:rPr lang="en-US" sz="1600" dirty="0"/>
              <a:t>When disconnecting the exhaust system, make sure the wires connected to the exhaust sensors are disconnected before the system is </a:t>
            </a:r>
            <a:r>
              <a:rPr lang="en-US" sz="1600"/>
              <a:t>moved.</a:t>
            </a:r>
            <a:endParaRPr lang="en-US" sz="1600" dirty="0"/>
          </a:p>
          <a:p>
            <a:pPr marL="357188" indent="-357188">
              <a:spcAft>
                <a:spcPts val="600"/>
              </a:spcAft>
              <a:buSzPct val="100000"/>
            </a:pPr>
            <a:r>
              <a:rPr lang="en-US" sz="1600" dirty="0"/>
              <a:t>Remove any heat shields that may be in the way of moving or removing the exhaust </a:t>
            </a:r>
            <a:r>
              <a:rPr lang="en-US" sz="1600"/>
              <a:t>system.</a:t>
            </a:r>
            <a:endParaRPr lang="en-US" sz="1600" dirty="0"/>
          </a:p>
          <a:p>
            <a:pPr marL="357188" indent="-357188">
              <a:spcAft>
                <a:spcPts val="600"/>
              </a:spcAft>
              <a:buSzPct val="100000"/>
            </a:pPr>
            <a:r>
              <a:rPr lang="en-US" sz="1600" dirty="0"/>
              <a:t>Because there is typically easy access to the cables, wiring, and bell housing bolts, removing the engine from a RWD vehicle is more straightforward than removing one from a FWD </a:t>
            </a:r>
            <a:r>
              <a:rPr lang="en-US" sz="1600"/>
              <a:t>model.</a:t>
            </a:r>
            <a:endParaRPr lang="en-US" sz="1600" dirty="0"/>
          </a:p>
          <a:p>
            <a:pPr marL="357188" indent="-357188">
              <a:spcAft>
                <a:spcPts val="600"/>
              </a:spcAft>
              <a:buSzPct val="100000"/>
            </a:pPr>
            <a:r>
              <a:rPr lang="en-US" sz="1600" dirty="0"/>
              <a:t>Engines in FWD cars can be more difficult to remove because large assemblies such as engine cradles, suspension components, brake components, splash shields, or other pieces may need to be disassembled or removed.</a:t>
            </a:r>
          </a:p>
        </p:txBody>
      </p:sp>
      <p:pic>
        <p:nvPicPr>
          <p:cNvPr id="7" name="Picture Placeholder 6" descr="A partially rusted exhaust system with connections to an engine.">
            <a:extLst>
              <a:ext uri="{FF2B5EF4-FFF2-40B4-BE49-F238E27FC236}">
                <a16:creationId xmlns:a16="http://schemas.microsoft.com/office/drawing/2014/main" id="{CD939C93-3665-F904-B629-348FF093F6D8}"/>
              </a:ext>
            </a:extLst>
          </p:cNvPr>
          <p:cNvPicPr>
            <a:picLocks noGrp="1" noChangeAspect="1"/>
          </p:cNvPicPr>
          <p:nvPr>
            <p:ph type="pic" sz="quarter" idx="12"/>
          </p:nvPr>
        </p:nvPicPr>
        <p:blipFill>
          <a:blip r:embed="rId3"/>
          <a:srcRect b="16979"/>
          <a:stretch/>
        </p:blipFill>
        <p:spPr>
          <a:xfrm>
            <a:off x="7546508" y="1812329"/>
            <a:ext cx="4425696" cy="3233342"/>
          </a:xfrm>
          <a:prstGeom prst="rect">
            <a:avLst/>
          </a:prstGeom>
        </p:spPr>
      </p:pic>
    </p:spTree>
    <p:extLst>
      <p:ext uri="{BB962C8B-B14F-4D97-AF65-F5344CB8AC3E}">
        <p14:creationId xmlns:p14="http://schemas.microsoft.com/office/powerpoint/2010/main" val="486213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Discussion</a:t>
            </a:r>
            <a:endParaRPr/>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lgn="l" rtl="0">
              <a:lnSpc>
                <a:spcPct val="100000"/>
              </a:lnSpc>
              <a:spcAft>
                <a:spcPts val="600"/>
              </a:spcAft>
              <a:buSzPts val="2400"/>
              <a:buChar char="•"/>
            </a:pPr>
            <a:r>
              <a:rPr lang="en-US" dirty="0"/>
              <a:t>When performing engine service, a lot of parts have to be removed, and often for a long time. The reassembly may not occur for days, weeks, months, or </a:t>
            </a:r>
            <a:r>
              <a:rPr lang="en-US"/>
              <a:t>longer.</a:t>
            </a:r>
            <a:endParaRPr dirty="0"/>
          </a:p>
          <a:p>
            <a:pPr marL="357188" lvl="0" indent="-357188" algn="l" rtl="0">
              <a:lnSpc>
                <a:spcPct val="100000"/>
              </a:lnSpc>
              <a:spcAft>
                <a:spcPts val="600"/>
              </a:spcAft>
              <a:buSzPts val="2400"/>
              <a:buChar char="•"/>
            </a:pPr>
            <a:r>
              <a:rPr lang="en-US" dirty="0"/>
              <a:t>Have a class discussion about what you will do to be sure you are able to reassemble everything correctly, not lose parts and hardware, and organize your </a:t>
            </a:r>
            <a:r>
              <a:rPr lang="en-US"/>
              <a:t>space.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FWD Vehicles </a:t>
            </a:r>
            <a:r>
              <a:rPr lang="en-US" dirty="0"/>
              <a:t>(1 of 4)</a:t>
            </a:r>
            <a:endParaRPr dirty="0"/>
          </a:p>
        </p:txBody>
      </p:sp>
      <p:sp>
        <p:nvSpPr>
          <p:cNvPr id="145" name="Google Shape;145;p4"/>
          <p:cNvSpPr txBox="1">
            <a:spLocks noGrp="1"/>
          </p:cNvSpPr>
          <p:nvPr>
            <p:ph type="body" idx="1"/>
          </p:nvPr>
        </p:nvSpPr>
        <p:spPr>
          <a:xfrm>
            <a:off x="476844" y="1563624"/>
            <a:ext cx="7468978" cy="4490335"/>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400" b="1" dirty="0">
                <a:solidFill>
                  <a:schemeClr val="accent1"/>
                </a:solidFill>
              </a:rPr>
              <a:t>10.02 Remove an engine from a FWD and a </a:t>
            </a:r>
            <a:r>
              <a:rPr lang="en-US" sz="2400" b="1" dirty="0" err="1">
                <a:solidFill>
                  <a:schemeClr val="accent1"/>
                </a:solidFill>
              </a:rPr>
              <a:t>RWD</a:t>
            </a:r>
            <a:r>
              <a:rPr lang="en-US" sz="2400" b="1" dirty="0">
                <a:solidFill>
                  <a:schemeClr val="accent1"/>
                </a:solidFill>
              </a:rPr>
              <a:t> vehicle.</a:t>
            </a:r>
          </a:p>
          <a:p>
            <a:pPr marL="357188" indent="-357188">
              <a:spcAft>
                <a:spcPts val="600"/>
              </a:spcAft>
              <a:buSzPct val="100000"/>
            </a:pPr>
            <a:r>
              <a:rPr lang="en-US" sz="2400" dirty="0">
                <a:solidFill>
                  <a:schemeClr val="accent1"/>
                </a:solidFill>
              </a:rPr>
              <a:t>Most often the engine and powertrain in a FWD vehicle are removed through the bottom of the </a:t>
            </a:r>
            <a:r>
              <a:rPr lang="en-US" sz="2400">
                <a:solidFill>
                  <a:schemeClr val="accent1"/>
                </a:solidFill>
              </a:rPr>
              <a:t>vehicle.</a:t>
            </a:r>
            <a:endParaRPr lang="en-US" sz="2400" dirty="0">
              <a:solidFill>
                <a:schemeClr val="accent1"/>
              </a:solidFill>
            </a:endParaRPr>
          </a:p>
          <a:p>
            <a:pPr marL="357188" indent="-357188">
              <a:spcAft>
                <a:spcPts val="600"/>
              </a:spcAft>
              <a:buSzPct val="100000"/>
            </a:pPr>
            <a:r>
              <a:rPr lang="en-US" sz="2400" dirty="0">
                <a:solidFill>
                  <a:schemeClr val="accent1"/>
                </a:solidFill>
              </a:rPr>
              <a:t>Special tools may be required to hold the transaxle and/or engine in place as it is being disconnected from the </a:t>
            </a:r>
            <a:r>
              <a:rPr lang="en-US" sz="2400">
                <a:solidFill>
                  <a:schemeClr val="accent1"/>
                </a:solidFill>
              </a:rPr>
              <a:t>vehicle.</a:t>
            </a:r>
            <a:endParaRPr lang="en-US" sz="2400" dirty="0">
              <a:solidFill>
                <a:schemeClr val="accent1"/>
              </a:solidFill>
            </a:endParaRPr>
          </a:p>
          <a:p>
            <a:pPr marL="357188" indent="-357188">
              <a:spcAft>
                <a:spcPts val="600"/>
              </a:spcAft>
              <a:buSzPct val="100000"/>
            </a:pPr>
            <a:r>
              <a:rPr lang="en-US" sz="2400" dirty="0">
                <a:solidFill>
                  <a:schemeClr val="accent1"/>
                </a:solidFill>
              </a:rPr>
              <a:t>Always refer to the service information before proceeding to remove the </a:t>
            </a:r>
            <a:r>
              <a:rPr lang="en-US" sz="2400">
                <a:solidFill>
                  <a:schemeClr val="accent1"/>
                </a:solidFill>
              </a:rPr>
              <a:t>transaxle.</a:t>
            </a:r>
            <a:endParaRPr lang="en-US" sz="2400" dirty="0">
              <a:solidFill>
                <a:schemeClr val="accent1"/>
              </a:solidFill>
            </a:endParaRPr>
          </a:p>
        </p:txBody>
      </p:sp>
      <p:pic>
        <p:nvPicPr>
          <p:cNvPr id="7" name="Picture Placeholder 6" descr="A special tool, the transverse engine support bar, holds the transaxle and engine in place during disconnection from the vehicle.">
            <a:extLst>
              <a:ext uri="{FF2B5EF4-FFF2-40B4-BE49-F238E27FC236}">
                <a16:creationId xmlns:a16="http://schemas.microsoft.com/office/drawing/2014/main" id="{82620806-0164-D76F-0FBC-08D9F18E178E}"/>
              </a:ext>
            </a:extLst>
          </p:cNvPr>
          <p:cNvPicPr>
            <a:picLocks noGrp="1" noChangeAspect="1"/>
          </p:cNvPicPr>
          <p:nvPr>
            <p:ph type="pic" sz="quarter" idx="12"/>
          </p:nvPr>
        </p:nvPicPr>
        <p:blipFill>
          <a:blip r:embed="rId3"/>
          <a:srcRect b="14702"/>
          <a:stretch/>
        </p:blipFill>
        <p:spPr>
          <a:xfrm>
            <a:off x="8001677" y="1753120"/>
            <a:ext cx="4023360" cy="3351761"/>
          </a:xfrm>
          <a:prstGeom prst="rect">
            <a:avLst/>
          </a:prstGeom>
        </p:spPr>
      </p:pic>
    </p:spTree>
    <p:extLst>
      <p:ext uri="{BB962C8B-B14F-4D97-AF65-F5344CB8AC3E}">
        <p14:creationId xmlns:p14="http://schemas.microsoft.com/office/powerpoint/2010/main" val="59718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FWD Vehicles </a:t>
            </a:r>
            <a:r>
              <a:rPr lang="en-US" dirty="0"/>
              <a:t>(2 of 4)</a:t>
            </a:r>
            <a:endParaRPr dirty="0"/>
          </a:p>
        </p:txBody>
      </p:sp>
      <p:sp>
        <p:nvSpPr>
          <p:cNvPr id="145" name="Google Shape;145;p4"/>
          <p:cNvSpPr txBox="1">
            <a:spLocks noGrp="1"/>
          </p:cNvSpPr>
          <p:nvPr>
            <p:ph type="body" idx="1"/>
          </p:nvPr>
        </p:nvSpPr>
        <p:spPr>
          <a:xfrm>
            <a:off x="476844" y="1525524"/>
            <a:ext cx="7204213" cy="4563907"/>
          </a:xfrm>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2000" dirty="0"/>
              <a:t>Using a large breaker bar, loosen and remove the axle shaft hub nuts.</a:t>
            </a:r>
          </a:p>
          <a:p>
            <a:pPr marL="357188" indent="-357188">
              <a:spcAft>
                <a:spcPts val="400"/>
              </a:spcAft>
              <a:buSzPct val="100000"/>
            </a:pPr>
            <a:r>
              <a:rPr lang="en-US" sz="2000" dirty="0"/>
              <a:t>It is recommended that these nuts be loosened with the vehicle on the floor and the brakes applied.</a:t>
            </a:r>
          </a:p>
          <a:p>
            <a:pPr marL="357188" indent="-357188">
              <a:spcAft>
                <a:spcPts val="400"/>
              </a:spcAft>
              <a:buSzPct val="100000"/>
            </a:pPr>
            <a:r>
              <a:rPr lang="en-US" sz="2000" dirty="0"/>
              <a:t>Tap the splined CV joint shaft with a soft-faced hammer to loosen it. Most will come loose with a few taps.</a:t>
            </a:r>
          </a:p>
          <a:p>
            <a:pPr marL="357188" indent="-357188">
              <a:spcAft>
                <a:spcPts val="400"/>
              </a:spcAft>
              <a:buSzPct val="100000"/>
            </a:pPr>
            <a:r>
              <a:rPr lang="en-US" sz="2000" dirty="0"/>
              <a:t>Disconnect all suspension and steering parts that need to be removed according to the service information.</a:t>
            </a:r>
          </a:p>
          <a:p>
            <a:pPr marL="357188" indent="-357188">
              <a:spcAft>
                <a:spcPts val="400"/>
              </a:spcAft>
              <a:buSzPct val="100000"/>
            </a:pPr>
            <a:r>
              <a:rPr lang="en-US" sz="2000" dirty="0"/>
              <a:t>Pull the drive axles from the transaxle. While removing the axles, make sure the brake lines and hoses are not stressed.</a:t>
            </a:r>
          </a:p>
        </p:txBody>
      </p:sp>
      <p:pic>
        <p:nvPicPr>
          <p:cNvPr id="7" name="Picture Placeholder 6" descr="A technician uses a large breaker bar to loosen and remove an axle shaft hub nuts from a vehicle.">
            <a:extLst>
              <a:ext uri="{FF2B5EF4-FFF2-40B4-BE49-F238E27FC236}">
                <a16:creationId xmlns:a16="http://schemas.microsoft.com/office/drawing/2014/main" id="{3883D9D2-5F0F-AD4A-864C-5456099D86D3}"/>
              </a:ext>
            </a:extLst>
          </p:cNvPr>
          <p:cNvPicPr>
            <a:picLocks noGrp="1" noChangeAspect="1"/>
          </p:cNvPicPr>
          <p:nvPr>
            <p:ph type="pic" sz="quarter" idx="12"/>
          </p:nvPr>
        </p:nvPicPr>
        <p:blipFill>
          <a:blip r:embed="rId3"/>
          <a:srcRect b="13363"/>
          <a:stretch/>
        </p:blipFill>
        <p:spPr>
          <a:xfrm>
            <a:off x="7644452" y="1923886"/>
            <a:ext cx="4437509" cy="3010228"/>
          </a:xfrm>
          <a:prstGeom prst="rect">
            <a:avLst/>
          </a:prstGeom>
        </p:spPr>
      </p:pic>
    </p:spTree>
    <p:extLst>
      <p:ext uri="{BB962C8B-B14F-4D97-AF65-F5344CB8AC3E}">
        <p14:creationId xmlns:p14="http://schemas.microsoft.com/office/powerpoint/2010/main" val="4069379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FWD Vehicles </a:t>
            </a:r>
            <a:r>
              <a:rPr lang="en-US" dirty="0"/>
              <a:t>(3 of 4)</a:t>
            </a:r>
            <a:endParaRPr dirty="0"/>
          </a:p>
        </p:txBody>
      </p:sp>
      <p:sp>
        <p:nvSpPr>
          <p:cNvPr id="145" name="Google Shape;145;p4"/>
          <p:cNvSpPr txBox="1">
            <a:spLocks noGrp="1"/>
          </p:cNvSpPr>
          <p:nvPr>
            <p:ph type="body" idx="1"/>
          </p:nvPr>
        </p:nvSpPr>
        <p:spPr>
          <a:xfrm>
            <a:off x="476844" y="1423924"/>
            <a:ext cx="6743764" cy="4490335"/>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solidFill>
                  <a:schemeClr val="accent1"/>
                </a:solidFill>
              </a:rPr>
              <a:t>Removing the engine through the hood </a:t>
            </a:r>
            <a:r>
              <a:rPr lang="en-US" sz="1800">
                <a:solidFill>
                  <a:schemeClr val="accent1"/>
                </a:solidFill>
              </a:rPr>
              <a:t>opening:</a:t>
            </a:r>
            <a:endParaRPr lang="en-US" sz="1800" dirty="0">
              <a:solidFill>
                <a:schemeClr val="accent1"/>
              </a:solidFill>
            </a:endParaRPr>
          </a:p>
          <a:p>
            <a:pPr marL="357188" indent="-357188">
              <a:spcAft>
                <a:spcPts val="600"/>
              </a:spcAft>
              <a:buSzPct val="100000"/>
            </a:pPr>
            <a:r>
              <a:rPr lang="en-US" sz="1800" dirty="0">
                <a:solidFill>
                  <a:schemeClr val="accent1"/>
                </a:solidFill>
              </a:rPr>
              <a:t>Connect the engine sling or lifting chains to the </a:t>
            </a:r>
            <a:r>
              <a:rPr lang="en-US" sz="1800">
                <a:solidFill>
                  <a:schemeClr val="accent1"/>
                </a:solidFill>
              </a:rPr>
              <a:t>engine.</a:t>
            </a:r>
            <a:endParaRPr lang="en-US" sz="1800" dirty="0">
              <a:solidFill>
                <a:schemeClr val="accent1"/>
              </a:solidFill>
            </a:endParaRPr>
          </a:p>
          <a:p>
            <a:pPr marL="357188" indent="-357188">
              <a:spcAft>
                <a:spcPts val="600"/>
              </a:spcAft>
              <a:buSzPct val="100000"/>
            </a:pPr>
            <a:r>
              <a:rPr lang="en-US" sz="1800" dirty="0">
                <a:solidFill>
                  <a:schemeClr val="accent1"/>
                </a:solidFill>
              </a:rPr>
              <a:t>Use the lifting hooks on the engine or fasten the sling to the points given in the service </a:t>
            </a:r>
            <a:r>
              <a:rPr lang="en-US" sz="1800">
                <a:solidFill>
                  <a:schemeClr val="accent1"/>
                </a:solidFill>
              </a:rPr>
              <a:t>information.</a:t>
            </a:r>
            <a:endParaRPr lang="en-US" sz="1800" dirty="0">
              <a:solidFill>
                <a:schemeClr val="accent1"/>
              </a:solidFill>
            </a:endParaRPr>
          </a:p>
          <a:p>
            <a:pPr marL="357188" indent="-357188">
              <a:spcAft>
                <a:spcPts val="600"/>
              </a:spcAft>
              <a:buSzPct val="100000"/>
            </a:pPr>
            <a:r>
              <a:rPr lang="en-US" sz="1800" dirty="0">
                <a:solidFill>
                  <a:schemeClr val="accent1"/>
                </a:solidFill>
              </a:rPr>
              <a:t>From under the vehicle, remove the cross member and remove the mounting bolts at the engine and transaxle </a:t>
            </a:r>
            <a:r>
              <a:rPr lang="en-US" sz="1800">
                <a:solidFill>
                  <a:schemeClr val="accent1"/>
                </a:solidFill>
              </a:rPr>
              <a:t>mounts.</a:t>
            </a:r>
            <a:endParaRPr lang="en-US" sz="1800" dirty="0">
              <a:solidFill>
                <a:schemeClr val="accent1"/>
              </a:solidFill>
            </a:endParaRPr>
          </a:p>
          <a:p>
            <a:pPr marL="357188" indent="-357188">
              <a:spcAft>
                <a:spcPts val="600"/>
              </a:spcAft>
              <a:buSzPct val="100000"/>
            </a:pPr>
            <a:r>
              <a:rPr lang="en-US" sz="1800" dirty="0">
                <a:solidFill>
                  <a:schemeClr val="accent1"/>
                </a:solidFill>
              </a:rPr>
              <a:t>With a transmission jack supporting the transmission, remove the transaxle </a:t>
            </a:r>
            <a:r>
              <a:rPr lang="en-US" sz="1800">
                <a:solidFill>
                  <a:schemeClr val="accent1"/>
                </a:solidFill>
              </a:rPr>
              <a:t>mounts.</a:t>
            </a:r>
            <a:endParaRPr lang="en-US" sz="1800" dirty="0">
              <a:solidFill>
                <a:schemeClr val="accent1"/>
              </a:solidFill>
            </a:endParaRPr>
          </a:p>
          <a:p>
            <a:pPr marL="357188" indent="-357188">
              <a:spcAft>
                <a:spcPts val="600"/>
              </a:spcAft>
              <a:buSzPct val="100000"/>
            </a:pPr>
            <a:r>
              <a:rPr lang="en-US" sz="1800" dirty="0">
                <a:solidFill>
                  <a:schemeClr val="accent1"/>
                </a:solidFill>
              </a:rPr>
              <a:t>From under the hood, remove all remaining </a:t>
            </a:r>
            <a:r>
              <a:rPr lang="en-US" sz="1800">
                <a:solidFill>
                  <a:schemeClr val="accent1"/>
                </a:solidFill>
              </a:rPr>
              <a:t>mounts.</a:t>
            </a:r>
            <a:endParaRPr lang="en-US" sz="1800" dirty="0">
              <a:solidFill>
                <a:schemeClr val="accent1"/>
              </a:solidFill>
            </a:endParaRPr>
          </a:p>
          <a:p>
            <a:pPr marL="357188" indent="-357188">
              <a:spcAft>
                <a:spcPts val="600"/>
              </a:spcAft>
              <a:buSzPct val="100000"/>
            </a:pPr>
            <a:r>
              <a:rPr lang="en-US" sz="1800" dirty="0">
                <a:solidFill>
                  <a:schemeClr val="accent1"/>
                </a:solidFill>
              </a:rPr>
              <a:t>Then slowly raise the engine from the engine </a:t>
            </a:r>
            <a:r>
              <a:rPr lang="en-US" sz="1800">
                <a:solidFill>
                  <a:schemeClr val="accent1"/>
                </a:solidFill>
              </a:rPr>
              <a:t>compartment.</a:t>
            </a:r>
            <a:endParaRPr lang="en-US" sz="1800" dirty="0">
              <a:solidFill>
                <a:schemeClr val="accent1"/>
              </a:solidFill>
            </a:endParaRPr>
          </a:p>
        </p:txBody>
      </p:sp>
      <p:pic>
        <p:nvPicPr>
          <p:cNvPr id="7" name="Picture Placeholder 6" descr="The removal of the engine from the hood of a car. An engine sling from a crane is connected to the engine. A magnified view depicts the ends of the sling connected to two different parts of the engine using lifting hooks.">
            <a:extLst>
              <a:ext uri="{FF2B5EF4-FFF2-40B4-BE49-F238E27FC236}">
                <a16:creationId xmlns:a16="http://schemas.microsoft.com/office/drawing/2014/main" id="{8B33457A-7459-5C92-86B5-E9B9C1528028}"/>
              </a:ext>
            </a:extLst>
          </p:cNvPr>
          <p:cNvPicPr>
            <a:picLocks noGrp="1" noChangeAspect="1"/>
          </p:cNvPicPr>
          <p:nvPr>
            <p:ph type="pic" sz="quarter" idx="12"/>
          </p:nvPr>
        </p:nvPicPr>
        <p:blipFill>
          <a:blip r:embed="rId3"/>
          <a:srcRect b="13434"/>
          <a:stretch/>
        </p:blipFill>
        <p:spPr>
          <a:xfrm>
            <a:off x="7407904" y="1685736"/>
            <a:ext cx="4417989" cy="3486529"/>
          </a:xfrm>
          <a:prstGeom prst="rect">
            <a:avLst/>
          </a:prstGeom>
        </p:spPr>
      </p:pic>
    </p:spTree>
    <p:extLst>
      <p:ext uri="{BB962C8B-B14F-4D97-AF65-F5344CB8AC3E}">
        <p14:creationId xmlns:p14="http://schemas.microsoft.com/office/powerpoint/2010/main" val="1157816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FWD Vehicles </a:t>
            </a:r>
            <a:r>
              <a:rPr lang="en-US" dirty="0"/>
              <a:t>(4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2000" dirty="0">
                <a:solidFill>
                  <a:schemeClr val="accent1"/>
                </a:solidFill>
              </a:rPr>
              <a:t>Removing the engine from under the </a:t>
            </a:r>
            <a:r>
              <a:rPr lang="en-US" sz="2000">
                <a:solidFill>
                  <a:schemeClr val="accent1"/>
                </a:solidFill>
              </a:rPr>
              <a:t>Vehicle:</a:t>
            </a:r>
            <a:endParaRPr lang="en-US" sz="2000" dirty="0">
              <a:solidFill>
                <a:schemeClr val="accent1"/>
              </a:solidFill>
            </a:endParaRPr>
          </a:p>
          <a:p>
            <a:pPr marL="357188" indent="-357188">
              <a:spcAft>
                <a:spcPts val="400"/>
              </a:spcAft>
              <a:buSzPct val="100000"/>
            </a:pPr>
            <a:r>
              <a:rPr lang="en-US" sz="2000" dirty="0">
                <a:solidFill>
                  <a:schemeClr val="accent1"/>
                </a:solidFill>
              </a:rPr>
              <a:t>Position the engine cradle and dolly under the </a:t>
            </a:r>
            <a:r>
              <a:rPr lang="en-US" sz="2000">
                <a:solidFill>
                  <a:schemeClr val="accent1"/>
                </a:solidFill>
              </a:rPr>
              <a:t>engine.</a:t>
            </a:r>
            <a:endParaRPr lang="en-US" sz="2000" dirty="0">
              <a:solidFill>
                <a:schemeClr val="accent1"/>
              </a:solidFill>
            </a:endParaRPr>
          </a:p>
          <a:p>
            <a:pPr marL="357188" indent="-357188">
              <a:spcAft>
                <a:spcPts val="400"/>
              </a:spcAft>
              <a:buSzPct val="100000"/>
            </a:pPr>
            <a:r>
              <a:rPr lang="en-US" sz="2000" dirty="0">
                <a:solidFill>
                  <a:schemeClr val="accent1"/>
                </a:solidFill>
              </a:rPr>
              <a:t>Adjust the pegs of the cradle so that they fit into the recesses on the bottom of the engine, and secure the </a:t>
            </a:r>
            <a:r>
              <a:rPr lang="en-US" sz="2000">
                <a:solidFill>
                  <a:schemeClr val="accent1"/>
                </a:solidFill>
              </a:rPr>
              <a:t>engine.</a:t>
            </a:r>
            <a:endParaRPr lang="en-US" sz="2000" dirty="0">
              <a:solidFill>
                <a:schemeClr val="accent1"/>
              </a:solidFill>
            </a:endParaRPr>
          </a:p>
          <a:p>
            <a:pPr marL="357188" indent="-357188">
              <a:spcAft>
                <a:spcPts val="400"/>
              </a:spcAft>
              <a:buSzPct val="100000"/>
            </a:pPr>
            <a:r>
              <a:rPr lang="en-US" sz="2000" dirty="0">
                <a:solidFill>
                  <a:schemeClr val="accent1"/>
                </a:solidFill>
              </a:rPr>
              <a:t>Remove all engine and transaxle mount bolts. If required, remove the frame member from the vehicle. It may also be necessary to disconnect the steering gear from the </a:t>
            </a:r>
            <a:r>
              <a:rPr lang="en-US" sz="2000">
                <a:solidFill>
                  <a:schemeClr val="accent1"/>
                </a:solidFill>
              </a:rPr>
              <a:t>frame.</a:t>
            </a:r>
            <a:endParaRPr lang="en-US" sz="2000" dirty="0">
              <a:solidFill>
                <a:schemeClr val="accent1"/>
              </a:solidFill>
            </a:endParaRPr>
          </a:p>
          <a:p>
            <a:pPr marL="357188" indent="-357188">
              <a:spcAft>
                <a:spcPts val="400"/>
              </a:spcAft>
              <a:buSzPct val="100000"/>
            </a:pPr>
            <a:r>
              <a:rPr lang="en-US" sz="2000" dirty="0">
                <a:solidFill>
                  <a:schemeClr val="accent1"/>
                </a:solidFill>
              </a:rPr>
              <a:t>Slowly raise the vehicle, lifting it slightly away from the </a:t>
            </a:r>
            <a:r>
              <a:rPr lang="en-US" sz="2000">
                <a:solidFill>
                  <a:schemeClr val="accent1"/>
                </a:solidFill>
              </a:rPr>
              <a:t>engine.</a:t>
            </a:r>
            <a:endParaRPr lang="en-US" sz="2000" dirty="0">
              <a:solidFill>
                <a:schemeClr val="accent1"/>
              </a:solidFill>
            </a:endParaRPr>
          </a:p>
          <a:p>
            <a:pPr marL="357188" indent="-357188">
              <a:spcAft>
                <a:spcPts val="400"/>
              </a:spcAft>
              <a:buSzPct val="100000"/>
            </a:pPr>
            <a:r>
              <a:rPr lang="en-US" sz="2000" dirty="0">
                <a:solidFill>
                  <a:schemeClr val="accent1"/>
                </a:solidFill>
              </a:rPr>
              <a:t>As the vehicle is lifted, the engine remains on the cradle. During this process, continually check for interference with the engine and the </a:t>
            </a:r>
            <a:r>
              <a:rPr lang="en-US" sz="2000">
                <a:solidFill>
                  <a:schemeClr val="accent1"/>
                </a:solidFill>
              </a:rPr>
              <a:t>vehicle.</a:t>
            </a:r>
            <a:endParaRPr lang="en-US" sz="2000" dirty="0">
              <a:solidFill>
                <a:schemeClr val="accent1"/>
              </a:solidFill>
            </a:endParaRPr>
          </a:p>
          <a:p>
            <a:pPr marL="357188" indent="-357188">
              <a:spcAft>
                <a:spcPts val="400"/>
              </a:spcAft>
              <a:buSzPct val="100000"/>
            </a:pPr>
            <a:r>
              <a:rPr lang="en-US" sz="2000" dirty="0">
                <a:solidFill>
                  <a:schemeClr val="accent1"/>
                </a:solidFill>
              </a:rPr>
              <a:t>Also, watch for any wires and hoses that may still be attached to the engine. Once the vehicle is clear of the engine, prepare to separate the engine from the transaxle.</a:t>
            </a:r>
          </a:p>
        </p:txBody>
      </p:sp>
    </p:spTree>
    <p:extLst>
      <p:ext uri="{BB962C8B-B14F-4D97-AF65-F5344CB8AC3E}">
        <p14:creationId xmlns:p14="http://schemas.microsoft.com/office/powerpoint/2010/main" val="4223956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R</a:t>
            </a:r>
            <a:r>
              <a:rPr lang="en-US" sz="4000" dirty="0"/>
              <a:t>WD Vehicles </a:t>
            </a:r>
            <a:r>
              <a:rPr lang="en-US" dirty="0"/>
              <a:t>(1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The engine is removed through the hood opening with an engine hoist on most RWD </a:t>
            </a:r>
            <a:r>
              <a:rPr lang="en-US" sz="1800"/>
              <a:t>vehicles.</a:t>
            </a:r>
            <a:endParaRPr lang="en-US" sz="1800" dirty="0"/>
          </a:p>
          <a:p>
            <a:pPr marL="357188" indent="-357188">
              <a:spcAft>
                <a:spcPts val="600"/>
              </a:spcAft>
              <a:buSzPct val="100000"/>
            </a:pPr>
            <a:r>
              <a:rPr lang="en-US" sz="1800" dirty="0"/>
              <a:t>Refer to the service information to determine the proper engine lift </a:t>
            </a:r>
            <a:r>
              <a:rPr lang="en-US" sz="1800"/>
              <a:t>points.</a:t>
            </a:r>
            <a:endParaRPr lang="en-US" sz="1800" dirty="0"/>
          </a:p>
          <a:p>
            <a:pPr marL="357188" indent="-357188">
              <a:spcAft>
                <a:spcPts val="600"/>
              </a:spcAft>
              <a:buSzPct val="100000"/>
            </a:pPr>
            <a:r>
              <a:rPr lang="en-US" sz="1800" dirty="0"/>
              <a:t>Attach a pulling sling or chain to the </a:t>
            </a:r>
            <a:r>
              <a:rPr lang="en-US" sz="1800"/>
              <a:t>engine.</a:t>
            </a:r>
            <a:endParaRPr lang="en-US" sz="1800" dirty="0"/>
          </a:p>
          <a:p>
            <a:pPr marL="357188" indent="-357188">
              <a:spcAft>
                <a:spcPts val="600"/>
              </a:spcAft>
              <a:buSzPct val="100000"/>
            </a:pPr>
            <a:r>
              <a:rPr lang="en-US" sz="1800" dirty="0"/>
              <a:t>Some engines have eye plates for </a:t>
            </a:r>
            <a:r>
              <a:rPr lang="en-US" sz="1800"/>
              <a:t>lifting.</a:t>
            </a:r>
            <a:endParaRPr lang="en-US" sz="1800" dirty="0"/>
          </a:p>
          <a:p>
            <a:pPr marL="357188" indent="-357188">
              <a:spcAft>
                <a:spcPts val="600"/>
              </a:spcAft>
              <a:buSzPct val="100000"/>
            </a:pPr>
            <a:r>
              <a:rPr lang="en-US" sz="1800" dirty="0"/>
              <a:t>If they are not available, the sling must be bolted to the </a:t>
            </a:r>
            <a:r>
              <a:rPr lang="en-US" sz="1800"/>
              <a:t>engine.</a:t>
            </a:r>
            <a:endParaRPr lang="en-US" sz="1800" dirty="0"/>
          </a:p>
          <a:p>
            <a:pPr marL="357188" indent="-357188">
              <a:spcAft>
                <a:spcPts val="600"/>
              </a:spcAft>
              <a:buSzPct val="100000"/>
            </a:pPr>
            <a:r>
              <a:rPr lang="en-US" sz="1800" dirty="0"/>
              <a:t>The attaching bolts for the sling must be strong enough to support the engine and must thread into the block a minimum of 1½ times the bolt </a:t>
            </a:r>
            <a:r>
              <a:rPr lang="en-US" sz="1800"/>
              <a:t>diameter.</a:t>
            </a:r>
            <a:endParaRPr lang="en-US" sz="1800" dirty="0"/>
          </a:p>
          <a:p>
            <a:pPr marL="357188" indent="-357188">
              <a:spcAft>
                <a:spcPts val="600"/>
              </a:spcAft>
              <a:buSzPct val="100000"/>
            </a:pPr>
            <a:r>
              <a:rPr lang="en-US" sz="1800" dirty="0"/>
              <a:t>If the transmission is being removed with the engine, position the hook of the engine hoist to the lifting chain so that the engine tips a little toward the </a:t>
            </a:r>
            <a:r>
              <a:rPr lang="en-US" sz="1800"/>
              <a:t>transmission.</a:t>
            </a:r>
            <a:endParaRPr lang="en-US" sz="1800" dirty="0"/>
          </a:p>
          <a:p>
            <a:pPr marL="357188" indent="-357188">
              <a:spcAft>
                <a:spcPts val="600"/>
              </a:spcAft>
              <a:buSzPct val="100000"/>
            </a:pPr>
            <a:r>
              <a:rPr lang="en-US" sz="1800" dirty="0"/>
              <a:t>Lift the engine slightly and check for any additional things behind and under the engine that should be disconnected.</a:t>
            </a:r>
          </a:p>
        </p:txBody>
      </p:sp>
    </p:spTree>
    <p:extLst>
      <p:ext uri="{BB962C8B-B14F-4D97-AF65-F5344CB8AC3E}">
        <p14:creationId xmlns:p14="http://schemas.microsoft.com/office/powerpoint/2010/main" val="1393826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R</a:t>
            </a:r>
            <a:r>
              <a:rPr lang="en-US" sz="4000" dirty="0"/>
              <a:t>WD Vehicles </a:t>
            </a:r>
            <a:r>
              <a:rPr lang="en-US" dirty="0"/>
              <a:t>(2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t>If the engine and transmission must be separated before engine removal, remove all clutch (bell) housing bolts.</a:t>
            </a:r>
          </a:p>
          <a:p>
            <a:pPr marL="357188" indent="-357188">
              <a:buSzPct val="100000"/>
            </a:pPr>
            <a:r>
              <a:rPr lang="en-US" sz="2000" dirty="0"/>
              <a:t>If the vehicle has an automatic transmission, remove the torque converter mounting bolts.</a:t>
            </a:r>
          </a:p>
          <a:p>
            <a:pPr marL="357188" indent="-357188">
              <a:buSzPct val="100000"/>
            </a:pPr>
            <a:r>
              <a:rPr lang="en-US" sz="2000" dirty="0"/>
              <a:t>If the transmission is being removed with the engine it may need to be drained.</a:t>
            </a:r>
          </a:p>
          <a:p>
            <a:pPr marL="357188" indent="-357188">
              <a:buSzPct val="100000"/>
            </a:pPr>
            <a:r>
              <a:rPr lang="en-US" sz="2000" dirty="0"/>
              <a:t>Remove the drive shaft, disconnect all electrical connections and the speedometer cable, if so equipped, at the transmission.</a:t>
            </a:r>
          </a:p>
          <a:p>
            <a:pPr marL="357188" indent="-357188">
              <a:buSzPct val="100000"/>
            </a:pPr>
            <a:r>
              <a:rPr lang="en-US" sz="2000" dirty="0"/>
              <a:t>Make sure you place these away from the transmission so that they are not damaged during transmission removal or installation. Disconnect and remove the transmission and clutch hydraulic lines or linkage.</a:t>
            </a:r>
          </a:p>
          <a:p>
            <a:pPr marL="357188" indent="-357188">
              <a:buSzPct val="100000"/>
            </a:pPr>
            <a:r>
              <a:rPr lang="en-US" sz="2000" dirty="0"/>
              <a:t>Disconnect the parts of the exhaust system that may get in the way.</a:t>
            </a:r>
          </a:p>
          <a:p>
            <a:pPr marL="357188" indent="-357188">
              <a:buSzPct val="100000"/>
            </a:pPr>
            <a:r>
              <a:rPr lang="en-US" sz="2000" dirty="0"/>
              <a:t>Use a transmission jack to securely support the transmission and unbolt the engine mounts.</a:t>
            </a:r>
          </a:p>
        </p:txBody>
      </p:sp>
    </p:spTree>
    <p:extLst>
      <p:ext uri="{BB962C8B-B14F-4D97-AF65-F5344CB8AC3E}">
        <p14:creationId xmlns:p14="http://schemas.microsoft.com/office/powerpoint/2010/main" val="1870933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Engine Disassembly and Inspection </a:t>
            </a:r>
            <a:r>
              <a:rPr lang="en-US" dirty="0"/>
              <a:t>(1 of 2)</a:t>
            </a:r>
            <a:endParaRPr dirty="0"/>
          </a:p>
        </p:txBody>
      </p:sp>
      <p:sp>
        <p:nvSpPr>
          <p:cNvPr id="145" name="Google Shape;145;p4"/>
          <p:cNvSpPr txBox="1">
            <a:spLocks noGrp="1"/>
          </p:cNvSpPr>
          <p:nvPr>
            <p:ph type="body" idx="1"/>
          </p:nvPr>
        </p:nvSpPr>
        <p:spPr>
          <a:xfrm>
            <a:off x="476843" y="1563624"/>
            <a:ext cx="8005005" cy="4584928"/>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Raise the engine and position it next to an engine </a:t>
            </a:r>
            <a:r>
              <a:rPr lang="en-US" sz="1800"/>
              <a:t>stand.</a:t>
            </a:r>
            <a:endParaRPr lang="en-US" sz="1800" dirty="0"/>
          </a:p>
          <a:p>
            <a:pPr marL="357188" indent="-357188">
              <a:spcAft>
                <a:spcPts val="600"/>
              </a:spcAft>
              <a:buSzPct val="100000"/>
            </a:pPr>
            <a:r>
              <a:rPr lang="en-US" sz="1800" dirty="0"/>
              <a:t>In most cases, the flywheel or </a:t>
            </a:r>
            <a:r>
              <a:rPr lang="en-US" sz="1800" dirty="0" err="1"/>
              <a:t>flexplate</a:t>
            </a:r>
            <a:r>
              <a:rPr lang="en-US" sz="1800" dirty="0"/>
              <a:t> must be removed to mount the engine on its </a:t>
            </a:r>
            <a:r>
              <a:rPr lang="en-US" sz="1800"/>
              <a:t>stand.</a:t>
            </a:r>
            <a:endParaRPr lang="en-US" sz="1800" dirty="0"/>
          </a:p>
          <a:p>
            <a:pPr marL="357188" indent="-357188">
              <a:spcAft>
                <a:spcPts val="600"/>
              </a:spcAft>
              <a:buSzPct val="100000"/>
            </a:pPr>
            <a:r>
              <a:rPr lang="en-US" sz="1800" dirty="0"/>
              <a:t>Mount the engine to the stand. Most stands use a plate with several holes or adjustable </a:t>
            </a:r>
            <a:r>
              <a:rPr lang="en-US" sz="1800"/>
              <a:t>arms.</a:t>
            </a:r>
            <a:endParaRPr lang="en-US" sz="1800" dirty="0"/>
          </a:p>
          <a:p>
            <a:pPr marL="357188" indent="-357188">
              <a:spcAft>
                <a:spcPts val="600"/>
              </a:spcAft>
              <a:buSzPct val="100000"/>
            </a:pPr>
            <a:r>
              <a:rPr lang="en-US" sz="1800" dirty="0"/>
              <a:t>The engine must be supported by at least four bolts that fit solidly into it. The engine should be positioned so that its center is in the middle of the engine stand’s adapter </a:t>
            </a:r>
            <a:r>
              <a:rPr lang="en-US" sz="1800"/>
              <a:t>plate.</a:t>
            </a:r>
            <a:endParaRPr lang="en-US" sz="1800" dirty="0"/>
          </a:p>
          <a:p>
            <a:pPr marL="357188" indent="-357188">
              <a:spcAft>
                <a:spcPts val="600"/>
              </a:spcAft>
              <a:buSzPct val="100000"/>
            </a:pPr>
            <a:r>
              <a:rPr lang="en-US" sz="1800" dirty="0"/>
              <a:t>Once the engine is securely mounted to the engine stand, remove the sling or lifting </a:t>
            </a:r>
            <a:r>
              <a:rPr lang="en-US" sz="1800"/>
              <a:t>chain.</a:t>
            </a:r>
            <a:endParaRPr lang="en-US" sz="1800" dirty="0"/>
          </a:p>
          <a:p>
            <a:pPr marL="357188" indent="-357188">
              <a:spcAft>
                <a:spcPts val="600"/>
              </a:spcAft>
              <a:buSzPct val="100000"/>
            </a:pPr>
            <a:r>
              <a:rPr lang="en-US" sz="1800" dirty="0"/>
              <a:t>The engine can now be disassembled and </a:t>
            </a:r>
            <a:r>
              <a:rPr lang="en-US" sz="1800"/>
              <a:t>cleaned.</a:t>
            </a:r>
            <a:endParaRPr lang="en-US" sz="1800" dirty="0"/>
          </a:p>
          <a:p>
            <a:pPr marL="357188" indent="-357188">
              <a:spcAft>
                <a:spcPts val="600"/>
              </a:spcAft>
              <a:buSzPct val="100000"/>
            </a:pPr>
            <a:r>
              <a:rPr lang="en-US" sz="1800" dirty="0"/>
              <a:t>Always refer to the service information before you start to disassemble an </a:t>
            </a:r>
            <a:r>
              <a:rPr lang="en-US" sz="1800"/>
              <a:t>engine.</a:t>
            </a:r>
            <a:endParaRPr lang="en-US" sz="1800" dirty="0"/>
          </a:p>
        </p:txBody>
      </p:sp>
      <p:pic>
        <p:nvPicPr>
          <p:cNvPr id="7" name="Picture Placeholder 6" descr="An engine stand with a flexplate at the top where the engine will be mounted.">
            <a:extLst>
              <a:ext uri="{FF2B5EF4-FFF2-40B4-BE49-F238E27FC236}">
                <a16:creationId xmlns:a16="http://schemas.microsoft.com/office/drawing/2014/main" id="{E7C235C3-E04A-6C14-046D-0A72508AAAC5}"/>
              </a:ext>
            </a:extLst>
          </p:cNvPr>
          <p:cNvPicPr>
            <a:picLocks noGrp="1" noChangeAspect="1"/>
          </p:cNvPicPr>
          <p:nvPr>
            <p:ph type="pic" sz="quarter" idx="12"/>
          </p:nvPr>
        </p:nvPicPr>
        <p:blipFill>
          <a:blip r:embed="rId3"/>
          <a:srcRect b="6482"/>
          <a:stretch/>
        </p:blipFill>
        <p:spPr>
          <a:xfrm>
            <a:off x="8726208" y="1801496"/>
            <a:ext cx="3128649" cy="3255009"/>
          </a:xfrm>
          <a:prstGeom prst="rect">
            <a:avLst/>
          </a:prstGeom>
        </p:spPr>
      </p:pic>
    </p:spTree>
    <p:extLst>
      <p:ext uri="{BB962C8B-B14F-4D97-AF65-F5344CB8AC3E}">
        <p14:creationId xmlns:p14="http://schemas.microsoft.com/office/powerpoint/2010/main" val="586213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Engine Disassembly and Inspection </a:t>
            </a:r>
            <a:r>
              <a:rPr lang="en-US" dirty="0"/>
              <a:t>(2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t>Note that intake manifold bolts often need to be removed in reverse torque sequence to prevent warping of the </a:t>
            </a:r>
            <a:r>
              <a:rPr lang="en-US" sz="2000"/>
              <a:t>manifold.</a:t>
            </a:r>
            <a:endParaRPr lang="en-US" sz="2000" dirty="0"/>
          </a:p>
          <a:p>
            <a:pPr marL="357188" indent="-357188">
              <a:spcAft>
                <a:spcPts val="600"/>
              </a:spcAft>
              <a:buSzPct val="100000"/>
            </a:pPr>
            <a:r>
              <a:rPr lang="en-US" sz="2000" dirty="0"/>
              <a:t>Check the rocker area for sludge. Excessive buildup can indicate a poor maintenance schedule and is a signal to look for wear on other </a:t>
            </a:r>
            <a:r>
              <a:rPr lang="en-US" sz="2000"/>
              <a:t>components.</a:t>
            </a:r>
            <a:endParaRPr lang="en-US" sz="2000" dirty="0"/>
          </a:p>
          <a:p>
            <a:pPr marL="357188" indent="-357188">
              <a:spcAft>
                <a:spcPts val="600"/>
              </a:spcAft>
              <a:buSzPct val="100000"/>
            </a:pPr>
            <a:r>
              <a:rPr lang="en-US" sz="2000" dirty="0"/>
              <a:t>If possible, rotate the crankshaft to check the alignment of the sprockets. The valves will hit the pistons on some engines when the timing belt or chain slips, skips, or breaks. These engines are commonly called interference engines. When the valves hit the piston, they will </a:t>
            </a:r>
            <a:r>
              <a:rPr lang="en-US" sz="2000"/>
              <a:t>bend.</a:t>
            </a:r>
            <a:endParaRPr lang="en-US" sz="2000" dirty="0"/>
          </a:p>
          <a:p>
            <a:pPr marL="357188" indent="-357188">
              <a:spcAft>
                <a:spcPts val="600"/>
              </a:spcAft>
              <a:buSzPct val="100000"/>
            </a:pPr>
            <a:r>
              <a:rPr lang="en-US" sz="2000" dirty="0"/>
              <a:t>The valves in </a:t>
            </a:r>
            <a:r>
              <a:rPr lang="en-US" sz="2000" b="1" dirty="0"/>
              <a:t>freewheeling engines </a:t>
            </a:r>
            <a:r>
              <a:rPr lang="en-US" sz="2000" dirty="0"/>
              <a:t>will not hit the piston when valve timing is </a:t>
            </a:r>
            <a:r>
              <a:rPr lang="en-US" sz="2000"/>
              <a:t>off.</a:t>
            </a:r>
            <a:endParaRPr lang="en-US" sz="2000" dirty="0"/>
          </a:p>
          <a:p>
            <a:pPr marL="357188" indent="-357188">
              <a:spcAft>
                <a:spcPts val="600"/>
              </a:spcAft>
              <a:buSzPct val="100000"/>
            </a:pPr>
            <a:r>
              <a:rPr lang="en-US" sz="2000" dirty="0"/>
              <a:t>The cylinder head bolts are loosened one or two turns each, following the pattern specified by the manufacturer. The sequence is typically the opposite of the tightening </a:t>
            </a:r>
            <a:r>
              <a:rPr lang="en-US" sz="2000"/>
              <a:t>sequence.</a:t>
            </a:r>
            <a:endParaRPr lang="en-US" sz="2000" dirty="0"/>
          </a:p>
        </p:txBody>
      </p:sp>
    </p:spTree>
    <p:extLst>
      <p:ext uri="{BB962C8B-B14F-4D97-AF65-F5344CB8AC3E}">
        <p14:creationId xmlns:p14="http://schemas.microsoft.com/office/powerpoint/2010/main" val="3704016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Cleaning Engine Parts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2000" b="1" dirty="0"/>
              <a:t>10.04 Clean engine parts using the appropriate method for the construction of the part.</a:t>
            </a:r>
          </a:p>
          <a:p>
            <a:pPr marL="357188" indent="-357188">
              <a:spcAft>
                <a:spcPts val="400"/>
              </a:spcAft>
              <a:buSzPct val="100000"/>
            </a:pPr>
            <a:r>
              <a:rPr lang="en-US" sz="2200" dirty="0"/>
              <a:t>Being able to recognize the type of dirt you are to clean will save you time and effort. There are four types of dirt:</a:t>
            </a:r>
          </a:p>
          <a:p>
            <a:pPr marL="714375" lvl="1" indent="-357188">
              <a:spcAft>
                <a:spcPts val="400"/>
              </a:spcAft>
              <a:buSzPct val="100000"/>
            </a:pPr>
            <a:r>
              <a:rPr lang="en-US" sz="2000" dirty="0"/>
              <a:t>Water-Soluble Soils The easiest dirt to clean is water-soluble soils, meaning those that will dissolve in water, which includes dirt, dust, and mud.</a:t>
            </a:r>
          </a:p>
          <a:p>
            <a:pPr marL="714375" lvl="1" indent="-357188">
              <a:spcAft>
                <a:spcPts val="400"/>
              </a:spcAft>
              <a:buSzPct val="100000"/>
            </a:pPr>
            <a:r>
              <a:rPr lang="en-US" sz="2000" dirty="0"/>
              <a:t>Organic Soils which contain carbon and cannot be effectively removed with plain water. There are three distinct groupings of organic soils:</a:t>
            </a:r>
          </a:p>
          <a:p>
            <a:pPr marL="714375" lvl="1" indent="-357188">
              <a:spcAft>
                <a:spcPts val="400"/>
              </a:spcAft>
              <a:buSzPct val="100000"/>
            </a:pPr>
            <a:r>
              <a:rPr lang="en-US" sz="2000" dirty="0"/>
              <a:t>Petroleum by-products derived from crude oil, including tar, road oil, engine oil, gasoline, diesel fuel, grease, and engine oil additives.</a:t>
            </a:r>
          </a:p>
          <a:p>
            <a:pPr marL="1071563" lvl="2" indent="-357188">
              <a:spcAft>
                <a:spcPts val="400"/>
              </a:spcAft>
              <a:buSzPct val="100000"/>
            </a:pPr>
            <a:r>
              <a:rPr lang="en-US" sz="1800" dirty="0"/>
              <a:t>By-products of combustion, including carbon, varnish, gum, and sludge.</a:t>
            </a:r>
          </a:p>
          <a:p>
            <a:pPr marL="1071563" lvl="2" indent="-357188">
              <a:spcAft>
                <a:spcPts val="400"/>
              </a:spcAft>
              <a:buSzPct val="100000"/>
            </a:pPr>
            <a:r>
              <a:rPr lang="en-US" sz="1800" dirty="0"/>
              <a:t>Coatings, including such items as rust-proofing materials, gasket sealers and cements, paints, waxes, and sound-deadener coatings</a:t>
            </a:r>
            <a:r>
              <a:rPr lang="en-US" sz="2200" dirty="0"/>
              <a:t>.</a:t>
            </a:r>
          </a:p>
        </p:txBody>
      </p:sp>
    </p:spTree>
    <p:extLst>
      <p:ext uri="{BB962C8B-B14F-4D97-AF65-F5344CB8AC3E}">
        <p14:creationId xmlns:p14="http://schemas.microsoft.com/office/powerpoint/2010/main" val="3034713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Cleaning Engine Parts (2 of </a:t>
            </a:r>
            <a:r>
              <a:rPr lang="en-US" sz="4000"/>
              <a:t>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solidFill>
                  <a:schemeClr val="accent1"/>
                </a:solidFill>
              </a:rPr>
              <a:t>Rust is the result of a chemical reaction that takes place when iron and steel are exposed to oxygen and moisture.</a:t>
            </a:r>
          </a:p>
          <a:p>
            <a:pPr marL="357188" indent="-357188">
              <a:buSzPct val="100000"/>
            </a:pPr>
            <a:r>
              <a:rPr lang="en-US" sz="2000" dirty="0">
                <a:solidFill>
                  <a:schemeClr val="accent1"/>
                </a:solidFill>
              </a:rPr>
              <a:t>Corrosion, like rust, results from a similar chemical reaction between oxygen and metal containing aluminum.</a:t>
            </a:r>
          </a:p>
          <a:p>
            <a:pPr marL="357188" indent="-357188">
              <a:buSzPct val="100000"/>
            </a:pPr>
            <a:r>
              <a:rPr lang="en-US" sz="2000" dirty="0">
                <a:solidFill>
                  <a:schemeClr val="accent1"/>
                </a:solidFill>
              </a:rPr>
              <a:t>If left unchecked, both rust and corrosion can physically destroy metal parts. In addition to metal destruction, rust also acts to insulate and prevent proper heat transfer inside the cooling system.</a:t>
            </a:r>
          </a:p>
          <a:p>
            <a:pPr marL="357188" indent="-357188">
              <a:buSzPct val="100000"/>
            </a:pPr>
            <a:r>
              <a:rPr lang="en-US" sz="2000" dirty="0">
                <a:solidFill>
                  <a:schemeClr val="accent1"/>
                </a:solidFill>
              </a:rPr>
              <a:t>Scale: When water containing mineral deposits is heated, suspended minerals and impurities tend to dissolve, settle out, and attach to the surrounding hot metal surfaces.</a:t>
            </a:r>
          </a:p>
          <a:p>
            <a:pPr marL="357188" indent="-357188">
              <a:buSzPct val="100000"/>
            </a:pPr>
            <a:r>
              <a:rPr lang="en-US" sz="2000" dirty="0">
                <a:solidFill>
                  <a:schemeClr val="accent1"/>
                </a:solidFill>
              </a:rPr>
              <a:t>This buildup inside the cooling system is known as scale. Over time, scale can accumulate to the extent that passages become blocked, cooling efficiency is compromised, and metal parts start to deteriorate.</a:t>
            </a:r>
          </a:p>
        </p:txBody>
      </p:sp>
    </p:spTree>
    <p:extLst>
      <p:ext uri="{BB962C8B-B14F-4D97-AF65-F5344CB8AC3E}">
        <p14:creationId xmlns:p14="http://schemas.microsoft.com/office/powerpoint/2010/main" val="905117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Chemical Cleaning Machines </a:t>
            </a:r>
            <a:r>
              <a:rPr lang="en-US" dirty="0"/>
              <a:t>(1 of 2)</a:t>
            </a:r>
            <a:endParaRPr dirty="0"/>
          </a:p>
        </p:txBody>
      </p:sp>
      <p:sp>
        <p:nvSpPr>
          <p:cNvPr id="145" name="Google Shape;145;p4"/>
          <p:cNvSpPr txBox="1">
            <a:spLocks noGrp="1"/>
          </p:cNvSpPr>
          <p:nvPr>
            <p:ph type="body" idx="1"/>
          </p:nvPr>
        </p:nvSpPr>
        <p:spPr>
          <a:xfrm>
            <a:off x="476843" y="1563624"/>
            <a:ext cx="5987019" cy="4416762"/>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200" dirty="0"/>
              <a:t>Parts Washers</a:t>
            </a:r>
          </a:p>
          <a:p>
            <a:pPr marL="714375" lvl="1" indent="-357188">
              <a:spcAft>
                <a:spcPts val="600"/>
              </a:spcAft>
              <a:buSzPct val="100000"/>
            </a:pPr>
            <a:r>
              <a:rPr lang="en-US" sz="2000" dirty="0"/>
              <a:t>Parts washers (often called solvent tanks) are one of the most widely used and inexpensive methods of removing grease, oil, and dirt from metal surfaces.</a:t>
            </a:r>
          </a:p>
          <a:p>
            <a:pPr marL="714375" lvl="1" indent="-357188">
              <a:spcAft>
                <a:spcPts val="600"/>
              </a:spcAft>
              <a:buSzPct val="100000"/>
            </a:pPr>
            <a:r>
              <a:rPr lang="en-US" sz="2000" dirty="0"/>
              <a:t>A typical parts washer has a tank that holds the solvent and some method of applying the solvent.</a:t>
            </a:r>
          </a:p>
          <a:p>
            <a:pPr marL="714375" lvl="1" indent="-357188">
              <a:spcAft>
                <a:spcPts val="600"/>
              </a:spcAft>
              <a:buSzPct val="100000"/>
            </a:pPr>
            <a:r>
              <a:rPr lang="en-US" sz="2000" dirty="0"/>
              <a:t>These methods include soaking, soaking and agitation, solvent streams, and spray gun applicators.</a:t>
            </a:r>
          </a:p>
        </p:txBody>
      </p:sp>
      <p:pic>
        <p:nvPicPr>
          <p:cNvPr id="7" name="Picture Placeholder 6" descr="A close-up view of a technician washing a vehicle component under the hose pipe of a parts washer sink.">
            <a:extLst>
              <a:ext uri="{FF2B5EF4-FFF2-40B4-BE49-F238E27FC236}">
                <a16:creationId xmlns:a16="http://schemas.microsoft.com/office/drawing/2014/main" id="{F3750580-8B20-F6B8-2DA8-AC4DF4F7BDC0}"/>
              </a:ext>
            </a:extLst>
          </p:cNvPr>
          <p:cNvPicPr>
            <a:picLocks noGrp="1" noChangeAspect="1"/>
          </p:cNvPicPr>
          <p:nvPr>
            <p:ph type="pic" sz="quarter" idx="12"/>
          </p:nvPr>
        </p:nvPicPr>
        <p:blipFill>
          <a:blip r:embed="rId3"/>
          <a:srcRect b="8230"/>
          <a:stretch/>
        </p:blipFill>
        <p:spPr>
          <a:xfrm>
            <a:off x="6826740" y="1626029"/>
            <a:ext cx="4888417" cy="3605942"/>
          </a:xfrm>
          <a:prstGeom prst="rect">
            <a:avLst/>
          </a:prstGeom>
        </p:spPr>
      </p:pic>
    </p:spTree>
    <p:extLst>
      <p:ext uri="{BB962C8B-B14F-4D97-AF65-F5344CB8AC3E}">
        <p14:creationId xmlns:p14="http://schemas.microsoft.com/office/powerpoint/2010/main" val="844838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Chemical Cleaning Machines </a:t>
            </a:r>
            <a:r>
              <a:rPr lang="en-US" dirty="0"/>
              <a:t>(2 of 2)</a:t>
            </a:r>
            <a:endParaRPr dirty="0"/>
          </a:p>
        </p:txBody>
      </p:sp>
      <p:sp>
        <p:nvSpPr>
          <p:cNvPr id="145" name="Google Shape;145;p4"/>
          <p:cNvSpPr txBox="1">
            <a:spLocks noGrp="1"/>
          </p:cNvSpPr>
          <p:nvPr>
            <p:ph type="body" idx="1"/>
          </p:nvPr>
        </p:nvSpPr>
        <p:spPr>
          <a:xfrm>
            <a:off x="476843" y="1512824"/>
            <a:ext cx="11241915" cy="4613339"/>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t>There are two types of soak tanks: </a:t>
            </a:r>
          </a:p>
          <a:p>
            <a:pPr marL="714375" lvl="1" indent="-357188">
              <a:buSzPct val="100000"/>
            </a:pPr>
            <a:r>
              <a:rPr lang="en-US" sz="1800" dirty="0"/>
              <a:t>Cold soak tanks are commonly used to clean carburetors, throttle bodies, and aluminum parts.</a:t>
            </a:r>
          </a:p>
          <a:p>
            <a:pPr marL="1071563" lvl="2" indent="-357188">
              <a:buSzPct val="100000"/>
            </a:pPr>
            <a:r>
              <a:rPr lang="en-US" sz="1600" dirty="0"/>
              <a:t>A typical cold soak unit has a basket to hold the parts to be cleaned. After soaking with or without gentle agitation is complete, the parts are removed, flushed with water, and blown dry with compressed air. </a:t>
            </a:r>
          </a:p>
          <a:p>
            <a:pPr marL="1071563" lvl="2" indent="-357188">
              <a:buSzPct val="100000"/>
            </a:pPr>
            <a:r>
              <a:rPr lang="en-US" sz="1600" dirty="0"/>
              <a:t>Cleaning time is short, about 20 to 30 minutes.</a:t>
            </a:r>
          </a:p>
          <a:p>
            <a:pPr marL="1071563" lvl="2" indent="-357188">
              <a:buSzPct val="100000"/>
            </a:pPr>
            <a:r>
              <a:rPr lang="en-US" sz="1600" dirty="0"/>
              <a:t>Agitation by raising and lowering the basket will reduce the soak period.</a:t>
            </a:r>
          </a:p>
          <a:p>
            <a:pPr marL="714375" lvl="1" indent="-357188">
              <a:buSzPct val="100000"/>
            </a:pPr>
            <a:r>
              <a:rPr lang="en-US" sz="1800" dirty="0"/>
              <a:t>Hot soak tanks are actually heated cold tanks.</a:t>
            </a:r>
          </a:p>
          <a:p>
            <a:pPr marL="1071563" lvl="2" indent="-357188">
              <a:buSzPct val="100000"/>
            </a:pPr>
            <a:r>
              <a:rPr lang="en-US" sz="1600" dirty="0"/>
              <a:t>The source of heat is electricity, natural gas, or propane. </a:t>
            </a:r>
          </a:p>
          <a:p>
            <a:pPr marL="1071563" lvl="2" indent="-357188">
              <a:buSzPct val="100000"/>
            </a:pPr>
            <a:r>
              <a:rPr lang="en-US" sz="1600" dirty="0"/>
              <a:t>The solution inside the hot tanks usually ranges from 160 °F to 200 °F. </a:t>
            </a:r>
          </a:p>
          <a:p>
            <a:pPr marL="1071563" lvl="2" indent="-357188">
              <a:buSzPct val="100000"/>
            </a:pPr>
            <a:r>
              <a:rPr lang="en-US" sz="1600" dirty="0"/>
              <a:t>Most tanks are generally large enough to hold an entire engine block and its related parts. Hot tanks use a simple immersion process that relies on a heated chemical to lift the grease and grime off the surface. </a:t>
            </a:r>
          </a:p>
          <a:p>
            <a:pPr marL="1071563" lvl="2" indent="-357188">
              <a:buSzPct val="100000"/>
            </a:pPr>
            <a:r>
              <a:rPr lang="en-US" sz="1600" dirty="0"/>
              <a:t>Agitation may also be used to speed up the job. </a:t>
            </a:r>
          </a:p>
        </p:txBody>
      </p:sp>
    </p:spTree>
    <p:extLst>
      <p:ext uri="{BB962C8B-B14F-4D97-AF65-F5344CB8AC3E}">
        <p14:creationId xmlns:p14="http://schemas.microsoft.com/office/powerpoint/2010/main" val="3455221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Thermal Cleaning</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solidFill>
                  <a:schemeClr val="accent1"/>
                </a:solidFill>
              </a:rPr>
              <a:t>Thermal cleaning relies on heat to bake off or oxidize dirt and other contaminants.</a:t>
            </a:r>
          </a:p>
          <a:p>
            <a:pPr marL="357188" indent="-357188">
              <a:buSzPct val="100000"/>
            </a:pPr>
            <a:r>
              <a:rPr lang="en-US" sz="2000" dirty="0">
                <a:solidFill>
                  <a:schemeClr val="accent1"/>
                </a:solidFill>
              </a:rPr>
              <a:t>Thermal cleaning ovens especially the pyrolytic type, have become increasingly popular.</a:t>
            </a:r>
          </a:p>
          <a:p>
            <a:pPr marL="357188" indent="-357188">
              <a:buSzPct val="100000"/>
            </a:pPr>
            <a:r>
              <a:rPr lang="en-US" sz="2000" dirty="0">
                <a:solidFill>
                  <a:schemeClr val="accent1"/>
                </a:solidFill>
              </a:rPr>
              <a:t>The main advantage of thermal cleaning is a total reduction of all oils and grease on and in blocks, heads, and other parts.</a:t>
            </a:r>
          </a:p>
          <a:p>
            <a:pPr marL="357188" indent="-357188">
              <a:buSzPct val="100000"/>
            </a:pPr>
            <a:r>
              <a:rPr lang="en-US" sz="2000" dirty="0">
                <a:solidFill>
                  <a:schemeClr val="accent1"/>
                </a:solidFill>
              </a:rPr>
              <a:t>The high temperature inside the oven (generally 650°F to 800°F) oxidizes the grease and oil, leaving behind a dry, powdery ash on the parts.</a:t>
            </a:r>
          </a:p>
          <a:p>
            <a:pPr marL="357188" indent="-357188">
              <a:buSzPct val="100000"/>
            </a:pPr>
            <a:r>
              <a:rPr lang="en-US" sz="2000" dirty="0">
                <a:solidFill>
                  <a:schemeClr val="accent1"/>
                </a:solidFill>
              </a:rPr>
              <a:t>The ash must then be removed by shot blasting or washing.</a:t>
            </a:r>
          </a:p>
          <a:p>
            <a:pPr marL="357188" indent="-357188">
              <a:buSzPct val="100000"/>
            </a:pPr>
            <a:r>
              <a:rPr lang="en-US" sz="2000" dirty="0">
                <a:solidFill>
                  <a:schemeClr val="accent1"/>
                </a:solidFill>
              </a:rPr>
              <a:t>One of the major attractions of cleaning ovens is that they offer a more environmentally acceptable process than chemical cleaning.</a:t>
            </a:r>
          </a:p>
          <a:p>
            <a:pPr marL="357188" indent="-357188">
              <a:buSzPct val="100000"/>
            </a:pPr>
            <a:r>
              <a:rPr lang="en-US" sz="2000" dirty="0">
                <a:solidFill>
                  <a:schemeClr val="accent1"/>
                </a:solidFill>
              </a:rPr>
              <a:t>But although there is no solvent or sludge to worry about with an oven, the ash residue that comes off the cleaned parts must still be handled according to local disposal regulations.</a:t>
            </a:r>
          </a:p>
        </p:txBody>
      </p:sp>
    </p:spTree>
    <p:extLst>
      <p:ext uri="{BB962C8B-B14F-4D97-AF65-F5344CB8AC3E}">
        <p14:creationId xmlns:p14="http://schemas.microsoft.com/office/powerpoint/2010/main" val="309665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Abrasive Cleaners </a:t>
            </a:r>
            <a:r>
              <a:rPr lang="en-US" dirty="0"/>
              <a:t>(1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Another way to clean parts involves the use of abrasives. Most abrasive cleaning machines are used in conjunction with other cleaning processes rather than as a primary cleaning process </a:t>
            </a:r>
            <a:r>
              <a:rPr lang="en-US" sz="1800"/>
              <a:t>itself.</a:t>
            </a:r>
            <a:endParaRPr lang="en-US" sz="1800" dirty="0"/>
          </a:p>
          <a:p>
            <a:pPr marL="357188" indent="-357188">
              <a:spcAft>
                <a:spcPts val="600"/>
              </a:spcAft>
              <a:buSzPct val="100000"/>
            </a:pPr>
            <a:r>
              <a:rPr lang="en-US" sz="1800" dirty="0"/>
              <a:t>Some manual cleaning is inevitable. Heavy buildups of grease and/or carbon should initially be removed by scraping or wire </a:t>
            </a:r>
            <a:r>
              <a:rPr lang="en-US" sz="1800"/>
              <a:t>brushing.</a:t>
            </a:r>
            <a:endParaRPr lang="en-US" sz="1800" dirty="0"/>
          </a:p>
          <a:p>
            <a:pPr marL="357188" indent="-357188">
              <a:spcAft>
                <a:spcPts val="600"/>
              </a:spcAft>
              <a:buSzPct val="100000"/>
            </a:pPr>
            <a:r>
              <a:rPr lang="en-US" sz="1800" dirty="0"/>
              <a:t>Cleaning aluminum and other soft metals with either technique should be done with extreme care, especially while using a steel scraper or </a:t>
            </a:r>
            <a:r>
              <a:rPr lang="en-US" sz="1800"/>
              <a:t>brush.</a:t>
            </a:r>
            <a:endParaRPr lang="en-US" sz="1800" dirty="0"/>
          </a:p>
          <a:p>
            <a:pPr marL="357188" indent="-357188">
              <a:spcAft>
                <a:spcPts val="600"/>
              </a:spcAft>
              <a:buSzPct val="100000"/>
            </a:pPr>
            <a:r>
              <a:rPr lang="en-US" sz="1800" dirty="0"/>
              <a:t>Scrapers are used to remove old gasket material and heavy </a:t>
            </a:r>
            <a:r>
              <a:rPr lang="en-US" sz="1800"/>
              <a:t>sludge.</a:t>
            </a:r>
            <a:endParaRPr lang="en-US" sz="1800" dirty="0"/>
          </a:p>
          <a:p>
            <a:pPr marL="357188" indent="-357188">
              <a:spcAft>
                <a:spcPts val="600"/>
              </a:spcAft>
              <a:buSzPct val="100000"/>
            </a:pPr>
            <a:r>
              <a:rPr lang="en-US" sz="1800" dirty="0"/>
              <a:t>Power tools with a small sanding disc (normally emery cloth) are available. These are designed to remove all soft materials without damaging the hard metal surface. </a:t>
            </a:r>
          </a:p>
          <a:p>
            <a:pPr marL="357188" indent="-357188">
              <a:spcAft>
                <a:spcPts val="600"/>
              </a:spcAft>
              <a:buSzPct val="100000"/>
            </a:pPr>
            <a:r>
              <a:rPr lang="en-US" sz="1800" dirty="0"/>
              <a:t>After the item has been scraped, an additional cleaning method is used to finalize </a:t>
            </a:r>
            <a:r>
              <a:rPr lang="en-US" sz="1800"/>
              <a:t>cleaning.</a:t>
            </a:r>
            <a:endParaRPr lang="en-US" sz="1800" dirty="0"/>
          </a:p>
          <a:p>
            <a:pPr marL="357188" indent="-357188">
              <a:spcAft>
                <a:spcPts val="600"/>
              </a:spcAft>
              <a:buSzPct val="100000"/>
            </a:pPr>
            <a:r>
              <a:rPr lang="en-US" sz="1800" dirty="0"/>
              <a:t>Carbon can be removed with a handheld wire brush or a wire wheel driven by an electric or air drill motor.</a:t>
            </a:r>
          </a:p>
        </p:txBody>
      </p:sp>
    </p:spTree>
    <p:extLst>
      <p:ext uri="{BB962C8B-B14F-4D97-AF65-F5344CB8AC3E}">
        <p14:creationId xmlns:p14="http://schemas.microsoft.com/office/powerpoint/2010/main" val="960963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Abrasive Cleaners </a:t>
            </a:r>
            <a:r>
              <a:rPr lang="en-US" dirty="0"/>
              <a:t>(2 of 3)</a:t>
            </a:r>
            <a:endParaRPr dirty="0"/>
          </a:p>
        </p:txBody>
      </p:sp>
      <p:sp>
        <p:nvSpPr>
          <p:cNvPr id="145" name="Google Shape;145;p4"/>
          <p:cNvSpPr txBox="1">
            <a:spLocks noGrp="1"/>
          </p:cNvSpPr>
          <p:nvPr>
            <p:ph type="body" idx="1"/>
          </p:nvPr>
        </p:nvSpPr>
        <p:spPr>
          <a:xfrm>
            <a:off x="476844" y="1563624"/>
            <a:ext cx="6575598" cy="4553397"/>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200" dirty="0"/>
              <a:t>An abrasive blaster is another cleaning </a:t>
            </a:r>
            <a:r>
              <a:rPr lang="en-US" sz="2200"/>
              <a:t>option.</a:t>
            </a:r>
            <a:endParaRPr lang="en-US" sz="2200" dirty="0"/>
          </a:p>
          <a:p>
            <a:pPr marL="357188" indent="-357188">
              <a:spcAft>
                <a:spcPts val="600"/>
              </a:spcAft>
              <a:buSzPct val="100000"/>
            </a:pPr>
            <a:r>
              <a:rPr lang="en-US" sz="2200" dirty="0"/>
              <a:t>Compressed air shot and grit blasters are best used on parts that will be machined after they have been </a:t>
            </a:r>
            <a:r>
              <a:rPr lang="en-US" sz="2200"/>
              <a:t>cleaned.</a:t>
            </a:r>
            <a:endParaRPr lang="en-US" sz="2200" dirty="0"/>
          </a:p>
          <a:p>
            <a:pPr marL="357188" indent="-357188">
              <a:spcAft>
                <a:spcPts val="600"/>
              </a:spcAft>
              <a:buSzPct val="100000"/>
            </a:pPr>
            <a:r>
              <a:rPr lang="en-US" sz="2200" dirty="0"/>
              <a:t>Two basic types of media are available: shot and grit. Shot is round; grit is angular in </a:t>
            </a:r>
            <a:r>
              <a:rPr lang="en-US" sz="2200"/>
              <a:t>shape.</a:t>
            </a:r>
            <a:endParaRPr lang="en-US" sz="2200" dirty="0"/>
          </a:p>
          <a:p>
            <a:pPr marL="357188" indent="-357188">
              <a:spcAft>
                <a:spcPts val="600"/>
              </a:spcAft>
              <a:buSzPct val="100000"/>
            </a:pPr>
            <a:r>
              <a:rPr lang="en-US" sz="2200" dirty="0"/>
              <a:t>Parts must be dry and grease free when they go into an abrasive blast machine. Otherwise, the shot or beads will </a:t>
            </a:r>
            <a:r>
              <a:rPr lang="en-US" sz="2200"/>
              <a:t>stick.</a:t>
            </a:r>
            <a:endParaRPr lang="en-US" sz="2200" dirty="0"/>
          </a:p>
        </p:txBody>
      </p:sp>
      <p:pic>
        <p:nvPicPr>
          <p:cNvPr id="7" name="Picture Placeholder 6" descr="A technician wearing a leather glove using a blast nozzle to clean the backside of a valve.">
            <a:extLst>
              <a:ext uri="{FF2B5EF4-FFF2-40B4-BE49-F238E27FC236}">
                <a16:creationId xmlns:a16="http://schemas.microsoft.com/office/drawing/2014/main" id="{9AD003FE-2B58-0CD2-7DAA-F39B81ADE402}"/>
              </a:ext>
            </a:extLst>
          </p:cNvPr>
          <p:cNvPicPr>
            <a:picLocks noGrp="1" noChangeAspect="1"/>
          </p:cNvPicPr>
          <p:nvPr>
            <p:ph type="pic" sz="quarter" idx="12"/>
          </p:nvPr>
        </p:nvPicPr>
        <p:blipFill>
          <a:blip r:embed="rId3"/>
          <a:srcRect b="12291"/>
          <a:stretch/>
        </p:blipFill>
        <p:spPr>
          <a:xfrm>
            <a:off x="7225596" y="1788276"/>
            <a:ext cx="4489561" cy="3281448"/>
          </a:xfrm>
          <a:prstGeom prst="rect">
            <a:avLst/>
          </a:prstGeom>
        </p:spPr>
      </p:pic>
    </p:spTree>
    <p:extLst>
      <p:ext uri="{BB962C8B-B14F-4D97-AF65-F5344CB8AC3E}">
        <p14:creationId xmlns:p14="http://schemas.microsoft.com/office/powerpoint/2010/main" val="837702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Abrasive Cleaners </a:t>
            </a:r>
            <a:r>
              <a:rPr lang="en-US" dirty="0"/>
              <a:t>(3 of 3)</a:t>
            </a:r>
            <a:endParaRPr dirty="0"/>
          </a:p>
        </p:txBody>
      </p:sp>
      <p:sp>
        <p:nvSpPr>
          <p:cNvPr id="145" name="Google Shape;145;p4"/>
          <p:cNvSpPr txBox="1">
            <a:spLocks noGrp="1"/>
          </p:cNvSpPr>
          <p:nvPr>
            <p:ph type="body" idx="1"/>
          </p:nvPr>
        </p:nvSpPr>
        <p:spPr>
          <a:xfrm>
            <a:off x="476843" y="1512824"/>
            <a:ext cx="11241915" cy="4613339"/>
          </a:xfrm>
          <a:prstGeom prst="rect">
            <a:avLst/>
          </a:prstGeom>
          <a:noFill/>
          <a:ln>
            <a:noFill/>
          </a:ln>
        </p:spPr>
        <p:txBody>
          <a:bodyPr spcFirstLastPara="1" wrap="square" lIns="91425" tIns="45700" rIns="91425" bIns="45700" anchor="t" anchorCtr="0">
            <a:noAutofit/>
          </a:bodyPr>
          <a:lstStyle/>
          <a:p>
            <a:pPr marL="357188" indent="-357188">
              <a:spcAft>
                <a:spcPts val="600"/>
              </a:spcAft>
              <a:buSzPts val="2800"/>
            </a:pPr>
            <a:r>
              <a:rPr lang="en-US" dirty="0"/>
              <a:t>Parts Tumbler</a:t>
            </a:r>
          </a:p>
          <a:p>
            <a:pPr marL="714375" lvl="1" indent="-357188">
              <a:spcAft>
                <a:spcPts val="600"/>
              </a:spcAft>
              <a:buSzPct val="100000"/>
            </a:pPr>
            <a:r>
              <a:rPr lang="en-US" dirty="0"/>
              <a:t>A cleaning alternative that can save considerable labor when cleaning small parts such as engine valves is a tumbler.</a:t>
            </a:r>
          </a:p>
          <a:p>
            <a:pPr marL="357188" indent="-357188">
              <a:spcAft>
                <a:spcPts val="600"/>
              </a:spcAft>
              <a:buSzPts val="2800"/>
            </a:pPr>
            <a:r>
              <a:rPr lang="en-US" dirty="0"/>
              <a:t>Vibratory Cleaning</a:t>
            </a:r>
          </a:p>
          <a:p>
            <a:pPr marL="714375" lvl="1" indent="-357188">
              <a:spcAft>
                <a:spcPts val="600"/>
              </a:spcAft>
              <a:buSzPct val="100000"/>
            </a:pPr>
            <a:r>
              <a:rPr lang="en-US" dirty="0"/>
              <a:t>Shakers, as they are frequently called, use a vibrating tub filled with ceramic, steel, porcelain, or aluminum abrasive to scrub parts.</a:t>
            </a:r>
          </a:p>
          <a:p>
            <a:pPr marL="714375" lvl="1" indent="-357188">
              <a:spcAft>
                <a:spcPts val="600"/>
              </a:spcAft>
              <a:buSzPct val="100000"/>
            </a:pPr>
            <a:r>
              <a:rPr lang="en-US" dirty="0"/>
              <a:t>Most shakers have a tub filled with solvent to help loosen and flush away the dirt and grime.</a:t>
            </a:r>
          </a:p>
          <a:p>
            <a:pPr marL="714375" lvl="1" indent="-357188">
              <a:spcAft>
                <a:spcPts val="600"/>
              </a:spcAft>
              <a:buSzPct val="100000"/>
            </a:pPr>
            <a:r>
              <a:rPr lang="en-US" dirty="0"/>
              <a:t>The solvent drains out the bottom and is filtered to remove the sludge.</a:t>
            </a:r>
          </a:p>
        </p:txBody>
      </p:sp>
    </p:spTree>
    <p:extLst>
      <p:ext uri="{BB962C8B-B14F-4D97-AF65-F5344CB8AC3E}">
        <p14:creationId xmlns:p14="http://schemas.microsoft.com/office/powerpoint/2010/main" val="2681309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Alternative Cleaning Methods </a:t>
            </a:r>
            <a:r>
              <a:rPr lang="en-US" dirty="0"/>
              <a:t>(1 of 2)</a:t>
            </a:r>
            <a:endParaRPr dirty="0"/>
          </a:p>
        </p:txBody>
      </p:sp>
      <p:pic>
        <p:nvPicPr>
          <p:cNvPr id="7" name="Picture Placeholder 6" descr="An ultrasonic parts cleaner.">
            <a:extLst>
              <a:ext uri="{FF2B5EF4-FFF2-40B4-BE49-F238E27FC236}">
                <a16:creationId xmlns:a16="http://schemas.microsoft.com/office/drawing/2014/main" id="{BE01284A-5693-4DD6-9CA5-31CE4069EDCE}"/>
              </a:ext>
            </a:extLst>
          </p:cNvPr>
          <p:cNvPicPr>
            <a:picLocks noGrp="1" noChangeAspect="1"/>
          </p:cNvPicPr>
          <p:nvPr>
            <p:ph type="pic" sz="quarter" idx="12"/>
          </p:nvPr>
        </p:nvPicPr>
        <p:blipFill>
          <a:blip r:embed="rId3"/>
          <a:srcRect b="8063"/>
          <a:stretch/>
        </p:blipFill>
        <p:spPr>
          <a:xfrm>
            <a:off x="613692" y="1682272"/>
            <a:ext cx="4476549" cy="3493457"/>
          </a:xfrm>
          <a:prstGeom prst="rect">
            <a:avLst/>
          </a:prstGeom>
        </p:spPr>
      </p:pic>
      <p:sp>
        <p:nvSpPr>
          <p:cNvPr id="145" name="Google Shape;145;p4"/>
          <p:cNvSpPr txBox="1">
            <a:spLocks noGrp="1"/>
          </p:cNvSpPr>
          <p:nvPr>
            <p:ph type="body" idx="1"/>
          </p:nvPr>
        </p:nvSpPr>
        <p:spPr>
          <a:xfrm>
            <a:off x="5402317" y="1563624"/>
            <a:ext cx="6316441" cy="4490335"/>
          </a:xfrm>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2400" dirty="0"/>
              <a:t>Ultrasonic Cleaning</a:t>
            </a:r>
          </a:p>
          <a:p>
            <a:pPr marL="714375" lvl="1" indent="-357188">
              <a:spcAft>
                <a:spcPts val="400"/>
              </a:spcAft>
              <a:buSzPct val="100000"/>
            </a:pPr>
            <a:r>
              <a:rPr lang="en-US" sz="2200" b="1" dirty="0"/>
              <a:t>Ultrasonic cleaning </a:t>
            </a:r>
            <a:r>
              <a:rPr lang="en-US" sz="2200" dirty="0"/>
              <a:t>utilizes high-frequency sound waves to create microscopic bubbles that burst into energy to loosen soil from parts.</a:t>
            </a:r>
          </a:p>
          <a:p>
            <a:pPr marL="714375" lvl="1" indent="-357188">
              <a:spcAft>
                <a:spcPts val="400"/>
              </a:spcAft>
              <a:buSzPct val="100000"/>
            </a:pPr>
            <a:r>
              <a:rPr lang="en-US" sz="2200" dirty="0"/>
              <a:t>Because the tiny bubbles do all the work, the chemical content of the cleaning solution is minimized, making waste disposal less of a problem.</a:t>
            </a:r>
          </a:p>
          <a:p>
            <a:pPr marL="714375" lvl="1" indent="-357188">
              <a:spcAft>
                <a:spcPts val="400"/>
              </a:spcAft>
              <a:buSzPct val="100000"/>
            </a:pPr>
            <a:r>
              <a:rPr lang="en-US" sz="2200" dirty="0"/>
              <a:t>The initial cost and handling capacity of ultrasonic equipment is its major disadvantage.</a:t>
            </a:r>
          </a:p>
        </p:txBody>
      </p:sp>
    </p:spTree>
    <p:extLst>
      <p:ext uri="{BB962C8B-B14F-4D97-AF65-F5344CB8AC3E}">
        <p14:creationId xmlns:p14="http://schemas.microsoft.com/office/powerpoint/2010/main" val="4238225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Alternative Cleaning Methods </a:t>
            </a:r>
            <a:r>
              <a:rPr lang="en-US" dirty="0"/>
              <a:t>(2 of 2)</a:t>
            </a:r>
            <a:endParaRPr dirty="0"/>
          </a:p>
        </p:txBody>
      </p:sp>
      <p:sp>
        <p:nvSpPr>
          <p:cNvPr id="145" name="Google Shape;145;p4"/>
          <p:cNvSpPr txBox="1">
            <a:spLocks noGrp="1"/>
          </p:cNvSpPr>
          <p:nvPr>
            <p:ph type="body" idx="1"/>
          </p:nvPr>
        </p:nvSpPr>
        <p:spPr>
          <a:xfrm>
            <a:off x="476843" y="1525524"/>
            <a:ext cx="11241915" cy="4613339"/>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200" dirty="0"/>
              <a:t>Citrus Chemicals</a:t>
            </a:r>
          </a:p>
          <a:p>
            <a:pPr marL="714375" lvl="1" indent="-357188">
              <a:spcAft>
                <a:spcPts val="600"/>
              </a:spcAft>
              <a:buSzPct val="100000"/>
            </a:pPr>
            <a:r>
              <a:rPr lang="en-US" sz="2000" dirty="0"/>
              <a:t>Some chemical producers have citrus-based cleaning chemicals available to serve as a replacement for hazardous solvents and alkaline-based chemicals. Because of their citrus origin, these chemicals are safer to handle, easier to dispose of, and even smell good.</a:t>
            </a:r>
          </a:p>
          <a:p>
            <a:pPr marL="357188" indent="-357188">
              <a:spcAft>
                <a:spcPts val="600"/>
              </a:spcAft>
              <a:buSzPct val="100000"/>
            </a:pPr>
            <a:r>
              <a:rPr lang="en-US" sz="2200" dirty="0"/>
              <a:t>Salt Bath </a:t>
            </a:r>
          </a:p>
          <a:p>
            <a:pPr marL="714375" lvl="1" indent="-357188">
              <a:spcAft>
                <a:spcPts val="600"/>
              </a:spcAft>
              <a:buSzPct val="100000"/>
            </a:pPr>
            <a:r>
              <a:rPr lang="en-US" sz="2000" dirty="0"/>
              <a:t>The salt bath is a unique process that uses high-temperature molten salt to dissolve organic materials, including carbon, grease, oil, dirt, paint, and some gaskets. For cast iron and steel, the salt bath operates at about 700 °F to 850 °F. For aluminum or combinations of aluminum and iron, a different salt solution is used at a lower temperature (about 600 °F). The contaminants precipitate out of the solution and sink to the bottom of the tank, where they must be removed periodically</a:t>
            </a:r>
          </a:p>
        </p:txBody>
      </p:sp>
    </p:spTree>
    <p:extLst>
      <p:ext uri="{BB962C8B-B14F-4D97-AF65-F5344CB8AC3E}">
        <p14:creationId xmlns:p14="http://schemas.microsoft.com/office/powerpoint/2010/main" val="4263334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buNone/>
            </a:pPr>
            <a:r>
              <a:rPr lang="en-US" sz="2400" dirty="0"/>
              <a:t>True or False? Parts washers are one of the most widely used and inexpensive methods of removing grease, oil, and dirt from metal </a:t>
            </a:r>
            <a:r>
              <a:rPr lang="en-US" sz="2400"/>
              <a:t>surfaces.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(1 of 2)</a:t>
            </a:r>
            <a:endParaRPr/>
          </a:p>
        </p:txBody>
      </p:sp>
      <p:sp>
        <p:nvSpPr>
          <p:cNvPr id="3" name="Google Shape;318;p30"/>
          <p:cNvSpPr txBox="1">
            <a:spLocks noGrp="1"/>
          </p:cNvSpPr>
          <p:nvPr>
            <p:ph type="body" idx="1"/>
          </p:nvPr>
        </p:nvSpPr>
        <p:spPr>
          <a:xfrm>
            <a:off x="476250" y="1563688"/>
            <a:ext cx="11242675" cy="1277232"/>
          </a:xfrm>
          <a:prstGeom prst="rect">
            <a:avLst/>
          </a:prstGeom>
          <a:noFill/>
          <a:ln>
            <a:noFill/>
          </a:ln>
        </p:spPr>
        <p:txBody>
          <a:bodyPr spcFirstLastPara="1" wrap="square" lIns="91425" tIns="45700" rIns="91425" bIns="45700" anchor="t" anchorCtr="0">
            <a:spAutoFit/>
          </a:bodyPr>
          <a:lstStyle/>
          <a:p>
            <a:pPr marL="0" lvl="1" indent="0">
              <a:buNone/>
            </a:pPr>
            <a:r>
              <a:rPr lang="en-US" sz="2400" b="1" dirty="0">
                <a:solidFill>
                  <a:schemeClr val="dk1"/>
                </a:solidFill>
                <a:latin typeface="Work Sans"/>
                <a:ea typeface="Work Sans"/>
                <a:cs typeface="Work Sans"/>
                <a:sym typeface="Work Sans"/>
              </a:rPr>
              <a:t>Answer</a:t>
            </a:r>
            <a:r>
              <a:rPr lang="en-US" sz="2400" dirty="0">
                <a:solidFill>
                  <a:schemeClr val="dk1"/>
                </a:solidFill>
                <a:latin typeface="Work Sans"/>
                <a:ea typeface="Work Sans"/>
                <a:cs typeface="Work Sans"/>
                <a:sym typeface="Work Sans"/>
              </a:rPr>
              <a:t>: True. Parts washers are one of the most widely used and inexpensive methods of removing grease, oil, and dirt from metal surfaces.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Crack Detection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t>10.05 Inspect engine parts for cracks. </a:t>
            </a:r>
          </a:p>
          <a:p>
            <a:pPr marL="357188" indent="-357188">
              <a:spcAft>
                <a:spcPts val="600"/>
              </a:spcAft>
              <a:buSzPct val="100000"/>
            </a:pPr>
            <a:r>
              <a:rPr lang="en-US" sz="2000" dirty="0"/>
              <a:t>Once engine parts have been cleaned, everything should be  inspected. </a:t>
            </a:r>
          </a:p>
          <a:p>
            <a:pPr marL="357188" indent="-357188">
              <a:spcAft>
                <a:spcPts val="600"/>
              </a:spcAft>
              <a:buSzPct val="100000"/>
            </a:pPr>
            <a:r>
              <a:rPr lang="en-US" sz="2000" dirty="0"/>
              <a:t>This inspection should include a check for cracks, especially in the engine block and cylinder head. </a:t>
            </a:r>
          </a:p>
          <a:p>
            <a:pPr marL="357188" indent="-357188">
              <a:spcAft>
                <a:spcPts val="600"/>
              </a:spcAft>
              <a:buSzPct val="100000"/>
            </a:pPr>
            <a:r>
              <a:rPr lang="en-US" sz="2000" dirty="0"/>
              <a:t>If cracks in the metal casting are discovered during the inspection, they should be repaired or the part replaced </a:t>
            </a:r>
          </a:p>
          <a:p>
            <a:pPr marL="357188" indent="-357188">
              <a:spcAft>
                <a:spcPts val="600"/>
              </a:spcAft>
              <a:buSzPct val="100000"/>
            </a:pPr>
            <a:r>
              <a:rPr lang="en-US" sz="2000" dirty="0"/>
              <a:t>Cracks in metal castings are the result of stress or strain on a section of the casting. </a:t>
            </a:r>
          </a:p>
          <a:p>
            <a:pPr marL="714375" lvl="1" indent="-357188">
              <a:spcAft>
                <a:spcPts val="600"/>
              </a:spcAft>
              <a:buSzPct val="100000"/>
            </a:pPr>
            <a:r>
              <a:rPr lang="en-US" sz="1800" dirty="0"/>
              <a:t>This stress finds a weak point in the casting and causes it to distort or separate at that point.</a:t>
            </a:r>
          </a:p>
          <a:p>
            <a:pPr marL="714375" lvl="1" indent="-357188">
              <a:spcAft>
                <a:spcPts val="600"/>
              </a:spcAft>
              <a:buSzPct val="100000"/>
            </a:pPr>
            <a:r>
              <a:rPr lang="en-US" sz="1800" dirty="0"/>
              <a:t>These stresses have multiple causes such as:</a:t>
            </a:r>
          </a:p>
          <a:p>
            <a:pPr marL="1071563" lvl="2" indent="-357188">
              <a:spcAft>
                <a:spcPts val="600"/>
              </a:spcAft>
              <a:buSzPct val="100000"/>
            </a:pPr>
            <a:r>
              <a:rPr lang="en-US" sz="1600" dirty="0"/>
              <a:t>Pressure or temperature changes during the casting process.</a:t>
            </a:r>
          </a:p>
        </p:txBody>
      </p:sp>
    </p:spTree>
    <p:extLst>
      <p:ext uri="{BB962C8B-B14F-4D97-AF65-F5344CB8AC3E}">
        <p14:creationId xmlns:p14="http://schemas.microsoft.com/office/powerpoint/2010/main" val="1327106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Crack Detection (2 of 2)</a:t>
            </a:r>
            <a:endParaRPr dirty="0"/>
          </a:p>
        </p:txBody>
      </p:sp>
      <p:sp>
        <p:nvSpPr>
          <p:cNvPr id="145" name="Google Shape;145;p4"/>
          <p:cNvSpPr txBox="1">
            <a:spLocks noGrp="1"/>
          </p:cNvSpPr>
          <p:nvPr>
            <p:ph type="body" idx="1"/>
          </p:nvPr>
        </p:nvSpPr>
        <p:spPr>
          <a:xfrm>
            <a:off x="476844" y="1563624"/>
            <a:ext cx="7198300" cy="4553397"/>
          </a:xfrm>
          <a:prstGeom prst="rect">
            <a:avLst/>
          </a:prstGeom>
          <a:noFill/>
          <a:ln>
            <a:noFill/>
          </a:ln>
        </p:spPr>
        <p:txBody>
          <a:bodyPr spcFirstLastPara="1" wrap="square" lIns="91425" tIns="45700" rIns="91425" bIns="45700" anchor="t" anchorCtr="0">
            <a:noAutofit/>
          </a:bodyPr>
          <a:lstStyle/>
          <a:p>
            <a:pPr marL="357188" indent="-357188">
              <a:spcAft>
                <a:spcPts val="300"/>
              </a:spcAft>
              <a:buSzPct val="100000"/>
            </a:pPr>
            <a:r>
              <a:rPr lang="en-US" sz="1800" dirty="0"/>
              <a:t>Cracks can be found by visual inspection; however, many are not easily seen. Therefore, engine rebuilders use special equipment to detect cracks, especially if there is reason to suspect a crack.</a:t>
            </a:r>
          </a:p>
          <a:p>
            <a:pPr marL="357188" indent="-357188">
              <a:spcAft>
                <a:spcPts val="300"/>
              </a:spcAft>
              <a:buSzPct val="100000"/>
            </a:pPr>
            <a:r>
              <a:rPr lang="en-US" sz="1800" dirty="0"/>
              <a:t>Pressure Checks</a:t>
            </a:r>
          </a:p>
          <a:p>
            <a:pPr marL="714375" lvl="1" indent="-357188">
              <a:spcAft>
                <a:spcPts val="300"/>
              </a:spcAft>
              <a:buSzPct val="100000"/>
            </a:pPr>
            <a:r>
              <a:rPr lang="en-US" sz="1600" dirty="0"/>
              <a:t>Pressure checking a cylinder block or head is done in the same way as a tire is checked for leaks. The block or head is then submerged in water and air injected. Bubbles will form in the water if there is a leak. The spot where the bubbles are forming identifies the location of the leak.</a:t>
            </a:r>
          </a:p>
          <a:p>
            <a:pPr marL="357188" indent="-357188">
              <a:spcAft>
                <a:spcPts val="300"/>
              </a:spcAft>
              <a:buSzPct val="100000"/>
            </a:pPr>
            <a:r>
              <a:rPr lang="en-US" sz="1800" dirty="0"/>
              <a:t>Magnetic Checks</a:t>
            </a:r>
          </a:p>
          <a:p>
            <a:pPr marL="714375" lvl="1" indent="-357188">
              <a:spcAft>
                <a:spcPts val="300"/>
              </a:spcAft>
              <a:buSzPct val="100000"/>
            </a:pPr>
            <a:r>
              <a:rPr lang="en-US" sz="1600" dirty="0"/>
              <a:t>Magnetic particle inspection (MPI) uses a permanent or electromagnet to create a magnetic field in a cast iron part. Iron filings are sprinkled on the surface to detect a secondary magnetic field resulting from a crack.</a:t>
            </a:r>
          </a:p>
        </p:txBody>
      </p:sp>
      <p:pic>
        <p:nvPicPr>
          <p:cNvPr id="7" name="Picture Placeholder 6" descr="A close-up view of a crack in a case iron part.">
            <a:extLst>
              <a:ext uri="{FF2B5EF4-FFF2-40B4-BE49-F238E27FC236}">
                <a16:creationId xmlns:a16="http://schemas.microsoft.com/office/drawing/2014/main" id="{22F5B4C6-2EC9-46BE-62B0-45F1052256FF}"/>
              </a:ext>
            </a:extLst>
          </p:cNvPr>
          <p:cNvPicPr>
            <a:picLocks noGrp="1" noChangeAspect="1"/>
          </p:cNvPicPr>
          <p:nvPr>
            <p:ph type="pic" sz="quarter" idx="12"/>
          </p:nvPr>
        </p:nvPicPr>
        <p:blipFill>
          <a:blip r:embed="rId3"/>
          <a:srcRect b="18923"/>
          <a:stretch/>
        </p:blipFill>
        <p:spPr>
          <a:xfrm>
            <a:off x="7865643" y="2166568"/>
            <a:ext cx="4040014" cy="2671262"/>
          </a:xfrm>
          <a:prstGeom prst="rect">
            <a:avLst/>
          </a:prstGeom>
        </p:spPr>
      </p:pic>
    </p:spTree>
    <p:extLst>
      <p:ext uri="{BB962C8B-B14F-4D97-AF65-F5344CB8AC3E}">
        <p14:creationId xmlns:p14="http://schemas.microsoft.com/office/powerpoint/2010/main" val="2841029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spcBef>
                <a:spcPts val="0"/>
              </a:spcBef>
              <a:buSzPts val="2800"/>
            </a:pPr>
            <a:r>
              <a:rPr lang="en-US" sz="4000" dirty="0"/>
              <a:t>In-Vehicle Engine Service (1 of </a:t>
            </a:r>
            <a:r>
              <a:rPr lang="en-US" sz="4000"/>
              <a:t>2)</a:t>
            </a:r>
            <a:endParaRPr lang="en-US" sz="40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300"/>
              </a:spcAft>
              <a:buSzPts val="2800"/>
              <a:buNone/>
            </a:pPr>
            <a:r>
              <a:rPr lang="en-US" sz="2200" b="1" dirty="0"/>
              <a:t>10.06 Perform common services to an engine while it is in a vehicle. </a:t>
            </a:r>
          </a:p>
          <a:p>
            <a:pPr marL="357188" indent="-357188">
              <a:spcAft>
                <a:spcPts val="300"/>
              </a:spcAft>
              <a:buSzPct val="100000"/>
            </a:pPr>
            <a:r>
              <a:rPr lang="en-US" sz="2200" dirty="0"/>
              <a:t>Some services on an engine can be performed with the engine still in a </a:t>
            </a:r>
            <a:r>
              <a:rPr lang="en-US" sz="2200"/>
              <a:t>vehicle.</a:t>
            </a:r>
            <a:endParaRPr lang="en-US" sz="2200" dirty="0"/>
          </a:p>
          <a:p>
            <a:pPr marL="357188" indent="-357188">
              <a:spcAft>
                <a:spcPts val="300"/>
              </a:spcAft>
              <a:buSzPct val="100000"/>
            </a:pPr>
            <a:r>
              <a:rPr lang="en-US" sz="2200" dirty="0"/>
              <a:t>Many of the procedures for performing under-the-hood services involve the same steps as when the engine is </a:t>
            </a:r>
            <a:r>
              <a:rPr lang="en-US" sz="2200"/>
              <a:t>removed.</a:t>
            </a:r>
            <a:endParaRPr lang="en-US" sz="2200" dirty="0"/>
          </a:p>
          <a:p>
            <a:pPr marL="357188" indent="-357188">
              <a:spcAft>
                <a:spcPts val="300"/>
              </a:spcAft>
              <a:buSzPct val="100000"/>
            </a:pPr>
            <a:r>
              <a:rPr lang="en-US" sz="2200" dirty="0"/>
              <a:t>Oil </a:t>
            </a:r>
            <a:r>
              <a:rPr lang="en-US" sz="2200"/>
              <a:t>Pan Gasket</a:t>
            </a:r>
            <a:endParaRPr lang="en-US" sz="2200" dirty="0"/>
          </a:p>
          <a:p>
            <a:pPr marL="714375" lvl="1" indent="-357188">
              <a:spcAft>
                <a:spcPts val="300"/>
              </a:spcAft>
              <a:buSzPct val="100000"/>
            </a:pPr>
            <a:r>
              <a:rPr lang="en-US" sz="2000" dirty="0"/>
              <a:t>Often a damaged oil pan gasket is the source of oil leaks. </a:t>
            </a:r>
          </a:p>
          <a:p>
            <a:pPr marL="714375" lvl="1" indent="-357188">
              <a:spcAft>
                <a:spcPts val="300"/>
              </a:spcAft>
              <a:buSzPct val="100000"/>
            </a:pPr>
            <a:r>
              <a:rPr lang="en-US" sz="2000" dirty="0"/>
              <a:t>Replacing the gasket can be done with the engine in the vehicle. </a:t>
            </a:r>
          </a:p>
          <a:p>
            <a:pPr marL="714375" lvl="1" indent="-357188">
              <a:spcAft>
                <a:spcPts val="300"/>
              </a:spcAft>
              <a:buSzPct val="100000"/>
            </a:pPr>
            <a:r>
              <a:rPr lang="en-US" sz="2000" dirty="0"/>
              <a:t>The procedure for doing this varies with the vehicle model, so always refer to the service information. </a:t>
            </a:r>
          </a:p>
          <a:p>
            <a:pPr marL="714375" lvl="1" indent="-357188">
              <a:spcAft>
                <a:spcPts val="300"/>
              </a:spcAft>
              <a:buSzPct val="100000"/>
            </a:pPr>
            <a:r>
              <a:rPr lang="en-US" sz="2000" dirty="0"/>
              <a:t>The basic procedure is different for RWD and FWD vehicles.</a:t>
            </a:r>
            <a:endParaRPr lang="en-US" sz="2200" dirty="0"/>
          </a:p>
        </p:txBody>
      </p:sp>
    </p:spTree>
    <p:extLst>
      <p:ext uri="{BB962C8B-B14F-4D97-AF65-F5344CB8AC3E}">
        <p14:creationId xmlns:p14="http://schemas.microsoft.com/office/powerpoint/2010/main" val="3610866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spcBef>
                <a:spcPts val="0"/>
              </a:spcBef>
              <a:buSzPts val="2800"/>
            </a:pPr>
            <a:r>
              <a:rPr lang="en-US" sz="4000" dirty="0"/>
              <a:t>In-Vehicle Engine Service (2 of </a:t>
            </a:r>
            <a:r>
              <a:rPr lang="en-US" sz="4000"/>
              <a:t>2)</a:t>
            </a:r>
            <a:endParaRPr lang="en-US" sz="40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t>Replacing an engine’s vibration (harmonic) damper can be a bit </a:t>
            </a:r>
            <a:r>
              <a:rPr lang="en-US" sz="2000"/>
              <a:t>complex.</a:t>
            </a:r>
            <a:endParaRPr lang="en-US" sz="2000" dirty="0"/>
          </a:p>
          <a:p>
            <a:pPr marL="357188" indent="-357188">
              <a:spcAft>
                <a:spcPts val="600"/>
              </a:spcAft>
              <a:buSzPct val="100000"/>
            </a:pPr>
            <a:r>
              <a:rPr lang="en-US" sz="2000" dirty="0"/>
              <a:t>Longitudinal Engines</a:t>
            </a:r>
            <a:r>
              <a:rPr lang="en-US" sz="2000" dirty="0">
                <a:solidFill>
                  <a:srgbClr val="FF0000"/>
                </a:solidFill>
              </a:rPr>
              <a:t>:</a:t>
            </a:r>
            <a:r>
              <a:rPr lang="en-US" sz="2000" dirty="0"/>
              <a:t> The following is a typical procedure for replacing a damper on an engine that is positioned longitudinally:</a:t>
            </a:r>
          </a:p>
          <a:p>
            <a:pPr marL="714375" lvl="1" indent="-357188">
              <a:spcAft>
                <a:spcPts val="600"/>
              </a:spcAft>
              <a:buSzPct val="100000"/>
            </a:pPr>
            <a:r>
              <a:rPr lang="en-US" sz="1800"/>
              <a:t>Remove </a:t>
            </a:r>
            <a:r>
              <a:rPr lang="en-US" sz="1800" dirty="0"/>
              <a:t>the drive belt and then hold the crankshaft pulley and remove the bolt in the center of the pulley. When the bolt is removed, the pulley may easily pull off with its </a:t>
            </a:r>
            <a:r>
              <a:rPr lang="en-US" sz="1800"/>
              <a:t>washer.</a:t>
            </a:r>
            <a:endParaRPr lang="en-US" sz="1800" dirty="0"/>
          </a:p>
          <a:p>
            <a:pPr marL="714375" lvl="1" indent="-357188">
              <a:spcAft>
                <a:spcPts val="600"/>
              </a:spcAft>
              <a:buSzPct val="100000"/>
            </a:pPr>
            <a:r>
              <a:rPr lang="en-US" sz="1800" dirty="0"/>
              <a:t>If the pulley does not easily pull off, you will need to use a crankshaft pulley puller. Depending on the engine, a steering wheel puller may be used or a special puller may be </a:t>
            </a:r>
            <a:r>
              <a:rPr lang="en-US" sz="1800"/>
              <a:t>required.</a:t>
            </a:r>
            <a:endParaRPr lang="en-US" sz="1800" dirty="0"/>
          </a:p>
          <a:p>
            <a:pPr marL="714375" lvl="1" indent="-357188">
              <a:spcAft>
                <a:spcPts val="600"/>
              </a:spcAft>
              <a:buSzPct val="100000"/>
            </a:pPr>
            <a:r>
              <a:rPr lang="en-US" sz="1800" dirty="0"/>
              <a:t>The new bolt should be coated with engine oil before it is installed. Install the new pulley onto the </a:t>
            </a:r>
            <a:r>
              <a:rPr lang="en-US" sz="1800"/>
              <a:t>crankshaft.</a:t>
            </a:r>
            <a:endParaRPr lang="en-US" sz="1800" dirty="0"/>
          </a:p>
          <a:p>
            <a:pPr marL="714375" lvl="1" indent="-357188">
              <a:spcAft>
                <a:spcPts val="600"/>
              </a:spcAft>
              <a:buSzPct val="100000"/>
            </a:pPr>
            <a:r>
              <a:rPr lang="en-US" sz="1800" dirty="0"/>
              <a:t>This is typically a torque to-yield bolt. So, make sure it is tightened to specifications and further tightened to the specified </a:t>
            </a:r>
            <a:r>
              <a:rPr lang="en-US" sz="1800"/>
              <a:t>angle.</a:t>
            </a:r>
            <a:endParaRPr lang="en-US" sz="1800" dirty="0"/>
          </a:p>
        </p:txBody>
      </p:sp>
    </p:spTree>
    <p:extLst>
      <p:ext uri="{BB962C8B-B14F-4D97-AF65-F5344CB8AC3E}">
        <p14:creationId xmlns:p14="http://schemas.microsoft.com/office/powerpoint/2010/main" val="28791909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spcBef>
                <a:spcPts val="0"/>
              </a:spcBef>
              <a:buSzPts val="2800"/>
            </a:pPr>
            <a:r>
              <a:rPr lang="en-US" sz="4000" dirty="0"/>
              <a:t>Cylinder Head (</a:t>
            </a:r>
            <a:r>
              <a:rPr lang="en-US" dirty="0"/>
              <a:t>1</a:t>
            </a:r>
            <a:r>
              <a:rPr lang="en-US" sz="4000" dirty="0"/>
              <a:t> of </a:t>
            </a:r>
            <a:r>
              <a:rPr lang="en-US" sz="4000"/>
              <a:t>4)</a:t>
            </a:r>
            <a:endParaRPr lang="en-US" sz="40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t>10.07 Remove and reinstall a cylinder head. </a:t>
            </a:r>
          </a:p>
          <a:p>
            <a:pPr marL="357188" indent="-357188">
              <a:spcAft>
                <a:spcPts val="600"/>
              </a:spcAft>
              <a:buSzPct val="100000"/>
            </a:pPr>
            <a:r>
              <a:rPr lang="en-US" sz="2000" dirty="0"/>
              <a:t>Removing a cylinder head on an engine that is still in the vehicle follows many of the same steps as removing it when the engine is on an engine </a:t>
            </a:r>
            <a:r>
              <a:rPr lang="en-US" sz="2000"/>
              <a:t>stand.</a:t>
            </a:r>
            <a:endParaRPr lang="en-US" sz="2000" dirty="0"/>
          </a:p>
          <a:p>
            <a:pPr marL="357188" indent="-357188">
              <a:spcAft>
                <a:spcPts val="600"/>
              </a:spcAft>
              <a:buSzPct val="100000"/>
            </a:pPr>
            <a:r>
              <a:rPr lang="en-US" sz="2000" dirty="0"/>
              <a:t>The exact procedure varies with the vehicle and the type of engine. Below is an example of performing this service on a late-model V engine and an in-line </a:t>
            </a:r>
            <a:r>
              <a:rPr lang="en-US" sz="2000"/>
              <a:t>engine.</a:t>
            </a:r>
            <a:endParaRPr lang="en-US" sz="2000" dirty="0"/>
          </a:p>
          <a:p>
            <a:pPr marL="357188" indent="-357188">
              <a:spcAft>
                <a:spcPts val="600"/>
              </a:spcAft>
              <a:buSzPct val="100000"/>
            </a:pPr>
            <a:r>
              <a:rPr lang="en-US" sz="2000" dirty="0"/>
              <a:t>These procedures include the removal and installation of many parts that may require service without the need for removing the </a:t>
            </a:r>
            <a:r>
              <a:rPr lang="en-US" sz="2000"/>
              <a:t>head.</a:t>
            </a:r>
            <a:endParaRPr lang="en-US" sz="2000" dirty="0"/>
          </a:p>
          <a:p>
            <a:pPr marL="357188" indent="-357188">
              <a:spcAft>
                <a:spcPts val="600"/>
              </a:spcAft>
              <a:buSzPct val="100000"/>
            </a:pPr>
            <a:r>
              <a:rPr lang="en-US" sz="2000" dirty="0"/>
              <a:t>Before beginning, connect a scan tool to the data link connecter (DLC), and check the engine’s coolant temperature. Wait until the temperature is below 100 °F (38 °C) before </a:t>
            </a:r>
            <a:r>
              <a:rPr lang="en-US" sz="2000"/>
              <a:t>proceeding.</a:t>
            </a:r>
            <a:endParaRPr lang="en-US" sz="2000" dirty="0"/>
          </a:p>
          <a:p>
            <a:pPr marL="357188" indent="-357188">
              <a:spcAft>
                <a:spcPts val="600"/>
              </a:spcAft>
              <a:buSzPct val="100000"/>
            </a:pPr>
            <a:r>
              <a:rPr lang="en-US" sz="2000" dirty="0"/>
              <a:t>This is done to prevent damage to the intake manifold and cylinder head(s). Once the temperature is acceptable, remove the intake manifold.</a:t>
            </a:r>
          </a:p>
        </p:txBody>
      </p:sp>
    </p:spTree>
    <p:extLst>
      <p:ext uri="{BB962C8B-B14F-4D97-AF65-F5344CB8AC3E}">
        <p14:creationId xmlns:p14="http://schemas.microsoft.com/office/powerpoint/2010/main" val="1110372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spcBef>
                <a:spcPts val="0"/>
              </a:spcBef>
              <a:buSzPts val="2800"/>
            </a:pPr>
            <a:r>
              <a:rPr lang="en-US" sz="4000" dirty="0"/>
              <a:t>Cylinder Head (2 of 4)</a:t>
            </a:r>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solidFill>
                  <a:schemeClr val="accent1"/>
                </a:solidFill>
              </a:rPr>
              <a:t>Preparing for removal on all engines has common steps, but some steps will vary depending on model and engine </a:t>
            </a:r>
            <a:r>
              <a:rPr lang="en-US" sz="2000">
                <a:solidFill>
                  <a:schemeClr val="accent1"/>
                </a:solidFill>
              </a:rPr>
              <a:t>type.</a:t>
            </a:r>
            <a:endParaRPr lang="en-US" sz="2000" dirty="0">
              <a:solidFill>
                <a:schemeClr val="accent1"/>
              </a:solidFill>
            </a:endParaRPr>
          </a:p>
          <a:p>
            <a:pPr marL="357188" indent="-357188">
              <a:spcAft>
                <a:spcPts val="600"/>
              </a:spcAft>
              <a:buSzPct val="100000"/>
            </a:pPr>
            <a:r>
              <a:rPr lang="en-US" sz="2000" dirty="0">
                <a:solidFill>
                  <a:schemeClr val="accent1"/>
                </a:solidFill>
              </a:rPr>
              <a:t>Drain the engine’s </a:t>
            </a:r>
            <a:r>
              <a:rPr lang="en-US" sz="2000">
                <a:solidFill>
                  <a:schemeClr val="accent1"/>
                </a:solidFill>
              </a:rPr>
              <a:t>oil.</a:t>
            </a:r>
            <a:endParaRPr lang="en-US" sz="2000" dirty="0">
              <a:solidFill>
                <a:schemeClr val="accent1"/>
              </a:solidFill>
            </a:endParaRPr>
          </a:p>
          <a:p>
            <a:pPr marL="357188" indent="-357188">
              <a:spcAft>
                <a:spcPts val="600"/>
              </a:spcAft>
              <a:buSzPct val="100000"/>
            </a:pPr>
            <a:r>
              <a:rPr lang="en-US" sz="2000" dirty="0">
                <a:solidFill>
                  <a:schemeClr val="accent1"/>
                </a:solidFill>
              </a:rPr>
              <a:t>Remove the cylinder block drain plugs and drain the </a:t>
            </a:r>
            <a:r>
              <a:rPr lang="en-US" sz="2000">
                <a:solidFill>
                  <a:schemeClr val="accent1"/>
                </a:solidFill>
              </a:rPr>
              <a:t>coolant.</a:t>
            </a:r>
            <a:endParaRPr lang="en-US" sz="2000" dirty="0">
              <a:solidFill>
                <a:schemeClr val="accent1"/>
              </a:solidFill>
            </a:endParaRPr>
          </a:p>
          <a:p>
            <a:pPr marL="357188" indent="-357188">
              <a:spcAft>
                <a:spcPts val="600"/>
              </a:spcAft>
              <a:buSzPct val="100000"/>
            </a:pPr>
            <a:r>
              <a:rPr lang="en-US" sz="2000" dirty="0">
                <a:solidFill>
                  <a:schemeClr val="accent1"/>
                </a:solidFill>
              </a:rPr>
              <a:t>Reinstall the cylinder block drain </a:t>
            </a:r>
            <a:r>
              <a:rPr lang="en-US" sz="2000">
                <a:solidFill>
                  <a:schemeClr val="accent1"/>
                </a:solidFill>
              </a:rPr>
              <a:t>plugs.</a:t>
            </a:r>
            <a:endParaRPr lang="en-US" sz="2000" dirty="0">
              <a:solidFill>
                <a:schemeClr val="accent1"/>
              </a:solidFill>
            </a:endParaRPr>
          </a:p>
          <a:p>
            <a:pPr marL="357188" indent="-357188">
              <a:spcAft>
                <a:spcPts val="600"/>
              </a:spcAft>
              <a:buSzPct val="100000"/>
            </a:pPr>
            <a:r>
              <a:rPr lang="en-US" sz="2000" dirty="0">
                <a:solidFill>
                  <a:schemeClr val="accent1"/>
                </a:solidFill>
              </a:rPr>
              <a:t>Disconnect the battery ground cable; wait at least 3 minutes before beginning </a:t>
            </a:r>
            <a:r>
              <a:rPr lang="en-US" sz="2000">
                <a:solidFill>
                  <a:schemeClr val="accent1"/>
                </a:solidFill>
              </a:rPr>
              <a:t>work.</a:t>
            </a:r>
            <a:endParaRPr lang="en-US" sz="2000" dirty="0">
              <a:solidFill>
                <a:schemeClr val="accent1"/>
              </a:solidFill>
            </a:endParaRPr>
          </a:p>
          <a:p>
            <a:pPr marL="357188" indent="-357188">
              <a:spcAft>
                <a:spcPts val="600"/>
              </a:spcAft>
              <a:buSzPct val="100000"/>
            </a:pPr>
            <a:r>
              <a:rPr lang="en-US" sz="2000" dirty="0">
                <a:solidFill>
                  <a:schemeClr val="accent1"/>
                </a:solidFill>
              </a:rPr>
              <a:t>Mark all electrical connectors and wire harness clamps, so you know their original location and disconnect them from the intake manifold and cylinder </a:t>
            </a:r>
            <a:r>
              <a:rPr lang="en-US" sz="2000">
                <a:solidFill>
                  <a:schemeClr val="accent1"/>
                </a:solidFill>
              </a:rPr>
              <a:t>head.</a:t>
            </a:r>
            <a:endParaRPr lang="en-US" sz="2000" dirty="0">
              <a:solidFill>
                <a:schemeClr val="accent1"/>
              </a:solidFill>
            </a:endParaRPr>
          </a:p>
          <a:p>
            <a:pPr marL="357188" indent="-357188">
              <a:spcAft>
                <a:spcPts val="600"/>
              </a:spcAft>
              <a:buSzPct val="100000"/>
            </a:pPr>
            <a:r>
              <a:rPr lang="en-US" sz="2000" dirty="0">
                <a:solidFill>
                  <a:schemeClr val="accent1"/>
                </a:solidFill>
              </a:rPr>
              <a:t>Remove the ignition coil </a:t>
            </a:r>
            <a:r>
              <a:rPr lang="en-US" sz="2000">
                <a:solidFill>
                  <a:schemeClr val="accent1"/>
                </a:solidFill>
              </a:rPr>
              <a:t>assemblies.</a:t>
            </a:r>
            <a:endParaRPr lang="en-US" sz="2000" dirty="0">
              <a:solidFill>
                <a:schemeClr val="accent1"/>
              </a:solidFill>
            </a:endParaRPr>
          </a:p>
          <a:p>
            <a:pPr marL="357188" indent="-357188">
              <a:spcAft>
                <a:spcPts val="600"/>
              </a:spcAft>
              <a:buSzPct val="100000"/>
            </a:pPr>
            <a:r>
              <a:rPr lang="en-US" sz="2000" dirty="0">
                <a:solidFill>
                  <a:schemeClr val="accent1"/>
                </a:solidFill>
              </a:rPr>
              <a:t>Relieve the fuel pressure at the fuel rail and disconnect the fuel supply hose. Disconnect the fuel feed hose and remove the fuel rail.</a:t>
            </a:r>
          </a:p>
        </p:txBody>
      </p:sp>
    </p:spTree>
    <p:extLst>
      <p:ext uri="{BB962C8B-B14F-4D97-AF65-F5344CB8AC3E}">
        <p14:creationId xmlns:p14="http://schemas.microsoft.com/office/powerpoint/2010/main" val="945480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spcBef>
                <a:spcPts val="0"/>
              </a:spcBef>
              <a:buSzPts val="2800"/>
            </a:pPr>
            <a:r>
              <a:rPr lang="en-US" sz="4000" dirty="0"/>
              <a:t>Cylinder Head (3 of </a:t>
            </a:r>
            <a:r>
              <a:rPr lang="en-US" sz="4000"/>
              <a:t>4)</a:t>
            </a:r>
            <a:endParaRPr lang="en-US" sz="4000" dirty="0"/>
          </a:p>
        </p:txBody>
      </p:sp>
      <p:sp>
        <p:nvSpPr>
          <p:cNvPr id="145" name="Google Shape;145;p4"/>
          <p:cNvSpPr txBox="1">
            <a:spLocks noGrp="1"/>
          </p:cNvSpPr>
          <p:nvPr>
            <p:ph type="body" idx="1"/>
          </p:nvPr>
        </p:nvSpPr>
        <p:spPr>
          <a:xfrm>
            <a:off x="476843" y="1423924"/>
            <a:ext cx="11241915" cy="4613339"/>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solidFill>
                  <a:schemeClr val="accent1"/>
                </a:solidFill>
              </a:rPr>
              <a:t>Some V-type engines have an upper and lower intake manifold, and these are serviced </a:t>
            </a:r>
            <a:r>
              <a:rPr lang="en-US" sz="1800">
                <a:solidFill>
                  <a:schemeClr val="accent1"/>
                </a:solidFill>
              </a:rPr>
              <a:t>individually.</a:t>
            </a:r>
            <a:endParaRPr lang="en-US" sz="1800" dirty="0">
              <a:solidFill>
                <a:schemeClr val="accent1"/>
              </a:solidFill>
            </a:endParaRPr>
          </a:p>
          <a:p>
            <a:pPr marL="357188" indent="-357188">
              <a:buSzPct val="100000"/>
            </a:pPr>
            <a:r>
              <a:rPr lang="en-US" sz="1800" dirty="0">
                <a:solidFill>
                  <a:schemeClr val="accent1"/>
                </a:solidFill>
              </a:rPr>
              <a:t>Remove the bolts that retain the upper manifold and then pull it away from the engine. Then, unbolt the lower intake manifold and remove its gasket and front and rear </a:t>
            </a:r>
            <a:r>
              <a:rPr lang="en-US" sz="1800">
                <a:solidFill>
                  <a:schemeClr val="accent1"/>
                </a:solidFill>
              </a:rPr>
              <a:t>seals.</a:t>
            </a:r>
            <a:endParaRPr lang="en-US" sz="1800" dirty="0">
              <a:solidFill>
                <a:schemeClr val="accent1"/>
              </a:solidFill>
            </a:endParaRPr>
          </a:p>
          <a:p>
            <a:pPr marL="357188" indent="-357188">
              <a:buSzPct val="100000"/>
            </a:pPr>
            <a:r>
              <a:rPr lang="en-US" sz="1800" dirty="0">
                <a:solidFill>
                  <a:schemeClr val="accent1"/>
                </a:solidFill>
              </a:rPr>
              <a:t>Remove the exhaust manifold from the cylinder head you are servicing. For some OHC engines, the camshaft roller followers should be removed </a:t>
            </a:r>
            <a:r>
              <a:rPr lang="en-US" sz="1800">
                <a:solidFill>
                  <a:schemeClr val="accent1"/>
                </a:solidFill>
              </a:rPr>
              <a:t>next.</a:t>
            </a:r>
            <a:endParaRPr lang="en-US" sz="1800" dirty="0">
              <a:solidFill>
                <a:schemeClr val="accent1"/>
              </a:solidFill>
            </a:endParaRPr>
          </a:p>
          <a:p>
            <a:pPr marL="357188" indent="-357188">
              <a:buSzPct val="100000"/>
            </a:pPr>
            <a:r>
              <a:rPr lang="en-US" sz="1800" dirty="0">
                <a:solidFill>
                  <a:schemeClr val="accent1"/>
                </a:solidFill>
              </a:rPr>
              <a:t>Make sure to label the location of each follower so that they can be installed in their original </a:t>
            </a:r>
            <a:r>
              <a:rPr lang="en-US" sz="1800">
                <a:solidFill>
                  <a:schemeClr val="accent1"/>
                </a:solidFill>
              </a:rPr>
              <a:t>location.</a:t>
            </a:r>
            <a:endParaRPr lang="en-US" sz="1800" dirty="0">
              <a:solidFill>
                <a:schemeClr val="accent1"/>
              </a:solidFill>
            </a:endParaRPr>
          </a:p>
          <a:p>
            <a:pPr marL="357188" indent="-357188">
              <a:buSzPct val="100000"/>
            </a:pPr>
            <a:r>
              <a:rPr lang="en-US" sz="1800" dirty="0">
                <a:solidFill>
                  <a:schemeClr val="accent1"/>
                </a:solidFill>
              </a:rPr>
              <a:t>On OHV engines, loosen the rocker arms and remove the push rods. Keep the push rods in order so that they are reinstalled </a:t>
            </a:r>
            <a:r>
              <a:rPr lang="en-US" sz="1800">
                <a:solidFill>
                  <a:schemeClr val="accent1"/>
                </a:solidFill>
              </a:rPr>
              <a:t>correctly.</a:t>
            </a:r>
            <a:endParaRPr lang="en-US" sz="1800" dirty="0">
              <a:solidFill>
                <a:schemeClr val="accent1"/>
              </a:solidFill>
            </a:endParaRPr>
          </a:p>
          <a:p>
            <a:pPr marL="357188" indent="-357188">
              <a:buSzPct val="100000"/>
            </a:pPr>
            <a:r>
              <a:rPr lang="en-US" sz="1800" dirty="0">
                <a:solidFill>
                  <a:schemeClr val="accent1"/>
                </a:solidFill>
              </a:rPr>
              <a:t>Rotate the crankshaft until the timing marks on the camshaft sprockets are at the specified </a:t>
            </a:r>
            <a:r>
              <a:rPr lang="en-US" sz="1800">
                <a:solidFill>
                  <a:schemeClr val="accent1"/>
                </a:solidFill>
              </a:rPr>
              <a:t>position.</a:t>
            </a:r>
            <a:endParaRPr lang="en-US" sz="1800" dirty="0">
              <a:solidFill>
                <a:schemeClr val="accent1"/>
              </a:solidFill>
            </a:endParaRPr>
          </a:p>
          <a:p>
            <a:pPr marL="357188" indent="-357188">
              <a:buSzPct val="100000"/>
            </a:pPr>
            <a:r>
              <a:rPr lang="en-US" sz="1800" dirty="0">
                <a:solidFill>
                  <a:schemeClr val="accent1"/>
                </a:solidFill>
              </a:rPr>
              <a:t>Now remove the timing chain or belt tensioning system from the timing chains or belts. Remove the timing chains or belts. Remove the cylinder head bolts according to the specified order. Then, pull off the cylinder </a:t>
            </a:r>
            <a:r>
              <a:rPr lang="en-US" sz="1800">
                <a:solidFill>
                  <a:schemeClr val="accent1"/>
                </a:solidFill>
              </a:rPr>
              <a:t>head.</a:t>
            </a:r>
            <a:endParaRPr lang="en-US" sz="1800" dirty="0">
              <a:solidFill>
                <a:schemeClr val="accent1"/>
              </a:solidFill>
            </a:endParaRPr>
          </a:p>
        </p:txBody>
      </p:sp>
    </p:spTree>
    <p:extLst>
      <p:ext uri="{BB962C8B-B14F-4D97-AF65-F5344CB8AC3E}">
        <p14:creationId xmlns:p14="http://schemas.microsoft.com/office/powerpoint/2010/main" val="1000627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spcBef>
                <a:spcPts val="0"/>
              </a:spcBef>
              <a:buSzPts val="2800"/>
            </a:pPr>
            <a:r>
              <a:rPr lang="en-US" sz="4000" dirty="0"/>
              <a:t>Cylinder Head (4 of </a:t>
            </a:r>
            <a:r>
              <a:rPr lang="en-US" sz="4000"/>
              <a:t>4)</a:t>
            </a:r>
            <a:endParaRPr lang="en-US" sz="4000" dirty="0"/>
          </a:p>
        </p:txBody>
      </p:sp>
      <p:pic>
        <p:nvPicPr>
          <p:cNvPr id="7" name="Picture Placeholder 6" descr="A new head gasket placed over the cylinder head.">
            <a:extLst>
              <a:ext uri="{FF2B5EF4-FFF2-40B4-BE49-F238E27FC236}">
                <a16:creationId xmlns:a16="http://schemas.microsoft.com/office/drawing/2014/main" id="{791CA955-506F-F31C-C58C-FC9F6173A224}"/>
              </a:ext>
            </a:extLst>
          </p:cNvPr>
          <p:cNvPicPr>
            <a:picLocks noGrp="1" noChangeAspect="1"/>
          </p:cNvPicPr>
          <p:nvPr>
            <p:ph type="pic" sz="quarter" idx="12"/>
          </p:nvPr>
        </p:nvPicPr>
        <p:blipFill>
          <a:blip r:embed="rId3"/>
          <a:srcRect b="15709"/>
          <a:stretch/>
        </p:blipFill>
        <p:spPr>
          <a:xfrm>
            <a:off x="1006560" y="1925746"/>
            <a:ext cx="3998608" cy="3006509"/>
          </a:xfrm>
          <a:prstGeom prst="rect">
            <a:avLst/>
          </a:prstGeom>
        </p:spPr>
      </p:pic>
      <p:sp>
        <p:nvSpPr>
          <p:cNvPr id="145" name="Google Shape;145;p4"/>
          <p:cNvSpPr txBox="1">
            <a:spLocks noGrp="1"/>
          </p:cNvSpPr>
          <p:nvPr>
            <p:ph type="body" idx="1"/>
          </p:nvPr>
        </p:nvSpPr>
        <p:spPr>
          <a:xfrm>
            <a:off x="5205099" y="1563624"/>
            <a:ext cx="6771001" cy="4511355"/>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200" dirty="0"/>
              <a:t>Installation for All Engines</a:t>
            </a:r>
          </a:p>
          <a:p>
            <a:pPr marL="714375" lvl="1" indent="-357188">
              <a:spcAft>
                <a:spcPts val="600"/>
              </a:spcAft>
              <a:buSzPct val="100000"/>
            </a:pPr>
            <a:r>
              <a:rPr lang="en-US" sz="2000" dirty="0"/>
              <a:t>Clean the cylinder head-to-block mating surfaces.</a:t>
            </a:r>
          </a:p>
          <a:p>
            <a:pPr marL="714375" lvl="1" indent="-357188">
              <a:spcAft>
                <a:spcPts val="600"/>
              </a:spcAft>
              <a:buSzPct val="100000"/>
            </a:pPr>
            <a:r>
              <a:rPr lang="en-US" sz="2000" dirty="0"/>
              <a:t>Use a plastic scraper to remove silicone or gasket material.</a:t>
            </a:r>
          </a:p>
          <a:p>
            <a:pPr marL="714375" lvl="1" indent="-357188">
              <a:spcAft>
                <a:spcPts val="600"/>
              </a:spcAft>
              <a:buSzPct val="100000"/>
            </a:pPr>
            <a:r>
              <a:rPr lang="en-US" sz="2000" dirty="0"/>
              <a:t>Use a straightedge and feeler gauge set to check the flatness of the sealing surfaces of the cylinder head and block. </a:t>
            </a:r>
          </a:p>
          <a:p>
            <a:pPr marL="714375" lvl="1" indent="-357188">
              <a:spcAft>
                <a:spcPts val="600"/>
              </a:spcAft>
              <a:buSzPct val="100000"/>
            </a:pPr>
            <a:r>
              <a:rPr lang="en-US" sz="2000" dirty="0"/>
              <a:t>Place the new head gasket(s) over the locating dowels in the block or cylinder head.</a:t>
            </a:r>
          </a:p>
          <a:p>
            <a:pPr marL="714375" lvl="1" indent="-357188">
              <a:spcAft>
                <a:spcPts val="600"/>
              </a:spcAft>
              <a:buSzPct val="100000"/>
            </a:pPr>
            <a:r>
              <a:rPr lang="en-US" sz="2000" dirty="0"/>
              <a:t>Then, lower the cylinder head in place.</a:t>
            </a:r>
            <a:endParaRPr lang="en-US" sz="2200" dirty="0"/>
          </a:p>
        </p:txBody>
      </p:sp>
    </p:spTree>
    <p:extLst>
      <p:ext uri="{BB962C8B-B14F-4D97-AF65-F5344CB8AC3E}">
        <p14:creationId xmlns:p14="http://schemas.microsoft.com/office/powerpoint/2010/main" val="1124742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a:t>
            </a:r>
            <a:endParaRPr/>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dirty="0">
                <a:solidFill>
                  <a:schemeClr val="accent1"/>
                </a:solidFill>
              </a:rPr>
              <a:t>When removing camshaft followers or </a:t>
            </a:r>
            <a:r>
              <a:rPr lang="en-US" dirty="0" err="1">
                <a:solidFill>
                  <a:schemeClr val="accent1"/>
                </a:solidFill>
              </a:rPr>
              <a:t>valvetrain</a:t>
            </a:r>
            <a:r>
              <a:rPr lang="en-US" dirty="0">
                <a:solidFill>
                  <a:schemeClr val="accent1"/>
                </a:solidFill>
              </a:rPr>
              <a:t> parts, why should the technician make sure to label the location of each follower?</a:t>
            </a:r>
            <a:endParaRPr lang="en-US" b="1" dirty="0">
              <a:solidFill>
                <a:schemeClr val="accen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2)</a:t>
            </a:r>
            <a:endParaRPr dirty="0"/>
          </a:p>
        </p:txBody>
      </p:sp>
      <p:sp>
        <p:nvSpPr>
          <p:cNvPr id="3" name="Google Shape;385;p39"/>
          <p:cNvSpPr txBox="1">
            <a:spLocks noGrp="1"/>
          </p:cNvSpPr>
          <p:nvPr>
            <p:ph type="body" idx="1"/>
          </p:nvPr>
        </p:nvSpPr>
        <p:spPr>
          <a:prstGeom prst="rect">
            <a:avLst/>
          </a:prstGeom>
          <a:noFill/>
          <a:ln>
            <a:noFill/>
          </a:ln>
        </p:spPr>
        <p:txBody>
          <a:bodyPr spcFirstLastPara="1" wrap="square" lIns="91425" tIns="45700" rIns="91425" bIns="45700" anchor="t" anchorCtr="0">
            <a:spAutoFit/>
          </a:bodyPr>
          <a:lstStyle/>
          <a:p>
            <a:pPr marL="0" lvl="0" indent="0">
              <a:spcBef>
                <a:spcPts val="1000"/>
              </a:spcBef>
              <a:buClr>
                <a:srgbClr val="282F7C"/>
              </a:buClr>
              <a:buSzPts val="2400"/>
              <a:buNone/>
              <a:defRPr/>
            </a:pPr>
            <a:r>
              <a:rPr lang="en-US" dirty="0">
                <a:solidFill>
                  <a:schemeClr val="dk1"/>
                </a:solidFill>
                <a:latin typeface="Work Sans"/>
                <a:ea typeface="Work Sans"/>
                <a:cs typeface="Work Sans"/>
                <a:sym typeface="Work Sans"/>
              </a:rPr>
              <a:t>Make sure to label the location of each follower so that they can be installed in their original location.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Reflection</a:t>
            </a:r>
            <a:endParaRPr/>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Aft>
                <a:spcPts val="600"/>
              </a:spcAft>
              <a:buSzPts val="2800"/>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Did anything in this chapter change your thinking about engine disassembly and cleaning?</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Considering all you have learned, what techniques or procedures would you put into place when performing this type of work in the </a:t>
            </a:r>
            <a:r>
              <a:rPr lang="en-US">
                <a:solidFill>
                  <a:schemeClr val="accent1"/>
                </a:solidFill>
              </a:rPr>
              <a:t>shop?</a:t>
            </a:r>
            <a:endParaRPr dirty="0">
              <a:solidFill>
                <a:schemeClr val="accent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2817</TotalTime>
  <Words>4510</Words>
  <Application>Microsoft Office PowerPoint</Application>
  <PresentationFormat>Widescreen</PresentationFormat>
  <Paragraphs>267</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Work Sans</vt:lpstr>
      <vt:lpstr>Arial</vt:lpstr>
      <vt:lpstr>Calibri</vt:lpstr>
      <vt:lpstr>Optimized Template Master</vt:lpstr>
      <vt:lpstr>Automotive Technology:  A Systems Approach, 8e</vt:lpstr>
      <vt:lpstr>Chapter Objectives (1 of 2)</vt:lpstr>
      <vt:lpstr>Chapter Objectives (2 of 2) </vt:lpstr>
      <vt:lpstr>Removing an Engine (1 of 7)</vt:lpstr>
      <vt:lpstr>Removing an Engine (2 of 7)</vt:lpstr>
      <vt:lpstr>Removing an Engine (3 of 7)</vt:lpstr>
      <vt:lpstr>Removing an Engine (4 of 7)</vt:lpstr>
      <vt:lpstr>Removing an Engine (5 of 7)</vt:lpstr>
      <vt:lpstr>Removing an Engine (6 of 7)</vt:lpstr>
      <vt:lpstr>Removing an Engine (7 of 7)</vt:lpstr>
      <vt:lpstr>Discussion</vt:lpstr>
      <vt:lpstr>FWD Vehicles (1 of 4)</vt:lpstr>
      <vt:lpstr>FWD Vehicles (2 of 4)</vt:lpstr>
      <vt:lpstr>FWD Vehicles (3 of 4)</vt:lpstr>
      <vt:lpstr>FWD Vehicles (4 of 4)</vt:lpstr>
      <vt:lpstr>RWD Vehicles (1 of 2)</vt:lpstr>
      <vt:lpstr>RWD Vehicles (2 of 2)</vt:lpstr>
      <vt:lpstr>Engine Disassembly and Inspection (1 of 2)</vt:lpstr>
      <vt:lpstr>Engine Disassembly and Inspection (2 of 2)</vt:lpstr>
      <vt:lpstr>Cleaning Engine Parts (1 of 2)</vt:lpstr>
      <vt:lpstr>Cleaning Engine Parts (2 of 2)</vt:lpstr>
      <vt:lpstr>Chemical Cleaning Machines (1 of 2)</vt:lpstr>
      <vt:lpstr>Chemical Cleaning Machines (2 of 2)</vt:lpstr>
      <vt:lpstr>Thermal Cleaning</vt:lpstr>
      <vt:lpstr>Abrasive Cleaners (1 of 3)</vt:lpstr>
      <vt:lpstr>Abrasive Cleaners (2 of 3)</vt:lpstr>
      <vt:lpstr>Abrasive Cleaners (3 of 3)</vt:lpstr>
      <vt:lpstr>Alternative Cleaning Methods (1 of 2)</vt:lpstr>
      <vt:lpstr>Alternative Cleaning Methods (2 of 2)</vt:lpstr>
      <vt:lpstr>Knowledge Check (1 of 2)</vt:lpstr>
      <vt:lpstr>Knowledge Check Answer (1 of 2)</vt:lpstr>
      <vt:lpstr>Crack Detection (1 of 2)</vt:lpstr>
      <vt:lpstr>Crack Detection (2 of 2)</vt:lpstr>
      <vt:lpstr>In-Vehicle Engine Service (1 of 2)</vt:lpstr>
      <vt:lpstr>In-Vehicle Engine Service (2 of 2)</vt:lpstr>
      <vt:lpstr>Cylinder Head (1 of 4)</vt:lpstr>
      <vt:lpstr>Cylinder Head (2 of 4)</vt:lpstr>
      <vt:lpstr>Cylinder Head (3 of 4)</vt:lpstr>
      <vt:lpstr>Cylinder Head (4 of 4)</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111</cp:revision>
  <dcterms:created xsi:type="dcterms:W3CDTF">2021-12-10T16:21:02Z</dcterms:created>
  <dcterms:modified xsi:type="dcterms:W3CDTF">2024-10-18T14:38:32Z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