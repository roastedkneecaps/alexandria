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7" r:id="rId1"/>
  </p:sldMasterIdLst>
  <p:notesMasterIdLst>
    <p:notesMasterId r:id="rId63"/>
  </p:notesMasterIdLst>
  <p:handoutMasterIdLst>
    <p:handoutMasterId r:id="rId64"/>
  </p:handoutMasterIdLst>
  <p:sldIdLst>
    <p:sldId id="350" r:id="rId2"/>
    <p:sldId id="324" r:id="rId3"/>
    <p:sldId id="322" r:id="rId4"/>
    <p:sldId id="325" r:id="rId5"/>
    <p:sldId id="257" r:id="rId6"/>
    <p:sldId id="258" r:id="rId7"/>
    <p:sldId id="259" r:id="rId8"/>
    <p:sldId id="331" r:id="rId9"/>
    <p:sldId id="260" r:id="rId10"/>
    <p:sldId id="261" r:id="rId11"/>
    <p:sldId id="262" r:id="rId12"/>
    <p:sldId id="263" r:id="rId13"/>
    <p:sldId id="264" r:id="rId14"/>
    <p:sldId id="265" r:id="rId15"/>
    <p:sldId id="267" r:id="rId16"/>
    <p:sldId id="269" r:id="rId17"/>
    <p:sldId id="270" r:id="rId18"/>
    <p:sldId id="272" r:id="rId19"/>
    <p:sldId id="273" r:id="rId20"/>
    <p:sldId id="274" r:id="rId21"/>
    <p:sldId id="326" r:id="rId22"/>
    <p:sldId id="275" r:id="rId23"/>
    <p:sldId id="277" r:id="rId24"/>
    <p:sldId id="278" r:id="rId25"/>
    <p:sldId id="279" r:id="rId26"/>
    <p:sldId id="332" r:id="rId27"/>
    <p:sldId id="280" r:id="rId28"/>
    <p:sldId id="317" r:id="rId29"/>
    <p:sldId id="281" r:id="rId30"/>
    <p:sldId id="283" r:id="rId31"/>
    <p:sldId id="284" r:id="rId32"/>
    <p:sldId id="286" r:id="rId33"/>
    <p:sldId id="287" r:id="rId34"/>
    <p:sldId id="288" r:id="rId35"/>
    <p:sldId id="289" r:id="rId36"/>
    <p:sldId id="290" r:id="rId37"/>
    <p:sldId id="291" r:id="rId38"/>
    <p:sldId id="293" r:id="rId39"/>
    <p:sldId id="294" r:id="rId40"/>
    <p:sldId id="295" r:id="rId41"/>
    <p:sldId id="333" r:id="rId42"/>
    <p:sldId id="296" r:id="rId43"/>
    <p:sldId id="297" r:id="rId44"/>
    <p:sldId id="298" r:id="rId45"/>
    <p:sldId id="321" r:id="rId46"/>
    <p:sldId id="299" r:id="rId47"/>
    <p:sldId id="300" r:id="rId48"/>
    <p:sldId id="301" r:id="rId49"/>
    <p:sldId id="302" r:id="rId50"/>
    <p:sldId id="303" r:id="rId51"/>
    <p:sldId id="305" r:id="rId52"/>
    <p:sldId id="306" r:id="rId53"/>
    <p:sldId id="307" r:id="rId54"/>
    <p:sldId id="327" r:id="rId55"/>
    <p:sldId id="308" r:id="rId56"/>
    <p:sldId id="328" r:id="rId57"/>
    <p:sldId id="309" r:id="rId58"/>
    <p:sldId id="335" r:id="rId59"/>
    <p:sldId id="310" r:id="rId60"/>
    <p:sldId id="330" r:id="rId61"/>
    <p:sldId id="334" r:id="rId6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E9BB0D-8795-495B-991A-15E955AC57C1}" v="25" dt="2024-11-22T16:59:22.5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88" autoAdjust="0"/>
    <p:restoredTop sz="86325" autoAdjust="0"/>
  </p:normalViewPr>
  <p:slideViewPr>
    <p:cSldViewPr>
      <p:cViewPr varScale="1">
        <p:scale>
          <a:sx n="64" d="100"/>
          <a:sy n="64" d="100"/>
        </p:scale>
        <p:origin x="696" y="40"/>
      </p:cViewPr>
      <p:guideLst>
        <p:guide orient="horz" pos="2160"/>
        <p:guide pos="3840"/>
      </p:guideLst>
    </p:cSldViewPr>
  </p:slideViewPr>
  <p:outlineViewPr>
    <p:cViewPr>
      <p:scale>
        <a:sx n="33" d="100"/>
        <a:sy n="33" d="100"/>
      </p:scale>
      <p:origin x="0" y="-435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gopal Loganathan" userId="EaSm3crqCl59iHUciktDee7zyU+rF3MDLbCEjhOn3WE=" providerId="None" clId="Web-{87E9BB0D-8795-495B-991A-15E955AC57C1}"/>
    <pc:docChg chg="modSld">
      <pc:chgData name="venugopal Loganathan" userId="EaSm3crqCl59iHUciktDee7zyU+rF3MDLbCEjhOn3WE=" providerId="None" clId="Web-{87E9BB0D-8795-495B-991A-15E955AC57C1}" dt="2024-11-22T16:59:22.084" v="21" actId="20577"/>
      <pc:docMkLst>
        <pc:docMk/>
      </pc:docMkLst>
      <pc:sldChg chg="modSp">
        <pc:chgData name="venugopal Loganathan" userId="EaSm3crqCl59iHUciktDee7zyU+rF3MDLbCEjhOn3WE=" providerId="None" clId="Web-{87E9BB0D-8795-495B-991A-15E955AC57C1}" dt="2024-11-22T16:59:07.240" v="14" actId="20577"/>
        <pc:sldMkLst>
          <pc:docMk/>
          <pc:sldMk cId="2946997568" sldId="322"/>
        </pc:sldMkLst>
        <pc:spChg chg="mod">
          <ac:chgData name="venugopal Loganathan" userId="EaSm3crqCl59iHUciktDee7zyU+rF3MDLbCEjhOn3WE=" providerId="None" clId="Web-{87E9BB0D-8795-495B-991A-15E955AC57C1}" dt="2024-11-22T16:59:07.240" v="14" actId="20577"/>
          <ac:spMkLst>
            <pc:docMk/>
            <pc:sldMk cId="2946997568" sldId="322"/>
            <ac:spMk id="3" creationId="{52AEE071-4F5F-A90C-589A-FE3804FBB305}"/>
          </ac:spMkLst>
        </pc:spChg>
      </pc:sldChg>
      <pc:sldChg chg="modSp">
        <pc:chgData name="venugopal Loganathan" userId="EaSm3crqCl59iHUciktDee7zyU+rF3MDLbCEjhOn3WE=" providerId="None" clId="Web-{87E9BB0D-8795-495B-991A-15E955AC57C1}" dt="2024-11-22T16:58:57.255" v="8" actId="20577"/>
        <pc:sldMkLst>
          <pc:docMk/>
          <pc:sldMk cId="0" sldId="324"/>
        </pc:sldMkLst>
        <pc:spChg chg="mod">
          <ac:chgData name="venugopal Loganathan" userId="EaSm3crqCl59iHUciktDee7zyU+rF3MDLbCEjhOn3WE=" providerId="None" clId="Web-{87E9BB0D-8795-495B-991A-15E955AC57C1}" dt="2024-11-22T16:58:57.255" v="8" actId="20577"/>
          <ac:spMkLst>
            <pc:docMk/>
            <pc:sldMk cId="0" sldId="324"/>
            <ac:spMk id="132" creationId="{00000000-0000-0000-0000-000000000000}"/>
          </ac:spMkLst>
        </pc:spChg>
      </pc:sldChg>
      <pc:sldChg chg="modSp">
        <pc:chgData name="venugopal Loganathan" userId="EaSm3crqCl59iHUciktDee7zyU+rF3MDLbCEjhOn3WE=" providerId="None" clId="Web-{87E9BB0D-8795-495B-991A-15E955AC57C1}" dt="2024-11-22T16:59:22.084" v="21" actId="20577"/>
        <pc:sldMkLst>
          <pc:docMk/>
          <pc:sldMk cId="769096472" sldId="325"/>
        </pc:sldMkLst>
        <pc:spChg chg="mod">
          <ac:chgData name="venugopal Loganathan" userId="EaSm3crqCl59iHUciktDee7zyU+rF3MDLbCEjhOn3WE=" providerId="None" clId="Web-{87E9BB0D-8795-495B-991A-15E955AC57C1}" dt="2024-11-22T16:59:22.084" v="21" actId="20577"/>
          <ac:spMkLst>
            <pc:docMk/>
            <pc:sldMk cId="769096472" sldId="325"/>
            <ac:spMk id="3" creationId="{52AEE071-4F5F-A90C-589A-FE3804FBB30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3D0CF465-3279-456F-9C19-91E23384F41C}" type="datetimeFigureOut">
              <a:t>11/22/2024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867D8C6F-8499-4C9D-BF78-26202508A5BC}"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1015035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5D266C13-CAC6-4FC9-AF8B-B2E367F221DC}" type="datetimeFigureOut">
              <a:t>11/22/2024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C7255613-C0B2-4D29-B329-8C88A0AC0541}" type="slidenum">
              <a:t>‹#›</a:t>
            </a:fld>
            <a:endParaRPr lang="en-US"/>
          </a:p>
        </p:txBody>
      </p:sp>
    </p:spTree>
    <p:extLst>
      <p:ext uri="{BB962C8B-B14F-4D97-AF65-F5344CB8AC3E}">
        <p14:creationId xmlns:p14="http://schemas.microsoft.com/office/powerpoint/2010/main" val="108276657"/>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3243393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244754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14936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42467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678681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66391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542977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289491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97726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086319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66817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634689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38207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901859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982400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207654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651760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522301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13557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647675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035645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B45D6AE0-E703-4AE3-BC42-C88B3BBF9CED}" type="slidenum">
              <a:t>25</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133009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B45D6AE0-E703-4AE3-BC42-C88B3BBF9CED}" type="slidenum">
              <a:t>26</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0569641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751138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29266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134961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166963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106064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2807041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44800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72604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9389155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5966648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964226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588028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937B30CD-1AE0-46B5-A168-C035F22C8F54}" type="slidenum">
              <a:t>40</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0970562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937B30CD-1AE0-46B5-A168-C035F22C8F54}" type="slidenum">
              <a:t>41</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9297576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397977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825969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9900086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392936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7034323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591993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3574278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8915969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9227584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275671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8927933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622566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9566486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934480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r>
              <a:rPr lang="en-US" dirty="0"/>
              <a:t>Explain the operation of a network.</a:t>
            </a:r>
          </a:p>
        </p:txBody>
      </p:sp>
    </p:spTree>
    <p:extLst>
      <p:ext uri="{BB962C8B-B14F-4D97-AF65-F5344CB8AC3E}">
        <p14:creationId xmlns:p14="http://schemas.microsoft.com/office/powerpoint/2010/main" val="5417803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1379658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3193294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25438"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3294418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1174"/>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Clr>
                <a:schemeClr val="tx1"/>
              </a:buClr>
              <a:buSzPct val="100000"/>
              <a:buChar char="•"/>
              <a:defRPr sz="2600"/>
            </a:lvl1pPr>
            <a:lvl2pPr marL="720725" lvl="1" indent="-325438" algn="l">
              <a:lnSpc>
                <a:spcPct val="100000"/>
              </a:lnSpc>
              <a:spcBef>
                <a:spcPts val="624"/>
              </a:spcBef>
              <a:spcAft>
                <a:spcPts val="600"/>
              </a:spcAft>
              <a:buSzPct val="100000"/>
              <a:buFont typeface="Arial" panose="020B0604020202020204" pitchFamily="34" charset="0"/>
              <a:buChar char="–"/>
              <a:defRPr sz="2400" b="0"/>
            </a:lvl2pPr>
            <a:lvl3pPr marL="1028700" lvl="2" indent="-262889" algn="l">
              <a:lnSpc>
                <a:spcPct val="100000"/>
              </a:lnSpc>
              <a:spcBef>
                <a:spcPts val="624"/>
              </a:spcBef>
              <a:spcAft>
                <a:spcPts val="600"/>
              </a:spcAft>
              <a:buSzPts val="192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2A34F50B-9858-0547-63E6-C6B6887B6D3D}"/>
              </a:ext>
            </a:extLst>
          </p:cNvPr>
          <p:cNvSpPr>
            <a:spLocks noGrp="1"/>
          </p:cNvSpPr>
          <p:nvPr>
            <p:ph sz="quarter" idx="10"/>
          </p:nvPr>
        </p:nvSpPr>
        <p:spPr>
          <a:xfrm>
            <a:off x="1219200" y="44958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41414178-569D-24A8-CD26-895F0FB6E39C}"/>
              </a:ext>
            </a:extLst>
          </p:cNvPr>
          <p:cNvSpPr>
            <a:spLocks noGrp="1"/>
          </p:cNvSpPr>
          <p:nvPr>
            <p:ph type="pic" sz="quarter" idx="11"/>
          </p:nvPr>
        </p:nvSpPr>
        <p:spPr>
          <a:xfrm>
            <a:off x="2971800" y="4419600"/>
            <a:ext cx="914400" cy="914400"/>
          </a:xfrm>
        </p:spPr>
        <p:txBody>
          <a:bodyPr/>
          <a:lstStyle/>
          <a:p>
            <a:endParaRPr lang="en-IN"/>
          </a:p>
        </p:txBody>
      </p:sp>
      <p:sp>
        <p:nvSpPr>
          <p:cNvPr id="7" name="Picture Placeholder 6">
            <a:extLst>
              <a:ext uri="{FF2B5EF4-FFF2-40B4-BE49-F238E27FC236}">
                <a16:creationId xmlns:a16="http://schemas.microsoft.com/office/drawing/2014/main" id="{181A15DB-A50B-66E3-EB4B-BDE594C031F5}"/>
              </a:ext>
            </a:extLst>
          </p:cNvPr>
          <p:cNvSpPr>
            <a:spLocks noGrp="1"/>
          </p:cNvSpPr>
          <p:nvPr>
            <p:ph type="pic" sz="quarter" idx="12"/>
          </p:nvPr>
        </p:nvSpPr>
        <p:spPr>
          <a:xfrm>
            <a:off x="4724400" y="4648200"/>
            <a:ext cx="914400" cy="914400"/>
          </a:xfrm>
        </p:spPr>
        <p:txBody>
          <a:bodyPr/>
          <a:lstStyle/>
          <a:p>
            <a:endParaRPr lang="en-IN"/>
          </a:p>
        </p:txBody>
      </p:sp>
      <p:sp>
        <p:nvSpPr>
          <p:cNvPr id="9" name="Table Placeholder 8">
            <a:extLst>
              <a:ext uri="{FF2B5EF4-FFF2-40B4-BE49-F238E27FC236}">
                <a16:creationId xmlns:a16="http://schemas.microsoft.com/office/drawing/2014/main" id="{E6A2A8CA-3919-A0AD-C0F0-4B36E7EC3384}"/>
              </a:ext>
            </a:extLst>
          </p:cNvPr>
          <p:cNvSpPr>
            <a:spLocks noGrp="1"/>
          </p:cNvSpPr>
          <p:nvPr>
            <p:ph type="tbl" sz="quarter" idx="13"/>
          </p:nvPr>
        </p:nvSpPr>
        <p:spPr>
          <a:xfrm>
            <a:off x="6858000" y="4648200"/>
            <a:ext cx="914400" cy="914400"/>
          </a:xfrm>
        </p:spPr>
        <p:txBody>
          <a:bodyPr/>
          <a:lstStyle/>
          <a:p>
            <a:endParaRPr lang="en-IN"/>
          </a:p>
        </p:txBody>
      </p:sp>
    </p:spTree>
    <p:extLst>
      <p:ext uri="{BB962C8B-B14F-4D97-AF65-F5344CB8AC3E}">
        <p14:creationId xmlns:p14="http://schemas.microsoft.com/office/powerpoint/2010/main" val="40239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226065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1034B84E-E4BA-4761-9B59-1E0A4B9AAFDF}" type="datetime1">
              <a:rPr lang="en-US" smtClean="0"/>
              <a:pPr lvl="0"/>
              <a:t>11/22/2024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30FCF10-201B-4E9C-9DC9-0775827411F8}" type="slidenum">
              <a:rPr lang="en-US" smtClean="0"/>
              <a:t>‹#›</a:t>
            </a:fld>
            <a:endParaRPr lang="en-US"/>
          </a:p>
        </p:txBody>
      </p:sp>
    </p:spTree>
    <p:extLst>
      <p:ext uri="{BB962C8B-B14F-4D97-AF65-F5344CB8AC3E}">
        <p14:creationId xmlns:p14="http://schemas.microsoft.com/office/powerpoint/2010/main" val="2738604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831617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74393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3616250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940738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004075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06579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24911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10107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379507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83000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846342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1034B84E-E4BA-4761-9B59-1E0A4B9AAFDF}" type="datetime1">
              <a:rPr lang="en-US" smtClean="0"/>
              <a:pPr lvl="0"/>
              <a:t>11/22/2024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8E1BF63-FEC9-4483-AB08-EEB70B02FEEA}" type="slidenum">
              <a:rPr lang="en-US" smtClean="0"/>
              <a:t>‹#›</a:t>
            </a:fld>
            <a:endParaRPr lang="en-US"/>
          </a:p>
        </p:txBody>
      </p:sp>
    </p:spTree>
    <p:extLst>
      <p:ext uri="{BB962C8B-B14F-4D97-AF65-F5344CB8AC3E}">
        <p14:creationId xmlns:p14="http://schemas.microsoft.com/office/powerpoint/2010/main" val="360674210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55306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9">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AECBCC50-6887-4DD9-37CF-80B000788174}"/>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extLst>
      <p:ext uri="{BB962C8B-B14F-4D97-AF65-F5344CB8AC3E}">
        <p14:creationId xmlns:p14="http://schemas.microsoft.com/office/powerpoint/2010/main" val="2403407780"/>
      </p:ext>
    </p:extLst>
  </p:cSld>
  <p:clrMap bg1="lt1" tx1="dk1" bg2="dk2" tx2="lt2" accent1="accent1" accent2="accent2" accent3="accent3" accent4="accent4" accent5="accent5" accent6="accent6" hlink="hlink" folHlink="folHlink"/>
  <p:sldLayoutIdLst>
    <p:sldLayoutId id="2147483839" r:id="rId1"/>
    <p:sldLayoutId id="2147483855"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 id="2147483850" r:id="rId13"/>
    <p:sldLayoutId id="2147483851" r:id="rId14"/>
    <p:sldLayoutId id="2147483852" r:id="rId15"/>
    <p:sldLayoutId id="2147483853" r:id="rId16"/>
    <p:sldLayoutId id="2147483854" r:id="rId17"/>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a:t>
            </a:r>
            <a:r>
              <a:rPr lang="en-US" sz="3200">
                <a:latin typeface="Work Sans" pitchFamily="2" charset="0"/>
                <a:ea typeface="Arial"/>
                <a:cs typeface="Arial"/>
                <a:sym typeface="Arial"/>
              </a:rPr>
              <a:t>55: </a:t>
            </a:r>
            <a:r>
              <a:rPr lang="en-US" sz="3200">
                <a:solidFill>
                  <a:srgbClr val="FFFFFF"/>
                </a:solidFill>
                <a:latin typeface="Work Sans" pitchFamily="2" charset="0"/>
                <a:ea typeface="Arial"/>
                <a:cs typeface="Arial"/>
                <a:sym typeface="Arial"/>
              </a:rPr>
              <a:t>Air-Conditioning</a:t>
            </a:r>
            <a:endParaRPr lang="en-US" sz="3200" dirty="0">
              <a:solidFill>
                <a:srgbClr val="FFFFFF"/>
              </a:solidFill>
              <a:latin typeface="Work Sans" pitchFamily="2" charset="0"/>
              <a:ea typeface="Arial"/>
              <a:cs typeface="Arial"/>
              <a:sym typeface="Arial"/>
            </a:endParaRPr>
          </a:p>
          <a:p>
            <a:pPr marL="0" indent="0"/>
            <a:r>
              <a:rPr lang="en-US" sz="3200" dirty="0">
                <a:solidFill>
                  <a:srgbClr val="FFFFFF"/>
                </a:solidFill>
                <a:latin typeface="Work Sans" pitchFamily="2" charset="0"/>
                <a:ea typeface="Arial"/>
                <a:cs typeface="Arial"/>
                <a:sym typeface="Arial"/>
              </a:rPr>
              <a:t>Diagnosis and Service</a:t>
            </a: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68569" tIns="34275" rIns="68569" bIns="34275" anchor="ctr" anchorCtr="0">
            <a:noAutofit/>
          </a:bodyPr>
          <a:lstStyle/>
          <a:p>
            <a:r>
              <a:rPr lang="en-US" dirty="0"/>
              <a:t>Chapter Objectives (1 of 3)</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68569" tIns="34275" rIns="68569" bIns="34275" anchor="t" anchorCtr="0">
            <a:noAutofit/>
          </a:bodyPr>
          <a:lstStyle/>
          <a:p>
            <a:pPr marL="360045" indent="-360045" algn="l">
              <a:buSzPct val="100000"/>
              <a:buFont typeface="Arial" panose="020B0604020202020204" pitchFamily="34" charset="0"/>
              <a:buChar char="•"/>
            </a:pPr>
            <a:r>
              <a:rPr lang="en-US" dirty="0">
                <a:solidFill>
                  <a:schemeClr val="tx1"/>
                </a:solidFill>
              </a:rPr>
              <a:t>55.01</a:t>
            </a:r>
            <a:r>
              <a:rPr lang="en-US" sz="2600" dirty="0">
                <a:solidFill>
                  <a:schemeClr val="tx1"/>
                </a:solidFill>
              </a:rPr>
              <a:t> Explain the service precautions for working on the A/C system.</a:t>
            </a:r>
            <a:endParaRPr lang="en-US">
              <a:solidFill>
                <a:schemeClr val="tx1"/>
              </a:solidFill>
            </a:endParaRPr>
          </a:p>
          <a:p>
            <a:pPr marL="360045" indent="-360045">
              <a:buSzPct val="100000"/>
              <a:buFont typeface="Arial" panose="020B0604020202020204" pitchFamily="34" charset="0"/>
              <a:buChar char="•"/>
            </a:pPr>
            <a:r>
              <a:rPr lang="en-US" dirty="0">
                <a:solidFill>
                  <a:schemeClr val="tx1"/>
                </a:solidFill>
              </a:rPr>
              <a:t>55.02</a:t>
            </a:r>
            <a:r>
              <a:rPr lang="en-US" sz="2600" dirty="0">
                <a:solidFill>
                  <a:schemeClr val="tx1"/>
                </a:solidFill>
              </a:rPr>
              <a:t> Understand the special handling procedures for automotive refrigerants.</a:t>
            </a:r>
          </a:p>
          <a:p>
            <a:pPr marL="360045" indent="-360045">
              <a:buSzPct val="100000"/>
              <a:buFont typeface="Arial" panose="020B0604020202020204" pitchFamily="34" charset="0"/>
              <a:buChar char="•"/>
            </a:pPr>
            <a:r>
              <a:rPr lang="en-US" dirty="0">
                <a:solidFill>
                  <a:schemeClr val="tx1"/>
                </a:solidFill>
              </a:rPr>
              <a:t>55.03</a:t>
            </a:r>
            <a:r>
              <a:rPr lang="en-US" sz="2600" dirty="0">
                <a:solidFill>
                  <a:schemeClr val="tx1"/>
                </a:solidFill>
              </a:rPr>
              <a:t> Determine the refrigerant type, test refrigerant type, and check for sealants.</a:t>
            </a:r>
          </a:p>
          <a:p>
            <a:pPr marL="360045" indent="-360045">
              <a:buSzPct val="100000"/>
              <a:buFont typeface="Arial" panose="020B0604020202020204" pitchFamily="34" charset="0"/>
              <a:buChar char="•"/>
            </a:pPr>
            <a:r>
              <a:rPr lang="en-US" dirty="0">
                <a:solidFill>
                  <a:schemeClr val="tx1"/>
                </a:solidFill>
              </a:rPr>
              <a:t>55.04</a:t>
            </a:r>
            <a:r>
              <a:rPr lang="en-US" sz="2600" dirty="0">
                <a:solidFill>
                  <a:schemeClr val="tx1"/>
                </a:solidFill>
              </a:rPr>
              <a:t> Describe how to connect a manifold gauge set and a recovery/recycling machine to a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E2B0-E352-4965-68DE-FA57AA7CBD28}"/>
              </a:ext>
            </a:extLst>
          </p:cNvPr>
          <p:cNvSpPr>
            <a:spLocks noGrp="1"/>
          </p:cNvSpPr>
          <p:nvPr>
            <p:ph type="title"/>
          </p:nvPr>
        </p:nvSpPr>
        <p:spPr/>
        <p:txBody>
          <a:bodyPr/>
          <a:lstStyle/>
          <a:p>
            <a:r>
              <a:rPr lang="en-US" dirty="0"/>
              <a:t>Chapter Objectives (2 of 3)</a:t>
            </a:r>
          </a:p>
        </p:txBody>
      </p:sp>
      <p:sp>
        <p:nvSpPr>
          <p:cNvPr id="3" name="Text Placeholder 2">
            <a:extLst>
              <a:ext uri="{FF2B5EF4-FFF2-40B4-BE49-F238E27FC236}">
                <a16:creationId xmlns:a16="http://schemas.microsoft.com/office/drawing/2014/main" id="{52AEE071-4F5F-A90C-589A-FE3804FBB305}"/>
              </a:ext>
            </a:extLst>
          </p:cNvPr>
          <p:cNvSpPr>
            <a:spLocks noGrp="1"/>
          </p:cNvSpPr>
          <p:nvPr>
            <p:ph type="body" idx="1"/>
          </p:nvPr>
        </p:nvSpPr>
        <p:spPr/>
        <p:txBody>
          <a:bodyPr/>
          <a:lstStyle/>
          <a:p>
            <a:pPr marL="360045" indent="-360045">
              <a:buFont typeface="Arial" panose="020B0604020202020204" pitchFamily="34" charset="0"/>
              <a:buChar char="•"/>
            </a:pPr>
            <a:r>
              <a:rPr lang="en-US" dirty="0">
                <a:solidFill>
                  <a:schemeClr val="tx1"/>
                </a:solidFill>
              </a:rPr>
              <a:t>55.05</a:t>
            </a:r>
            <a:r>
              <a:rPr lang="en-US" sz="2600" dirty="0">
                <a:solidFill>
                  <a:schemeClr val="tx1"/>
                </a:solidFill>
              </a:rPr>
              <a:t> Perform a performance test on an A/C system.</a:t>
            </a:r>
            <a:endParaRPr lang="en-US" dirty="0">
              <a:solidFill>
                <a:schemeClr val="tx1"/>
              </a:solidFill>
            </a:endParaRPr>
          </a:p>
          <a:p>
            <a:pPr marL="360045" indent="-360045">
              <a:buFont typeface="Arial" panose="020B0604020202020204" pitchFamily="34" charset="0"/>
              <a:buChar char="•"/>
            </a:pPr>
            <a:r>
              <a:rPr lang="en-US" dirty="0">
                <a:solidFill>
                  <a:schemeClr val="tx1"/>
                </a:solidFill>
              </a:rPr>
              <a:t>55.06</a:t>
            </a:r>
            <a:r>
              <a:rPr lang="en-US" sz="2600" dirty="0">
                <a:solidFill>
                  <a:schemeClr val="tx1"/>
                </a:solidFill>
              </a:rPr>
              <a:t> Describe methods used to check refrigerant leaks.</a:t>
            </a:r>
          </a:p>
          <a:p>
            <a:pPr marL="360045" indent="-360045">
              <a:buClr>
                <a:schemeClr val="bg2"/>
              </a:buClr>
              <a:buFont typeface="Arial" panose="020B0604020202020204" pitchFamily="34" charset="0"/>
              <a:buChar char="•"/>
            </a:pPr>
            <a:r>
              <a:rPr lang="en-US" dirty="0">
                <a:solidFill>
                  <a:schemeClr val="tx1"/>
                </a:solidFill>
              </a:rPr>
              <a:t>55.07</a:t>
            </a:r>
            <a:r>
              <a:rPr lang="en-US" sz="2600" dirty="0">
                <a:solidFill>
                  <a:schemeClr val="tx1"/>
                </a:solidFill>
              </a:rPr>
              <a:t> Use approved methods and equipment to discharge, reclaim/recycle, evacuate, and recharge an automotive A/C system.</a:t>
            </a:r>
          </a:p>
        </p:txBody>
      </p:sp>
    </p:spTree>
    <p:extLst>
      <p:ext uri="{BB962C8B-B14F-4D97-AF65-F5344CB8AC3E}">
        <p14:creationId xmlns:p14="http://schemas.microsoft.com/office/powerpoint/2010/main" val="2946997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E2B0-E352-4965-68DE-FA57AA7CBD28}"/>
              </a:ext>
            </a:extLst>
          </p:cNvPr>
          <p:cNvSpPr>
            <a:spLocks noGrp="1"/>
          </p:cNvSpPr>
          <p:nvPr>
            <p:ph type="title"/>
          </p:nvPr>
        </p:nvSpPr>
        <p:spPr/>
        <p:txBody>
          <a:bodyPr/>
          <a:lstStyle/>
          <a:p>
            <a:r>
              <a:rPr lang="en-US" dirty="0"/>
              <a:t>Chapter Objectives (3 of 3)</a:t>
            </a:r>
          </a:p>
        </p:txBody>
      </p:sp>
      <p:sp>
        <p:nvSpPr>
          <p:cNvPr id="3" name="Text Placeholder 2">
            <a:extLst>
              <a:ext uri="{FF2B5EF4-FFF2-40B4-BE49-F238E27FC236}">
                <a16:creationId xmlns:a16="http://schemas.microsoft.com/office/drawing/2014/main" id="{52AEE071-4F5F-A90C-589A-FE3804FBB305}"/>
              </a:ext>
            </a:extLst>
          </p:cNvPr>
          <p:cNvSpPr>
            <a:spLocks noGrp="1"/>
          </p:cNvSpPr>
          <p:nvPr>
            <p:ph type="body" idx="1"/>
          </p:nvPr>
        </p:nvSpPr>
        <p:spPr/>
        <p:txBody>
          <a:bodyPr/>
          <a:lstStyle/>
          <a:p>
            <a:pPr marL="360045" indent="-360045"/>
            <a:r>
              <a:rPr lang="en-US" dirty="0">
                <a:solidFill>
                  <a:schemeClr val="tx1"/>
                </a:solidFill>
              </a:rPr>
              <a:t>55.08</a:t>
            </a:r>
            <a:r>
              <a:rPr lang="en-US" sz="2600" dirty="0">
                <a:solidFill>
                  <a:schemeClr val="tx1"/>
                </a:solidFill>
              </a:rPr>
              <a:t> Interpret pressure readings as an aid to diagnose A/C problems.</a:t>
            </a:r>
            <a:endParaRPr lang="en-US">
              <a:solidFill>
                <a:schemeClr val="tx1"/>
              </a:solidFill>
            </a:endParaRPr>
          </a:p>
          <a:p>
            <a:pPr marL="360045" indent="-360045"/>
            <a:r>
              <a:rPr lang="en-US" dirty="0">
                <a:solidFill>
                  <a:schemeClr val="tx1"/>
                </a:solidFill>
              </a:rPr>
              <a:t>55.09</a:t>
            </a:r>
            <a:r>
              <a:rPr lang="en-US" sz="2600" dirty="0">
                <a:solidFill>
                  <a:schemeClr val="tx1"/>
                </a:solidFill>
              </a:rPr>
              <a:t> Service components of the A/C system.</a:t>
            </a:r>
          </a:p>
          <a:p>
            <a:pPr marL="360045" indent="-360045"/>
            <a:r>
              <a:rPr lang="en-US" dirty="0">
                <a:solidFill>
                  <a:schemeClr val="tx1"/>
                </a:solidFill>
              </a:rPr>
              <a:t>55.10</a:t>
            </a:r>
            <a:r>
              <a:rPr lang="en-US" sz="2600" dirty="0">
                <a:solidFill>
                  <a:schemeClr val="tx1"/>
                </a:solidFill>
              </a:rPr>
              <a:t> Diagnose and repair A/C control systems.</a:t>
            </a:r>
          </a:p>
        </p:txBody>
      </p:sp>
    </p:spTree>
    <p:extLst>
      <p:ext uri="{BB962C8B-B14F-4D97-AF65-F5344CB8AC3E}">
        <p14:creationId xmlns:p14="http://schemas.microsoft.com/office/powerpoint/2010/main" val="769096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ervice Precaution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Service Precautions</a:t>
            </a:r>
            <a:endParaRPr lang="en-US" sz="2000" dirty="0"/>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Clr>
                <a:schemeClr val="bg2"/>
              </a:buClr>
              <a:buSzPct val="100000"/>
              <a:buNone/>
            </a:pPr>
            <a:r>
              <a:rPr lang="en-US" sz="2600" b="1" dirty="0">
                <a:solidFill>
                  <a:schemeClr val="tx1"/>
                </a:solidFill>
                <a:latin typeface="Work Sans" pitchFamily="2" charset="0"/>
              </a:rPr>
              <a:t>55.01 Explain the service precautions for working on the A/C system.</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Wipe away any oil or dirt before disconnecting a connection.</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Keep tools clean and dry.</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Refrigerant oil containers must be clean and dry.</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Leave a system open for the shortest time possible.</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Evacuate a system any time it has been opened.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Refrigerant Safety Precaution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Refrigerant Safety Precautions (1 of 3)</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Clr>
                <a:schemeClr val="bg2"/>
              </a:buClr>
              <a:buSzPct val="75000"/>
              <a:buNone/>
            </a:pPr>
            <a:r>
              <a:rPr lang="en-US" sz="2600" b="1" dirty="0">
                <a:solidFill>
                  <a:schemeClr val="tx1"/>
                </a:solidFill>
                <a:latin typeface="Work Sans" pitchFamily="2" charset="0"/>
              </a:rPr>
              <a:t>55.02 Understand the special handling procedures for automotive refrigerants.</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Work in a well-ventilated area.</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Refrigerant will cause frostbite if it contacts exposed skin or eyes.</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Wear protective gloves and clothing in addition to eye protection.</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Never use compressed air to leak test a R-134a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Refrigerant Safety Precaution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Refrigerant Safety Precautions (2 of 3) </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Never drop, strike, puncture, or burn a refrigerant container.</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Never expose A/C systems or refrigerants to high temperatures or open flame.</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Never overfill refrigerant containers.</a:t>
            </a:r>
          </a:p>
          <a:p>
            <a:pPr marL="360363" indent="-360363">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Never mix R-12 and R-134a, components, or equipment.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Refrigerant Safety Precautions (3 of 3)  </a:t>
            </a:r>
          </a:p>
        </p:txBody>
      </p:sp>
      <p:sp>
        <p:nvSpPr>
          <p:cNvPr id="3" name="Content Placeholder 6"/>
          <p:cNvSpPr txBox="1">
            <a:spLocks noGrp="1"/>
          </p:cNvSpPr>
          <p:nvPr>
            <p:ph type="body" idx="1"/>
          </p:nvPr>
        </p:nvSpPr>
        <p:spPr>
          <a:xfrm>
            <a:off x="476844" y="1563627"/>
            <a:ext cx="11241915" cy="4937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60363" indent="-360363" algn="l">
              <a:buSzPct val="100000"/>
              <a:buFont typeface="Arial" panose="020B0604020202020204" pitchFamily="34" charset="0"/>
              <a:buChar char="•"/>
            </a:pPr>
            <a:r>
              <a:rPr lang="en-US" sz="2600" dirty="0">
                <a:solidFill>
                  <a:schemeClr val="tx1"/>
                </a:solidFill>
                <a:latin typeface="Work Sans" pitchFamily="2" charset="0"/>
              </a:rPr>
              <a:t>Pay attention to all warning and service decals.</a:t>
            </a:r>
          </a:p>
        </p:txBody>
      </p:sp>
      <p:pic>
        <p:nvPicPr>
          <p:cNvPr id="8" name="Picture 2" descr="Pay attention to all warning and service decals depict several cautions attention. The text is titled, CAUTION, ATTENTION, and CAUTION ATTENTION. The caution of refrigerant under high pressure label reads Improper service methods may cause injury. The air conditioning system should be serviced by qualified personnel. See the repair manual. Refrigerant H F C 134 a, with maximum and minimum values in pounds and oil with N D oil or equipment 11, S A E J-639. The Attention of refrigerant sous haute pression label reads the above text in the Japanese language. The Caution Attention label below reads, several details to avoid injury, please make sure that the ready lamp on the meter is off before working in the engine compartment. See the owner's manual for details.">
            <a:extLst>
              <a:ext uri="{FF2B5EF4-FFF2-40B4-BE49-F238E27FC236}">
                <a16:creationId xmlns:a16="http://schemas.microsoft.com/office/drawing/2014/main" id="{09737476-5236-23A5-BAFF-2AF479E1D9C9}"/>
              </a:ext>
            </a:extLst>
          </p:cNvPr>
          <p:cNvPicPr>
            <a:picLocks noGrp="1" noChangeAspect="1" noChangeArrowheads="1"/>
          </p:cNvPicPr>
          <p:nvPr>
            <p:ph type="pic" sz="quarter" idx="11"/>
          </p:nvPr>
        </p:nvPicPr>
        <p:blipFill rotWithShape="1">
          <a:blip r:embed="rId3">
            <a:extLst>
              <a:ext uri="{28A0092B-C50C-407E-A947-70E740481C1C}">
                <a14:useLocalDpi xmlns:a14="http://schemas.microsoft.com/office/drawing/2010/main" val="0"/>
              </a:ext>
            </a:extLst>
          </a:blip>
          <a:srcRect b="10622"/>
          <a:stretch/>
        </p:blipFill>
        <p:spPr bwMode="auto">
          <a:xfrm>
            <a:off x="3800314" y="2394885"/>
            <a:ext cx="4591373" cy="3320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627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pecial Precautions&#10;for Hybrid Vehicle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Special Precautions for Hybrid Vehicles (1 of 2)</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 high-voltage wires and harnesses are wrapped in yellow- or orange-colored insulation.</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Respect the color and stay away from it unless the system is depowered.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Do not attempt to service these cables and parts without the correct protective gear and service information.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High Voltage Compress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Special Precautions for Hybrid Vehicles (2 of 2)</a:t>
            </a:r>
          </a:p>
        </p:txBody>
      </p:sp>
      <p:sp>
        <p:nvSpPr>
          <p:cNvPr id="3" name="Text Placeholder 2">
            <a:extLst>
              <a:ext uri="{FF2B5EF4-FFF2-40B4-BE49-F238E27FC236}">
                <a16:creationId xmlns:a16="http://schemas.microsoft.com/office/drawing/2014/main" id="{CAF273F9-EDC0-28C6-CECF-308C3C288571}"/>
              </a:ext>
            </a:extLst>
          </p:cNvPr>
          <p:cNvSpPr>
            <a:spLocks noGrp="1"/>
          </p:cNvSpPr>
          <p:nvPr>
            <p:ph type="body" idx="1"/>
          </p:nvPr>
        </p:nvSpPr>
        <p:spPr/>
        <p:txBody>
          <a:bodyPr/>
          <a:lstStyle/>
          <a:p>
            <a:pPr marL="355600" indent="-355600">
              <a:buClr>
                <a:schemeClr val="bg2"/>
              </a:buClr>
              <a:buFont typeface="Arial" panose="020B0604020202020204" pitchFamily="34" charset="0"/>
              <a:buChar char="•"/>
            </a:pPr>
            <a:r>
              <a:rPr lang="en-US" dirty="0">
                <a:solidFill>
                  <a:schemeClr val="tx1"/>
                </a:solidFill>
                <a:latin typeface="Work Sans" pitchFamily="2" charset="0"/>
              </a:rPr>
              <a:t>Always use insulated tools.</a:t>
            </a:r>
          </a:p>
          <a:p>
            <a:pPr marL="355600" indent="-355600">
              <a:buFont typeface="Arial" panose="020B0604020202020204" pitchFamily="34" charset="0"/>
              <a:buChar char="•"/>
            </a:pPr>
            <a:r>
              <a:rPr lang="en-US" dirty="0">
                <a:solidFill>
                  <a:schemeClr val="tx1"/>
                </a:solidFill>
                <a:latin typeface="Work Sans" pitchFamily="2" charset="0"/>
              </a:rPr>
              <a:t>Remove anything metallic, such as rings, necklaces, watches, and earrings, when working on a hybrid or electric vehicle.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Initial System Check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Initial System Checks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Verify the complaint.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operation at full heat and full cold.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Pay attention to smells and noises.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compressor drive belt.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Look for a film of oil leakage.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for condenser airflow restrictions.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Initial System Check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Initial System Checks (2 of 2) </a:t>
            </a:r>
          </a:p>
        </p:txBody>
      </p:sp>
      <p:sp>
        <p:nvSpPr>
          <p:cNvPr id="3" name="Text Placeholder 4"/>
          <p:cNvSpPr txBox="1">
            <a:spLocks noGrp="1"/>
          </p:cNvSpPr>
          <p:nvPr>
            <p:ph type="body" idx="1"/>
          </p:nvPr>
        </p:nvSpPr>
        <p:spPr>
          <a:xfrm>
            <a:off x="1219200" y="1676400"/>
            <a:ext cx="4032242" cy="609600"/>
          </a:xfrm>
        </p:spPr>
        <p:txBody>
          <a:bodyPr anchor="t"/>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32000" lvl="1" indent="0" algn="ctr">
              <a:spcBef>
                <a:spcPts val="638"/>
              </a:spcBef>
              <a:buNone/>
            </a:pPr>
            <a:r>
              <a:rPr lang="en-US" dirty="0">
                <a:solidFill>
                  <a:schemeClr val="tx1"/>
                </a:solidFill>
                <a:latin typeface="Work Sans" pitchFamily="2" charset="0"/>
              </a:rPr>
              <a:t>Oil is a sign of a leak.</a:t>
            </a:r>
          </a:p>
        </p:txBody>
      </p:sp>
      <p:pic>
        <p:nvPicPr>
          <p:cNvPr id="10" name="Picture Placeholder 9" descr="An oily smudge on a vehicle radiator indicates a refrigerant leak.">
            <a:extLst>
              <a:ext uri="{FF2B5EF4-FFF2-40B4-BE49-F238E27FC236}">
                <a16:creationId xmlns:a16="http://schemas.microsoft.com/office/drawing/2014/main" id="{225FF23A-0C9D-01CE-B922-C226ABD1067C}"/>
              </a:ext>
            </a:extLst>
          </p:cNvPr>
          <p:cNvPicPr>
            <a:picLocks noGrp="1" noChangeAspect="1"/>
          </p:cNvPicPr>
          <p:nvPr>
            <p:ph type="pic" sz="quarter" idx="11"/>
          </p:nvPr>
        </p:nvPicPr>
        <p:blipFill>
          <a:blip r:embed="rId3"/>
          <a:srcRect b="8893"/>
          <a:stretch/>
        </p:blipFill>
        <p:spPr>
          <a:xfrm>
            <a:off x="1292787" y="2865612"/>
            <a:ext cx="4320050" cy="2773188"/>
          </a:xfrm>
          <a:prstGeom prst="rect">
            <a:avLst/>
          </a:prstGeom>
        </p:spPr>
      </p:pic>
      <p:sp>
        <p:nvSpPr>
          <p:cNvPr id="4" name="Text Placeholder 5"/>
          <p:cNvSpPr txBox="1">
            <a:spLocks noGrp="1"/>
          </p:cNvSpPr>
          <p:nvPr>
            <p:ph sz="quarter" idx="10"/>
          </p:nvPr>
        </p:nvSpPr>
        <p:spPr>
          <a:xfrm>
            <a:off x="7234825" y="1676400"/>
            <a:ext cx="4267200" cy="914400"/>
          </a:xfrm>
        </p:spPr>
        <p:txBody>
          <a:bodyPr anchor="t"/>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lgn="ctr">
              <a:spcAft>
                <a:spcPts val="0"/>
              </a:spcAft>
              <a:buNone/>
            </a:pPr>
            <a:r>
              <a:rPr lang="en-US" sz="2400" dirty="0">
                <a:solidFill>
                  <a:schemeClr val="tx1"/>
                </a:solidFill>
                <a:latin typeface="Work Sans" pitchFamily="2" charset="0"/>
              </a:rPr>
              <a:t>Check condenser for damage and debris.</a:t>
            </a:r>
          </a:p>
        </p:txBody>
      </p:sp>
      <p:pic>
        <p:nvPicPr>
          <p:cNvPr id="11" name="Picture Placeholder 10" descr="A damaged condenser with debris buildup, causing restriction to airflow.">
            <a:extLst>
              <a:ext uri="{FF2B5EF4-FFF2-40B4-BE49-F238E27FC236}">
                <a16:creationId xmlns:a16="http://schemas.microsoft.com/office/drawing/2014/main" id="{F78CDEB7-3DB8-310F-DD68-51C3B6D7B93F}"/>
              </a:ext>
            </a:extLst>
          </p:cNvPr>
          <p:cNvPicPr>
            <a:picLocks noGrp="1" noChangeAspect="1"/>
          </p:cNvPicPr>
          <p:nvPr>
            <p:ph type="pic" sz="quarter" idx="12"/>
          </p:nvPr>
        </p:nvPicPr>
        <p:blipFill>
          <a:blip r:embed="rId4"/>
          <a:srcRect b="15510"/>
          <a:stretch/>
        </p:blipFill>
        <p:spPr>
          <a:xfrm>
            <a:off x="7239000" y="2919617"/>
            <a:ext cx="3625842" cy="24905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imple Check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Simple Checks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Vent outlet temperatures.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Blower speeds.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Feel for temperature differences of high and low side hoses.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Expansion valve should be frost free.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the sight glass if equipped.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rouble Cod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Trouble Codes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Late-model A/C systems have a self-diagnostic capability.</a:t>
            </a:r>
          </a:p>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On most modern vehicles, part of the A/C system can be checked with a scan tool connected to the vehicle’s BCM.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iagnosi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Diagnosis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Noise</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Clutch noises</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Hose noises</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Compressor noise</a:t>
            </a:r>
          </a:p>
          <a:p>
            <a:pPr marL="723900" lvl="1" indent="-3683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Hissing and whistling</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Odors</a:t>
            </a:r>
          </a:p>
          <a:p>
            <a:pPr marL="723900" lvl="3" indent="-3683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Moldy or musty smells</a:t>
            </a:r>
          </a:p>
          <a:p>
            <a:pPr marL="723900" lvl="3" indent="-3683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Cabin air filters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erformance Testin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Performance Testing</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rPr>
              <a:t>55.04 Describe how to connect a manifold gauge set and a recovery/recycling machine to a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Connect a manifold gauge set.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temperature/pressure charts as a guide.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Monitor discharge temperatures with a thermometer.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When unsure of the refrigerant, run a purity test.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ervice Valves">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Service Valves</a:t>
            </a:r>
          </a:p>
        </p:txBody>
      </p:sp>
      <p:sp>
        <p:nvSpPr>
          <p:cNvPr id="4" name="Text Placeholder 7"/>
          <p:cNvSpPr txBox="1">
            <a:spLocks noGrp="1"/>
          </p:cNvSpPr>
          <p:nvPr>
            <p:ph sz="quarter" idx="10"/>
          </p:nvPr>
        </p:nvSpPr>
        <p:spPr>
          <a:xfrm>
            <a:off x="1600200" y="1828799"/>
            <a:ext cx="3810000" cy="702559"/>
          </a:xfrm>
        </p:spPr>
        <p:txBody>
          <a:bodyPr anchor="t"/>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lvl="0" indent="0" algn="ctr">
              <a:spcBef>
                <a:spcPts val="638"/>
              </a:spcBef>
              <a:buNone/>
            </a:pPr>
            <a:r>
              <a:rPr lang="en-US" sz="2400" dirty="0">
                <a:solidFill>
                  <a:schemeClr val="accent1"/>
                </a:solidFill>
                <a:latin typeface="Work Sans" pitchFamily="2" charset="0"/>
              </a:rPr>
              <a:t>R-134a System</a:t>
            </a:r>
          </a:p>
        </p:txBody>
      </p:sp>
      <p:pic>
        <p:nvPicPr>
          <p:cNvPr id="10" name="Picture 2" descr="An R-134a system service valve for a gauge set."/>
          <p:cNvPicPr>
            <a:picLocks noGrp="1" noChangeAspect="1"/>
          </p:cNvPicPr>
          <p:nvPr>
            <p:ph type="pic" sz="quarter" idx="11"/>
          </p:nvPr>
        </p:nvPicPr>
        <p:blipFill>
          <a:blip r:embed="rId3">
            <a:lum/>
            <a:alphaModFix/>
          </a:blip>
          <a:stretch>
            <a:fillRect/>
          </a:stretch>
        </p:blipFill>
        <p:spPr>
          <a:xfrm>
            <a:off x="1708118" y="2667000"/>
            <a:ext cx="3156014" cy="3118664"/>
          </a:xfrm>
          <a:prstGeom prst="rect">
            <a:avLst/>
          </a:prstGeom>
          <a:noFill/>
          <a:ln>
            <a:noFill/>
          </a:ln>
        </p:spPr>
      </p:pic>
      <p:sp>
        <p:nvSpPr>
          <p:cNvPr id="3" name="Text Placeholder 5"/>
          <p:cNvSpPr txBox="1">
            <a:spLocks noGrp="1"/>
          </p:cNvSpPr>
          <p:nvPr>
            <p:ph type="body" idx="1"/>
          </p:nvPr>
        </p:nvSpPr>
        <p:spPr>
          <a:xfrm>
            <a:off x="6324600" y="1828800"/>
            <a:ext cx="3429000" cy="702559"/>
          </a:xfrm>
        </p:spPr>
        <p:txBody>
          <a:bodyPr anchor="t"/>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lvl="0" indent="0" algn="ctr">
              <a:spcBef>
                <a:spcPts val="638"/>
              </a:spcBef>
              <a:buNone/>
            </a:pPr>
            <a:r>
              <a:rPr lang="en-US" sz="2400" dirty="0">
                <a:solidFill>
                  <a:schemeClr val="accent1"/>
                </a:solidFill>
                <a:latin typeface="Work Sans" pitchFamily="2" charset="0"/>
              </a:rPr>
              <a:t>R-1234yf System</a:t>
            </a:r>
          </a:p>
        </p:txBody>
      </p:sp>
      <p:pic>
        <p:nvPicPr>
          <p:cNvPr id="11" name="Picture 3" descr="An R-1234 y f system service valve for a gauge set."/>
          <p:cNvPicPr>
            <a:picLocks noGrp="1" noChangeAspect="1"/>
          </p:cNvPicPr>
          <p:nvPr>
            <p:ph type="pic" sz="quarter" idx="12"/>
          </p:nvPr>
        </p:nvPicPr>
        <p:blipFill>
          <a:blip r:embed="rId4">
            <a:lum/>
            <a:alphaModFix/>
          </a:blip>
          <a:stretch>
            <a:fillRect/>
          </a:stretch>
        </p:blipFill>
        <p:spPr>
          <a:xfrm>
            <a:off x="6781800" y="2737297"/>
            <a:ext cx="2828810" cy="31301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urity Tes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Purity Test</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rPr>
              <a:t>55.03 Determine the refrigerant type, test refrigerant type, and check for sealants.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Performed when the contents of the system are unknown</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refrigerant identifier is used to sample contents.</a:t>
            </a:r>
          </a:p>
          <a:p>
            <a:pPr marL="355600" indent="-355600">
              <a:spcBef>
                <a:spcPts val="624"/>
              </a:spcBef>
              <a:spcAft>
                <a:spcPts val="600"/>
              </a:spcAft>
              <a:buClr>
                <a:schemeClr val="bg2"/>
              </a:buClr>
              <a:buSzPct val="100000"/>
              <a:buFont typeface="Arial" panose="020B0604020202020204" pitchFamily="34" charset="0"/>
              <a:buChar char="•"/>
            </a:pPr>
            <a:r>
              <a:rPr lang="en-US" sz="2600" dirty="0">
                <a:solidFill>
                  <a:schemeClr val="tx1"/>
                </a:solidFill>
                <a:latin typeface="Work Sans" pitchFamily="2" charset="0"/>
              </a:rPr>
              <a:t>It is recommended that the system be tested for sealant identification and/or contamination before conducting the purity test.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purity test can prevent damage to equipment in the event combustible agents are present.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Manifold Pressure Gaug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Manifold Pressure Gauge</a:t>
            </a:r>
          </a:p>
        </p:txBody>
      </p:sp>
      <p:sp>
        <p:nvSpPr>
          <p:cNvPr id="3" name="Content Placeholder 2"/>
          <p:cNvSpPr txBox="1">
            <a:spLocks noGrp="1"/>
          </p:cNvSpPr>
          <p:nvPr>
            <p:ph type="body" idx="1"/>
          </p:nvPr>
        </p:nvSpPr>
        <p:spPr>
          <a:xfrm>
            <a:off x="609600" y="1620013"/>
            <a:ext cx="4724400" cy="37703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when discharging, charging, evacuating, and diagnosing the system</a:t>
            </a:r>
          </a:p>
        </p:txBody>
      </p:sp>
      <p:pic>
        <p:nvPicPr>
          <p:cNvPr id="9" name="Picture Placeholder 8" descr="A manifold pressure gauge has two dials, connected two separate pipe lines, that are used for discharging, charging, evacuating and diagnosing the A/C system of a vehicle.">
            <a:extLst>
              <a:ext uri="{FF2B5EF4-FFF2-40B4-BE49-F238E27FC236}">
                <a16:creationId xmlns:a16="http://schemas.microsoft.com/office/drawing/2014/main" id="{EA8DBD76-ED0D-EDF6-868E-F04D7368B8B2}"/>
              </a:ext>
            </a:extLst>
          </p:cNvPr>
          <p:cNvPicPr>
            <a:picLocks noGrp="1" noChangeAspect="1"/>
          </p:cNvPicPr>
          <p:nvPr>
            <p:ph type="pic" sz="quarter" idx="11"/>
          </p:nvPr>
        </p:nvPicPr>
        <p:blipFill>
          <a:blip r:embed="rId3"/>
          <a:stretch>
            <a:fillRect/>
          </a:stretch>
        </p:blipFill>
        <p:spPr>
          <a:xfrm>
            <a:off x="6096000" y="1803376"/>
            <a:ext cx="3760395" cy="41402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Connecting the Gauge Set">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Connecting the Gauge Set</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55.04 Describe how to connect a manifold gauge set and a recovery/recycling machine to a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Locate the high- and low-side service valves.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Make sure the gauge set valves are closed.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Purge each gauge set hose to remove air trapped in the hoses and gauges.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Schrader Valves</a:t>
            </a:r>
          </a:p>
        </p:txBody>
      </p:sp>
      <p:sp>
        <p:nvSpPr>
          <p:cNvPr id="3" name="Content Placeholder 6"/>
          <p:cNvSpPr txBox="1">
            <a:spLocks noGrp="1"/>
          </p:cNvSpPr>
          <p:nvPr>
            <p:ph type="body" idx="1"/>
          </p:nvPr>
        </p:nvSpPr>
        <p:spPr>
          <a:xfrm>
            <a:off x="2284786" y="1658113"/>
            <a:ext cx="2494956" cy="6461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Aft>
                <a:spcPts val="0"/>
              </a:spcAft>
              <a:buNone/>
            </a:pPr>
            <a:r>
              <a:rPr lang="en-US" sz="2600" dirty="0">
                <a:solidFill>
                  <a:schemeClr val="tx1"/>
                </a:solidFill>
                <a:latin typeface="Work Sans" pitchFamily="2" charset="0"/>
              </a:rPr>
              <a:t>R-134a Valve</a:t>
            </a:r>
          </a:p>
        </p:txBody>
      </p:sp>
      <p:sp>
        <p:nvSpPr>
          <p:cNvPr id="14" name="Content Placeholder 13">
            <a:extLst>
              <a:ext uri="{FF2B5EF4-FFF2-40B4-BE49-F238E27FC236}">
                <a16:creationId xmlns:a16="http://schemas.microsoft.com/office/drawing/2014/main" id="{4B6181FA-64DD-88F3-BA22-B1C5F1F6CA38}"/>
              </a:ext>
            </a:extLst>
          </p:cNvPr>
          <p:cNvSpPr>
            <a:spLocks noGrp="1"/>
          </p:cNvSpPr>
          <p:nvPr>
            <p:ph sz="quarter" idx="10"/>
          </p:nvPr>
        </p:nvSpPr>
        <p:spPr>
          <a:xfrm>
            <a:off x="6750897" y="1783272"/>
            <a:ext cx="2743200" cy="627886"/>
          </a:xfrm>
        </p:spPr>
        <p:txBody>
          <a:bodyPr/>
          <a:lstStyle/>
          <a:p>
            <a:pPr marL="76200" indent="0">
              <a:spcBef>
                <a:spcPts val="0"/>
              </a:spcBef>
              <a:buNone/>
            </a:pPr>
            <a:r>
              <a:rPr lang="en-US" sz="2600" dirty="0">
                <a:solidFill>
                  <a:schemeClr val="tx1"/>
                </a:solidFill>
                <a:latin typeface="Work Sans" pitchFamily="2" charset="0"/>
              </a:rPr>
              <a:t>R-1234yf Valve</a:t>
            </a:r>
            <a:endParaRPr lang="en-IN" sz="2600" dirty="0">
              <a:solidFill>
                <a:schemeClr val="tx1"/>
              </a:solidFill>
            </a:endParaRPr>
          </a:p>
        </p:txBody>
      </p:sp>
      <p:pic>
        <p:nvPicPr>
          <p:cNvPr id="10" name="Picture Placeholder 9" descr="An R-134a system service valve for a gauge set.">
            <a:extLst>
              <a:ext uri="{FF2B5EF4-FFF2-40B4-BE49-F238E27FC236}">
                <a16:creationId xmlns:a16="http://schemas.microsoft.com/office/drawing/2014/main" id="{33E99A99-2131-318E-5B28-F644CA178FD3}"/>
              </a:ext>
            </a:extLst>
          </p:cNvPr>
          <p:cNvPicPr>
            <a:picLocks noGrp="1" noChangeAspect="1"/>
          </p:cNvPicPr>
          <p:nvPr>
            <p:ph type="pic" sz="quarter" idx="11"/>
          </p:nvPr>
        </p:nvPicPr>
        <p:blipFill>
          <a:blip r:embed="rId3"/>
          <a:stretch/>
        </p:blipFill>
        <p:spPr>
          <a:xfrm>
            <a:off x="1673072" y="2429445"/>
            <a:ext cx="3550813" cy="3514155"/>
          </a:xfrm>
          <a:prstGeom prst="rect">
            <a:avLst/>
          </a:prstGeom>
        </p:spPr>
      </p:pic>
      <p:pic>
        <p:nvPicPr>
          <p:cNvPr id="11" name="Picture Placeholder 10" descr="An R-1234 y f system service valve for a gauge set.">
            <a:extLst>
              <a:ext uri="{FF2B5EF4-FFF2-40B4-BE49-F238E27FC236}">
                <a16:creationId xmlns:a16="http://schemas.microsoft.com/office/drawing/2014/main" id="{F7670122-5EAA-F8EF-7A41-181468A9F3EE}"/>
              </a:ext>
            </a:extLst>
          </p:cNvPr>
          <p:cNvPicPr>
            <a:picLocks noGrp="1" noChangeAspect="1"/>
          </p:cNvPicPr>
          <p:nvPr>
            <p:ph type="pic" sz="quarter" idx="12"/>
          </p:nvPr>
        </p:nvPicPr>
        <p:blipFill>
          <a:blip r:embed="rId4"/>
          <a:stretch/>
        </p:blipFill>
        <p:spPr>
          <a:xfrm>
            <a:off x="6553200" y="2438400"/>
            <a:ext cx="3138595" cy="3494640"/>
          </a:xfrm>
          <a:prstGeom prst="rect">
            <a:avLst/>
          </a:prstGeom>
        </p:spPr>
      </p:pic>
    </p:spTree>
    <p:extLst>
      <p:ext uri="{BB962C8B-B14F-4D97-AF65-F5344CB8AC3E}">
        <p14:creationId xmlns:p14="http://schemas.microsoft.com/office/powerpoint/2010/main" val="3334704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Testing Procedur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Testing Procedures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55.08 Interpret pressure readings as an aid to diagnose A/C problems.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Run engine between 1500 and 2000 rpm.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Close all vehicle windows and doors.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Set A/C to maximum cooling.</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gauge pressures and outlet temperature.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Refer to the manufacturers temperature and pressure charts.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erformance Testing Readings">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Performance Test Readings (1 of 2)</a:t>
            </a:r>
          </a:p>
        </p:txBody>
      </p:sp>
      <p:sp>
        <p:nvSpPr>
          <p:cNvPr id="2" name="Rectangle 3"/>
          <p:cNvSpPr txBox="1">
            <a:spLocks noGrp="1"/>
          </p:cNvSpPr>
          <p:nvPr>
            <p:ph type="body" idx="1"/>
          </p:nvPr>
        </p:nvSpPr>
        <p:spPr>
          <a:xfrm>
            <a:off x="685800" y="1937514"/>
            <a:ext cx="5410200" cy="3548886"/>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High-side pressure is higher than normal.</a:t>
            </a:r>
          </a:p>
          <a:p>
            <a:pPr marL="723900" lvl="1" indent="-368300">
              <a:spcBef>
                <a:spcPts val="624"/>
              </a:spcBef>
              <a:spcAft>
                <a:spcPts val="600"/>
              </a:spcAft>
              <a:buClr>
                <a:schemeClr val="bg2"/>
              </a:buClr>
              <a:buSzPct val="100000"/>
              <a:buFont typeface="Arial" panose="020B0604020202020204" pitchFamily="34" charset="0"/>
              <a:buChar char="–"/>
            </a:pPr>
            <a:r>
              <a:rPr lang="en-US" dirty="0">
                <a:solidFill>
                  <a:schemeClr val="tx1"/>
                </a:solidFill>
                <a:latin typeface="Work Sans" pitchFamily="2" charset="0"/>
              </a:rPr>
              <a:t>Air in the system</a:t>
            </a:r>
          </a:p>
          <a:p>
            <a:pPr marL="723900" lvl="1" indent="-368300">
              <a:spcBef>
                <a:spcPts val="624"/>
              </a:spcBef>
              <a:spcAft>
                <a:spcPts val="600"/>
              </a:spcAft>
              <a:buClr>
                <a:schemeClr val="bg2"/>
              </a:buClr>
              <a:buSzPct val="100000"/>
              <a:buFont typeface="Arial" panose="020B0604020202020204" pitchFamily="34" charset="0"/>
              <a:buChar char="–"/>
            </a:pPr>
            <a:r>
              <a:rPr lang="en-US" dirty="0">
                <a:solidFill>
                  <a:schemeClr val="tx1"/>
                </a:solidFill>
                <a:latin typeface="Work Sans" pitchFamily="2" charset="0"/>
              </a:rPr>
              <a:t>Restriction on the high-side</a:t>
            </a:r>
          </a:p>
          <a:p>
            <a:pPr marL="723900" lvl="1" indent="-368300">
              <a:spcBef>
                <a:spcPts val="624"/>
              </a:spcBef>
              <a:spcAft>
                <a:spcPts val="600"/>
              </a:spcAft>
              <a:buClr>
                <a:schemeClr val="bg2"/>
              </a:buClr>
              <a:buSzPct val="100000"/>
              <a:buFont typeface="Arial" panose="020B0604020202020204" pitchFamily="34" charset="0"/>
              <a:buChar char="–"/>
            </a:pPr>
            <a:r>
              <a:rPr lang="en-US" dirty="0">
                <a:solidFill>
                  <a:schemeClr val="tx1"/>
                </a:solidFill>
                <a:latin typeface="Work Sans" pitchFamily="2" charset="0"/>
              </a:rPr>
              <a:t>Poor airflow across the condenser</a:t>
            </a:r>
          </a:p>
        </p:txBody>
      </p:sp>
      <p:sp>
        <p:nvSpPr>
          <p:cNvPr id="3" name="Rectangle 4"/>
          <p:cNvSpPr txBox="1">
            <a:spLocks noGrp="1"/>
          </p:cNvSpPr>
          <p:nvPr>
            <p:ph sz="quarter" idx="10"/>
          </p:nvPr>
        </p:nvSpPr>
        <p:spPr>
          <a:xfrm>
            <a:off x="6553200" y="1937514"/>
            <a:ext cx="4953000" cy="3548886"/>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Clr>
                <a:schemeClr val="bg2"/>
              </a:buClr>
              <a:buSzPct val="100000"/>
              <a:buFont typeface="Arial" panose="020B0604020202020204" pitchFamily="34" charset="0"/>
              <a:buChar char="•"/>
            </a:pPr>
            <a:r>
              <a:rPr lang="en-US" sz="2600" dirty="0">
                <a:solidFill>
                  <a:schemeClr val="tx1"/>
                </a:solidFill>
                <a:latin typeface="Work Sans" pitchFamily="2" charset="0"/>
              </a:rPr>
              <a:t>High-side pressure is lower than normal.</a:t>
            </a:r>
          </a:p>
          <a:p>
            <a:pPr marL="723900" lvl="1" indent="-368300">
              <a:spcBef>
                <a:spcPts val="624"/>
              </a:spcBef>
              <a:spcAft>
                <a:spcPts val="600"/>
              </a:spcAft>
              <a:buClr>
                <a:schemeClr val="bg2"/>
              </a:buClr>
              <a:buSzPct val="100000"/>
              <a:buFont typeface="Arial" panose="020B0604020202020204" pitchFamily="34" charset="0"/>
              <a:buChar char="–"/>
            </a:pPr>
            <a:r>
              <a:rPr lang="en-US" dirty="0">
                <a:solidFill>
                  <a:schemeClr val="tx1"/>
                </a:solidFill>
                <a:latin typeface="Work Sans" pitchFamily="2" charset="0"/>
              </a:rPr>
              <a:t>Low refrigerant</a:t>
            </a:r>
          </a:p>
          <a:p>
            <a:pPr marL="723900" lvl="1" indent="-368300">
              <a:spcBef>
                <a:spcPts val="624"/>
              </a:spcBef>
              <a:spcAft>
                <a:spcPts val="600"/>
              </a:spcAft>
              <a:buClr>
                <a:schemeClr val="bg2"/>
              </a:buClr>
              <a:buSzPct val="100000"/>
              <a:buFont typeface="Arial" panose="020B0604020202020204" pitchFamily="34" charset="0"/>
              <a:buChar char="–"/>
            </a:pPr>
            <a:r>
              <a:rPr lang="en-US" dirty="0">
                <a:solidFill>
                  <a:schemeClr val="tx1"/>
                </a:solidFill>
                <a:latin typeface="Work Sans" pitchFamily="2" charset="0"/>
              </a:rPr>
              <a:t>Defective compressor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erformance Testing (Cont.)">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Performance Test Readings (2 of 2)</a:t>
            </a:r>
          </a:p>
        </p:txBody>
      </p:sp>
      <p:sp>
        <p:nvSpPr>
          <p:cNvPr id="2" name="Rectangle 3"/>
          <p:cNvSpPr txBox="1">
            <a:spLocks noGrp="1"/>
          </p:cNvSpPr>
          <p:nvPr>
            <p:ph type="body" idx="1"/>
          </p:nvPr>
        </p:nvSpPr>
        <p:spPr>
          <a:xfrm>
            <a:off x="502244" y="1790700"/>
            <a:ext cx="5410200" cy="39989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Low-side pressure  is higher than normal.</a:t>
            </a:r>
          </a:p>
          <a:p>
            <a:pPr marL="723900" lvl="1" indent="-368300">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rPr>
              <a:t>Refrigerant overcharge</a:t>
            </a:r>
          </a:p>
          <a:p>
            <a:pPr marL="723900" lvl="1" indent="-368300">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rPr>
              <a:t>Faulty metering device</a:t>
            </a:r>
          </a:p>
          <a:p>
            <a:pPr marL="723900" lvl="1" indent="-368300">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rPr>
              <a:t>Defective compressor</a:t>
            </a:r>
          </a:p>
        </p:txBody>
      </p:sp>
      <p:sp>
        <p:nvSpPr>
          <p:cNvPr id="3" name="Rectangle 4"/>
          <p:cNvSpPr txBox="1">
            <a:spLocks noGrp="1"/>
          </p:cNvSpPr>
          <p:nvPr>
            <p:ph sz="quarter" idx="10"/>
          </p:nvPr>
        </p:nvSpPr>
        <p:spPr>
          <a:xfrm>
            <a:off x="6629400" y="1752600"/>
            <a:ext cx="4724400" cy="39227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Low-side pressure is lower than normal.</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Faulty metering device</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Poor airflow across the evaporator</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Restriction in the low side</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Refrigerant undercharge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(1 of 2)</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800"/>
              </a:spcAft>
              <a:buNone/>
            </a:pPr>
            <a:r>
              <a:rPr lang="en-US" sz="2600" dirty="0">
                <a:solidFill>
                  <a:schemeClr val="tx1"/>
                </a:solidFill>
                <a:latin typeface="Work Sans" pitchFamily="2" charset="0"/>
              </a:rPr>
              <a:t>A HVAC system does not cool and has low low-side and low high-side pressures.</a:t>
            </a:r>
          </a:p>
          <a:p>
            <a:pPr marL="0" indent="0">
              <a:spcBef>
                <a:spcPts val="624"/>
              </a:spcBef>
              <a:spcAft>
                <a:spcPts val="1800"/>
              </a:spcAft>
              <a:buNone/>
            </a:pPr>
            <a:r>
              <a:rPr lang="en-US" sz="2600" dirty="0">
                <a:solidFill>
                  <a:schemeClr val="tx1"/>
                </a:solidFill>
                <a:latin typeface="Work Sans" pitchFamily="2" charset="0"/>
              </a:rPr>
              <a:t>Technician A says the system in undercharged.</a:t>
            </a:r>
          </a:p>
          <a:p>
            <a:pPr marL="0" indent="0">
              <a:spcBef>
                <a:spcPts val="624"/>
              </a:spcBef>
              <a:spcAft>
                <a:spcPts val="1800"/>
              </a:spcAft>
              <a:buNone/>
            </a:pPr>
            <a:r>
              <a:rPr lang="en-US" sz="2600" dirty="0">
                <a:solidFill>
                  <a:schemeClr val="tx1"/>
                </a:solidFill>
                <a:latin typeface="Work Sans" pitchFamily="2" charset="0"/>
              </a:rPr>
              <a:t>Technician B says the condenser is probably blocked.</a:t>
            </a:r>
          </a:p>
          <a:p>
            <a:pPr marL="0" indent="0">
              <a:spcBef>
                <a:spcPts val="624"/>
              </a:spcBef>
              <a:spcAft>
                <a:spcPts val="1800"/>
              </a:spcAft>
              <a:buNone/>
            </a:pPr>
            <a:r>
              <a:rPr lang="en-US" sz="2600" dirty="0">
                <a:solidFill>
                  <a:schemeClr val="tx1"/>
                </a:solidFill>
                <a:latin typeface="Work Sans" pitchFamily="2" charset="0"/>
              </a:rPr>
              <a:t>Who is correct?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(1 of 2)</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800"/>
              </a:spcAft>
              <a:buNone/>
            </a:pPr>
            <a:r>
              <a:rPr lang="en-US" sz="2600" dirty="0">
                <a:solidFill>
                  <a:schemeClr val="tx1"/>
                </a:solidFill>
                <a:latin typeface="Work Sans" pitchFamily="2" charset="0"/>
              </a:rPr>
              <a:t>A HVAC system does not cool and has low low-side and low high-side pressures.</a:t>
            </a:r>
          </a:p>
          <a:p>
            <a:pPr marL="0" indent="0">
              <a:spcBef>
                <a:spcPts val="624"/>
              </a:spcBef>
              <a:spcAft>
                <a:spcPts val="1800"/>
              </a:spcAft>
              <a:buNone/>
            </a:pPr>
            <a:r>
              <a:rPr lang="en-US" sz="2600" dirty="0">
                <a:solidFill>
                  <a:schemeClr val="tx1"/>
                </a:solidFill>
                <a:latin typeface="Work Sans" pitchFamily="2" charset="0"/>
              </a:rPr>
              <a:t>Technician A says the system in undercharged.</a:t>
            </a:r>
          </a:p>
          <a:p>
            <a:pPr marL="0" indent="0">
              <a:spcBef>
                <a:spcPts val="624"/>
              </a:spcBef>
              <a:spcAft>
                <a:spcPts val="1800"/>
              </a:spcAft>
              <a:buNone/>
            </a:pPr>
            <a:r>
              <a:rPr lang="en-US" sz="2600" dirty="0">
                <a:solidFill>
                  <a:schemeClr val="tx1"/>
                </a:solidFill>
                <a:latin typeface="Work Sans" pitchFamily="2" charset="0"/>
              </a:rPr>
              <a:t>Technician B says the condenser is probably blocked.</a:t>
            </a:r>
          </a:p>
          <a:p>
            <a:pPr marL="0" indent="0">
              <a:spcBef>
                <a:spcPts val="624"/>
              </a:spcBef>
              <a:spcAft>
                <a:spcPts val="1800"/>
              </a:spcAft>
              <a:buNone/>
            </a:pPr>
            <a:r>
              <a:rPr lang="en-US" sz="2600" dirty="0">
                <a:solidFill>
                  <a:schemeClr val="tx1"/>
                </a:solidFill>
                <a:latin typeface="Work Sans" pitchFamily="2" charset="0"/>
              </a:rPr>
              <a:t>Who is correct?</a:t>
            </a:r>
          </a:p>
          <a:p>
            <a:pPr marL="0" indent="0">
              <a:spcBef>
                <a:spcPts val="624"/>
              </a:spcBef>
              <a:spcAft>
                <a:spcPts val="1800"/>
              </a:spcAft>
              <a:buNone/>
            </a:pPr>
            <a:r>
              <a:rPr lang="en-US" sz="2600" dirty="0">
                <a:solidFill>
                  <a:schemeClr val="tx1"/>
                </a:solidFill>
                <a:latin typeface="Work Sans" pitchFamily="2" charset="0"/>
              </a:rPr>
              <a:t>Answer: Technician A only</a:t>
            </a:r>
          </a:p>
        </p:txBody>
      </p:sp>
    </p:spTree>
    <p:extLst>
      <p:ext uri="{BB962C8B-B14F-4D97-AF65-F5344CB8AC3E}">
        <p14:creationId xmlns:p14="http://schemas.microsoft.com/office/powerpoint/2010/main" val="2128084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Leak Testing">
    <p:spTree>
      <p:nvGrpSpPr>
        <p:cNvPr id="1" name=""/>
        <p:cNvGrpSpPr/>
        <p:nvPr/>
      </p:nvGrpSpPr>
      <p:grpSpPr>
        <a:xfrm>
          <a:off x="0" y="0"/>
          <a:ext cx="0" cy="0"/>
          <a:chOff x="0" y="0"/>
          <a:chExt cx="0" cy="0"/>
        </a:xfrm>
      </p:grpSpPr>
      <p:sp>
        <p:nvSpPr>
          <p:cNvPr id="2" name="Rectang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Leak Testing</a:t>
            </a:r>
          </a:p>
        </p:txBody>
      </p:sp>
      <p:sp>
        <p:nvSpPr>
          <p:cNvPr id="3"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Clr>
                <a:schemeClr val="bg2"/>
              </a:buClr>
              <a:buNone/>
            </a:pPr>
            <a:r>
              <a:rPr lang="en-US" sz="2600" b="1" dirty="0">
                <a:solidFill>
                  <a:schemeClr val="tx1"/>
                </a:solidFill>
                <a:latin typeface="Work Sans" pitchFamily="2" charset="0"/>
              </a:rPr>
              <a:t>55.06 Describe methods used to check refrigerant leaks.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Leaks often cause low-pressure readings.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Perform a visual inspection</a:t>
            </a:r>
          </a:p>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Leaks are most often found at the compressor hose connections and at the various fittings and joints in the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manufacturers do not recommend stop leak products.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92377-E0AB-86F5-230A-04BB53ABDC85}"/>
              </a:ext>
            </a:extLst>
          </p:cNvPr>
          <p:cNvSpPr>
            <a:spLocks noGrp="1"/>
          </p:cNvSpPr>
          <p:nvPr>
            <p:ph type="title"/>
          </p:nvPr>
        </p:nvSpPr>
        <p:spPr/>
        <p:txBody>
          <a:bodyPr/>
          <a:lstStyle/>
          <a:p>
            <a:r>
              <a:rPr lang="en-US" dirty="0">
                <a:solidFill>
                  <a:schemeClr val="tx1"/>
                </a:solidFill>
                <a:latin typeface="Work Sans" pitchFamily="2" charset="0"/>
              </a:rPr>
              <a:t>Leak Detector Types</a:t>
            </a:r>
            <a:endParaRPr lang="en-US" dirty="0">
              <a:solidFill>
                <a:schemeClr val="tx1"/>
              </a:solidFill>
            </a:endParaRPr>
          </a:p>
        </p:txBody>
      </p:sp>
      <p:sp>
        <p:nvSpPr>
          <p:cNvPr id="3" name="Text Placeholder 2">
            <a:extLst>
              <a:ext uri="{FF2B5EF4-FFF2-40B4-BE49-F238E27FC236}">
                <a16:creationId xmlns:a16="http://schemas.microsoft.com/office/drawing/2014/main" id="{3734E8CC-3D5D-C125-7270-F89C8F906E7D}"/>
              </a:ext>
            </a:extLst>
          </p:cNvPr>
          <p:cNvSpPr>
            <a:spLocks noGrp="1"/>
          </p:cNvSpPr>
          <p:nvPr>
            <p:ph type="body" idx="1"/>
          </p:nvPr>
        </p:nvSpPr>
        <p:spPr/>
        <p:txBody>
          <a:bodyPr/>
          <a:lstStyle/>
          <a:p>
            <a:pPr marL="355600" lvl="1" indent="-355600">
              <a:buClr>
                <a:schemeClr val="bg2"/>
              </a:buClr>
              <a:buFont typeface="Arial" panose="020B0604020202020204" pitchFamily="34" charset="0"/>
              <a:buChar char="•"/>
            </a:pPr>
            <a:r>
              <a:rPr lang="en-US" sz="2600" dirty="0">
                <a:solidFill>
                  <a:schemeClr val="tx1"/>
                </a:solidFill>
                <a:latin typeface="Work Sans" pitchFamily="2" charset="0"/>
              </a:rPr>
              <a:t>Electronic leak detector</a:t>
            </a:r>
          </a:p>
          <a:p>
            <a:pPr marL="355600" lvl="1" indent="-355600">
              <a:buClr>
                <a:schemeClr val="bg2"/>
              </a:buClr>
              <a:buFont typeface="Arial" panose="020B0604020202020204" pitchFamily="34" charset="0"/>
              <a:buChar char="•"/>
            </a:pPr>
            <a:r>
              <a:rPr lang="en-US" sz="2600" dirty="0">
                <a:solidFill>
                  <a:schemeClr val="tx1"/>
                </a:solidFill>
                <a:latin typeface="Work Sans" pitchFamily="2" charset="0"/>
              </a:rPr>
              <a:t>Fluorescent (UV) leak tracer</a:t>
            </a:r>
          </a:p>
          <a:p>
            <a:pPr marL="355600" lvl="1" indent="-355600">
              <a:buClr>
                <a:schemeClr val="bg2"/>
              </a:buClr>
              <a:buFont typeface="Arial" panose="020B0604020202020204" pitchFamily="34" charset="0"/>
              <a:buChar char="•"/>
            </a:pPr>
            <a:r>
              <a:rPr lang="en-US" sz="2600" dirty="0">
                <a:solidFill>
                  <a:schemeClr val="tx1"/>
                </a:solidFill>
                <a:latin typeface="Work Sans" pitchFamily="2" charset="0"/>
              </a:rPr>
              <a:t>Fluid leak detector</a:t>
            </a:r>
          </a:p>
        </p:txBody>
      </p:sp>
    </p:spTree>
    <p:extLst>
      <p:ext uri="{BB962C8B-B14F-4D97-AF65-F5344CB8AC3E}">
        <p14:creationId xmlns:p14="http://schemas.microsoft.com/office/powerpoint/2010/main" val="210281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Electronic Leak Detector">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Electronic Leak Detector</a:t>
            </a:r>
          </a:p>
        </p:txBody>
      </p:sp>
      <p:pic>
        <p:nvPicPr>
          <p:cNvPr id="9" name="Picture Placeholder 8" descr="An electronic leak detector kit for an H V A C system.">
            <a:extLst>
              <a:ext uri="{FF2B5EF4-FFF2-40B4-BE49-F238E27FC236}">
                <a16:creationId xmlns:a16="http://schemas.microsoft.com/office/drawing/2014/main" id="{03DD9382-7F8F-CEF6-7169-EED6EE1E4855}"/>
              </a:ext>
            </a:extLst>
          </p:cNvPr>
          <p:cNvPicPr>
            <a:picLocks noGrp="1" noChangeAspect="1"/>
          </p:cNvPicPr>
          <p:nvPr>
            <p:ph type="pic" sz="quarter" idx="11"/>
          </p:nvPr>
        </p:nvPicPr>
        <p:blipFill>
          <a:blip r:embed="rId3"/>
          <a:stretch>
            <a:fillRect/>
          </a:stretch>
        </p:blipFill>
        <p:spPr>
          <a:xfrm>
            <a:off x="4044198" y="1637061"/>
            <a:ext cx="4103605" cy="438273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Fluorescent Dye Leak Detection">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Fluorescent Dye Leak Detection</a:t>
            </a:r>
          </a:p>
        </p:txBody>
      </p:sp>
      <p:sp>
        <p:nvSpPr>
          <p:cNvPr id="3" name="Content Placeholder 3"/>
          <p:cNvSpPr txBox="1">
            <a:spLocks noGrp="1"/>
          </p:cNvSpPr>
          <p:nvPr>
            <p:ph type="body" idx="1"/>
          </p:nvPr>
        </p:nvSpPr>
        <p:spPr>
          <a:xfrm>
            <a:off x="761999" y="1563626"/>
            <a:ext cx="6019801" cy="39989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special dye is added to the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After the system has run, check for leaks using a UV light.</a:t>
            </a:r>
          </a:p>
        </p:txBody>
      </p:sp>
      <p:pic>
        <p:nvPicPr>
          <p:cNvPr id="9" name="Picture 2" descr="A fluorescent dye leak detector has a special dye, and a pair of goggles to check for leaks using a U V light."/>
          <p:cNvPicPr>
            <a:picLocks noGrp="1" noChangeAspect="1"/>
          </p:cNvPicPr>
          <p:nvPr>
            <p:ph type="pic" sz="quarter" idx="11"/>
          </p:nvPr>
        </p:nvPicPr>
        <p:blipFill>
          <a:blip r:embed="rId3">
            <a:lum/>
            <a:alphaModFix/>
          </a:blip>
          <a:stretch>
            <a:fillRect/>
          </a:stretch>
        </p:blipFill>
        <p:spPr>
          <a:xfrm>
            <a:off x="6972300" y="2362200"/>
            <a:ext cx="4610100" cy="2543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Emptying the System">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Emptying the System</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rPr>
              <a:t>55.07 Use approved methods and equipment to discharge, reclaim/recycle, evacuate, and recharge an automotive A/C system.</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Identify the refrigerant.</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Never mix types of refrigerant.</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Follow the equipment manufacturer’s procedures.</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Refrigerants that are less than 98 percent pure will fail the tests and should not be recycled.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Recyclin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Recycling</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 recycled refrigerant must be safely stored in DOT CFR Title 49 or UL-approved containers.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Before reuse, the refrigerant must be checked for noncondensable gases.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Must meet SAE standards for proper system performance.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Periodic equipment maintenance (such as filter changes) is necessary.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General Service">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General Service</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 refrigerant must be recovered.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Component replacement may require the addition of refrigerant oil to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Always use the specific type and quantity oil required.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Too much oil reduces cooling capacity.</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Too little oil results in poor lubrication.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Refrigerant Oil">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Refrigerant Oil</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Normally, oil is mixed in with the refrigerant.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Install the correct amount and type of oil.</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Mixing different types of oils can lead to deterioration of system components and failure.</a:t>
            </a:r>
          </a:p>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there is a surplus of oil in the system, too much will circulate with the refrigerant causing the cooling capacity of the system to be reduced.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Clutch Service">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Clutch Service</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for discoloration, peeling, or other damage.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pulley drag and play.</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Measure clutch coil resistance.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clutch clearance with a feeler gauge.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clutches can be replaced on the vehicle.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Checking Clutch Clearan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Checking Clutch Clearance</a:t>
            </a:r>
          </a:p>
        </p:txBody>
      </p:sp>
      <p:pic>
        <p:nvPicPr>
          <p:cNvPr id="9" name="Picture Placeholder 8" descr="A technician uses a feeler gauge to check the gap between the armature plate and the pulley, for clutch clearance.">
            <a:extLst>
              <a:ext uri="{FF2B5EF4-FFF2-40B4-BE49-F238E27FC236}">
                <a16:creationId xmlns:a16="http://schemas.microsoft.com/office/drawing/2014/main" id="{4A584201-BDA6-B0BA-ED5B-B9D3A10D927E}"/>
              </a:ext>
            </a:extLst>
          </p:cNvPr>
          <p:cNvPicPr>
            <a:picLocks noGrp="1" noChangeAspect="1"/>
          </p:cNvPicPr>
          <p:nvPr>
            <p:ph type="pic" sz="quarter" idx="11"/>
          </p:nvPr>
        </p:nvPicPr>
        <p:blipFill>
          <a:blip r:embed="rId3"/>
          <a:srcRect b="13722"/>
          <a:stretch/>
        </p:blipFill>
        <p:spPr>
          <a:xfrm>
            <a:off x="3700604" y="1981200"/>
            <a:ext cx="4790792" cy="340924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Compressor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Compressor Service</a:t>
            </a:r>
          </a:p>
        </p:txBody>
      </p:sp>
      <p:sp>
        <p:nvSpPr>
          <p:cNvPr id="3" name="Content Placeholder 2"/>
          <p:cNvSpPr txBox="1">
            <a:spLocks noGrp="1"/>
          </p:cNvSpPr>
          <p:nvPr>
            <p:ph type="body" idx="1"/>
          </p:nvPr>
        </p:nvSpPr>
        <p:spPr>
          <a:xfrm>
            <a:off x="609600" y="1752600"/>
            <a:ext cx="6381155" cy="25511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Compressors are typically replaced instead of rebuilt.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Shaft seals may be replaced.</a:t>
            </a:r>
          </a:p>
        </p:txBody>
      </p:sp>
      <p:pic>
        <p:nvPicPr>
          <p:cNvPr id="9" name="Picture Placeholder 8" descr="A technician places a protector over the threads of a compressor shaft.">
            <a:extLst>
              <a:ext uri="{FF2B5EF4-FFF2-40B4-BE49-F238E27FC236}">
                <a16:creationId xmlns:a16="http://schemas.microsoft.com/office/drawing/2014/main" id="{EF61BFF6-7424-48E4-66A5-13DC0A9AAD92}"/>
              </a:ext>
            </a:extLst>
          </p:cNvPr>
          <p:cNvPicPr>
            <a:picLocks noGrp="1" noChangeAspect="1"/>
          </p:cNvPicPr>
          <p:nvPr>
            <p:ph type="pic" sz="quarter" idx="11"/>
          </p:nvPr>
        </p:nvPicPr>
        <p:blipFill>
          <a:blip r:embed="rId3"/>
          <a:srcRect b="16207"/>
          <a:stretch/>
        </p:blipFill>
        <p:spPr>
          <a:xfrm>
            <a:off x="7315200" y="1981200"/>
            <a:ext cx="4126546" cy="31242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ystem Flushing">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System Flushing</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Compressor failure causes foreign material to pass into the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Flush the condenser and lines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Replace the accumulator/dryer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only the flushing agent specified by the manufacturer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In-Line Filte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In-Line Filters</a:t>
            </a:r>
          </a:p>
        </p:txBody>
      </p:sp>
      <p:sp>
        <p:nvSpPr>
          <p:cNvPr id="3" name="Content Placeholder 2"/>
          <p:cNvSpPr txBox="1">
            <a:spLocks noGrp="1"/>
          </p:cNvSpPr>
          <p:nvPr>
            <p:ph type="body" idx="1"/>
          </p:nvPr>
        </p:nvSpPr>
        <p:spPr>
          <a:xfrm>
            <a:off x="476844" y="1600200"/>
            <a:ext cx="6000156" cy="39227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effective way to trap debris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Install whenever a compressor has seized or had severe damage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Filters without orifices should be installed in the liquid line between the condenser and evaporator.</a:t>
            </a:r>
          </a:p>
        </p:txBody>
      </p:sp>
      <p:pic>
        <p:nvPicPr>
          <p:cNvPr id="9" name="Picture Placeholder 8" descr="An in-line filter has a metallic outer covering, with a label that reads, Install in the direction of the arrow that is from condenser toward E V A P.">
            <a:extLst>
              <a:ext uri="{FF2B5EF4-FFF2-40B4-BE49-F238E27FC236}">
                <a16:creationId xmlns:a16="http://schemas.microsoft.com/office/drawing/2014/main" id="{E95726BC-F201-9B26-ADD4-41A367F54AB2}"/>
              </a:ext>
            </a:extLst>
          </p:cNvPr>
          <p:cNvPicPr>
            <a:picLocks noGrp="1" noChangeAspect="1"/>
          </p:cNvPicPr>
          <p:nvPr>
            <p:ph type="pic" sz="quarter" idx="11"/>
          </p:nvPr>
        </p:nvPicPr>
        <p:blipFill>
          <a:blip r:embed="rId3"/>
          <a:srcRect b="12453"/>
          <a:stretch/>
        </p:blipFill>
        <p:spPr>
          <a:xfrm>
            <a:off x="6705600" y="2438401"/>
            <a:ext cx="4838700" cy="2209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(2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200"/>
              </a:spcAft>
              <a:buNone/>
            </a:pPr>
            <a:r>
              <a:rPr lang="en-US" sz="2600" dirty="0">
                <a:solidFill>
                  <a:schemeClr val="tx1"/>
                </a:solidFill>
                <a:latin typeface="Work Sans" pitchFamily="2" charset="0"/>
              </a:rPr>
              <a:t>Technician A says compressor oil should be checked and filled each time the system is charged.</a:t>
            </a:r>
          </a:p>
          <a:p>
            <a:pPr marL="0" indent="0">
              <a:spcBef>
                <a:spcPts val="624"/>
              </a:spcBef>
              <a:spcAft>
                <a:spcPts val="1200"/>
              </a:spcAft>
              <a:buNone/>
            </a:pPr>
            <a:r>
              <a:rPr lang="en-US" sz="2600" dirty="0">
                <a:solidFill>
                  <a:schemeClr val="tx1"/>
                </a:solidFill>
                <a:latin typeface="Work Sans" pitchFamily="2" charset="0"/>
              </a:rPr>
              <a:t>Technician B says compressor oil is added with the refrigerant charge. Who is correct?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(2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200"/>
              </a:spcAft>
              <a:buNone/>
            </a:pPr>
            <a:r>
              <a:rPr lang="en-US" sz="2600" dirty="0">
                <a:solidFill>
                  <a:schemeClr val="tx1"/>
                </a:solidFill>
                <a:latin typeface="Work Sans" pitchFamily="2" charset="0"/>
              </a:rPr>
              <a:t>Technician A says compressor oil should be checked and filled each time the system is charged.</a:t>
            </a:r>
          </a:p>
          <a:p>
            <a:pPr marL="0" indent="0">
              <a:spcBef>
                <a:spcPts val="624"/>
              </a:spcBef>
              <a:spcAft>
                <a:spcPts val="1200"/>
              </a:spcAft>
              <a:buNone/>
            </a:pPr>
            <a:r>
              <a:rPr lang="en-US" sz="2600" dirty="0">
                <a:solidFill>
                  <a:schemeClr val="tx1"/>
                </a:solidFill>
                <a:latin typeface="Work Sans" pitchFamily="2" charset="0"/>
              </a:rPr>
              <a:t>Technician B says compressor oil is added with the refrigerant charge. Who is correct?</a:t>
            </a:r>
          </a:p>
          <a:p>
            <a:pPr marL="0" indent="0">
              <a:spcBef>
                <a:spcPts val="624"/>
              </a:spcBef>
              <a:spcAft>
                <a:spcPts val="1200"/>
              </a:spcAft>
              <a:buNone/>
            </a:pPr>
            <a:r>
              <a:rPr lang="en-US" sz="2600" dirty="0">
                <a:solidFill>
                  <a:schemeClr val="tx1"/>
                </a:solidFill>
                <a:latin typeface="Work Sans" pitchFamily="2" charset="0"/>
              </a:rPr>
              <a:t>Answer: Technician B only</a:t>
            </a:r>
          </a:p>
        </p:txBody>
      </p:sp>
    </p:spTree>
    <p:extLst>
      <p:ext uri="{BB962C8B-B14F-4D97-AF65-F5344CB8AC3E}">
        <p14:creationId xmlns:p14="http://schemas.microsoft.com/office/powerpoint/2010/main" val="1705651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Compressor Control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Compressor Controls</a:t>
            </a:r>
          </a:p>
        </p:txBody>
      </p:sp>
      <p:sp>
        <p:nvSpPr>
          <p:cNvPr id="2"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various control switches for resistance or continuity</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Ambient temperature switch</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Thermostatic switch</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Pressure cycling switch</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Low-pressure cutoff switch</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Electronic cycling control switch</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High-pressure cutoff switch</a:t>
            </a:r>
          </a:p>
          <a:p>
            <a:pPr marL="723900" lvl="2" indent="-368300">
              <a:spcBef>
                <a:spcPts val="624"/>
              </a:spcBef>
              <a:spcAft>
                <a:spcPts val="600"/>
              </a:spcAft>
              <a:buClr>
                <a:schemeClr val="tx1"/>
              </a:buClr>
              <a:buSzPct val="100000"/>
              <a:buFont typeface="Arial" panose="020B0604020202020204" pitchFamily="34" charset="0"/>
              <a:buChar char="–"/>
            </a:pPr>
            <a:r>
              <a:rPr lang="en-US" sz="2400" dirty="0">
                <a:solidFill>
                  <a:schemeClr val="tx1"/>
                </a:solidFill>
                <a:latin typeface="Work Sans" pitchFamily="2" charset="0"/>
              </a:rPr>
              <a:t>Evaporator temperature sensor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Hoses and Fitt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Hoses and Fittings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rPr>
              <a:t>55.09 Service components of the A/C system.</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Total hose replacement is the preferred method to correct a hose leak.</a:t>
            </a:r>
          </a:p>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Using insert barb fittings and a length of replacement hose, an acceptable replacement can be fabricated.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fittings.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Spring lock fittings require special tools.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Lubricate new O-rings with refrigerant oil.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page43">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F29EEE96-A506-F277-C69D-5A6E5659BF92}"/>
              </a:ext>
            </a:extLst>
          </p:cNvPr>
          <p:cNvSpPr>
            <a:spLocks noGrp="1"/>
          </p:cNvSpPr>
          <p:nvPr>
            <p:ph type="title"/>
          </p:nvPr>
        </p:nvSpPr>
        <p:spPr/>
        <p:txBody>
          <a:bodyPr/>
          <a:lstStyle/>
          <a:p>
            <a:r>
              <a:rPr lang="en-US" dirty="0"/>
              <a:t>Line Repairs</a:t>
            </a:r>
          </a:p>
        </p:txBody>
      </p:sp>
      <p:sp>
        <p:nvSpPr>
          <p:cNvPr id="17" name="Text Placeholder 16">
            <a:extLst>
              <a:ext uri="{FF2B5EF4-FFF2-40B4-BE49-F238E27FC236}">
                <a16:creationId xmlns:a16="http://schemas.microsoft.com/office/drawing/2014/main" id="{43754B75-7174-81F8-0628-125E829D8F12}"/>
              </a:ext>
            </a:extLst>
          </p:cNvPr>
          <p:cNvSpPr>
            <a:spLocks noGrp="1"/>
          </p:cNvSpPr>
          <p:nvPr>
            <p:ph type="body" idx="1"/>
          </p:nvPr>
        </p:nvSpPr>
        <p:spPr>
          <a:xfrm>
            <a:off x="476844" y="1563627"/>
            <a:ext cx="11241915" cy="898355"/>
          </a:xfrm>
        </p:spPr>
        <p:txBody>
          <a:bodyPr/>
          <a:lstStyle/>
          <a:p>
            <a:pPr algn="l"/>
            <a:r>
              <a:rPr lang="en-US" sz="2600" dirty="0">
                <a:solidFill>
                  <a:schemeClr val="tx1"/>
                </a:solidFill>
                <a:latin typeface="Work Sans" pitchFamily="2" charset="0"/>
              </a:rPr>
              <a:t>Repairs to rigid lines can be made with special collars.</a:t>
            </a:r>
          </a:p>
        </p:txBody>
      </p:sp>
      <p:pic>
        <p:nvPicPr>
          <p:cNvPr id="7" name="Picture Placeholder 6" descr="A technician holds an L-shaped metallic pipe, used to make repairs of rigid lines.">
            <a:extLst>
              <a:ext uri="{FF2B5EF4-FFF2-40B4-BE49-F238E27FC236}">
                <a16:creationId xmlns:a16="http://schemas.microsoft.com/office/drawing/2014/main" id="{D03EF743-E630-9035-0F3B-185D9FEEA231}"/>
              </a:ext>
            </a:extLst>
          </p:cNvPr>
          <p:cNvPicPr>
            <a:picLocks noGrp="1" noChangeAspect="1"/>
          </p:cNvPicPr>
          <p:nvPr>
            <p:ph type="pic" sz="quarter" idx="11"/>
          </p:nvPr>
        </p:nvPicPr>
        <p:blipFill>
          <a:blip r:embed="rId3"/>
          <a:srcRect b="14527"/>
          <a:stretch/>
        </p:blipFill>
        <p:spPr>
          <a:xfrm>
            <a:off x="3578414" y="2461983"/>
            <a:ext cx="5035171" cy="294821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031A-C18D-4F83-048E-E4CDF8CF00DE}"/>
              </a:ext>
            </a:extLst>
          </p:cNvPr>
          <p:cNvSpPr>
            <a:spLocks noGrp="1"/>
          </p:cNvSpPr>
          <p:nvPr>
            <p:ph type="title"/>
          </p:nvPr>
        </p:nvSpPr>
        <p:spPr/>
        <p:txBody>
          <a:bodyPr/>
          <a:lstStyle/>
          <a:p>
            <a:r>
              <a:rPr lang="en-US" dirty="0"/>
              <a:t>Line Repairs </a:t>
            </a:r>
          </a:p>
        </p:txBody>
      </p:sp>
      <p:sp>
        <p:nvSpPr>
          <p:cNvPr id="3" name="Text Placeholder 2">
            <a:extLst>
              <a:ext uri="{FF2B5EF4-FFF2-40B4-BE49-F238E27FC236}">
                <a16:creationId xmlns:a16="http://schemas.microsoft.com/office/drawing/2014/main" id="{7E63C436-0108-C398-AE89-AFF977092700}"/>
              </a:ext>
            </a:extLst>
          </p:cNvPr>
          <p:cNvSpPr>
            <a:spLocks noGrp="1"/>
          </p:cNvSpPr>
          <p:nvPr>
            <p:ph type="body" idx="1"/>
          </p:nvPr>
        </p:nvSpPr>
        <p:spPr>
          <a:xfrm>
            <a:off x="476844" y="1563628"/>
            <a:ext cx="11241915" cy="898354"/>
          </a:xfrm>
        </p:spPr>
        <p:txBody>
          <a:bodyPr/>
          <a:lstStyle/>
          <a:p>
            <a:pPr algn="l"/>
            <a:r>
              <a:rPr lang="en-US" sz="2600" dirty="0">
                <a:solidFill>
                  <a:schemeClr val="tx1"/>
                </a:solidFill>
                <a:latin typeface="Work Sans" pitchFamily="2" charset="0"/>
              </a:rPr>
              <a:t>A designated tool is used to press the collar into the tube.</a:t>
            </a:r>
          </a:p>
        </p:txBody>
      </p:sp>
      <p:pic>
        <p:nvPicPr>
          <p:cNvPr id="9" name="Picture Placeholder 8" descr="A line repair is performed by placing the L-shaped collar into a designated tool to press the collar into the tube.">
            <a:extLst>
              <a:ext uri="{FF2B5EF4-FFF2-40B4-BE49-F238E27FC236}">
                <a16:creationId xmlns:a16="http://schemas.microsoft.com/office/drawing/2014/main" id="{774F5BCB-E25E-680D-05D3-76A26DF104EA}"/>
              </a:ext>
            </a:extLst>
          </p:cNvPr>
          <p:cNvPicPr>
            <a:picLocks noGrp="1" noChangeAspect="1"/>
          </p:cNvPicPr>
          <p:nvPr>
            <p:ph type="pic" sz="quarter" idx="11"/>
          </p:nvPr>
        </p:nvPicPr>
        <p:blipFill>
          <a:blip r:embed="rId2"/>
          <a:srcRect b="14076"/>
          <a:stretch/>
        </p:blipFill>
        <p:spPr>
          <a:xfrm>
            <a:off x="3676650" y="2619375"/>
            <a:ext cx="4838700" cy="2790825"/>
          </a:xfrm>
          <a:prstGeom prst="rect">
            <a:avLst/>
          </a:prstGeom>
        </p:spPr>
      </p:pic>
    </p:spTree>
    <p:extLst>
      <p:ext uri="{BB962C8B-B14F-4D97-AF65-F5344CB8AC3E}">
        <p14:creationId xmlns:p14="http://schemas.microsoft.com/office/powerpoint/2010/main" val="10627562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Receiver/Dryer and Accumulat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Receiver/Dryer and Accumulator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Should be changed when there has been a leak and/or component replacement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desiccant rapidly draws moisture and can be contaminated in less than 5 minutes.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Keep the new unit sealed until ready to install.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Evaporat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Evaporator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can be replaced from under the hood or under the dash.</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require dash removal to replace.</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the evaporator drain.</a:t>
            </a:r>
          </a:p>
          <a:p>
            <a:pPr marL="723900" lvl="2" indent="-3683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Inadequate or no draining will allow water to back up into the evaporator case.</a:t>
            </a:r>
          </a:p>
          <a:p>
            <a:pPr marL="723900" lvl="2" indent="-3683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Can cause wet floorboards and mildew smells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Evaporator Water Drai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Odor Control</a:t>
            </a:r>
          </a:p>
        </p:txBody>
      </p:sp>
      <p:sp>
        <p:nvSpPr>
          <p:cNvPr id="3"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accent1"/>
                </a:solidFill>
                <a:latin typeface="Work Sans" pitchFamily="2" charset="0"/>
              </a:rPr>
              <a:t>Make sure the evaporator drain is clear</a:t>
            </a:r>
          </a:p>
          <a:p>
            <a:pPr marL="723900" lvl="1" indent="-368300">
              <a:spcBef>
                <a:spcPts val="624"/>
              </a:spcBef>
              <a:spcAft>
                <a:spcPts val="600"/>
              </a:spcAft>
              <a:buSzPct val="100000"/>
              <a:buFont typeface="Arial" panose="020B0604020202020204" pitchFamily="34" charset="0"/>
              <a:buChar char="–"/>
            </a:pPr>
            <a:r>
              <a:rPr lang="en-US" dirty="0">
                <a:solidFill>
                  <a:schemeClr val="accent1"/>
                </a:solidFill>
                <a:latin typeface="Work Sans" pitchFamily="2" charset="0"/>
              </a:rPr>
              <a:t>A plugged drain can cause mildew and odor.</a:t>
            </a:r>
          </a:p>
          <a:p>
            <a:pPr marL="355600" indent="-355600">
              <a:spcBef>
                <a:spcPts val="624"/>
              </a:spcBef>
              <a:spcAft>
                <a:spcPts val="600"/>
              </a:spcAft>
              <a:buSzPct val="100000"/>
              <a:buFont typeface="Arial" panose="020B0604020202020204" pitchFamily="34" charset="0"/>
              <a:buChar char="•"/>
            </a:pPr>
            <a:r>
              <a:rPr lang="en-US" sz="2600" dirty="0">
                <a:solidFill>
                  <a:schemeClr val="accent1"/>
                </a:solidFill>
                <a:latin typeface="Work Sans" pitchFamily="2" charset="0"/>
              </a:rPr>
              <a:t>To reduce odors, manufacturers and the aftermarket supply disinfecting kits to clean the evaporator.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Expansion Devic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Expansion Devices</a:t>
            </a:r>
          </a:p>
        </p:txBody>
      </p:sp>
      <p:sp>
        <p:nvSpPr>
          <p:cNvPr id="3" name="Content Placeholder 2"/>
          <p:cNvSpPr txBox="1">
            <a:spLocks noGrp="1"/>
          </p:cNvSpPr>
          <p:nvPr>
            <p:ph type="body" idx="1"/>
          </p:nvPr>
        </p:nvSpPr>
        <p:spPr>
          <a:xfrm>
            <a:off x="476845" y="1563626"/>
            <a:ext cx="5923955" cy="39227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Many newer models use orifice tubes.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 replace, always use the tools recommended by the manufacturer.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Coat the new tube with clean refrigerant oil</a:t>
            </a:r>
          </a:p>
        </p:txBody>
      </p:sp>
      <p:pic>
        <p:nvPicPr>
          <p:cNvPr id="9" name="Picture Placeholder 8" descr="A technician uses a tool to remove and replace an orifice tube.">
            <a:extLst>
              <a:ext uri="{FF2B5EF4-FFF2-40B4-BE49-F238E27FC236}">
                <a16:creationId xmlns:a16="http://schemas.microsoft.com/office/drawing/2014/main" id="{6A99770F-6618-5070-54B4-CD4857304D9C}"/>
              </a:ext>
            </a:extLst>
          </p:cNvPr>
          <p:cNvPicPr>
            <a:picLocks noGrp="1" noChangeAspect="1"/>
          </p:cNvPicPr>
          <p:nvPr>
            <p:ph type="pic" sz="quarter" idx="11"/>
          </p:nvPr>
        </p:nvPicPr>
        <p:blipFill>
          <a:blip r:embed="rId3"/>
          <a:srcRect b="14392"/>
          <a:stretch/>
        </p:blipFill>
        <p:spPr>
          <a:xfrm>
            <a:off x="6781800" y="1824039"/>
            <a:ext cx="4838700" cy="274796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Condense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Condenser</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Normally, only needs replaced if leaking or damaged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Once removed, drain oil into a graduated container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Add the necessary amount of new oil to the new condenser</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Coat the O-rings with new oil</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Recharging the System">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Recharging the System</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All of the refrigerant in the system must be recovered prior to evacuation.</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Evacuate the system to remove all trapped air and moisture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vacuum pump should remain connected for at least 30 minutes after 29 inches of mercury is reached.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Chargin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Charging</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Refrigerant is added through the service ports.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Charge only through the low side when the system is operating</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Some vehicles charge through the high side with the system off.</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Currently, the only approved way to charge R-1234yf systems is by a Section 609 certified technician using a R-1234yf RRR unit.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Charging Cylinde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Charging Cylinder (1 of 2)</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 accurately measure charging by cylinder weight, it is necessary to compensate for variations caused by temperature.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calibrated chart is used based on tank pressure.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64E8B-9AC1-FFD5-FB31-3082B1ECD916}"/>
              </a:ext>
            </a:extLst>
          </p:cNvPr>
          <p:cNvSpPr>
            <a:spLocks noGrp="1"/>
          </p:cNvSpPr>
          <p:nvPr>
            <p:ph type="title"/>
          </p:nvPr>
        </p:nvSpPr>
        <p:spPr/>
        <p:txBody>
          <a:bodyPr/>
          <a:lstStyle/>
          <a:p>
            <a:r>
              <a:rPr lang="en-US" dirty="0"/>
              <a:t>Charging Cylinder (2 of 2)</a:t>
            </a:r>
            <a:endParaRPr lang="en-IN" dirty="0"/>
          </a:p>
        </p:txBody>
      </p:sp>
      <p:pic>
        <p:nvPicPr>
          <p:cNvPr id="9" name="Picture Placeholder 8" descr="The connections for filling a system with refrigerant using a charging cylinder. The charging cylinder has open and closed valves. The parts are labeled as follows: accumulator, evaporator, low and high-side gauge, and an auxiliary yellow hose. A yellow hose is connected to the non-refillable bulk tank R-134 a with the charging cylinder in open condition. The auxiliary yellow hose from the throttle vapor on the charging cylinder is connected to the high-side gauge, which is open. The low-side gauge is connected to the accumulator. The R-134 a recovery station is closed. From the evaporator, another colored hose goes to the compressor, which is connected to the accumulator.">
            <a:extLst>
              <a:ext uri="{FF2B5EF4-FFF2-40B4-BE49-F238E27FC236}">
                <a16:creationId xmlns:a16="http://schemas.microsoft.com/office/drawing/2014/main" id="{D31AC9A3-66E0-2E54-D767-B226CBFB441E}"/>
              </a:ext>
            </a:extLst>
          </p:cNvPr>
          <p:cNvPicPr>
            <a:picLocks noGrp="1" noChangeAspect="1"/>
          </p:cNvPicPr>
          <p:nvPr>
            <p:ph type="pic" sz="quarter" idx="11"/>
          </p:nvPr>
        </p:nvPicPr>
        <p:blipFill>
          <a:blip r:embed="rId2"/>
          <a:srcRect b="8626"/>
          <a:stretch/>
        </p:blipFill>
        <p:spPr>
          <a:xfrm>
            <a:off x="3742302" y="1806626"/>
            <a:ext cx="4707396" cy="4143103"/>
          </a:xfrm>
          <a:prstGeom prst="rect">
            <a:avLst/>
          </a:prstGeom>
        </p:spPr>
      </p:pic>
    </p:spTree>
    <p:extLst>
      <p:ext uri="{BB962C8B-B14F-4D97-AF65-F5344CB8AC3E}">
        <p14:creationId xmlns:p14="http://schemas.microsoft.com/office/powerpoint/2010/main" val="8605607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Testing for Noncondensable Gas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Testing for Noncondensable Gases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Install a calibrated pressure gauge on tank.</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Measure pressure in the tank.</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Measure ambient temperature.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Compare the temperature/pressure.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noncondensable gases are present, recycle the refrigerant again.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Recovery/Recycling/Recharging Station Maintenance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systems have replaceable filters that need to be changed after a certain amount of refrigerant filtration.</a:t>
            </a:r>
          </a:p>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the machine has a refrigerant identifier, there is likely a separate filter, oxygen sensor, and sample hose that needs to be replaced.</a:t>
            </a:r>
          </a:p>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To keep the vacuum pump operating correctly, the pump oil should be changed after a certain number of hours of use.</a:t>
            </a:r>
          </a:p>
        </p:txBody>
      </p:sp>
    </p:spTree>
    <p:extLst>
      <p:ext uri="{BB962C8B-B14F-4D97-AF65-F5344CB8AC3E}">
        <p14:creationId xmlns:p14="http://schemas.microsoft.com/office/powerpoint/2010/main" val="41202352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Climate Control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Climate Control Systems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Clr>
                <a:schemeClr val="bg2"/>
              </a:buClr>
              <a:buSzPct val="100000"/>
              <a:buNone/>
            </a:pPr>
            <a:r>
              <a:rPr lang="en-US" sz="2600" b="1" dirty="0">
                <a:solidFill>
                  <a:schemeClr val="tx1"/>
                </a:solidFill>
                <a:latin typeface="Work Sans" pitchFamily="2" charset="0"/>
              </a:rPr>
              <a:t>55.10 Diagnose and repair A/C control systems.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systems have self-diagnostics.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blower motor operation.</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operation of controls, doors, and ducts.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Solar sensor operation may be checked through scan data.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Networking</a:t>
            </a:r>
          </a:p>
        </p:txBody>
      </p:sp>
      <p:pic>
        <p:nvPicPr>
          <p:cNvPr id="8" name="Picture 2" descr="An example of the networking used in compressor clutch control. The central part labeled Air conditioning amplifier assembly is connected to seven text boxes at the left labeled E C M, Network gateway E C U, Radio and display receiver assembly *3, Automatic light control sensor *1, main body E C U (Multiplex network body E C U), combination meter assembly, and steering pad switch assembly, in order from top to bottom. The first three are interconnected through a C A N communication line. An arrow from the fourth text box points to the fifth, and another from the seventh points to the sixth text box. The second, fifth, and sixth text boxes are connected through the C A N communication line to the Air conditioning amplifier assembly text box at the center. The eighth and ninth text boxes labeled Cooler (Room temperature sensor thermistor assembly *1) and Ambient temperature sensor (Thermistor assembly), have arrows pointing to the central part. The text boxes at the left are highlighted in a color. The central part is highlighted in a second color. The central part is connected to a text box labeled Air conditioning control assembly *2 at the top right, through the L I N communication line. Another text box below is labeled Air conditioning pressure sensor, with an arrow pointing to the central part. These two are highlighted in a third color. The blow assembly module at the right center part has two text boxes labeled Blower motor with fan sub-assembly and Number 1 blower damper servo sub-assembly. An arrow from the central parts points to the text box, blower motor with fan sub-assembly. The air-conditioning radiator assembly at the bottom right has three text boxes labeled No. 1 air conditioning radiator damper servo sub-assembly, No. 2 air conditioning radiator damper servo sub-assembly *3, and evaporator temperature sensor, in order from top to bottom. The central part is connected to the second text box in the blower assembly, and all three components in the air conditioning radiator assembly, through the Air conditioning harness assembly. The air conditioning radiator assembly and the blower assembly are highlighted in a fourth color. A legend at the bottom illustrates the colors used to represent the C A N communication line, L I N communication line, and the Air conditioning harness assembly. ">
            <a:extLst>
              <a:ext uri="{FF2B5EF4-FFF2-40B4-BE49-F238E27FC236}">
                <a16:creationId xmlns:a16="http://schemas.microsoft.com/office/drawing/2014/main" id="{4A96E03F-D772-91AE-6706-7ECC2E5DBEB8}"/>
              </a:ext>
            </a:extLst>
          </p:cNvPr>
          <p:cNvPicPr>
            <a:picLocks noGrp="1" noChangeAspect="1" noChangeArrowheads="1"/>
          </p:cNvPicPr>
          <p:nvPr>
            <p:ph type="pic" sz="quarter" idx="11"/>
          </p:nvPr>
        </p:nvPicPr>
        <p:blipFill rotWithShape="1">
          <a:blip r:embed="rId3">
            <a:extLst>
              <a:ext uri="{28A0092B-C50C-407E-A947-70E740481C1C}">
                <a14:useLocalDpi xmlns:a14="http://schemas.microsoft.com/office/drawing/2010/main" val="0"/>
              </a:ext>
            </a:extLst>
          </a:blip>
          <a:srcRect b="3389"/>
          <a:stretch/>
        </p:blipFill>
        <p:spPr bwMode="auto">
          <a:xfrm>
            <a:off x="3944915" y="1676400"/>
            <a:ext cx="4302170"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592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elf-Diagnostic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Self-Diagnostics</a:t>
            </a:r>
          </a:p>
        </p:txBody>
      </p:sp>
      <p:sp>
        <p:nvSpPr>
          <p:cNvPr id="3"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Capabilities will vary from car to car.</a:t>
            </a:r>
          </a:p>
          <a:p>
            <a:pPr marL="355600" indent="-35560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If the unit is part of the PCM/BCM system, connect the scan tool and retrieve any codes that may be present.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the service information for the proper procedures.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Solar Sensor</a:t>
            </a:r>
          </a:p>
        </p:txBody>
      </p:sp>
      <p:sp>
        <p:nvSpPr>
          <p:cNvPr id="3"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solar sensor detects sunlight.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output voltage from the sensor varies with the amount of sunlight.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sensor is monitored by the A/C control module.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Trouble codes will set when a problem is detected.</a:t>
            </a:r>
          </a:p>
        </p:txBody>
      </p:sp>
    </p:spTree>
    <p:extLst>
      <p:ext uri="{BB962C8B-B14F-4D97-AF65-F5344CB8AC3E}">
        <p14:creationId xmlns:p14="http://schemas.microsoft.com/office/powerpoint/2010/main" val="27023477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5600" indent="-355600"/>
            <a:r>
              <a:rPr lang="en-US" sz="2600" dirty="0">
                <a:solidFill>
                  <a:schemeClr val="tx1"/>
                </a:solidFill>
                <a:latin typeface="Work Sans" pitchFamily="2" charset="0"/>
              </a:rPr>
              <a:t>Write down a concept from this chapter that challenged you. Describe what made the concept difficult for you. What steps did you take improve your understanding? How could you help another learner who was struggling with the same concept?</a:t>
            </a:r>
          </a:p>
          <a:p>
            <a:pPr marL="355600" indent="-355600"/>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Theme3</Template>
  <TotalTime>2654</TotalTime>
  <Words>2395</Words>
  <Application>Microsoft Office PowerPoint</Application>
  <PresentationFormat>Widescreen</PresentationFormat>
  <Paragraphs>287</Paragraphs>
  <Slides>61</Slides>
  <Notes>55</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Theme3</vt:lpstr>
      <vt:lpstr>Automotive Technology: A Systems Approach, 8e</vt:lpstr>
      <vt:lpstr>Chapter Objectives (1 of 3)</vt:lpstr>
      <vt:lpstr>Chapter Objectives (2 of 3)</vt:lpstr>
      <vt:lpstr>Chapter Objectives (3 of 3)</vt:lpstr>
      <vt:lpstr>Service Precautions</vt:lpstr>
      <vt:lpstr>Refrigerant Safety Precautions (1 of 3)</vt:lpstr>
      <vt:lpstr>Refrigerant Safety Precautions (2 of 3) </vt:lpstr>
      <vt:lpstr>Refrigerant Safety Precautions (3 of 3)  </vt:lpstr>
      <vt:lpstr>Special Precautions for Hybrid Vehicles (1 of 2)</vt:lpstr>
      <vt:lpstr>Special Precautions for Hybrid Vehicles (2 of 2)</vt:lpstr>
      <vt:lpstr>Initial System Checks (1 of 2)</vt:lpstr>
      <vt:lpstr>Initial System Checks (2 of 2) </vt:lpstr>
      <vt:lpstr>Simple Checks</vt:lpstr>
      <vt:lpstr>Trouble Codes</vt:lpstr>
      <vt:lpstr>Diagnosis</vt:lpstr>
      <vt:lpstr>Performance Testing</vt:lpstr>
      <vt:lpstr>Service Valves</vt:lpstr>
      <vt:lpstr>Purity Test</vt:lpstr>
      <vt:lpstr>Manifold Pressure Gauge</vt:lpstr>
      <vt:lpstr>Connecting the Gauge Set</vt:lpstr>
      <vt:lpstr>Schrader Valves</vt:lpstr>
      <vt:lpstr>Testing Procedures</vt:lpstr>
      <vt:lpstr>Performance Test Readings (1 of 2)</vt:lpstr>
      <vt:lpstr>Performance Test Readings (2 of 2)</vt:lpstr>
      <vt:lpstr>Knowledge Check (1 of 2)</vt:lpstr>
      <vt:lpstr>Knowledge Check Answer (1 of 2)</vt:lpstr>
      <vt:lpstr>Leak Testing</vt:lpstr>
      <vt:lpstr>Leak Detector Types</vt:lpstr>
      <vt:lpstr>Electronic Leak Detector</vt:lpstr>
      <vt:lpstr>Fluorescent Dye Leak Detection</vt:lpstr>
      <vt:lpstr>Emptying the System</vt:lpstr>
      <vt:lpstr>Recycling</vt:lpstr>
      <vt:lpstr>General Service</vt:lpstr>
      <vt:lpstr>Refrigerant Oil</vt:lpstr>
      <vt:lpstr>Clutch Service</vt:lpstr>
      <vt:lpstr>Checking Clutch Clearance</vt:lpstr>
      <vt:lpstr>Compressor Service</vt:lpstr>
      <vt:lpstr>System Flushing</vt:lpstr>
      <vt:lpstr>In-Line Filters</vt:lpstr>
      <vt:lpstr>Knowledge Check (2 of 2)</vt:lpstr>
      <vt:lpstr>Knowledge Check Answer (2 of 2)</vt:lpstr>
      <vt:lpstr>Compressor Controls</vt:lpstr>
      <vt:lpstr>Hoses and Fittings</vt:lpstr>
      <vt:lpstr>Line Repairs</vt:lpstr>
      <vt:lpstr>Line Repairs </vt:lpstr>
      <vt:lpstr>Receiver/Dryer and Accumulator</vt:lpstr>
      <vt:lpstr>Evaporator</vt:lpstr>
      <vt:lpstr>Odor Control</vt:lpstr>
      <vt:lpstr>Expansion Devices</vt:lpstr>
      <vt:lpstr>Condenser</vt:lpstr>
      <vt:lpstr>Recharging the System</vt:lpstr>
      <vt:lpstr>Charging</vt:lpstr>
      <vt:lpstr>Charging Cylinder (1 of 2)</vt:lpstr>
      <vt:lpstr>Charging Cylinder (2 of 2)</vt:lpstr>
      <vt:lpstr>Testing for Noncondensable Gases</vt:lpstr>
      <vt:lpstr>Recovery/Recycling/Recharging Station Maintenance</vt:lpstr>
      <vt:lpstr>Climate Control Systems</vt:lpstr>
      <vt:lpstr>Networking</vt:lpstr>
      <vt:lpstr>Self-Diagnostics</vt:lpstr>
      <vt:lpstr>Solar Sensor</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55</dc:title>
  <dc:creator>Radhika.M</dc:creator>
  <cp:lastModifiedBy>DiCaterino, Kara</cp:lastModifiedBy>
  <cp:revision>139</cp:revision>
  <dcterms:modified xsi:type="dcterms:W3CDTF">2024-11-22T16:59:26Z</dcterms:modified>
</cp:coreProperties>
</file>