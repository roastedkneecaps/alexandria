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06" r:id="rId2"/>
  </p:sldMasterIdLst>
  <p:notesMasterIdLst>
    <p:notesMasterId r:id="rId57"/>
  </p:notesMasterIdLst>
  <p:sldIdLst>
    <p:sldId id="350" r:id="rId3"/>
    <p:sldId id="378" r:id="rId4"/>
    <p:sldId id="379" r:id="rId5"/>
    <p:sldId id="258" r:id="rId6"/>
    <p:sldId id="259" r:id="rId7"/>
    <p:sldId id="260" r:id="rId8"/>
    <p:sldId id="262" r:id="rId9"/>
    <p:sldId id="263" r:id="rId10"/>
    <p:sldId id="264" r:id="rId11"/>
    <p:sldId id="265" r:id="rId12"/>
    <p:sldId id="267" r:id="rId13"/>
    <p:sldId id="269" r:id="rId14"/>
    <p:sldId id="270" r:id="rId15"/>
    <p:sldId id="271" r:id="rId16"/>
    <p:sldId id="274" r:id="rId17"/>
    <p:sldId id="275" r:id="rId18"/>
    <p:sldId id="276" r:id="rId19"/>
    <p:sldId id="380" r:id="rId20"/>
    <p:sldId id="277" r:id="rId21"/>
    <p:sldId id="278" r:id="rId22"/>
    <p:sldId id="279" r:id="rId23"/>
    <p:sldId id="280" r:id="rId24"/>
    <p:sldId id="281" r:id="rId25"/>
    <p:sldId id="282" r:id="rId26"/>
    <p:sldId id="284" r:id="rId27"/>
    <p:sldId id="286" r:id="rId28"/>
    <p:sldId id="287" r:id="rId29"/>
    <p:sldId id="289" r:id="rId30"/>
    <p:sldId id="290" r:id="rId31"/>
    <p:sldId id="292" r:id="rId32"/>
    <p:sldId id="295" r:id="rId33"/>
    <p:sldId id="382" r:id="rId34"/>
    <p:sldId id="383" r:id="rId35"/>
    <p:sldId id="384" r:id="rId36"/>
    <p:sldId id="385" r:id="rId37"/>
    <p:sldId id="298" r:id="rId38"/>
    <p:sldId id="299" r:id="rId39"/>
    <p:sldId id="300" r:id="rId40"/>
    <p:sldId id="301" r:id="rId41"/>
    <p:sldId id="303" r:id="rId42"/>
    <p:sldId id="304" r:id="rId43"/>
    <p:sldId id="305" r:id="rId44"/>
    <p:sldId id="306" r:id="rId45"/>
    <p:sldId id="307" r:id="rId46"/>
    <p:sldId id="308" r:id="rId47"/>
    <p:sldId id="310" r:id="rId48"/>
    <p:sldId id="386" r:id="rId49"/>
    <p:sldId id="311" r:id="rId50"/>
    <p:sldId id="312" r:id="rId51"/>
    <p:sldId id="314" r:id="rId52"/>
    <p:sldId id="315" r:id="rId53"/>
    <p:sldId id="316" r:id="rId54"/>
    <p:sldId id="318" r:id="rId55"/>
    <p:sldId id="377"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3"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3" autoAdjust="0"/>
    <p:restoredTop sz="86325" autoAdjust="0"/>
  </p:normalViewPr>
  <p:slideViewPr>
    <p:cSldViewPr snapToGrid="0" snapToObjects="1" showGuides="1">
      <p:cViewPr varScale="1">
        <p:scale>
          <a:sx n="64" d="100"/>
          <a:sy n="64" d="100"/>
        </p:scale>
        <p:origin x="548" y="40"/>
      </p:cViewPr>
      <p:guideLst>
        <p:guide orient="horz" pos="168"/>
        <p:guide pos="3876"/>
      </p:guideLst>
    </p:cSldViewPr>
  </p:slideViewPr>
  <p:outlineViewPr>
    <p:cViewPr>
      <p:scale>
        <a:sx n="33" d="100"/>
        <a:sy n="33" d="100"/>
      </p:scale>
      <p:origin x="0" y="-13620"/>
    </p:cViewPr>
  </p:outlineViewPr>
  <p:notesTextViewPr>
    <p:cViewPr>
      <p:scale>
        <a:sx n="100" d="100"/>
        <a:sy n="100" d="100"/>
      </p:scale>
      <p:origin x="0" y="0"/>
    </p:cViewPr>
  </p:notesTextViewPr>
  <p:sorterViewPr>
    <p:cViewPr>
      <p:scale>
        <a:sx n="66" d="100"/>
        <a:sy n="66" d="100"/>
      </p:scale>
      <p:origin x="0" y="48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381000" y="685800"/>
            <a:ext cx="6096000" cy="3429000"/>
          </a:xfrm>
          <a:ln/>
        </p:spPr>
      </p:sp>
      <p:sp>
        <p:nvSpPr>
          <p:cNvPr id="583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99064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381000" y="685800"/>
            <a:ext cx="6096000" cy="3429000"/>
          </a:xfrm>
          <a:ln/>
        </p:spPr>
      </p:sp>
      <p:sp>
        <p:nvSpPr>
          <p:cNvPr id="593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8277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381000" y="685800"/>
            <a:ext cx="6096000" cy="3429000"/>
          </a:xfrm>
          <a:ln/>
        </p:spPr>
      </p:sp>
      <p:sp>
        <p:nvSpPr>
          <p:cNvPr id="604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92778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381000" y="685800"/>
            <a:ext cx="6096000" cy="3429000"/>
          </a:xfrm>
          <a:ln/>
        </p:spPr>
      </p:sp>
      <p:sp>
        <p:nvSpPr>
          <p:cNvPr id="6451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39916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381000" y="685800"/>
            <a:ext cx="6096000" cy="3429000"/>
          </a:xfrm>
          <a:ln/>
        </p:spPr>
      </p:sp>
      <p:sp>
        <p:nvSpPr>
          <p:cNvPr id="1105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951623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381000" y="685800"/>
            <a:ext cx="6096000" cy="3429000"/>
          </a:xfrm>
          <a:ln/>
        </p:spPr>
      </p:sp>
      <p:sp>
        <p:nvSpPr>
          <p:cNvPr id="665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7958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381000" y="685800"/>
            <a:ext cx="6096000" cy="3429000"/>
          </a:xfrm>
          <a:ln/>
        </p:spPr>
      </p:sp>
      <p:sp>
        <p:nvSpPr>
          <p:cNvPr id="686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70696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228114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986050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381000" y="685800"/>
            <a:ext cx="6096000" cy="3429000"/>
          </a:xfrm>
          <a:ln/>
        </p:spPr>
      </p:sp>
      <p:sp>
        <p:nvSpPr>
          <p:cNvPr id="7270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18518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381000" y="685800"/>
            <a:ext cx="6096000" cy="3429000"/>
          </a:xfrm>
          <a:ln/>
        </p:spPr>
      </p:sp>
      <p:sp>
        <p:nvSpPr>
          <p:cNvPr id="747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516079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381000" y="685800"/>
            <a:ext cx="6096000" cy="3429000"/>
          </a:xfrm>
          <a:ln/>
        </p:spPr>
      </p:sp>
      <p:sp>
        <p:nvSpPr>
          <p:cNvPr id="757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04485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9F6820-7918-4E7C-AD83-F5DD01802FBB}" type="slidenum">
              <a:rPr lang="en-US" smtClean="0"/>
              <a:pPr/>
              <a:t>17</a:t>
            </a:fld>
            <a:endParaRPr lang="en-US" dirty="0"/>
          </a:p>
        </p:txBody>
      </p:sp>
    </p:spTree>
    <p:extLst>
      <p:ext uri="{BB962C8B-B14F-4D97-AF65-F5344CB8AC3E}">
        <p14:creationId xmlns:p14="http://schemas.microsoft.com/office/powerpoint/2010/main" val="1900197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9F6820-7918-4E7C-AD83-F5DD01802FBB}" type="slidenum">
              <a:rPr lang="en-US" smtClean="0"/>
              <a:pPr/>
              <a:t>18</a:t>
            </a:fld>
            <a:endParaRPr lang="en-US" dirty="0"/>
          </a:p>
        </p:txBody>
      </p:sp>
    </p:spTree>
    <p:extLst>
      <p:ext uri="{BB962C8B-B14F-4D97-AF65-F5344CB8AC3E}">
        <p14:creationId xmlns:p14="http://schemas.microsoft.com/office/powerpoint/2010/main" val="1018176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381000" y="685800"/>
            <a:ext cx="6096000" cy="3429000"/>
          </a:xfrm>
          <a:ln/>
        </p:spPr>
      </p:sp>
      <p:sp>
        <p:nvSpPr>
          <p:cNvPr id="624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39436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409683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2631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925076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381000" y="685800"/>
            <a:ext cx="6096000" cy="3429000"/>
          </a:xfrm>
          <a:ln/>
        </p:spPr>
      </p:sp>
      <p:sp>
        <p:nvSpPr>
          <p:cNvPr id="798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56850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381000" y="685800"/>
            <a:ext cx="6096000" cy="3429000"/>
          </a:xfrm>
          <a:ln/>
        </p:spPr>
      </p:sp>
      <p:sp>
        <p:nvSpPr>
          <p:cNvPr id="808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976245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381000" y="685800"/>
            <a:ext cx="6096000" cy="3429000"/>
          </a:xfrm>
          <a:ln/>
        </p:spPr>
      </p:sp>
      <p:sp>
        <p:nvSpPr>
          <p:cNvPr id="829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77297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381000" y="685800"/>
            <a:ext cx="6096000" cy="3429000"/>
          </a:xfrm>
          <a:ln/>
        </p:spPr>
      </p:sp>
      <p:sp>
        <p:nvSpPr>
          <p:cNvPr id="860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2281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1000" y="685800"/>
            <a:ext cx="6096000" cy="3429000"/>
          </a:xfrm>
          <a:ln/>
        </p:spPr>
      </p:sp>
      <p:sp>
        <p:nvSpPr>
          <p:cNvPr id="8704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107775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32388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6159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381000" y="685800"/>
            <a:ext cx="6096000" cy="3429000"/>
          </a:xfrm>
          <a:ln/>
        </p:spPr>
      </p:sp>
      <p:sp>
        <p:nvSpPr>
          <p:cNvPr id="9318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95343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724024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96544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563397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248282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3898204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1000" y="685800"/>
            <a:ext cx="6096000" cy="3429000"/>
          </a:xfrm>
          <a:ln/>
        </p:spPr>
      </p:sp>
      <p:sp>
        <p:nvSpPr>
          <p:cNvPr id="1013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845121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81000" y="685800"/>
            <a:ext cx="6096000" cy="3429000"/>
          </a:xfrm>
          <a:ln/>
        </p:spPr>
      </p:sp>
      <p:sp>
        <p:nvSpPr>
          <p:cNvPr id="1024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081120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381000" y="685800"/>
            <a:ext cx="6096000" cy="3429000"/>
          </a:xfrm>
          <a:ln/>
        </p:spPr>
      </p:sp>
      <p:sp>
        <p:nvSpPr>
          <p:cNvPr id="1034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86095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381000" y="685800"/>
            <a:ext cx="6096000" cy="3429000"/>
          </a:xfrm>
          <a:ln/>
        </p:spPr>
      </p:sp>
      <p:sp>
        <p:nvSpPr>
          <p:cNvPr id="1054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0126361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9F6820-7918-4E7C-AD83-F5DD01802FBB}" type="slidenum">
              <a:rPr lang="en-US" smtClean="0"/>
              <a:pPr/>
              <a:t>46</a:t>
            </a:fld>
            <a:endParaRPr lang="en-US" dirty="0"/>
          </a:p>
        </p:txBody>
      </p:sp>
    </p:spTree>
    <p:extLst>
      <p:ext uri="{BB962C8B-B14F-4D97-AF65-F5344CB8AC3E}">
        <p14:creationId xmlns:p14="http://schemas.microsoft.com/office/powerpoint/2010/main" val="27892793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9F6820-7918-4E7C-AD83-F5DD01802FBB}" type="slidenum">
              <a:rPr lang="en-US" smtClean="0"/>
              <a:pPr/>
              <a:t>47</a:t>
            </a:fld>
            <a:endParaRPr lang="en-US" dirty="0"/>
          </a:p>
        </p:txBody>
      </p:sp>
    </p:spTree>
    <p:extLst>
      <p:ext uri="{BB962C8B-B14F-4D97-AF65-F5344CB8AC3E}">
        <p14:creationId xmlns:p14="http://schemas.microsoft.com/office/powerpoint/2010/main" val="2480303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644457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381000" y="685800"/>
            <a:ext cx="6096000" cy="3429000"/>
          </a:xfrm>
          <a:ln/>
        </p:spPr>
      </p:sp>
      <p:sp>
        <p:nvSpPr>
          <p:cNvPr id="1095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36299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3436633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139665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602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42900" algn="l">
              <a:lnSpc>
                <a:spcPct val="100000"/>
              </a:lnSpc>
              <a:spcBef>
                <a:spcPts val="468"/>
              </a:spcBef>
              <a:spcAft>
                <a:spcPts val="0"/>
              </a:spcAft>
              <a:buSzPct val="100000"/>
              <a:buChar char="•"/>
              <a:defRPr sz="2600"/>
            </a:lvl1pPr>
            <a:lvl2pPr marL="714375" lvl="1" indent="-352425" algn="l">
              <a:lnSpc>
                <a:spcPct val="100000"/>
              </a:lnSpc>
              <a:spcBef>
                <a:spcPts val="468"/>
              </a:spcBef>
              <a:spcAft>
                <a:spcPts val="0"/>
              </a:spcAft>
              <a:buSzPct val="100000"/>
              <a:buFont typeface="Arial" panose="020B0604020202020204" pitchFamily="34" charset="0"/>
              <a:buChar char="–"/>
              <a:defRPr sz="2400" b="0"/>
            </a:lvl2pPr>
            <a:lvl3pPr marL="1076325" lvl="2" indent="-361950" algn="l">
              <a:lnSpc>
                <a:spcPct val="100000"/>
              </a:lnSpc>
              <a:spcBef>
                <a:spcPts val="468"/>
              </a:spcBef>
              <a:spcAft>
                <a:spcPts val="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Tree>
    <p:extLst>
      <p:ext uri="{BB962C8B-B14F-4D97-AF65-F5344CB8AC3E}">
        <p14:creationId xmlns:p14="http://schemas.microsoft.com/office/powerpoint/2010/main" val="4092395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602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503549"/>
          </a:xfrm>
          <a:prstGeom prst="rect">
            <a:avLst/>
          </a:prstGeom>
          <a:noFill/>
          <a:ln>
            <a:noFill/>
          </a:ln>
        </p:spPr>
        <p:txBody>
          <a:bodyPr spcFirstLastPara="1" wrap="square" lIns="91425" tIns="45700" rIns="91425" bIns="45700" anchor="t" anchorCtr="0">
            <a:noAutofit/>
          </a:bodyPr>
          <a:lstStyle>
            <a:lvl1pPr marL="342900" lvl="0" indent="-342900" algn="l">
              <a:lnSpc>
                <a:spcPct val="100000"/>
              </a:lnSpc>
              <a:spcBef>
                <a:spcPts val="468"/>
              </a:spcBef>
              <a:spcAft>
                <a:spcPts val="0"/>
              </a:spcAft>
              <a:buSzPct val="100000"/>
              <a:buChar char="•"/>
              <a:defRPr sz="2600"/>
            </a:lvl1pPr>
            <a:lvl2pPr marL="714375" lvl="1" indent="-352425" algn="l">
              <a:lnSpc>
                <a:spcPct val="100000"/>
              </a:lnSpc>
              <a:spcBef>
                <a:spcPts val="468"/>
              </a:spcBef>
              <a:spcAft>
                <a:spcPts val="0"/>
              </a:spcAft>
              <a:buSzPct val="100000"/>
              <a:buFont typeface="Arial" panose="020B0604020202020204" pitchFamily="34" charset="0"/>
              <a:buChar char="–"/>
              <a:defRPr sz="2400" b="0"/>
            </a:lvl2pPr>
            <a:lvl3pPr marL="1076325" lvl="2" indent="-361950" algn="l">
              <a:lnSpc>
                <a:spcPct val="100000"/>
              </a:lnSpc>
              <a:spcBef>
                <a:spcPts val="468"/>
              </a:spcBef>
              <a:spcAft>
                <a:spcPts val="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
        <p:nvSpPr>
          <p:cNvPr id="3" name="Content Placeholder 2">
            <a:extLst>
              <a:ext uri="{FF2B5EF4-FFF2-40B4-BE49-F238E27FC236}">
                <a16:creationId xmlns:a16="http://schemas.microsoft.com/office/drawing/2014/main" id="{46D21EDC-82B2-107D-428F-F9E00F4C9BE4}"/>
              </a:ext>
            </a:extLst>
          </p:cNvPr>
          <p:cNvSpPr>
            <a:spLocks noGrp="1"/>
          </p:cNvSpPr>
          <p:nvPr>
            <p:ph sz="quarter" idx="10"/>
          </p:nvPr>
        </p:nvSpPr>
        <p:spPr>
          <a:xfrm>
            <a:off x="685800" y="44005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EFA7C830-BEC1-E894-882C-FC4448D271B5}"/>
              </a:ext>
            </a:extLst>
          </p:cNvPr>
          <p:cNvSpPr>
            <a:spLocks noGrp="1"/>
          </p:cNvSpPr>
          <p:nvPr>
            <p:ph sz="quarter" idx="11"/>
          </p:nvPr>
        </p:nvSpPr>
        <p:spPr>
          <a:xfrm>
            <a:off x="2314575" y="44005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EAE8F2AA-E0DA-05B0-3CEC-3359D8489A25}"/>
              </a:ext>
            </a:extLst>
          </p:cNvPr>
          <p:cNvSpPr>
            <a:spLocks noGrp="1"/>
          </p:cNvSpPr>
          <p:nvPr>
            <p:ph type="pic" sz="quarter" idx="12"/>
          </p:nvPr>
        </p:nvSpPr>
        <p:spPr>
          <a:xfrm>
            <a:off x="4191000" y="4495800"/>
            <a:ext cx="914400" cy="914400"/>
          </a:xfrm>
        </p:spPr>
        <p:txBody>
          <a:bodyPr/>
          <a:lstStyle/>
          <a:p>
            <a:endParaRPr lang="en-IN"/>
          </a:p>
        </p:txBody>
      </p:sp>
      <p:sp>
        <p:nvSpPr>
          <p:cNvPr id="9" name="Picture Placeholder 8">
            <a:extLst>
              <a:ext uri="{FF2B5EF4-FFF2-40B4-BE49-F238E27FC236}">
                <a16:creationId xmlns:a16="http://schemas.microsoft.com/office/drawing/2014/main" id="{CC536B5F-2F4D-D2BD-E24C-7F0138BFB835}"/>
              </a:ext>
            </a:extLst>
          </p:cNvPr>
          <p:cNvSpPr>
            <a:spLocks noGrp="1"/>
          </p:cNvSpPr>
          <p:nvPr>
            <p:ph type="pic" sz="quarter" idx="13"/>
          </p:nvPr>
        </p:nvSpPr>
        <p:spPr>
          <a:xfrm>
            <a:off x="5886450" y="4400550"/>
            <a:ext cx="914400" cy="914400"/>
          </a:xfrm>
        </p:spPr>
        <p:txBody>
          <a:bodyPr/>
          <a:lstStyle/>
          <a:p>
            <a:endParaRPr lang="en-IN"/>
          </a:p>
        </p:txBody>
      </p:sp>
      <p:sp>
        <p:nvSpPr>
          <p:cNvPr id="11" name="Table Placeholder 10">
            <a:extLst>
              <a:ext uri="{FF2B5EF4-FFF2-40B4-BE49-F238E27FC236}">
                <a16:creationId xmlns:a16="http://schemas.microsoft.com/office/drawing/2014/main" id="{07665DBE-A0EE-89F5-4985-FD6CEAAA7F60}"/>
              </a:ext>
            </a:extLst>
          </p:cNvPr>
          <p:cNvSpPr>
            <a:spLocks noGrp="1"/>
          </p:cNvSpPr>
          <p:nvPr>
            <p:ph type="tbl" sz="quarter" idx="14"/>
          </p:nvPr>
        </p:nvSpPr>
        <p:spPr>
          <a:xfrm>
            <a:off x="7820025" y="4297363"/>
            <a:ext cx="914400" cy="914400"/>
          </a:xfrm>
        </p:spPr>
        <p:txBody>
          <a:bodyPr/>
          <a:lstStyle/>
          <a:p>
            <a:endParaRPr lang="en-IN"/>
          </a:p>
        </p:txBody>
      </p:sp>
    </p:spTree>
    <p:extLst>
      <p:ext uri="{BB962C8B-B14F-4D97-AF65-F5344CB8AC3E}">
        <p14:creationId xmlns:p14="http://schemas.microsoft.com/office/powerpoint/2010/main" val="2442586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101943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0D336FE-50F2-43B1-8E29-DA1489046407}"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5088FE4E-7896-42C2-A565-469234630387}" type="slidenum">
              <a:rPr lang="en-US" smtClean="0"/>
              <a:pPr/>
              <a:t>‹#›</a:t>
            </a:fld>
            <a:endParaRPr lang="en-US"/>
          </a:p>
        </p:txBody>
      </p:sp>
    </p:spTree>
    <p:extLst>
      <p:ext uri="{BB962C8B-B14F-4D97-AF65-F5344CB8AC3E}">
        <p14:creationId xmlns:p14="http://schemas.microsoft.com/office/powerpoint/2010/main" val="13384219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350"/>
          </a:p>
        </p:txBody>
      </p:sp>
    </p:spTree>
    <p:extLst>
      <p:ext uri="{BB962C8B-B14F-4D97-AF65-F5344CB8AC3E}">
        <p14:creationId xmlns:p14="http://schemas.microsoft.com/office/powerpoint/2010/main" val="3367717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938054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037427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201093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09802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284231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0495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044385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542696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916186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119756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4393922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5821950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82266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04" r:id="rId12"/>
    <p:sldLayoutId id="2147483705"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dirty="0"/>
          </a:p>
        </p:txBody>
      </p:sp>
      <p:pic>
        <p:nvPicPr>
          <p:cNvPr id="12" name="Google Shape;12;p47"/>
          <p:cNvPicPr preferRelativeResize="0"/>
          <p:nvPr/>
        </p:nvPicPr>
        <p:blipFill rotWithShape="1">
          <a:blip r:embed="rId20">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285E7882-9DA7-F2DA-B0CD-C6572FEE2E23}"/>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93084406"/>
      </p:ext>
    </p:extLst>
  </p:cSld>
  <p:clrMap bg1="lt1" tx1="dk1" bg2="dk2" tx2="lt2" accent1="accent1" accent2="accent2" accent3="accent3" accent4="accent4" accent5="accent5" accent6="accent6" hlink="hlink" folHlink="folHlink"/>
  <p:sldLayoutIdLst>
    <p:sldLayoutId id="2147483708" r:id="rId1"/>
    <p:sldLayoutId id="2147483725"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38: Manual Transmission and Transaxles </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E994-894F-C6FA-8803-539E5608EE96}"/>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7EEFB403-6AFA-B504-7238-1E72B6BCBA7C}"/>
              </a:ext>
            </a:extLst>
          </p:cNvPr>
          <p:cNvSpPr>
            <a:spLocks noGrp="1"/>
          </p:cNvSpPr>
          <p:nvPr>
            <p:ph type="body" idx="1"/>
          </p:nvPr>
        </p:nvSpPr>
        <p:spPr/>
        <p:txBody>
          <a:bodyPr/>
          <a:lstStyle/>
          <a:p>
            <a:pPr>
              <a:spcBef>
                <a:spcPts val="624"/>
              </a:spcBef>
              <a:spcAft>
                <a:spcPts val="600"/>
              </a:spcAft>
            </a:pPr>
            <a:r>
              <a:rPr lang="en-US" sz="2600" dirty="0">
                <a:solidFill>
                  <a:schemeClr val="tx1"/>
                </a:solidFill>
                <a:latin typeface="Work Sans" pitchFamily="2" charset="0"/>
              </a:rPr>
              <a:t>38.01 Explain the design characteristics of manual transmissions and transaxles.</a:t>
            </a:r>
          </a:p>
          <a:p>
            <a:pPr>
              <a:spcBef>
                <a:spcPts val="624"/>
              </a:spcBef>
              <a:spcAft>
                <a:spcPts val="600"/>
              </a:spcAft>
            </a:pPr>
            <a:r>
              <a:rPr lang="en-US" sz="2600" dirty="0">
                <a:solidFill>
                  <a:schemeClr val="tx1"/>
                </a:solidFill>
                <a:latin typeface="Work Sans" pitchFamily="2" charset="0"/>
              </a:rPr>
              <a:t>38.02 Explain the design characteristics of the gears used in manual transmissions and transaxles.</a:t>
            </a:r>
          </a:p>
          <a:p>
            <a:pPr>
              <a:spcBef>
                <a:spcPts val="624"/>
              </a:spcBef>
              <a:spcAft>
                <a:spcPts val="600"/>
              </a:spcAft>
            </a:pPr>
            <a:r>
              <a:rPr lang="en-US" sz="2600" dirty="0">
                <a:solidFill>
                  <a:schemeClr val="tx1"/>
                </a:solidFill>
                <a:latin typeface="Work Sans" pitchFamily="2" charset="0"/>
              </a:rPr>
              <a:t>38.03 Explain the fundamentals of torque multiplication and overdrive.</a:t>
            </a:r>
          </a:p>
        </p:txBody>
      </p:sp>
    </p:spTree>
    <p:extLst>
      <p:ext uri="{BB962C8B-B14F-4D97-AF65-F5344CB8AC3E}">
        <p14:creationId xmlns:p14="http://schemas.microsoft.com/office/powerpoint/2010/main" val="1928054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E994-894F-C6FA-8803-539E5608EE96}"/>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7EEFB403-6AFA-B504-7238-1E72B6BCBA7C}"/>
              </a:ext>
            </a:extLst>
          </p:cNvPr>
          <p:cNvSpPr>
            <a:spLocks noGrp="1"/>
          </p:cNvSpPr>
          <p:nvPr>
            <p:ph type="body" idx="1"/>
          </p:nvPr>
        </p:nvSpPr>
        <p:spPr/>
        <p:txBody>
          <a:bodyPr/>
          <a:lstStyle/>
          <a:p>
            <a:pPr>
              <a:spcBef>
                <a:spcPts val="624"/>
              </a:spcBef>
              <a:spcAft>
                <a:spcPts val="600"/>
              </a:spcAft>
            </a:pPr>
            <a:r>
              <a:rPr lang="en-US" sz="2600" dirty="0">
                <a:solidFill>
                  <a:schemeClr val="tx1"/>
                </a:solidFill>
                <a:latin typeface="Work Sans" pitchFamily="2" charset="0"/>
              </a:rPr>
              <a:t>38.04 Describe power flow through forward and reverse gear ranges.</a:t>
            </a:r>
          </a:p>
          <a:p>
            <a:pPr>
              <a:spcBef>
                <a:spcPts val="624"/>
              </a:spcBef>
              <a:spcAft>
                <a:spcPts val="600"/>
              </a:spcAft>
            </a:pPr>
            <a:r>
              <a:rPr lang="en-US" sz="2600" dirty="0">
                <a:solidFill>
                  <a:schemeClr val="tx1"/>
                </a:solidFill>
                <a:latin typeface="Work Sans" pitchFamily="2" charset="0"/>
              </a:rPr>
              <a:t>38.05 Describe the purpose, design, and operation of internal and remote gearshift linkages.</a:t>
            </a:r>
          </a:p>
          <a:p>
            <a:pPr>
              <a:spcBef>
                <a:spcPts val="624"/>
              </a:spcBef>
              <a:spcAft>
                <a:spcPts val="600"/>
              </a:spcAft>
            </a:pPr>
            <a:r>
              <a:rPr lang="en-US" sz="2600" dirty="0">
                <a:solidFill>
                  <a:schemeClr val="tx1"/>
                </a:solidFill>
                <a:latin typeface="Work Sans" pitchFamily="2" charset="0"/>
              </a:rPr>
              <a:t>38.06 Explain the operation of automatically shifted manual transmissions and transaxles.</a:t>
            </a:r>
          </a:p>
        </p:txBody>
      </p:sp>
    </p:spTree>
    <p:extLst>
      <p:ext uri="{BB962C8B-B14F-4D97-AF65-F5344CB8AC3E}">
        <p14:creationId xmlns:p14="http://schemas.microsoft.com/office/powerpoint/2010/main" val="172306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5"/>
          <p:cNvSpPr>
            <a:spLocks noGrp="1"/>
          </p:cNvSpPr>
          <p:nvPr>
            <p:ph type="title"/>
          </p:nvPr>
        </p:nvSpPr>
        <p:spPr/>
        <p:txBody>
          <a:bodyPr/>
          <a:lstStyle/>
          <a:p>
            <a:r>
              <a:rPr lang="en-US" dirty="0"/>
              <a:t>Transmission Versus Transaxle</a:t>
            </a:r>
          </a:p>
        </p:txBody>
      </p:sp>
      <p:sp>
        <p:nvSpPr>
          <p:cNvPr id="4099" name="Content Placeholder 6"/>
          <p:cNvSpPr>
            <a:spLocks noGrp="1"/>
          </p:cNvSpPr>
          <p:nvPr>
            <p:ph type="body" idx="1"/>
          </p:nvPr>
        </p:nvSpPr>
        <p:spPr/>
        <p:txBody>
          <a:bodyPr/>
          <a:lstStyle/>
          <a:p>
            <a:pPr marL="0" indent="0">
              <a:spcBef>
                <a:spcPts val="624"/>
              </a:spcBef>
              <a:spcAft>
                <a:spcPts val="600"/>
              </a:spcAft>
              <a:buNone/>
            </a:pPr>
            <a:r>
              <a:rPr lang="en-US" b="1" dirty="0">
                <a:solidFill>
                  <a:schemeClr val="tx1"/>
                </a:solidFill>
                <a:latin typeface="Work Sans" pitchFamily="2" charset="0"/>
              </a:rPr>
              <a:t>38.01 Explain the design characteristics of manual transmissions and transaxles.</a:t>
            </a:r>
            <a:endParaRPr lang="en-US" dirty="0">
              <a:solidFill>
                <a:schemeClr val="tx1"/>
              </a:solidFill>
            </a:endParaRPr>
          </a:p>
          <a:p>
            <a:pPr>
              <a:spcBef>
                <a:spcPts val="624"/>
              </a:spcBef>
              <a:spcAft>
                <a:spcPts val="600"/>
              </a:spcAft>
            </a:pPr>
            <a:r>
              <a:rPr lang="en-US" dirty="0">
                <a:solidFill>
                  <a:schemeClr val="tx1"/>
                </a:solidFill>
              </a:rPr>
              <a:t>RWD vehicles use a transmission.</a:t>
            </a:r>
          </a:p>
          <a:p>
            <a:pPr lvl="1">
              <a:spcBef>
                <a:spcPts val="624"/>
              </a:spcBef>
              <a:spcAft>
                <a:spcPts val="600"/>
              </a:spcAft>
            </a:pPr>
            <a:r>
              <a:rPr lang="en-US" dirty="0">
                <a:solidFill>
                  <a:schemeClr val="tx1"/>
                </a:solidFill>
              </a:rPr>
              <a:t>A drive shaft links the transmission to the differential and drive axles.</a:t>
            </a:r>
          </a:p>
          <a:p>
            <a:pPr>
              <a:spcBef>
                <a:spcPts val="624"/>
              </a:spcBef>
              <a:spcAft>
                <a:spcPts val="600"/>
              </a:spcAft>
            </a:pPr>
            <a:r>
              <a:rPr lang="en-US" sz="2600" dirty="0">
                <a:solidFill>
                  <a:schemeClr val="tx1"/>
                </a:solidFill>
              </a:rPr>
              <a:t>FWD vehicles use a transaxle.</a:t>
            </a:r>
          </a:p>
          <a:p>
            <a:pPr lvl="1">
              <a:spcBef>
                <a:spcPts val="624"/>
              </a:spcBef>
              <a:spcAft>
                <a:spcPts val="600"/>
              </a:spcAft>
            </a:pPr>
            <a:r>
              <a:rPr lang="en-US" dirty="0">
                <a:solidFill>
                  <a:schemeClr val="tx1"/>
                </a:solidFill>
              </a:rPr>
              <a:t>Combines transmission gearing, differential, and drive axle connections</a:t>
            </a:r>
          </a:p>
          <a:p>
            <a:pPr>
              <a:spcBef>
                <a:spcPts val="624"/>
              </a:spcBef>
              <a:spcAft>
                <a:spcPts val="600"/>
              </a:spcAft>
            </a:pPr>
            <a:r>
              <a:rPr lang="en-US" sz="2600" dirty="0">
                <a:solidFill>
                  <a:schemeClr val="tx1"/>
                </a:solidFill>
              </a:rPr>
              <a:t>4WD vehicles use a transmission and transfer case.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3"/>
          <p:cNvSpPr>
            <a:spLocks noGrp="1"/>
          </p:cNvSpPr>
          <p:nvPr>
            <p:ph type="title"/>
          </p:nvPr>
        </p:nvSpPr>
        <p:spPr/>
        <p:txBody>
          <a:bodyPr/>
          <a:lstStyle/>
          <a:p>
            <a:r>
              <a:rPr lang="en-US" dirty="0"/>
              <a:t>Typical RWD</a:t>
            </a:r>
          </a:p>
        </p:txBody>
      </p:sp>
      <p:pic>
        <p:nvPicPr>
          <p:cNvPr id="9" name="Picture Placeholder 8" descr="An outline of a vehicle with a transmission mounted to the rear of an engine with the following components labeled: Transmission, Driveshaft, and Differential. The enlarged view of both ends of the driveshaft depicts a component labeled Universal joint.">
            <a:extLst>
              <a:ext uri="{FF2B5EF4-FFF2-40B4-BE49-F238E27FC236}">
                <a16:creationId xmlns:a16="http://schemas.microsoft.com/office/drawing/2014/main" id="{822F3F87-8BEC-B0B0-30FA-CBD8C1871280}"/>
              </a:ext>
            </a:extLst>
          </p:cNvPr>
          <p:cNvPicPr>
            <a:picLocks noGrp="1" noChangeAspect="1"/>
          </p:cNvPicPr>
          <p:nvPr>
            <p:ph type="pic" sz="quarter" idx="12"/>
          </p:nvPr>
        </p:nvPicPr>
        <p:blipFill rotWithShape="1">
          <a:blip r:embed="rId3"/>
          <a:srcRect b="12719"/>
          <a:stretch/>
        </p:blipFill>
        <p:spPr>
          <a:xfrm>
            <a:off x="3877135" y="1471393"/>
            <a:ext cx="4437730" cy="43251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Typical FWD</a:t>
            </a:r>
          </a:p>
        </p:txBody>
      </p:sp>
      <p:pic>
        <p:nvPicPr>
          <p:cNvPr id="9" name="Picture Placeholder 8" descr="The location of a typical front-wheel-drive powertrain with the following components labeled: Transaxle, Input cluster shaft, Mainshaft, two Driving axle, Engine, Pinion gear, Differential, and ring gear.">
            <a:extLst>
              <a:ext uri="{FF2B5EF4-FFF2-40B4-BE49-F238E27FC236}">
                <a16:creationId xmlns:a16="http://schemas.microsoft.com/office/drawing/2014/main" id="{9DD7EA4E-D266-01F2-BD43-A94C7C41CAFA}"/>
              </a:ext>
            </a:extLst>
          </p:cNvPr>
          <p:cNvPicPr>
            <a:picLocks noGrp="1" noChangeAspect="1"/>
          </p:cNvPicPr>
          <p:nvPr>
            <p:ph type="pic" sz="quarter" idx="12"/>
          </p:nvPr>
        </p:nvPicPr>
        <p:blipFill rotWithShape="1">
          <a:blip r:embed="rId3"/>
          <a:srcRect b="5412"/>
          <a:stretch/>
        </p:blipFill>
        <p:spPr>
          <a:xfrm>
            <a:off x="3001736" y="1655520"/>
            <a:ext cx="6188528" cy="38926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Transmission Designs</a:t>
            </a:r>
          </a:p>
        </p:txBody>
      </p:sp>
      <p:sp>
        <p:nvSpPr>
          <p:cNvPr id="4" name="Content Placeholder 3"/>
          <p:cNvSpPr>
            <a:spLocks noGrp="1"/>
          </p:cNvSpPr>
          <p:nvPr>
            <p:ph type="body" idx="1"/>
          </p:nvPr>
        </p:nvSpPr>
        <p:spPr>
          <a:xfrm>
            <a:off x="476845" y="1563626"/>
            <a:ext cx="6344085" cy="2503549"/>
          </a:xfrm>
        </p:spPr>
        <p:txBody>
          <a:bodyPr/>
          <a:lstStyle/>
          <a:p>
            <a:pPr>
              <a:spcBef>
                <a:spcPts val="624"/>
              </a:spcBef>
              <a:spcAft>
                <a:spcPts val="600"/>
              </a:spcAft>
            </a:pPr>
            <a:r>
              <a:rPr lang="en-US" sz="2600" dirty="0">
                <a:solidFill>
                  <a:schemeClr val="tx1"/>
                </a:solidFill>
              </a:rPr>
              <a:t>Three to seven gears</a:t>
            </a:r>
          </a:p>
          <a:p>
            <a:pPr>
              <a:spcBef>
                <a:spcPts val="624"/>
              </a:spcBef>
              <a:spcAft>
                <a:spcPts val="600"/>
              </a:spcAft>
            </a:pPr>
            <a:r>
              <a:rPr lang="en-US" sz="2600" dirty="0">
                <a:solidFill>
                  <a:schemeClr val="tx1"/>
                </a:solidFill>
              </a:rPr>
              <a:t>Six speeds are most common.</a:t>
            </a:r>
          </a:p>
          <a:p>
            <a:pPr>
              <a:spcBef>
                <a:spcPts val="624"/>
              </a:spcBef>
              <a:spcAft>
                <a:spcPts val="600"/>
              </a:spcAft>
            </a:pPr>
            <a:r>
              <a:rPr lang="en-US" sz="2600" dirty="0">
                <a:solidFill>
                  <a:schemeClr val="tx1"/>
                </a:solidFill>
              </a:rPr>
              <a:t>At least two gears are overdrive gears.</a:t>
            </a:r>
          </a:p>
        </p:txBody>
      </p:sp>
      <p:pic>
        <p:nvPicPr>
          <p:cNvPr id="10" name="Picture Placeholder 9" descr="A seven-speed transmission design of a Chevrolet C 7 corvette.">
            <a:extLst>
              <a:ext uri="{FF2B5EF4-FFF2-40B4-BE49-F238E27FC236}">
                <a16:creationId xmlns:a16="http://schemas.microsoft.com/office/drawing/2014/main" id="{3BE6B600-298E-E0D8-09F3-E1A6C6F778AD}"/>
              </a:ext>
            </a:extLst>
          </p:cNvPr>
          <p:cNvPicPr>
            <a:picLocks noGrp="1" noChangeAspect="1"/>
          </p:cNvPicPr>
          <p:nvPr>
            <p:ph type="pic" sz="quarter" idx="12"/>
          </p:nvPr>
        </p:nvPicPr>
        <p:blipFill rotWithShape="1">
          <a:blip r:embed="rId2"/>
          <a:srcRect b="9288"/>
          <a:stretch/>
        </p:blipFill>
        <p:spPr>
          <a:xfrm>
            <a:off x="6688115" y="1582546"/>
            <a:ext cx="5189927" cy="40331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5"/>
          <p:cNvSpPr>
            <a:spLocks noGrp="1"/>
          </p:cNvSpPr>
          <p:nvPr>
            <p:ph type="title"/>
          </p:nvPr>
        </p:nvSpPr>
        <p:spPr/>
        <p:txBody>
          <a:bodyPr/>
          <a:lstStyle/>
          <a:p>
            <a:r>
              <a:rPr lang="en-US" dirty="0"/>
              <a:t>Gears</a:t>
            </a:r>
          </a:p>
        </p:txBody>
      </p:sp>
      <p:sp>
        <p:nvSpPr>
          <p:cNvPr id="10243" name="Content Placeholder 6"/>
          <p:cNvSpPr>
            <a:spLocks noGrp="1"/>
          </p:cNvSpPr>
          <p:nvPr>
            <p:ph type="body" idx="1"/>
          </p:nvPr>
        </p:nvSpPr>
        <p:spPr/>
        <p:txBody>
          <a:bodyPr/>
          <a:lstStyle/>
          <a:p>
            <a:pPr marL="0" indent="0">
              <a:spcBef>
                <a:spcPts val="624"/>
              </a:spcBef>
              <a:spcAft>
                <a:spcPts val="600"/>
              </a:spcAft>
              <a:buNone/>
            </a:pPr>
            <a:r>
              <a:rPr lang="en-US" b="1" dirty="0">
                <a:solidFill>
                  <a:schemeClr val="tx1"/>
                </a:solidFill>
                <a:latin typeface="Work Sans" pitchFamily="2" charset="0"/>
              </a:rPr>
              <a:t>38.02 Explain the design characteristics of the gears used in manual transmissions and transaxles.</a:t>
            </a:r>
            <a:endParaRPr lang="en-US" dirty="0">
              <a:solidFill>
                <a:schemeClr val="tx1"/>
              </a:solidFill>
            </a:endParaRPr>
          </a:p>
          <a:p>
            <a:pPr>
              <a:spcBef>
                <a:spcPts val="624"/>
              </a:spcBef>
              <a:spcAft>
                <a:spcPts val="600"/>
              </a:spcAft>
            </a:pPr>
            <a:r>
              <a:rPr lang="en-US" dirty="0">
                <a:solidFill>
                  <a:schemeClr val="tx1"/>
                </a:solidFill>
              </a:rPr>
              <a:t>Transmit rotation motion from one parallel shaft to another</a:t>
            </a:r>
          </a:p>
          <a:p>
            <a:pPr>
              <a:spcBef>
                <a:spcPts val="624"/>
              </a:spcBef>
              <a:spcAft>
                <a:spcPts val="600"/>
              </a:spcAft>
            </a:pPr>
            <a:r>
              <a:rPr lang="en-US" dirty="0">
                <a:solidFill>
                  <a:schemeClr val="tx1"/>
                </a:solidFill>
              </a:rPr>
              <a:t>The shaft can drive the gear, the gear can drive the shaft, or the gear can be free to turn on the shaft.</a:t>
            </a:r>
          </a:p>
          <a:p>
            <a:pPr>
              <a:spcBef>
                <a:spcPts val="624"/>
              </a:spcBef>
              <a:spcAft>
                <a:spcPts val="600"/>
              </a:spcAft>
            </a:pPr>
            <a:r>
              <a:rPr lang="en-US" dirty="0">
                <a:solidFill>
                  <a:schemeClr val="tx1"/>
                </a:solidFill>
              </a:rPr>
              <a:t>Gears can increase or decrease torque and speed.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C0310-7EA9-D99B-7F71-B6F8DC13D820}"/>
              </a:ext>
            </a:extLst>
          </p:cNvPr>
          <p:cNvSpPr>
            <a:spLocks noGrp="1"/>
          </p:cNvSpPr>
          <p:nvPr>
            <p:ph type="title"/>
          </p:nvPr>
        </p:nvSpPr>
        <p:spPr/>
        <p:txBody>
          <a:bodyPr/>
          <a:lstStyle/>
          <a:p>
            <a:r>
              <a:rPr lang="en-IN" dirty="0"/>
              <a:t>The Gear in a Transmission Transmit the Rotating Power</a:t>
            </a:r>
          </a:p>
        </p:txBody>
      </p:sp>
      <p:pic>
        <p:nvPicPr>
          <p:cNvPr id="10" name="Picture Placeholder 9" descr="Several gears on a transmission shaft, transmit the rotating power from the engine.">
            <a:extLst>
              <a:ext uri="{FF2B5EF4-FFF2-40B4-BE49-F238E27FC236}">
                <a16:creationId xmlns:a16="http://schemas.microsoft.com/office/drawing/2014/main" id="{2C41D734-21C4-DADB-04EC-56A30B33D58F}"/>
              </a:ext>
            </a:extLst>
          </p:cNvPr>
          <p:cNvPicPr>
            <a:picLocks noGrp="1" noChangeAspect="1"/>
          </p:cNvPicPr>
          <p:nvPr>
            <p:ph type="pic" sz="quarter" idx="13"/>
          </p:nvPr>
        </p:nvPicPr>
        <p:blipFill rotWithShape="1">
          <a:blip r:embed="rId3"/>
          <a:srcRect b="15768"/>
          <a:stretch/>
        </p:blipFill>
        <p:spPr>
          <a:xfrm>
            <a:off x="2638425" y="1840577"/>
            <a:ext cx="6915150" cy="39511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5"/>
          <p:cNvSpPr>
            <a:spLocks noGrp="1"/>
          </p:cNvSpPr>
          <p:nvPr>
            <p:ph type="title"/>
          </p:nvPr>
        </p:nvSpPr>
        <p:spPr/>
        <p:txBody>
          <a:bodyPr/>
          <a:lstStyle/>
          <a:p>
            <a:r>
              <a:rPr lang="en-US" dirty="0"/>
              <a:t>Gear Design</a:t>
            </a:r>
          </a:p>
        </p:txBody>
      </p:sp>
      <p:sp>
        <p:nvSpPr>
          <p:cNvPr id="11267" name="Content Placeholder 6"/>
          <p:cNvSpPr>
            <a:spLocks noGrp="1"/>
          </p:cNvSpPr>
          <p:nvPr>
            <p:ph type="body" idx="1"/>
          </p:nvPr>
        </p:nvSpPr>
        <p:spPr>
          <a:xfrm>
            <a:off x="476845" y="1563626"/>
            <a:ext cx="6282302" cy="4021628"/>
          </a:xfrm>
        </p:spPr>
        <p:txBody>
          <a:bodyPr/>
          <a:lstStyle/>
          <a:p>
            <a:r>
              <a:rPr lang="en-US" dirty="0">
                <a:solidFill>
                  <a:schemeClr val="tx1"/>
                </a:solidFill>
              </a:rPr>
              <a:t>Gear pitch refers to the number of teeth per unit of pitch diameter.</a:t>
            </a:r>
          </a:p>
          <a:p>
            <a:pPr lvl="1"/>
            <a:r>
              <a:rPr lang="en-US" dirty="0">
                <a:solidFill>
                  <a:schemeClr val="tx1"/>
                </a:solidFill>
              </a:rPr>
              <a:t>Divide the number of teeth by the pitch diameter</a:t>
            </a:r>
          </a:p>
          <a:p>
            <a:r>
              <a:rPr lang="en-US" dirty="0">
                <a:solidFill>
                  <a:schemeClr val="tx1"/>
                </a:solidFill>
              </a:rPr>
              <a:t>Only gears of the same pitch can operate together.</a:t>
            </a:r>
          </a:p>
        </p:txBody>
      </p:sp>
      <p:pic>
        <p:nvPicPr>
          <p:cNvPr id="8" name="Picture Placeholder 7" descr="A spur gear with a double-headed arrow labeled 6-inch diameter runs across its center. A Blue dotted line is drawn along its circumference diagonally opposite to each other, in two places. A label that reads 36 teeth points to the teeth around the circumference. A calculation adjacently reads, Gear pitch: 36 divided by 6 = 6.">
            <a:extLst>
              <a:ext uri="{FF2B5EF4-FFF2-40B4-BE49-F238E27FC236}">
                <a16:creationId xmlns:a16="http://schemas.microsoft.com/office/drawing/2014/main" id="{D343A15D-98A9-C6D8-3CE8-27174E1F39BF}"/>
              </a:ext>
            </a:extLst>
          </p:cNvPr>
          <p:cNvPicPr>
            <a:picLocks noGrp="1" noChangeAspect="1"/>
          </p:cNvPicPr>
          <p:nvPr>
            <p:ph type="pic" sz="quarter" idx="13"/>
          </p:nvPr>
        </p:nvPicPr>
        <p:blipFill rotWithShape="1">
          <a:blip r:embed="rId3"/>
          <a:srcRect b="8482"/>
          <a:stretch/>
        </p:blipFill>
        <p:spPr>
          <a:xfrm>
            <a:off x="7073940" y="1939918"/>
            <a:ext cx="4430793" cy="29533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lstStyle/>
          <a:p>
            <a:r>
              <a:rPr lang="en-US" dirty="0"/>
              <a:t>Gear Designs </a:t>
            </a:r>
          </a:p>
        </p:txBody>
      </p:sp>
      <p:sp>
        <p:nvSpPr>
          <p:cNvPr id="13315" name="Content Placeholder 6"/>
          <p:cNvSpPr>
            <a:spLocks noGrp="1"/>
          </p:cNvSpPr>
          <p:nvPr>
            <p:ph type="body" idx="1"/>
          </p:nvPr>
        </p:nvSpPr>
        <p:spPr/>
        <p:txBody>
          <a:bodyPr/>
          <a:lstStyle/>
          <a:p>
            <a:pPr>
              <a:spcBef>
                <a:spcPts val="624"/>
              </a:spcBef>
              <a:spcAft>
                <a:spcPts val="600"/>
              </a:spcAft>
            </a:pPr>
            <a:r>
              <a:rPr lang="en-US" sz="2600" dirty="0">
                <a:solidFill>
                  <a:schemeClr val="tx1"/>
                </a:solidFill>
              </a:rPr>
              <a:t>Spur Gears</a:t>
            </a:r>
          </a:p>
          <a:p>
            <a:pPr lvl="1">
              <a:spcBef>
                <a:spcPts val="624"/>
              </a:spcBef>
              <a:spcAft>
                <a:spcPts val="600"/>
              </a:spcAft>
            </a:pPr>
            <a:r>
              <a:rPr lang="en-US" dirty="0">
                <a:solidFill>
                  <a:schemeClr val="tx1"/>
                </a:solidFill>
              </a:rPr>
              <a:t>Simplest design, tooth contact causes clicking</a:t>
            </a:r>
          </a:p>
          <a:p>
            <a:pPr>
              <a:spcBef>
                <a:spcPts val="624"/>
              </a:spcBef>
              <a:spcAft>
                <a:spcPts val="600"/>
              </a:spcAft>
            </a:pPr>
            <a:r>
              <a:rPr lang="en-US" sz="2600" dirty="0">
                <a:solidFill>
                  <a:schemeClr val="tx1"/>
                </a:solidFill>
              </a:rPr>
              <a:t>Helical Gears</a:t>
            </a:r>
          </a:p>
          <a:p>
            <a:pPr lvl="1">
              <a:spcBef>
                <a:spcPts val="624"/>
              </a:spcBef>
              <a:spcAft>
                <a:spcPts val="600"/>
              </a:spcAft>
            </a:pPr>
            <a:r>
              <a:rPr lang="en-US" dirty="0">
                <a:solidFill>
                  <a:schemeClr val="tx1"/>
                </a:solidFill>
              </a:rPr>
              <a:t>Can be right or left handed</a:t>
            </a:r>
          </a:p>
          <a:p>
            <a:pPr lvl="1">
              <a:spcBef>
                <a:spcPts val="624"/>
              </a:spcBef>
              <a:spcAft>
                <a:spcPts val="600"/>
              </a:spcAft>
            </a:pPr>
            <a:r>
              <a:rPr lang="en-US" dirty="0">
                <a:solidFill>
                  <a:schemeClr val="tx1"/>
                </a:solidFill>
              </a:rPr>
              <a:t>Allows for two or more teeth to mesh at the same time</a:t>
            </a:r>
          </a:p>
          <a:p>
            <a:pPr>
              <a:spcBef>
                <a:spcPts val="624"/>
              </a:spcBef>
              <a:spcAft>
                <a:spcPts val="600"/>
              </a:spcAft>
            </a:pPr>
            <a:r>
              <a:rPr lang="en-US" sz="2600" dirty="0">
                <a:solidFill>
                  <a:schemeClr val="tx1"/>
                </a:solidFill>
              </a:rPr>
              <a:t>Idler Gears</a:t>
            </a:r>
          </a:p>
          <a:p>
            <a:pPr lvl="1">
              <a:spcBef>
                <a:spcPts val="624"/>
              </a:spcBef>
              <a:spcAft>
                <a:spcPts val="600"/>
              </a:spcAft>
            </a:pPr>
            <a:r>
              <a:rPr lang="en-US" dirty="0">
                <a:solidFill>
                  <a:schemeClr val="tx1"/>
                </a:solidFill>
              </a:rPr>
              <a:t>Placed between the drive and driven gears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Helical Gears</a:t>
            </a:r>
          </a:p>
        </p:txBody>
      </p:sp>
      <p:pic>
        <p:nvPicPr>
          <p:cNvPr id="10" name="Picture Placeholder 9" descr="Helical gears depict the teeth cut at an angle to the axis of the rotation of the gear.">
            <a:extLst>
              <a:ext uri="{FF2B5EF4-FFF2-40B4-BE49-F238E27FC236}">
                <a16:creationId xmlns:a16="http://schemas.microsoft.com/office/drawing/2014/main" id="{40BE2BD9-9319-5A6B-D8DB-8F951302A5C7}"/>
              </a:ext>
            </a:extLst>
          </p:cNvPr>
          <p:cNvPicPr>
            <a:picLocks noGrp="1" noChangeAspect="1"/>
          </p:cNvPicPr>
          <p:nvPr>
            <p:ph type="pic" sz="quarter" idx="13"/>
          </p:nvPr>
        </p:nvPicPr>
        <p:blipFill rotWithShape="1">
          <a:blip r:embed="rId3"/>
          <a:srcRect b="11305"/>
          <a:stretch/>
        </p:blipFill>
        <p:spPr>
          <a:xfrm>
            <a:off x="3134916" y="1513676"/>
            <a:ext cx="5922168" cy="42021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Idler Gear</a:t>
            </a:r>
          </a:p>
        </p:txBody>
      </p:sp>
      <p:pic>
        <p:nvPicPr>
          <p:cNvPr id="9" name="Picture Placeholder 8" descr="Three gears are connected as follows: The first and the third gears are labeled input and output respectively while the center gear is labeled idler. The teeth of the first and the third gears are lodged into the grooves of the center gear. The first and the third gears rotate clockwise while the second gear rotates counterclockwise.">
            <a:extLst>
              <a:ext uri="{FF2B5EF4-FFF2-40B4-BE49-F238E27FC236}">
                <a16:creationId xmlns:a16="http://schemas.microsoft.com/office/drawing/2014/main" id="{C2D924AC-2AEA-3BB1-1CE7-C92D8759BDFC}"/>
              </a:ext>
            </a:extLst>
          </p:cNvPr>
          <p:cNvPicPr>
            <a:picLocks noGrp="1" noChangeAspect="1"/>
          </p:cNvPicPr>
          <p:nvPr>
            <p:ph type="pic" sz="quarter" idx="13"/>
          </p:nvPr>
        </p:nvPicPr>
        <p:blipFill rotWithShape="1">
          <a:blip r:embed="rId3"/>
          <a:srcRect b="17623"/>
          <a:stretch/>
        </p:blipFill>
        <p:spPr>
          <a:xfrm>
            <a:off x="2431451" y="1647142"/>
            <a:ext cx="7329099" cy="31596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Definition of Gear Ratios</a:t>
            </a:r>
          </a:p>
        </p:txBody>
      </p:sp>
      <p:sp>
        <p:nvSpPr>
          <p:cNvPr id="17411" name="Rectangle 3"/>
          <p:cNvSpPr>
            <a:spLocks noGrp="1" noChangeArrowheads="1"/>
          </p:cNvSpPr>
          <p:nvPr>
            <p:ph type="body" idx="1"/>
          </p:nvPr>
        </p:nvSpPr>
        <p:spPr>
          <a:xfrm>
            <a:off x="476845" y="1563626"/>
            <a:ext cx="7023706" cy="4009271"/>
          </a:xfrm>
        </p:spPr>
        <p:txBody>
          <a:bodyPr/>
          <a:lstStyle/>
          <a:p>
            <a:pPr marL="0" indent="0">
              <a:spcBef>
                <a:spcPts val="624"/>
              </a:spcBef>
              <a:spcAft>
                <a:spcPts val="600"/>
              </a:spcAft>
              <a:buNone/>
            </a:pPr>
            <a:r>
              <a:rPr lang="en-US" b="1" dirty="0">
                <a:solidFill>
                  <a:schemeClr val="tx1"/>
                </a:solidFill>
                <a:latin typeface="Work Sans" pitchFamily="2" charset="0"/>
              </a:rPr>
              <a:t>38-03 Explain the fundamentals of torque multiplication and overdrive.</a:t>
            </a:r>
            <a:endParaRPr lang="en-US" dirty="0">
              <a:solidFill>
                <a:schemeClr val="tx1"/>
              </a:solidFill>
            </a:endParaRPr>
          </a:p>
          <a:p>
            <a:pPr>
              <a:spcBef>
                <a:spcPts val="624"/>
              </a:spcBef>
              <a:spcAft>
                <a:spcPts val="600"/>
              </a:spcAft>
            </a:pPr>
            <a:r>
              <a:rPr lang="en-US" dirty="0">
                <a:solidFill>
                  <a:schemeClr val="tx1"/>
                </a:solidFill>
              </a:rPr>
              <a:t>Express the mathematical relationship of one gear to another</a:t>
            </a:r>
          </a:p>
          <a:p>
            <a:pPr>
              <a:spcBef>
                <a:spcPts val="624"/>
              </a:spcBef>
              <a:spcAft>
                <a:spcPts val="600"/>
              </a:spcAft>
            </a:pPr>
            <a:r>
              <a:rPr lang="en-US" dirty="0">
                <a:solidFill>
                  <a:schemeClr val="tx1"/>
                </a:solidFill>
              </a:rPr>
              <a:t>Express the amount of torque multiplication between gears</a:t>
            </a:r>
          </a:p>
          <a:p>
            <a:pPr>
              <a:spcBef>
                <a:spcPts val="624"/>
              </a:spcBef>
              <a:spcAft>
                <a:spcPts val="600"/>
              </a:spcAft>
            </a:pPr>
            <a:r>
              <a:rPr lang="en-US" dirty="0">
                <a:solidFill>
                  <a:schemeClr val="tx1"/>
                </a:solidFill>
              </a:rPr>
              <a:t>Tell how many times one gear turns in relation to the other</a:t>
            </a:r>
          </a:p>
        </p:txBody>
      </p:sp>
      <p:pic>
        <p:nvPicPr>
          <p:cNvPr id="10" name="Picture Placeholder 9" descr="Two illustrations labeled (A), and (B). Illustration (A) Lower gears allow for lower vehicle speeds but more torque. A small gear labeled Drive gear 20 Teeth and a big gear labeled Driven Gear 40 Teeth are meshed. The small gear rotates clockwise at a speed of 10 feet-pounds at 1000 R P M while the big gear rotates counterclockwise at a speed of 20 feet-pounds at 500 R P M. Gear reduction is 2 is to 1. (Illustration B) Higher gears decrease engine speed but reduce torque. A big gear labeled Drive Gear 40 Teeth and a small gear labeled Driven Gear 20 Teeth are meshed. The big gear rotates clockwise at a speed of 20 feet-pounds at 500 R P M while the small gear rotates counterclockwise at a speed of 10 feet-pounds at 1000 R P M. Overdrive is 0.5 is to 1.">
            <a:extLst>
              <a:ext uri="{FF2B5EF4-FFF2-40B4-BE49-F238E27FC236}">
                <a16:creationId xmlns:a16="http://schemas.microsoft.com/office/drawing/2014/main" id="{6B3898F9-EBBB-F567-59DA-BE9425E9C9BA}"/>
              </a:ext>
            </a:extLst>
          </p:cNvPr>
          <p:cNvPicPr>
            <a:picLocks noGrp="1" noChangeAspect="1"/>
          </p:cNvPicPr>
          <p:nvPr>
            <p:ph type="pic" sz="quarter" idx="13"/>
          </p:nvPr>
        </p:nvPicPr>
        <p:blipFill rotWithShape="1">
          <a:blip r:embed="rId3"/>
          <a:srcRect b="8683"/>
          <a:stretch/>
        </p:blipFill>
        <p:spPr>
          <a:xfrm>
            <a:off x="8178220" y="1640994"/>
            <a:ext cx="2757002" cy="42889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Calculating Transmission Gear Ratios</a:t>
            </a:r>
          </a:p>
        </p:txBody>
      </p:sp>
      <p:sp>
        <p:nvSpPr>
          <p:cNvPr id="19459" name="Rectangle 3"/>
          <p:cNvSpPr>
            <a:spLocks noGrp="1" noChangeArrowheads="1"/>
          </p:cNvSpPr>
          <p:nvPr>
            <p:ph type="body" idx="1"/>
          </p:nvPr>
        </p:nvSpPr>
        <p:spPr/>
        <p:txBody>
          <a:bodyPr/>
          <a:lstStyle/>
          <a:p>
            <a:pPr marL="444500" indent="-444500">
              <a:spcBef>
                <a:spcPts val="624"/>
              </a:spcBef>
              <a:spcAft>
                <a:spcPts val="600"/>
              </a:spcAft>
              <a:buFontTx/>
              <a:buAutoNum type="arabicPeriod"/>
            </a:pPr>
            <a:r>
              <a:rPr lang="en-US" sz="2600" dirty="0">
                <a:solidFill>
                  <a:schemeClr val="tx1"/>
                </a:solidFill>
              </a:rPr>
              <a:t>Calculate the ratio of the first set of gears by dividing the driven (output) gear by the drive (input) gear.</a:t>
            </a:r>
          </a:p>
          <a:p>
            <a:pPr marL="444500" indent="-444500">
              <a:spcBef>
                <a:spcPts val="624"/>
              </a:spcBef>
              <a:spcAft>
                <a:spcPts val="600"/>
              </a:spcAft>
              <a:buFontTx/>
              <a:buAutoNum type="arabicPeriod"/>
            </a:pPr>
            <a:r>
              <a:rPr lang="en-US" sz="2600" dirty="0">
                <a:solidFill>
                  <a:schemeClr val="tx1"/>
                </a:solidFill>
              </a:rPr>
              <a:t>Do the same for the second set of gears.</a:t>
            </a:r>
          </a:p>
          <a:p>
            <a:pPr marL="444500" indent="-444500">
              <a:spcBef>
                <a:spcPts val="624"/>
              </a:spcBef>
              <a:spcAft>
                <a:spcPts val="600"/>
              </a:spcAft>
              <a:buFontTx/>
              <a:buAutoNum type="arabicPeriod"/>
            </a:pPr>
            <a:r>
              <a:rPr lang="en-US" sz="2600" dirty="0">
                <a:solidFill>
                  <a:schemeClr val="tx1"/>
                </a:solidFill>
              </a:rPr>
              <a:t>Multiply the answer from the first calculation with the answer from the second calculation.</a:t>
            </a:r>
          </a:p>
          <a:p>
            <a:pPr marL="85725" indent="0">
              <a:spcBef>
                <a:spcPts val="624"/>
              </a:spcBef>
              <a:spcAft>
                <a:spcPts val="600"/>
              </a:spcAft>
              <a:buNone/>
            </a:pPr>
            <a:r>
              <a:rPr lang="en-US" sz="2600" dirty="0">
                <a:solidFill>
                  <a:schemeClr val="tx1"/>
                </a:solidFill>
              </a:rPr>
              <a:t>Driven A/Drive A x Driven B/Drive B = Ratio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A654FA-0447-D65E-43E0-457DBBEAA6FC}"/>
              </a:ext>
            </a:extLst>
          </p:cNvPr>
          <p:cNvSpPr>
            <a:spLocks noGrp="1"/>
          </p:cNvSpPr>
          <p:nvPr>
            <p:ph type="title"/>
          </p:nvPr>
        </p:nvSpPr>
        <p:spPr/>
        <p:txBody>
          <a:bodyPr/>
          <a:lstStyle/>
          <a:p>
            <a:r>
              <a:rPr lang="en-US" dirty="0">
                <a:latin typeface="Work Sans" pitchFamily="2" charset="0"/>
              </a:rPr>
              <a:t>Reverse Gear Ratio</a:t>
            </a:r>
            <a:endParaRPr lang="en-IN" dirty="0"/>
          </a:p>
        </p:txBody>
      </p:sp>
      <p:pic>
        <p:nvPicPr>
          <p:cNvPr id="11" name="Picture Placeholder 10" descr="The placement and operation of the reverse idler gear using three externally meshed gears that rotate in opposite directions. A big, medium, and small gear have their teeth fixed to the groove. The smallest gear at the top left labeled Driving gear has 12 teeth and rotates in a counterclockwise direction. The smallest gear has two of its teeth meshed with the medium-sized gear labeled reverse idler gear with 20 teeth and rotates in a clockwise direction. The medium-sized gear has two of its teeth meshed with the biggest gear labeled Driven gear with 40 teeth, and rotates in a counterclockwise direction. The text below reads, Gear ratio = 3.33 is to 1.">
            <a:extLst>
              <a:ext uri="{FF2B5EF4-FFF2-40B4-BE49-F238E27FC236}">
                <a16:creationId xmlns:a16="http://schemas.microsoft.com/office/drawing/2014/main" id="{FB3F4741-DBA1-B92C-3350-8F125E5AC715}"/>
              </a:ext>
            </a:extLst>
          </p:cNvPr>
          <p:cNvPicPr>
            <a:picLocks noGrp="1" noChangeAspect="1"/>
          </p:cNvPicPr>
          <p:nvPr>
            <p:ph type="pic" sz="quarter" idx="13"/>
          </p:nvPr>
        </p:nvPicPr>
        <p:blipFill rotWithShape="1">
          <a:blip r:embed="rId3"/>
          <a:srcRect b="9409"/>
          <a:stretch/>
        </p:blipFill>
        <p:spPr>
          <a:xfrm>
            <a:off x="3595728" y="1574926"/>
            <a:ext cx="5000545" cy="43337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2)</a:t>
            </a:r>
          </a:p>
        </p:txBody>
      </p:sp>
      <p:sp>
        <p:nvSpPr>
          <p:cNvPr id="3" name="Content Placeholder 2"/>
          <p:cNvSpPr>
            <a:spLocks noGrp="1"/>
          </p:cNvSpPr>
          <p:nvPr>
            <p:ph type="body" idx="1"/>
          </p:nvPr>
        </p:nvSpPr>
        <p:spPr/>
        <p:txBody>
          <a:bodyPr/>
          <a:lstStyle/>
          <a:p>
            <a:pPr marL="85725" indent="0">
              <a:buNone/>
            </a:pPr>
            <a:r>
              <a:rPr lang="en-US" sz="2600" dirty="0"/>
              <a:t>Technician A says a gear ratio of 3.5:1 is an overdrive ratio.</a:t>
            </a:r>
          </a:p>
          <a:p>
            <a:pPr marL="85725" indent="0">
              <a:spcBef>
                <a:spcPts val="624"/>
              </a:spcBef>
              <a:spcAft>
                <a:spcPts val="1800"/>
              </a:spcAft>
              <a:buNone/>
            </a:pPr>
            <a:r>
              <a:rPr lang="en-US" sz="2600" dirty="0"/>
              <a:t>Technician B says a gear ratio of 0.85:1 is an overdrive ratio.</a:t>
            </a:r>
          </a:p>
          <a:p>
            <a:pPr marL="85725" indent="0">
              <a:buNone/>
            </a:pPr>
            <a:r>
              <a:rPr lang="en-US" sz="2600" dirty="0"/>
              <a:t>Who is correct?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2)</a:t>
            </a:r>
          </a:p>
        </p:txBody>
      </p:sp>
      <p:sp>
        <p:nvSpPr>
          <p:cNvPr id="3" name="Content Placeholder 2"/>
          <p:cNvSpPr>
            <a:spLocks noGrp="1"/>
          </p:cNvSpPr>
          <p:nvPr>
            <p:ph type="body" idx="1"/>
          </p:nvPr>
        </p:nvSpPr>
        <p:spPr/>
        <p:txBody>
          <a:bodyPr/>
          <a:lstStyle/>
          <a:p>
            <a:pPr marL="85725" indent="0">
              <a:spcBef>
                <a:spcPts val="624"/>
              </a:spcBef>
              <a:buNone/>
            </a:pPr>
            <a:r>
              <a:rPr lang="en-US" sz="2600" dirty="0">
                <a:solidFill>
                  <a:schemeClr val="tx1"/>
                </a:solidFill>
              </a:rPr>
              <a:t>Technician A says a gear ratio of 3.5:1 is an overdrive ratio.</a:t>
            </a:r>
          </a:p>
          <a:p>
            <a:pPr marL="85725" indent="0">
              <a:spcBef>
                <a:spcPts val="624"/>
              </a:spcBef>
              <a:spcAft>
                <a:spcPts val="1200"/>
              </a:spcAft>
              <a:buNone/>
            </a:pPr>
            <a:r>
              <a:rPr lang="en-US" sz="2600" dirty="0">
                <a:solidFill>
                  <a:schemeClr val="tx1"/>
                </a:solidFill>
              </a:rPr>
              <a:t>Technician B says a gear ratio of 0.85:1 is an overdrive ratio.</a:t>
            </a:r>
          </a:p>
          <a:p>
            <a:pPr marL="85725" indent="0">
              <a:spcBef>
                <a:spcPts val="624"/>
              </a:spcBef>
              <a:spcAft>
                <a:spcPts val="1800"/>
              </a:spcAft>
              <a:buNone/>
            </a:pPr>
            <a:r>
              <a:rPr lang="en-US" sz="2600" dirty="0">
                <a:solidFill>
                  <a:schemeClr val="tx1"/>
                </a:solidFill>
              </a:rPr>
              <a:t>Who is correct?</a:t>
            </a:r>
          </a:p>
          <a:p>
            <a:pPr marL="85725" indent="0">
              <a:spcBef>
                <a:spcPts val="624"/>
              </a:spcBef>
              <a:buNone/>
            </a:pPr>
            <a:r>
              <a:rPr lang="en-US" sz="2600" b="1" dirty="0">
                <a:solidFill>
                  <a:schemeClr val="tx1"/>
                </a:solidFill>
              </a:rPr>
              <a:t>Answer: </a:t>
            </a:r>
            <a:r>
              <a:rPr lang="en-US" sz="2600" dirty="0">
                <a:solidFill>
                  <a:schemeClr val="tx1"/>
                </a:solidFill>
              </a:rPr>
              <a:t>Technician B only</a:t>
            </a:r>
          </a:p>
        </p:txBody>
      </p:sp>
    </p:spTree>
    <p:extLst>
      <p:ext uri="{BB962C8B-B14F-4D97-AF65-F5344CB8AC3E}">
        <p14:creationId xmlns:p14="http://schemas.microsoft.com/office/powerpoint/2010/main" val="3808988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Transmission and Transaxle Design</a:t>
            </a:r>
          </a:p>
        </p:txBody>
      </p:sp>
      <p:sp>
        <p:nvSpPr>
          <p:cNvPr id="8195" name="Rectangle 3"/>
          <p:cNvSpPr>
            <a:spLocks noGrp="1" noChangeArrowheads="1"/>
          </p:cNvSpPr>
          <p:nvPr>
            <p:ph type="body" idx="1"/>
          </p:nvPr>
        </p:nvSpPr>
        <p:spPr/>
        <p:txBody>
          <a:bodyPr/>
          <a:lstStyle/>
          <a:p>
            <a:pPr>
              <a:spcBef>
                <a:spcPts val="624"/>
              </a:spcBef>
              <a:spcAft>
                <a:spcPts val="600"/>
              </a:spcAft>
            </a:pPr>
            <a:r>
              <a:rPr lang="en-US" sz="2600" dirty="0">
                <a:solidFill>
                  <a:schemeClr val="tx1"/>
                </a:solidFill>
              </a:rPr>
              <a:t>Synchromesh Transmissions</a:t>
            </a:r>
          </a:p>
          <a:p>
            <a:pPr lvl="1">
              <a:spcBef>
                <a:spcPts val="624"/>
              </a:spcBef>
              <a:spcAft>
                <a:spcPts val="600"/>
              </a:spcAft>
            </a:pPr>
            <a:r>
              <a:rPr lang="en-US" dirty="0">
                <a:solidFill>
                  <a:schemeClr val="tx1"/>
                </a:solidFill>
              </a:rPr>
              <a:t>Gears are constant mesh and collar shifted.</a:t>
            </a:r>
          </a:p>
          <a:p>
            <a:pPr lvl="1">
              <a:spcBef>
                <a:spcPts val="624"/>
              </a:spcBef>
              <a:spcAft>
                <a:spcPts val="600"/>
              </a:spcAft>
            </a:pPr>
            <a:r>
              <a:rPr lang="en-US" dirty="0">
                <a:solidFill>
                  <a:schemeClr val="tx1"/>
                </a:solidFill>
              </a:rPr>
              <a:t>Collars are equipped with synchronizers.</a:t>
            </a:r>
          </a:p>
          <a:p>
            <a:pPr lvl="1">
              <a:spcBef>
                <a:spcPts val="624"/>
              </a:spcBef>
              <a:spcAft>
                <a:spcPts val="600"/>
              </a:spcAft>
            </a:pPr>
            <a:r>
              <a:rPr lang="en-US" dirty="0">
                <a:solidFill>
                  <a:schemeClr val="tx1"/>
                </a:solidFill>
              </a:rPr>
              <a:t>Synchronizers eliminate the need to equalize gear speeds before engagement.</a:t>
            </a:r>
          </a:p>
          <a:p>
            <a:pPr lvl="1">
              <a:spcBef>
                <a:spcPts val="624"/>
              </a:spcBef>
              <a:spcAft>
                <a:spcPts val="600"/>
              </a:spcAft>
            </a:pPr>
            <a:r>
              <a:rPr lang="en-US" dirty="0">
                <a:solidFill>
                  <a:schemeClr val="tx1"/>
                </a:solidFill>
              </a:rPr>
              <a:t>They are used on all current models of cars.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Transmission Features</a:t>
            </a:r>
          </a:p>
        </p:txBody>
      </p:sp>
      <p:pic>
        <p:nvPicPr>
          <p:cNvPr id="10" name="Picture Placeholder 9" descr="The arrangement of the gears and shafts in a typical five-speed transmission. The following components are labeled: Output shaft, Speedometer gear, Input shaft, Input (clutch) gear (fourth gear), Input (clutch) gear, Countershaft, Third gear, 3–4 Synchronizer, Second gear, 1–2 Synchronizer, First gear, Fifth gear, Second gear, Reverse gear, Reverse idler gear, and Fifth gear synchronizer.">
            <a:extLst>
              <a:ext uri="{FF2B5EF4-FFF2-40B4-BE49-F238E27FC236}">
                <a16:creationId xmlns:a16="http://schemas.microsoft.com/office/drawing/2014/main" id="{21989A1A-FA02-F23B-45BC-E744669CD36C}"/>
              </a:ext>
            </a:extLst>
          </p:cNvPr>
          <p:cNvPicPr>
            <a:picLocks noGrp="1" noChangeAspect="1"/>
          </p:cNvPicPr>
          <p:nvPr>
            <p:ph type="pic" sz="quarter" idx="13"/>
          </p:nvPr>
        </p:nvPicPr>
        <p:blipFill>
          <a:blip r:embed="rId3"/>
          <a:srcRect b="4735"/>
          <a:stretch/>
        </p:blipFill>
        <p:spPr>
          <a:xfrm>
            <a:off x="2692310" y="1712518"/>
            <a:ext cx="6807381" cy="415042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Transaxle Features</a:t>
            </a:r>
          </a:p>
        </p:txBody>
      </p:sp>
      <p:pic>
        <p:nvPicPr>
          <p:cNvPr id="9" name="Picture Placeholder 8" descr="A structure of a transaxle with three gear shafts with the following components labeled: Driveshaft, Input cluster gear shaft, Main shaft, Fifth speed gear, Fifth synchronizer, Fifth gear driveshaft pinion gear, and Final drive.">
            <a:extLst>
              <a:ext uri="{FF2B5EF4-FFF2-40B4-BE49-F238E27FC236}">
                <a16:creationId xmlns:a16="http://schemas.microsoft.com/office/drawing/2014/main" id="{3CB059FC-AB79-48C9-E6FD-1F6129FF47C0}"/>
              </a:ext>
            </a:extLst>
          </p:cNvPr>
          <p:cNvPicPr>
            <a:picLocks noGrp="1" noChangeAspect="1"/>
          </p:cNvPicPr>
          <p:nvPr>
            <p:ph type="pic" sz="quarter" idx="13"/>
          </p:nvPr>
        </p:nvPicPr>
        <p:blipFill rotWithShape="1">
          <a:blip r:embed="rId3"/>
          <a:srcRect b="4770"/>
          <a:stretch/>
        </p:blipFill>
        <p:spPr>
          <a:xfrm>
            <a:off x="4090429" y="1492879"/>
            <a:ext cx="4074643" cy="417132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Synchronizers</a:t>
            </a:r>
          </a:p>
        </p:txBody>
      </p:sp>
      <p:sp>
        <p:nvSpPr>
          <p:cNvPr id="23555" name="Rectangle 3"/>
          <p:cNvSpPr>
            <a:spLocks noGrp="1" noChangeArrowheads="1"/>
          </p:cNvSpPr>
          <p:nvPr>
            <p:ph type="body" idx="1"/>
          </p:nvPr>
        </p:nvSpPr>
        <p:spPr/>
        <p:txBody>
          <a:bodyPr/>
          <a:lstStyle/>
          <a:p>
            <a:pPr>
              <a:spcBef>
                <a:spcPts val="624"/>
              </a:spcBef>
              <a:spcAft>
                <a:spcPts val="600"/>
              </a:spcAft>
            </a:pPr>
            <a:r>
              <a:rPr lang="en-US" sz="2600" dirty="0">
                <a:solidFill>
                  <a:schemeClr val="tx1"/>
                </a:solidFill>
              </a:rPr>
              <a:t>Brings components at different speeds to one synchronized speed.</a:t>
            </a:r>
          </a:p>
          <a:p>
            <a:pPr>
              <a:spcBef>
                <a:spcPts val="624"/>
              </a:spcBef>
              <a:spcAft>
                <a:spcPts val="600"/>
              </a:spcAft>
            </a:pPr>
            <a:r>
              <a:rPr lang="en-US" sz="2600" dirty="0">
                <a:solidFill>
                  <a:schemeClr val="tx1"/>
                </a:solidFill>
              </a:rPr>
              <a:t>Locks the pinion shaft and speed gear.</a:t>
            </a:r>
          </a:p>
          <a:p>
            <a:pPr>
              <a:spcBef>
                <a:spcPts val="624"/>
              </a:spcBef>
              <a:spcAft>
                <a:spcPts val="600"/>
              </a:spcAft>
            </a:pPr>
            <a:r>
              <a:rPr lang="en-US" sz="2600" dirty="0">
                <a:solidFill>
                  <a:schemeClr val="tx1"/>
                </a:solidFill>
              </a:rPr>
              <a:t>May have spur gear teeth cut into outside and act as reverse gear.</a:t>
            </a:r>
          </a:p>
          <a:p>
            <a:pPr>
              <a:spcBef>
                <a:spcPts val="624"/>
              </a:spcBef>
              <a:spcAft>
                <a:spcPts val="600"/>
              </a:spcAft>
            </a:pPr>
            <a:r>
              <a:rPr lang="en-US" sz="2600" dirty="0">
                <a:solidFill>
                  <a:schemeClr val="tx1"/>
                </a:solidFill>
              </a:rPr>
              <a:t>All forward gears synchronized in modern transmissions/transaxles.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Synchronizer Assembly</a:t>
            </a:r>
          </a:p>
        </p:txBody>
      </p:sp>
      <p:pic>
        <p:nvPicPr>
          <p:cNvPr id="10" name="Picture Placeholder 9" descr="An exploded view of a blocking ring-type synchronizer assembly with the following components labeled as follows: Blocking ring, Lock rings, Synchronizer sleeve, Hub, and Inserts.">
            <a:extLst>
              <a:ext uri="{FF2B5EF4-FFF2-40B4-BE49-F238E27FC236}">
                <a16:creationId xmlns:a16="http://schemas.microsoft.com/office/drawing/2014/main" id="{9CF5F86A-C7E9-6758-B1B6-C9214F5AF16C}"/>
              </a:ext>
            </a:extLst>
          </p:cNvPr>
          <p:cNvPicPr>
            <a:picLocks noGrp="1" noChangeAspect="1"/>
          </p:cNvPicPr>
          <p:nvPr>
            <p:ph type="pic" sz="quarter" idx="12"/>
          </p:nvPr>
        </p:nvPicPr>
        <p:blipFill rotWithShape="1">
          <a:blip r:embed="rId3"/>
          <a:srcRect b="15008"/>
          <a:stretch/>
        </p:blipFill>
        <p:spPr>
          <a:xfrm>
            <a:off x="2711850" y="1735809"/>
            <a:ext cx="6768300" cy="354739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Block or Cone Synchronizers</a:t>
            </a:r>
          </a:p>
        </p:txBody>
      </p:sp>
      <p:sp>
        <p:nvSpPr>
          <p:cNvPr id="25603" name="Rectangle 3"/>
          <p:cNvSpPr>
            <a:spLocks noGrp="1" noChangeArrowheads="1"/>
          </p:cNvSpPr>
          <p:nvPr>
            <p:ph type="body" idx="1"/>
          </p:nvPr>
        </p:nvSpPr>
        <p:spPr>
          <a:xfrm>
            <a:off x="476845" y="1563626"/>
            <a:ext cx="6317656" cy="4011674"/>
          </a:xfrm>
        </p:spPr>
        <p:txBody>
          <a:bodyPr/>
          <a:lstStyle/>
          <a:p>
            <a:pPr>
              <a:spcBef>
                <a:spcPts val="624"/>
              </a:spcBef>
              <a:spcAft>
                <a:spcPts val="600"/>
              </a:spcAft>
            </a:pPr>
            <a:r>
              <a:rPr lang="en-US" dirty="0">
                <a:solidFill>
                  <a:schemeClr val="tx1"/>
                </a:solidFill>
              </a:rPr>
              <a:t>Hub—splined to pinion shaft.</a:t>
            </a:r>
          </a:p>
          <a:p>
            <a:pPr>
              <a:spcBef>
                <a:spcPts val="624"/>
              </a:spcBef>
              <a:spcAft>
                <a:spcPts val="600"/>
              </a:spcAft>
            </a:pPr>
            <a:r>
              <a:rPr lang="en-US" dirty="0">
                <a:solidFill>
                  <a:schemeClr val="tx1"/>
                </a:solidFill>
              </a:rPr>
              <a:t>Sleeve—slides onto hub.</a:t>
            </a:r>
          </a:p>
          <a:p>
            <a:pPr>
              <a:spcBef>
                <a:spcPts val="624"/>
              </a:spcBef>
              <a:spcAft>
                <a:spcPts val="600"/>
              </a:spcAft>
            </a:pPr>
            <a:r>
              <a:rPr lang="en-US" dirty="0">
                <a:solidFill>
                  <a:schemeClr val="tx1"/>
                </a:solidFill>
              </a:rPr>
              <a:t>Blocking ring—brass or bronze ring forms the outer half of the gear shoulder cone.</a:t>
            </a:r>
          </a:p>
          <a:p>
            <a:pPr>
              <a:spcBef>
                <a:spcPts val="624"/>
              </a:spcBef>
              <a:spcAft>
                <a:spcPts val="600"/>
              </a:spcAft>
            </a:pPr>
            <a:r>
              <a:rPr lang="en-US" dirty="0">
                <a:solidFill>
                  <a:schemeClr val="tx1"/>
                </a:solidFill>
              </a:rPr>
              <a:t>Inserts or spring-and-ball detent devices.</a:t>
            </a:r>
          </a:p>
        </p:txBody>
      </p:sp>
      <p:pic>
        <p:nvPicPr>
          <p:cNvPr id="9" name="Picture Placeholder 8" descr="The gear shoulder and blocker ring mating surfaces with the components labeled as follows: Synchronizer sleeve, Blocking ring, Driven gear, and Hub. The synchronizer sleeve is in line with the hub. A pair of blocking rings and a pair of driven gears are highlighted. The supporting text reads, Synchronizer in neutral position before shift.">
            <a:extLst>
              <a:ext uri="{FF2B5EF4-FFF2-40B4-BE49-F238E27FC236}">
                <a16:creationId xmlns:a16="http://schemas.microsoft.com/office/drawing/2014/main" id="{1233CFAF-D385-8272-C659-C2A3BF66FD9E}"/>
              </a:ext>
            </a:extLst>
          </p:cNvPr>
          <p:cNvPicPr>
            <a:picLocks noGrp="1" noChangeAspect="1"/>
          </p:cNvPicPr>
          <p:nvPr>
            <p:ph type="pic" sz="quarter" idx="12"/>
          </p:nvPr>
        </p:nvPicPr>
        <p:blipFill rotWithShape="1">
          <a:blip r:embed="rId3"/>
          <a:srcRect b="6320"/>
          <a:stretch/>
        </p:blipFill>
        <p:spPr>
          <a:xfrm>
            <a:off x="7163826" y="2251451"/>
            <a:ext cx="4692003" cy="287169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A25D-B896-48A9-7CA1-0D15E5B64488}"/>
              </a:ext>
            </a:extLst>
          </p:cNvPr>
          <p:cNvSpPr>
            <a:spLocks noGrp="1"/>
          </p:cNvSpPr>
          <p:nvPr>
            <p:ph type="title"/>
          </p:nvPr>
        </p:nvSpPr>
        <p:spPr/>
        <p:txBody>
          <a:bodyPr/>
          <a:lstStyle/>
          <a:p>
            <a:r>
              <a:rPr lang="en-IN" dirty="0"/>
              <a:t>Gear Shoulder and Blocker Ring Mating</a:t>
            </a:r>
          </a:p>
        </p:txBody>
      </p:sp>
      <p:pic>
        <p:nvPicPr>
          <p:cNvPr id="10" name="Picture Placeholder 9" descr="The gear shoulder and blocker ring mating surfaces when a gear is engaged. The components labeled are as follows: Synchronizer sleeve, Meshing occurs here, Driven gear, and Blocking ring. The synchronizer sleeve moves to the right of the hub. Two arrows point to the right, one above and one below the synchronizer sleeve. Another arrow points to the right from the point where meshing occurs. A circular counter from back to front drawn near the driven gear is labeled Power flow. The supporting text reads, Shift completed—collar locks driven gear to hub and shaft.">
            <a:extLst>
              <a:ext uri="{FF2B5EF4-FFF2-40B4-BE49-F238E27FC236}">
                <a16:creationId xmlns:a16="http://schemas.microsoft.com/office/drawing/2014/main" id="{41E4A3AA-CD33-5B24-C307-6485AB60DBA3}"/>
              </a:ext>
            </a:extLst>
          </p:cNvPr>
          <p:cNvPicPr>
            <a:picLocks noGrp="1" noChangeAspect="1"/>
          </p:cNvPicPr>
          <p:nvPr>
            <p:ph type="pic" sz="quarter" idx="13"/>
          </p:nvPr>
        </p:nvPicPr>
        <p:blipFill rotWithShape="1">
          <a:blip r:embed="rId3"/>
          <a:srcRect b="14670"/>
          <a:stretch/>
        </p:blipFill>
        <p:spPr>
          <a:xfrm>
            <a:off x="3238500" y="1856265"/>
            <a:ext cx="5715000" cy="389318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Advanced Synchronizer Designs</a:t>
            </a:r>
          </a:p>
        </p:txBody>
      </p:sp>
      <p:sp>
        <p:nvSpPr>
          <p:cNvPr id="30723" name="Content Placeholder 2"/>
          <p:cNvSpPr>
            <a:spLocks noGrp="1"/>
          </p:cNvSpPr>
          <p:nvPr>
            <p:ph type="body" idx="1"/>
          </p:nvPr>
        </p:nvSpPr>
        <p:spPr/>
        <p:txBody>
          <a:bodyPr/>
          <a:lstStyle/>
          <a:p>
            <a:pPr>
              <a:spcBef>
                <a:spcPts val="624"/>
              </a:spcBef>
              <a:spcAft>
                <a:spcPts val="600"/>
              </a:spcAft>
            </a:pPr>
            <a:r>
              <a:rPr lang="en-US" sz="2600" dirty="0">
                <a:solidFill>
                  <a:schemeClr val="tx1"/>
                </a:solidFill>
              </a:rPr>
              <a:t>Multiple cone-type synchronizers.</a:t>
            </a:r>
          </a:p>
          <a:p>
            <a:pPr>
              <a:spcBef>
                <a:spcPts val="624"/>
              </a:spcBef>
              <a:spcAft>
                <a:spcPts val="600"/>
              </a:spcAft>
            </a:pPr>
            <a:r>
              <a:rPr lang="en-US" sz="2600" dirty="0">
                <a:solidFill>
                  <a:schemeClr val="tx1"/>
                </a:solidFill>
              </a:rPr>
              <a:t>Use friction material on both sides of the synchronizer rings.</a:t>
            </a:r>
          </a:p>
          <a:p>
            <a:pPr>
              <a:spcBef>
                <a:spcPts val="624"/>
              </a:spcBef>
              <a:spcAft>
                <a:spcPts val="600"/>
              </a:spcAft>
            </a:pPr>
            <a:r>
              <a:rPr lang="en-US" sz="2600" dirty="0">
                <a:solidFill>
                  <a:schemeClr val="tx1"/>
                </a:solidFill>
              </a:rPr>
              <a:t>Decreases shift effort and increases durability.</a:t>
            </a:r>
          </a:p>
          <a:p>
            <a:pPr>
              <a:spcBef>
                <a:spcPts val="624"/>
              </a:spcBef>
              <a:spcAft>
                <a:spcPts val="600"/>
              </a:spcAft>
            </a:pPr>
            <a:r>
              <a:rPr lang="en-US" sz="2600" dirty="0">
                <a:solidFill>
                  <a:schemeClr val="tx1"/>
                </a:solidFill>
              </a:rPr>
              <a:t>Reduces transmission size since a smaller synchronizer can perform as a larger 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Gearshift Mechanisms</a:t>
            </a:r>
          </a:p>
        </p:txBody>
      </p:sp>
      <p:sp>
        <p:nvSpPr>
          <p:cNvPr id="31747" name="Content Placeholder 2"/>
          <p:cNvSpPr>
            <a:spLocks noGrp="1"/>
          </p:cNvSpPr>
          <p:nvPr>
            <p:ph type="body" idx="1"/>
          </p:nvPr>
        </p:nvSpPr>
        <p:spPr/>
        <p:txBody>
          <a:bodyPr/>
          <a:lstStyle/>
          <a:p>
            <a:pPr marL="0" indent="0">
              <a:spcBef>
                <a:spcPts val="624"/>
              </a:spcBef>
              <a:spcAft>
                <a:spcPts val="600"/>
              </a:spcAft>
              <a:buNone/>
            </a:pPr>
            <a:r>
              <a:rPr lang="en-US" b="1" dirty="0">
                <a:solidFill>
                  <a:schemeClr val="tx1"/>
                </a:solidFill>
                <a:latin typeface="Work Sans" pitchFamily="2" charset="0"/>
              </a:rPr>
              <a:t>38.05 Describe the purpose, design, and operation of internal and remote gearshift linkages.</a:t>
            </a:r>
            <a:endParaRPr lang="en-US" dirty="0">
              <a:solidFill>
                <a:schemeClr val="tx1"/>
              </a:solidFill>
            </a:endParaRPr>
          </a:p>
          <a:p>
            <a:pPr>
              <a:spcBef>
                <a:spcPts val="624"/>
              </a:spcBef>
              <a:spcAft>
                <a:spcPts val="600"/>
              </a:spcAft>
            </a:pPr>
            <a:r>
              <a:rPr lang="en-US" dirty="0">
                <a:solidFill>
                  <a:schemeClr val="tx1"/>
                </a:solidFill>
              </a:rPr>
              <a:t>Shift rails transfer motion from the gearshift to the shift forks.</a:t>
            </a:r>
          </a:p>
          <a:p>
            <a:pPr>
              <a:spcBef>
                <a:spcPts val="624"/>
              </a:spcBef>
              <a:spcAft>
                <a:spcPts val="600"/>
              </a:spcAft>
            </a:pPr>
            <a:r>
              <a:rPr lang="en-US" dirty="0">
                <a:solidFill>
                  <a:schemeClr val="tx1"/>
                </a:solidFill>
              </a:rPr>
              <a:t>The shift forks rest in grooves in the synchronizer sleeves.</a:t>
            </a:r>
          </a:p>
          <a:p>
            <a:pPr>
              <a:spcBef>
                <a:spcPts val="624"/>
              </a:spcBef>
              <a:spcAft>
                <a:spcPts val="600"/>
              </a:spcAft>
            </a:pPr>
            <a:r>
              <a:rPr lang="en-US" dirty="0">
                <a:solidFill>
                  <a:schemeClr val="tx1"/>
                </a:solidFill>
              </a:rPr>
              <a:t>Linkage can be direct or remote and internal or external.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Gearshift Linkage</a:t>
            </a:r>
          </a:p>
        </p:txBody>
      </p:sp>
      <p:sp>
        <p:nvSpPr>
          <p:cNvPr id="33795" name="Rectangle 3"/>
          <p:cNvSpPr>
            <a:spLocks noGrp="1" noChangeArrowheads="1"/>
          </p:cNvSpPr>
          <p:nvPr>
            <p:ph type="body" idx="1"/>
          </p:nvPr>
        </p:nvSpPr>
        <p:spPr>
          <a:xfrm>
            <a:off x="502246" y="1563626"/>
            <a:ext cx="6241456" cy="3986274"/>
          </a:xfrm>
        </p:spPr>
        <p:txBody>
          <a:bodyPr>
            <a:noAutofit/>
          </a:bodyPr>
          <a:lstStyle/>
          <a:p>
            <a:pPr>
              <a:spcBef>
                <a:spcPts val="624"/>
              </a:spcBef>
              <a:spcAft>
                <a:spcPts val="600"/>
              </a:spcAft>
            </a:pPr>
            <a:r>
              <a:rPr lang="en-US" dirty="0"/>
              <a:t>Internal-Type</a:t>
            </a:r>
          </a:p>
          <a:p>
            <a:pPr lvl="1">
              <a:spcBef>
                <a:spcPts val="624"/>
              </a:spcBef>
              <a:spcAft>
                <a:spcPts val="600"/>
              </a:spcAft>
            </a:pPr>
            <a:r>
              <a:rPr lang="en-US" dirty="0"/>
              <a:t>Uses a shift rail and detents to select and maintain gear selection.</a:t>
            </a:r>
          </a:p>
          <a:p>
            <a:pPr>
              <a:spcBef>
                <a:spcPts val="624"/>
              </a:spcBef>
              <a:spcAft>
                <a:spcPts val="600"/>
              </a:spcAft>
            </a:pPr>
            <a:r>
              <a:rPr lang="en-US" dirty="0"/>
              <a:t>External-Type</a:t>
            </a:r>
          </a:p>
          <a:p>
            <a:pPr lvl="1">
              <a:spcBef>
                <a:spcPts val="624"/>
              </a:spcBef>
              <a:spcAft>
                <a:spcPts val="600"/>
              </a:spcAft>
            </a:pPr>
            <a:r>
              <a:rPr lang="en-US" dirty="0"/>
              <a:t>Uses levers and rods that are connected to the outside of the transmission.</a:t>
            </a:r>
          </a:p>
        </p:txBody>
      </p:sp>
      <p:pic>
        <p:nvPicPr>
          <p:cNvPr id="9" name="Picture Placeholder 8" descr="A manual transmission shift linkage for a five-speed transmission in which the gear shifter is connected directly to the transmission. The labeled parts of the shift linkage are as follows: a shift lever, shift fork shafts with notches, shift forks attached to the fork shafts, a ball socket that connects the shift lever to the transmission, and a detent ball with a spring that locks into the notches on the fork shafts.">
            <a:extLst>
              <a:ext uri="{FF2B5EF4-FFF2-40B4-BE49-F238E27FC236}">
                <a16:creationId xmlns:a16="http://schemas.microsoft.com/office/drawing/2014/main" id="{0902278F-0861-9931-3516-6FCD0C344B4B}"/>
              </a:ext>
            </a:extLst>
          </p:cNvPr>
          <p:cNvPicPr>
            <a:picLocks noGrp="1" noChangeAspect="1"/>
          </p:cNvPicPr>
          <p:nvPr>
            <p:ph type="pic" sz="quarter" idx="12"/>
          </p:nvPr>
        </p:nvPicPr>
        <p:blipFill rotWithShape="1">
          <a:blip r:embed="rId3"/>
          <a:srcRect b="13730"/>
          <a:stretch/>
        </p:blipFill>
        <p:spPr>
          <a:xfrm>
            <a:off x="7015897" y="1673730"/>
            <a:ext cx="4380070" cy="35078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Transmission Power Flow </a:t>
            </a:r>
          </a:p>
        </p:txBody>
      </p:sp>
      <p:sp>
        <p:nvSpPr>
          <p:cNvPr id="35843" name="Rectangle 3"/>
          <p:cNvSpPr>
            <a:spLocks noGrp="1" noChangeArrowheads="1"/>
          </p:cNvSpPr>
          <p:nvPr>
            <p:ph type="body" idx="1"/>
          </p:nvPr>
        </p:nvSpPr>
        <p:spPr/>
        <p:txBody>
          <a:bodyPr/>
          <a:lstStyle/>
          <a:p>
            <a:pPr marL="0" indent="0">
              <a:spcBef>
                <a:spcPts val="624"/>
              </a:spcBef>
              <a:spcAft>
                <a:spcPts val="600"/>
              </a:spcAft>
              <a:buNone/>
            </a:pPr>
            <a:r>
              <a:rPr lang="en-US" b="1" dirty="0">
                <a:solidFill>
                  <a:schemeClr val="tx1"/>
                </a:solidFill>
                <a:latin typeface="Work Sans" pitchFamily="2" charset="0"/>
              </a:rPr>
              <a:t>38.04 Describe power flow through forward and reverse gear ranges</a:t>
            </a:r>
            <a:r>
              <a:rPr lang="en-US" dirty="0">
                <a:solidFill>
                  <a:schemeClr val="tx1"/>
                </a:solidFill>
                <a:latin typeface="Work Sans" pitchFamily="2" charset="0"/>
              </a:rPr>
              <a:t>.</a:t>
            </a:r>
            <a:endParaRPr lang="en-US" dirty="0">
              <a:solidFill>
                <a:schemeClr val="tx1"/>
              </a:solidFill>
            </a:endParaRPr>
          </a:p>
          <a:p>
            <a:pPr>
              <a:spcBef>
                <a:spcPts val="624"/>
              </a:spcBef>
              <a:spcAft>
                <a:spcPts val="600"/>
              </a:spcAft>
            </a:pPr>
            <a:r>
              <a:rPr lang="en-US" dirty="0">
                <a:solidFill>
                  <a:schemeClr val="tx1"/>
                </a:solidFill>
              </a:rPr>
              <a:t>Neutral</a:t>
            </a:r>
          </a:p>
          <a:p>
            <a:pPr lvl="1">
              <a:spcBef>
                <a:spcPts val="624"/>
              </a:spcBef>
              <a:spcAft>
                <a:spcPts val="600"/>
              </a:spcAft>
            </a:pPr>
            <a:r>
              <a:rPr lang="en-US" dirty="0">
                <a:solidFill>
                  <a:schemeClr val="tx1"/>
                </a:solidFill>
              </a:rPr>
              <a:t>The input shaft drives the counter shaft.</a:t>
            </a:r>
          </a:p>
          <a:p>
            <a:pPr lvl="1">
              <a:spcBef>
                <a:spcPts val="624"/>
              </a:spcBef>
              <a:spcAft>
                <a:spcPts val="600"/>
              </a:spcAft>
            </a:pPr>
            <a:r>
              <a:rPr lang="en-US" dirty="0">
                <a:solidFill>
                  <a:schemeClr val="tx1"/>
                </a:solidFill>
              </a:rPr>
              <a:t>All of the gears on the main shaft rotate.</a:t>
            </a:r>
          </a:p>
          <a:p>
            <a:pPr lvl="1">
              <a:spcBef>
                <a:spcPts val="624"/>
              </a:spcBef>
              <a:spcAft>
                <a:spcPts val="600"/>
              </a:spcAft>
            </a:pPr>
            <a:r>
              <a:rPr lang="en-US" dirty="0">
                <a:solidFill>
                  <a:schemeClr val="tx1"/>
                </a:solidFill>
              </a:rPr>
              <a:t>The synchronizers are not engaged with any gear.</a:t>
            </a:r>
          </a:p>
          <a:p>
            <a:pPr lvl="1">
              <a:spcBef>
                <a:spcPts val="624"/>
              </a:spcBef>
              <a:spcAft>
                <a:spcPts val="600"/>
              </a:spcAft>
            </a:pPr>
            <a:r>
              <a:rPr lang="en-US" dirty="0">
                <a:solidFill>
                  <a:schemeClr val="tx1"/>
                </a:solidFill>
              </a:rPr>
              <a:t>No power is transferred to the output shaft.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dirty="0"/>
              <a:t>Power Flow </a:t>
            </a:r>
          </a:p>
        </p:txBody>
      </p:sp>
      <p:sp>
        <p:nvSpPr>
          <p:cNvPr id="37891" name="Rectangle 3"/>
          <p:cNvSpPr>
            <a:spLocks noGrp="1" noChangeArrowheads="1"/>
          </p:cNvSpPr>
          <p:nvPr>
            <p:ph type="body" idx="1"/>
          </p:nvPr>
        </p:nvSpPr>
        <p:spPr/>
        <p:txBody>
          <a:bodyPr/>
          <a:lstStyle/>
          <a:p>
            <a:pPr>
              <a:spcBef>
                <a:spcPts val="624"/>
              </a:spcBef>
              <a:spcAft>
                <a:spcPts val="600"/>
              </a:spcAft>
            </a:pPr>
            <a:r>
              <a:rPr lang="en-US" sz="2600" dirty="0">
                <a:solidFill>
                  <a:schemeClr val="tx1"/>
                </a:solidFill>
              </a:rPr>
              <a:t>Forward Gears</a:t>
            </a:r>
          </a:p>
          <a:p>
            <a:pPr lvl="1">
              <a:spcBef>
                <a:spcPts val="624"/>
              </a:spcBef>
              <a:spcAft>
                <a:spcPts val="600"/>
              </a:spcAft>
            </a:pPr>
            <a:r>
              <a:rPr lang="en-US" dirty="0">
                <a:solidFill>
                  <a:schemeClr val="tx1"/>
                </a:solidFill>
              </a:rPr>
              <a:t>The power enters transmission through the input shaft.</a:t>
            </a:r>
          </a:p>
          <a:p>
            <a:pPr lvl="1">
              <a:spcBef>
                <a:spcPts val="624"/>
              </a:spcBef>
              <a:spcAft>
                <a:spcPts val="600"/>
              </a:spcAft>
            </a:pPr>
            <a:r>
              <a:rPr lang="en-US" dirty="0">
                <a:solidFill>
                  <a:schemeClr val="tx1"/>
                </a:solidFill>
              </a:rPr>
              <a:t>The synchronizer sleeve is engaged with the dog teeth of the selected gear.</a:t>
            </a:r>
          </a:p>
          <a:p>
            <a:pPr lvl="1">
              <a:spcBef>
                <a:spcPts val="624"/>
              </a:spcBef>
              <a:spcAft>
                <a:spcPts val="600"/>
              </a:spcAft>
            </a:pPr>
            <a:r>
              <a:rPr lang="en-US" dirty="0">
                <a:solidFill>
                  <a:schemeClr val="tx1"/>
                </a:solidFill>
              </a:rPr>
              <a:t>The power is transferred from the input shaft, through the counter shaft, and up to the selected gear.</a:t>
            </a:r>
          </a:p>
          <a:p>
            <a:pPr lvl="1">
              <a:spcBef>
                <a:spcPts val="624"/>
              </a:spcBef>
              <a:spcAft>
                <a:spcPts val="600"/>
              </a:spcAft>
            </a:pPr>
            <a:r>
              <a:rPr lang="en-US" dirty="0">
                <a:solidFill>
                  <a:schemeClr val="tx1"/>
                </a:solidFill>
              </a:rPr>
              <a:t>The gear drives the output shaft.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1D16E3-DA0F-F053-8CF9-21CCA5C0C4E6}"/>
              </a:ext>
            </a:extLst>
          </p:cNvPr>
          <p:cNvSpPr>
            <a:spLocks noGrp="1"/>
          </p:cNvSpPr>
          <p:nvPr>
            <p:ph type="title"/>
          </p:nvPr>
        </p:nvSpPr>
        <p:spPr/>
        <p:txBody>
          <a:bodyPr/>
          <a:lstStyle/>
          <a:p>
            <a:r>
              <a:rPr lang="en-US" dirty="0">
                <a:solidFill>
                  <a:schemeClr val="tx1"/>
                </a:solidFill>
                <a:latin typeface="Work Sans" pitchFamily="2" charset="0"/>
              </a:rPr>
              <a:t>Power Flow in First Gear</a:t>
            </a:r>
            <a:endParaRPr lang="en-IN" dirty="0">
              <a:solidFill>
                <a:schemeClr val="tx1"/>
              </a:solidFill>
            </a:endParaRPr>
          </a:p>
        </p:txBody>
      </p:sp>
      <p:pic>
        <p:nvPicPr>
          <p:cNvPr id="11" name="Picture Placeholder 10" descr="The power flow in the first gear. A gear mesh consists of a set of gears. The power flow is represented through arrows that enter the input shaft, flow through the first gear, and exit through the output shaft. The label above the 1-2 synchronizer reads, 1–2 Synchronizer shifted rearward and a right arrow is drawn adjacent to it.">
            <a:extLst>
              <a:ext uri="{FF2B5EF4-FFF2-40B4-BE49-F238E27FC236}">
                <a16:creationId xmlns:a16="http://schemas.microsoft.com/office/drawing/2014/main" id="{D7F66881-4271-71AA-C38C-AECA4F21E120}"/>
              </a:ext>
            </a:extLst>
          </p:cNvPr>
          <p:cNvPicPr>
            <a:picLocks noGrp="1" noChangeAspect="1"/>
          </p:cNvPicPr>
          <p:nvPr>
            <p:ph type="pic" sz="quarter" idx="13"/>
          </p:nvPr>
        </p:nvPicPr>
        <p:blipFill rotWithShape="1">
          <a:blip r:embed="rId3"/>
          <a:srcRect b="6262"/>
          <a:stretch/>
        </p:blipFill>
        <p:spPr>
          <a:xfrm>
            <a:off x="2298612" y="1710833"/>
            <a:ext cx="7594777" cy="417661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694F3E-A8A0-C870-5A45-D4C8560D80FC}"/>
              </a:ext>
            </a:extLst>
          </p:cNvPr>
          <p:cNvSpPr>
            <a:spLocks noGrp="1"/>
          </p:cNvSpPr>
          <p:nvPr>
            <p:ph type="title"/>
          </p:nvPr>
        </p:nvSpPr>
        <p:spPr/>
        <p:txBody>
          <a:bodyPr/>
          <a:lstStyle/>
          <a:p>
            <a:r>
              <a:rPr lang="en-US" dirty="0">
                <a:solidFill>
                  <a:schemeClr val="accent1"/>
                </a:solidFill>
                <a:latin typeface="Work Sans" pitchFamily="2" charset="0"/>
              </a:rPr>
              <a:t>Power Flow in Second Gear</a:t>
            </a:r>
            <a:endParaRPr lang="en-IN" dirty="0">
              <a:solidFill>
                <a:schemeClr val="accent1"/>
              </a:solidFill>
            </a:endParaRPr>
          </a:p>
        </p:txBody>
      </p:sp>
      <p:sp>
        <p:nvSpPr>
          <p:cNvPr id="5" name="Text Placeholder 4" hidden="1">
            <a:extLst>
              <a:ext uri="{FF2B5EF4-FFF2-40B4-BE49-F238E27FC236}">
                <a16:creationId xmlns:a16="http://schemas.microsoft.com/office/drawing/2014/main" id="{3BBF2F1D-E1AE-0ECF-4D9F-1C3773CF892E}"/>
              </a:ext>
            </a:extLst>
          </p:cNvPr>
          <p:cNvSpPr>
            <a:spLocks noGrp="1"/>
          </p:cNvSpPr>
          <p:nvPr>
            <p:ph type="body" idx="1"/>
          </p:nvPr>
        </p:nvSpPr>
        <p:spPr/>
        <p:txBody>
          <a:bodyPr/>
          <a:lstStyle/>
          <a:p>
            <a:endParaRPr lang="en-IN"/>
          </a:p>
        </p:txBody>
      </p:sp>
      <p:pic>
        <p:nvPicPr>
          <p:cNvPr id="11" name="Picture Placeholder 10" descr="The power flow in the second gear. A gear mesh consists of a set of gears. The power flow is represented through arrows that enter the input shaft, flow through the second gear, and exit through the output shaft. The label above the 1-2 synchronizer reads, 1–2 Synchronizer shifted forward, and a left arrow is drawn adjacent to it.">
            <a:extLst>
              <a:ext uri="{FF2B5EF4-FFF2-40B4-BE49-F238E27FC236}">
                <a16:creationId xmlns:a16="http://schemas.microsoft.com/office/drawing/2014/main" id="{C19DB880-EA65-3D5F-ADA1-152FABDE4569}"/>
              </a:ext>
            </a:extLst>
          </p:cNvPr>
          <p:cNvPicPr>
            <a:picLocks noGrp="1" noChangeAspect="1"/>
          </p:cNvPicPr>
          <p:nvPr>
            <p:ph type="pic" sz="quarter" idx="13"/>
          </p:nvPr>
        </p:nvPicPr>
        <p:blipFill rotWithShape="1">
          <a:blip r:embed="rId3"/>
          <a:srcRect b="5396"/>
          <a:stretch/>
        </p:blipFill>
        <p:spPr>
          <a:xfrm>
            <a:off x="2745357" y="1559845"/>
            <a:ext cx="6701287" cy="3824955"/>
          </a:xfrm>
          <a:prstGeom prst="rect">
            <a:avLst/>
          </a:prstGeom>
        </p:spPr>
      </p:pic>
    </p:spTree>
    <p:extLst>
      <p:ext uri="{BB962C8B-B14F-4D97-AF65-F5344CB8AC3E}">
        <p14:creationId xmlns:p14="http://schemas.microsoft.com/office/powerpoint/2010/main" val="523124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7E29B3-4F78-7DBD-F6F7-C7328AE336CF}"/>
              </a:ext>
            </a:extLst>
          </p:cNvPr>
          <p:cNvSpPr>
            <a:spLocks noGrp="1"/>
          </p:cNvSpPr>
          <p:nvPr>
            <p:ph type="title"/>
          </p:nvPr>
        </p:nvSpPr>
        <p:spPr/>
        <p:txBody>
          <a:bodyPr/>
          <a:lstStyle/>
          <a:p>
            <a:r>
              <a:rPr lang="en-US" dirty="0">
                <a:solidFill>
                  <a:schemeClr val="accent1"/>
                </a:solidFill>
                <a:latin typeface="Work Sans" pitchFamily="2" charset="0"/>
              </a:rPr>
              <a:t>Power Flow in Third Gear</a:t>
            </a:r>
            <a:endParaRPr lang="en-IN" dirty="0">
              <a:solidFill>
                <a:schemeClr val="accent1"/>
              </a:solidFill>
            </a:endParaRPr>
          </a:p>
        </p:txBody>
      </p:sp>
      <p:pic>
        <p:nvPicPr>
          <p:cNvPr id="11" name="Picture Placeholder 10" descr="The power flow in the third gear. A gear mesh consists of a set of gears. The power flow is represented through arrows that enter the input shaft, flow through the third gear, and exit through the output shaft. The label above the 3-4 synchronizer reads, 3-4 Synchronizer shifted rearward, and a right arrow is drawn adjacent to it.">
            <a:extLst>
              <a:ext uri="{FF2B5EF4-FFF2-40B4-BE49-F238E27FC236}">
                <a16:creationId xmlns:a16="http://schemas.microsoft.com/office/drawing/2014/main" id="{6A40E21E-AD4E-A04B-921B-16311D0411F5}"/>
              </a:ext>
            </a:extLst>
          </p:cNvPr>
          <p:cNvPicPr>
            <a:picLocks noGrp="1" noChangeAspect="1"/>
          </p:cNvPicPr>
          <p:nvPr>
            <p:ph type="pic" sz="quarter" idx="13"/>
          </p:nvPr>
        </p:nvPicPr>
        <p:blipFill rotWithShape="1">
          <a:blip r:embed="rId3"/>
          <a:srcRect b="5909"/>
          <a:stretch/>
        </p:blipFill>
        <p:spPr>
          <a:xfrm>
            <a:off x="2678009" y="1485503"/>
            <a:ext cx="6835983" cy="3848497"/>
          </a:xfrm>
          <a:prstGeom prst="rect">
            <a:avLst/>
          </a:prstGeom>
        </p:spPr>
      </p:pic>
    </p:spTree>
    <p:extLst>
      <p:ext uri="{BB962C8B-B14F-4D97-AF65-F5344CB8AC3E}">
        <p14:creationId xmlns:p14="http://schemas.microsoft.com/office/powerpoint/2010/main" val="1008861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939AB-D840-EC6E-4DB6-70951B317DF4}"/>
              </a:ext>
            </a:extLst>
          </p:cNvPr>
          <p:cNvSpPr>
            <a:spLocks noGrp="1"/>
          </p:cNvSpPr>
          <p:nvPr>
            <p:ph type="title"/>
          </p:nvPr>
        </p:nvSpPr>
        <p:spPr/>
        <p:txBody>
          <a:bodyPr/>
          <a:lstStyle/>
          <a:p>
            <a:r>
              <a:rPr lang="en-US" dirty="0">
                <a:solidFill>
                  <a:schemeClr val="tx1"/>
                </a:solidFill>
                <a:latin typeface="Work Sans" pitchFamily="2" charset="0"/>
              </a:rPr>
              <a:t>Power Flow in Fourth Gear</a:t>
            </a:r>
            <a:endParaRPr lang="en-IN" dirty="0">
              <a:solidFill>
                <a:schemeClr val="tx1"/>
              </a:solidFill>
            </a:endParaRPr>
          </a:p>
        </p:txBody>
      </p:sp>
      <p:pic>
        <p:nvPicPr>
          <p:cNvPr id="3" name="Picture 2" descr="The power flow in the fourth gear. A gear mesh consists of a set of gears. The power flow is represented through arrows that enter the input shaft, flow through the fourth gear, and exit through the output shaft. The label above the 3-4 synchronizer reads, 3-4 Synchronizer shifted forward, and a left arrow is drawn adjacent to it.">
            <a:extLst>
              <a:ext uri="{FF2B5EF4-FFF2-40B4-BE49-F238E27FC236}">
                <a16:creationId xmlns:a16="http://schemas.microsoft.com/office/drawing/2014/main" id="{999E6CBF-BFFF-57AB-BA14-59155A285E2B}"/>
              </a:ext>
            </a:extLst>
          </p:cNvPr>
          <p:cNvPicPr>
            <a:picLocks noChangeAspect="1"/>
          </p:cNvPicPr>
          <p:nvPr/>
        </p:nvPicPr>
        <p:blipFill rotWithShape="1">
          <a:blip r:embed="rId3"/>
          <a:srcRect b="5951"/>
          <a:stretch/>
        </p:blipFill>
        <p:spPr>
          <a:xfrm>
            <a:off x="2847856" y="1571402"/>
            <a:ext cx="6496288" cy="3889820"/>
          </a:xfrm>
          <a:prstGeom prst="rect">
            <a:avLst/>
          </a:prstGeom>
        </p:spPr>
      </p:pic>
    </p:spTree>
    <p:extLst>
      <p:ext uri="{BB962C8B-B14F-4D97-AF65-F5344CB8AC3E}">
        <p14:creationId xmlns:p14="http://schemas.microsoft.com/office/powerpoint/2010/main" val="993498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B5F718-0C53-26DC-36BD-FE311DB2BDAA}"/>
              </a:ext>
            </a:extLst>
          </p:cNvPr>
          <p:cNvSpPr>
            <a:spLocks noGrp="1"/>
          </p:cNvSpPr>
          <p:nvPr>
            <p:ph type="title"/>
          </p:nvPr>
        </p:nvSpPr>
        <p:spPr/>
        <p:txBody>
          <a:bodyPr/>
          <a:lstStyle/>
          <a:p>
            <a:r>
              <a:rPr lang="en-US" dirty="0">
                <a:solidFill>
                  <a:schemeClr val="tx1"/>
                </a:solidFill>
                <a:latin typeface="Work Sans" pitchFamily="2" charset="0"/>
              </a:rPr>
              <a:t>Power Flow in Fifth Gear</a:t>
            </a:r>
            <a:endParaRPr lang="en-IN" dirty="0">
              <a:solidFill>
                <a:schemeClr val="tx1"/>
              </a:solidFill>
            </a:endParaRPr>
          </a:p>
        </p:txBody>
      </p:sp>
      <p:pic>
        <p:nvPicPr>
          <p:cNvPr id="11" name="Picture Placeholder 10" descr="The power flow in the fifth gear. A gear mesh consists of a set of gears. The power flow is represented through arrows that enter the input shaft, flow through the fifth gear, and exit through the output shaft. The label fifth gear synchronizer shifted forward, is pointing to the fifth gear synchronizer and a left arrow is drawn adjacent to it.">
            <a:extLst>
              <a:ext uri="{FF2B5EF4-FFF2-40B4-BE49-F238E27FC236}">
                <a16:creationId xmlns:a16="http://schemas.microsoft.com/office/drawing/2014/main" id="{63E227F8-B650-1B7D-1C27-DC714991E1AD}"/>
              </a:ext>
            </a:extLst>
          </p:cNvPr>
          <p:cNvPicPr>
            <a:picLocks noGrp="1" noChangeAspect="1"/>
          </p:cNvPicPr>
          <p:nvPr>
            <p:ph type="pic" sz="quarter" idx="12"/>
          </p:nvPr>
        </p:nvPicPr>
        <p:blipFill rotWithShape="1">
          <a:blip r:embed="rId3"/>
          <a:srcRect b="7242"/>
          <a:stretch/>
        </p:blipFill>
        <p:spPr>
          <a:xfrm>
            <a:off x="2048057" y="2144668"/>
            <a:ext cx="8095886" cy="3266670"/>
          </a:xfrm>
          <a:prstGeom prst="rect">
            <a:avLst/>
          </a:prstGeom>
        </p:spPr>
      </p:pic>
    </p:spTree>
    <p:extLst>
      <p:ext uri="{BB962C8B-B14F-4D97-AF65-F5344CB8AC3E}">
        <p14:creationId xmlns:p14="http://schemas.microsoft.com/office/powerpoint/2010/main" val="4064780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Power Flow in Reverse (1 of 2)</a:t>
            </a:r>
          </a:p>
        </p:txBody>
      </p:sp>
      <p:sp>
        <p:nvSpPr>
          <p:cNvPr id="46083" name="Rectangle 3"/>
          <p:cNvSpPr>
            <a:spLocks noGrp="1" noChangeArrowheads="1"/>
          </p:cNvSpPr>
          <p:nvPr>
            <p:ph type="body" idx="1"/>
          </p:nvPr>
        </p:nvSpPr>
        <p:spPr/>
        <p:txBody>
          <a:bodyPr/>
          <a:lstStyle/>
          <a:p>
            <a:pPr>
              <a:spcBef>
                <a:spcPts val="624"/>
              </a:spcBef>
              <a:spcAft>
                <a:spcPts val="600"/>
              </a:spcAft>
            </a:pPr>
            <a:r>
              <a:rPr lang="en-US" sz="2600" dirty="0">
                <a:solidFill>
                  <a:schemeClr val="tx1"/>
                </a:solidFill>
              </a:rPr>
              <a:t>Reverse</a:t>
            </a:r>
          </a:p>
          <a:p>
            <a:pPr lvl="1">
              <a:spcBef>
                <a:spcPts val="624"/>
              </a:spcBef>
              <a:spcAft>
                <a:spcPts val="600"/>
              </a:spcAft>
            </a:pPr>
            <a:r>
              <a:rPr lang="en-US" dirty="0">
                <a:solidFill>
                  <a:schemeClr val="tx1"/>
                </a:solidFill>
              </a:rPr>
              <a:t>The power enters transmission through the input shaft.</a:t>
            </a:r>
          </a:p>
          <a:p>
            <a:pPr lvl="1">
              <a:spcBef>
                <a:spcPts val="624"/>
              </a:spcBef>
              <a:spcAft>
                <a:spcPts val="600"/>
              </a:spcAft>
            </a:pPr>
            <a:r>
              <a:rPr lang="en-US" dirty="0">
                <a:solidFill>
                  <a:schemeClr val="tx1"/>
                </a:solidFill>
              </a:rPr>
              <a:t>The reverse gear synchronizer sleeve is engaged with the reverse gear dog teeth.</a:t>
            </a:r>
          </a:p>
          <a:p>
            <a:pPr lvl="1">
              <a:spcBef>
                <a:spcPts val="624"/>
              </a:spcBef>
              <a:spcAft>
                <a:spcPts val="600"/>
              </a:spcAft>
            </a:pPr>
            <a:r>
              <a:rPr lang="en-US" dirty="0">
                <a:solidFill>
                  <a:schemeClr val="tx1"/>
                </a:solidFill>
              </a:rPr>
              <a:t>The power is transferred from the input shaft, through the counter shaft, through the reverse idler gear, and up to the reverse gear.</a:t>
            </a:r>
          </a:p>
          <a:p>
            <a:pPr lvl="1">
              <a:spcBef>
                <a:spcPts val="624"/>
              </a:spcBef>
              <a:spcAft>
                <a:spcPts val="600"/>
              </a:spcAft>
            </a:pPr>
            <a:r>
              <a:rPr lang="en-US" dirty="0">
                <a:solidFill>
                  <a:schemeClr val="tx1"/>
                </a:solidFill>
              </a:rPr>
              <a:t>The reverse gear drives the output shaft in reverse.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027559-93D9-1754-B345-73824F38B1AD}"/>
              </a:ext>
            </a:extLst>
          </p:cNvPr>
          <p:cNvSpPr>
            <a:spLocks noGrp="1"/>
          </p:cNvSpPr>
          <p:nvPr>
            <p:ph type="title"/>
          </p:nvPr>
        </p:nvSpPr>
        <p:spPr/>
        <p:txBody>
          <a:bodyPr/>
          <a:lstStyle/>
          <a:p>
            <a:r>
              <a:rPr lang="en-US" dirty="0">
                <a:solidFill>
                  <a:schemeClr val="tx1"/>
                </a:solidFill>
                <a:latin typeface="Work Sans" pitchFamily="2" charset="0"/>
              </a:rPr>
              <a:t>Power Flow in Reverse (2 of 2)</a:t>
            </a:r>
            <a:endParaRPr lang="en-IN" dirty="0">
              <a:solidFill>
                <a:schemeClr val="tx1"/>
              </a:solidFill>
            </a:endParaRPr>
          </a:p>
        </p:txBody>
      </p:sp>
      <p:pic>
        <p:nvPicPr>
          <p:cNvPr id="11" name="Picture Placeholder 10" descr="The power flow in the reverse gear. A gear mesh consists of a set of gears. The power flow is represented through arrows that enter the input shaft, flow through the reverse gear, and exit through the output shaft. A horizontal strip labeled Reverse idler gear shifted rearward is highlighted across the reverse gear.">
            <a:extLst>
              <a:ext uri="{FF2B5EF4-FFF2-40B4-BE49-F238E27FC236}">
                <a16:creationId xmlns:a16="http://schemas.microsoft.com/office/drawing/2014/main" id="{41D258AE-A8AE-90A3-09AE-E8D769A2301A}"/>
              </a:ext>
            </a:extLst>
          </p:cNvPr>
          <p:cNvPicPr>
            <a:picLocks noGrp="1" noChangeAspect="1"/>
          </p:cNvPicPr>
          <p:nvPr>
            <p:ph type="pic" sz="quarter" idx="12"/>
          </p:nvPr>
        </p:nvPicPr>
        <p:blipFill rotWithShape="1">
          <a:blip r:embed="rId3"/>
          <a:srcRect b="6671"/>
          <a:stretch/>
        </p:blipFill>
        <p:spPr>
          <a:xfrm>
            <a:off x="2503657" y="1503285"/>
            <a:ext cx="7184687" cy="366561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Transaxle Power Flow (1 of 2)</a:t>
            </a:r>
          </a:p>
        </p:txBody>
      </p:sp>
      <p:sp>
        <p:nvSpPr>
          <p:cNvPr id="48131" name="Rectangle 3"/>
          <p:cNvSpPr>
            <a:spLocks noGrp="1" noChangeArrowheads="1"/>
          </p:cNvSpPr>
          <p:nvPr>
            <p:ph type="body" idx="1"/>
          </p:nvPr>
        </p:nvSpPr>
        <p:spPr/>
        <p:txBody>
          <a:bodyPr>
            <a:noAutofit/>
          </a:bodyPr>
          <a:lstStyle/>
          <a:p>
            <a:pPr>
              <a:spcBef>
                <a:spcPts val="624"/>
              </a:spcBef>
              <a:spcAft>
                <a:spcPts val="600"/>
              </a:spcAft>
            </a:pPr>
            <a:r>
              <a:rPr lang="en-US" sz="2600" dirty="0">
                <a:solidFill>
                  <a:schemeClr val="tx1"/>
                </a:solidFill>
              </a:rPr>
              <a:t>Neutral</a:t>
            </a:r>
          </a:p>
          <a:p>
            <a:pPr lvl="1">
              <a:spcBef>
                <a:spcPts val="624"/>
              </a:spcBef>
              <a:spcAft>
                <a:spcPts val="600"/>
              </a:spcAft>
            </a:pPr>
            <a:r>
              <a:rPr lang="en-US" dirty="0">
                <a:solidFill>
                  <a:schemeClr val="tx1"/>
                </a:solidFill>
              </a:rPr>
              <a:t>The input shaft is being turned by the engine.</a:t>
            </a:r>
          </a:p>
          <a:p>
            <a:pPr lvl="1">
              <a:spcBef>
                <a:spcPts val="624"/>
              </a:spcBef>
              <a:spcAft>
                <a:spcPts val="600"/>
              </a:spcAft>
            </a:pPr>
            <a:r>
              <a:rPr lang="en-US" dirty="0">
                <a:solidFill>
                  <a:schemeClr val="tx1"/>
                </a:solidFill>
              </a:rPr>
              <a:t>The synchronizer collars are centered between their gear positions.</a:t>
            </a:r>
          </a:p>
          <a:p>
            <a:pPr lvl="1">
              <a:spcBef>
                <a:spcPts val="624"/>
              </a:spcBef>
              <a:spcAft>
                <a:spcPts val="600"/>
              </a:spcAft>
            </a:pPr>
            <a:r>
              <a:rPr lang="en-US" dirty="0">
                <a:solidFill>
                  <a:schemeClr val="tx1"/>
                </a:solidFill>
              </a:rPr>
              <a:t>The drive gears are not locked to the output shaft.</a:t>
            </a:r>
          </a:p>
          <a:p>
            <a:pPr lvl="1">
              <a:spcBef>
                <a:spcPts val="624"/>
              </a:spcBef>
              <a:spcAft>
                <a:spcPts val="600"/>
              </a:spcAft>
            </a:pPr>
            <a:r>
              <a:rPr lang="en-US" dirty="0">
                <a:solidFill>
                  <a:schemeClr val="tx1"/>
                </a:solidFill>
              </a:rPr>
              <a:t>No power is applied to the differential.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Transaxle Power Flow (2 of 2)</a:t>
            </a:r>
          </a:p>
        </p:txBody>
      </p:sp>
      <p:sp>
        <p:nvSpPr>
          <p:cNvPr id="50179" name="Rectangle 3"/>
          <p:cNvSpPr>
            <a:spLocks noGrp="1" noChangeArrowheads="1"/>
          </p:cNvSpPr>
          <p:nvPr>
            <p:ph type="body" idx="1"/>
          </p:nvPr>
        </p:nvSpPr>
        <p:spPr/>
        <p:txBody>
          <a:bodyPr/>
          <a:lstStyle/>
          <a:p>
            <a:pPr>
              <a:spcBef>
                <a:spcPts val="624"/>
              </a:spcBef>
              <a:spcAft>
                <a:spcPts val="600"/>
              </a:spcAft>
            </a:pPr>
            <a:r>
              <a:rPr lang="en-US" sz="2600" dirty="0">
                <a:solidFill>
                  <a:schemeClr val="tx1"/>
                </a:solidFill>
              </a:rPr>
              <a:t>Forward Gears</a:t>
            </a:r>
          </a:p>
          <a:p>
            <a:pPr lvl="1" indent="-358775">
              <a:spcBef>
                <a:spcPts val="624"/>
              </a:spcBef>
              <a:spcAft>
                <a:spcPts val="600"/>
              </a:spcAft>
            </a:pPr>
            <a:r>
              <a:rPr lang="en-US" dirty="0">
                <a:solidFill>
                  <a:schemeClr val="tx1"/>
                </a:solidFill>
              </a:rPr>
              <a:t>The gears on the input shaft are in constant mesh with those on the output shaft.</a:t>
            </a:r>
          </a:p>
          <a:p>
            <a:pPr lvl="1" indent="-358775">
              <a:spcBef>
                <a:spcPts val="624"/>
              </a:spcBef>
              <a:spcAft>
                <a:spcPts val="600"/>
              </a:spcAft>
            </a:pPr>
            <a:r>
              <a:rPr lang="en-US" dirty="0">
                <a:solidFill>
                  <a:schemeClr val="tx1"/>
                </a:solidFill>
              </a:rPr>
              <a:t> The synchronizer hub is splined to the output shaft.</a:t>
            </a:r>
          </a:p>
          <a:p>
            <a:pPr lvl="1" indent="-358775">
              <a:spcBef>
                <a:spcPts val="624"/>
              </a:spcBef>
              <a:spcAft>
                <a:spcPts val="600"/>
              </a:spcAft>
            </a:pPr>
            <a:r>
              <a:rPr lang="en-US" dirty="0">
                <a:solidFill>
                  <a:schemeClr val="tx1"/>
                </a:solidFill>
              </a:rPr>
              <a:t>When a gear is selected, the synchronizer collar engages the hub.</a:t>
            </a:r>
          </a:p>
          <a:p>
            <a:pPr lvl="1" indent="-358775">
              <a:spcBef>
                <a:spcPts val="624"/>
              </a:spcBef>
              <a:spcAft>
                <a:spcPts val="600"/>
              </a:spcAft>
            </a:pPr>
            <a:r>
              <a:rPr lang="en-US" dirty="0">
                <a:solidFill>
                  <a:schemeClr val="tx1"/>
                </a:solidFill>
              </a:rPr>
              <a:t>The power flows from the gear on the input shaft through the selected gear on the output shaft.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73246"/>
            <a:ext cx="4660900" cy="1723854"/>
          </a:xfrm>
        </p:spPr>
        <p:txBody>
          <a:bodyPr/>
          <a:lstStyle/>
          <a:p>
            <a:r>
              <a:rPr lang="en-US" dirty="0">
                <a:solidFill>
                  <a:schemeClr val="tx1"/>
                </a:solidFill>
              </a:rPr>
              <a:t>Transaxle Power Flow—1st Gear</a:t>
            </a:r>
          </a:p>
        </p:txBody>
      </p:sp>
      <p:pic>
        <p:nvPicPr>
          <p:cNvPr id="10" name="Picture Placeholder 9" descr="A forward gear upon the selection of the first gear. The first gear synchronizer is engaged with the first gear. The synchronizer is splined to the output shaft on the left, while the first gear on the input shaft drives the first gear on the output shaft. The flow of this process is depicted through different color codes and arrows in the illustration.">
            <a:extLst>
              <a:ext uri="{FF2B5EF4-FFF2-40B4-BE49-F238E27FC236}">
                <a16:creationId xmlns:a16="http://schemas.microsoft.com/office/drawing/2014/main" id="{2ECBEDC8-8DCC-2C84-256B-9B9E0AE82BCE}"/>
              </a:ext>
            </a:extLst>
          </p:cNvPr>
          <p:cNvPicPr>
            <a:picLocks noGrp="1" noChangeAspect="1"/>
          </p:cNvPicPr>
          <p:nvPr>
            <p:ph type="pic" sz="quarter" idx="13"/>
          </p:nvPr>
        </p:nvPicPr>
        <p:blipFill rotWithShape="1">
          <a:blip r:embed="rId2"/>
          <a:srcRect b="6885"/>
          <a:stretch/>
        </p:blipFill>
        <p:spPr>
          <a:xfrm>
            <a:off x="6603562" y="1099537"/>
            <a:ext cx="4979621" cy="484543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799" y="473246"/>
            <a:ext cx="5067301" cy="1533354"/>
          </a:xfrm>
        </p:spPr>
        <p:txBody>
          <a:bodyPr/>
          <a:lstStyle/>
          <a:p>
            <a:r>
              <a:rPr lang="en-US" dirty="0">
                <a:solidFill>
                  <a:schemeClr val="tx1"/>
                </a:solidFill>
              </a:rPr>
              <a:t>Transaxle Power Flow—2nd  Gear</a:t>
            </a:r>
          </a:p>
        </p:txBody>
      </p:sp>
      <p:pic>
        <p:nvPicPr>
          <p:cNvPr id="10" name="Picture Placeholder 9" descr="The power flow in a forward gear upon the selection of the second gear. The second gear's respective shift fork moves to engage the selected synchronizer with the second gear. The synchronizer is splined to the output shaft on the left, while the second gear on the input shaft drives the second gear on the output shaft. The flow of this process is depicted through different color codes and arrows in the illustration.">
            <a:extLst>
              <a:ext uri="{FF2B5EF4-FFF2-40B4-BE49-F238E27FC236}">
                <a16:creationId xmlns:a16="http://schemas.microsoft.com/office/drawing/2014/main" id="{47F9746E-4615-ECFB-C42B-7F56E9466FB2}"/>
              </a:ext>
            </a:extLst>
          </p:cNvPr>
          <p:cNvPicPr>
            <a:picLocks noGrp="1" noChangeAspect="1"/>
          </p:cNvPicPr>
          <p:nvPr>
            <p:ph type="pic" sz="quarter" idx="12"/>
          </p:nvPr>
        </p:nvPicPr>
        <p:blipFill rotWithShape="1">
          <a:blip r:embed="rId2"/>
          <a:srcRect b="5760"/>
          <a:stretch/>
        </p:blipFill>
        <p:spPr>
          <a:xfrm>
            <a:off x="6629468" y="1031378"/>
            <a:ext cx="4959916" cy="48456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845" y="473246"/>
            <a:ext cx="6139856" cy="1660354"/>
          </a:xfrm>
        </p:spPr>
        <p:txBody>
          <a:bodyPr/>
          <a:lstStyle/>
          <a:p>
            <a:r>
              <a:rPr lang="en-US" dirty="0">
                <a:solidFill>
                  <a:schemeClr val="tx1"/>
                </a:solidFill>
              </a:rPr>
              <a:t>Transaxle Power Flow—3rd Gear</a:t>
            </a:r>
          </a:p>
        </p:txBody>
      </p:sp>
      <p:pic>
        <p:nvPicPr>
          <p:cNvPr id="10" name="Picture Placeholder 9" descr="The power flow in a forward gear upon the selection of the third gear. When the third gear is selected, then its respective shift fork moves to engage the selected synchronizer with the third gear. The synchronizer is splined to the output shaft on the left, while the third gear on the input shaft drives the third gear on the output shaft. The flow of this process is depicted through different color codes and arrows in the illustration.">
            <a:extLst>
              <a:ext uri="{FF2B5EF4-FFF2-40B4-BE49-F238E27FC236}">
                <a16:creationId xmlns:a16="http://schemas.microsoft.com/office/drawing/2014/main" id="{23BAE5A4-0A89-37EA-58B6-3E8F6F46AD55}"/>
              </a:ext>
            </a:extLst>
          </p:cNvPr>
          <p:cNvPicPr>
            <a:picLocks noGrp="1" noChangeAspect="1"/>
          </p:cNvPicPr>
          <p:nvPr>
            <p:ph type="pic" sz="quarter" idx="12"/>
          </p:nvPr>
        </p:nvPicPr>
        <p:blipFill rotWithShape="1">
          <a:blip r:embed="rId2"/>
          <a:srcRect b="5999"/>
          <a:stretch/>
        </p:blipFill>
        <p:spPr>
          <a:xfrm>
            <a:off x="6655375" y="1042286"/>
            <a:ext cx="4932866" cy="48456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845" y="473246"/>
            <a:ext cx="5403256" cy="1215854"/>
          </a:xfrm>
        </p:spPr>
        <p:txBody>
          <a:bodyPr/>
          <a:lstStyle/>
          <a:p>
            <a:r>
              <a:rPr lang="en-US" dirty="0">
                <a:solidFill>
                  <a:schemeClr val="tx1"/>
                </a:solidFill>
              </a:rPr>
              <a:t>Transaxle Power Flow—4th Gear</a:t>
            </a:r>
          </a:p>
        </p:txBody>
      </p:sp>
      <p:pic>
        <p:nvPicPr>
          <p:cNvPr id="10" name="Picture Placeholder 9" descr="The power flow in a forward gear upon the selection of the fourth gear. When the fourth gear is selected, then its respective shift fork moves to engage the selected synchronizer with the fourth gear. The synchronizer is splined to the output shaft on the left, while the fourth gear on the input shaft drives the fourth gear on the output shaft. The flow of this process is depicted through different color codes and arrows in the illustration.">
            <a:extLst>
              <a:ext uri="{FF2B5EF4-FFF2-40B4-BE49-F238E27FC236}">
                <a16:creationId xmlns:a16="http://schemas.microsoft.com/office/drawing/2014/main" id="{D9BF5D99-B5CF-AA97-839A-8BC1029CC2C8}"/>
              </a:ext>
            </a:extLst>
          </p:cNvPr>
          <p:cNvPicPr>
            <a:picLocks noGrp="1" noChangeAspect="1"/>
          </p:cNvPicPr>
          <p:nvPr>
            <p:ph type="pic" sz="quarter" idx="12"/>
          </p:nvPr>
        </p:nvPicPr>
        <p:blipFill rotWithShape="1">
          <a:blip r:embed="rId2"/>
          <a:srcRect b="5173"/>
          <a:stretch/>
        </p:blipFill>
        <p:spPr>
          <a:xfrm>
            <a:off x="6692513" y="967012"/>
            <a:ext cx="4889893" cy="48456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899" y="903372"/>
            <a:ext cx="4978401" cy="1090527"/>
          </a:xfrm>
        </p:spPr>
        <p:txBody>
          <a:bodyPr/>
          <a:lstStyle/>
          <a:p>
            <a:r>
              <a:rPr lang="en-US" dirty="0">
                <a:solidFill>
                  <a:schemeClr val="tx1"/>
                </a:solidFill>
              </a:rPr>
              <a:t>Transaxle Power Flow—5th Gear</a:t>
            </a:r>
          </a:p>
        </p:txBody>
      </p:sp>
      <p:pic>
        <p:nvPicPr>
          <p:cNvPr id="10" name="Picture Placeholder 9" descr="The power flow in a forward gear upon the selection of the fifth gear. When the fifth gear is selected, then its respective shift fork moves to engage the selected synchronizer with the fifth gear. The synchronizer is splined to the output shaft on the left, while the fifth gear on the input shaft drives the fifth gear on the output shaft. The flow of this process is depicted through different color codes and arrows in the illustration. The fifth gear driveshaft pinion gear is highlighted in yellow through which the power flows initially.">
            <a:extLst>
              <a:ext uri="{FF2B5EF4-FFF2-40B4-BE49-F238E27FC236}">
                <a16:creationId xmlns:a16="http://schemas.microsoft.com/office/drawing/2014/main" id="{226E77B6-3D7D-80B4-CFC2-976E22166B17}"/>
              </a:ext>
            </a:extLst>
          </p:cNvPr>
          <p:cNvPicPr>
            <a:picLocks noGrp="1" noChangeAspect="1"/>
          </p:cNvPicPr>
          <p:nvPr>
            <p:ph type="pic" sz="quarter" idx="12"/>
          </p:nvPr>
        </p:nvPicPr>
        <p:blipFill rotWithShape="1">
          <a:blip r:embed="rId2"/>
          <a:srcRect b="6029"/>
          <a:stretch/>
        </p:blipFill>
        <p:spPr>
          <a:xfrm>
            <a:off x="7164634" y="1032876"/>
            <a:ext cx="4419827" cy="48456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845" y="473246"/>
            <a:ext cx="5746156" cy="1069804"/>
          </a:xfrm>
        </p:spPr>
        <p:txBody>
          <a:bodyPr/>
          <a:lstStyle/>
          <a:p>
            <a:r>
              <a:rPr lang="en-US" dirty="0">
                <a:solidFill>
                  <a:schemeClr val="tx1"/>
                </a:solidFill>
              </a:rPr>
              <a:t>Transaxle Power Flow—Reverse</a:t>
            </a:r>
          </a:p>
        </p:txBody>
      </p:sp>
      <p:pic>
        <p:nvPicPr>
          <p:cNvPr id="10" name="Picture Placeholder 9" descr="The power flow in a reverse gear upon the selection of the reverse gear. When the reverse gear is selected on transaxles while using a sliding reverse gear, the shifting fork forces the reverse idler gear into meshing between the input and output shafts. The flow of this process is depicted through different color codes and arrows in the illustration. The reverse idler gear is highlighted in blue through which the power flows initially. At the bottom left is the zoomed in view of the reverse idler gear between the input and output shafts.">
            <a:extLst>
              <a:ext uri="{FF2B5EF4-FFF2-40B4-BE49-F238E27FC236}">
                <a16:creationId xmlns:a16="http://schemas.microsoft.com/office/drawing/2014/main" id="{FBAD252C-A02A-9C95-26EA-D67BDFDD0857}"/>
              </a:ext>
            </a:extLst>
          </p:cNvPr>
          <p:cNvPicPr>
            <a:picLocks noGrp="1" noChangeAspect="1"/>
          </p:cNvPicPr>
          <p:nvPr>
            <p:ph type="pic" sz="quarter" idx="13"/>
          </p:nvPr>
        </p:nvPicPr>
        <p:blipFill rotWithShape="1">
          <a:blip r:embed="rId2"/>
          <a:srcRect b="5004"/>
          <a:stretch/>
        </p:blipFill>
        <p:spPr>
          <a:xfrm>
            <a:off x="6958802" y="1036805"/>
            <a:ext cx="4630119" cy="48456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2)</a:t>
            </a:r>
          </a:p>
        </p:txBody>
      </p:sp>
      <p:sp>
        <p:nvSpPr>
          <p:cNvPr id="3" name="Content Placeholder 2"/>
          <p:cNvSpPr>
            <a:spLocks noGrp="1"/>
          </p:cNvSpPr>
          <p:nvPr>
            <p:ph type="body" idx="1"/>
          </p:nvPr>
        </p:nvSpPr>
        <p:spPr/>
        <p:txBody>
          <a:bodyPr/>
          <a:lstStyle/>
          <a:p>
            <a:pPr marL="85725" indent="0">
              <a:spcBef>
                <a:spcPts val="624"/>
              </a:spcBef>
              <a:spcAft>
                <a:spcPts val="600"/>
              </a:spcAft>
              <a:buNone/>
            </a:pPr>
            <a:r>
              <a:rPr lang="en-US" sz="2600" dirty="0">
                <a:solidFill>
                  <a:schemeClr val="tx1"/>
                </a:solidFill>
              </a:rPr>
              <a:t>Which of the gears in a typical RWD transmission is not synchronized?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2)</a:t>
            </a:r>
          </a:p>
        </p:txBody>
      </p:sp>
      <p:sp>
        <p:nvSpPr>
          <p:cNvPr id="3" name="Content Placeholder 2"/>
          <p:cNvSpPr>
            <a:spLocks noGrp="1"/>
          </p:cNvSpPr>
          <p:nvPr>
            <p:ph type="body" idx="1"/>
          </p:nvPr>
        </p:nvSpPr>
        <p:spPr/>
        <p:txBody>
          <a:bodyPr/>
          <a:lstStyle/>
          <a:p>
            <a:pPr marL="85725" indent="0">
              <a:spcBef>
                <a:spcPts val="624"/>
              </a:spcBef>
              <a:spcAft>
                <a:spcPts val="1200"/>
              </a:spcAft>
              <a:buNone/>
            </a:pPr>
            <a:r>
              <a:rPr lang="en-US" sz="2600" dirty="0">
                <a:solidFill>
                  <a:schemeClr val="tx1"/>
                </a:solidFill>
              </a:rPr>
              <a:t>Which of the gears in a typical RWD transmission is not synchronized?</a:t>
            </a:r>
          </a:p>
          <a:p>
            <a:pPr marL="85725" indent="0">
              <a:buNone/>
            </a:pPr>
            <a:r>
              <a:rPr lang="en-US" sz="2600" b="1" dirty="0">
                <a:solidFill>
                  <a:schemeClr val="tx1"/>
                </a:solidFill>
              </a:rPr>
              <a:t>Answer: </a:t>
            </a:r>
            <a:r>
              <a:rPr lang="en-US" sz="2600" dirty="0">
                <a:solidFill>
                  <a:schemeClr val="tx1"/>
                </a:solidFill>
              </a:rPr>
              <a:t>Reverse</a:t>
            </a:r>
          </a:p>
        </p:txBody>
      </p:sp>
    </p:spTree>
    <p:extLst>
      <p:ext uri="{BB962C8B-B14F-4D97-AF65-F5344CB8AC3E}">
        <p14:creationId xmlns:p14="http://schemas.microsoft.com/office/powerpoint/2010/main" val="26609903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7"/>
          <p:cNvSpPr>
            <a:spLocks noGrp="1"/>
          </p:cNvSpPr>
          <p:nvPr>
            <p:ph type="title"/>
          </p:nvPr>
        </p:nvSpPr>
        <p:spPr/>
        <p:txBody>
          <a:bodyPr/>
          <a:lstStyle/>
          <a:p>
            <a:r>
              <a:rPr lang="en-US" dirty="0"/>
              <a:t>Differential Action</a:t>
            </a:r>
          </a:p>
        </p:txBody>
      </p:sp>
      <p:sp>
        <p:nvSpPr>
          <p:cNvPr id="53251" name="Content Placeholder 8"/>
          <p:cNvSpPr>
            <a:spLocks noGrp="1"/>
          </p:cNvSpPr>
          <p:nvPr>
            <p:ph type="body" idx="1"/>
          </p:nvPr>
        </p:nvSpPr>
        <p:spPr/>
        <p:txBody>
          <a:bodyPr>
            <a:normAutofit/>
          </a:bodyPr>
          <a:lstStyle/>
          <a:p>
            <a:pPr>
              <a:spcBef>
                <a:spcPts val="624"/>
              </a:spcBef>
              <a:spcAft>
                <a:spcPts val="600"/>
              </a:spcAft>
            </a:pPr>
            <a:r>
              <a:rPr lang="en-US" sz="2600" dirty="0">
                <a:solidFill>
                  <a:schemeClr val="tx1"/>
                </a:solidFill>
              </a:rPr>
              <a:t>Final drive ring gear driven by the output shaft.</a:t>
            </a:r>
          </a:p>
          <a:p>
            <a:pPr>
              <a:spcBef>
                <a:spcPts val="624"/>
              </a:spcBef>
              <a:spcAft>
                <a:spcPts val="600"/>
              </a:spcAft>
            </a:pPr>
            <a:r>
              <a:rPr lang="en-US" sz="2600" dirty="0">
                <a:solidFill>
                  <a:schemeClr val="tx1"/>
                </a:solidFill>
              </a:rPr>
              <a:t>Usually does not need to turn 90 degrees.</a:t>
            </a:r>
          </a:p>
          <a:p>
            <a:pPr>
              <a:spcBef>
                <a:spcPts val="624"/>
              </a:spcBef>
              <a:spcAft>
                <a:spcPts val="600"/>
              </a:spcAft>
            </a:pPr>
            <a:r>
              <a:rPr lang="en-US" sz="2600" dirty="0">
                <a:solidFill>
                  <a:schemeClr val="tx1"/>
                </a:solidFill>
              </a:rPr>
              <a:t>Only provides torque multiplication and divide the torque to the axle shafts.</a:t>
            </a:r>
          </a:p>
          <a:p>
            <a:pPr>
              <a:spcBef>
                <a:spcPts val="624"/>
              </a:spcBef>
              <a:spcAft>
                <a:spcPts val="600"/>
              </a:spcAft>
            </a:pPr>
            <a:r>
              <a:rPr lang="en-US" sz="2600" dirty="0">
                <a:solidFill>
                  <a:schemeClr val="tx1"/>
                </a:solidFill>
              </a:rPr>
              <a:t>Provides additional gear reduction beyond the transmission/transaxle called the final drive gear.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Final Drive Gears and Overall Ratios</a:t>
            </a:r>
          </a:p>
        </p:txBody>
      </p:sp>
      <p:sp>
        <p:nvSpPr>
          <p:cNvPr id="3" name="Content Placeholder 2"/>
          <p:cNvSpPr>
            <a:spLocks noGrp="1"/>
          </p:cNvSpPr>
          <p:nvPr>
            <p:ph type="body" idx="1"/>
          </p:nvPr>
        </p:nvSpPr>
        <p:spPr/>
        <p:txBody>
          <a:bodyPr>
            <a:normAutofit/>
          </a:bodyPr>
          <a:lstStyle/>
          <a:p>
            <a:pPr marL="355600" indent="-355600">
              <a:spcBef>
                <a:spcPts val="624"/>
              </a:spcBef>
              <a:spcAft>
                <a:spcPts val="600"/>
              </a:spcAft>
            </a:pPr>
            <a:r>
              <a:rPr lang="en-US" sz="2600" dirty="0">
                <a:solidFill>
                  <a:schemeClr val="tx1"/>
                </a:solidFill>
              </a:rPr>
              <a:t>All vehicles use a gearset to provide additional gear reduction beyond the transmission.</a:t>
            </a:r>
          </a:p>
          <a:p>
            <a:pPr marL="355600" indent="-355600">
              <a:spcBef>
                <a:spcPts val="624"/>
              </a:spcBef>
              <a:spcAft>
                <a:spcPts val="600"/>
              </a:spcAft>
            </a:pPr>
            <a:r>
              <a:rPr lang="en-US" sz="2600" dirty="0">
                <a:solidFill>
                  <a:schemeClr val="tx1"/>
                </a:solidFill>
              </a:rPr>
              <a:t>This is called the final drive gear.</a:t>
            </a:r>
          </a:p>
          <a:p>
            <a:pPr marL="355600" indent="-355600">
              <a:spcBef>
                <a:spcPts val="624"/>
              </a:spcBef>
              <a:spcAft>
                <a:spcPts val="600"/>
              </a:spcAft>
            </a:pPr>
            <a:r>
              <a:rPr lang="en-US" sz="2600" dirty="0">
                <a:solidFill>
                  <a:schemeClr val="tx1"/>
                </a:solidFill>
              </a:rPr>
              <a:t>Located in the differential housing for transmission-equipped vehicles.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Dual Clutch Transmissions (DCTs)</a:t>
            </a:r>
          </a:p>
        </p:txBody>
      </p:sp>
      <p:sp>
        <p:nvSpPr>
          <p:cNvPr id="3" name="Content Placeholder 2"/>
          <p:cNvSpPr>
            <a:spLocks noGrp="1"/>
          </p:cNvSpPr>
          <p:nvPr>
            <p:ph type="body" idx="1"/>
          </p:nvPr>
        </p:nvSpPr>
        <p:spPr>
          <a:xfrm>
            <a:off x="476845" y="1563626"/>
            <a:ext cx="6812955" cy="4227574"/>
          </a:xfrm>
        </p:spPr>
        <p:txBody>
          <a:bodyPr/>
          <a:lstStyle/>
          <a:p>
            <a:pPr marL="0" indent="0">
              <a:spcBef>
                <a:spcPts val="624"/>
              </a:spcBef>
              <a:spcAft>
                <a:spcPts val="600"/>
              </a:spcAft>
              <a:buNone/>
            </a:pPr>
            <a:r>
              <a:rPr lang="en-US" b="1" dirty="0">
                <a:solidFill>
                  <a:schemeClr val="tx1"/>
                </a:solidFill>
                <a:latin typeface="Work Sans" pitchFamily="2" charset="0"/>
              </a:rPr>
              <a:t>38-06 Explain the operation of automatically shifted manual transmissions and transaxles</a:t>
            </a:r>
            <a:r>
              <a:rPr lang="en-US" dirty="0">
                <a:solidFill>
                  <a:schemeClr val="tx1"/>
                </a:solidFill>
                <a:latin typeface="Work Sans" pitchFamily="2" charset="0"/>
              </a:rPr>
              <a:t>.</a:t>
            </a:r>
            <a:endParaRPr lang="en-US" dirty="0">
              <a:solidFill>
                <a:schemeClr val="tx1"/>
              </a:solidFill>
            </a:endParaRPr>
          </a:p>
          <a:p>
            <a:pPr>
              <a:spcBef>
                <a:spcPts val="624"/>
              </a:spcBef>
              <a:spcAft>
                <a:spcPts val="600"/>
              </a:spcAft>
            </a:pPr>
            <a:r>
              <a:rPr lang="en-US" dirty="0">
                <a:solidFill>
                  <a:schemeClr val="tx1"/>
                </a:solidFill>
              </a:rPr>
              <a:t>Becoming very common.</a:t>
            </a:r>
          </a:p>
          <a:p>
            <a:pPr>
              <a:spcBef>
                <a:spcPts val="624"/>
              </a:spcBef>
              <a:spcAft>
                <a:spcPts val="600"/>
              </a:spcAft>
            </a:pPr>
            <a:r>
              <a:rPr lang="en-US" dirty="0">
                <a:solidFill>
                  <a:schemeClr val="tx1"/>
                </a:solidFill>
              </a:rPr>
              <a:t>Can change gears very fast.</a:t>
            </a:r>
          </a:p>
          <a:p>
            <a:pPr>
              <a:spcBef>
                <a:spcPts val="624"/>
              </a:spcBef>
              <a:spcAft>
                <a:spcPts val="600"/>
              </a:spcAft>
            </a:pPr>
            <a:r>
              <a:rPr lang="en-US" dirty="0">
                <a:solidFill>
                  <a:schemeClr val="tx1"/>
                </a:solidFill>
              </a:rPr>
              <a:t>Fuel economy improves.</a:t>
            </a:r>
          </a:p>
          <a:p>
            <a:pPr>
              <a:spcBef>
                <a:spcPts val="624"/>
              </a:spcBef>
              <a:spcAft>
                <a:spcPts val="600"/>
              </a:spcAft>
            </a:pPr>
            <a:r>
              <a:rPr lang="en-US" dirty="0">
                <a:solidFill>
                  <a:schemeClr val="tx1"/>
                </a:solidFill>
              </a:rPr>
              <a:t>Performance improves.</a:t>
            </a:r>
          </a:p>
        </p:txBody>
      </p:sp>
      <p:pic>
        <p:nvPicPr>
          <p:cNvPr id="11" name="Picture Placeholder 10" descr="A dual-clutch assembly and its associated components.">
            <a:extLst>
              <a:ext uri="{FF2B5EF4-FFF2-40B4-BE49-F238E27FC236}">
                <a16:creationId xmlns:a16="http://schemas.microsoft.com/office/drawing/2014/main" id="{A63F2800-3B02-D25C-084B-7D0A24F18EAF}"/>
              </a:ext>
            </a:extLst>
          </p:cNvPr>
          <p:cNvPicPr>
            <a:picLocks noGrp="1" noChangeAspect="1"/>
          </p:cNvPicPr>
          <p:nvPr>
            <p:ph type="pic" sz="quarter" idx="12"/>
          </p:nvPr>
        </p:nvPicPr>
        <p:blipFill rotWithShape="1">
          <a:blip r:embed="rId2"/>
          <a:srcRect b="16376"/>
          <a:stretch/>
        </p:blipFill>
        <p:spPr>
          <a:xfrm>
            <a:off x="6708243" y="1845354"/>
            <a:ext cx="4930318" cy="340141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from the Engine</a:t>
            </a:r>
          </a:p>
        </p:txBody>
      </p:sp>
      <p:sp>
        <p:nvSpPr>
          <p:cNvPr id="3" name="Content Placeholder 2"/>
          <p:cNvSpPr>
            <a:spLocks noGrp="1"/>
          </p:cNvSpPr>
          <p:nvPr>
            <p:ph type="body" idx="1"/>
          </p:nvPr>
        </p:nvSpPr>
        <p:spPr>
          <a:xfrm>
            <a:off x="476845" y="1563626"/>
            <a:ext cx="6736755" cy="3884674"/>
          </a:xfrm>
        </p:spPr>
        <p:txBody>
          <a:bodyPr/>
          <a:lstStyle/>
          <a:p>
            <a:pPr>
              <a:spcBef>
                <a:spcPts val="624"/>
              </a:spcBef>
              <a:spcAft>
                <a:spcPts val="600"/>
              </a:spcAft>
            </a:pPr>
            <a:r>
              <a:rPr lang="en-US" dirty="0">
                <a:solidFill>
                  <a:schemeClr val="tx1"/>
                </a:solidFill>
              </a:rPr>
              <a:t>May use wet or dry clutches.</a:t>
            </a:r>
          </a:p>
          <a:p>
            <a:pPr>
              <a:spcBef>
                <a:spcPts val="624"/>
              </a:spcBef>
              <a:spcAft>
                <a:spcPts val="600"/>
              </a:spcAft>
            </a:pPr>
            <a:r>
              <a:rPr lang="en-US" dirty="0">
                <a:solidFill>
                  <a:schemeClr val="tx1"/>
                </a:solidFill>
              </a:rPr>
              <a:t>Dry clutches often used with smaller FWD vehicles.</a:t>
            </a:r>
          </a:p>
          <a:p>
            <a:pPr>
              <a:spcBef>
                <a:spcPts val="624"/>
              </a:spcBef>
              <a:spcAft>
                <a:spcPts val="600"/>
              </a:spcAft>
            </a:pPr>
            <a:r>
              <a:rPr lang="en-US" dirty="0">
                <a:solidFill>
                  <a:schemeClr val="tx1"/>
                </a:solidFill>
              </a:rPr>
              <a:t>Wet clutches often used on larger RWD vehicles.</a:t>
            </a:r>
          </a:p>
        </p:txBody>
      </p:sp>
      <p:pic>
        <p:nvPicPr>
          <p:cNvPr id="10" name="Picture Placeholder 9" descr="A six-speed dual-clutch transmission depicts dry clutches for front wheel drive vehicles.">
            <a:extLst>
              <a:ext uri="{FF2B5EF4-FFF2-40B4-BE49-F238E27FC236}">
                <a16:creationId xmlns:a16="http://schemas.microsoft.com/office/drawing/2014/main" id="{74E7A06C-148D-97C6-0788-489CCEAEA091}"/>
              </a:ext>
            </a:extLst>
          </p:cNvPr>
          <p:cNvPicPr>
            <a:picLocks noGrp="1" noChangeAspect="1"/>
          </p:cNvPicPr>
          <p:nvPr>
            <p:ph type="pic" sz="quarter" idx="13"/>
          </p:nvPr>
        </p:nvPicPr>
        <p:blipFill rotWithShape="1">
          <a:blip r:embed="rId2"/>
          <a:srcRect b="9983"/>
          <a:stretch/>
        </p:blipFill>
        <p:spPr>
          <a:xfrm>
            <a:off x="7147372" y="1751842"/>
            <a:ext cx="4768649" cy="368098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DCT</a:t>
            </a:r>
            <a:r>
              <a:rPr lang="en-US" dirty="0"/>
              <a:t> Operation</a:t>
            </a:r>
          </a:p>
        </p:txBody>
      </p:sp>
      <p:sp>
        <p:nvSpPr>
          <p:cNvPr id="6" name="Content Placeholder 5"/>
          <p:cNvSpPr>
            <a:spLocks noGrp="1"/>
          </p:cNvSpPr>
          <p:nvPr>
            <p:ph type="body" idx="1"/>
          </p:nvPr>
        </p:nvSpPr>
        <p:spPr>
          <a:xfrm>
            <a:off x="476845" y="1563626"/>
            <a:ext cx="5898903" cy="3884674"/>
          </a:xfrm>
        </p:spPr>
        <p:txBody>
          <a:bodyPr/>
          <a:lstStyle/>
          <a:p>
            <a:pPr>
              <a:spcBef>
                <a:spcPts val="624"/>
              </a:spcBef>
              <a:spcAft>
                <a:spcPts val="600"/>
              </a:spcAft>
            </a:pPr>
            <a:r>
              <a:rPr lang="en-US" dirty="0">
                <a:solidFill>
                  <a:schemeClr val="tx1"/>
                </a:solidFill>
              </a:rPr>
              <a:t>A </a:t>
            </a:r>
            <a:r>
              <a:rPr lang="en-US" dirty="0" err="1">
                <a:solidFill>
                  <a:schemeClr val="tx1"/>
                </a:solidFill>
              </a:rPr>
              <a:t>DCT</a:t>
            </a:r>
            <a:r>
              <a:rPr lang="en-US" dirty="0">
                <a:solidFill>
                  <a:schemeClr val="tx1"/>
                </a:solidFill>
              </a:rPr>
              <a:t> has two separate shafts and sets of gears.</a:t>
            </a:r>
          </a:p>
          <a:p>
            <a:pPr>
              <a:spcBef>
                <a:spcPts val="624"/>
              </a:spcBef>
              <a:spcAft>
                <a:spcPts val="600"/>
              </a:spcAft>
            </a:pPr>
            <a:r>
              <a:rPr lang="en-US" dirty="0">
                <a:solidFill>
                  <a:schemeClr val="tx1"/>
                </a:solidFill>
              </a:rPr>
              <a:t>One shaft has the even gears, the other shaft the odd gears.</a:t>
            </a:r>
          </a:p>
          <a:p>
            <a:pPr>
              <a:spcBef>
                <a:spcPts val="624"/>
              </a:spcBef>
              <a:spcAft>
                <a:spcPts val="600"/>
              </a:spcAft>
            </a:pPr>
            <a:r>
              <a:rPr lang="en-US" dirty="0">
                <a:solidFill>
                  <a:schemeClr val="tx1"/>
                </a:solidFill>
              </a:rPr>
              <a:t>One clutch is for 1st, 3rd, and 5th gears.</a:t>
            </a:r>
          </a:p>
          <a:p>
            <a:pPr>
              <a:spcBef>
                <a:spcPts val="624"/>
              </a:spcBef>
              <a:spcAft>
                <a:spcPts val="600"/>
              </a:spcAft>
            </a:pPr>
            <a:r>
              <a:rPr lang="en-US" dirty="0">
                <a:solidFill>
                  <a:schemeClr val="tx1"/>
                </a:solidFill>
              </a:rPr>
              <a:t>The other clutch is for 2nd, 4th, and 6th gears.</a:t>
            </a:r>
          </a:p>
        </p:txBody>
      </p:sp>
      <p:pic>
        <p:nvPicPr>
          <p:cNvPr id="10" name="Picture Placeholder 9" descr="A basic layout for a six-speed D C T with the following components labeled: From engine, To differential, Clutch 1, Clutch 2, Counter shaft, Clutch case, Outer input shaft, and Inner input shaft. Gears are numbered in the sequence 2, 4, 6, 5, 3 and 1. Gears 2, 4, and 6 are highlighted in a color while 3, 5, and 1 are highlighted in a different second color.">
            <a:extLst>
              <a:ext uri="{FF2B5EF4-FFF2-40B4-BE49-F238E27FC236}">
                <a16:creationId xmlns:a16="http://schemas.microsoft.com/office/drawing/2014/main" id="{50A22002-4D4E-967E-AF03-62BA26EAF4B0}"/>
              </a:ext>
            </a:extLst>
          </p:cNvPr>
          <p:cNvPicPr>
            <a:picLocks noGrp="1" noChangeAspect="1"/>
          </p:cNvPicPr>
          <p:nvPr>
            <p:ph type="pic" sz="quarter" idx="12"/>
          </p:nvPr>
        </p:nvPicPr>
        <p:blipFill rotWithShape="1">
          <a:blip r:embed="rId2"/>
          <a:srcRect b="4308"/>
          <a:stretch/>
        </p:blipFill>
        <p:spPr>
          <a:xfrm>
            <a:off x="6602709" y="1791160"/>
            <a:ext cx="5079711" cy="351600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dirty="0"/>
              <a:t>Electrical Systems</a:t>
            </a:r>
          </a:p>
        </p:txBody>
      </p:sp>
      <p:sp>
        <p:nvSpPr>
          <p:cNvPr id="54275" name="Content Placeholder 2"/>
          <p:cNvSpPr>
            <a:spLocks noGrp="1"/>
          </p:cNvSpPr>
          <p:nvPr>
            <p:ph type="body" idx="1"/>
          </p:nvPr>
        </p:nvSpPr>
        <p:spPr/>
        <p:txBody>
          <a:bodyPr/>
          <a:lstStyle/>
          <a:p>
            <a:pPr>
              <a:spcBef>
                <a:spcPts val="624"/>
              </a:spcBef>
              <a:spcAft>
                <a:spcPts val="600"/>
              </a:spcAft>
            </a:pPr>
            <a:r>
              <a:rPr lang="en-US" sz="2600" dirty="0">
                <a:solidFill>
                  <a:schemeClr val="tx1"/>
                </a:solidFill>
              </a:rPr>
              <a:t>Reverse Lamp Switch</a:t>
            </a:r>
          </a:p>
          <a:p>
            <a:pPr lvl="1">
              <a:spcBef>
                <a:spcPts val="624"/>
              </a:spcBef>
              <a:spcAft>
                <a:spcPts val="600"/>
              </a:spcAft>
            </a:pPr>
            <a:r>
              <a:rPr lang="en-US" dirty="0">
                <a:solidFill>
                  <a:schemeClr val="tx1"/>
                </a:solidFill>
              </a:rPr>
              <a:t>Usually on transmission but can be on linkage.</a:t>
            </a:r>
          </a:p>
          <a:p>
            <a:pPr>
              <a:spcBef>
                <a:spcPts val="624"/>
              </a:spcBef>
              <a:spcAft>
                <a:spcPts val="600"/>
              </a:spcAft>
            </a:pPr>
            <a:r>
              <a:rPr lang="en-US" sz="2600" dirty="0">
                <a:solidFill>
                  <a:schemeClr val="tx1"/>
                </a:solidFill>
              </a:rPr>
              <a:t>Vehicle Speed Sensor</a:t>
            </a:r>
          </a:p>
          <a:p>
            <a:pPr lvl="1">
              <a:spcBef>
                <a:spcPts val="624"/>
              </a:spcBef>
              <a:spcAft>
                <a:spcPts val="600"/>
              </a:spcAft>
            </a:pPr>
            <a:r>
              <a:rPr lang="en-US" dirty="0">
                <a:solidFill>
                  <a:schemeClr val="tx1"/>
                </a:solidFill>
              </a:rPr>
              <a:t>Sends speed signal to PCM.</a:t>
            </a:r>
          </a:p>
          <a:p>
            <a:pPr>
              <a:spcBef>
                <a:spcPts val="624"/>
              </a:spcBef>
              <a:spcAft>
                <a:spcPts val="600"/>
              </a:spcAft>
            </a:pPr>
            <a:r>
              <a:rPr lang="en-US" sz="2600" dirty="0">
                <a:solidFill>
                  <a:schemeClr val="tx1"/>
                </a:solidFill>
              </a:rPr>
              <a:t>Reverse Lockout Systems</a:t>
            </a:r>
          </a:p>
          <a:p>
            <a:pPr lvl="1">
              <a:spcBef>
                <a:spcPts val="624"/>
              </a:spcBef>
              <a:spcAft>
                <a:spcPts val="600"/>
              </a:spcAft>
            </a:pPr>
            <a:r>
              <a:rPr lang="en-US" dirty="0">
                <a:solidFill>
                  <a:schemeClr val="tx1"/>
                </a:solidFill>
              </a:rPr>
              <a:t>Prevents accidental shifting into reverse.</a:t>
            </a:r>
          </a:p>
          <a:p>
            <a:pPr>
              <a:spcBef>
                <a:spcPts val="624"/>
              </a:spcBef>
              <a:spcAft>
                <a:spcPts val="600"/>
              </a:spcAft>
            </a:pPr>
            <a:r>
              <a:rPr lang="en-US" sz="2600" dirty="0">
                <a:solidFill>
                  <a:schemeClr val="tx1"/>
                </a:solidFill>
              </a:rPr>
              <a:t>Shift Blocking</a:t>
            </a:r>
          </a:p>
          <a:p>
            <a:pPr lvl="1">
              <a:spcBef>
                <a:spcPts val="624"/>
              </a:spcBef>
              <a:spcAft>
                <a:spcPts val="600"/>
              </a:spcAft>
            </a:pPr>
            <a:r>
              <a:rPr lang="en-US" dirty="0">
                <a:solidFill>
                  <a:schemeClr val="tx1"/>
                </a:solidFill>
              </a:rPr>
              <a:t>Used to improve fuel economy.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457200" indent="-457200">
              <a:spcBef>
                <a:spcPts val="0"/>
              </a:spcBef>
            </a:pPr>
            <a:r>
              <a:rPr lang="en-US" sz="2600" dirty="0">
                <a:solidFill>
                  <a:schemeClr val="tx1"/>
                </a:solidFill>
                <a:latin typeface="Work Sans" pitchFamily="2" charset="0"/>
              </a:rPr>
              <a:t>Write down the concept from this chapter that challenged you the most. Describe what made the concept difficult for you and the steps you took to improve your understanding.</a:t>
            </a:r>
          </a:p>
          <a:p>
            <a:pPr marL="457200" indent="-457200">
              <a:spcBef>
                <a:spcPts val="624"/>
              </a:spcBef>
              <a:spcAft>
                <a:spcPts val="18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786B50EC-0E90-4224-924C-D5942CBE133C}" vid="{954A26D9-52F7-41AC-9392-BD72CE4284C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724</TotalTime>
  <Words>1540</Words>
  <Application>Microsoft Office PowerPoint</Application>
  <PresentationFormat>Widescreen</PresentationFormat>
  <Paragraphs>189</Paragraphs>
  <Slides>54</Slides>
  <Notes>40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54</vt:i4>
      </vt:variant>
    </vt:vector>
  </HeadingPairs>
  <TitlesOfParts>
    <vt:vector size="59" baseType="lpstr">
      <vt:lpstr>Arial</vt:lpstr>
      <vt:lpstr>Calibri</vt:lpstr>
      <vt:lpstr>Work Sans</vt:lpstr>
      <vt:lpstr>Custom Design</vt:lpstr>
      <vt:lpstr>Theme1</vt:lpstr>
      <vt:lpstr>Automotive Technology: A Systems Approach, 8e</vt:lpstr>
      <vt:lpstr>Chapter Objectives (1 of 2)</vt:lpstr>
      <vt:lpstr>Chapter Objectives (2 of 2)</vt:lpstr>
      <vt:lpstr>Transmission Versus Transaxle</vt:lpstr>
      <vt:lpstr>Typical RWD</vt:lpstr>
      <vt:lpstr>Typical FWD</vt:lpstr>
      <vt:lpstr>Transmission Designs</vt:lpstr>
      <vt:lpstr>Gears</vt:lpstr>
      <vt:lpstr>The Gear in a Transmission Transmit the Rotating Power</vt:lpstr>
      <vt:lpstr>Gear Design</vt:lpstr>
      <vt:lpstr>Gear Designs </vt:lpstr>
      <vt:lpstr>Helical Gears</vt:lpstr>
      <vt:lpstr>Idler Gear</vt:lpstr>
      <vt:lpstr>Definition of Gear Ratios</vt:lpstr>
      <vt:lpstr>Calculating Transmission Gear Ratios</vt:lpstr>
      <vt:lpstr>Reverse Gear Ratio</vt:lpstr>
      <vt:lpstr>Knowledge Check (1 of 2)</vt:lpstr>
      <vt:lpstr>Knowledge Check Answer (1 of 2)</vt:lpstr>
      <vt:lpstr>Transmission and Transaxle Design</vt:lpstr>
      <vt:lpstr>Transmission Features</vt:lpstr>
      <vt:lpstr>Transaxle Features</vt:lpstr>
      <vt:lpstr>Synchronizers</vt:lpstr>
      <vt:lpstr>Synchronizer Assembly</vt:lpstr>
      <vt:lpstr>Block or Cone Synchronizers</vt:lpstr>
      <vt:lpstr>Gear Shoulder and Blocker Ring Mating</vt:lpstr>
      <vt:lpstr>Advanced Synchronizer Designs</vt:lpstr>
      <vt:lpstr>Gearshift Mechanisms</vt:lpstr>
      <vt:lpstr>Gearshift Linkage</vt:lpstr>
      <vt:lpstr>Transmission Power Flow </vt:lpstr>
      <vt:lpstr>Power Flow </vt:lpstr>
      <vt:lpstr>Power Flow in First Gear</vt:lpstr>
      <vt:lpstr>Power Flow in Second Gear</vt:lpstr>
      <vt:lpstr>Power Flow in Third Gear</vt:lpstr>
      <vt:lpstr>Power Flow in Fourth Gear</vt:lpstr>
      <vt:lpstr>Power Flow in Fifth Gear</vt:lpstr>
      <vt:lpstr>Power Flow in Reverse (1 of 2)</vt:lpstr>
      <vt:lpstr>Power Flow in Reverse (2 of 2)</vt:lpstr>
      <vt:lpstr>Transaxle Power Flow (1 of 2)</vt:lpstr>
      <vt:lpstr>Transaxle Power Flow (2 of 2)</vt:lpstr>
      <vt:lpstr>Transaxle Power Flow—1st Gear</vt:lpstr>
      <vt:lpstr>Transaxle Power Flow—2nd  Gear</vt:lpstr>
      <vt:lpstr>Transaxle Power Flow—3rd Gear</vt:lpstr>
      <vt:lpstr>Transaxle Power Flow—4th Gear</vt:lpstr>
      <vt:lpstr>Transaxle Power Flow—5th Gear</vt:lpstr>
      <vt:lpstr>Transaxle Power Flow—Reverse</vt:lpstr>
      <vt:lpstr>Knowledge Check (2 of 2)</vt:lpstr>
      <vt:lpstr>Knowledge Check Answer (2 of 2)</vt:lpstr>
      <vt:lpstr>Differential Action</vt:lpstr>
      <vt:lpstr>Final Drive Gears and Overall Ratios</vt:lpstr>
      <vt:lpstr>Dual Clutch Transmissions (DCTs)</vt:lpstr>
      <vt:lpstr>Input from the Engine</vt:lpstr>
      <vt:lpstr>DCT Operation</vt:lpstr>
      <vt:lpstr>Electrical Systems</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118</cp:revision>
  <dcterms:created xsi:type="dcterms:W3CDTF">2012-09-04T13:49:02Z</dcterms:created>
  <dcterms:modified xsi:type="dcterms:W3CDTF">2024-12-04T16:12:55Z</dcterms:modified>
</cp:coreProperties>
</file>