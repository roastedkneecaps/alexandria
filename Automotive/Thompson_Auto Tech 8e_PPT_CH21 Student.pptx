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403" r:id="rId2"/>
    <p:sldId id="301" r:id="rId3"/>
    <p:sldId id="302" r:id="rId4"/>
    <p:sldId id="303" r:id="rId5"/>
    <p:sldId id="404" r:id="rId6"/>
    <p:sldId id="405" r:id="rId7"/>
    <p:sldId id="406" r:id="rId8"/>
    <p:sldId id="407" r:id="rId9"/>
    <p:sldId id="408" r:id="rId10"/>
    <p:sldId id="409" r:id="rId11"/>
    <p:sldId id="410" r:id="rId12"/>
    <p:sldId id="411" r:id="rId13"/>
    <p:sldId id="412" r:id="rId14"/>
    <p:sldId id="413"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6" r:id="rId28"/>
    <p:sldId id="427" r:id="rId29"/>
    <p:sldId id="428" r:id="rId30"/>
    <p:sldId id="429" r:id="rId31"/>
    <p:sldId id="430" r:id="rId32"/>
    <p:sldId id="431" r:id="rId33"/>
    <p:sldId id="432" r:id="rId34"/>
    <p:sldId id="433" r:id="rId35"/>
    <p:sldId id="434" r:id="rId36"/>
    <p:sldId id="435" r:id="rId37"/>
    <p:sldId id="436" r:id="rId38"/>
    <p:sldId id="437" r:id="rId39"/>
    <p:sldId id="438" r:id="rId40"/>
  </p:sldIdLst>
  <p:sldSz cx="12192000" cy="6858000"/>
  <p:notesSz cx="6858000" cy="9144000"/>
  <p:embeddedFontLst>
    <p:embeddedFont>
      <p:font typeface="Work Sans"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99" autoAdjust="0"/>
    <p:restoredTop sz="86375" autoAdjust="0"/>
  </p:normalViewPr>
  <p:slideViewPr>
    <p:cSldViewPr snapToGrid="0">
      <p:cViewPr varScale="1">
        <p:scale>
          <a:sx n="51" d="100"/>
          <a:sy n="51" d="100"/>
        </p:scale>
        <p:origin x="356"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27758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916796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1B7B89B1-E723-71DA-38A2-09C1EAF370C6}"/>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C0C5ED2E-ADF9-C8B6-DA36-7E7DB315632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844A6690-CE95-100E-EE7B-3063C8A334D1}"/>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07C2BBAD-4ED4-7B43-4194-2590928936FD}"/>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435259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7E1C32C8-5C06-BE4B-1D73-EF4AC5348993}"/>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E4545409-2AD9-6F10-CFCB-2F55ABC5CCF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884387B0-C583-AF30-70A9-DDC71BD6812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DD8B8FEF-171F-1A50-2445-D8691ECB2354}"/>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959017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EDB005EA-B10B-9079-319D-070198172D04}"/>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8C9E11D2-ADB1-14FC-7292-CB3E5851B3D5}"/>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4F547577-2C8D-F369-0C6E-373E529CE58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7ED39800-EC85-7E12-B463-189A65A13C22}"/>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101943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3EAE90F9-6761-740A-D98C-DF42BB4C993F}"/>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9961BF70-04A4-BC8F-B4C7-D1F521E0E26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61E665A4-116D-D35C-67F1-E80ABE1BF1C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2BE6F34F-02FB-749E-8249-DDF8D6BF7BD8}"/>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230219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003BFFE0-46D8-A83A-E7A2-94EB74FBA354}"/>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8FBEFBDA-8E4A-8650-7B07-1F060C39ABE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70DFCF31-DDA9-364A-436D-D1605B220EDB}"/>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2CF70A26-0175-3ED5-2C0D-0161E2AF31AE}"/>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556504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6CD5245E-F13F-F70E-B67B-F0164240E6EE}"/>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C3095887-9BE3-D9B5-AF45-423B598A43C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74621512-E0D4-C846-529A-46A2B7C44F6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820A74FD-585A-C3BC-6021-E45959C33BAE}"/>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627556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6D8372F4-D7BE-3BCF-4458-F1DAA5E265FE}"/>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636E67C8-E98A-F67F-3F25-64191352F54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5E0CEA2D-7D5C-3BF6-7083-99777CCE7B9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AC5C2BCE-6446-A62A-F313-B13AFF9B3253}"/>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977299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9DAD8C33-DBF3-843F-50ED-695367EDF8FE}"/>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6FE0F851-20C1-E12A-4C67-9D9EFEDA8387}"/>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57D5FEC2-E941-CEA7-FEC9-664F5F86444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25E604BC-F939-4C77-2E52-C7F77FA76375}"/>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695477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B6D8812D-765A-EE7F-B4BF-FB47A5BBCE0D}"/>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D248F601-8B62-B13D-E261-5428A98F609E}"/>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E64E912E-D248-46E8-B11D-4612A944341E}"/>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6ED90C63-2BBB-8F17-5D01-412B4B7E882F}"/>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490055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05F9FCAA-DFCF-430E-311B-A8DB394DD796}"/>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D8C40FB1-A71E-C074-1C01-2F3260EFB66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8082C86A-4F29-ED35-B252-3F8397C85AB8}"/>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290DF830-3A0D-83EE-31E1-4412F6961FB1}"/>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088798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AF346E13-C696-22EC-E9D3-27B7356AE3B4}"/>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59DAE14C-B011-3DA6-9C52-8350B6FAC14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31FA6997-C18F-21E4-D1A1-60D651CF41FD}"/>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88CCD129-C725-301B-1C28-E45443E30989}"/>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348845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964BCD27-5AEA-4EDB-B077-53DCEDF7DD0C}"/>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730F4C77-CE90-9057-A4C1-89B74A851E6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38728FA4-53EE-6A42-8084-3634F032D601}"/>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6640F23C-C912-B075-5733-AB6BDEBB6C79}"/>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000308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2" name="Google Shape;14;p47">
            <a:extLst>
              <a:ext uri="{FF2B5EF4-FFF2-40B4-BE49-F238E27FC236}">
                <a16:creationId xmlns:a16="http://schemas.microsoft.com/office/drawing/2014/main" id="{C00BF7F7-FA3F-C71F-08C7-3B6DCF1ACC11}"/>
              </a:ext>
            </a:extLst>
          </p:cNvPr>
          <p:cNvSpPr txBox="1"/>
          <p:nvPr userDrawn="1"/>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3621489150"/>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6">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14" name="Google Shape;14;p47"/>
          <p:cNvSpPr txBox="1"/>
          <p:nvPr/>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a:t>
            </a:r>
            <a:r>
              <a:rPr lang="en-US" sz="4000">
                <a:cs typeface="Arial" panose="020B0604020202020204" pitchFamily="34" charset="0"/>
              </a:rPr>
              <a:t>: A </a:t>
            </a:r>
            <a:r>
              <a:rPr lang="en-US" sz="4000" dirty="0">
                <a:cs typeface="Arial" panose="020B0604020202020204" pitchFamily="34" charset="0"/>
              </a:rPr>
              <a:t>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a:cs typeface="Arial" panose="020B0604020202020204" pitchFamily="34" charset="0"/>
              </a:rPr>
              <a:t>Chapter 21: Instrumentation and Information Displays</a:t>
            </a:r>
            <a:endParaRPr lang="en-US" dirty="0">
              <a:cs typeface="Arial" panose="020B0604020202020204" pitchFamily="34" charset="0"/>
            </a:endParaRP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a:t>
            </a:r>
            <a:r>
              <a:rPr lang="en-US" sz="1200" dirty="0">
                <a:solidFill>
                  <a:schemeClr val="bg1"/>
                </a:solidFill>
                <a:cs typeface="Arial" panose="020B0604020202020204" pitchFamily="34" charset="0"/>
              </a:rPr>
              <a:t>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a:t>21.01 Explain the components and functions of the instrument panel.</a:t>
            </a:r>
          </a:p>
          <a:p>
            <a:pPr>
              <a:spcAft>
                <a:spcPts val="600"/>
              </a:spcAft>
            </a:pPr>
            <a:r>
              <a:rPr lang="en-US"/>
              <a:t>21.02 Describe the types of displays used in modern vehicles.</a:t>
            </a:r>
          </a:p>
          <a:p>
            <a:pPr>
              <a:spcAft>
                <a:spcPts val="600"/>
              </a:spcAft>
            </a:pPr>
            <a:r>
              <a:rPr lang="en-US"/>
              <a:t>21.03 Know the purpose of the various gauges used in today’s vehicles and how they function.</a:t>
            </a:r>
          </a:p>
          <a:p>
            <a:pPr>
              <a:spcAft>
                <a:spcPts val="600"/>
              </a:spcAft>
            </a:pPr>
            <a:r>
              <a:rPr lang="en-US"/>
              <a:t>21.04 Describe the operation of the common types of gauges found in an instrument cluster.</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a:t>21.05 List and explain the function of the various indicators found on today’s vehicles.</a:t>
            </a:r>
          </a:p>
          <a:p>
            <a:pPr>
              <a:spcAft>
                <a:spcPts val="600"/>
              </a:spcAft>
            </a:pPr>
            <a:r>
              <a:rPr lang="en-US"/>
              <a:t>21.06 List and explain the function of the various warning devices found on today’s vehicles.</a:t>
            </a:r>
          </a:p>
          <a:p>
            <a:pPr>
              <a:spcAft>
                <a:spcPts val="600"/>
              </a:spcAft>
            </a:pPr>
            <a:r>
              <a:rPr lang="en-US"/>
              <a:t>21.07 Explain the basics for diagnosing a gauge or warning circuit. </a:t>
            </a:r>
          </a:p>
          <a:p>
            <a:pPr>
              <a:spcAft>
                <a:spcPts val="600"/>
              </a:spcAft>
            </a:pPr>
            <a:r>
              <a:rPr lang="en-US"/>
              <a:t>21.08 Explain the types and functions of driver information displays.</a:t>
            </a:r>
            <a:endParaRPr lang="en-US" dirty="0"/>
          </a:p>
        </p:txBody>
      </p:sp>
    </p:spTree>
    <p:extLst>
      <p:ext uri="{BB962C8B-B14F-4D97-AF65-F5344CB8AC3E}">
        <p14:creationId xmlns:p14="http://schemas.microsoft.com/office/powerpoint/2010/main" val="2403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Instrument Panels (1 of 4)</a:t>
            </a:r>
            <a:endParaRPr dirty="0"/>
          </a:p>
        </p:txBody>
      </p:sp>
      <p:sp>
        <p:nvSpPr>
          <p:cNvPr id="2" name="Text Placeholder 1">
            <a:extLst>
              <a:ext uri="{FF2B5EF4-FFF2-40B4-BE49-F238E27FC236}">
                <a16:creationId xmlns:a16="http://schemas.microsoft.com/office/drawing/2014/main" id="{78533BFB-0453-D355-5FC2-86593D1D8C37}"/>
              </a:ext>
            </a:extLst>
          </p:cNvPr>
          <p:cNvSpPr>
            <a:spLocks noGrp="1"/>
          </p:cNvSpPr>
          <p:nvPr>
            <p:ph type="body" idx="1"/>
          </p:nvPr>
        </p:nvSpPr>
        <p:spPr>
          <a:xfrm>
            <a:off x="476843" y="1433686"/>
            <a:ext cx="7564867" cy="4649120"/>
          </a:xfrm>
        </p:spPr>
        <p:txBody>
          <a:bodyPr/>
          <a:lstStyle/>
          <a:p>
            <a:pPr marL="0" indent="0">
              <a:buNone/>
            </a:pPr>
            <a:r>
              <a:rPr lang="en-US" sz="1800" b="1" dirty="0"/>
              <a:t>21.01 Explain the components and functions of the instrument panel.</a:t>
            </a:r>
          </a:p>
          <a:p>
            <a:r>
              <a:rPr lang="en-US" sz="1800" dirty="0"/>
              <a:t>The displays on an instrument panel (IP) have many purposes, the most important of which are showing the status of current engine and vehicle information.</a:t>
            </a:r>
          </a:p>
          <a:p>
            <a:r>
              <a:rPr lang="en-US" sz="1800" dirty="0"/>
              <a:t>In an analog display, an indicator moves in front of a fixed scale to indicate a condition.</a:t>
            </a:r>
          </a:p>
          <a:p>
            <a:pPr lvl="1"/>
            <a:r>
              <a:rPr lang="en-US" sz="1600" dirty="0"/>
              <a:t>The indicator is often a needle, but it can also be a liquid crystal or graphic display.</a:t>
            </a:r>
          </a:p>
          <a:p>
            <a:pPr lvl="1"/>
            <a:r>
              <a:rPr lang="en-US" sz="1600" dirty="0"/>
              <a:t>They are best for things like RPM.</a:t>
            </a:r>
          </a:p>
          <a:p>
            <a:r>
              <a:rPr lang="en-US" sz="1800" dirty="0"/>
              <a:t>A digital display is better for showing exact, real-time data, but is difficult to quickly observe because it is constantly changing.</a:t>
            </a:r>
          </a:p>
          <a:p>
            <a:r>
              <a:rPr lang="en-US" sz="1800" dirty="0"/>
              <a:t>Many speedometer–odometer combinations are examples of both analog (speed) and digital (distance).</a:t>
            </a:r>
          </a:p>
        </p:txBody>
      </p:sp>
      <p:pic>
        <p:nvPicPr>
          <p:cNvPr id="6" name="Picture Placeholder 5" descr="An analog display with three dial indicators, each indicating the condition of the engine, including its R P M.">
            <a:extLst>
              <a:ext uri="{FF2B5EF4-FFF2-40B4-BE49-F238E27FC236}">
                <a16:creationId xmlns:a16="http://schemas.microsoft.com/office/drawing/2014/main" id="{8976785B-67B5-C791-A4D4-652C85B8B35D}"/>
              </a:ext>
            </a:extLst>
          </p:cNvPr>
          <p:cNvPicPr>
            <a:picLocks noGrp="1" noChangeAspect="1"/>
          </p:cNvPicPr>
          <p:nvPr>
            <p:ph type="pic" sz="quarter" idx="10"/>
          </p:nvPr>
        </p:nvPicPr>
        <p:blipFill rotWithShape="1">
          <a:blip r:embed="rId3"/>
          <a:srcRect b="6723"/>
          <a:stretch/>
        </p:blipFill>
        <p:spPr>
          <a:xfrm>
            <a:off x="8173734" y="1858431"/>
            <a:ext cx="3699627" cy="3350568"/>
          </a:xfrm>
          <a:prstGeom prst="rect">
            <a:avLst/>
          </a:prstGeom>
        </p:spPr>
      </p:pic>
    </p:spTree>
    <p:extLst>
      <p:ext uri="{BB962C8B-B14F-4D97-AF65-F5344CB8AC3E}">
        <p14:creationId xmlns:p14="http://schemas.microsoft.com/office/powerpoint/2010/main" val="1445985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296D9394-1F7D-4273-9191-358B038F59AB}"/>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36A9916F-9DFA-D7D1-7D81-98A8C52DFD0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Instrument Panels (2 of 4)</a:t>
            </a:r>
            <a:endParaRPr dirty="0"/>
          </a:p>
        </p:txBody>
      </p:sp>
      <p:sp>
        <p:nvSpPr>
          <p:cNvPr id="2" name="Text Placeholder 1">
            <a:extLst>
              <a:ext uri="{FF2B5EF4-FFF2-40B4-BE49-F238E27FC236}">
                <a16:creationId xmlns:a16="http://schemas.microsoft.com/office/drawing/2014/main" id="{50E236FA-B2D4-9443-00DD-D1E041A485EB}"/>
              </a:ext>
            </a:extLst>
          </p:cNvPr>
          <p:cNvSpPr>
            <a:spLocks noGrp="1"/>
          </p:cNvSpPr>
          <p:nvPr>
            <p:ph type="body" idx="1"/>
          </p:nvPr>
        </p:nvSpPr>
        <p:spPr>
          <a:xfrm>
            <a:off x="476844" y="1433686"/>
            <a:ext cx="6444951" cy="4649120"/>
          </a:xfrm>
        </p:spPr>
        <p:txBody>
          <a:bodyPr/>
          <a:lstStyle/>
          <a:p>
            <a:r>
              <a:rPr lang="en-US" sz="1800"/>
              <a:t>Liquid Crystal Diode (LCD) displays are made of sandwiches of special glass and liquid.</a:t>
            </a:r>
          </a:p>
          <a:p>
            <a:r>
              <a:rPr lang="en-US" sz="1800"/>
              <a:t>A separate light source is required to make the display work. </a:t>
            </a:r>
          </a:p>
          <a:p>
            <a:r>
              <a:rPr lang="en-US" sz="1800"/>
              <a:t>When there is no voltage, light cannot pass through the fluid.</a:t>
            </a:r>
          </a:p>
          <a:p>
            <a:r>
              <a:rPr lang="en-US" sz="1800"/>
              <a:t>When voltage is applied, the light passes that point of the display.</a:t>
            </a:r>
          </a:p>
          <a:p>
            <a:r>
              <a:rPr lang="en-US" sz="1800"/>
              <a:t>With older screens, the action of LCDs may slow down in cold weather. Modern LCDs offer high definition curved glass displays.</a:t>
            </a:r>
          </a:p>
          <a:p>
            <a:r>
              <a:rPr lang="en-US" sz="1800"/>
              <a:t>These displays are also very delicate and must be handled with care.</a:t>
            </a:r>
          </a:p>
          <a:p>
            <a:r>
              <a:rPr lang="en-US" sz="1800"/>
              <a:t>Any rough handling of the display can damage it.</a:t>
            </a:r>
          </a:p>
        </p:txBody>
      </p:sp>
      <p:pic>
        <p:nvPicPr>
          <p:cNvPr id="5" name="Picture Placeholder 4" descr="An LCD display projecting a vehicle information that reads, Depress brake pedal and push engine switch to start, and it also has a climate control that reads, Snow.">
            <a:extLst>
              <a:ext uri="{FF2B5EF4-FFF2-40B4-BE49-F238E27FC236}">
                <a16:creationId xmlns:a16="http://schemas.microsoft.com/office/drawing/2014/main" id="{ABB22DBD-3B2E-9297-CBA2-B1A846326DC3}"/>
              </a:ext>
            </a:extLst>
          </p:cNvPr>
          <p:cNvPicPr>
            <a:picLocks noGrp="1" noChangeAspect="1"/>
          </p:cNvPicPr>
          <p:nvPr>
            <p:ph type="pic" sz="quarter" idx="10"/>
          </p:nvPr>
        </p:nvPicPr>
        <p:blipFill>
          <a:blip r:embed="rId3"/>
          <a:srcRect b="9926"/>
          <a:stretch/>
        </p:blipFill>
        <p:spPr>
          <a:xfrm>
            <a:off x="7092536" y="2144172"/>
            <a:ext cx="4533979" cy="2612764"/>
          </a:xfrm>
          <a:prstGeom prst="rect">
            <a:avLst/>
          </a:prstGeom>
        </p:spPr>
      </p:pic>
    </p:spTree>
    <p:extLst>
      <p:ext uri="{BB962C8B-B14F-4D97-AF65-F5344CB8AC3E}">
        <p14:creationId xmlns:p14="http://schemas.microsoft.com/office/powerpoint/2010/main" val="3550271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432EE0A5-3AB6-9856-0FF1-5095D833C2F6}"/>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D9B47503-B33A-971C-F27A-6F108143508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Instrument Panels (3 of 4)</a:t>
            </a:r>
            <a:endParaRPr dirty="0"/>
          </a:p>
        </p:txBody>
      </p:sp>
      <p:sp>
        <p:nvSpPr>
          <p:cNvPr id="2" name="Text Placeholder 1">
            <a:extLst>
              <a:ext uri="{FF2B5EF4-FFF2-40B4-BE49-F238E27FC236}">
                <a16:creationId xmlns:a16="http://schemas.microsoft.com/office/drawing/2014/main" id="{6D205E08-6B5A-536D-8CC0-E986652367D9}"/>
              </a:ext>
            </a:extLst>
          </p:cNvPr>
          <p:cNvSpPr>
            <a:spLocks noGrp="1"/>
          </p:cNvSpPr>
          <p:nvPr>
            <p:ph type="body" idx="1"/>
          </p:nvPr>
        </p:nvSpPr>
        <p:spPr>
          <a:xfrm>
            <a:off x="476844" y="1433686"/>
            <a:ext cx="6444951" cy="4649120"/>
          </a:xfrm>
        </p:spPr>
        <p:txBody>
          <a:bodyPr/>
          <a:lstStyle/>
          <a:p>
            <a:r>
              <a:rPr lang="en-US" sz="2400" dirty="0"/>
              <a:t>Thin-Film-Transistor (TFT) LCD</a:t>
            </a:r>
          </a:p>
          <a:p>
            <a:pPr lvl="1"/>
            <a:r>
              <a:rPr lang="en-US" sz="2200" dirty="0"/>
              <a:t>TFT displays improve the image quality over that of an LCD by actively controlling each pixel with a transistor.</a:t>
            </a:r>
          </a:p>
          <a:p>
            <a:pPr lvl="1"/>
            <a:r>
              <a:rPr lang="en-US" sz="2200" dirty="0"/>
              <a:t>TFT displays offer greater display options and contrast and are used extensively as dash and infotainment displays.</a:t>
            </a:r>
          </a:p>
          <a:p>
            <a:pPr lvl="1"/>
            <a:r>
              <a:rPr lang="en-US" sz="2200" dirty="0"/>
              <a:t>This type of screen often has separate sections that the driver can configure to show certain information.</a:t>
            </a:r>
          </a:p>
        </p:txBody>
      </p:sp>
      <p:pic>
        <p:nvPicPr>
          <p:cNvPr id="6" name="Picture Placeholder 5" descr="A T F T display from a Ford hybrid vehicle. The speedometer ranges from 0 to 120 with an interval of 10 and the needle points to 0 meters per hour.">
            <a:extLst>
              <a:ext uri="{FF2B5EF4-FFF2-40B4-BE49-F238E27FC236}">
                <a16:creationId xmlns:a16="http://schemas.microsoft.com/office/drawing/2014/main" id="{D6104F72-ADD7-7542-2DE7-E8516ACA9FDF}"/>
              </a:ext>
            </a:extLst>
          </p:cNvPr>
          <p:cNvPicPr>
            <a:picLocks noGrp="1" noChangeAspect="1"/>
          </p:cNvPicPr>
          <p:nvPr>
            <p:ph type="pic" sz="quarter" idx="10"/>
          </p:nvPr>
        </p:nvPicPr>
        <p:blipFill>
          <a:blip r:embed="rId3"/>
          <a:srcRect b="15204"/>
          <a:stretch/>
        </p:blipFill>
        <p:spPr>
          <a:xfrm>
            <a:off x="6924087" y="2559403"/>
            <a:ext cx="4909889" cy="2033146"/>
          </a:xfrm>
          <a:prstGeom prst="rect">
            <a:avLst/>
          </a:prstGeom>
        </p:spPr>
      </p:pic>
    </p:spTree>
    <p:extLst>
      <p:ext uri="{BB962C8B-B14F-4D97-AF65-F5344CB8AC3E}">
        <p14:creationId xmlns:p14="http://schemas.microsoft.com/office/powerpoint/2010/main" val="3702149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942AC3AF-B026-F53C-E0E7-2B89FE71A1E5}"/>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D58D6735-05AA-2605-7D06-2B47FE5C78D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Instrument Panels (4 of 4)</a:t>
            </a:r>
            <a:endParaRPr dirty="0"/>
          </a:p>
        </p:txBody>
      </p:sp>
      <p:sp>
        <p:nvSpPr>
          <p:cNvPr id="2" name="Text Placeholder 1">
            <a:extLst>
              <a:ext uri="{FF2B5EF4-FFF2-40B4-BE49-F238E27FC236}">
                <a16:creationId xmlns:a16="http://schemas.microsoft.com/office/drawing/2014/main" id="{BF744793-755A-0371-380C-5D951E2978C6}"/>
              </a:ext>
            </a:extLst>
          </p:cNvPr>
          <p:cNvSpPr>
            <a:spLocks noGrp="1"/>
          </p:cNvSpPr>
          <p:nvPr>
            <p:ph type="body" idx="1"/>
          </p:nvPr>
        </p:nvSpPr>
        <p:spPr>
          <a:xfrm>
            <a:off x="476844" y="1433686"/>
            <a:ext cx="6444951" cy="4649120"/>
          </a:xfrm>
        </p:spPr>
        <p:txBody>
          <a:bodyPr/>
          <a:lstStyle/>
          <a:p>
            <a:r>
              <a:rPr lang="en-US" sz="1800" dirty="0"/>
              <a:t>Many of today’s vehicles are incorporating organic LED (OLED) screens into the instrument panels.</a:t>
            </a:r>
          </a:p>
          <a:p>
            <a:r>
              <a:rPr lang="en-US" sz="1800" dirty="0"/>
              <a:t>With OLED technology, each pixel provides its own illumination, eliminating the need for any backlighting.</a:t>
            </a:r>
          </a:p>
          <a:p>
            <a:r>
              <a:rPr lang="en-US" sz="1800" dirty="0"/>
              <a:t>This provides better color resolution and contrast as the black from OLEDs is superior to LCD or TFT screens.</a:t>
            </a:r>
          </a:p>
          <a:p>
            <a:r>
              <a:rPr lang="en-US" sz="1800" dirty="0"/>
              <a:t>OLED screens can also curve with the shape of the vehicle’s dashboard as they can be attached to a plastic substrate instead of glass.</a:t>
            </a:r>
          </a:p>
          <a:p>
            <a:r>
              <a:rPr lang="en-US" sz="1800" dirty="0"/>
              <a:t>A term that has become common regarding instrument panels is “glass dash,” which refers to the trend by automakers to replace mechanical gauge assemblies with digital display screens.</a:t>
            </a:r>
          </a:p>
        </p:txBody>
      </p:sp>
      <p:pic>
        <p:nvPicPr>
          <p:cNvPr id="5" name="Picture Placeholder 4" descr="An organic L E D (O L E D) screen, curves along with the shape of the vehicle's dashboard displaying the engine calibration in two dials, such as the speed is 45 m p h. Between the dials is the display for the map.">
            <a:extLst>
              <a:ext uri="{FF2B5EF4-FFF2-40B4-BE49-F238E27FC236}">
                <a16:creationId xmlns:a16="http://schemas.microsoft.com/office/drawing/2014/main" id="{92506C99-CFC0-10F9-48CE-1451D56531F8}"/>
              </a:ext>
            </a:extLst>
          </p:cNvPr>
          <p:cNvPicPr>
            <a:picLocks noGrp="1" noChangeAspect="1"/>
          </p:cNvPicPr>
          <p:nvPr>
            <p:ph type="pic" sz="quarter" idx="10"/>
          </p:nvPr>
        </p:nvPicPr>
        <p:blipFill>
          <a:blip r:embed="rId3"/>
          <a:srcRect b="11711"/>
          <a:stretch/>
        </p:blipFill>
        <p:spPr>
          <a:xfrm>
            <a:off x="7003570" y="2276684"/>
            <a:ext cx="4816845" cy="2439154"/>
          </a:xfrm>
          <a:prstGeom prst="rect">
            <a:avLst/>
          </a:prstGeom>
        </p:spPr>
      </p:pic>
    </p:spTree>
    <p:extLst>
      <p:ext uri="{BB962C8B-B14F-4D97-AF65-F5344CB8AC3E}">
        <p14:creationId xmlns:p14="http://schemas.microsoft.com/office/powerpoint/2010/main" val="3555660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DE7B0B0E-1576-FA8B-1956-ABBCD0F7F9CE}"/>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5FCD73BC-F4A6-E5D9-0F19-D66C1558DB0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Mechanical Gauges (1 of 4)</a:t>
            </a:r>
            <a:endParaRPr dirty="0"/>
          </a:p>
        </p:txBody>
      </p:sp>
      <p:sp>
        <p:nvSpPr>
          <p:cNvPr id="2" name="Text Placeholder 1">
            <a:extLst>
              <a:ext uri="{FF2B5EF4-FFF2-40B4-BE49-F238E27FC236}">
                <a16:creationId xmlns:a16="http://schemas.microsoft.com/office/drawing/2014/main" id="{9FE8275A-7C2B-3A4A-CE63-324CE93F53A2}"/>
              </a:ext>
            </a:extLst>
          </p:cNvPr>
          <p:cNvSpPr>
            <a:spLocks noGrp="1"/>
          </p:cNvSpPr>
          <p:nvPr>
            <p:ph type="body" idx="1"/>
          </p:nvPr>
        </p:nvSpPr>
        <p:spPr>
          <a:xfrm>
            <a:off x="476845" y="1433686"/>
            <a:ext cx="5619156" cy="4649120"/>
          </a:xfrm>
        </p:spPr>
        <p:txBody>
          <a:bodyPr/>
          <a:lstStyle/>
          <a:p>
            <a:pPr marL="0" indent="0">
              <a:buNone/>
            </a:pPr>
            <a:r>
              <a:rPr lang="en-US" sz="1800" b="1"/>
              <a:t>21.03 Know the purpose of the various gauges used in today’s vehicles and how they function.</a:t>
            </a:r>
          </a:p>
          <a:p>
            <a:r>
              <a:rPr lang="en-US" sz="1800"/>
              <a:t>Gauges provide the driver with a scaled indication of the condition of a system.</a:t>
            </a:r>
          </a:p>
          <a:p>
            <a:r>
              <a:rPr lang="en-US" sz="1800"/>
              <a:t>All gauges require an input from either a sending unit, sensor, switch, or module.</a:t>
            </a:r>
          </a:p>
          <a:p>
            <a:r>
              <a:rPr lang="en-US" sz="1800"/>
              <a:t>With sending or sensor units, a change or movement made by an external component causes a change in electrical resistance.</a:t>
            </a:r>
          </a:p>
          <a:p>
            <a:r>
              <a:rPr lang="en-US" sz="1800"/>
              <a:t>Movement may be caused by pressure against a diaphragm, by heat, or by the motion of a float.</a:t>
            </a:r>
          </a:p>
          <a:p>
            <a:r>
              <a:rPr lang="en-US" sz="1800"/>
              <a:t>Some engines use a switch as an input for a gauge such as an oil pressure switch.</a:t>
            </a:r>
          </a:p>
        </p:txBody>
      </p:sp>
      <p:pic>
        <p:nvPicPr>
          <p:cNvPr id="6" name="Picture Placeholder 5" descr="A circuit diagram on how sensor data is networked using an instrument cluster. The primary fuel level sensor with a variable resistor range of 40 ohms to 250 ohms is connected in parallel to a secondary fuel level sensor with a variable resistor range of 40 ohms to 250 ohms. Both sensors are commonly grounded. 5 volts from powertrain control module is connected to the engine oil pressure sensor, which is in parallel with the instrument cluster. The instrument cluster comprises charging, coolant, fuel, and oil pressure in series. Similarly, R P M, driver information display, M P H, variable M P H, and K P H are in series. Both the components in the series are parallel to each other.">
            <a:extLst>
              <a:ext uri="{FF2B5EF4-FFF2-40B4-BE49-F238E27FC236}">
                <a16:creationId xmlns:a16="http://schemas.microsoft.com/office/drawing/2014/main" id="{42BD2810-685E-D721-B53E-3B6A04C4257C}"/>
              </a:ext>
            </a:extLst>
          </p:cNvPr>
          <p:cNvPicPr>
            <a:picLocks noGrp="1" noChangeAspect="1"/>
          </p:cNvPicPr>
          <p:nvPr>
            <p:ph type="pic" sz="quarter" idx="10"/>
          </p:nvPr>
        </p:nvPicPr>
        <p:blipFill>
          <a:blip r:embed="rId3"/>
          <a:srcRect b="5998"/>
          <a:stretch/>
        </p:blipFill>
        <p:spPr>
          <a:xfrm>
            <a:off x="6258838" y="1980457"/>
            <a:ext cx="5619155" cy="3372379"/>
          </a:xfrm>
          <a:prstGeom prst="rect">
            <a:avLst/>
          </a:prstGeom>
        </p:spPr>
      </p:pic>
    </p:spTree>
    <p:extLst>
      <p:ext uri="{BB962C8B-B14F-4D97-AF65-F5344CB8AC3E}">
        <p14:creationId xmlns:p14="http://schemas.microsoft.com/office/powerpoint/2010/main" val="3340620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BF4EBC2D-6B41-FC8B-3EF8-8422BA6276FA}"/>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10EA5A0D-652E-785C-33DC-ED27A676CA6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Mechanical Gauges (2 of 4)</a:t>
            </a:r>
            <a:endParaRPr dirty="0"/>
          </a:p>
        </p:txBody>
      </p:sp>
      <p:sp>
        <p:nvSpPr>
          <p:cNvPr id="2" name="Text Placeholder 1">
            <a:extLst>
              <a:ext uri="{FF2B5EF4-FFF2-40B4-BE49-F238E27FC236}">
                <a16:creationId xmlns:a16="http://schemas.microsoft.com/office/drawing/2014/main" id="{09AD98A9-F065-C67A-76F2-C3562725AD9C}"/>
              </a:ext>
            </a:extLst>
          </p:cNvPr>
          <p:cNvSpPr>
            <a:spLocks noGrp="1"/>
          </p:cNvSpPr>
          <p:nvPr>
            <p:ph type="body" idx="1"/>
          </p:nvPr>
        </p:nvSpPr>
        <p:spPr>
          <a:xfrm>
            <a:off x="476844" y="1433686"/>
            <a:ext cx="7306189" cy="4649120"/>
          </a:xfrm>
        </p:spPr>
        <p:txBody>
          <a:bodyPr/>
          <a:lstStyle/>
          <a:p>
            <a:r>
              <a:rPr lang="en-US" sz="1800"/>
              <a:t>Today, the most commonly used gauge is the </a:t>
            </a:r>
            <a:r>
              <a:rPr lang="en-US" sz="1800" b="1"/>
              <a:t>air-core gauge.</a:t>
            </a:r>
          </a:p>
          <a:p>
            <a:r>
              <a:rPr lang="en-US" sz="1800"/>
              <a:t>The needle of the gauge is attached to the permanent magnet.</a:t>
            </a:r>
          </a:p>
          <a:p>
            <a:r>
              <a:rPr lang="en-US" sz="1800"/>
              <a:t>The electromagnetic windings do not have a metal core; rather the permanent magnet is placed inside the windings.</a:t>
            </a:r>
          </a:p>
          <a:p>
            <a:r>
              <a:rPr lang="en-US" sz="1800"/>
              <a:t>One of these windings is a reference winding and receives battery voltage at all times.</a:t>
            </a:r>
          </a:p>
          <a:p>
            <a:r>
              <a:rPr lang="en-US" sz="1800"/>
              <a:t>The other winding, called the field winding, is placed at an angle to the reference winding.</a:t>
            </a:r>
          </a:p>
          <a:p>
            <a:r>
              <a:rPr lang="en-US" sz="1800"/>
              <a:t>When current flows through the coils, their magnetic fields superimpose and the magnet is free to align with the combined fields.</a:t>
            </a:r>
          </a:p>
          <a:p>
            <a:r>
              <a:rPr lang="en-US" sz="1800"/>
              <a:t>The amount of movement is controlled by the resistance of the sending unit.</a:t>
            </a:r>
          </a:p>
        </p:txBody>
      </p:sp>
      <p:pic>
        <p:nvPicPr>
          <p:cNvPr id="5" name="Picture Placeholder 4" descr="An air-core gauge circuit has a 12 Volts supply fed to the reference winding of a variable resistor that is further grounded. The field winding of the variable resistor is connected to ignition switch that is further grounded. A permanent magnet is placed between these windings.">
            <a:extLst>
              <a:ext uri="{FF2B5EF4-FFF2-40B4-BE49-F238E27FC236}">
                <a16:creationId xmlns:a16="http://schemas.microsoft.com/office/drawing/2014/main" id="{C41148D7-BC8B-C6DB-09A5-31F692FE7F3A}"/>
              </a:ext>
            </a:extLst>
          </p:cNvPr>
          <p:cNvPicPr>
            <a:picLocks noGrp="1" noChangeAspect="1"/>
          </p:cNvPicPr>
          <p:nvPr>
            <p:ph type="pic" sz="quarter" idx="10"/>
          </p:nvPr>
        </p:nvPicPr>
        <p:blipFill>
          <a:blip r:embed="rId3"/>
          <a:srcRect b="6987"/>
          <a:stretch/>
        </p:blipFill>
        <p:spPr>
          <a:xfrm>
            <a:off x="8060145" y="2024047"/>
            <a:ext cx="3721136" cy="3226048"/>
          </a:xfrm>
          <a:prstGeom prst="rect">
            <a:avLst/>
          </a:prstGeom>
        </p:spPr>
      </p:pic>
    </p:spTree>
    <p:extLst>
      <p:ext uri="{BB962C8B-B14F-4D97-AF65-F5344CB8AC3E}">
        <p14:creationId xmlns:p14="http://schemas.microsoft.com/office/powerpoint/2010/main" val="3405380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8F234EF8-8D3F-0BE6-8219-82BB77AC50D3}"/>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54351178-832D-6E6D-C38F-9D11709D7AB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Mechanical Gauges (3 of 4)</a:t>
            </a:r>
            <a:endParaRPr dirty="0"/>
          </a:p>
        </p:txBody>
      </p:sp>
      <p:sp>
        <p:nvSpPr>
          <p:cNvPr id="2" name="Text Placeholder 1">
            <a:extLst>
              <a:ext uri="{FF2B5EF4-FFF2-40B4-BE49-F238E27FC236}">
                <a16:creationId xmlns:a16="http://schemas.microsoft.com/office/drawing/2014/main" id="{6A08B0F7-E8C6-730F-2C79-768C90D1CFDC}"/>
              </a:ext>
            </a:extLst>
          </p:cNvPr>
          <p:cNvSpPr>
            <a:spLocks noGrp="1"/>
          </p:cNvSpPr>
          <p:nvPr>
            <p:ph type="body" idx="1"/>
          </p:nvPr>
        </p:nvSpPr>
        <p:spPr>
          <a:xfrm>
            <a:off x="476845" y="1433686"/>
            <a:ext cx="6083444" cy="4649120"/>
          </a:xfrm>
        </p:spPr>
        <p:txBody>
          <a:bodyPr/>
          <a:lstStyle/>
          <a:p>
            <a:r>
              <a:rPr lang="en-US" sz="1800"/>
              <a:t>Computer-controlled quartz analog gauges are becoming increasingly common.</a:t>
            </a:r>
          </a:p>
          <a:p>
            <a:r>
              <a:rPr lang="en-US" sz="1800"/>
              <a:t>These gauge circuits rely on a permanent magnet generator sensor installed in the part or system that will be monitored.</a:t>
            </a:r>
          </a:p>
          <a:p>
            <a:r>
              <a:rPr lang="en-US" sz="1800"/>
              <a:t>As the sensor rotates, a small AC signal is produced.</a:t>
            </a:r>
          </a:p>
          <a:p>
            <a:r>
              <a:rPr lang="en-US" sz="1800"/>
              <a:t>This signal is then sent to a buffer circuit where it is changed to a digitalized signal.</a:t>
            </a:r>
          </a:p>
          <a:p>
            <a:r>
              <a:rPr lang="en-US" sz="1800"/>
              <a:t>That signal is then sent to a quartz clock circuit and a driver circuit.</a:t>
            </a:r>
          </a:p>
          <a:p>
            <a:r>
              <a:rPr lang="en-US" sz="1800"/>
              <a:t>The driver circuit sends voltage pulses to the windings in the gauge.</a:t>
            </a:r>
          </a:p>
          <a:p>
            <a:r>
              <a:rPr lang="en-US" sz="1800"/>
              <a:t>The permanent magnet and the windings cause the needle to move.</a:t>
            </a:r>
          </a:p>
        </p:txBody>
      </p:sp>
      <p:pic>
        <p:nvPicPr>
          <p:cNvPr id="6" name="Picture Placeholder 5" descr="Three quartz analog instrumentation displays, at the center is the speedometer, ranging from 0 to 120, in increments of 10, with its' pointer at 0. On the left, the fuel points to F.">
            <a:extLst>
              <a:ext uri="{FF2B5EF4-FFF2-40B4-BE49-F238E27FC236}">
                <a16:creationId xmlns:a16="http://schemas.microsoft.com/office/drawing/2014/main" id="{0AF13852-3B9A-2FE7-F2B2-87CFB49819E7}"/>
              </a:ext>
            </a:extLst>
          </p:cNvPr>
          <p:cNvPicPr>
            <a:picLocks noGrp="1" noChangeAspect="1"/>
          </p:cNvPicPr>
          <p:nvPr>
            <p:ph type="pic" sz="quarter" idx="10"/>
          </p:nvPr>
        </p:nvPicPr>
        <p:blipFill>
          <a:blip r:embed="rId3"/>
          <a:srcRect b="9356"/>
          <a:stretch/>
        </p:blipFill>
        <p:spPr>
          <a:xfrm>
            <a:off x="6702559" y="1855129"/>
            <a:ext cx="5251291" cy="3518255"/>
          </a:xfrm>
          <a:prstGeom prst="rect">
            <a:avLst/>
          </a:prstGeom>
        </p:spPr>
      </p:pic>
    </p:spTree>
    <p:extLst>
      <p:ext uri="{BB962C8B-B14F-4D97-AF65-F5344CB8AC3E}">
        <p14:creationId xmlns:p14="http://schemas.microsoft.com/office/powerpoint/2010/main" val="774278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ED8EB5BC-8AFA-64A1-3066-F6F6EA496940}"/>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FDA8082D-EC2E-4113-4DED-DEDC788E031E}"/>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Mechanical Gauges (4 of 4)</a:t>
            </a:r>
            <a:endParaRPr dirty="0"/>
          </a:p>
        </p:txBody>
      </p:sp>
      <p:sp>
        <p:nvSpPr>
          <p:cNvPr id="2" name="Text Placeholder 1">
            <a:extLst>
              <a:ext uri="{FF2B5EF4-FFF2-40B4-BE49-F238E27FC236}">
                <a16:creationId xmlns:a16="http://schemas.microsoft.com/office/drawing/2014/main" id="{65F3A714-D055-9A70-046D-7D64629F7980}"/>
              </a:ext>
            </a:extLst>
          </p:cNvPr>
          <p:cNvSpPr>
            <a:spLocks noGrp="1"/>
          </p:cNvSpPr>
          <p:nvPr>
            <p:ph type="body" idx="1"/>
          </p:nvPr>
        </p:nvSpPr>
        <p:spPr>
          <a:xfrm>
            <a:off x="476844" y="1433686"/>
            <a:ext cx="7263658" cy="4649120"/>
          </a:xfrm>
        </p:spPr>
        <p:txBody>
          <a:bodyPr/>
          <a:lstStyle/>
          <a:p>
            <a:r>
              <a:rPr lang="en-US" sz="1800" dirty="0"/>
              <a:t>There are several types of magnetic gauges, the simplest form is the ammeter type in which a permanent magnet attracts a ferrous indicator needle connected to a pivot point and holds it centered on the gauge.</a:t>
            </a:r>
          </a:p>
          <a:p>
            <a:r>
              <a:rPr lang="en-US" sz="1800" dirty="0"/>
              <a:t>An armature, or coil of wire, is wrapped around the base of the needle near the pivot point.</a:t>
            </a:r>
          </a:p>
          <a:p>
            <a:r>
              <a:rPr lang="en-US" sz="1800" dirty="0"/>
              <a:t>When current flows through the armature, a magnetic field is formed.</a:t>
            </a:r>
          </a:p>
          <a:p>
            <a:r>
              <a:rPr lang="en-US" sz="1800" dirty="0"/>
              <a:t>This magnetic field opposes that of the permanent magnet. Attractive or repulsive magnetic forces cause the needle to swing left or right.</a:t>
            </a:r>
          </a:p>
          <a:p>
            <a:r>
              <a:rPr lang="en-US" sz="1800" dirty="0"/>
              <a:t>The direction the needle swings depends on the direction of current flow in the armature.</a:t>
            </a:r>
          </a:p>
          <a:p>
            <a:r>
              <a:rPr lang="en-US" sz="1800" dirty="0"/>
              <a:t>This type of gauge is often referred to as a </a:t>
            </a:r>
            <a:r>
              <a:rPr lang="en-US" sz="1800" dirty="0" err="1"/>
              <a:t>D’Arsonval</a:t>
            </a:r>
            <a:r>
              <a:rPr lang="en-US" sz="1800" dirty="0"/>
              <a:t> gauge. </a:t>
            </a:r>
          </a:p>
        </p:txBody>
      </p:sp>
      <p:pic>
        <p:nvPicPr>
          <p:cNvPr id="5" name="Picture Placeholder 4" descr="A magnetic gauge ammeter with parts labeled as follows: pivot, conductor, armature, pointer, and permanent magnet. The pointer points to the marking D and the conductor space carries the marking C.">
            <a:extLst>
              <a:ext uri="{FF2B5EF4-FFF2-40B4-BE49-F238E27FC236}">
                <a16:creationId xmlns:a16="http://schemas.microsoft.com/office/drawing/2014/main" id="{12CC4B73-D7DE-765E-0C7B-53F18545689F}"/>
              </a:ext>
            </a:extLst>
          </p:cNvPr>
          <p:cNvPicPr>
            <a:picLocks noGrp="1" noChangeAspect="1"/>
          </p:cNvPicPr>
          <p:nvPr>
            <p:ph type="pic" sz="quarter" idx="10"/>
          </p:nvPr>
        </p:nvPicPr>
        <p:blipFill>
          <a:blip r:embed="rId3"/>
          <a:srcRect b="11010"/>
          <a:stretch/>
        </p:blipFill>
        <p:spPr>
          <a:xfrm>
            <a:off x="7963765" y="1898851"/>
            <a:ext cx="3885857" cy="3176583"/>
          </a:xfrm>
          <a:prstGeom prst="rect">
            <a:avLst/>
          </a:prstGeom>
        </p:spPr>
      </p:pic>
    </p:spTree>
    <p:extLst>
      <p:ext uri="{BB962C8B-B14F-4D97-AF65-F5344CB8AC3E}">
        <p14:creationId xmlns:p14="http://schemas.microsoft.com/office/powerpoint/2010/main" val="1931314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31D16EB8-CD5E-DB56-4C61-6B25E29DA159}"/>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D58558A7-41DD-FEE8-C6D6-8066A4C8DB5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Thermal or Bimetallic Gauge</a:t>
            </a:r>
            <a:endParaRPr dirty="0"/>
          </a:p>
        </p:txBody>
      </p:sp>
      <p:sp>
        <p:nvSpPr>
          <p:cNvPr id="2" name="Text Placeholder 1">
            <a:extLst>
              <a:ext uri="{FF2B5EF4-FFF2-40B4-BE49-F238E27FC236}">
                <a16:creationId xmlns:a16="http://schemas.microsoft.com/office/drawing/2014/main" id="{9DF7B945-E5B5-A4D1-07DA-7379A04319C1}"/>
              </a:ext>
            </a:extLst>
          </p:cNvPr>
          <p:cNvSpPr>
            <a:spLocks noGrp="1"/>
          </p:cNvSpPr>
          <p:nvPr>
            <p:ph type="body" idx="1"/>
          </p:nvPr>
        </p:nvSpPr>
        <p:spPr>
          <a:xfrm>
            <a:off x="476844" y="1433686"/>
            <a:ext cx="5954778" cy="4649120"/>
          </a:xfrm>
        </p:spPr>
        <p:txBody>
          <a:bodyPr/>
          <a:lstStyle/>
          <a:p>
            <a:r>
              <a:rPr lang="en-US" sz="2400"/>
              <a:t>A bimetallic or thermal gauge operates through heat created by current flow.</a:t>
            </a:r>
          </a:p>
          <a:p>
            <a:r>
              <a:rPr lang="en-US" sz="2400"/>
              <a:t>A variable-resistance sending unit causes different amounts of current to flow through a heating coil within a gauge.</a:t>
            </a:r>
          </a:p>
          <a:p>
            <a:r>
              <a:rPr lang="en-US" sz="2400"/>
              <a:t>The heat acts on a bimetallic spring attached to a gauge needle.</a:t>
            </a:r>
          </a:p>
          <a:p>
            <a:r>
              <a:rPr lang="en-US" sz="2400"/>
              <a:t>When more heat is created, the needle swings farther up the scale.</a:t>
            </a:r>
          </a:p>
        </p:txBody>
      </p:sp>
      <p:pic>
        <p:nvPicPr>
          <p:cNvPr id="6" name="Picture Placeholder 5" descr="A bimetallic (thermal) gauge with the parts labeled as follows: bimetal spring and heating coil. There are two markings on either end of the gauge labeled, E and F.">
            <a:extLst>
              <a:ext uri="{FF2B5EF4-FFF2-40B4-BE49-F238E27FC236}">
                <a16:creationId xmlns:a16="http://schemas.microsoft.com/office/drawing/2014/main" id="{8CF60841-DE5E-8E7B-2925-DE1D7EBFBF4C}"/>
              </a:ext>
            </a:extLst>
          </p:cNvPr>
          <p:cNvPicPr>
            <a:picLocks noGrp="1" noChangeAspect="1"/>
          </p:cNvPicPr>
          <p:nvPr>
            <p:ph type="pic" sz="quarter" idx="10"/>
          </p:nvPr>
        </p:nvPicPr>
        <p:blipFill>
          <a:blip r:embed="rId3"/>
          <a:srcRect b="11882"/>
          <a:stretch/>
        </p:blipFill>
        <p:spPr>
          <a:xfrm>
            <a:off x="6992307" y="1868726"/>
            <a:ext cx="4358779" cy="3329998"/>
          </a:xfrm>
          <a:prstGeom prst="rect">
            <a:avLst/>
          </a:prstGeom>
        </p:spPr>
      </p:pic>
    </p:spTree>
    <p:extLst>
      <p:ext uri="{BB962C8B-B14F-4D97-AF65-F5344CB8AC3E}">
        <p14:creationId xmlns:p14="http://schemas.microsoft.com/office/powerpoint/2010/main" val="532016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2DC71B-15E2-A91A-E2DA-A2A03D502DE1}"/>
              </a:ext>
            </a:extLst>
          </p:cNvPr>
          <p:cNvSpPr>
            <a:spLocks noGrp="1"/>
          </p:cNvSpPr>
          <p:nvPr>
            <p:ph type="title"/>
          </p:nvPr>
        </p:nvSpPr>
        <p:spPr/>
        <p:txBody>
          <a:bodyPr/>
          <a:lstStyle/>
          <a:p>
            <a:r>
              <a:rPr lang="en-IN"/>
              <a:t>Discussion</a:t>
            </a:r>
          </a:p>
        </p:txBody>
      </p:sp>
      <p:sp>
        <p:nvSpPr>
          <p:cNvPr id="6" name="Text Placeholder 5">
            <a:extLst>
              <a:ext uri="{FF2B5EF4-FFF2-40B4-BE49-F238E27FC236}">
                <a16:creationId xmlns:a16="http://schemas.microsoft.com/office/drawing/2014/main" id="{AD9CED66-D00E-4F9F-0A1D-AF46D28CED9B}"/>
              </a:ext>
            </a:extLst>
          </p:cNvPr>
          <p:cNvSpPr>
            <a:spLocks noGrp="1"/>
          </p:cNvSpPr>
          <p:nvPr>
            <p:ph type="body" idx="1"/>
          </p:nvPr>
        </p:nvSpPr>
        <p:spPr/>
        <p:txBody>
          <a:bodyPr/>
          <a:lstStyle/>
          <a:p>
            <a:r>
              <a:rPr lang="en-US"/>
              <a:t>Instrumentation and information displays have evolved substantially since the introduction of LCD, TFT, and OLED technologies.</a:t>
            </a:r>
          </a:p>
          <a:p>
            <a:r>
              <a:rPr lang="en-US"/>
              <a:t>Have a class discussion about how these technologies are being used to provide more or better information and what types of other advantages they may offer in the future?</a:t>
            </a:r>
          </a:p>
        </p:txBody>
      </p:sp>
    </p:spTree>
    <p:extLst>
      <p:ext uri="{BB962C8B-B14F-4D97-AF65-F5344CB8AC3E}">
        <p14:creationId xmlns:p14="http://schemas.microsoft.com/office/powerpoint/2010/main" val="3023257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3F1D2-8E12-F930-3543-86A0AC6D07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FC2B81-C190-2C26-8664-8A596CD72674}"/>
              </a:ext>
            </a:extLst>
          </p:cNvPr>
          <p:cNvSpPr>
            <a:spLocks noGrp="1"/>
          </p:cNvSpPr>
          <p:nvPr>
            <p:ph type="title"/>
          </p:nvPr>
        </p:nvSpPr>
        <p:spPr/>
        <p:txBody>
          <a:bodyPr/>
          <a:lstStyle/>
          <a:p>
            <a:r>
              <a:rPr lang="en-US"/>
              <a:t>Electronic Instrument Clusters (1 of 2)</a:t>
            </a:r>
            <a:endParaRPr lang="en-IN"/>
          </a:p>
        </p:txBody>
      </p:sp>
      <p:sp>
        <p:nvSpPr>
          <p:cNvPr id="6" name="Text Placeholder 5">
            <a:extLst>
              <a:ext uri="{FF2B5EF4-FFF2-40B4-BE49-F238E27FC236}">
                <a16:creationId xmlns:a16="http://schemas.microsoft.com/office/drawing/2014/main" id="{3E5FF199-FD9B-1A23-EAB8-DAD206CA1C3D}"/>
              </a:ext>
            </a:extLst>
          </p:cNvPr>
          <p:cNvSpPr>
            <a:spLocks noGrp="1"/>
          </p:cNvSpPr>
          <p:nvPr>
            <p:ph type="body" idx="1"/>
          </p:nvPr>
        </p:nvSpPr>
        <p:spPr/>
        <p:txBody>
          <a:bodyPr/>
          <a:lstStyle/>
          <a:p>
            <a:pPr marL="0" indent="0">
              <a:buNone/>
            </a:pPr>
            <a:r>
              <a:rPr lang="en-US" sz="1800" b="1"/>
              <a:t>21.04 Describe the operation of the common types of gauges found in an instrument cluster.</a:t>
            </a:r>
          </a:p>
          <a:p>
            <a:r>
              <a:rPr lang="en-US" sz="1800"/>
              <a:t>Many of the displays on an instrument panel are controlled by the same sensors used to control the vehicle’s powertrain and other systems.</a:t>
            </a:r>
          </a:p>
          <a:p>
            <a:r>
              <a:rPr lang="en-US" sz="1800"/>
              <a:t>The signals from the sensors are part the multiplex system, in which the inputs are used by many systems.</a:t>
            </a:r>
          </a:p>
          <a:p>
            <a:r>
              <a:rPr lang="en-US" sz="1800"/>
              <a:t>The routing of the input signals can be handled by the body control module (BCM) which may also be capable of running diagnostic checks on the instrument panel.</a:t>
            </a:r>
          </a:p>
          <a:p>
            <a:r>
              <a:rPr lang="en-US" sz="1800"/>
              <a:t>If any of the input or output signals are out of the normal range, the BCM will set a DTC.</a:t>
            </a:r>
          </a:p>
          <a:p>
            <a:r>
              <a:rPr lang="en-US" sz="1800"/>
              <a:t>The code is typically retrieved with a scan tool.</a:t>
            </a:r>
          </a:p>
          <a:p>
            <a:r>
              <a:rPr lang="en-US" sz="1800"/>
              <a:t>Most instrument panel display modules have a self-diagnostic mode.</a:t>
            </a:r>
          </a:p>
          <a:p>
            <a:r>
              <a:rPr lang="en-US" sz="1800"/>
              <a:t>This mode allows the module to isolate faults in the cluster; when this test is initiated, all components and circuits are checked.</a:t>
            </a:r>
          </a:p>
        </p:txBody>
      </p:sp>
    </p:spTree>
    <p:extLst>
      <p:ext uri="{BB962C8B-B14F-4D97-AF65-F5344CB8AC3E}">
        <p14:creationId xmlns:p14="http://schemas.microsoft.com/office/powerpoint/2010/main" val="706409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2C1AADC7-2D0E-334F-37AA-C23C62728C96}"/>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FFCFF502-4838-C295-EFF5-18CEB5EA1C2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Electronic Instrument Clusters (2 of 2)</a:t>
            </a:r>
            <a:endParaRPr dirty="0"/>
          </a:p>
        </p:txBody>
      </p:sp>
      <p:sp>
        <p:nvSpPr>
          <p:cNvPr id="2" name="Text Placeholder 1">
            <a:extLst>
              <a:ext uri="{FF2B5EF4-FFF2-40B4-BE49-F238E27FC236}">
                <a16:creationId xmlns:a16="http://schemas.microsoft.com/office/drawing/2014/main" id="{4C2BF87A-FA5D-7C7B-D67A-831C53E3EBD3}"/>
              </a:ext>
            </a:extLst>
          </p:cNvPr>
          <p:cNvSpPr>
            <a:spLocks noGrp="1"/>
          </p:cNvSpPr>
          <p:nvPr>
            <p:ph type="body" idx="1"/>
          </p:nvPr>
        </p:nvSpPr>
        <p:spPr>
          <a:xfrm>
            <a:off x="476844" y="1433686"/>
            <a:ext cx="5697925" cy="4649120"/>
          </a:xfrm>
        </p:spPr>
        <p:txBody>
          <a:bodyPr/>
          <a:lstStyle/>
          <a:p>
            <a:r>
              <a:rPr lang="en-US" sz="1800"/>
              <a:t>Nearly all electronic instrument panels have a prove-out display.</a:t>
            </a:r>
          </a:p>
          <a:p>
            <a:r>
              <a:rPr lang="en-US" sz="1800"/>
              <a:t>This display occurs each time the ignition switch is turned on.</a:t>
            </a:r>
          </a:p>
          <a:p>
            <a:r>
              <a:rPr lang="en-US" sz="1800"/>
              <a:t>During this mode, all segments of the instrument display are illuminated and then momentarily turned off.</a:t>
            </a:r>
          </a:p>
          <a:p>
            <a:r>
              <a:rPr lang="en-US" sz="1800"/>
              <a:t>Then the display should return to normal.</a:t>
            </a:r>
          </a:p>
          <a:p>
            <a:r>
              <a:rPr lang="en-US" sz="1800"/>
              <a:t>If the instrument panel did not illuminate, check for power to the panel and the panel’s ground. </a:t>
            </a:r>
          </a:p>
          <a:p>
            <a:r>
              <a:rPr lang="en-US" sz="1800"/>
              <a:t>If both of these are good, replace the cluster.</a:t>
            </a:r>
          </a:p>
          <a:p>
            <a:r>
              <a:rPr lang="en-US" sz="1800"/>
              <a:t>If some of the segments or parts of the display do not illuminate, replace the cluster.</a:t>
            </a:r>
          </a:p>
        </p:txBody>
      </p:sp>
      <p:pic>
        <p:nvPicPr>
          <p:cNvPr id="5" name="Picture Placeholder 4" descr="A photo shows a prove-out display. The prove-out display consists of four dials. The first dial indicates a fuel indicator and the needle points to F. The second dial indicates a speedometer ranging from 0 to 120 with an interval of 20, where a needle points to 120. The third dial indicates another speedometer ranging from 0 to 7 with an interval of 1, where a needle points to 7. The 6 and 7 markings are highlighted. In the fourth dial, the needle points to any of the markings.">
            <a:extLst>
              <a:ext uri="{FF2B5EF4-FFF2-40B4-BE49-F238E27FC236}">
                <a16:creationId xmlns:a16="http://schemas.microsoft.com/office/drawing/2014/main" id="{42C18391-44B0-0A0F-7EF6-2D0A6BAED61B}"/>
              </a:ext>
            </a:extLst>
          </p:cNvPr>
          <p:cNvPicPr>
            <a:picLocks noGrp="1" noChangeAspect="1"/>
          </p:cNvPicPr>
          <p:nvPr>
            <p:ph type="pic" sz="quarter" idx="10"/>
          </p:nvPr>
        </p:nvPicPr>
        <p:blipFill>
          <a:blip r:embed="rId3"/>
          <a:srcRect b="14703"/>
          <a:stretch/>
        </p:blipFill>
        <p:spPr>
          <a:xfrm>
            <a:off x="6646483" y="1846815"/>
            <a:ext cx="4824002" cy="3321086"/>
          </a:xfrm>
          <a:prstGeom prst="rect">
            <a:avLst/>
          </a:prstGeom>
        </p:spPr>
      </p:pic>
    </p:spTree>
    <p:extLst>
      <p:ext uri="{BB962C8B-B14F-4D97-AF65-F5344CB8AC3E}">
        <p14:creationId xmlns:p14="http://schemas.microsoft.com/office/powerpoint/2010/main" val="4030829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E692B-D1AB-DA58-B8E5-FCB46E774BED}"/>
              </a:ext>
            </a:extLst>
          </p:cNvPr>
          <p:cNvSpPr>
            <a:spLocks noGrp="1"/>
          </p:cNvSpPr>
          <p:nvPr>
            <p:ph type="title"/>
          </p:nvPr>
        </p:nvSpPr>
        <p:spPr/>
        <p:txBody>
          <a:bodyPr/>
          <a:lstStyle/>
          <a:p>
            <a:r>
              <a:rPr lang="en-US"/>
              <a:t>Basic Information Gauges (1 of 3)</a:t>
            </a:r>
            <a:endParaRPr lang="en-IN"/>
          </a:p>
        </p:txBody>
      </p:sp>
      <p:sp>
        <p:nvSpPr>
          <p:cNvPr id="6" name="Text Placeholder 5">
            <a:extLst>
              <a:ext uri="{FF2B5EF4-FFF2-40B4-BE49-F238E27FC236}">
                <a16:creationId xmlns:a16="http://schemas.microsoft.com/office/drawing/2014/main" id="{4E2B5020-BF4D-E4BB-6A50-A8E4DFD340DA}"/>
              </a:ext>
            </a:extLst>
          </p:cNvPr>
          <p:cNvSpPr>
            <a:spLocks noGrp="1"/>
          </p:cNvSpPr>
          <p:nvPr>
            <p:ph type="body" idx="1"/>
          </p:nvPr>
        </p:nvSpPr>
        <p:spPr/>
        <p:txBody>
          <a:bodyPr/>
          <a:lstStyle/>
          <a:p>
            <a:pPr marL="0" indent="0">
              <a:buNone/>
            </a:pPr>
            <a:r>
              <a:rPr lang="en-US" sz="2000" b="1"/>
              <a:t>21.07 Explain the basics for diagnosing a gauge or warning circuit.</a:t>
            </a:r>
          </a:p>
          <a:p>
            <a:r>
              <a:rPr lang="en-US" sz="2000"/>
              <a:t>Diagnosis should begin with a good visual inspection of the circuit.</a:t>
            </a:r>
          </a:p>
          <a:p>
            <a:r>
              <a:rPr lang="en-US" sz="2000"/>
              <a:t>Check all sensors and actuators for physical damage.</a:t>
            </a:r>
          </a:p>
          <a:p>
            <a:r>
              <a:rPr lang="en-US" sz="2000"/>
              <a:t>Check all connections to sensors, actuators, control modules, and ground points.</a:t>
            </a:r>
          </a:p>
          <a:p>
            <a:r>
              <a:rPr lang="en-US" sz="2000"/>
              <a:t>Check the wiring for signs of burned or chafed spots, pinched wires, or contact with sharp edges or hot exhaust parts.</a:t>
            </a:r>
          </a:p>
          <a:p>
            <a:r>
              <a:rPr lang="en-US" sz="2000"/>
              <a:t>After completing the visual checks, use a scan tool to retrieve any DTCs and monitor the data stream as necessary.</a:t>
            </a:r>
          </a:p>
          <a:p>
            <a:r>
              <a:rPr lang="en-US" sz="2000"/>
              <a:t>Many systems provide testing the operation of instrument panel gauges and warning lights with a scan tool.</a:t>
            </a:r>
          </a:p>
          <a:p>
            <a:r>
              <a:rPr lang="en-US" sz="2000"/>
              <a:t>Always refer to the manufacturer’s recommended procedure before beginning to diagnose a circuit.</a:t>
            </a:r>
          </a:p>
        </p:txBody>
      </p:sp>
    </p:spTree>
    <p:extLst>
      <p:ext uri="{BB962C8B-B14F-4D97-AF65-F5344CB8AC3E}">
        <p14:creationId xmlns:p14="http://schemas.microsoft.com/office/powerpoint/2010/main" val="2332811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4FA1BCAD-5C37-5937-AA53-7B89C0F35430}"/>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9C5BFA7E-59F8-7EAB-113C-DD1C17CC73C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Basic Information Gauges (2 of 3)</a:t>
            </a:r>
            <a:endParaRPr dirty="0"/>
          </a:p>
        </p:txBody>
      </p:sp>
      <p:sp>
        <p:nvSpPr>
          <p:cNvPr id="2" name="Text Placeholder 1">
            <a:extLst>
              <a:ext uri="{FF2B5EF4-FFF2-40B4-BE49-F238E27FC236}">
                <a16:creationId xmlns:a16="http://schemas.microsoft.com/office/drawing/2014/main" id="{38006A37-6C9F-0D86-9629-A3464BDD8DC7}"/>
              </a:ext>
            </a:extLst>
          </p:cNvPr>
          <p:cNvSpPr>
            <a:spLocks noGrp="1"/>
          </p:cNvSpPr>
          <p:nvPr>
            <p:ph type="body" idx="1"/>
          </p:nvPr>
        </p:nvSpPr>
        <p:spPr>
          <a:xfrm>
            <a:off x="476844" y="1433686"/>
            <a:ext cx="6663695" cy="4649120"/>
          </a:xfrm>
        </p:spPr>
        <p:txBody>
          <a:bodyPr/>
          <a:lstStyle/>
          <a:p>
            <a:r>
              <a:rPr lang="en-US" sz="1800"/>
              <a:t>In the past, the speedometer was a nonelectrical or mechanical gauge.</a:t>
            </a:r>
          </a:p>
          <a:p>
            <a:r>
              <a:rPr lang="en-US" sz="1800"/>
              <a:t>It had a drive cable attached to a gear in the transmission that turned a magnet inside a cup-shaped metal piece at the gauge.</a:t>
            </a:r>
          </a:p>
          <a:p>
            <a:r>
              <a:rPr lang="en-US" sz="1800"/>
              <a:t>As the cable rotated faster with increased speed, magnetic forces acted on the cup forcing it to move.</a:t>
            </a:r>
          </a:p>
          <a:p>
            <a:r>
              <a:rPr lang="en-US" sz="1800"/>
              <a:t>As a result, the needle moved up and down the speed scale.</a:t>
            </a:r>
          </a:p>
          <a:p>
            <a:r>
              <a:rPr lang="en-US" sz="1800"/>
              <a:t>Electric speedometers are used in all late model vehicles.</a:t>
            </a:r>
          </a:p>
          <a:p>
            <a:r>
              <a:rPr lang="en-US" sz="1800"/>
              <a:t>While there are several systems in use, one of the most common types receives its speed information from ABS system or from the transmission-mounted vehicle speed sensor (VSS).</a:t>
            </a:r>
          </a:p>
        </p:txBody>
      </p:sp>
      <p:pic>
        <p:nvPicPr>
          <p:cNvPr id="6" name="Picture Placeholder 5" descr="The internal circuit of a speedometer. The speedometer consists of a body control module (B C M), a powertrain control module (P C M), and a vehicle sensor (V S S) 40,000 pulses per mile. The speed sensor display above the modules reads: 888 kilometers per hour M P H. The data from the B C M is connected to P C M and speed sensor display through B C M data line. The VSS input of the BCM is connected to the VSS output of the PCM. This connection is further linked to two connectors and grounded, producing 40,000 pulses per mile. The north pole and south pole of the coil in vehicle speed sensor is labeled A and B. A is fed to V S S input of P C M and then grounded while B is directly grounded in P C M.">
            <a:extLst>
              <a:ext uri="{FF2B5EF4-FFF2-40B4-BE49-F238E27FC236}">
                <a16:creationId xmlns:a16="http://schemas.microsoft.com/office/drawing/2014/main" id="{6C8083DE-A6B0-85C8-B8FB-FD42CE7A9B2D}"/>
              </a:ext>
            </a:extLst>
          </p:cNvPr>
          <p:cNvPicPr>
            <a:picLocks noGrp="1" noChangeAspect="1"/>
          </p:cNvPicPr>
          <p:nvPr>
            <p:ph type="pic" sz="quarter" idx="10"/>
          </p:nvPr>
        </p:nvPicPr>
        <p:blipFill>
          <a:blip r:embed="rId3"/>
          <a:srcRect b="7341"/>
          <a:stretch/>
        </p:blipFill>
        <p:spPr>
          <a:xfrm>
            <a:off x="7606224" y="1732690"/>
            <a:ext cx="3896855" cy="3753710"/>
          </a:xfrm>
          <a:prstGeom prst="rect">
            <a:avLst/>
          </a:prstGeom>
        </p:spPr>
      </p:pic>
    </p:spTree>
    <p:extLst>
      <p:ext uri="{BB962C8B-B14F-4D97-AF65-F5344CB8AC3E}">
        <p14:creationId xmlns:p14="http://schemas.microsoft.com/office/powerpoint/2010/main" val="4065659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2068200E-AB63-5256-F110-145F041CD048}"/>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E21DAB3A-761A-EAB2-C81A-5A30D094E37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Basic Information Gauges (3 of 3)</a:t>
            </a:r>
            <a:endParaRPr dirty="0"/>
          </a:p>
        </p:txBody>
      </p:sp>
      <p:sp>
        <p:nvSpPr>
          <p:cNvPr id="2" name="Text Placeholder 1">
            <a:extLst>
              <a:ext uri="{FF2B5EF4-FFF2-40B4-BE49-F238E27FC236}">
                <a16:creationId xmlns:a16="http://schemas.microsoft.com/office/drawing/2014/main" id="{85A90863-37DA-DCBF-B3E7-DFF868E6CF27}"/>
              </a:ext>
            </a:extLst>
          </p:cNvPr>
          <p:cNvSpPr>
            <a:spLocks noGrp="1"/>
          </p:cNvSpPr>
          <p:nvPr>
            <p:ph type="body" idx="1"/>
          </p:nvPr>
        </p:nvSpPr>
        <p:spPr>
          <a:xfrm>
            <a:off x="476844" y="1433686"/>
            <a:ext cx="6663695" cy="4649120"/>
          </a:xfrm>
        </p:spPr>
        <p:txBody>
          <a:bodyPr/>
          <a:lstStyle/>
          <a:p>
            <a:r>
              <a:rPr lang="en-US" sz="1800"/>
              <a:t>The oil pressure gauge displays engine oil pressure. </a:t>
            </a:r>
          </a:p>
          <a:p>
            <a:r>
              <a:rPr lang="en-US" sz="1800"/>
              <a:t>With low oil pressure (or with the engine shut off), the oil pressure switch is open and no current flows through the gauge winding.</a:t>
            </a:r>
          </a:p>
          <a:p>
            <a:r>
              <a:rPr lang="en-US" sz="1800"/>
              <a:t>The needle points to low (L). With oil pressure above a specific limit, the switch closes and current flows through the gauge winding to ground.</a:t>
            </a:r>
          </a:p>
          <a:p>
            <a:r>
              <a:rPr lang="en-US" sz="1800"/>
              <a:t>A resistor limits current flow through the winding and ensures that the needle points to about mid-scale with normal oil pressure.</a:t>
            </a:r>
          </a:p>
          <a:p>
            <a:r>
              <a:rPr lang="en-US" sz="1800"/>
              <a:t>A piezoresistive sensor is threaded into an oil delivery passage in the engine.</a:t>
            </a:r>
          </a:p>
          <a:p>
            <a:r>
              <a:rPr lang="en-US" sz="1800"/>
              <a:t>The pressure of the oil moves a flexible diaphragm.</a:t>
            </a:r>
          </a:p>
          <a:p>
            <a:r>
              <a:rPr lang="en-US" sz="1800"/>
              <a:t>This movement is transferred to a contact arm that slides down the resistor.</a:t>
            </a:r>
          </a:p>
        </p:txBody>
      </p:sp>
      <p:pic>
        <p:nvPicPr>
          <p:cNvPr id="5" name="Picture Placeholder 4" descr="A Piezoresistive sensor with parts labeled as follows: variable resistor, terminal, contact arm, and diaphragm. An oil pressure is applied at the center of the sensor.">
            <a:extLst>
              <a:ext uri="{FF2B5EF4-FFF2-40B4-BE49-F238E27FC236}">
                <a16:creationId xmlns:a16="http://schemas.microsoft.com/office/drawing/2014/main" id="{EC4759EF-5DC2-AC43-50C6-09184650512A}"/>
              </a:ext>
            </a:extLst>
          </p:cNvPr>
          <p:cNvPicPr>
            <a:picLocks noGrp="1" noChangeAspect="1"/>
          </p:cNvPicPr>
          <p:nvPr>
            <p:ph type="pic" sz="quarter" idx="10"/>
          </p:nvPr>
        </p:nvPicPr>
        <p:blipFill rotWithShape="1">
          <a:blip r:embed="rId3"/>
          <a:srcRect b="11244"/>
          <a:stretch/>
        </p:blipFill>
        <p:spPr>
          <a:xfrm>
            <a:off x="7183162" y="1939648"/>
            <a:ext cx="4639214" cy="3228253"/>
          </a:xfrm>
          <a:prstGeom prst="rect">
            <a:avLst/>
          </a:prstGeom>
        </p:spPr>
      </p:pic>
    </p:spTree>
    <p:extLst>
      <p:ext uri="{BB962C8B-B14F-4D97-AF65-F5344CB8AC3E}">
        <p14:creationId xmlns:p14="http://schemas.microsoft.com/office/powerpoint/2010/main" val="108220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218704-56FD-F28E-5A53-39C6A9EA3058}"/>
              </a:ext>
            </a:extLst>
          </p:cNvPr>
          <p:cNvSpPr>
            <a:spLocks noGrp="1"/>
          </p:cNvSpPr>
          <p:nvPr>
            <p:ph type="title"/>
          </p:nvPr>
        </p:nvSpPr>
        <p:spPr/>
        <p:txBody>
          <a:bodyPr/>
          <a:lstStyle/>
          <a:p>
            <a:r>
              <a:rPr lang="en-US"/>
              <a:t>Indicator and Warning Devices (1 of 2)</a:t>
            </a:r>
            <a:endParaRPr lang="en-IN"/>
          </a:p>
        </p:txBody>
      </p:sp>
      <p:sp>
        <p:nvSpPr>
          <p:cNvPr id="6" name="Text Placeholder 5">
            <a:extLst>
              <a:ext uri="{FF2B5EF4-FFF2-40B4-BE49-F238E27FC236}">
                <a16:creationId xmlns:a16="http://schemas.microsoft.com/office/drawing/2014/main" id="{044DF2DB-EE93-254A-1F09-F07AFF096368}"/>
              </a:ext>
            </a:extLst>
          </p:cNvPr>
          <p:cNvSpPr>
            <a:spLocks noGrp="1"/>
          </p:cNvSpPr>
          <p:nvPr>
            <p:ph type="body" idx="1"/>
          </p:nvPr>
        </p:nvSpPr>
        <p:spPr/>
        <p:txBody>
          <a:bodyPr/>
          <a:lstStyle/>
          <a:p>
            <a:pPr marL="0" indent="0">
              <a:buNone/>
            </a:pPr>
            <a:r>
              <a:rPr lang="en-US" sz="1800" b="1"/>
              <a:t>21.05 List and explain the function of the various indicators found on today’s vehicles.</a:t>
            </a:r>
          </a:p>
          <a:p>
            <a:pPr marL="0" indent="0">
              <a:buNone/>
            </a:pPr>
            <a:r>
              <a:rPr lang="en-US" sz="1800" b="1"/>
              <a:t>21.06 List and explain the function of the various warning devices found on today’s vehicles.</a:t>
            </a:r>
          </a:p>
          <a:p>
            <a:r>
              <a:rPr lang="en-US" sz="1800"/>
              <a:t>Vehicles are equipped with several warning devices to alert the driver to problems. Most of these are safety or emissions related.</a:t>
            </a:r>
          </a:p>
          <a:p>
            <a:r>
              <a:rPr lang="en-US" sz="1800"/>
              <a:t>These are controlled by sending units that act as simple on/off switches. The sending units can be normally open or normally closed switches.</a:t>
            </a:r>
          </a:p>
          <a:p>
            <a:r>
              <a:rPr lang="en-US" sz="1800"/>
              <a:t>Warning lights notify the driver that something in the system is not functioning properly or that a situation exists that must be corrected.</a:t>
            </a:r>
          </a:p>
          <a:p>
            <a:r>
              <a:rPr lang="en-US" sz="1800"/>
              <a:t>Some system problem may cause the system to emit an audible sound in addition to illuminating the lamp.</a:t>
            </a:r>
          </a:p>
          <a:p>
            <a:r>
              <a:rPr lang="en-US" sz="1800"/>
              <a:t>Gauges and warning lights often work together to alert the driver to a problem.</a:t>
            </a:r>
          </a:p>
          <a:p>
            <a:r>
              <a:rPr lang="en-US" sz="1800"/>
              <a:t>Indicator lamps inform the driver that something that is normally off is now on, or vice versa.</a:t>
            </a:r>
          </a:p>
        </p:txBody>
      </p:sp>
    </p:spTree>
    <p:extLst>
      <p:ext uri="{BB962C8B-B14F-4D97-AF65-F5344CB8AC3E}">
        <p14:creationId xmlns:p14="http://schemas.microsoft.com/office/powerpoint/2010/main" val="3947727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D1404FBA-215A-265E-5277-592945054E54}"/>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838E89A3-B4B2-DCDB-2EBE-047B2EFD1791}"/>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Indicator and Warning Devices (2 of 2)</a:t>
            </a:r>
            <a:endParaRPr dirty="0"/>
          </a:p>
        </p:txBody>
      </p:sp>
      <p:sp>
        <p:nvSpPr>
          <p:cNvPr id="2" name="Text Placeholder 1">
            <a:extLst>
              <a:ext uri="{FF2B5EF4-FFF2-40B4-BE49-F238E27FC236}">
                <a16:creationId xmlns:a16="http://schemas.microsoft.com/office/drawing/2014/main" id="{B6130690-286B-A528-38E7-4F19FA0261B9}"/>
              </a:ext>
            </a:extLst>
          </p:cNvPr>
          <p:cNvSpPr>
            <a:spLocks noGrp="1"/>
          </p:cNvSpPr>
          <p:nvPr>
            <p:ph type="body" idx="1"/>
          </p:nvPr>
        </p:nvSpPr>
        <p:spPr>
          <a:xfrm>
            <a:off x="476845" y="1433686"/>
            <a:ext cx="7033564" cy="4649120"/>
          </a:xfrm>
        </p:spPr>
        <p:txBody>
          <a:bodyPr/>
          <a:lstStyle/>
          <a:p>
            <a:r>
              <a:rPr lang="en-US" sz="1800"/>
              <a:t>Warning lights will come on briefly when the engine is first started; this is a bulb check.</a:t>
            </a:r>
          </a:p>
          <a:p>
            <a:r>
              <a:rPr lang="en-US" sz="1800"/>
              <a:t>It is unlikely that all of the lamps will be bad so if the lamps do not light during the bulb check, check the circuit’s fuse.</a:t>
            </a:r>
          </a:p>
          <a:p>
            <a:r>
              <a:rPr lang="en-US" sz="1800"/>
              <a:t>If the fuse is okay, check for voltage at the last common connection.</a:t>
            </a:r>
          </a:p>
          <a:p>
            <a:r>
              <a:rPr lang="en-US" sz="1800"/>
              <a:t>If there is no voltage there, follow the circuit back to the battery and check for voltage at all available points.</a:t>
            </a:r>
          </a:p>
          <a:p>
            <a:r>
              <a:rPr lang="en-US" sz="1800"/>
              <a:t>If there was voltage at the common connection, test each circuit branch.</a:t>
            </a:r>
          </a:p>
          <a:p>
            <a:r>
              <a:rPr lang="en-US" sz="1800"/>
              <a:t>Unplugging the electrical connection to the sending unit should cause the warning lamp to either light or go out, depending on whether the sending unit is normally closed or open.</a:t>
            </a:r>
          </a:p>
        </p:txBody>
      </p:sp>
      <p:pic>
        <p:nvPicPr>
          <p:cNvPr id="6" name="Picture Placeholder 5" descr="A photo shows warning lights and indicators. Left side indicates warning lights and right side indicates indicators. Two pointer needles are placed on the warning lights. One of the needle points above E and the other needle points below G. Indicator ranging from 0 to 7 with an interval of 1 and the needle points to 0.">
            <a:extLst>
              <a:ext uri="{FF2B5EF4-FFF2-40B4-BE49-F238E27FC236}">
                <a16:creationId xmlns:a16="http://schemas.microsoft.com/office/drawing/2014/main" id="{E91FA3AD-DF70-EE14-7D6C-BEF3292CC215}"/>
              </a:ext>
            </a:extLst>
          </p:cNvPr>
          <p:cNvPicPr>
            <a:picLocks noGrp="1" noChangeAspect="1"/>
          </p:cNvPicPr>
          <p:nvPr>
            <p:ph type="pic" sz="quarter" idx="10"/>
          </p:nvPr>
        </p:nvPicPr>
        <p:blipFill rotWithShape="1">
          <a:blip r:embed="rId3"/>
          <a:srcRect b="17561"/>
          <a:stretch/>
        </p:blipFill>
        <p:spPr>
          <a:xfrm>
            <a:off x="7510409" y="1962768"/>
            <a:ext cx="4419648" cy="3246232"/>
          </a:xfrm>
          <a:prstGeom prst="rect">
            <a:avLst/>
          </a:prstGeom>
        </p:spPr>
      </p:pic>
    </p:spTree>
    <p:extLst>
      <p:ext uri="{BB962C8B-B14F-4D97-AF65-F5344CB8AC3E}">
        <p14:creationId xmlns:p14="http://schemas.microsoft.com/office/powerpoint/2010/main" val="400625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7DBD92-BC6E-FF18-FE0A-274FCFD42656}"/>
              </a:ext>
            </a:extLst>
          </p:cNvPr>
          <p:cNvSpPr>
            <a:spLocks noGrp="1"/>
          </p:cNvSpPr>
          <p:nvPr>
            <p:ph type="title"/>
          </p:nvPr>
        </p:nvSpPr>
        <p:spPr/>
        <p:txBody>
          <a:bodyPr/>
          <a:lstStyle/>
          <a:p>
            <a:r>
              <a:rPr lang="en-US"/>
              <a:t>Engine-Related Warning and Indicator Lights</a:t>
            </a:r>
            <a:endParaRPr lang="en-IN"/>
          </a:p>
        </p:txBody>
      </p:sp>
      <p:sp>
        <p:nvSpPr>
          <p:cNvPr id="6" name="Text Placeholder 5">
            <a:extLst>
              <a:ext uri="{FF2B5EF4-FFF2-40B4-BE49-F238E27FC236}">
                <a16:creationId xmlns:a16="http://schemas.microsoft.com/office/drawing/2014/main" id="{D2368DC5-B8EB-8C14-F60F-888E40AF8BB4}"/>
              </a:ext>
            </a:extLst>
          </p:cNvPr>
          <p:cNvSpPr>
            <a:spLocks noGrp="1"/>
          </p:cNvSpPr>
          <p:nvPr>
            <p:ph type="body" idx="1"/>
          </p:nvPr>
        </p:nvSpPr>
        <p:spPr/>
        <p:txBody>
          <a:bodyPr/>
          <a:lstStyle/>
          <a:p>
            <a:r>
              <a:rPr lang="en-US" sz="2200"/>
              <a:t>Check Engine Light</a:t>
            </a:r>
          </a:p>
          <a:p>
            <a:pPr lvl="1"/>
            <a:r>
              <a:rPr lang="en-US" sz="2000"/>
              <a:t>This may be also labeled as “Service Engine Soon”.</a:t>
            </a:r>
          </a:p>
          <a:p>
            <a:pPr lvl="1"/>
            <a:r>
              <a:rPr lang="en-US" sz="2000"/>
              <a:t>It is primarily an emissions-related light.</a:t>
            </a:r>
          </a:p>
          <a:p>
            <a:r>
              <a:rPr lang="en-US" sz="2200"/>
              <a:t>Oil Pressure Light</a:t>
            </a:r>
          </a:p>
          <a:p>
            <a:pPr lvl="1"/>
            <a:r>
              <a:rPr lang="en-US" sz="2000"/>
              <a:t>This lamp, represented by the oil can, is operated by an oil pressure switch located in the engine’s lubricating system.</a:t>
            </a:r>
          </a:p>
          <a:p>
            <a:r>
              <a:rPr lang="en-US" sz="2200"/>
              <a:t>Charge Indicator Light</a:t>
            </a:r>
          </a:p>
          <a:p>
            <a:pPr lvl="1"/>
            <a:r>
              <a:rPr lang="en-US" sz="2000"/>
              <a:t>If there is something wrong with the charging system, this light comes on while the engine is running.</a:t>
            </a:r>
          </a:p>
          <a:p>
            <a:r>
              <a:rPr lang="en-US" sz="2200"/>
              <a:t>Check Filler Cap</a:t>
            </a:r>
          </a:p>
          <a:p>
            <a:pPr lvl="1"/>
            <a:r>
              <a:rPr lang="en-US" sz="2000"/>
              <a:t>This lamp will be illuminated when the gas filler cap is not tight or off and when there may be a problem with the fuel system.</a:t>
            </a:r>
          </a:p>
        </p:txBody>
      </p:sp>
    </p:spTree>
    <p:extLst>
      <p:ext uri="{BB962C8B-B14F-4D97-AF65-F5344CB8AC3E}">
        <p14:creationId xmlns:p14="http://schemas.microsoft.com/office/powerpoint/2010/main" val="2751477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82582F-3B27-0ABB-6C1C-1E8299A0C104}"/>
              </a:ext>
            </a:extLst>
          </p:cNvPr>
          <p:cNvSpPr>
            <a:spLocks noGrp="1"/>
          </p:cNvSpPr>
          <p:nvPr>
            <p:ph type="title"/>
          </p:nvPr>
        </p:nvSpPr>
        <p:spPr/>
        <p:txBody>
          <a:bodyPr/>
          <a:lstStyle/>
          <a:p>
            <a:r>
              <a:rPr lang="en-US"/>
              <a:t>Safety-Related Warning and Indicator Lights (1 of 3)</a:t>
            </a:r>
            <a:endParaRPr lang="en-IN"/>
          </a:p>
        </p:txBody>
      </p:sp>
      <p:sp>
        <p:nvSpPr>
          <p:cNvPr id="6" name="Text Placeholder 5">
            <a:extLst>
              <a:ext uri="{FF2B5EF4-FFF2-40B4-BE49-F238E27FC236}">
                <a16:creationId xmlns:a16="http://schemas.microsoft.com/office/drawing/2014/main" id="{EB8BA6C0-13A1-2467-DDD5-03AA400C1ED4}"/>
              </a:ext>
            </a:extLst>
          </p:cNvPr>
          <p:cNvSpPr>
            <a:spLocks noGrp="1"/>
          </p:cNvSpPr>
          <p:nvPr>
            <p:ph type="body" idx="1"/>
          </p:nvPr>
        </p:nvSpPr>
        <p:spPr/>
        <p:txBody>
          <a:bodyPr/>
          <a:lstStyle/>
          <a:p>
            <a:r>
              <a:rPr lang="en-US" sz="2000"/>
              <a:t>Electric Power-Steering Fault Light turns on if a fault is present in the electric power steering assist system.</a:t>
            </a:r>
          </a:p>
          <a:p>
            <a:pPr lvl="1"/>
            <a:r>
              <a:rPr lang="en-US" sz="1800"/>
              <a:t>Because the steering is still mechanically linked to the steering gearbox, steering control is maintained; however, power-steering assist will be reduced or absent.</a:t>
            </a:r>
          </a:p>
          <a:p>
            <a:r>
              <a:rPr lang="en-US" sz="2000"/>
              <a:t>The air bag readiness light lets the driver know the air bag system is working and ready to do its job.</a:t>
            </a:r>
          </a:p>
          <a:p>
            <a:pPr lvl="1"/>
            <a:r>
              <a:rPr lang="en-US" sz="1800"/>
              <a:t>It lights briefly when the ignition is turned on. A malfunction in the air bag system will cause the light to stay on continuously or to flash.</a:t>
            </a:r>
          </a:p>
          <a:p>
            <a:r>
              <a:rPr lang="en-US" sz="2000"/>
              <a:t>Passenger or Side Air Bag Off Light Some vehicles have an indicator light that alerts the driver when the passenger side air bag or side impact air bags are disabled.</a:t>
            </a:r>
          </a:p>
          <a:p>
            <a:pPr lvl="1"/>
            <a:r>
              <a:rPr lang="en-US" sz="1800"/>
              <a:t>This typically occurs when an object of insufficient weight is placed in the passenger seat. The occupant detection system in the seat recognizes that the weight is not enough to be a full-sized person and turns the air bag off.</a:t>
            </a:r>
          </a:p>
        </p:txBody>
      </p:sp>
    </p:spTree>
    <p:extLst>
      <p:ext uri="{BB962C8B-B14F-4D97-AF65-F5344CB8AC3E}">
        <p14:creationId xmlns:p14="http://schemas.microsoft.com/office/powerpoint/2010/main" val="3743770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6998C-944F-2DED-F255-F8892502C0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549DB25-1623-2FB3-C487-0E5A70044E82}"/>
              </a:ext>
            </a:extLst>
          </p:cNvPr>
          <p:cNvSpPr>
            <a:spLocks noGrp="1"/>
          </p:cNvSpPr>
          <p:nvPr>
            <p:ph type="title"/>
          </p:nvPr>
        </p:nvSpPr>
        <p:spPr/>
        <p:txBody>
          <a:bodyPr/>
          <a:lstStyle/>
          <a:p>
            <a:r>
              <a:rPr lang="en-US"/>
              <a:t>Safety-Related Warning and Indicator Lights (2 of 3)</a:t>
            </a:r>
            <a:endParaRPr lang="en-IN"/>
          </a:p>
        </p:txBody>
      </p:sp>
      <p:sp>
        <p:nvSpPr>
          <p:cNvPr id="6" name="Text Placeholder 5">
            <a:extLst>
              <a:ext uri="{FF2B5EF4-FFF2-40B4-BE49-F238E27FC236}">
                <a16:creationId xmlns:a16="http://schemas.microsoft.com/office/drawing/2014/main" id="{33FE0DF7-882E-4E55-5385-C8FE27FBEF74}"/>
              </a:ext>
            </a:extLst>
          </p:cNvPr>
          <p:cNvSpPr>
            <a:spLocks noGrp="1"/>
          </p:cNvSpPr>
          <p:nvPr>
            <p:ph type="body" idx="1"/>
          </p:nvPr>
        </p:nvSpPr>
        <p:spPr/>
        <p:txBody>
          <a:bodyPr/>
          <a:lstStyle/>
          <a:p>
            <a:r>
              <a:rPr lang="en-US" sz="2000" dirty="0"/>
              <a:t>Fasten Belts Indicator is typically accompanied by a chime and will illuminate when the driver and/or passenger has not fastened the seat belt.</a:t>
            </a:r>
          </a:p>
          <a:p>
            <a:pPr lvl="1"/>
            <a:r>
              <a:rPr lang="en-US" sz="1800" dirty="0"/>
              <a:t>The chime and lamp will stay on until the belt is buckled. When the ignition switch is in the ON position, the system is activated for about 5 seconds, whether or not the driver’s belt is buckled.</a:t>
            </a:r>
          </a:p>
          <a:p>
            <a:r>
              <a:rPr lang="en-US" sz="2000" dirty="0"/>
              <a:t>Brake Warning Light is an indication that the parking brake is engaged or there is a problem with the brake system.</a:t>
            </a:r>
          </a:p>
          <a:p>
            <a:pPr lvl="1"/>
            <a:r>
              <a:rPr lang="en-US" sz="1800" dirty="0"/>
              <a:t>Vehicles built for Canada may have a separate warning lamp that indicates when the parking brake is applied.</a:t>
            </a:r>
          </a:p>
          <a:p>
            <a:r>
              <a:rPr lang="en-US" sz="2000" dirty="0"/>
              <a:t>Brake Fluid Level Warning Light is connected to a brake fluid level sensor in the brake fluid reservoir. If the brake fluid drops below a specified level, the sensor is activated and the light turns on while the engine is running. The same red BRAKE light is often used to indicate the parking brake is set and brake fluid level is low.</a:t>
            </a:r>
          </a:p>
        </p:txBody>
      </p:sp>
    </p:spTree>
    <p:extLst>
      <p:ext uri="{BB962C8B-B14F-4D97-AF65-F5344CB8AC3E}">
        <p14:creationId xmlns:p14="http://schemas.microsoft.com/office/powerpoint/2010/main" val="3127204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1DF35-BA07-CC02-244B-EDB6EC47110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A982E2E-A824-A683-631F-23DF9920860B}"/>
              </a:ext>
            </a:extLst>
          </p:cNvPr>
          <p:cNvSpPr>
            <a:spLocks noGrp="1"/>
          </p:cNvSpPr>
          <p:nvPr>
            <p:ph type="title"/>
          </p:nvPr>
        </p:nvSpPr>
        <p:spPr/>
        <p:txBody>
          <a:bodyPr/>
          <a:lstStyle/>
          <a:p>
            <a:r>
              <a:rPr lang="en-US"/>
              <a:t>Safety-Related Warning and Indicator Lights (3 of 3)</a:t>
            </a:r>
            <a:endParaRPr lang="en-IN"/>
          </a:p>
        </p:txBody>
      </p:sp>
      <p:sp>
        <p:nvSpPr>
          <p:cNvPr id="6" name="Text Placeholder 5">
            <a:extLst>
              <a:ext uri="{FF2B5EF4-FFF2-40B4-BE49-F238E27FC236}">
                <a16:creationId xmlns:a16="http://schemas.microsoft.com/office/drawing/2014/main" id="{AD207AA9-C25D-8FAD-DF07-A7532DEEDB66}"/>
              </a:ext>
            </a:extLst>
          </p:cNvPr>
          <p:cNvSpPr>
            <a:spLocks noGrp="1"/>
          </p:cNvSpPr>
          <p:nvPr>
            <p:ph type="body" idx="1"/>
          </p:nvPr>
        </p:nvSpPr>
        <p:spPr/>
        <p:txBody>
          <a:bodyPr/>
          <a:lstStyle/>
          <a:p>
            <a:r>
              <a:rPr lang="en-US" sz="2000"/>
              <a:t>If an antilock brake system fault is present, the antilock brake module grounds the indicator circuit, and the antilock light goes on.</a:t>
            </a:r>
          </a:p>
          <a:p>
            <a:pPr lvl="1"/>
            <a:r>
              <a:rPr lang="en-US" sz="1800"/>
              <a:t>Vehicles built for Canada may have a different symbol on their warning lamp.</a:t>
            </a:r>
          </a:p>
          <a:p>
            <a:r>
              <a:rPr lang="en-US" sz="2000"/>
              <a:t>Traction/Stability Control Light is used with the ABS warning light to indicate a fault in the traction or stability control system.</a:t>
            </a:r>
          </a:p>
          <a:p>
            <a:pPr lvl="1"/>
            <a:r>
              <a:rPr lang="en-US" sz="1800"/>
              <a:t>A failure of the ABS, such as from a faulty wheel speed sensor, will turn on both the ABS and traction or stability control lights. The red lamps will also be lit when the system is turned off. Yellow lamps are lit when the system is actively regulating drive torque and braking force.</a:t>
            </a:r>
          </a:p>
          <a:p>
            <a:r>
              <a:rPr lang="en-US" sz="2000"/>
              <a:t>Brake Pad Indicator illuminates when the sensors at the wheel brake units sense thin brake pads. The sensors are typically embedded in the pads, and when they contact the metal rotor, the warning light circuit is complete and the lamp is lit.</a:t>
            </a:r>
          </a:p>
          <a:p>
            <a:r>
              <a:rPr lang="en-US" sz="2000"/>
              <a:t>Lamp-Out Warning The lamp-out warning module is an electronic unit that is designed to measure small changes in voltage levels.</a:t>
            </a:r>
          </a:p>
        </p:txBody>
      </p:sp>
    </p:spTree>
    <p:extLst>
      <p:ext uri="{BB962C8B-B14F-4D97-AF65-F5344CB8AC3E}">
        <p14:creationId xmlns:p14="http://schemas.microsoft.com/office/powerpoint/2010/main" val="1178486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66600-461F-2D6A-B850-B21DC78E02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B05A7C0-F276-0570-A0CE-826C380544D5}"/>
              </a:ext>
            </a:extLst>
          </p:cNvPr>
          <p:cNvSpPr>
            <a:spLocks noGrp="1"/>
          </p:cNvSpPr>
          <p:nvPr>
            <p:ph type="title"/>
          </p:nvPr>
        </p:nvSpPr>
        <p:spPr/>
        <p:txBody>
          <a:bodyPr/>
          <a:lstStyle/>
          <a:p>
            <a:r>
              <a:rPr lang="en-US"/>
              <a:t>Driver Information Warning and Indicator Lights (1 of 2)</a:t>
            </a:r>
            <a:endParaRPr lang="en-IN"/>
          </a:p>
        </p:txBody>
      </p:sp>
      <p:sp>
        <p:nvSpPr>
          <p:cNvPr id="6" name="Text Placeholder 5">
            <a:extLst>
              <a:ext uri="{FF2B5EF4-FFF2-40B4-BE49-F238E27FC236}">
                <a16:creationId xmlns:a16="http://schemas.microsoft.com/office/drawing/2014/main" id="{14F4D351-514C-42D0-7617-5049EB717D6C}"/>
              </a:ext>
            </a:extLst>
          </p:cNvPr>
          <p:cNvSpPr>
            <a:spLocks noGrp="1"/>
          </p:cNvSpPr>
          <p:nvPr>
            <p:ph type="body" idx="1"/>
          </p:nvPr>
        </p:nvSpPr>
        <p:spPr/>
        <p:txBody>
          <a:bodyPr/>
          <a:lstStyle/>
          <a:p>
            <a:r>
              <a:rPr lang="en-US" sz="2400"/>
              <a:t>Blind Spot Detection, Back Up, and Lane Departure Warnings </a:t>
            </a:r>
          </a:p>
          <a:p>
            <a:pPr lvl="1"/>
            <a:r>
              <a:rPr lang="en-US" sz="2200"/>
              <a:t>These systems may use a combination of visual alerts, such as blinking lights in the mirrors.</a:t>
            </a:r>
          </a:p>
          <a:p>
            <a:pPr lvl="1"/>
            <a:r>
              <a:rPr lang="en-US" sz="2200"/>
              <a:t>These alerts are used to inform the driver that an object is detected within the range of view of the various sensors.</a:t>
            </a:r>
          </a:p>
          <a:p>
            <a:r>
              <a:rPr lang="en-US" sz="2400"/>
              <a:t>Low Fuel Warning</a:t>
            </a:r>
          </a:p>
          <a:p>
            <a:pPr lvl="1"/>
            <a:r>
              <a:rPr lang="en-US" sz="2200"/>
              <a:t>This lamp will illuminate when the fuel level is below a quarter full. An electronic switch closes and power is applied to illuminate the lamp.</a:t>
            </a:r>
          </a:p>
          <a:p>
            <a:r>
              <a:rPr lang="en-US" sz="2400"/>
              <a:t>Drive Indicator</a:t>
            </a:r>
          </a:p>
          <a:p>
            <a:pPr lvl="1"/>
            <a:r>
              <a:rPr lang="en-US" sz="2200"/>
              <a:t>Some four-wheel-drive vehicles have a lamp which, when lit, indicates that the vehicle is in four-wheel-drive mode of operation.</a:t>
            </a:r>
          </a:p>
        </p:txBody>
      </p:sp>
    </p:spTree>
    <p:extLst>
      <p:ext uri="{BB962C8B-B14F-4D97-AF65-F5344CB8AC3E}">
        <p14:creationId xmlns:p14="http://schemas.microsoft.com/office/powerpoint/2010/main" val="1392103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6F841-995B-C89B-A956-F9BC2F074230}"/>
              </a:ext>
            </a:extLst>
          </p:cNvPr>
          <p:cNvSpPr>
            <a:spLocks noGrp="1"/>
          </p:cNvSpPr>
          <p:nvPr>
            <p:ph type="title"/>
          </p:nvPr>
        </p:nvSpPr>
        <p:spPr/>
        <p:txBody>
          <a:bodyPr/>
          <a:lstStyle/>
          <a:p>
            <a:r>
              <a:rPr lang="en-US"/>
              <a:t>Driver Information Warning and Indicator Lights (2 of 2)</a:t>
            </a:r>
            <a:endParaRPr lang="en-IN"/>
          </a:p>
        </p:txBody>
      </p:sp>
      <p:pic>
        <p:nvPicPr>
          <p:cNvPr id="5" name="Picture Placeholder 4" descr="An instrument cluster in a vehicle with two dials. The first dial ranges from 0 to 8, and a pointer needle points to 0. Red and yellow warning lights are highlighted on the dials. The second dial ranges from 0 to 260, and a pointer needle points to 210. Below the second dial, the pointer indicates the fuel consumption, which is more than half the tank.">
            <a:extLst>
              <a:ext uri="{FF2B5EF4-FFF2-40B4-BE49-F238E27FC236}">
                <a16:creationId xmlns:a16="http://schemas.microsoft.com/office/drawing/2014/main" id="{793B174A-B741-A353-F00D-DDFA0B7875AB}"/>
              </a:ext>
            </a:extLst>
          </p:cNvPr>
          <p:cNvPicPr>
            <a:picLocks noGrp="1" noChangeAspect="1"/>
          </p:cNvPicPr>
          <p:nvPr>
            <p:ph type="pic" sz="quarter" idx="10"/>
          </p:nvPr>
        </p:nvPicPr>
        <p:blipFill>
          <a:blip r:embed="rId2"/>
          <a:srcRect b="12330"/>
          <a:stretch/>
        </p:blipFill>
        <p:spPr>
          <a:xfrm>
            <a:off x="942031" y="2125277"/>
            <a:ext cx="4895575" cy="3124817"/>
          </a:xfrm>
          <a:prstGeom prst="rect">
            <a:avLst/>
          </a:prstGeom>
        </p:spPr>
      </p:pic>
      <p:sp>
        <p:nvSpPr>
          <p:cNvPr id="3" name="Text Placeholder 2">
            <a:extLst>
              <a:ext uri="{FF2B5EF4-FFF2-40B4-BE49-F238E27FC236}">
                <a16:creationId xmlns:a16="http://schemas.microsoft.com/office/drawing/2014/main" id="{7D27D625-6ED9-A525-FE23-CCFD6322FABF}"/>
              </a:ext>
            </a:extLst>
          </p:cNvPr>
          <p:cNvSpPr>
            <a:spLocks noGrp="1"/>
          </p:cNvSpPr>
          <p:nvPr>
            <p:ph type="body" idx="1"/>
          </p:nvPr>
        </p:nvSpPr>
        <p:spPr>
          <a:xfrm>
            <a:off x="6096000" y="1623317"/>
            <a:ext cx="5622758" cy="4448710"/>
          </a:xfrm>
        </p:spPr>
        <p:txBody>
          <a:bodyPr/>
          <a:lstStyle/>
          <a:p>
            <a:r>
              <a:rPr lang="en-US"/>
              <a:t>Maintenance Reminder</a:t>
            </a:r>
          </a:p>
          <a:p>
            <a:pPr lvl="1"/>
            <a:r>
              <a:rPr lang="en-US"/>
              <a:t>This lamp turns on to alert the driver that maintenance needs to be performed on the vehicle.</a:t>
            </a:r>
          </a:p>
          <a:p>
            <a:pPr lvl="1"/>
            <a:r>
              <a:rPr lang="en-US"/>
              <a:t>The light is controlled based on calculations that take into account mileage and the driving and operating conditions since the last service.</a:t>
            </a:r>
          </a:p>
        </p:txBody>
      </p:sp>
    </p:spTree>
    <p:extLst>
      <p:ext uri="{BB962C8B-B14F-4D97-AF65-F5344CB8AC3E}">
        <p14:creationId xmlns:p14="http://schemas.microsoft.com/office/powerpoint/2010/main" val="2173174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4E0E2E-5C13-FF90-261C-0C43426ACA7C}"/>
              </a:ext>
            </a:extLst>
          </p:cNvPr>
          <p:cNvSpPr>
            <a:spLocks noGrp="1"/>
          </p:cNvSpPr>
          <p:nvPr>
            <p:ph type="title"/>
          </p:nvPr>
        </p:nvSpPr>
        <p:spPr/>
        <p:txBody>
          <a:bodyPr/>
          <a:lstStyle/>
          <a:p>
            <a:r>
              <a:rPr lang="en-IN"/>
              <a:t>Knowledge Check (1 of 2)</a:t>
            </a:r>
          </a:p>
        </p:txBody>
      </p:sp>
      <p:sp>
        <p:nvSpPr>
          <p:cNvPr id="6" name="Text Placeholder 5">
            <a:extLst>
              <a:ext uri="{FF2B5EF4-FFF2-40B4-BE49-F238E27FC236}">
                <a16:creationId xmlns:a16="http://schemas.microsoft.com/office/drawing/2014/main" id="{75F5FB0A-76D4-C59C-E278-99E7F6984129}"/>
              </a:ext>
            </a:extLst>
          </p:cNvPr>
          <p:cNvSpPr>
            <a:spLocks noGrp="1"/>
          </p:cNvSpPr>
          <p:nvPr>
            <p:ph type="body" idx="1"/>
          </p:nvPr>
        </p:nvSpPr>
        <p:spPr/>
        <p:txBody>
          <a:bodyPr/>
          <a:lstStyle/>
          <a:p>
            <a:r>
              <a:rPr lang="en-US"/>
              <a:t>True or False? The Check Engine Light is primarily an emissions-related light.</a:t>
            </a:r>
          </a:p>
        </p:txBody>
      </p:sp>
    </p:spTree>
    <p:extLst>
      <p:ext uri="{BB962C8B-B14F-4D97-AF65-F5344CB8AC3E}">
        <p14:creationId xmlns:p14="http://schemas.microsoft.com/office/powerpoint/2010/main" val="3471908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3B98-A8C5-A219-37A5-6FF5589973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ED9537C-CF9A-CD45-2D64-D7BF9C16F7B3}"/>
              </a:ext>
            </a:extLst>
          </p:cNvPr>
          <p:cNvSpPr>
            <a:spLocks noGrp="1"/>
          </p:cNvSpPr>
          <p:nvPr>
            <p:ph type="title"/>
          </p:nvPr>
        </p:nvSpPr>
        <p:spPr/>
        <p:txBody>
          <a:bodyPr/>
          <a:lstStyle/>
          <a:p>
            <a:r>
              <a:rPr lang="en-IN"/>
              <a:t>Knowledge Check Answer (1 of 2)</a:t>
            </a:r>
          </a:p>
        </p:txBody>
      </p:sp>
      <p:sp>
        <p:nvSpPr>
          <p:cNvPr id="6" name="Text Placeholder 5">
            <a:extLst>
              <a:ext uri="{FF2B5EF4-FFF2-40B4-BE49-F238E27FC236}">
                <a16:creationId xmlns:a16="http://schemas.microsoft.com/office/drawing/2014/main" id="{015677E4-3673-354A-9ED6-ED0E9F17FADD}"/>
              </a:ext>
            </a:extLst>
          </p:cNvPr>
          <p:cNvSpPr>
            <a:spLocks noGrp="1"/>
          </p:cNvSpPr>
          <p:nvPr>
            <p:ph type="body" idx="1"/>
          </p:nvPr>
        </p:nvSpPr>
        <p:spPr/>
        <p:txBody>
          <a:bodyPr/>
          <a:lstStyle/>
          <a:p>
            <a:pPr marL="0" indent="0">
              <a:buNone/>
            </a:pPr>
            <a:r>
              <a:rPr lang="en-US" b="1"/>
              <a:t>Answer: </a:t>
            </a:r>
            <a:r>
              <a:rPr lang="en-US"/>
              <a:t>True.</a:t>
            </a:r>
          </a:p>
          <a:p>
            <a:pPr marL="0" indent="0">
              <a:buNone/>
            </a:pPr>
            <a:r>
              <a:rPr lang="en-US"/>
              <a:t>The Check Engine Light may be also labeled as “Service Engine Soon” and is primarily an emissions-related light.</a:t>
            </a:r>
          </a:p>
        </p:txBody>
      </p:sp>
    </p:spTree>
    <p:extLst>
      <p:ext uri="{BB962C8B-B14F-4D97-AF65-F5344CB8AC3E}">
        <p14:creationId xmlns:p14="http://schemas.microsoft.com/office/powerpoint/2010/main" val="2195034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D05BCB-74AA-2587-E1A3-299DA3B9B8A5}"/>
              </a:ext>
            </a:extLst>
          </p:cNvPr>
          <p:cNvSpPr>
            <a:spLocks noGrp="1"/>
          </p:cNvSpPr>
          <p:nvPr>
            <p:ph type="title"/>
          </p:nvPr>
        </p:nvSpPr>
        <p:spPr/>
        <p:txBody>
          <a:bodyPr/>
          <a:lstStyle/>
          <a:p>
            <a:r>
              <a:rPr lang="en-IN"/>
              <a:t>Sound Warning Devices</a:t>
            </a:r>
          </a:p>
        </p:txBody>
      </p:sp>
      <p:sp>
        <p:nvSpPr>
          <p:cNvPr id="6" name="Text Placeholder 5">
            <a:extLst>
              <a:ext uri="{FF2B5EF4-FFF2-40B4-BE49-F238E27FC236}">
                <a16:creationId xmlns:a16="http://schemas.microsoft.com/office/drawing/2014/main" id="{30992007-9C0E-451A-B043-BA5942C9536C}"/>
              </a:ext>
            </a:extLst>
          </p:cNvPr>
          <p:cNvSpPr>
            <a:spLocks noGrp="1"/>
          </p:cNvSpPr>
          <p:nvPr>
            <p:ph type="body" idx="1"/>
          </p:nvPr>
        </p:nvSpPr>
        <p:spPr/>
        <p:txBody>
          <a:bodyPr/>
          <a:lstStyle/>
          <a:p>
            <a:r>
              <a:rPr lang="en-US"/>
              <a:t>Various types of tone generators, including buzzers, chimes, and voice synthesizers, are used to make drivers aware of current operating conditions.</a:t>
            </a:r>
          </a:p>
          <a:p>
            <a:r>
              <a:rPr lang="en-US"/>
              <a:t>These warnings can include fasten seat belts, air bag operational, key left in ignition, door ajar, and light left on.</a:t>
            </a:r>
          </a:p>
        </p:txBody>
      </p:sp>
    </p:spTree>
    <p:extLst>
      <p:ext uri="{BB962C8B-B14F-4D97-AF65-F5344CB8AC3E}">
        <p14:creationId xmlns:p14="http://schemas.microsoft.com/office/powerpoint/2010/main" val="1463513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BA2B2-D098-EB80-3F8A-E8401F35463C}"/>
              </a:ext>
            </a:extLst>
          </p:cNvPr>
          <p:cNvSpPr>
            <a:spLocks noGrp="1"/>
          </p:cNvSpPr>
          <p:nvPr>
            <p:ph type="title"/>
          </p:nvPr>
        </p:nvSpPr>
        <p:spPr/>
        <p:txBody>
          <a:bodyPr/>
          <a:lstStyle/>
          <a:p>
            <a:r>
              <a:rPr lang="en-US"/>
              <a:t>Park Distance Control (PDC) and Blind Spot Monitoring</a:t>
            </a:r>
            <a:endParaRPr lang="en-IN"/>
          </a:p>
        </p:txBody>
      </p:sp>
      <p:sp>
        <p:nvSpPr>
          <p:cNvPr id="3" name="Text Placeholder 2">
            <a:extLst>
              <a:ext uri="{FF2B5EF4-FFF2-40B4-BE49-F238E27FC236}">
                <a16:creationId xmlns:a16="http://schemas.microsoft.com/office/drawing/2014/main" id="{63183B35-36CA-BBD9-D301-AAAA4F48ED55}"/>
              </a:ext>
            </a:extLst>
          </p:cNvPr>
          <p:cNvSpPr>
            <a:spLocks noGrp="1"/>
          </p:cNvSpPr>
          <p:nvPr>
            <p:ph type="body" idx="1"/>
          </p:nvPr>
        </p:nvSpPr>
        <p:spPr>
          <a:xfrm>
            <a:off x="476843" y="1471264"/>
            <a:ext cx="5619157" cy="4559666"/>
          </a:xfrm>
        </p:spPr>
        <p:txBody>
          <a:bodyPr/>
          <a:lstStyle/>
          <a:p>
            <a:r>
              <a:rPr lang="en-US" sz="2000"/>
              <a:t>This feature uses sensors to measure the distance the front and/or rear of the vehicle is from an object.</a:t>
            </a:r>
          </a:p>
          <a:p>
            <a:r>
              <a:rPr lang="en-US" sz="2000"/>
              <a:t>An audible signal changes in frequency as the vehicle gets closer to an object.</a:t>
            </a:r>
          </a:p>
          <a:p>
            <a:r>
              <a:rPr lang="en-US" sz="2000"/>
              <a:t>As the distance between the vehicle and object decreases, the intervals between the tones become shorter.</a:t>
            </a:r>
          </a:p>
          <a:p>
            <a:r>
              <a:rPr lang="en-US" sz="2000"/>
              <a:t>When the object is very close, the tone is emitted continuously.</a:t>
            </a:r>
          </a:p>
          <a:p>
            <a:r>
              <a:rPr lang="en-US" sz="2000"/>
              <a:t>The system uses four ultrasonic sensors at the rear and the front of the vehicle.</a:t>
            </a:r>
          </a:p>
        </p:txBody>
      </p:sp>
      <p:pic>
        <p:nvPicPr>
          <p:cNvPr id="5" name="Picture Placeholder 4" descr="A sensor is marked at the rear of a vehicle, labeled Blindspot radar which gives out audio signals when the vehicle gets closer to an obstacle.">
            <a:extLst>
              <a:ext uri="{FF2B5EF4-FFF2-40B4-BE49-F238E27FC236}">
                <a16:creationId xmlns:a16="http://schemas.microsoft.com/office/drawing/2014/main" id="{60DCBEEA-8589-10DD-BD88-C48765C8A7F6}"/>
              </a:ext>
            </a:extLst>
          </p:cNvPr>
          <p:cNvPicPr>
            <a:picLocks noGrp="1" noChangeAspect="1"/>
          </p:cNvPicPr>
          <p:nvPr>
            <p:ph type="pic" sz="quarter" idx="10"/>
          </p:nvPr>
        </p:nvPicPr>
        <p:blipFill>
          <a:blip r:embed="rId2"/>
          <a:srcRect b="16361"/>
          <a:stretch/>
        </p:blipFill>
        <p:spPr>
          <a:xfrm>
            <a:off x="6727780" y="1645208"/>
            <a:ext cx="4987377" cy="3522694"/>
          </a:xfrm>
          <a:prstGeom prst="rect">
            <a:avLst/>
          </a:prstGeom>
        </p:spPr>
      </p:pic>
    </p:spTree>
    <p:extLst>
      <p:ext uri="{BB962C8B-B14F-4D97-AF65-F5344CB8AC3E}">
        <p14:creationId xmlns:p14="http://schemas.microsoft.com/office/powerpoint/2010/main" val="2467585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02BC4-102B-E0EA-B229-DBABEDBFA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C554E-8AA5-F316-E49E-B3D9187743A3}"/>
              </a:ext>
            </a:extLst>
          </p:cNvPr>
          <p:cNvSpPr>
            <a:spLocks noGrp="1"/>
          </p:cNvSpPr>
          <p:nvPr>
            <p:ph type="title"/>
          </p:nvPr>
        </p:nvSpPr>
        <p:spPr/>
        <p:txBody>
          <a:bodyPr/>
          <a:lstStyle/>
          <a:p>
            <a:r>
              <a:rPr lang="en-US"/>
              <a:t>Drive Information Centers (1 of 2)</a:t>
            </a:r>
            <a:endParaRPr lang="en-IN"/>
          </a:p>
        </p:txBody>
      </p:sp>
      <p:sp>
        <p:nvSpPr>
          <p:cNvPr id="3" name="Text Placeholder 2">
            <a:extLst>
              <a:ext uri="{FF2B5EF4-FFF2-40B4-BE49-F238E27FC236}">
                <a16:creationId xmlns:a16="http://schemas.microsoft.com/office/drawing/2014/main" id="{2AFD267D-5901-CF7F-3BF0-D66FA12960D3}"/>
              </a:ext>
            </a:extLst>
          </p:cNvPr>
          <p:cNvSpPr>
            <a:spLocks noGrp="1"/>
          </p:cNvSpPr>
          <p:nvPr>
            <p:ph type="body" idx="1"/>
          </p:nvPr>
        </p:nvSpPr>
        <p:spPr>
          <a:xfrm>
            <a:off x="476843" y="1471264"/>
            <a:ext cx="6910276" cy="4559666"/>
          </a:xfrm>
        </p:spPr>
        <p:txBody>
          <a:bodyPr/>
          <a:lstStyle/>
          <a:p>
            <a:pPr marL="0" indent="0">
              <a:buNone/>
            </a:pPr>
            <a:r>
              <a:rPr lang="en-US" sz="1800" b="1"/>
              <a:t>21.04 Describe the operation of the common types of gauges found in an instrument cluster.</a:t>
            </a:r>
          </a:p>
          <a:p>
            <a:r>
              <a:rPr lang="en-US" sz="1800"/>
              <a:t>The various gauges, warning devices, and comfort controls may be grouped together into a driver information center or instrument cluster.</a:t>
            </a:r>
          </a:p>
          <a:p>
            <a:r>
              <a:rPr lang="en-US" sz="1800"/>
              <a:t>This may be a simple or an all-encompassing cluster of information.</a:t>
            </a:r>
          </a:p>
          <a:p>
            <a:r>
              <a:rPr lang="en-US" sz="1800"/>
              <a:t>The message center keeps the driver alert of the information available.</a:t>
            </a:r>
          </a:p>
          <a:p>
            <a:r>
              <a:rPr lang="en-US" sz="1800"/>
              <a:t>In addition to the standard warning signals, the information center may provide other vital data as fuel range, average or instantaneous fuel economy, fuel used since reset, time, date, estimated time of arrival (ETA), distance to destination, elapsed time since rest, average car speed, and percent of oil life.</a:t>
            </a:r>
          </a:p>
        </p:txBody>
      </p:sp>
      <p:pic>
        <p:nvPicPr>
          <p:cNvPr id="7" name="Picture Placeholder 6" descr="A driver information center within an instrument cluster consists of a dial that ranges from 0 to 160 Miles per hour in increments of 10. Below the dial, other information is available such as the hood is open, the vehicle odometer, and oil life.">
            <a:extLst>
              <a:ext uri="{FF2B5EF4-FFF2-40B4-BE49-F238E27FC236}">
                <a16:creationId xmlns:a16="http://schemas.microsoft.com/office/drawing/2014/main" id="{9F73D1B8-CD76-3C8E-E90F-4B69E32CBB9C}"/>
              </a:ext>
            </a:extLst>
          </p:cNvPr>
          <p:cNvPicPr>
            <a:picLocks noGrp="1" noChangeAspect="1"/>
          </p:cNvPicPr>
          <p:nvPr>
            <p:ph type="pic" sz="quarter" idx="10"/>
          </p:nvPr>
        </p:nvPicPr>
        <p:blipFill>
          <a:blip r:embed="rId2"/>
          <a:srcRect b="11177"/>
          <a:stretch/>
        </p:blipFill>
        <p:spPr>
          <a:xfrm>
            <a:off x="7387119" y="1728592"/>
            <a:ext cx="4540937" cy="3572873"/>
          </a:xfrm>
          <a:prstGeom prst="rect">
            <a:avLst/>
          </a:prstGeom>
        </p:spPr>
      </p:pic>
    </p:spTree>
    <p:extLst>
      <p:ext uri="{BB962C8B-B14F-4D97-AF65-F5344CB8AC3E}">
        <p14:creationId xmlns:p14="http://schemas.microsoft.com/office/powerpoint/2010/main" val="2549014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7D1F6-9E37-C30B-EDDF-29EFBBC91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44ABC-ACCD-7809-7BA0-D305B50B33EC}"/>
              </a:ext>
            </a:extLst>
          </p:cNvPr>
          <p:cNvSpPr>
            <a:spLocks noGrp="1"/>
          </p:cNvSpPr>
          <p:nvPr>
            <p:ph type="title"/>
          </p:nvPr>
        </p:nvSpPr>
        <p:spPr/>
        <p:txBody>
          <a:bodyPr/>
          <a:lstStyle/>
          <a:p>
            <a:r>
              <a:rPr lang="en-US"/>
              <a:t>Drive Information Centers (2 of 2)</a:t>
            </a:r>
            <a:endParaRPr lang="en-IN"/>
          </a:p>
        </p:txBody>
      </p:sp>
      <p:sp>
        <p:nvSpPr>
          <p:cNvPr id="3" name="Text Placeholder 2">
            <a:extLst>
              <a:ext uri="{FF2B5EF4-FFF2-40B4-BE49-F238E27FC236}">
                <a16:creationId xmlns:a16="http://schemas.microsoft.com/office/drawing/2014/main" id="{CAC93410-60C1-B662-7BDC-D90A97F9FE90}"/>
              </a:ext>
            </a:extLst>
          </p:cNvPr>
          <p:cNvSpPr>
            <a:spLocks noGrp="1"/>
          </p:cNvSpPr>
          <p:nvPr>
            <p:ph type="body" idx="1"/>
          </p:nvPr>
        </p:nvSpPr>
        <p:spPr>
          <a:xfrm>
            <a:off x="476843" y="1471264"/>
            <a:ext cx="5619157" cy="4559666"/>
          </a:xfrm>
        </p:spPr>
        <p:txBody>
          <a:bodyPr/>
          <a:lstStyle/>
          <a:p>
            <a:r>
              <a:rPr lang="en-US" sz="2400"/>
              <a:t>Graphic Displays</a:t>
            </a:r>
          </a:p>
          <a:p>
            <a:pPr lvl="1"/>
            <a:r>
              <a:rPr lang="en-US" sz="2200"/>
              <a:t>Graphic displays are translucent drawings of the vehicle.</a:t>
            </a:r>
          </a:p>
          <a:p>
            <a:pPr lvl="1"/>
            <a:r>
              <a:rPr lang="en-US" sz="2200"/>
              <a:t>They use small lamps located at various spots in the graphic.</a:t>
            </a:r>
          </a:p>
          <a:p>
            <a:pPr lvl="1"/>
            <a:r>
              <a:rPr lang="en-US" sz="2200"/>
              <a:t>When a lamp is lit, the area indicated by the lamp has a problem.</a:t>
            </a:r>
          </a:p>
          <a:p>
            <a:pPr lvl="1"/>
            <a:r>
              <a:rPr lang="en-US" sz="2200"/>
              <a:t>These indicators can note such things as an open trunk or a light bulb not working.</a:t>
            </a:r>
          </a:p>
        </p:txBody>
      </p:sp>
      <p:pic>
        <p:nvPicPr>
          <p:cNvPr id="6" name="Picture Placeholder 5" descr="A vehicle status is displayed as part of a driver information center within an instrument cluster. The display depicts a top view of a car with a text below that reads, A V G (A inscribed in a square), 23.2 m p g.">
            <a:extLst>
              <a:ext uri="{FF2B5EF4-FFF2-40B4-BE49-F238E27FC236}">
                <a16:creationId xmlns:a16="http://schemas.microsoft.com/office/drawing/2014/main" id="{72E0CFF9-A665-A3A5-9109-0BA84BEB7129}"/>
              </a:ext>
            </a:extLst>
          </p:cNvPr>
          <p:cNvPicPr>
            <a:picLocks noGrp="1" noChangeAspect="1"/>
          </p:cNvPicPr>
          <p:nvPr>
            <p:ph type="pic" sz="quarter" idx="10"/>
          </p:nvPr>
        </p:nvPicPr>
        <p:blipFill>
          <a:blip r:embed="rId2"/>
          <a:srcRect b="7125"/>
          <a:stretch/>
        </p:blipFill>
        <p:spPr>
          <a:xfrm>
            <a:off x="7387979" y="1690025"/>
            <a:ext cx="3333966" cy="4063503"/>
          </a:xfrm>
          <a:prstGeom prst="rect">
            <a:avLst/>
          </a:prstGeom>
        </p:spPr>
      </p:pic>
    </p:spTree>
    <p:extLst>
      <p:ext uri="{BB962C8B-B14F-4D97-AF65-F5344CB8AC3E}">
        <p14:creationId xmlns:p14="http://schemas.microsoft.com/office/powerpoint/2010/main" val="1190094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98462-AF1A-398E-019A-CE0037DC3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9931C-8AA8-B990-9084-ED6BAC305FDD}"/>
              </a:ext>
            </a:extLst>
          </p:cNvPr>
          <p:cNvSpPr>
            <a:spLocks noGrp="1"/>
          </p:cNvSpPr>
          <p:nvPr>
            <p:ph type="title"/>
          </p:nvPr>
        </p:nvSpPr>
        <p:spPr/>
        <p:txBody>
          <a:bodyPr/>
          <a:lstStyle/>
          <a:p>
            <a:r>
              <a:rPr lang="en-US"/>
              <a:t>Hybrid and Electric Vehicles (1 of 3)</a:t>
            </a:r>
            <a:endParaRPr lang="en-IN"/>
          </a:p>
        </p:txBody>
      </p:sp>
      <p:sp>
        <p:nvSpPr>
          <p:cNvPr id="3" name="Text Placeholder 2">
            <a:extLst>
              <a:ext uri="{FF2B5EF4-FFF2-40B4-BE49-F238E27FC236}">
                <a16:creationId xmlns:a16="http://schemas.microsoft.com/office/drawing/2014/main" id="{9A559D9D-2159-B08A-7C4F-C76CBDC5DFB1}"/>
              </a:ext>
            </a:extLst>
          </p:cNvPr>
          <p:cNvSpPr>
            <a:spLocks noGrp="1"/>
          </p:cNvSpPr>
          <p:nvPr>
            <p:ph type="body" idx="1"/>
          </p:nvPr>
        </p:nvSpPr>
        <p:spPr>
          <a:xfrm>
            <a:off x="476843" y="1471264"/>
            <a:ext cx="6274831" cy="4559666"/>
          </a:xfrm>
        </p:spPr>
        <p:txBody>
          <a:bodyPr/>
          <a:lstStyle/>
          <a:p>
            <a:r>
              <a:rPr lang="en-US" sz="1800"/>
              <a:t>The instrument panel on older Honda hybrids displays the typical conditions for a gasoline engine, plus they display the operation of the hybrid (IMA) system and the car’s fuel efficiency.</a:t>
            </a:r>
          </a:p>
          <a:p>
            <a:r>
              <a:rPr lang="en-US" sz="1800"/>
              <a:t>The instrument panel has a meter that displays the status of the battery and IMA system.</a:t>
            </a:r>
          </a:p>
          <a:p>
            <a:r>
              <a:rPr lang="en-US" sz="1800"/>
              <a:t>A charge/assist indicator shows when the system’s electric motor is assisting the engine.</a:t>
            </a:r>
          </a:p>
          <a:p>
            <a:r>
              <a:rPr lang="en-US" sz="1800"/>
              <a:t>The amount of assist is indicated by bars.</a:t>
            </a:r>
          </a:p>
          <a:p>
            <a:r>
              <a:rPr lang="en-US" sz="1800"/>
              <a:t>The number of bars illuminated indicates how much assist is being provided.</a:t>
            </a:r>
          </a:p>
          <a:p>
            <a:r>
              <a:rPr lang="en-US" sz="1800"/>
              <a:t>This same display shows the amount of charge going to the batteries. When more bars are illuminated, the batteries are being recharged at a higher rate.</a:t>
            </a:r>
          </a:p>
        </p:txBody>
      </p:sp>
      <p:pic>
        <p:nvPicPr>
          <p:cNvPr id="7" name="Picture Placeholder 6" descr="An instrument cluster in Honda hybrid vehicle with three dials. The first dial ranging from 0 to 8 with an interval of 1 and a pointer needle points to 1. Red and green warning lights are depicted on the dial. The second dial ranges from empty to full and a pointer needle points to half the tank. The third dial depicts the charge indicator for the battery.">
            <a:extLst>
              <a:ext uri="{FF2B5EF4-FFF2-40B4-BE49-F238E27FC236}">
                <a16:creationId xmlns:a16="http://schemas.microsoft.com/office/drawing/2014/main" id="{6F23017A-6BAF-8A97-525E-5CF09D38C620}"/>
              </a:ext>
            </a:extLst>
          </p:cNvPr>
          <p:cNvPicPr>
            <a:picLocks noGrp="1" noChangeAspect="1"/>
          </p:cNvPicPr>
          <p:nvPr>
            <p:ph type="pic" sz="quarter" idx="10"/>
          </p:nvPr>
        </p:nvPicPr>
        <p:blipFill>
          <a:blip r:embed="rId2"/>
          <a:srcRect b="23090"/>
          <a:stretch/>
        </p:blipFill>
        <p:spPr>
          <a:xfrm>
            <a:off x="6751674" y="2115862"/>
            <a:ext cx="5119735" cy="2630799"/>
          </a:xfrm>
          <a:prstGeom prst="rect">
            <a:avLst/>
          </a:prstGeom>
        </p:spPr>
      </p:pic>
    </p:spTree>
    <p:extLst>
      <p:ext uri="{BB962C8B-B14F-4D97-AF65-F5344CB8AC3E}">
        <p14:creationId xmlns:p14="http://schemas.microsoft.com/office/powerpoint/2010/main" val="4212302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3FD59-3C9B-4612-805F-70456D289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A5899-B890-EA7B-A6CB-E8FDC1C63FE7}"/>
              </a:ext>
            </a:extLst>
          </p:cNvPr>
          <p:cNvSpPr>
            <a:spLocks noGrp="1"/>
          </p:cNvSpPr>
          <p:nvPr>
            <p:ph type="title"/>
          </p:nvPr>
        </p:nvSpPr>
        <p:spPr/>
        <p:txBody>
          <a:bodyPr/>
          <a:lstStyle/>
          <a:p>
            <a:r>
              <a:rPr lang="en-US"/>
              <a:t>Hybrid and Electric Vehicles (2 of 3)</a:t>
            </a:r>
            <a:endParaRPr lang="en-IN"/>
          </a:p>
        </p:txBody>
      </p:sp>
      <p:sp>
        <p:nvSpPr>
          <p:cNvPr id="3" name="Text Placeholder 2">
            <a:extLst>
              <a:ext uri="{FF2B5EF4-FFF2-40B4-BE49-F238E27FC236}">
                <a16:creationId xmlns:a16="http://schemas.microsoft.com/office/drawing/2014/main" id="{2D915E89-6A8A-4560-A297-C4E91322C227}"/>
              </a:ext>
            </a:extLst>
          </p:cNvPr>
          <p:cNvSpPr>
            <a:spLocks noGrp="1"/>
          </p:cNvSpPr>
          <p:nvPr>
            <p:ph type="body" idx="1"/>
          </p:nvPr>
        </p:nvSpPr>
        <p:spPr>
          <a:xfrm>
            <a:off x="476843" y="1471264"/>
            <a:ext cx="11241915" cy="1957736"/>
          </a:xfrm>
        </p:spPr>
        <p:txBody>
          <a:bodyPr/>
          <a:lstStyle/>
          <a:p>
            <a:r>
              <a:rPr lang="en-US" sz="2000"/>
              <a:t>Most Toyota hybrids have a multi-information display in the center cluster panel.</a:t>
            </a:r>
          </a:p>
          <a:p>
            <a:r>
              <a:rPr lang="en-US" sz="2000"/>
              <a:t>The unique display is the energy monitor screen.</a:t>
            </a:r>
          </a:p>
          <a:p>
            <a:r>
              <a:rPr lang="en-US" sz="2000"/>
              <a:t>This shows the direction and path of energy flow through the system in real time.</a:t>
            </a:r>
          </a:p>
          <a:p>
            <a:r>
              <a:rPr lang="en-US" sz="2000"/>
              <a:t>By observing this display, drivers can alter their driving to achieve the most efficient operation for the current conditions.</a:t>
            </a:r>
          </a:p>
        </p:txBody>
      </p:sp>
      <p:pic>
        <p:nvPicPr>
          <p:cNvPr id="6" name="Picture Placeholder 5" descr="A multi-information display in the center cluster panel of a Toyota Hybrid, also has an energy monitor screen.">
            <a:extLst>
              <a:ext uri="{FF2B5EF4-FFF2-40B4-BE49-F238E27FC236}">
                <a16:creationId xmlns:a16="http://schemas.microsoft.com/office/drawing/2014/main" id="{E7256B5E-3574-FB98-57F4-10CADB8B3C67}"/>
              </a:ext>
            </a:extLst>
          </p:cNvPr>
          <p:cNvPicPr>
            <a:picLocks noGrp="1" noChangeAspect="1"/>
          </p:cNvPicPr>
          <p:nvPr>
            <p:ph type="pic" sz="quarter" idx="10"/>
          </p:nvPr>
        </p:nvPicPr>
        <p:blipFill>
          <a:blip r:embed="rId2"/>
          <a:srcRect b="18979"/>
          <a:stretch/>
        </p:blipFill>
        <p:spPr>
          <a:xfrm>
            <a:off x="3237161" y="3801943"/>
            <a:ext cx="5717677" cy="2095423"/>
          </a:xfrm>
          <a:prstGeom prst="rect">
            <a:avLst/>
          </a:prstGeom>
        </p:spPr>
      </p:pic>
    </p:spTree>
    <p:extLst>
      <p:ext uri="{BB962C8B-B14F-4D97-AF65-F5344CB8AC3E}">
        <p14:creationId xmlns:p14="http://schemas.microsoft.com/office/powerpoint/2010/main" val="3830840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F547-2A63-4CFE-6676-8177A5A4E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62EA5-24DF-9596-AC66-1094DF99E8B5}"/>
              </a:ext>
            </a:extLst>
          </p:cNvPr>
          <p:cNvSpPr>
            <a:spLocks noGrp="1"/>
          </p:cNvSpPr>
          <p:nvPr>
            <p:ph type="title"/>
          </p:nvPr>
        </p:nvSpPr>
        <p:spPr/>
        <p:txBody>
          <a:bodyPr/>
          <a:lstStyle/>
          <a:p>
            <a:r>
              <a:rPr lang="en-US"/>
              <a:t>Hybrid and Electric Vehicles (3 of 3)</a:t>
            </a:r>
            <a:endParaRPr lang="en-IN"/>
          </a:p>
        </p:txBody>
      </p:sp>
      <p:sp>
        <p:nvSpPr>
          <p:cNvPr id="3" name="Text Placeholder 2">
            <a:extLst>
              <a:ext uri="{FF2B5EF4-FFF2-40B4-BE49-F238E27FC236}">
                <a16:creationId xmlns:a16="http://schemas.microsoft.com/office/drawing/2014/main" id="{2EC17BF8-54E0-2175-FF5C-77B0DC16AA1C}"/>
              </a:ext>
            </a:extLst>
          </p:cNvPr>
          <p:cNvSpPr>
            <a:spLocks noGrp="1"/>
          </p:cNvSpPr>
          <p:nvPr>
            <p:ph type="body" idx="1"/>
          </p:nvPr>
        </p:nvSpPr>
        <p:spPr>
          <a:xfrm>
            <a:off x="476844" y="1471263"/>
            <a:ext cx="6450050" cy="4590489"/>
          </a:xfrm>
        </p:spPr>
        <p:txBody>
          <a:bodyPr/>
          <a:lstStyle/>
          <a:p>
            <a:r>
              <a:rPr lang="en-US" sz="1800" dirty="0"/>
              <a:t>Here are some of the indicators that are unique to hybrids:</a:t>
            </a:r>
          </a:p>
          <a:p>
            <a:pPr lvl="1"/>
            <a:r>
              <a:rPr lang="en-US" sz="1600" dirty="0"/>
              <a:t>“Ready” light—This lamp turns on when the ignition switch is turned to START to indicate that the car is ready to drive. The engine may or may not be running at this time, but is ready to start as needed.</a:t>
            </a:r>
          </a:p>
          <a:p>
            <a:pPr lvl="1"/>
            <a:r>
              <a:rPr lang="en-US" sz="1600" dirty="0"/>
              <a:t>Output control warning light—This lamp turns on when the temperature of the HV battery is too high or low.</a:t>
            </a:r>
          </a:p>
          <a:p>
            <a:pPr lvl="1"/>
            <a:r>
              <a:rPr lang="en-US" sz="1600" dirty="0"/>
              <a:t>HV battery warning light—This lamp lights when the charge of the HV battery is too low.</a:t>
            </a:r>
          </a:p>
          <a:p>
            <a:pPr lvl="1"/>
            <a:r>
              <a:rPr lang="en-US" sz="1600" dirty="0"/>
              <a:t>Hybrid system warning light—When the HV control unit detects a problem with the motor/generators, the inverter assembly, the battery pack, or the ECU itself, this lamp will be lit. A large red triangle is often used as this type of master warning light.</a:t>
            </a:r>
          </a:p>
        </p:txBody>
      </p:sp>
      <p:pic>
        <p:nvPicPr>
          <p:cNvPr id="7" name="Picture Placeholder 6" descr="Five warning lights is displayed in a Toyota hybrid, among which is a large red triangle with an exclamatory mark inscribed in it, depicting the master warning light.">
            <a:extLst>
              <a:ext uri="{FF2B5EF4-FFF2-40B4-BE49-F238E27FC236}">
                <a16:creationId xmlns:a16="http://schemas.microsoft.com/office/drawing/2014/main" id="{6F657FDD-3BDE-F312-7411-8B37C6E53025}"/>
              </a:ext>
            </a:extLst>
          </p:cNvPr>
          <p:cNvPicPr>
            <a:picLocks noGrp="1" noChangeAspect="1"/>
          </p:cNvPicPr>
          <p:nvPr>
            <p:ph type="pic" sz="quarter" idx="10"/>
          </p:nvPr>
        </p:nvPicPr>
        <p:blipFill>
          <a:blip r:embed="rId2"/>
          <a:srcRect b="9877"/>
          <a:stretch/>
        </p:blipFill>
        <p:spPr>
          <a:xfrm>
            <a:off x="7164490" y="2064540"/>
            <a:ext cx="4714875" cy="2728919"/>
          </a:xfrm>
          <a:prstGeom prst="rect">
            <a:avLst/>
          </a:prstGeom>
        </p:spPr>
      </p:pic>
    </p:spTree>
    <p:extLst>
      <p:ext uri="{BB962C8B-B14F-4D97-AF65-F5344CB8AC3E}">
        <p14:creationId xmlns:p14="http://schemas.microsoft.com/office/powerpoint/2010/main" val="316083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8332E-0992-329C-9E29-C4849298053B}"/>
              </a:ext>
            </a:extLst>
          </p:cNvPr>
          <p:cNvSpPr>
            <a:spLocks noGrp="1"/>
          </p:cNvSpPr>
          <p:nvPr>
            <p:ph type="title"/>
          </p:nvPr>
        </p:nvSpPr>
        <p:spPr/>
        <p:txBody>
          <a:bodyPr/>
          <a:lstStyle/>
          <a:p>
            <a:r>
              <a:rPr lang="en-IN"/>
              <a:t>Knowledge Check (2 of 2)</a:t>
            </a:r>
          </a:p>
        </p:txBody>
      </p:sp>
      <p:sp>
        <p:nvSpPr>
          <p:cNvPr id="6" name="Text Placeholder 5">
            <a:extLst>
              <a:ext uri="{FF2B5EF4-FFF2-40B4-BE49-F238E27FC236}">
                <a16:creationId xmlns:a16="http://schemas.microsoft.com/office/drawing/2014/main" id="{8123E40F-0F4E-6B37-1DDF-BBBF3398B84D}"/>
              </a:ext>
            </a:extLst>
          </p:cNvPr>
          <p:cNvSpPr>
            <a:spLocks noGrp="1"/>
          </p:cNvSpPr>
          <p:nvPr>
            <p:ph type="body" idx="1"/>
          </p:nvPr>
        </p:nvSpPr>
        <p:spPr/>
        <p:txBody>
          <a:bodyPr/>
          <a:lstStyle/>
          <a:p>
            <a:r>
              <a:rPr lang="en-US"/>
              <a:t>List at least three lamps that may be illuminated unique to hybrid vehicles:</a:t>
            </a:r>
          </a:p>
        </p:txBody>
      </p:sp>
    </p:spTree>
    <p:extLst>
      <p:ext uri="{BB962C8B-B14F-4D97-AF65-F5344CB8AC3E}">
        <p14:creationId xmlns:p14="http://schemas.microsoft.com/office/powerpoint/2010/main" val="841886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F3C2C-8A67-148E-FFD9-7983B2A663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FD87E2-697E-FBE2-02DB-A56C81765676}"/>
              </a:ext>
            </a:extLst>
          </p:cNvPr>
          <p:cNvSpPr>
            <a:spLocks noGrp="1"/>
          </p:cNvSpPr>
          <p:nvPr>
            <p:ph type="title"/>
          </p:nvPr>
        </p:nvSpPr>
        <p:spPr/>
        <p:txBody>
          <a:bodyPr/>
          <a:lstStyle/>
          <a:p>
            <a:r>
              <a:rPr lang="en-IN"/>
              <a:t>Knowledge Check Answer (2 of 2)</a:t>
            </a:r>
          </a:p>
        </p:txBody>
      </p:sp>
      <p:sp>
        <p:nvSpPr>
          <p:cNvPr id="6" name="Text Placeholder 5">
            <a:extLst>
              <a:ext uri="{FF2B5EF4-FFF2-40B4-BE49-F238E27FC236}">
                <a16:creationId xmlns:a16="http://schemas.microsoft.com/office/drawing/2014/main" id="{00B4E9BE-D8D7-704D-A27A-7F986092EAA4}"/>
              </a:ext>
            </a:extLst>
          </p:cNvPr>
          <p:cNvSpPr>
            <a:spLocks noGrp="1"/>
          </p:cNvSpPr>
          <p:nvPr>
            <p:ph type="body" idx="1"/>
          </p:nvPr>
        </p:nvSpPr>
        <p:spPr/>
        <p:txBody>
          <a:bodyPr/>
          <a:lstStyle/>
          <a:p>
            <a:pPr marL="0" indent="0">
              <a:buNone/>
            </a:pPr>
            <a:r>
              <a:rPr lang="en-US"/>
              <a:t>Unique lamps to hybrid:</a:t>
            </a:r>
          </a:p>
          <a:p>
            <a:r>
              <a:rPr lang="en-US"/>
              <a:t>“Ready” light</a:t>
            </a:r>
          </a:p>
          <a:p>
            <a:r>
              <a:rPr lang="en-US"/>
              <a:t>Output control warning light</a:t>
            </a:r>
          </a:p>
          <a:p>
            <a:r>
              <a:rPr lang="en-US"/>
              <a:t>HV battery warning light</a:t>
            </a:r>
          </a:p>
          <a:p>
            <a:r>
              <a:rPr lang="en-US"/>
              <a:t>Hybrid system warning light</a:t>
            </a:r>
          </a:p>
        </p:txBody>
      </p:sp>
    </p:spTree>
    <p:extLst>
      <p:ext uri="{BB962C8B-B14F-4D97-AF65-F5344CB8AC3E}">
        <p14:creationId xmlns:p14="http://schemas.microsoft.com/office/powerpoint/2010/main" val="1284407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5B1B6-9868-FA0C-9013-E53F8CED2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55B8A-B540-ACF2-2B27-008F77485EA8}"/>
              </a:ext>
            </a:extLst>
          </p:cNvPr>
          <p:cNvSpPr>
            <a:spLocks noGrp="1"/>
          </p:cNvSpPr>
          <p:nvPr>
            <p:ph type="title"/>
          </p:nvPr>
        </p:nvSpPr>
        <p:spPr/>
        <p:txBody>
          <a:bodyPr/>
          <a:lstStyle/>
          <a:p>
            <a:r>
              <a:rPr lang="en-US"/>
              <a:t>Electric Vehicle (EV) Specific Display</a:t>
            </a:r>
            <a:endParaRPr lang="en-IN"/>
          </a:p>
        </p:txBody>
      </p:sp>
      <p:sp>
        <p:nvSpPr>
          <p:cNvPr id="3" name="Text Placeholder 2">
            <a:extLst>
              <a:ext uri="{FF2B5EF4-FFF2-40B4-BE49-F238E27FC236}">
                <a16:creationId xmlns:a16="http://schemas.microsoft.com/office/drawing/2014/main" id="{6CF4238A-BF0E-5B05-888D-D5FDCFA6654F}"/>
              </a:ext>
            </a:extLst>
          </p:cNvPr>
          <p:cNvSpPr>
            <a:spLocks noGrp="1"/>
          </p:cNvSpPr>
          <p:nvPr>
            <p:ph type="body" idx="1"/>
          </p:nvPr>
        </p:nvSpPr>
        <p:spPr>
          <a:xfrm>
            <a:off x="476843" y="1471263"/>
            <a:ext cx="5913683" cy="4590489"/>
          </a:xfrm>
        </p:spPr>
        <p:txBody>
          <a:bodyPr/>
          <a:lstStyle/>
          <a:p>
            <a:r>
              <a:rPr lang="en-US" sz="2000"/>
              <a:t>Plug-in hybrid and full battery electric vehicles (BEVs) will display information about charging.</a:t>
            </a:r>
          </a:p>
          <a:p>
            <a:r>
              <a:rPr lang="en-US" sz="2000"/>
              <a:t>This information is in regard to the main battery.</a:t>
            </a:r>
          </a:p>
          <a:p>
            <a:r>
              <a:rPr lang="en-US" sz="2000"/>
              <a:t>It may include information about consumption and estimated driving range.</a:t>
            </a:r>
          </a:p>
          <a:p>
            <a:r>
              <a:rPr lang="en-US" sz="2000"/>
              <a:t>Often, charging station information including location will be displayed.</a:t>
            </a:r>
          </a:p>
          <a:p>
            <a:r>
              <a:rPr lang="en-US" sz="2000"/>
              <a:t>On some vehicles such a Tesla, a one click link to navigate to the station as well as how many are available for charging at that moment included.</a:t>
            </a:r>
          </a:p>
        </p:txBody>
      </p:sp>
      <p:pic>
        <p:nvPicPr>
          <p:cNvPr id="6" name="Picture Placeholder 5" descr="The display screen in a Tesla displays charge information about the main battery, power consumption, estimated driving range, and location to the nearest charging station.">
            <a:extLst>
              <a:ext uri="{FF2B5EF4-FFF2-40B4-BE49-F238E27FC236}">
                <a16:creationId xmlns:a16="http://schemas.microsoft.com/office/drawing/2014/main" id="{1FE6FA3D-C7CC-F359-6857-0CFDC37D63CD}"/>
              </a:ext>
            </a:extLst>
          </p:cNvPr>
          <p:cNvPicPr>
            <a:picLocks noGrp="1" noChangeAspect="1"/>
          </p:cNvPicPr>
          <p:nvPr>
            <p:ph type="pic" sz="quarter" idx="10"/>
          </p:nvPr>
        </p:nvPicPr>
        <p:blipFill>
          <a:blip r:embed="rId2"/>
          <a:srcRect b="11456"/>
          <a:stretch/>
        </p:blipFill>
        <p:spPr>
          <a:xfrm>
            <a:off x="6510160" y="2038962"/>
            <a:ext cx="5359347" cy="3455090"/>
          </a:xfrm>
          <a:prstGeom prst="rect">
            <a:avLst/>
          </a:prstGeom>
        </p:spPr>
      </p:pic>
    </p:spTree>
    <p:extLst>
      <p:ext uri="{BB962C8B-B14F-4D97-AF65-F5344CB8AC3E}">
        <p14:creationId xmlns:p14="http://schemas.microsoft.com/office/powerpoint/2010/main" val="7447511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3D3628-BB33-EB67-92E0-C48B59F9381B}"/>
              </a:ext>
            </a:extLst>
          </p:cNvPr>
          <p:cNvSpPr>
            <a:spLocks noGrp="1"/>
          </p:cNvSpPr>
          <p:nvPr>
            <p:ph type="title"/>
          </p:nvPr>
        </p:nvSpPr>
        <p:spPr/>
        <p:txBody>
          <a:bodyPr/>
          <a:lstStyle/>
          <a:p>
            <a:r>
              <a:rPr lang="en-IN"/>
              <a:t>Chapter Reflection</a:t>
            </a:r>
          </a:p>
        </p:txBody>
      </p:sp>
      <p:sp>
        <p:nvSpPr>
          <p:cNvPr id="6" name="Text Placeholder 5">
            <a:extLst>
              <a:ext uri="{FF2B5EF4-FFF2-40B4-BE49-F238E27FC236}">
                <a16:creationId xmlns:a16="http://schemas.microsoft.com/office/drawing/2014/main" id="{0962CDC4-B9FF-6AA5-4569-7FE462AA5EE6}"/>
              </a:ext>
            </a:extLst>
          </p:cNvPr>
          <p:cNvSpPr>
            <a:spLocks noGrp="1"/>
          </p:cNvSpPr>
          <p:nvPr>
            <p:ph type="body" idx="1"/>
          </p:nvPr>
        </p:nvSpPr>
        <p:spPr/>
        <p:txBody>
          <a:bodyPr/>
          <a:lstStyle/>
          <a:p>
            <a:pPr marL="0" indent="0">
              <a:buNone/>
            </a:pPr>
            <a:r>
              <a:rPr lang="en-US"/>
              <a:t>Please take a moment to consider your understanding of instrumentation and information displays as explained in the chapter. Then respond to the following questions in one or two paragraphs. Use 150–200 words in your reflection.</a:t>
            </a:r>
          </a:p>
          <a:p>
            <a:r>
              <a:rPr lang="en-US"/>
              <a:t>Did you find any concept in this chapter difficult for you to understand? What can you do to further your understanding of these concepts?</a:t>
            </a:r>
          </a:p>
          <a:p>
            <a:r>
              <a:rPr lang="en-US"/>
              <a:t>Considering all you have learned, do you feel you are able to perform basic diagnosis and service of instrumentation and information displays in the shop? What can you do to improve?</a:t>
            </a:r>
          </a:p>
        </p:txBody>
      </p:sp>
    </p:spTree>
    <p:extLst>
      <p:ext uri="{BB962C8B-B14F-4D97-AF65-F5344CB8AC3E}">
        <p14:creationId xmlns:p14="http://schemas.microsoft.com/office/powerpoint/2010/main" val="40693586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4930</TotalTime>
  <Words>4019</Words>
  <Application>Microsoft Office PowerPoint</Application>
  <PresentationFormat>Widescreen</PresentationFormat>
  <Paragraphs>255</Paragraphs>
  <Slides>39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Work Sans</vt:lpstr>
      <vt:lpstr>Optimized Template Master</vt:lpstr>
      <vt:lpstr>Automotive Technology: A Systems Approach, 8e</vt:lpstr>
      <vt:lpstr>Chapter Objectives (1 of 2)</vt:lpstr>
      <vt:lpstr>Chapter Objectives (2 of 2)</vt:lpstr>
      <vt:lpstr>Instrument Panels (1 of 4)</vt:lpstr>
      <vt:lpstr>Instrument Panels (2 of 4)</vt:lpstr>
      <vt:lpstr>Instrument Panels (3 of 4)</vt:lpstr>
      <vt:lpstr>Instrument Panels (4 of 4)</vt:lpstr>
      <vt:lpstr>Mechanical Gauges (1 of 4)</vt:lpstr>
      <vt:lpstr>Mechanical Gauges (2 of 4)</vt:lpstr>
      <vt:lpstr>Mechanical Gauges (3 of 4)</vt:lpstr>
      <vt:lpstr>Mechanical Gauges (4 of 4)</vt:lpstr>
      <vt:lpstr>Thermal or Bimetallic Gauge</vt:lpstr>
      <vt:lpstr>Discussion</vt:lpstr>
      <vt:lpstr>Electronic Instrument Clusters (1 of 2)</vt:lpstr>
      <vt:lpstr>Electronic Instrument Clusters (2 of 2)</vt:lpstr>
      <vt:lpstr>Basic Information Gauges (1 of 3)</vt:lpstr>
      <vt:lpstr>Basic Information Gauges (2 of 3)</vt:lpstr>
      <vt:lpstr>Basic Information Gauges (3 of 3)</vt:lpstr>
      <vt:lpstr>Indicator and Warning Devices (1 of 2)</vt:lpstr>
      <vt:lpstr>Indicator and Warning Devices (2 of 2)</vt:lpstr>
      <vt:lpstr>Engine-Related Warning and Indicator Lights</vt:lpstr>
      <vt:lpstr>Safety-Related Warning and Indicator Lights (1 of 3)</vt:lpstr>
      <vt:lpstr>Safety-Related Warning and Indicator Lights (2 of 3)</vt:lpstr>
      <vt:lpstr>Safety-Related Warning and Indicator Lights (3 of 3)</vt:lpstr>
      <vt:lpstr>Driver Information Warning and Indicator Lights (1 of 2)</vt:lpstr>
      <vt:lpstr>Driver Information Warning and Indicator Lights (2 of 2)</vt:lpstr>
      <vt:lpstr>Knowledge Check (1 of 2)</vt:lpstr>
      <vt:lpstr>Knowledge Check Answer (1 of 2)</vt:lpstr>
      <vt:lpstr>Sound Warning Devices</vt:lpstr>
      <vt:lpstr>Park Distance Control (PDC) and Blind Spot Monitoring</vt:lpstr>
      <vt:lpstr>Drive Information Centers (1 of 2)</vt:lpstr>
      <vt:lpstr>Drive Information Centers (2 of 2)</vt:lpstr>
      <vt:lpstr>Hybrid and Electric Vehicles (1 of 3)</vt:lpstr>
      <vt:lpstr>Hybrid and Electric Vehicles (2 of 3)</vt:lpstr>
      <vt:lpstr>Hybrid and Electric Vehicles (3 of 3)</vt:lpstr>
      <vt:lpstr>Knowledge Check (2 of 2)</vt:lpstr>
      <vt:lpstr>Knowledge Check Answer (2 of 2)</vt:lpstr>
      <vt:lpstr>Electric Vehicle (EV) Specific Display</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Great Minds</cp:lastModifiedBy>
  <cp:revision>247</cp:revision>
  <dcterms:created xsi:type="dcterms:W3CDTF">2021-12-10T16:21:02Z</dcterms:created>
  <dcterms:modified xsi:type="dcterms:W3CDTF">2024-10-22T04:57:43Z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