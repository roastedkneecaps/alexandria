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1"/>
  </p:notesMasterIdLst>
  <p:sldIdLst>
    <p:sldId id="403" r:id="rId2"/>
    <p:sldId id="301" r:id="rId3"/>
    <p:sldId id="302" r:id="rId4"/>
    <p:sldId id="303" r:id="rId5"/>
    <p:sldId id="304" r:id="rId6"/>
    <p:sldId id="305" r:id="rId7"/>
    <p:sldId id="306" r:id="rId8"/>
    <p:sldId id="307" r:id="rId9"/>
    <p:sldId id="308" r:id="rId10"/>
    <p:sldId id="309" r:id="rId11"/>
    <p:sldId id="310" r:id="rId12"/>
    <p:sldId id="311" r:id="rId13"/>
    <p:sldId id="312" r:id="rId14"/>
    <p:sldId id="313" r:id="rId15"/>
    <p:sldId id="314" r:id="rId16"/>
    <p:sldId id="315" r:id="rId17"/>
    <p:sldId id="316" r:id="rId18"/>
    <p:sldId id="317" r:id="rId19"/>
    <p:sldId id="318" r:id="rId20"/>
    <p:sldId id="319" r:id="rId21"/>
    <p:sldId id="320" r:id="rId22"/>
    <p:sldId id="321" r:id="rId23"/>
    <p:sldId id="322" r:id="rId24"/>
    <p:sldId id="323" r:id="rId25"/>
    <p:sldId id="324" r:id="rId26"/>
    <p:sldId id="325" r:id="rId27"/>
    <p:sldId id="326" r:id="rId28"/>
    <p:sldId id="327" r:id="rId29"/>
    <p:sldId id="328" r:id="rId30"/>
    <p:sldId id="329" r:id="rId31"/>
    <p:sldId id="330" r:id="rId32"/>
    <p:sldId id="331" r:id="rId33"/>
    <p:sldId id="332" r:id="rId34"/>
    <p:sldId id="333" r:id="rId35"/>
    <p:sldId id="334" r:id="rId36"/>
    <p:sldId id="335" r:id="rId37"/>
    <p:sldId id="336" r:id="rId38"/>
    <p:sldId id="337" r:id="rId39"/>
    <p:sldId id="338" r:id="rId40"/>
  </p:sldIdLst>
  <p:sldSz cx="12192000" cy="6858000"/>
  <p:notesSz cx="6858000" cy="9144000"/>
  <p:embeddedFontLst>
    <p:embeddedFont>
      <p:font typeface="Work Sans"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33" autoAdjust="0"/>
    <p:restoredTop sz="86375" autoAdjust="0"/>
  </p:normalViewPr>
  <p:slideViewPr>
    <p:cSldViewPr snapToGrid="0">
      <p:cViewPr varScale="1">
        <p:scale>
          <a:sx n="93" d="100"/>
          <a:sy n="93" d="100"/>
        </p:scale>
        <p:origin x="870" y="78"/>
      </p:cViewPr>
      <p:guideLst>
        <p:guide orient="horz" pos="2160"/>
        <p:guide pos="3840"/>
      </p:guideLst>
    </p:cSldViewPr>
  </p:slideViewPr>
  <p:outlineViewPr>
    <p:cViewPr>
      <p:scale>
        <a:sx n="33" d="100"/>
        <a:sy n="33" d="100"/>
      </p:scale>
      <p:origin x="0" y="-1526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openxmlformats.org/officeDocument/2006/relationships/commentAuthors" Target="commentAuthors.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213876494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277589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3916796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413692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4005517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639109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424431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815134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9792034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245361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831013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6222484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355923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8995131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8642365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8554117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8788837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5791304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38715939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6491323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39906922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854304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42890858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29228427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542193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4078981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27230605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5807566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18648739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3993992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26516896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26340279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33593254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26720902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extLst>
      <p:ext uri="{BB962C8B-B14F-4D97-AF65-F5344CB8AC3E}">
        <p14:creationId xmlns:p14="http://schemas.microsoft.com/office/powerpoint/2010/main" val="7052466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extLst>
      <p:ext uri="{BB962C8B-B14F-4D97-AF65-F5344CB8AC3E}">
        <p14:creationId xmlns:p14="http://schemas.microsoft.com/office/powerpoint/2010/main" val="26153344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extLst>
      <p:ext uri="{BB962C8B-B14F-4D97-AF65-F5344CB8AC3E}">
        <p14:creationId xmlns:p14="http://schemas.microsoft.com/office/powerpoint/2010/main" val="40687334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extLst>
      <p:ext uri="{BB962C8B-B14F-4D97-AF65-F5344CB8AC3E}">
        <p14:creationId xmlns:p14="http://schemas.microsoft.com/office/powerpoint/2010/main" val="2048512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hasCustomPrompt="1"/>
          </p:nvPr>
        </p:nvSpPr>
        <p:spPr>
          <a:xfrm>
            <a:off x="476843" y="1471264"/>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sz="2600" dirty="0"/>
              <a:t> </a:t>
            </a:r>
          </a:p>
          <a:p>
            <a:pPr lvl="1"/>
            <a:endParaRPr lang="en-US"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471264"/>
            <a:ext cx="7503375" cy="4218335"/>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sz="2600" dirty="0"/>
          </a:p>
          <a:p>
            <a:pPr lvl="1"/>
            <a:endParaRPr lang="en-US" dirty="0"/>
          </a:p>
          <a:p>
            <a:pPr lvl="2"/>
            <a:endParaRPr dirty="0"/>
          </a:p>
        </p:txBody>
      </p:sp>
      <p:sp>
        <p:nvSpPr>
          <p:cNvPr id="3" name="Picture Placeholder 2">
            <a:extLst>
              <a:ext uri="{FF2B5EF4-FFF2-40B4-BE49-F238E27FC236}">
                <a16:creationId xmlns:a16="http://schemas.microsoft.com/office/drawing/2014/main" id="{7A651A29-A324-27F5-067E-88E708444CD9}"/>
              </a:ext>
            </a:extLst>
          </p:cNvPr>
          <p:cNvSpPr>
            <a:spLocks noGrp="1"/>
          </p:cNvSpPr>
          <p:nvPr>
            <p:ph type="pic" sz="quarter" idx="10"/>
          </p:nvPr>
        </p:nvSpPr>
        <p:spPr>
          <a:xfrm>
            <a:off x="8220075" y="4230688"/>
            <a:ext cx="914400" cy="914400"/>
          </a:xfrm>
        </p:spPr>
        <p:txBody>
          <a:bodyPr/>
          <a:lstStyle/>
          <a:p>
            <a:endParaRPr lang="en-US"/>
          </a:p>
        </p:txBody>
      </p:sp>
    </p:spTree>
    <p:extLst>
      <p:ext uri="{BB962C8B-B14F-4D97-AF65-F5344CB8AC3E}">
        <p14:creationId xmlns:p14="http://schemas.microsoft.com/office/powerpoint/2010/main" val="41843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2" name="Google Shape;14;p47">
            <a:extLst>
              <a:ext uri="{FF2B5EF4-FFF2-40B4-BE49-F238E27FC236}">
                <a16:creationId xmlns:a16="http://schemas.microsoft.com/office/drawing/2014/main" id="{61D508A2-B73C-B5C9-4B1D-27F8E05CF396}"/>
              </a:ext>
            </a:extLst>
          </p:cNvPr>
          <p:cNvSpPr txBox="1"/>
          <p:nvPr userDrawn="1"/>
        </p:nvSpPr>
        <p:spPr>
          <a:xfrm>
            <a:off x="2024634" y="6321898"/>
            <a:ext cx="9352203" cy="461665"/>
          </a:xfrm>
          <a:prstGeom prst="rect">
            <a:avLst/>
          </a:prstGeom>
          <a:noFill/>
          <a:ln>
            <a:noFill/>
          </a:ln>
        </p:spPr>
        <p:txBody>
          <a:bodyPr spcFirstLastPara="1" wrap="square" lIns="91425" tIns="45700" rIns="91425" bIns="45700" anchor="t" anchorCtr="0">
            <a:spAutoFit/>
          </a:bodyPr>
          <a:lstStyle/>
          <a:p>
            <a:pPr marL="0" indent="0">
              <a:spcBef>
                <a:spcPts val="0"/>
              </a:spcBef>
              <a:buNone/>
            </a:pPr>
            <a:r>
              <a:rPr lang="en-US" sz="1200" kern="1200" dirty="0">
                <a:solidFill>
                  <a:schemeClr val="bg1"/>
                </a:solidFill>
                <a:latin typeface="Work Sans" pitchFamily="2" charset="0"/>
                <a:cs typeface="Arial" panose="020B0604020202020204" pitchFamily="34" charset="0"/>
              </a:rPr>
              <a:t>Rob Thompson and Jack Erjavec, Automotive Technology: A Systems Approach, </a:t>
            </a:r>
            <a:r>
              <a:rPr lang="en-US" sz="1200" dirty="0">
                <a:solidFill>
                  <a:schemeClr val="bg1"/>
                </a:solidFill>
                <a:latin typeface="Work Sans" pitchFamily="2" charset="0"/>
                <a:cs typeface="Arial" panose="020B0604020202020204" pitchFamily="34" charset="0"/>
              </a:rPr>
              <a:t>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5" name="Content Placeholder 4">
            <a:extLst>
              <a:ext uri="{FF2B5EF4-FFF2-40B4-BE49-F238E27FC236}">
                <a16:creationId xmlns:a16="http://schemas.microsoft.com/office/drawing/2014/main" id="{D13D6583-B40C-2D1D-24F2-84CA0411EB21}"/>
              </a:ext>
            </a:extLst>
          </p:cNvPr>
          <p:cNvSpPr>
            <a:spLocks noGrp="1"/>
          </p:cNvSpPr>
          <p:nvPr>
            <p:ph sz="quarter" idx="12"/>
          </p:nvPr>
        </p:nvSpPr>
        <p:spPr>
          <a:xfrm>
            <a:off x="2146300" y="6303963"/>
            <a:ext cx="8739188" cy="2698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1017662934"/>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6">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14" name="Google Shape;14;p47"/>
          <p:cNvSpPr txBox="1"/>
          <p:nvPr/>
        </p:nvSpPr>
        <p:spPr>
          <a:xfrm>
            <a:off x="2024634" y="6321898"/>
            <a:ext cx="9352203" cy="461665"/>
          </a:xfrm>
          <a:prstGeom prst="rect">
            <a:avLst/>
          </a:prstGeom>
          <a:noFill/>
          <a:ln>
            <a:noFill/>
          </a:ln>
        </p:spPr>
        <p:txBody>
          <a:bodyPr spcFirstLastPara="1" wrap="square" lIns="91425" tIns="45700" rIns="91425" bIns="45700" anchor="t" anchorCtr="0">
            <a:spAutoFit/>
          </a:bodyPr>
          <a:lstStyle/>
          <a:p>
            <a:pPr marL="0" indent="0">
              <a:spcBef>
                <a:spcPts val="0"/>
              </a:spcBef>
              <a:buNone/>
            </a:pPr>
            <a:r>
              <a:rPr lang="en-US" sz="1200" kern="1200" dirty="0">
                <a:solidFill>
                  <a:schemeClr val="bg1"/>
                </a:solidFill>
                <a:latin typeface="Work Sans" pitchFamily="2" charset="0"/>
                <a:cs typeface="Arial" panose="020B0604020202020204" pitchFamily="34" charset="0"/>
              </a:rPr>
              <a:t>Rob Thompson and Jack Erjavec, Automotive Technology: A Systems Approach, </a:t>
            </a:r>
            <a:r>
              <a:rPr lang="en-US" sz="1200" dirty="0">
                <a:solidFill>
                  <a:schemeClr val="bg1"/>
                </a:solidFill>
                <a:latin typeface="Work Sans" pitchFamily="2" charset="0"/>
                <a:cs typeface="Arial" panose="020B0604020202020204" pitchFamily="34" charset="0"/>
              </a:rPr>
              <a:t>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 bg1="lt1" tx1="dk1" bg2="dk2" tx2="lt2" accent1="accent1" accent2="accent2" accent3="accent3" accent4="accent4" accent5="accent5" accent6="accent6" hlink="hlink" folHlink="folHlink"/>
  <p:sldLayoutIdLst>
    <p:sldLayoutId id="2147483650" r:id="rId1"/>
    <p:sldLayoutId id="2147483664"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tags" Target="../tags/tag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5FCE66-4DFC-4C59-A36E-7A4DE8D188A2}"/>
              </a:ext>
            </a:extLst>
          </p:cNvPr>
          <p:cNvSpPr>
            <a:spLocks noGrp="1"/>
          </p:cNvSpPr>
          <p:nvPr>
            <p:ph type="ctrTitle"/>
          </p:nvPr>
        </p:nvSpPr>
        <p:spPr/>
        <p:txBody>
          <a:bodyPr/>
          <a:lstStyle/>
          <a:p>
            <a:r>
              <a:rPr lang="en-US" sz="4000" dirty="0">
                <a:cs typeface="Arial" panose="020B0604020202020204" pitchFamily="34" charset="0"/>
              </a:rPr>
              <a:t>Automotive Technology: </a:t>
            </a:r>
            <a:br>
              <a:rPr lang="en-US" sz="4000" dirty="0">
                <a:cs typeface="Arial" panose="020B0604020202020204" pitchFamily="34" charset="0"/>
              </a:rPr>
            </a:br>
            <a:r>
              <a:rPr lang="en-US" sz="4000" dirty="0">
                <a:cs typeface="Arial" panose="020B0604020202020204" pitchFamily="34" charset="0"/>
              </a:rPr>
              <a:t>A Systems Approach,</a:t>
            </a:r>
            <a:r>
              <a:rPr lang="en-IN" sz="4000" dirty="0">
                <a:cs typeface="Arial" panose="020B0604020202020204" pitchFamily="34" charset="0"/>
              </a:rPr>
              <a:t> 8e</a:t>
            </a:r>
          </a:p>
        </p:txBody>
      </p:sp>
      <p:sp>
        <p:nvSpPr>
          <p:cNvPr id="9" name="Subtitle 8">
            <a:extLst>
              <a:ext uri="{FF2B5EF4-FFF2-40B4-BE49-F238E27FC236}">
                <a16:creationId xmlns:a16="http://schemas.microsoft.com/office/drawing/2014/main" id="{750BCB8A-256D-4B8C-A91A-98C6C9437858}"/>
              </a:ext>
            </a:extLst>
          </p:cNvPr>
          <p:cNvSpPr>
            <a:spLocks noGrp="1"/>
          </p:cNvSpPr>
          <p:nvPr>
            <p:ph type="subTitle" idx="1"/>
          </p:nvPr>
        </p:nvSpPr>
        <p:spPr/>
        <p:txBody>
          <a:bodyPr/>
          <a:lstStyle/>
          <a:p>
            <a:r>
              <a:rPr lang="en-US" dirty="0">
                <a:cs typeface="Arial" panose="020B0604020202020204" pitchFamily="34" charset="0"/>
              </a:rPr>
              <a:t>Chapter 18: Starting and Motor Systems</a:t>
            </a:r>
          </a:p>
        </p:txBody>
      </p:sp>
      <p:pic>
        <p:nvPicPr>
          <p:cNvPr id="2"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A722895C-D5F5-D069-5D50-81B26D9F16AA}"/>
              </a:ext>
            </a:extLst>
          </p:cNvPr>
          <p:cNvPicPr>
            <a:picLocks noGrp="1" noChangeAspect="1"/>
          </p:cNvPicPr>
          <p:nvPr>
            <p:ph type="pic" sz="quarter" idx="11"/>
          </p:nvPr>
        </p:nvPicPr>
        <p:blipFill rotWithShape="1">
          <a:blip r:embed="rId4"/>
          <a:stretch/>
        </p:blipFill>
        <p:spPr>
          <a:xfrm>
            <a:off x="653972" y="640706"/>
            <a:ext cx="4319966" cy="5532289"/>
          </a:xfrm>
          <a:prstGeom prst="rect">
            <a:avLst/>
          </a:prstGeom>
        </p:spPr>
      </p:pic>
      <p:sp>
        <p:nvSpPr>
          <p:cNvPr id="5" name="Content Placeholder 4">
            <a:extLst>
              <a:ext uri="{FF2B5EF4-FFF2-40B4-BE49-F238E27FC236}">
                <a16:creationId xmlns:a16="http://schemas.microsoft.com/office/drawing/2014/main" id="{A4B5BA96-46CA-D50E-020A-74C2CBDC89A6}"/>
              </a:ext>
            </a:extLst>
          </p:cNvPr>
          <p:cNvSpPr txBox="1">
            <a:spLocks noGrp="1"/>
          </p:cNvSpPr>
          <p:nvPr>
            <p:ph sz="quarter" idx="12"/>
          </p:nvPr>
        </p:nvSpPr>
        <p:spPr>
          <a:xfrm>
            <a:off x="2019935" y="6327949"/>
            <a:ext cx="9345472" cy="461665"/>
          </a:xfrm>
          <a:prstGeom prst="rect">
            <a:avLst/>
          </a:prstGeom>
          <a:noFill/>
        </p:spPr>
        <p:txBody>
          <a:bodyPr wrap="square" rtlCol="0">
            <a:spAutoFit/>
          </a:bodyPr>
          <a:lstStyle/>
          <a:p>
            <a:pPr marL="0" indent="0">
              <a:spcBef>
                <a:spcPts val="0"/>
              </a:spcBef>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spTree>
    <p:custDataLst>
      <p:tags r:id="rId1"/>
    </p:custDataLst>
    <p:extLst>
      <p:ext uri="{BB962C8B-B14F-4D97-AF65-F5344CB8AC3E}">
        <p14:creationId xmlns:p14="http://schemas.microsoft.com/office/powerpoint/2010/main" val="110584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18.01 Describe the basics of electromagnetism.</a:t>
            </a:r>
          </a:p>
          <a:p>
            <a:pPr>
              <a:spcAft>
                <a:spcPts val="600"/>
              </a:spcAft>
            </a:pPr>
            <a:r>
              <a:rPr lang="en-US" dirty="0"/>
              <a:t>18.02 Explain the purpose of the starting system.</a:t>
            </a:r>
          </a:p>
          <a:p>
            <a:pPr>
              <a:spcAft>
                <a:spcPts val="600"/>
              </a:spcAft>
            </a:pPr>
            <a:r>
              <a:rPr lang="en-US" dirty="0"/>
              <a:t>18.03 Describe the operation of electric starting motors.</a:t>
            </a:r>
          </a:p>
          <a:p>
            <a:pPr>
              <a:spcAft>
                <a:spcPts val="600"/>
              </a:spcAft>
            </a:pPr>
            <a:r>
              <a:rPr lang="en-US" dirty="0"/>
              <a:t>18.04 Describe the purpose and major components of the starting and starter control circuits.</a:t>
            </a:r>
          </a:p>
          <a:p>
            <a:pPr>
              <a:spcAft>
                <a:spcPts val="600"/>
              </a:spcAft>
            </a:pPr>
            <a:r>
              <a:rPr lang="en-US" dirty="0"/>
              <a:t>18.05 Inspect and test starter relays and solenoids and the switches, connectors, and wires of starter control circuits.</a:t>
            </a:r>
          </a:p>
          <a:p>
            <a:pPr>
              <a:spcAft>
                <a:spcPts val="600"/>
              </a:spcAft>
            </a:pPr>
            <a:r>
              <a:rPr lang="en-US" dirty="0"/>
              <a:t>18.06 Perform starter circuit voltage drop tests and the starter current draw test.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BC209DF4-B5AA-2649-71A0-E3A9DFBDA9F5}"/>
              </a:ext>
            </a:extLst>
          </p:cNvPr>
          <p:cNvSpPr>
            <a:spLocks noGrp="1"/>
          </p:cNvSpPr>
          <p:nvPr>
            <p:ph type="title"/>
          </p:nvPr>
        </p:nvSpPr>
        <p:spPr/>
        <p:txBody>
          <a:bodyPr/>
          <a:lstStyle/>
          <a:p>
            <a:r>
              <a:rPr lang="en-US" dirty="0"/>
              <a:t>Basics of Electromagnetism (1 of 4)</a:t>
            </a:r>
          </a:p>
        </p:txBody>
      </p:sp>
      <p:sp>
        <p:nvSpPr>
          <p:cNvPr id="3" name="Text Placeholder 2">
            <a:extLst>
              <a:ext uri="{FF2B5EF4-FFF2-40B4-BE49-F238E27FC236}">
                <a16:creationId xmlns:a16="http://schemas.microsoft.com/office/drawing/2014/main" id="{E0CBAB2A-9BFB-D5EE-BFFE-9B8CB80E5E0D}"/>
              </a:ext>
            </a:extLst>
          </p:cNvPr>
          <p:cNvSpPr>
            <a:spLocks noGrp="1"/>
          </p:cNvSpPr>
          <p:nvPr>
            <p:ph type="body" idx="1"/>
          </p:nvPr>
        </p:nvSpPr>
        <p:spPr>
          <a:xfrm>
            <a:off x="476843" y="1358530"/>
            <a:ext cx="8191669" cy="4710080"/>
          </a:xfrm>
        </p:spPr>
        <p:txBody>
          <a:bodyPr/>
          <a:lstStyle/>
          <a:p>
            <a:pPr marL="0" indent="0">
              <a:buNone/>
            </a:pPr>
            <a:r>
              <a:rPr lang="en-US" sz="1800" b="1" dirty="0"/>
              <a:t>18.01 Describe the basics of electromagnetism.</a:t>
            </a:r>
          </a:p>
          <a:p>
            <a:r>
              <a:rPr lang="en-US" sz="1800" dirty="0"/>
              <a:t>A substance is said to be a magnet if it has the property of magnetism—the ability to attract such substances as iron, steel, nickel, or cobalt.</a:t>
            </a:r>
          </a:p>
          <a:p>
            <a:r>
              <a:rPr lang="en-US" sz="1800" dirty="0"/>
              <a:t>A magnet has two points of maximum attraction, one at each end of the magnet.</a:t>
            </a:r>
          </a:p>
          <a:p>
            <a:r>
              <a:rPr lang="en-US" sz="1800" dirty="0"/>
              <a:t>These points are designated the north pole and the south pole. </a:t>
            </a:r>
          </a:p>
          <a:p>
            <a:r>
              <a:rPr lang="en-US" sz="1800" dirty="0"/>
              <a:t>When two magnets are brought together, opposite poles attract, while similar poles repel each other.</a:t>
            </a:r>
          </a:p>
          <a:p>
            <a:r>
              <a:rPr lang="en-US" sz="1800" dirty="0"/>
              <a:t>A magnetic field, called a </a:t>
            </a:r>
            <a:r>
              <a:rPr lang="en-US" sz="1800" b="1" dirty="0"/>
              <a:t>flux field</a:t>
            </a:r>
            <a:r>
              <a:rPr lang="en-US" sz="1800" dirty="0"/>
              <a:t>, exists around every magnet. The field consists of lines along which the magnetic force acts.</a:t>
            </a:r>
          </a:p>
          <a:p>
            <a:r>
              <a:rPr lang="en-US" sz="1800" dirty="0"/>
              <a:t>These lines emerge from the north pole and enter the south pole, returning to the north pole through the magnet itself.</a:t>
            </a:r>
          </a:p>
          <a:p>
            <a:r>
              <a:rPr lang="en-US" sz="1800" dirty="0"/>
              <a:t>All lines of force leave the magnet at right angles to the magnet. None of the lines cross each other and all are complete.</a:t>
            </a:r>
          </a:p>
        </p:txBody>
      </p:sp>
      <p:pic>
        <p:nvPicPr>
          <p:cNvPr id="6" name="Picture Placeholder 5" descr="Three illustrations labeled (A), (B), and (C). (A), depicts a strip of magnet placed horizontally with the north pole on the left. The magnetic field is represented as curved dotted lines between the poles above and below the magnet. Two arrows point rightward, one above and one below the magnetic fields. (B) depicts two magnetic strips placed horizontally next to each other. The north poles of both the magnets point leftward. The magnetic field is represented by dashed lines above and below the magnets between the first magnet's north pole and the second magnet's south pole and between the two magnets. Two arrows point rightward. (C), depicts two magnetic strips placed a little away from each other. The north pole of the first magnet is toward the right and that of the second magnet is toward the left. The magnetic field is represented by dashed lines above and below the magnets between the poles. Two arrows point leftward, one above and one below the first magnet while two arrows point rightward, one above and one below the second magnet.">
            <a:extLst>
              <a:ext uri="{FF2B5EF4-FFF2-40B4-BE49-F238E27FC236}">
                <a16:creationId xmlns:a16="http://schemas.microsoft.com/office/drawing/2014/main" id="{3810C328-D7AA-FB72-20C3-BF1A8CA32DB2}"/>
              </a:ext>
            </a:extLst>
          </p:cNvPr>
          <p:cNvPicPr>
            <a:picLocks noGrp="1" noChangeAspect="1"/>
          </p:cNvPicPr>
          <p:nvPr>
            <p:ph type="pic" sz="quarter" idx="10"/>
          </p:nvPr>
        </p:nvPicPr>
        <p:blipFill>
          <a:blip r:embed="rId3"/>
          <a:srcRect b="12494"/>
          <a:stretch/>
        </p:blipFill>
        <p:spPr>
          <a:xfrm>
            <a:off x="8829696" y="2153214"/>
            <a:ext cx="2702662" cy="3528395"/>
          </a:xfrm>
          <a:prstGeom prst="rect">
            <a:avLst/>
          </a:prstGeom>
        </p:spPr>
      </p:pic>
    </p:spTree>
    <p:extLst>
      <p:ext uri="{BB962C8B-B14F-4D97-AF65-F5344CB8AC3E}">
        <p14:creationId xmlns:p14="http://schemas.microsoft.com/office/powerpoint/2010/main" val="24031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Basics of Electromagnetism (2 of 4)</a:t>
            </a:r>
            <a:endParaRPr dirty="0"/>
          </a:p>
        </p:txBody>
      </p:sp>
      <p:sp>
        <p:nvSpPr>
          <p:cNvPr id="2" name="Text Placeholder 1">
            <a:extLst>
              <a:ext uri="{FF2B5EF4-FFF2-40B4-BE49-F238E27FC236}">
                <a16:creationId xmlns:a16="http://schemas.microsoft.com/office/drawing/2014/main" id="{BDC3859B-50D7-4994-13E1-4018EF678CD8}"/>
              </a:ext>
            </a:extLst>
          </p:cNvPr>
          <p:cNvSpPr>
            <a:spLocks noGrp="1"/>
          </p:cNvSpPr>
          <p:nvPr>
            <p:ph type="body" idx="1"/>
          </p:nvPr>
        </p:nvSpPr>
        <p:spPr>
          <a:xfrm>
            <a:off x="476843" y="1471264"/>
            <a:ext cx="7655221" cy="4563776"/>
          </a:xfrm>
        </p:spPr>
        <p:txBody>
          <a:bodyPr/>
          <a:lstStyle/>
          <a:p>
            <a:r>
              <a:rPr lang="en-US" sz="1800" dirty="0"/>
              <a:t>Magnets can occur naturally in the form of a mineral called magnetite.</a:t>
            </a:r>
          </a:p>
          <a:p>
            <a:r>
              <a:rPr lang="en-US" sz="1800" dirty="0"/>
              <a:t>Artificial magnets can be made by inserting a bar of magnetic material inside a coil of insulated wire and passing current through the coil.</a:t>
            </a:r>
          </a:p>
          <a:p>
            <a:r>
              <a:rPr lang="en-US" sz="1800" dirty="0"/>
              <a:t>Another way of creating a magnet is by stroking the magnetic material with a bar magnet.</a:t>
            </a:r>
          </a:p>
          <a:p>
            <a:r>
              <a:rPr lang="en-US" sz="1800" dirty="0"/>
              <a:t>Both methods force the randomly arranged molecules of the magnetic material to align themselves along north and south poles.</a:t>
            </a:r>
          </a:p>
          <a:p>
            <a:r>
              <a:rPr lang="en-US" sz="1800" dirty="0"/>
              <a:t>Temporary magnets are usually made of soft iron. They are easy to magnetize but quickly lose their magnetism when the magnetizing force is removed.</a:t>
            </a:r>
          </a:p>
          <a:p>
            <a:r>
              <a:rPr lang="en-US" sz="1800" dirty="0"/>
              <a:t>Permanent magnets are difficult to magnetize.</a:t>
            </a:r>
          </a:p>
        </p:txBody>
      </p:sp>
      <p:pic>
        <p:nvPicPr>
          <p:cNvPr id="5" name="Picture Placeholder 4" descr="Four parts of an illustration depict the relationship between the current that is passed through a wire and the magnetic lines of force that are generated around it. The first part represents a wire with a magnetic compass placed next to it. The north pole of the compass is toward the top end of the wire. The current is depicted with arrows and is passed from the bottom end of the wire. Three pairs of circular arrows are represented around the wire in a clockwise direction. The angle between the circular arrows and the current measures 90 degrees. The second part represents a wire with a magnetic compass placed next to it. The south pole of the compass is toward the top end of the wire. The current is depicted as arrows and is passed from the top end of the wire. Three pairs of circular arrows are represented around the wire in a counterclockwise direction. The third part represents a thick wire with a magnetic compass placed next to it. The north pole of the compass is toward the top end of the wire. Current is passed from the bottom end of the wire. Three circular arrows are represented around the wire in a clockwise direction. The fourth part represents a thick wire with a magnetic compass placed next to it. The south pole of the compass is toward the top end of the wire. Current is passed from the top end of the wire. Three circular arrows are represented around the wire in a counterclockwise direction.">
            <a:extLst>
              <a:ext uri="{FF2B5EF4-FFF2-40B4-BE49-F238E27FC236}">
                <a16:creationId xmlns:a16="http://schemas.microsoft.com/office/drawing/2014/main" id="{3B048829-0FCF-ADD3-DA71-827FD36CBDC1}"/>
              </a:ext>
            </a:extLst>
          </p:cNvPr>
          <p:cNvPicPr>
            <a:picLocks noGrp="1" noChangeAspect="1"/>
          </p:cNvPicPr>
          <p:nvPr>
            <p:ph type="pic" sz="quarter" idx="10"/>
          </p:nvPr>
        </p:nvPicPr>
        <p:blipFill rotWithShape="1">
          <a:blip r:embed="rId3"/>
          <a:srcRect b="13325"/>
          <a:stretch/>
        </p:blipFill>
        <p:spPr>
          <a:xfrm>
            <a:off x="8038874" y="2198292"/>
            <a:ext cx="3948534" cy="2723030"/>
          </a:xfrm>
          <a:prstGeom prst="rect">
            <a:avLst/>
          </a:prstGeom>
        </p:spPr>
      </p:pic>
    </p:spTree>
    <p:extLst>
      <p:ext uri="{BB962C8B-B14F-4D97-AF65-F5344CB8AC3E}">
        <p14:creationId xmlns:p14="http://schemas.microsoft.com/office/powerpoint/2010/main" val="1445985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Basics of Electromagnetism (3 of 4)</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6843" y="1471264"/>
            <a:ext cx="11241915" cy="4697888"/>
          </a:xfrm>
        </p:spPr>
        <p:txBody>
          <a:bodyPr/>
          <a:lstStyle/>
          <a:p>
            <a:pPr>
              <a:spcAft>
                <a:spcPts val="400"/>
              </a:spcAft>
            </a:pPr>
            <a:r>
              <a:rPr lang="en-US" sz="1800" dirty="0"/>
              <a:t>Just as current can only flow through a complete circuit, the lines of flux created by a magnet can only occupy a closed magnetic circuit.</a:t>
            </a:r>
          </a:p>
          <a:p>
            <a:pPr>
              <a:spcAft>
                <a:spcPts val="400"/>
              </a:spcAft>
            </a:pPr>
            <a:r>
              <a:rPr lang="en-US" sz="1800" dirty="0"/>
              <a:t>The resistance that a material offers to the passage of magnetic flux lines is reluctance. </a:t>
            </a:r>
          </a:p>
          <a:p>
            <a:pPr>
              <a:spcAft>
                <a:spcPts val="400"/>
              </a:spcAft>
            </a:pPr>
            <a:r>
              <a:rPr lang="en-US" sz="1800" dirty="0"/>
              <a:t>Magnetic reluctance can be compared to electrical resistance.</a:t>
            </a:r>
          </a:p>
          <a:p>
            <a:pPr>
              <a:spcAft>
                <a:spcPts val="400"/>
              </a:spcAft>
            </a:pPr>
            <a:r>
              <a:rPr lang="en-US" sz="1800" dirty="0"/>
              <a:t>When a coil of current-carrying wire is wound around an iron core, it becomes an electromagnet.</a:t>
            </a:r>
          </a:p>
          <a:p>
            <a:pPr>
              <a:spcAft>
                <a:spcPts val="400"/>
              </a:spcAft>
            </a:pPr>
            <a:r>
              <a:rPr lang="en-US" sz="1800" dirty="0"/>
              <a:t>The strength of an electromagnet’s magnetic field is directly proportional to the number of turns of wire and the current flowing through them.</a:t>
            </a:r>
          </a:p>
          <a:p>
            <a:pPr>
              <a:spcAft>
                <a:spcPts val="400"/>
              </a:spcAft>
            </a:pPr>
            <a:r>
              <a:rPr lang="en-US" sz="1800" dirty="0"/>
              <a:t>The number of magnetic lines is proportional to the ampere-turns divided by the reluctance.</a:t>
            </a:r>
          </a:p>
          <a:p>
            <a:pPr lvl="1">
              <a:spcAft>
                <a:spcPts val="400"/>
              </a:spcAft>
            </a:pPr>
            <a:r>
              <a:rPr lang="en-US" sz="1600" dirty="0"/>
              <a:t>The magnetic polarity of the coil depends on the direction of current flow through the loop.</a:t>
            </a:r>
          </a:p>
          <a:p>
            <a:pPr lvl="1">
              <a:spcAft>
                <a:spcPts val="400"/>
              </a:spcAft>
            </a:pPr>
            <a:r>
              <a:rPr lang="en-US" sz="1600" dirty="0"/>
              <a:t>Field strength increases if current through the coil increases.</a:t>
            </a:r>
          </a:p>
          <a:p>
            <a:pPr lvl="1">
              <a:spcAft>
                <a:spcPts val="400"/>
              </a:spcAft>
            </a:pPr>
            <a:r>
              <a:rPr lang="en-US" sz="1600" dirty="0"/>
              <a:t>Field strength increases if the number of coil turns increases.</a:t>
            </a:r>
          </a:p>
          <a:p>
            <a:pPr lvl="1">
              <a:spcAft>
                <a:spcPts val="400"/>
              </a:spcAft>
            </a:pPr>
            <a:r>
              <a:rPr lang="en-US" sz="1600" dirty="0"/>
              <a:t>If reluctance increases, field strength decreases.</a:t>
            </a:r>
          </a:p>
        </p:txBody>
      </p:sp>
    </p:spTree>
    <p:extLst>
      <p:ext uri="{BB962C8B-B14F-4D97-AF65-F5344CB8AC3E}">
        <p14:creationId xmlns:p14="http://schemas.microsoft.com/office/powerpoint/2010/main" val="2606505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Basics of Electromagnetism (4 of 4)</a:t>
            </a:r>
            <a:endParaRPr dirty="0"/>
          </a:p>
        </p:txBody>
      </p:sp>
      <p:sp>
        <p:nvSpPr>
          <p:cNvPr id="2" name="Text Placeholder 1">
            <a:extLst>
              <a:ext uri="{FF2B5EF4-FFF2-40B4-BE49-F238E27FC236}">
                <a16:creationId xmlns:a16="http://schemas.microsoft.com/office/drawing/2014/main" id="{E6FD26A6-8BFB-4F7F-A002-AA3E5946C572}"/>
              </a:ext>
            </a:extLst>
          </p:cNvPr>
          <p:cNvSpPr>
            <a:spLocks noGrp="1"/>
          </p:cNvSpPr>
          <p:nvPr>
            <p:ph type="body" idx="1"/>
          </p:nvPr>
        </p:nvSpPr>
        <p:spPr>
          <a:xfrm>
            <a:off x="476843" y="1471264"/>
            <a:ext cx="7957942" cy="4636928"/>
          </a:xfrm>
        </p:spPr>
        <p:txBody>
          <a:bodyPr/>
          <a:lstStyle/>
          <a:p>
            <a:r>
              <a:rPr lang="en-US" sz="1800" dirty="0"/>
              <a:t>An electric motor converts electric energy into mechanical energy.</a:t>
            </a:r>
          </a:p>
          <a:p>
            <a:r>
              <a:rPr lang="en-US" sz="1800" dirty="0"/>
              <a:t>By taking two bar magnets and placing them end-to-end with each other, they will push away from each other if the ends have the same polarity.</a:t>
            </a:r>
          </a:p>
          <a:p>
            <a:r>
              <a:rPr lang="en-US" sz="1800" dirty="0"/>
              <a:t>If the ends have the opposite polarity, they will move toward each other and form one magnet.</a:t>
            </a:r>
          </a:p>
          <a:p>
            <a:r>
              <a:rPr lang="en-US" sz="1800" dirty="0"/>
              <a:t>If we put a pivot through the center of one of the magnets to allow it to spin and moved the other magnet toward it, the first magnet will either rotate away from the second or move toward it.</a:t>
            </a:r>
          </a:p>
          <a:p>
            <a:r>
              <a:rPr lang="en-US" sz="1800" dirty="0"/>
              <a:t>This is basically how a motor works and will cause the motor to rotate one half turn.</a:t>
            </a:r>
          </a:p>
          <a:p>
            <a:r>
              <a:rPr lang="en-US" sz="1800" dirty="0"/>
              <a:t>By changing the polarity of the second magnet, we get another half turn and so on, switching back and forth.</a:t>
            </a:r>
          </a:p>
        </p:txBody>
      </p:sp>
      <p:pic>
        <p:nvPicPr>
          <p:cNvPr id="5" name="Picture Placeholder 4" descr="The structure of a simple electric motor with the following components labeled: Brush, Split ring commutator, Pole shoe, Field winding, and Armature winding. The motor is connected to a battery. Armature winding is depicted between the two pole brushes. The pole shoe on the right is labeled north and the one on the left is labeled south. The rotation of the split ring commutator is clockwise. The armature winding adjacent to the south pole shoe rotates clockwise while that to the north pole rotates counterclockwise.">
            <a:extLst>
              <a:ext uri="{FF2B5EF4-FFF2-40B4-BE49-F238E27FC236}">
                <a16:creationId xmlns:a16="http://schemas.microsoft.com/office/drawing/2014/main" id="{C5801735-6DD8-B16E-B83B-08D7680D5F3D}"/>
              </a:ext>
            </a:extLst>
          </p:cNvPr>
          <p:cNvPicPr>
            <a:picLocks noGrp="1" noChangeAspect="1"/>
          </p:cNvPicPr>
          <p:nvPr>
            <p:ph type="pic" sz="quarter" idx="10"/>
          </p:nvPr>
        </p:nvPicPr>
        <p:blipFill rotWithShape="1">
          <a:blip r:embed="rId3"/>
          <a:srcRect b="7457"/>
          <a:stretch/>
        </p:blipFill>
        <p:spPr>
          <a:xfrm>
            <a:off x="8434785" y="2216547"/>
            <a:ext cx="3527571" cy="2715049"/>
          </a:xfrm>
          <a:prstGeom prst="rect">
            <a:avLst/>
          </a:prstGeom>
        </p:spPr>
      </p:pic>
    </p:spTree>
    <p:extLst>
      <p:ext uri="{BB962C8B-B14F-4D97-AF65-F5344CB8AC3E}">
        <p14:creationId xmlns:p14="http://schemas.microsoft.com/office/powerpoint/2010/main" val="192250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Starting Motors (1 of 4)</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5042" y="1483456"/>
            <a:ext cx="11241915" cy="4613339"/>
          </a:xfrm>
        </p:spPr>
        <p:txBody>
          <a:bodyPr/>
          <a:lstStyle/>
          <a:p>
            <a:pPr marL="0" indent="0">
              <a:spcAft>
                <a:spcPts val="400"/>
              </a:spcAft>
              <a:buNone/>
            </a:pPr>
            <a:r>
              <a:rPr lang="en-US" sz="1600" b="1" dirty="0"/>
              <a:t>18.02 Explain the purpose of the starting system.</a:t>
            </a:r>
          </a:p>
          <a:p>
            <a:pPr>
              <a:spcAft>
                <a:spcPts val="400"/>
              </a:spcAft>
            </a:pPr>
            <a:r>
              <a:rPr lang="en-US" sz="1600" dirty="0"/>
              <a:t>The starting motor is a special type of electric motor designed to operate under great electrical loads and to produce great amounts of torque for short periods.</a:t>
            </a:r>
          </a:p>
          <a:p>
            <a:pPr>
              <a:spcAft>
                <a:spcPts val="400"/>
              </a:spcAft>
            </a:pPr>
            <a:r>
              <a:rPr lang="en-US" sz="1600" dirty="0"/>
              <a:t>The starter motor consists of a housing, field coils (windings), an armature, a commutator with brushes, and end frames.</a:t>
            </a:r>
          </a:p>
          <a:p>
            <a:pPr>
              <a:spcAft>
                <a:spcPts val="400"/>
              </a:spcAft>
            </a:pPr>
            <a:r>
              <a:rPr lang="en-US" sz="1600" dirty="0"/>
              <a:t>The starter housing or </a:t>
            </a:r>
            <a:r>
              <a:rPr lang="en-US" sz="1600" b="1" dirty="0"/>
              <a:t>starter frame </a:t>
            </a:r>
            <a:r>
              <a:rPr lang="en-US" sz="1600" dirty="0"/>
              <a:t>encloses the internal parts and protects them from damage, moisture, and foreign materials.</a:t>
            </a:r>
          </a:p>
          <a:p>
            <a:pPr>
              <a:spcAft>
                <a:spcPts val="400"/>
              </a:spcAft>
            </a:pPr>
            <a:r>
              <a:rPr lang="en-US" sz="1600" dirty="0"/>
              <a:t>The housing also supports the field coils.</a:t>
            </a:r>
          </a:p>
          <a:p>
            <a:pPr>
              <a:spcAft>
                <a:spcPts val="400"/>
              </a:spcAft>
            </a:pPr>
            <a:r>
              <a:rPr lang="en-US" sz="1600" dirty="0"/>
              <a:t>The </a:t>
            </a:r>
            <a:r>
              <a:rPr lang="en-US" sz="1600" b="1" dirty="0"/>
              <a:t>field coils </a:t>
            </a:r>
            <a:r>
              <a:rPr lang="en-US" sz="1600" dirty="0"/>
              <a:t>and their pole shoes are securely attached to the inside of the housing.</a:t>
            </a:r>
          </a:p>
          <a:p>
            <a:pPr>
              <a:spcAft>
                <a:spcPts val="400"/>
              </a:spcAft>
            </a:pPr>
            <a:r>
              <a:rPr lang="en-US" sz="1600" dirty="0"/>
              <a:t>The field coils are insulated from the housing but are connected to a terminal that protrudes through the outer surface of the housing which connects to the solenoid.</a:t>
            </a:r>
          </a:p>
          <a:p>
            <a:pPr>
              <a:spcAft>
                <a:spcPts val="400"/>
              </a:spcAft>
            </a:pPr>
            <a:r>
              <a:rPr lang="en-US" sz="1600" dirty="0"/>
              <a:t>The coils are wound around the pole shoes in opposite directions to create opposing magnetic fields.</a:t>
            </a:r>
          </a:p>
          <a:p>
            <a:pPr>
              <a:spcAft>
                <a:spcPts val="400"/>
              </a:spcAft>
            </a:pPr>
            <a:r>
              <a:rPr lang="en-US" sz="1600" dirty="0"/>
              <a:t>The </a:t>
            </a:r>
            <a:r>
              <a:rPr lang="en-US" sz="1600" b="1" dirty="0"/>
              <a:t>armature</a:t>
            </a:r>
            <a:r>
              <a:rPr lang="en-US" sz="1600" dirty="0"/>
              <a:t> is the rotating part of a starter. It is located between the starter drive and </a:t>
            </a:r>
            <a:r>
              <a:rPr lang="en-US" sz="1600" b="1" dirty="0"/>
              <a:t>commutator</a:t>
            </a:r>
            <a:r>
              <a:rPr lang="en-US" sz="1600" dirty="0"/>
              <a:t> end frames and is enclosed by the field windings.</a:t>
            </a:r>
          </a:p>
        </p:txBody>
      </p:sp>
    </p:spTree>
    <p:extLst>
      <p:ext uri="{BB962C8B-B14F-4D97-AF65-F5344CB8AC3E}">
        <p14:creationId xmlns:p14="http://schemas.microsoft.com/office/powerpoint/2010/main" val="1562613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D427E6B0-15EF-E2B1-ED65-9AEB5179A5E0}"/>
              </a:ext>
            </a:extLst>
          </p:cNvPr>
          <p:cNvSpPr>
            <a:spLocks noGrp="1"/>
          </p:cNvSpPr>
          <p:nvPr>
            <p:ph type="title"/>
          </p:nvPr>
        </p:nvSpPr>
        <p:spPr/>
        <p:txBody>
          <a:bodyPr/>
          <a:lstStyle/>
          <a:p>
            <a:r>
              <a:rPr lang="en-US" dirty="0"/>
              <a:t>Starting Motors (2 of 4)</a:t>
            </a:r>
          </a:p>
        </p:txBody>
      </p:sp>
      <p:sp>
        <p:nvSpPr>
          <p:cNvPr id="3" name="Text Placeholder 2">
            <a:extLst>
              <a:ext uri="{FF2B5EF4-FFF2-40B4-BE49-F238E27FC236}">
                <a16:creationId xmlns:a16="http://schemas.microsoft.com/office/drawing/2014/main" id="{AA55F5AD-87BD-9F81-988E-7F6EB2A96372}"/>
              </a:ext>
            </a:extLst>
          </p:cNvPr>
          <p:cNvSpPr>
            <a:spLocks noGrp="1"/>
          </p:cNvSpPr>
          <p:nvPr>
            <p:ph type="body" idx="1"/>
          </p:nvPr>
        </p:nvSpPr>
        <p:spPr>
          <a:xfrm>
            <a:off x="476843" y="1471264"/>
            <a:ext cx="7582069" cy="4661312"/>
          </a:xfrm>
        </p:spPr>
        <p:txBody>
          <a:bodyPr/>
          <a:lstStyle/>
          <a:p>
            <a:pPr marL="0" indent="0">
              <a:spcAft>
                <a:spcPts val="400"/>
              </a:spcAft>
              <a:buNone/>
            </a:pPr>
            <a:r>
              <a:rPr lang="en-US" sz="1800" b="1" dirty="0"/>
              <a:t>18.03 Describe the operation of electric starting motors.</a:t>
            </a:r>
          </a:p>
          <a:p>
            <a:pPr>
              <a:spcAft>
                <a:spcPts val="400"/>
              </a:spcAft>
            </a:pPr>
            <a:r>
              <a:rPr lang="en-US" sz="1800" dirty="0"/>
              <a:t>When the armature windings are placed inside the field windings, part of the armature coil is pushed in one direction as the field in the windings which causes the armature to begin to rotate.</a:t>
            </a:r>
          </a:p>
          <a:p>
            <a:pPr>
              <a:spcAft>
                <a:spcPts val="400"/>
              </a:spcAft>
            </a:pPr>
            <a:r>
              <a:rPr lang="en-US" sz="1800" dirty="0"/>
              <a:t>As the armature moves, the contact between a brush and commutator segment is broken and the brush contacts a new segment.</a:t>
            </a:r>
          </a:p>
          <a:p>
            <a:pPr>
              <a:spcAft>
                <a:spcPts val="400"/>
              </a:spcAft>
            </a:pPr>
            <a:r>
              <a:rPr lang="en-US" sz="1800" dirty="0"/>
              <a:t>This causes a reverse in the polarity of the magnetic field around the armature.</a:t>
            </a:r>
          </a:p>
          <a:p>
            <a:pPr>
              <a:spcAft>
                <a:spcPts val="400"/>
              </a:spcAft>
            </a:pPr>
            <a:r>
              <a:rPr lang="en-US" sz="1800" dirty="0"/>
              <a:t>The new opposition of magnetic fields causes the armature to rotate more.</a:t>
            </a:r>
          </a:p>
          <a:p>
            <a:pPr>
              <a:spcAft>
                <a:spcPts val="400"/>
              </a:spcAft>
            </a:pPr>
            <a:r>
              <a:rPr lang="en-US" sz="1800" dirty="0"/>
              <a:t>This process continues and the armature continues to rotate until current stops flowing to the armature.</a:t>
            </a:r>
          </a:p>
        </p:txBody>
      </p:sp>
      <p:pic>
        <p:nvPicPr>
          <p:cNvPr id="6" name="Picture Placeholder 5" descr="A photo depicts a close-up view of a starting motor.">
            <a:extLst>
              <a:ext uri="{FF2B5EF4-FFF2-40B4-BE49-F238E27FC236}">
                <a16:creationId xmlns:a16="http://schemas.microsoft.com/office/drawing/2014/main" id="{B5A50658-ABDB-003F-C588-C258A3CC034B}"/>
              </a:ext>
            </a:extLst>
          </p:cNvPr>
          <p:cNvPicPr>
            <a:picLocks noGrp="1" noChangeAspect="1"/>
          </p:cNvPicPr>
          <p:nvPr>
            <p:ph type="pic" sz="quarter" idx="10"/>
          </p:nvPr>
        </p:nvPicPr>
        <p:blipFill>
          <a:blip r:embed="rId3"/>
          <a:srcRect b="7563"/>
          <a:stretch/>
        </p:blipFill>
        <p:spPr>
          <a:xfrm>
            <a:off x="8183149" y="2350441"/>
            <a:ext cx="3816785" cy="2509235"/>
          </a:xfrm>
          <a:prstGeom prst="rect">
            <a:avLst/>
          </a:prstGeom>
        </p:spPr>
      </p:pic>
    </p:spTree>
    <p:extLst>
      <p:ext uri="{BB962C8B-B14F-4D97-AF65-F5344CB8AC3E}">
        <p14:creationId xmlns:p14="http://schemas.microsoft.com/office/powerpoint/2010/main" val="371328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Starting Motors (3 of 4)</a:t>
            </a:r>
            <a:endParaRPr dirty="0"/>
          </a:p>
        </p:txBody>
      </p:sp>
      <p:sp>
        <p:nvSpPr>
          <p:cNvPr id="2" name="Text Placeholder 1">
            <a:extLst>
              <a:ext uri="{FF2B5EF4-FFF2-40B4-BE49-F238E27FC236}">
                <a16:creationId xmlns:a16="http://schemas.microsoft.com/office/drawing/2014/main" id="{B38BEB9C-A59D-F374-3648-D52C78077C31}"/>
              </a:ext>
            </a:extLst>
          </p:cNvPr>
          <p:cNvSpPr>
            <a:spLocks noGrp="1"/>
          </p:cNvSpPr>
          <p:nvPr>
            <p:ph type="body" idx="1"/>
          </p:nvPr>
        </p:nvSpPr>
        <p:spPr>
          <a:xfrm>
            <a:off x="476843" y="1471264"/>
            <a:ext cx="7655221" cy="4575968"/>
          </a:xfrm>
        </p:spPr>
        <p:txBody>
          <a:bodyPr/>
          <a:lstStyle/>
          <a:p>
            <a:r>
              <a:rPr lang="en-US" sz="1800" dirty="0"/>
              <a:t>Many starter and accessory motors use permanent magnets instead of electromagnets as field coils.</a:t>
            </a:r>
          </a:p>
          <a:p>
            <a:r>
              <a:rPr lang="en-US" sz="1800" dirty="0"/>
              <a:t>Electrically, this type of motor is simpler because it does not require current for the field coils.</a:t>
            </a:r>
          </a:p>
          <a:p>
            <a:r>
              <a:rPr lang="en-US" sz="1800" dirty="0"/>
              <a:t>Current is delivered directly to the armature through the commutator and brushes.</a:t>
            </a:r>
          </a:p>
          <a:p>
            <a:r>
              <a:rPr lang="en-US" sz="1800" dirty="0"/>
              <a:t>Except for no electromagnets in the fields, this functions exactly as the other motors.</a:t>
            </a:r>
          </a:p>
          <a:p>
            <a:r>
              <a:rPr lang="en-US" sz="1800" dirty="0"/>
              <a:t>Maintenance and testing procedures are the same as for other designs.</a:t>
            </a:r>
          </a:p>
          <a:p>
            <a:r>
              <a:rPr lang="en-US" sz="1800" dirty="0"/>
              <a:t>Notice the use of a planetary gear reduction assembly on the front of the armature.</a:t>
            </a:r>
          </a:p>
          <a:p>
            <a:r>
              <a:rPr lang="en-US" sz="1800" dirty="0"/>
              <a:t>This allows the armature to spin with increased torque, resulting in improved starter cold-cranking performance.</a:t>
            </a:r>
          </a:p>
        </p:txBody>
      </p:sp>
      <p:pic>
        <p:nvPicPr>
          <p:cNvPr id="5" name="Picture Placeholder 4" descr="The structure of a permanent magnet-type starter assembly with the components numbered from 1 through 12. The components that are numbered are as follows: 1. Contact disc, 2. Plunger, 3. Solenoid, 4. Return spring, 5. Shift lever, 6. Drive assembly, 7. Roller bearing, 8. Planetary gear reduction assembly, 9. Armature, 10. Permanent magnets, 11, Brush, and 12. Ball bearings.">
            <a:extLst>
              <a:ext uri="{FF2B5EF4-FFF2-40B4-BE49-F238E27FC236}">
                <a16:creationId xmlns:a16="http://schemas.microsoft.com/office/drawing/2014/main" id="{9E990F0E-3EDF-6DF1-BA1A-204B56C1E64F}"/>
              </a:ext>
            </a:extLst>
          </p:cNvPr>
          <p:cNvPicPr>
            <a:picLocks noGrp="1" noChangeAspect="1"/>
          </p:cNvPicPr>
          <p:nvPr>
            <p:ph type="pic" sz="quarter" idx="10"/>
          </p:nvPr>
        </p:nvPicPr>
        <p:blipFill>
          <a:blip r:embed="rId3"/>
          <a:srcRect b="7048"/>
          <a:stretch/>
        </p:blipFill>
        <p:spPr>
          <a:xfrm>
            <a:off x="8368736" y="1642368"/>
            <a:ext cx="3581093" cy="3515259"/>
          </a:xfrm>
          <a:prstGeom prst="rect">
            <a:avLst/>
          </a:prstGeom>
        </p:spPr>
      </p:pic>
    </p:spTree>
    <p:extLst>
      <p:ext uri="{BB962C8B-B14F-4D97-AF65-F5344CB8AC3E}">
        <p14:creationId xmlns:p14="http://schemas.microsoft.com/office/powerpoint/2010/main" val="3401708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Starting Motors (4 of 4)</a:t>
            </a:r>
            <a:endParaRPr dirty="0"/>
          </a:p>
        </p:txBody>
      </p:sp>
      <p:sp>
        <p:nvSpPr>
          <p:cNvPr id="2" name="Text Placeholder 1">
            <a:extLst>
              <a:ext uri="{FF2B5EF4-FFF2-40B4-BE49-F238E27FC236}">
                <a16:creationId xmlns:a16="http://schemas.microsoft.com/office/drawing/2014/main" id="{3E32CDD4-CF05-81F9-380A-1CC62680BE16}"/>
              </a:ext>
            </a:extLst>
          </p:cNvPr>
          <p:cNvSpPr>
            <a:spLocks noGrp="1"/>
          </p:cNvSpPr>
          <p:nvPr>
            <p:ph type="body" idx="1"/>
          </p:nvPr>
        </p:nvSpPr>
        <p:spPr>
          <a:xfrm>
            <a:off x="476843" y="1471264"/>
            <a:ext cx="7679605" cy="4539392"/>
          </a:xfrm>
        </p:spPr>
        <p:txBody>
          <a:bodyPr/>
          <a:lstStyle/>
          <a:p>
            <a:r>
              <a:rPr lang="en-US" sz="2000" dirty="0"/>
              <a:t>The slower the motor turns, the more current it will draw.</a:t>
            </a:r>
          </a:p>
          <a:p>
            <a:r>
              <a:rPr lang="en-US" sz="2000" dirty="0"/>
              <a:t>This is why a starter motor will draw large amounts of current when the engine is difficult to crank.</a:t>
            </a:r>
          </a:p>
          <a:p>
            <a:r>
              <a:rPr lang="en-US" sz="2000" dirty="0"/>
              <a:t>A motor needs more torque to crank a difficult-to-start engine.</a:t>
            </a:r>
          </a:p>
          <a:p>
            <a:r>
              <a:rPr lang="en-US" sz="2000" dirty="0"/>
              <a:t>The relationship between current draw and motor speed is explained by the principles of </a:t>
            </a:r>
            <a:r>
              <a:rPr lang="en-US" sz="2000" b="1" dirty="0"/>
              <a:t>counter EMF (CEMF).</a:t>
            </a:r>
          </a:p>
          <a:p>
            <a:r>
              <a:rPr lang="en-US" sz="2000" dirty="0"/>
              <a:t>Electromotive force (EMF) is another name for voltage.</a:t>
            </a:r>
          </a:p>
          <a:p>
            <a:r>
              <a:rPr lang="en-US" sz="2000" dirty="0"/>
              <a:t>When the armature rotates within the field windings, conditions exist to induce a voltage in the armature.</a:t>
            </a:r>
          </a:p>
          <a:p>
            <a:r>
              <a:rPr lang="en-US" sz="2000" dirty="0"/>
              <a:t>Voltage is induced anytime a wire is passed through a magnetic field.</a:t>
            </a:r>
          </a:p>
        </p:txBody>
      </p:sp>
      <p:pic>
        <p:nvPicPr>
          <p:cNvPr id="5" name="Picture Placeholder 4" descr="A large colored circle labeled wire coil with two colored rings around its circumference, one on its right and the other on its left. The north pole of the right ring is on the right while that of the left ring is on the left. Both the rings depict clockwise movement. The large circle depicts a positive charge at the top and a negative charge at the bottom. A downward arrow from the top of the large circle reads the text, Like poles repel and slow current flow.">
            <a:extLst>
              <a:ext uri="{FF2B5EF4-FFF2-40B4-BE49-F238E27FC236}">
                <a16:creationId xmlns:a16="http://schemas.microsoft.com/office/drawing/2014/main" id="{0A144F8A-7438-27DB-F89E-542456CADF76}"/>
              </a:ext>
            </a:extLst>
          </p:cNvPr>
          <p:cNvPicPr>
            <a:picLocks noGrp="1" noChangeAspect="1"/>
          </p:cNvPicPr>
          <p:nvPr>
            <p:ph type="pic" sz="quarter" idx="10"/>
          </p:nvPr>
        </p:nvPicPr>
        <p:blipFill>
          <a:blip r:embed="rId3"/>
          <a:srcRect b="26730"/>
          <a:stretch/>
        </p:blipFill>
        <p:spPr>
          <a:xfrm>
            <a:off x="8307971" y="2392752"/>
            <a:ext cx="3704489" cy="2072497"/>
          </a:xfrm>
          <a:prstGeom prst="rect">
            <a:avLst/>
          </a:prstGeom>
        </p:spPr>
      </p:pic>
    </p:spTree>
    <p:extLst>
      <p:ext uri="{BB962C8B-B14F-4D97-AF65-F5344CB8AC3E}">
        <p14:creationId xmlns:p14="http://schemas.microsoft.com/office/powerpoint/2010/main" val="2922281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Brushless Motors</a:t>
            </a:r>
            <a:endParaRPr dirty="0"/>
          </a:p>
        </p:txBody>
      </p:sp>
      <p:sp>
        <p:nvSpPr>
          <p:cNvPr id="2" name="Text Placeholder 1">
            <a:extLst>
              <a:ext uri="{FF2B5EF4-FFF2-40B4-BE49-F238E27FC236}">
                <a16:creationId xmlns:a16="http://schemas.microsoft.com/office/drawing/2014/main" id="{287D1D5F-8ED9-8CF1-A607-44BA60C51AFB}"/>
              </a:ext>
            </a:extLst>
          </p:cNvPr>
          <p:cNvSpPr>
            <a:spLocks noGrp="1"/>
          </p:cNvSpPr>
          <p:nvPr>
            <p:ph type="body" idx="1"/>
          </p:nvPr>
        </p:nvSpPr>
        <p:spPr>
          <a:xfrm>
            <a:off x="476843" y="1408968"/>
            <a:ext cx="7582069" cy="4685696"/>
          </a:xfrm>
        </p:spPr>
        <p:txBody>
          <a:bodyPr/>
          <a:lstStyle/>
          <a:p>
            <a:pPr>
              <a:spcAft>
                <a:spcPts val="600"/>
              </a:spcAft>
            </a:pPr>
            <a:r>
              <a:rPr lang="en-US" sz="1800" dirty="0"/>
              <a:t>Brushless motors use a permanent magnet rotor and electromagnetic field windings.</a:t>
            </a:r>
          </a:p>
          <a:p>
            <a:pPr>
              <a:spcAft>
                <a:spcPts val="600"/>
              </a:spcAft>
            </a:pPr>
            <a:r>
              <a:rPr lang="en-US" sz="1800" dirty="0"/>
              <a:t>This design eliminates the arcing at the contact area between the brushes and commutator, which extends the service life of the motor.</a:t>
            </a:r>
          </a:p>
          <a:p>
            <a:pPr>
              <a:spcAft>
                <a:spcPts val="600"/>
              </a:spcAft>
            </a:pPr>
            <a:r>
              <a:rPr lang="en-US" sz="1800" dirty="0"/>
              <a:t>It also decreases EMI which can affect the operation of many electronic systems.</a:t>
            </a:r>
          </a:p>
          <a:p>
            <a:pPr>
              <a:spcAft>
                <a:spcPts val="600"/>
              </a:spcAft>
            </a:pPr>
            <a:r>
              <a:rPr lang="en-US" sz="1800" dirty="0"/>
              <a:t>High-output brushless DC motors are used in some HEV-drive vehicles.</a:t>
            </a:r>
          </a:p>
          <a:p>
            <a:pPr>
              <a:spcAft>
                <a:spcPts val="600"/>
              </a:spcAft>
            </a:pPr>
            <a:r>
              <a:rPr lang="en-US" sz="1800" dirty="0"/>
              <a:t>These motors operate through the control of the stator by an electronic circuit that switches current flow, as needed, to keep the rotor rotating.</a:t>
            </a:r>
          </a:p>
          <a:p>
            <a:pPr>
              <a:spcAft>
                <a:spcPts val="600"/>
              </a:spcAft>
            </a:pPr>
            <a:r>
              <a:rPr lang="en-US" sz="1800" dirty="0"/>
              <a:t>The key to this is the use of a Hall-effect sensor that monitors the position of the rotor.</a:t>
            </a:r>
          </a:p>
        </p:txBody>
      </p:sp>
      <p:pic>
        <p:nvPicPr>
          <p:cNvPr id="5" name="Picture Placeholder 4" descr="An illustration depicts 3 different parts of a brushless D C motor. They are labeled as given: ‘Permanent magnet rotor,’ ‘Windings,’ and ‘Hall effect sensors.’">
            <a:extLst>
              <a:ext uri="{FF2B5EF4-FFF2-40B4-BE49-F238E27FC236}">
                <a16:creationId xmlns:a16="http://schemas.microsoft.com/office/drawing/2014/main" id="{CA02694F-42A6-3C07-8F4D-73831A678F7F}"/>
              </a:ext>
            </a:extLst>
          </p:cNvPr>
          <p:cNvPicPr>
            <a:picLocks noGrp="1" noChangeAspect="1"/>
          </p:cNvPicPr>
          <p:nvPr>
            <p:ph type="pic" sz="quarter" idx="10"/>
          </p:nvPr>
        </p:nvPicPr>
        <p:blipFill rotWithShape="1">
          <a:blip r:embed="rId3"/>
          <a:srcRect b="10901"/>
          <a:stretch/>
        </p:blipFill>
        <p:spPr>
          <a:xfrm>
            <a:off x="8281510" y="1974291"/>
            <a:ext cx="3693371" cy="2909418"/>
          </a:xfrm>
          <a:prstGeom prst="rect">
            <a:avLst/>
          </a:prstGeom>
        </p:spPr>
      </p:pic>
    </p:spTree>
    <p:extLst>
      <p:ext uri="{BB962C8B-B14F-4D97-AF65-F5344CB8AC3E}">
        <p14:creationId xmlns:p14="http://schemas.microsoft.com/office/powerpoint/2010/main" val="2546268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Discussion</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An electric motor converts electric energy into mechanical energy, and a starter motor is a very common type of motor.</a:t>
            </a:r>
          </a:p>
          <a:p>
            <a:pPr>
              <a:spcAft>
                <a:spcPts val="600"/>
              </a:spcAft>
            </a:pPr>
            <a:r>
              <a:rPr lang="en-US" dirty="0"/>
              <a:t>Have a class discussion on starter motor operation, describing the magnetic fields, current flow, and rotation of the motor armature.</a:t>
            </a:r>
          </a:p>
        </p:txBody>
      </p:sp>
    </p:spTree>
    <p:extLst>
      <p:ext uri="{BB962C8B-B14F-4D97-AF65-F5344CB8AC3E}">
        <p14:creationId xmlns:p14="http://schemas.microsoft.com/office/powerpoint/2010/main" val="1868389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Starting System</a:t>
            </a:r>
            <a:endParaRPr dirty="0"/>
          </a:p>
        </p:txBody>
      </p:sp>
      <p:sp>
        <p:nvSpPr>
          <p:cNvPr id="2" name="Text Placeholder 1">
            <a:extLst>
              <a:ext uri="{FF2B5EF4-FFF2-40B4-BE49-F238E27FC236}">
                <a16:creationId xmlns:a16="http://schemas.microsoft.com/office/drawing/2014/main" id="{76F893BC-EFB1-F143-0F3C-861847103D1C}"/>
              </a:ext>
            </a:extLst>
          </p:cNvPr>
          <p:cNvSpPr>
            <a:spLocks noGrp="1"/>
          </p:cNvSpPr>
          <p:nvPr>
            <p:ph type="body" idx="1"/>
          </p:nvPr>
        </p:nvSpPr>
        <p:spPr>
          <a:xfrm>
            <a:off x="476843" y="1471264"/>
            <a:ext cx="7423573" cy="4649120"/>
          </a:xfrm>
        </p:spPr>
        <p:txBody>
          <a:bodyPr/>
          <a:lstStyle/>
          <a:p>
            <a:pPr>
              <a:spcAft>
                <a:spcPts val="600"/>
              </a:spcAft>
            </a:pPr>
            <a:r>
              <a:rPr lang="en-US" sz="2000" dirty="0"/>
              <a:t>The starting system is designed to turn or crank the engine until it can operate under its own power.</a:t>
            </a:r>
          </a:p>
          <a:p>
            <a:pPr>
              <a:spcAft>
                <a:spcPts val="600"/>
              </a:spcAft>
            </a:pPr>
            <a:r>
              <a:rPr lang="en-US" sz="2000" dirty="0"/>
              <a:t>To do this, the starter motor is engaged to the engine’s flywheel. As it spins, it turns the engine’s crankshaft.</a:t>
            </a:r>
          </a:p>
          <a:p>
            <a:pPr>
              <a:spcAft>
                <a:spcPts val="600"/>
              </a:spcAft>
            </a:pPr>
            <a:r>
              <a:rPr lang="en-US" sz="2000" dirty="0"/>
              <a:t>The battery cables are not connected to the switch. Rather, the system has two separate circuits.</a:t>
            </a:r>
          </a:p>
          <a:p>
            <a:pPr>
              <a:spcAft>
                <a:spcPts val="600"/>
              </a:spcAft>
            </a:pPr>
            <a:r>
              <a:rPr lang="en-US" sz="2000" dirty="0"/>
              <a:t>The starter motor circuit carries the heavy current from the battery to the starter motor through a magnetic switch in a relay or solenoid.</a:t>
            </a:r>
          </a:p>
          <a:p>
            <a:pPr>
              <a:spcAft>
                <a:spcPts val="600"/>
              </a:spcAft>
            </a:pPr>
            <a:r>
              <a:rPr lang="en-US" sz="2000" dirty="0"/>
              <a:t>The control circuit connects battery power at the ignition switch to the magnetic switch, which controls the high current to the starter motor.</a:t>
            </a:r>
          </a:p>
        </p:txBody>
      </p:sp>
      <p:pic>
        <p:nvPicPr>
          <p:cNvPr id="5" name="Picture Placeholder 4" descr="The components of the circuit that make up the two different systems of a starter system - the Starter circuit and the control circuit. The following components are labeled in the starter circuit: Motor, Battery, and Engine compartment junction box comprising Fusible link 40 A and start relay. In the starter circuit, a switch is connected to the motor. The motor and a battery are connected to the starting system. The negative terminal of the battery is connected to a switch and the positive is connected to the Fusible link (40 A) connected to the start relay. The following components are labeled in the control circuit: The ignition switch, Start/run fuse 10 A, Burglar alarm relay, B C M, Ignition long switch, and Transaxle range switch. In the control circuit, the fusible link (40 A) is connected to the acc control of the ignition switch. Lock, On, and Start are the other controls labeled here. A cable from the start of the ignition switch to the Burglar alarm relay through Start/run fuse 10 A. The start relay is also connected to the starter system, a switch, an ignition lock switch, and the transaxle range switch N. P, R, N, and D are the controls in the transaxle range switch. The burglar alarm relay is also connected to B C M. The components are labeled in the starter system; Motor, Starter solenoid, Pivot point, Clutch, and Flywheel. The legend reads the first colored lines as the starter circuit and the lines of the second color as the control circuit.">
            <a:extLst>
              <a:ext uri="{FF2B5EF4-FFF2-40B4-BE49-F238E27FC236}">
                <a16:creationId xmlns:a16="http://schemas.microsoft.com/office/drawing/2014/main" id="{C17DDE0D-6E04-FEDC-3B33-81BDD4698C70}"/>
              </a:ext>
            </a:extLst>
          </p:cNvPr>
          <p:cNvPicPr>
            <a:picLocks noGrp="1" noChangeAspect="1"/>
          </p:cNvPicPr>
          <p:nvPr>
            <p:ph type="pic" sz="quarter" idx="10"/>
          </p:nvPr>
        </p:nvPicPr>
        <p:blipFill rotWithShape="1">
          <a:blip r:embed="rId3"/>
          <a:srcRect b="4281"/>
          <a:stretch/>
        </p:blipFill>
        <p:spPr>
          <a:xfrm>
            <a:off x="7900416" y="1660085"/>
            <a:ext cx="4185304" cy="3726651"/>
          </a:xfrm>
          <a:prstGeom prst="rect">
            <a:avLst/>
          </a:prstGeom>
        </p:spPr>
      </p:pic>
    </p:spTree>
    <p:extLst>
      <p:ext uri="{BB962C8B-B14F-4D97-AF65-F5344CB8AC3E}">
        <p14:creationId xmlns:p14="http://schemas.microsoft.com/office/powerpoint/2010/main" val="4204144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Starter Motor Circuit</a:t>
            </a:r>
            <a:endParaRPr dirty="0"/>
          </a:p>
        </p:txBody>
      </p:sp>
      <p:sp>
        <p:nvSpPr>
          <p:cNvPr id="2" name="Text Placeholder 1">
            <a:extLst>
              <a:ext uri="{FF2B5EF4-FFF2-40B4-BE49-F238E27FC236}">
                <a16:creationId xmlns:a16="http://schemas.microsoft.com/office/drawing/2014/main" id="{5A9B4DFD-1F44-0BD5-FE09-D7A6DDAEE7CD}"/>
              </a:ext>
            </a:extLst>
          </p:cNvPr>
          <p:cNvSpPr>
            <a:spLocks noGrp="1"/>
          </p:cNvSpPr>
          <p:nvPr>
            <p:ph type="body" idx="1"/>
          </p:nvPr>
        </p:nvSpPr>
        <p:spPr>
          <a:xfrm>
            <a:off x="476843" y="1471264"/>
            <a:ext cx="7033429" cy="4539392"/>
          </a:xfrm>
        </p:spPr>
        <p:txBody>
          <a:bodyPr/>
          <a:lstStyle/>
          <a:p>
            <a:pPr marL="0" indent="0">
              <a:spcAft>
                <a:spcPts val="600"/>
              </a:spcAft>
              <a:buNone/>
            </a:pPr>
            <a:r>
              <a:rPr lang="en-US" sz="1800" b="1" dirty="0"/>
              <a:t>18.04 Describe the purpose and major components of the starting and starter control circuits.</a:t>
            </a:r>
          </a:p>
          <a:p>
            <a:pPr>
              <a:spcAft>
                <a:spcPts val="600"/>
              </a:spcAft>
            </a:pPr>
            <a:r>
              <a:rPr lang="en-US" sz="1800" dirty="0"/>
              <a:t>The starter motor circuit carries the high current flow within the system and supplies power for the actual engine cranking.</a:t>
            </a:r>
          </a:p>
          <a:p>
            <a:pPr>
              <a:spcAft>
                <a:spcPts val="600"/>
              </a:spcAft>
            </a:pPr>
            <a:r>
              <a:rPr lang="en-US" sz="1800" dirty="0"/>
              <a:t>Components of the starter motor circuit are the battery, battery cables, magnetic switch or solenoid, and the starter motor.</a:t>
            </a:r>
          </a:p>
          <a:p>
            <a:pPr>
              <a:spcAft>
                <a:spcPts val="600"/>
              </a:spcAft>
            </a:pPr>
            <a:r>
              <a:rPr lang="en-US" sz="1800" dirty="0"/>
              <a:t>The motor circuit requires two or more heavy-gauge cables. One of these cables connects between the battery’s negative terminal and the engine block or transmission case.</a:t>
            </a:r>
          </a:p>
          <a:p>
            <a:pPr>
              <a:spcAft>
                <a:spcPts val="600"/>
              </a:spcAft>
            </a:pPr>
            <a:r>
              <a:rPr lang="en-US" sz="1800" dirty="0"/>
              <a:t>The other cable connects the battery’s positive terminal with the solenoid.</a:t>
            </a:r>
          </a:p>
        </p:txBody>
      </p:sp>
      <p:pic>
        <p:nvPicPr>
          <p:cNvPr id="5" name="Picture Placeholder 4" descr="A red cable from the battery connected to the solenoid. The connection is encircled.">
            <a:extLst>
              <a:ext uri="{FF2B5EF4-FFF2-40B4-BE49-F238E27FC236}">
                <a16:creationId xmlns:a16="http://schemas.microsoft.com/office/drawing/2014/main" id="{704B674A-ED09-DA92-7D67-6D5FFAA03184}"/>
              </a:ext>
            </a:extLst>
          </p:cNvPr>
          <p:cNvPicPr>
            <a:picLocks noGrp="1" noChangeAspect="1"/>
          </p:cNvPicPr>
          <p:nvPr>
            <p:ph type="pic" sz="quarter" idx="10"/>
          </p:nvPr>
        </p:nvPicPr>
        <p:blipFill>
          <a:blip r:embed="rId3"/>
          <a:srcRect b="12156"/>
          <a:stretch/>
        </p:blipFill>
        <p:spPr>
          <a:xfrm>
            <a:off x="7617988" y="1719936"/>
            <a:ext cx="4097169" cy="3550708"/>
          </a:xfrm>
          <a:prstGeom prst="rect">
            <a:avLst/>
          </a:prstGeom>
        </p:spPr>
      </p:pic>
    </p:spTree>
    <p:extLst>
      <p:ext uri="{BB962C8B-B14F-4D97-AF65-F5344CB8AC3E}">
        <p14:creationId xmlns:p14="http://schemas.microsoft.com/office/powerpoint/2010/main" val="3068822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Magnetic Switches</a:t>
            </a:r>
            <a:endParaRPr dirty="0"/>
          </a:p>
        </p:txBody>
      </p:sp>
      <p:sp>
        <p:nvSpPr>
          <p:cNvPr id="2" name="Text Placeholder 1">
            <a:extLst>
              <a:ext uri="{FF2B5EF4-FFF2-40B4-BE49-F238E27FC236}">
                <a16:creationId xmlns:a16="http://schemas.microsoft.com/office/drawing/2014/main" id="{BF896357-A241-7D50-843B-C2A83307E837}"/>
              </a:ext>
            </a:extLst>
          </p:cNvPr>
          <p:cNvSpPr>
            <a:spLocks noGrp="1"/>
          </p:cNvSpPr>
          <p:nvPr>
            <p:ph type="body" idx="1"/>
          </p:nvPr>
        </p:nvSpPr>
        <p:spPr>
          <a:xfrm>
            <a:off x="476843" y="1471264"/>
            <a:ext cx="7679605" cy="4697888"/>
          </a:xfrm>
        </p:spPr>
        <p:txBody>
          <a:bodyPr/>
          <a:lstStyle/>
          <a:p>
            <a:r>
              <a:rPr lang="en-US" sz="1800" dirty="0"/>
              <a:t>A solenoid is an electromechanical device that uses the movement of a plunger to exert a pulling or holding force.</a:t>
            </a:r>
          </a:p>
          <a:p>
            <a:r>
              <a:rPr lang="en-US" sz="1800" dirty="0"/>
              <a:t>The solenoid is most commonly mounted directly on top of the starter motor.</a:t>
            </a:r>
          </a:p>
          <a:p>
            <a:r>
              <a:rPr lang="en-US" sz="1800" dirty="0"/>
              <a:t>In this type of starting system, the solenoid uses the electromagnetic field generated by its coil to perform two distinct jobs.</a:t>
            </a:r>
          </a:p>
          <a:p>
            <a:r>
              <a:rPr lang="en-US" sz="1800" dirty="0"/>
              <a:t>The first is to push the drive pinion of the starter motor into mesh with the engine’s flywheel.</a:t>
            </a:r>
          </a:p>
          <a:p>
            <a:r>
              <a:rPr lang="en-US" sz="1800" dirty="0"/>
              <a:t>The second job is to act as an electrical relay switch to energize the motor once the drive pinion is engaged. Once the contact points of the solenoid are closed, full battery current flows to the starter motor.</a:t>
            </a:r>
          </a:p>
          <a:p>
            <a:r>
              <a:rPr lang="en-US" sz="1800" dirty="0"/>
              <a:t>The solenoid assembly has two separate windings: a pull-in winding and a hold-in winding.</a:t>
            </a:r>
          </a:p>
        </p:txBody>
      </p:sp>
      <p:pic>
        <p:nvPicPr>
          <p:cNvPr id="5" name="Picture Placeholder 4" descr="A close-up view of a solenoid mounted in the engine compartment.">
            <a:extLst>
              <a:ext uri="{FF2B5EF4-FFF2-40B4-BE49-F238E27FC236}">
                <a16:creationId xmlns:a16="http://schemas.microsoft.com/office/drawing/2014/main" id="{E58D1E23-5CC6-448E-1681-C19BAD0C09C8}"/>
              </a:ext>
            </a:extLst>
          </p:cNvPr>
          <p:cNvPicPr>
            <a:picLocks noGrp="1" noChangeAspect="1"/>
          </p:cNvPicPr>
          <p:nvPr>
            <p:ph type="pic" sz="quarter" idx="10"/>
          </p:nvPr>
        </p:nvPicPr>
        <p:blipFill>
          <a:blip r:embed="rId3"/>
          <a:srcRect b="7642"/>
          <a:stretch/>
        </p:blipFill>
        <p:spPr>
          <a:xfrm>
            <a:off x="8127178" y="1665684"/>
            <a:ext cx="3824504" cy="3882361"/>
          </a:xfrm>
          <a:prstGeom prst="rect">
            <a:avLst/>
          </a:prstGeom>
        </p:spPr>
      </p:pic>
    </p:spTree>
    <p:extLst>
      <p:ext uri="{BB962C8B-B14F-4D97-AF65-F5344CB8AC3E}">
        <p14:creationId xmlns:p14="http://schemas.microsoft.com/office/powerpoint/2010/main" val="22734153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F25802FD-974B-5D54-8DDA-9B64D8351719}"/>
              </a:ext>
            </a:extLst>
          </p:cNvPr>
          <p:cNvSpPr>
            <a:spLocks noGrp="1"/>
          </p:cNvSpPr>
          <p:nvPr>
            <p:ph type="title"/>
          </p:nvPr>
        </p:nvSpPr>
        <p:spPr/>
        <p:txBody>
          <a:bodyPr/>
          <a:lstStyle/>
          <a:p>
            <a:r>
              <a:rPr lang="en-US" dirty="0"/>
              <a:t>Auto Start-Stop Solenoid</a:t>
            </a:r>
          </a:p>
        </p:txBody>
      </p:sp>
      <p:sp>
        <p:nvSpPr>
          <p:cNvPr id="3" name="Text Placeholder 2">
            <a:extLst>
              <a:ext uri="{FF2B5EF4-FFF2-40B4-BE49-F238E27FC236}">
                <a16:creationId xmlns:a16="http://schemas.microsoft.com/office/drawing/2014/main" id="{DCC80FA2-F956-101A-83D5-E9535FC35D8B}"/>
              </a:ext>
            </a:extLst>
          </p:cNvPr>
          <p:cNvSpPr>
            <a:spLocks noGrp="1"/>
          </p:cNvSpPr>
          <p:nvPr>
            <p:ph type="body" idx="1"/>
          </p:nvPr>
        </p:nvSpPr>
        <p:spPr>
          <a:xfrm>
            <a:off x="476843" y="1408635"/>
            <a:ext cx="7850293" cy="4661312"/>
          </a:xfrm>
        </p:spPr>
        <p:txBody>
          <a:bodyPr/>
          <a:lstStyle/>
          <a:p>
            <a:pPr>
              <a:spcAft>
                <a:spcPts val="600"/>
              </a:spcAft>
            </a:pPr>
            <a:r>
              <a:rPr lang="en-US" sz="1800" dirty="0"/>
              <a:t>In order to reduce fuel consumption, many late model engines are equipped with auto start-stop or idle-stop systems.</a:t>
            </a:r>
          </a:p>
          <a:p>
            <a:pPr>
              <a:spcAft>
                <a:spcPts val="600"/>
              </a:spcAft>
            </a:pPr>
            <a:r>
              <a:rPr lang="en-US" sz="1800" dirty="0"/>
              <a:t>These systems shut the engine off when idling and very quickly restart it when the driver lifts off the brake pedal or presses the accelerator pedal.</a:t>
            </a:r>
          </a:p>
          <a:p>
            <a:pPr>
              <a:spcAft>
                <a:spcPts val="600"/>
              </a:spcAft>
            </a:pPr>
            <a:r>
              <a:rPr lang="en-US" sz="1800" dirty="0"/>
              <a:t>To accomplish rapid restarts, which may include re-engaging the starter drive even before the engine stops spinning, a new type of solenoid is needed.</a:t>
            </a:r>
          </a:p>
          <a:p>
            <a:pPr>
              <a:spcAft>
                <a:spcPts val="600"/>
              </a:spcAft>
            </a:pPr>
            <a:r>
              <a:rPr lang="en-US" sz="1800" dirty="0"/>
              <a:t>Tandem solenoid starters can operate the starter drive gear separately from spinning the armature.</a:t>
            </a:r>
          </a:p>
          <a:p>
            <a:pPr>
              <a:spcAft>
                <a:spcPts val="600"/>
              </a:spcAft>
            </a:pPr>
            <a:r>
              <a:rPr lang="en-US" sz="1800" dirty="0"/>
              <a:t>This allows the system to engage the drive gear even with the engine spinning.</a:t>
            </a:r>
          </a:p>
          <a:p>
            <a:pPr>
              <a:spcAft>
                <a:spcPts val="600"/>
              </a:spcAft>
            </a:pPr>
            <a:r>
              <a:rPr lang="en-US" sz="1800" dirty="0"/>
              <a:t>The armature can then be activated through the rear section of the solenoid to crank the engine.</a:t>
            </a:r>
          </a:p>
        </p:txBody>
      </p:sp>
      <p:pic>
        <p:nvPicPr>
          <p:cNvPr id="6" name="Picture Placeholder 5" descr="A display of Tandem solenoid starter.">
            <a:extLst>
              <a:ext uri="{FF2B5EF4-FFF2-40B4-BE49-F238E27FC236}">
                <a16:creationId xmlns:a16="http://schemas.microsoft.com/office/drawing/2014/main" id="{DC64076F-57A5-6695-BB86-6C6CD32274BC}"/>
              </a:ext>
            </a:extLst>
          </p:cNvPr>
          <p:cNvPicPr>
            <a:picLocks noGrp="1" noChangeAspect="1"/>
          </p:cNvPicPr>
          <p:nvPr>
            <p:ph type="pic" sz="quarter" idx="10"/>
          </p:nvPr>
        </p:nvPicPr>
        <p:blipFill rotWithShape="1">
          <a:blip r:embed="rId3"/>
          <a:srcRect b="12763"/>
          <a:stretch/>
        </p:blipFill>
        <p:spPr>
          <a:xfrm>
            <a:off x="8440000" y="2299761"/>
            <a:ext cx="3635090" cy="2282513"/>
          </a:xfrm>
          <a:prstGeom prst="rect">
            <a:avLst/>
          </a:prstGeom>
        </p:spPr>
      </p:pic>
    </p:spTree>
    <p:extLst>
      <p:ext uri="{BB962C8B-B14F-4D97-AF65-F5344CB8AC3E}">
        <p14:creationId xmlns:p14="http://schemas.microsoft.com/office/powerpoint/2010/main" val="2463602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Starter Drives (1 of 2)</a:t>
            </a:r>
            <a:endParaRPr dirty="0"/>
          </a:p>
        </p:txBody>
      </p:sp>
      <p:sp>
        <p:nvSpPr>
          <p:cNvPr id="2" name="Text Placeholder 1">
            <a:extLst>
              <a:ext uri="{FF2B5EF4-FFF2-40B4-BE49-F238E27FC236}">
                <a16:creationId xmlns:a16="http://schemas.microsoft.com/office/drawing/2014/main" id="{D377B85D-F120-1A49-B3DB-3042DA487AFE}"/>
              </a:ext>
            </a:extLst>
          </p:cNvPr>
          <p:cNvSpPr>
            <a:spLocks noGrp="1"/>
          </p:cNvSpPr>
          <p:nvPr>
            <p:ph type="body" idx="1"/>
          </p:nvPr>
        </p:nvSpPr>
        <p:spPr>
          <a:xfrm>
            <a:off x="476843" y="1471264"/>
            <a:ext cx="7240693" cy="4673504"/>
          </a:xfrm>
        </p:spPr>
        <p:txBody>
          <a:bodyPr/>
          <a:lstStyle/>
          <a:p>
            <a:pPr>
              <a:spcAft>
                <a:spcPts val="600"/>
              </a:spcAft>
            </a:pPr>
            <a:r>
              <a:rPr lang="en-US" sz="2000" dirty="0"/>
              <a:t>The starter drive is the device that couples the armature with the flywheel.</a:t>
            </a:r>
          </a:p>
          <a:p>
            <a:pPr>
              <a:spcAft>
                <a:spcPts val="600"/>
              </a:spcAft>
            </a:pPr>
            <a:r>
              <a:rPr lang="en-US" sz="2000" dirty="0"/>
              <a:t>A pinion gear at one end of the armature meshes with the teeth on the outside of the flywheel.</a:t>
            </a:r>
          </a:p>
          <a:p>
            <a:pPr>
              <a:spcAft>
                <a:spcPts val="600"/>
              </a:spcAft>
            </a:pPr>
            <a:r>
              <a:rPr lang="en-US" sz="2000" dirty="0"/>
              <a:t>The spinning armature then turns the flywheel. To prevent damage to the pinion gear or the ring gear on the flywheel, the pinion must mesh with the ring gear before the armature begins to spin.</a:t>
            </a:r>
          </a:p>
          <a:p>
            <a:pPr>
              <a:spcAft>
                <a:spcPts val="600"/>
              </a:spcAft>
            </a:pPr>
            <a:r>
              <a:rPr lang="en-US" sz="2000" dirty="0"/>
              <a:t>To help ensure smooth engagement, the end of the pinion gear is tapered.</a:t>
            </a:r>
          </a:p>
          <a:p>
            <a:pPr>
              <a:spcAft>
                <a:spcPts val="600"/>
              </a:spcAft>
            </a:pPr>
            <a:r>
              <a:rPr lang="en-US" sz="2000" dirty="0"/>
              <a:t>To disengage the pinion from the flywheel, the pinion is mounted to the armature via an overrunning clutch.</a:t>
            </a:r>
          </a:p>
        </p:txBody>
      </p:sp>
      <p:pic>
        <p:nvPicPr>
          <p:cNvPr id="5" name="Picture Placeholder 4" descr="A close-up view of a flywheel and the components adjacent to it. The parts labeled are Starter and Flexplate (Flywheel).">
            <a:extLst>
              <a:ext uri="{FF2B5EF4-FFF2-40B4-BE49-F238E27FC236}">
                <a16:creationId xmlns:a16="http://schemas.microsoft.com/office/drawing/2014/main" id="{B4F8D0E2-F423-D163-7D0B-A77159B1D106}"/>
              </a:ext>
            </a:extLst>
          </p:cNvPr>
          <p:cNvPicPr>
            <a:picLocks noGrp="1" noChangeAspect="1"/>
          </p:cNvPicPr>
          <p:nvPr>
            <p:ph type="pic" sz="quarter" idx="10"/>
          </p:nvPr>
        </p:nvPicPr>
        <p:blipFill rotWithShape="1">
          <a:blip r:embed="rId3"/>
          <a:srcRect b="12702"/>
          <a:stretch/>
        </p:blipFill>
        <p:spPr>
          <a:xfrm>
            <a:off x="7612654" y="1881087"/>
            <a:ext cx="4437384" cy="2886122"/>
          </a:xfrm>
          <a:prstGeom prst="rect">
            <a:avLst/>
          </a:prstGeom>
        </p:spPr>
      </p:pic>
    </p:spTree>
    <p:extLst>
      <p:ext uri="{BB962C8B-B14F-4D97-AF65-F5344CB8AC3E}">
        <p14:creationId xmlns:p14="http://schemas.microsoft.com/office/powerpoint/2010/main" val="13824929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5" name="Title 4">
            <a:extLst>
              <a:ext uri="{FF2B5EF4-FFF2-40B4-BE49-F238E27FC236}">
                <a16:creationId xmlns:a16="http://schemas.microsoft.com/office/drawing/2014/main" id="{17CAF7BF-3CBD-4F1F-3346-423E3510C452}"/>
              </a:ext>
            </a:extLst>
          </p:cNvPr>
          <p:cNvSpPr>
            <a:spLocks noGrp="1"/>
          </p:cNvSpPr>
          <p:nvPr>
            <p:ph type="title"/>
          </p:nvPr>
        </p:nvSpPr>
        <p:spPr/>
        <p:txBody>
          <a:bodyPr/>
          <a:lstStyle/>
          <a:p>
            <a:r>
              <a:rPr lang="en-US" dirty="0"/>
              <a:t>Starter Drives (2 of 2)</a:t>
            </a:r>
          </a:p>
        </p:txBody>
      </p:sp>
      <p:sp>
        <p:nvSpPr>
          <p:cNvPr id="6" name="Text Placeholder 5">
            <a:extLst>
              <a:ext uri="{FF2B5EF4-FFF2-40B4-BE49-F238E27FC236}">
                <a16:creationId xmlns:a16="http://schemas.microsoft.com/office/drawing/2014/main" id="{C93C3DEE-E308-0AC0-B7A1-82554A2C688E}"/>
              </a:ext>
            </a:extLst>
          </p:cNvPr>
          <p:cNvSpPr>
            <a:spLocks noGrp="1"/>
          </p:cNvSpPr>
          <p:nvPr>
            <p:ph type="body" idx="1"/>
          </p:nvPr>
        </p:nvSpPr>
        <p:spPr>
          <a:xfrm>
            <a:off x="476843" y="1471264"/>
            <a:ext cx="7825909" cy="4649120"/>
          </a:xfrm>
        </p:spPr>
        <p:txBody>
          <a:bodyPr/>
          <a:lstStyle/>
          <a:p>
            <a:r>
              <a:rPr lang="en-US" sz="1800" dirty="0"/>
              <a:t>Once the engine starts, its speed increases.</a:t>
            </a:r>
          </a:p>
          <a:p>
            <a:r>
              <a:rPr lang="en-US" sz="1800" dirty="0"/>
              <a:t>If the starter motor remains connected to the engine through the flywheel, it spins at very high speeds, destroying the armature and other parts.</a:t>
            </a:r>
          </a:p>
          <a:p>
            <a:r>
              <a:rPr lang="en-US" sz="1800" dirty="0"/>
              <a:t>To prevent the armature from spinning at engine speed, an overrunning clutch is used.</a:t>
            </a:r>
          </a:p>
          <a:p>
            <a:r>
              <a:rPr lang="en-US" sz="1800" dirty="0"/>
              <a:t>The clutch housing is internally splined to the armature shaft. The drive pinion turns freely on the armature shaft within the clutch housing.</a:t>
            </a:r>
          </a:p>
          <a:p>
            <a:r>
              <a:rPr lang="en-US" sz="1800" dirty="0"/>
              <a:t>When the clutch housing is driven by the armature, the spring-loaded rollers are forced into the small ends of their tapered slots and wedged tightly against the pinion barrel.</a:t>
            </a:r>
          </a:p>
          <a:p>
            <a:r>
              <a:rPr lang="en-US" sz="1800" dirty="0"/>
              <a:t>This locks the pinion and clutch housing solidly together, permitting the pinion to turn the flywheel and, thus, crank the engine.</a:t>
            </a:r>
          </a:p>
        </p:txBody>
      </p:sp>
      <p:pic>
        <p:nvPicPr>
          <p:cNvPr id="8" name="Picture Placeholder 7" descr="The structure of the pinion gear after the engine starts with the following components: Springs compressed and Inner race rotates in the clockwise direction. During rotation, the spring-loaded rollers are forced into the small ends of their tapered slots and wedged tightly against the pinion barrel.">
            <a:extLst>
              <a:ext uri="{FF2B5EF4-FFF2-40B4-BE49-F238E27FC236}">
                <a16:creationId xmlns:a16="http://schemas.microsoft.com/office/drawing/2014/main" id="{85EE59A1-2791-61D3-4419-57E7C7449784}"/>
              </a:ext>
            </a:extLst>
          </p:cNvPr>
          <p:cNvPicPr>
            <a:picLocks noGrp="1" noChangeAspect="1"/>
          </p:cNvPicPr>
          <p:nvPr>
            <p:ph type="pic" sz="quarter" idx="10"/>
          </p:nvPr>
        </p:nvPicPr>
        <p:blipFill>
          <a:blip r:embed="rId3"/>
          <a:srcRect b="18822"/>
          <a:stretch/>
        </p:blipFill>
        <p:spPr>
          <a:xfrm>
            <a:off x="8262140" y="1788654"/>
            <a:ext cx="3597451" cy="2875813"/>
          </a:xfrm>
          <a:prstGeom prst="rect">
            <a:avLst/>
          </a:prstGeom>
        </p:spPr>
      </p:pic>
    </p:spTree>
    <p:extLst>
      <p:ext uri="{BB962C8B-B14F-4D97-AF65-F5344CB8AC3E}">
        <p14:creationId xmlns:p14="http://schemas.microsoft.com/office/powerpoint/2010/main" val="3560377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3D29E691-E635-0D04-F247-772FFF00FB51}"/>
              </a:ext>
            </a:extLst>
          </p:cNvPr>
          <p:cNvSpPr>
            <a:spLocks noGrp="1"/>
          </p:cNvSpPr>
          <p:nvPr>
            <p:ph type="title"/>
          </p:nvPr>
        </p:nvSpPr>
        <p:spPr/>
        <p:txBody>
          <a:bodyPr/>
          <a:lstStyle/>
          <a:p>
            <a:r>
              <a:rPr lang="en-US" dirty="0"/>
              <a:t>Control Circuit (1 of 3)</a:t>
            </a:r>
          </a:p>
        </p:txBody>
      </p:sp>
      <p:sp>
        <p:nvSpPr>
          <p:cNvPr id="3" name="Text Placeholder 2">
            <a:extLst>
              <a:ext uri="{FF2B5EF4-FFF2-40B4-BE49-F238E27FC236}">
                <a16:creationId xmlns:a16="http://schemas.microsoft.com/office/drawing/2014/main" id="{56C3CDD3-E5AB-0152-4B2F-7C50F1CC6369}"/>
              </a:ext>
            </a:extLst>
          </p:cNvPr>
          <p:cNvSpPr>
            <a:spLocks noGrp="1"/>
          </p:cNvSpPr>
          <p:nvPr>
            <p:ph type="body" idx="1"/>
          </p:nvPr>
        </p:nvSpPr>
        <p:spPr>
          <a:xfrm>
            <a:off x="476843" y="1471264"/>
            <a:ext cx="6850883" cy="4673504"/>
          </a:xfrm>
        </p:spPr>
        <p:txBody>
          <a:bodyPr/>
          <a:lstStyle/>
          <a:p>
            <a:pPr>
              <a:spcAft>
                <a:spcPts val="600"/>
              </a:spcAft>
            </a:pPr>
            <a:r>
              <a:rPr lang="en-US" sz="2400" dirty="0"/>
              <a:t>The control circuit allows a small amount of current to control the flow of a large amount of current in the starting circuit.</a:t>
            </a:r>
          </a:p>
          <a:p>
            <a:pPr>
              <a:spcAft>
                <a:spcPts val="600"/>
              </a:spcAft>
            </a:pPr>
            <a:r>
              <a:rPr lang="en-US" sz="2400" dirty="0"/>
              <a:t>When the ignition switch is turned to the start position, a small amount of current flows through the coil of the magnetic switch, closing it and allowing full current to flow directly to the starter motor.</a:t>
            </a:r>
          </a:p>
          <a:p>
            <a:pPr>
              <a:spcAft>
                <a:spcPts val="600"/>
              </a:spcAft>
            </a:pPr>
            <a:r>
              <a:rPr lang="en-US" sz="2400" dirty="0"/>
              <a:t>The ignition switch performs other jobs besides controlling the starting circuit.</a:t>
            </a:r>
          </a:p>
        </p:txBody>
      </p:sp>
      <p:pic>
        <p:nvPicPr>
          <p:cNvPr id="6" name="Picture Placeholder 5" descr="A wiring diagram for a computer-controlled starting system. The starter motor and solenoid are at the bottom left, connected to powertrain control module through Underhood junction box, which has a starter relay and a start fuse 20 A. The powertrain control module is ground through Transmission range sensor, with following labels, I_R, I_1, I_2, I_3, I_D, P positive, and N negative. The power control module has a connection in the middle to Body control module, of 750 ohms, 5 Volts, connected to Push to start ignition switch, at the middle bottom.">
            <a:extLst>
              <a:ext uri="{FF2B5EF4-FFF2-40B4-BE49-F238E27FC236}">
                <a16:creationId xmlns:a16="http://schemas.microsoft.com/office/drawing/2014/main" id="{AAE29328-1F80-2EFA-6531-27575512BF5E}"/>
              </a:ext>
            </a:extLst>
          </p:cNvPr>
          <p:cNvPicPr>
            <a:picLocks noGrp="1" noChangeAspect="1"/>
          </p:cNvPicPr>
          <p:nvPr>
            <p:ph type="pic" sz="quarter" idx="10"/>
          </p:nvPr>
        </p:nvPicPr>
        <p:blipFill rotWithShape="1">
          <a:blip r:embed="rId3"/>
          <a:srcRect b="7227"/>
          <a:stretch/>
        </p:blipFill>
        <p:spPr>
          <a:xfrm>
            <a:off x="7305238" y="2226618"/>
            <a:ext cx="4686205" cy="3064573"/>
          </a:xfrm>
          <a:prstGeom prst="rect">
            <a:avLst/>
          </a:prstGeom>
        </p:spPr>
      </p:pic>
    </p:spTree>
    <p:extLst>
      <p:ext uri="{BB962C8B-B14F-4D97-AF65-F5344CB8AC3E}">
        <p14:creationId xmlns:p14="http://schemas.microsoft.com/office/powerpoint/2010/main" val="2101272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ADEECFD8-F661-286C-6BD9-B716A50788BA}"/>
              </a:ext>
            </a:extLst>
          </p:cNvPr>
          <p:cNvSpPr>
            <a:spLocks noGrp="1"/>
          </p:cNvSpPr>
          <p:nvPr>
            <p:ph type="title"/>
          </p:nvPr>
        </p:nvSpPr>
        <p:spPr/>
        <p:txBody>
          <a:bodyPr/>
          <a:lstStyle/>
          <a:p>
            <a:r>
              <a:rPr lang="en-US" dirty="0"/>
              <a:t>Control Circuit (2 of 3)</a:t>
            </a:r>
          </a:p>
        </p:txBody>
      </p:sp>
      <p:sp>
        <p:nvSpPr>
          <p:cNvPr id="3" name="Text Placeholder 2">
            <a:extLst>
              <a:ext uri="{FF2B5EF4-FFF2-40B4-BE49-F238E27FC236}">
                <a16:creationId xmlns:a16="http://schemas.microsoft.com/office/drawing/2014/main" id="{F31C1BE2-BB04-0C37-58EB-F82BCC2577E2}"/>
              </a:ext>
            </a:extLst>
          </p:cNvPr>
          <p:cNvSpPr>
            <a:spLocks noGrp="1"/>
          </p:cNvSpPr>
          <p:nvPr>
            <p:ph type="body" idx="1"/>
          </p:nvPr>
        </p:nvSpPr>
        <p:spPr>
          <a:xfrm>
            <a:off x="476843" y="1471264"/>
            <a:ext cx="11117749" cy="4685696"/>
          </a:xfrm>
        </p:spPr>
        <p:txBody>
          <a:bodyPr/>
          <a:lstStyle/>
          <a:p>
            <a:pPr>
              <a:spcAft>
                <a:spcPts val="600"/>
              </a:spcAft>
            </a:pPr>
            <a:r>
              <a:rPr lang="en-US" sz="1600" dirty="0"/>
              <a:t>On older vehicles, the entire circuit usually consists of an ignition switch connected through normal-gauge wire to the battery, safety switch, and a magnetic switch.</a:t>
            </a:r>
          </a:p>
          <a:p>
            <a:pPr>
              <a:spcAft>
                <a:spcPts val="600"/>
              </a:spcAft>
            </a:pPr>
            <a:r>
              <a:rPr lang="en-US" sz="1600" dirty="0"/>
              <a:t>The ignition switch on newer vehicles does not directly control starter operation. Instead, the switch is an input for the onboard computer system.</a:t>
            </a:r>
          </a:p>
          <a:p>
            <a:pPr>
              <a:spcAft>
                <a:spcPts val="600"/>
              </a:spcAft>
            </a:pPr>
            <a:r>
              <a:rPr lang="en-US" sz="1600" dirty="0"/>
              <a:t>When the key is turned to the crank position, the body control module (BCM) signals the powertrain control module (PCM) to activate the crank relay.</a:t>
            </a:r>
          </a:p>
          <a:p>
            <a:pPr>
              <a:spcAft>
                <a:spcPts val="600"/>
              </a:spcAft>
            </a:pPr>
            <a:r>
              <a:rPr lang="en-US" sz="1600" dirty="0"/>
              <a:t>Current then passes through the crank relay to the starter solenoid which is common on vehicles with factory installed anti-theft systems.</a:t>
            </a:r>
          </a:p>
          <a:p>
            <a:pPr>
              <a:spcAft>
                <a:spcPts val="600"/>
              </a:spcAft>
            </a:pPr>
            <a:r>
              <a:rPr lang="en-US" sz="1600" dirty="0"/>
              <a:t>A benefit of this system is the ability to add remote start capability from the vehicle’s key fob.</a:t>
            </a:r>
          </a:p>
          <a:p>
            <a:pPr>
              <a:spcAft>
                <a:spcPts val="600"/>
              </a:spcAft>
            </a:pPr>
            <a:r>
              <a:rPr lang="en-US" sz="1600" dirty="0"/>
              <a:t>Many newer vehicles have eliminated the traditional key and ignition switch and instead use push button start and a smart key.</a:t>
            </a:r>
          </a:p>
          <a:p>
            <a:pPr>
              <a:spcAft>
                <a:spcPts val="600"/>
              </a:spcAft>
            </a:pPr>
            <a:r>
              <a:rPr lang="en-US" sz="1600" dirty="0"/>
              <a:t>The start button is simply an input for the onboard computer system. The starter circuit is controlled based on inputs from the anti-theft, body, and powertrain computers.</a:t>
            </a:r>
          </a:p>
        </p:txBody>
      </p:sp>
    </p:spTree>
    <p:extLst>
      <p:ext uri="{BB962C8B-B14F-4D97-AF65-F5344CB8AC3E}">
        <p14:creationId xmlns:p14="http://schemas.microsoft.com/office/powerpoint/2010/main" val="22819029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Control Circuit (3 of 3)</a:t>
            </a:r>
            <a:endParaRPr dirty="0"/>
          </a:p>
        </p:txBody>
      </p:sp>
      <p:sp>
        <p:nvSpPr>
          <p:cNvPr id="2" name="Text Placeholder 1">
            <a:extLst>
              <a:ext uri="{FF2B5EF4-FFF2-40B4-BE49-F238E27FC236}">
                <a16:creationId xmlns:a16="http://schemas.microsoft.com/office/drawing/2014/main" id="{9116DD7E-F77E-DCB6-6A85-499B58C5E230}"/>
              </a:ext>
            </a:extLst>
          </p:cNvPr>
          <p:cNvSpPr>
            <a:spLocks noGrp="1"/>
          </p:cNvSpPr>
          <p:nvPr>
            <p:ph type="body" idx="1"/>
          </p:nvPr>
        </p:nvSpPr>
        <p:spPr>
          <a:xfrm>
            <a:off x="476843" y="1471264"/>
            <a:ext cx="7338229" cy="4649120"/>
          </a:xfrm>
        </p:spPr>
        <p:txBody>
          <a:bodyPr/>
          <a:lstStyle/>
          <a:p>
            <a:pPr>
              <a:spcAft>
                <a:spcPts val="600"/>
              </a:spcAft>
            </a:pPr>
            <a:r>
              <a:rPr lang="en-US" sz="1800" dirty="0"/>
              <a:t>The starting safety switch, often called the neutral safety switch, is a normally open switch that prevents the starting system from operating when the transmission is in gear.</a:t>
            </a:r>
          </a:p>
          <a:p>
            <a:pPr>
              <a:spcAft>
                <a:spcPts val="600"/>
              </a:spcAft>
            </a:pPr>
            <a:r>
              <a:rPr lang="en-US" sz="1800" dirty="0"/>
              <a:t>Starting safety switches can be located between the ignition switch and the relay or solenoid or the relay and ground.</a:t>
            </a:r>
          </a:p>
          <a:p>
            <a:pPr>
              <a:spcAft>
                <a:spcPts val="600"/>
              </a:spcAft>
            </a:pPr>
            <a:r>
              <a:rPr lang="en-US" sz="1800" dirty="0"/>
              <a:t>In computer-controlled starting systems, the safety switch may be used as an input for the PCM and not be wired directly into the starter control circuit.</a:t>
            </a:r>
          </a:p>
          <a:p>
            <a:pPr>
              <a:spcAft>
                <a:spcPts val="600"/>
              </a:spcAft>
            </a:pPr>
            <a:r>
              <a:rPr lang="en-US" sz="1800" dirty="0"/>
              <a:t>The switch contacts are wired in series with the control circuit so that no current can flow through the relay or solenoid unless the shift lever is in Neutral or Park.</a:t>
            </a:r>
          </a:p>
          <a:p>
            <a:pPr>
              <a:spcAft>
                <a:spcPts val="600"/>
              </a:spcAft>
            </a:pPr>
            <a:r>
              <a:rPr lang="en-US" sz="1800" dirty="0"/>
              <a:t>The clutch start switch serves the same purpose as a Park/Neutral position switch.</a:t>
            </a:r>
          </a:p>
        </p:txBody>
      </p:sp>
      <p:pic>
        <p:nvPicPr>
          <p:cNvPr id="5" name="Picture Placeholder 4" descr="A neutral safety switch attached to an automatic transmission.">
            <a:extLst>
              <a:ext uri="{FF2B5EF4-FFF2-40B4-BE49-F238E27FC236}">
                <a16:creationId xmlns:a16="http://schemas.microsoft.com/office/drawing/2014/main" id="{73862D06-40F1-344C-B362-59A3BEB6BA7B}"/>
              </a:ext>
            </a:extLst>
          </p:cNvPr>
          <p:cNvPicPr>
            <a:picLocks noGrp="1" noChangeAspect="1"/>
          </p:cNvPicPr>
          <p:nvPr>
            <p:ph type="pic" sz="quarter" idx="10"/>
          </p:nvPr>
        </p:nvPicPr>
        <p:blipFill>
          <a:blip r:embed="rId3"/>
          <a:srcRect b="14113"/>
          <a:stretch/>
        </p:blipFill>
        <p:spPr>
          <a:xfrm>
            <a:off x="7712788" y="2252392"/>
            <a:ext cx="4362301" cy="2864138"/>
          </a:xfrm>
          <a:prstGeom prst="rect">
            <a:avLst/>
          </a:prstGeom>
        </p:spPr>
      </p:pic>
    </p:spTree>
    <p:extLst>
      <p:ext uri="{BB962C8B-B14F-4D97-AF65-F5344CB8AC3E}">
        <p14:creationId xmlns:p14="http://schemas.microsoft.com/office/powerpoint/2010/main" val="9877439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(1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dirty="0"/>
              <a:t>What is the purpose of a neutral safety switch?</a:t>
            </a:r>
          </a:p>
        </p:txBody>
      </p:sp>
    </p:spTree>
    <p:extLst>
      <p:ext uri="{BB962C8B-B14F-4D97-AF65-F5344CB8AC3E}">
        <p14:creationId xmlns:p14="http://schemas.microsoft.com/office/powerpoint/2010/main" val="39597283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a:t>
            </a:r>
            <a:r>
              <a:rPr lang="en-US"/>
              <a:t>Check Answer (1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b="1" dirty="0"/>
              <a:t>Answer</a:t>
            </a:r>
            <a:r>
              <a:rPr lang="en-US" dirty="0"/>
              <a:t>: The starting safety switch, often called the neutral safety switch, is a normally open switch that prevents the starting system from operating when the transmission is in gear.</a:t>
            </a:r>
          </a:p>
        </p:txBody>
      </p:sp>
    </p:spTree>
    <p:extLst>
      <p:ext uri="{BB962C8B-B14F-4D97-AF65-F5344CB8AC3E}">
        <p14:creationId xmlns:p14="http://schemas.microsoft.com/office/powerpoint/2010/main" val="1898729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Starting System Testing (1 of 4)</a:t>
            </a:r>
            <a:endParaRPr dirty="0"/>
          </a:p>
        </p:txBody>
      </p:sp>
      <p:sp>
        <p:nvSpPr>
          <p:cNvPr id="2" name="Text Placeholder 1">
            <a:extLst>
              <a:ext uri="{FF2B5EF4-FFF2-40B4-BE49-F238E27FC236}">
                <a16:creationId xmlns:a16="http://schemas.microsoft.com/office/drawing/2014/main" id="{2A9F83E2-FF00-A61A-BB05-0C8A3D3550BB}"/>
              </a:ext>
            </a:extLst>
          </p:cNvPr>
          <p:cNvSpPr>
            <a:spLocks noGrp="1"/>
          </p:cNvSpPr>
          <p:nvPr>
            <p:ph type="body" idx="1"/>
          </p:nvPr>
        </p:nvSpPr>
        <p:spPr>
          <a:xfrm>
            <a:off x="476843" y="1471264"/>
            <a:ext cx="6800779" cy="4673504"/>
          </a:xfrm>
        </p:spPr>
        <p:txBody>
          <a:bodyPr/>
          <a:lstStyle/>
          <a:p>
            <a:pPr marL="0" indent="0">
              <a:buNone/>
            </a:pPr>
            <a:r>
              <a:rPr lang="en-US" sz="2000" b="1" dirty="0"/>
              <a:t>18.05 Inspect and test starter relays and solenoids and the switches, connectors, and wires of starter control circuits.</a:t>
            </a:r>
          </a:p>
          <a:p>
            <a:r>
              <a:rPr lang="en-US" sz="2000" dirty="0"/>
              <a:t>The cranking output of the motor is affected by the condition and charge of the battery, the circuit’s wiring, and the engine’s cranking requirement.</a:t>
            </a:r>
          </a:p>
          <a:p>
            <a:r>
              <a:rPr lang="en-US" sz="2000" dirty="0"/>
              <a:t>Many of the problems associated with the starting system can be solved by troubleshooting the battery and its related components.</a:t>
            </a:r>
          </a:p>
          <a:p>
            <a:r>
              <a:rPr lang="en-US" sz="2000" dirty="0"/>
              <a:t>Check the wiring and cables for clean, tight connections.</a:t>
            </a:r>
          </a:p>
          <a:p>
            <a:r>
              <a:rPr lang="en-US" sz="2000" dirty="0"/>
              <a:t>Loose or dirty connections will cause excessive voltage drops.</a:t>
            </a:r>
          </a:p>
        </p:txBody>
      </p:sp>
      <p:pic>
        <p:nvPicPr>
          <p:cNvPr id="5" name="Picture Placeholder 4" descr="The possible parts that can cause slow or no cranking are labeled as follows: Overrunning clutch, Pinion compression spring, Shift collar, Solenoid, Pull in coil, Hold in coil, Plunger, Shift lever, Flywheel, Pinion, Cranking motor, Solenoid switch contact, Bulkhead connector, Ignition and starter switch and Battery.">
            <a:extLst>
              <a:ext uri="{FF2B5EF4-FFF2-40B4-BE49-F238E27FC236}">
                <a16:creationId xmlns:a16="http://schemas.microsoft.com/office/drawing/2014/main" id="{72C90534-B9F6-0FF1-CEF2-CCC228FF0A2D}"/>
              </a:ext>
            </a:extLst>
          </p:cNvPr>
          <p:cNvPicPr>
            <a:picLocks noGrp="1" noChangeAspect="1"/>
          </p:cNvPicPr>
          <p:nvPr>
            <p:ph type="pic" sz="quarter" idx="10"/>
          </p:nvPr>
        </p:nvPicPr>
        <p:blipFill>
          <a:blip r:embed="rId3"/>
          <a:srcRect b="10287"/>
          <a:stretch/>
        </p:blipFill>
        <p:spPr>
          <a:xfrm>
            <a:off x="7277622" y="2466659"/>
            <a:ext cx="4722312" cy="2485485"/>
          </a:xfrm>
          <a:prstGeom prst="rect">
            <a:avLst/>
          </a:prstGeom>
        </p:spPr>
      </p:pic>
    </p:spTree>
    <p:extLst>
      <p:ext uri="{BB962C8B-B14F-4D97-AF65-F5344CB8AC3E}">
        <p14:creationId xmlns:p14="http://schemas.microsoft.com/office/powerpoint/2010/main" val="19054347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Starting System Testing (2 of 4)</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Safety Precautions:</a:t>
            </a:r>
          </a:p>
          <a:p>
            <a:pPr lvl="1">
              <a:spcAft>
                <a:spcPts val="600"/>
              </a:spcAft>
            </a:pPr>
            <a:r>
              <a:rPr lang="en-US" dirty="0"/>
              <a:t>Almost all starting system tests must be performed while the starter motor is cranking the engine.</a:t>
            </a:r>
          </a:p>
          <a:p>
            <a:pPr lvl="1">
              <a:spcAft>
                <a:spcPts val="600"/>
              </a:spcAft>
            </a:pPr>
            <a:r>
              <a:rPr lang="en-US" dirty="0"/>
              <a:t>However, the engine must not start and run during the test or the readings will be inaccurate.</a:t>
            </a:r>
          </a:p>
          <a:p>
            <a:pPr lvl="1">
              <a:spcAft>
                <a:spcPts val="600"/>
              </a:spcAft>
            </a:pPr>
            <a:r>
              <a:rPr lang="en-US" dirty="0"/>
              <a:t>To prevent the engine from starting, the ignition switch can be bypassed with a remote starter switch that allows current to flow to the starting system but not to the rest of the electrical system.</a:t>
            </a:r>
          </a:p>
          <a:p>
            <a:pPr lvl="1">
              <a:spcAft>
                <a:spcPts val="600"/>
              </a:spcAft>
            </a:pPr>
            <a:r>
              <a:rPr lang="en-US" dirty="0"/>
              <a:t>During testing, be sure the transmission is out of gear during cranking and the parking brake is set.</a:t>
            </a:r>
          </a:p>
        </p:txBody>
      </p:sp>
    </p:spTree>
    <p:extLst>
      <p:ext uri="{BB962C8B-B14F-4D97-AF65-F5344CB8AC3E}">
        <p14:creationId xmlns:p14="http://schemas.microsoft.com/office/powerpoint/2010/main" val="22860603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Starting System Testing (3 of 4)</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2000" dirty="0"/>
              <a:t>Auto Start-Stop Concerns:</a:t>
            </a:r>
          </a:p>
          <a:p>
            <a:r>
              <a:rPr lang="en-US" sz="2000" dirty="0"/>
              <a:t>When attempting to diagnose a computerized starter circuit, first read the description and operation information for the vehicle.</a:t>
            </a:r>
          </a:p>
          <a:p>
            <a:r>
              <a:rPr lang="en-US" sz="2000" dirty="0"/>
              <a:t>Many customer complaints can be resolved just by understanding how the system operates and what can cause it to stop working.</a:t>
            </a:r>
          </a:p>
          <a:p>
            <a:r>
              <a:rPr lang="en-US" sz="2000" dirty="0"/>
              <a:t>For example, a system may disable auto start-stop for the following reasons:</a:t>
            </a:r>
          </a:p>
          <a:p>
            <a:pPr lvl="1"/>
            <a:r>
              <a:rPr lang="en-US" sz="1800" dirty="0"/>
              <a:t>low ambient temperatures</a:t>
            </a:r>
          </a:p>
          <a:p>
            <a:pPr lvl="1"/>
            <a:r>
              <a:rPr lang="en-US" sz="1800" dirty="0"/>
              <a:t>low battery temperature or low battery voltage</a:t>
            </a:r>
          </a:p>
          <a:p>
            <a:pPr lvl="1"/>
            <a:r>
              <a:rPr lang="en-US" sz="1800" dirty="0"/>
              <a:t>high demand on the A/C system</a:t>
            </a:r>
          </a:p>
          <a:p>
            <a:pPr lvl="1"/>
            <a:r>
              <a:rPr lang="en-US" sz="1800" dirty="0"/>
              <a:t>high engine coolant temperature</a:t>
            </a:r>
          </a:p>
          <a:p>
            <a:pPr lvl="1"/>
            <a:r>
              <a:rPr lang="en-US" sz="1800" dirty="0"/>
              <a:t>defrost mode is selected</a:t>
            </a:r>
          </a:p>
          <a:p>
            <a:pPr lvl="1"/>
            <a:r>
              <a:rPr lang="en-US" sz="1800" dirty="0"/>
              <a:t>certain DTCs are stored in the PCM. If a problem does exist, perform a vehicle scan, note any stored DTCs, and determine if any are related to auto start-stop operation.</a:t>
            </a:r>
          </a:p>
        </p:txBody>
      </p:sp>
    </p:spTree>
    <p:extLst>
      <p:ext uri="{BB962C8B-B14F-4D97-AF65-F5344CB8AC3E}">
        <p14:creationId xmlns:p14="http://schemas.microsoft.com/office/powerpoint/2010/main" val="17086601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Starting System Testing (4 of 4)</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2000" dirty="0"/>
              <a:t>No-Crank Problems:</a:t>
            </a:r>
          </a:p>
          <a:p>
            <a:r>
              <a:rPr lang="en-US" sz="2000" dirty="0"/>
              <a:t>A common problem is a no-crank, no-start condition which means that when the key is turned or start button depressed to the start position, the starter motor does not engage.</a:t>
            </a:r>
          </a:p>
          <a:p>
            <a:r>
              <a:rPr lang="en-US" sz="2000" dirty="0"/>
              <a:t>Use a test light or voltmeter to check for battery voltage at the control circuit terminal on the starter solenoid during cranking.</a:t>
            </a:r>
          </a:p>
          <a:p>
            <a:r>
              <a:rPr lang="en-US" sz="2000" dirty="0"/>
              <a:t>If voltage is present and the power and ground circuits to the motor are good, the solenoid or starter motor is faulty.</a:t>
            </a:r>
          </a:p>
          <a:p>
            <a:r>
              <a:rPr lang="en-US" sz="2000" dirty="0"/>
              <a:t>If voltage is not present or if the voltage is low, you need to diagnose the control circuit.</a:t>
            </a:r>
          </a:p>
          <a:p>
            <a:r>
              <a:rPr lang="en-US" sz="2000" dirty="0"/>
              <a:t>Vehicles equipped with computer-controlled starting systems and/or anti-theft systems may require the use of a scan tool to check the starter motor command.</a:t>
            </a:r>
          </a:p>
          <a:p>
            <a:r>
              <a:rPr lang="en-US" sz="2000" dirty="0"/>
              <a:t>Anti-theft-related issues can cause a no-crank, no-start condition as well.</a:t>
            </a:r>
          </a:p>
        </p:txBody>
      </p:sp>
    </p:spTree>
    <p:extLst>
      <p:ext uri="{BB962C8B-B14F-4D97-AF65-F5344CB8AC3E}">
        <p14:creationId xmlns:p14="http://schemas.microsoft.com/office/powerpoint/2010/main" val="3938371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Starter Solenoid Problems</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2000" dirty="0"/>
              <a:t>A typical symptom of solenoid problems is a clicking noise when the ignition switch is turned to the start position.</a:t>
            </a:r>
          </a:p>
          <a:p>
            <a:r>
              <a:rPr lang="en-US" sz="2000" dirty="0"/>
              <a:t>The noise is caused by the solenoid’s plunger moving back and forth.</a:t>
            </a:r>
          </a:p>
          <a:p>
            <a:r>
              <a:rPr lang="en-US" sz="2000" dirty="0"/>
              <a:t>Normally, the plunger moves to the battery contacts and is held there by a magnetic field until the ignition switch is moved from the start position.</a:t>
            </a:r>
          </a:p>
          <a:p>
            <a:r>
              <a:rPr lang="en-US" sz="2000" dirty="0"/>
              <a:t>In order for the solenoid’s plunger to move enough to complete the starter motor circuit and remain in that position, a strong magnetic field must be present around the solenoid’s windings.</a:t>
            </a:r>
          </a:p>
          <a:p>
            <a:r>
              <a:rPr lang="en-US" sz="2000" dirty="0"/>
              <a:t>The strength of the magnetic field depends on the current flowing through the windings; therefore, anything that would reduce current flow would affect the operation of the solenoid.</a:t>
            </a:r>
          </a:p>
          <a:p>
            <a:r>
              <a:rPr lang="en-US" sz="2000" dirty="0"/>
              <a:t>Common causes of the clicking are low battery voltage, low voltage available to the solenoid, or an open in the hold-in winding.</a:t>
            </a:r>
          </a:p>
        </p:txBody>
      </p:sp>
    </p:spTree>
    <p:extLst>
      <p:ext uri="{BB962C8B-B14F-4D97-AF65-F5344CB8AC3E}">
        <p14:creationId xmlns:p14="http://schemas.microsoft.com/office/powerpoint/2010/main" val="5292952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Cranking Voltage Test</a:t>
            </a:r>
            <a:endParaRPr dirty="0"/>
          </a:p>
        </p:txBody>
      </p:sp>
      <p:sp>
        <p:nvSpPr>
          <p:cNvPr id="2" name="Text Placeholder 1">
            <a:extLst>
              <a:ext uri="{FF2B5EF4-FFF2-40B4-BE49-F238E27FC236}">
                <a16:creationId xmlns:a16="http://schemas.microsoft.com/office/drawing/2014/main" id="{FAF0D98C-6766-1FF5-A106-E944643A0225}"/>
              </a:ext>
            </a:extLst>
          </p:cNvPr>
          <p:cNvSpPr>
            <a:spLocks noGrp="1"/>
          </p:cNvSpPr>
          <p:nvPr>
            <p:ph type="body" idx="1"/>
          </p:nvPr>
        </p:nvSpPr>
        <p:spPr>
          <a:xfrm>
            <a:off x="476844" y="1471264"/>
            <a:ext cx="7088878" cy="4502816"/>
          </a:xfrm>
        </p:spPr>
        <p:txBody>
          <a:bodyPr/>
          <a:lstStyle/>
          <a:p>
            <a:r>
              <a:rPr lang="en-US" sz="2000" dirty="0"/>
              <a:t>The cranking voltage test measures the available voltage to the starter during cranking.</a:t>
            </a:r>
          </a:p>
          <a:p>
            <a:r>
              <a:rPr lang="en-US" sz="2000" dirty="0"/>
              <a:t>To perform the test, disable the ignition or use a remote starter switch to bypass the ignition switch.</a:t>
            </a:r>
          </a:p>
          <a:p>
            <a:r>
              <a:rPr lang="en-US" sz="2000" dirty="0"/>
              <a:t>Refer to the service information for specific instructions on the vehicle being tested.</a:t>
            </a:r>
          </a:p>
          <a:p>
            <a:r>
              <a:rPr lang="en-US" sz="2000" dirty="0"/>
              <a:t>Connect the voltmeter’s negative lead to a good chassis ground.</a:t>
            </a:r>
          </a:p>
          <a:p>
            <a:r>
              <a:rPr lang="en-US" sz="2000" dirty="0"/>
              <a:t>Connect the positive lead to the starter motor feed at the starter relay or solenoid.</a:t>
            </a:r>
          </a:p>
          <a:p>
            <a:r>
              <a:rPr lang="en-US" sz="2000" dirty="0"/>
              <a:t>Activate the starter motor and observe the voltage reading. Compare the reading to the specifications. Normally, 9.6 volts is the minimum required.</a:t>
            </a:r>
          </a:p>
        </p:txBody>
      </p:sp>
      <p:pic>
        <p:nvPicPr>
          <p:cNvPr id="5" name="Picture Placeholder 4" descr="The circuit uses a remote starter switch to bypass the control circuit and ignition system. The starter motor is connected to a voltmeter. The circuit from the battery to the solenoid started has a battery feed. Another circuit from the battery depicts a fusible link, ignition switch, run, start, and Starter neutral safety switch. The battery is connected to a Remote starter switch before connecting to the S of the solenoid starter. The S of the solenoid starter is connected to the Starter neutral safety switch. The negative terminal of the battery and the voltmeter is grounded. The starter motor is also connected to the ground. ">
            <a:extLst>
              <a:ext uri="{FF2B5EF4-FFF2-40B4-BE49-F238E27FC236}">
                <a16:creationId xmlns:a16="http://schemas.microsoft.com/office/drawing/2014/main" id="{C323A9BD-6A50-BD08-37D5-465523C1F8E9}"/>
              </a:ext>
            </a:extLst>
          </p:cNvPr>
          <p:cNvPicPr>
            <a:picLocks noGrp="1" noChangeAspect="1"/>
          </p:cNvPicPr>
          <p:nvPr>
            <p:ph type="pic" sz="quarter" idx="10"/>
          </p:nvPr>
        </p:nvPicPr>
        <p:blipFill>
          <a:blip r:embed="rId3"/>
          <a:srcRect b="6567"/>
          <a:stretch/>
        </p:blipFill>
        <p:spPr>
          <a:xfrm>
            <a:off x="7485783" y="2192733"/>
            <a:ext cx="4612452" cy="2636121"/>
          </a:xfrm>
          <a:prstGeom prst="rect">
            <a:avLst/>
          </a:prstGeom>
        </p:spPr>
      </p:pic>
    </p:spTree>
    <p:extLst>
      <p:ext uri="{BB962C8B-B14F-4D97-AF65-F5344CB8AC3E}">
        <p14:creationId xmlns:p14="http://schemas.microsoft.com/office/powerpoint/2010/main" val="29812653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2861A4A6-678C-0BEA-6E6E-AB87BABC55ED}"/>
              </a:ext>
            </a:extLst>
          </p:cNvPr>
          <p:cNvSpPr>
            <a:spLocks noGrp="1"/>
          </p:cNvSpPr>
          <p:nvPr>
            <p:ph type="title"/>
          </p:nvPr>
        </p:nvSpPr>
        <p:spPr/>
        <p:txBody>
          <a:bodyPr/>
          <a:lstStyle/>
          <a:p>
            <a:r>
              <a:rPr lang="en-US" dirty="0"/>
              <a:t>Cranking Current Test</a:t>
            </a:r>
          </a:p>
        </p:txBody>
      </p:sp>
      <p:sp>
        <p:nvSpPr>
          <p:cNvPr id="3" name="Text Placeholder 2">
            <a:extLst>
              <a:ext uri="{FF2B5EF4-FFF2-40B4-BE49-F238E27FC236}">
                <a16:creationId xmlns:a16="http://schemas.microsoft.com/office/drawing/2014/main" id="{03E0ADE0-E7E7-4B11-35E8-82686EAC5898}"/>
              </a:ext>
            </a:extLst>
          </p:cNvPr>
          <p:cNvSpPr>
            <a:spLocks noGrp="1"/>
          </p:cNvSpPr>
          <p:nvPr>
            <p:ph type="body" idx="1"/>
          </p:nvPr>
        </p:nvSpPr>
        <p:spPr>
          <a:xfrm>
            <a:off x="476843" y="1471264"/>
            <a:ext cx="7240693" cy="4661312"/>
          </a:xfrm>
        </p:spPr>
        <p:txBody>
          <a:bodyPr/>
          <a:lstStyle/>
          <a:p>
            <a:r>
              <a:rPr lang="en-US" sz="1800" dirty="0"/>
              <a:t>The cranking current test measures the amount of current the starter circuit draws to crank the engine.</a:t>
            </a:r>
          </a:p>
          <a:p>
            <a:r>
              <a:rPr lang="en-US" sz="1800" dirty="0"/>
              <a:t>This can be done with a VAT-type tester, DMM and current clamp, or a scope with a current clamp to measure the current draw.</a:t>
            </a:r>
          </a:p>
          <a:p>
            <a:r>
              <a:rPr lang="en-US" sz="1800" dirty="0"/>
              <a:t>Follow the instructions given with the test when connecting the test leads.</a:t>
            </a:r>
          </a:p>
          <a:p>
            <a:r>
              <a:rPr lang="en-US" sz="1800" dirty="0"/>
              <a:t>Crank the engine for no more than 15 seconds. Observe the voltmeter.</a:t>
            </a:r>
          </a:p>
          <a:p>
            <a:r>
              <a:rPr lang="en-US" sz="1800" dirty="0"/>
              <a:t>If the voltage drops below 9.6 volts, a problem is indicated.</a:t>
            </a:r>
          </a:p>
          <a:p>
            <a:r>
              <a:rPr lang="en-US" sz="1800" dirty="0"/>
              <a:t>Also, watch the ammeter and compare the reading to specifications. In general, cranking amperage for gasoline engines will range between 130 and 250 amps depending on engine size.</a:t>
            </a:r>
          </a:p>
        </p:txBody>
      </p:sp>
      <p:pic>
        <p:nvPicPr>
          <p:cNvPr id="6" name="Picture Placeholder 5" descr="A screenshot of a scope screen depicts a lab scope to test cranking current and voltage. The scope screen titled, PicoScope 6 Automotive, has two different colored curves graphed. The horizontal axis ranges from negative 0.2 to 1.2, in increments of 0.2. The vertical axis has the markings, negative 0.730, 69.27, 139.3, and so on. The first colored curve, starts from the marking 559.3, on the vertical axis, goes rightward then goes down vertically, then goes concave down to the right, goes rightward, almost horizontally, with less fluctuations, and exits the right of the graph. The second curve depicted by the second color, starts from the marking negative 0.730, on the vertical axis, goes rightward then goes up vertically, then goes concave up to the right, goes rightward, with less fluctuations, and exits the right of the graph. All data are approximate.">
            <a:extLst>
              <a:ext uri="{FF2B5EF4-FFF2-40B4-BE49-F238E27FC236}">
                <a16:creationId xmlns:a16="http://schemas.microsoft.com/office/drawing/2014/main" id="{987AD69F-E201-EC1B-8251-C4EB5A96F122}"/>
              </a:ext>
            </a:extLst>
          </p:cNvPr>
          <p:cNvPicPr>
            <a:picLocks noGrp="1" noChangeAspect="1"/>
          </p:cNvPicPr>
          <p:nvPr>
            <p:ph type="pic" sz="quarter" idx="10"/>
          </p:nvPr>
        </p:nvPicPr>
        <p:blipFill>
          <a:blip r:embed="rId3"/>
          <a:srcRect b="5534"/>
          <a:stretch/>
        </p:blipFill>
        <p:spPr>
          <a:xfrm>
            <a:off x="7793990" y="2604473"/>
            <a:ext cx="4143314" cy="2214107"/>
          </a:xfrm>
          <a:prstGeom prst="rect">
            <a:avLst/>
          </a:prstGeom>
        </p:spPr>
      </p:pic>
    </p:spTree>
    <p:extLst>
      <p:ext uri="{BB962C8B-B14F-4D97-AF65-F5344CB8AC3E}">
        <p14:creationId xmlns:p14="http://schemas.microsoft.com/office/powerpoint/2010/main" val="328391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Insulated Circuit Resistance Test</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1800" dirty="0"/>
              <a:t>The insulated circuit includes all of the high-current cables and connections from the battery to the starter motor.</a:t>
            </a:r>
          </a:p>
          <a:p>
            <a:r>
              <a:rPr lang="en-US" sz="1800" dirty="0"/>
              <a:t>To test the insulated circuit for high resistance, disable the ignition or bypass the ignition switch with a remote starter switch.</a:t>
            </a:r>
          </a:p>
          <a:p>
            <a:r>
              <a:rPr lang="en-US" sz="1800" dirty="0"/>
              <a:t>Connect the positive (+) lead of the voltmeter to the battery’s positive (+) terminal. Connect the negative (−) lead of the voltmeter to the starter motor or M terminal at the solenoid or relay.</a:t>
            </a:r>
          </a:p>
          <a:p>
            <a:r>
              <a:rPr lang="en-US" sz="1800" dirty="0"/>
              <a:t>Crank the engine and record the voltmeter reading.</a:t>
            </a:r>
          </a:p>
          <a:p>
            <a:r>
              <a:rPr lang="en-US" sz="1800" dirty="0"/>
              <a:t>If the voltage drop is within specifications (usually 0.2 to 0.6 volts), the insulated circuit does not have excessive resistance.</a:t>
            </a:r>
          </a:p>
          <a:p>
            <a:r>
              <a:rPr lang="en-US" sz="1800" dirty="0"/>
              <a:t>Proceed to the ground circuit resistance test.</a:t>
            </a:r>
          </a:p>
          <a:p>
            <a:r>
              <a:rPr lang="en-US" sz="1800" dirty="0"/>
              <a:t>If the reading indicates a voltage loss above specifications, move the negative lead of the tester progressively closer to the battery, cranking the engine at each test point.</a:t>
            </a:r>
          </a:p>
          <a:p>
            <a:r>
              <a:rPr lang="en-US" sz="1800" dirty="0"/>
              <a:t>Normally, a voltage drop of 0.1 volt is the maximum allowed across a length of cable.</a:t>
            </a:r>
          </a:p>
        </p:txBody>
      </p:sp>
    </p:spTree>
    <p:extLst>
      <p:ext uri="{BB962C8B-B14F-4D97-AF65-F5344CB8AC3E}">
        <p14:creationId xmlns:p14="http://schemas.microsoft.com/office/powerpoint/2010/main" val="38557111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Ground Circuit Resistance Test</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6843" y="1371056"/>
            <a:ext cx="11241915" cy="4746656"/>
          </a:xfrm>
        </p:spPr>
        <p:txBody>
          <a:bodyPr/>
          <a:lstStyle/>
          <a:p>
            <a:pPr>
              <a:spcAft>
                <a:spcPts val="400"/>
              </a:spcAft>
            </a:pPr>
            <a:r>
              <a:rPr lang="en-US" sz="1800" dirty="0"/>
              <a:t>The ground circuit provides the return path to the battery for the current supplied to the starter by the insulated circuit.</a:t>
            </a:r>
          </a:p>
          <a:p>
            <a:pPr>
              <a:spcAft>
                <a:spcPts val="400"/>
              </a:spcAft>
            </a:pPr>
            <a:r>
              <a:rPr lang="en-US" sz="1800" dirty="0"/>
              <a:t>This circuit includes the starter-to engine, engine-to-chassis, and chassis-to-battery ground terminal connections.</a:t>
            </a:r>
          </a:p>
          <a:p>
            <a:pPr>
              <a:spcAft>
                <a:spcPts val="400"/>
              </a:spcAft>
            </a:pPr>
            <a:r>
              <a:rPr lang="en-US" sz="1800" dirty="0"/>
              <a:t>To test the ground circuit for high resistance, disable the ignition, or bypass the ignition switch with a remote starter switch.</a:t>
            </a:r>
          </a:p>
          <a:p>
            <a:pPr>
              <a:spcAft>
                <a:spcPts val="400"/>
              </a:spcAft>
            </a:pPr>
            <a:r>
              <a:rPr lang="en-US" sz="1800" dirty="0"/>
              <a:t>Crank the engine and record the voltmeter reading.</a:t>
            </a:r>
          </a:p>
          <a:p>
            <a:pPr>
              <a:spcAft>
                <a:spcPts val="400"/>
              </a:spcAft>
            </a:pPr>
            <a:r>
              <a:rPr lang="en-US" sz="1800" dirty="0"/>
              <a:t>Good results would be less than a 0.2 to 0.6 volt drop for a 12-volt system.</a:t>
            </a:r>
          </a:p>
          <a:p>
            <a:pPr>
              <a:spcAft>
                <a:spcPts val="400"/>
              </a:spcAft>
            </a:pPr>
            <a:r>
              <a:rPr lang="en-US" sz="1800" dirty="0"/>
              <a:t>A voltage drop in excess of this indicates the presence of a poor ground circuit connection, resulting from a loose starter motor bolt, a poor battery ground terminal post connector, or a damaged or undersized ground system wire from the battery to the engine block.</a:t>
            </a:r>
          </a:p>
          <a:p>
            <a:pPr>
              <a:spcAft>
                <a:spcPts val="400"/>
              </a:spcAft>
            </a:pPr>
            <a:r>
              <a:rPr lang="en-US" sz="1800" dirty="0"/>
              <a:t>Isolate the cause of excessive voltage drop in the same manner as recommended in the insulated circuit resistance test by moving the positive (+) voltmeter lead progressively closer to the battery.</a:t>
            </a:r>
          </a:p>
        </p:txBody>
      </p:sp>
    </p:spTree>
    <p:extLst>
      <p:ext uri="{BB962C8B-B14F-4D97-AF65-F5344CB8AC3E}">
        <p14:creationId xmlns:p14="http://schemas.microsoft.com/office/powerpoint/2010/main" val="30284167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Voltage Drop Test of the Control Circuit</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6843" y="1371056"/>
            <a:ext cx="11485513" cy="4710080"/>
          </a:xfrm>
        </p:spPr>
        <p:txBody>
          <a:bodyPr/>
          <a:lstStyle/>
          <a:p>
            <a:r>
              <a:rPr lang="en-US" sz="1800" dirty="0"/>
              <a:t>The control circuit test examines all the wiring and components used to control the magnetic switch, whether it is a relay, a solenoid acting as a relay, or a starter solenoid.</a:t>
            </a:r>
          </a:p>
          <a:p>
            <a:r>
              <a:rPr lang="en-US" sz="1800" dirty="0"/>
              <a:t>High resistance in the solenoid switch circuit reduces current flow through the solenoid windings, which can cause improper functioning of the solenoid.</a:t>
            </a:r>
          </a:p>
          <a:p>
            <a:r>
              <a:rPr lang="en-US" sz="1800" dirty="0"/>
              <a:t>In some cases of high resistance, it may not function at all.</a:t>
            </a:r>
          </a:p>
          <a:p>
            <a:r>
              <a:rPr lang="en-US" sz="1800" dirty="0"/>
              <a:t>Improper functioning of the solenoid switch generally results in the burning of the solenoid switch contacts, causing high resistance in the starter motor circuit.</a:t>
            </a:r>
          </a:p>
          <a:p>
            <a:r>
              <a:rPr lang="en-US" sz="1800" dirty="0"/>
              <a:t>Check the vehicle wiring diagram, if possible, to identify all control circuit components. These normally include the ignition switch, safety switch, the starter solenoid winding, or a separate relay.</a:t>
            </a:r>
          </a:p>
          <a:p>
            <a:r>
              <a:rPr lang="en-US" sz="1800" dirty="0"/>
              <a:t>To perform the test, disable the ignition and/or fuel system. Connect the positive meter lead to the battery’s positive terminal and the negative meter lead to the starter switch (S) terminal on the solenoid or relay.</a:t>
            </a:r>
          </a:p>
          <a:p>
            <a:r>
              <a:rPr lang="en-US" sz="1800" dirty="0"/>
              <a:t>Crank the engine and record the voltmeter reading.</a:t>
            </a:r>
          </a:p>
          <a:p>
            <a:r>
              <a:rPr lang="en-US" sz="1800" dirty="0"/>
              <a:t>Generally, good results would be less than 0.2 volts.</a:t>
            </a:r>
          </a:p>
        </p:txBody>
      </p:sp>
    </p:spTree>
    <p:extLst>
      <p:ext uri="{BB962C8B-B14F-4D97-AF65-F5344CB8AC3E}">
        <p14:creationId xmlns:p14="http://schemas.microsoft.com/office/powerpoint/2010/main" val="41695929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Test Starter Drive Components</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6843" y="1471264"/>
            <a:ext cx="11241915" cy="4697888"/>
          </a:xfrm>
        </p:spPr>
        <p:txBody>
          <a:bodyPr/>
          <a:lstStyle/>
          <a:p>
            <a:pPr>
              <a:spcAft>
                <a:spcPts val="600"/>
              </a:spcAft>
            </a:pPr>
            <a:r>
              <a:rPr lang="en-US" sz="1800" dirty="0"/>
              <a:t>This test detects a slipping starter drive without removing the starter from the vehicle.</a:t>
            </a:r>
          </a:p>
          <a:p>
            <a:pPr>
              <a:spcAft>
                <a:spcPts val="600"/>
              </a:spcAft>
            </a:pPr>
            <a:r>
              <a:rPr lang="en-US" sz="1800" dirty="0"/>
              <a:t>First, disable the ignition system or bypass the ignition switch with a remote starter switch. Turn the ignition switch to start and hold it in this position for several seconds. Repeat the procedure at least three times to detect an intermittent condition.</a:t>
            </a:r>
          </a:p>
          <a:p>
            <a:pPr>
              <a:spcAft>
                <a:spcPts val="600"/>
              </a:spcAft>
            </a:pPr>
            <a:r>
              <a:rPr lang="en-US" sz="1800" dirty="0"/>
              <a:t>If the starter cranks the engine smoothly, that is an indication that the starter drive is functioning properly.</a:t>
            </a:r>
          </a:p>
          <a:p>
            <a:pPr>
              <a:spcAft>
                <a:spcPts val="600"/>
              </a:spcAft>
            </a:pPr>
            <a:r>
              <a:rPr lang="en-US" sz="1800" dirty="0"/>
              <a:t>If the engine stops cranking and the starter spins noisily at high speed, the drive is slipping and should be replaced.</a:t>
            </a:r>
          </a:p>
          <a:p>
            <a:pPr>
              <a:spcAft>
                <a:spcPts val="600"/>
              </a:spcAft>
            </a:pPr>
            <a:r>
              <a:rPr lang="en-US" sz="1800" dirty="0"/>
              <a:t>If the drive is not slipping, but the engine is not being cranked, inspect the flywheel for missing or damaged teeth.</a:t>
            </a:r>
          </a:p>
          <a:p>
            <a:pPr>
              <a:spcAft>
                <a:spcPts val="600"/>
              </a:spcAft>
            </a:pPr>
            <a:r>
              <a:rPr lang="en-US" sz="1800" dirty="0"/>
              <a:t>Remove the starter from the vehicle and check its drive components. Inspect the pinion gear teeth for wear and damage.</a:t>
            </a:r>
          </a:p>
        </p:txBody>
      </p:sp>
    </p:spTree>
    <p:extLst>
      <p:ext uri="{BB962C8B-B14F-4D97-AF65-F5344CB8AC3E}">
        <p14:creationId xmlns:p14="http://schemas.microsoft.com/office/powerpoint/2010/main" val="3864977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Removing the Starter Motor</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6843" y="1471264"/>
            <a:ext cx="11241915" cy="4685696"/>
          </a:xfrm>
        </p:spPr>
        <p:txBody>
          <a:bodyPr/>
          <a:lstStyle/>
          <a:p>
            <a:pPr>
              <a:spcAft>
                <a:spcPts val="400"/>
              </a:spcAft>
            </a:pPr>
            <a:r>
              <a:rPr lang="en-US" sz="2000" dirty="0"/>
              <a:t>If your testing indicates that the starter must be removed, the first step is to disconnect the negative cable at the battery and wrap the clamp with electrical tape.</a:t>
            </a:r>
          </a:p>
          <a:p>
            <a:pPr>
              <a:spcAft>
                <a:spcPts val="400"/>
              </a:spcAft>
            </a:pPr>
            <a:r>
              <a:rPr lang="en-US" sz="2000" dirty="0"/>
              <a:t>It may be necessary to place the vehicle on a lift to gain access to the starter. Before lifting the vehicle, disconnect all wires, fasteners, and so on that can be reached from under the hood.</a:t>
            </a:r>
          </a:p>
          <a:p>
            <a:pPr>
              <a:spcAft>
                <a:spcPts val="400"/>
              </a:spcAft>
            </a:pPr>
            <a:r>
              <a:rPr lang="en-US" sz="2000" dirty="0"/>
              <a:t>Disconnect the wires leading to the solenoid terminals. To avoid confusion when reinstalling the starter, it is wise to mark the wires so they can be reinstalled on their correct terminals.</a:t>
            </a:r>
          </a:p>
          <a:p>
            <a:pPr>
              <a:spcAft>
                <a:spcPts val="400"/>
              </a:spcAft>
            </a:pPr>
            <a:r>
              <a:rPr lang="en-US" sz="2000" dirty="0"/>
              <a:t>Loosen the starter mounting bolts and remove all but one. Support the starter while removing the remaining bolt.</a:t>
            </a:r>
          </a:p>
          <a:p>
            <a:pPr>
              <a:spcAft>
                <a:spcPts val="400"/>
              </a:spcAft>
            </a:pPr>
            <a:r>
              <a:rPr lang="en-US" sz="2000" dirty="0"/>
              <a:t>Then pull the starter out and away from the flywheel. Once the starter is free, remove the last bolt and the starter.</a:t>
            </a:r>
          </a:p>
        </p:txBody>
      </p:sp>
    </p:spTree>
    <p:extLst>
      <p:ext uri="{BB962C8B-B14F-4D97-AF65-F5344CB8AC3E}">
        <p14:creationId xmlns:p14="http://schemas.microsoft.com/office/powerpoint/2010/main" val="15233492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Installation</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2000" dirty="0"/>
              <a:t>When installing a new or remanufactured starter, some technicians will bench test the new starter before installing it back into the car. While not very common, a replacement starter can be defective, and finding out it does not work properly before installing it can save you some time and trouble.</a:t>
            </a:r>
          </a:p>
          <a:p>
            <a:r>
              <a:rPr lang="en-US" sz="2000" dirty="0"/>
              <a:t>To ensure a good ground path, sand away the paint at the mounting points before installing the starter.</a:t>
            </a:r>
          </a:p>
          <a:p>
            <a:r>
              <a:rPr lang="en-US" sz="2000" dirty="0"/>
              <a:t>Make sure you have a good hold on the starter while installing it. Tighten the retaining bolts to the specified torque and make sure the starter is fully seated before final tightening.</a:t>
            </a:r>
          </a:p>
          <a:p>
            <a:r>
              <a:rPr lang="en-US" sz="2000" dirty="0"/>
              <a:t>Make sure that all electrical connections are tight.</a:t>
            </a:r>
          </a:p>
          <a:p>
            <a:r>
              <a:rPr lang="en-US" sz="2000" dirty="0"/>
              <a:t>Reinstall any heat shields or parts removed during the replacement process.</a:t>
            </a:r>
          </a:p>
          <a:p>
            <a:r>
              <a:rPr lang="en-US" sz="2000" dirty="0"/>
              <a:t>Some starters use shims between the starter and the mounting pad, and incorrect shimming will result in a high pitched noise when cranking.</a:t>
            </a:r>
          </a:p>
        </p:txBody>
      </p:sp>
    </p:spTree>
    <p:extLst>
      <p:ext uri="{BB962C8B-B14F-4D97-AF65-F5344CB8AC3E}">
        <p14:creationId xmlns:p14="http://schemas.microsoft.com/office/powerpoint/2010/main" val="25631608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(2 of 2) </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marL="0" indent="0">
              <a:spcAft>
                <a:spcPts val="600"/>
              </a:spcAft>
              <a:buNone/>
            </a:pPr>
            <a:r>
              <a:rPr lang="en-US" dirty="0"/>
              <a:t>If a new starter is installed, and immediately after the starter makes a loud high pitched sound when cranking the engine, what do you expect was done incorrectly?</a:t>
            </a:r>
          </a:p>
        </p:txBody>
      </p:sp>
    </p:spTree>
    <p:extLst>
      <p:ext uri="{BB962C8B-B14F-4D97-AF65-F5344CB8AC3E}">
        <p14:creationId xmlns:p14="http://schemas.microsoft.com/office/powerpoint/2010/main" val="3504281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t>
            </a:r>
            <a:r>
              <a:rPr lang="en-US"/>
              <a:t>Answer (2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Some starters require shims between the starter and the mounting pad, and incorrect shimming will result in a high pitched noise when cranking.</a:t>
            </a:r>
          </a:p>
        </p:txBody>
      </p:sp>
    </p:spTree>
    <p:extLst>
      <p:ext uri="{BB962C8B-B14F-4D97-AF65-F5344CB8AC3E}">
        <p14:creationId xmlns:p14="http://schemas.microsoft.com/office/powerpoint/2010/main" val="503669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Reflection</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marL="0" indent="0">
              <a:spcAft>
                <a:spcPts val="600"/>
              </a:spcAft>
              <a:buNone/>
            </a:pPr>
            <a:r>
              <a:rPr lang="en-US" dirty="0"/>
              <a:t>Please take a moment to compare your understanding of starting and motor systems. Then respond to the following questions in one or two paragraphs. Use 150–200 words in your reflection.</a:t>
            </a:r>
          </a:p>
          <a:p>
            <a:pPr>
              <a:spcAft>
                <a:spcPts val="600"/>
              </a:spcAft>
            </a:pPr>
            <a:r>
              <a:rPr lang="en-US" dirty="0"/>
              <a:t>Did you learn anything new about starting systems in this chapter? What can you do to understand it completely?</a:t>
            </a:r>
          </a:p>
          <a:p>
            <a:pPr>
              <a:spcAft>
                <a:spcPts val="600"/>
              </a:spcAft>
            </a:pPr>
            <a:r>
              <a:rPr lang="en-US" dirty="0"/>
              <a:t>Considering all you have learned, do you feel you are able to perform starting and motor system service in the shop?</a:t>
            </a:r>
          </a:p>
        </p:txBody>
      </p:sp>
    </p:spTree>
    <p:extLst>
      <p:ext uri="{BB962C8B-B14F-4D97-AF65-F5344CB8AC3E}">
        <p14:creationId xmlns:p14="http://schemas.microsoft.com/office/powerpoint/2010/main" val="33273128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4915</TotalTime>
  <Words>4686</Words>
  <Application>Microsoft Office PowerPoint</Application>
  <PresentationFormat>Widescreen</PresentationFormat>
  <Paragraphs>293</Paragraphs>
  <Slides>39</Slides>
  <Notes>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Work Sans</vt:lpstr>
      <vt:lpstr>Calibri</vt:lpstr>
      <vt:lpstr>Optimized Template Master</vt:lpstr>
      <vt:lpstr>Automotive Technology:  A Systems Approach, 8e</vt:lpstr>
      <vt:lpstr>Chapter Objectives</vt:lpstr>
      <vt:lpstr>Basics of Electromagnetism (1 of 4)</vt:lpstr>
      <vt:lpstr>Basics of Electromagnetism (2 of 4)</vt:lpstr>
      <vt:lpstr>Basics of Electromagnetism (3 of 4)</vt:lpstr>
      <vt:lpstr>Basics of Electromagnetism (4 of 4)</vt:lpstr>
      <vt:lpstr>Starting Motors (1 of 4)</vt:lpstr>
      <vt:lpstr>Starting Motors (2 of 4)</vt:lpstr>
      <vt:lpstr>Starting Motors (3 of 4)</vt:lpstr>
      <vt:lpstr>Starting Motors (4 of 4)</vt:lpstr>
      <vt:lpstr>Brushless Motors</vt:lpstr>
      <vt:lpstr>Discussion</vt:lpstr>
      <vt:lpstr>Starting System</vt:lpstr>
      <vt:lpstr>Starter Motor Circuit</vt:lpstr>
      <vt:lpstr>Magnetic Switches</vt:lpstr>
      <vt:lpstr>Auto Start-Stop Solenoid</vt:lpstr>
      <vt:lpstr>Starter Drives (1 of 2)</vt:lpstr>
      <vt:lpstr>Starter Drives (2 of 2)</vt:lpstr>
      <vt:lpstr>Control Circuit (1 of 3)</vt:lpstr>
      <vt:lpstr>Control Circuit (2 of 3)</vt:lpstr>
      <vt:lpstr>Control Circuit (3 of 3)</vt:lpstr>
      <vt:lpstr>Knowledge Check (1 of 2)</vt:lpstr>
      <vt:lpstr>Knowledge Check Answer (1 of 2)</vt:lpstr>
      <vt:lpstr>Starting System Testing (1 of 4)</vt:lpstr>
      <vt:lpstr>Starting System Testing (2 of 4)</vt:lpstr>
      <vt:lpstr>Starting System Testing (3 of 4)</vt:lpstr>
      <vt:lpstr>Starting System Testing (4 of 4)</vt:lpstr>
      <vt:lpstr>Starter Solenoid Problems</vt:lpstr>
      <vt:lpstr>Cranking Voltage Test</vt:lpstr>
      <vt:lpstr>Cranking Current Test</vt:lpstr>
      <vt:lpstr>Insulated Circuit Resistance Test</vt:lpstr>
      <vt:lpstr>Ground Circuit Resistance Test</vt:lpstr>
      <vt:lpstr>Voltage Drop Test of the Control Circuit</vt:lpstr>
      <vt:lpstr>Test Starter Drive Components</vt:lpstr>
      <vt:lpstr>Removing the Starter Motor</vt:lpstr>
      <vt:lpstr>Installation</vt:lpstr>
      <vt:lpstr>Knowledge Check (2 of 2) </vt:lpstr>
      <vt:lpstr>Knowledge Check Answer (2 of 2)</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Muthukrishnan, Keerthi -</cp:lastModifiedBy>
  <cp:revision>222</cp:revision>
  <dcterms:created xsi:type="dcterms:W3CDTF">2021-12-10T16:21:02Z</dcterms:created>
  <dcterms:modified xsi:type="dcterms:W3CDTF">2024-10-18T15:16:12Z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