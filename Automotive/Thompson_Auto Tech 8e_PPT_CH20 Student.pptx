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403"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Lst>
  <p:sldSz cx="12192000" cy="6858000"/>
  <p:notesSz cx="6858000" cy="9144000"/>
  <p:embeddedFontLst>
    <p:embeddedFont>
      <p:font typeface="Work Sans"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99" autoAdjust="0"/>
    <p:restoredTop sz="86375" autoAdjust="0"/>
  </p:normalViewPr>
  <p:slideViewPr>
    <p:cSldViewPr snapToGrid="0">
      <p:cViewPr varScale="1">
        <p:scale>
          <a:sx n="93" d="100"/>
          <a:sy n="93" d="100"/>
        </p:scale>
        <p:origin x="246"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413692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4005517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39109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4244318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15134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979203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245361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31013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622248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35592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899513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6423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8554117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878883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579130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871593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649132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9906922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85430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289085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2922842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54219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4078981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723060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580756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1864873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99399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651689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26340279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359325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6720902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7052466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26153344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40687334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0485126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22175631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7111365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42392877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2914176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3262599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C00BF7F7-FA3F-C71F-08C7-3B6DCF1ACC11}"/>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3621489150"/>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14" name="Google Shape;14;p47"/>
          <p:cNvSpPr txBox="1"/>
          <p:nvPr/>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a:t>
            </a:r>
            <a:r>
              <a:rPr lang="en-US" sz="4000">
                <a:cs typeface="Arial" panose="020B0604020202020204" pitchFamily="34" charset="0"/>
              </a:rPr>
              <a:t>: A </a:t>
            </a:r>
            <a:r>
              <a:rPr lang="en-US" sz="4000" dirty="0">
                <a:cs typeface="Arial" panose="020B0604020202020204" pitchFamily="34" charset="0"/>
              </a:rPr>
              <a:t>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20: Lighting Systems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20.01 Explain the operating principles of the various lighting systems.</a:t>
            </a:r>
          </a:p>
          <a:p>
            <a:pPr>
              <a:spcAft>
                <a:spcPts val="600"/>
              </a:spcAft>
            </a:pPr>
            <a:r>
              <a:rPr lang="en-US" dirty="0"/>
              <a:t>20.02 Describe the different types of headlights and how they are controlled.</a:t>
            </a:r>
          </a:p>
          <a:p>
            <a:pPr>
              <a:spcAft>
                <a:spcPts val="600"/>
              </a:spcAft>
            </a:pPr>
            <a:r>
              <a:rPr lang="en-US" dirty="0"/>
              <a:t>20.03 Explain the components and operation of automatic headlight systems.</a:t>
            </a:r>
          </a:p>
          <a:p>
            <a:pPr>
              <a:spcAft>
                <a:spcPts val="600"/>
              </a:spcAft>
            </a:pPr>
            <a:r>
              <a:rPr lang="en-US" dirty="0"/>
              <a:t>20.04 Diagnose and repair headlight bulbs.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20.05 Understand the functions of turn, stop, back up, and hazard warning lights.</a:t>
            </a:r>
          </a:p>
          <a:p>
            <a:pPr>
              <a:spcAft>
                <a:spcPts val="600"/>
              </a:spcAft>
            </a:pPr>
            <a:r>
              <a:rPr lang="en-US" dirty="0"/>
              <a:t>20.06 Diagnose and service exterior lights. Identify types of interior lights and their purposes.</a:t>
            </a:r>
          </a:p>
        </p:txBody>
      </p:sp>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Automotive Lamps (1 of 5)</a:t>
            </a:r>
            <a:endParaRPr dirty="0"/>
          </a:p>
        </p:txBody>
      </p:sp>
      <p:sp>
        <p:nvSpPr>
          <p:cNvPr id="2" name="Text Placeholder 1">
            <a:extLst>
              <a:ext uri="{FF2B5EF4-FFF2-40B4-BE49-F238E27FC236}">
                <a16:creationId xmlns:a16="http://schemas.microsoft.com/office/drawing/2014/main" id="{78533BFB-0453-D355-5FC2-86593D1D8C37}"/>
              </a:ext>
            </a:extLst>
          </p:cNvPr>
          <p:cNvSpPr>
            <a:spLocks noGrp="1"/>
          </p:cNvSpPr>
          <p:nvPr>
            <p:ph type="body" idx="1"/>
          </p:nvPr>
        </p:nvSpPr>
        <p:spPr>
          <a:xfrm>
            <a:off x="476843" y="1433686"/>
            <a:ext cx="8216053" cy="4649120"/>
          </a:xfrm>
        </p:spPr>
        <p:txBody>
          <a:bodyPr/>
          <a:lstStyle/>
          <a:p>
            <a:r>
              <a:rPr lang="en-US" sz="1800" dirty="0"/>
              <a:t>Perhaps, the most commonly used type of lamp today is the incandescent lamp, though these are being phased out and replaced by LEDs.</a:t>
            </a:r>
          </a:p>
          <a:p>
            <a:r>
              <a:rPr lang="en-US" sz="1800" dirty="0"/>
              <a:t>These lamps produce light when current passes through a filament made of tungsten.</a:t>
            </a:r>
          </a:p>
          <a:p>
            <a:r>
              <a:rPr lang="en-US" sz="1800" dirty="0"/>
              <a:t>The filament wire is heated to a high temperature, causing it to glow and give off light.</a:t>
            </a:r>
          </a:p>
          <a:p>
            <a:r>
              <a:rPr lang="en-US" sz="1800" dirty="0"/>
              <a:t>Electrical energy is changed to heat energy in the wire filament. </a:t>
            </a:r>
          </a:p>
          <a:p>
            <a:r>
              <a:rPr lang="en-US" sz="1800" dirty="0"/>
              <a:t>The filament is enclosed in a glass bulb that has been purged of air; therefore, the filament “burns” in a vacuum.</a:t>
            </a:r>
          </a:p>
          <a:p>
            <a:r>
              <a:rPr lang="en-US" sz="1800" dirty="0"/>
              <a:t>If air enters the bulb, the oxygen will allow the filament to oxidize and burn up.</a:t>
            </a:r>
          </a:p>
          <a:p>
            <a:r>
              <a:rPr lang="en-US" sz="1800" dirty="0"/>
              <a:t>As the filament burns, blackish deposits are left on the glass bulb. The presence of this coating is an indication that the bulb is bad or has little life remaining in it.</a:t>
            </a:r>
          </a:p>
        </p:txBody>
      </p:sp>
      <p:pic>
        <p:nvPicPr>
          <p:cNvPr id="5" name="Picture Placeholder 4" descr="An illustration depicts an incandescent lamp with parts labeled as follows: Terminal, envelope, and filament.">
            <a:extLst>
              <a:ext uri="{FF2B5EF4-FFF2-40B4-BE49-F238E27FC236}">
                <a16:creationId xmlns:a16="http://schemas.microsoft.com/office/drawing/2014/main" id="{33B2F5DE-E2D8-9698-2F91-C3262309C249}"/>
              </a:ext>
            </a:extLst>
          </p:cNvPr>
          <p:cNvPicPr>
            <a:picLocks noGrp="1" noChangeAspect="1"/>
          </p:cNvPicPr>
          <p:nvPr>
            <p:ph type="pic" sz="quarter" idx="10"/>
          </p:nvPr>
        </p:nvPicPr>
        <p:blipFill rotWithShape="1">
          <a:blip r:embed="rId3"/>
          <a:srcRect b="13020"/>
          <a:stretch/>
        </p:blipFill>
        <p:spPr>
          <a:xfrm>
            <a:off x="8674423" y="2389782"/>
            <a:ext cx="3320026" cy="2017832"/>
          </a:xfrm>
          <a:prstGeom prst="rect">
            <a:avLst/>
          </a:prstGeom>
        </p:spPr>
      </p:pic>
    </p:spTree>
    <p:extLst>
      <p:ext uri="{BB962C8B-B14F-4D97-AF65-F5344CB8AC3E}">
        <p14:creationId xmlns:p14="http://schemas.microsoft.com/office/powerpoint/2010/main" val="1445985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Automotive Lamps (2 of 5)</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200" dirty="0"/>
              <a:t>Halogen lamps are actually incandescent lamps.</a:t>
            </a:r>
          </a:p>
          <a:p>
            <a:r>
              <a:rPr lang="en-US" sz="2200" dirty="0"/>
              <a:t>This lamp comprises a tungsten filament enclosed in a halogen-filled bulb made of high-temperature resistant glass.</a:t>
            </a:r>
          </a:p>
          <a:p>
            <a:r>
              <a:rPr lang="en-US" sz="2200" dirty="0"/>
              <a:t>The name halogen is used to identify a group of chemically related nonmetallic elements, such as iodine, chlorine, and fluorine.</a:t>
            </a:r>
          </a:p>
          <a:p>
            <a:r>
              <a:rPr lang="en-US" sz="2200" dirty="0"/>
              <a:t>Most </a:t>
            </a:r>
            <a:r>
              <a:rPr lang="en-US" sz="2200" b="1" dirty="0"/>
              <a:t>halogen</a:t>
            </a:r>
            <a:r>
              <a:rPr lang="en-US" sz="2200" dirty="0"/>
              <a:t> lamps use iodine vapor.</a:t>
            </a:r>
          </a:p>
          <a:p>
            <a:r>
              <a:rPr lang="en-US" sz="2200" dirty="0"/>
              <a:t>These lamps provide brighter light because the filament is able to burn at higher temperatures, due to the presence of halogen in the bulb.</a:t>
            </a:r>
          </a:p>
          <a:p>
            <a:r>
              <a:rPr lang="en-US" sz="2200" dirty="0"/>
              <a:t>Another positive about a halogen lamp is that the filament does not break down, as it does in an incandescent bulb, due to the reaction of the burning tungsten and the halogen.</a:t>
            </a:r>
          </a:p>
          <a:p>
            <a:r>
              <a:rPr lang="en-US" sz="2200" dirty="0"/>
              <a:t>As a result, the metal vapor from burning is redeposited on the filament.</a:t>
            </a:r>
          </a:p>
        </p:txBody>
      </p:sp>
    </p:spTree>
    <p:extLst>
      <p:ext uri="{BB962C8B-B14F-4D97-AF65-F5344CB8AC3E}">
        <p14:creationId xmlns:p14="http://schemas.microsoft.com/office/powerpoint/2010/main" val="260650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Automotive Lamps (3 of 5)</a:t>
            </a:r>
            <a:endParaRPr dirty="0"/>
          </a:p>
        </p:txBody>
      </p:sp>
      <p:sp>
        <p:nvSpPr>
          <p:cNvPr id="2" name="Text Placeholder 1">
            <a:extLst>
              <a:ext uri="{FF2B5EF4-FFF2-40B4-BE49-F238E27FC236}">
                <a16:creationId xmlns:a16="http://schemas.microsoft.com/office/drawing/2014/main" id="{936D8C58-8D11-3108-5D2E-78FD0936F472}"/>
              </a:ext>
            </a:extLst>
          </p:cNvPr>
          <p:cNvSpPr>
            <a:spLocks noGrp="1"/>
          </p:cNvSpPr>
          <p:nvPr>
            <p:ph type="body" idx="1"/>
          </p:nvPr>
        </p:nvSpPr>
        <p:spPr>
          <a:xfrm>
            <a:off x="476843" y="1433686"/>
            <a:ext cx="7643029" cy="4624736"/>
          </a:xfrm>
        </p:spPr>
        <p:txBody>
          <a:bodyPr/>
          <a:lstStyle/>
          <a:p>
            <a:pPr>
              <a:spcAft>
                <a:spcPts val="400"/>
              </a:spcAft>
            </a:pPr>
            <a:r>
              <a:rPr lang="en-US" sz="2000" dirty="0"/>
              <a:t>Like a neon lamp, a fluorescent lamp is a gas-discharge lamp.</a:t>
            </a:r>
          </a:p>
          <a:p>
            <a:pPr>
              <a:spcAft>
                <a:spcPts val="400"/>
              </a:spcAft>
            </a:pPr>
            <a:r>
              <a:rPr lang="en-US" sz="2000" dirty="0"/>
              <a:t>The excited gas in the lamp is typically mercury vapor.</a:t>
            </a:r>
          </a:p>
          <a:p>
            <a:pPr>
              <a:spcAft>
                <a:spcPts val="400"/>
              </a:spcAft>
            </a:pPr>
            <a:r>
              <a:rPr lang="en-US" sz="2000" dirty="0"/>
              <a:t>The enclosure of the lamp is coated with phosphor.</a:t>
            </a:r>
          </a:p>
          <a:p>
            <a:pPr>
              <a:spcAft>
                <a:spcPts val="400"/>
              </a:spcAft>
            </a:pPr>
            <a:r>
              <a:rPr lang="en-US" sz="2000" dirty="0"/>
              <a:t>When current flows through the mercury vapor, the mercury atoms produce short-wave ultraviolet light causing the phosphor to fluoresce, providing visible light.</a:t>
            </a:r>
          </a:p>
          <a:p>
            <a:pPr>
              <a:spcAft>
                <a:spcPts val="400"/>
              </a:spcAft>
            </a:pPr>
            <a:r>
              <a:rPr lang="en-US" sz="2000" dirty="0"/>
              <a:t>The advantage of using fluorescent lamps is they use less energy than a conventional incandescent lamp.</a:t>
            </a:r>
          </a:p>
          <a:p>
            <a:pPr>
              <a:spcAft>
                <a:spcPts val="400"/>
              </a:spcAft>
            </a:pPr>
            <a:r>
              <a:rPr lang="en-US" sz="2000" dirty="0"/>
              <a:t>However, their initial cost is higher because they need an electric ballast assembly to regulate the current through the tube.</a:t>
            </a:r>
          </a:p>
        </p:txBody>
      </p:sp>
      <p:pic>
        <p:nvPicPr>
          <p:cNvPr id="5" name="Picture Placeholder 4" descr="The construction of a fluorescent lamp. The fluorescent lamp tube is filled with argon gas and mercury vapors. The parts labeled are as follows: electrode, starter switch, phosphor coating, pins, argon gas, mercury, and ballast. ">
            <a:extLst>
              <a:ext uri="{FF2B5EF4-FFF2-40B4-BE49-F238E27FC236}">
                <a16:creationId xmlns:a16="http://schemas.microsoft.com/office/drawing/2014/main" id="{E6506725-B833-8FCF-5942-8EA57F3631E6}"/>
              </a:ext>
            </a:extLst>
          </p:cNvPr>
          <p:cNvPicPr>
            <a:picLocks noGrp="1" noChangeAspect="1"/>
          </p:cNvPicPr>
          <p:nvPr>
            <p:ph type="pic" sz="quarter" idx="10"/>
          </p:nvPr>
        </p:nvPicPr>
        <p:blipFill rotWithShape="1">
          <a:blip r:embed="rId3"/>
          <a:srcRect b="11153"/>
          <a:stretch/>
        </p:blipFill>
        <p:spPr>
          <a:xfrm>
            <a:off x="7976688" y="2253499"/>
            <a:ext cx="4010719" cy="2133566"/>
          </a:xfrm>
          <a:prstGeom prst="rect">
            <a:avLst/>
          </a:prstGeom>
        </p:spPr>
      </p:pic>
    </p:spTree>
    <p:extLst>
      <p:ext uri="{BB962C8B-B14F-4D97-AF65-F5344CB8AC3E}">
        <p14:creationId xmlns:p14="http://schemas.microsoft.com/office/powerpoint/2010/main" val="19225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Automotive Lamps (4 of 5)</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High-intensity discharge (HID) lamps provide more visible light, for the amount of consumed electrical power, compared to fluorescent and incandescent lamps.</a:t>
            </a:r>
          </a:p>
          <a:p>
            <a:r>
              <a:rPr lang="en-US" sz="1800" dirty="0"/>
              <a:t>Light is emitted when an electric arc jumps across the tungsten electrodes inside a clear or opaque tube filled with a gas and metal salts.</a:t>
            </a:r>
          </a:p>
          <a:p>
            <a:r>
              <a:rPr lang="en-US" sz="1800" dirty="0"/>
              <a:t>A ballast unit is required to start and maintain the arcing in a HID lamp.</a:t>
            </a:r>
          </a:p>
          <a:p>
            <a:r>
              <a:rPr lang="en-US" sz="1800" dirty="0"/>
              <a:t>There are many types of HID lamps including:</a:t>
            </a:r>
          </a:p>
          <a:p>
            <a:pPr lvl="1"/>
            <a:r>
              <a:rPr lang="en-US" sz="1600" dirty="0"/>
              <a:t>Mercury-vapor lamps are commonly found in large parking lots or assembly halls. Like fluorescent lamps, they require a ballast to start. Older designs produced a bluish-green light, but the light from current versions has little color.</a:t>
            </a:r>
          </a:p>
          <a:p>
            <a:pPr lvl="1"/>
            <a:r>
              <a:rPr lang="en-US" sz="1600" dirty="0"/>
              <a:t>Sodium-vapor lamps have two types: low pressure and high pressure. Both are rather energy efficient, and the high-pressure lamps provide a much whiter light.</a:t>
            </a:r>
          </a:p>
          <a:p>
            <a:pPr lvl="1"/>
            <a:r>
              <a:rPr lang="en-US" sz="1600" dirty="0"/>
              <a:t>Metal-halide and ceramic-metal halide lamps can emit white light with lower cost and reduced noise than a mercury-vapor lamp.</a:t>
            </a:r>
          </a:p>
          <a:p>
            <a:pPr lvl="1"/>
            <a:r>
              <a:rPr lang="en-US" sz="1600" dirty="0"/>
              <a:t>Xenon lamps are metal-halide lamps filled with xenon gas. Xenon gas gives off light almost immediately after arcing begins across the electrodes of the lamp.</a:t>
            </a:r>
          </a:p>
        </p:txBody>
      </p:sp>
    </p:spTree>
    <p:extLst>
      <p:ext uri="{BB962C8B-B14F-4D97-AF65-F5344CB8AC3E}">
        <p14:creationId xmlns:p14="http://schemas.microsoft.com/office/powerpoint/2010/main" val="1562613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Automotive Lamps (5 of 5)</a:t>
            </a:r>
            <a:endParaRPr dirty="0"/>
          </a:p>
        </p:txBody>
      </p:sp>
      <p:sp>
        <p:nvSpPr>
          <p:cNvPr id="2" name="Text Placeholder 1">
            <a:extLst>
              <a:ext uri="{FF2B5EF4-FFF2-40B4-BE49-F238E27FC236}">
                <a16:creationId xmlns:a16="http://schemas.microsoft.com/office/drawing/2014/main" id="{5BC69CC9-369A-62A6-155D-11DC15436A66}"/>
              </a:ext>
            </a:extLst>
          </p:cNvPr>
          <p:cNvSpPr>
            <a:spLocks noGrp="1"/>
          </p:cNvSpPr>
          <p:nvPr>
            <p:ph type="body" idx="1"/>
          </p:nvPr>
        </p:nvSpPr>
        <p:spPr>
          <a:xfrm>
            <a:off x="476843" y="1471264"/>
            <a:ext cx="8008789" cy="4649120"/>
          </a:xfrm>
        </p:spPr>
        <p:txBody>
          <a:bodyPr/>
          <a:lstStyle/>
          <a:p>
            <a:r>
              <a:rPr lang="en-US" sz="1800" dirty="0"/>
              <a:t>A </a:t>
            </a:r>
            <a:r>
              <a:rPr lang="en-US" sz="1800" b="1" dirty="0"/>
              <a:t>light-emitting diode (LED) </a:t>
            </a:r>
            <a:r>
              <a:rPr lang="en-US" sz="1800" dirty="0"/>
              <a:t>is a semiconductor that emits light when current passes through it.</a:t>
            </a:r>
            <a:br>
              <a:rPr lang="en-US" sz="1800" dirty="0"/>
            </a:br>
            <a:r>
              <a:rPr lang="en-US" sz="1800" dirty="0"/>
              <a:t>LEDs also produce more light than heat and are much smaller than other types of amps.</a:t>
            </a:r>
          </a:p>
          <a:p>
            <a:r>
              <a:rPr lang="en-US" sz="1800" dirty="0"/>
              <a:t>The brightness of an LED depends on its temperature. More light is produced when the LED is operating with low current and is at a low temperature.</a:t>
            </a:r>
          </a:p>
          <a:p>
            <a:r>
              <a:rPr lang="en-US" sz="1800" dirty="0"/>
              <a:t>Also, in order for an LED to provide a constant light output, it needs to be powered by a constant-current power supply. The power supply helps keep the LED within the desirable temperature range.</a:t>
            </a:r>
          </a:p>
          <a:p>
            <a:r>
              <a:rPr lang="en-US" sz="1800" dirty="0"/>
              <a:t>Unlike other lamps, the bulb of an LED lamp does not put off much heat. However, heat is produced at the mounting base of the lamp assembly. That heat must be controlled to provide constant light and to protect the lamp.</a:t>
            </a:r>
          </a:p>
        </p:txBody>
      </p:sp>
      <p:pic>
        <p:nvPicPr>
          <p:cNvPr id="5" name="Picture Placeholder 4" descr="A light-emitting diode or L E D lamp with a small bulb at the top and two pins at the bottom.">
            <a:extLst>
              <a:ext uri="{FF2B5EF4-FFF2-40B4-BE49-F238E27FC236}">
                <a16:creationId xmlns:a16="http://schemas.microsoft.com/office/drawing/2014/main" id="{BB09DCA8-8E65-2965-6146-9FC0AEE93CA5}"/>
              </a:ext>
            </a:extLst>
          </p:cNvPr>
          <p:cNvPicPr>
            <a:picLocks noGrp="1" noChangeAspect="1"/>
          </p:cNvPicPr>
          <p:nvPr>
            <p:ph type="pic" sz="quarter" idx="10"/>
          </p:nvPr>
        </p:nvPicPr>
        <p:blipFill>
          <a:blip r:embed="rId3"/>
          <a:srcRect b="9895"/>
          <a:stretch/>
        </p:blipFill>
        <p:spPr>
          <a:xfrm>
            <a:off x="8569776" y="1720414"/>
            <a:ext cx="3455210" cy="3057069"/>
          </a:xfrm>
          <a:prstGeom prst="rect">
            <a:avLst/>
          </a:prstGeom>
        </p:spPr>
      </p:pic>
    </p:spTree>
    <p:extLst>
      <p:ext uri="{BB962C8B-B14F-4D97-AF65-F5344CB8AC3E}">
        <p14:creationId xmlns:p14="http://schemas.microsoft.com/office/powerpoint/2010/main" val="371328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Headlights (1 of 4)</a:t>
            </a:r>
            <a:endParaRPr dirty="0"/>
          </a:p>
        </p:txBody>
      </p:sp>
      <p:sp>
        <p:nvSpPr>
          <p:cNvPr id="2" name="Text Placeholder 1">
            <a:extLst>
              <a:ext uri="{FF2B5EF4-FFF2-40B4-BE49-F238E27FC236}">
                <a16:creationId xmlns:a16="http://schemas.microsoft.com/office/drawing/2014/main" id="{8B4E424D-5E32-0694-521C-2E93EB73314E}"/>
              </a:ext>
            </a:extLst>
          </p:cNvPr>
          <p:cNvSpPr>
            <a:spLocks noGrp="1"/>
          </p:cNvSpPr>
          <p:nvPr>
            <p:ph type="body" idx="1"/>
          </p:nvPr>
        </p:nvSpPr>
        <p:spPr>
          <a:xfrm>
            <a:off x="476843" y="1471264"/>
            <a:ext cx="7643029" cy="4661312"/>
          </a:xfrm>
        </p:spPr>
        <p:txBody>
          <a:bodyPr/>
          <a:lstStyle/>
          <a:p>
            <a:pPr marL="0" indent="0">
              <a:spcAft>
                <a:spcPts val="600"/>
              </a:spcAft>
              <a:buNone/>
            </a:pPr>
            <a:r>
              <a:rPr lang="en-US" sz="1800" b="1" dirty="0"/>
              <a:t>20.02 Describe the different types of headlights and how they are controlled.</a:t>
            </a:r>
          </a:p>
          <a:p>
            <a:pPr>
              <a:spcAft>
                <a:spcPts val="600"/>
              </a:spcAft>
            </a:pPr>
            <a:r>
              <a:rPr lang="en-US" sz="1800" dirty="0"/>
              <a:t>A headlamp system must offer a low and a high beam.</a:t>
            </a:r>
          </a:p>
          <a:p>
            <a:pPr>
              <a:spcAft>
                <a:spcPts val="600"/>
              </a:spcAft>
            </a:pPr>
            <a:r>
              <a:rPr lang="en-US" sz="1800" dirty="0"/>
              <a:t>The two beams on each side of the vehicle may have two separate lamps or a single lamp that can deliver both beams.</a:t>
            </a:r>
          </a:p>
          <a:p>
            <a:pPr>
              <a:spcAft>
                <a:spcPts val="600"/>
              </a:spcAft>
            </a:pPr>
            <a:r>
              <a:rPr lang="en-US" sz="1800" dirty="0"/>
              <a:t>Low beams are intended to be used whenever other vehicles are in front of a vehicle or approaching it from the opposite direction.</a:t>
            </a:r>
          </a:p>
          <a:p>
            <a:pPr>
              <a:spcAft>
                <a:spcPts val="600"/>
              </a:spcAft>
            </a:pPr>
            <a:r>
              <a:rPr lang="en-US" sz="1800" dirty="0"/>
              <a:t>Low beams are designed to provide adequate lighting in front of the vehicle with some light spread to the sides of that forward beam. But they are also set to minimize the amount of light that can shine in the eyes of other drivers, which can temporarily blind them.</a:t>
            </a:r>
          </a:p>
        </p:txBody>
      </p:sp>
      <p:pic>
        <p:nvPicPr>
          <p:cNvPr id="7" name="Picture Placeholder 6" descr="Close up of the headlamp system of a vehicle with low and high beam lamps.">
            <a:extLst>
              <a:ext uri="{FF2B5EF4-FFF2-40B4-BE49-F238E27FC236}">
                <a16:creationId xmlns:a16="http://schemas.microsoft.com/office/drawing/2014/main" id="{AED7895C-8F89-02CC-30F8-AAE726AE1A6E}"/>
              </a:ext>
            </a:extLst>
          </p:cNvPr>
          <p:cNvPicPr>
            <a:picLocks noGrp="1" noChangeAspect="1"/>
          </p:cNvPicPr>
          <p:nvPr>
            <p:ph type="pic" sz="quarter" idx="10"/>
          </p:nvPr>
        </p:nvPicPr>
        <p:blipFill>
          <a:blip r:embed="rId3"/>
          <a:srcRect b="13334"/>
          <a:stretch/>
        </p:blipFill>
        <p:spPr>
          <a:xfrm>
            <a:off x="8180478" y="2108222"/>
            <a:ext cx="3857034" cy="2515150"/>
          </a:xfrm>
          <a:prstGeom prst="rect">
            <a:avLst/>
          </a:prstGeom>
        </p:spPr>
      </p:pic>
    </p:spTree>
    <p:extLst>
      <p:ext uri="{BB962C8B-B14F-4D97-AF65-F5344CB8AC3E}">
        <p14:creationId xmlns:p14="http://schemas.microsoft.com/office/powerpoint/2010/main" val="3401708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Headlights (2 of 4)</a:t>
            </a:r>
            <a:endParaRPr dirty="0"/>
          </a:p>
        </p:txBody>
      </p:sp>
      <p:sp>
        <p:nvSpPr>
          <p:cNvPr id="2" name="Text Placeholder 1">
            <a:extLst>
              <a:ext uri="{FF2B5EF4-FFF2-40B4-BE49-F238E27FC236}">
                <a16:creationId xmlns:a16="http://schemas.microsoft.com/office/drawing/2014/main" id="{E3FC3AB2-EEF0-9856-7A83-C1CC7D28AFB4}"/>
              </a:ext>
            </a:extLst>
          </p:cNvPr>
          <p:cNvSpPr>
            <a:spLocks noGrp="1"/>
          </p:cNvSpPr>
          <p:nvPr>
            <p:ph type="body" idx="1"/>
          </p:nvPr>
        </p:nvSpPr>
        <p:spPr>
          <a:xfrm>
            <a:off x="476843" y="1471264"/>
            <a:ext cx="7447957" cy="4685696"/>
          </a:xfrm>
        </p:spPr>
        <p:txBody>
          <a:bodyPr/>
          <a:lstStyle/>
          <a:p>
            <a:pPr>
              <a:spcAft>
                <a:spcPts val="600"/>
              </a:spcAft>
            </a:pPr>
            <a:r>
              <a:rPr lang="en-US" sz="2000" dirty="0"/>
              <a:t>A halogen headlamp is a glass lamp filled with halogen that encloses a tungsten filament. </a:t>
            </a:r>
          </a:p>
          <a:p>
            <a:pPr>
              <a:spcAft>
                <a:spcPts val="600"/>
              </a:spcAft>
            </a:pPr>
            <a:r>
              <a:rPr lang="en-US" sz="2000" dirty="0"/>
              <a:t>The tungsten-halogen combination, also called quartz-halogen, increases the light emitted by the tungsten filament. </a:t>
            </a:r>
          </a:p>
          <a:p>
            <a:pPr>
              <a:spcAft>
                <a:spcPts val="600"/>
              </a:spcAft>
            </a:pPr>
            <a:r>
              <a:rPr lang="en-US" sz="2000" dirty="0"/>
              <a:t>In other words, a tungsten-halogen lamp emits more lumens than other lamps when the watts used to produce the light are considered. </a:t>
            </a:r>
          </a:p>
          <a:p>
            <a:pPr>
              <a:spcAft>
                <a:spcPts val="600"/>
              </a:spcAft>
            </a:pPr>
            <a:r>
              <a:rPr lang="en-US" sz="2000" dirty="0"/>
              <a:t>As you may recall, a lumen is a simple measurement of the total amount of visible light a source emits. </a:t>
            </a:r>
          </a:p>
          <a:p>
            <a:pPr>
              <a:spcAft>
                <a:spcPts val="600"/>
              </a:spcAft>
            </a:pPr>
            <a:r>
              <a:rPr lang="en-US" sz="2000" dirty="0"/>
              <a:t>A halogen sealed beam provides about 25 percent more lighting than conventional bulbs.</a:t>
            </a:r>
          </a:p>
        </p:txBody>
      </p:sp>
      <p:pic>
        <p:nvPicPr>
          <p:cNvPr id="5" name="Picture Placeholder 4" descr="A photo depicts a close-up of a person fitting a halogen bulb near a head lamp.">
            <a:extLst>
              <a:ext uri="{FF2B5EF4-FFF2-40B4-BE49-F238E27FC236}">
                <a16:creationId xmlns:a16="http://schemas.microsoft.com/office/drawing/2014/main" id="{594ADE4A-00D3-046F-67E5-F0833BDCA6BE}"/>
              </a:ext>
            </a:extLst>
          </p:cNvPr>
          <p:cNvPicPr>
            <a:picLocks noGrp="1" noChangeAspect="1"/>
          </p:cNvPicPr>
          <p:nvPr>
            <p:ph type="pic" sz="quarter" idx="10"/>
          </p:nvPr>
        </p:nvPicPr>
        <p:blipFill>
          <a:blip r:embed="rId3"/>
          <a:srcRect b="10832"/>
          <a:stretch/>
        </p:blipFill>
        <p:spPr>
          <a:xfrm>
            <a:off x="8128628" y="1968049"/>
            <a:ext cx="3858780" cy="2963547"/>
          </a:xfrm>
          <a:prstGeom prst="rect">
            <a:avLst/>
          </a:prstGeom>
        </p:spPr>
      </p:pic>
    </p:spTree>
    <p:extLst>
      <p:ext uri="{BB962C8B-B14F-4D97-AF65-F5344CB8AC3E}">
        <p14:creationId xmlns:p14="http://schemas.microsoft.com/office/powerpoint/2010/main" val="2922281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Headlights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08634"/>
            <a:ext cx="8020981" cy="4722272"/>
          </a:xfrm>
        </p:spPr>
        <p:txBody>
          <a:bodyPr/>
          <a:lstStyle/>
          <a:p>
            <a:pPr>
              <a:spcAft>
                <a:spcPts val="600"/>
              </a:spcAft>
            </a:pPr>
            <a:r>
              <a:rPr lang="en-US" sz="1600" b="1" dirty="0"/>
              <a:t>High-intensity discharge (HID) </a:t>
            </a:r>
            <a:r>
              <a:rPr lang="en-US" sz="1600" dirty="0"/>
              <a:t>or </a:t>
            </a:r>
            <a:r>
              <a:rPr lang="en-US" sz="1600" b="1" dirty="0"/>
              <a:t>xenon headlamps </a:t>
            </a:r>
            <a:r>
              <a:rPr lang="en-US" sz="1600" dirty="0"/>
              <a:t>create light by creating and maintaining an electrical arc across two electrodes inside a bulb.</a:t>
            </a:r>
          </a:p>
          <a:p>
            <a:pPr>
              <a:spcAft>
                <a:spcPts val="600"/>
              </a:spcAft>
            </a:pPr>
            <a:r>
              <a:rPr lang="en-US" sz="1600" dirty="0"/>
              <a:t>The arc excites the gas and salts inside the bulb which allows the arcing to continue to emit light.</a:t>
            </a:r>
          </a:p>
          <a:p>
            <a:pPr>
              <a:spcAft>
                <a:spcPts val="600"/>
              </a:spcAft>
            </a:pPr>
            <a:r>
              <a:rPr lang="en-US" sz="1600" dirty="0"/>
              <a:t>These lights are recognizable by their slightly bluish light beams.</a:t>
            </a:r>
          </a:p>
          <a:p>
            <a:pPr>
              <a:spcAft>
                <a:spcPts val="600"/>
              </a:spcAft>
            </a:pPr>
            <a:r>
              <a:rPr lang="en-US" sz="1600" dirty="0"/>
              <a:t>They emit this colored light because the inside of the bulb is filled with xenon gas mixed with mercury or bismuth. The result is a light that is much closer to natural daylight than that of other bulbs.</a:t>
            </a:r>
          </a:p>
          <a:p>
            <a:pPr>
              <a:spcAft>
                <a:spcPts val="600"/>
              </a:spcAft>
            </a:pPr>
            <a:r>
              <a:rPr lang="en-US" sz="1600" dirty="0"/>
              <a:t>The lamps use AC voltage, and at least 30,000 volts are needed to jump the gap between the electrodes.</a:t>
            </a:r>
          </a:p>
          <a:p>
            <a:pPr>
              <a:spcAft>
                <a:spcPts val="600"/>
              </a:spcAft>
            </a:pPr>
            <a:r>
              <a:rPr lang="en-US" sz="1600" dirty="0"/>
              <a:t>Once the voltage bridges the gap, only about 80 volts are needed to keep current flowing across the gap.</a:t>
            </a:r>
          </a:p>
          <a:p>
            <a:pPr>
              <a:spcAft>
                <a:spcPts val="600"/>
              </a:spcAft>
            </a:pPr>
            <a:r>
              <a:rPr lang="en-US" sz="1600" dirty="0"/>
              <a:t>Each HID assembly includes a lamp, ballast unit, and starter (igniter). The igniter may be part of the bulb assembly or mounted externally.</a:t>
            </a:r>
          </a:p>
        </p:txBody>
      </p:sp>
      <p:pic>
        <p:nvPicPr>
          <p:cNvPr id="3" name="Picture Placeholder 2" descr="A High-intensity discharge or H I D with the bulb filled with xenon gas mixed with mercury or bismuth, a ballast unit, and an externally mounted igniter.">
            <a:extLst>
              <a:ext uri="{FF2B5EF4-FFF2-40B4-BE49-F238E27FC236}">
                <a16:creationId xmlns:a16="http://schemas.microsoft.com/office/drawing/2014/main" id="{9B1425F3-F1C5-7191-30EB-30B49B595424}"/>
              </a:ext>
            </a:extLst>
          </p:cNvPr>
          <p:cNvPicPr>
            <a:picLocks noGrp="1" noChangeAspect="1"/>
          </p:cNvPicPr>
          <p:nvPr>
            <p:ph type="pic" sz="quarter" idx="10"/>
          </p:nvPr>
        </p:nvPicPr>
        <p:blipFill>
          <a:blip r:embed="rId3"/>
          <a:srcRect b="8879"/>
          <a:stretch/>
        </p:blipFill>
        <p:spPr>
          <a:xfrm>
            <a:off x="8621410" y="1728812"/>
            <a:ext cx="3365998" cy="3439089"/>
          </a:xfrm>
          <a:prstGeom prst="rect">
            <a:avLst/>
          </a:prstGeom>
        </p:spPr>
      </p:pic>
    </p:spTree>
    <p:extLst>
      <p:ext uri="{BB962C8B-B14F-4D97-AF65-F5344CB8AC3E}">
        <p14:creationId xmlns:p14="http://schemas.microsoft.com/office/powerpoint/2010/main" val="2546268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Headlights (4 of 4)</a:t>
            </a:r>
            <a:endParaRPr dirty="0"/>
          </a:p>
        </p:txBody>
      </p:sp>
      <p:sp>
        <p:nvSpPr>
          <p:cNvPr id="2" name="Text Placeholder 1">
            <a:extLst>
              <a:ext uri="{FF2B5EF4-FFF2-40B4-BE49-F238E27FC236}">
                <a16:creationId xmlns:a16="http://schemas.microsoft.com/office/drawing/2014/main" id="{F4933839-A66E-65B2-3EF3-29035AC45615}"/>
              </a:ext>
            </a:extLst>
          </p:cNvPr>
          <p:cNvSpPr>
            <a:spLocks noGrp="1"/>
          </p:cNvSpPr>
          <p:nvPr>
            <p:ph type="body" idx="1"/>
          </p:nvPr>
        </p:nvSpPr>
        <p:spPr>
          <a:xfrm>
            <a:off x="476843" y="1471264"/>
            <a:ext cx="7691797" cy="4661312"/>
          </a:xfrm>
        </p:spPr>
        <p:txBody>
          <a:bodyPr/>
          <a:lstStyle/>
          <a:p>
            <a:r>
              <a:rPr lang="en-US" sz="2000" dirty="0"/>
              <a:t>LED headlamps are standard on many vehicles today. </a:t>
            </a:r>
          </a:p>
          <a:p>
            <a:r>
              <a:rPr lang="en-US" sz="2000" dirty="0"/>
              <a:t>An individual LED does not produce enough light to serve as a headlamp, and ten to twenty LEDs are needed for ample forward lighting.</a:t>
            </a:r>
          </a:p>
          <a:p>
            <a:r>
              <a:rPr lang="en-US" sz="2000" dirty="0"/>
              <a:t>There are many reasons for using LEDs in headlights:</a:t>
            </a:r>
          </a:p>
          <a:p>
            <a:pPr lvl="1"/>
            <a:r>
              <a:rPr lang="en-US" sz="1800" dirty="0"/>
              <a:t>LEDs do not require a vacuum bulb or high voltage to work.</a:t>
            </a:r>
          </a:p>
          <a:p>
            <a:pPr lvl="1"/>
            <a:r>
              <a:rPr lang="en-US" sz="1800" dirty="0"/>
              <a:t>LED-based lighting sources require up to 40 percent less power than traditional lighting sources. This improves a vehicle’s fuel economy.</a:t>
            </a:r>
          </a:p>
          <a:p>
            <a:pPr lvl="1"/>
            <a:r>
              <a:rPr lang="en-US" sz="1800" dirty="0"/>
              <a:t>LEDs provide a whiter light than xenon.</a:t>
            </a:r>
          </a:p>
          <a:p>
            <a:pPr lvl="1"/>
            <a:r>
              <a:rPr lang="en-US" sz="1800" dirty="0"/>
              <a:t>LEDs are mercury-free, making them environment friendly unlike some HID/xenon systems.</a:t>
            </a:r>
          </a:p>
          <a:p>
            <a:pPr lvl="1"/>
            <a:r>
              <a:rPr lang="en-US" sz="1800" dirty="0"/>
              <a:t>The average operating life of an LED is twice that of the vehicle itself.</a:t>
            </a:r>
          </a:p>
        </p:txBody>
      </p:sp>
      <p:pic>
        <p:nvPicPr>
          <p:cNvPr id="5" name="Picture Placeholder 4" descr="Close up of a headlight assembly of a vehicle with many L E Ds and H I D bulbs for better forward lighting.">
            <a:extLst>
              <a:ext uri="{FF2B5EF4-FFF2-40B4-BE49-F238E27FC236}">
                <a16:creationId xmlns:a16="http://schemas.microsoft.com/office/drawing/2014/main" id="{0D4806BB-A9FF-2544-073A-89429FD8E8E7}"/>
              </a:ext>
            </a:extLst>
          </p:cNvPr>
          <p:cNvPicPr>
            <a:picLocks noGrp="1" noChangeAspect="1"/>
          </p:cNvPicPr>
          <p:nvPr>
            <p:ph type="pic" sz="quarter" idx="10"/>
          </p:nvPr>
        </p:nvPicPr>
        <p:blipFill rotWithShape="1">
          <a:blip r:embed="rId3"/>
          <a:srcRect b="9809"/>
          <a:stretch/>
        </p:blipFill>
        <p:spPr>
          <a:xfrm>
            <a:off x="8274360" y="1907597"/>
            <a:ext cx="3788204" cy="2767146"/>
          </a:xfrm>
          <a:prstGeom prst="rect">
            <a:avLst/>
          </a:prstGeom>
        </p:spPr>
      </p:pic>
    </p:spTree>
    <p:extLst>
      <p:ext uri="{BB962C8B-B14F-4D97-AF65-F5344CB8AC3E}">
        <p14:creationId xmlns:p14="http://schemas.microsoft.com/office/powerpoint/2010/main" val="1868389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Daytime Running Lights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08634"/>
            <a:ext cx="7472341" cy="4685696"/>
          </a:xfrm>
        </p:spPr>
        <p:txBody>
          <a:bodyPr/>
          <a:lstStyle/>
          <a:p>
            <a:pPr>
              <a:spcAft>
                <a:spcPts val="600"/>
              </a:spcAft>
            </a:pPr>
            <a:r>
              <a:rPr lang="en-US" sz="1800" dirty="0"/>
              <a:t>A large number of vehicles have </a:t>
            </a:r>
            <a:r>
              <a:rPr lang="en-US" sz="1800" b="1" dirty="0"/>
              <a:t>daytime running lights (DRLs) </a:t>
            </a:r>
            <a:r>
              <a:rPr lang="en-US" sz="1800" dirty="0"/>
              <a:t>for added safety.</a:t>
            </a:r>
          </a:p>
          <a:p>
            <a:pPr>
              <a:spcAft>
                <a:spcPts val="600"/>
              </a:spcAft>
            </a:pPr>
            <a:r>
              <a:rPr lang="en-US" sz="1800" dirty="0"/>
              <a:t>This system typically uses the high-beam light circuit.</a:t>
            </a:r>
          </a:p>
          <a:p>
            <a:pPr>
              <a:spcAft>
                <a:spcPts val="600"/>
              </a:spcAft>
            </a:pPr>
            <a:r>
              <a:rPr lang="en-US" sz="1800" dirty="0"/>
              <a:t>The control circuit is connected directly to the ignition switch to allow the lights to be turned on whenever the vehicle is running.</a:t>
            </a:r>
          </a:p>
          <a:p>
            <a:pPr>
              <a:spcAft>
                <a:spcPts val="600"/>
              </a:spcAft>
            </a:pPr>
            <a:r>
              <a:rPr lang="en-US" sz="1800" dirty="0"/>
              <a:t>When the headlight switch is moved to the HEADLIGHT position, the DRL circuit is shut down and the headlights work with their normal intensity and brightness.</a:t>
            </a:r>
          </a:p>
          <a:p>
            <a:pPr>
              <a:spcAft>
                <a:spcPts val="600"/>
              </a:spcAft>
            </a:pPr>
            <a:r>
              <a:rPr lang="en-US" sz="1800" dirty="0"/>
              <a:t>Applying the parking brake also deactivates the DRL system to make sure the lights are not on when the vehicle is parked with the engine running.</a:t>
            </a:r>
          </a:p>
          <a:p>
            <a:pPr>
              <a:spcAft>
                <a:spcPts val="600"/>
              </a:spcAft>
            </a:pPr>
            <a:r>
              <a:rPr lang="en-US" sz="1800" dirty="0"/>
              <a:t>Many cars and light trucks now use LED daytime running lights.</a:t>
            </a:r>
          </a:p>
        </p:txBody>
      </p:sp>
      <p:pic>
        <p:nvPicPr>
          <p:cNvPr id="3" name="Picture Placeholder 2" descr="Close up of L E D daytime running lights (D R Ls) that use high-beam light circuits on a vehicle.">
            <a:extLst>
              <a:ext uri="{FF2B5EF4-FFF2-40B4-BE49-F238E27FC236}">
                <a16:creationId xmlns:a16="http://schemas.microsoft.com/office/drawing/2014/main" id="{5EF6378C-0376-FC78-E665-38CF104EAAAD}"/>
              </a:ext>
            </a:extLst>
          </p:cNvPr>
          <p:cNvPicPr>
            <a:picLocks noGrp="1" noChangeAspect="1"/>
          </p:cNvPicPr>
          <p:nvPr>
            <p:ph type="pic" sz="quarter" idx="10"/>
          </p:nvPr>
        </p:nvPicPr>
        <p:blipFill>
          <a:blip r:embed="rId3"/>
          <a:srcRect b="7278"/>
          <a:stretch/>
        </p:blipFill>
        <p:spPr>
          <a:xfrm>
            <a:off x="7728348" y="1621427"/>
            <a:ext cx="4343769" cy="3330717"/>
          </a:xfrm>
          <a:prstGeom prst="rect">
            <a:avLst/>
          </a:prstGeom>
        </p:spPr>
      </p:pic>
    </p:spTree>
    <p:extLst>
      <p:ext uri="{BB962C8B-B14F-4D97-AF65-F5344CB8AC3E}">
        <p14:creationId xmlns:p14="http://schemas.microsoft.com/office/powerpoint/2010/main" val="4204144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Fog Lights</a:t>
            </a:r>
            <a:endParaRPr dirty="0"/>
          </a:p>
        </p:txBody>
      </p:sp>
      <p:sp>
        <p:nvSpPr>
          <p:cNvPr id="2" name="Text Placeholder 1">
            <a:extLst>
              <a:ext uri="{FF2B5EF4-FFF2-40B4-BE49-F238E27FC236}">
                <a16:creationId xmlns:a16="http://schemas.microsoft.com/office/drawing/2014/main" id="{18421DB9-2380-C217-3922-3C247737B5F7}"/>
              </a:ext>
            </a:extLst>
          </p:cNvPr>
          <p:cNvSpPr>
            <a:spLocks noGrp="1"/>
          </p:cNvSpPr>
          <p:nvPr>
            <p:ph type="body" idx="1"/>
          </p:nvPr>
        </p:nvSpPr>
        <p:spPr>
          <a:xfrm>
            <a:off x="476843" y="1346004"/>
            <a:ext cx="7703989" cy="4722272"/>
          </a:xfrm>
        </p:spPr>
        <p:txBody>
          <a:bodyPr/>
          <a:lstStyle/>
          <a:p>
            <a:pPr>
              <a:spcAft>
                <a:spcPts val="400"/>
              </a:spcAft>
            </a:pPr>
            <a:r>
              <a:rPr lang="en-US" sz="2000" dirty="0"/>
              <a:t>Standard headlamps do not penetrate fog well.</a:t>
            </a:r>
          </a:p>
          <a:p>
            <a:pPr>
              <a:spcAft>
                <a:spcPts val="400"/>
              </a:spcAft>
            </a:pPr>
            <a:r>
              <a:rPr lang="en-US" sz="2000" dirty="0"/>
              <a:t>When an intense beam of light hits some fog, all the driver often sees is a glare.</a:t>
            </a:r>
          </a:p>
          <a:p>
            <a:pPr>
              <a:spcAft>
                <a:spcPts val="400"/>
              </a:spcAft>
            </a:pPr>
            <a:r>
              <a:rPr lang="en-US" sz="2000" dirty="0"/>
              <a:t>To provide some light through the fog, fog lights are designed to send a flat, wide beam of light under the blanket of fog.</a:t>
            </a:r>
          </a:p>
          <a:p>
            <a:pPr>
              <a:spcAft>
                <a:spcPts val="400"/>
              </a:spcAft>
            </a:pPr>
            <a:r>
              <a:rPr lang="en-US" sz="2000" dirty="0"/>
              <a:t>This is why they are mounted low and are aimed low and parallel to the road.</a:t>
            </a:r>
          </a:p>
          <a:p>
            <a:pPr>
              <a:spcAft>
                <a:spcPts val="400"/>
              </a:spcAft>
            </a:pPr>
            <a:r>
              <a:rPr lang="en-US" sz="2000" dirty="0"/>
              <a:t>A separate fog light switch is often incorporated into the headlight switch assembly, allowing both the low beam and fog lights to operate at the same time.</a:t>
            </a:r>
          </a:p>
          <a:p>
            <a:pPr>
              <a:spcAft>
                <a:spcPts val="400"/>
              </a:spcAft>
            </a:pPr>
            <a:r>
              <a:rPr lang="en-US" sz="2000" dirty="0"/>
              <a:t>The fog light circuit turns off if the high-beam headlights are turned on.</a:t>
            </a:r>
          </a:p>
        </p:txBody>
      </p:sp>
      <p:pic>
        <p:nvPicPr>
          <p:cNvPr id="5" name="Picture Placeholder 4" descr="Fog light that is mounted low, below the standard headlamp.">
            <a:extLst>
              <a:ext uri="{FF2B5EF4-FFF2-40B4-BE49-F238E27FC236}">
                <a16:creationId xmlns:a16="http://schemas.microsoft.com/office/drawing/2014/main" id="{4198B823-B150-4D1E-3F8B-1444032F8817}"/>
              </a:ext>
            </a:extLst>
          </p:cNvPr>
          <p:cNvPicPr>
            <a:picLocks noGrp="1" noChangeAspect="1"/>
          </p:cNvPicPr>
          <p:nvPr>
            <p:ph type="pic" sz="quarter" idx="10"/>
          </p:nvPr>
        </p:nvPicPr>
        <p:blipFill rotWithShape="1">
          <a:blip r:embed="rId3"/>
          <a:srcRect b="9514"/>
          <a:stretch/>
        </p:blipFill>
        <p:spPr>
          <a:xfrm>
            <a:off x="8091814" y="2128998"/>
            <a:ext cx="3945698" cy="2884792"/>
          </a:xfrm>
          <a:prstGeom prst="rect">
            <a:avLst/>
          </a:prstGeom>
        </p:spPr>
      </p:pic>
    </p:spTree>
    <p:extLst>
      <p:ext uri="{BB962C8B-B14F-4D97-AF65-F5344CB8AC3E}">
        <p14:creationId xmlns:p14="http://schemas.microsoft.com/office/powerpoint/2010/main" val="306882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 Switches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383582"/>
            <a:ext cx="7201612" cy="4612544"/>
          </a:xfrm>
        </p:spPr>
        <p:txBody>
          <a:bodyPr/>
          <a:lstStyle/>
          <a:p>
            <a:pPr marL="0" indent="0">
              <a:buNone/>
            </a:pPr>
            <a:r>
              <a:rPr lang="en-US" sz="1800" b="1" dirty="0"/>
              <a:t>20.03 Explain the components and operation of automatic headlight systems.</a:t>
            </a:r>
          </a:p>
          <a:p>
            <a:r>
              <a:rPr lang="en-US" sz="1800" dirty="0"/>
              <a:t>The headlights are controlled by a power or ground input.</a:t>
            </a:r>
          </a:p>
          <a:p>
            <a:r>
              <a:rPr lang="en-US" sz="1800" dirty="0"/>
              <a:t>Headlight switches are either mounted to the instrument panel or are part of the multifunction switch on the steering column.</a:t>
            </a:r>
          </a:p>
          <a:p>
            <a:r>
              <a:rPr lang="en-US" sz="1800" dirty="0"/>
              <a:t>Switches have three or four positions: off, park, headlight, and auto.</a:t>
            </a:r>
          </a:p>
          <a:p>
            <a:r>
              <a:rPr lang="en-US" sz="1800" dirty="0"/>
              <a:t>Most vehicles have a warning system that alerts the driver that the park or headlamps are on and that the driver’s door is open.</a:t>
            </a:r>
          </a:p>
          <a:p>
            <a:r>
              <a:rPr lang="en-US" sz="1800" dirty="0"/>
              <a:t>On older systems, the switch supplies battery voltage directly to the bulbs that have a fixed ground.</a:t>
            </a:r>
          </a:p>
          <a:p>
            <a:r>
              <a:rPr lang="en-US" sz="1800" dirty="0"/>
              <a:t>In many modern vehicles, the headlight switch is an input for the body control module (BCM) or lighting module.</a:t>
            </a:r>
          </a:p>
        </p:txBody>
      </p:sp>
      <p:pic>
        <p:nvPicPr>
          <p:cNvPr id="3" name="Picture Placeholder 2" descr="A headlight switch as part of the multifunction switch on the steering column with the positions - off, park, headlight, and auto.">
            <a:extLst>
              <a:ext uri="{FF2B5EF4-FFF2-40B4-BE49-F238E27FC236}">
                <a16:creationId xmlns:a16="http://schemas.microsoft.com/office/drawing/2014/main" id="{D5359462-C638-AA19-D353-5C58D136EACD}"/>
              </a:ext>
            </a:extLst>
          </p:cNvPr>
          <p:cNvPicPr>
            <a:picLocks noGrp="1" noChangeAspect="1"/>
          </p:cNvPicPr>
          <p:nvPr>
            <p:ph type="pic" sz="quarter" idx="10"/>
          </p:nvPr>
        </p:nvPicPr>
        <p:blipFill rotWithShape="1">
          <a:blip r:embed="rId3"/>
          <a:srcRect b="14753"/>
          <a:stretch/>
        </p:blipFill>
        <p:spPr>
          <a:xfrm>
            <a:off x="7860565" y="2525522"/>
            <a:ext cx="4176947" cy="1820447"/>
          </a:xfrm>
          <a:prstGeom prst="rect">
            <a:avLst/>
          </a:prstGeom>
        </p:spPr>
      </p:pic>
    </p:spTree>
    <p:extLst>
      <p:ext uri="{BB962C8B-B14F-4D97-AF65-F5344CB8AC3E}">
        <p14:creationId xmlns:p14="http://schemas.microsoft.com/office/powerpoint/2010/main" val="2273415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 Switches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6996853" cy="4661312"/>
          </a:xfrm>
        </p:spPr>
        <p:txBody>
          <a:bodyPr/>
          <a:lstStyle/>
          <a:p>
            <a:pPr>
              <a:spcAft>
                <a:spcPts val="600"/>
              </a:spcAft>
            </a:pPr>
            <a:r>
              <a:rPr lang="en-US" sz="1800" dirty="0"/>
              <a:t>The dimmer switch provides a way for the driver to switch between high and low beams.</a:t>
            </a:r>
          </a:p>
          <a:p>
            <a:pPr>
              <a:spcAft>
                <a:spcPts val="600"/>
              </a:spcAft>
            </a:pPr>
            <a:r>
              <a:rPr lang="en-US" sz="1800" dirty="0"/>
              <a:t>A dimmer switch can act as an input request for the lighting module or can be in series with the headlight circuit and controls the path of current to the headlights.</a:t>
            </a:r>
          </a:p>
          <a:p>
            <a:pPr>
              <a:spcAft>
                <a:spcPts val="600"/>
              </a:spcAft>
            </a:pPr>
            <a:r>
              <a:rPr lang="en-US" sz="1800" dirty="0"/>
              <a:t>Newer vehicles have the dimmer switch on the steering column as part of the turn signal switch.</a:t>
            </a:r>
          </a:p>
          <a:p>
            <a:pPr>
              <a:spcAft>
                <a:spcPts val="600"/>
              </a:spcAft>
            </a:pPr>
            <a:r>
              <a:rPr lang="en-US" sz="1800" dirty="0"/>
              <a:t>When the headlight switch is in the HEADLIGHT position, current flows to the dimmer switch. If the dimmer switch is in the LOW position, current flows through the low-beam circuit.</a:t>
            </a:r>
          </a:p>
          <a:p>
            <a:pPr>
              <a:spcAft>
                <a:spcPts val="600"/>
              </a:spcAft>
            </a:pPr>
            <a:r>
              <a:rPr lang="en-US" sz="1800" dirty="0"/>
              <a:t>When the dimmer switch is in the HIGH position, current flows to the high-beam circuit.</a:t>
            </a:r>
          </a:p>
        </p:txBody>
      </p:sp>
      <p:pic>
        <p:nvPicPr>
          <p:cNvPr id="3" name="Picture Placeholder 2" descr="A dimmer switch is mounted on the steering column with the option for high and low positions.">
            <a:extLst>
              <a:ext uri="{FF2B5EF4-FFF2-40B4-BE49-F238E27FC236}">
                <a16:creationId xmlns:a16="http://schemas.microsoft.com/office/drawing/2014/main" id="{4BE17165-C477-1DC0-65CB-3C6587257F3F}"/>
              </a:ext>
            </a:extLst>
          </p:cNvPr>
          <p:cNvPicPr>
            <a:picLocks noGrp="1" noChangeAspect="1"/>
          </p:cNvPicPr>
          <p:nvPr>
            <p:ph type="pic" sz="quarter" idx="10"/>
          </p:nvPr>
        </p:nvPicPr>
        <p:blipFill rotWithShape="1">
          <a:blip r:embed="rId3"/>
          <a:srcRect b="13215"/>
          <a:stretch/>
        </p:blipFill>
        <p:spPr>
          <a:xfrm>
            <a:off x="7590855" y="1971372"/>
            <a:ext cx="4384027" cy="3206803"/>
          </a:xfrm>
          <a:prstGeom prst="rect">
            <a:avLst/>
          </a:prstGeom>
        </p:spPr>
      </p:pic>
    </p:spTree>
    <p:extLst>
      <p:ext uri="{BB962C8B-B14F-4D97-AF65-F5344CB8AC3E}">
        <p14:creationId xmlns:p14="http://schemas.microsoft.com/office/powerpoint/2010/main" val="246360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Automatic Light Systems (1 of 4)</a:t>
            </a:r>
            <a:endParaRPr dirty="0"/>
          </a:p>
        </p:txBody>
      </p:sp>
      <p:sp>
        <p:nvSpPr>
          <p:cNvPr id="2" name="Text Placeholder 1">
            <a:extLst>
              <a:ext uri="{FF2B5EF4-FFF2-40B4-BE49-F238E27FC236}">
                <a16:creationId xmlns:a16="http://schemas.microsoft.com/office/drawing/2014/main" id="{566774D4-E061-35A1-65B9-D241A1680163}"/>
              </a:ext>
            </a:extLst>
          </p:cNvPr>
          <p:cNvSpPr>
            <a:spLocks noGrp="1"/>
          </p:cNvSpPr>
          <p:nvPr>
            <p:ph type="body" idx="1"/>
          </p:nvPr>
        </p:nvSpPr>
        <p:spPr>
          <a:xfrm>
            <a:off x="476844" y="1471264"/>
            <a:ext cx="6337316" cy="4575968"/>
          </a:xfrm>
        </p:spPr>
        <p:txBody>
          <a:bodyPr/>
          <a:lstStyle/>
          <a:p>
            <a:pPr marL="0" indent="0">
              <a:spcAft>
                <a:spcPts val="600"/>
              </a:spcAft>
              <a:buNone/>
            </a:pPr>
            <a:r>
              <a:rPr lang="en-US" sz="2000" b="1" dirty="0"/>
              <a:t>20.03 Explain the components and operation of automatic headlight systems.</a:t>
            </a:r>
          </a:p>
          <a:p>
            <a:pPr>
              <a:spcAft>
                <a:spcPts val="600"/>
              </a:spcAft>
            </a:pPr>
            <a:r>
              <a:rPr lang="en-US" sz="2000" dirty="0"/>
              <a:t>As with many other systems, exterior lights are controlled by electronic control modules.</a:t>
            </a:r>
          </a:p>
          <a:p>
            <a:pPr>
              <a:spcAft>
                <a:spcPts val="600"/>
              </a:spcAft>
            </a:pPr>
            <a:r>
              <a:rPr lang="en-US" sz="2000" dirty="0"/>
              <a:t>This allows for automatic high-beam dimming, automatic on-off, glare-free high beam, headlamp leveling systems, directional headlamps, intelligent light systems, adaptive headlights, dynamic beam control, and advanced front-lighting systems.</a:t>
            </a:r>
          </a:p>
          <a:p>
            <a:pPr>
              <a:spcAft>
                <a:spcPts val="600"/>
              </a:spcAft>
            </a:pPr>
            <a:r>
              <a:rPr lang="en-US" sz="2000" dirty="0"/>
              <a:t>Cameras and a variety of optical sensors have been added to these computer-controlled lighting systems.</a:t>
            </a:r>
          </a:p>
        </p:txBody>
      </p:sp>
      <p:pic>
        <p:nvPicPr>
          <p:cNvPr id="5" name="Picture Placeholder 4" descr="An example of part of a computer-controlled lighting system. The system is controlled by a conventional headlight switch, typically equipped with a photocell sensor or amplifier and a control relay. The turn signal or multifunction switch is at the bottom left grounded to G 201 through J 217. The turn signal has Flash to pass and headlamp dimmer switch, connected at the top through two wires to the Lighting control module, L C M. The L C M has the following parts from top to bottom; H I Beam R L Y, L O Beam R L Y, D R L R L Y, FOG L M P R L Y; L O S P D G M LA N; Serial data; FOG L P S W; H D L P OFF; H D L P ON; P R K L M P; A M B Light; Park B R K S W S I G; H D L P D I M S W S I G; and Flash to pass. Eleven different colored wires from L C M go rightward, and then four go upward, one to the computer data lines system, four to the headlamp and panel dimmer switch component, which is rounded to G 201, through J 201. Two other wires go rightward, and then downward, one to the Park brake switch, and another to the Ambient light sensor (manual A/ C) Ambient light/sunload sensor assembly (automatic A/C). The bottom right part of the park brake switch is grounded. The Ambient light sensor has another wire going upward and then rightward, then goes downward to another component Left I/P Junction box, which is further grounded to G 201. The Headlamp and panel dimmer switch has two head park and Auto-off components, and the FOG lamp switch, labeled from top to bottom within.">
            <a:extLst>
              <a:ext uri="{FF2B5EF4-FFF2-40B4-BE49-F238E27FC236}">
                <a16:creationId xmlns:a16="http://schemas.microsoft.com/office/drawing/2014/main" id="{AEEF9DF7-8912-EDA8-4918-9C23339176D8}"/>
              </a:ext>
            </a:extLst>
          </p:cNvPr>
          <p:cNvPicPr>
            <a:picLocks noGrp="1" noChangeAspect="1"/>
          </p:cNvPicPr>
          <p:nvPr>
            <p:ph type="pic" sz="quarter" idx="10"/>
          </p:nvPr>
        </p:nvPicPr>
        <p:blipFill rotWithShape="1">
          <a:blip r:embed="rId3"/>
          <a:srcRect b="5053"/>
          <a:stretch/>
        </p:blipFill>
        <p:spPr>
          <a:xfrm>
            <a:off x="7161802" y="1943644"/>
            <a:ext cx="4750450" cy="3306450"/>
          </a:xfrm>
          <a:prstGeom prst="rect">
            <a:avLst/>
          </a:prstGeom>
        </p:spPr>
      </p:pic>
    </p:spTree>
    <p:extLst>
      <p:ext uri="{BB962C8B-B14F-4D97-AF65-F5344CB8AC3E}">
        <p14:creationId xmlns:p14="http://schemas.microsoft.com/office/powerpoint/2010/main" val="1382492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Automatic Light Systems (2 of 4)</a:t>
            </a:r>
            <a:endParaRPr dirty="0"/>
          </a:p>
        </p:txBody>
      </p:sp>
      <p:sp>
        <p:nvSpPr>
          <p:cNvPr id="2" name="Text Placeholder 1">
            <a:extLst>
              <a:ext uri="{FF2B5EF4-FFF2-40B4-BE49-F238E27FC236}">
                <a16:creationId xmlns:a16="http://schemas.microsoft.com/office/drawing/2014/main" id="{828A0D07-646A-E276-BEF4-4499B73AFB49}"/>
              </a:ext>
            </a:extLst>
          </p:cNvPr>
          <p:cNvSpPr>
            <a:spLocks noGrp="1"/>
          </p:cNvSpPr>
          <p:nvPr>
            <p:ph type="body" idx="1"/>
          </p:nvPr>
        </p:nvSpPr>
        <p:spPr>
          <a:xfrm>
            <a:off x="476843" y="1471264"/>
            <a:ext cx="7143157" cy="4649120"/>
          </a:xfrm>
        </p:spPr>
        <p:txBody>
          <a:bodyPr/>
          <a:lstStyle/>
          <a:p>
            <a:pPr>
              <a:spcAft>
                <a:spcPts val="600"/>
              </a:spcAft>
            </a:pPr>
            <a:r>
              <a:rPr lang="en-US" sz="1800" dirty="0"/>
              <a:t>Automatic headlamp systems automatically turn the headlights on when it becomes dark outside and turn them off when the natural light provides decent lighting.</a:t>
            </a:r>
          </a:p>
          <a:p>
            <a:pPr>
              <a:spcAft>
                <a:spcPts val="600"/>
              </a:spcAft>
            </a:pPr>
            <a:r>
              <a:rPr lang="en-US" sz="1800" dirty="0"/>
              <a:t>An electric photocell located on the dashboard detects the current lighting conditions and activates the headlight control relay, which switches the headlamps on and off.</a:t>
            </a:r>
          </a:p>
          <a:p>
            <a:pPr>
              <a:spcAft>
                <a:spcPts val="600"/>
              </a:spcAft>
            </a:pPr>
            <a:r>
              <a:rPr lang="en-US" sz="1800" dirty="0"/>
              <a:t>As the level of light decreases, the photocell’s resistance increases.</a:t>
            </a:r>
          </a:p>
          <a:p>
            <a:pPr>
              <a:spcAft>
                <a:spcPts val="600"/>
              </a:spcAft>
            </a:pPr>
            <a:r>
              <a:rPr lang="en-US" sz="1800" dirty="0"/>
              <a:t>When resistance reaches a preset amount, the photocell’s s amplifier sends power to the headlight relay or module that controls lighting.</a:t>
            </a:r>
          </a:p>
          <a:p>
            <a:pPr>
              <a:spcAft>
                <a:spcPts val="600"/>
              </a:spcAft>
            </a:pPr>
            <a:r>
              <a:rPr lang="en-US" sz="1800" dirty="0"/>
              <a:t>The lights will remain on until the system is turned off or the light outside gets bright enough.</a:t>
            </a:r>
          </a:p>
        </p:txBody>
      </p:sp>
      <p:pic>
        <p:nvPicPr>
          <p:cNvPr id="5" name="Picture Placeholder 4" descr="An exploded view of an automatic light system with parts labeled as follows: cover, photocell assembly, electrical connector, instrument panel, and screw.">
            <a:extLst>
              <a:ext uri="{FF2B5EF4-FFF2-40B4-BE49-F238E27FC236}">
                <a16:creationId xmlns:a16="http://schemas.microsoft.com/office/drawing/2014/main" id="{2EFCFE11-04CF-BED3-9982-386752A018E3}"/>
              </a:ext>
            </a:extLst>
          </p:cNvPr>
          <p:cNvPicPr>
            <a:picLocks noGrp="1" noChangeAspect="1"/>
          </p:cNvPicPr>
          <p:nvPr>
            <p:ph type="pic" sz="quarter" idx="10"/>
          </p:nvPr>
        </p:nvPicPr>
        <p:blipFill>
          <a:blip r:embed="rId3"/>
          <a:srcRect b="10428"/>
          <a:stretch/>
        </p:blipFill>
        <p:spPr>
          <a:xfrm>
            <a:off x="8055076" y="1736418"/>
            <a:ext cx="3521308" cy="3657515"/>
          </a:xfrm>
          <a:prstGeom prst="rect">
            <a:avLst/>
          </a:prstGeom>
        </p:spPr>
      </p:pic>
    </p:spTree>
    <p:extLst>
      <p:ext uri="{BB962C8B-B14F-4D97-AF65-F5344CB8AC3E}">
        <p14:creationId xmlns:p14="http://schemas.microsoft.com/office/powerpoint/2010/main" val="3560377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950B8B8D-B014-EDB8-C706-A0EBCE38CF23}"/>
              </a:ext>
            </a:extLst>
          </p:cNvPr>
          <p:cNvSpPr>
            <a:spLocks noGrp="1"/>
          </p:cNvSpPr>
          <p:nvPr>
            <p:ph type="title"/>
          </p:nvPr>
        </p:nvSpPr>
        <p:spPr/>
        <p:txBody>
          <a:bodyPr/>
          <a:lstStyle/>
          <a:p>
            <a:r>
              <a:rPr lang="en-US" dirty="0"/>
              <a:t>Automatic Light Systems (3 of 4)</a:t>
            </a:r>
          </a:p>
        </p:txBody>
      </p:sp>
      <p:sp>
        <p:nvSpPr>
          <p:cNvPr id="3" name="Text Placeholder 2">
            <a:extLst>
              <a:ext uri="{FF2B5EF4-FFF2-40B4-BE49-F238E27FC236}">
                <a16:creationId xmlns:a16="http://schemas.microsoft.com/office/drawing/2014/main" id="{71C72F90-5EF4-100F-3DB7-03ED50BC8855}"/>
              </a:ext>
            </a:extLst>
          </p:cNvPr>
          <p:cNvSpPr>
            <a:spLocks noGrp="1"/>
          </p:cNvSpPr>
          <p:nvPr>
            <p:ph type="body" idx="1"/>
          </p:nvPr>
        </p:nvSpPr>
        <p:spPr>
          <a:xfrm>
            <a:off x="476843" y="1421160"/>
            <a:ext cx="7689464" cy="4685696"/>
          </a:xfrm>
        </p:spPr>
        <p:txBody>
          <a:bodyPr/>
          <a:lstStyle/>
          <a:p>
            <a:pPr>
              <a:spcAft>
                <a:spcPts val="600"/>
              </a:spcAft>
            </a:pPr>
            <a:r>
              <a:rPr lang="en-US" sz="2000" dirty="0"/>
              <a:t>Adaptive high-beam assist systems continuously adjust the lighting range of the headlamps so the beams only extend to the vehicle ahead. </a:t>
            </a:r>
          </a:p>
          <a:p>
            <a:pPr>
              <a:spcAft>
                <a:spcPts val="600"/>
              </a:spcAft>
            </a:pPr>
            <a:r>
              <a:rPr lang="en-US" sz="2000" dirty="0"/>
              <a:t>Doing so allows for a maximum range of lighting without causing excessive glare in the eyes of other drivers. </a:t>
            </a:r>
          </a:p>
          <a:p>
            <a:pPr>
              <a:spcAft>
                <a:spcPts val="600"/>
              </a:spcAft>
            </a:pPr>
            <a:r>
              <a:rPr lang="en-US" sz="2000" dirty="0"/>
              <a:t>These systems are offered by many manufacturers, and each calls the system by a different name. </a:t>
            </a:r>
          </a:p>
          <a:p>
            <a:pPr>
              <a:spcAft>
                <a:spcPts val="600"/>
              </a:spcAft>
            </a:pPr>
            <a:r>
              <a:rPr lang="en-US" sz="2000" dirty="0"/>
              <a:t>Some have additional features in addition to the basic package. These systems provide for a continuously changing range of lighting.</a:t>
            </a:r>
          </a:p>
          <a:p>
            <a:pPr>
              <a:spcAft>
                <a:spcPts val="600"/>
              </a:spcAft>
            </a:pPr>
            <a:r>
              <a:rPr lang="en-US" sz="2000" dirty="0"/>
              <a:t>There is no distinct transition from low to high beams. The intensity and aim of the lamps gradually change as conditions change.</a:t>
            </a:r>
          </a:p>
        </p:txBody>
      </p:sp>
      <p:pic>
        <p:nvPicPr>
          <p:cNvPr id="6" name="Picture Placeholder 5" descr="A SmartBeam auto headlight system with a forward-facing, digital camera attached to the rear view mirror mount.">
            <a:extLst>
              <a:ext uri="{FF2B5EF4-FFF2-40B4-BE49-F238E27FC236}">
                <a16:creationId xmlns:a16="http://schemas.microsoft.com/office/drawing/2014/main" id="{890D7CE0-F95E-B83F-AAEF-AA1717157584}"/>
              </a:ext>
            </a:extLst>
          </p:cNvPr>
          <p:cNvPicPr>
            <a:picLocks noGrp="1" noChangeAspect="1"/>
          </p:cNvPicPr>
          <p:nvPr>
            <p:ph type="pic" sz="quarter" idx="10"/>
          </p:nvPr>
        </p:nvPicPr>
        <p:blipFill rotWithShape="1">
          <a:blip r:embed="rId3"/>
          <a:srcRect b="13774"/>
          <a:stretch/>
        </p:blipFill>
        <p:spPr>
          <a:xfrm>
            <a:off x="8242492" y="2202273"/>
            <a:ext cx="3817821" cy="2453454"/>
          </a:xfrm>
          <a:prstGeom prst="rect">
            <a:avLst/>
          </a:prstGeom>
        </p:spPr>
      </p:pic>
    </p:spTree>
    <p:extLst>
      <p:ext uri="{BB962C8B-B14F-4D97-AF65-F5344CB8AC3E}">
        <p14:creationId xmlns:p14="http://schemas.microsoft.com/office/powerpoint/2010/main" val="2101272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Automatic Light Systems (4 of 4)</a:t>
            </a:r>
            <a:endParaRPr dirty="0"/>
          </a:p>
        </p:txBody>
      </p:sp>
      <p:sp>
        <p:nvSpPr>
          <p:cNvPr id="2" name="Text Placeholder 1">
            <a:extLst>
              <a:ext uri="{FF2B5EF4-FFF2-40B4-BE49-F238E27FC236}">
                <a16:creationId xmlns:a16="http://schemas.microsoft.com/office/drawing/2014/main" id="{9D2E211A-7892-9A80-D744-F4113B9ED5AF}"/>
              </a:ext>
            </a:extLst>
          </p:cNvPr>
          <p:cNvSpPr>
            <a:spLocks noGrp="1"/>
          </p:cNvSpPr>
          <p:nvPr>
            <p:ph type="body" idx="1"/>
          </p:nvPr>
        </p:nvSpPr>
        <p:spPr>
          <a:xfrm>
            <a:off x="476843" y="1471264"/>
            <a:ext cx="7460149" cy="4722272"/>
          </a:xfrm>
        </p:spPr>
        <p:txBody>
          <a:bodyPr/>
          <a:lstStyle/>
          <a:p>
            <a:r>
              <a:rPr lang="en-US" sz="2000" dirty="0"/>
              <a:t>Adaptive headlight systems (AHS) aim the headlight beams to follow the direction of the road directly ahead as the vehicle turns.</a:t>
            </a:r>
          </a:p>
          <a:p>
            <a:r>
              <a:rPr lang="en-US" sz="2000" dirty="0"/>
              <a:t>These systems are electronically controlled by a module and inputs from the steering angle sensor and vehicle speed.</a:t>
            </a:r>
          </a:p>
          <a:p>
            <a:r>
              <a:rPr lang="en-US" sz="2000" dirty="0"/>
              <a:t>Some vehicles have headlamps that are directly connected to the steering linkage to allow the lamps to follow the movement of the front wheels.</a:t>
            </a:r>
          </a:p>
          <a:p>
            <a:r>
              <a:rPr lang="en-US" sz="2000" dirty="0"/>
              <a:t>Today, systems rely on inputs from a variety of sensors and actuators to move the headlamps. Adaptive headlight systems are available on many vehicles, each with their own way to “bend” the light beams in anticipation of a turn.</a:t>
            </a:r>
          </a:p>
        </p:txBody>
      </p:sp>
      <p:pic>
        <p:nvPicPr>
          <p:cNvPr id="5" name="Picture Placeholder 4" descr="An Adaptive headlight system (A H S) with a headlamp assembly of sensors and actuators.">
            <a:extLst>
              <a:ext uri="{FF2B5EF4-FFF2-40B4-BE49-F238E27FC236}">
                <a16:creationId xmlns:a16="http://schemas.microsoft.com/office/drawing/2014/main" id="{3876A1F3-4CAC-8EA2-1A0F-9D5764866D8C}"/>
              </a:ext>
            </a:extLst>
          </p:cNvPr>
          <p:cNvPicPr>
            <a:picLocks noGrp="1" noChangeAspect="1"/>
          </p:cNvPicPr>
          <p:nvPr>
            <p:ph type="pic" sz="quarter" idx="10"/>
          </p:nvPr>
        </p:nvPicPr>
        <p:blipFill rotWithShape="1">
          <a:blip r:embed="rId3"/>
          <a:srcRect b="10285"/>
          <a:stretch/>
        </p:blipFill>
        <p:spPr>
          <a:xfrm>
            <a:off x="7936992" y="1966587"/>
            <a:ext cx="3997610" cy="3252686"/>
          </a:xfrm>
          <a:prstGeom prst="rect">
            <a:avLst/>
          </a:prstGeom>
        </p:spPr>
      </p:pic>
    </p:spTree>
    <p:extLst>
      <p:ext uri="{BB962C8B-B14F-4D97-AF65-F5344CB8AC3E}">
        <p14:creationId xmlns:p14="http://schemas.microsoft.com/office/powerpoint/2010/main" val="2281902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There are many different aspects of the automatic lighting system.</a:t>
            </a:r>
          </a:p>
          <a:p>
            <a:pPr>
              <a:spcAft>
                <a:spcPts val="600"/>
              </a:spcAft>
            </a:pPr>
            <a:r>
              <a:rPr lang="en-US" dirty="0"/>
              <a:t>Have a class discussion while providing several examples of how automatic lighting systems can make the drivers life easier by requiring less input from the driver and more by the computer system. Provide several examples.</a:t>
            </a:r>
          </a:p>
        </p:txBody>
      </p:sp>
    </p:spTree>
    <p:extLst>
      <p:ext uri="{BB962C8B-B14F-4D97-AF65-F5344CB8AC3E}">
        <p14:creationId xmlns:p14="http://schemas.microsoft.com/office/powerpoint/2010/main" val="987743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 Service</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1200"/>
              </a:spcAft>
              <a:buNone/>
            </a:pPr>
            <a:r>
              <a:rPr lang="en-US" sz="1800" b="1" dirty="0"/>
              <a:t>20.04 Diagnose and repair headlight bulbs.</a:t>
            </a:r>
          </a:p>
          <a:p>
            <a:r>
              <a:rPr lang="en-US" sz="1800" dirty="0"/>
              <a:t>Many lenses are made of plastic (polycarbonate) and are affected by the environment and deteriorate.</a:t>
            </a:r>
          </a:p>
          <a:p>
            <a:r>
              <a:rPr lang="en-US" sz="1800" dirty="0"/>
              <a:t>The result is a cloudy lens that reduces the light of the lamps.</a:t>
            </a:r>
          </a:p>
          <a:p>
            <a:r>
              <a:rPr lang="en-US" sz="1800" dirty="0"/>
              <a:t>The cloudiness is caused by the oxidation of the lens’ protective coating installed by the lens’ manufacturer.</a:t>
            </a:r>
          </a:p>
          <a:p>
            <a:r>
              <a:rPr lang="en-US" sz="1800" dirty="0"/>
              <a:t>The lenses may also become pitted by road dirt and pebbles and can crack.</a:t>
            </a:r>
          </a:p>
          <a:p>
            <a:r>
              <a:rPr lang="en-US" sz="1800" dirty="0"/>
              <a:t>Cracks can allow water to enter the headlamp assembly and shorten its life.</a:t>
            </a:r>
          </a:p>
          <a:p>
            <a:r>
              <a:rPr lang="en-US" sz="1800" dirty="0"/>
              <a:t>There are many available products to restore the lenses. These may be special sanding pads or specially designed chemical compounds.</a:t>
            </a:r>
          </a:p>
          <a:p>
            <a:r>
              <a:rPr lang="en-US" sz="1800" dirty="0"/>
              <a:t>Most damaged headlamp covers will require wet sanding to remove the worst of the damage before a polishing compound is used on the lens.</a:t>
            </a:r>
          </a:p>
          <a:p>
            <a:r>
              <a:rPr lang="en-US" sz="1800" dirty="0"/>
              <a:t>Some restoration kits include a sealer to help prevent the lens from future damage.</a:t>
            </a:r>
          </a:p>
        </p:txBody>
      </p:sp>
    </p:spTree>
    <p:extLst>
      <p:ext uri="{BB962C8B-B14F-4D97-AF65-F5344CB8AC3E}">
        <p14:creationId xmlns:p14="http://schemas.microsoft.com/office/powerpoint/2010/main" val="395972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 Replacement (1 of 4) </a:t>
            </a:r>
            <a:endParaRPr dirty="0"/>
          </a:p>
        </p:txBody>
      </p:sp>
      <p:sp>
        <p:nvSpPr>
          <p:cNvPr id="2" name="Text Placeholder 1">
            <a:extLst>
              <a:ext uri="{FF2B5EF4-FFF2-40B4-BE49-F238E27FC236}">
                <a16:creationId xmlns:a16="http://schemas.microsoft.com/office/drawing/2014/main" id="{14981F8E-25F6-3FFC-5040-6F96B4F12D42}"/>
              </a:ext>
            </a:extLst>
          </p:cNvPr>
          <p:cNvSpPr>
            <a:spLocks noGrp="1"/>
          </p:cNvSpPr>
          <p:nvPr>
            <p:ph type="body" idx="1"/>
          </p:nvPr>
        </p:nvSpPr>
        <p:spPr>
          <a:xfrm>
            <a:off x="476843" y="1471264"/>
            <a:ext cx="7984405" cy="4368704"/>
          </a:xfrm>
        </p:spPr>
        <p:txBody>
          <a:bodyPr/>
          <a:lstStyle/>
          <a:p>
            <a:r>
              <a:rPr lang="en-US" sz="1800" dirty="0"/>
              <a:t>Sealed-Beam Headlight Replacement: </a:t>
            </a:r>
          </a:p>
          <a:p>
            <a:r>
              <a:rPr lang="en-US" sz="1800" dirty="0"/>
              <a:t>The lamp is normally secured with a bezel or ring. </a:t>
            </a:r>
          </a:p>
          <a:p>
            <a:r>
              <a:rPr lang="en-US" sz="1800" dirty="0"/>
              <a:t>This needs to be removed and the lamp pulled partially out of its housing. </a:t>
            </a:r>
          </a:p>
          <a:p>
            <a:r>
              <a:rPr lang="en-US" sz="1800" dirty="0"/>
              <a:t>Then disconnect the electrical connector from the back of the lamp. </a:t>
            </a:r>
          </a:p>
          <a:p>
            <a:r>
              <a:rPr lang="en-US" sz="1800" dirty="0"/>
              <a:t>Carefully inspect the connector for signs of damage or corrosion. </a:t>
            </a:r>
          </a:p>
          <a:p>
            <a:r>
              <a:rPr lang="en-US" sz="1800" dirty="0"/>
              <a:t>Some manufacturers recommend coating the prongs and base of a new headlamp with dielectric grease for corrosion protection. </a:t>
            </a:r>
          </a:p>
          <a:p>
            <a:r>
              <a:rPr lang="en-US" sz="1800" dirty="0"/>
              <a:t>Connect the new lamp to the electrical connector. Place the new lamp into the housing. </a:t>
            </a:r>
          </a:p>
          <a:p>
            <a:r>
              <a:rPr lang="en-US" sz="1800" dirty="0"/>
              <a:t>Position the lamp so the embossed number on its lens is at the top.</a:t>
            </a:r>
          </a:p>
        </p:txBody>
      </p:sp>
      <p:pic>
        <p:nvPicPr>
          <p:cNvPr id="5" name="Picture Placeholder 4" descr="A technician is unplugging an old bulb from a sealed-beam headlight.">
            <a:extLst>
              <a:ext uri="{FF2B5EF4-FFF2-40B4-BE49-F238E27FC236}">
                <a16:creationId xmlns:a16="http://schemas.microsoft.com/office/drawing/2014/main" id="{15E2D16B-2010-8729-C555-38036CA84A09}"/>
              </a:ext>
            </a:extLst>
          </p:cNvPr>
          <p:cNvPicPr>
            <a:picLocks noGrp="1" noChangeAspect="1"/>
          </p:cNvPicPr>
          <p:nvPr>
            <p:ph type="pic" sz="quarter" idx="10"/>
          </p:nvPr>
        </p:nvPicPr>
        <p:blipFill>
          <a:blip r:embed="rId3"/>
          <a:srcRect b="16614"/>
          <a:stretch/>
        </p:blipFill>
        <p:spPr>
          <a:xfrm>
            <a:off x="8461248" y="2129426"/>
            <a:ext cx="3591734" cy="2668605"/>
          </a:xfrm>
          <a:prstGeom prst="rect">
            <a:avLst/>
          </a:prstGeom>
        </p:spPr>
      </p:pic>
    </p:spTree>
    <p:extLst>
      <p:ext uri="{BB962C8B-B14F-4D97-AF65-F5344CB8AC3E}">
        <p14:creationId xmlns:p14="http://schemas.microsoft.com/office/powerpoint/2010/main" val="1898729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2" name="Title 1">
            <a:extLst>
              <a:ext uri="{FF2B5EF4-FFF2-40B4-BE49-F238E27FC236}">
                <a16:creationId xmlns:a16="http://schemas.microsoft.com/office/drawing/2014/main" id="{2A4883E0-39CF-9ED9-0D09-74CADCB1E004}"/>
              </a:ext>
            </a:extLst>
          </p:cNvPr>
          <p:cNvSpPr>
            <a:spLocks noGrp="1"/>
          </p:cNvSpPr>
          <p:nvPr>
            <p:ph type="title"/>
          </p:nvPr>
        </p:nvSpPr>
        <p:spPr/>
        <p:txBody>
          <a:bodyPr/>
          <a:lstStyle/>
          <a:p>
            <a:r>
              <a:rPr lang="en-US" dirty="0"/>
              <a:t>Headlight Replacement (2 of 4)</a:t>
            </a:r>
          </a:p>
        </p:txBody>
      </p:sp>
      <p:sp>
        <p:nvSpPr>
          <p:cNvPr id="3" name="Text Placeholder 2">
            <a:extLst>
              <a:ext uri="{FF2B5EF4-FFF2-40B4-BE49-F238E27FC236}">
                <a16:creationId xmlns:a16="http://schemas.microsoft.com/office/drawing/2014/main" id="{4467AD48-7E06-6710-C984-B4E70B986D48}"/>
              </a:ext>
            </a:extLst>
          </p:cNvPr>
          <p:cNvSpPr>
            <a:spLocks noGrp="1"/>
          </p:cNvSpPr>
          <p:nvPr>
            <p:ph type="body" idx="1"/>
          </p:nvPr>
        </p:nvSpPr>
        <p:spPr>
          <a:xfrm>
            <a:off x="476843" y="1421160"/>
            <a:ext cx="8703733" cy="4722272"/>
          </a:xfrm>
        </p:spPr>
        <p:txBody>
          <a:bodyPr/>
          <a:lstStyle/>
          <a:p>
            <a:r>
              <a:rPr lang="en-US" sz="1800" dirty="0"/>
              <a:t>Composite Headlight Replacement:</a:t>
            </a:r>
          </a:p>
          <a:p>
            <a:r>
              <a:rPr lang="en-US" sz="1800" dirty="0"/>
              <a:t>Replacing a composite headlight bulb is typically very easy—getting to it often is not.</a:t>
            </a:r>
          </a:p>
          <a:p>
            <a:r>
              <a:rPr lang="en-US" sz="1800" dirty="0"/>
              <a:t>Bulbs are secured one of the three ways: with a retaining ring, by twisting and locking into the housing, or by a wire bale.</a:t>
            </a:r>
          </a:p>
          <a:p>
            <a:r>
              <a:rPr lang="en-US" sz="1800" dirty="0"/>
              <a:t>Before attempting to replace the bulb, refer to the service information for instructions.</a:t>
            </a:r>
          </a:p>
          <a:p>
            <a:r>
              <a:rPr lang="en-US" sz="1800" dirty="0"/>
              <a:t>If the bulb can be removed from the engine compartment, place a fender cover on the vehicle and remove any protective cover from the back of the housing and remove the bulb.</a:t>
            </a:r>
          </a:p>
          <a:p>
            <a:r>
              <a:rPr lang="en-US" sz="1800" dirty="0"/>
              <a:t>To access the bulbs in some vehicles, the bumper cover is removed to access the bolts that hold the headlight assembly, other bulbs are accessed through the fender liner.</a:t>
            </a:r>
          </a:p>
          <a:p>
            <a:r>
              <a:rPr lang="en-US" sz="1800" dirty="0"/>
              <a:t>When removing a bumper cover, you will probably have to replace the plastic body clips that are used to hold panels in place.</a:t>
            </a:r>
          </a:p>
        </p:txBody>
      </p:sp>
      <p:pic>
        <p:nvPicPr>
          <p:cNvPr id="6" name="Picture Placeholder 5" descr="Procedure for unlocking a bulb from a retainer ring by turning a bulb counterclockwise to remove from the housing.&#10;Procedure for unlocking a bulb from a retainer ring by pressing the wire bale to remove the bulb.">
            <a:extLst>
              <a:ext uri="{FF2B5EF4-FFF2-40B4-BE49-F238E27FC236}">
                <a16:creationId xmlns:a16="http://schemas.microsoft.com/office/drawing/2014/main" id="{BFB02FE0-D034-EBFF-86AC-6BE396642543}"/>
              </a:ext>
            </a:extLst>
          </p:cNvPr>
          <p:cNvPicPr>
            <a:picLocks noGrp="1" noChangeAspect="1"/>
          </p:cNvPicPr>
          <p:nvPr>
            <p:ph type="pic" sz="quarter" idx="10"/>
          </p:nvPr>
        </p:nvPicPr>
        <p:blipFill>
          <a:blip r:embed="rId3"/>
          <a:stretch>
            <a:fillRect/>
          </a:stretch>
        </p:blipFill>
        <p:spPr>
          <a:xfrm>
            <a:off x="9381952" y="1506661"/>
            <a:ext cx="2455143" cy="4207403"/>
          </a:xfrm>
          <a:prstGeom prst="rect">
            <a:avLst/>
          </a:prstGeom>
        </p:spPr>
      </p:pic>
    </p:spTree>
    <p:extLst>
      <p:ext uri="{BB962C8B-B14F-4D97-AF65-F5344CB8AC3E}">
        <p14:creationId xmlns:p14="http://schemas.microsoft.com/office/powerpoint/2010/main" val="1905434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 Replacement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sz="1800" dirty="0"/>
              <a:t>Proper diagnosis of these systems depends on understanding how the circuit works.</a:t>
            </a:r>
          </a:p>
          <a:p>
            <a:pPr>
              <a:spcAft>
                <a:spcPts val="600"/>
              </a:spcAft>
            </a:pPr>
            <a:r>
              <a:rPr lang="en-US" sz="1800" dirty="0"/>
              <a:t>If only the low beams have an HID system, the headlights contain an arc tube and ballast.</a:t>
            </a:r>
          </a:p>
          <a:p>
            <a:pPr>
              <a:spcAft>
                <a:spcPts val="600"/>
              </a:spcAft>
            </a:pPr>
            <a:r>
              <a:rPr lang="en-US" sz="1800" dirty="0"/>
              <a:t>The ballast increases the voltage so an arc can be established across the electrodes. When the headlight switch is moved to the HEADLIGHT position, the ground for the low-beam relay is completed by the control computer (BCM).</a:t>
            </a:r>
          </a:p>
          <a:p>
            <a:pPr>
              <a:spcAft>
                <a:spcPts val="600"/>
              </a:spcAft>
            </a:pPr>
            <a:r>
              <a:rPr lang="en-US" sz="1800" dirty="0"/>
              <a:t>This energizes the relay, and battery voltage is applied to the ballast in each headlamp assembly.</a:t>
            </a:r>
          </a:p>
          <a:p>
            <a:pPr>
              <a:spcAft>
                <a:spcPts val="600"/>
              </a:spcAft>
            </a:pPr>
            <a:r>
              <a:rPr lang="en-US" sz="1800" dirty="0"/>
              <a:t>The ballast increases the voltage and starts the high-voltage arcing to light the bulb. Once the arc is established, much less voltage is necessary to maintain the arc across the electrodes.</a:t>
            </a:r>
          </a:p>
          <a:p>
            <a:pPr>
              <a:spcAft>
                <a:spcPts val="600"/>
              </a:spcAft>
            </a:pPr>
            <a:r>
              <a:rPr lang="en-US" sz="1800" dirty="0"/>
              <a:t>In bi-xenon systems, there is no separate high-beam bulb. Rather a solenoid or stepper motor attached to a shutter is used to redirect the light beams from the bulb. When the headlamp dimmer switch is moved to the high-beam position, ground is applied through the dimmer switch to the BCM.</a:t>
            </a:r>
          </a:p>
        </p:txBody>
      </p:sp>
    </p:spTree>
    <p:extLst>
      <p:ext uri="{BB962C8B-B14F-4D97-AF65-F5344CB8AC3E}">
        <p14:creationId xmlns:p14="http://schemas.microsoft.com/office/powerpoint/2010/main" val="2286060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Headlight Replacement (4 of 4)</a:t>
            </a:r>
            <a:endParaRPr dirty="0"/>
          </a:p>
        </p:txBody>
      </p:sp>
      <p:sp>
        <p:nvSpPr>
          <p:cNvPr id="2" name="Text Placeholder 1">
            <a:extLst>
              <a:ext uri="{FF2B5EF4-FFF2-40B4-BE49-F238E27FC236}">
                <a16:creationId xmlns:a16="http://schemas.microsoft.com/office/drawing/2014/main" id="{BBC34EF1-607B-D7AA-F5B7-EBE4BE806772}"/>
              </a:ext>
            </a:extLst>
          </p:cNvPr>
          <p:cNvSpPr>
            <a:spLocks noGrp="1"/>
          </p:cNvSpPr>
          <p:nvPr>
            <p:ph type="body" idx="1"/>
          </p:nvPr>
        </p:nvSpPr>
        <p:spPr>
          <a:xfrm>
            <a:off x="476843" y="1471264"/>
            <a:ext cx="8155093" cy="4588160"/>
          </a:xfrm>
        </p:spPr>
        <p:txBody>
          <a:bodyPr/>
          <a:lstStyle/>
          <a:p>
            <a:r>
              <a:rPr lang="en-US" sz="2000" dirty="0"/>
              <a:t>Headlights must be kept in adjustment to obtain the safest and best light beams on the road ahead.</a:t>
            </a:r>
          </a:p>
          <a:p>
            <a:r>
              <a:rPr lang="en-US" sz="2000" dirty="0"/>
              <a:t>Headlights that are out of adjustment can cause other drivers discomfort and sometimes create hazardous conditions.</a:t>
            </a:r>
          </a:p>
          <a:p>
            <a:r>
              <a:rPr lang="en-US" sz="2000" dirty="0"/>
              <a:t>Before adjusting or aiming a vehicle’s headlights, make the following inspections to ensure that the vehicle is level.</a:t>
            </a:r>
          </a:p>
          <a:p>
            <a:r>
              <a:rPr lang="en-US" sz="2000" dirty="0"/>
              <a:t>Any one of these conditions can result in an incorrect setting:</a:t>
            </a:r>
          </a:p>
          <a:p>
            <a:pPr lvl="1"/>
            <a:r>
              <a:rPr lang="en-US" sz="1800" dirty="0"/>
              <a:t>Additional weight can alter the riding height.</a:t>
            </a:r>
          </a:p>
          <a:p>
            <a:pPr lvl="1"/>
            <a:r>
              <a:rPr lang="en-US" sz="1800" dirty="0"/>
              <a:t>Try to make the adjustment with the fuel tank half full.</a:t>
            </a:r>
          </a:p>
          <a:p>
            <a:pPr lvl="1"/>
            <a:r>
              <a:rPr lang="en-US" sz="1800" dirty="0"/>
              <a:t>Worn or broken suspension components affect the setting, so check the springs or shocks.</a:t>
            </a:r>
          </a:p>
        </p:txBody>
      </p:sp>
      <p:pic>
        <p:nvPicPr>
          <p:cNvPr id="5" name="Picture Placeholder 4" descr="Headlight adjustments with knobs for turning the beam left or right, dimmer or brighter.">
            <a:extLst>
              <a:ext uri="{FF2B5EF4-FFF2-40B4-BE49-F238E27FC236}">
                <a16:creationId xmlns:a16="http://schemas.microsoft.com/office/drawing/2014/main" id="{72352D2C-B8EE-DFA2-55C6-A5C3A3544190}"/>
              </a:ext>
            </a:extLst>
          </p:cNvPr>
          <p:cNvPicPr>
            <a:picLocks noGrp="1" noChangeAspect="1"/>
          </p:cNvPicPr>
          <p:nvPr>
            <p:ph type="pic" sz="quarter" idx="10"/>
          </p:nvPr>
        </p:nvPicPr>
        <p:blipFill rotWithShape="1">
          <a:blip r:embed="rId3"/>
          <a:srcRect b="8164"/>
          <a:stretch/>
        </p:blipFill>
        <p:spPr>
          <a:xfrm>
            <a:off x="8454678" y="1941534"/>
            <a:ext cx="3653823" cy="3339383"/>
          </a:xfrm>
          <a:prstGeom prst="rect">
            <a:avLst/>
          </a:prstGeom>
        </p:spPr>
      </p:pic>
    </p:spTree>
    <p:extLst>
      <p:ext uri="{BB962C8B-B14F-4D97-AF65-F5344CB8AC3E}">
        <p14:creationId xmlns:p14="http://schemas.microsoft.com/office/powerpoint/2010/main" val="170866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buNone/>
            </a:pPr>
            <a:r>
              <a:rPr lang="en-US" dirty="0"/>
              <a:t>Why is headlight aiming so important?</a:t>
            </a:r>
          </a:p>
        </p:txBody>
      </p:sp>
    </p:spTree>
    <p:extLst>
      <p:ext uri="{BB962C8B-B14F-4D97-AF65-F5344CB8AC3E}">
        <p14:creationId xmlns:p14="http://schemas.microsoft.com/office/powerpoint/2010/main" val="393837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b="1" dirty="0"/>
              <a:t>Answer:</a:t>
            </a:r>
            <a:r>
              <a:rPr lang="en-US" dirty="0"/>
              <a:t> Headlights must be kept in adjustment to obtain the safest and best light beams on the road ahead.</a:t>
            </a:r>
          </a:p>
          <a:p>
            <a:pPr marL="0" indent="0">
              <a:spcAft>
                <a:spcPts val="600"/>
              </a:spcAft>
              <a:buNone/>
            </a:pPr>
            <a:r>
              <a:rPr lang="en-US" dirty="0"/>
              <a:t>Headlights that are out of adjustment can cause other drivers discomfort and sometimes create hazardous conditions.</a:t>
            </a:r>
          </a:p>
        </p:txBody>
      </p:sp>
    </p:spTree>
    <p:extLst>
      <p:ext uri="{BB962C8B-B14F-4D97-AF65-F5344CB8AC3E}">
        <p14:creationId xmlns:p14="http://schemas.microsoft.com/office/powerpoint/2010/main" val="52929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Automatic Headlight System Diagnosis</a:t>
            </a:r>
            <a:endParaRPr dirty="0"/>
          </a:p>
        </p:txBody>
      </p:sp>
      <p:sp>
        <p:nvSpPr>
          <p:cNvPr id="2" name="Text Placeholder 1">
            <a:extLst>
              <a:ext uri="{FF2B5EF4-FFF2-40B4-BE49-F238E27FC236}">
                <a16:creationId xmlns:a16="http://schemas.microsoft.com/office/drawing/2014/main" id="{FDBA86FA-E5C8-608C-B21C-72D0D0B7ABFA}"/>
              </a:ext>
            </a:extLst>
          </p:cNvPr>
          <p:cNvSpPr>
            <a:spLocks noGrp="1"/>
          </p:cNvSpPr>
          <p:nvPr>
            <p:ph type="body" idx="1"/>
          </p:nvPr>
        </p:nvSpPr>
        <p:spPr>
          <a:xfrm>
            <a:off x="476843" y="1471264"/>
            <a:ext cx="7752757" cy="4661312"/>
          </a:xfrm>
        </p:spPr>
        <p:txBody>
          <a:bodyPr/>
          <a:lstStyle/>
          <a:p>
            <a:r>
              <a:rPr lang="en-US" sz="2000" dirty="0"/>
              <a:t>A photocell, normally in the vehicle’s dash, sends a signal to the BCM. </a:t>
            </a:r>
          </a:p>
          <a:p>
            <a:r>
              <a:rPr lang="en-US" sz="2000" dirty="0"/>
              <a:t>The BCM energizes the low-beam circuit when it is appropriate so if the low beams are not working when they should be, diagnosis will be necessary. </a:t>
            </a:r>
          </a:p>
          <a:p>
            <a:r>
              <a:rPr lang="en-US" sz="2000" dirty="0"/>
              <a:t>Each should be tested according to the procedures given by the manufacturer. </a:t>
            </a:r>
          </a:p>
          <a:p>
            <a:r>
              <a:rPr lang="en-US" sz="2000" dirty="0"/>
              <a:t>This involves many measurements and conducting tests with a scan tool. </a:t>
            </a:r>
          </a:p>
          <a:p>
            <a:r>
              <a:rPr lang="en-US" sz="2000" dirty="0"/>
              <a:t>Most systems also keep the lights on for a short time after the vehicle has been parked. </a:t>
            </a:r>
          </a:p>
          <a:p>
            <a:r>
              <a:rPr lang="en-US" sz="2000" dirty="0"/>
              <a:t>The controlling device for this feature is a potentiometer incorporated into the headlamp switch. </a:t>
            </a:r>
          </a:p>
        </p:txBody>
      </p:sp>
      <p:pic>
        <p:nvPicPr>
          <p:cNvPr id="5" name="Picture Placeholder 4" descr="A screenshot depicts the scan tool tab with the screen titled, aim test. Aim test tab lists the name with its data as follows: Horizontal degrees from nominal: 0.7; Horizontal aim position: right; vertical degrees from nominal: 0.0; vertical aim position: Up; calibration status: done. The four buttons at the end of the tab include back, next, finish (highlighted), and cancel.">
            <a:extLst>
              <a:ext uri="{FF2B5EF4-FFF2-40B4-BE49-F238E27FC236}">
                <a16:creationId xmlns:a16="http://schemas.microsoft.com/office/drawing/2014/main" id="{B305D2F5-B845-991B-3AF6-1A984408E677}"/>
              </a:ext>
            </a:extLst>
          </p:cNvPr>
          <p:cNvPicPr>
            <a:picLocks noGrp="1" noChangeAspect="1"/>
          </p:cNvPicPr>
          <p:nvPr>
            <p:ph type="pic" sz="quarter" idx="10"/>
          </p:nvPr>
        </p:nvPicPr>
        <p:blipFill rotWithShape="1">
          <a:blip r:embed="rId3"/>
          <a:srcRect b="13291"/>
          <a:stretch/>
        </p:blipFill>
        <p:spPr>
          <a:xfrm>
            <a:off x="8183945" y="1683986"/>
            <a:ext cx="3882795" cy="2600338"/>
          </a:xfrm>
          <a:prstGeom prst="rect">
            <a:avLst/>
          </a:prstGeom>
        </p:spPr>
      </p:pic>
    </p:spTree>
    <p:extLst>
      <p:ext uri="{BB962C8B-B14F-4D97-AF65-F5344CB8AC3E}">
        <p14:creationId xmlns:p14="http://schemas.microsoft.com/office/powerpoint/2010/main" val="2981265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Basic Lighting System Diagnosis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71264"/>
            <a:ext cx="7655221" cy="4600352"/>
          </a:xfrm>
        </p:spPr>
        <p:txBody>
          <a:bodyPr/>
          <a:lstStyle/>
          <a:p>
            <a:r>
              <a:rPr lang="en-US" sz="1800" dirty="0"/>
              <a:t>Several types of light bulbs are used in today’s vehicles, and each has a unique purpose and a unique way that it fits into its socket. </a:t>
            </a:r>
          </a:p>
          <a:p>
            <a:r>
              <a:rPr lang="en-US" sz="1800" dirty="0"/>
              <a:t>Within a particular design, the different bulbs may have their own power rating.</a:t>
            </a:r>
          </a:p>
          <a:p>
            <a:r>
              <a:rPr lang="en-US" sz="1800" dirty="0"/>
              <a:t>When replacing a bulb, make sure it is the exact replacement. </a:t>
            </a:r>
          </a:p>
          <a:p>
            <a:r>
              <a:rPr lang="en-US" sz="1800" dirty="0"/>
              <a:t>Lamp types can be identified by the lamp’s standard trade number, usually present on the lamp’s housing.</a:t>
            </a:r>
          </a:p>
          <a:p>
            <a:r>
              <a:rPr lang="en-US" sz="1800" dirty="0"/>
              <a:t>Lamps are normally one of two types: they have a single filament or a double filament. Double-filament bulbs serve more than one function.</a:t>
            </a:r>
          </a:p>
          <a:p>
            <a:r>
              <a:rPr lang="en-US" sz="1800" dirty="0"/>
              <a:t>Light problems can be solved by simply replacing bulbs. A bulb can be quickly checked with a powered test light or an ohmmeter.</a:t>
            </a:r>
          </a:p>
        </p:txBody>
      </p:sp>
      <p:pic>
        <p:nvPicPr>
          <p:cNvPr id="3" name="Picture Placeholder 2" descr="An illustration depicts single and double filament bulbs. Single- filament consists of one filament and one contact while double- filament bulb consists of two filaments and two contacts.">
            <a:extLst>
              <a:ext uri="{FF2B5EF4-FFF2-40B4-BE49-F238E27FC236}">
                <a16:creationId xmlns:a16="http://schemas.microsoft.com/office/drawing/2014/main" id="{F4FBFBB4-7E01-645A-42C3-2A944218BC3A}"/>
              </a:ext>
            </a:extLst>
          </p:cNvPr>
          <p:cNvPicPr>
            <a:picLocks noGrp="1" noChangeAspect="1"/>
          </p:cNvPicPr>
          <p:nvPr>
            <p:ph type="pic" sz="quarter" idx="10"/>
          </p:nvPr>
        </p:nvPicPr>
        <p:blipFill>
          <a:blip r:embed="rId3"/>
          <a:srcRect b="19958"/>
          <a:stretch/>
        </p:blipFill>
        <p:spPr>
          <a:xfrm>
            <a:off x="8132064" y="1942620"/>
            <a:ext cx="3705773" cy="2972760"/>
          </a:xfrm>
          <a:prstGeom prst="rect">
            <a:avLst/>
          </a:prstGeom>
        </p:spPr>
      </p:pic>
    </p:spTree>
    <p:extLst>
      <p:ext uri="{BB962C8B-B14F-4D97-AF65-F5344CB8AC3E}">
        <p14:creationId xmlns:p14="http://schemas.microsoft.com/office/powerpoint/2010/main" val="3283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Bulb Replacement</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433686"/>
            <a:ext cx="7825909" cy="4636928"/>
          </a:xfrm>
        </p:spPr>
        <p:txBody>
          <a:bodyPr/>
          <a:lstStyle/>
          <a:p>
            <a:r>
              <a:rPr lang="en-US" sz="2000" dirty="0"/>
              <a:t>Bulbs are held in their sockets in a number of ways. Some bulbs are simply pushed into and pulled out of their sockets, and some are screwed in and out.</a:t>
            </a:r>
          </a:p>
          <a:p>
            <a:r>
              <a:rPr lang="en-US" sz="2000" dirty="0"/>
              <a:t>Some bulbs must be depressed and turned counterclockwise to remove them.</a:t>
            </a:r>
          </a:p>
          <a:p>
            <a:r>
              <a:rPr lang="en-US" sz="2000" dirty="0"/>
              <a:t>When replacing a bulb, inspect the bulb socket. Often, moisture gets into a bulb socket and causes corrosion at the electrical contacts in the socket.</a:t>
            </a:r>
          </a:p>
          <a:p>
            <a:r>
              <a:rPr lang="en-US" sz="2000" dirty="0"/>
              <a:t>At times, the corrosion can be removed with sandpaper. Other times, the socket or light assembly should be replaced.</a:t>
            </a:r>
          </a:p>
          <a:p>
            <a:r>
              <a:rPr lang="en-US" sz="2000" dirty="0"/>
              <a:t>Light bulbs may be contained in an assembly, and access to the bulb is gained by reaching around the rear of the assembly and removing the socket. </a:t>
            </a:r>
          </a:p>
          <a:p>
            <a:endParaRPr lang="en-US" sz="2000" dirty="0"/>
          </a:p>
          <a:p>
            <a:endParaRPr lang="en-US" sz="2000" dirty="0"/>
          </a:p>
        </p:txBody>
      </p:sp>
      <p:pic>
        <p:nvPicPr>
          <p:cNvPr id="3" name="Picture Placeholder 2" descr="A technician pulls out a light bulb from a socket, before pushing it back in.">
            <a:extLst>
              <a:ext uri="{FF2B5EF4-FFF2-40B4-BE49-F238E27FC236}">
                <a16:creationId xmlns:a16="http://schemas.microsoft.com/office/drawing/2014/main" id="{B0628145-BE1D-BBC4-2BFF-EFB9871D1A9C}"/>
              </a:ext>
            </a:extLst>
          </p:cNvPr>
          <p:cNvPicPr>
            <a:picLocks noGrp="1" noChangeAspect="1"/>
          </p:cNvPicPr>
          <p:nvPr>
            <p:ph type="pic" sz="quarter" idx="10"/>
          </p:nvPr>
        </p:nvPicPr>
        <p:blipFill>
          <a:blip r:embed="rId3"/>
          <a:srcRect b="10444"/>
          <a:stretch/>
        </p:blipFill>
        <p:spPr>
          <a:xfrm>
            <a:off x="8302752" y="2219135"/>
            <a:ext cx="3613715" cy="2794654"/>
          </a:xfrm>
          <a:prstGeom prst="rect">
            <a:avLst/>
          </a:prstGeom>
        </p:spPr>
      </p:pic>
    </p:spTree>
    <p:extLst>
      <p:ext uri="{BB962C8B-B14F-4D97-AF65-F5344CB8AC3E}">
        <p14:creationId xmlns:p14="http://schemas.microsoft.com/office/powerpoint/2010/main" val="3855711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Rear Exterior Lights (1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5042" y="1471264"/>
            <a:ext cx="11241915" cy="4613339"/>
          </a:xfrm>
        </p:spPr>
        <p:txBody>
          <a:bodyPr/>
          <a:lstStyle/>
          <a:p>
            <a:r>
              <a:rPr lang="en-US" sz="2400" dirty="0"/>
              <a:t>Taillight Diagnostic Tips:</a:t>
            </a:r>
          </a:p>
          <a:p>
            <a:pPr lvl="1"/>
            <a:r>
              <a:rPr lang="en-US" sz="2200" dirty="0"/>
              <a:t>If all lamps don’t operate, check the condition of the fuse.</a:t>
            </a:r>
          </a:p>
          <a:p>
            <a:pPr lvl="1"/>
            <a:r>
              <a:rPr lang="en-US" sz="2200" dirty="0"/>
              <a:t>If the fuse is good, check the operation of the taillight relay.</a:t>
            </a:r>
          </a:p>
          <a:p>
            <a:pPr lvl="1"/>
            <a:r>
              <a:rPr lang="en-US" sz="2200" dirty="0"/>
              <a:t>You can use a test light or voltmeter to check for the presence of voltage and ground at various parts of the circuit at the relay.</a:t>
            </a:r>
          </a:p>
          <a:p>
            <a:pPr lvl="1"/>
            <a:r>
              <a:rPr lang="en-US" sz="2200" dirty="0"/>
              <a:t>If the system uses a BCM or lighting module, check for light switch input with a scan tool.</a:t>
            </a:r>
          </a:p>
          <a:p>
            <a:pPr lvl="1"/>
            <a:r>
              <a:rPr lang="en-US" sz="2200" dirty="0"/>
              <a:t>If no voltage is measured at one of the circuits, there is probably an open in that circuit.</a:t>
            </a:r>
          </a:p>
          <a:p>
            <a:pPr lvl="1"/>
            <a:r>
              <a:rPr lang="en-US" sz="2200" dirty="0"/>
              <a:t>If no voltage is reaching the taillights but the headlamps are working fine, the problem may be the headlight switch or the wiring to the rear of vehicle.</a:t>
            </a:r>
          </a:p>
        </p:txBody>
      </p:sp>
    </p:spTree>
    <p:extLst>
      <p:ext uri="{BB962C8B-B14F-4D97-AF65-F5344CB8AC3E}">
        <p14:creationId xmlns:p14="http://schemas.microsoft.com/office/powerpoint/2010/main" val="3028416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Rear Exterior Lights (2 of 4)</a:t>
            </a:r>
            <a:endParaRPr dirty="0"/>
          </a:p>
        </p:txBody>
      </p:sp>
      <p:sp>
        <p:nvSpPr>
          <p:cNvPr id="2" name="Text Placeholder 1">
            <a:extLst>
              <a:ext uri="{FF2B5EF4-FFF2-40B4-BE49-F238E27FC236}">
                <a16:creationId xmlns:a16="http://schemas.microsoft.com/office/drawing/2014/main" id="{A213875F-3F0E-AB97-3201-851CEFA98590}"/>
              </a:ext>
            </a:extLst>
          </p:cNvPr>
          <p:cNvSpPr>
            <a:spLocks noGrp="1"/>
          </p:cNvSpPr>
          <p:nvPr>
            <p:ph type="body" idx="1"/>
          </p:nvPr>
        </p:nvSpPr>
        <p:spPr>
          <a:xfrm>
            <a:off x="476843" y="1471264"/>
            <a:ext cx="7728373" cy="4649120"/>
          </a:xfrm>
        </p:spPr>
        <p:txBody>
          <a:bodyPr/>
          <a:lstStyle/>
          <a:p>
            <a:pPr marL="0" indent="0">
              <a:buNone/>
            </a:pPr>
            <a:r>
              <a:rPr lang="en-US" sz="1800" b="1" dirty="0"/>
              <a:t>20.05 Understand the functions of turn, stop, back up, and hazard warning lights.</a:t>
            </a:r>
          </a:p>
          <a:p>
            <a:r>
              <a:rPr lang="en-US" sz="1800" dirty="0"/>
              <a:t>Each system has a switch that must close to turn on the lights in the circuit.</a:t>
            </a:r>
          </a:p>
          <a:p>
            <a:r>
              <a:rPr lang="en-US" sz="1800" dirty="0"/>
              <a:t>The hazard lights are also powered through the fuse panel; however, they have power at all times regardless of ignition switch position.</a:t>
            </a:r>
          </a:p>
          <a:p>
            <a:r>
              <a:rPr lang="en-US" sz="1800" dirty="0"/>
              <a:t>Hazard lights are commonly referred to as four-way flashers because the lights at all four corners of the vehicle will flash when the circuit is turned on.</a:t>
            </a:r>
          </a:p>
          <a:p>
            <a:r>
              <a:rPr lang="en-US" sz="1800" dirty="0"/>
              <a:t>Side markers are connected in parallel with the feed circuit (from the headlight switch) for the filaments of the front parking lights and rear taillights.</a:t>
            </a:r>
          </a:p>
          <a:p>
            <a:r>
              <a:rPr lang="en-US" sz="1800" dirty="0"/>
              <a:t>The turn signal and hazard light switches on many current vehicles are part of a multifunction switch.</a:t>
            </a:r>
          </a:p>
        </p:txBody>
      </p:sp>
      <p:pic>
        <p:nvPicPr>
          <p:cNvPr id="5" name="Picture Placeholder 4" descr="A turn signal circuit for a two-bulb system. The components are as follows: hazard flasher switch, turn signal switch, and fuse. The positive terminal of the battery from the brake switch is connected to the first terminal of the hazard flasher switch, R T, 5 to right rear turn/ brake lamp and then grounded. The same signal flows through switch 8, which is further connected to left rear turn/brake lamp and grounded. The positive terminal of the battery from hazard flasher is connected to the second terminal of hazard flasher switch. The third terminal of hazard flasher switch is connected to switch 6 through switch 2 in turn signal switch, which is further connected to the Left Front Park/turn lamp and grounded. Switch 3 is further connected to turn signal flasher. The fourth terminal of hazard flasher switch is connected to R T through port 4 in turn signal switch and connected to Right Front Park/turn lamp and grounded. The L T of switch 8 is connected to left rear turn/brake lamp and grounded. The R T switch 9 is connected to right cornering lamp and grounded. LT in turn signal switch is connected to left cornering lamp and grounded. Switch 10 is connected to fuse from ignition switch.">
            <a:extLst>
              <a:ext uri="{FF2B5EF4-FFF2-40B4-BE49-F238E27FC236}">
                <a16:creationId xmlns:a16="http://schemas.microsoft.com/office/drawing/2014/main" id="{9D7212AB-01C3-ACB2-BF3C-58BEF2A2D423}"/>
              </a:ext>
            </a:extLst>
          </p:cNvPr>
          <p:cNvPicPr>
            <a:picLocks noGrp="1" noChangeAspect="1"/>
          </p:cNvPicPr>
          <p:nvPr>
            <p:ph type="pic" sz="quarter" idx="10"/>
          </p:nvPr>
        </p:nvPicPr>
        <p:blipFill>
          <a:blip r:embed="rId3"/>
          <a:srcRect b="2855"/>
          <a:stretch/>
        </p:blipFill>
        <p:spPr>
          <a:xfrm>
            <a:off x="8205216" y="1993481"/>
            <a:ext cx="3545981" cy="3604685"/>
          </a:xfrm>
          <a:prstGeom prst="rect">
            <a:avLst/>
          </a:prstGeom>
        </p:spPr>
      </p:pic>
    </p:spTree>
    <p:extLst>
      <p:ext uri="{BB962C8B-B14F-4D97-AF65-F5344CB8AC3E}">
        <p14:creationId xmlns:p14="http://schemas.microsoft.com/office/powerpoint/2010/main" val="4169592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Rear Exterior Lights (3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Occasionally, the flasher does not flash as fast as it once did, or it flashes faster. This is also cause for replacement.</a:t>
            </a:r>
          </a:p>
          <a:p>
            <a:r>
              <a:rPr lang="en-US" sz="1800" dirty="0"/>
              <a:t>If it flashes too slowly or not at all, check for a burned-out bulb first. However, keep in mind the flasher rate is affected by the type of flasher.</a:t>
            </a:r>
          </a:p>
          <a:p>
            <a:r>
              <a:rPr lang="en-US" sz="1800" dirty="0"/>
              <a:t>Flashers are designed to operate a specific number of bulbs to give a specific candlepower (brightness).</a:t>
            </a:r>
          </a:p>
          <a:p>
            <a:r>
              <a:rPr lang="en-US" sz="1800" dirty="0"/>
              <a:t>Newer vehicles may have a combination flasher unit that controls the flash rate of both the turn signals and the hazard lights. These combination flashers are electronic units. The actual turning off and on of the lights is caused by the cycling of a transistor.</a:t>
            </a:r>
          </a:p>
          <a:p>
            <a:r>
              <a:rPr lang="en-US" sz="1800" dirty="0"/>
              <a:t>This type of flasher also senses when a bulb is burned out and causes the remaining bulbs on that side to flash faster.</a:t>
            </a:r>
          </a:p>
          <a:p>
            <a:r>
              <a:rPr lang="en-US" sz="1800" dirty="0"/>
              <a:t>Because this flasher is an electronic device, it cannot be tested with normal test equipment.</a:t>
            </a:r>
          </a:p>
          <a:p>
            <a:r>
              <a:rPr lang="en-US" sz="1800" dirty="0"/>
              <a:t>The only test of the flasher is to substitute it with a known good one. If the lights flash normally, the original flasher unit was bad and needs to be replaced.</a:t>
            </a:r>
          </a:p>
        </p:txBody>
      </p:sp>
    </p:spTree>
    <p:extLst>
      <p:ext uri="{BB962C8B-B14F-4D97-AF65-F5344CB8AC3E}">
        <p14:creationId xmlns:p14="http://schemas.microsoft.com/office/powerpoint/2010/main" val="3864977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Rear Exterior Lights (4 of 4)</a:t>
            </a:r>
            <a:endParaRPr dirty="0"/>
          </a:p>
        </p:txBody>
      </p:sp>
      <p:sp>
        <p:nvSpPr>
          <p:cNvPr id="2" name="Text Placeholder 1">
            <a:extLst>
              <a:ext uri="{FF2B5EF4-FFF2-40B4-BE49-F238E27FC236}">
                <a16:creationId xmlns:a16="http://schemas.microsoft.com/office/drawing/2014/main" id="{BAEC618E-A8E8-5D9D-8C41-76412777A502}"/>
              </a:ext>
            </a:extLst>
          </p:cNvPr>
          <p:cNvSpPr>
            <a:spLocks noGrp="1"/>
          </p:cNvSpPr>
          <p:nvPr>
            <p:ph type="body" idx="1"/>
          </p:nvPr>
        </p:nvSpPr>
        <p:spPr>
          <a:xfrm>
            <a:off x="476844" y="1471264"/>
            <a:ext cx="7452132" cy="4697888"/>
          </a:xfrm>
        </p:spPr>
        <p:txBody>
          <a:bodyPr/>
          <a:lstStyle/>
          <a:p>
            <a:r>
              <a:rPr lang="en-US" sz="1800" dirty="0"/>
              <a:t>The brake (stop) lights are usually controlled by a stoplight switch or brake pedal position sensor (BPP) that is normally mounted on the brake pedal arm. </a:t>
            </a:r>
          </a:p>
          <a:p>
            <a:r>
              <a:rPr lang="en-US" sz="1800" dirty="0"/>
              <a:t>Some cars are equipped with a brake or stoplight switch mounted on the master cylinder, which closes when hydraulic pressure increases as the brake pedal is depressed. </a:t>
            </a:r>
          </a:p>
          <a:p>
            <a:r>
              <a:rPr lang="en-US" sz="1800" dirty="0"/>
              <a:t>Depressing the brake pedal causes the stoplight switch contacts to close. </a:t>
            </a:r>
          </a:p>
          <a:p>
            <a:r>
              <a:rPr lang="en-US" sz="1800" dirty="0"/>
              <a:t>Current can then flow to the stoplight filament of the rear light assembly. </a:t>
            </a:r>
          </a:p>
          <a:p>
            <a:r>
              <a:rPr lang="en-US" sz="1800" dirty="0"/>
              <a:t>These stay illuminated until the brake pedal is released. </a:t>
            </a:r>
          </a:p>
          <a:p>
            <a:r>
              <a:rPr lang="en-US" sz="1800" dirty="0"/>
              <a:t>In addition to the stoplights at the rear of the vehicle, all late-model vehicles have a center high-mounted stoplight (CHMSL).</a:t>
            </a:r>
          </a:p>
        </p:txBody>
      </p:sp>
      <p:pic>
        <p:nvPicPr>
          <p:cNvPr id="5" name="Picture Placeholder 4" descr="A brake pedal position sensor is mounted on the brake pedal arm.">
            <a:extLst>
              <a:ext uri="{FF2B5EF4-FFF2-40B4-BE49-F238E27FC236}">
                <a16:creationId xmlns:a16="http://schemas.microsoft.com/office/drawing/2014/main" id="{42BBE633-617C-4225-96CF-5084EEE3F4A6}"/>
              </a:ext>
            </a:extLst>
          </p:cNvPr>
          <p:cNvPicPr>
            <a:picLocks noGrp="1" noChangeAspect="1"/>
          </p:cNvPicPr>
          <p:nvPr>
            <p:ph type="pic" sz="quarter" idx="10"/>
          </p:nvPr>
        </p:nvPicPr>
        <p:blipFill rotWithShape="1">
          <a:blip r:embed="rId3"/>
          <a:srcRect b="12488"/>
          <a:stretch/>
        </p:blipFill>
        <p:spPr>
          <a:xfrm>
            <a:off x="7928976" y="1987870"/>
            <a:ext cx="4033380" cy="2840984"/>
          </a:xfrm>
          <a:prstGeom prst="rect">
            <a:avLst/>
          </a:prstGeom>
        </p:spPr>
      </p:pic>
    </p:spTree>
    <p:extLst>
      <p:ext uri="{BB962C8B-B14F-4D97-AF65-F5344CB8AC3E}">
        <p14:creationId xmlns:p14="http://schemas.microsoft.com/office/powerpoint/2010/main" val="1523349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LED Lights</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2000" dirty="0"/>
              <a:t>Some vehicles use neon lamps and/or LEDs for tail, brake, and turn signal lights. LED bulbs illuminate much faster than a standard bulb.</a:t>
            </a:r>
          </a:p>
          <a:p>
            <a:r>
              <a:rPr lang="en-US" sz="2000" dirty="0"/>
              <a:t>The importance of this time difference is that it gives the driver behind the vehicle an earlier warning to stop.</a:t>
            </a:r>
          </a:p>
          <a:p>
            <a:r>
              <a:rPr lang="en-US" sz="2000" dirty="0"/>
              <a:t>This early warning can give the approaching driver 19 more feet for stopping when driving at 60 miles per hour.</a:t>
            </a:r>
          </a:p>
          <a:p>
            <a:r>
              <a:rPr lang="en-US" sz="2000" dirty="0"/>
              <a:t>LEDs have a long operating life and provide a more precise contrast and signal pattern, thus attracting attention much more effectively.</a:t>
            </a:r>
          </a:p>
          <a:p>
            <a:r>
              <a:rPr lang="en-US" sz="2000" dirty="0"/>
              <a:t>Using the same basic technology as LEDs, laser-lit taillights consume seven times less power than incandescent sources.</a:t>
            </a:r>
          </a:p>
          <a:p>
            <a:r>
              <a:rPr lang="en-US" sz="2000" dirty="0"/>
              <a:t>These savings are extremely important for electric vehicles.</a:t>
            </a:r>
          </a:p>
          <a:p>
            <a:r>
              <a:rPr lang="en-US" sz="2000" dirty="0"/>
              <a:t>The light waves of a laser light beam move in the same direction and the light is all the same color.</a:t>
            </a:r>
          </a:p>
        </p:txBody>
      </p:sp>
    </p:spTree>
    <p:extLst>
      <p:ext uri="{BB962C8B-B14F-4D97-AF65-F5344CB8AC3E}">
        <p14:creationId xmlns:p14="http://schemas.microsoft.com/office/powerpoint/2010/main" val="2563160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Other Exterior Lights</a:t>
            </a:r>
            <a:endParaRPr dirty="0"/>
          </a:p>
        </p:txBody>
      </p:sp>
      <p:sp>
        <p:nvSpPr>
          <p:cNvPr id="2" name="Text Placeholder 1">
            <a:extLst>
              <a:ext uri="{FF2B5EF4-FFF2-40B4-BE49-F238E27FC236}">
                <a16:creationId xmlns:a16="http://schemas.microsoft.com/office/drawing/2014/main" id="{A68C3BCA-C2C0-D58B-18E5-21604B9E3F4A}"/>
              </a:ext>
            </a:extLst>
          </p:cNvPr>
          <p:cNvSpPr>
            <a:spLocks noGrp="1"/>
          </p:cNvSpPr>
          <p:nvPr>
            <p:ph type="body" idx="1"/>
          </p:nvPr>
        </p:nvSpPr>
        <p:spPr>
          <a:xfrm>
            <a:off x="476843" y="1471264"/>
            <a:ext cx="7850293" cy="4661312"/>
          </a:xfrm>
        </p:spPr>
        <p:txBody>
          <a:bodyPr/>
          <a:lstStyle/>
          <a:p>
            <a:pPr marL="0" indent="0">
              <a:buNone/>
            </a:pPr>
            <a:r>
              <a:rPr lang="en-US" sz="2400" b="1" dirty="0"/>
              <a:t>20.06 Diagnose and service exterior lights. Identify types of interior lights and their purposes.</a:t>
            </a:r>
          </a:p>
          <a:p>
            <a:r>
              <a:rPr lang="en-US" sz="2200" dirty="0"/>
              <a:t>Many vehicles have additional exterior lights, typically from LEDs, to help illuminate around the outside of the vehicle for safety and looks.</a:t>
            </a:r>
          </a:p>
          <a:p>
            <a:r>
              <a:rPr lang="en-US" sz="2200" dirty="0"/>
              <a:t>Illuminated door handles have lights that turn on when the keyless entry system is used to lock or unlock the doors or access other parts of the vehicle.</a:t>
            </a:r>
          </a:p>
          <a:p>
            <a:r>
              <a:rPr lang="en-US" sz="2200" dirty="0"/>
              <a:t>Puddle lights are often located either on the bottom of the outside mirrors or in the bottom of the door trim.</a:t>
            </a:r>
          </a:p>
        </p:txBody>
      </p:sp>
      <p:pic>
        <p:nvPicPr>
          <p:cNvPr id="5" name="Picture Placeholder 4" descr="An illuminated door handle has an L E D fixed within it, and used when the key-less entry system is accessed to lock or unlock the door.">
            <a:extLst>
              <a:ext uri="{FF2B5EF4-FFF2-40B4-BE49-F238E27FC236}">
                <a16:creationId xmlns:a16="http://schemas.microsoft.com/office/drawing/2014/main" id="{28F778CC-8A39-5F66-F73D-6F562FA34E52}"/>
              </a:ext>
            </a:extLst>
          </p:cNvPr>
          <p:cNvPicPr>
            <a:picLocks noGrp="1" noChangeAspect="1"/>
          </p:cNvPicPr>
          <p:nvPr>
            <p:ph type="pic" sz="quarter" idx="10"/>
          </p:nvPr>
        </p:nvPicPr>
        <p:blipFill>
          <a:blip r:embed="rId3"/>
          <a:srcRect b="9274"/>
          <a:stretch/>
        </p:blipFill>
        <p:spPr>
          <a:xfrm>
            <a:off x="8327135" y="2192055"/>
            <a:ext cx="3719471" cy="2400493"/>
          </a:xfrm>
          <a:prstGeom prst="rect">
            <a:avLst/>
          </a:prstGeom>
        </p:spPr>
      </p:pic>
    </p:spTree>
    <p:extLst>
      <p:ext uri="{BB962C8B-B14F-4D97-AF65-F5344CB8AC3E}">
        <p14:creationId xmlns:p14="http://schemas.microsoft.com/office/powerpoint/2010/main" val="3504281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Interior Light Assemblies (1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a:xfrm>
            <a:off x="476843" y="1208218"/>
            <a:ext cx="11548143" cy="4613339"/>
          </a:xfrm>
        </p:spPr>
        <p:txBody>
          <a:bodyPr/>
          <a:lstStyle/>
          <a:p>
            <a:r>
              <a:rPr lang="en-US" sz="2000" b="1" dirty="0"/>
              <a:t>20.06 Diagnose and service exterior lights. Identify types of interior lights and their purposes.</a:t>
            </a:r>
          </a:p>
          <a:p>
            <a:r>
              <a:rPr lang="en-US" sz="2000" dirty="0"/>
              <a:t>Engine Compartment Light:</a:t>
            </a:r>
          </a:p>
          <a:p>
            <a:pPr lvl="1"/>
            <a:r>
              <a:rPr lang="en-US" sz="1800" dirty="0"/>
              <a:t>Either a hood switch or a mercury switch can be used to turn on the engine compartment light.</a:t>
            </a:r>
          </a:p>
          <a:p>
            <a:r>
              <a:rPr lang="en-US" sz="2000" dirty="0"/>
              <a:t>Glove Box Light</a:t>
            </a:r>
          </a:p>
          <a:p>
            <a:pPr lvl="1"/>
            <a:r>
              <a:rPr lang="en-US" sz="1800" dirty="0"/>
              <a:t>Opening the glove box door closes the glove box light switch contacts and the light comes on</a:t>
            </a:r>
          </a:p>
          <a:p>
            <a:r>
              <a:rPr lang="en-US" sz="2000" dirty="0"/>
              <a:t>Luggage Compartment Light</a:t>
            </a:r>
          </a:p>
          <a:p>
            <a:pPr lvl="1"/>
            <a:r>
              <a:rPr lang="en-US" sz="1800" dirty="0"/>
              <a:t>The light is mounted in the underside of the trunk deck lid in the luggage compartment.</a:t>
            </a:r>
          </a:p>
          <a:p>
            <a:r>
              <a:rPr lang="en-US" sz="2000" dirty="0"/>
              <a:t>Trunk Lid Light</a:t>
            </a:r>
          </a:p>
          <a:p>
            <a:pPr lvl="1"/>
            <a:r>
              <a:rPr lang="en-US" sz="1800" dirty="0"/>
              <a:t>Lifting the trunk lid causes the light switch to close and the light to come on.</a:t>
            </a:r>
          </a:p>
          <a:p>
            <a:r>
              <a:rPr lang="en-US" sz="2000" dirty="0"/>
              <a:t>Vanity Light</a:t>
            </a:r>
          </a:p>
          <a:p>
            <a:pPr lvl="1"/>
            <a:r>
              <a:rPr lang="en-US" sz="1800" dirty="0"/>
              <a:t>Pivoting the sun visor downward and opening the vanity mirror cover causes the vanity light switch contacts to close and the light to come on.</a:t>
            </a:r>
          </a:p>
        </p:txBody>
      </p:sp>
    </p:spTree>
    <p:extLst>
      <p:ext uri="{BB962C8B-B14F-4D97-AF65-F5344CB8AC3E}">
        <p14:creationId xmlns:p14="http://schemas.microsoft.com/office/powerpoint/2010/main" val="50366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Interior Light Assemblies (2 of 4)</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sz="1800" dirty="0"/>
              <a:t>Vehicles may have courtesy lights in the door trim panels, under each side of the instrument panel, above the foot wells, or in the center of the headlining.</a:t>
            </a:r>
          </a:p>
          <a:p>
            <a:r>
              <a:rPr lang="en-US" sz="1800" dirty="0"/>
              <a:t>Their sole purpose is to allow light inside the vehicle.</a:t>
            </a:r>
          </a:p>
          <a:p>
            <a:r>
              <a:rPr lang="en-US" sz="1800" dirty="0"/>
              <a:t>The courtesy lights are also turned on by the illuminated entry or keyless entry systems, if the vehicle is equipped with one or both of these.</a:t>
            </a:r>
          </a:p>
          <a:p>
            <a:r>
              <a:rPr lang="en-US" sz="1800" dirty="0"/>
              <a:t>LEDs are often used for interior lighting and custom colors can be often selected by the driver.</a:t>
            </a:r>
          </a:p>
          <a:p>
            <a:r>
              <a:rPr lang="en-US" sz="1800" dirty="0"/>
              <a:t>Typically, power is supplied from the fuse block to the courtesy lights. The ground is controlled by the position of the door switch.</a:t>
            </a:r>
          </a:p>
          <a:p>
            <a:r>
              <a:rPr lang="en-US" sz="1800" dirty="0"/>
              <a:t>The door switches are held in an open position and do not provide for a ground circuit. When the door is opened, a spring pushes the switch closed to ground the circuit, and the courtesy  lights rarely give any trouble.</a:t>
            </a:r>
          </a:p>
          <a:p>
            <a:r>
              <a:rPr lang="en-US" sz="1800" dirty="0"/>
              <a:t>However, if they do not operate, check the fuse, bulb, switch, and wiring. Illuminated entry systems make entry into the vehicle safer by illuminating the door lock cylinder when it is dark so the lock can be easily located.</a:t>
            </a:r>
          </a:p>
        </p:txBody>
      </p:sp>
    </p:spTree>
    <p:extLst>
      <p:ext uri="{BB962C8B-B14F-4D97-AF65-F5344CB8AC3E}">
        <p14:creationId xmlns:p14="http://schemas.microsoft.com/office/powerpoint/2010/main" val="3327312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Interior Light Assemblies (3 of 4)</a:t>
            </a:r>
            <a:endParaRPr dirty="0"/>
          </a:p>
        </p:txBody>
      </p:sp>
      <p:sp>
        <p:nvSpPr>
          <p:cNvPr id="2" name="Text Placeholder 1">
            <a:extLst>
              <a:ext uri="{FF2B5EF4-FFF2-40B4-BE49-F238E27FC236}">
                <a16:creationId xmlns:a16="http://schemas.microsoft.com/office/drawing/2014/main" id="{FF4521FA-363B-3FD9-0C1A-0B760B77E555}"/>
              </a:ext>
            </a:extLst>
          </p:cNvPr>
          <p:cNvSpPr>
            <a:spLocks noGrp="1"/>
          </p:cNvSpPr>
          <p:nvPr>
            <p:ph type="body" idx="1"/>
          </p:nvPr>
        </p:nvSpPr>
        <p:spPr>
          <a:xfrm>
            <a:off x="476843" y="1471264"/>
            <a:ext cx="7569877" cy="4218335"/>
          </a:xfrm>
        </p:spPr>
        <p:txBody>
          <a:bodyPr/>
          <a:lstStyle/>
          <a:p>
            <a:pPr>
              <a:spcAft>
                <a:spcPts val="600"/>
              </a:spcAft>
            </a:pPr>
            <a:r>
              <a:rPr lang="en-US" dirty="0"/>
              <a:t>Dome/Map Light</a:t>
            </a:r>
          </a:p>
          <a:p>
            <a:pPr lvl="1">
              <a:spcAft>
                <a:spcPts val="600"/>
              </a:spcAft>
            </a:pPr>
            <a:r>
              <a:rPr lang="en-US" dirty="0"/>
              <a:t>Map lights are typically located on each side of the dome/map light housing.</a:t>
            </a:r>
          </a:p>
          <a:p>
            <a:pPr lvl="1">
              <a:spcAft>
                <a:spcPts val="600"/>
              </a:spcAft>
            </a:pPr>
            <a:r>
              <a:rPr lang="en-US" dirty="0"/>
              <a:t>They are operated independently of the dome light by switches located at each map light.</a:t>
            </a:r>
          </a:p>
          <a:p>
            <a:pPr lvl="1">
              <a:spcAft>
                <a:spcPts val="600"/>
              </a:spcAft>
            </a:pPr>
            <a:r>
              <a:rPr lang="en-US" dirty="0"/>
              <a:t>The dome light is activated by a switch or along with the courtesy lights when the door is opened.</a:t>
            </a:r>
          </a:p>
        </p:txBody>
      </p:sp>
      <p:pic>
        <p:nvPicPr>
          <p:cNvPr id="5" name="Picture Placeholder 4" descr="Several switches used for operating map lights located on each side of a dome/map light housing.">
            <a:extLst>
              <a:ext uri="{FF2B5EF4-FFF2-40B4-BE49-F238E27FC236}">
                <a16:creationId xmlns:a16="http://schemas.microsoft.com/office/drawing/2014/main" id="{CD729AC5-0A42-2A46-08CE-54F36D35B1A1}"/>
              </a:ext>
            </a:extLst>
          </p:cNvPr>
          <p:cNvPicPr>
            <a:picLocks noGrp="1" noChangeAspect="1"/>
          </p:cNvPicPr>
          <p:nvPr>
            <p:ph type="pic" sz="quarter" idx="10"/>
          </p:nvPr>
        </p:nvPicPr>
        <p:blipFill>
          <a:blip r:embed="rId3"/>
          <a:srcRect b="5631"/>
          <a:stretch/>
        </p:blipFill>
        <p:spPr>
          <a:xfrm>
            <a:off x="8663978" y="1821457"/>
            <a:ext cx="2859949" cy="4063351"/>
          </a:xfrm>
          <a:prstGeom prst="rect">
            <a:avLst/>
          </a:prstGeom>
        </p:spPr>
      </p:pic>
    </p:spTree>
    <p:extLst>
      <p:ext uri="{BB962C8B-B14F-4D97-AF65-F5344CB8AC3E}">
        <p14:creationId xmlns:p14="http://schemas.microsoft.com/office/powerpoint/2010/main" val="15879122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Interior Light Assemblies (4 of 4)</a:t>
            </a:r>
            <a:endParaRPr dirty="0"/>
          </a:p>
        </p:txBody>
      </p:sp>
      <p:sp>
        <p:nvSpPr>
          <p:cNvPr id="2" name="Text Placeholder 1">
            <a:extLst>
              <a:ext uri="{FF2B5EF4-FFF2-40B4-BE49-F238E27FC236}">
                <a16:creationId xmlns:a16="http://schemas.microsoft.com/office/drawing/2014/main" id="{CEDFB60E-D342-EFF2-8799-9C4E04A60539}"/>
              </a:ext>
            </a:extLst>
          </p:cNvPr>
          <p:cNvSpPr>
            <a:spLocks noGrp="1"/>
          </p:cNvSpPr>
          <p:nvPr>
            <p:ph type="body" idx="1"/>
          </p:nvPr>
        </p:nvSpPr>
        <p:spPr>
          <a:xfrm>
            <a:off x="476844" y="1471264"/>
            <a:ext cx="6387420" cy="4575968"/>
          </a:xfrm>
        </p:spPr>
        <p:txBody>
          <a:bodyPr/>
          <a:lstStyle/>
          <a:p>
            <a:pPr>
              <a:spcAft>
                <a:spcPts val="600"/>
              </a:spcAft>
            </a:pPr>
            <a:r>
              <a:rPr lang="en-US" sz="2400" dirty="0"/>
              <a:t>Distributed lighting refers to light present at one source and transmitted through fiber optic “tubes” to one or more other locations.</a:t>
            </a:r>
          </a:p>
          <a:p>
            <a:pPr>
              <a:spcAft>
                <a:spcPts val="600"/>
              </a:spcAft>
            </a:pPr>
            <a:r>
              <a:rPr lang="en-US" sz="2400" dirty="0"/>
              <a:t>This technology has been around for quite some time and used to illuminate all instrument panel gauges with a single lamp.</a:t>
            </a:r>
          </a:p>
          <a:p>
            <a:pPr>
              <a:spcAft>
                <a:spcPts val="600"/>
              </a:spcAft>
            </a:pPr>
            <a:r>
              <a:rPr lang="en-US" sz="2400" dirty="0"/>
              <a:t>Distributed lighting is typically used to add lighting at places where it might not be practical to have a bulb.</a:t>
            </a:r>
          </a:p>
        </p:txBody>
      </p:sp>
      <p:pic>
        <p:nvPicPr>
          <p:cNvPr id="5" name="Picture Placeholder 4" descr="Two parts of an illustration. The first part depicts a cross-section of a typical fiber optic cable with parts labeled as follows: Fiber, sheath, core, and jacket. The second part depicts a light source placed at fiber optics reflected to different locations as follows: Ashtray illumination, glove box illumination, right side door key, panel illumination, switch illumination, L/H door, and dash illumination.">
            <a:extLst>
              <a:ext uri="{FF2B5EF4-FFF2-40B4-BE49-F238E27FC236}">
                <a16:creationId xmlns:a16="http://schemas.microsoft.com/office/drawing/2014/main" id="{11F087B7-F3E7-D1CA-AC9B-9F60A26F7956}"/>
              </a:ext>
            </a:extLst>
          </p:cNvPr>
          <p:cNvPicPr>
            <a:picLocks noGrp="1" noChangeAspect="1"/>
          </p:cNvPicPr>
          <p:nvPr>
            <p:ph type="pic" sz="quarter" idx="10"/>
          </p:nvPr>
        </p:nvPicPr>
        <p:blipFill rotWithShape="1">
          <a:blip r:embed="rId3"/>
          <a:srcRect b="7628"/>
          <a:stretch/>
        </p:blipFill>
        <p:spPr>
          <a:xfrm>
            <a:off x="7131645" y="2304984"/>
            <a:ext cx="4731175" cy="2248031"/>
          </a:xfrm>
          <a:prstGeom prst="rect">
            <a:avLst/>
          </a:prstGeom>
        </p:spPr>
      </p:pic>
    </p:spTree>
    <p:extLst>
      <p:ext uri="{BB962C8B-B14F-4D97-AF65-F5344CB8AC3E}">
        <p14:creationId xmlns:p14="http://schemas.microsoft.com/office/powerpoint/2010/main" val="2637104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List three types of interior light systems commonly used:</a:t>
            </a:r>
          </a:p>
        </p:txBody>
      </p:sp>
    </p:spTree>
    <p:extLst>
      <p:ext uri="{BB962C8B-B14F-4D97-AF65-F5344CB8AC3E}">
        <p14:creationId xmlns:p14="http://schemas.microsoft.com/office/powerpoint/2010/main" val="20730645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t>
            </a:r>
            <a:r>
              <a:rPr lang="en-US"/>
              <a:t>Answer (2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Types of interior light systems commonly used:</a:t>
            </a:r>
          </a:p>
          <a:p>
            <a:pPr lvl="1">
              <a:spcAft>
                <a:spcPts val="600"/>
              </a:spcAft>
            </a:pPr>
            <a:r>
              <a:rPr lang="en-US" dirty="0"/>
              <a:t>Engine Compartment Light</a:t>
            </a:r>
          </a:p>
          <a:p>
            <a:pPr lvl="1">
              <a:spcAft>
                <a:spcPts val="600"/>
              </a:spcAft>
            </a:pPr>
            <a:r>
              <a:rPr lang="en-US" dirty="0"/>
              <a:t>Glove Box Light</a:t>
            </a:r>
          </a:p>
          <a:p>
            <a:pPr lvl="1">
              <a:spcAft>
                <a:spcPts val="600"/>
              </a:spcAft>
            </a:pPr>
            <a:r>
              <a:rPr lang="en-US" dirty="0"/>
              <a:t>Luggage Compartment Light</a:t>
            </a:r>
          </a:p>
          <a:p>
            <a:pPr lvl="1">
              <a:spcAft>
                <a:spcPts val="600"/>
              </a:spcAft>
            </a:pPr>
            <a:r>
              <a:rPr lang="en-US" dirty="0"/>
              <a:t>Vanity Light</a:t>
            </a:r>
          </a:p>
          <a:p>
            <a:pPr lvl="1">
              <a:spcAft>
                <a:spcPts val="600"/>
              </a:spcAft>
            </a:pPr>
            <a:r>
              <a:rPr lang="en-US" dirty="0"/>
              <a:t>Dome/Map Light</a:t>
            </a:r>
          </a:p>
        </p:txBody>
      </p:sp>
    </p:spTree>
    <p:extLst>
      <p:ext uri="{BB962C8B-B14F-4D97-AF65-F5344CB8AC3E}">
        <p14:creationId xmlns:p14="http://schemas.microsoft.com/office/powerpoint/2010/main" val="2321671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marL="0" indent="0">
              <a:spcAft>
                <a:spcPts val="600"/>
              </a:spcAft>
              <a:buNone/>
            </a:pPr>
            <a:r>
              <a:rPr lang="en-US" dirty="0"/>
              <a:t>Please take a moment consider the various types of lighting systems you have learned about in this chapter. Then respond to the following questions in one or two paragraphs. Use 150</a:t>
            </a:r>
            <a:r>
              <a:rPr lang="en-US" b="1" dirty="0"/>
              <a:t>–</a:t>
            </a:r>
            <a:r>
              <a:rPr lang="en-US" dirty="0"/>
              <a:t>200 words in your reflection.</a:t>
            </a:r>
          </a:p>
          <a:p>
            <a:pPr>
              <a:spcAft>
                <a:spcPts val="600"/>
              </a:spcAft>
            </a:pPr>
            <a:r>
              <a:rPr lang="en-US" dirty="0"/>
              <a:t>Did you struggle to understand any of the concepts regarding lighting systems? What can you do to better understand?</a:t>
            </a:r>
          </a:p>
          <a:p>
            <a:pPr>
              <a:spcAft>
                <a:spcPts val="600"/>
              </a:spcAft>
            </a:pPr>
            <a:r>
              <a:rPr lang="en-US" dirty="0"/>
              <a:t>Considering all you have learned about lighting systems, do you feel prepared to perform this type of work in the shop? What can you do to be sure you are prepared?</a:t>
            </a:r>
          </a:p>
        </p:txBody>
      </p:sp>
    </p:spTree>
    <p:extLst>
      <p:ext uri="{BB962C8B-B14F-4D97-AF65-F5344CB8AC3E}">
        <p14:creationId xmlns:p14="http://schemas.microsoft.com/office/powerpoint/2010/main" val="1853742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4896</TotalTime>
  <Words>5082</Words>
  <Application>Microsoft Office PowerPoint</Application>
  <PresentationFormat>Widescreen</PresentationFormat>
  <Paragraphs>326</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Work Sans</vt:lpstr>
      <vt:lpstr>Arial</vt:lpstr>
      <vt:lpstr>Calibri</vt:lpstr>
      <vt:lpstr>Optimized Template Master</vt:lpstr>
      <vt:lpstr>Automotive Technology: A Systems Approach, 8e</vt:lpstr>
      <vt:lpstr>Chapter Objectives (1 of 2)</vt:lpstr>
      <vt:lpstr>Chapter Objectives (2 of 2)</vt:lpstr>
      <vt:lpstr>Automotive Lamps (1 of 5)</vt:lpstr>
      <vt:lpstr>Automotive Lamps (2 of 5)</vt:lpstr>
      <vt:lpstr>Automotive Lamps (3 of 5)</vt:lpstr>
      <vt:lpstr>Automotive Lamps (4 of 5)</vt:lpstr>
      <vt:lpstr>Automotive Lamps (5 of 5)</vt:lpstr>
      <vt:lpstr>Headlights (1 of 4)</vt:lpstr>
      <vt:lpstr>Headlights (2 of 4)</vt:lpstr>
      <vt:lpstr>Headlights (3 of 4)</vt:lpstr>
      <vt:lpstr>Headlights (4 of 4)</vt:lpstr>
      <vt:lpstr>Daytime Running Lights</vt:lpstr>
      <vt:lpstr>Fog Lights</vt:lpstr>
      <vt:lpstr>Headlight Switches (1 of 2)</vt:lpstr>
      <vt:lpstr>Headlight Switches (2 of 2)</vt:lpstr>
      <vt:lpstr>Automatic Light Systems (1 of 4)</vt:lpstr>
      <vt:lpstr>Automatic Light Systems (2 of 4)</vt:lpstr>
      <vt:lpstr>Automatic Light Systems (3 of 4)</vt:lpstr>
      <vt:lpstr>Automatic Light Systems (4 of 4)</vt:lpstr>
      <vt:lpstr>Discussion</vt:lpstr>
      <vt:lpstr>Headlight Service</vt:lpstr>
      <vt:lpstr>Headlight Replacement (1 of 4) </vt:lpstr>
      <vt:lpstr>Headlight Replacement (2 of 4)</vt:lpstr>
      <vt:lpstr>Headlight Replacement (3 of 4)</vt:lpstr>
      <vt:lpstr>Headlight Replacement (4 of 4)</vt:lpstr>
      <vt:lpstr>Knowledge Check (1 of 2)</vt:lpstr>
      <vt:lpstr>Knowledge Check Answer (1 of 2)</vt:lpstr>
      <vt:lpstr>Automatic Headlight System Diagnosis</vt:lpstr>
      <vt:lpstr>Basic Lighting System Diagnosis</vt:lpstr>
      <vt:lpstr>Bulb Replacement</vt:lpstr>
      <vt:lpstr>Rear Exterior Lights (1 of 4)</vt:lpstr>
      <vt:lpstr>Rear Exterior Lights (2 of 4)</vt:lpstr>
      <vt:lpstr>Rear Exterior Lights (3 of 4)</vt:lpstr>
      <vt:lpstr>Rear Exterior Lights (4 of 4)</vt:lpstr>
      <vt:lpstr>LED Lights</vt:lpstr>
      <vt:lpstr>Other Exterior Lights</vt:lpstr>
      <vt:lpstr>Interior Light Assemblies (1 of 4)</vt:lpstr>
      <vt:lpstr>Interior Light Assemblies (2 of 4)</vt:lpstr>
      <vt:lpstr>Interior Light Assemblies (3 of 4)</vt:lpstr>
      <vt:lpstr>Interior Light Assemblies (4 of 4)</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220</cp:revision>
  <dcterms:created xsi:type="dcterms:W3CDTF">2021-12-10T16:21:02Z</dcterms:created>
  <dcterms:modified xsi:type="dcterms:W3CDTF">2024-10-18T15:25:57Z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