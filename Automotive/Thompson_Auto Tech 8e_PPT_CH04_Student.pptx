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1.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1"/>
  </p:notesMasterIdLst>
  <p:handoutMasterIdLst>
    <p:handoutMasterId r:id="rId52"/>
  </p:handoutMasterIdLst>
  <p:sldIdLst>
    <p:sldId id="403" r:id="rId5"/>
    <p:sldId id="430" r:id="rId6"/>
    <p:sldId id="431" r:id="rId7"/>
    <p:sldId id="379" r:id="rId8"/>
    <p:sldId id="400" r:id="rId9"/>
    <p:sldId id="454" r:id="rId10"/>
    <p:sldId id="433" r:id="rId11"/>
    <p:sldId id="456" r:id="rId12"/>
    <p:sldId id="455" r:id="rId13"/>
    <p:sldId id="457" r:id="rId14"/>
    <p:sldId id="458" r:id="rId15"/>
    <p:sldId id="421" r:id="rId16"/>
    <p:sldId id="422" r:id="rId17"/>
    <p:sldId id="389" r:id="rId18"/>
    <p:sldId id="459" r:id="rId19"/>
    <p:sldId id="264" r:id="rId20"/>
    <p:sldId id="460" r:id="rId21"/>
    <p:sldId id="413" r:id="rId22"/>
    <p:sldId id="461" r:id="rId23"/>
    <p:sldId id="462" r:id="rId24"/>
    <p:sldId id="463" r:id="rId25"/>
    <p:sldId id="464" r:id="rId26"/>
    <p:sldId id="465" r:id="rId27"/>
    <p:sldId id="466" r:id="rId28"/>
    <p:sldId id="467" r:id="rId29"/>
    <p:sldId id="469" r:id="rId30"/>
    <p:sldId id="468" r:id="rId31"/>
    <p:sldId id="470" r:id="rId32"/>
    <p:sldId id="471" r:id="rId33"/>
    <p:sldId id="472" r:id="rId34"/>
    <p:sldId id="473" r:id="rId35"/>
    <p:sldId id="475" r:id="rId36"/>
    <p:sldId id="474" r:id="rId37"/>
    <p:sldId id="476" r:id="rId38"/>
    <p:sldId id="445" r:id="rId39"/>
    <p:sldId id="446" r:id="rId40"/>
    <p:sldId id="477" r:id="rId41"/>
    <p:sldId id="478" r:id="rId42"/>
    <p:sldId id="479" r:id="rId43"/>
    <p:sldId id="480" r:id="rId44"/>
    <p:sldId id="482" r:id="rId45"/>
    <p:sldId id="481" r:id="rId46"/>
    <p:sldId id="483" r:id="rId47"/>
    <p:sldId id="484" r:id="rId48"/>
    <p:sldId id="485" r:id="rId49"/>
    <p:sldId id="453" r:id="rId50"/>
  </p:sldIdLst>
  <p:sldSz cx="12192000" cy="6858000"/>
  <p:notesSz cx="6858000" cy="9144000"/>
  <p:custDataLst>
    <p:tags r:id="rId53"/>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 id="3" name="Jonathan Mastro" initials="JM" lastIdx="15" clrIdx="2">
    <p:extLst>
      <p:ext uri="{19B8F6BF-5375-455C-9EA6-DF929625EA0E}">
        <p15:presenceInfo xmlns:p15="http://schemas.microsoft.com/office/powerpoint/2012/main" userId="Jonathan Mastro" providerId="None"/>
      </p:ext>
    </p:extLst>
  </p:cmAuthor>
  <p:cmAuthor id="4" name="Paul Kelley" initials="PK" lastIdx="28" clrIdx="3">
    <p:extLst>
      <p:ext uri="{19B8F6BF-5375-455C-9EA6-DF929625EA0E}">
        <p15:presenceInfo xmlns:p15="http://schemas.microsoft.com/office/powerpoint/2012/main" userId="782a4b9ae5033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292F7C"/>
    <a:srgbClr val="F2F2F2"/>
    <a:srgbClr val="0098D4"/>
    <a:srgbClr val="003865"/>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83" autoAdjust="0"/>
    <p:restoredTop sz="86467" autoAdjust="0"/>
  </p:normalViewPr>
  <p:slideViewPr>
    <p:cSldViewPr snapToGrid="0" snapToObjects="1">
      <p:cViewPr varScale="1">
        <p:scale>
          <a:sx n="93" d="100"/>
          <a:sy n="93" d="100"/>
        </p:scale>
        <p:origin x="246" y="78"/>
      </p:cViewPr>
      <p:guideLst>
        <p:guide orient="horz" pos="2160"/>
        <p:guide pos="3840"/>
      </p:guideLst>
    </p:cSldViewPr>
  </p:slideViewPr>
  <p:outlineViewPr>
    <p:cViewPr>
      <p:scale>
        <a:sx n="33" d="100"/>
        <a:sy n="33" d="100"/>
      </p:scale>
      <p:origin x="0" y="-3349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3884880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3594490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07633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284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14334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6177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47713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55693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016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07048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12</a:t>
            </a:fld>
            <a:endParaRPr lang="en-US"/>
          </a:p>
        </p:txBody>
      </p:sp>
    </p:spTree>
    <p:extLst>
      <p:ext uri="{BB962C8B-B14F-4D97-AF65-F5344CB8AC3E}">
        <p14:creationId xmlns:p14="http://schemas.microsoft.com/office/powerpoint/2010/main" val="4045418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13</a:t>
            </a:fld>
            <a:endParaRPr lang="en-US"/>
          </a:p>
        </p:txBody>
      </p:sp>
    </p:spTree>
    <p:extLst>
      <p:ext uri="{BB962C8B-B14F-4D97-AF65-F5344CB8AC3E}">
        <p14:creationId xmlns:p14="http://schemas.microsoft.com/office/powerpoint/2010/main" val="978081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392977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9724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16</a:t>
            </a:fld>
            <a:endParaRPr lang="en-US"/>
          </a:p>
        </p:txBody>
      </p:sp>
    </p:spTree>
    <p:extLst>
      <p:ext uri="{BB962C8B-B14F-4D97-AF65-F5344CB8AC3E}">
        <p14:creationId xmlns:p14="http://schemas.microsoft.com/office/powerpoint/2010/main" val="1122981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790765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43801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81657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711345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30690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41862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94473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43288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48128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69996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56071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53199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263201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172825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305342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600379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8651032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9056612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35</a:t>
            </a:fld>
            <a:endParaRPr lang="en-US"/>
          </a:p>
        </p:txBody>
      </p:sp>
    </p:spTree>
    <p:extLst>
      <p:ext uri="{BB962C8B-B14F-4D97-AF65-F5344CB8AC3E}">
        <p14:creationId xmlns:p14="http://schemas.microsoft.com/office/powerpoint/2010/main" val="3793932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36</a:t>
            </a:fld>
            <a:endParaRPr lang="en-US"/>
          </a:p>
        </p:txBody>
      </p:sp>
    </p:spTree>
    <p:extLst>
      <p:ext uri="{BB962C8B-B14F-4D97-AF65-F5344CB8AC3E}">
        <p14:creationId xmlns:p14="http://schemas.microsoft.com/office/powerpoint/2010/main" val="37130756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704567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87103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7059797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1420190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71377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7809323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084643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6388761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113242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2963947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2459BB9-6887-C44A-CD2B-A2B123A43ABF}"/>
              </a:ext>
            </a:extLst>
          </p:cNvPr>
          <p:cNvSpPr>
            <a:spLocks noGrp="1"/>
          </p:cNvSpPr>
          <p:nvPr>
            <p:ph sz="quarter" idx="12"/>
          </p:nvPr>
        </p:nvSpPr>
        <p:spPr>
          <a:xfrm>
            <a:off x="2084388" y="6224588"/>
            <a:ext cx="9196387" cy="365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2170826813"/>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5" name="TextBox 4">
            <a:extLst>
              <a:ext uri="{FF2B5EF4-FFF2-40B4-BE49-F238E27FC236}">
                <a16:creationId xmlns:a16="http://schemas.microsoft.com/office/drawing/2014/main" id="{0AC82444-0955-4D27-B77E-A9BCEA7A20A2}"/>
              </a:ext>
            </a:extLst>
          </p:cNvPr>
          <p:cNvSpPr txBox="1"/>
          <p:nvPr userDrawn="1"/>
        </p:nvSpPr>
        <p:spPr>
          <a:xfrm>
            <a:off x="2322513" y="6393561"/>
            <a:ext cx="867727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Rob Thompson and Jack Erjavec</a:t>
            </a:r>
            <a:r>
              <a:rPr lang="en-US" sz="1200" kern="1200" dirty="0">
                <a:solidFill>
                  <a:schemeClr val="bg1"/>
                </a:solidFill>
                <a:latin typeface="Arial" panose="020B0604020202020204" pitchFamily="34" charset="0"/>
                <a:cs typeface="Arial" panose="020B0604020202020204" pitchFamily="34" charset="0"/>
              </a:rPr>
              <a:t>, Automotive Technology: A Systems Approach, 8</a:t>
            </a:r>
            <a:r>
              <a:rPr lang="en-US" sz="1200" kern="1200" baseline="30000" dirty="0">
                <a:solidFill>
                  <a:schemeClr val="bg1"/>
                </a:solidFill>
                <a:latin typeface="Arial" panose="020B0604020202020204" pitchFamily="34" charset="0"/>
                <a:cs typeface="Arial" panose="020B0604020202020204" pitchFamily="34" charset="0"/>
              </a:rPr>
              <a:t>th</a:t>
            </a:r>
            <a:r>
              <a:rPr lang="en-US" sz="1200" kern="1200" dirty="0">
                <a:solidFill>
                  <a:schemeClr val="bg1"/>
                </a:solidFill>
                <a:latin typeface="Arial" panose="020B0604020202020204" pitchFamily="34" charset="0"/>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903167"/>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63624"/>
            <a:ext cx="11241915" cy="4613339"/>
          </a:xfrm>
        </p:spPr>
        <p:txBody>
          <a:bodyPr/>
          <a:lstStyle>
            <a:lvl1pPr marL="357188" indent="-357188">
              <a:lnSpc>
                <a:spcPct val="100000"/>
              </a:lnSpc>
              <a:spcBef>
                <a:spcPts val="624"/>
              </a:spcBef>
              <a:spcAft>
                <a:spcPts val="0"/>
              </a:spcAft>
              <a:defRPr sz="2600"/>
            </a:lvl1pPr>
            <a:lvl2pPr marL="722313" indent="-365125">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893541"/>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08125"/>
            <a:ext cx="8429413" cy="1920876"/>
          </a:xfrm>
        </p:spPr>
        <p:txBody>
          <a:bodyPr/>
          <a:lstStyle>
            <a:lvl1pPr marL="357188" indent="-357188">
              <a:lnSpc>
                <a:spcPct val="100000"/>
              </a:lnSpc>
              <a:spcBef>
                <a:spcPts val="624"/>
              </a:spcBef>
              <a:spcAft>
                <a:spcPts val="0"/>
              </a:spcAft>
              <a:defRPr sz="2600"/>
            </a:lvl1pPr>
            <a:lvl2pPr marL="722313" indent="-365125">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
        <p:nvSpPr>
          <p:cNvPr id="5" name="Picture Placeholder 4">
            <a:extLst>
              <a:ext uri="{FF2B5EF4-FFF2-40B4-BE49-F238E27FC236}">
                <a16:creationId xmlns:a16="http://schemas.microsoft.com/office/drawing/2014/main" id="{E47313B8-53B1-7A6A-8F77-4F4E24937793}"/>
              </a:ext>
            </a:extLst>
          </p:cNvPr>
          <p:cNvSpPr>
            <a:spLocks noGrp="1"/>
          </p:cNvSpPr>
          <p:nvPr>
            <p:ph type="pic" sz="quarter" idx="10"/>
          </p:nvPr>
        </p:nvSpPr>
        <p:spPr>
          <a:xfrm>
            <a:off x="712788" y="3713163"/>
            <a:ext cx="3640137" cy="1636712"/>
          </a:xfrm>
        </p:spPr>
        <p:txBody>
          <a:bodyPr/>
          <a:lstStyle/>
          <a:p>
            <a:endParaRPr lang="en-IN"/>
          </a:p>
        </p:txBody>
      </p:sp>
      <p:sp>
        <p:nvSpPr>
          <p:cNvPr id="7" name="Picture Placeholder 6">
            <a:extLst>
              <a:ext uri="{FF2B5EF4-FFF2-40B4-BE49-F238E27FC236}">
                <a16:creationId xmlns:a16="http://schemas.microsoft.com/office/drawing/2014/main" id="{105267F2-31F2-77F2-A27F-B56E94585FF8}"/>
              </a:ext>
            </a:extLst>
          </p:cNvPr>
          <p:cNvSpPr>
            <a:spLocks noGrp="1"/>
          </p:cNvSpPr>
          <p:nvPr>
            <p:ph type="pic" sz="quarter" idx="11"/>
          </p:nvPr>
        </p:nvSpPr>
        <p:spPr>
          <a:xfrm>
            <a:off x="5157788" y="3713163"/>
            <a:ext cx="3062287" cy="1343025"/>
          </a:xfrm>
        </p:spPr>
        <p:txBody>
          <a:bodyPr/>
          <a:lstStyle/>
          <a:p>
            <a:endParaRPr lang="en-IN"/>
          </a:p>
        </p:txBody>
      </p:sp>
      <p:sp>
        <p:nvSpPr>
          <p:cNvPr id="9" name="Text Placeholder 8">
            <a:extLst>
              <a:ext uri="{FF2B5EF4-FFF2-40B4-BE49-F238E27FC236}">
                <a16:creationId xmlns:a16="http://schemas.microsoft.com/office/drawing/2014/main" id="{BDAE2A21-8E1D-3072-D9D5-B4ABBD4288E5}"/>
              </a:ext>
            </a:extLst>
          </p:cNvPr>
          <p:cNvSpPr>
            <a:spLocks noGrp="1"/>
          </p:cNvSpPr>
          <p:nvPr>
            <p:ph type="body" sz="quarter" idx="12"/>
          </p:nvPr>
        </p:nvSpPr>
        <p:spPr>
          <a:xfrm>
            <a:off x="7839075" y="2259013"/>
            <a:ext cx="3408363" cy="1454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81AE453B-F2D5-46C4-9D84-9D0B64FA7F94}"/>
              </a:ext>
            </a:extLst>
          </p:cNvPr>
          <p:cNvSpPr>
            <a:spLocks noGrp="1"/>
          </p:cNvSpPr>
          <p:nvPr>
            <p:ph sz="quarter" idx="13"/>
          </p:nvPr>
        </p:nvSpPr>
        <p:spPr>
          <a:xfrm>
            <a:off x="8494713" y="48561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80101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Content and image caption">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710096"/>
          </a:xfrm>
        </p:spPr>
        <p:txBody>
          <a:bodyPr/>
          <a:lstStyle>
            <a:lvl1pPr>
              <a:defRPr/>
            </a:lvl1pPr>
          </a:lstStyle>
          <a:p>
            <a:r>
              <a:rPr lang="en-US" dirty="0"/>
              <a:t>Slide Title</a:t>
            </a:r>
          </a:p>
        </p:txBody>
      </p:sp>
      <p:sp>
        <p:nvSpPr>
          <p:cNvPr id="3" name="Content Placeholder"/>
          <p:cNvSpPr>
            <a:spLocks noGrp="1"/>
          </p:cNvSpPr>
          <p:nvPr>
            <p:ph idx="1" hasCustomPrompt="1"/>
          </p:nvPr>
        </p:nvSpPr>
        <p:spPr>
          <a:xfrm>
            <a:off x="476843" y="1280161"/>
            <a:ext cx="11241915" cy="1775012"/>
          </a:xfrm>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4">
            <a:extLst>
              <a:ext uri="{FF2B5EF4-FFF2-40B4-BE49-F238E27FC236}">
                <a16:creationId xmlns:a16="http://schemas.microsoft.com/office/drawing/2014/main" id="{1AC100CB-6DA0-4C44-8AA9-EF1047C778AB}"/>
              </a:ext>
            </a:extLst>
          </p:cNvPr>
          <p:cNvSpPr>
            <a:spLocks noGrp="1"/>
          </p:cNvSpPr>
          <p:nvPr>
            <p:ph sz="quarter" idx="10"/>
          </p:nvPr>
        </p:nvSpPr>
        <p:spPr>
          <a:xfrm>
            <a:off x="476250" y="3184525"/>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ontent Placeholder 6">
            <a:extLst>
              <a:ext uri="{FF2B5EF4-FFF2-40B4-BE49-F238E27FC236}">
                <a16:creationId xmlns:a16="http://schemas.microsoft.com/office/drawing/2014/main" id="{1F7CD4DC-2798-4D91-B8F0-39A1E2678118}"/>
              </a:ext>
            </a:extLst>
          </p:cNvPr>
          <p:cNvSpPr>
            <a:spLocks noGrp="1"/>
          </p:cNvSpPr>
          <p:nvPr>
            <p:ph sz="quarter" idx="11"/>
          </p:nvPr>
        </p:nvSpPr>
        <p:spPr>
          <a:xfrm>
            <a:off x="476250" y="3925888"/>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a:extLst>
              <a:ext uri="{FF2B5EF4-FFF2-40B4-BE49-F238E27FC236}">
                <a16:creationId xmlns:a16="http://schemas.microsoft.com/office/drawing/2014/main" id="{CECB35C0-7E7B-4B64-AB45-C70040E7FA29}"/>
              </a:ext>
            </a:extLst>
          </p:cNvPr>
          <p:cNvSpPr>
            <a:spLocks noGrp="1"/>
          </p:cNvSpPr>
          <p:nvPr>
            <p:ph type="pic" sz="quarter" idx="12"/>
          </p:nvPr>
        </p:nvSpPr>
        <p:spPr>
          <a:xfrm>
            <a:off x="5745163" y="3313113"/>
            <a:ext cx="2484437" cy="1054100"/>
          </a:xfrm>
        </p:spPr>
        <p:txBody>
          <a:bodyPr/>
          <a:lstStyle/>
          <a:p>
            <a:endParaRPr lang="en-IN"/>
          </a:p>
        </p:txBody>
      </p:sp>
      <p:sp>
        <p:nvSpPr>
          <p:cNvPr id="11" name="Table Placeholder 10">
            <a:extLst>
              <a:ext uri="{FF2B5EF4-FFF2-40B4-BE49-F238E27FC236}">
                <a16:creationId xmlns:a16="http://schemas.microsoft.com/office/drawing/2014/main" id="{2B7EAAD5-547E-45DC-AFA3-8EB40988EED3}"/>
              </a:ext>
            </a:extLst>
          </p:cNvPr>
          <p:cNvSpPr>
            <a:spLocks noGrp="1"/>
          </p:cNvSpPr>
          <p:nvPr>
            <p:ph type="tbl" sz="quarter" idx="13"/>
          </p:nvPr>
        </p:nvSpPr>
        <p:spPr>
          <a:xfrm>
            <a:off x="8756650" y="3313113"/>
            <a:ext cx="2398713" cy="903287"/>
          </a:xfrm>
        </p:spPr>
        <p:txBody>
          <a:bodyPr/>
          <a:lstStyle/>
          <a:p>
            <a:endParaRPr lang="en-IN"/>
          </a:p>
        </p:txBody>
      </p:sp>
      <p:sp>
        <p:nvSpPr>
          <p:cNvPr id="13" name="Picture Placeholder 12">
            <a:extLst>
              <a:ext uri="{FF2B5EF4-FFF2-40B4-BE49-F238E27FC236}">
                <a16:creationId xmlns:a16="http://schemas.microsoft.com/office/drawing/2014/main" id="{A7F819D0-A76F-44C0-AE24-4C6C01B1D4A3}"/>
              </a:ext>
            </a:extLst>
          </p:cNvPr>
          <p:cNvSpPr>
            <a:spLocks noGrp="1"/>
          </p:cNvSpPr>
          <p:nvPr>
            <p:ph type="pic" sz="quarter" idx="14"/>
          </p:nvPr>
        </p:nvSpPr>
        <p:spPr>
          <a:xfrm>
            <a:off x="5948363" y="4538663"/>
            <a:ext cx="2033587" cy="754062"/>
          </a:xfrm>
        </p:spPr>
        <p:txBody>
          <a:bodyPr/>
          <a:lstStyle/>
          <a:p>
            <a:endParaRPr lang="en-IN"/>
          </a:p>
        </p:txBody>
      </p:sp>
    </p:spTree>
    <p:custDataLst>
      <p:tags r:id="rId1"/>
    </p:custDataLst>
    <p:extLst>
      <p:ext uri="{BB962C8B-B14F-4D97-AF65-F5344CB8AC3E}">
        <p14:creationId xmlns:p14="http://schemas.microsoft.com/office/powerpoint/2010/main" val="364203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514307"/>
          </a:xfrm>
        </p:spPr>
        <p:txBody>
          <a:bodyPr/>
          <a:lstStyle>
            <a:lvl1pPr>
              <a:defRPr sz="3200">
                <a:latin typeface="Arial" panose="020B0604020202020204" pitchFamily="34" charset="0"/>
                <a:cs typeface="Arial" panose="020B0604020202020204" pitchFamily="34" charset="0"/>
              </a:defRPr>
            </a:lvl1pPr>
          </a:lstStyle>
          <a:p>
            <a:r>
              <a:rPr lang="en-US" dirty="0"/>
              <a:t>Slide Title</a:t>
            </a:r>
          </a:p>
        </p:txBody>
      </p:sp>
      <p:sp>
        <p:nvSpPr>
          <p:cNvPr id="3" name="Content Placeholder 1"/>
          <p:cNvSpPr>
            <a:spLocks noGrp="1"/>
          </p:cNvSpPr>
          <p:nvPr>
            <p:ph idx="1" hasCustomPrompt="1"/>
          </p:nvPr>
        </p:nvSpPr>
        <p:spPr>
          <a:xfrm>
            <a:off x="480446" y="1176279"/>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6090" y="1176279"/>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5498" y="1185185"/>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5518" y="1185185"/>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80445" y="3359963"/>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6089" y="3359963"/>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5497" y="3368869"/>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5517" y="3368869"/>
            <a:ext cx="2563241" cy="2024480"/>
          </a:xfrm>
        </p:spPr>
        <p:txBody>
          <a:bodyPr/>
          <a:lstStyle>
            <a:lvl1pPr marL="0" indent="0" algn="ctr">
              <a:buNone/>
              <a:defRPr/>
            </a:lvl1pPr>
          </a:lstStyle>
          <a:p>
            <a:pPr lvl="0"/>
            <a:r>
              <a:rPr lang="en-US" dirty="0"/>
              <a:t>Insert here 8</a:t>
            </a:r>
          </a:p>
        </p:txBody>
      </p:sp>
      <p:sp>
        <p:nvSpPr>
          <p:cNvPr id="5" name="Content Placeholder 4">
            <a:extLst>
              <a:ext uri="{FF2B5EF4-FFF2-40B4-BE49-F238E27FC236}">
                <a16:creationId xmlns:a16="http://schemas.microsoft.com/office/drawing/2014/main" id="{35C72E4F-A7C3-409B-BAF8-F0E298B159F3}"/>
              </a:ext>
            </a:extLst>
          </p:cNvPr>
          <p:cNvSpPr>
            <a:spLocks noGrp="1"/>
          </p:cNvSpPr>
          <p:nvPr>
            <p:ph sz="quarter" idx="17"/>
          </p:nvPr>
        </p:nvSpPr>
        <p:spPr>
          <a:xfrm>
            <a:off x="741363" y="5549900"/>
            <a:ext cx="1909762" cy="430213"/>
          </a:xfrm>
        </p:spPr>
        <p:txBody>
          <a:bodyPr/>
          <a:lstStyle>
            <a:lvl1pPr marL="0" indent="0">
              <a:buNone/>
              <a:defRPr/>
            </a:lvl1pPr>
          </a:lstStyle>
          <a:p>
            <a:pPr lvl="0"/>
            <a:endParaRPr lang="en-IN" dirty="0"/>
          </a:p>
        </p:txBody>
      </p:sp>
      <p:sp>
        <p:nvSpPr>
          <p:cNvPr id="7" name="Content Placeholder 6">
            <a:extLst>
              <a:ext uri="{FF2B5EF4-FFF2-40B4-BE49-F238E27FC236}">
                <a16:creationId xmlns:a16="http://schemas.microsoft.com/office/drawing/2014/main" id="{6F86A118-C12B-4436-85D9-DB750AEF2CBF}"/>
              </a:ext>
            </a:extLst>
          </p:cNvPr>
          <p:cNvSpPr>
            <a:spLocks noGrp="1"/>
          </p:cNvSpPr>
          <p:nvPr>
            <p:ph sz="quarter" idx="18"/>
          </p:nvPr>
        </p:nvSpPr>
        <p:spPr>
          <a:xfrm>
            <a:off x="3305175" y="5549900"/>
            <a:ext cx="2562225" cy="430213"/>
          </a:xfrm>
        </p:spPr>
        <p:txBody>
          <a:bodyPr/>
          <a:lstStyle>
            <a:lvl1pPr marL="0" indent="0">
              <a:buNone/>
              <a:defRPr/>
            </a:lvl1pPr>
          </a:lstStyle>
          <a:p>
            <a:pPr lvl="0"/>
            <a:endParaRPr lang="en-IN" dirty="0"/>
          </a:p>
        </p:txBody>
      </p:sp>
      <p:sp>
        <p:nvSpPr>
          <p:cNvPr id="10" name="Content Placeholder 9">
            <a:extLst>
              <a:ext uri="{FF2B5EF4-FFF2-40B4-BE49-F238E27FC236}">
                <a16:creationId xmlns:a16="http://schemas.microsoft.com/office/drawing/2014/main" id="{C14BA7D1-7A46-4063-9F1E-B1AB6EAC6240}"/>
              </a:ext>
            </a:extLst>
          </p:cNvPr>
          <p:cNvSpPr>
            <a:spLocks noGrp="1"/>
          </p:cNvSpPr>
          <p:nvPr>
            <p:ph sz="quarter" idx="19"/>
          </p:nvPr>
        </p:nvSpPr>
        <p:spPr>
          <a:xfrm>
            <a:off x="6181725" y="5543550"/>
            <a:ext cx="2562225" cy="514350"/>
          </a:xfrm>
        </p:spPr>
        <p:txBody>
          <a:bodyPr/>
          <a:lstStyle>
            <a:lvl1pPr marL="0" indent="0">
              <a:buNone/>
              <a:defRPr/>
            </a:lvl1pPr>
          </a:lstStyle>
          <a:p>
            <a:pPr lvl="0"/>
            <a:endParaRPr lang="en-IN" dirty="0"/>
          </a:p>
        </p:txBody>
      </p:sp>
      <p:sp>
        <p:nvSpPr>
          <p:cNvPr id="21" name="Content Placeholder 9">
            <a:extLst>
              <a:ext uri="{FF2B5EF4-FFF2-40B4-BE49-F238E27FC236}">
                <a16:creationId xmlns:a16="http://schemas.microsoft.com/office/drawing/2014/main" id="{787F1E92-A8FA-4566-BE3E-EAA135FDBA53}"/>
              </a:ext>
            </a:extLst>
          </p:cNvPr>
          <p:cNvSpPr>
            <a:spLocks noGrp="1"/>
          </p:cNvSpPr>
          <p:nvPr>
            <p:ph sz="quarter" idx="20"/>
          </p:nvPr>
        </p:nvSpPr>
        <p:spPr>
          <a:xfrm>
            <a:off x="9156533" y="5549900"/>
            <a:ext cx="2562225" cy="514350"/>
          </a:xfrm>
        </p:spPr>
        <p:txBody>
          <a:bodyPr/>
          <a:lstStyle>
            <a:lvl1pPr marL="0" indent="0">
              <a:buNone/>
              <a:defRPr/>
            </a:lvl1pPr>
          </a:lstStyle>
          <a:p>
            <a:pPr lvl="0"/>
            <a:endParaRPr lang="en-IN" dirty="0"/>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46481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4"/>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8"/>
          <a:stretch>
            <a:fillRect/>
          </a:stretch>
        </p:blipFill>
        <p:spPr>
          <a:xfrm>
            <a:off x="183087" y="6223885"/>
            <a:ext cx="182028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5" name="Content Placeholder 4">
            <a:extLst>
              <a:ext uri="{FF2B5EF4-FFF2-40B4-BE49-F238E27FC236}">
                <a16:creationId xmlns:a16="http://schemas.microsoft.com/office/drawing/2014/main" id="{9B53289B-4FA2-DCFA-18A3-E64E65606775}"/>
              </a:ext>
            </a:extLst>
          </p:cNvPr>
          <p:cNvSpPr txBox="1">
            <a:spLocks/>
          </p:cNvSpPr>
          <p:nvPr userDrawn="1"/>
        </p:nvSpPr>
        <p:spPr>
          <a:xfrm>
            <a:off x="2031365" y="6329045"/>
            <a:ext cx="9345472" cy="461665"/>
          </a:xfrm>
          <a:prstGeom prst="rect">
            <a:avLst/>
          </a:prstGeom>
          <a:noFill/>
        </p:spPr>
        <p:txBody>
          <a:bodyPr wrap="square" rtlCol="0">
            <a:spAutoFit/>
          </a:bodyPr>
          <a:lst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en-US" sz="1200">
                <a:solidFill>
                  <a:schemeClr val="bg1"/>
                </a:solidFill>
                <a:cs typeface="Arial" panose="020B0604020202020204" pitchFamily="34" charset="0"/>
              </a:rPr>
              <a:t>Rob Thompson and Jack Erjavec, Automotive Technology: A Systems Approach, 8</a:t>
            </a:r>
            <a:r>
              <a:rPr lang="en-US" sz="1200" baseline="30000">
                <a:solidFill>
                  <a:schemeClr val="bg1"/>
                </a:solidFill>
                <a:cs typeface="Arial" panose="020B0604020202020204" pitchFamily="34" charset="0"/>
              </a:rPr>
              <a:t>th</a:t>
            </a:r>
            <a:r>
              <a:rPr lang="en-US" sz="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dirty="0">
              <a:solidFill>
                <a:schemeClr val="bg1"/>
              </a:solidFill>
              <a:cs typeface="Arial" panose="020B0604020202020204" pitchFamily="34" charset="0"/>
            </a:endParaRPr>
          </a:p>
        </p:txBody>
      </p:sp>
    </p:spTree>
    <p:custDataLst>
      <p:tags r:id="rId17"/>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67" r:id="rId4"/>
    <p:sldLayoutId id="2147483766" r:id="rId5"/>
    <p:sldLayoutId id="2147483728" r:id="rId6"/>
    <p:sldLayoutId id="2147483736" r:id="rId7"/>
    <p:sldLayoutId id="2147483729" r:id="rId8"/>
    <p:sldLayoutId id="2147483760" r:id="rId9"/>
    <p:sldLayoutId id="2147483730" r:id="rId10"/>
    <p:sldLayoutId id="2147483732" r:id="rId11"/>
    <p:sldLayoutId id="2147483761" r:id="rId12"/>
    <p:sldLayoutId id="2147483737" r:id="rId13"/>
    <p:sldLayoutId id="2147483762" r:id="rId14"/>
    <p:sldLayoutId id="2147483769" r:id="rId15"/>
  </p:sldLayoutIdLst>
  <p:hf sldNum="0" hd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4: Automotive Systems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31365" y="6329045"/>
            <a:ext cx="9345472" cy="461665"/>
          </a:xfrm>
          <a:prstGeom prst="rect">
            <a:avLst/>
          </a:prstGeom>
          <a:noFill/>
        </p:spPr>
        <p:txBody>
          <a:bodyPr wrap="square" rtlCol="0">
            <a:spAutoFit/>
          </a:bodyPr>
          <a:lstStyle/>
          <a:p>
            <a:pPr marL="0" indent="0">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 (1 of 2)</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R="0" lvl="0">
              <a:lnSpc>
                <a:spcPct val="107000"/>
              </a:lnSpc>
              <a:spcBef>
                <a:spcPts val="0"/>
              </a:spcBef>
              <a:spcAft>
                <a:spcPts val="800"/>
              </a:spcAft>
            </a:pPr>
            <a:r>
              <a:rPr lang="en-US" dirty="0"/>
              <a:t>04.01 Explain the major events that have influenced the development of the automobile in the recent past.</a:t>
            </a:r>
          </a:p>
          <a:p>
            <a:pPr marR="0" lvl="0">
              <a:lnSpc>
                <a:spcPct val="107000"/>
              </a:lnSpc>
              <a:spcBef>
                <a:spcPts val="0"/>
              </a:spcBef>
              <a:spcAft>
                <a:spcPts val="800"/>
              </a:spcAft>
            </a:pPr>
            <a:r>
              <a:rPr lang="en-US" dirty="0"/>
              <a:t>04.02 Explain how vehicle design has evolved with unitized vehicles and body-over-frame </a:t>
            </a:r>
            <a:r>
              <a:rPr lang="en-US"/>
              <a:t>vehicles.</a:t>
            </a:r>
            <a:endParaRPr lang="en-US" dirty="0"/>
          </a:p>
          <a:p>
            <a:pPr marR="0" lvl="0">
              <a:lnSpc>
                <a:spcPct val="107000"/>
              </a:lnSpc>
              <a:spcBef>
                <a:spcPts val="0"/>
              </a:spcBef>
              <a:spcAft>
                <a:spcPts val="800"/>
              </a:spcAft>
            </a:pPr>
            <a:r>
              <a:rPr lang="en-US" dirty="0"/>
              <a:t>04.03 Identify body shapes.</a:t>
            </a:r>
          </a:p>
          <a:p>
            <a:pPr marR="0" lvl="0">
              <a:lnSpc>
                <a:spcPct val="107000"/>
              </a:lnSpc>
              <a:spcBef>
                <a:spcPts val="0"/>
              </a:spcBef>
              <a:spcAft>
                <a:spcPts val="800"/>
              </a:spcAft>
            </a:pPr>
            <a:r>
              <a:rPr lang="en-US" dirty="0"/>
              <a:t>04.04 Identify the basic components of modern </a:t>
            </a:r>
            <a:r>
              <a:rPr lang="en-US"/>
              <a:t>engines.</a:t>
            </a:r>
            <a:endParaRPr lang="en-US" dirty="0"/>
          </a:p>
        </p:txBody>
      </p:sp>
    </p:spTree>
    <p:custDataLst>
      <p:tags r:id="rId1"/>
    </p:custDataLst>
    <p:extLst>
      <p:ext uri="{BB962C8B-B14F-4D97-AF65-F5344CB8AC3E}">
        <p14:creationId xmlns:p14="http://schemas.microsoft.com/office/powerpoint/2010/main" val="448804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 (2 of 2)</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lvl="0">
              <a:lnSpc>
                <a:spcPct val="107000"/>
              </a:lnSpc>
              <a:spcBef>
                <a:spcPts val="0"/>
              </a:spcBef>
              <a:spcAft>
                <a:spcPts val="800"/>
              </a:spcAft>
            </a:pPr>
            <a:r>
              <a:rPr lang="en-US" dirty="0"/>
              <a:t>04.05 List the basic systems that make up an automobile and name their major components and functions.</a:t>
            </a:r>
          </a:p>
          <a:p>
            <a:pPr>
              <a:lnSpc>
                <a:spcPct val="107000"/>
              </a:lnSpc>
              <a:spcBef>
                <a:spcPts val="0"/>
              </a:spcBef>
              <a:spcAft>
                <a:spcPts val="800"/>
              </a:spcAft>
            </a:pPr>
            <a:r>
              <a:rPr lang="en-US" dirty="0"/>
              <a:t>04.06 Explain how hybrid and electric vehicles differ from standard combustion-powered vehicles.</a:t>
            </a:r>
          </a:p>
          <a:p>
            <a:pPr lvl="0">
              <a:lnSpc>
                <a:spcPct val="107000"/>
              </a:lnSpc>
              <a:spcBef>
                <a:spcPts val="0"/>
              </a:spcBef>
              <a:spcAft>
                <a:spcPts val="800"/>
              </a:spcAft>
            </a:pPr>
            <a:r>
              <a:rPr lang="en-US" dirty="0"/>
              <a:t>04.07 List the types of alternative fuels available for </a:t>
            </a:r>
            <a:r>
              <a:rPr lang="en-US"/>
              <a:t>transportation.</a:t>
            </a:r>
            <a:endParaRPr lang="en-US" dirty="0"/>
          </a:p>
        </p:txBody>
      </p:sp>
    </p:spTree>
    <p:custDataLst>
      <p:tags r:id="rId1"/>
    </p:custDataLst>
    <p:extLst>
      <p:ext uri="{BB962C8B-B14F-4D97-AF65-F5344CB8AC3E}">
        <p14:creationId xmlns:p14="http://schemas.microsoft.com/office/powerpoint/2010/main" val="194207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Historical Background (1 of 4)</a:t>
            </a:r>
          </a:p>
        </p:txBody>
      </p:sp>
      <p:sp>
        <p:nvSpPr>
          <p:cNvPr id="3075" name="Content Placeholder 2"/>
          <p:cNvSpPr>
            <a:spLocks noGrp="1"/>
          </p:cNvSpPr>
          <p:nvPr>
            <p:ph idx="1"/>
          </p:nvPr>
        </p:nvSpPr>
        <p:spPr>
          <a:xfrm>
            <a:off x="476843" y="1508124"/>
            <a:ext cx="7155857" cy="4524375"/>
          </a:xfrm>
        </p:spPr>
        <p:txBody>
          <a:bodyPr>
            <a:noAutofit/>
          </a:bodyPr>
          <a:lstStyle/>
          <a:p>
            <a:pPr>
              <a:spcAft>
                <a:spcPts val="600"/>
              </a:spcAft>
            </a:pPr>
            <a:r>
              <a:rPr lang="en-US" dirty="0">
                <a:solidFill>
                  <a:schemeClr val="accent1"/>
                </a:solidFill>
              </a:rPr>
              <a:t>From the early </a:t>
            </a:r>
            <a:r>
              <a:rPr lang="en-US" dirty="0" err="1">
                <a:solidFill>
                  <a:schemeClr val="accent1"/>
                </a:solidFill>
              </a:rPr>
              <a:t>1900s</a:t>
            </a:r>
            <a:r>
              <a:rPr lang="en-US" dirty="0">
                <a:solidFill>
                  <a:schemeClr val="accent1"/>
                </a:solidFill>
              </a:rPr>
              <a:t> to the early </a:t>
            </a:r>
            <a:r>
              <a:rPr lang="en-US" dirty="0" err="1">
                <a:solidFill>
                  <a:schemeClr val="accent1"/>
                </a:solidFill>
              </a:rPr>
              <a:t>1930s</a:t>
            </a:r>
            <a:r>
              <a:rPr lang="en-US" dirty="0">
                <a:solidFill>
                  <a:schemeClr val="accent1"/>
                </a:solidFill>
              </a:rPr>
              <a:t>, automobile design evolved from open horseless carriages to the basic design characteristics we see today.</a:t>
            </a:r>
          </a:p>
          <a:p>
            <a:pPr>
              <a:spcAft>
                <a:spcPts val="600"/>
              </a:spcAft>
            </a:pPr>
            <a:r>
              <a:rPr lang="en-US" dirty="0">
                <a:solidFill>
                  <a:schemeClr val="accent1"/>
                </a:solidFill>
              </a:rPr>
              <a:t>Early vehicles were powered by electricity or steam.</a:t>
            </a:r>
          </a:p>
          <a:p>
            <a:pPr>
              <a:spcAft>
                <a:spcPts val="600"/>
              </a:spcAft>
            </a:pPr>
            <a:r>
              <a:rPr lang="en-US" dirty="0">
                <a:solidFill>
                  <a:schemeClr val="accent1"/>
                </a:solidFill>
              </a:rPr>
              <a:t>Most bodies were open carriage </a:t>
            </a:r>
            <a:r>
              <a:rPr lang="en-US">
                <a:solidFill>
                  <a:schemeClr val="accent1"/>
                </a:solidFill>
              </a:rPr>
              <a:t>designs.</a:t>
            </a:r>
            <a:endParaRPr lang="en-US" dirty="0">
              <a:solidFill>
                <a:schemeClr val="accent1"/>
              </a:solidFill>
            </a:endParaRPr>
          </a:p>
        </p:txBody>
      </p:sp>
      <p:pic>
        <p:nvPicPr>
          <p:cNvPr id="7" name="Picture Placeholder 6" descr="Ford Model T car, the first car to be built on an assembly line."/>
          <p:cNvPicPr>
            <a:picLocks noGrp="1" noChangeAspect="1"/>
          </p:cNvPicPr>
          <p:nvPr>
            <p:ph type="pic" sz="quarter" idx="10"/>
          </p:nvPr>
        </p:nvPicPr>
        <p:blipFill>
          <a:blip r:embed="rId3"/>
          <a:srcRect b="10468"/>
          <a:stretch/>
        </p:blipFill>
        <p:spPr>
          <a:xfrm>
            <a:off x="7733759" y="2171247"/>
            <a:ext cx="4170989" cy="27808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Historical Background (2 of 4)</a:t>
            </a:r>
          </a:p>
        </p:txBody>
      </p:sp>
      <p:sp>
        <p:nvSpPr>
          <p:cNvPr id="3075" name="Content Placeholder 2"/>
          <p:cNvSpPr>
            <a:spLocks noGrp="1"/>
          </p:cNvSpPr>
          <p:nvPr>
            <p:ph idx="1"/>
          </p:nvPr>
        </p:nvSpPr>
        <p:spPr/>
        <p:txBody>
          <a:bodyPr>
            <a:noAutofit/>
          </a:bodyPr>
          <a:lstStyle/>
          <a:p>
            <a:pPr marL="0" indent="0">
              <a:spcAft>
                <a:spcPts val="600"/>
              </a:spcAft>
              <a:buNone/>
            </a:pPr>
            <a:r>
              <a:rPr lang="en-US" b="1" dirty="0">
                <a:solidFill>
                  <a:schemeClr val="accent1"/>
                </a:solidFill>
              </a:rPr>
              <a:t>04-01 Explain the major events that have influenced the development of the automobile in the recent past.</a:t>
            </a:r>
          </a:p>
          <a:p>
            <a:pPr>
              <a:spcAft>
                <a:spcPts val="600"/>
              </a:spcAft>
            </a:pPr>
            <a:r>
              <a:rPr lang="en-US" dirty="0">
                <a:solidFill>
                  <a:schemeClr val="accent1"/>
                </a:solidFill>
              </a:rPr>
              <a:t>1896 was the beginning of the automotive industry based on the Duryea Brothers making 13 cars from the first factory that produced these cars for </a:t>
            </a:r>
            <a:r>
              <a:rPr lang="en-US">
                <a:solidFill>
                  <a:schemeClr val="accent1"/>
                </a:solidFill>
              </a:rPr>
              <a:t>consumers.</a:t>
            </a:r>
            <a:endParaRPr lang="en-US" dirty="0">
              <a:solidFill>
                <a:schemeClr val="accent1"/>
              </a:solidFill>
            </a:endParaRPr>
          </a:p>
          <a:p>
            <a:pPr>
              <a:spcAft>
                <a:spcPts val="600"/>
              </a:spcAft>
            </a:pPr>
            <a:r>
              <a:rPr lang="en-US" dirty="0">
                <a:solidFill>
                  <a:schemeClr val="accent1"/>
                </a:solidFill>
              </a:rPr>
              <a:t>The way vehicles were build changed drastically with Henry Ford and the introduction of the Ford Model T which was the first to be built on an assembly line, making the car very </a:t>
            </a:r>
            <a:r>
              <a:rPr lang="en-US">
                <a:solidFill>
                  <a:schemeClr val="accent1"/>
                </a:solidFill>
              </a:rPr>
              <a:t>affordable.</a:t>
            </a:r>
            <a:endParaRPr lang="en-US" dirty="0">
              <a:solidFill>
                <a:schemeClr val="accent1"/>
              </a:solidFill>
            </a:endParaRPr>
          </a:p>
          <a:p>
            <a:pPr>
              <a:spcAft>
                <a:spcPts val="600"/>
              </a:spcAft>
            </a:pPr>
            <a:r>
              <a:rPr lang="en-US" dirty="0">
                <a:solidFill>
                  <a:schemeClr val="accent1"/>
                </a:solidFill>
              </a:rPr>
              <a:t>In the beginning, the automotive was designed to move people on dirt </a:t>
            </a:r>
            <a:r>
              <a:rPr lang="en-US">
                <a:solidFill>
                  <a:schemeClr val="accent1"/>
                </a:solidFill>
              </a:rPr>
              <a:t>roads.</a:t>
            </a:r>
            <a:endParaRPr lang="en-US" dirty="0">
              <a:solidFill>
                <a:schemeClr val="accent1"/>
              </a:solidFill>
            </a:endParaRPr>
          </a:p>
        </p:txBody>
      </p:sp>
    </p:spTree>
    <p:extLst>
      <p:ext uri="{BB962C8B-B14F-4D97-AF65-F5344CB8AC3E}">
        <p14:creationId xmlns:p14="http://schemas.microsoft.com/office/powerpoint/2010/main" val="415566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Historical Background (3 of 4)</a:t>
            </a:r>
          </a:p>
        </p:txBody>
      </p:sp>
      <p:sp>
        <p:nvSpPr>
          <p:cNvPr id="3075" name="Content Placeholder 2"/>
          <p:cNvSpPr>
            <a:spLocks noGrp="1"/>
          </p:cNvSpPr>
          <p:nvPr>
            <p:ph idx="1"/>
          </p:nvPr>
        </p:nvSpPr>
        <p:spPr/>
        <p:txBody>
          <a:bodyPr>
            <a:noAutofit/>
          </a:bodyPr>
          <a:lstStyle/>
          <a:p>
            <a:pPr>
              <a:spcAft>
                <a:spcPts val="600"/>
              </a:spcAft>
            </a:pPr>
            <a:r>
              <a:rPr lang="en-US" sz="2400" dirty="0"/>
              <a:t>The automobile changed when:</a:t>
            </a:r>
          </a:p>
          <a:p>
            <a:pPr lvl="1">
              <a:spcAft>
                <a:spcPts val="600"/>
              </a:spcAft>
            </a:pPr>
            <a:r>
              <a:rPr lang="en-US" sz="2200" dirty="0"/>
              <a:t>Roads became </a:t>
            </a:r>
            <a:r>
              <a:rPr lang="en-US" sz="2200"/>
              <a:t>paved.</a:t>
            </a:r>
            <a:endParaRPr lang="en-US" sz="2200" dirty="0"/>
          </a:p>
          <a:p>
            <a:pPr lvl="1">
              <a:spcAft>
                <a:spcPts val="600"/>
              </a:spcAft>
            </a:pPr>
            <a:r>
              <a:rPr lang="en-US" sz="2200" dirty="0"/>
              <a:t>More people owned </a:t>
            </a:r>
            <a:r>
              <a:rPr lang="en-US" sz="2200"/>
              <a:t>cars.</a:t>
            </a:r>
            <a:endParaRPr lang="en-US" sz="2200" dirty="0"/>
          </a:p>
          <a:p>
            <a:pPr lvl="1">
              <a:spcAft>
                <a:spcPts val="600"/>
              </a:spcAft>
            </a:pPr>
            <a:r>
              <a:rPr lang="en-US" sz="2200" dirty="0"/>
              <a:t>Concerns for safety and the environment grew.</a:t>
            </a:r>
          </a:p>
          <a:p>
            <a:pPr lvl="1">
              <a:spcAft>
                <a:spcPts val="600"/>
              </a:spcAft>
            </a:pPr>
            <a:r>
              <a:rPr lang="en-US" sz="2200" dirty="0"/>
              <a:t>New technologies were </a:t>
            </a:r>
            <a:r>
              <a:rPr lang="en-US" sz="2200"/>
              <a:t>developed.</a:t>
            </a:r>
            <a:endParaRPr lang="en-US" sz="2200" dirty="0"/>
          </a:p>
          <a:p>
            <a:pPr>
              <a:spcAft>
                <a:spcPts val="600"/>
              </a:spcAft>
            </a:pPr>
            <a:r>
              <a:rPr lang="en-US" sz="2400" dirty="0"/>
              <a:t>The results of the listed changes allowed the vehicle to become more practical, more affordable, safer, more comfortable, more dependable, and </a:t>
            </a:r>
            <a:r>
              <a:rPr lang="en-US" sz="2400"/>
              <a:t>faster.</a:t>
            </a:r>
            <a:endParaRPr lang="en-US" sz="2400" dirty="0"/>
          </a:p>
          <a:p>
            <a:pPr>
              <a:spcAft>
                <a:spcPts val="600"/>
              </a:spcAft>
            </a:pPr>
            <a:r>
              <a:rPr lang="en-US" sz="2400" dirty="0"/>
              <a:t>Many improvements have been made to the original design, but the basics have changed very </a:t>
            </a:r>
            <a:r>
              <a:rPr lang="en-US" sz="2400"/>
              <a:t>little.</a:t>
            </a:r>
            <a:endParaRPr lang="en-US" sz="2400" dirty="0"/>
          </a:p>
        </p:txBody>
      </p:sp>
    </p:spTree>
    <p:extLst>
      <p:ext uri="{BB962C8B-B14F-4D97-AF65-F5344CB8AC3E}">
        <p14:creationId xmlns:p14="http://schemas.microsoft.com/office/powerpoint/2010/main" val="669961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Historical Background (4 of 4)</a:t>
            </a:r>
          </a:p>
        </p:txBody>
      </p:sp>
      <p:sp>
        <p:nvSpPr>
          <p:cNvPr id="3075" name="Content Placeholder 2"/>
          <p:cNvSpPr>
            <a:spLocks noGrp="1"/>
          </p:cNvSpPr>
          <p:nvPr>
            <p:ph idx="1"/>
          </p:nvPr>
        </p:nvSpPr>
        <p:spPr>
          <a:xfrm>
            <a:off x="476844" y="1508124"/>
            <a:ext cx="7498590" cy="4537075"/>
          </a:xfrm>
        </p:spPr>
        <p:txBody>
          <a:bodyPr>
            <a:noAutofit/>
          </a:bodyPr>
          <a:lstStyle/>
          <a:p>
            <a:pPr>
              <a:spcAft>
                <a:spcPts val="600"/>
              </a:spcAft>
            </a:pPr>
            <a:r>
              <a:rPr lang="en-US" sz="2400" dirty="0"/>
              <a:t>The </a:t>
            </a:r>
            <a:r>
              <a:rPr lang="en-US" sz="2400" b="1" dirty="0"/>
              <a:t>Corporate Average Fuel Economy (CAFE) </a:t>
            </a:r>
            <a:r>
              <a:rPr lang="en-US" sz="2400" dirty="0"/>
              <a:t>standards were set in 1975 which pressed manufacturers to improve fuel </a:t>
            </a:r>
            <a:r>
              <a:rPr lang="en-US" sz="2400"/>
              <a:t>economy.</a:t>
            </a:r>
            <a:endParaRPr lang="en-US" sz="2400" dirty="0"/>
          </a:p>
          <a:p>
            <a:pPr>
              <a:spcAft>
                <a:spcPts val="600"/>
              </a:spcAft>
            </a:pPr>
            <a:r>
              <a:rPr lang="en-US" sz="2400" dirty="0"/>
              <a:t>While trying to produce more fuel-efficient vehi­cles, manufacturers replaced large eight-cylinder engines with four-cylinder and other small </a:t>
            </a:r>
            <a:r>
              <a:rPr lang="en-US" sz="2400"/>
              <a:t>engines.</a:t>
            </a:r>
            <a:endParaRPr lang="en-US" sz="2400" dirty="0"/>
          </a:p>
          <a:p>
            <a:pPr>
              <a:spcAft>
                <a:spcPts val="600"/>
              </a:spcAft>
            </a:pPr>
            <a:r>
              <a:rPr lang="en-US" sz="2400" dirty="0"/>
              <a:t>Basic engine systems like carburetors and ignition breaker points were replaced by electronic fuel injection and electronic ignition </a:t>
            </a:r>
            <a:r>
              <a:rPr lang="en-US" sz="2400"/>
              <a:t>systems.</a:t>
            </a:r>
            <a:endParaRPr lang="en-US" sz="2400" dirty="0"/>
          </a:p>
        </p:txBody>
      </p:sp>
      <p:pic>
        <p:nvPicPr>
          <p:cNvPr id="7" name="Picture Placeholder 6" descr="Late-model V-10 gasoline engine cutaway displaying various internal engine parts."/>
          <p:cNvPicPr>
            <a:picLocks noGrp="1" noChangeAspect="1"/>
          </p:cNvPicPr>
          <p:nvPr>
            <p:ph type="pic" sz="quarter" idx="10"/>
          </p:nvPr>
        </p:nvPicPr>
        <p:blipFill>
          <a:blip r:embed="rId3"/>
          <a:srcRect b="14042"/>
          <a:stretch/>
        </p:blipFill>
        <p:spPr>
          <a:xfrm>
            <a:off x="7838370" y="2324736"/>
            <a:ext cx="4117658" cy="2719875"/>
          </a:xfrm>
          <a:prstGeom prst="rect">
            <a:avLst/>
          </a:prstGeom>
        </p:spPr>
      </p:pic>
    </p:spTree>
    <p:extLst>
      <p:ext uri="{BB962C8B-B14F-4D97-AF65-F5344CB8AC3E}">
        <p14:creationId xmlns:p14="http://schemas.microsoft.com/office/powerpoint/2010/main" val="403539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Design Evolution (1 of 2)</a:t>
            </a:r>
          </a:p>
        </p:txBody>
      </p:sp>
      <p:sp>
        <p:nvSpPr>
          <p:cNvPr id="3075" name="Content Placeholder 2"/>
          <p:cNvSpPr>
            <a:spLocks noGrp="1"/>
          </p:cNvSpPr>
          <p:nvPr>
            <p:ph idx="1"/>
          </p:nvPr>
        </p:nvSpPr>
        <p:spPr/>
        <p:txBody>
          <a:bodyPr>
            <a:noAutofit/>
          </a:bodyPr>
          <a:lstStyle/>
          <a:p>
            <a:pPr>
              <a:spcAft>
                <a:spcPts val="400"/>
              </a:spcAft>
            </a:pPr>
            <a:r>
              <a:rPr lang="en-US" sz="2400" dirty="0"/>
              <a:t>By the mid-1980s, all automobiles were equipped with some type of electronic control sys­tem.</a:t>
            </a:r>
          </a:p>
          <a:p>
            <a:pPr>
              <a:spcAft>
                <a:spcPts val="400"/>
              </a:spcAft>
            </a:pPr>
            <a:r>
              <a:rPr lang="en-US" sz="2400" dirty="0"/>
              <a:t>These systems did, and still do, monitor the engine's operation and provide increased power outputs while minimizing fuel consumption and emissions.</a:t>
            </a:r>
          </a:p>
          <a:p>
            <a:pPr>
              <a:spcAft>
                <a:spcPts val="400"/>
              </a:spcAft>
            </a:pPr>
            <a:r>
              <a:rPr lang="en-US" sz="2400" dirty="0"/>
              <a:t> Electronic sensors are used to monitor the engine and many other systems.</a:t>
            </a:r>
          </a:p>
          <a:p>
            <a:pPr>
              <a:spcAft>
                <a:spcPts val="400"/>
              </a:spcAft>
            </a:pPr>
            <a:r>
              <a:rPr lang="en-US" sz="2400" dirty="0"/>
              <a:t>Computerized engine control systems control air and fuel deliv­ery, ignition timing, emission systems operation, and a host of other related operations.</a:t>
            </a:r>
          </a:p>
          <a:p>
            <a:pPr>
              <a:spcAft>
                <a:spcPts val="400"/>
              </a:spcAft>
            </a:pPr>
            <a:r>
              <a:rPr lang="en-US" sz="2400" dirty="0"/>
              <a:t>The result is a clean-burning, fuel-efficient, and powerful engine.</a:t>
            </a:r>
            <a:endParaRPr lang="en-US" sz="2000" dirty="0"/>
          </a:p>
        </p:txBody>
      </p:sp>
    </p:spTree>
    <p:extLst>
      <p:ext uri="{BB962C8B-B14F-4D97-AF65-F5344CB8AC3E}">
        <p14:creationId xmlns:p14="http://schemas.microsoft.com/office/powerpoint/2010/main" val="2503879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Design Evolution (2 of 2)</a:t>
            </a:r>
          </a:p>
        </p:txBody>
      </p:sp>
      <p:sp>
        <p:nvSpPr>
          <p:cNvPr id="3075" name="Content Placeholder 2"/>
          <p:cNvSpPr>
            <a:spLocks noGrp="1"/>
          </p:cNvSpPr>
          <p:nvPr>
            <p:ph idx="1"/>
          </p:nvPr>
        </p:nvSpPr>
        <p:spPr>
          <a:xfrm>
            <a:off x="476844" y="1508124"/>
            <a:ext cx="6496826" cy="4562476"/>
          </a:xfrm>
        </p:spPr>
        <p:txBody>
          <a:bodyPr>
            <a:noAutofit/>
          </a:bodyPr>
          <a:lstStyle/>
          <a:p>
            <a:r>
              <a:rPr lang="en-US" sz="2200" b="1" dirty="0">
                <a:solidFill>
                  <a:schemeClr val="accent1"/>
                </a:solidFill>
              </a:rPr>
              <a:t>04.02 Explain how vehicle design has evolved with unitized vehicles and body-over-frame </a:t>
            </a:r>
            <a:r>
              <a:rPr lang="en-US" sz="2200" b="1">
                <a:solidFill>
                  <a:schemeClr val="accent1"/>
                </a:solidFill>
              </a:rPr>
              <a:t>vehicles.</a:t>
            </a:r>
            <a:endParaRPr lang="en-US" sz="2200" b="1" dirty="0">
              <a:solidFill>
                <a:schemeClr val="accent1"/>
              </a:solidFill>
            </a:endParaRPr>
          </a:p>
          <a:p>
            <a:r>
              <a:rPr lang="en-US" sz="2200" dirty="0">
                <a:solidFill>
                  <a:schemeClr val="accent1"/>
                </a:solidFill>
              </a:rPr>
              <a:t>Not too long ago, nearly every car and truck was build with body-over-frame </a:t>
            </a:r>
            <a:r>
              <a:rPr lang="en-US" sz="2200">
                <a:solidFill>
                  <a:schemeClr val="accent1"/>
                </a:solidFill>
              </a:rPr>
              <a:t>construction.</a:t>
            </a:r>
            <a:endParaRPr lang="en-US" sz="2200" dirty="0">
              <a:solidFill>
                <a:schemeClr val="accent1"/>
              </a:solidFill>
            </a:endParaRPr>
          </a:p>
          <a:p>
            <a:r>
              <a:rPr lang="en-US" sz="2200" dirty="0">
                <a:solidFill>
                  <a:schemeClr val="accent1"/>
                </a:solidFill>
              </a:rPr>
              <a:t>Today, most vehicles do not have a separate frame; instead, the frame and body are built as a single unity, called a </a:t>
            </a:r>
            <a:r>
              <a:rPr lang="en-US" sz="2200" err="1">
                <a:solidFill>
                  <a:schemeClr val="accent1"/>
                </a:solidFill>
              </a:rPr>
              <a:t>unibody</a:t>
            </a:r>
            <a:r>
              <a:rPr lang="en-US" sz="2200">
                <a:solidFill>
                  <a:schemeClr val="accent1"/>
                </a:solidFill>
              </a:rPr>
              <a:t>.</a:t>
            </a:r>
            <a:endParaRPr lang="en-US" sz="2200" dirty="0">
              <a:solidFill>
                <a:schemeClr val="accent1"/>
              </a:solidFill>
            </a:endParaRPr>
          </a:p>
          <a:p>
            <a:r>
              <a:rPr lang="en-US" sz="2200" dirty="0">
                <a:solidFill>
                  <a:schemeClr val="accent1"/>
                </a:solidFill>
              </a:rPr>
              <a:t>Most large pickup trucks and SUVs still use body-over-frame </a:t>
            </a:r>
            <a:r>
              <a:rPr lang="en-US" sz="2200">
                <a:solidFill>
                  <a:schemeClr val="accent1"/>
                </a:solidFill>
              </a:rPr>
              <a:t>construction.</a:t>
            </a:r>
            <a:endParaRPr lang="en-US" sz="2200" dirty="0">
              <a:solidFill>
                <a:schemeClr val="accent1"/>
              </a:solidFill>
            </a:endParaRPr>
          </a:p>
        </p:txBody>
      </p:sp>
      <p:pic>
        <p:nvPicPr>
          <p:cNvPr id="7" name="Picture Placeholder 6" descr="A hybrid electric car plugged into a charging terminal."/>
          <p:cNvPicPr>
            <a:picLocks noGrp="1" noChangeAspect="1"/>
          </p:cNvPicPr>
          <p:nvPr>
            <p:ph type="pic" sz="quarter" idx="10"/>
          </p:nvPr>
        </p:nvPicPr>
        <p:blipFill>
          <a:blip r:embed="rId3"/>
          <a:srcRect b="11292"/>
          <a:stretch/>
        </p:blipFill>
        <p:spPr>
          <a:xfrm>
            <a:off x="6973669" y="2100561"/>
            <a:ext cx="4741488" cy="2882405"/>
          </a:xfrm>
          <a:prstGeom prst="rect">
            <a:avLst/>
          </a:prstGeom>
        </p:spPr>
      </p:pic>
    </p:spTree>
    <p:extLst>
      <p:ext uri="{BB962C8B-B14F-4D97-AF65-F5344CB8AC3E}">
        <p14:creationId xmlns:p14="http://schemas.microsoft.com/office/powerpoint/2010/main" val="266657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Body-Over-Frame Construction</a:t>
            </a:r>
          </a:p>
        </p:txBody>
      </p:sp>
      <p:sp>
        <p:nvSpPr>
          <p:cNvPr id="3075" name="Content Placeholder 2"/>
          <p:cNvSpPr>
            <a:spLocks noGrp="1"/>
          </p:cNvSpPr>
          <p:nvPr>
            <p:ph idx="1"/>
          </p:nvPr>
        </p:nvSpPr>
        <p:spPr>
          <a:xfrm>
            <a:off x="476843" y="1508124"/>
            <a:ext cx="7498757" cy="4562476"/>
          </a:xfrm>
        </p:spPr>
        <p:txBody>
          <a:bodyPr>
            <a:noAutofit/>
          </a:bodyPr>
          <a:lstStyle/>
          <a:p>
            <a:pPr>
              <a:spcAft>
                <a:spcPts val="600"/>
              </a:spcAft>
            </a:pPr>
            <a:r>
              <a:rPr lang="en-US" sz="2400" dirty="0"/>
              <a:t>The frame is an independent, separate com­</a:t>
            </a:r>
            <a:r>
              <a:rPr lang="en-US" sz="2400"/>
              <a:t>ponent.</a:t>
            </a:r>
            <a:endParaRPr lang="en-US" sz="2400" dirty="0"/>
          </a:p>
          <a:p>
            <a:pPr>
              <a:spcAft>
                <a:spcPts val="600"/>
              </a:spcAft>
            </a:pPr>
            <a:r>
              <a:rPr lang="en-US" sz="2400" dirty="0"/>
              <a:t>The body is generally bolted to the frame but large, specially designed rubber mounts are placed between the frame and body to reduce noise and vibration from entering the passenger </a:t>
            </a:r>
            <a:r>
              <a:rPr lang="en-US" sz="2400"/>
              <a:t>compartment.</a:t>
            </a:r>
            <a:endParaRPr lang="en-US" sz="2400" dirty="0"/>
          </a:p>
          <a:p>
            <a:pPr>
              <a:spcAft>
                <a:spcPts val="600"/>
              </a:spcAft>
            </a:pPr>
            <a:r>
              <a:rPr lang="en-US" sz="2400" dirty="0"/>
              <a:t>Some frames are made by a </a:t>
            </a:r>
            <a:r>
              <a:rPr lang="en-US" sz="2400" b="1" dirty="0"/>
              <a:t>hydroforming</a:t>
            </a:r>
            <a:r>
              <a:rPr lang="en-US" sz="2400" dirty="0"/>
              <a:t> process, which uses high­ pressure water, rather than heat, to shape the steel into the desired </a:t>
            </a:r>
            <a:r>
              <a:rPr lang="en-US" sz="2400"/>
              <a:t>shape.</a:t>
            </a:r>
            <a:endParaRPr lang="en-US" sz="2400" dirty="0"/>
          </a:p>
        </p:txBody>
      </p:sp>
      <p:pic>
        <p:nvPicPr>
          <p:cNvPr id="7" name="Picture Placeholder 6" descr="The body and frame of a car is separated. The body of the car is on the floor while the frame is hanging above it, ready to be fixed to the body."/>
          <p:cNvPicPr>
            <a:picLocks noGrp="1" noChangeAspect="1"/>
          </p:cNvPicPr>
          <p:nvPr>
            <p:ph type="pic" sz="quarter" idx="10"/>
          </p:nvPr>
        </p:nvPicPr>
        <p:blipFill>
          <a:blip r:embed="rId3"/>
          <a:srcRect b="9938"/>
          <a:stretch/>
        </p:blipFill>
        <p:spPr>
          <a:xfrm>
            <a:off x="8261183" y="1886967"/>
            <a:ext cx="3457575" cy="3568611"/>
          </a:xfrm>
          <a:prstGeom prst="rect">
            <a:avLst/>
          </a:prstGeom>
        </p:spPr>
      </p:pic>
    </p:spTree>
    <p:extLst>
      <p:ext uri="{BB962C8B-B14F-4D97-AF65-F5344CB8AC3E}">
        <p14:creationId xmlns:p14="http://schemas.microsoft.com/office/powerpoint/2010/main" val="390354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Unitized Construction </a:t>
            </a:r>
          </a:p>
        </p:txBody>
      </p:sp>
      <p:sp>
        <p:nvSpPr>
          <p:cNvPr id="3075" name="Content Placeholder 2"/>
          <p:cNvSpPr>
            <a:spLocks noGrp="1"/>
          </p:cNvSpPr>
          <p:nvPr>
            <p:ph idx="1"/>
          </p:nvPr>
        </p:nvSpPr>
        <p:spPr>
          <a:xfrm>
            <a:off x="476843" y="1508124"/>
            <a:ext cx="7508115" cy="4778375"/>
          </a:xfrm>
        </p:spPr>
        <p:txBody>
          <a:bodyPr>
            <a:noAutofit/>
          </a:bodyPr>
          <a:lstStyle/>
          <a:p>
            <a:r>
              <a:rPr lang="en-US" sz="2200" dirty="0"/>
              <a:t>A </a:t>
            </a:r>
            <a:r>
              <a:rPr lang="en-US" sz="2200" b="1" dirty="0" err="1"/>
              <a:t>unibody</a:t>
            </a:r>
            <a:r>
              <a:rPr lang="en-US" sz="2200" dirty="0"/>
              <a:t> is a stressed hull structure in which each of the body parts supplies structural support and strength to the entire </a:t>
            </a:r>
            <a:r>
              <a:rPr lang="en-US" sz="2200"/>
              <a:t>vehicle.</a:t>
            </a:r>
            <a:endParaRPr lang="en-US" sz="2200" dirty="0"/>
          </a:p>
          <a:p>
            <a:r>
              <a:rPr lang="en-US" sz="2200" dirty="0" err="1"/>
              <a:t>Unibody</a:t>
            </a:r>
            <a:r>
              <a:rPr lang="en-US" sz="2200" dirty="0"/>
              <a:t> vehicles tend to be tightly constructed because the major parts are all welded together which helps protect the occupants during a </a:t>
            </a:r>
            <a:r>
              <a:rPr lang="en-US" sz="2200"/>
              <a:t>collision.</a:t>
            </a:r>
            <a:endParaRPr lang="en-US" sz="2200" dirty="0"/>
          </a:p>
          <a:p>
            <a:r>
              <a:rPr lang="en-US" sz="2200" dirty="0"/>
              <a:t>Damage patterns that differ from those of body-over-frame vehicles. Rather than localized damage, the stiffer sections used in </a:t>
            </a:r>
            <a:r>
              <a:rPr lang="en-US" sz="2200" dirty="0" err="1"/>
              <a:t>unibody</a:t>
            </a:r>
            <a:r>
              <a:rPr lang="en-US" sz="2200" dirty="0"/>
              <a:t> design tend to transmit and distribute impact energy throughout more of the </a:t>
            </a:r>
            <a:r>
              <a:rPr lang="en-US" sz="2200"/>
              <a:t>vehicle.</a:t>
            </a:r>
            <a:endParaRPr lang="en-US" sz="2200" dirty="0"/>
          </a:p>
        </p:txBody>
      </p:sp>
      <p:pic>
        <p:nvPicPr>
          <p:cNvPr id="7" name="Picture Placeholder 6" descr="A unibody car structure with different materials used to construct the unit are highlighted in different colors."/>
          <p:cNvPicPr>
            <a:picLocks noGrp="1" noChangeAspect="1"/>
          </p:cNvPicPr>
          <p:nvPr>
            <p:ph type="pic" sz="quarter" idx="10"/>
          </p:nvPr>
        </p:nvPicPr>
        <p:blipFill>
          <a:blip r:embed="rId3"/>
          <a:srcRect b="17576"/>
          <a:stretch/>
        </p:blipFill>
        <p:spPr>
          <a:xfrm>
            <a:off x="7798268" y="1943610"/>
            <a:ext cx="4107180" cy="2970780"/>
          </a:xfrm>
          <a:prstGeom prst="rect">
            <a:avLst/>
          </a:prstGeom>
        </p:spPr>
      </p:pic>
    </p:spTree>
    <p:extLst>
      <p:ext uri="{BB962C8B-B14F-4D97-AF65-F5344CB8AC3E}">
        <p14:creationId xmlns:p14="http://schemas.microsoft.com/office/powerpoint/2010/main" val="3257607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(1 of 2)</a:t>
            </a:r>
            <a:endParaRPr lang="en-US" dirty="0"/>
          </a:p>
        </p:txBody>
      </p:sp>
      <p:sp>
        <p:nvSpPr>
          <p:cNvPr id="3" name="Content Placeholder 2"/>
          <p:cNvSpPr>
            <a:spLocks noGrp="1"/>
          </p:cNvSpPr>
          <p:nvPr>
            <p:ph idx="1"/>
          </p:nvPr>
        </p:nvSpPr>
        <p:spPr/>
        <p:txBody>
          <a:bodyPr/>
          <a:lstStyle/>
          <a:p>
            <a:pPr marL="0" indent="0" algn="ctr">
              <a:buNone/>
            </a:pPr>
            <a:r>
              <a:rPr lang="en-US" dirty="0"/>
              <a:t>Which of the following is likely safer for occupants in the case of a collision, an older full frame heavy car, or a newer </a:t>
            </a:r>
            <a:r>
              <a:rPr lang="en-US" dirty="0" err="1"/>
              <a:t>unibody</a:t>
            </a:r>
            <a:r>
              <a:rPr lang="en-US" dirty="0"/>
              <a:t> small car?</a:t>
            </a:r>
          </a:p>
        </p:txBody>
      </p:sp>
    </p:spTree>
    <p:extLst>
      <p:ext uri="{BB962C8B-B14F-4D97-AF65-F5344CB8AC3E}">
        <p14:creationId xmlns:p14="http://schemas.microsoft.com/office/powerpoint/2010/main" val="2870049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(1 of 2)</a:t>
            </a:r>
            <a:endParaRPr lang="en-US" dirty="0"/>
          </a:p>
        </p:txBody>
      </p:sp>
      <p:sp>
        <p:nvSpPr>
          <p:cNvPr id="3" name="Content Placeholder 2"/>
          <p:cNvSpPr>
            <a:spLocks noGrp="1"/>
          </p:cNvSpPr>
          <p:nvPr>
            <p:ph idx="1"/>
          </p:nvPr>
        </p:nvSpPr>
        <p:spPr/>
        <p:txBody>
          <a:bodyPr/>
          <a:lstStyle/>
          <a:p>
            <a:pPr marL="0" indent="0" algn="ctr">
              <a:spcAft>
                <a:spcPts val="2400"/>
              </a:spcAft>
              <a:buNone/>
            </a:pPr>
            <a:r>
              <a:rPr lang="en-US" dirty="0">
                <a:solidFill>
                  <a:schemeClr val="accent1"/>
                </a:solidFill>
              </a:rPr>
              <a:t>Which of the following is likely safer for occupants in the case of a collision, an older full frame heavy car, or a newer </a:t>
            </a:r>
            <a:r>
              <a:rPr lang="en-US" dirty="0" err="1">
                <a:solidFill>
                  <a:schemeClr val="accent1"/>
                </a:solidFill>
              </a:rPr>
              <a:t>unibody</a:t>
            </a:r>
            <a:r>
              <a:rPr lang="en-US" dirty="0">
                <a:solidFill>
                  <a:schemeClr val="accent1"/>
                </a:solidFill>
              </a:rPr>
              <a:t> small car? </a:t>
            </a:r>
            <a:r>
              <a:rPr lang="en-US">
                <a:solidFill>
                  <a:schemeClr val="accent1"/>
                </a:solidFill>
              </a:rPr>
              <a:t>Why?</a:t>
            </a:r>
          </a:p>
          <a:p>
            <a:pPr marL="0" indent="0" algn="ctr">
              <a:buNone/>
            </a:pPr>
            <a:r>
              <a:rPr lang="en-US" b="1">
                <a:solidFill>
                  <a:schemeClr val="accent1"/>
                </a:solidFill>
              </a:rPr>
              <a:t>Answer</a:t>
            </a:r>
            <a:r>
              <a:rPr lang="en-US">
                <a:solidFill>
                  <a:schemeClr val="accent1"/>
                </a:solidFill>
              </a:rPr>
              <a:t>: The newer unibody small car. Because the crumple zones in the body are designed to absorb impact rather than passing it on to the occupants.</a:t>
            </a:r>
          </a:p>
        </p:txBody>
      </p:sp>
    </p:spTree>
    <p:extLst>
      <p:ext uri="{BB962C8B-B14F-4D97-AF65-F5344CB8AC3E}">
        <p14:creationId xmlns:p14="http://schemas.microsoft.com/office/powerpoint/2010/main" val="3811455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Body Shapes (1 of 2)</a:t>
            </a:r>
          </a:p>
        </p:txBody>
      </p:sp>
      <p:sp>
        <p:nvSpPr>
          <p:cNvPr id="3075" name="Content Placeholder 2"/>
          <p:cNvSpPr>
            <a:spLocks noGrp="1"/>
          </p:cNvSpPr>
          <p:nvPr>
            <p:ph idx="1"/>
          </p:nvPr>
        </p:nvSpPr>
        <p:spPr>
          <a:xfrm>
            <a:off x="476843" y="1508124"/>
            <a:ext cx="6317657" cy="4552191"/>
          </a:xfrm>
        </p:spPr>
        <p:txBody>
          <a:bodyPr>
            <a:normAutofit/>
          </a:bodyPr>
          <a:lstStyle/>
          <a:p>
            <a:pPr marL="0" indent="0">
              <a:spcAft>
                <a:spcPts val="600"/>
              </a:spcAft>
              <a:buNone/>
            </a:pPr>
            <a:r>
              <a:rPr lang="en-US" b="1" dirty="0"/>
              <a:t>04.03 Identify body shapes.</a:t>
            </a:r>
          </a:p>
          <a:p>
            <a:pPr>
              <a:spcAft>
                <a:spcPts val="600"/>
              </a:spcAft>
            </a:pPr>
            <a:r>
              <a:rPr lang="en-US" dirty="0"/>
              <a:t>Ten basic body shapes are used today:</a:t>
            </a:r>
          </a:p>
          <a:p>
            <a:pPr lvl="1">
              <a:spcAft>
                <a:spcPts val="600"/>
              </a:spcAft>
            </a:pPr>
            <a:r>
              <a:rPr lang="en-US" dirty="0"/>
              <a:t>Sedan</a:t>
            </a:r>
          </a:p>
          <a:p>
            <a:pPr lvl="1">
              <a:spcAft>
                <a:spcPts val="600"/>
              </a:spcAft>
            </a:pPr>
            <a:r>
              <a:rPr lang="en-US" dirty="0"/>
              <a:t>Convertibles</a:t>
            </a:r>
          </a:p>
          <a:p>
            <a:pPr lvl="1">
              <a:spcAft>
                <a:spcPts val="600"/>
              </a:spcAft>
            </a:pPr>
            <a:r>
              <a:rPr lang="en-US" dirty="0" err="1"/>
              <a:t>Liftback</a:t>
            </a:r>
            <a:r>
              <a:rPr lang="en-US" dirty="0"/>
              <a:t> or Hatchback</a:t>
            </a:r>
          </a:p>
          <a:p>
            <a:pPr lvl="1">
              <a:spcAft>
                <a:spcPts val="600"/>
              </a:spcAft>
            </a:pPr>
            <a:r>
              <a:rPr lang="en-US" dirty="0"/>
              <a:t>Station Wagon</a:t>
            </a:r>
          </a:p>
        </p:txBody>
      </p:sp>
      <p:pic>
        <p:nvPicPr>
          <p:cNvPr id="8" name="Picture Placeholder 7" descr="A late-model Genesis sedan car."/>
          <p:cNvPicPr>
            <a:picLocks noGrp="1" noChangeAspect="1"/>
          </p:cNvPicPr>
          <p:nvPr>
            <p:ph type="pic" sz="quarter" idx="10"/>
          </p:nvPr>
        </p:nvPicPr>
        <p:blipFill>
          <a:blip r:embed="rId3"/>
          <a:srcRect b="18957"/>
          <a:stretch/>
        </p:blipFill>
        <p:spPr>
          <a:xfrm>
            <a:off x="7673531" y="1471293"/>
            <a:ext cx="3695700" cy="1713695"/>
          </a:xfrm>
          <a:prstGeom prst="rect">
            <a:avLst/>
          </a:prstGeom>
        </p:spPr>
      </p:pic>
      <p:pic>
        <p:nvPicPr>
          <p:cNvPr id="9" name="Picture Placeholder 8" descr="Mustang Boss 302, a two-door sedan."/>
          <p:cNvPicPr>
            <a:picLocks noGrp="1" noChangeAspect="1"/>
          </p:cNvPicPr>
          <p:nvPr>
            <p:ph type="pic" sz="quarter" idx="11"/>
          </p:nvPr>
        </p:nvPicPr>
        <p:blipFill rotWithShape="1">
          <a:blip r:embed="rId4"/>
          <a:srcRect t="16451" b="7178"/>
          <a:stretch/>
        </p:blipFill>
        <p:spPr>
          <a:xfrm>
            <a:off x="7679533" y="3617507"/>
            <a:ext cx="3657600" cy="2269586"/>
          </a:xfrm>
          <a:prstGeom prst="rect">
            <a:avLst/>
          </a:prstGeom>
        </p:spPr>
      </p:pic>
    </p:spTree>
    <p:extLst>
      <p:ext uri="{BB962C8B-B14F-4D97-AF65-F5344CB8AC3E}">
        <p14:creationId xmlns:p14="http://schemas.microsoft.com/office/powerpoint/2010/main" val="2971656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Body Shapes (2 of 2)</a:t>
            </a:r>
          </a:p>
        </p:txBody>
      </p:sp>
      <p:sp>
        <p:nvSpPr>
          <p:cNvPr id="3075" name="Content Placeholder 2"/>
          <p:cNvSpPr>
            <a:spLocks noGrp="1"/>
          </p:cNvSpPr>
          <p:nvPr>
            <p:ph idx="1"/>
          </p:nvPr>
        </p:nvSpPr>
        <p:spPr>
          <a:xfrm>
            <a:off x="476843" y="1508124"/>
            <a:ext cx="7003457" cy="4473575"/>
          </a:xfrm>
        </p:spPr>
        <p:txBody>
          <a:bodyPr>
            <a:normAutofit/>
          </a:bodyPr>
          <a:lstStyle/>
          <a:p>
            <a:pPr>
              <a:spcAft>
                <a:spcPts val="600"/>
              </a:spcAft>
            </a:pPr>
            <a:r>
              <a:rPr lang="en-US" sz="2600" dirty="0"/>
              <a:t>Ten basic body shapes are used today continued:</a:t>
            </a:r>
          </a:p>
          <a:p>
            <a:pPr lvl="1">
              <a:spcAft>
                <a:spcPts val="600"/>
              </a:spcAft>
            </a:pPr>
            <a:r>
              <a:rPr lang="en-US" dirty="0"/>
              <a:t>Pickups</a:t>
            </a:r>
          </a:p>
          <a:p>
            <a:pPr lvl="1">
              <a:spcAft>
                <a:spcPts val="600"/>
              </a:spcAft>
            </a:pPr>
            <a:r>
              <a:rPr lang="en-US" dirty="0"/>
              <a:t>Vans</a:t>
            </a:r>
          </a:p>
          <a:p>
            <a:pPr lvl="1">
              <a:spcAft>
                <a:spcPts val="600"/>
              </a:spcAft>
            </a:pPr>
            <a:r>
              <a:rPr lang="en-US" dirty="0"/>
              <a:t>Sport utility vehicles (SUVs)</a:t>
            </a:r>
          </a:p>
          <a:p>
            <a:pPr lvl="1">
              <a:spcAft>
                <a:spcPts val="600"/>
              </a:spcAft>
            </a:pPr>
            <a:r>
              <a:rPr lang="en-US" dirty="0"/>
              <a:t>Crossover vehicles</a:t>
            </a:r>
          </a:p>
          <a:p>
            <a:pPr lvl="1">
              <a:spcAft>
                <a:spcPts val="600"/>
              </a:spcAft>
            </a:pPr>
            <a:r>
              <a:rPr lang="en-US" dirty="0"/>
              <a:t>Hybrid vehicles</a:t>
            </a:r>
          </a:p>
          <a:p>
            <a:pPr lvl="1">
              <a:spcAft>
                <a:spcPts val="600"/>
              </a:spcAft>
            </a:pPr>
            <a:r>
              <a:rPr lang="en-US" dirty="0"/>
              <a:t>Electric vehicles</a:t>
            </a:r>
          </a:p>
        </p:txBody>
      </p:sp>
      <p:pic>
        <p:nvPicPr>
          <p:cNvPr id="8" name="Picture Placeholder 7" descr="A RAM pickup truck with an extended cab area with seats behind the front seats."/>
          <p:cNvPicPr>
            <a:picLocks noGrp="1" noChangeAspect="1"/>
          </p:cNvPicPr>
          <p:nvPr>
            <p:ph type="pic" sz="quarter" idx="10"/>
          </p:nvPr>
        </p:nvPicPr>
        <p:blipFill rotWithShape="1">
          <a:blip r:embed="rId3"/>
          <a:srcRect b="16973"/>
          <a:stretch/>
        </p:blipFill>
        <p:spPr>
          <a:xfrm>
            <a:off x="7913688" y="1316683"/>
            <a:ext cx="3657600" cy="1953356"/>
          </a:xfrm>
          <a:prstGeom prst="rect">
            <a:avLst/>
          </a:prstGeom>
        </p:spPr>
      </p:pic>
      <p:pic>
        <p:nvPicPr>
          <p:cNvPr id="9" name="Picture Placeholder 8" descr="A plug-in hybrid vehicle. "/>
          <p:cNvPicPr>
            <a:picLocks noGrp="1" noChangeAspect="1"/>
          </p:cNvPicPr>
          <p:nvPr>
            <p:ph type="pic" sz="quarter" idx="11"/>
          </p:nvPr>
        </p:nvPicPr>
        <p:blipFill>
          <a:blip r:embed="rId4"/>
          <a:srcRect b="9165"/>
          <a:stretch/>
        </p:blipFill>
        <p:spPr>
          <a:xfrm>
            <a:off x="8134484" y="3587963"/>
            <a:ext cx="3290455" cy="2288856"/>
          </a:xfrm>
          <a:prstGeom prst="rect">
            <a:avLst/>
          </a:prstGeom>
        </p:spPr>
      </p:pic>
    </p:spTree>
    <p:extLst>
      <p:ext uri="{BB962C8B-B14F-4D97-AF65-F5344CB8AC3E}">
        <p14:creationId xmlns:p14="http://schemas.microsoft.com/office/powerpoint/2010/main" val="2216767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p>
        </p:txBody>
      </p:sp>
      <p:sp>
        <p:nvSpPr>
          <p:cNvPr id="3" name="Content Placeholder 2"/>
          <p:cNvSpPr>
            <a:spLocks noGrp="1"/>
          </p:cNvSpPr>
          <p:nvPr>
            <p:ph idx="1"/>
          </p:nvPr>
        </p:nvSpPr>
        <p:spPr/>
        <p:txBody>
          <a:bodyPr/>
          <a:lstStyle/>
          <a:p>
            <a:pPr>
              <a:spcAft>
                <a:spcPts val="600"/>
              </a:spcAft>
            </a:pPr>
            <a:r>
              <a:rPr lang="en-US" dirty="0"/>
              <a:t>You have learned the ten different body shapes in production </a:t>
            </a:r>
            <a:r>
              <a:rPr lang="en-US"/>
              <a:t>currently.</a:t>
            </a:r>
            <a:endParaRPr lang="en-US" dirty="0"/>
          </a:p>
          <a:p>
            <a:pPr>
              <a:spcAft>
                <a:spcPts val="600"/>
              </a:spcAft>
            </a:pPr>
            <a:r>
              <a:rPr lang="en-US" dirty="0"/>
              <a:t>Have a class discussion and provide example of vehicle make and model for each for the body </a:t>
            </a:r>
            <a:r>
              <a:rPr lang="en-US"/>
              <a:t>types.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The Basic Engine</a:t>
            </a:r>
          </a:p>
        </p:txBody>
      </p:sp>
      <p:pic>
        <p:nvPicPr>
          <p:cNvPr id="7" name="Picture Placeholder 6" descr="Two major units of an engine with the following components labeled: Cylinder block, Head gasket, and Cylinder head. The cylinder block is positioned at the base upon which the cylinder head is placed. A head gasket is sandwiched between the two units which seals the two units together."/>
          <p:cNvPicPr>
            <a:picLocks noGrp="1" noChangeAspect="1"/>
          </p:cNvPicPr>
          <p:nvPr>
            <p:ph type="pic" sz="quarter" idx="10"/>
          </p:nvPr>
        </p:nvPicPr>
        <p:blipFill>
          <a:blip r:embed="rId3"/>
          <a:srcRect b="11162"/>
          <a:stretch/>
        </p:blipFill>
        <p:spPr>
          <a:xfrm>
            <a:off x="712788" y="1876994"/>
            <a:ext cx="3486150" cy="3875533"/>
          </a:xfrm>
          <a:prstGeom prst="rect">
            <a:avLst/>
          </a:prstGeom>
        </p:spPr>
      </p:pic>
      <p:sp>
        <p:nvSpPr>
          <p:cNvPr id="3075" name="Content Placeholder 2"/>
          <p:cNvSpPr>
            <a:spLocks noGrp="1"/>
          </p:cNvSpPr>
          <p:nvPr>
            <p:ph idx="1"/>
          </p:nvPr>
        </p:nvSpPr>
        <p:spPr>
          <a:xfrm>
            <a:off x="4305300" y="1508124"/>
            <a:ext cx="7413458" cy="4613275"/>
          </a:xfrm>
        </p:spPr>
        <p:txBody>
          <a:bodyPr>
            <a:noAutofit/>
          </a:bodyPr>
          <a:lstStyle/>
          <a:p>
            <a:pPr>
              <a:spcAft>
                <a:spcPts val="600"/>
              </a:spcAft>
            </a:pPr>
            <a:r>
              <a:rPr lang="en-US" sz="2400" dirty="0"/>
              <a:t>All automobile engines, both gaso­line and diesel, are classified as internal combustion engines because the </a:t>
            </a:r>
            <a:r>
              <a:rPr lang="en-US" sz="2400" b="1" dirty="0"/>
              <a:t>combustion</a:t>
            </a:r>
            <a:r>
              <a:rPr lang="en-US" sz="2400" dirty="0"/>
              <a:t> or burning of air and fuel mixture that provides the power to move the vehicle takes place inside the </a:t>
            </a:r>
            <a:r>
              <a:rPr lang="en-US" sz="2400"/>
              <a:t>engine.</a:t>
            </a:r>
            <a:endParaRPr lang="en-US" sz="2400" dirty="0"/>
          </a:p>
          <a:p>
            <a:pPr>
              <a:spcAft>
                <a:spcPts val="600"/>
              </a:spcAft>
            </a:pPr>
            <a:r>
              <a:rPr lang="en-US" sz="2400" dirty="0"/>
              <a:t>As a result of combustion, large amounts of pressure are generated in the engine. This pressure or energy is used to power the car. The engine must be built strong enough to hold the pressure and temperatures formed by combustion.</a:t>
            </a:r>
          </a:p>
        </p:txBody>
      </p:sp>
    </p:spTree>
    <p:extLst>
      <p:ext uri="{BB962C8B-B14F-4D97-AF65-F5344CB8AC3E}">
        <p14:creationId xmlns:p14="http://schemas.microsoft.com/office/powerpoint/2010/main" val="2374723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Cylinder Block</a:t>
            </a:r>
          </a:p>
        </p:txBody>
      </p:sp>
      <p:pic>
        <p:nvPicPr>
          <p:cNvPr id="7" name="Picture Placeholder 6" descr="An engine block for a V8 engine with the following components labeled: Cylinders, Rear, Cylinder block, Coolant passageways, Block foundry ID and date, Engine number, Crankcase area, Front and Camshaft locator."/>
          <p:cNvPicPr>
            <a:picLocks noGrp="1" noChangeAspect="1"/>
          </p:cNvPicPr>
          <p:nvPr>
            <p:ph type="pic" sz="quarter" idx="10"/>
          </p:nvPr>
        </p:nvPicPr>
        <p:blipFill>
          <a:blip r:embed="rId3"/>
          <a:srcRect b="8789"/>
          <a:stretch/>
        </p:blipFill>
        <p:spPr>
          <a:xfrm>
            <a:off x="712788" y="2188598"/>
            <a:ext cx="3781425" cy="2701901"/>
          </a:xfrm>
          <a:prstGeom prst="rect">
            <a:avLst/>
          </a:prstGeom>
        </p:spPr>
      </p:pic>
      <p:sp>
        <p:nvSpPr>
          <p:cNvPr id="3075" name="Content Placeholder 2"/>
          <p:cNvSpPr>
            <a:spLocks noGrp="1"/>
          </p:cNvSpPr>
          <p:nvPr>
            <p:ph idx="1"/>
          </p:nvPr>
        </p:nvSpPr>
        <p:spPr>
          <a:xfrm>
            <a:off x="4813300" y="1508124"/>
            <a:ext cx="6905458" cy="4603917"/>
          </a:xfrm>
        </p:spPr>
        <p:txBody>
          <a:bodyPr>
            <a:noAutofit/>
          </a:bodyPr>
          <a:lstStyle/>
          <a:p>
            <a:pPr lvl="0">
              <a:spcAft>
                <a:spcPts val="600"/>
              </a:spcAft>
            </a:pPr>
            <a:r>
              <a:rPr lang="en-US" sz="2200" b="1" dirty="0"/>
              <a:t>04.04 Identify the basic components of modern engines.</a:t>
            </a:r>
          </a:p>
          <a:p>
            <a:pPr>
              <a:spcAft>
                <a:spcPts val="600"/>
              </a:spcAft>
            </a:pPr>
            <a:r>
              <a:rPr lang="en-US" sz="2200" dirty="0"/>
              <a:t>The biggest part of the engine is the </a:t>
            </a:r>
            <a:r>
              <a:rPr lang="en-US" sz="2200" b="1" dirty="0"/>
              <a:t>cylinder block</a:t>
            </a:r>
            <a:r>
              <a:rPr lang="en-US" sz="2200" dirty="0"/>
              <a:t>, which is also called an </a:t>
            </a:r>
            <a:r>
              <a:rPr lang="en-US" sz="2200" b="1" dirty="0"/>
              <a:t>engine </a:t>
            </a:r>
            <a:r>
              <a:rPr lang="en-US" sz="2200" b="1"/>
              <a:t>block.</a:t>
            </a:r>
            <a:endParaRPr lang="en-US" sz="2200" b="1" dirty="0"/>
          </a:p>
          <a:p>
            <a:pPr>
              <a:spcAft>
                <a:spcPts val="600"/>
              </a:spcAft>
            </a:pPr>
            <a:r>
              <a:rPr lang="en-US" sz="2200" dirty="0"/>
              <a:t>The cylinder block is a large casting of metal (iron or aluminum) that is drilled with holes to allow for passage of lubricants and coolant within the block.</a:t>
            </a:r>
          </a:p>
          <a:p>
            <a:pPr>
              <a:spcAft>
                <a:spcPts val="600"/>
              </a:spcAft>
            </a:pPr>
            <a:r>
              <a:rPr lang="en-US" sz="2200" dirty="0"/>
              <a:t>The block contains the cylinders, which are round passageways fitted with pistons. The block houses or holds the major mechanical parts of the </a:t>
            </a:r>
            <a:r>
              <a:rPr lang="en-US" sz="2200"/>
              <a:t>engine.</a:t>
            </a:r>
            <a:endParaRPr lang="en-US" sz="2200" dirty="0"/>
          </a:p>
        </p:txBody>
      </p:sp>
    </p:spTree>
    <p:extLst>
      <p:ext uri="{BB962C8B-B14F-4D97-AF65-F5344CB8AC3E}">
        <p14:creationId xmlns:p14="http://schemas.microsoft.com/office/powerpoint/2010/main" val="720839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Cylinder Head </a:t>
            </a:r>
          </a:p>
        </p:txBody>
      </p:sp>
      <p:pic>
        <p:nvPicPr>
          <p:cNvPr id="7" name="Picture Placeholder 6" descr="Two major units of an engine with the following components labeled: Cylinder block, Head gasket, and Cylinder head. The cylinder block is positioned at the base upon which the cylinder head is placed. A head gasket is sandwiched between the two units which seals the two units together."/>
          <p:cNvPicPr>
            <a:picLocks noGrp="1" noChangeAspect="1"/>
          </p:cNvPicPr>
          <p:nvPr>
            <p:ph type="pic" sz="quarter" idx="10"/>
          </p:nvPr>
        </p:nvPicPr>
        <p:blipFill>
          <a:blip r:embed="rId3"/>
          <a:stretch>
            <a:fillRect/>
          </a:stretch>
        </p:blipFill>
        <p:spPr>
          <a:xfrm>
            <a:off x="267750" y="2342900"/>
            <a:ext cx="3711131" cy="2454879"/>
          </a:xfrm>
          <a:prstGeom prst="rect">
            <a:avLst/>
          </a:prstGeom>
        </p:spPr>
      </p:pic>
      <p:sp>
        <p:nvSpPr>
          <p:cNvPr id="3075" name="Content Placeholder 2"/>
          <p:cNvSpPr>
            <a:spLocks noGrp="1"/>
          </p:cNvSpPr>
          <p:nvPr>
            <p:ph idx="1"/>
          </p:nvPr>
        </p:nvSpPr>
        <p:spPr>
          <a:xfrm>
            <a:off x="4064000" y="1508124"/>
            <a:ext cx="7654758" cy="4613275"/>
          </a:xfrm>
        </p:spPr>
        <p:txBody>
          <a:bodyPr>
            <a:noAutofit/>
          </a:bodyPr>
          <a:lstStyle/>
          <a:p>
            <a:pPr lvl="0">
              <a:spcAft>
                <a:spcPts val="200"/>
              </a:spcAft>
            </a:pPr>
            <a:r>
              <a:rPr lang="en-US" sz="2400" dirty="0">
                <a:solidFill>
                  <a:schemeClr val="accent1"/>
                </a:solidFill>
              </a:rPr>
              <a:t>The </a:t>
            </a:r>
            <a:r>
              <a:rPr lang="en-US" sz="2400" b="1" dirty="0">
                <a:solidFill>
                  <a:schemeClr val="accent1"/>
                </a:solidFill>
              </a:rPr>
              <a:t>cylinder head </a:t>
            </a:r>
            <a:r>
              <a:rPr lang="en-US" sz="2400" dirty="0">
                <a:solidFill>
                  <a:schemeClr val="accent1"/>
                </a:solidFill>
              </a:rPr>
              <a:t>fits on top of the cylinder block to close off and seal the top of the cylinders and can be made of cast iron or aluminum.</a:t>
            </a:r>
          </a:p>
          <a:p>
            <a:pPr lvl="0">
              <a:spcAft>
                <a:spcPts val="200"/>
              </a:spcAft>
            </a:pPr>
            <a:r>
              <a:rPr lang="en-US" sz="2400" dirty="0">
                <a:solidFill>
                  <a:schemeClr val="accent1"/>
                </a:solidFill>
              </a:rPr>
              <a:t>The </a:t>
            </a:r>
            <a:r>
              <a:rPr lang="en-US" sz="2400" b="1" dirty="0">
                <a:solidFill>
                  <a:schemeClr val="accent1"/>
                </a:solidFill>
              </a:rPr>
              <a:t>combustion chamber</a:t>
            </a:r>
            <a:r>
              <a:rPr lang="en-US" sz="2400" dirty="0">
                <a:solidFill>
                  <a:schemeClr val="accent1"/>
                </a:solidFill>
              </a:rPr>
              <a:t> is an area into which the air–fuel mixture is compressed and burned. The cylinder head contains all or most of the combustion chamber.</a:t>
            </a:r>
          </a:p>
          <a:p>
            <a:pPr>
              <a:spcAft>
                <a:spcPts val="200"/>
              </a:spcAft>
            </a:pPr>
            <a:r>
              <a:rPr lang="en-US" sz="2400" dirty="0">
                <a:solidFill>
                  <a:schemeClr val="accent1"/>
                </a:solidFill>
              </a:rPr>
              <a:t>The cylinder head also contains ports, which are passageways through which the air–fuel mixture enters and burned gases exit the </a:t>
            </a:r>
            <a:r>
              <a:rPr lang="en-US" sz="2400">
                <a:solidFill>
                  <a:schemeClr val="accent1"/>
                </a:solidFill>
              </a:rPr>
              <a:t>cylinder.</a:t>
            </a:r>
            <a:endParaRPr lang="en-US" sz="2400" dirty="0">
              <a:solidFill>
                <a:schemeClr val="accent1"/>
              </a:solidFill>
            </a:endParaRPr>
          </a:p>
        </p:txBody>
      </p:sp>
    </p:spTree>
    <p:extLst>
      <p:ext uri="{BB962C8B-B14F-4D97-AF65-F5344CB8AC3E}">
        <p14:creationId xmlns:p14="http://schemas.microsoft.com/office/powerpoint/2010/main" val="1413613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Piston, Connecting Rod, Crankshaft</a:t>
            </a:r>
          </a:p>
        </p:txBody>
      </p:sp>
      <p:sp>
        <p:nvSpPr>
          <p:cNvPr id="3075" name="Content Placeholder 2"/>
          <p:cNvSpPr>
            <a:spLocks noGrp="1"/>
          </p:cNvSpPr>
          <p:nvPr>
            <p:ph idx="1"/>
          </p:nvPr>
        </p:nvSpPr>
        <p:spPr>
          <a:xfrm>
            <a:off x="476843" y="1508124"/>
            <a:ext cx="7676557" cy="4587875"/>
          </a:xfrm>
        </p:spPr>
        <p:txBody>
          <a:bodyPr>
            <a:noAutofit/>
          </a:bodyPr>
          <a:lstStyle/>
          <a:p>
            <a:pPr lvl="0">
              <a:spcAft>
                <a:spcPts val="600"/>
              </a:spcAft>
            </a:pPr>
            <a:r>
              <a:rPr lang="en-US" dirty="0">
                <a:solidFill>
                  <a:schemeClr val="accent1"/>
                </a:solidFill>
              </a:rPr>
              <a:t>The </a:t>
            </a:r>
            <a:r>
              <a:rPr lang="en-US" b="1" dirty="0">
                <a:solidFill>
                  <a:schemeClr val="accent1"/>
                </a:solidFill>
              </a:rPr>
              <a:t>piston</a:t>
            </a:r>
            <a:r>
              <a:rPr lang="en-US" dirty="0">
                <a:solidFill>
                  <a:schemeClr val="accent1"/>
                </a:solidFill>
              </a:rPr>
              <a:t> is a can-shaped part closely fitted inside the cylin­</a:t>
            </a:r>
            <a:r>
              <a:rPr lang="en-US">
                <a:solidFill>
                  <a:schemeClr val="accent1"/>
                </a:solidFill>
              </a:rPr>
              <a:t>der.</a:t>
            </a:r>
            <a:endParaRPr lang="en-US" dirty="0">
              <a:solidFill>
                <a:schemeClr val="accent1"/>
              </a:solidFill>
            </a:endParaRPr>
          </a:p>
          <a:p>
            <a:pPr lvl="0">
              <a:spcAft>
                <a:spcPts val="600"/>
              </a:spcAft>
            </a:pPr>
            <a:r>
              <a:rPr lang="en-US" dirty="0">
                <a:solidFill>
                  <a:schemeClr val="accent1"/>
                </a:solidFill>
              </a:rPr>
              <a:t>As the piston is pushed down on the power stroke, the </a:t>
            </a:r>
            <a:r>
              <a:rPr lang="en-US" b="1" dirty="0">
                <a:solidFill>
                  <a:schemeClr val="accent1"/>
                </a:solidFill>
              </a:rPr>
              <a:t>connecting rod</a:t>
            </a:r>
            <a:r>
              <a:rPr lang="en-US" dirty="0">
                <a:solidFill>
                  <a:schemeClr val="accent1"/>
                </a:solidFill>
              </a:rPr>
              <a:t> pushes on the </a:t>
            </a:r>
            <a:r>
              <a:rPr lang="en-US" b="1" dirty="0">
                <a:solidFill>
                  <a:schemeClr val="accent1"/>
                </a:solidFill>
              </a:rPr>
              <a:t>crankshaft</a:t>
            </a:r>
            <a:r>
              <a:rPr lang="en-US" dirty="0">
                <a:solidFill>
                  <a:schemeClr val="accent1"/>
                </a:solidFill>
              </a:rPr>
              <a:t>, causing it to </a:t>
            </a:r>
            <a:r>
              <a:rPr lang="en-US">
                <a:solidFill>
                  <a:schemeClr val="accent1"/>
                </a:solidFill>
              </a:rPr>
              <a:t>rotate.</a:t>
            </a:r>
            <a:endParaRPr lang="en-US" dirty="0">
              <a:solidFill>
                <a:schemeClr val="accent1"/>
              </a:solidFill>
            </a:endParaRPr>
          </a:p>
          <a:p>
            <a:pPr lvl="0">
              <a:spcAft>
                <a:spcPts val="600"/>
              </a:spcAft>
            </a:pPr>
            <a:r>
              <a:rPr lang="en-US" dirty="0">
                <a:solidFill>
                  <a:schemeClr val="accent1"/>
                </a:solidFill>
              </a:rPr>
              <a:t>As the piston travels up and down, it completes a cycle, and this type of engine requires 4 of these cycles to produce the power stroke or </a:t>
            </a:r>
            <a:r>
              <a:rPr lang="en-US">
                <a:solidFill>
                  <a:schemeClr val="accent1"/>
                </a:solidFill>
              </a:rPr>
              <a:t>combustion stroke.</a:t>
            </a:r>
            <a:endParaRPr lang="en-US" dirty="0">
              <a:solidFill>
                <a:schemeClr val="accent1"/>
              </a:solidFill>
            </a:endParaRPr>
          </a:p>
        </p:txBody>
      </p:sp>
      <p:pic>
        <p:nvPicPr>
          <p:cNvPr id="7" name="Picture Placeholder 6" descr="The piston tightly fits in a cylinder and moves downward. The piston connects to the crankshaft through a connecting rod. Downward arrows point from the piston to the end of the connecting rod and a curved clockwise arrow at one end of the crankshaft indicates the engine's rotation."/>
          <p:cNvPicPr>
            <a:picLocks noGrp="1" noChangeAspect="1"/>
          </p:cNvPicPr>
          <p:nvPr>
            <p:ph type="pic" sz="quarter" idx="10"/>
          </p:nvPr>
        </p:nvPicPr>
        <p:blipFill>
          <a:blip r:embed="rId3"/>
          <a:srcRect b="15625"/>
          <a:stretch/>
        </p:blipFill>
        <p:spPr>
          <a:xfrm>
            <a:off x="8400162" y="1994435"/>
            <a:ext cx="3476625" cy="2869130"/>
          </a:xfrm>
          <a:prstGeom prst="rect">
            <a:avLst/>
          </a:prstGeom>
        </p:spPr>
      </p:pic>
    </p:spTree>
    <p:extLst>
      <p:ext uri="{BB962C8B-B14F-4D97-AF65-F5344CB8AC3E}">
        <p14:creationId xmlns:p14="http://schemas.microsoft.com/office/powerpoint/2010/main" val="1333926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Valve Train</a:t>
            </a:r>
          </a:p>
        </p:txBody>
      </p:sp>
      <p:sp>
        <p:nvSpPr>
          <p:cNvPr id="3075" name="Content Placeholder 2"/>
          <p:cNvSpPr>
            <a:spLocks noGrp="1"/>
          </p:cNvSpPr>
          <p:nvPr>
            <p:ph idx="1"/>
          </p:nvPr>
        </p:nvSpPr>
        <p:spPr>
          <a:xfrm>
            <a:off x="476843" y="1508124"/>
            <a:ext cx="6976143" cy="4537075"/>
          </a:xfrm>
        </p:spPr>
        <p:txBody>
          <a:bodyPr>
            <a:noAutofit/>
          </a:bodyPr>
          <a:lstStyle/>
          <a:p>
            <a:pPr lvl="0"/>
            <a:r>
              <a:rPr lang="en-US" dirty="0"/>
              <a:t>A </a:t>
            </a:r>
            <a:r>
              <a:rPr lang="en-US" b="1" dirty="0"/>
              <a:t>valve train </a:t>
            </a:r>
            <a:r>
              <a:rPr lang="en-US" dirty="0"/>
              <a:t>is a series of parts used to open and close the intake and exhaust ports.</a:t>
            </a:r>
          </a:p>
          <a:p>
            <a:pPr lvl="0"/>
            <a:r>
              <a:rPr lang="en-US" dirty="0"/>
              <a:t>A valve is a movable part that opens and closes a passageway.</a:t>
            </a:r>
          </a:p>
          <a:p>
            <a:pPr lvl="0"/>
            <a:r>
              <a:rPr lang="en-US" dirty="0"/>
              <a:t>A camshaft controls the movement of the valves causing them to open and close at the proper time.</a:t>
            </a:r>
          </a:p>
          <a:p>
            <a:pPr lvl="0"/>
            <a:r>
              <a:rPr lang="en-US" dirty="0"/>
              <a:t>Springs are used to help close the valves.</a:t>
            </a:r>
          </a:p>
        </p:txBody>
      </p:sp>
      <p:pic>
        <p:nvPicPr>
          <p:cNvPr id="7" name="Picture Placeholder 6" descr="A valve train of an overhead valve engine for one cylinder used to open and close the intake and exhaust ports."/>
          <p:cNvPicPr>
            <a:picLocks noGrp="1" noChangeAspect="1"/>
          </p:cNvPicPr>
          <p:nvPr>
            <p:ph type="pic" sz="quarter" idx="10"/>
          </p:nvPr>
        </p:nvPicPr>
        <p:blipFill>
          <a:blip r:embed="rId3"/>
          <a:srcRect b="13088"/>
          <a:stretch/>
        </p:blipFill>
        <p:spPr>
          <a:xfrm>
            <a:off x="7557294" y="1971555"/>
            <a:ext cx="4333494" cy="2914891"/>
          </a:xfrm>
          <a:prstGeom prst="rect">
            <a:avLst/>
          </a:prstGeom>
        </p:spPr>
      </p:pic>
    </p:spTree>
    <p:extLst>
      <p:ext uri="{BB962C8B-B14F-4D97-AF65-F5344CB8AC3E}">
        <p14:creationId xmlns:p14="http://schemas.microsoft.com/office/powerpoint/2010/main" val="4086025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Manifolds</a:t>
            </a:r>
          </a:p>
        </p:txBody>
      </p:sp>
      <p:pic>
        <p:nvPicPr>
          <p:cNvPr id="7" name="Picture Placeholder 6" descr="A blue manifold and a red manifold are attached separately to the cylinder head for intake and exhaust respectively."/>
          <p:cNvPicPr>
            <a:picLocks noGrp="1" noChangeAspect="1"/>
          </p:cNvPicPr>
          <p:nvPr>
            <p:ph type="pic" sz="quarter" idx="10"/>
          </p:nvPr>
        </p:nvPicPr>
        <p:blipFill>
          <a:blip r:embed="rId3"/>
          <a:srcRect b="13891"/>
          <a:stretch/>
        </p:blipFill>
        <p:spPr>
          <a:xfrm>
            <a:off x="395457" y="1965169"/>
            <a:ext cx="4356545" cy="2927663"/>
          </a:xfrm>
          <a:prstGeom prst="rect">
            <a:avLst/>
          </a:prstGeom>
        </p:spPr>
      </p:pic>
      <p:sp>
        <p:nvSpPr>
          <p:cNvPr id="3075" name="Content Placeholder 2"/>
          <p:cNvSpPr>
            <a:spLocks noGrp="1"/>
          </p:cNvSpPr>
          <p:nvPr>
            <p:ph idx="1"/>
          </p:nvPr>
        </p:nvSpPr>
        <p:spPr>
          <a:xfrm>
            <a:off x="4922728" y="1508124"/>
            <a:ext cx="6796029" cy="4562475"/>
          </a:xfrm>
        </p:spPr>
        <p:txBody>
          <a:bodyPr>
            <a:noAutofit/>
          </a:bodyPr>
          <a:lstStyle/>
          <a:p>
            <a:pPr lvl="0"/>
            <a:r>
              <a:rPr lang="en-US" dirty="0"/>
              <a:t>A </a:t>
            </a:r>
            <a:r>
              <a:rPr lang="en-US" b="1" dirty="0"/>
              <a:t>manifold</a:t>
            </a:r>
            <a:r>
              <a:rPr lang="en-US" dirty="0"/>
              <a:t> is a ductwork assembly used to direct the flow of gases to or from the combustion cham­bers.</a:t>
            </a:r>
          </a:p>
          <a:p>
            <a:pPr lvl="0"/>
            <a:r>
              <a:rPr lang="en-US" dirty="0"/>
              <a:t>Two separate manifolds are attached to the cylinder head.</a:t>
            </a:r>
          </a:p>
          <a:p>
            <a:pPr lvl="0"/>
            <a:r>
              <a:rPr lang="en-US" dirty="0"/>
              <a:t>The intake manifold delivers a mixture of air and fuel to the intake ports.</a:t>
            </a:r>
          </a:p>
          <a:p>
            <a:pPr lvl="0"/>
            <a:r>
              <a:rPr lang="en-US" dirty="0"/>
              <a:t>The </a:t>
            </a:r>
            <a:r>
              <a:rPr lang="en-US" b="1" dirty="0"/>
              <a:t>exhaust manifold </a:t>
            </a:r>
            <a:r>
              <a:rPr lang="en-US" dirty="0"/>
              <a:t>mounts over the exhaust ports and carries exhaust gases away from the cylinders.</a:t>
            </a:r>
          </a:p>
        </p:txBody>
      </p:sp>
    </p:spTree>
    <p:extLst>
      <p:ext uri="{BB962C8B-B14F-4D97-AF65-F5344CB8AC3E}">
        <p14:creationId xmlns:p14="http://schemas.microsoft.com/office/powerpoint/2010/main" val="1206603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76843" y="473246"/>
            <a:ext cx="11241915" cy="898354"/>
          </a:xfrm>
        </p:spPr>
        <p:txBody>
          <a:bodyPr anchor="ctr">
            <a:normAutofit/>
          </a:bodyPr>
          <a:lstStyle/>
          <a:p>
            <a:r>
              <a:rPr lang="en-US" dirty="0"/>
              <a:t>Engine Systems</a:t>
            </a:r>
          </a:p>
        </p:txBody>
      </p:sp>
      <p:sp>
        <p:nvSpPr>
          <p:cNvPr id="3075" name="Content Placeholder 2"/>
          <p:cNvSpPr>
            <a:spLocks noGrp="1"/>
          </p:cNvSpPr>
          <p:nvPr>
            <p:ph idx="1"/>
          </p:nvPr>
        </p:nvSpPr>
        <p:spPr>
          <a:xfrm>
            <a:off x="476843" y="1624263"/>
            <a:ext cx="11241915" cy="1430910"/>
          </a:xfrm>
        </p:spPr>
        <p:txBody>
          <a:bodyPr>
            <a:noAutofit/>
          </a:bodyPr>
          <a:lstStyle/>
          <a:p>
            <a:pPr marL="360363" indent="-360363">
              <a:spcBef>
                <a:spcPts val="624"/>
              </a:spcBef>
              <a:spcAft>
                <a:spcPts val="600"/>
              </a:spcAft>
            </a:pPr>
            <a:r>
              <a:rPr lang="en-US" sz="2200" b="1" dirty="0"/>
              <a:t>04.05 List the basic systems that make up an automobile and name their major components and functions.</a:t>
            </a:r>
          </a:p>
          <a:p>
            <a:pPr marL="360363" lvl="0" indent="-360363">
              <a:spcBef>
                <a:spcPts val="624"/>
              </a:spcBef>
              <a:spcAft>
                <a:spcPts val="600"/>
              </a:spcAft>
            </a:pPr>
            <a:r>
              <a:rPr lang="en-US" sz="2200" dirty="0"/>
              <a:t>The following sections present a brief explanation of the systems that help an engine run and keep running.</a:t>
            </a:r>
          </a:p>
        </p:txBody>
      </p:sp>
      <p:sp>
        <p:nvSpPr>
          <p:cNvPr id="13" name="Content Placeholder 12"/>
          <p:cNvSpPr txBox="1">
            <a:spLocks noGrp="1"/>
          </p:cNvSpPr>
          <p:nvPr>
            <p:ph sz="quarter" idx="10"/>
          </p:nvPr>
        </p:nvSpPr>
        <p:spPr>
          <a:xfrm>
            <a:off x="476250" y="3437193"/>
            <a:ext cx="4525963" cy="2298065"/>
          </a:xfrm>
          <a:prstGeom prst="rect">
            <a:avLst/>
          </a:prstGeom>
          <a:noFill/>
        </p:spPr>
        <p:txBody>
          <a:bodyPr wrap="square" rtlCol="0">
            <a:spAutoFit/>
          </a:bodyPr>
          <a:lstStyle/>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Lubrication System </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Cooling System</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Fuel and Air System</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Emission Control System </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Exhaust System </a:t>
            </a:r>
          </a:p>
        </p:txBody>
      </p:sp>
      <p:sp>
        <p:nvSpPr>
          <p:cNvPr id="14" name="Content Placeholder 13"/>
          <p:cNvSpPr>
            <a:spLocks noGrp="1"/>
          </p:cNvSpPr>
          <p:nvPr>
            <p:ph sz="quarter" idx="11"/>
          </p:nvPr>
        </p:nvSpPr>
        <p:spPr>
          <a:xfrm>
            <a:off x="5168900" y="3446877"/>
            <a:ext cx="5202321" cy="1823576"/>
          </a:xfrm>
          <a:prstGeom prst="rect">
            <a:avLst/>
          </a:prstGeom>
        </p:spPr>
        <p:txBody>
          <a:bodyPr wrap="square">
            <a:spAutoFit/>
          </a:bodyPr>
          <a:lstStyle/>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Ignition System</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Starting and Charging Systems </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Electronic Engine Controls</a:t>
            </a:r>
          </a:p>
          <a:p>
            <a:pPr marL="722313" lvl="1" indent="-361950" eaLnBrk="1" fontAlgn="auto" hangingPunct="1">
              <a:spcBef>
                <a:spcPts val="624"/>
              </a:spcBef>
              <a:spcAft>
                <a:spcPts val="600"/>
              </a:spcAft>
              <a:buClr>
                <a:srgbClr val="282F7C"/>
              </a:buClr>
              <a:buFont typeface="Arial" panose="020B0604020202020204" pitchFamily="34" charset="0"/>
              <a:buChar char="−"/>
            </a:pPr>
            <a:r>
              <a:rPr lang="en-US" sz="2000" dirty="0">
                <a:solidFill>
                  <a:srgbClr val="282F7C"/>
                </a:solidFill>
                <a:latin typeface="Work Sans"/>
              </a:rPr>
              <a:t>On-Board Diagnostics</a:t>
            </a:r>
          </a:p>
        </p:txBody>
      </p:sp>
    </p:spTree>
    <p:extLst>
      <p:ext uri="{BB962C8B-B14F-4D97-AF65-F5344CB8AC3E}">
        <p14:creationId xmlns:p14="http://schemas.microsoft.com/office/powerpoint/2010/main" val="3226823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Lubrication System </a:t>
            </a:r>
          </a:p>
        </p:txBody>
      </p:sp>
      <p:pic>
        <p:nvPicPr>
          <p:cNvPr id="7" name="Picture Placeholder 6" descr="The oil pump draws oil from the oil pan with a pickup screen and passes through the oil filter. It then forces the oil through oil galleries that direct the oil to the moving parts of the engine."/>
          <p:cNvPicPr>
            <a:picLocks noGrp="1" noChangeAspect="1"/>
          </p:cNvPicPr>
          <p:nvPr>
            <p:ph type="pic" sz="quarter" idx="10"/>
          </p:nvPr>
        </p:nvPicPr>
        <p:blipFill>
          <a:blip r:embed="rId3"/>
          <a:srcRect b="11869"/>
          <a:stretch/>
        </p:blipFill>
        <p:spPr>
          <a:xfrm>
            <a:off x="712788" y="1938988"/>
            <a:ext cx="3733800" cy="2980024"/>
          </a:xfrm>
          <a:prstGeom prst="rect">
            <a:avLst/>
          </a:prstGeom>
        </p:spPr>
      </p:pic>
      <p:sp>
        <p:nvSpPr>
          <p:cNvPr id="3075" name="Content Placeholder 2"/>
          <p:cNvSpPr>
            <a:spLocks noGrp="1"/>
          </p:cNvSpPr>
          <p:nvPr>
            <p:ph idx="1"/>
          </p:nvPr>
        </p:nvSpPr>
        <p:spPr>
          <a:xfrm>
            <a:off x="4446588" y="1508124"/>
            <a:ext cx="7272170" cy="4562475"/>
          </a:xfrm>
        </p:spPr>
        <p:txBody>
          <a:bodyPr>
            <a:noAutofit/>
          </a:bodyPr>
          <a:lstStyle/>
          <a:p>
            <a:pPr lvl="0">
              <a:spcAft>
                <a:spcPts val="600"/>
              </a:spcAft>
            </a:pPr>
            <a:r>
              <a:rPr lang="en-US" dirty="0"/>
              <a:t>The moving parts of an engine need constant lubri­</a:t>
            </a:r>
            <a:r>
              <a:rPr lang="en-US"/>
              <a:t>cation.</a:t>
            </a:r>
            <a:endParaRPr lang="en-US" dirty="0"/>
          </a:p>
          <a:p>
            <a:pPr lvl="0">
              <a:spcAft>
                <a:spcPts val="600"/>
              </a:spcAft>
            </a:pPr>
            <a:r>
              <a:rPr lang="en-US" dirty="0"/>
              <a:t>Lubrication limits the amount of wear and reduces the amount of friction in the </a:t>
            </a:r>
            <a:r>
              <a:rPr lang="en-US"/>
              <a:t>engine.</a:t>
            </a:r>
            <a:endParaRPr lang="en-US" dirty="0"/>
          </a:p>
          <a:p>
            <a:pPr lvl="0">
              <a:spcAft>
                <a:spcPts val="600"/>
              </a:spcAft>
            </a:pPr>
            <a:r>
              <a:rPr lang="en-US" dirty="0"/>
              <a:t>Motor or engine oil is the fluid used to lubricate the </a:t>
            </a:r>
            <a:r>
              <a:rPr lang="en-US"/>
              <a:t>engine.</a:t>
            </a:r>
            <a:endParaRPr lang="en-US" dirty="0"/>
          </a:p>
          <a:p>
            <a:pPr lvl="0">
              <a:spcAft>
                <a:spcPts val="600"/>
              </a:spcAft>
            </a:pPr>
            <a:r>
              <a:rPr lang="en-US" dirty="0"/>
              <a:t>Oil from the pan passes through an oil filter before moving through the engine which removes dirt and metal </a:t>
            </a:r>
            <a:r>
              <a:rPr lang="en-US"/>
              <a:t>particles.</a:t>
            </a:r>
            <a:endParaRPr lang="en-US" dirty="0"/>
          </a:p>
        </p:txBody>
      </p:sp>
    </p:spTree>
    <p:extLst>
      <p:ext uri="{BB962C8B-B14F-4D97-AF65-F5344CB8AC3E}">
        <p14:creationId xmlns:p14="http://schemas.microsoft.com/office/powerpoint/2010/main" val="2061122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Cooling System (1 of 2) </a:t>
            </a:r>
          </a:p>
        </p:txBody>
      </p:sp>
      <p:sp>
        <p:nvSpPr>
          <p:cNvPr id="3075" name="Content Placeholder 2"/>
          <p:cNvSpPr>
            <a:spLocks noGrp="1"/>
          </p:cNvSpPr>
          <p:nvPr>
            <p:ph idx="1"/>
          </p:nvPr>
        </p:nvSpPr>
        <p:spPr>
          <a:xfrm>
            <a:off x="476844" y="1508124"/>
            <a:ext cx="6228756" cy="4511675"/>
          </a:xfrm>
        </p:spPr>
        <p:txBody>
          <a:bodyPr>
            <a:noAutofit/>
          </a:bodyPr>
          <a:lstStyle/>
          <a:p>
            <a:pPr lvl="0">
              <a:spcAft>
                <a:spcPts val="600"/>
              </a:spcAft>
            </a:pPr>
            <a:r>
              <a:rPr lang="en-US" sz="2400" dirty="0">
                <a:solidFill>
                  <a:schemeClr val="accent1"/>
                </a:solidFill>
              </a:rPr>
              <a:t>The combustion of the air–fuel mixture produces large amounts of heat in the </a:t>
            </a:r>
            <a:r>
              <a:rPr lang="en-US" sz="2400">
                <a:solidFill>
                  <a:schemeClr val="accent1"/>
                </a:solidFill>
              </a:rPr>
              <a:t>engine.</a:t>
            </a:r>
            <a:endParaRPr lang="en-US" sz="2400" dirty="0">
              <a:solidFill>
                <a:schemeClr val="accent1"/>
              </a:solidFill>
            </a:endParaRPr>
          </a:p>
          <a:p>
            <a:pPr lvl="0">
              <a:spcAft>
                <a:spcPts val="600"/>
              </a:spcAft>
            </a:pPr>
            <a:r>
              <a:rPr lang="en-US" sz="2400" dirty="0">
                <a:solidFill>
                  <a:schemeClr val="accent1"/>
                </a:solidFill>
              </a:rPr>
              <a:t>This heat must not be allowed to buildup and must be reduced because it can damage and warp engine </a:t>
            </a:r>
            <a:r>
              <a:rPr lang="en-US" sz="2400">
                <a:solidFill>
                  <a:schemeClr val="accent1"/>
                </a:solidFill>
              </a:rPr>
              <a:t>parts.</a:t>
            </a:r>
            <a:endParaRPr lang="en-US" sz="2400" dirty="0">
              <a:solidFill>
                <a:schemeClr val="accent1"/>
              </a:solidFill>
            </a:endParaRPr>
          </a:p>
          <a:p>
            <a:pPr lvl="0">
              <a:spcAft>
                <a:spcPts val="600"/>
              </a:spcAft>
            </a:pPr>
            <a:r>
              <a:rPr lang="en-US" sz="2400" dirty="0">
                <a:solidFill>
                  <a:schemeClr val="accent1"/>
                </a:solidFill>
              </a:rPr>
              <a:t>To prevent this, engines have a liquid cooling system which circulates a liquid coolant through passages in the engine block and cylinder head.</a:t>
            </a:r>
          </a:p>
        </p:txBody>
      </p:sp>
      <p:pic>
        <p:nvPicPr>
          <p:cNvPr id="4" name="Picture Placeholder 10" descr="A typical engine cooling system with the following components labeled: Radiator, pressure cap, hose clamp, upper radiator hose, thermostat housing, thermostat, thermostat bypass hose, heater core, heater supply hose, heater return hose, core plug, drain plug, coolant circulating through the cylinder block and head, water pump, lower hose, drive belt, coolant recovery tank, overflow tube, and electric fan.">
            <a:extLst>
              <a:ext uri="{FF2B5EF4-FFF2-40B4-BE49-F238E27FC236}">
                <a16:creationId xmlns:a16="http://schemas.microsoft.com/office/drawing/2014/main" id="{45FD9563-0B03-44ED-EEB4-CC59109ACF65}"/>
              </a:ext>
            </a:extLst>
          </p:cNvPr>
          <p:cNvPicPr>
            <a:picLocks noGrp="1" noChangeAspect="1"/>
          </p:cNvPicPr>
          <p:nvPr>
            <p:ph type="pic" sz="quarter" idx="10"/>
          </p:nvPr>
        </p:nvPicPr>
        <p:blipFill>
          <a:blip r:embed="rId3"/>
          <a:srcRect b="3382"/>
          <a:stretch/>
        </p:blipFill>
        <p:spPr>
          <a:xfrm>
            <a:off x="6734162" y="1894268"/>
            <a:ext cx="4868266" cy="3739386"/>
          </a:xfrm>
        </p:spPr>
      </p:pic>
    </p:spTree>
    <p:extLst>
      <p:ext uri="{BB962C8B-B14F-4D97-AF65-F5344CB8AC3E}">
        <p14:creationId xmlns:p14="http://schemas.microsoft.com/office/powerpoint/2010/main" val="2186924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Cooling System (1 of </a:t>
            </a:r>
            <a:r>
              <a:rPr lang="en-US"/>
              <a:t>2)</a:t>
            </a:r>
            <a:endParaRPr lang="en-US" dirty="0"/>
          </a:p>
        </p:txBody>
      </p:sp>
      <p:sp>
        <p:nvSpPr>
          <p:cNvPr id="3075" name="Content Placeholder 2"/>
          <p:cNvSpPr>
            <a:spLocks noGrp="1"/>
          </p:cNvSpPr>
          <p:nvPr>
            <p:ph idx="1"/>
          </p:nvPr>
        </p:nvSpPr>
        <p:spPr/>
        <p:txBody>
          <a:bodyPr>
            <a:noAutofit/>
          </a:bodyPr>
          <a:lstStyle/>
          <a:p>
            <a:pPr lvl="0">
              <a:spcAft>
                <a:spcPts val="600"/>
              </a:spcAft>
            </a:pPr>
            <a:r>
              <a:rPr lang="en-US" sz="2200" dirty="0"/>
              <a:t>A typical cooling system relies on a </a:t>
            </a:r>
            <a:r>
              <a:rPr lang="en-US" sz="2200" b="1" dirty="0"/>
              <a:t>water pump</a:t>
            </a:r>
            <a:r>
              <a:rPr lang="en-US" sz="2200" dirty="0"/>
              <a:t>, which circulates the coolant through the system and is driven by a pump or electric </a:t>
            </a:r>
            <a:r>
              <a:rPr lang="en-US" sz="2200"/>
              <a:t>motor.</a:t>
            </a:r>
            <a:endParaRPr lang="en-US" sz="2200" dirty="0"/>
          </a:p>
          <a:p>
            <a:pPr lvl="0">
              <a:spcAft>
                <a:spcPts val="600"/>
              </a:spcAft>
            </a:pPr>
            <a:r>
              <a:rPr lang="en-US" sz="2200" dirty="0"/>
              <a:t>The cool­ant is pushed through passages, called </a:t>
            </a:r>
            <a:r>
              <a:rPr lang="en-US" sz="2200" b="1" dirty="0"/>
              <a:t>water jackets</a:t>
            </a:r>
            <a:r>
              <a:rPr lang="en-US" sz="2200" dirty="0"/>
              <a:t>, in the cylinder block and head to remove heat from the area around the </a:t>
            </a:r>
            <a:r>
              <a:rPr lang="en-US" sz="2200"/>
              <a:t>cylinders.</a:t>
            </a:r>
            <a:endParaRPr lang="en-US" sz="2200" dirty="0"/>
          </a:p>
          <a:p>
            <a:pPr lvl="0">
              <a:spcAft>
                <a:spcPts val="600"/>
              </a:spcAft>
            </a:pPr>
            <a:r>
              <a:rPr lang="en-US" sz="2200" dirty="0"/>
              <a:t>The heat picked up by the coolant is sent to the </a:t>
            </a:r>
            <a:r>
              <a:rPr lang="en-US" sz="2200" b="1" dirty="0"/>
              <a:t>radiator</a:t>
            </a:r>
            <a:r>
              <a:rPr lang="en-US" sz="2200" dirty="0"/>
              <a:t> which trans­fers the heat to </a:t>
            </a:r>
            <a:r>
              <a:rPr lang="en-US" sz="2200"/>
              <a:t>the surrounding air.</a:t>
            </a:r>
            <a:endParaRPr lang="en-US" sz="2200" dirty="0"/>
          </a:p>
          <a:p>
            <a:pPr lvl="0">
              <a:spcAft>
                <a:spcPts val="600"/>
              </a:spcAft>
            </a:pPr>
            <a:r>
              <a:rPr lang="en-US" sz="2200" dirty="0"/>
              <a:t>To raise the boiling point of the coolant, the cool­ing system is pressurized and to maintain this pressure, a radiator cap or </a:t>
            </a:r>
            <a:r>
              <a:rPr lang="en-US" sz="2200" b="1" dirty="0"/>
              <a:t>pressure cap</a:t>
            </a:r>
            <a:r>
              <a:rPr lang="en-US" sz="2200" dirty="0"/>
              <a:t> is fitted to the radiator.</a:t>
            </a:r>
          </a:p>
          <a:p>
            <a:pPr lvl="0">
              <a:spcAft>
                <a:spcPts val="600"/>
              </a:spcAft>
            </a:pPr>
            <a:r>
              <a:rPr lang="en-US" sz="2200" dirty="0"/>
              <a:t>A </a:t>
            </a:r>
            <a:r>
              <a:rPr lang="en-US" sz="2200" b="1" dirty="0"/>
              <a:t>thermostat</a:t>
            </a:r>
            <a:r>
              <a:rPr lang="en-US" sz="2200" dirty="0"/>
              <a:t> is used to block off circulation in the sys­tem until a preset temperature is reached which allows the engine to warm up </a:t>
            </a:r>
            <a:r>
              <a:rPr lang="en-US" sz="2200"/>
              <a:t>faster.</a:t>
            </a:r>
            <a:endParaRPr lang="en-US" sz="2200" dirty="0"/>
          </a:p>
        </p:txBody>
      </p:sp>
    </p:spTree>
    <p:extLst>
      <p:ext uri="{BB962C8B-B14F-4D97-AF65-F5344CB8AC3E}">
        <p14:creationId xmlns:p14="http://schemas.microsoft.com/office/powerpoint/2010/main" val="818801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Fuel and Air System </a:t>
            </a:r>
          </a:p>
        </p:txBody>
      </p:sp>
      <p:pic>
        <p:nvPicPr>
          <p:cNvPr id="7" name="Picture Placeholder 6" descr="An intake manifold for a twin-turbocharged B M W engine that directs the air to each of the cylinders."/>
          <p:cNvPicPr>
            <a:picLocks noGrp="1" noChangeAspect="1"/>
          </p:cNvPicPr>
          <p:nvPr>
            <p:ph type="pic" sz="quarter" idx="10"/>
          </p:nvPr>
        </p:nvPicPr>
        <p:blipFill>
          <a:blip r:embed="rId3"/>
          <a:srcRect b="12376"/>
          <a:stretch/>
        </p:blipFill>
        <p:spPr>
          <a:xfrm>
            <a:off x="477138" y="1787933"/>
            <a:ext cx="4425696" cy="3282135"/>
          </a:xfrm>
          <a:prstGeom prst="rect">
            <a:avLst/>
          </a:prstGeom>
        </p:spPr>
      </p:pic>
      <p:sp>
        <p:nvSpPr>
          <p:cNvPr id="3075" name="Content Placeholder 2"/>
          <p:cNvSpPr>
            <a:spLocks noGrp="1"/>
          </p:cNvSpPr>
          <p:nvPr>
            <p:ph idx="1"/>
          </p:nvPr>
        </p:nvSpPr>
        <p:spPr>
          <a:xfrm>
            <a:off x="5085566" y="1508124"/>
            <a:ext cx="6633191" cy="4575175"/>
          </a:xfrm>
        </p:spPr>
        <p:txBody>
          <a:bodyPr>
            <a:noAutofit/>
          </a:bodyPr>
          <a:lstStyle/>
          <a:p>
            <a:pPr lvl="0"/>
            <a:r>
              <a:rPr lang="en-US" sz="2400" dirty="0"/>
              <a:t>The fuel and air system is designed to supply the cor­rect amount of fuel mixed with the correct amount of air to the cylinders of the engine.</a:t>
            </a:r>
          </a:p>
          <a:p>
            <a:pPr lvl="0"/>
            <a:r>
              <a:rPr lang="en-US" sz="2400" dirty="0"/>
              <a:t>The air system collects and cleans the outside air, then delivers outside air to the individual cylinders</a:t>
            </a:r>
            <a:r>
              <a:rPr lang="en-US" sz="2400" dirty="0">
                <a:solidFill>
                  <a:srgbClr val="FF0000"/>
                </a:solidFill>
              </a:rPr>
              <a:t>.</a:t>
            </a:r>
          </a:p>
          <a:p>
            <a:pPr lvl="0"/>
            <a:r>
              <a:rPr lang="en-US" sz="2400" dirty="0"/>
              <a:t>A fuel tank stores the liquid gasoline.</a:t>
            </a:r>
          </a:p>
          <a:p>
            <a:pPr lvl="0"/>
            <a:r>
              <a:rPr lang="en-US" sz="2400" dirty="0"/>
              <a:t>Fuel lines carry the liquid from the tank to the other parts of the system. A pump moves the gasoline from the tank through the lines.</a:t>
            </a:r>
          </a:p>
        </p:txBody>
      </p:sp>
    </p:spTree>
    <p:extLst>
      <p:ext uri="{BB962C8B-B14F-4D97-AF65-F5344CB8AC3E}">
        <p14:creationId xmlns:p14="http://schemas.microsoft.com/office/powerpoint/2010/main" val="3783667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Emission Control System </a:t>
            </a:r>
          </a:p>
        </p:txBody>
      </p:sp>
      <p:sp>
        <p:nvSpPr>
          <p:cNvPr id="3075" name="Content Placeholder 2"/>
          <p:cNvSpPr>
            <a:spLocks noGrp="1"/>
          </p:cNvSpPr>
          <p:nvPr>
            <p:ph idx="1"/>
          </p:nvPr>
        </p:nvSpPr>
        <p:spPr/>
        <p:txBody>
          <a:bodyPr>
            <a:noAutofit/>
          </a:bodyPr>
          <a:lstStyle/>
          <a:p>
            <a:pPr lvl="0">
              <a:spcAft>
                <a:spcPts val="600"/>
              </a:spcAft>
            </a:pPr>
            <a:r>
              <a:rPr lang="en-US" sz="2400" dirty="0"/>
              <a:t>Today's gasoline engines have been engineered to emit very low amounts of certain </a:t>
            </a:r>
            <a:r>
              <a:rPr lang="en-US" sz="2400"/>
              <a:t>pollutants.</a:t>
            </a:r>
            <a:endParaRPr lang="en-US" sz="2400" dirty="0"/>
          </a:p>
          <a:p>
            <a:pPr lvl="0">
              <a:spcAft>
                <a:spcPts val="600"/>
              </a:spcAft>
            </a:pPr>
            <a:r>
              <a:rPr lang="en-US" sz="2400" dirty="0"/>
              <a:t>The pollutants that have been drastically reduced are </a:t>
            </a:r>
            <a:r>
              <a:rPr lang="en-US" sz="2400" b="1" dirty="0"/>
              <a:t>hydrocarbons (HC)</a:t>
            </a:r>
            <a:r>
              <a:rPr lang="en-US" sz="2400" dirty="0"/>
              <a:t>, </a:t>
            </a:r>
            <a:r>
              <a:rPr lang="en-US" sz="2400" b="1" dirty="0"/>
              <a:t>carbon monoxide (CO)</a:t>
            </a:r>
            <a:r>
              <a:rPr lang="en-US" sz="2400" dirty="0"/>
              <a:t>, and </a:t>
            </a:r>
            <a:r>
              <a:rPr lang="en-US" sz="2400" b="1" dirty="0"/>
              <a:t>oxides of nitrogen (</a:t>
            </a:r>
            <a:r>
              <a:rPr lang="en-US" sz="2400" b="1" dirty="0" err="1"/>
              <a:t>Nox</a:t>
            </a:r>
            <a:r>
              <a:rPr lang="en-US" sz="2400" b="1" dirty="0"/>
              <a:t>).</a:t>
            </a:r>
          </a:p>
          <a:p>
            <a:pPr lvl="0">
              <a:spcAft>
                <a:spcPts val="600"/>
              </a:spcAft>
            </a:pPr>
            <a:r>
              <a:rPr lang="en-US" sz="2400" dirty="0"/>
              <a:t>The Environmental Pro­tection Agency establishes emissions standards that limit the amount of these pollutants a vehicle can </a:t>
            </a:r>
            <a:r>
              <a:rPr lang="en-US" sz="2400"/>
              <a:t>emit.</a:t>
            </a:r>
            <a:endParaRPr lang="en-US" sz="2400" dirty="0"/>
          </a:p>
          <a:p>
            <a:pPr lvl="0">
              <a:spcAft>
                <a:spcPts val="600"/>
              </a:spcAft>
            </a:pPr>
            <a:r>
              <a:rPr lang="en-US" sz="2400" dirty="0"/>
              <a:t>Common components or systems used include; </a:t>
            </a:r>
            <a:r>
              <a:rPr lang="en-US" sz="2400" b="1" dirty="0"/>
              <a:t>Positive crankcase ventilation </a:t>
            </a:r>
            <a:r>
              <a:rPr lang="en-US" sz="2400" dirty="0"/>
              <a:t>(PCV), Evaporative emission control system, </a:t>
            </a:r>
            <a:r>
              <a:rPr lang="en-US" sz="2400" b="1" dirty="0"/>
              <a:t>Exhaust gas recirculation (EGR)</a:t>
            </a:r>
            <a:r>
              <a:rPr lang="en-US" sz="2400" dirty="0"/>
              <a:t> system, Catalytic converter, and the Air injection </a:t>
            </a:r>
            <a:r>
              <a:rPr lang="en-US" sz="2400"/>
              <a:t>system.</a:t>
            </a:r>
            <a:endParaRPr lang="en-US" sz="2400" dirty="0"/>
          </a:p>
        </p:txBody>
      </p:sp>
    </p:spTree>
    <p:extLst>
      <p:ext uri="{BB962C8B-B14F-4D97-AF65-F5344CB8AC3E}">
        <p14:creationId xmlns:p14="http://schemas.microsoft.com/office/powerpoint/2010/main" val="1310613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Exhaust System </a:t>
            </a:r>
          </a:p>
        </p:txBody>
      </p:sp>
      <p:pic>
        <p:nvPicPr>
          <p:cNvPr id="7" name="Picture Placeholder 6" descr="A typical exhaust system on a late-model car. The parts labeled for Catalytic converter has the following components: Exhaust manifold, Exhaust head pipe, Gasket, Upstream H O_2 S sensor (used for fuel control), and Downstream H O_2 S sensor (used for catalyst testing)."/>
          <p:cNvPicPr>
            <a:picLocks noGrp="1" noChangeAspect="1"/>
          </p:cNvPicPr>
          <p:nvPr>
            <p:ph type="pic" sz="quarter" idx="10"/>
          </p:nvPr>
        </p:nvPicPr>
        <p:blipFill>
          <a:blip r:embed="rId3"/>
          <a:stretch>
            <a:fillRect/>
          </a:stretch>
        </p:blipFill>
        <p:spPr>
          <a:xfrm>
            <a:off x="625553" y="1661053"/>
            <a:ext cx="5092065" cy="3970973"/>
          </a:xfrm>
          <a:prstGeom prst="rect">
            <a:avLst/>
          </a:prstGeom>
        </p:spPr>
      </p:pic>
      <p:sp>
        <p:nvSpPr>
          <p:cNvPr id="3075" name="Content Placeholder 2"/>
          <p:cNvSpPr>
            <a:spLocks noGrp="1"/>
          </p:cNvSpPr>
          <p:nvPr>
            <p:ph idx="1"/>
          </p:nvPr>
        </p:nvSpPr>
        <p:spPr>
          <a:xfrm>
            <a:off x="6096000" y="1508124"/>
            <a:ext cx="5622758" cy="4549775"/>
          </a:xfrm>
        </p:spPr>
        <p:txBody>
          <a:bodyPr>
            <a:noAutofit/>
          </a:bodyPr>
          <a:lstStyle/>
          <a:p>
            <a:pPr lvl="0">
              <a:spcAft>
                <a:spcPts val="600"/>
              </a:spcAft>
            </a:pPr>
            <a:r>
              <a:rPr lang="en-US" dirty="0">
                <a:solidFill>
                  <a:schemeClr val="accent1"/>
                </a:solidFill>
              </a:rPr>
              <a:t>During the exhaust stroke, the engine's pistons push the burned air–fuel mixture, or exhaust, out of the cylinder and into the exhaust manifold.</a:t>
            </a:r>
          </a:p>
          <a:p>
            <a:pPr lvl="0">
              <a:spcAft>
                <a:spcPts val="600"/>
              </a:spcAft>
            </a:pPr>
            <a:r>
              <a:rPr lang="en-US" dirty="0">
                <a:solidFill>
                  <a:schemeClr val="accent1"/>
                </a:solidFill>
              </a:rPr>
              <a:t>From the manifold, the gases travel through the exhaust system until they are expelled into the atmosphere.</a:t>
            </a:r>
          </a:p>
        </p:txBody>
      </p:sp>
    </p:spTree>
    <p:extLst>
      <p:ext uri="{BB962C8B-B14F-4D97-AF65-F5344CB8AC3E}">
        <p14:creationId xmlns:p14="http://schemas.microsoft.com/office/powerpoint/2010/main" val="3444286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Ignition System </a:t>
            </a:r>
          </a:p>
        </p:txBody>
      </p:sp>
      <p:pic>
        <p:nvPicPr>
          <p:cNvPr id="7" name="Picture Placeholder 6" descr="An ignition coil assembly for four cylinders that generates the electricity that creates the ignition spark."/>
          <p:cNvPicPr>
            <a:picLocks noGrp="1" noChangeAspect="1"/>
          </p:cNvPicPr>
          <p:nvPr>
            <p:ph type="pic" sz="quarter" idx="10"/>
          </p:nvPr>
        </p:nvPicPr>
        <p:blipFill>
          <a:blip r:embed="rId3"/>
          <a:srcRect b="14573"/>
          <a:stretch/>
        </p:blipFill>
        <p:spPr>
          <a:xfrm>
            <a:off x="504152" y="2085063"/>
            <a:ext cx="4713828" cy="2687874"/>
          </a:xfrm>
          <a:prstGeom prst="rect">
            <a:avLst/>
          </a:prstGeom>
        </p:spPr>
      </p:pic>
      <p:sp>
        <p:nvSpPr>
          <p:cNvPr id="3075" name="Content Placeholder 2"/>
          <p:cNvSpPr>
            <a:spLocks noGrp="1"/>
          </p:cNvSpPr>
          <p:nvPr>
            <p:ph idx="1"/>
          </p:nvPr>
        </p:nvSpPr>
        <p:spPr>
          <a:xfrm>
            <a:off x="5336088" y="1508124"/>
            <a:ext cx="6382670" cy="4575175"/>
          </a:xfrm>
        </p:spPr>
        <p:txBody>
          <a:bodyPr>
            <a:noAutofit/>
          </a:bodyPr>
          <a:lstStyle/>
          <a:p>
            <a:pPr lvl="0">
              <a:spcAft>
                <a:spcPts val="600"/>
              </a:spcAft>
            </a:pPr>
            <a:r>
              <a:rPr lang="en-US" dirty="0"/>
              <a:t>A gasoline engine uses an electrical spark to ignite the air fuel mixture, and generating this spark is the role of the ignition system.</a:t>
            </a:r>
          </a:p>
          <a:p>
            <a:pPr lvl="0">
              <a:spcAft>
                <a:spcPts val="600"/>
              </a:spcAft>
            </a:pPr>
            <a:r>
              <a:rPr lang="en-US" dirty="0"/>
              <a:t>The </a:t>
            </a:r>
            <a:r>
              <a:rPr lang="en-US" b="1" dirty="0"/>
              <a:t>ignition coil </a:t>
            </a:r>
            <a:r>
              <a:rPr lang="en-US" dirty="0"/>
              <a:t>generates the electricity that creates the spark.</a:t>
            </a:r>
          </a:p>
          <a:p>
            <a:pPr lvl="0">
              <a:spcAft>
                <a:spcPts val="600"/>
              </a:spcAft>
            </a:pPr>
            <a:r>
              <a:rPr lang="en-US" dirty="0"/>
              <a:t>The voltage jumps across a gap between two elec­trodes at the end of each </a:t>
            </a:r>
            <a:r>
              <a:rPr lang="en-US" b="1" dirty="0"/>
              <a:t>spark plug</a:t>
            </a:r>
            <a:r>
              <a:rPr lang="en-US" dirty="0"/>
              <a:t> and causes a spark.</a:t>
            </a:r>
          </a:p>
        </p:txBody>
      </p:sp>
    </p:spTree>
    <p:extLst>
      <p:ext uri="{BB962C8B-B14F-4D97-AF65-F5344CB8AC3E}">
        <p14:creationId xmlns:p14="http://schemas.microsoft.com/office/powerpoint/2010/main" val="856622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Starting Systems </a:t>
            </a:r>
          </a:p>
        </p:txBody>
      </p:sp>
      <p:sp>
        <p:nvSpPr>
          <p:cNvPr id="3075" name="Content Placeholder 2"/>
          <p:cNvSpPr>
            <a:spLocks noGrp="1"/>
          </p:cNvSpPr>
          <p:nvPr>
            <p:ph idx="1"/>
          </p:nvPr>
        </p:nvSpPr>
        <p:spPr>
          <a:xfrm>
            <a:off x="476843" y="1508124"/>
            <a:ext cx="6900987" cy="4575175"/>
          </a:xfrm>
        </p:spPr>
        <p:txBody>
          <a:bodyPr>
            <a:noAutofit/>
          </a:bodyPr>
          <a:lstStyle/>
          <a:p>
            <a:pPr lvl="0">
              <a:spcAft>
                <a:spcPts val="600"/>
              </a:spcAft>
            </a:pPr>
            <a:r>
              <a:rPr lang="en-US" dirty="0"/>
              <a:t>The starting system is responsible for starting the engine.</a:t>
            </a:r>
          </a:p>
          <a:p>
            <a:pPr lvl="0">
              <a:spcAft>
                <a:spcPts val="600"/>
              </a:spcAft>
            </a:pPr>
            <a:r>
              <a:rPr lang="en-US" dirty="0"/>
              <a:t>When the ignition key is turned to the start position or the START button is pressed, a small amount of current flows from the battery to a </a:t>
            </a:r>
            <a:r>
              <a:rPr lang="en-US" b="1" dirty="0"/>
              <a:t>solenoid</a:t>
            </a:r>
            <a:r>
              <a:rPr lang="en-US" dirty="0"/>
              <a:t> or relay.</a:t>
            </a:r>
          </a:p>
          <a:p>
            <a:pPr lvl="0">
              <a:spcAft>
                <a:spcPts val="600"/>
              </a:spcAft>
            </a:pPr>
            <a:r>
              <a:rPr lang="en-US" dirty="0"/>
              <a:t>The starter then engages in the engine's flywheel, which is attached to the engine's crankshaft, and spins it.</a:t>
            </a:r>
          </a:p>
        </p:txBody>
      </p:sp>
      <p:pic>
        <p:nvPicPr>
          <p:cNvPr id="7" name="Picture Placeholder 6" descr="An illustration of a typical starting system. The outline of a steering wheel with the key inserted in its slot is shown. The following components are labeled: Ignition switch, Ring gear, Pinion gear, Starter motor, and Battery. A black line connects the starter motor to the battery. A red line connects the ignition switch to the battery and to the starter motor."/>
          <p:cNvPicPr>
            <a:picLocks noGrp="1" noChangeAspect="1"/>
          </p:cNvPicPr>
          <p:nvPr>
            <p:ph type="pic" sz="quarter" idx="10"/>
          </p:nvPr>
        </p:nvPicPr>
        <p:blipFill>
          <a:blip r:embed="rId3"/>
          <a:srcRect b="9355"/>
          <a:stretch/>
        </p:blipFill>
        <p:spPr>
          <a:xfrm>
            <a:off x="7467090" y="2179526"/>
            <a:ext cx="4391121" cy="3019198"/>
          </a:xfrm>
          <a:prstGeom prst="rect">
            <a:avLst/>
          </a:prstGeom>
        </p:spPr>
      </p:pic>
    </p:spTree>
    <p:extLst>
      <p:ext uri="{BB962C8B-B14F-4D97-AF65-F5344CB8AC3E}">
        <p14:creationId xmlns:p14="http://schemas.microsoft.com/office/powerpoint/2010/main" val="3566955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Charging Systems </a:t>
            </a:r>
          </a:p>
        </p:txBody>
      </p:sp>
      <p:sp>
        <p:nvSpPr>
          <p:cNvPr id="3075" name="Content Placeholder 2"/>
          <p:cNvSpPr>
            <a:spLocks noGrp="1"/>
          </p:cNvSpPr>
          <p:nvPr>
            <p:ph idx="1"/>
          </p:nvPr>
        </p:nvSpPr>
        <p:spPr>
          <a:xfrm>
            <a:off x="476844" y="1508124"/>
            <a:ext cx="7226664" cy="4537075"/>
          </a:xfrm>
        </p:spPr>
        <p:txBody>
          <a:bodyPr>
            <a:noAutofit/>
          </a:bodyPr>
          <a:lstStyle/>
          <a:p>
            <a:pPr lvl="0">
              <a:spcAft>
                <a:spcPts val="600"/>
              </a:spcAft>
            </a:pPr>
            <a:r>
              <a:rPr lang="en-US" dirty="0"/>
              <a:t>The charging system is designed to recharge and maintain the battery's state of charge.</a:t>
            </a:r>
          </a:p>
          <a:p>
            <a:pPr lvl="0">
              <a:spcAft>
                <a:spcPts val="600"/>
              </a:spcAft>
            </a:pPr>
            <a:r>
              <a:rPr lang="en-US" dirty="0"/>
              <a:t>The charging system includes an AC generator (alternator), voltage regulator, indicator light, and the necessary wiring.</a:t>
            </a:r>
          </a:p>
          <a:p>
            <a:pPr lvl="0">
              <a:spcAft>
                <a:spcPts val="600"/>
              </a:spcAft>
            </a:pPr>
            <a:r>
              <a:rPr lang="en-US" dirty="0"/>
              <a:t>Rotated by the engine's crankshaft through a drive belt, the AC generator converts mechanical energy into electrical energy.</a:t>
            </a:r>
          </a:p>
        </p:txBody>
      </p:sp>
      <p:pic>
        <p:nvPicPr>
          <p:cNvPr id="7" name="Picture Placeholder 6" descr="A dismantled late-model A C generator with parts stator, rotor, alternator, brush box, and slip rings."/>
          <p:cNvPicPr>
            <a:picLocks noGrp="1" noChangeAspect="1"/>
          </p:cNvPicPr>
          <p:nvPr>
            <p:ph type="pic" sz="quarter" idx="10"/>
          </p:nvPr>
        </p:nvPicPr>
        <p:blipFill>
          <a:blip r:embed="rId3"/>
          <a:srcRect b="13552"/>
          <a:stretch/>
        </p:blipFill>
        <p:spPr>
          <a:xfrm>
            <a:off x="7848274" y="2117122"/>
            <a:ext cx="4054793" cy="2835022"/>
          </a:xfrm>
          <a:prstGeom prst="rect">
            <a:avLst/>
          </a:prstGeom>
        </p:spPr>
      </p:pic>
    </p:spTree>
    <p:extLst>
      <p:ext uri="{BB962C8B-B14F-4D97-AF65-F5344CB8AC3E}">
        <p14:creationId xmlns:p14="http://schemas.microsoft.com/office/powerpoint/2010/main" val="3446774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Electronic Engine Controls </a:t>
            </a:r>
          </a:p>
        </p:txBody>
      </p:sp>
      <p:sp>
        <p:nvSpPr>
          <p:cNvPr id="3075" name="Content Placeholder 2"/>
          <p:cNvSpPr>
            <a:spLocks noGrp="1"/>
          </p:cNvSpPr>
          <p:nvPr>
            <p:ph idx="1"/>
          </p:nvPr>
        </p:nvSpPr>
        <p:spPr>
          <a:xfrm>
            <a:off x="476843" y="1508124"/>
            <a:ext cx="7359057" cy="4651375"/>
          </a:xfrm>
        </p:spPr>
        <p:txBody>
          <a:bodyPr>
            <a:noAutofit/>
          </a:bodyPr>
          <a:lstStyle/>
          <a:p>
            <a:pPr lvl="0">
              <a:spcAft>
                <a:spcPts val="600"/>
              </a:spcAft>
            </a:pPr>
            <a:r>
              <a:rPr lang="en-US" dirty="0"/>
              <a:t>Nearly all vehicles have an electronic engine con­trol system.</a:t>
            </a:r>
          </a:p>
          <a:p>
            <a:pPr lvl="0">
              <a:spcAft>
                <a:spcPts val="600"/>
              </a:spcAft>
            </a:pPr>
            <a:r>
              <a:rPr lang="en-US" dirty="0"/>
              <a:t>This system is comprised of many elec­tronic and electromechanical </a:t>
            </a:r>
            <a:r>
              <a:rPr lang="en-US"/>
              <a:t>parts.</a:t>
            </a:r>
            <a:endParaRPr lang="en-US" dirty="0"/>
          </a:p>
          <a:p>
            <a:pPr lvl="0">
              <a:spcAft>
                <a:spcPts val="600"/>
              </a:spcAft>
            </a:pPr>
            <a:r>
              <a:rPr lang="en-US" dirty="0"/>
              <a:t>It is designed to continuously monitor the engine and to make adjustments</a:t>
            </a:r>
            <a:r>
              <a:rPr lang="en-US" dirty="0">
                <a:solidFill>
                  <a:srgbClr val="FF0000"/>
                </a:solidFill>
              </a:rPr>
              <a:t>.</a:t>
            </a:r>
          </a:p>
          <a:p>
            <a:pPr lvl="0">
              <a:spcAft>
                <a:spcPts val="600"/>
              </a:spcAft>
            </a:pPr>
            <a:r>
              <a:rPr lang="en-US" dirty="0"/>
              <a:t>Electronic control systems have three main types of components: input sensors, a computer, and out­put devices.</a:t>
            </a:r>
          </a:p>
        </p:txBody>
      </p:sp>
      <p:pic>
        <p:nvPicPr>
          <p:cNvPr id="7" name="Picture Placeholder 6" descr="An automotive computer that detects system problems even before the driver notices a drive-ability problem."/>
          <p:cNvPicPr>
            <a:picLocks noGrp="1" noChangeAspect="1"/>
          </p:cNvPicPr>
          <p:nvPr>
            <p:ph type="pic" sz="quarter" idx="10"/>
          </p:nvPr>
        </p:nvPicPr>
        <p:blipFill>
          <a:blip r:embed="rId3"/>
          <a:srcRect b="7599"/>
          <a:stretch/>
        </p:blipFill>
        <p:spPr>
          <a:xfrm>
            <a:off x="7872152" y="1909445"/>
            <a:ext cx="4012883" cy="3330375"/>
          </a:xfrm>
          <a:prstGeom prst="rect">
            <a:avLst/>
          </a:prstGeom>
        </p:spPr>
      </p:pic>
    </p:spTree>
    <p:extLst>
      <p:ext uri="{BB962C8B-B14F-4D97-AF65-F5344CB8AC3E}">
        <p14:creationId xmlns:p14="http://schemas.microsoft.com/office/powerpoint/2010/main" val="2353470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On-Board Diagnostics </a:t>
            </a:r>
          </a:p>
        </p:txBody>
      </p:sp>
      <p:pic>
        <p:nvPicPr>
          <p:cNvPr id="7" name="Picture Placeholder 6" descr="A screenshot of the network topology window with the title bar reads, 2008 WK 3.0L 1J8HR68M28C213117. The network topology shows a late-model electronic engine control system with many processors that are connected by a network circuit as follows: F C M C G W is divided into following networks: S A S, O R C, E S M, W C M, A B S, T C M, P C M, F D C M, P T S, T M, C C N, R A D I O, H V A C, H F M, P D M, D D M, M S M D, H S M, I T M, A M P, S D A R V, V E S 3, L R S M, E O M, S U N R, A H B M, and A H L M. Most of the processors are highlighted in blue. The processors that are highlighted in gray are as follows: T M, H F M, and I T M. The processors that are highlighted in red are as follows: RADIO, S D A R V, V E S 3, and E O M. The accompanied legend shows the following: Gray - Not Built on Vehicle Blue - Responsive Black - C A N-C Red - Not Responsive Purple - Diag C A N-C Blue - C A N-B"/>
          <p:cNvPicPr>
            <a:picLocks noGrp="1" noChangeAspect="1"/>
          </p:cNvPicPr>
          <p:nvPr>
            <p:ph type="pic" sz="quarter" idx="10"/>
          </p:nvPr>
        </p:nvPicPr>
        <p:blipFill rotWithShape="1">
          <a:blip r:embed="rId3"/>
          <a:srcRect t="8587" r="36104" b="39083"/>
          <a:stretch/>
        </p:blipFill>
        <p:spPr>
          <a:xfrm>
            <a:off x="269590" y="2088564"/>
            <a:ext cx="4860389" cy="2925127"/>
          </a:xfrm>
          <a:prstGeom prst="rect">
            <a:avLst/>
          </a:prstGeom>
        </p:spPr>
      </p:pic>
      <p:sp>
        <p:nvSpPr>
          <p:cNvPr id="3075" name="Content Placeholder 2"/>
          <p:cNvSpPr>
            <a:spLocks noGrp="1"/>
          </p:cNvSpPr>
          <p:nvPr>
            <p:ph idx="1"/>
          </p:nvPr>
        </p:nvSpPr>
        <p:spPr>
          <a:xfrm>
            <a:off x="5295899" y="1432968"/>
            <a:ext cx="6766665" cy="4537075"/>
          </a:xfrm>
        </p:spPr>
        <p:txBody>
          <a:bodyPr>
            <a:noAutofit/>
          </a:bodyPr>
          <a:lstStyle/>
          <a:p>
            <a:pPr lvl="0">
              <a:spcAft>
                <a:spcPts val="600"/>
              </a:spcAft>
            </a:pPr>
            <a:r>
              <a:rPr lang="en-US" dirty="0"/>
              <a:t>Today's engine control systems are on-board diag­nostic (OBD II) second-generation systems.</a:t>
            </a:r>
          </a:p>
          <a:p>
            <a:pPr lvl="0">
              <a:spcAft>
                <a:spcPts val="600"/>
              </a:spcAft>
            </a:pPr>
            <a:r>
              <a:rPr lang="en-US" dirty="0"/>
              <a:t>When the OBD system determines that a prob­lem exists, a corresponding "diagnostic trouble code" is stored in the computer's memory.</a:t>
            </a:r>
          </a:p>
          <a:p>
            <a:pPr lvl="0">
              <a:spcAft>
                <a:spcPts val="600"/>
              </a:spcAft>
            </a:pPr>
            <a:r>
              <a:rPr lang="en-US" dirty="0"/>
              <a:t>The computer can detect system problems even before the driver notices.</a:t>
            </a:r>
          </a:p>
        </p:txBody>
      </p:sp>
    </p:spTree>
    <p:extLst>
      <p:ext uri="{BB962C8B-B14F-4D97-AF65-F5344CB8AC3E}">
        <p14:creationId xmlns:p14="http://schemas.microsoft.com/office/powerpoint/2010/main" val="1412767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(2 of 2)</a:t>
            </a:r>
            <a:endParaRPr lang="en-US" dirty="0"/>
          </a:p>
        </p:txBody>
      </p:sp>
      <p:sp>
        <p:nvSpPr>
          <p:cNvPr id="3" name="Content Placeholder 2"/>
          <p:cNvSpPr>
            <a:spLocks noGrp="1"/>
          </p:cNvSpPr>
          <p:nvPr>
            <p:ph idx="1"/>
          </p:nvPr>
        </p:nvSpPr>
        <p:spPr/>
        <p:txBody>
          <a:bodyPr/>
          <a:lstStyle/>
          <a:p>
            <a:pPr marL="0" indent="0" algn="ctr">
              <a:buNone/>
            </a:pPr>
            <a:r>
              <a:rPr lang="en-US" dirty="0"/>
              <a:t>What system is responsible for igniting the air fuel mixture in an engine? And what component generates the electricity for the spark?</a:t>
            </a:r>
          </a:p>
        </p:txBody>
      </p:sp>
    </p:spTree>
    <p:extLst>
      <p:ext uri="{BB962C8B-B14F-4D97-AF65-F5344CB8AC3E}">
        <p14:creationId xmlns:p14="http://schemas.microsoft.com/office/powerpoint/2010/main" val="2954547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(2 of 2)</a:t>
            </a:r>
            <a:endParaRPr lang="en-US" dirty="0"/>
          </a:p>
        </p:txBody>
      </p:sp>
      <p:sp>
        <p:nvSpPr>
          <p:cNvPr id="3" name="Content Placeholder 2"/>
          <p:cNvSpPr>
            <a:spLocks noGrp="1"/>
          </p:cNvSpPr>
          <p:nvPr>
            <p:ph idx="1"/>
          </p:nvPr>
        </p:nvSpPr>
        <p:spPr/>
        <p:txBody>
          <a:bodyPr/>
          <a:lstStyle/>
          <a:p>
            <a:pPr marL="0" indent="0" algn="ctr">
              <a:spcAft>
                <a:spcPts val="2400"/>
              </a:spcAft>
              <a:buNone/>
            </a:pPr>
            <a:r>
              <a:rPr lang="en-US" dirty="0"/>
              <a:t>What system is responsible for igniting the air fuel mixture in an engine? And what component generates the electricity for the </a:t>
            </a:r>
            <a:r>
              <a:rPr lang="en-US"/>
              <a:t>spark?</a:t>
            </a:r>
          </a:p>
          <a:p>
            <a:pPr marL="0" indent="0" algn="ctr">
              <a:buNone/>
            </a:pPr>
            <a:r>
              <a:rPr lang="en-US" b="1"/>
              <a:t>Answer</a:t>
            </a:r>
            <a:r>
              <a:rPr lang="en-US"/>
              <a:t>: The ignition system. The </a:t>
            </a:r>
            <a:r>
              <a:rPr lang="en-US" b="1"/>
              <a:t>ignition coil </a:t>
            </a:r>
            <a:r>
              <a:rPr lang="en-US"/>
              <a:t>generates the electricity that creates the spark.</a:t>
            </a:r>
            <a:endParaRPr lang="en-US" dirty="0"/>
          </a:p>
        </p:txBody>
      </p:sp>
    </p:spTree>
    <p:extLst>
      <p:ext uri="{BB962C8B-B14F-4D97-AF65-F5344CB8AC3E}">
        <p14:creationId xmlns:p14="http://schemas.microsoft.com/office/powerpoint/2010/main" val="596487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Heating and Air-Conditioning Systems </a:t>
            </a:r>
          </a:p>
        </p:txBody>
      </p:sp>
      <p:sp>
        <p:nvSpPr>
          <p:cNvPr id="3075" name="Content Placeholder 2"/>
          <p:cNvSpPr>
            <a:spLocks noGrp="1"/>
          </p:cNvSpPr>
          <p:nvPr>
            <p:ph idx="1"/>
          </p:nvPr>
        </p:nvSpPr>
        <p:spPr/>
        <p:txBody>
          <a:bodyPr>
            <a:noAutofit/>
          </a:bodyPr>
          <a:lstStyle/>
          <a:p>
            <a:pPr lvl="0">
              <a:spcAft>
                <a:spcPts val="600"/>
              </a:spcAft>
            </a:pPr>
            <a:r>
              <a:rPr lang="en-US" sz="2400" dirty="0"/>
              <a:t>Heating and air-conditioning systems do little for the operation of a vehicle; they merely provide com­fort for the vehicle's passengers.</a:t>
            </a:r>
          </a:p>
          <a:p>
            <a:pPr lvl="0">
              <a:spcAft>
                <a:spcPts val="600"/>
              </a:spcAft>
            </a:pPr>
            <a:r>
              <a:rPr lang="en-US" sz="2400" dirty="0"/>
              <a:t>To meet federal safety standards, all vehicles must be equipped with passenger compartment heating and windshield defrosting systems. </a:t>
            </a:r>
          </a:p>
          <a:p>
            <a:pPr lvl="0">
              <a:spcAft>
                <a:spcPts val="600"/>
              </a:spcAft>
            </a:pPr>
            <a:r>
              <a:rPr lang="en-US" sz="2400" dirty="0"/>
              <a:t>The main com­ponents of an automotive heating system are the heater core, the heater control valve, the blower motor and the fan, and the heater and defroster ducts. </a:t>
            </a:r>
          </a:p>
          <a:p>
            <a:pPr lvl="0">
              <a:spcAft>
                <a:spcPts val="600"/>
              </a:spcAft>
            </a:pPr>
            <a:r>
              <a:rPr lang="en-US" sz="2400" dirty="0"/>
              <a:t>The heating system works with the engine's cooling system and converts the heat from the cool­ant circulating inside the engine to hot air, which is blown into the passenger compartment.</a:t>
            </a:r>
          </a:p>
        </p:txBody>
      </p:sp>
    </p:spTree>
    <p:extLst>
      <p:ext uri="{BB962C8B-B14F-4D97-AF65-F5344CB8AC3E}">
        <p14:creationId xmlns:p14="http://schemas.microsoft.com/office/powerpoint/2010/main" val="2034540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a:t>Air-Conditioning Systems</a:t>
            </a:r>
            <a:endParaRPr lang="en-US" dirty="0"/>
          </a:p>
        </p:txBody>
      </p:sp>
      <p:sp>
        <p:nvSpPr>
          <p:cNvPr id="3075" name="Content Placeholder 2"/>
          <p:cNvSpPr>
            <a:spLocks noGrp="1"/>
          </p:cNvSpPr>
          <p:nvPr>
            <p:ph idx="1"/>
          </p:nvPr>
        </p:nvSpPr>
        <p:spPr>
          <a:xfrm>
            <a:off x="476844" y="1508124"/>
            <a:ext cx="7101404" cy="4511675"/>
          </a:xfrm>
        </p:spPr>
        <p:txBody>
          <a:bodyPr>
            <a:noAutofit/>
          </a:bodyPr>
          <a:lstStyle/>
          <a:p>
            <a:pPr lvl="0">
              <a:spcAft>
                <a:spcPts val="600"/>
              </a:spcAft>
            </a:pPr>
            <a:r>
              <a:rPr lang="en-US" dirty="0"/>
              <a:t>In an automotive air-conditioning (A/C) system, heat is removed from the passenger compartment and moved to the outside of the vehicle. The substance used to remove heat is called the refrigerant.</a:t>
            </a:r>
          </a:p>
          <a:p>
            <a:pPr lvl="0">
              <a:spcAft>
                <a:spcPts val="600"/>
              </a:spcAft>
            </a:pPr>
            <a:r>
              <a:rPr lang="en-US" dirty="0"/>
              <a:t>An A/C system is a closed, pressurized system. It consists of a compressor, condenser, receiver/ dryer or accumulator, expansion valve or orifice tube, and an evaporator.</a:t>
            </a:r>
          </a:p>
        </p:txBody>
      </p:sp>
      <p:pic>
        <p:nvPicPr>
          <p:cNvPr id="7" name="Picture Placeholder 6" descr="An air conditioning system in an automotive. It consists of a compressor, condenser, dryer, flow control device, and evaporator. The high pressure refrigerant from the compressor passes through the condenser, the dryer, and then passes through the flow control device. It then turns to low pressure refrigerant, passes through the evaporator, and again enters the compressor."/>
          <p:cNvPicPr>
            <a:picLocks noGrp="1" noChangeAspect="1"/>
          </p:cNvPicPr>
          <p:nvPr>
            <p:ph type="pic" sz="quarter" idx="10"/>
          </p:nvPr>
        </p:nvPicPr>
        <p:blipFill rotWithShape="1">
          <a:blip r:embed="rId3"/>
          <a:srcRect b="12263"/>
          <a:stretch/>
        </p:blipFill>
        <p:spPr>
          <a:xfrm>
            <a:off x="7677626" y="1567490"/>
            <a:ext cx="4054793" cy="3723020"/>
          </a:xfrm>
          <a:prstGeom prst="rect">
            <a:avLst/>
          </a:prstGeom>
        </p:spPr>
      </p:pic>
    </p:spTree>
    <p:extLst>
      <p:ext uri="{BB962C8B-B14F-4D97-AF65-F5344CB8AC3E}">
        <p14:creationId xmlns:p14="http://schemas.microsoft.com/office/powerpoint/2010/main" val="29318510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Drivetrain</a:t>
            </a:r>
          </a:p>
        </p:txBody>
      </p:sp>
      <p:sp>
        <p:nvSpPr>
          <p:cNvPr id="3075" name="Content Placeholder 2"/>
          <p:cNvSpPr>
            <a:spLocks noGrp="1"/>
          </p:cNvSpPr>
          <p:nvPr>
            <p:ph idx="1"/>
          </p:nvPr>
        </p:nvSpPr>
        <p:spPr>
          <a:xfrm>
            <a:off x="476844" y="1508124"/>
            <a:ext cx="7214138" cy="4625975"/>
          </a:xfrm>
        </p:spPr>
        <p:txBody>
          <a:bodyPr>
            <a:noAutofit/>
          </a:bodyPr>
          <a:lstStyle/>
          <a:p>
            <a:pPr lvl="0">
              <a:spcAft>
                <a:spcPts val="600"/>
              </a:spcAft>
            </a:pPr>
            <a:r>
              <a:rPr lang="en-US" sz="2400" dirty="0">
                <a:solidFill>
                  <a:schemeClr val="accent1"/>
                </a:solidFill>
              </a:rPr>
              <a:t>The </a:t>
            </a:r>
            <a:r>
              <a:rPr lang="en-US" sz="2400" b="1" dirty="0">
                <a:solidFill>
                  <a:schemeClr val="accent1"/>
                </a:solidFill>
              </a:rPr>
              <a:t>drivetrain</a:t>
            </a:r>
            <a:r>
              <a:rPr lang="en-US" sz="2400" dirty="0">
                <a:solidFill>
                  <a:schemeClr val="accent1"/>
                </a:solidFill>
              </a:rPr>
              <a:t> is made up of all components that transfer power from the engine to the driving wheels of the vehicle.</a:t>
            </a:r>
          </a:p>
          <a:p>
            <a:pPr lvl="0">
              <a:spcAft>
                <a:spcPts val="600"/>
              </a:spcAft>
            </a:pPr>
            <a:r>
              <a:rPr lang="en-US" sz="2400" dirty="0">
                <a:solidFill>
                  <a:schemeClr val="accent1"/>
                </a:solidFill>
              </a:rPr>
              <a:t>A transmission is found in RWD vehicles. </a:t>
            </a:r>
            <a:r>
              <a:rPr lang="en-US" sz="2400" b="1" dirty="0">
                <a:solidFill>
                  <a:schemeClr val="accent1"/>
                </a:solidFill>
              </a:rPr>
              <a:t>Transax­les</a:t>
            </a:r>
            <a:r>
              <a:rPr lang="en-US" sz="2400" dirty="0">
                <a:solidFill>
                  <a:schemeClr val="accent1"/>
                </a:solidFill>
              </a:rPr>
              <a:t> are used in FWD vehicles. Both provide various drive gears that allow the vehicle to move forward and in revers.</a:t>
            </a:r>
          </a:p>
          <a:p>
            <a:pPr lvl="0">
              <a:spcAft>
                <a:spcPts val="600"/>
              </a:spcAft>
            </a:pPr>
            <a:r>
              <a:rPr lang="en-US" sz="2400" dirty="0">
                <a:solidFill>
                  <a:schemeClr val="accent1"/>
                </a:solidFill>
              </a:rPr>
              <a:t>A </a:t>
            </a:r>
            <a:r>
              <a:rPr lang="en-US" sz="2400" b="1" dirty="0">
                <a:solidFill>
                  <a:schemeClr val="accent1"/>
                </a:solidFill>
              </a:rPr>
              <a:t>clutch</a:t>
            </a:r>
            <a:r>
              <a:rPr lang="en-US" sz="2400" dirty="0">
                <a:solidFill>
                  <a:schemeClr val="accent1"/>
                </a:solidFill>
              </a:rPr>
              <a:t> is used with manual transmissions/ transaxles. It mechanically connects the engine's flywheel to the transmission/transaxle input shaft.</a:t>
            </a:r>
          </a:p>
        </p:txBody>
      </p:sp>
      <p:pic>
        <p:nvPicPr>
          <p:cNvPr id="7" name="Picture Placeholder 6" descr="An interior view of a typical manual transmission that houses several individual gear sets, which produce different gear ratios."/>
          <p:cNvPicPr>
            <a:picLocks noGrp="1" noChangeAspect="1"/>
          </p:cNvPicPr>
          <p:nvPr>
            <p:ph type="pic" sz="quarter" idx="10"/>
          </p:nvPr>
        </p:nvPicPr>
        <p:blipFill>
          <a:blip r:embed="rId3"/>
          <a:srcRect b="9209"/>
          <a:stretch/>
        </p:blipFill>
        <p:spPr>
          <a:xfrm>
            <a:off x="7565298" y="1885579"/>
            <a:ext cx="4379595" cy="3086843"/>
          </a:xfrm>
          <a:prstGeom prst="rect">
            <a:avLst/>
          </a:prstGeom>
        </p:spPr>
      </p:pic>
    </p:spTree>
    <p:extLst>
      <p:ext uri="{BB962C8B-B14F-4D97-AF65-F5344CB8AC3E}">
        <p14:creationId xmlns:p14="http://schemas.microsoft.com/office/powerpoint/2010/main" val="1328367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Suspension System</a:t>
            </a:r>
          </a:p>
        </p:txBody>
      </p:sp>
      <p:pic>
        <p:nvPicPr>
          <p:cNvPr id="7" name="Picture Placeholder 6" descr="A typical suspension system with components such as the springs, shock absorbers, MacPherson struts, torsion bars, axles, and connecting linkages."/>
          <p:cNvPicPr>
            <a:picLocks noGrp="1" noChangeAspect="1"/>
          </p:cNvPicPr>
          <p:nvPr>
            <p:ph type="pic" sz="quarter" idx="10"/>
          </p:nvPr>
        </p:nvPicPr>
        <p:blipFill rotWithShape="1">
          <a:blip r:embed="rId3"/>
          <a:srcRect b="5960"/>
          <a:stretch/>
        </p:blipFill>
        <p:spPr>
          <a:xfrm>
            <a:off x="725743" y="1562652"/>
            <a:ext cx="2740853" cy="4098409"/>
          </a:xfrm>
          <a:prstGeom prst="rect">
            <a:avLst/>
          </a:prstGeom>
        </p:spPr>
      </p:pic>
      <p:sp>
        <p:nvSpPr>
          <p:cNvPr id="3075" name="Content Placeholder 2"/>
          <p:cNvSpPr>
            <a:spLocks noGrp="1"/>
          </p:cNvSpPr>
          <p:nvPr>
            <p:ph idx="1"/>
          </p:nvPr>
        </p:nvSpPr>
        <p:spPr>
          <a:xfrm>
            <a:off x="3858017" y="1508124"/>
            <a:ext cx="7944624" cy="4486275"/>
          </a:xfrm>
        </p:spPr>
        <p:txBody>
          <a:bodyPr>
            <a:noAutofit/>
          </a:bodyPr>
          <a:lstStyle/>
          <a:p>
            <a:pPr lvl="0"/>
            <a:r>
              <a:rPr lang="en-US" dirty="0">
                <a:solidFill>
                  <a:schemeClr val="accent1"/>
                </a:solidFill>
              </a:rPr>
              <a:t>The suspension system is normally comprised of such components as the springs, shock absorbers, MacPherson struts, torsion bars, axles, and connecting linkages.</a:t>
            </a:r>
          </a:p>
          <a:p>
            <a:pPr lvl="0"/>
            <a:r>
              <a:rPr lang="en-US" b="1" dirty="0">
                <a:solidFill>
                  <a:schemeClr val="accent1"/>
                </a:solidFill>
              </a:rPr>
              <a:t>Springs</a:t>
            </a:r>
            <a:r>
              <a:rPr lang="en-US" dirty="0">
                <a:solidFill>
                  <a:schemeClr val="accent1"/>
                </a:solidFill>
              </a:rPr>
              <a:t> or </a:t>
            </a:r>
            <a:r>
              <a:rPr lang="en-US" b="1" dirty="0">
                <a:solidFill>
                  <a:schemeClr val="accent1"/>
                </a:solidFill>
              </a:rPr>
              <a:t>torsion bars </a:t>
            </a:r>
            <a:r>
              <a:rPr lang="en-US" dirty="0">
                <a:solidFill>
                  <a:schemeClr val="accent1"/>
                </a:solidFill>
              </a:rPr>
              <a:t>are used to support the axles of the vehicle.</a:t>
            </a:r>
          </a:p>
          <a:p>
            <a:pPr lvl="0"/>
            <a:r>
              <a:rPr lang="en-US" b="1" dirty="0">
                <a:solidFill>
                  <a:schemeClr val="accent1"/>
                </a:solidFill>
              </a:rPr>
              <a:t>Shock absorbers </a:t>
            </a:r>
            <a:r>
              <a:rPr lang="en-US" dirty="0">
                <a:solidFill>
                  <a:schemeClr val="accent1"/>
                </a:solidFill>
              </a:rPr>
              <a:t>dampen the upward and downward movement of the springs.</a:t>
            </a:r>
          </a:p>
        </p:txBody>
      </p:sp>
    </p:spTree>
    <p:extLst>
      <p:ext uri="{BB962C8B-B14F-4D97-AF65-F5344CB8AC3E}">
        <p14:creationId xmlns:p14="http://schemas.microsoft.com/office/powerpoint/2010/main" val="3863311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Steering System</a:t>
            </a:r>
          </a:p>
        </p:txBody>
      </p:sp>
      <p:sp>
        <p:nvSpPr>
          <p:cNvPr id="3075" name="Content Placeholder 2"/>
          <p:cNvSpPr>
            <a:spLocks noGrp="1"/>
          </p:cNvSpPr>
          <p:nvPr>
            <p:ph idx="1"/>
          </p:nvPr>
        </p:nvSpPr>
        <p:spPr>
          <a:xfrm>
            <a:off x="476843" y="1508124"/>
            <a:ext cx="7320957" cy="4511675"/>
          </a:xfrm>
        </p:spPr>
        <p:txBody>
          <a:bodyPr>
            <a:noAutofit/>
          </a:bodyPr>
          <a:lstStyle/>
          <a:p>
            <a:pPr lvl="0">
              <a:spcAft>
                <a:spcPts val="600"/>
              </a:spcAft>
            </a:pPr>
            <a:r>
              <a:rPr lang="en-US" sz="2400" dirty="0"/>
              <a:t>The steering system allows the driver to control the direction of the vehicle. It includes the steering wheel, steering gear, steering shaft, and steering linkage.</a:t>
            </a:r>
          </a:p>
          <a:p>
            <a:pPr lvl="0">
              <a:spcAft>
                <a:spcPts val="600"/>
              </a:spcAft>
            </a:pPr>
            <a:r>
              <a:rPr lang="en-US" sz="2400" dirty="0"/>
              <a:t>Two basic types of steering systems are used today: the </a:t>
            </a:r>
            <a:r>
              <a:rPr lang="en-US" sz="2400" b="1" dirty="0"/>
              <a:t>rack-and-pinion</a:t>
            </a:r>
            <a:r>
              <a:rPr lang="en-US" sz="2400" dirty="0"/>
              <a:t> and recirculating ball systems.</a:t>
            </a:r>
          </a:p>
          <a:p>
            <a:pPr lvl="0">
              <a:spcAft>
                <a:spcPts val="600"/>
              </a:spcAft>
            </a:pPr>
            <a:r>
              <a:rPr lang="en-US" sz="2400" b="1" dirty="0"/>
              <a:t>Steering gears </a:t>
            </a:r>
            <a:r>
              <a:rPr lang="en-US" sz="2400" dirty="0"/>
              <a:t>provide a gear reduction and power assist to make changing the direction of the wheels easier and may be hydraulic or electric powered.</a:t>
            </a:r>
          </a:p>
        </p:txBody>
      </p:sp>
      <p:pic>
        <p:nvPicPr>
          <p:cNvPr id="7" name="Picture Placeholder 6" descr="Two illustrations A and B. The first structure labeled A depicts a parallelogram-type steering system found in passenger cars and light trucks. The second structure labeled B depicts a rack and pinion steering system used in passenger cars."/>
          <p:cNvPicPr>
            <a:picLocks noGrp="1" noChangeAspect="1"/>
          </p:cNvPicPr>
          <p:nvPr>
            <p:ph type="pic" sz="quarter" idx="10"/>
          </p:nvPr>
        </p:nvPicPr>
        <p:blipFill>
          <a:blip r:embed="rId3"/>
          <a:srcRect b="6980"/>
          <a:stretch/>
        </p:blipFill>
        <p:spPr>
          <a:xfrm>
            <a:off x="8172986" y="1567303"/>
            <a:ext cx="3463636" cy="4196499"/>
          </a:xfrm>
          <a:prstGeom prst="rect">
            <a:avLst/>
          </a:prstGeom>
        </p:spPr>
      </p:pic>
    </p:spTree>
    <p:extLst>
      <p:ext uri="{BB962C8B-B14F-4D97-AF65-F5344CB8AC3E}">
        <p14:creationId xmlns:p14="http://schemas.microsoft.com/office/powerpoint/2010/main" val="29716016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Brakes</a:t>
            </a:r>
          </a:p>
        </p:txBody>
      </p:sp>
      <p:pic>
        <p:nvPicPr>
          <p:cNvPr id="7" name="Picture Placeholder 6" descr="A typical hydraulic brake system is used to slow down and stop a vehicle. The following components are labeled: Rear wheel cylinder, Master cylinder, Combination valve, Front brake hoses, Front brake caliper, Rear brake hose, and Brake lines."/>
          <p:cNvPicPr>
            <a:picLocks noGrp="1" noChangeAspect="1"/>
          </p:cNvPicPr>
          <p:nvPr>
            <p:ph type="pic" sz="quarter" idx="10"/>
          </p:nvPr>
        </p:nvPicPr>
        <p:blipFill>
          <a:blip r:embed="rId3"/>
          <a:srcRect b="10891"/>
          <a:stretch/>
        </p:blipFill>
        <p:spPr>
          <a:xfrm>
            <a:off x="313924" y="1839437"/>
            <a:ext cx="3991928" cy="3277094"/>
          </a:xfrm>
          <a:prstGeom prst="rect">
            <a:avLst/>
          </a:prstGeom>
        </p:spPr>
      </p:pic>
      <p:sp>
        <p:nvSpPr>
          <p:cNvPr id="3075" name="Content Placeholder 2"/>
          <p:cNvSpPr>
            <a:spLocks noGrp="1"/>
          </p:cNvSpPr>
          <p:nvPr>
            <p:ph idx="1"/>
          </p:nvPr>
        </p:nvSpPr>
        <p:spPr>
          <a:xfrm>
            <a:off x="4410007" y="1508124"/>
            <a:ext cx="7511457" cy="4613275"/>
          </a:xfrm>
        </p:spPr>
        <p:txBody>
          <a:bodyPr>
            <a:noAutofit/>
          </a:bodyPr>
          <a:lstStyle/>
          <a:p>
            <a:pPr lvl="0">
              <a:spcAft>
                <a:spcPts val="600"/>
              </a:spcAft>
            </a:pPr>
            <a:r>
              <a:rPr lang="en-US" sz="2400" dirty="0"/>
              <a:t>Brakes, located at each wheel, use friction to slow and stop a vehicle.</a:t>
            </a:r>
          </a:p>
          <a:p>
            <a:pPr lvl="0">
              <a:spcAft>
                <a:spcPts val="600"/>
              </a:spcAft>
            </a:pPr>
            <a:r>
              <a:rPr lang="en-US" sz="2400" dirty="0"/>
              <a:t>The brakes are activated when the driver presses down on the brake pedal which is con­nected to a plunger in a master cylinder, and transferred through brake hoses and lines to the four brake assemblies.</a:t>
            </a:r>
          </a:p>
          <a:p>
            <a:pPr lvl="0">
              <a:spcAft>
                <a:spcPts val="600"/>
              </a:spcAft>
            </a:pPr>
            <a:r>
              <a:rPr lang="en-US" sz="2400" dirty="0"/>
              <a:t>Two types of brakes are used, </a:t>
            </a:r>
            <a:r>
              <a:rPr lang="en-US" sz="2400" b="1" dirty="0"/>
              <a:t>disc brakes </a:t>
            </a:r>
            <a:r>
              <a:rPr lang="en-US" sz="2400" dirty="0"/>
              <a:t>and drum brakes.</a:t>
            </a:r>
          </a:p>
          <a:p>
            <a:pPr lvl="0">
              <a:spcAft>
                <a:spcPts val="600"/>
              </a:spcAft>
            </a:pPr>
            <a:r>
              <a:rPr lang="en-US" sz="2400" dirty="0"/>
              <a:t>Most vehicles have power-assisted brakes, many vehicles use a vacuum </a:t>
            </a:r>
            <a:r>
              <a:rPr lang="en-US" sz="2400" b="1" dirty="0"/>
              <a:t>brake booster.</a:t>
            </a:r>
          </a:p>
        </p:txBody>
      </p:sp>
    </p:spTree>
    <p:extLst>
      <p:ext uri="{BB962C8B-B14F-4D97-AF65-F5344CB8AC3E}">
        <p14:creationId xmlns:p14="http://schemas.microsoft.com/office/powerpoint/2010/main" val="1702995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Hybrid Vehicles (1 of 2)</a:t>
            </a:r>
          </a:p>
        </p:txBody>
      </p:sp>
      <p:pic>
        <p:nvPicPr>
          <p:cNvPr id="7" name="Picture Placeholder 6" descr="An electric motor is installed between the engine and transmission in a hybrid electric vehicle."/>
          <p:cNvPicPr>
            <a:picLocks noGrp="1" noChangeAspect="1"/>
          </p:cNvPicPr>
          <p:nvPr>
            <p:ph type="pic" sz="quarter" idx="10"/>
          </p:nvPr>
        </p:nvPicPr>
        <p:blipFill>
          <a:blip r:embed="rId3"/>
          <a:srcRect b="13601"/>
          <a:stretch/>
        </p:blipFill>
        <p:spPr>
          <a:xfrm>
            <a:off x="304128" y="1944390"/>
            <a:ext cx="3991928" cy="2969220"/>
          </a:xfrm>
          <a:prstGeom prst="rect">
            <a:avLst/>
          </a:prstGeom>
        </p:spPr>
      </p:pic>
      <p:sp>
        <p:nvSpPr>
          <p:cNvPr id="3075" name="Content Placeholder 2"/>
          <p:cNvSpPr>
            <a:spLocks noGrp="1"/>
          </p:cNvSpPr>
          <p:nvPr>
            <p:ph idx="1"/>
          </p:nvPr>
        </p:nvSpPr>
        <p:spPr>
          <a:xfrm>
            <a:off x="4419600" y="1508124"/>
            <a:ext cx="7299158" cy="4524375"/>
          </a:xfrm>
        </p:spPr>
        <p:txBody>
          <a:bodyPr>
            <a:noAutofit/>
          </a:bodyPr>
          <a:lstStyle/>
          <a:p>
            <a:pPr marL="0" indent="0">
              <a:buNone/>
            </a:pPr>
            <a:r>
              <a:rPr lang="en-US" sz="2400" b="1" dirty="0"/>
              <a:t>04.06 Explain how hybrid and electric vehicles differ from standard combustion-powered vehicles.</a:t>
            </a:r>
          </a:p>
          <a:p>
            <a:pPr lvl="0"/>
            <a:r>
              <a:rPr lang="en-US" sz="2400" dirty="0"/>
              <a:t>A </a:t>
            </a:r>
            <a:r>
              <a:rPr lang="en-US" sz="2400" b="1" dirty="0"/>
              <a:t>hybrid electric vehicle (HEV) </a:t>
            </a:r>
            <a:r>
              <a:rPr lang="en-US" sz="2400" dirty="0"/>
              <a:t>uses one or more electric motors and an engine to propel the vehi­cle.</a:t>
            </a:r>
          </a:p>
          <a:p>
            <a:pPr lvl="0"/>
            <a:r>
              <a:rPr lang="en-US" sz="2400" dirty="0"/>
              <a:t>Depending on the design of the system, the engine may move the vehicle by itself, assist the electric motor while it is moving the vehi­cle, or it may drive a generator to charge the vehi­cle's batteries.</a:t>
            </a:r>
          </a:p>
        </p:txBody>
      </p:sp>
    </p:spTree>
    <p:extLst>
      <p:ext uri="{BB962C8B-B14F-4D97-AF65-F5344CB8AC3E}">
        <p14:creationId xmlns:p14="http://schemas.microsoft.com/office/powerpoint/2010/main" val="2086838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Hybrid Vehicles (2 of 2)</a:t>
            </a:r>
          </a:p>
        </p:txBody>
      </p:sp>
      <p:sp>
        <p:nvSpPr>
          <p:cNvPr id="3075" name="Content Placeholder 2"/>
          <p:cNvSpPr>
            <a:spLocks noGrp="1"/>
          </p:cNvSpPr>
          <p:nvPr>
            <p:ph idx="1"/>
          </p:nvPr>
        </p:nvSpPr>
        <p:spPr/>
        <p:txBody>
          <a:bodyPr>
            <a:noAutofit/>
          </a:bodyPr>
          <a:lstStyle/>
          <a:p>
            <a:pPr>
              <a:spcAft>
                <a:spcPts val="600"/>
              </a:spcAft>
            </a:pPr>
            <a:r>
              <a:rPr lang="en-US" sz="2200" dirty="0"/>
              <a:t>The electric motor may power the vehicle by itself or assist the engine while it is pro­pelling the </a:t>
            </a:r>
            <a:r>
              <a:rPr lang="en-US" sz="2200"/>
              <a:t>vehicle.</a:t>
            </a:r>
            <a:endParaRPr lang="en-US" sz="2200" dirty="0"/>
          </a:p>
          <a:p>
            <a:pPr lvl="0">
              <a:spcAft>
                <a:spcPts val="600"/>
              </a:spcAft>
            </a:pPr>
            <a:r>
              <a:rPr lang="en-US" sz="2200" dirty="0"/>
              <a:t>Because of the current fuel economy and emission regulations set by the government, auto manufacturers are introducing a variety of battery-operated electric </a:t>
            </a:r>
            <a:r>
              <a:rPr lang="en-US" sz="2200"/>
              <a:t>vehicles.</a:t>
            </a:r>
            <a:endParaRPr lang="en-US" sz="2200" dirty="0"/>
          </a:p>
          <a:p>
            <a:pPr lvl="0">
              <a:spcAft>
                <a:spcPts val="600"/>
              </a:spcAft>
            </a:pPr>
            <a:r>
              <a:rPr lang="en-US" sz="2200" dirty="0"/>
              <a:t>In 2021, about 430,000 electric vehicles were sold in the United States. Sales are expected to increase as more models of electric vehicles become </a:t>
            </a:r>
            <a:r>
              <a:rPr lang="en-US" sz="2200"/>
              <a:t>available.</a:t>
            </a:r>
            <a:endParaRPr lang="en-US" sz="2200" dirty="0"/>
          </a:p>
          <a:p>
            <a:pPr lvl="0">
              <a:spcAft>
                <a:spcPts val="600"/>
              </a:spcAft>
            </a:pPr>
            <a:r>
              <a:rPr lang="en-US" sz="2200" dirty="0"/>
              <a:t>The Electric Vehicles do not have an internal combustion engine like a hybrid, they are battery powered only with zero emissions and must be charged by an external source such as a charging station or home charging unlike a hybrid.</a:t>
            </a:r>
          </a:p>
        </p:txBody>
      </p:sp>
    </p:spTree>
    <p:extLst>
      <p:ext uri="{BB962C8B-B14F-4D97-AF65-F5344CB8AC3E}">
        <p14:creationId xmlns:p14="http://schemas.microsoft.com/office/powerpoint/2010/main" val="3288733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Alternative Fuels</a:t>
            </a:r>
          </a:p>
        </p:txBody>
      </p:sp>
      <p:sp>
        <p:nvSpPr>
          <p:cNvPr id="3075" name="Content Placeholder 2"/>
          <p:cNvSpPr>
            <a:spLocks noGrp="1"/>
          </p:cNvSpPr>
          <p:nvPr>
            <p:ph idx="1"/>
          </p:nvPr>
        </p:nvSpPr>
        <p:spPr/>
        <p:txBody>
          <a:bodyPr>
            <a:noAutofit/>
          </a:bodyPr>
          <a:lstStyle/>
          <a:p>
            <a:pPr marL="0" lvl="0" indent="0">
              <a:spcAft>
                <a:spcPts val="600"/>
              </a:spcAft>
              <a:buNone/>
            </a:pPr>
            <a:r>
              <a:rPr lang="en-US" b="1" dirty="0"/>
              <a:t>04.07 List the types of alternative fuels available for transportation.</a:t>
            </a:r>
          </a:p>
          <a:p>
            <a:pPr lvl="0">
              <a:spcAft>
                <a:spcPts val="600"/>
              </a:spcAft>
            </a:pPr>
            <a:r>
              <a:rPr lang="en-US" dirty="0"/>
              <a:t>By using alter­native fuels, we not only reduce our reliance on oil but we reduce emissions and the effects an auto­mobile's exhaust has on global warming. Common alternative fuels are:</a:t>
            </a:r>
          </a:p>
          <a:p>
            <a:pPr lvl="1">
              <a:spcAft>
                <a:spcPts val="600"/>
              </a:spcAft>
            </a:pPr>
            <a:r>
              <a:rPr lang="en-US" dirty="0"/>
              <a:t>Propane, also referred to as liquefied petroleum gas (LPG)</a:t>
            </a:r>
          </a:p>
          <a:p>
            <a:pPr lvl="1">
              <a:spcAft>
                <a:spcPts val="600"/>
              </a:spcAft>
            </a:pPr>
            <a:r>
              <a:rPr lang="en-US" dirty="0"/>
              <a:t>Methyl alcohol, normally called Methanol</a:t>
            </a:r>
          </a:p>
          <a:p>
            <a:pPr lvl="1">
              <a:spcAft>
                <a:spcPts val="600"/>
              </a:spcAft>
            </a:pPr>
            <a:r>
              <a:rPr lang="en-US" dirty="0"/>
              <a:t>Ethyl alcohol, also referred to as Ethanol</a:t>
            </a:r>
          </a:p>
          <a:p>
            <a:pPr lvl="1">
              <a:spcAft>
                <a:spcPts val="600"/>
              </a:spcAft>
            </a:pPr>
            <a:r>
              <a:rPr lang="en-US" dirty="0"/>
              <a:t>Compressed natural gas (CNG)</a:t>
            </a:r>
          </a:p>
        </p:txBody>
      </p:sp>
    </p:spTree>
    <p:extLst>
      <p:ext uri="{BB962C8B-B14F-4D97-AF65-F5344CB8AC3E}">
        <p14:creationId xmlns:p14="http://schemas.microsoft.com/office/powerpoint/2010/main" val="1714935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GB" dirty="0"/>
              <a:t>Chapter Reflection</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L="0" indent="0">
              <a:spcBef>
                <a:spcPct val="20000"/>
              </a:spcBef>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p>
          <a:p>
            <a:pPr marL="360363" indent="-360363">
              <a:spcBef>
                <a:spcPct val="20000"/>
              </a:spcBef>
              <a:spcAft>
                <a:spcPts val="600"/>
              </a:spcAft>
              <a:buFont typeface="Arial" pitchFamily="34" charset="0"/>
              <a:buChar char="•"/>
            </a:pPr>
            <a:r>
              <a:rPr lang="en-US" dirty="0">
                <a:solidFill>
                  <a:schemeClr val="accent1"/>
                </a:solidFill>
              </a:rPr>
              <a:t>Did anything in this chapter change your thinking about the different automotive systems? Describe the systems that interest you most.</a:t>
            </a:r>
          </a:p>
          <a:p>
            <a:pPr marL="360363" indent="-360363">
              <a:spcBef>
                <a:spcPct val="20000"/>
              </a:spcBef>
              <a:spcAft>
                <a:spcPts val="600"/>
              </a:spcAft>
              <a:buFont typeface="Arial" pitchFamily="34" charset="0"/>
              <a:buChar char="•"/>
            </a:pPr>
            <a:r>
              <a:rPr lang="en-US" dirty="0">
                <a:solidFill>
                  <a:schemeClr val="accent1"/>
                </a:solidFill>
              </a:rPr>
              <a:t>Considering all you have learned, do you feel you are able to apply your new understanding of automotive systems to your daily work or class </a:t>
            </a:r>
            <a:r>
              <a:rPr lang="en-US">
                <a:solidFill>
                  <a:schemeClr val="accent1"/>
                </a:solidFill>
              </a:rPr>
              <a:t>activities?</a:t>
            </a:r>
            <a:endParaRPr lang="en-US" dirty="0">
              <a:solidFill>
                <a:schemeClr val="accent1"/>
              </a:solidFill>
            </a:endParaRPr>
          </a:p>
        </p:txBody>
      </p:sp>
    </p:spTree>
    <p:custDataLst>
      <p:tags r:id="rId1"/>
    </p:custDataLst>
    <p:extLst>
      <p:ext uri="{BB962C8B-B14F-4D97-AF65-F5344CB8AC3E}">
        <p14:creationId xmlns:p14="http://schemas.microsoft.com/office/powerpoint/2010/main" val="1802441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72290BDFA7C44CB3A669C535D7775C" ma:contentTypeVersion="6" ma:contentTypeDescription="Create a new document." ma:contentTypeScope="" ma:versionID="97880c4d28887ebfb4b36432ea450809">
  <xsd:schema xmlns:xsd="http://www.w3.org/2001/XMLSchema" xmlns:xs="http://www.w3.org/2001/XMLSchema" xmlns:p="http://schemas.microsoft.com/office/2006/metadata/properties" xmlns:ns2="e4cbcfe0-9d9b-4b65-9b1a-e9a94908661b" xmlns:ns3="3db7a360-adc4-468e-a7a4-aedd9af1b4ce" targetNamespace="http://schemas.microsoft.com/office/2006/metadata/properties" ma:root="true" ma:fieldsID="8599bfbb83744fc14c5dfbcd5b864898" ns2:_="" ns3:_="">
    <xsd:import namespace="e4cbcfe0-9d9b-4b65-9b1a-e9a94908661b"/>
    <xsd:import namespace="3db7a360-adc4-468e-a7a4-aedd9af1b4ce"/>
    <xsd:element name="properties">
      <xsd:complexType>
        <xsd:sequence>
          <xsd:element name="documentManagement">
            <xsd:complexType>
              <xsd:all>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bcfe0-9d9b-4b65-9b1a-e9a94908661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9813c7c6-b368-4d0a-9b29-2e74b134ed1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db7a360-adc4-468e-a7a4-aedd9af1b4c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b1c66ef-6276-4f1a-9819-eb42e753d24e}" ma:internalName="TaxCatchAll" ma:showField="CatchAllData" ma:web="3db7a360-adc4-468e-a7a4-aedd9af1b4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4cbcfe0-9d9b-4b65-9b1a-e9a94908661b">
      <Terms xmlns="http://schemas.microsoft.com/office/infopath/2007/PartnerControls"/>
    </lcf76f155ced4ddcb4097134ff3c332f>
    <TaxCatchAll xmlns="3db7a360-adc4-468e-a7a4-aedd9af1b4c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F9BA56-B2EB-43C0-A8EE-001E552C79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cbcfe0-9d9b-4b65-9b1a-e9a94908661b"/>
    <ds:schemaRef ds:uri="3db7a360-adc4-468e-a7a4-aedd9af1b4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dcmitype/"/>
    <ds:schemaRef ds:uri="e4cbcfe0-9d9b-4b65-9b1a-e9a94908661b"/>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purl.org/dc/terms/"/>
    <ds:schemaRef ds:uri="http://schemas.openxmlformats.org/package/2006/metadata/core-properties"/>
    <ds:schemaRef ds:uri="3db7a360-adc4-468e-a7a4-aedd9af1b4ce"/>
    <ds:schemaRef ds:uri="http://www.w3.org/XML/1998/namespac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18398</TotalTime>
  <Words>3308</Words>
  <Application>Microsoft Office PowerPoint</Application>
  <PresentationFormat>Widescreen</PresentationFormat>
  <Paragraphs>221</Paragraphs>
  <Slides>46</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Courier New</vt:lpstr>
      <vt:lpstr>Wingdings</vt:lpstr>
      <vt:lpstr>Work Sans</vt:lpstr>
      <vt:lpstr>Work Sans </vt:lpstr>
      <vt:lpstr>Optimized Template Master</vt:lpstr>
      <vt:lpstr>Automotive Technology:  A Systems Approach, 8e</vt:lpstr>
      <vt:lpstr>Chapter Objectives (1 of 2)</vt:lpstr>
      <vt:lpstr>Chapter Objectives (2 of 2)</vt:lpstr>
      <vt:lpstr>Historical Background (1 of 4)</vt:lpstr>
      <vt:lpstr>Historical Background (2 of 4)</vt:lpstr>
      <vt:lpstr>Historical Background (3 of 4)</vt:lpstr>
      <vt:lpstr>Historical Background (4 of 4)</vt:lpstr>
      <vt:lpstr>Design Evolution (1 of 2)</vt:lpstr>
      <vt:lpstr>Design Evolution (2 of 2)</vt:lpstr>
      <vt:lpstr>Body-Over-Frame Construction</vt:lpstr>
      <vt:lpstr>Unitized Construction </vt:lpstr>
      <vt:lpstr>Knowledge Check (1 of 2)</vt:lpstr>
      <vt:lpstr>Knowledge Check Answer (1 of 2)</vt:lpstr>
      <vt:lpstr>Body Shapes (1 of 2)</vt:lpstr>
      <vt:lpstr>Body Shapes (2 of 2)</vt:lpstr>
      <vt:lpstr>Discussion</vt:lpstr>
      <vt:lpstr>The Basic Engine</vt:lpstr>
      <vt:lpstr>Cylinder Block</vt:lpstr>
      <vt:lpstr>Cylinder Head </vt:lpstr>
      <vt:lpstr>Piston, Connecting Rod, Crankshaft</vt:lpstr>
      <vt:lpstr>Valve Train</vt:lpstr>
      <vt:lpstr>Manifolds</vt:lpstr>
      <vt:lpstr>Engine Systems</vt:lpstr>
      <vt:lpstr>Lubrication System </vt:lpstr>
      <vt:lpstr>Cooling System (1 of 2) </vt:lpstr>
      <vt:lpstr>Cooling System (1 of 2)</vt:lpstr>
      <vt:lpstr>Fuel and Air System </vt:lpstr>
      <vt:lpstr>Emission Control System </vt:lpstr>
      <vt:lpstr>Exhaust System </vt:lpstr>
      <vt:lpstr>Ignition System </vt:lpstr>
      <vt:lpstr>Starting Systems </vt:lpstr>
      <vt:lpstr>Charging Systems </vt:lpstr>
      <vt:lpstr>Electronic Engine Controls </vt:lpstr>
      <vt:lpstr>On-Board Diagnostics </vt:lpstr>
      <vt:lpstr>Knowledge Check (2 of 2)</vt:lpstr>
      <vt:lpstr>Knowledge Check Answer (2 of 2)</vt:lpstr>
      <vt:lpstr>Heating and Air-Conditioning Systems </vt:lpstr>
      <vt:lpstr>Air-Conditioning Systems</vt:lpstr>
      <vt:lpstr>Drivetrain</vt:lpstr>
      <vt:lpstr>Suspension System</vt:lpstr>
      <vt:lpstr>Steering System</vt:lpstr>
      <vt:lpstr>Brakes</vt:lpstr>
      <vt:lpstr>Hybrid Vehicles (1 of 2)</vt:lpstr>
      <vt:lpstr>Hybrid Vehicles (2 of 2)</vt:lpstr>
      <vt:lpstr>Alternative Fuels</vt:lpstr>
      <vt:lpstr>Chapter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Owner</dc:creator>
  <cp:lastModifiedBy>Muthukrishnan, Keerthi -</cp:lastModifiedBy>
  <cp:revision>493</cp:revision>
  <cp:lastPrinted>2016-10-03T15:29:39Z</cp:lastPrinted>
  <dcterms:created xsi:type="dcterms:W3CDTF">2021-12-10T16:21:02Z</dcterms:created>
  <dcterms:modified xsi:type="dcterms:W3CDTF">2024-10-18T14:10:31Z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