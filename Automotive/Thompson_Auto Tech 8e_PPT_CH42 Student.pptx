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4"/>
  </p:notesMasterIdLst>
  <p:handoutMasterIdLst>
    <p:handoutMasterId r:id="rId55"/>
  </p:handoutMasterIdLst>
  <p:sldIdLst>
    <p:sldId id="386" r:id="rId2"/>
    <p:sldId id="378" r:id="rId3"/>
    <p:sldId id="379" r:id="rId4"/>
    <p:sldId id="257" r:id="rId5"/>
    <p:sldId id="259" r:id="rId6"/>
    <p:sldId id="261" r:id="rId7"/>
    <p:sldId id="262" r:id="rId8"/>
    <p:sldId id="263" r:id="rId9"/>
    <p:sldId id="264" r:id="rId10"/>
    <p:sldId id="265" r:id="rId11"/>
    <p:sldId id="266" r:id="rId12"/>
    <p:sldId id="267" r:id="rId13"/>
    <p:sldId id="268" r:id="rId14"/>
    <p:sldId id="380" r:id="rId15"/>
    <p:sldId id="269" r:id="rId16"/>
    <p:sldId id="271" r:id="rId17"/>
    <p:sldId id="272" r:id="rId18"/>
    <p:sldId id="274" r:id="rId19"/>
    <p:sldId id="276" r:id="rId20"/>
    <p:sldId id="381" r:id="rId21"/>
    <p:sldId id="277" r:id="rId22"/>
    <p:sldId id="278" r:id="rId23"/>
    <p:sldId id="280" r:id="rId24"/>
    <p:sldId id="281" r:id="rId25"/>
    <p:sldId id="282" r:id="rId26"/>
    <p:sldId id="283" r:id="rId27"/>
    <p:sldId id="284" r:id="rId28"/>
    <p:sldId id="285" r:id="rId29"/>
    <p:sldId id="286" r:id="rId30"/>
    <p:sldId id="287" r:id="rId31"/>
    <p:sldId id="288" r:id="rId32"/>
    <p:sldId id="289" r:id="rId33"/>
    <p:sldId id="382" r:id="rId34"/>
    <p:sldId id="290" r:id="rId35"/>
    <p:sldId id="291" r:id="rId36"/>
    <p:sldId id="292" r:id="rId37"/>
    <p:sldId id="297" r:id="rId38"/>
    <p:sldId id="298" r:id="rId39"/>
    <p:sldId id="299" r:id="rId40"/>
    <p:sldId id="383" r:id="rId41"/>
    <p:sldId id="300" r:id="rId42"/>
    <p:sldId id="301" r:id="rId43"/>
    <p:sldId id="302" r:id="rId44"/>
    <p:sldId id="303" r:id="rId45"/>
    <p:sldId id="304" r:id="rId46"/>
    <p:sldId id="305" r:id="rId47"/>
    <p:sldId id="307" r:id="rId48"/>
    <p:sldId id="308" r:id="rId49"/>
    <p:sldId id="309" r:id="rId50"/>
    <p:sldId id="310" r:id="rId51"/>
    <p:sldId id="313" r:id="rId52"/>
    <p:sldId id="377" r:id="rId5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2"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86375" autoAdjust="0"/>
  </p:normalViewPr>
  <p:slideViewPr>
    <p:cSldViewPr>
      <p:cViewPr varScale="1">
        <p:scale>
          <a:sx n="64" d="100"/>
          <a:sy n="64" d="100"/>
        </p:scale>
        <p:origin x="548" y="40"/>
      </p:cViewPr>
      <p:guideLst>
        <p:guide orient="horz" pos="2160"/>
        <p:guide pos="3840"/>
      </p:guideLst>
    </p:cSldViewPr>
  </p:slideViewPr>
  <p:outlineViewPr>
    <p:cViewPr>
      <p:scale>
        <a:sx n="33" d="100"/>
        <a:sy n="33" d="100"/>
      </p:scale>
      <p:origin x="0" y="-1246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213B52D7-6386-4939-9123-02E61EF99312}" type="datetimeFigureOut">
              <a:t>12/4/2024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0CF214EA-FC43-47E1-B387-282F18237B5B}"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3796029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990B9F70-32F9-4EFF-8668-DF20BFABB41F}" type="datetimeFigureOut">
              <a:t>12/4/2024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C2466E42-E2B4-4E29-86CA-0170B4F8BD96}" type="slidenum">
              <a:t>‹#›</a:t>
            </a:fld>
            <a:endParaRPr lang="en-US"/>
          </a:p>
        </p:txBody>
      </p:sp>
    </p:spTree>
    <p:extLst>
      <p:ext uri="{BB962C8B-B14F-4D97-AF65-F5344CB8AC3E}">
        <p14:creationId xmlns:p14="http://schemas.microsoft.com/office/powerpoint/2010/main" val="3992534366"/>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67073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78791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24884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578614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288005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43654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68913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142178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58030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88850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06643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818326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748444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62491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51117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5548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A7BCE21C-F932-431C-BC48-61239D647F54}" type="slidenum">
              <a:t>19</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602360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A7BCE21C-F932-431C-BC48-61239D647F54}" type="slidenum">
              <a:t>20</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05688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131230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3170595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85637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28469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77702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11255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420594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6224730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10837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645376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85674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BE9642B9-9797-495D-A005-E6F957E7937F}" type="slidenum">
              <a:t>32</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282386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BE9642B9-9797-495D-A005-E6F957E7937F}" type="slidenum">
              <a:t>33</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4608026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388309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763765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2389482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626060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2009003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8659928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5853385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91776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669858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23529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129790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759573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894017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2629193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082011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6124157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394312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72212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24000"/>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244902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24001"/>
            <a:ext cx="11241915" cy="2590800"/>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8C664775-4CAE-3F89-D8BA-1BC47B4614A8}"/>
              </a:ext>
            </a:extLst>
          </p:cNvPr>
          <p:cNvSpPr>
            <a:spLocks noGrp="1"/>
          </p:cNvSpPr>
          <p:nvPr>
            <p:ph sz="quarter" idx="10"/>
          </p:nvPr>
        </p:nvSpPr>
        <p:spPr>
          <a:xfrm>
            <a:off x="1066800" y="44958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514D63EF-4066-470B-A736-B7A0B7DD486E}"/>
              </a:ext>
            </a:extLst>
          </p:cNvPr>
          <p:cNvSpPr>
            <a:spLocks noGrp="1"/>
          </p:cNvSpPr>
          <p:nvPr>
            <p:ph type="pic" sz="quarter" idx="11"/>
          </p:nvPr>
        </p:nvSpPr>
        <p:spPr>
          <a:xfrm>
            <a:off x="2590800" y="4267200"/>
            <a:ext cx="914400" cy="914400"/>
          </a:xfrm>
        </p:spPr>
        <p:txBody>
          <a:bodyPr/>
          <a:lstStyle/>
          <a:p>
            <a:endParaRPr lang="en-IN"/>
          </a:p>
        </p:txBody>
      </p:sp>
      <p:sp>
        <p:nvSpPr>
          <p:cNvPr id="7" name="Picture Placeholder 6">
            <a:extLst>
              <a:ext uri="{FF2B5EF4-FFF2-40B4-BE49-F238E27FC236}">
                <a16:creationId xmlns:a16="http://schemas.microsoft.com/office/drawing/2014/main" id="{F175D0CD-237F-C7F8-5500-FDABB1977B43}"/>
              </a:ext>
            </a:extLst>
          </p:cNvPr>
          <p:cNvSpPr>
            <a:spLocks noGrp="1"/>
          </p:cNvSpPr>
          <p:nvPr>
            <p:ph type="pic" sz="quarter" idx="12"/>
          </p:nvPr>
        </p:nvSpPr>
        <p:spPr>
          <a:xfrm>
            <a:off x="4343400" y="4495800"/>
            <a:ext cx="914400" cy="914400"/>
          </a:xfrm>
        </p:spPr>
        <p:txBody>
          <a:bodyPr/>
          <a:lstStyle/>
          <a:p>
            <a:endParaRPr lang="en-IN"/>
          </a:p>
        </p:txBody>
      </p:sp>
      <p:sp>
        <p:nvSpPr>
          <p:cNvPr id="9" name="Table Placeholder 8">
            <a:extLst>
              <a:ext uri="{FF2B5EF4-FFF2-40B4-BE49-F238E27FC236}">
                <a16:creationId xmlns:a16="http://schemas.microsoft.com/office/drawing/2014/main" id="{2D38D4A4-A070-2F0D-9FA4-A9648189B44C}"/>
              </a:ext>
            </a:extLst>
          </p:cNvPr>
          <p:cNvSpPr>
            <a:spLocks noGrp="1"/>
          </p:cNvSpPr>
          <p:nvPr>
            <p:ph type="tbl" sz="quarter" idx="13"/>
          </p:nvPr>
        </p:nvSpPr>
        <p:spPr>
          <a:xfrm>
            <a:off x="6400800" y="4724400"/>
            <a:ext cx="914400" cy="914400"/>
          </a:xfrm>
        </p:spPr>
        <p:txBody>
          <a:bodyPr/>
          <a:lstStyle/>
          <a:p>
            <a:endParaRPr lang="en-IN"/>
          </a:p>
        </p:txBody>
      </p:sp>
    </p:spTree>
    <p:extLst>
      <p:ext uri="{BB962C8B-B14F-4D97-AF65-F5344CB8AC3E}">
        <p14:creationId xmlns:p14="http://schemas.microsoft.com/office/powerpoint/2010/main" val="1341001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16922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7ED76C6A-B97B-4A76-9AFE-CBA631CE30E8}"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CF943232-A13E-4AC4-8BCB-DC28A2ADFD51}" type="slidenum">
              <a:rPr lang="en-US" smtClean="0"/>
              <a:t>‹#›</a:t>
            </a:fld>
            <a:endParaRPr lang="en-US"/>
          </a:p>
        </p:txBody>
      </p:sp>
    </p:spTree>
    <p:extLst>
      <p:ext uri="{BB962C8B-B14F-4D97-AF65-F5344CB8AC3E}">
        <p14:creationId xmlns:p14="http://schemas.microsoft.com/office/powerpoint/2010/main" val="1452124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541792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23129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711783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01727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7252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14374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06640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34788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95223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02672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18548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7ED76C6A-B97B-4A76-9AFE-CBA631CE30E8}"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BE507B2-2C1B-4A38-BCA6-46FEC7DDFF2C}" type="slidenum">
              <a:rPr lang="en-US" smtClean="0"/>
              <a:t>‹#›</a:t>
            </a:fld>
            <a:endParaRPr lang="en-US"/>
          </a:p>
        </p:txBody>
      </p:sp>
    </p:spTree>
    <p:extLst>
      <p:ext uri="{BB962C8B-B14F-4D97-AF65-F5344CB8AC3E}">
        <p14:creationId xmlns:p14="http://schemas.microsoft.com/office/powerpoint/2010/main" val="342244038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563907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24000"/>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a:p>
            <a:pPr lvl="1"/>
            <a:endParaRPr lang="en-US" dirty="0"/>
          </a:p>
          <a:p>
            <a:pPr lvl="2"/>
            <a:endParaRPr lang="en-US" dirty="0"/>
          </a:p>
        </p:txBody>
      </p:sp>
    </p:spTree>
    <p:extLst>
      <p:ext uri="{BB962C8B-B14F-4D97-AF65-F5344CB8AC3E}">
        <p14:creationId xmlns:p14="http://schemas.microsoft.com/office/powerpoint/2010/main" val="26724888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24001"/>
            <a:ext cx="11241915" cy="2590800"/>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3D8AFFA6-E819-6174-7C23-B304696F2935}"/>
              </a:ext>
            </a:extLst>
          </p:cNvPr>
          <p:cNvSpPr>
            <a:spLocks noGrp="1"/>
          </p:cNvSpPr>
          <p:nvPr>
            <p:ph sz="quarter" idx="10"/>
          </p:nvPr>
        </p:nvSpPr>
        <p:spPr>
          <a:xfrm>
            <a:off x="609600" y="45720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AD894510-FA79-5EE9-567C-85210FACC946}"/>
              </a:ext>
            </a:extLst>
          </p:cNvPr>
          <p:cNvSpPr>
            <a:spLocks noGrp="1"/>
          </p:cNvSpPr>
          <p:nvPr>
            <p:ph type="pic" sz="quarter" idx="11"/>
          </p:nvPr>
        </p:nvSpPr>
        <p:spPr>
          <a:xfrm>
            <a:off x="2362200" y="4572000"/>
            <a:ext cx="914400" cy="914400"/>
          </a:xfrm>
        </p:spPr>
        <p:txBody>
          <a:bodyPr/>
          <a:lstStyle/>
          <a:p>
            <a:endParaRPr lang="en-IN"/>
          </a:p>
        </p:txBody>
      </p:sp>
      <p:sp>
        <p:nvSpPr>
          <p:cNvPr id="7" name="Picture Placeholder 6">
            <a:extLst>
              <a:ext uri="{FF2B5EF4-FFF2-40B4-BE49-F238E27FC236}">
                <a16:creationId xmlns:a16="http://schemas.microsoft.com/office/drawing/2014/main" id="{1983CFFD-332D-9E9B-E3EE-6B60609536F1}"/>
              </a:ext>
            </a:extLst>
          </p:cNvPr>
          <p:cNvSpPr>
            <a:spLocks noGrp="1"/>
          </p:cNvSpPr>
          <p:nvPr>
            <p:ph type="pic" sz="quarter" idx="12"/>
          </p:nvPr>
        </p:nvSpPr>
        <p:spPr>
          <a:xfrm>
            <a:off x="4038600" y="4648200"/>
            <a:ext cx="914400" cy="914400"/>
          </a:xfrm>
        </p:spPr>
        <p:txBody>
          <a:bodyPr/>
          <a:lstStyle/>
          <a:p>
            <a:endParaRPr lang="en-IN"/>
          </a:p>
        </p:txBody>
      </p:sp>
      <p:sp>
        <p:nvSpPr>
          <p:cNvPr id="9" name="Table Placeholder 8">
            <a:extLst>
              <a:ext uri="{FF2B5EF4-FFF2-40B4-BE49-F238E27FC236}">
                <a16:creationId xmlns:a16="http://schemas.microsoft.com/office/drawing/2014/main" id="{53FC989E-0031-DB81-70EE-0881AD409527}"/>
              </a:ext>
            </a:extLst>
          </p:cNvPr>
          <p:cNvSpPr>
            <a:spLocks noGrp="1"/>
          </p:cNvSpPr>
          <p:nvPr>
            <p:ph type="tbl" sz="quarter" idx="13"/>
          </p:nvPr>
        </p:nvSpPr>
        <p:spPr>
          <a:xfrm>
            <a:off x="5638800" y="4648200"/>
            <a:ext cx="914400" cy="914400"/>
          </a:xfrm>
        </p:spPr>
        <p:txBody>
          <a:bodyPr/>
          <a:lstStyle/>
          <a:p>
            <a:endParaRPr lang="en-IN"/>
          </a:p>
        </p:txBody>
      </p:sp>
    </p:spTree>
    <p:extLst>
      <p:ext uri="{BB962C8B-B14F-4D97-AF65-F5344CB8AC3E}">
        <p14:creationId xmlns:p14="http://schemas.microsoft.com/office/powerpoint/2010/main" val="581775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66D4A925-E4CC-D02A-7808-B6B69AF034A3}"/>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89882960"/>
      </p:ext>
    </p:extLst>
  </p:cSld>
  <p:clrMap bg1="lt1" tx1="dk1" bg2="dk2" tx2="lt2" accent1="accent1" accent2="accent2" accent3="accent3" accent4="accent4" accent5="accent5" accent6="accent6" hlink="hlink" folHlink="folHlink"/>
  <p:sldLayoutIdLst>
    <p:sldLayoutId id="2147483710" r:id="rId1"/>
    <p:sldLayoutId id="2147483728"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42: Electronic Automatic Transmissions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Chapter Objectives (1 of 2)</a:t>
            </a:r>
          </a:p>
        </p:txBody>
      </p:sp>
      <p:sp>
        <p:nvSpPr>
          <p:cNvPr id="2"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42.01 Describe the components used for electronic transmission operation.</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42.02 Explain hybrid transmission operation.</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42-03 Conduct preliminary checks on the EAT systems and determine needed repairs or service.</a:t>
            </a:r>
          </a:p>
        </p:txBody>
      </p:sp>
    </p:spTree>
    <p:extLst>
      <p:ext uri="{BB962C8B-B14F-4D97-AF65-F5344CB8AC3E}">
        <p14:creationId xmlns:p14="http://schemas.microsoft.com/office/powerpoint/2010/main" val="589355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Chapter Objectives (2 of 2)</a:t>
            </a:r>
          </a:p>
        </p:txBody>
      </p:sp>
      <p:sp>
        <p:nvSpPr>
          <p:cNvPr id="2"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buSzPct val="100000"/>
              <a:buFont typeface="Arial" panose="020B0604020202020204" pitchFamily="34" charset="0"/>
              <a:buChar char="•"/>
            </a:pPr>
            <a:r>
              <a:rPr lang="en-US" sz="2600" dirty="0">
                <a:solidFill>
                  <a:schemeClr val="tx1"/>
                </a:solidFill>
                <a:latin typeface="Work Sans" pitchFamily="2" charset="0"/>
              </a:rPr>
              <a:t>42.04 Perform converter clutch system tests and determine needed repairs or service.</a:t>
            </a:r>
          </a:p>
          <a:p>
            <a:pPr marL="361950" indent="-361950">
              <a:buSzPct val="100000"/>
              <a:buFont typeface="Arial" panose="020B0604020202020204" pitchFamily="34" charset="0"/>
              <a:buChar char="•"/>
            </a:pPr>
            <a:r>
              <a:rPr lang="en-US" sz="2600" dirty="0">
                <a:solidFill>
                  <a:schemeClr val="tx1"/>
                </a:solidFill>
                <a:latin typeface="Work Sans" pitchFamily="2" charset="0"/>
              </a:rPr>
              <a:t>42.05 Inspect, test, and replace electrical/electronic sensors.</a:t>
            </a:r>
          </a:p>
          <a:p>
            <a:pPr marL="361950" indent="-361950">
              <a:buSzPct val="100000"/>
              <a:buFont typeface="Arial" panose="020B0604020202020204" pitchFamily="34" charset="0"/>
              <a:buChar char="•"/>
            </a:pPr>
            <a:r>
              <a:rPr lang="en-US" sz="2600" dirty="0">
                <a:solidFill>
                  <a:schemeClr val="tx1"/>
                </a:solidFill>
                <a:latin typeface="Work Sans" pitchFamily="2" charset="0"/>
              </a:rPr>
              <a:t>42.06 Inspect, test, and replace actuators.</a:t>
            </a:r>
          </a:p>
        </p:txBody>
      </p:sp>
    </p:spTree>
    <p:extLst>
      <p:ext uri="{BB962C8B-B14F-4D97-AF65-F5344CB8AC3E}">
        <p14:creationId xmlns:p14="http://schemas.microsoft.com/office/powerpoint/2010/main" val="3997150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Electronic Automatic Transmissions (EAT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Electronic Automatic Transmissions (</a:t>
            </a:r>
            <a:r>
              <a:rPr lang="en-US" dirty="0" err="1"/>
              <a:t>EATs</a:t>
            </a:r>
            <a:r>
              <a:rPr lang="en-US" dirty="0"/>
              <a:t>)</a:t>
            </a:r>
          </a:p>
        </p:txBody>
      </p:sp>
      <p:sp>
        <p:nvSpPr>
          <p:cNvPr id="2"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i="0" u="none" strike="noStrike" baseline="0" dirty="0">
                <a:solidFill>
                  <a:schemeClr val="tx1"/>
                </a:solidFill>
                <a:latin typeface="Work Sans" pitchFamily="2" charset="0"/>
              </a:rPr>
              <a:t>42.01 Describe the components used for electronic transmission operation</a:t>
            </a:r>
            <a:r>
              <a:rPr lang="en-US" sz="2600" dirty="0">
                <a:solidFill>
                  <a:schemeClr val="tx1"/>
                </a:solidFill>
                <a:latin typeface="Work Sans" pitchFamily="2" charset="0"/>
              </a:rPr>
              <a:t>.</a:t>
            </a:r>
          </a:p>
          <a:p>
            <a:pPr marL="0" indent="0">
              <a:spcBef>
                <a:spcPts val="624"/>
              </a:spcBef>
              <a:spcAft>
                <a:spcPts val="600"/>
              </a:spcAft>
              <a:buNone/>
            </a:pPr>
            <a:r>
              <a:rPr lang="en-US" sz="2600" dirty="0">
                <a:solidFill>
                  <a:schemeClr val="tx1"/>
                </a:solidFill>
                <a:latin typeface="Work Sans" pitchFamily="2" charset="0"/>
              </a:rPr>
              <a:t>Electronic transmission control provides better shift timing, shift quality, improved fuel economy, and reduced emissions.</a:t>
            </a:r>
          </a:p>
          <a:p>
            <a:pPr marL="0" indent="0">
              <a:spcBef>
                <a:spcPts val="624"/>
              </a:spcBef>
              <a:spcAft>
                <a:spcPts val="600"/>
              </a:spcAft>
              <a:buNone/>
            </a:pPr>
            <a:r>
              <a:rPr lang="en-US" sz="2600" dirty="0">
                <a:solidFill>
                  <a:schemeClr val="tx1"/>
                </a:solidFill>
                <a:latin typeface="Work Sans" pitchFamily="2" charset="0"/>
              </a:rPr>
              <a:t>A control module activates solenoids that control fluid pressure to the clutches and bands.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ransmission Control Modul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Control Module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3538" indent="-363538">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Controls shift timing, shift feel, and the torque converter clutch.</a:t>
            </a:r>
          </a:p>
          <a:p>
            <a:pPr marL="363538" indent="-363538">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Uses input from engine- and driver-related sensors.</a:t>
            </a:r>
          </a:p>
          <a:p>
            <a:pPr marL="363538" indent="-363538">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Shift decisions are based on shift schedules and logic.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EAT Control Circu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F1BA-9A62-F905-87C0-FC106B98AE82}"/>
              </a:ext>
            </a:extLst>
          </p:cNvPr>
          <p:cNvSpPr>
            <a:spLocks noGrp="1"/>
          </p:cNvSpPr>
          <p:nvPr>
            <p:ph type="title"/>
          </p:nvPr>
        </p:nvSpPr>
        <p:spPr/>
        <p:txBody>
          <a:bodyPr/>
          <a:lstStyle/>
          <a:p>
            <a:r>
              <a:rPr lang="en-IN" dirty="0"/>
              <a:t>Different Inputs, Modules, and Outputs in an EAT circuit</a:t>
            </a:r>
          </a:p>
        </p:txBody>
      </p:sp>
      <p:pic>
        <p:nvPicPr>
          <p:cNvPr id="9" name="Picture Placeholder 8" descr="An E A T circuit depicts the different inputs, modules, and outputs. The modules are T C M and E C M. T C M and E C M modules are connected using serial C A N-bus. The eight inputs fed to T C M are as follows: input turbine speed sensor, counter gear speed sensor, A T F pressure switches, A T F temperature sensor, stop light switch, combination meter, starter relay (starter signal), and park/neutral position switch. Arrow points from each of the inputs to T C M. The arrows are labeled from top to bottom as follows: N T O, N C O, P S, F T S, S T P, S P D 1, S T A, and N S W. The outputs from the T C M are as follows: solenoid valve S L 1, solenoid valve S L 2, solenoid valve S L 3, solenoid valve S L 4, solenoid valve S L U, solenoid valve S L T, and solenoid valve S L. Arrows from the T C M points toward each of the outputs. The arrows are labeled from top to bottom as follows: S L 1, S L 2, S L 3, S L 4, S L U, S L T, and S L. T C M unit and E C M unit are connected through two C A N buses: C A N positive and C A N negative. E C M is connected to D L C 3 and Combination meter through C A N H and C A N L bus. The park/Neutral switch is connected to E C M through N S W. The Combination meter includes the following units: shift range indicator light, shift position indicator light, S mode indicator light, buzzer, and M I L. The six inputs given to E C M reads as follows: transmission control switch, mass air flow meter, engine coolant temperature sensor, crankshaft position sensor, throttle position sensor, and accelerator pedal position sensor. The arrow from each input points toward E C M. The arrows are labeled from top to bottom as follows: S, S F T U, S F T D, M A F, E C T, C K P, T P S, V P A, and V P A 2. The outputs from E C M are as follows: fuel injectors, ignition coils, and throttle control motor. The arrow from the E C M points toward each output. The arrows are labeled from top to bottom as follows: hash 1 to hash 6, I G T, and E T C. Output of the ignition coil is fed back to E C M through I G F. Output of E C M is fed to M I L in combination meter through W.">
            <a:extLst>
              <a:ext uri="{FF2B5EF4-FFF2-40B4-BE49-F238E27FC236}">
                <a16:creationId xmlns:a16="http://schemas.microsoft.com/office/drawing/2014/main" id="{1D0BF89C-B957-A473-56AA-C342010550A3}"/>
              </a:ext>
            </a:extLst>
          </p:cNvPr>
          <p:cNvPicPr>
            <a:picLocks noGrp="1" noChangeAspect="1"/>
          </p:cNvPicPr>
          <p:nvPr>
            <p:ph type="pic" sz="quarter" idx="11"/>
          </p:nvPr>
        </p:nvPicPr>
        <p:blipFill>
          <a:blip r:embed="rId3"/>
          <a:srcRect b="3035"/>
          <a:stretch/>
        </p:blipFill>
        <p:spPr>
          <a:xfrm>
            <a:off x="4436017" y="1447800"/>
            <a:ext cx="3548566" cy="4536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Inpu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Inputs</a:t>
            </a:r>
          </a:p>
        </p:txBody>
      </p:sp>
      <p:sp>
        <p:nvSpPr>
          <p:cNvPr id="3" name="Content Placeholder 2"/>
          <p:cNvSpPr txBox="1">
            <a:spLocks noGrp="1"/>
          </p:cNvSpPr>
          <p:nvPr>
            <p:ph type="body" idx="1"/>
          </p:nvPr>
        </p:nvSpPr>
        <p:spPr>
          <a:xfrm>
            <a:off x="476844" y="1524000"/>
            <a:ext cx="11241915" cy="486075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May be directly from a sensor or via the CAN system</a:t>
            </a:r>
          </a:p>
          <a:p>
            <a:pPr marL="358775" indent="-358775">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Typical inputs for the transmission control module (TCM)</a:t>
            </a:r>
          </a:p>
          <a:p>
            <a:pPr marL="715963" lvl="1" indent="-357188">
              <a:spcBef>
                <a:spcPts val="624"/>
              </a:spcBef>
              <a:spcAft>
                <a:spcPts val="600"/>
              </a:spcAft>
              <a:buSzPct val="100000"/>
              <a:buFont typeface="Arial" panose="020B0604020202020204" pitchFamily="34" charset="0"/>
              <a:buChar char="–"/>
            </a:pPr>
            <a:r>
              <a:rPr lang="en-US" sz="2000" dirty="0">
                <a:solidFill>
                  <a:schemeClr val="tx1"/>
                </a:solidFill>
                <a:latin typeface="Work Sans" pitchFamily="2" charset="0"/>
              </a:rPr>
              <a:t>TP sensor</a:t>
            </a:r>
            <a:endParaRPr lang="en-US" sz="2000" dirty="0">
              <a:solidFill>
                <a:schemeClr val="tx1"/>
              </a:solidFill>
              <a:latin typeface="Work Sans" pitchFamily="2" charset="0"/>
              <a:cs typeface="Arial"/>
            </a:endParaRPr>
          </a:p>
          <a:p>
            <a:pPr marL="715963" lvl="1" indent="-357188">
              <a:spcBef>
                <a:spcPts val="624"/>
              </a:spcBef>
              <a:spcAft>
                <a:spcPts val="600"/>
              </a:spcAft>
              <a:buSzPct val="100000"/>
              <a:buFont typeface="Arial" panose="020B0604020202020204" pitchFamily="34" charset="0"/>
              <a:buChar char="–"/>
            </a:pPr>
            <a:r>
              <a:rPr lang="en-US" sz="2000" dirty="0">
                <a:solidFill>
                  <a:schemeClr val="tx1"/>
                </a:solidFill>
                <a:latin typeface="Work Sans" pitchFamily="2" charset="0"/>
                <a:cs typeface="Arial"/>
              </a:rPr>
              <a:t>MAF sensor</a:t>
            </a:r>
          </a:p>
          <a:p>
            <a:pPr marL="715963" lvl="1" indent="-357188">
              <a:spcBef>
                <a:spcPts val="624"/>
              </a:spcBef>
              <a:spcAft>
                <a:spcPts val="600"/>
              </a:spcAft>
              <a:buSzPct val="100000"/>
              <a:buFont typeface="Arial" panose="020B0604020202020204" pitchFamily="34" charset="0"/>
              <a:buChar char="–"/>
            </a:pPr>
            <a:r>
              <a:rPr lang="en-US" sz="2000" dirty="0">
                <a:solidFill>
                  <a:schemeClr val="tx1"/>
                </a:solidFill>
                <a:latin typeface="Work Sans" pitchFamily="2" charset="0"/>
                <a:cs typeface="Arial"/>
              </a:rPr>
              <a:t>BARO sensor</a:t>
            </a:r>
          </a:p>
          <a:p>
            <a:pPr marL="715963" lvl="1" indent="-357188">
              <a:spcBef>
                <a:spcPts val="624"/>
              </a:spcBef>
              <a:spcAft>
                <a:spcPts val="600"/>
              </a:spcAft>
              <a:buSzPct val="100000"/>
              <a:buFont typeface="Arial" panose="020B0604020202020204" pitchFamily="34" charset="0"/>
              <a:buChar char="–"/>
            </a:pPr>
            <a:r>
              <a:rPr lang="en-US" sz="2000" dirty="0">
                <a:solidFill>
                  <a:schemeClr val="tx1"/>
                </a:solidFill>
                <a:latin typeface="Work Sans" pitchFamily="2" charset="0"/>
                <a:cs typeface="Arial"/>
              </a:rPr>
              <a:t>CKP sensor</a:t>
            </a:r>
          </a:p>
          <a:p>
            <a:pPr marL="715963" lvl="1" indent="-357188">
              <a:spcBef>
                <a:spcPts val="624"/>
              </a:spcBef>
              <a:spcAft>
                <a:spcPts val="600"/>
              </a:spcAft>
              <a:buSzPct val="100000"/>
              <a:buFont typeface="Arial" panose="020B0604020202020204" pitchFamily="34" charset="0"/>
              <a:buChar char="–"/>
            </a:pPr>
            <a:r>
              <a:rPr lang="en-US" sz="2000" dirty="0">
                <a:solidFill>
                  <a:schemeClr val="tx1"/>
                </a:solidFill>
                <a:latin typeface="Work Sans" pitchFamily="2" charset="0"/>
                <a:cs typeface="Arial"/>
              </a:rPr>
              <a:t>MAP sensor</a:t>
            </a:r>
          </a:p>
          <a:p>
            <a:pPr marL="715963" lvl="1" indent="-357188">
              <a:spcBef>
                <a:spcPts val="624"/>
              </a:spcBef>
              <a:spcAft>
                <a:spcPts val="600"/>
              </a:spcAft>
              <a:buSzPct val="100000"/>
              <a:buFont typeface="Arial" panose="020B0604020202020204" pitchFamily="34" charset="0"/>
              <a:buChar char="–"/>
            </a:pPr>
            <a:r>
              <a:rPr lang="en-US" sz="2000" dirty="0">
                <a:solidFill>
                  <a:schemeClr val="tx1"/>
                </a:solidFill>
                <a:latin typeface="Work Sans" pitchFamily="2" charset="0"/>
                <a:cs typeface="Arial"/>
              </a:rPr>
              <a:t>IAT sensor</a:t>
            </a:r>
          </a:p>
          <a:p>
            <a:pPr marL="715963" lvl="1" indent="-357188">
              <a:spcBef>
                <a:spcPts val="624"/>
              </a:spcBef>
              <a:spcAft>
                <a:spcPts val="600"/>
              </a:spcAft>
              <a:buSzPct val="100000"/>
              <a:buFont typeface="Arial" panose="020B0604020202020204" pitchFamily="34" charset="0"/>
              <a:buChar char="–"/>
              <a:tabLst>
                <a:tab pos="0" algn="l"/>
              </a:tabLst>
            </a:pPr>
            <a:r>
              <a:rPr lang="en-US" sz="2000" dirty="0">
                <a:solidFill>
                  <a:schemeClr val="tx1"/>
                </a:solidFill>
                <a:latin typeface="Work Sans" pitchFamily="2" charset="0"/>
              </a:rPr>
              <a:t>ECT sensor</a:t>
            </a:r>
            <a:endParaRPr lang="en-US" sz="2000" dirty="0">
              <a:solidFill>
                <a:schemeClr val="tx1"/>
              </a:solidFill>
              <a:latin typeface="Work Sans" pitchFamily="2" charset="0"/>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A4C36-F7E2-D222-8F1A-988FEE849890}"/>
              </a:ext>
            </a:extLst>
          </p:cNvPr>
          <p:cNvSpPr>
            <a:spLocks noGrp="1"/>
          </p:cNvSpPr>
          <p:nvPr>
            <p:ph type="title"/>
          </p:nvPr>
        </p:nvSpPr>
        <p:spPr/>
        <p:txBody>
          <a:bodyPr/>
          <a:lstStyle/>
          <a:p>
            <a:r>
              <a:rPr lang="en-IN" dirty="0"/>
              <a:t>Typical Electronically Controlled Transmission</a:t>
            </a:r>
          </a:p>
        </p:txBody>
      </p:sp>
      <p:pic>
        <p:nvPicPr>
          <p:cNvPr id="9" name="Picture Placeholder 8" descr="The electrical circuit for a typical electronically controlled transmission. The circuit includes two modules such as an engine control module and transmission control module. A bidirectional arrow extends between E C M and T C M. The throttle position sensor, battery, and ignition switch are fed to the engine control module. The transmission control module (T C M) has a neutral safety switch, P R N D L switch, turbine speed sensor, and output shaft speed sensor. The V S S, coolant sensor, ambient sensor, and brake switch are connected to the Engine Control Module. Other vehicle controllers and D L C are connected to the bidirectional arrow between E C M and T C M. The T C M is connected to 4 solenoids and 3 pressure switches. The Neutral safety switch, P R N D L switch, turbine speed sensor, output shaft speed sensor, 4 solenoids, and 3 pressure switches are together connected to the transaxle. The gear selector is connected to the transaxle, at the bottom.">
            <a:extLst>
              <a:ext uri="{FF2B5EF4-FFF2-40B4-BE49-F238E27FC236}">
                <a16:creationId xmlns:a16="http://schemas.microsoft.com/office/drawing/2014/main" id="{0A8A4828-155D-6D2A-8191-1A6741DD077A}"/>
              </a:ext>
            </a:extLst>
          </p:cNvPr>
          <p:cNvPicPr>
            <a:picLocks noGrp="1" noChangeAspect="1"/>
          </p:cNvPicPr>
          <p:nvPr>
            <p:ph type="pic" sz="quarter" idx="11"/>
          </p:nvPr>
        </p:nvPicPr>
        <p:blipFill rotWithShape="1">
          <a:blip r:embed="rId3"/>
          <a:srcRect b="7143"/>
          <a:stretch/>
        </p:blipFill>
        <p:spPr>
          <a:xfrm>
            <a:off x="3238500" y="1562100"/>
            <a:ext cx="5715000" cy="4457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On-Off Switch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On-Off Switches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Brake pedal position switch.</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Turns off the TCC.</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Transmission control switch.</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Turns off overdrive.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A/C request switch.</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Adapts for increased load on the engine.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Cruise control switch.</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Softens shift patterns.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igital Transmission Range&#10;(TR) Sensor">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Digital Transmission Range (TR) Sensor</a:t>
            </a:r>
          </a:p>
        </p:txBody>
      </p:sp>
      <p:sp>
        <p:nvSpPr>
          <p:cNvPr id="2" name="Content Placeholder 2"/>
          <p:cNvSpPr txBox="1">
            <a:spLocks noGrp="1"/>
          </p:cNvSpPr>
          <p:nvPr>
            <p:ph type="body" idx="1"/>
          </p:nvPr>
        </p:nvSpPr>
        <p:spPr>
          <a:xfrm>
            <a:off x="476845" y="1524000"/>
            <a:ext cx="6000155" cy="3207261"/>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shift schedules based on gear selected.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also contain neutral safety and reverse light switch.</a:t>
            </a:r>
          </a:p>
        </p:txBody>
      </p:sp>
      <p:pic>
        <p:nvPicPr>
          <p:cNvPr id="9" name="Picture Placeholder 8" descr="A digital transmission range sensor and its associated components.">
            <a:extLst>
              <a:ext uri="{FF2B5EF4-FFF2-40B4-BE49-F238E27FC236}">
                <a16:creationId xmlns:a16="http://schemas.microsoft.com/office/drawing/2014/main" id="{D235AAC5-362C-6BB0-A646-795C52E916BB}"/>
              </a:ext>
            </a:extLst>
          </p:cNvPr>
          <p:cNvPicPr>
            <a:picLocks noGrp="1" noChangeAspect="1"/>
          </p:cNvPicPr>
          <p:nvPr>
            <p:ph type="pic" sz="quarter" idx="12"/>
          </p:nvPr>
        </p:nvPicPr>
        <p:blipFill rotWithShape="1">
          <a:blip r:embed="rId3"/>
          <a:srcRect b="8679"/>
          <a:stretch/>
        </p:blipFill>
        <p:spPr>
          <a:xfrm>
            <a:off x="6558850" y="1828800"/>
            <a:ext cx="5203585" cy="38807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rottle Position (TP) Sens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Throttle Position (TP) Sensor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Informs TCM of driver intent.</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in place of hydraulic throttle pressure linkage.</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Important for shift scheduling, electronic pressure control, and TCC control.</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Low TP voltage will cause early upshifts.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Mass Air Flow (MAF) Sens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Mass Air Flow (MAF) Sensor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to calculate engine load.</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Regulates</a:t>
            </a:r>
          </a:p>
          <a:p>
            <a:pPr marL="722313" lvl="2" indent="-360363">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Electronic pressure control (EPC)</a:t>
            </a:r>
          </a:p>
          <a:p>
            <a:pPr marL="722313" lvl="2" indent="-360363">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Shift scheduling</a:t>
            </a:r>
          </a:p>
          <a:p>
            <a:pPr marL="722313" lvl="2" indent="-360363">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TCC control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emperature Senso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Temperature Sensors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Shift schedules influenced by engine temperature.</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delay shifts to increase engine temperature.</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High engine temperatures may cause earlier shifts or TCC in second or third gear.</a:t>
            </a:r>
            <a:endParaRPr lang="en-US" dirty="0">
              <a:solidFill>
                <a:schemeClr val="tx1"/>
              </a:solidFill>
              <a:latin typeface="Work Sans"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6A68BD-8BA0-D331-DEAE-6279F4D984D7}"/>
              </a:ext>
            </a:extLst>
          </p:cNvPr>
          <p:cNvSpPr>
            <a:spLocks noGrp="1"/>
          </p:cNvSpPr>
          <p:nvPr>
            <p:ph type="title"/>
          </p:nvPr>
        </p:nvSpPr>
        <p:spPr/>
        <p:txBody>
          <a:bodyPr/>
          <a:lstStyle/>
          <a:p>
            <a:r>
              <a:rPr lang="en-US" dirty="0"/>
              <a:t>Temperature Sensors (2 of 2)</a:t>
            </a:r>
            <a:endParaRPr lang="en-IN" dirty="0"/>
          </a:p>
        </p:txBody>
      </p:sp>
      <p:graphicFrame>
        <p:nvGraphicFramePr>
          <p:cNvPr id="10" name="Table Placeholder 9">
            <a:extLst>
              <a:ext uri="{FF2B5EF4-FFF2-40B4-BE49-F238E27FC236}">
                <a16:creationId xmlns:a16="http://schemas.microsoft.com/office/drawing/2014/main" id="{1ED8245F-BB9B-FC0C-13D4-8362CFB1A824}"/>
              </a:ext>
            </a:extLst>
          </p:cNvPr>
          <p:cNvGraphicFramePr>
            <a:graphicFrameLocks noGrp="1"/>
          </p:cNvGraphicFramePr>
          <p:nvPr>
            <p:ph type="tbl" sz="quarter" idx="13"/>
            <p:extLst>
              <p:ext uri="{D42A27DB-BD31-4B8C-83A1-F6EECF244321}">
                <p14:modId xmlns:p14="http://schemas.microsoft.com/office/powerpoint/2010/main" val="4111352270"/>
              </p:ext>
            </p:extLst>
          </p:nvPr>
        </p:nvGraphicFramePr>
        <p:xfrm>
          <a:off x="1132034" y="1676400"/>
          <a:ext cx="9927933" cy="3560561"/>
        </p:xfrm>
        <a:graphic>
          <a:graphicData uri="http://schemas.openxmlformats.org/drawingml/2006/table">
            <a:tbl>
              <a:tblPr firstRow="1" bandRow="1">
                <a:tableStyleId>{69012ECD-51FC-41F1-AA8D-1B2483CD663E}</a:tableStyleId>
              </a:tblPr>
              <a:tblGrid>
                <a:gridCol w="4038600">
                  <a:extLst>
                    <a:ext uri="{9D8B030D-6E8A-4147-A177-3AD203B41FA5}">
                      <a16:colId xmlns:a16="http://schemas.microsoft.com/office/drawing/2014/main" val="2388239396"/>
                    </a:ext>
                  </a:extLst>
                </a:gridCol>
                <a:gridCol w="3874478">
                  <a:extLst>
                    <a:ext uri="{9D8B030D-6E8A-4147-A177-3AD203B41FA5}">
                      <a16:colId xmlns:a16="http://schemas.microsoft.com/office/drawing/2014/main" val="845325373"/>
                    </a:ext>
                  </a:extLst>
                </a:gridCol>
                <a:gridCol w="2014855">
                  <a:extLst>
                    <a:ext uri="{9D8B030D-6E8A-4147-A177-3AD203B41FA5}">
                      <a16:colId xmlns:a16="http://schemas.microsoft.com/office/drawing/2014/main" val="2057614558"/>
                    </a:ext>
                  </a:extLst>
                </a:gridCol>
              </a:tblGrid>
              <a:tr h="360161">
                <a:tc>
                  <a:txBody>
                    <a:bodyPr/>
                    <a:lstStyle/>
                    <a:p>
                      <a:r>
                        <a:rPr lang="en-IN" sz="1400" dirty="0">
                          <a:latin typeface="Work Sans" pitchFamily="2" charset="0"/>
                        </a:rPr>
                        <a:t>Temperature Range </a:t>
                      </a:r>
                    </a:p>
                  </a:txBody>
                  <a:tcPr/>
                </a:tc>
                <a:tc>
                  <a:txBody>
                    <a:bodyPr/>
                    <a:lstStyle/>
                    <a:p>
                      <a:r>
                        <a:rPr lang="en-IN" sz="1400" dirty="0">
                          <a:latin typeface="Work Sans" pitchFamily="2" charset="0"/>
                        </a:rPr>
                        <a:t>Gear Operation</a:t>
                      </a:r>
                    </a:p>
                  </a:txBody>
                  <a:tcPr/>
                </a:tc>
                <a:tc>
                  <a:txBody>
                    <a:bodyPr/>
                    <a:lstStyle/>
                    <a:p>
                      <a:r>
                        <a:rPr lang="en-IN" sz="1400" dirty="0">
                          <a:latin typeface="Work Sans" pitchFamily="2" charset="0"/>
                        </a:rPr>
                        <a:t>TCC Operation</a:t>
                      </a:r>
                    </a:p>
                  </a:txBody>
                  <a:tcPr/>
                </a:tc>
                <a:extLst>
                  <a:ext uri="{0D108BD9-81ED-4DB2-BD59-A6C34878D82A}">
                    <a16:rowId xmlns:a16="http://schemas.microsoft.com/office/drawing/2014/main" val="3812563488"/>
                  </a:ext>
                </a:extLst>
              </a:tr>
              <a:tr h="0">
                <a:tc>
                  <a:txBody>
                    <a:bodyPr/>
                    <a:lstStyle/>
                    <a:p>
                      <a:r>
                        <a:rPr lang="en-US" sz="1400" dirty="0">
                          <a:latin typeface="Work Sans" pitchFamily="2" charset="0"/>
                        </a:rPr>
                        <a:t>Below –16 °F (–27 °C)</a:t>
                      </a:r>
                      <a:endParaRPr lang="en-IN" sz="1400" dirty="0">
                        <a:latin typeface="Work Sans" pitchFamily="2" charset="0"/>
                      </a:endParaRPr>
                    </a:p>
                  </a:txBody>
                  <a:tcPr/>
                </a:tc>
                <a:tc>
                  <a:txBody>
                    <a:bodyPr/>
                    <a:lstStyle/>
                    <a:p>
                      <a:r>
                        <a:rPr lang="en-US" sz="1400" dirty="0">
                          <a:latin typeface="Work Sans" pitchFamily="2" charset="0"/>
                        </a:rPr>
                        <a:t>Operates only in Park, Neutral, Reverse, 1st, and 3rd gears</a:t>
                      </a:r>
                      <a:endParaRPr lang="en-IN" sz="1400" dirty="0">
                        <a:latin typeface="Work Sans" pitchFamily="2" charset="0"/>
                      </a:endParaRPr>
                    </a:p>
                  </a:txBody>
                  <a:tcPr/>
                </a:tc>
                <a:tc>
                  <a:txBody>
                    <a:bodyPr/>
                    <a:lstStyle/>
                    <a:p>
                      <a:r>
                        <a:rPr lang="en-IN" sz="1400" dirty="0">
                          <a:latin typeface="Work Sans" pitchFamily="2" charset="0"/>
                        </a:rPr>
                        <a:t>NO</a:t>
                      </a:r>
                    </a:p>
                  </a:txBody>
                  <a:tcPr/>
                </a:tc>
                <a:extLst>
                  <a:ext uri="{0D108BD9-81ED-4DB2-BD59-A6C34878D82A}">
                    <a16:rowId xmlns:a16="http://schemas.microsoft.com/office/drawing/2014/main" val="1001480964"/>
                  </a:ext>
                </a:extLst>
              </a:tr>
              <a:tr h="582179">
                <a:tc>
                  <a:txBody>
                    <a:bodyPr/>
                    <a:lstStyle/>
                    <a:p>
                      <a:r>
                        <a:rPr lang="en-US" sz="1400" dirty="0">
                          <a:latin typeface="Work Sans" pitchFamily="2" charset="0"/>
                        </a:rPr>
                        <a:t>Between –12 °F (–24 °C) and 10 °F (–12 °C)</a:t>
                      </a:r>
                      <a:endParaRPr lang="en-IN" sz="1400" dirty="0">
                        <a:latin typeface="Work Sans" pitchFamily="2" charset="0"/>
                      </a:endParaRPr>
                    </a:p>
                  </a:txBody>
                  <a:tcPr/>
                </a:tc>
                <a:tc>
                  <a:txBody>
                    <a:bodyPr/>
                    <a:lstStyle/>
                    <a:p>
                      <a:r>
                        <a:rPr lang="en-US" sz="1400" dirty="0">
                          <a:latin typeface="Work Sans" pitchFamily="2" charset="0"/>
                        </a:rPr>
                        <a:t>Upshifts from 2nd to 3rd and 3rd to 4th are delayed and downshifts from 4th to 3rd and 3rd to 2nd are early</a:t>
                      </a:r>
                      <a:endParaRPr lang="en-IN" sz="1400" dirty="0">
                        <a:latin typeface="Work Sans" pitchFamily="2" charset="0"/>
                      </a:endParaRPr>
                    </a:p>
                  </a:txBody>
                  <a:tcPr/>
                </a:tc>
                <a:tc>
                  <a:txBody>
                    <a:bodyPr/>
                    <a:lstStyle/>
                    <a:p>
                      <a:r>
                        <a:rPr lang="en-IN" sz="1400">
                          <a:latin typeface="Work Sans" pitchFamily="2" charset="0"/>
                        </a:rPr>
                        <a:t>NO</a:t>
                      </a:r>
                      <a:endParaRPr lang="en-IN" sz="1400" dirty="0">
                        <a:latin typeface="Work Sans" pitchFamily="2" charset="0"/>
                      </a:endParaRPr>
                    </a:p>
                  </a:txBody>
                  <a:tcPr/>
                </a:tc>
                <a:extLst>
                  <a:ext uri="{0D108BD9-81ED-4DB2-BD59-A6C34878D82A}">
                    <a16:rowId xmlns:a16="http://schemas.microsoft.com/office/drawing/2014/main" val="3449152671"/>
                  </a:ext>
                </a:extLst>
              </a:tr>
              <a:tr h="155778">
                <a:tc>
                  <a:txBody>
                    <a:bodyPr/>
                    <a:lstStyle/>
                    <a:p>
                      <a:r>
                        <a:rPr lang="en-US" sz="1400" dirty="0">
                          <a:latin typeface="Work Sans" pitchFamily="2" charset="0"/>
                        </a:rPr>
                        <a:t>Between 10 °F (–12 °C) and 36 °F (2 °C)</a:t>
                      </a:r>
                      <a:endParaRPr lang="en-IN" sz="1400" dirty="0">
                        <a:latin typeface="Work Sans" pitchFamily="2" charset="0"/>
                      </a:endParaRPr>
                    </a:p>
                  </a:txBody>
                  <a:tcPr/>
                </a:tc>
                <a:tc>
                  <a:txBody>
                    <a:bodyPr/>
                    <a:lstStyle/>
                    <a:p>
                      <a:r>
                        <a:rPr lang="en-IN" sz="1400" dirty="0">
                          <a:latin typeface="Work Sans" pitchFamily="2" charset="0"/>
                        </a:rPr>
                        <a:t>All shifts are delayed</a:t>
                      </a:r>
                    </a:p>
                  </a:txBody>
                  <a:tcPr/>
                </a:tc>
                <a:tc>
                  <a:txBody>
                    <a:bodyPr/>
                    <a:lstStyle/>
                    <a:p>
                      <a:r>
                        <a:rPr lang="en-IN" sz="1400">
                          <a:latin typeface="Work Sans" pitchFamily="2" charset="0"/>
                        </a:rPr>
                        <a:t>NO</a:t>
                      </a:r>
                      <a:endParaRPr lang="en-IN" sz="1400" dirty="0">
                        <a:latin typeface="Work Sans" pitchFamily="2" charset="0"/>
                      </a:endParaRPr>
                    </a:p>
                  </a:txBody>
                  <a:tcPr/>
                </a:tc>
                <a:extLst>
                  <a:ext uri="{0D108BD9-81ED-4DB2-BD59-A6C34878D82A}">
                    <a16:rowId xmlns:a16="http://schemas.microsoft.com/office/drawing/2014/main" val="1713036800"/>
                  </a:ext>
                </a:extLst>
              </a:tr>
              <a:tr h="0">
                <a:tc>
                  <a:txBody>
                    <a:bodyPr/>
                    <a:lstStyle/>
                    <a:p>
                      <a:r>
                        <a:rPr lang="en-US" sz="1400" dirty="0">
                          <a:latin typeface="Work Sans" pitchFamily="2" charset="0"/>
                        </a:rPr>
                        <a:t>Between 40 °F (4 °C) and 80 °F (27 °C) </a:t>
                      </a:r>
                      <a:endParaRPr lang="en-IN" sz="1400" dirty="0">
                        <a:latin typeface="Work Sans" pitchFamily="2" charset="0"/>
                      </a:endParaRPr>
                    </a:p>
                  </a:txBody>
                  <a:tcPr/>
                </a:tc>
                <a:tc>
                  <a:txBody>
                    <a:bodyPr/>
                    <a:lstStyle/>
                    <a:p>
                      <a:r>
                        <a:rPr lang="en-IN" sz="1400">
                          <a:latin typeface="Work Sans" pitchFamily="2" charset="0"/>
                        </a:rPr>
                        <a:t>Normal shifting </a:t>
                      </a:r>
                      <a:endParaRPr lang="en-IN" sz="1400" dirty="0">
                        <a:latin typeface="Work Sans" pitchFamily="2" charset="0"/>
                      </a:endParaRPr>
                    </a:p>
                  </a:txBody>
                  <a:tcPr/>
                </a:tc>
                <a:tc>
                  <a:txBody>
                    <a:bodyPr/>
                    <a:lstStyle/>
                    <a:p>
                      <a:r>
                        <a:rPr lang="en-IN" sz="1400" dirty="0">
                          <a:latin typeface="Work Sans" pitchFamily="2" charset="0"/>
                        </a:rPr>
                        <a:t>NO</a:t>
                      </a:r>
                    </a:p>
                  </a:txBody>
                  <a:tcPr/>
                </a:tc>
                <a:extLst>
                  <a:ext uri="{0D108BD9-81ED-4DB2-BD59-A6C34878D82A}">
                    <a16:rowId xmlns:a16="http://schemas.microsoft.com/office/drawing/2014/main" val="4250904685"/>
                  </a:ext>
                </a:extLst>
              </a:tr>
              <a:tr h="133025">
                <a:tc>
                  <a:txBody>
                    <a:bodyPr/>
                    <a:lstStyle/>
                    <a:p>
                      <a:r>
                        <a:rPr lang="en-US" sz="1400" dirty="0">
                          <a:latin typeface="Work Sans" pitchFamily="2" charset="0"/>
                        </a:rPr>
                        <a:t>Between 80 °F (27 °C) and 240 °F (116 °C) </a:t>
                      </a:r>
                      <a:endParaRPr lang="en-IN" sz="1400" dirty="0">
                        <a:latin typeface="Work Sans" pitchFamily="2" charset="0"/>
                      </a:endParaRPr>
                    </a:p>
                  </a:txBody>
                  <a:tcPr/>
                </a:tc>
                <a:tc>
                  <a:txBody>
                    <a:bodyPr/>
                    <a:lstStyle/>
                    <a:p>
                      <a:r>
                        <a:rPr lang="en-IN" sz="1400" dirty="0">
                          <a:latin typeface="Work Sans" pitchFamily="2" charset="0"/>
                        </a:rPr>
                        <a:t>Normal shifting </a:t>
                      </a:r>
                    </a:p>
                  </a:txBody>
                  <a:tcPr/>
                </a:tc>
                <a:tc>
                  <a:txBody>
                    <a:bodyPr/>
                    <a:lstStyle/>
                    <a:p>
                      <a:r>
                        <a:rPr lang="en-IN" sz="1400" dirty="0">
                          <a:latin typeface="Work Sans" pitchFamily="2" charset="0"/>
                        </a:rPr>
                        <a:t>YES, normal</a:t>
                      </a:r>
                    </a:p>
                  </a:txBody>
                  <a:tcPr/>
                </a:tc>
                <a:extLst>
                  <a:ext uri="{0D108BD9-81ED-4DB2-BD59-A6C34878D82A}">
                    <a16:rowId xmlns:a16="http://schemas.microsoft.com/office/drawing/2014/main" val="3337932634"/>
                  </a:ext>
                </a:extLst>
              </a:tr>
              <a:tr h="503239">
                <a:tc>
                  <a:txBody>
                    <a:bodyPr/>
                    <a:lstStyle/>
                    <a:p>
                      <a:r>
                        <a:rPr lang="en-US" sz="1400" dirty="0">
                          <a:latin typeface="Work Sans" pitchFamily="2" charset="0"/>
                        </a:rPr>
                        <a:t>More than 240 °F (116 °C), or if the engine is overheating</a:t>
                      </a:r>
                      <a:endParaRPr lang="en-IN" sz="1400" dirty="0">
                        <a:latin typeface="Work Sans" pitchFamily="2" charset="0"/>
                      </a:endParaRPr>
                    </a:p>
                  </a:txBody>
                  <a:tcPr/>
                </a:tc>
                <a:tc>
                  <a:txBody>
                    <a:bodyPr/>
                    <a:lstStyle/>
                    <a:p>
                      <a:r>
                        <a:rPr lang="en-US" sz="1400" dirty="0">
                          <a:latin typeface="Work Sans" pitchFamily="2" charset="0"/>
                        </a:rPr>
                        <a:t>2nd to 3rd and 3rd to 4th shifts are delayed </a:t>
                      </a:r>
                      <a:endParaRPr lang="en-IN" sz="1400" dirty="0">
                        <a:latin typeface="Work Sans" pitchFamily="2" charset="0"/>
                      </a:endParaRPr>
                    </a:p>
                  </a:txBody>
                  <a:tcPr/>
                </a:tc>
                <a:tc>
                  <a:txBody>
                    <a:bodyPr/>
                    <a:lstStyle/>
                    <a:p>
                      <a:r>
                        <a:rPr lang="en-IN" sz="1400" dirty="0">
                          <a:latin typeface="Work Sans" pitchFamily="2" charset="0"/>
                        </a:rPr>
                        <a:t>YES, but longer</a:t>
                      </a:r>
                    </a:p>
                  </a:txBody>
                  <a:tcPr/>
                </a:tc>
                <a:extLst>
                  <a:ext uri="{0D108BD9-81ED-4DB2-BD59-A6C34878D82A}">
                    <a16:rowId xmlns:a16="http://schemas.microsoft.com/office/drawing/2014/main" val="3676264793"/>
                  </a:ext>
                </a:extLst>
              </a:tr>
              <a:tr h="503239">
                <a:tc>
                  <a:txBody>
                    <a:bodyPr/>
                    <a:lstStyle/>
                    <a:p>
                      <a:r>
                        <a:rPr lang="en-US" sz="1400" dirty="0">
                          <a:latin typeface="Work Sans" pitchFamily="2" charset="0"/>
                        </a:rPr>
                        <a:t>Above 260 °F (127 °C)</a:t>
                      </a:r>
                      <a:endParaRPr lang="en-IN" sz="1400" dirty="0">
                        <a:latin typeface="Work Sans" pitchFamily="2" charset="0"/>
                      </a:endParaRPr>
                    </a:p>
                  </a:txBody>
                  <a:tcPr/>
                </a:tc>
                <a:tc>
                  <a:txBody>
                    <a:bodyPr/>
                    <a:lstStyle/>
                    <a:p>
                      <a:r>
                        <a:rPr lang="en-US" sz="1400" dirty="0">
                          <a:latin typeface="Work Sans" pitchFamily="2" charset="0"/>
                        </a:rPr>
                        <a:t>2nd to 3rd and 3rd to 4th shifts are greatly delayed</a:t>
                      </a:r>
                      <a:endParaRPr lang="en-IN" sz="1400" dirty="0">
                        <a:latin typeface="Work Sans" pitchFamily="2" charset="0"/>
                      </a:endParaRPr>
                    </a:p>
                  </a:txBody>
                  <a:tcPr/>
                </a:tc>
                <a:tc>
                  <a:txBody>
                    <a:bodyPr/>
                    <a:lstStyle/>
                    <a:p>
                      <a:r>
                        <a:rPr lang="en-IN" sz="1400" dirty="0">
                          <a:latin typeface="Work Sans" pitchFamily="2" charset="0"/>
                        </a:rPr>
                        <a:t>YES, nearly full time</a:t>
                      </a:r>
                    </a:p>
                  </a:txBody>
                  <a:tcPr/>
                </a:tc>
                <a:extLst>
                  <a:ext uri="{0D108BD9-81ED-4DB2-BD59-A6C34878D82A}">
                    <a16:rowId xmlns:a16="http://schemas.microsoft.com/office/drawing/2014/main" val="1318547967"/>
                  </a:ext>
                </a:extLst>
              </a:tr>
            </a:tbl>
          </a:graphicData>
        </a:graphic>
      </p:graphicFrame>
    </p:spTree>
    <p:extLst>
      <p:ext uri="{BB962C8B-B14F-4D97-AF65-F5344CB8AC3E}">
        <p14:creationId xmlns:p14="http://schemas.microsoft.com/office/powerpoint/2010/main" val="3033968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Engine Spee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Engine Speed</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to determine shift timing, wide-open throttle (WOT) shift control, TCC control, and EPC pressure.</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Also used to prevent the engine from running at too high an RPM by commanding an upshift.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Transmission Pressure Switch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Pressure Switches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Keeps the TCM informed as to which hydraulic circuits are pressurized.</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serve as verification to other inputs.</a:t>
            </a:r>
          </a:p>
          <a:p>
            <a:pPr marL="361950" indent="-36195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common is a transmission fluid pressure switch.</a:t>
            </a:r>
          </a:p>
          <a:p>
            <a:pPr marL="722313" lvl="2" indent="-360363">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Monitors when a clutch or band is applied or released.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D78F7-87BD-B483-1A15-E9F33E39CEDF}"/>
              </a:ext>
            </a:extLst>
          </p:cNvPr>
          <p:cNvSpPr>
            <a:spLocks noGrp="1"/>
          </p:cNvSpPr>
          <p:nvPr>
            <p:ph type="title"/>
          </p:nvPr>
        </p:nvSpPr>
        <p:spPr/>
        <p:txBody>
          <a:bodyPr/>
          <a:lstStyle/>
          <a:p>
            <a:r>
              <a:rPr lang="en-US" dirty="0"/>
              <a:t>Transmission Pressure Switches </a:t>
            </a:r>
            <a:endParaRPr lang="en-IN" dirty="0"/>
          </a:p>
        </p:txBody>
      </p:sp>
      <p:pic>
        <p:nvPicPr>
          <p:cNvPr id="10" name="Picture Placeholder 9" descr="A body of a pressure switch with the parts labeled as follows: contact, diaphragm, O-ring, and variable resistance crystal. A fluid that is present in the pressure switch determines when a clutch is applied.">
            <a:extLst>
              <a:ext uri="{FF2B5EF4-FFF2-40B4-BE49-F238E27FC236}">
                <a16:creationId xmlns:a16="http://schemas.microsoft.com/office/drawing/2014/main" id="{C991501D-40DF-EE6E-71DC-CDC2B151E262}"/>
              </a:ext>
            </a:extLst>
          </p:cNvPr>
          <p:cNvPicPr>
            <a:picLocks noGrp="1" noChangeAspect="1"/>
          </p:cNvPicPr>
          <p:nvPr>
            <p:ph type="pic" sz="quarter" idx="12"/>
          </p:nvPr>
        </p:nvPicPr>
        <p:blipFill>
          <a:blip r:embed="rId3"/>
          <a:srcRect b="7105"/>
          <a:stretch/>
        </p:blipFill>
        <p:spPr>
          <a:xfrm>
            <a:off x="3294804" y="1600200"/>
            <a:ext cx="5602392" cy="41461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Voltage Generating Senso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solidFill>
                  <a:schemeClr val="tx1"/>
                </a:solidFill>
              </a:rPr>
              <a:t>Voltage-Generating Sensors</a:t>
            </a:r>
          </a:p>
        </p:txBody>
      </p:sp>
      <p:sp>
        <p:nvSpPr>
          <p:cNvPr id="3" name="Content Placeholder 2"/>
          <p:cNvSpPr txBox="1">
            <a:spLocks noGrp="1"/>
          </p:cNvSpPr>
          <p:nvPr>
            <p:ph type="body" idx="1"/>
          </p:nvPr>
        </p:nvSpPr>
        <p:spPr>
          <a:xfrm>
            <a:off x="476844" y="1524000"/>
            <a:ext cx="6609755" cy="396239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42900" indent="-3429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Used as governor signal.</a:t>
            </a:r>
          </a:p>
          <a:p>
            <a:pPr marL="342900" indent="-3429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VSS signal used for shift timing.</a:t>
            </a:r>
          </a:p>
          <a:p>
            <a:pPr marL="342900" indent="-3429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Some transmissions use output shaft speed (OSS) sensors and input shaft speed (ISS) or turbine speed (TSS) sensors.</a:t>
            </a:r>
          </a:p>
          <a:p>
            <a:pPr marL="342900" indent="-3429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Used to determine TCC slip.</a:t>
            </a:r>
          </a:p>
        </p:txBody>
      </p:sp>
      <p:pic>
        <p:nvPicPr>
          <p:cNvPr id="9" name="Picture Placeholder 8" descr="A voltage generating speed sensor. The parts are labeled as follows: transaxie case, pickup coil, magnetic core, and tooth projections on the input clutch hub. A transmission control module connected to the voltage generating speed sensor determines the difference between the engine speed and the transmission speed.">
            <a:extLst>
              <a:ext uri="{FF2B5EF4-FFF2-40B4-BE49-F238E27FC236}">
                <a16:creationId xmlns:a16="http://schemas.microsoft.com/office/drawing/2014/main" id="{4AB2B1A8-F70D-69A9-47EF-7AD21792E26D}"/>
              </a:ext>
            </a:extLst>
          </p:cNvPr>
          <p:cNvPicPr>
            <a:picLocks noGrp="1" noChangeAspect="1"/>
          </p:cNvPicPr>
          <p:nvPr>
            <p:ph type="pic" sz="quarter" idx="12"/>
          </p:nvPr>
        </p:nvPicPr>
        <p:blipFill>
          <a:blip r:embed="rId3"/>
          <a:srcRect b="5170"/>
          <a:stretch/>
        </p:blipFill>
        <p:spPr>
          <a:xfrm>
            <a:off x="7484465" y="1750907"/>
            <a:ext cx="4004871" cy="3962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None/>
            </a:pPr>
            <a:r>
              <a:rPr lang="en-US" sz="2600" dirty="0">
                <a:solidFill>
                  <a:schemeClr val="tx1"/>
                </a:solidFill>
                <a:latin typeface="Work Sans" pitchFamily="2" charset="0"/>
              </a:rPr>
              <a:t>Technician A says that a Hall-effect sensor is used as a speed sensor.</a:t>
            </a:r>
          </a:p>
          <a:p>
            <a:pPr marL="0" indent="0">
              <a:spcBef>
                <a:spcPts val="638"/>
              </a:spcBef>
              <a:buNone/>
            </a:pPr>
            <a:r>
              <a:rPr lang="en-US" sz="2600" dirty="0">
                <a:solidFill>
                  <a:schemeClr val="tx1"/>
                </a:solidFill>
                <a:latin typeface="Work Sans" pitchFamily="2" charset="0"/>
              </a:rPr>
              <a:t>Technician B says a PM generating sensor is used as a speed sensor.</a:t>
            </a:r>
          </a:p>
          <a:p>
            <a:pPr marL="0" indent="0">
              <a:spcBef>
                <a:spcPts val="638"/>
              </a:spcBef>
              <a:buNone/>
            </a:pPr>
            <a:r>
              <a:rPr lang="en-US" sz="2600" dirty="0">
                <a:solidFill>
                  <a:schemeClr val="tx1"/>
                </a:solidFill>
                <a:latin typeface="Work Sans" pitchFamily="2" charset="0"/>
              </a:rPr>
              <a:t>Who is Correct?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None/>
            </a:pPr>
            <a:r>
              <a:rPr lang="en-US" sz="2600" dirty="0">
                <a:solidFill>
                  <a:schemeClr val="tx1"/>
                </a:solidFill>
                <a:latin typeface="Work Sans" pitchFamily="2" charset="0"/>
              </a:rPr>
              <a:t>Technician A says that a Hall-effect sensor is used as a speed sensor.</a:t>
            </a:r>
          </a:p>
          <a:p>
            <a:pPr marL="0" indent="0">
              <a:spcBef>
                <a:spcPts val="638"/>
              </a:spcBef>
              <a:buNone/>
            </a:pPr>
            <a:r>
              <a:rPr lang="en-US" sz="2600" dirty="0">
                <a:solidFill>
                  <a:schemeClr val="tx1"/>
                </a:solidFill>
                <a:latin typeface="Work Sans" pitchFamily="2" charset="0"/>
              </a:rPr>
              <a:t>Technician B says a PM generating sensor is used as a speed sensor.</a:t>
            </a:r>
          </a:p>
          <a:p>
            <a:pPr marL="0" indent="0">
              <a:spcBef>
                <a:spcPts val="638"/>
              </a:spcBef>
              <a:buNone/>
            </a:pPr>
            <a:r>
              <a:rPr lang="en-US" sz="2600" dirty="0">
                <a:solidFill>
                  <a:schemeClr val="tx1"/>
                </a:solidFill>
                <a:latin typeface="Work Sans" pitchFamily="2" charset="0"/>
              </a:rPr>
              <a:t>Who is Correct?</a:t>
            </a:r>
          </a:p>
          <a:p>
            <a:pPr marL="0" indent="0">
              <a:spcBef>
                <a:spcPts val="638"/>
              </a:spcBef>
              <a:buNone/>
            </a:pPr>
            <a:r>
              <a:rPr lang="en-US" sz="2600" dirty="0">
                <a:solidFill>
                  <a:schemeClr val="tx1"/>
                </a:solidFill>
                <a:latin typeface="Work Sans" pitchFamily="2" charset="0"/>
              </a:rPr>
              <a:t>	</a:t>
            </a:r>
            <a:r>
              <a:rPr lang="en-US" sz="2600" b="1" dirty="0">
                <a:solidFill>
                  <a:schemeClr val="tx1"/>
                </a:solidFill>
                <a:latin typeface="Work Sans" pitchFamily="2" charset="0"/>
              </a:rPr>
              <a:t>Answer: </a:t>
            </a:r>
            <a:r>
              <a:rPr lang="en-US" sz="2600" dirty="0">
                <a:solidFill>
                  <a:schemeClr val="tx1"/>
                </a:solidFill>
                <a:latin typeface="Work Sans" pitchFamily="2" charset="0"/>
              </a:rPr>
              <a:t>Both Technician A and B</a:t>
            </a:r>
          </a:p>
        </p:txBody>
      </p:sp>
    </p:spTree>
    <p:extLst>
      <p:ext uri="{BB962C8B-B14F-4D97-AF65-F5344CB8AC3E}">
        <p14:creationId xmlns:p14="http://schemas.microsoft.com/office/powerpoint/2010/main" val="4252110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Outpu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Outputs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Common outputs are indicator lamps and solenoids.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vehicles have a transmission MIL.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hift Solenoid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Shift Solenoids</a:t>
            </a:r>
          </a:p>
        </p:txBody>
      </p:sp>
      <p:sp>
        <p:nvSpPr>
          <p:cNvPr id="3" name="Content Placeholder 2"/>
          <p:cNvSpPr txBox="1">
            <a:spLocks noGrp="1"/>
          </p:cNvSpPr>
          <p:nvPr>
            <p:ph type="body" idx="1"/>
          </p:nvPr>
        </p:nvSpPr>
        <p:spPr>
          <a:xfrm>
            <a:off x="476844" y="1524000"/>
            <a:ext cx="6762155" cy="426719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Regulate shift timing and feel.</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Controls the delivery of fluid.</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Solenoids are normally on/off and are off in the open position.</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four-speed transmission typically has two shift solenoids.</a:t>
            </a:r>
          </a:p>
        </p:txBody>
      </p:sp>
      <p:pic>
        <p:nvPicPr>
          <p:cNvPr id="9" name="Picture Placeholder 8" descr="Two parts labeled (A) and (B). The first part (A) depicts a solenoid for a transmission and their wiring harness. The second part (B) depicts an inside view of the shift solenoid. The parts are labeled as follows: valve, armature assembly, coil assembly, regulating spring, housing, and integral filters.">
            <a:extLst>
              <a:ext uri="{FF2B5EF4-FFF2-40B4-BE49-F238E27FC236}">
                <a16:creationId xmlns:a16="http://schemas.microsoft.com/office/drawing/2014/main" id="{13056827-C26A-92EA-18E3-E95B59461593}"/>
              </a:ext>
            </a:extLst>
          </p:cNvPr>
          <p:cNvPicPr>
            <a:picLocks noGrp="1" noChangeAspect="1"/>
          </p:cNvPicPr>
          <p:nvPr>
            <p:ph type="pic" sz="quarter" idx="12"/>
          </p:nvPr>
        </p:nvPicPr>
        <p:blipFill>
          <a:blip r:embed="rId3"/>
          <a:srcRect b="5589"/>
          <a:stretch/>
        </p:blipFill>
        <p:spPr>
          <a:xfrm>
            <a:off x="7600047" y="1472677"/>
            <a:ext cx="3287591" cy="454712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ressure Control Solenoid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Pressure Control Solenoids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Replaces the throttle valve cable.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Controls hydraulic pressure to clutches.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Usually called the electronic pressure control (EPC) solenoid.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are variable force or pulse width modulated.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533AF-5487-2968-CBC4-C5CC7601FD23}"/>
              </a:ext>
            </a:extLst>
          </p:cNvPr>
          <p:cNvSpPr>
            <a:spLocks noGrp="1"/>
          </p:cNvSpPr>
          <p:nvPr>
            <p:ph type="title"/>
          </p:nvPr>
        </p:nvSpPr>
        <p:spPr/>
        <p:txBody>
          <a:bodyPr/>
          <a:lstStyle/>
          <a:p>
            <a:r>
              <a:rPr lang="en-IN" dirty="0"/>
              <a:t>A) Typical PWM Solenoid B) Control or Ordered Duty Cycle</a:t>
            </a:r>
          </a:p>
        </p:txBody>
      </p:sp>
      <p:pic>
        <p:nvPicPr>
          <p:cNvPr id="9" name="Picture Placeholder 8" descr="Two illustrations labeled (A) and (B). (A) depicts a P W M solenoid on the top and (B) depicts the signal representing the control or ordered duty cycle from the computer on the bottom. (A). When a solenoid is O N, energy from the solenoid regulator valve flows toward full pressure to shift valves. When the solenoid is O F F, the energy from the solenoid regulator valve flows toward lowered pressure to shift valves and then leaves through the exhaust to the sump. (B). The duration of the solenoid signal consists of 1 cycle of about 32 hertz and when the solenoid is O N, the efficiency of the cycle is 20 percent.">
            <a:extLst>
              <a:ext uri="{FF2B5EF4-FFF2-40B4-BE49-F238E27FC236}">
                <a16:creationId xmlns:a16="http://schemas.microsoft.com/office/drawing/2014/main" id="{A203F40F-A5AC-949C-4916-C53AB4C85C60}"/>
              </a:ext>
            </a:extLst>
          </p:cNvPr>
          <p:cNvPicPr>
            <a:picLocks noGrp="1" noChangeAspect="1"/>
          </p:cNvPicPr>
          <p:nvPr>
            <p:ph type="pic" sz="quarter" idx="12"/>
          </p:nvPr>
        </p:nvPicPr>
        <p:blipFill>
          <a:blip r:embed="rId3"/>
          <a:srcRect b="5960"/>
          <a:stretch/>
        </p:blipFill>
        <p:spPr>
          <a:xfrm>
            <a:off x="3734430" y="1524000"/>
            <a:ext cx="4723141" cy="44712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TCC Solenoi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TCC Solenoid</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Controls the application, modulation, and release of the TCC.</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When the solenoid is off, fluid is exhausted and the clutch is released.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Modulating the pressure allows for smooth engagement and disengagement.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A894-3CE5-4312-94B2-1D927E4B9851}"/>
              </a:ext>
            </a:extLst>
          </p:cNvPr>
          <p:cNvSpPr>
            <a:spLocks noGrp="1"/>
          </p:cNvSpPr>
          <p:nvPr>
            <p:ph type="title"/>
          </p:nvPr>
        </p:nvSpPr>
        <p:spPr/>
        <p:txBody>
          <a:bodyPr/>
          <a:lstStyle/>
          <a:p>
            <a:r>
              <a:rPr lang="en-IN" dirty="0"/>
              <a:t>PWM Control</a:t>
            </a:r>
          </a:p>
        </p:txBody>
      </p:sp>
      <p:pic>
        <p:nvPicPr>
          <p:cNvPr id="9" name="Picture Placeholder 8" descr="A P W M power control of a clutch. T C C control is connected to T C C solenoid valve, T C C fd lmt valve, and converter clutch through apply line. T C C fd lmt valve is connected to converter feed through T C C fd lmt and cooler. T C C control has an exhaust port. T C C control is connected to T C C solenoid valve through T C C signal (P W M) and T C C reg supply is fed back to T C C control. T C C solenoid valve is connected to filtered 2-3 drive.">
            <a:extLst>
              <a:ext uri="{FF2B5EF4-FFF2-40B4-BE49-F238E27FC236}">
                <a16:creationId xmlns:a16="http://schemas.microsoft.com/office/drawing/2014/main" id="{68581DE4-BBD0-8560-FE1D-1D8DA382C11D}"/>
              </a:ext>
            </a:extLst>
          </p:cNvPr>
          <p:cNvPicPr>
            <a:picLocks noGrp="1" noChangeAspect="1"/>
          </p:cNvPicPr>
          <p:nvPr>
            <p:ph type="pic" sz="quarter" idx="11"/>
          </p:nvPr>
        </p:nvPicPr>
        <p:blipFill>
          <a:blip r:embed="rId3"/>
          <a:srcRect b="6529"/>
          <a:stretch/>
        </p:blipFill>
        <p:spPr>
          <a:xfrm>
            <a:off x="3734430" y="1524000"/>
            <a:ext cx="4723141" cy="428231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Adaptive Control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Adaptive Controls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Adaptive learning allows for changes based on conditions and driver habits.</a:t>
            </a:r>
          </a:p>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Line pressure control compensates for normal wear.</a:t>
            </a:r>
          </a:p>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May compensate for changes in the engine’s performance.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Transmission Adaptive Data">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Adaptive Data</a:t>
            </a:r>
          </a:p>
        </p:txBody>
      </p:sp>
      <p:pic>
        <p:nvPicPr>
          <p:cNvPr id="9" name="Picture Placeholder 8" descr="A table with eight rows and two columns depicts the transmission data used to learn and adapt over time. The row-wise data are as follows: Row 1. Transmission fluid temperature (degree Fahrenheit), 187.35 (highlighted); Row 2. Transmission Range, Drive; Row 3. Transmission slip condition - shift event type identifier, blank; Row 4. Transmission slip condition - Total distance (m i), 20086.13; Row 5. Transmission Slip condition - Vehicle speed ( m p h), 41.63; Row 6. Turbine shaft speed ( R P M), 3666.0; Row 7. Upshift Record By Engine Request, Off; Row 8. Vehicle speed (m p h), 53.44.">
            <a:extLst>
              <a:ext uri="{FF2B5EF4-FFF2-40B4-BE49-F238E27FC236}">
                <a16:creationId xmlns:a16="http://schemas.microsoft.com/office/drawing/2014/main" id="{0BC51EA7-5B1A-2792-CEE4-D2F056A8613E}"/>
              </a:ext>
            </a:extLst>
          </p:cNvPr>
          <p:cNvPicPr>
            <a:picLocks noGrp="1" noChangeAspect="1"/>
          </p:cNvPicPr>
          <p:nvPr>
            <p:ph type="pic" sz="quarter" idx="12"/>
          </p:nvPr>
        </p:nvPicPr>
        <p:blipFill>
          <a:blip r:embed="rId3"/>
          <a:srcRect b="16245"/>
          <a:stretch/>
        </p:blipFill>
        <p:spPr>
          <a:xfrm>
            <a:off x="2081863" y="1629156"/>
            <a:ext cx="8028275" cy="405688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Limp-In Mod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Limp-In Mode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Also called fail-safe or default mode.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Allows for limited driving ability.</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Designed to prevent further damage.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lock the transmission in a particular gear or only allow park, neutral, reverse, and two gears.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Operational Mod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Operational Modes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transmissions have two selective modes—normal and power.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Normal mode operates according to shift schedules for normal operation.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Power mode allows for better acceleration and performance.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Auto mode may combine normal with power mode if the throttle is opened quickly.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Manual Shift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Manual Shifting</a:t>
            </a:r>
          </a:p>
        </p:txBody>
      </p:sp>
      <p:sp>
        <p:nvSpPr>
          <p:cNvPr id="3" name="Content Placeholder 2"/>
          <p:cNvSpPr txBox="1">
            <a:spLocks noGrp="1"/>
          </p:cNvSpPr>
          <p:nvPr>
            <p:ph type="body" idx="1"/>
          </p:nvPr>
        </p:nvSpPr>
        <p:spPr>
          <a:xfrm>
            <a:off x="476845" y="1524001"/>
            <a:ext cx="7066956" cy="2590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Allows the driver to manually shift without a clutch.</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driver moves the gear selector or a button to change gears.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Still an automatic transmission.</a:t>
            </a:r>
          </a:p>
        </p:txBody>
      </p:sp>
      <p:pic>
        <p:nvPicPr>
          <p:cNvPr id="9" name="Picture Placeholder 8" descr="An electronic shifter with the following buttons: P, R, N, D/ S, I D S, and Off.">
            <a:extLst>
              <a:ext uri="{FF2B5EF4-FFF2-40B4-BE49-F238E27FC236}">
                <a16:creationId xmlns:a16="http://schemas.microsoft.com/office/drawing/2014/main" id="{CB02F3A5-1A80-625C-41A7-F2887594E2EF}"/>
              </a:ext>
            </a:extLst>
          </p:cNvPr>
          <p:cNvPicPr>
            <a:picLocks noGrp="1" noChangeAspect="1"/>
          </p:cNvPicPr>
          <p:nvPr>
            <p:ph type="pic" sz="quarter" idx="12"/>
          </p:nvPr>
        </p:nvPicPr>
        <p:blipFill>
          <a:blip r:embed="rId3"/>
          <a:srcRect b="3841"/>
          <a:stretch/>
        </p:blipFill>
        <p:spPr>
          <a:xfrm>
            <a:off x="8164059" y="1518289"/>
            <a:ext cx="2503941" cy="450050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(2 of 2)</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Technician A says that a mass air flow sensor is a thermistor.</a:t>
            </a:r>
          </a:p>
          <a:p>
            <a:pPr marL="0" indent="0">
              <a:spcBef>
                <a:spcPts val="624"/>
              </a:spcBef>
              <a:spcAft>
                <a:spcPts val="600"/>
              </a:spcAft>
              <a:buNone/>
            </a:pPr>
            <a:r>
              <a:rPr lang="en-US" sz="2600" dirty="0">
                <a:solidFill>
                  <a:schemeClr val="tx1"/>
                </a:solidFill>
                <a:latin typeface="Work Sans" pitchFamily="2" charset="0"/>
              </a:rPr>
              <a:t>Technician B says a speed sensor may be a voltage generating sensor.</a:t>
            </a:r>
          </a:p>
          <a:p>
            <a:pPr marL="0" indent="0">
              <a:spcBef>
                <a:spcPts val="624"/>
              </a:spcBef>
              <a:spcAft>
                <a:spcPts val="600"/>
              </a:spcAft>
              <a:buNone/>
            </a:pPr>
            <a:r>
              <a:rPr lang="en-US" sz="2600" dirty="0">
                <a:solidFill>
                  <a:schemeClr val="tx1"/>
                </a:solidFill>
                <a:latin typeface="Work Sans" pitchFamily="2" charset="0"/>
              </a:rPr>
              <a:t>Who is correct?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(2 of 2)</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200"/>
              </a:spcAft>
              <a:buNone/>
            </a:pPr>
            <a:r>
              <a:rPr lang="en-US" sz="2600" dirty="0">
                <a:solidFill>
                  <a:schemeClr val="tx1"/>
                </a:solidFill>
                <a:latin typeface="Work Sans" pitchFamily="2" charset="0"/>
              </a:rPr>
              <a:t>Technician A says that a Mass air flow sensor is a thermistor.</a:t>
            </a:r>
          </a:p>
          <a:p>
            <a:pPr marL="0" indent="0">
              <a:spcBef>
                <a:spcPts val="624"/>
              </a:spcBef>
              <a:spcAft>
                <a:spcPts val="1200"/>
              </a:spcAft>
              <a:buNone/>
            </a:pPr>
            <a:r>
              <a:rPr lang="en-US" sz="2600" dirty="0">
                <a:solidFill>
                  <a:schemeClr val="tx1"/>
                </a:solidFill>
                <a:latin typeface="Work Sans" pitchFamily="2" charset="0"/>
              </a:rPr>
              <a:t>Technician B says a speed sensor may be a voltage generating sensor.</a:t>
            </a:r>
          </a:p>
          <a:p>
            <a:pPr marL="0" indent="0">
              <a:spcBef>
                <a:spcPts val="624"/>
              </a:spcBef>
              <a:spcAft>
                <a:spcPts val="1200"/>
              </a:spcAft>
              <a:buNone/>
            </a:pPr>
            <a:r>
              <a:rPr lang="en-US" sz="2600" dirty="0">
                <a:solidFill>
                  <a:schemeClr val="tx1"/>
                </a:solidFill>
                <a:latin typeface="Work Sans" pitchFamily="2" charset="0"/>
              </a:rPr>
              <a:t>Who is correct?</a:t>
            </a:r>
          </a:p>
          <a:p>
            <a:pPr marL="0" indent="0">
              <a:spcBef>
                <a:spcPts val="624"/>
              </a:spcBef>
              <a:spcAft>
                <a:spcPts val="1200"/>
              </a:spcAft>
              <a:buNone/>
            </a:pPr>
            <a:r>
              <a:rPr lang="en-US" sz="2600" b="1" dirty="0">
                <a:solidFill>
                  <a:schemeClr val="tx1"/>
                </a:solidFill>
                <a:latin typeface="Work Sans" pitchFamily="2" charset="0"/>
              </a:rPr>
              <a:t>Answer: </a:t>
            </a:r>
            <a:r>
              <a:rPr lang="en-US" sz="2600" dirty="0">
                <a:solidFill>
                  <a:schemeClr val="tx1"/>
                </a:solidFill>
                <a:latin typeface="Work Sans" pitchFamily="2" charset="0"/>
              </a:rPr>
              <a:t>Technician B only</a:t>
            </a:r>
          </a:p>
        </p:txBody>
      </p:sp>
    </p:spTree>
    <p:extLst>
      <p:ext uri="{BB962C8B-B14F-4D97-AF65-F5344CB8AC3E}">
        <p14:creationId xmlns:p14="http://schemas.microsoft.com/office/powerpoint/2010/main" val="3187018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CVT Control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CVT Controls</a:t>
            </a:r>
          </a:p>
        </p:txBody>
      </p:sp>
      <p:sp>
        <p:nvSpPr>
          <p:cNvPr id="3" name="Content Placeholder 2"/>
          <p:cNvSpPr txBox="1">
            <a:spLocks noGrp="1"/>
          </p:cNvSpPr>
          <p:nvPr>
            <p:ph type="body" idx="1"/>
          </p:nvPr>
        </p:nvSpPr>
        <p:spPr>
          <a:xfrm>
            <a:off x="476845" y="1524000"/>
            <a:ext cx="6381156" cy="419099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38"/>
              </a:spcBef>
              <a:buSzPct val="100000"/>
              <a:buFont typeface="Arial" panose="020B0604020202020204" pitchFamily="34" charset="0"/>
              <a:buChar char="•"/>
            </a:pPr>
            <a:r>
              <a:rPr lang="en-US" sz="2600" dirty="0">
                <a:solidFill>
                  <a:schemeClr val="tx1"/>
                </a:solidFill>
                <a:latin typeface="Work Sans" pitchFamily="2" charset="0"/>
              </a:rPr>
              <a:t>Pulley ratios are controlled by the TCM.</a:t>
            </a:r>
          </a:p>
          <a:p>
            <a:pPr marL="457200" indent="-457200">
              <a:spcBef>
                <a:spcPts val="638"/>
              </a:spcBef>
              <a:buSzPct val="100000"/>
              <a:buFont typeface="Arial" panose="020B0604020202020204" pitchFamily="34" charset="0"/>
              <a:buChar char="•"/>
            </a:pPr>
            <a:r>
              <a:rPr lang="en-US" sz="2600" dirty="0">
                <a:solidFill>
                  <a:schemeClr val="tx1"/>
                </a:solidFill>
                <a:latin typeface="Work Sans" pitchFamily="2" charset="0"/>
              </a:rPr>
              <a:t>The start clutch is designed to slip just enough to get the vehicle moving.</a:t>
            </a:r>
          </a:p>
          <a:p>
            <a:pPr marL="457200" indent="-457200">
              <a:spcBef>
                <a:spcPts val="638"/>
              </a:spcBef>
              <a:buSzPct val="100000"/>
              <a:buFont typeface="Arial" panose="020B0604020202020204" pitchFamily="34" charset="0"/>
              <a:buChar char="•"/>
            </a:pPr>
            <a:r>
              <a:rPr lang="en-US" sz="2600" dirty="0">
                <a:solidFill>
                  <a:schemeClr val="tx1"/>
                </a:solidFill>
                <a:latin typeface="Work Sans" pitchFamily="2" charset="0"/>
              </a:rPr>
              <a:t>Pulley ratios are changed to reduce engine speed and maintain ideal engine temperatures.</a:t>
            </a:r>
          </a:p>
        </p:txBody>
      </p:sp>
      <p:pic>
        <p:nvPicPr>
          <p:cNvPr id="9" name="Picture Placeholder 8" descr="A C V T assembly. The components are labeled as follows: drive pulley shaft, steel belt, forward clutch, start clutch, flywheel, input shaft, driven pulley shaft, secondary driven gear, final drive gear, and differential assembly. In the C V T, the pressure from the steel belt moves to the drive pulley shaft, driven pulley shaft, and further flows toward the start clutch. It further moves toward differential assembly through secondary driven gear.">
            <a:extLst>
              <a:ext uri="{FF2B5EF4-FFF2-40B4-BE49-F238E27FC236}">
                <a16:creationId xmlns:a16="http://schemas.microsoft.com/office/drawing/2014/main" id="{C6A59FBA-404B-E69D-DDCC-09E6BAAB6D34}"/>
              </a:ext>
            </a:extLst>
          </p:cNvPr>
          <p:cNvPicPr>
            <a:picLocks noGrp="1" noChangeAspect="1"/>
          </p:cNvPicPr>
          <p:nvPr>
            <p:ph type="pic" sz="quarter" idx="12"/>
          </p:nvPr>
        </p:nvPicPr>
        <p:blipFill>
          <a:blip r:embed="rId3"/>
          <a:srcRect b="4073"/>
          <a:stretch/>
        </p:blipFill>
        <p:spPr>
          <a:xfrm>
            <a:off x="7543800" y="1745345"/>
            <a:ext cx="3429000" cy="419387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Hybrid Transmission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Hybrid Transmissions (1 of 2)</a:t>
            </a:r>
          </a:p>
        </p:txBody>
      </p:sp>
      <p:sp>
        <p:nvSpPr>
          <p:cNvPr id="3" name="Content Placeholder 2"/>
          <p:cNvSpPr txBox="1">
            <a:spLocks noGrp="1"/>
          </p:cNvSpPr>
          <p:nvPr>
            <p:ph type="body" idx="1"/>
          </p:nvPr>
        </p:nvSpPr>
        <p:spPr>
          <a:xfrm>
            <a:off x="476845" y="1524001"/>
            <a:ext cx="5390556" cy="426719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800" b="1" i="0" u="none" strike="noStrike" baseline="0" dirty="0">
                <a:solidFill>
                  <a:schemeClr val="accent1"/>
                </a:solidFill>
                <a:latin typeface="Work Sans" pitchFamily="2" charset="0"/>
              </a:rPr>
              <a:t>42.02 Explain hybrid transmission operation.</a:t>
            </a:r>
          </a:p>
          <a:p>
            <a:pPr marL="355600" indent="-355600">
              <a:spcBef>
                <a:spcPts val="624"/>
              </a:spcBef>
              <a:spcAft>
                <a:spcPts val="600"/>
              </a:spcAft>
              <a:buSzPct val="100000"/>
              <a:buFont typeface="Arial" panose="020B0604020202020204" pitchFamily="34" charset="0"/>
              <a:buChar char="•"/>
            </a:pPr>
            <a:r>
              <a:rPr lang="en-US" sz="2800" dirty="0">
                <a:solidFill>
                  <a:schemeClr val="accent1"/>
                </a:solidFill>
                <a:latin typeface="Work Sans" pitchFamily="2" charset="0"/>
              </a:rPr>
              <a:t>May be fitted with electric motors to propel the vehicle and provide a constantly variable ratio.</a:t>
            </a:r>
          </a:p>
        </p:txBody>
      </p:sp>
      <p:pic>
        <p:nvPicPr>
          <p:cNvPr id="10" name="Picture Placeholder 9" descr="A power split transaxle with an electric motor and planetary gears arranged in it. The parts are labeled as follows: sun gear, planetary carrier, ring gear, differential gear, drive chain, engine, M G 1, and M G 2. The text above the power split transaxle reads hybrid transmission. The circuit includes M G 1, M G 2, drive chain, differential gear, sun gear, ring gear, and planetary carrier, all of which are enclosed in a dotted line representing the hybrid transmission.">
            <a:extLst>
              <a:ext uri="{FF2B5EF4-FFF2-40B4-BE49-F238E27FC236}">
                <a16:creationId xmlns:a16="http://schemas.microsoft.com/office/drawing/2014/main" id="{F4209B88-875B-EAA1-733B-6F79D1BE73BB}"/>
              </a:ext>
            </a:extLst>
          </p:cNvPr>
          <p:cNvPicPr>
            <a:picLocks noGrp="1" noChangeAspect="1"/>
          </p:cNvPicPr>
          <p:nvPr>
            <p:ph type="pic" sz="quarter" idx="12"/>
          </p:nvPr>
        </p:nvPicPr>
        <p:blipFill>
          <a:blip r:embed="rId3"/>
          <a:srcRect b="11922"/>
          <a:stretch/>
        </p:blipFill>
        <p:spPr>
          <a:xfrm>
            <a:off x="6510599" y="1935933"/>
            <a:ext cx="4881503" cy="385526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Hybrid Transmissions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Hybrid Transmissions (2 of 2)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Honda—uses a modified 5-speed or CVT.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Toyota—power-split device acts as a CVT.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4WD—may use an electric rear drive unit.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Ford—electronically controlled CVTs.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GM Two-mode—uses three planetary gearsets and two electric motors.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Basic EAT Test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EAT Testing</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42.03 Conduct preliminary checks on the EAT systems and determine needed repairs or service.</a:t>
            </a:r>
            <a:endParaRPr lang="en-US" sz="2600" dirty="0">
              <a:solidFill>
                <a:schemeClr val="tx1"/>
              </a:solidFill>
              <a:latin typeface="Work Sans" pitchFamily="2" charset="0"/>
            </a:endParaRP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Determine if problem is with the transmission or the electronics.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Perform preliminary inspection and checks.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Connect a scan tool to check for codes.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Manually activate solenoids.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Remember engine problems can and will cause the transmission to act abnormally.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can Tool Check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Scan Tool Checks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Observe the MIL.</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Retrieve DTCs.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Monitor serial data.</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Compare observed data to manufacturer’s specifications.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can Tool Data">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solidFill>
                  <a:schemeClr val="tx1"/>
                </a:solidFill>
              </a:rPr>
              <a:t>Engine-Related Scan Tool Data</a:t>
            </a:r>
          </a:p>
        </p:txBody>
      </p:sp>
      <p:pic>
        <p:nvPicPr>
          <p:cNvPr id="9" name="Picture Placeholder 8" descr="A screenshot of a report from a scan tool depicts some of the engine-related data. The header reads, Honda/ Acura 1983-2012. The text below reads as follows; Line 1. A T Data in the middle between asterisk symbols. Line 2. D 3 Indicator blank space OFF; Line 3. Distance Travelled Since Battery Connected ( m i) blank space 26643; Line 4. E C T Sensor (V) blank space 0.82; Line 5. Engine Coolant Temperature (degree Fahrenheit) blank space 172.4; Line 6. E T R (%) blank space 92; Line 7. Forward Switch ( A T P F W D) blank space OFF; Line 8. Gear ratio blank space 0.000; Line 9. Highest D position blank space OFF; Line 10. Input shaft (MainShaft) Speed (m p h) blank space 0; Line 11. Input shaft (Mainshaft) Speed (R P M) blank space 607. Four blank check boxes are at the bottom numbered 1, 2, 3, and 4.">
            <a:extLst>
              <a:ext uri="{FF2B5EF4-FFF2-40B4-BE49-F238E27FC236}">
                <a16:creationId xmlns:a16="http://schemas.microsoft.com/office/drawing/2014/main" id="{E50485CF-E659-7C48-F813-C49F7B0D5B97}"/>
              </a:ext>
            </a:extLst>
          </p:cNvPr>
          <p:cNvPicPr>
            <a:picLocks noGrp="1" noChangeAspect="1"/>
          </p:cNvPicPr>
          <p:nvPr>
            <p:ph type="pic" sz="quarter" idx="12"/>
          </p:nvPr>
        </p:nvPicPr>
        <p:blipFill>
          <a:blip r:embed="rId3"/>
          <a:srcRect b="11630"/>
          <a:stretch/>
        </p:blipFill>
        <p:spPr>
          <a:xfrm>
            <a:off x="3075399" y="1570970"/>
            <a:ext cx="6041203" cy="444883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Specific Data</a:t>
            </a:r>
          </a:p>
        </p:txBody>
      </p:sp>
      <p:pic>
        <p:nvPicPr>
          <p:cNvPr id="9" name="Picture Placeholder 8" descr="A table with eight rows and two columns depicts the other transmission-specific data. The row-wise data are as follows: Row 1. Oil Pressure Switch 4, On (highlighted); Row 2. ON/OFF Solenoid, Off; Row 3. Output Shaft Speed ( R P M), 2536.75; Row 4. Paddle Shift - Down, Off; Row 5. Paddle Shift - Up, Off; Row 6. Pressure Control Solenoid - Commanded (p s i), 28.130; Row 7. Pressure control solenoid current - commanded ( m A), 760; Row 8. Pressure control solenoid current - measured (m A), 760.">
            <a:extLst>
              <a:ext uri="{FF2B5EF4-FFF2-40B4-BE49-F238E27FC236}">
                <a16:creationId xmlns:a16="http://schemas.microsoft.com/office/drawing/2014/main" id="{E04DB6B3-D24F-8158-A394-046D75B412C9}"/>
              </a:ext>
            </a:extLst>
          </p:cNvPr>
          <p:cNvPicPr>
            <a:picLocks noGrp="1" noChangeAspect="1"/>
          </p:cNvPicPr>
          <p:nvPr>
            <p:ph type="pic" sz="quarter" idx="12"/>
          </p:nvPr>
        </p:nvPicPr>
        <p:blipFill>
          <a:blip r:embed="rId3"/>
          <a:srcRect b="14850"/>
          <a:stretch/>
        </p:blipFill>
        <p:spPr>
          <a:xfrm>
            <a:off x="2533657" y="2014356"/>
            <a:ext cx="7124687" cy="3700644"/>
          </a:xfrm>
          <a:prstGeom prst="rect">
            <a:avLst/>
          </a:prstGeom>
        </p:spPr>
      </p:pic>
    </p:spTree>
    <p:extLst>
      <p:ext uri="{BB962C8B-B14F-4D97-AF65-F5344CB8AC3E}">
        <p14:creationId xmlns:p14="http://schemas.microsoft.com/office/powerpoint/2010/main" val="859734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Preliminary EAT Check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Preliminary EAT Checks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Road test with scan tool.</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Monitor gear changes and inputs such as:</a:t>
            </a:r>
          </a:p>
          <a:p>
            <a:pPr marL="723900" lvl="1" indent="-368300">
              <a:spcBef>
                <a:spcPts val="624"/>
              </a:spcBef>
              <a:spcAft>
                <a:spcPts val="600"/>
              </a:spcAft>
              <a:buSzPct val="100000"/>
              <a:buFont typeface="Arial" panose="020B0604020202020204" pitchFamily="34" charset="0"/>
              <a:buChar char="–"/>
              <a:tabLst>
                <a:tab pos="901700" algn="l"/>
              </a:tabLst>
            </a:pPr>
            <a:r>
              <a:rPr lang="en-US" dirty="0">
                <a:solidFill>
                  <a:schemeClr val="tx1"/>
                </a:solidFill>
                <a:latin typeface="Work Sans" pitchFamily="2" charset="0"/>
              </a:rPr>
              <a:t>Engine speed	</a:t>
            </a:r>
          </a:p>
          <a:p>
            <a:pPr marL="723900" lvl="1" indent="-368300">
              <a:spcBef>
                <a:spcPts val="624"/>
              </a:spcBef>
              <a:spcAft>
                <a:spcPts val="600"/>
              </a:spcAft>
              <a:buSzPct val="100000"/>
              <a:buFont typeface="Arial" panose="020B0604020202020204" pitchFamily="34" charset="0"/>
              <a:buChar char="–"/>
              <a:tabLst>
                <a:tab pos="901700" algn="l"/>
              </a:tabLst>
            </a:pPr>
            <a:r>
              <a:rPr lang="en-US" dirty="0">
                <a:solidFill>
                  <a:schemeClr val="tx1"/>
                </a:solidFill>
                <a:latin typeface="Work Sans" pitchFamily="2" charset="0"/>
                <a:cs typeface="Arial"/>
              </a:rPr>
              <a:t>Vehicle speed</a:t>
            </a:r>
          </a:p>
          <a:p>
            <a:pPr marL="723900" lvl="1" indent="-368300">
              <a:spcBef>
                <a:spcPts val="624"/>
              </a:spcBef>
              <a:spcAft>
                <a:spcPts val="600"/>
              </a:spcAft>
              <a:buSzPct val="100000"/>
              <a:buFont typeface="Arial" panose="020B0604020202020204" pitchFamily="34" charset="0"/>
              <a:buChar char="–"/>
              <a:tabLst>
                <a:tab pos="901700" algn="l"/>
              </a:tabLst>
            </a:pPr>
            <a:r>
              <a:rPr lang="en-US" dirty="0">
                <a:solidFill>
                  <a:schemeClr val="tx1"/>
                </a:solidFill>
                <a:latin typeface="Work Sans" pitchFamily="2" charset="0"/>
                <a:cs typeface="Arial"/>
              </a:rPr>
              <a:t>Manifold vacuum</a:t>
            </a:r>
          </a:p>
          <a:p>
            <a:pPr marL="723900" lvl="1" indent="-368300">
              <a:spcBef>
                <a:spcPts val="624"/>
              </a:spcBef>
              <a:spcAft>
                <a:spcPts val="600"/>
              </a:spcAft>
              <a:buSzPct val="100000"/>
              <a:buFont typeface="Arial" panose="020B0604020202020204" pitchFamily="34" charset="0"/>
              <a:buChar char="–"/>
              <a:tabLst>
                <a:tab pos="901700" algn="l"/>
              </a:tabLst>
            </a:pPr>
            <a:r>
              <a:rPr lang="en-US" dirty="0">
                <a:solidFill>
                  <a:schemeClr val="tx1"/>
                </a:solidFill>
                <a:latin typeface="Work Sans" pitchFamily="2" charset="0"/>
                <a:cs typeface="Arial"/>
              </a:rPr>
              <a:t>Operating gear</a:t>
            </a:r>
          </a:p>
          <a:p>
            <a:pPr marL="723900" lvl="1" indent="-368300">
              <a:spcBef>
                <a:spcPts val="624"/>
              </a:spcBef>
              <a:spcAft>
                <a:spcPts val="600"/>
              </a:spcAft>
              <a:buSzPct val="100000"/>
              <a:buFont typeface="Arial" panose="020B0604020202020204" pitchFamily="34" charset="0"/>
              <a:buChar char="–"/>
              <a:tabLst>
                <a:tab pos="901700" algn="l"/>
              </a:tabLst>
            </a:pPr>
            <a:r>
              <a:rPr lang="en-US" dirty="0">
                <a:solidFill>
                  <a:schemeClr val="tx1"/>
                </a:solidFill>
                <a:latin typeface="Work Sans" pitchFamily="2" charset="0"/>
                <a:cs typeface="Arial"/>
              </a:rPr>
              <a:t>Time required to shift gears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Electronic Defaults">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Electronic Defaults</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Refer to the service manual for default operation information.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go into default or limp-in mode if a problem that may increase wear or cause damage is detected.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Guidelines for Diagnosing EA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Guidelines for Diagnosing EATs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Battery must have least 12.6 volts.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all fuses.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all sensors and wiring.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a high impedance test light or DMM.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power, ground, and signal return wiring.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solenoids before computer replacement.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computer harness routings.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Guidelines for Diagnosing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solidFill>
                  <a:schemeClr val="accent1"/>
                </a:solidFill>
              </a:rPr>
              <a:t>Guidelines for Diagnosing EATs (2 of 2)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Guard against static discharges.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voltage drop of ground circuits.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Ignition off when making/breaking connections.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sensors when hot and cold.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wire terminal tightness and condition.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Converter Clutch&#10;Control Diagnosi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Converter Clutch Control Diagnosis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42.04 Perform converter clutch system tests and determine needed repairs or service.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Understand TCC operation and controls.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TCC engagement can be monitored with a pressure gauge while test driving.</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Engagement should feel smooth.</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Shudder or vibration may indicate TCC not applied with full pressure, applied early, out-of-round converter, or contaminated fluid.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Detailed Testing of Inpu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Detailed Testing of Inputs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42.05 Inspect, test, and replace electrical/electronic sensors.</a:t>
            </a:r>
            <a:endParaRPr lang="en-US" sz="2600" dirty="0">
              <a:solidFill>
                <a:schemeClr val="tx1"/>
              </a:solidFill>
              <a:latin typeface="Work Sans" pitchFamily="2" charset="0"/>
            </a:endParaRPr>
          </a:p>
          <a:p>
            <a:pPr marL="355600" indent="-3556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Switches</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Can be checked with an ohmmeter or test light.</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Pressure switches can be air pressure checked.</a:t>
            </a:r>
          </a:p>
          <a:p>
            <a:pPr marL="355600" indent="-3556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TP Sensor</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Can be checked with an ohmmeter or voltmeter.</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Lab scope will easily show glitches.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Detailed Testing of Inputs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Detailed Testing of Inputs (2 of 2)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MAF</a:t>
            </a:r>
          </a:p>
          <a:p>
            <a:pPr marL="723900" lvl="1" indent="-368300">
              <a:spcBef>
                <a:spcPts val="624"/>
              </a:spcBef>
              <a:spcAft>
                <a:spcPts val="600"/>
              </a:spcAft>
              <a:buSzPct val="100000"/>
            </a:pPr>
            <a:r>
              <a:rPr lang="en-US" dirty="0">
                <a:solidFill>
                  <a:schemeClr val="tx1"/>
                </a:solidFill>
                <a:latin typeface="Work Sans" pitchFamily="2" charset="0"/>
              </a:rPr>
              <a:t>Can be checked with a DMM, scan tool, or scope.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Temperature Sensors</a:t>
            </a:r>
          </a:p>
          <a:p>
            <a:pPr marL="723900" lvl="1" indent="-368300">
              <a:spcBef>
                <a:spcPts val="624"/>
              </a:spcBef>
              <a:spcAft>
                <a:spcPts val="600"/>
              </a:spcAft>
              <a:buSzPct val="100000"/>
            </a:pPr>
            <a:r>
              <a:rPr lang="en-US" dirty="0">
                <a:solidFill>
                  <a:schemeClr val="tx1"/>
                </a:solidFill>
                <a:latin typeface="Work Sans" pitchFamily="2" charset="0"/>
              </a:rPr>
              <a:t>Check with an ohmmeter.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Speed Sensors</a:t>
            </a:r>
          </a:p>
          <a:p>
            <a:pPr marL="723900" lvl="1" indent="-368300">
              <a:spcBef>
                <a:spcPts val="624"/>
              </a:spcBef>
              <a:spcAft>
                <a:spcPts val="600"/>
              </a:spcAft>
              <a:buSzPct val="100000"/>
            </a:pPr>
            <a:r>
              <a:rPr lang="en-US" dirty="0">
                <a:solidFill>
                  <a:schemeClr val="tx1"/>
                </a:solidFill>
                <a:latin typeface="Work Sans" pitchFamily="2" charset="0"/>
              </a:rPr>
              <a:t>Can be checked with a DMM, scan tool, or scope.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peed Sensor Output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Checking an ATF Temperature Sensor</a:t>
            </a:r>
          </a:p>
        </p:txBody>
      </p:sp>
      <p:pic>
        <p:nvPicPr>
          <p:cNvPr id="9" name="Picture Placeholder 8" descr="A magnified view of an A T F temperature sensor that depicts T H O1 and E 2. The table above lists test connections and specified values as follows: Row 1. Test connections, E 2 - T H O 1; specified values, 90 ohms to 156 kiloohms. Row 2. Test connections, E 2 - ground; specified values, 156 kiloohms or higher. Row 3. Test connections, T H O 1 - ground; specified values,156 kiloohms or higher.">
            <a:extLst>
              <a:ext uri="{FF2B5EF4-FFF2-40B4-BE49-F238E27FC236}">
                <a16:creationId xmlns:a16="http://schemas.microsoft.com/office/drawing/2014/main" id="{AF2077BF-916D-8BF5-037C-250A4A352862}"/>
              </a:ext>
            </a:extLst>
          </p:cNvPr>
          <p:cNvPicPr>
            <a:picLocks noGrp="1" noChangeAspect="1"/>
          </p:cNvPicPr>
          <p:nvPr>
            <p:ph type="pic" sz="quarter" idx="12"/>
          </p:nvPr>
        </p:nvPicPr>
        <p:blipFill>
          <a:blip r:embed="rId3"/>
          <a:srcRect b="4277"/>
          <a:stretch/>
        </p:blipFill>
        <p:spPr>
          <a:xfrm>
            <a:off x="4489764" y="1676400"/>
            <a:ext cx="3212472" cy="415645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Detailed Testing of Actuato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Detailed Testing of Actuators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42.06 Inspect, test, and replace actuators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Determine if solenoids are case grounded or computer grounded.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Manually activate solenoids with scan tool.</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Test under light load, half, and full throttle.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shift fine under light load but not exhaust enough when pressure increases.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Testing Actuators with&#10;a Lab Scop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Testing Actuators with a Lab Scope</a:t>
            </a:r>
          </a:p>
        </p:txBody>
      </p:sp>
      <p:sp>
        <p:nvSpPr>
          <p:cNvPr id="2" name="Content Placeholder 2"/>
          <p:cNvSpPr txBox="1">
            <a:spLocks noGrp="1"/>
          </p:cNvSpPr>
          <p:nvPr>
            <p:ph type="body" idx="1"/>
          </p:nvPr>
        </p:nvSpPr>
        <p:spPr>
          <a:xfrm>
            <a:off x="476845" y="1524000"/>
            <a:ext cx="5619156" cy="403859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Testing with a lab scope allows you to watch the electrical activity of the circuit.</a:t>
            </a:r>
          </a:p>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Some actuators are pulse-width modulated, some frequency controlled, or by voltage levels.</a:t>
            </a:r>
          </a:p>
        </p:txBody>
      </p:sp>
      <p:pic>
        <p:nvPicPr>
          <p:cNvPr id="9" name="Picture Placeholder 8" descr="The on-and-off cycle of a solenoid depicts a noisy square waveform.">
            <a:extLst>
              <a:ext uri="{FF2B5EF4-FFF2-40B4-BE49-F238E27FC236}">
                <a16:creationId xmlns:a16="http://schemas.microsoft.com/office/drawing/2014/main" id="{6386ACE3-FBB6-0F11-A07F-697F2156913D}"/>
              </a:ext>
            </a:extLst>
          </p:cNvPr>
          <p:cNvPicPr>
            <a:picLocks noGrp="1" noChangeAspect="1"/>
          </p:cNvPicPr>
          <p:nvPr>
            <p:ph type="pic" sz="quarter" idx="12"/>
          </p:nvPr>
        </p:nvPicPr>
        <p:blipFill>
          <a:blip r:embed="rId3"/>
          <a:srcRect b="8847"/>
          <a:stretch/>
        </p:blipFill>
        <p:spPr>
          <a:xfrm>
            <a:off x="6172634" y="1711268"/>
            <a:ext cx="5542521" cy="343546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Testing Actuators&#10;with an Ohmmeter">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Testing Actuators with an Ohmmeter</a:t>
            </a:r>
          </a:p>
        </p:txBody>
      </p:sp>
      <p:sp>
        <p:nvSpPr>
          <p:cNvPr id="3" name="Content Placeholder 2"/>
          <p:cNvSpPr txBox="1">
            <a:spLocks noGrp="1"/>
          </p:cNvSpPr>
          <p:nvPr>
            <p:ph type="body" idx="1"/>
          </p:nvPr>
        </p:nvSpPr>
        <p:spPr>
          <a:xfrm>
            <a:off x="476845" y="1524000"/>
            <a:ext cx="6304956" cy="327659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Solenoids can be checked for resistance and opens.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circuit can be tested for shorts to ground and high resistance.</a:t>
            </a:r>
          </a:p>
        </p:txBody>
      </p:sp>
      <p:pic>
        <p:nvPicPr>
          <p:cNvPr id="9" name="Picture Placeholder 8" descr="A solenoid winding connects to the positive terminal of the ohmmeter, while the negative terminal of the ohmmeter is connected to the ground.">
            <a:extLst>
              <a:ext uri="{FF2B5EF4-FFF2-40B4-BE49-F238E27FC236}">
                <a16:creationId xmlns:a16="http://schemas.microsoft.com/office/drawing/2014/main" id="{E4B1126D-4C05-1D73-1004-5C38BFBE05A2}"/>
              </a:ext>
            </a:extLst>
          </p:cNvPr>
          <p:cNvPicPr>
            <a:picLocks noGrp="1" noChangeAspect="1"/>
          </p:cNvPicPr>
          <p:nvPr>
            <p:ph type="pic" sz="quarter" idx="12"/>
          </p:nvPr>
        </p:nvPicPr>
        <p:blipFill>
          <a:blip r:embed="rId3"/>
          <a:srcRect b="9440"/>
          <a:stretch/>
        </p:blipFill>
        <p:spPr>
          <a:xfrm>
            <a:off x="7094793" y="1676401"/>
            <a:ext cx="4106607" cy="411563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5600" indent="-355600">
              <a:spcBef>
                <a:spcPts val="0"/>
              </a:spcBef>
            </a:pPr>
            <a:r>
              <a:rPr lang="en-US" sz="2600" dirty="0">
                <a:solidFill>
                  <a:schemeClr val="tx1"/>
                </a:solidFill>
                <a:latin typeface="Work Sans" pitchFamily="2" charset="0"/>
              </a:rPr>
              <a:t>Describe the concept from this chapter that challenged you the most. Describe what made the concept difficult for you and the steps you took to improve your understanding</a:t>
            </a:r>
            <a:r>
              <a:rPr lang="en-US" dirty="0">
                <a:solidFill>
                  <a:schemeClr val="tx1"/>
                </a:solidFill>
                <a:latin typeface="Work Sans" pitchFamily="2" charset="0"/>
              </a:rPr>
              <a:t>.</a:t>
            </a:r>
            <a:endParaRPr lang="en-US" sz="2600" dirty="0">
              <a:solidFill>
                <a:schemeClr val="tx1"/>
              </a:solidFill>
              <a:latin typeface="Work Sans" pitchFamily="2" charset="0"/>
            </a:endParaRPr>
          </a:p>
          <a:p>
            <a:pPr marL="355600" indent="-355600">
              <a:spcBef>
                <a:spcPts val="0"/>
              </a:spcBef>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906</TotalTime>
  <Words>1962</Words>
  <Application>Microsoft Office PowerPoint</Application>
  <PresentationFormat>Widescreen</PresentationFormat>
  <Paragraphs>248</Paragraphs>
  <Slides>52</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Times New Roman</vt:lpstr>
      <vt:lpstr>Work Sans</vt:lpstr>
      <vt:lpstr>Theme3</vt:lpstr>
      <vt:lpstr>Automotive Technology: A Systems Approach, 8e</vt:lpstr>
      <vt:lpstr>Chapter Objectives (1 of 2)</vt:lpstr>
      <vt:lpstr>Chapter Objectives (2 of 2)</vt:lpstr>
      <vt:lpstr>Electronic Automatic Transmissions (EATs)</vt:lpstr>
      <vt:lpstr>Transmission Control Module</vt:lpstr>
      <vt:lpstr>Different Inputs, Modules, and Outputs in an EAT circuit</vt:lpstr>
      <vt:lpstr>Inputs</vt:lpstr>
      <vt:lpstr>Typical Electronically Controlled Transmission</vt:lpstr>
      <vt:lpstr>On-Off Switches</vt:lpstr>
      <vt:lpstr>Digital Transmission Range (TR) Sensor</vt:lpstr>
      <vt:lpstr>Throttle Position (TP) Sensor</vt:lpstr>
      <vt:lpstr>Mass Air Flow (MAF) Sensor</vt:lpstr>
      <vt:lpstr>Temperature Sensors (1 of 2)</vt:lpstr>
      <vt:lpstr>Temperature Sensors (2 of 2)</vt:lpstr>
      <vt:lpstr>Engine Speed</vt:lpstr>
      <vt:lpstr>Transmission Pressure Switches</vt:lpstr>
      <vt:lpstr>Transmission Pressure Switches </vt:lpstr>
      <vt:lpstr>Voltage-Generating Sensors</vt:lpstr>
      <vt:lpstr>Knowledge Check (1 of 2)</vt:lpstr>
      <vt:lpstr>Knowledge Check Answer (1 of 2)</vt:lpstr>
      <vt:lpstr>Outputs</vt:lpstr>
      <vt:lpstr>Shift Solenoids</vt:lpstr>
      <vt:lpstr>Pressure Control Solenoids</vt:lpstr>
      <vt:lpstr>A) Typical PWM Solenoid B) Control or Ordered Duty Cycle</vt:lpstr>
      <vt:lpstr>TCC Solenoid</vt:lpstr>
      <vt:lpstr>PWM Control</vt:lpstr>
      <vt:lpstr>Adaptive Controls</vt:lpstr>
      <vt:lpstr>Transmission Adaptive Data</vt:lpstr>
      <vt:lpstr>Limp-In Mode</vt:lpstr>
      <vt:lpstr>Operational Modes</vt:lpstr>
      <vt:lpstr>Manual Shifting</vt:lpstr>
      <vt:lpstr>Knowledge Check (2 of 2)</vt:lpstr>
      <vt:lpstr>Knowledge Check Answer (2 of 2)</vt:lpstr>
      <vt:lpstr>CVT Controls</vt:lpstr>
      <vt:lpstr>Hybrid Transmissions (1 of 2)</vt:lpstr>
      <vt:lpstr>Hybrid Transmissions (2 of 2) </vt:lpstr>
      <vt:lpstr>Basic EAT Testing</vt:lpstr>
      <vt:lpstr>Scan Tool Checks</vt:lpstr>
      <vt:lpstr>Engine-Related Scan Tool Data</vt:lpstr>
      <vt:lpstr>Transmission Specific Data</vt:lpstr>
      <vt:lpstr>Preliminary EAT Checks</vt:lpstr>
      <vt:lpstr>Electronic Defaults</vt:lpstr>
      <vt:lpstr>Guidelines for Diagnosing EATs (1 of 2)</vt:lpstr>
      <vt:lpstr>Guidelines for Diagnosing EATs (2 of 2) </vt:lpstr>
      <vt:lpstr>Converter Clutch Control Diagnosis</vt:lpstr>
      <vt:lpstr>Detailed Testing of Inputs (1 of 2)</vt:lpstr>
      <vt:lpstr>Detailed Testing of Inputs (2 of 2) </vt:lpstr>
      <vt:lpstr>Checking an ATF Temperature Sensor</vt:lpstr>
      <vt:lpstr>Detailed Testing of Actuators</vt:lpstr>
      <vt:lpstr>Testing Actuators with a Lab Scope</vt:lpstr>
      <vt:lpstr>Testing Actuators with an Ohmmeter</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42</dc:title>
  <dc:creator>Radhika.M</dc:creator>
  <cp:lastModifiedBy>DiCaterino, Kara</cp:lastModifiedBy>
  <cp:revision>115</cp:revision>
  <dcterms:modified xsi:type="dcterms:W3CDTF">2024-12-04T16:21:16Z</dcterms:modified>
</cp:coreProperties>
</file>