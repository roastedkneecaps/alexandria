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9"/>
  </p:notesMasterIdLst>
  <p:sldIdLst>
    <p:sldId id="256" r:id="rId2"/>
    <p:sldId id="257" r:id="rId3"/>
    <p:sldId id="433" r:id="rId4"/>
    <p:sldId id="259" r:id="rId5"/>
    <p:sldId id="464" r:id="rId6"/>
    <p:sldId id="434" r:id="rId7"/>
    <p:sldId id="436" r:id="rId8"/>
    <p:sldId id="472" r:id="rId9"/>
    <p:sldId id="473" r:id="rId10"/>
    <p:sldId id="465" r:id="rId11"/>
    <p:sldId id="467" r:id="rId12"/>
    <p:sldId id="466" r:id="rId13"/>
    <p:sldId id="468" r:id="rId14"/>
    <p:sldId id="437" r:id="rId15"/>
    <p:sldId id="276" r:id="rId16"/>
    <p:sldId id="438" r:id="rId17"/>
    <p:sldId id="439" r:id="rId18"/>
    <p:sldId id="440" r:id="rId19"/>
    <p:sldId id="441" r:id="rId20"/>
    <p:sldId id="442" r:id="rId21"/>
    <p:sldId id="443" r:id="rId22"/>
    <p:sldId id="444" r:id="rId23"/>
    <p:sldId id="469" r:id="rId24"/>
    <p:sldId id="445" r:id="rId25"/>
    <p:sldId id="446" r:id="rId26"/>
    <p:sldId id="448" r:id="rId27"/>
    <p:sldId id="447" r:id="rId28"/>
    <p:sldId id="470" r:id="rId29"/>
    <p:sldId id="449" r:id="rId30"/>
    <p:sldId id="284" r:id="rId31"/>
    <p:sldId id="285" r:id="rId32"/>
    <p:sldId id="450" r:id="rId33"/>
    <p:sldId id="451" r:id="rId34"/>
    <p:sldId id="452" r:id="rId35"/>
    <p:sldId id="453" r:id="rId36"/>
    <p:sldId id="454" r:id="rId37"/>
    <p:sldId id="455" r:id="rId38"/>
    <p:sldId id="471" r:id="rId39"/>
    <p:sldId id="456" r:id="rId40"/>
    <p:sldId id="457" r:id="rId41"/>
    <p:sldId id="458" r:id="rId42"/>
    <p:sldId id="474" r:id="rId43"/>
    <p:sldId id="460" r:id="rId44"/>
    <p:sldId id="461" r:id="rId45"/>
    <p:sldId id="462" r:id="rId46"/>
    <p:sldId id="463" r:id="rId47"/>
    <p:sldId id="301" r:id="rId48"/>
  </p:sldIdLst>
  <p:sldSz cx="12192000" cy="6858000"/>
  <p:notesSz cx="6858000" cy="9144000"/>
  <p:embeddedFontLst>
    <p:embeddedFont>
      <p:font typeface="Work Sans" pitchFamily="2" charset="0"/>
      <p:regular r:id="rId50"/>
      <p:bold r:id="rId51"/>
      <p:italic r:id="rId52"/>
      <p:boldItalic r:id="rId5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8"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29" clrIdx="1">
    <p:extLst>
      <p:ext uri="{19B8F6BF-5375-455C-9EA6-DF929625EA0E}">
        <p15:presenceInfo xmlns:p15="http://schemas.microsoft.com/office/powerpoint/2012/main" userId="6637e9e8b0383d0f" providerId="Windows Live"/>
      </p:ext>
    </p:extLst>
  </p:cmAuthor>
  <p:cmAuthor id="2" name="Paul Kelley" initials="PK [2]" lastIdx="4" clrIdx="2">
    <p:extLst>
      <p:ext uri="{19B8F6BF-5375-455C-9EA6-DF929625EA0E}">
        <p15:presenceInfo xmlns:p15="http://schemas.microsoft.com/office/powerpoint/2012/main" userId="782a4b9ae5033047" providerId="Windows Live"/>
      </p:ext>
    </p:extLst>
  </p:cmAuthor>
  <p:cmAuthor id="3" name="CE" initials="CE" lastIdx="1" clrIdx="3">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0" autoAdjust="0"/>
    <p:restoredTop sz="86091" autoAdjust="0"/>
  </p:normalViewPr>
  <p:slideViewPr>
    <p:cSldViewPr snapToGrid="0">
      <p:cViewPr varScale="1">
        <p:scale>
          <a:sx n="92" d="100"/>
          <a:sy n="92" d="100"/>
        </p:scale>
        <p:origin x="450" y="96"/>
      </p:cViewPr>
      <p:guideLst>
        <p:guide orient="horz" pos="2160"/>
        <p:guide pos="3840"/>
      </p:guideLst>
    </p:cSldViewPr>
  </p:slideViewPr>
  <p:outlineViewPr>
    <p:cViewPr>
      <p:scale>
        <a:sx n="33" d="100"/>
        <a:sy n="33" d="100"/>
      </p:scale>
      <p:origin x="0" y="-53544"/>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customschemas.google.com/relationships/presentationmetadata" Target="metadata"/><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 Id="rId6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389879359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extLst>
      <p:ext uri="{BB962C8B-B14F-4D97-AF65-F5344CB8AC3E}">
        <p14:creationId xmlns:p14="http://schemas.microsoft.com/office/powerpoint/2010/main" val="31462588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extLst>
      <p:ext uri="{BB962C8B-B14F-4D97-AF65-F5344CB8AC3E}">
        <p14:creationId xmlns:p14="http://schemas.microsoft.com/office/powerpoint/2010/main" val="3933959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extLst>
      <p:ext uri="{BB962C8B-B14F-4D97-AF65-F5344CB8AC3E}">
        <p14:creationId xmlns:p14="http://schemas.microsoft.com/office/powerpoint/2010/main" val="14386201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51291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8555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003879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17550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637828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9</a:t>
            </a:fld>
            <a:endParaRPr/>
          </a:p>
        </p:txBody>
      </p:sp>
    </p:spTree>
    <p:extLst>
      <p:ext uri="{BB962C8B-B14F-4D97-AF65-F5344CB8AC3E}">
        <p14:creationId xmlns:p14="http://schemas.microsoft.com/office/powerpoint/2010/main" val="25209529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1904030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19888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78796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98684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533682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46294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2528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1092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200658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2500164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83403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4821211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976639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139194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86637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4963227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4091059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7388584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235234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9406477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a:p>
        </p:txBody>
      </p:sp>
    </p:spTree>
    <p:extLst>
      <p:ext uri="{BB962C8B-B14F-4D97-AF65-F5344CB8AC3E}">
        <p14:creationId xmlns:p14="http://schemas.microsoft.com/office/powerpoint/2010/main" val="347678159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a:p>
        </p:txBody>
      </p:sp>
    </p:spTree>
    <p:extLst>
      <p:ext uri="{BB962C8B-B14F-4D97-AF65-F5344CB8AC3E}">
        <p14:creationId xmlns:p14="http://schemas.microsoft.com/office/powerpoint/2010/main" val="34193435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4819132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049525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43236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283394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9755485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4530601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80189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807339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971121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7371425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600014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069647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2097414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98553859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Tree>
    <p:extLst>
      <p:ext uri="{BB962C8B-B14F-4D97-AF65-F5344CB8AC3E}">
        <p14:creationId xmlns:p14="http://schemas.microsoft.com/office/powerpoint/2010/main" val="32673383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0" y="1168663"/>
            <a:ext cx="6104302"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48"/>
          <p:cNvSpPr txBox="1">
            <a:spLocks noGrp="1"/>
          </p:cNvSpPr>
          <p:nvPr>
            <p:ph type="subTitle" idx="1"/>
          </p:nvPr>
        </p:nvSpPr>
        <p:spPr>
          <a:xfrm>
            <a:off x="5646420" y="3809720"/>
            <a:ext cx="6104302"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1000"/>
              </a:spcBef>
              <a:spcAft>
                <a:spcPts val="0"/>
              </a:spcAft>
              <a:buSzPts val="3200"/>
              <a:buNone/>
              <a:defRPr sz="32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9" name="Google Shape;19;p48"/>
          <p:cNvSpPr>
            <a:spLocks noGrp="1"/>
          </p:cNvSpPr>
          <p:nvPr>
            <p:ph type="pic" idx="2"/>
          </p:nvPr>
        </p:nvSpPr>
        <p:spPr>
          <a:xfrm>
            <a:off x="475250" y="808037"/>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3" name="Content Placeholder 2">
            <a:extLst>
              <a:ext uri="{FF2B5EF4-FFF2-40B4-BE49-F238E27FC236}">
                <a16:creationId xmlns:a16="http://schemas.microsoft.com/office/drawing/2014/main" id="{EF930226-C58C-A8AC-6E22-678EE35C7657}"/>
              </a:ext>
            </a:extLst>
          </p:cNvPr>
          <p:cNvSpPr>
            <a:spLocks noGrp="1"/>
          </p:cNvSpPr>
          <p:nvPr>
            <p:ph sz="quarter" idx="10"/>
          </p:nvPr>
        </p:nvSpPr>
        <p:spPr>
          <a:xfrm>
            <a:off x="2003425" y="6373813"/>
            <a:ext cx="9426575" cy="366712"/>
          </a:xfrm>
        </p:spPr>
        <p:txBody>
          <a:bodyPr/>
          <a:lstStyle>
            <a:lvl1pPr marL="76200" indent="0">
              <a:lnSpc>
                <a:spcPct val="100000"/>
              </a:lnSpc>
              <a:buNone/>
              <a:defRPr>
                <a:solidFill>
                  <a:schemeClr val="bg1"/>
                </a:solidFill>
              </a:defRPr>
            </a:lvl1pPr>
            <a:lvl2pPr marL="533400" indent="0">
              <a:lnSpc>
                <a:spcPct val="100000"/>
              </a:lnSpc>
              <a:buNone/>
              <a:defRPr>
                <a:solidFill>
                  <a:schemeClr val="bg1"/>
                </a:solidFill>
              </a:defRPr>
            </a:lvl2pPr>
            <a:lvl3pPr marL="1021081" indent="0">
              <a:lnSpc>
                <a:spcPct val="100000"/>
              </a:lnSpc>
              <a:buNone/>
              <a:defRPr>
                <a:solidFill>
                  <a:schemeClr val="bg1"/>
                </a:solidFill>
              </a:defRPr>
            </a:lvl3pPr>
            <a:lvl4pPr marL="1447800" indent="0">
              <a:lnSpc>
                <a:spcPct val="100000"/>
              </a:lnSpc>
              <a:buNone/>
              <a:defRPr>
                <a:solidFill>
                  <a:schemeClr val="bg1"/>
                </a:solidFill>
              </a:defRPr>
            </a:lvl4pPr>
            <a:lvl5pPr marL="1854200" indent="0">
              <a:lnSpc>
                <a:spcPct val="100000"/>
              </a:lnSpc>
              <a:buNone/>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4"/>
            <a:ext cx="11241915" cy="4613339"/>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893541"/>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49"/>
          <p:cNvSpPr txBox="1">
            <a:spLocks noGrp="1"/>
          </p:cNvSpPr>
          <p:nvPr>
            <p:ph type="body" idx="1" hasCustomPrompt="1"/>
          </p:nvPr>
        </p:nvSpPr>
        <p:spPr>
          <a:xfrm>
            <a:off x="476843" y="1563625"/>
            <a:ext cx="11241915" cy="1865376"/>
          </a:xfrm>
          <a:prstGeom prst="rect">
            <a:avLst/>
          </a:prstGeom>
          <a:noFill/>
          <a:ln>
            <a:noFill/>
          </a:ln>
        </p:spPr>
        <p:txBody>
          <a:bodyPr spcFirstLastPara="1" wrap="square" lIns="91425" tIns="45700" rIns="91425" bIns="45700" anchor="t" anchorCtr="0">
            <a:noAutofit/>
          </a:bodyPr>
          <a:lstStyle>
            <a:lvl1pPr marL="355600" lvl="0" indent="-355600" algn="l">
              <a:lnSpc>
                <a:spcPct val="100000"/>
              </a:lnSpc>
              <a:spcBef>
                <a:spcPts val="624"/>
              </a:spcBef>
              <a:spcAft>
                <a:spcPts val="0"/>
              </a:spcAft>
              <a:buSzPts val="2800"/>
              <a:buChar char="•"/>
              <a:defRPr sz="2600"/>
            </a:lvl1pPr>
            <a:lvl2pPr marL="722313" lvl="1" indent="-366713" algn="l">
              <a:lnSpc>
                <a:spcPct val="100000"/>
              </a:lnSpc>
              <a:spcBef>
                <a:spcPts val="624"/>
              </a:spcBef>
              <a:spcAft>
                <a:spcPts val="0"/>
              </a:spcAft>
              <a:buSzPts val="2600"/>
              <a:buChar char="−"/>
              <a:defRPr sz="2400" b="0"/>
            </a:lvl2pPr>
            <a:lvl3pPr marL="1077913" lvl="2" indent="-355600" algn="l">
              <a:lnSpc>
                <a:spcPct val="100000"/>
              </a:lnSpc>
              <a:spcBef>
                <a:spcPts val="624"/>
              </a:spcBef>
              <a:spcAft>
                <a:spcPts val="0"/>
              </a:spcAft>
              <a:buSzPts val="192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r>
              <a:rPr lang="en-IN"/>
              <a:t> </a:t>
            </a:r>
          </a:p>
          <a:p>
            <a:pPr lvl="1"/>
            <a:r>
              <a:rPr lang="en-IN"/>
              <a:t> </a:t>
            </a:r>
          </a:p>
          <a:p>
            <a:pPr lvl="2"/>
            <a:r>
              <a:rPr lang="en-IN"/>
              <a:t> </a:t>
            </a:r>
            <a:endParaRPr/>
          </a:p>
        </p:txBody>
      </p:sp>
      <p:sp>
        <p:nvSpPr>
          <p:cNvPr id="3" name="Content Placeholder 2">
            <a:extLst>
              <a:ext uri="{FF2B5EF4-FFF2-40B4-BE49-F238E27FC236}">
                <a16:creationId xmlns:a16="http://schemas.microsoft.com/office/drawing/2014/main" id="{0CFE3635-66E9-C789-1EF0-ED420366B899}"/>
              </a:ext>
            </a:extLst>
          </p:cNvPr>
          <p:cNvSpPr>
            <a:spLocks noGrp="1"/>
          </p:cNvSpPr>
          <p:nvPr>
            <p:ph sz="quarter" idx="10"/>
          </p:nvPr>
        </p:nvSpPr>
        <p:spPr>
          <a:xfrm>
            <a:off x="476250" y="3570288"/>
            <a:ext cx="4230688" cy="5207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0478413D-9185-0E68-752C-B0A299F7E78D}"/>
              </a:ext>
            </a:extLst>
          </p:cNvPr>
          <p:cNvSpPr>
            <a:spLocks noGrp="1"/>
          </p:cNvSpPr>
          <p:nvPr>
            <p:ph sz="quarter" idx="11"/>
          </p:nvPr>
        </p:nvSpPr>
        <p:spPr>
          <a:xfrm>
            <a:off x="476250" y="4232275"/>
            <a:ext cx="4230688" cy="68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A96DB1D7-CE94-77E7-D1F0-178F755F8E15}"/>
              </a:ext>
            </a:extLst>
          </p:cNvPr>
          <p:cNvSpPr>
            <a:spLocks noGrp="1"/>
          </p:cNvSpPr>
          <p:nvPr>
            <p:ph type="pic" sz="quarter" idx="12"/>
          </p:nvPr>
        </p:nvSpPr>
        <p:spPr>
          <a:xfrm>
            <a:off x="4899025" y="3625850"/>
            <a:ext cx="923925" cy="1292225"/>
          </a:xfrm>
        </p:spPr>
        <p:txBody>
          <a:bodyPr/>
          <a:lstStyle/>
          <a:p>
            <a:endParaRPr lang="en-IN"/>
          </a:p>
        </p:txBody>
      </p:sp>
      <p:sp>
        <p:nvSpPr>
          <p:cNvPr id="9" name="Picture Placeholder 8">
            <a:extLst>
              <a:ext uri="{FF2B5EF4-FFF2-40B4-BE49-F238E27FC236}">
                <a16:creationId xmlns:a16="http://schemas.microsoft.com/office/drawing/2014/main" id="{23EBD4FE-6624-4716-827A-42825D801B6B}"/>
              </a:ext>
            </a:extLst>
          </p:cNvPr>
          <p:cNvSpPr>
            <a:spLocks noGrp="1"/>
          </p:cNvSpPr>
          <p:nvPr>
            <p:ph type="pic" sz="quarter" idx="13"/>
          </p:nvPr>
        </p:nvSpPr>
        <p:spPr>
          <a:xfrm>
            <a:off x="6015038" y="3625850"/>
            <a:ext cx="1058862" cy="1292225"/>
          </a:xfrm>
        </p:spPr>
        <p:txBody>
          <a:bodyPr/>
          <a:lstStyle/>
          <a:p>
            <a:endParaRPr lang="en-IN"/>
          </a:p>
        </p:txBody>
      </p:sp>
    </p:spTree>
    <p:extLst>
      <p:ext uri="{BB962C8B-B14F-4D97-AF65-F5344CB8AC3E}">
        <p14:creationId xmlns:p14="http://schemas.microsoft.com/office/powerpoint/2010/main" val="31522979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a:solidFill>
                <a:schemeClr val="lt1"/>
              </a:solidFill>
              <a:latin typeface="Work Sans"/>
              <a:ea typeface="Work Sans"/>
              <a:cs typeface="Work Sans"/>
              <a:sym typeface="Work Sans"/>
            </a:endParaRPr>
          </a:p>
        </p:txBody>
      </p:sp>
      <p:sp>
        <p:nvSpPr>
          <p:cNvPr id="3" name="Content Placeholder 4">
            <a:extLst>
              <a:ext uri="{FF2B5EF4-FFF2-40B4-BE49-F238E27FC236}">
                <a16:creationId xmlns:a16="http://schemas.microsoft.com/office/drawing/2014/main" id="{1148E62F-24CD-8A5B-A71B-529961061FCF}"/>
              </a:ext>
            </a:extLst>
          </p:cNvPr>
          <p:cNvSpPr txBox="1">
            <a:spLocks/>
          </p:cNvSpPr>
          <p:nvPr userDrawn="1"/>
        </p:nvSpPr>
        <p:spPr>
          <a:xfrm>
            <a:off x="2034598" y="6335309"/>
            <a:ext cx="9426575"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a:solidFill>
                  <a:schemeClr val="bg1"/>
                </a:solidFill>
                <a:latin typeface="Work Sans" pitchFamily="2" charset="0"/>
                <a:cs typeface="Arial" panose="020B0604020202020204" pitchFamily="34" charset="0"/>
              </a:rPr>
              <a:t>th</a:t>
            </a:r>
            <a:r>
              <a:rPr lang="en-US" sz="1200" kern="120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latin typeface="Work Sans" pitchFamily="2" charset="0"/>
              <a:cs typeface="Arial" panose="020B0604020202020204" pitchFamily="34" charset="0"/>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64"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3.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16.wmf"/></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xfrm>
            <a:off x="5646420" y="1168663"/>
            <a:ext cx="5482244" cy="2387600"/>
          </a:xfrm>
          <a:prstGeom prst="rect">
            <a:avLst/>
          </a:prstGeom>
          <a:noFill/>
          <a:ln>
            <a:noFill/>
          </a:ln>
        </p:spPr>
        <p:txBody>
          <a:bodyPr spcFirstLastPara="1" wrap="square" lIns="91425" tIns="45700" rIns="91425" bIns="45700" anchor="b" anchorCtr="0">
            <a:noAutofit/>
          </a:bodyPr>
          <a:lstStyle/>
          <a:p>
            <a:pPr marL="0" lvl="0" indent="0" algn="l" rtl="0">
              <a:lnSpc>
                <a:spcPct val="90000"/>
              </a:lnSpc>
              <a:spcBef>
                <a:spcPts val="0"/>
              </a:spcBef>
              <a:spcAft>
                <a:spcPts val="0"/>
              </a:spcAft>
              <a:buClr>
                <a:schemeClr val="lt1"/>
              </a:buClr>
              <a:buSzPts val="4000"/>
              <a:buFont typeface="Arial"/>
              <a:buNone/>
            </a:pPr>
            <a:r>
              <a:rPr lang="en-US" sz="4000">
                <a:latin typeface="Work Sans" pitchFamily="2" charset="0"/>
                <a:ea typeface="Arial"/>
                <a:cs typeface="Arial"/>
                <a:sym typeface="Arial"/>
              </a:rPr>
              <a:t>Automotive Technology: </a:t>
            </a:r>
            <a:br>
              <a:rPr lang="en-US" sz="4000">
                <a:latin typeface="Work Sans" pitchFamily="2" charset="0"/>
                <a:ea typeface="Arial"/>
                <a:cs typeface="Arial"/>
                <a:sym typeface="Arial"/>
              </a:rPr>
            </a:br>
            <a:r>
              <a:rPr lang="en-US" sz="4000">
                <a:latin typeface="Work Sans" pitchFamily="2" charset="0"/>
                <a:ea typeface="Arial"/>
                <a:cs typeface="Arial"/>
                <a:sym typeface="Arial"/>
              </a:rPr>
              <a:t>A Systems Approach, 8e</a:t>
            </a:r>
            <a:endParaRPr sz="400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3200"/>
              <a:buNone/>
            </a:pPr>
            <a:r>
              <a:rPr lang="en-US" dirty="0">
                <a:latin typeface="Work Sans" pitchFamily="2" charset="0"/>
                <a:ea typeface="Arial"/>
                <a:cs typeface="Arial"/>
                <a:sym typeface="Arial"/>
              </a:rPr>
              <a:t>Chapter 9: </a:t>
            </a:r>
            <a:r>
              <a:rPr lang="en-US" dirty="0">
                <a:latin typeface="Work Sans" pitchFamily="2" charset="0"/>
              </a:rPr>
              <a:t>Automotive Engine Designs and Diagnosis</a:t>
            </a:r>
            <a:endParaRPr lang="en-US" dirty="0">
              <a:latin typeface="Work Sans" pitchFamily="2" charset="0"/>
              <a:ea typeface="Arial"/>
              <a:cs typeface="Arial"/>
              <a:sym typeface="Arial"/>
            </a:endParaRPr>
          </a:p>
        </p:txBody>
      </p:sp>
      <p:sp>
        <p:nvSpPr>
          <p:cNvPr id="6" name="Content Placeholder 4">
            <a:extLst>
              <a:ext uri="{FF2B5EF4-FFF2-40B4-BE49-F238E27FC236}">
                <a16:creationId xmlns:a16="http://schemas.microsoft.com/office/drawing/2014/main" id="{F37BAC9B-A028-FEB0-2353-047088E93556}"/>
              </a:ext>
            </a:extLst>
          </p:cNvPr>
          <p:cNvSpPr txBox="1">
            <a:spLocks noGrp="1"/>
          </p:cNvSpPr>
          <p:nvPr>
            <p:ph sz="quarter" idx="10"/>
          </p:nvPr>
        </p:nvSpPr>
        <p:spPr>
          <a:xfrm>
            <a:off x="2034598" y="6335309"/>
            <a:ext cx="9426575" cy="461624"/>
          </a:xfrm>
          <a:prstGeom prst="rect">
            <a:avLst/>
          </a:prstGeom>
          <a:noFill/>
        </p:spPr>
        <p:txBody>
          <a:bodyPr wrap="square" rtlCol="0">
            <a:spAutoFit/>
          </a:bodyPr>
          <a:lstStyle/>
          <a:p>
            <a:pPr marL="0" indent="0">
              <a:spcBef>
                <a:spcPts val="0"/>
              </a:spcBef>
              <a:buNone/>
            </a:pPr>
            <a:r>
              <a:rPr lang="en-US" sz="1200" kern="1200">
                <a:solidFill>
                  <a:schemeClr val="bg1"/>
                </a:solidFill>
                <a:cs typeface="Arial" panose="020B0604020202020204" pitchFamily="34" charset="0"/>
              </a:rPr>
              <a:t>Rob Thompson and Jack Erjavec, Automotive Technology: A Systems Approach, 8</a:t>
            </a:r>
            <a:r>
              <a:rPr lang="en-US" sz="1200" kern="1200" baseline="30000">
                <a:solidFill>
                  <a:schemeClr val="bg1"/>
                </a:solidFill>
                <a:cs typeface="Arial" panose="020B0604020202020204" pitchFamily="34" charset="0"/>
              </a:rPr>
              <a:t>th</a:t>
            </a:r>
            <a:r>
              <a:rPr lang="en-US" sz="1200" kern="1200">
                <a:solidFill>
                  <a:schemeClr val="bg1"/>
                </a:solidFill>
                <a:cs typeface="Arial" panose="020B0604020202020204" pitchFamily="34" charset="0"/>
              </a:rPr>
              <a:t> Edition. © 2025 Cengage. All Rights Reserved. May not be scanned, copied or duplicated, or posted to a publicly accessible website, in whole or in part.</a:t>
            </a:r>
            <a:endParaRPr lang="en-US" sz="1200" kern="1200" dirty="0">
              <a:solidFill>
                <a:schemeClr val="bg1"/>
              </a:solidFill>
              <a:cs typeface="Arial" panose="020B0604020202020204" pitchFamily="34" charset="0"/>
            </a:endParaRPr>
          </a:p>
        </p:txBody>
      </p:sp>
      <p:pic>
        <p:nvPicPr>
          <p:cNvPr id="7"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1749218A-7F8D-61FC-8D54-40BF5559118C}"/>
              </a:ext>
            </a:extLst>
          </p:cNvPr>
          <p:cNvPicPr>
            <a:picLocks noGrp="1" noChangeAspect="1"/>
          </p:cNvPicPr>
          <p:nvPr>
            <p:ph type="pic" idx="2"/>
          </p:nvPr>
        </p:nvPicPr>
        <p:blipFill rotWithShape="1">
          <a:blip r:embed="rId3"/>
          <a:stretch/>
        </p:blipFill>
        <p:spPr>
          <a:xfrm>
            <a:off x="631392" y="557894"/>
            <a:ext cx="4381500" cy="56110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(1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dirty="0"/>
              <a:t>09.01 Describe the types of modern engine </a:t>
            </a:r>
            <a:r>
              <a:rPr lang="en-US"/>
              <a:t>construction.</a:t>
            </a:r>
            <a:endParaRPr lang="en-US" dirty="0"/>
          </a:p>
          <a:p>
            <a:pPr marL="357188" marR="0" lvl="0" indent="-357188" algn="l" rtl="0">
              <a:spcAft>
                <a:spcPts val="600"/>
              </a:spcAft>
              <a:buSzPct val="100000"/>
              <a:buChar char="•"/>
            </a:pPr>
            <a:r>
              <a:rPr lang="en-US" dirty="0"/>
              <a:t>09.02  Describe the various ways in which engines can be </a:t>
            </a:r>
            <a:r>
              <a:rPr lang="en-US"/>
              <a:t>classified.</a:t>
            </a:r>
            <a:endParaRPr lang="en-US" dirty="0"/>
          </a:p>
          <a:p>
            <a:pPr marL="357188" marR="0" lvl="0" indent="-357188" algn="l" rtl="0">
              <a:spcAft>
                <a:spcPts val="600"/>
              </a:spcAft>
              <a:buSzPct val="100000"/>
              <a:buChar char="•"/>
            </a:pPr>
            <a:r>
              <a:rPr lang="en-US" dirty="0"/>
              <a:t>09.03 Explain what takes place during each stroke of the four-stroke </a:t>
            </a:r>
            <a:r>
              <a:rPr lang="en-US"/>
              <a:t>cycle.</a:t>
            </a:r>
            <a:endParaRPr lang="en-US" dirty="0"/>
          </a:p>
          <a:p>
            <a:pPr marL="357188" marR="0" lvl="0" indent="-357188" algn="l" rtl="0">
              <a:spcAft>
                <a:spcPts val="600"/>
              </a:spcAft>
              <a:buSzPct val="100000"/>
              <a:buChar char="•"/>
            </a:pPr>
            <a:r>
              <a:rPr lang="en-US" dirty="0"/>
              <a:t>09.04 Define important engine measurements and performance characteristics, including bore and stroke, displacement, compression ratio, engine efficiency, torque, and horsepower.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 (2 of </a:t>
            </a:r>
            <a:r>
              <a:rPr lang="en-US"/>
              <a:t>2)</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ts val="2800"/>
              <a:buChar char="•"/>
            </a:pPr>
            <a:r>
              <a:rPr lang="en-US" dirty="0"/>
              <a:t>09.05 Describe the basics of diesel, stratified, Atkinson, and Miller-cycle engine construction and </a:t>
            </a:r>
            <a:r>
              <a:rPr lang="en-US"/>
              <a:t>operation.</a:t>
            </a:r>
            <a:endParaRPr lang="en-US" dirty="0"/>
          </a:p>
          <a:p>
            <a:pPr marL="357188" marR="0" lvl="0" indent="-357188" algn="l" rtl="0">
              <a:spcAft>
                <a:spcPts val="600"/>
              </a:spcAft>
              <a:buSzPts val="2800"/>
              <a:buChar char="•"/>
            </a:pPr>
            <a:r>
              <a:rPr lang="en-US" dirty="0"/>
              <a:t>09.06 Identify engines using ID and calibration </a:t>
            </a:r>
            <a:r>
              <a:rPr lang="en-US"/>
              <a:t>tags.</a:t>
            </a:r>
            <a:endParaRPr lang="en-US" dirty="0"/>
          </a:p>
          <a:p>
            <a:pPr marL="357188" marR="0" lvl="0" indent="-357188" algn="l" rtl="0">
              <a:spcAft>
                <a:spcPts val="600"/>
              </a:spcAft>
              <a:buSzPts val="2800"/>
              <a:buChar char="•"/>
            </a:pPr>
            <a:r>
              <a:rPr lang="en-US" dirty="0"/>
              <a:t>09.07 Explain the tests used to evaluate the condition of an </a:t>
            </a:r>
            <a:r>
              <a:rPr lang="en-US"/>
              <a:t>engine.</a:t>
            </a:r>
            <a:endParaRPr lang="en-US" dirty="0"/>
          </a:p>
          <a:p>
            <a:pPr marL="357188" marR="0" lvl="0" indent="-357188" algn="l" rtl="0">
              <a:spcAft>
                <a:spcPts val="600"/>
              </a:spcAft>
              <a:buSzPts val="2800"/>
              <a:buChar char="•"/>
            </a:pPr>
            <a:r>
              <a:rPr lang="en-US" dirty="0"/>
              <a:t>09.08 Evaluate the condition of an </a:t>
            </a:r>
            <a:r>
              <a:rPr lang="en-US"/>
              <a:t>engine.</a:t>
            </a:r>
            <a:endParaRPr lang="en-US" dirty="0"/>
          </a:p>
          <a:p>
            <a:pPr marL="357188" marR="0" lvl="0" indent="-357188" algn="l" rtl="0">
              <a:spcAft>
                <a:spcPts val="600"/>
              </a:spcAft>
              <a:buSzPts val="2800"/>
              <a:buChar char="•"/>
            </a:pPr>
            <a:r>
              <a:rPr lang="en-US" dirty="0"/>
              <a:t>09.09 List and describe abnormal engine </a:t>
            </a:r>
            <a:r>
              <a:rPr lang="en-US"/>
              <a:t>noises.</a:t>
            </a:r>
            <a:endParaRPr lang="en-US" dirty="0"/>
          </a:p>
        </p:txBody>
      </p:sp>
    </p:spTree>
    <p:extLst>
      <p:ext uri="{BB962C8B-B14F-4D97-AF65-F5344CB8AC3E}">
        <p14:creationId xmlns:p14="http://schemas.microsoft.com/office/powerpoint/2010/main" val="41415845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dirty="0"/>
              <a:t>I</a:t>
            </a:r>
            <a:r>
              <a:rPr lang="en-US" sz="4000" dirty="0"/>
              <a:t>ntroduction to Engines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latin typeface="Work Sans" pitchFamily="2" charset="0"/>
              </a:rPr>
              <a:t>All automobile engines, both gasoline and diesel, are classified as internal combustion engines because the combustion or burning that creates energy takes place inside the </a:t>
            </a:r>
            <a:r>
              <a:rPr lang="en-US" sz="1800">
                <a:solidFill>
                  <a:schemeClr val="accent1"/>
                </a:solidFill>
                <a:latin typeface="Work Sans" pitchFamily="2" charset="0"/>
              </a:rPr>
              <a:t>engine.</a:t>
            </a:r>
            <a:endParaRPr lang="en-US" sz="1800" dirty="0">
              <a:solidFill>
                <a:schemeClr val="accent1"/>
              </a:solidFill>
              <a:latin typeface="Work Sans" pitchFamily="2" charset="0"/>
            </a:endParaRPr>
          </a:p>
          <a:p>
            <a:pPr marL="357188" marR="0" lvl="0" indent="-357188" algn="l" rtl="0">
              <a:spcAft>
                <a:spcPts val="600"/>
              </a:spcAft>
              <a:buSzPct val="100000"/>
              <a:buChar char="•"/>
            </a:pPr>
            <a:r>
              <a:rPr lang="en-US" sz="1800" dirty="0">
                <a:solidFill>
                  <a:schemeClr val="accent1"/>
                </a:solidFill>
                <a:latin typeface="Work Sans" pitchFamily="2" charset="0"/>
              </a:rPr>
              <a:t>The biggest part of the engine is the cylinder block which is a large casting of metal drilled with holes to allow for the passage of lubricants and coolant through the block and provide spaces for parts to </a:t>
            </a:r>
            <a:r>
              <a:rPr lang="en-US" sz="1800">
                <a:solidFill>
                  <a:schemeClr val="accent1"/>
                </a:solidFill>
                <a:latin typeface="Work Sans" pitchFamily="2" charset="0"/>
              </a:rPr>
              <a:t>move.</a:t>
            </a:r>
            <a:endParaRPr lang="en-US" sz="1800" dirty="0">
              <a:solidFill>
                <a:schemeClr val="accent1"/>
              </a:solidFill>
              <a:latin typeface="Work Sans" pitchFamily="2" charset="0"/>
            </a:endParaRPr>
          </a:p>
          <a:p>
            <a:pPr marL="357188" marR="0" lvl="0" indent="-357188" algn="l" rtl="0">
              <a:spcAft>
                <a:spcPts val="600"/>
              </a:spcAft>
              <a:buSzPct val="100000"/>
              <a:buChar char="•"/>
            </a:pPr>
            <a:r>
              <a:rPr lang="en-US" sz="1800" dirty="0">
                <a:solidFill>
                  <a:schemeClr val="accent1"/>
                </a:solidFill>
                <a:latin typeface="Work Sans" pitchFamily="2" charset="0"/>
              </a:rPr>
              <a:t>The main bores in the block are the cylinders, which are fitted with pistons. </a:t>
            </a:r>
          </a:p>
          <a:p>
            <a:pPr marL="357188" marR="0" lvl="0" indent="-357188" algn="l" rtl="0">
              <a:spcAft>
                <a:spcPts val="600"/>
              </a:spcAft>
              <a:buSzPct val="100000"/>
              <a:buChar char="•"/>
            </a:pPr>
            <a:r>
              <a:rPr lang="en-US" sz="1800" dirty="0">
                <a:solidFill>
                  <a:schemeClr val="accent1"/>
                </a:solidFill>
                <a:latin typeface="Work Sans" pitchFamily="2" charset="0"/>
              </a:rPr>
              <a:t>The block houses or holds the major engine </a:t>
            </a:r>
            <a:r>
              <a:rPr lang="en-US" sz="1800">
                <a:solidFill>
                  <a:schemeClr val="accent1"/>
                </a:solidFill>
                <a:latin typeface="Work Sans" pitchFamily="2" charset="0"/>
              </a:rPr>
              <a:t>parts.</a:t>
            </a:r>
            <a:endParaRPr lang="en-US" sz="1800" dirty="0">
              <a:solidFill>
                <a:schemeClr val="accent1"/>
              </a:solidFill>
              <a:latin typeface="Work Sans" pitchFamily="2" charset="0"/>
            </a:endParaRPr>
          </a:p>
          <a:p>
            <a:pPr marL="357188" marR="0" lvl="0" indent="-357188" algn="l" rtl="0">
              <a:spcAft>
                <a:spcPts val="600"/>
              </a:spcAft>
              <a:buSzPct val="100000"/>
              <a:buChar char="•"/>
            </a:pPr>
            <a:r>
              <a:rPr lang="en-US" sz="1800" dirty="0">
                <a:solidFill>
                  <a:schemeClr val="accent1"/>
                </a:solidFill>
                <a:latin typeface="Work Sans" pitchFamily="2" charset="0"/>
              </a:rPr>
              <a:t>The cylinder head fits on top of the cylinder block to close off and seal the top of the cylinders.</a:t>
            </a:r>
          </a:p>
          <a:p>
            <a:pPr marL="357188" marR="0" lvl="0" indent="-357188" algn="l" rtl="0">
              <a:spcAft>
                <a:spcPts val="600"/>
              </a:spcAft>
              <a:buSzPct val="100000"/>
              <a:buChar char="•"/>
            </a:pPr>
            <a:r>
              <a:rPr lang="en-US" sz="1800" dirty="0">
                <a:solidFill>
                  <a:schemeClr val="accent1"/>
                </a:solidFill>
                <a:latin typeface="Work Sans" pitchFamily="2" charset="0"/>
              </a:rPr>
              <a:t>The cylinder head contains all or most of the combustion </a:t>
            </a:r>
            <a:r>
              <a:rPr lang="en-US" sz="1800">
                <a:solidFill>
                  <a:schemeClr val="accent1"/>
                </a:solidFill>
                <a:latin typeface="Work Sans" pitchFamily="2" charset="0"/>
              </a:rPr>
              <a:t>chamber.</a:t>
            </a:r>
            <a:endParaRPr lang="en-US" sz="1800" dirty="0">
              <a:solidFill>
                <a:schemeClr val="accent1"/>
              </a:solidFill>
              <a:latin typeface="Work Sans" pitchFamily="2" charset="0"/>
            </a:endParaRPr>
          </a:p>
          <a:p>
            <a:pPr marL="357188" lvl="0" indent="-357188">
              <a:spcAft>
                <a:spcPts val="600"/>
              </a:spcAft>
              <a:buSzPct val="100000"/>
            </a:pPr>
            <a:r>
              <a:rPr lang="en-US" sz="1800" dirty="0">
                <a:solidFill>
                  <a:schemeClr val="accent1"/>
                </a:solidFill>
                <a:latin typeface="Work Sans" pitchFamily="2" charset="0"/>
              </a:rPr>
              <a:t>The combustion chamber is the area where the air</a:t>
            </a:r>
            <a:r>
              <a:rPr lang="en-GB" sz="1800" dirty="0">
                <a:solidFill>
                  <a:schemeClr val="accent1"/>
                </a:solidFill>
                <a:latin typeface="Work Sans" pitchFamily="2" charset="0"/>
                <a:ea typeface="Arial"/>
                <a:cs typeface="Arial"/>
                <a:sym typeface="Arial"/>
              </a:rPr>
              <a:t>–</a:t>
            </a:r>
            <a:r>
              <a:rPr lang="en-US" sz="1800" dirty="0">
                <a:solidFill>
                  <a:schemeClr val="accent1"/>
                </a:solidFill>
                <a:latin typeface="Work Sans" pitchFamily="2" charset="0"/>
              </a:rPr>
              <a:t>fuel mixture is compressed and </a:t>
            </a:r>
            <a:r>
              <a:rPr lang="en-US" sz="1800">
                <a:solidFill>
                  <a:schemeClr val="accent1"/>
                </a:solidFill>
                <a:latin typeface="Work Sans" pitchFamily="2" charset="0"/>
              </a:rPr>
              <a:t>burned.</a:t>
            </a:r>
            <a:endParaRPr lang="en-US" sz="1800" b="1" dirty="0">
              <a:solidFill>
                <a:schemeClr val="accent1"/>
              </a:solidFill>
              <a:latin typeface="Work Sans" pitchFamily="2"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Introduction to Engines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lvl="0" indent="-363538">
              <a:buSzPct val="100000"/>
            </a:pPr>
            <a:r>
              <a:rPr lang="en-US" sz="1800" dirty="0"/>
              <a:t>The cylinder head also contains ports through which the air-fuel mixture enters and burned gases exit the cylinders and bores for the spark plugs.</a:t>
            </a:r>
          </a:p>
          <a:p>
            <a:pPr marL="363538" lvl="0" indent="-363538">
              <a:buSzPct val="100000"/>
            </a:pPr>
            <a:r>
              <a:rPr lang="en-US" sz="1800" dirty="0"/>
              <a:t>The valve train opens and closes the intake and exhaust ports.</a:t>
            </a:r>
          </a:p>
          <a:p>
            <a:pPr marL="363538" lvl="0" indent="-363538">
              <a:buSzPct val="100000"/>
            </a:pPr>
            <a:r>
              <a:rPr lang="en-US" sz="1800" dirty="0"/>
              <a:t>Movable valves open and close the ports.</a:t>
            </a:r>
          </a:p>
          <a:p>
            <a:pPr marL="363538" lvl="0" indent="-363538">
              <a:buSzPct val="100000"/>
            </a:pPr>
            <a:r>
              <a:rPr lang="en-US" sz="1800" dirty="0"/>
              <a:t>A camshaft controls the movement of the valves.</a:t>
            </a:r>
          </a:p>
          <a:p>
            <a:pPr marL="363538" lvl="0" indent="-363538">
              <a:buSzPct val="100000"/>
            </a:pPr>
            <a:r>
              <a:rPr lang="en-US" sz="1800" dirty="0"/>
              <a:t>Springs are used to help close the valves.</a:t>
            </a:r>
          </a:p>
          <a:p>
            <a:pPr marL="363538" lvl="0" indent="-363538">
              <a:buSzPct val="100000"/>
            </a:pPr>
            <a:r>
              <a:rPr lang="en-US" sz="1800" dirty="0"/>
              <a:t>The up-and-down motion of the pistons must be converted to a rotary motion before it can drive the wheels of a vehicle.</a:t>
            </a:r>
          </a:p>
          <a:p>
            <a:pPr marL="363538" lvl="0" indent="-363538">
              <a:buSzPct val="100000"/>
            </a:pPr>
            <a:r>
              <a:rPr lang="en-US" sz="1800" dirty="0"/>
              <a:t>To do this, the pistons are connected to a crankshaft by connecting rods.</a:t>
            </a:r>
          </a:p>
          <a:p>
            <a:pPr marL="363538" lvl="0" indent="-363538">
              <a:buSzPct val="100000"/>
            </a:pPr>
            <a:r>
              <a:rPr lang="en-US" sz="1800" dirty="0"/>
              <a:t>The upper end of the connecting rod moves with the piston.</a:t>
            </a:r>
          </a:p>
          <a:p>
            <a:pPr marL="363538" indent="-363538">
              <a:buSzPct val="100000"/>
            </a:pPr>
            <a:r>
              <a:rPr lang="en-US" sz="1800" dirty="0"/>
              <a:t>The lower end is attached to the crankshaft and moves in a circle.</a:t>
            </a:r>
          </a:p>
          <a:p>
            <a:pPr marL="363538" indent="-363538">
              <a:buSzPct val="100000"/>
            </a:pPr>
            <a:r>
              <a:rPr lang="en-US" sz="1800" dirty="0"/>
              <a:t>The end of the crankshaft is connected to the flywheel or </a:t>
            </a:r>
            <a:r>
              <a:rPr lang="en-US" sz="1800" dirty="0" err="1"/>
              <a:t>flexplate</a:t>
            </a:r>
            <a:r>
              <a:rPr lang="en-US" sz="1800" dirty="0"/>
              <a:t>. Through the flywheel, the power from the engine is indirectly sent to the drive wheels.</a:t>
            </a:r>
            <a:endParaRPr lang="en-US" sz="1800" b="1" dirty="0"/>
          </a:p>
        </p:txBody>
      </p:sp>
    </p:spTree>
    <p:extLst>
      <p:ext uri="{BB962C8B-B14F-4D97-AF65-F5344CB8AC3E}">
        <p14:creationId xmlns:p14="http://schemas.microsoft.com/office/powerpoint/2010/main" val="2673003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Engine Classifications</a:t>
            </a:r>
            <a:endParaRPr dirty="0"/>
          </a:p>
        </p:txBody>
      </p:sp>
      <p:sp>
        <p:nvSpPr>
          <p:cNvPr id="145" name="Google Shape;145;p4"/>
          <p:cNvSpPr txBox="1">
            <a:spLocks noGrp="1"/>
          </p:cNvSpPr>
          <p:nvPr>
            <p:ph type="body" idx="1"/>
          </p:nvPr>
        </p:nvSpPr>
        <p:spPr>
          <a:xfrm>
            <a:off x="476844" y="1563624"/>
            <a:ext cx="7513766" cy="4319281"/>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09.02  Describe the various ways in which engines can be classified</a:t>
            </a:r>
          </a:p>
          <a:p>
            <a:pPr marL="363538" indent="-363538">
              <a:spcAft>
                <a:spcPts val="600"/>
              </a:spcAft>
              <a:buSzPct val="100000"/>
            </a:pPr>
            <a:r>
              <a:rPr lang="en-US" sz="2000" dirty="0"/>
              <a:t>Today’s automotive engines can be classified in several ways depending on the following design </a:t>
            </a:r>
            <a:r>
              <a:rPr lang="en-US" sz="2000"/>
              <a:t>features:</a:t>
            </a:r>
            <a:endParaRPr lang="en-US" sz="2000" dirty="0"/>
          </a:p>
          <a:p>
            <a:pPr marL="717550" lvl="1" indent="-354013">
              <a:spcAft>
                <a:spcPts val="600"/>
              </a:spcAft>
              <a:buSzPct val="100000"/>
            </a:pPr>
            <a:r>
              <a:rPr lang="en-US" sz="1800"/>
              <a:t>Operational cycles</a:t>
            </a:r>
            <a:endParaRPr lang="en-US" sz="1800" dirty="0"/>
          </a:p>
          <a:p>
            <a:pPr marL="717550" lvl="1" indent="-354013">
              <a:spcAft>
                <a:spcPts val="600"/>
              </a:spcAft>
              <a:buSzPct val="100000"/>
            </a:pPr>
            <a:r>
              <a:rPr lang="en-US" sz="1800" dirty="0"/>
              <a:t>Number </a:t>
            </a:r>
            <a:r>
              <a:rPr lang="en-US" sz="1800"/>
              <a:t>of cylinders</a:t>
            </a:r>
            <a:endParaRPr lang="en-US" sz="1800" dirty="0"/>
          </a:p>
          <a:p>
            <a:pPr marL="717550" lvl="1" indent="-354013">
              <a:spcAft>
                <a:spcPts val="600"/>
              </a:spcAft>
              <a:buSzPct val="100000"/>
            </a:pPr>
            <a:r>
              <a:rPr lang="en-US" sz="1800"/>
              <a:t>Cylinder arrangement</a:t>
            </a:r>
            <a:endParaRPr lang="en-US" sz="1800" dirty="0"/>
          </a:p>
          <a:p>
            <a:pPr marL="717550" lvl="1" indent="-354013">
              <a:spcAft>
                <a:spcPts val="600"/>
              </a:spcAft>
              <a:buSzPct val="100000"/>
            </a:pPr>
            <a:r>
              <a:rPr lang="en-US" sz="1800" dirty="0"/>
              <a:t>Valve </a:t>
            </a:r>
            <a:r>
              <a:rPr lang="en-US" sz="1800"/>
              <a:t>train type</a:t>
            </a:r>
            <a:endParaRPr lang="en-US" sz="1800" dirty="0"/>
          </a:p>
          <a:p>
            <a:pPr marL="717550" lvl="1" indent="-354013">
              <a:spcAft>
                <a:spcPts val="600"/>
              </a:spcAft>
              <a:buSzPct val="100000"/>
            </a:pPr>
            <a:r>
              <a:rPr lang="en-US" sz="1800"/>
              <a:t>Ignition type</a:t>
            </a:r>
            <a:endParaRPr lang="en-US" sz="1800" dirty="0"/>
          </a:p>
          <a:p>
            <a:pPr marL="717550" lvl="1" indent="-354013">
              <a:spcAft>
                <a:spcPts val="600"/>
              </a:spcAft>
              <a:buSzPct val="100000"/>
            </a:pPr>
            <a:r>
              <a:rPr lang="en-US" sz="1800"/>
              <a:t>Cooling systems</a:t>
            </a:r>
            <a:endParaRPr lang="en-US" sz="1800" dirty="0"/>
          </a:p>
          <a:p>
            <a:pPr marL="717550" lvl="1" indent="-354013">
              <a:spcAft>
                <a:spcPts val="600"/>
              </a:spcAft>
              <a:buSzPct val="100000"/>
            </a:pPr>
            <a:r>
              <a:rPr lang="en-US" sz="1800" dirty="0"/>
              <a:t>Fuel type</a:t>
            </a:r>
            <a:endParaRPr lang="en-US" sz="1800" b="1" dirty="0"/>
          </a:p>
        </p:txBody>
      </p:sp>
      <p:pic>
        <p:nvPicPr>
          <p:cNvPr id="7" name="Picture Placeholder 6" descr="A close-up view of a complex engine.">
            <a:extLst>
              <a:ext uri="{FF2B5EF4-FFF2-40B4-BE49-F238E27FC236}">
                <a16:creationId xmlns:a16="http://schemas.microsoft.com/office/drawing/2014/main" id="{BA59293F-F357-EFE6-F8A6-FFC4B170267C}"/>
              </a:ext>
            </a:extLst>
          </p:cNvPr>
          <p:cNvPicPr>
            <a:picLocks noGrp="1" noChangeAspect="1"/>
          </p:cNvPicPr>
          <p:nvPr>
            <p:ph type="pic" sz="quarter" idx="12"/>
          </p:nvPr>
        </p:nvPicPr>
        <p:blipFill>
          <a:blip r:embed="rId3"/>
          <a:srcRect b="4513"/>
          <a:stretch/>
        </p:blipFill>
        <p:spPr>
          <a:xfrm>
            <a:off x="8178604" y="1432567"/>
            <a:ext cx="3022810" cy="3992866"/>
          </a:xfrm>
          <a:prstGeom prst="rect">
            <a:avLst/>
          </a:prstGeom>
        </p:spPr>
      </p:pic>
    </p:spTree>
    <p:extLst>
      <p:ext uri="{BB962C8B-B14F-4D97-AF65-F5344CB8AC3E}">
        <p14:creationId xmlns:p14="http://schemas.microsoft.com/office/powerpoint/2010/main" val="66908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Four-Stroke Cycle</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09.03 Explain what takes place during each stroke of the four-stroke </a:t>
            </a:r>
            <a:r>
              <a:rPr lang="en-US" sz="2000" b="1"/>
              <a:t>cycle.</a:t>
            </a:r>
            <a:endParaRPr lang="en-US" sz="2000" b="1" dirty="0"/>
          </a:p>
          <a:p>
            <a:pPr>
              <a:spcAft>
                <a:spcPts val="600"/>
              </a:spcAft>
              <a:buSzPct val="100000"/>
            </a:pPr>
            <a:r>
              <a:rPr lang="en-US" sz="2000" dirty="0"/>
              <a:t>A </a:t>
            </a:r>
            <a:r>
              <a:rPr lang="en-US" sz="2000" b="1" dirty="0"/>
              <a:t>stroke</a:t>
            </a:r>
            <a:r>
              <a:rPr lang="en-US" sz="2000" dirty="0"/>
              <a:t> is the full travel of the piston either up or down in a cylinder’s </a:t>
            </a:r>
            <a:r>
              <a:rPr lang="en-US" sz="2000"/>
              <a:t>bore.</a:t>
            </a:r>
            <a:endParaRPr lang="en-US" sz="2000" dirty="0"/>
          </a:p>
          <a:p>
            <a:pPr>
              <a:spcAft>
                <a:spcPts val="600"/>
              </a:spcAft>
              <a:buSzPct val="100000"/>
            </a:pPr>
            <a:r>
              <a:rPr lang="en-US" sz="2000" dirty="0"/>
              <a:t>It takes two full revolutions of the crankshaft to complete the four-stroke </a:t>
            </a:r>
            <a:r>
              <a:rPr lang="en-US" sz="2000"/>
              <a:t>cycle.</a:t>
            </a:r>
            <a:endParaRPr lang="en-US" sz="2000" dirty="0"/>
          </a:p>
          <a:p>
            <a:pPr>
              <a:spcAft>
                <a:spcPts val="600"/>
              </a:spcAft>
              <a:buSzPct val="100000"/>
            </a:pPr>
            <a:r>
              <a:rPr lang="en-US" sz="2000" dirty="0"/>
              <a:t>During one piston stroke, the crankshaft rotates 180 </a:t>
            </a:r>
            <a:r>
              <a:rPr lang="en-US" sz="2000"/>
              <a:t>degrees.</a:t>
            </a:r>
            <a:endParaRPr lang="en-US" sz="2000" dirty="0"/>
          </a:p>
          <a:p>
            <a:pPr>
              <a:spcAft>
                <a:spcPts val="600"/>
              </a:spcAft>
              <a:buSzPct val="100000"/>
            </a:pPr>
            <a:r>
              <a:rPr lang="en-US" sz="2000" dirty="0"/>
              <a:t>The piston moves down by the pressure produced during combustion, but this moves the piston only enough to complete one stroke. In order to keep the engine running, the piston must travel through the other three </a:t>
            </a:r>
            <a:r>
              <a:rPr lang="en-US" sz="2000"/>
              <a:t>strokes.</a:t>
            </a:r>
            <a:endParaRPr lang="en-US" sz="2000" dirty="0"/>
          </a:p>
          <a:p>
            <a:pPr>
              <a:spcAft>
                <a:spcPts val="600"/>
              </a:spcAft>
              <a:buSzPct val="100000"/>
            </a:pPr>
            <a:r>
              <a:rPr lang="en-US" sz="2000" dirty="0"/>
              <a:t>The inertia of a flywheel attached to the end of the crankshaft keeps the crankshaft rotating and allows the piston to complete the rest of the four-stroke </a:t>
            </a:r>
            <a:r>
              <a:rPr lang="en-US" sz="2000"/>
              <a:t>cycle.</a:t>
            </a:r>
            <a:endParaRPr lang="en-US" sz="2000" dirty="0"/>
          </a:p>
          <a:p>
            <a:pPr>
              <a:spcAft>
                <a:spcPts val="600"/>
              </a:spcAft>
              <a:buSzPct val="100000"/>
            </a:pPr>
            <a:r>
              <a:rPr lang="en-US" sz="2000" b="1" dirty="0"/>
              <a:t>Top dead center (TDC) </a:t>
            </a:r>
            <a:r>
              <a:rPr lang="en-US" sz="2000" dirty="0"/>
              <a:t>is when the piston is at its highest point in the </a:t>
            </a:r>
            <a:r>
              <a:rPr lang="en-US" sz="2000"/>
              <a:t>cylinder.</a:t>
            </a:r>
            <a:endParaRPr lang="en-US" sz="2000" b="1" dirty="0"/>
          </a:p>
          <a:p>
            <a:pPr>
              <a:spcAft>
                <a:spcPts val="600"/>
              </a:spcAft>
              <a:buSzPct val="100000"/>
            </a:pPr>
            <a:r>
              <a:rPr lang="en-US" sz="2000" b="1" dirty="0"/>
              <a:t>Bottom dead center (BDC) </a:t>
            </a:r>
            <a:r>
              <a:rPr lang="en-US" sz="2000" dirty="0"/>
              <a:t>is when the piston is at its lowest point in the </a:t>
            </a:r>
            <a:r>
              <a:rPr lang="en-US" sz="2000"/>
              <a:t>cylinder.</a:t>
            </a:r>
            <a:endParaRPr lang="en-US" sz="2000" b="1" dirty="0"/>
          </a:p>
        </p:txBody>
      </p:sp>
    </p:spTree>
    <p:extLst>
      <p:ext uri="{BB962C8B-B14F-4D97-AF65-F5344CB8AC3E}">
        <p14:creationId xmlns:p14="http://schemas.microsoft.com/office/powerpoint/2010/main" val="18035328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(1 of 2)</a:t>
            </a:r>
            <a:endParaRPr/>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algn="ctr">
              <a:lnSpc>
                <a:spcPct val="107000"/>
              </a:lnSpc>
              <a:spcBef>
                <a:spcPts val="0"/>
              </a:spcBef>
            </a:pPr>
            <a:r>
              <a:rPr lang="en-US" sz="2300" dirty="0"/>
              <a:t>List three ways automotive engines can be </a:t>
            </a:r>
            <a:r>
              <a:rPr lang="en-US" sz="2300"/>
              <a:t>classified.</a:t>
            </a:r>
            <a:endParaRPr lang="en-US" sz="2300" b="1" dirty="0"/>
          </a:p>
        </p:txBody>
      </p:sp>
    </p:spTree>
    <p:extLst>
      <p:ext uri="{BB962C8B-B14F-4D97-AF65-F5344CB8AC3E}">
        <p14:creationId xmlns:p14="http://schemas.microsoft.com/office/powerpoint/2010/main" val="16832841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(1 of 2)</a:t>
            </a:r>
            <a:endParaRPr dirty="0"/>
          </a:p>
        </p:txBody>
      </p:sp>
      <p:sp>
        <p:nvSpPr>
          <p:cNvPr id="3" name="Google Shape;385;p39"/>
          <p:cNvSpPr txBox="1">
            <a:spLocks noGrp="1"/>
          </p:cNvSpPr>
          <p:nvPr>
            <p:ph type="body" idx="1"/>
          </p:nvPr>
        </p:nvSpPr>
        <p:spPr>
          <a:xfrm>
            <a:off x="476843" y="1563624"/>
            <a:ext cx="11241915" cy="4708941"/>
          </a:xfrm>
          <a:prstGeom prst="rect">
            <a:avLst/>
          </a:prstGeom>
          <a:noFill/>
          <a:ln>
            <a:noFill/>
          </a:ln>
        </p:spPr>
        <p:txBody>
          <a:bodyPr spcFirstLastPara="1" wrap="square" lIns="91425" tIns="45700" rIns="91425" bIns="45700" anchor="t" anchorCtr="0">
            <a:spAutoFit/>
          </a:bodyPr>
          <a:lstStyle/>
          <a:p>
            <a:pPr marL="357188" marR="0" lvl="0" indent="-357188" algn="l" defTabSz="914400" rtl="0" eaLnBrk="1" fontAlgn="auto" latinLnBrk="0" hangingPunct="1">
              <a:spcAft>
                <a:spcPts val="600"/>
              </a:spcAft>
              <a:buClr>
                <a:srgbClr val="282F7C"/>
              </a:buClr>
              <a:buSzPts val="2800"/>
              <a:buFont typeface="Arial"/>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Today’s automotive engines can be classified in several ways depending on the following design features:</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Operational cycles</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Number of cylinders</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Cylinder arrangement</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Valve train type</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Ignition type</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Cooling systems</a:t>
            </a:r>
          </a:p>
          <a:p>
            <a:pPr marL="717550" marR="0" lvl="1" indent="-354013" algn="l" defTabSz="914400" rtl="0" eaLnBrk="1" fontAlgn="auto" latinLnBrk="0" hangingPunct="1">
              <a:spcAft>
                <a:spcPts val="600"/>
              </a:spcAft>
              <a:buClr>
                <a:srgbClr val="282F7C"/>
              </a:buClr>
              <a:buSzPct val="100000"/>
              <a:buFont typeface="Work Sans" pitchFamily="2" charset="0"/>
              <a:buChar char="–"/>
              <a:tabLst/>
              <a:defRPr/>
            </a:pPr>
            <a:r>
              <a:rPr kumimoji="0" lang="en-US" b="0" i="0" u="none" strike="noStrike" kern="0" cap="none" spc="0" normalizeH="0" baseline="0" noProof="0" dirty="0">
                <a:ln>
                  <a:noFill/>
                </a:ln>
                <a:solidFill>
                  <a:srgbClr val="282F7C"/>
                </a:solidFill>
                <a:effectLst/>
                <a:uLnTx/>
                <a:uFillTx/>
                <a:latin typeface="Work Sans"/>
                <a:sym typeface="Work Sans"/>
              </a:rPr>
              <a:t>Fuel type</a:t>
            </a:r>
            <a:endParaRPr kumimoji="0" lang="en-US" b="1" i="0" u="none" strike="noStrike" kern="0" cap="none" spc="0" normalizeH="0" baseline="0" noProof="0" dirty="0">
              <a:ln>
                <a:noFill/>
              </a:ln>
              <a:solidFill>
                <a:srgbClr val="282F7C"/>
              </a:solidFill>
              <a:effectLst/>
              <a:uLnTx/>
              <a:uFillTx/>
              <a:latin typeface="Work Sans"/>
              <a:sym typeface="Work Sans"/>
            </a:endParaRPr>
          </a:p>
        </p:txBody>
      </p:sp>
    </p:spTree>
    <p:extLst>
      <p:ext uri="{BB962C8B-B14F-4D97-AF65-F5344CB8AC3E}">
        <p14:creationId xmlns:p14="http://schemas.microsoft.com/office/powerpoint/2010/main" val="208656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The Intake Stroke</a:t>
            </a:r>
            <a:endParaRPr dirty="0"/>
          </a:p>
        </p:txBody>
      </p:sp>
      <p:sp>
        <p:nvSpPr>
          <p:cNvPr id="145" name="Google Shape;145;p4"/>
          <p:cNvSpPr txBox="1">
            <a:spLocks noGrp="1"/>
          </p:cNvSpPr>
          <p:nvPr>
            <p:ph type="body" idx="1"/>
          </p:nvPr>
        </p:nvSpPr>
        <p:spPr>
          <a:xfrm>
            <a:off x="476843" y="1563625"/>
            <a:ext cx="6848748" cy="4670920"/>
          </a:xfrm>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2000" dirty="0">
                <a:solidFill>
                  <a:schemeClr val="accent1"/>
                </a:solidFill>
              </a:rPr>
              <a:t>As the piston moves away from </a:t>
            </a:r>
            <a:r>
              <a:rPr lang="en-US" sz="2000" b="1" dirty="0">
                <a:solidFill>
                  <a:schemeClr val="accent1"/>
                </a:solidFill>
              </a:rPr>
              <a:t>top dead center (</a:t>
            </a:r>
            <a:r>
              <a:rPr lang="en-US" sz="2000" b="1" dirty="0" err="1">
                <a:solidFill>
                  <a:schemeClr val="accent1"/>
                </a:solidFill>
              </a:rPr>
              <a:t>TDC</a:t>
            </a:r>
            <a:r>
              <a:rPr lang="en-US" sz="2000" b="1" dirty="0">
                <a:solidFill>
                  <a:schemeClr val="accent1"/>
                </a:solidFill>
              </a:rPr>
              <a:t>)</a:t>
            </a:r>
            <a:r>
              <a:rPr lang="en-US" sz="2000" dirty="0">
                <a:solidFill>
                  <a:schemeClr val="accent1"/>
                </a:solidFill>
              </a:rPr>
              <a:t>,</a:t>
            </a:r>
            <a:r>
              <a:rPr lang="en-US" sz="2000" b="1" dirty="0">
                <a:solidFill>
                  <a:schemeClr val="accent1"/>
                </a:solidFill>
              </a:rPr>
              <a:t> </a:t>
            </a:r>
            <a:r>
              <a:rPr lang="en-US" sz="2000" dirty="0">
                <a:solidFill>
                  <a:schemeClr val="accent1"/>
                </a:solidFill>
              </a:rPr>
              <a:t>the intake valve </a:t>
            </a:r>
            <a:r>
              <a:rPr lang="en-US" sz="2000">
                <a:solidFill>
                  <a:schemeClr val="accent1"/>
                </a:solidFill>
              </a:rPr>
              <a:t>opens.</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The downward movement of the piston increases the volume of the cylinder above it, reducing the pressure in the </a:t>
            </a:r>
            <a:r>
              <a:rPr lang="en-US" sz="2000">
                <a:solidFill>
                  <a:schemeClr val="accent1"/>
                </a:solidFill>
              </a:rPr>
              <a:t>cylinder.</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This reduced pressure, commonly referred to as engine vacuum, causes the atmospheric pressure to push air through the open intake </a:t>
            </a:r>
            <a:r>
              <a:rPr lang="en-US" sz="2000">
                <a:solidFill>
                  <a:schemeClr val="accent1"/>
                </a:solidFill>
              </a:rPr>
              <a:t>valve.</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Air continues to enter the cylinder until the intake valve is </a:t>
            </a:r>
            <a:r>
              <a:rPr lang="en-US" sz="2000">
                <a:solidFill>
                  <a:schemeClr val="accent1"/>
                </a:solidFill>
              </a:rPr>
              <a:t>closed.</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In most engines, the intake valve closes after the piston has reached </a:t>
            </a:r>
            <a:r>
              <a:rPr lang="en-US" sz="2000" b="1" dirty="0">
                <a:solidFill>
                  <a:schemeClr val="accent1"/>
                </a:solidFill>
              </a:rPr>
              <a:t>bottom dead center (</a:t>
            </a:r>
            <a:r>
              <a:rPr lang="en-US" sz="2000" b="1">
                <a:solidFill>
                  <a:schemeClr val="accent1"/>
                </a:solidFill>
              </a:rPr>
              <a:t>BDC</a:t>
            </a:r>
            <a:r>
              <a:rPr lang="en-US" sz="2000">
                <a:solidFill>
                  <a:schemeClr val="accent1"/>
                </a:solidFill>
              </a:rPr>
              <a:t>).</a:t>
            </a:r>
            <a:endParaRPr lang="en-US" sz="2000" b="1" dirty="0">
              <a:solidFill>
                <a:schemeClr val="accent1"/>
              </a:solidFill>
            </a:endParaRPr>
          </a:p>
        </p:txBody>
      </p:sp>
      <p:pic>
        <p:nvPicPr>
          <p:cNvPr id="7" name="Picture Placeholder 6" descr="The structure labeled (A) of an engine with the following components labeled: Intake valve, Spark plug, Exhaust valve, Air and fuel, Combustion chamber, Piston, and Crankshaft. Air and fuel mixture enters the combustion chamber as the inlet valve opens. The exhaust valve is closed in this case. A downward arrow marked on the piston represents the downward movement of the piston as air and fuel mixture enters the combustion chamber. A clockwise arrow below the crankshaft represents the clockwise rotation of the crankshaft."/>
          <p:cNvPicPr>
            <a:picLocks noGrp="1" noChangeAspect="1"/>
          </p:cNvPicPr>
          <p:nvPr>
            <p:ph type="pic" sz="quarter" idx="12"/>
          </p:nvPr>
        </p:nvPicPr>
        <p:blipFill>
          <a:blip r:embed="rId3"/>
          <a:stretch>
            <a:fillRect/>
          </a:stretch>
        </p:blipFill>
        <p:spPr>
          <a:xfrm>
            <a:off x="7888067" y="1842551"/>
            <a:ext cx="3636818" cy="4113068"/>
          </a:xfrm>
          <a:prstGeom prst="rect">
            <a:avLst/>
          </a:prstGeom>
        </p:spPr>
      </p:pic>
    </p:spTree>
    <p:extLst>
      <p:ext uri="{BB962C8B-B14F-4D97-AF65-F5344CB8AC3E}">
        <p14:creationId xmlns:p14="http://schemas.microsoft.com/office/powerpoint/2010/main" val="2185875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The Compression Stroke</a:t>
            </a:r>
            <a:endParaRPr dirty="0"/>
          </a:p>
        </p:txBody>
      </p:sp>
      <p:sp>
        <p:nvSpPr>
          <p:cNvPr id="145" name="Google Shape;145;p4"/>
          <p:cNvSpPr txBox="1">
            <a:spLocks noGrp="1"/>
          </p:cNvSpPr>
          <p:nvPr>
            <p:ph type="body" idx="1"/>
          </p:nvPr>
        </p:nvSpPr>
        <p:spPr>
          <a:xfrm>
            <a:off x="476843" y="1563625"/>
            <a:ext cx="7025393" cy="4556620"/>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000" dirty="0"/>
              <a:t>The compression stroke begins as the piston starts to move from </a:t>
            </a:r>
            <a:r>
              <a:rPr lang="en-US" sz="2000"/>
              <a:t>BDC.</a:t>
            </a:r>
            <a:endParaRPr lang="en-US" sz="2000" dirty="0"/>
          </a:p>
          <a:p>
            <a:pPr marL="357188" marR="0" lvl="0" indent="-357188" algn="l" rtl="0">
              <a:spcAft>
                <a:spcPts val="600"/>
              </a:spcAft>
              <a:buSzPct val="100000"/>
              <a:buChar char="•"/>
            </a:pPr>
            <a:r>
              <a:rPr lang="en-US" sz="2000" dirty="0"/>
              <a:t>With the intake valve closed, the air in the cylinder is </a:t>
            </a:r>
            <a:r>
              <a:rPr lang="en-US" sz="2000"/>
              <a:t>trapped.</a:t>
            </a:r>
            <a:endParaRPr lang="en-US" sz="2000" dirty="0"/>
          </a:p>
          <a:p>
            <a:pPr marL="357188" marR="0" lvl="0" indent="-357188" algn="l" rtl="0">
              <a:spcAft>
                <a:spcPts val="600"/>
              </a:spcAft>
              <a:buSzPct val="100000"/>
              <a:buChar char="•"/>
            </a:pPr>
            <a:r>
              <a:rPr lang="en-US" sz="2000" dirty="0"/>
              <a:t>The upward movement of the piston compresses the air, thus heating it </a:t>
            </a:r>
            <a:r>
              <a:rPr lang="en-US" sz="2000"/>
              <a:t>up.</a:t>
            </a:r>
            <a:endParaRPr lang="en-US" sz="2000" dirty="0"/>
          </a:p>
          <a:p>
            <a:pPr marL="357188" marR="0" lvl="0" indent="-357188" algn="l" rtl="0">
              <a:spcAft>
                <a:spcPts val="600"/>
              </a:spcAft>
              <a:buSzPct val="100000"/>
              <a:buChar char="•"/>
            </a:pPr>
            <a:r>
              <a:rPr lang="en-US" sz="2000" dirty="0"/>
              <a:t>The amount of pressure and heat formed by the compression stroke depends on the amount of air in the cylinder and the compression ratio of the </a:t>
            </a:r>
            <a:r>
              <a:rPr lang="en-US" sz="2000"/>
              <a:t>engine.</a:t>
            </a:r>
            <a:endParaRPr lang="en-US" sz="2000" dirty="0"/>
          </a:p>
          <a:p>
            <a:pPr marL="357188" marR="0" lvl="0" indent="-357188" algn="l" rtl="0">
              <a:spcAft>
                <a:spcPts val="600"/>
              </a:spcAft>
              <a:buSzPct val="100000"/>
              <a:buChar char="•"/>
            </a:pPr>
            <a:r>
              <a:rPr lang="en-US" sz="2000" dirty="0"/>
              <a:t>In most modern engines, fuel is injected into the cylinder sometime during the compression </a:t>
            </a:r>
            <a:r>
              <a:rPr lang="en-US" sz="2000"/>
              <a:t>stroke.</a:t>
            </a:r>
            <a:endParaRPr lang="en-US" sz="2000" b="1" dirty="0"/>
          </a:p>
        </p:txBody>
      </p:sp>
      <p:pic>
        <p:nvPicPr>
          <p:cNvPr id="7" name="Picture Placeholder 6" descr="The structure labeled (B) of an engine with the following components labeled: Intake valve, Spark plug, Exhaust valve, Combustion chamber, and Piston. An upward arrow marked on the piston represents the upward movement of the piston during the compression stroke. Both the intake and exhaust valves are closed in this case. The upward movement of the piston compresses the air in the combustion chamber depicted by several upward arrows. A clockwise arrow below the crankshaft represents the clockwise rotation of the crankshaft."/>
          <p:cNvPicPr>
            <a:picLocks noGrp="1" noChangeAspect="1"/>
          </p:cNvPicPr>
          <p:nvPr>
            <p:ph type="pic" sz="quarter" idx="12"/>
          </p:nvPr>
        </p:nvPicPr>
        <p:blipFill>
          <a:blip r:embed="rId3"/>
          <a:stretch>
            <a:fillRect/>
          </a:stretch>
        </p:blipFill>
        <p:spPr>
          <a:xfrm>
            <a:off x="7838482" y="1757795"/>
            <a:ext cx="3876675" cy="4362450"/>
          </a:xfrm>
          <a:prstGeom prst="rect">
            <a:avLst/>
          </a:prstGeom>
        </p:spPr>
      </p:pic>
    </p:spTree>
    <p:extLst>
      <p:ext uri="{BB962C8B-B14F-4D97-AF65-F5344CB8AC3E}">
        <p14:creationId xmlns:p14="http://schemas.microsoft.com/office/powerpoint/2010/main" val="39356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The Power Stroke</a:t>
            </a:r>
            <a:endParaRPr dirty="0"/>
          </a:p>
        </p:txBody>
      </p:sp>
      <p:sp>
        <p:nvSpPr>
          <p:cNvPr id="145" name="Google Shape;145;p4"/>
          <p:cNvSpPr txBox="1">
            <a:spLocks noGrp="1"/>
          </p:cNvSpPr>
          <p:nvPr>
            <p:ph type="body" idx="1"/>
          </p:nvPr>
        </p:nvSpPr>
        <p:spPr>
          <a:xfrm>
            <a:off x="476844" y="1563625"/>
            <a:ext cx="6807183" cy="4431930"/>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000" dirty="0">
                <a:solidFill>
                  <a:schemeClr val="accent1"/>
                </a:solidFill>
              </a:rPr>
              <a:t>The power stroke, also called the expansion stroke, begins as the compressed fuel mixture is </a:t>
            </a:r>
            <a:r>
              <a:rPr lang="en-US" sz="2000">
                <a:solidFill>
                  <a:schemeClr val="accent1"/>
                </a:solidFill>
              </a:rPr>
              <a:t>ignited.</a:t>
            </a:r>
            <a:endParaRPr lang="en-US" sz="2000" dirty="0">
              <a:solidFill>
                <a:schemeClr val="accent1"/>
              </a:solidFill>
            </a:endParaRPr>
          </a:p>
          <a:p>
            <a:pPr marL="357188" lvl="0" indent="-357188">
              <a:spcAft>
                <a:spcPts val="600"/>
              </a:spcAft>
              <a:buSzPct val="100000"/>
            </a:pPr>
            <a:r>
              <a:rPr lang="en-US" sz="2000" dirty="0">
                <a:solidFill>
                  <a:schemeClr val="accent1"/>
                </a:solidFill>
              </a:rPr>
              <a:t>With both valves closed, an electrical spark across the electrodes of a spark plug ignites the air</a:t>
            </a:r>
            <a:r>
              <a:rPr lang="en-GB" sz="2000" dirty="0">
                <a:solidFill>
                  <a:schemeClr val="accent1"/>
                </a:solidFill>
              </a:rPr>
              <a:t>–</a:t>
            </a:r>
            <a:r>
              <a:rPr lang="en-US" sz="2000" dirty="0">
                <a:solidFill>
                  <a:schemeClr val="accent1"/>
                </a:solidFill>
              </a:rPr>
              <a:t>fuel </a:t>
            </a:r>
            <a:r>
              <a:rPr lang="en-US" sz="2000">
                <a:solidFill>
                  <a:schemeClr val="accent1"/>
                </a:solidFill>
              </a:rPr>
              <a:t>mixture.</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The burning mixture rapidly expands, creating a very high pressure against the top of the </a:t>
            </a:r>
            <a:r>
              <a:rPr lang="en-US" sz="2000">
                <a:solidFill>
                  <a:schemeClr val="accent1"/>
                </a:solidFill>
              </a:rPr>
              <a:t>piston.</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This drives the piston down toward </a:t>
            </a:r>
            <a:r>
              <a:rPr lang="en-US" sz="2000">
                <a:solidFill>
                  <a:schemeClr val="accent1"/>
                </a:solidFill>
              </a:rPr>
              <a:t>BDC.</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The downward movement of the piston is transmitted through the connecting rod to the </a:t>
            </a:r>
            <a:r>
              <a:rPr lang="en-US" sz="2000">
                <a:solidFill>
                  <a:schemeClr val="accent1"/>
                </a:solidFill>
              </a:rPr>
              <a:t>crankshaft.</a:t>
            </a:r>
            <a:endParaRPr lang="en-US" sz="2000" b="1" dirty="0">
              <a:solidFill>
                <a:schemeClr val="accent1"/>
              </a:solidFill>
            </a:endParaRPr>
          </a:p>
        </p:txBody>
      </p:sp>
      <p:pic>
        <p:nvPicPr>
          <p:cNvPr id="7" name="Picture Placeholder 6" descr="The structure labeled (C) of an engine with the following components labeled: Intake valve, Spark plug, Exhaust valve, Combustion chamber, and Piston. The inlet and exhaust valves are fully closed. The compressed fuel mixture in the combustion chamber is ignited during the power stroke. A down arrow marked on the piston depicts the downward movement of the piston. A clockwise arrow below the crankshaft represents the clockwise rotation of the crankshaft."/>
          <p:cNvPicPr>
            <a:picLocks noGrp="1" noChangeAspect="1"/>
          </p:cNvPicPr>
          <p:nvPr>
            <p:ph type="pic" sz="quarter" idx="12"/>
          </p:nvPr>
        </p:nvPicPr>
        <p:blipFill>
          <a:blip r:embed="rId3"/>
          <a:stretch>
            <a:fillRect/>
          </a:stretch>
        </p:blipFill>
        <p:spPr>
          <a:xfrm>
            <a:off x="7849739" y="1904794"/>
            <a:ext cx="3532909" cy="3913909"/>
          </a:xfrm>
          <a:prstGeom prst="rect">
            <a:avLst/>
          </a:prstGeom>
        </p:spPr>
      </p:pic>
    </p:spTree>
    <p:extLst>
      <p:ext uri="{BB962C8B-B14F-4D97-AF65-F5344CB8AC3E}">
        <p14:creationId xmlns:p14="http://schemas.microsoft.com/office/powerpoint/2010/main" val="780753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The Exhaust Stroke</a:t>
            </a:r>
            <a:endParaRPr dirty="0"/>
          </a:p>
        </p:txBody>
      </p:sp>
      <p:sp>
        <p:nvSpPr>
          <p:cNvPr id="145" name="Google Shape;145;p4"/>
          <p:cNvSpPr txBox="1">
            <a:spLocks noGrp="1"/>
          </p:cNvSpPr>
          <p:nvPr>
            <p:ph type="body" idx="1"/>
          </p:nvPr>
        </p:nvSpPr>
        <p:spPr>
          <a:xfrm>
            <a:off x="476843" y="1563625"/>
            <a:ext cx="7544939" cy="4556620"/>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t>The exhaust valve opens just before the piston reaches BDC on the power </a:t>
            </a:r>
            <a:r>
              <a:rPr lang="en-US" sz="2200"/>
              <a:t>stroke.</a:t>
            </a:r>
            <a:endParaRPr lang="en-US" sz="2200" dirty="0"/>
          </a:p>
          <a:p>
            <a:pPr marL="357188" marR="0" lvl="0" indent="-357188" algn="l" rtl="0">
              <a:spcAft>
                <a:spcPts val="600"/>
              </a:spcAft>
              <a:buSzPct val="100000"/>
              <a:buChar char="•"/>
            </a:pPr>
            <a:r>
              <a:rPr lang="en-US" sz="2200" dirty="0"/>
              <a:t>Pressure within the cylinder causes the exhaust gas to rush past the open valve and into the exhaust </a:t>
            </a:r>
            <a:r>
              <a:rPr lang="en-US" sz="2200"/>
              <a:t>system.</a:t>
            </a:r>
            <a:endParaRPr lang="en-US" sz="2200" dirty="0"/>
          </a:p>
          <a:p>
            <a:pPr marL="357188" marR="0" lvl="0" indent="-357188" algn="l" rtl="0">
              <a:spcAft>
                <a:spcPts val="600"/>
              </a:spcAft>
              <a:buSzPct val="100000"/>
              <a:buChar char="•"/>
            </a:pPr>
            <a:r>
              <a:rPr lang="en-US" sz="2200" dirty="0"/>
              <a:t>Movement of the piston from BDC pushes most of the remaining exhaust gas from the cylinder. As the piston nears TDC, the exhaust valve begins to close and the intake valve starts to </a:t>
            </a:r>
            <a:r>
              <a:rPr lang="en-US" sz="2200"/>
              <a:t>open.</a:t>
            </a:r>
            <a:endParaRPr lang="en-US" sz="2200" dirty="0"/>
          </a:p>
          <a:p>
            <a:pPr marL="357188" marR="0" lvl="0" indent="-357188" algn="l" rtl="0">
              <a:spcAft>
                <a:spcPts val="600"/>
              </a:spcAft>
              <a:buSzPct val="100000"/>
              <a:buChar char="•"/>
            </a:pPr>
            <a:r>
              <a:rPr lang="en-US" sz="2200" dirty="0"/>
              <a:t>The exhaust stroke completes the four-stroke cycle and is followed by another intake </a:t>
            </a:r>
            <a:r>
              <a:rPr lang="en-US" sz="2200"/>
              <a:t>stroke.</a:t>
            </a:r>
            <a:endParaRPr lang="en-US" sz="2200" b="1" dirty="0"/>
          </a:p>
        </p:txBody>
      </p:sp>
      <p:pic>
        <p:nvPicPr>
          <p:cNvPr id="7" name="Picture Placeholder 6" descr="The structure of an engine with the following components labeled: Intake valve, Spark plug, Exhaust valve, Exhaust gases, Combustion chamber, and Piston. The inlet valve is closed and the exhaust valve is open. The combustion chamber is in blue. An upward arrow marked on the piston depicts the upward movement of the piston. As the piston moves up from the B D C, it pushes the exhaust gases from the combustion chamber through the open exhaust valve. A clockwise arrow below the crankshaft represents the clockwise rotation of the crankshaft."/>
          <p:cNvPicPr>
            <a:picLocks noGrp="1" noChangeAspect="1"/>
          </p:cNvPicPr>
          <p:nvPr>
            <p:ph type="pic" sz="quarter" idx="12"/>
          </p:nvPr>
        </p:nvPicPr>
        <p:blipFill>
          <a:blip r:embed="rId3"/>
          <a:stretch>
            <a:fillRect/>
          </a:stretch>
        </p:blipFill>
        <p:spPr>
          <a:xfrm>
            <a:off x="8164813" y="1661968"/>
            <a:ext cx="3314700" cy="4295775"/>
          </a:xfrm>
          <a:prstGeom prst="rect">
            <a:avLst/>
          </a:prstGeom>
        </p:spPr>
      </p:pic>
    </p:spTree>
    <p:extLst>
      <p:ext uri="{BB962C8B-B14F-4D97-AF65-F5344CB8AC3E}">
        <p14:creationId xmlns:p14="http://schemas.microsoft.com/office/powerpoint/2010/main" val="1762223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a:t>Firing Order</a:t>
            </a:r>
            <a:endParaRPr dirty="0"/>
          </a:p>
        </p:txBody>
      </p:sp>
      <p:sp>
        <p:nvSpPr>
          <p:cNvPr id="145" name="Google Shape;145;p4"/>
          <p:cNvSpPr txBox="1">
            <a:spLocks noGrp="1"/>
          </p:cNvSpPr>
          <p:nvPr>
            <p:ph type="body" idx="1"/>
          </p:nvPr>
        </p:nvSpPr>
        <p:spPr>
          <a:xfrm>
            <a:off x="476844" y="1563625"/>
            <a:ext cx="7742366" cy="4000758"/>
          </a:xfrm>
          <a:prstGeom prst="rect">
            <a:avLst/>
          </a:prstGeom>
          <a:noFill/>
          <a:ln>
            <a:noFill/>
          </a:ln>
        </p:spPr>
        <p:txBody>
          <a:bodyPr spcFirstLastPara="1" wrap="square" lIns="91425" tIns="45700" rIns="91425" bIns="45700" anchor="t" anchorCtr="0">
            <a:noAutofit/>
          </a:bodyPr>
          <a:lstStyle/>
          <a:p>
            <a:pPr marL="363538" lvl="1" indent="-363538">
              <a:lnSpc>
                <a:spcPct val="107000"/>
              </a:lnSpc>
              <a:spcBef>
                <a:spcPts val="0"/>
              </a:spcBef>
              <a:buSzPct val="100000"/>
              <a:buChar char="•"/>
            </a:pPr>
            <a:r>
              <a:rPr lang="en-US" dirty="0"/>
              <a:t>An engine’s firing order states the sequence in which an engine’s pistons are on their power stroke and therefore the order in which the cylinders’ spark plugs </a:t>
            </a:r>
            <a:r>
              <a:rPr lang="en-US"/>
              <a:t>fire.</a:t>
            </a:r>
            <a:endParaRPr lang="en-US" dirty="0"/>
          </a:p>
          <a:p>
            <a:pPr marL="363538" lvl="1" indent="-363538">
              <a:lnSpc>
                <a:spcPct val="107000"/>
              </a:lnSpc>
              <a:spcBef>
                <a:spcPts val="0"/>
              </a:spcBef>
              <a:buSzPct val="100000"/>
              <a:buChar char="•"/>
            </a:pPr>
            <a:r>
              <a:rPr lang="en-US" dirty="0"/>
              <a:t>The firing order also indicates the position of the other pistons in an engine when a cylinder is </a:t>
            </a:r>
            <a:r>
              <a:rPr lang="en-US"/>
              <a:t>firing.</a:t>
            </a:r>
            <a:endParaRPr lang="en-US" dirty="0"/>
          </a:p>
          <a:p>
            <a:pPr marL="363538" lvl="1" indent="-363538">
              <a:lnSpc>
                <a:spcPct val="107000"/>
              </a:lnSpc>
              <a:spcBef>
                <a:spcPts val="0"/>
              </a:spcBef>
              <a:buSzPct val="100000"/>
              <a:buChar char="•"/>
            </a:pPr>
            <a:r>
              <a:rPr lang="en-US" dirty="0"/>
              <a:t>Not all engines have the same firing order, as it is determined by the design and manufacturer of the </a:t>
            </a:r>
            <a:r>
              <a:rPr lang="en-US"/>
              <a:t>engine.</a:t>
            </a:r>
            <a:endParaRPr lang="en-US" b="1" dirty="0"/>
          </a:p>
        </p:txBody>
      </p:sp>
      <p:pic>
        <p:nvPicPr>
          <p:cNvPr id="7" name="Picture Placeholder 6" descr="Examples of cylinder numbering and firing order in in-line and V-Configuration cylinders. In in-line cylinder: 4-cylinder Numbers 1 to 4 are encircled Firing Order: 1-3-4-2 1-2-4-3 6-Cylinder Numbers 1 to 6 are encircled Firing Order: 1-5-3-6-2-4 In V configuration: V6 5,3,1, - Right Bank 6, 4, 2 - Left Bank Firing Order: 1-4-5-2-3-6 2, 4, 6 - Right Bank 1, 3, 5 - Left Bank Firing Order: 1-6-5-4-3-2 1, 2, 3 - Right Bank 4, 5, 6 - Left Bank Firing Order: 1-2-3-4-5-6 1, 2, 3 - Right Bank 4, 5, 6 - Left Bank Firing order: 1-4-2-3-5-6. V8 1, 2, 3, 4 - Right Bank 5, 6, 7, 8 - Left Bank Firing Order: 1-5-4-8-6-3-7-2 1, 2, 3, 4 - Right bank 5, 6, 7, 8, - Left bank Firing Order: 1-5-4-2-6-3-7-8 2,4,6,8 - Right bank 1, 3, 5, 7 - Left bank Firing Order: 1-8-4-3-6-5-7-2 2, 4, 6, 8 - Right bank 1, 3, 5, 7 - Left bank Firing Order: 1-8-7-2-6-5-4-3.">
            <a:extLst>
              <a:ext uri="{FF2B5EF4-FFF2-40B4-BE49-F238E27FC236}">
                <a16:creationId xmlns:a16="http://schemas.microsoft.com/office/drawing/2014/main" id="{EB204126-E899-BCA4-869D-53465CAEFBB7}"/>
              </a:ext>
            </a:extLst>
          </p:cNvPr>
          <p:cNvPicPr>
            <a:picLocks noGrp="1" noChangeAspect="1"/>
          </p:cNvPicPr>
          <p:nvPr>
            <p:ph type="pic" sz="quarter" idx="12"/>
          </p:nvPr>
        </p:nvPicPr>
        <p:blipFill>
          <a:blip r:embed="rId3"/>
          <a:srcRect b="4569"/>
          <a:stretch/>
        </p:blipFill>
        <p:spPr>
          <a:xfrm>
            <a:off x="8492668" y="1712672"/>
            <a:ext cx="2786013" cy="4199755"/>
          </a:xfrm>
          <a:prstGeom prst="rect">
            <a:avLst/>
          </a:prstGeom>
        </p:spPr>
      </p:pic>
    </p:spTree>
    <p:extLst>
      <p:ext uri="{BB962C8B-B14F-4D97-AF65-F5344CB8AC3E}">
        <p14:creationId xmlns:p14="http://schemas.microsoft.com/office/powerpoint/2010/main" val="2892401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xfrm>
            <a:off x="476843" y="1563625"/>
            <a:ext cx="11241915" cy="1292225"/>
          </a:xfrm>
          <a:prstGeom prst="rect">
            <a:avLst/>
          </a:prstGeom>
          <a:noFill/>
          <a:ln>
            <a:noFill/>
          </a:ln>
        </p:spPr>
        <p:txBody>
          <a:bodyPr spcFirstLastPara="1" wrap="square" lIns="91425" tIns="45700" rIns="91425" bIns="45700" anchor="t" anchorCtr="0">
            <a:noAutofit/>
          </a:bodyPr>
          <a:lstStyle/>
          <a:p>
            <a:pPr marL="0" lvl="0" indent="0">
              <a:spcAft>
                <a:spcPts val="600"/>
              </a:spcAft>
              <a:buSzPts val="2400"/>
              <a:buNone/>
            </a:pPr>
            <a:r>
              <a:rPr lang="en-US" dirty="0">
                <a:solidFill>
                  <a:schemeClr val="accent1"/>
                </a:solidFill>
              </a:rPr>
              <a:t>Have a class discussion about the four-stroke cycle, discuss them in order and describe exactly what is happening in the cylinder and with the valves during each individual </a:t>
            </a:r>
            <a:r>
              <a:rPr lang="en-US">
                <a:solidFill>
                  <a:schemeClr val="accent1"/>
                </a:solidFill>
              </a:rPr>
              <a:t>stroke.</a:t>
            </a:r>
            <a:endParaRPr lang="en-US" dirty="0">
              <a:solidFill>
                <a:schemeClr val="accent1"/>
              </a:solidFill>
            </a:endParaRPr>
          </a:p>
        </p:txBody>
      </p:sp>
      <p:pic>
        <p:nvPicPr>
          <p:cNvPr id="8" name="Picture Placeholder 7" descr="Two illustrations (A) and (B). The structure labeled (A) of an engine with the following components labeled: Intake valve, Spark plug, Exhaust valve, Air and fuel, Combustion chamber, Piston, and Crankshaft. Air and fuel mixture enters the combustion chamber as the inlet valve opens. The exhaust valve is closed in this case. A downward arrow marked on the piston represents the downward movement of the piston as air and fuel mixture enters the combustion chamber. A clockwise arrow below the crankshaft represents the clockwise rotation of the crankshaft. The structure labeled (B) of an engine with the following components labeled: Intake valve, Spark plug, Exhaust valve, Combustion chamber, and Piston. An upward arrow marked on the piston represents the upward movement of the piston during the compression stroke. Both the intake and exhaust valves are closed. The upward movement of the piston compresses the air in the combustion chamber depicted by several upward arrows. A clockwise arrow below the crankshaft represents the clockwise rotation of the crankshaft."/>
          <p:cNvPicPr>
            <a:picLocks noGrp="1" noChangeAspect="1"/>
          </p:cNvPicPr>
          <p:nvPr>
            <p:ph type="pic" sz="quarter" idx="12"/>
          </p:nvPr>
        </p:nvPicPr>
        <p:blipFill>
          <a:blip r:embed="rId3"/>
          <a:stretch>
            <a:fillRect/>
          </a:stretch>
        </p:blipFill>
        <p:spPr>
          <a:xfrm>
            <a:off x="974332" y="3042642"/>
            <a:ext cx="4892993" cy="2828925"/>
          </a:xfrm>
          <a:prstGeom prst="rect">
            <a:avLst/>
          </a:prstGeom>
        </p:spPr>
      </p:pic>
      <p:pic>
        <p:nvPicPr>
          <p:cNvPr id="9" name="Picture Placeholder 8" descr="Two illustrations (C) and (D). The structure labeled (C) of an engine with the following components labeled: Intake valve, Spark plug, Exhaust valve, Combustion chamber, and Piston. The inlet and exhaust valves are fully closed. The compressed fuel mixture in the combustion chamber is ignited during the power stroke. A down arrow marked on the piston depicts the downward movement of the piston. A clockwise arrow below the crankshaft represents the clockwise rotation of the crankshaft. The structure labeled (D) of an engine with the following components labeled: Intake valve, Spark plug, Exhaust valve, Exhaust gases, Combustion chamber, and Piston. The inlet valve is closed and the exhaust valve is open. The combustion chamber is in blue. An upward arrow marked on the piston depicts the upward movement of the piston. As the piston moves up from the B D C, it pushes the exhaust gases from the combustion chamber through the open exhaust valve. A clockwise arrow below the crankshaft represents the clockwise rotation of the crankshaft."/>
          <p:cNvPicPr>
            <a:picLocks noGrp="1" noChangeAspect="1"/>
          </p:cNvPicPr>
          <p:nvPr>
            <p:ph type="pic" sz="quarter" idx="13"/>
          </p:nvPr>
        </p:nvPicPr>
        <p:blipFill rotWithShape="1">
          <a:blip r:embed="rId4"/>
          <a:srcRect b="8524"/>
          <a:stretch/>
        </p:blipFill>
        <p:spPr>
          <a:xfrm>
            <a:off x="6209813" y="3120825"/>
            <a:ext cx="5133975" cy="275074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Two-Stroke Gasoline Engine</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1800" dirty="0">
                <a:solidFill>
                  <a:schemeClr val="accent1"/>
                </a:solidFill>
              </a:rPr>
              <a:t>In the past, several imported vehicles used two-stroke engines.</a:t>
            </a:r>
          </a:p>
          <a:p>
            <a:pPr marL="357188" marR="0" lvl="0" indent="-357188" algn="l" rtl="0">
              <a:spcAft>
                <a:spcPts val="600"/>
              </a:spcAft>
              <a:buSzPct val="100000"/>
              <a:buChar char="•"/>
            </a:pPr>
            <a:r>
              <a:rPr lang="en-US" sz="1800" dirty="0">
                <a:solidFill>
                  <a:schemeClr val="accent1"/>
                </a:solidFill>
              </a:rPr>
              <a:t>As the name implies, this engine requires only two strokes of the piston to complete all four</a:t>
            </a:r>
          </a:p>
          <a:p>
            <a:pPr marL="357188" marR="0" lvl="0" indent="-357188" algn="l" rtl="0">
              <a:spcAft>
                <a:spcPts val="600"/>
              </a:spcAft>
              <a:buSzPct val="100000"/>
              <a:buChar char="•"/>
            </a:pPr>
            <a:r>
              <a:rPr lang="en-US" sz="1800" dirty="0">
                <a:solidFill>
                  <a:schemeClr val="accent1"/>
                </a:solidFill>
              </a:rPr>
              <a:t>This is accomplished as follows:</a:t>
            </a:r>
          </a:p>
          <a:p>
            <a:pPr marL="717550" lvl="1" indent="-354013">
              <a:spcAft>
                <a:spcPts val="600"/>
              </a:spcAft>
              <a:buSzPct val="100000"/>
              <a:buFont typeface="+mj-lt"/>
              <a:buAutoNum type="arabicPeriod"/>
            </a:pPr>
            <a:r>
              <a:rPr lang="en-US" sz="1600" dirty="0">
                <a:solidFill>
                  <a:schemeClr val="accent1"/>
                </a:solidFill>
              </a:rPr>
              <a:t>Movement of the piston from BDC to TDC completes both intake and compression.</a:t>
            </a:r>
          </a:p>
          <a:p>
            <a:pPr marL="717550" lvl="1" indent="-354013">
              <a:spcAft>
                <a:spcPts val="600"/>
              </a:spcAft>
              <a:buSzPct val="100000"/>
              <a:buFont typeface="+mj-lt"/>
              <a:buAutoNum type="arabicPeriod"/>
            </a:pPr>
            <a:r>
              <a:rPr lang="en-US" sz="1600" dirty="0">
                <a:solidFill>
                  <a:schemeClr val="accent1"/>
                </a:solidFill>
              </a:rPr>
              <a:t>When the piston nears TDC, the compressed air</a:t>
            </a:r>
            <a:r>
              <a:rPr lang="en-GB" sz="1600" dirty="0">
                <a:solidFill>
                  <a:schemeClr val="accent1"/>
                </a:solidFill>
              </a:rPr>
              <a:t>–</a:t>
            </a:r>
            <a:r>
              <a:rPr lang="en-US" sz="1600" dirty="0">
                <a:solidFill>
                  <a:schemeClr val="accent1"/>
                </a:solidFill>
              </a:rPr>
              <a:t>fuel mixture is ignited, causing an expansion of the gases. During this time, the intake and exhaust ports are closed.</a:t>
            </a:r>
          </a:p>
          <a:p>
            <a:pPr marL="717550" lvl="1" indent="-354013">
              <a:spcAft>
                <a:spcPts val="600"/>
              </a:spcAft>
              <a:buSzPct val="100000"/>
              <a:buFont typeface="+mj-lt"/>
              <a:buAutoNum type="arabicPeriod"/>
            </a:pPr>
            <a:r>
              <a:rPr lang="en-US" sz="1600" dirty="0">
                <a:solidFill>
                  <a:schemeClr val="accent1"/>
                </a:solidFill>
              </a:rPr>
              <a:t>Expanding gases in the cylinder force the piston down, rotating the crankshaft.</a:t>
            </a:r>
          </a:p>
          <a:p>
            <a:pPr marL="717550" lvl="1" indent="-354013">
              <a:spcAft>
                <a:spcPts val="600"/>
              </a:spcAft>
              <a:buSzPct val="100000"/>
              <a:buFont typeface="+mj-lt"/>
              <a:buAutoNum type="arabicPeriod"/>
            </a:pPr>
            <a:r>
              <a:rPr lang="en-US" sz="1600" dirty="0">
                <a:solidFill>
                  <a:schemeClr val="accent1"/>
                </a:solidFill>
              </a:rPr>
              <a:t>With the piston at BDC, the intake and exhaust ports are both open, allowing exhaust gases to leave the cylinder and air</a:t>
            </a:r>
            <a:r>
              <a:rPr lang="en-GB" sz="1600" dirty="0">
                <a:solidFill>
                  <a:schemeClr val="accent1"/>
                </a:solidFill>
              </a:rPr>
              <a:t>–</a:t>
            </a:r>
            <a:r>
              <a:rPr lang="en-US" sz="1600" dirty="0">
                <a:solidFill>
                  <a:schemeClr val="accent1"/>
                </a:solidFill>
              </a:rPr>
              <a:t>fuel mixture to enter.</a:t>
            </a:r>
          </a:p>
          <a:p>
            <a:pPr marL="357188" indent="-357188">
              <a:spcAft>
                <a:spcPts val="600"/>
              </a:spcAft>
              <a:buSzPct val="100000"/>
            </a:pPr>
            <a:r>
              <a:rPr lang="en-US" sz="1800" dirty="0">
                <a:solidFill>
                  <a:schemeClr val="accent1"/>
                </a:solidFill>
              </a:rPr>
              <a:t>Although the two-stroke-cycle engine is simple in design and lightweight because it lacks a valve train, it has not been widely used in automobiles because it tends to be less fuel efficient and releases more pollutants than four-stroke engines. </a:t>
            </a:r>
            <a:endParaRPr lang="en-US" sz="1800" b="1" dirty="0">
              <a:solidFill>
                <a:schemeClr val="accent1"/>
              </a:solidFill>
            </a:endParaRPr>
          </a:p>
        </p:txBody>
      </p:sp>
    </p:spTree>
    <p:extLst>
      <p:ext uri="{BB962C8B-B14F-4D97-AF65-F5344CB8AC3E}">
        <p14:creationId xmlns:p14="http://schemas.microsoft.com/office/powerpoint/2010/main" val="847649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a:t>Combustion</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lnSpc>
                <a:spcPct val="107000"/>
              </a:lnSpc>
              <a:spcBef>
                <a:spcPts val="0"/>
              </a:spcBef>
              <a:spcAft>
                <a:spcPts val="0"/>
              </a:spcAft>
              <a:buSzPct val="100000"/>
              <a:buChar char="•"/>
            </a:pPr>
            <a:r>
              <a:rPr lang="en-US" sz="2200" dirty="0"/>
              <a:t>Although many different things can affect the combustion in the engine’s cylinders, the ignition system has the responsibility for beginning and maintaining combustion.</a:t>
            </a:r>
          </a:p>
          <a:p>
            <a:pPr marL="357188" marR="0" lvl="0" indent="-357188" algn="l" rtl="0">
              <a:lnSpc>
                <a:spcPct val="107000"/>
              </a:lnSpc>
              <a:spcBef>
                <a:spcPts val="0"/>
              </a:spcBef>
              <a:spcAft>
                <a:spcPts val="0"/>
              </a:spcAft>
              <a:buSzPct val="100000"/>
              <a:buChar char="•"/>
            </a:pPr>
            <a:r>
              <a:rPr lang="en-US" sz="2200" dirty="0"/>
              <a:t>When combustion does not occur in any of the cylinders, the engine will not run.</a:t>
            </a:r>
          </a:p>
          <a:p>
            <a:pPr marL="357188" marR="0" lvl="0" indent="-357188" algn="l" rtl="0">
              <a:lnSpc>
                <a:spcPct val="107000"/>
              </a:lnSpc>
              <a:spcBef>
                <a:spcPts val="0"/>
              </a:spcBef>
              <a:spcAft>
                <a:spcPts val="0"/>
              </a:spcAft>
              <a:buSzPct val="100000"/>
              <a:buChar char="•"/>
            </a:pPr>
            <a:r>
              <a:rPr lang="en-US" sz="2200" dirty="0"/>
              <a:t>If combustion occurs in all but one or two cylinders, the engine may start and run but will run poorly.</a:t>
            </a:r>
          </a:p>
        </p:txBody>
      </p:sp>
      <p:pic>
        <p:nvPicPr>
          <p:cNvPr id="7" name="Picture Placeholder 6" descr="The typical combustion process in a petrol engine through four steps: 1. Spark initiation via a sparking plug in the compressed air; 2. Commencement of combustion within the cylinder; 3. Sustained rapidity; and 4. Completion of combustion.">
            <a:extLst>
              <a:ext uri="{FF2B5EF4-FFF2-40B4-BE49-F238E27FC236}">
                <a16:creationId xmlns:a16="http://schemas.microsoft.com/office/drawing/2014/main" id="{835AD2DE-ABB3-2F5C-2718-6A12B3FEE911}"/>
              </a:ext>
            </a:extLst>
          </p:cNvPr>
          <p:cNvPicPr>
            <a:picLocks noGrp="1" noChangeAspect="1"/>
          </p:cNvPicPr>
          <p:nvPr>
            <p:ph type="pic" sz="quarter" idx="12"/>
          </p:nvPr>
        </p:nvPicPr>
        <p:blipFill>
          <a:blip r:embed="rId3"/>
          <a:srcRect b="12912"/>
          <a:stretch/>
        </p:blipFill>
        <p:spPr>
          <a:xfrm>
            <a:off x="2959813" y="4224754"/>
            <a:ext cx="6272374" cy="1614938"/>
          </a:xfrm>
          <a:prstGeom prst="rect">
            <a:avLst/>
          </a:prstGeom>
        </p:spPr>
      </p:pic>
    </p:spTree>
    <p:extLst>
      <p:ext uri="{BB962C8B-B14F-4D97-AF65-F5344CB8AC3E}">
        <p14:creationId xmlns:p14="http://schemas.microsoft.com/office/powerpoint/2010/main" val="38377599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Engine Measurement and Performance </a:t>
            </a:r>
            <a:r>
              <a:rPr lang="en-US" dirty="0"/>
              <a:t>(1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marR="0" lvl="0" indent="0" algn="l" rtl="0">
              <a:spcAft>
                <a:spcPts val="1800"/>
              </a:spcAft>
              <a:buSzPts val="2800"/>
              <a:buNone/>
            </a:pPr>
            <a:r>
              <a:rPr lang="en-US" sz="2000" b="1" dirty="0"/>
              <a:t>09.04 Define important engine measurements and performance characteristics, including bore and stroke, displacement, compression ratio, engine efficiency, torque, and horsepower.</a:t>
            </a:r>
          </a:p>
          <a:p>
            <a:pPr marL="357188" marR="0" lvl="0" indent="-357188" algn="l" rtl="0">
              <a:spcAft>
                <a:spcPts val="0"/>
              </a:spcAft>
              <a:buSzPct val="100000"/>
              <a:buChar char="•"/>
            </a:pPr>
            <a:r>
              <a:rPr lang="en-US" sz="2000" dirty="0"/>
              <a:t>The </a:t>
            </a:r>
            <a:r>
              <a:rPr lang="en-US" sz="2000" b="1" dirty="0"/>
              <a:t>bore</a:t>
            </a:r>
            <a:r>
              <a:rPr lang="en-US" sz="2000" dirty="0"/>
              <a:t> of a cylinder is simply its diameter measured in inches (in.) or millimeters (mm).</a:t>
            </a:r>
          </a:p>
          <a:p>
            <a:pPr marL="357188" marR="0" lvl="0" indent="-357188" algn="l" rtl="0">
              <a:spcAft>
                <a:spcPts val="0"/>
              </a:spcAft>
              <a:buSzPct val="100000"/>
              <a:buChar char="•"/>
            </a:pPr>
            <a:r>
              <a:rPr lang="en-US" sz="2000" dirty="0"/>
              <a:t>The stroke is the distance the piston travels between TDC and BDC.</a:t>
            </a:r>
          </a:p>
          <a:p>
            <a:pPr marL="357188" marR="0" lvl="0" indent="-357188" algn="l" rtl="0">
              <a:spcAft>
                <a:spcPts val="0"/>
              </a:spcAft>
              <a:buSzPct val="100000"/>
              <a:buChar char="•"/>
            </a:pPr>
            <a:r>
              <a:rPr lang="en-US" sz="2000" dirty="0"/>
              <a:t>The bore and stroke determine the displacement of the cylinders.</a:t>
            </a:r>
          </a:p>
          <a:p>
            <a:pPr marL="357188" marR="0" lvl="0" indent="-357188" algn="l" rtl="0">
              <a:spcAft>
                <a:spcPts val="0"/>
              </a:spcAft>
              <a:buSzPct val="100000"/>
              <a:buChar char="•"/>
            </a:pPr>
            <a:r>
              <a:rPr lang="en-US" sz="2000" dirty="0"/>
              <a:t>When the bore and stroke are of equal size, the engine is called a square engine. Engines that have a larger bore than stroke are called </a:t>
            </a:r>
            <a:r>
              <a:rPr lang="en-US" sz="2000" b="1" dirty="0"/>
              <a:t>oversquare</a:t>
            </a:r>
            <a:r>
              <a:rPr lang="en-US" sz="2000" dirty="0"/>
              <a:t>, and engines with a larger stroke than bore are referred to as being </a:t>
            </a:r>
            <a:r>
              <a:rPr lang="en-US" sz="2000" b="1" dirty="0"/>
              <a:t>undersquare</a:t>
            </a:r>
            <a:r>
              <a:rPr lang="en-US" sz="2000" dirty="0"/>
              <a:t>.</a:t>
            </a:r>
          </a:p>
          <a:p>
            <a:pPr marL="357188" marR="0" lvl="0" indent="-357188" algn="l" rtl="0">
              <a:spcAft>
                <a:spcPts val="0"/>
              </a:spcAft>
              <a:buSzPct val="100000"/>
              <a:buChar char="•"/>
            </a:pPr>
            <a:r>
              <a:rPr lang="en-US" sz="2000" dirty="0"/>
              <a:t>The </a:t>
            </a:r>
            <a:r>
              <a:rPr lang="en-US" sz="2000" b="1" dirty="0"/>
              <a:t>crank throw </a:t>
            </a:r>
            <a:r>
              <a:rPr lang="en-US" sz="2000" dirty="0"/>
              <a:t>is the distance from the crankshaft’s main bearing centerline to the connecting rod journal centerline. An engine’s stroke is twice the crank throw.</a:t>
            </a:r>
            <a:endParaRPr lang="en-US" sz="2000" b="1" dirty="0"/>
          </a:p>
        </p:txBody>
      </p:sp>
    </p:spTree>
    <p:extLst>
      <p:ext uri="{BB962C8B-B14F-4D97-AF65-F5344CB8AC3E}">
        <p14:creationId xmlns:p14="http://schemas.microsoft.com/office/powerpoint/2010/main" val="42498833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Engine Measurement and Performance </a:t>
            </a:r>
            <a:r>
              <a:rPr lang="en-US" dirty="0"/>
              <a:t>(2 of 4)</a:t>
            </a:r>
            <a:endParaRPr dirty="0"/>
          </a:p>
        </p:txBody>
      </p:sp>
      <p:sp>
        <p:nvSpPr>
          <p:cNvPr id="145" name="Google Shape;145;p4"/>
          <p:cNvSpPr txBox="1">
            <a:spLocks noGrp="1"/>
          </p:cNvSpPr>
          <p:nvPr>
            <p:ph type="body" idx="1"/>
          </p:nvPr>
        </p:nvSpPr>
        <p:spPr>
          <a:xfrm>
            <a:off x="476844" y="1563625"/>
            <a:ext cx="6443502" cy="1865376"/>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t>A cylinder’s displacement is the volume of the cylinder when the piston is at </a:t>
            </a:r>
            <a:r>
              <a:rPr lang="en-US" sz="2200"/>
              <a:t>BDC.</a:t>
            </a:r>
            <a:endParaRPr lang="en-US" sz="2200" dirty="0"/>
          </a:p>
          <a:p>
            <a:pPr marL="357188" marR="0" lvl="0" indent="-357188" algn="l" rtl="0">
              <a:spcAft>
                <a:spcPts val="600"/>
              </a:spcAft>
              <a:buSzPct val="100000"/>
              <a:buChar char="•"/>
            </a:pPr>
            <a:r>
              <a:rPr lang="en-US" sz="2200" dirty="0"/>
              <a:t>Engine displacement can be changed by changing the size of the bore and/or stroke of an engine.</a:t>
            </a:r>
          </a:p>
        </p:txBody>
      </p:sp>
      <p:sp>
        <p:nvSpPr>
          <p:cNvPr id="11" name="Content Placeholder 10"/>
          <p:cNvSpPr txBox="1">
            <a:spLocks noGrp="1"/>
          </p:cNvSpPr>
          <p:nvPr>
            <p:ph sz="quarter" idx="10"/>
          </p:nvPr>
        </p:nvSpPr>
        <p:spPr>
          <a:xfrm>
            <a:off x="473242" y="3582691"/>
            <a:ext cx="4230688" cy="2394205"/>
          </a:xfrm>
          <a:prstGeom prst="rect">
            <a:avLst/>
          </a:prstGeom>
          <a:noFill/>
        </p:spPr>
        <p:txBody>
          <a:bodyPr wrap="square" rtlCol="0">
            <a:spAutoFit/>
          </a:bodyPr>
          <a:lstStyle/>
          <a:p>
            <a:pPr marL="357188" lvl="0" indent="-357188">
              <a:lnSpc>
                <a:spcPct val="107000"/>
              </a:lnSpc>
              <a:buSzPct val="100000"/>
              <a:buChar char="•"/>
            </a:pPr>
            <a:r>
              <a:rPr lang="en-US" sz="2200" dirty="0">
                <a:solidFill>
                  <a:schemeClr val="tx1"/>
                </a:solidFill>
                <a:latin typeface="Work Sans" panose="020B0604020202020204" charset="0"/>
              </a:rPr>
              <a:t>The trend in recent years has been toward smaller displacement engines fitted with turbo- or superchargers to improve fuel economy. </a:t>
            </a:r>
          </a:p>
        </p:txBody>
      </p:sp>
      <p:pic>
        <p:nvPicPr>
          <p:cNvPr id="9" name="Picture Placeholder 8" descr="The close-up view of a crankshaft with the following labels : Crank throw, Rod journal, and Crank. A curved arrow in a clockwise direction is drawn over the center of the crankshaft.">
            <a:extLst>
              <a:ext uri="{FF2B5EF4-FFF2-40B4-BE49-F238E27FC236}">
                <a16:creationId xmlns:a16="http://schemas.microsoft.com/office/drawing/2014/main" id="{5B5C142C-4293-0200-3392-9211F2D6F983}"/>
              </a:ext>
            </a:extLst>
          </p:cNvPr>
          <p:cNvPicPr>
            <a:picLocks noGrp="1" noChangeAspect="1"/>
          </p:cNvPicPr>
          <p:nvPr>
            <p:ph type="pic" sz="quarter" idx="12"/>
          </p:nvPr>
        </p:nvPicPr>
        <p:blipFill>
          <a:blip r:embed="rId3"/>
          <a:srcRect b="18012"/>
          <a:stretch/>
        </p:blipFill>
        <p:spPr>
          <a:xfrm>
            <a:off x="4789697" y="3625840"/>
            <a:ext cx="3342446" cy="1954078"/>
          </a:xfrm>
          <a:prstGeom prst="rect">
            <a:avLst/>
          </a:prstGeom>
        </p:spPr>
      </p:pic>
      <p:pic>
        <p:nvPicPr>
          <p:cNvPr id="10" name="Picture Placeholder 9" descr="The structure of a cylinder. The piston is pushed down. The crankshaft is at the neutral position. The following labels: TDC, BDC, and Bore. The vertical distance between the TDC and BDC is labeled Stroke.">
            <a:extLst>
              <a:ext uri="{FF2B5EF4-FFF2-40B4-BE49-F238E27FC236}">
                <a16:creationId xmlns:a16="http://schemas.microsoft.com/office/drawing/2014/main" id="{66F7C9A0-ABC2-5FA9-374D-16922B72002F}"/>
              </a:ext>
            </a:extLst>
          </p:cNvPr>
          <p:cNvPicPr>
            <a:picLocks noGrp="1" noChangeAspect="1"/>
          </p:cNvPicPr>
          <p:nvPr>
            <p:ph type="pic" sz="quarter" idx="13"/>
          </p:nvPr>
        </p:nvPicPr>
        <p:blipFill>
          <a:blip r:embed="rId4"/>
          <a:srcRect b="9538"/>
          <a:stretch/>
        </p:blipFill>
        <p:spPr>
          <a:xfrm>
            <a:off x="8180633" y="1818197"/>
            <a:ext cx="3227930" cy="3761721"/>
          </a:xfrm>
          <a:prstGeom prst="rect">
            <a:avLst/>
          </a:prstGeom>
        </p:spPr>
      </p:pic>
    </p:spTree>
    <p:extLst>
      <p:ext uri="{BB962C8B-B14F-4D97-AF65-F5344CB8AC3E}">
        <p14:creationId xmlns:p14="http://schemas.microsoft.com/office/powerpoint/2010/main" val="1481441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Engine Measurement and Performance </a:t>
            </a:r>
            <a:r>
              <a:rPr lang="en-US" dirty="0"/>
              <a:t>(3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2000" dirty="0">
                <a:solidFill>
                  <a:schemeClr val="accent1"/>
                </a:solidFill>
              </a:rPr>
              <a:t>The compression ratio is a statement of how much the air</a:t>
            </a:r>
            <a:r>
              <a:rPr lang="en-GB" sz="2000" dirty="0">
                <a:solidFill>
                  <a:schemeClr val="accent1"/>
                </a:solidFill>
              </a:rPr>
              <a:t>–</a:t>
            </a:r>
            <a:r>
              <a:rPr lang="en-US" sz="2000" dirty="0">
                <a:solidFill>
                  <a:schemeClr val="accent1"/>
                </a:solidFill>
              </a:rPr>
              <a:t>fuel mixture will be compressed during the compression </a:t>
            </a:r>
            <a:r>
              <a:rPr lang="en-US" sz="2000">
                <a:solidFill>
                  <a:schemeClr val="accent1"/>
                </a:solidFill>
              </a:rPr>
              <a:t>stroke.</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Worn piston rings, cylinder walls, and valves that do not seal properly can affect compression and cause engine performance </a:t>
            </a:r>
            <a:r>
              <a:rPr lang="en-US" sz="2000">
                <a:solidFill>
                  <a:schemeClr val="accent1"/>
                </a:solidFill>
              </a:rPr>
              <a:t>concerns.</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In some circumstances, compression ratio can increase due to carbon and dirt buildup in the cylinders This buildup of carbon will cause the compression ratio to increase because the volume at TDC is </a:t>
            </a:r>
            <a:r>
              <a:rPr lang="en-US" sz="2000">
                <a:solidFill>
                  <a:schemeClr val="accent1"/>
                </a:solidFill>
              </a:rPr>
              <a:t>smaller.</a:t>
            </a:r>
            <a:endParaRPr lang="en-US" sz="2000" dirty="0">
              <a:solidFill>
                <a:schemeClr val="accent1"/>
              </a:solidFill>
            </a:endParaRPr>
          </a:p>
          <a:p>
            <a:pPr marL="357188" lvl="0" indent="-357188">
              <a:spcAft>
                <a:spcPts val="600"/>
              </a:spcAft>
              <a:buSzPct val="100000"/>
            </a:pPr>
            <a:r>
              <a:rPr lang="en-US" sz="2000" dirty="0">
                <a:solidFill>
                  <a:schemeClr val="accent1"/>
                </a:solidFill>
              </a:rPr>
              <a:t>The higher the compression ratio, the more power an engine theoretically can produce; however, the heat produced by the compression stroke also </a:t>
            </a:r>
            <a:r>
              <a:rPr lang="en-US" sz="2000">
                <a:solidFill>
                  <a:schemeClr val="accent1"/>
                </a:solidFill>
              </a:rPr>
              <a:t>increases.</a:t>
            </a:r>
            <a:endParaRPr lang="en-US" sz="2000" dirty="0">
              <a:solidFill>
                <a:schemeClr val="accent1"/>
              </a:solidFill>
            </a:endParaRPr>
          </a:p>
          <a:p>
            <a:pPr marL="357188" marR="0" lvl="0" indent="-357188" algn="l" rtl="0">
              <a:spcAft>
                <a:spcPts val="600"/>
              </a:spcAft>
              <a:buSzPct val="100000"/>
              <a:buChar char="•"/>
            </a:pPr>
            <a:r>
              <a:rPr lang="en-US" sz="2000" dirty="0">
                <a:solidFill>
                  <a:schemeClr val="accent1"/>
                </a:solidFill>
              </a:rPr>
              <a:t>As the compression ratio increases, the octane rating of the gasoline should also be increased to prevent abnormal combustion.</a:t>
            </a:r>
          </a:p>
        </p:txBody>
      </p:sp>
    </p:spTree>
    <p:extLst>
      <p:ext uri="{BB962C8B-B14F-4D97-AF65-F5344CB8AC3E}">
        <p14:creationId xmlns:p14="http://schemas.microsoft.com/office/powerpoint/2010/main" val="41225210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Engine Measurement and Performance </a:t>
            </a:r>
            <a:r>
              <a:rPr lang="en-US" dirty="0"/>
              <a:t>(4 of 4)</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400"/>
              </a:spcAft>
              <a:buSzPct val="100000"/>
              <a:buChar char="•"/>
            </a:pPr>
            <a:r>
              <a:rPr lang="en-US" sz="2200" dirty="0">
                <a:solidFill>
                  <a:schemeClr val="accent1"/>
                </a:solidFill>
              </a:rPr>
              <a:t>The expansion ratio is based on the length of the compression and power </a:t>
            </a:r>
            <a:r>
              <a:rPr lang="en-US" sz="2200">
                <a:solidFill>
                  <a:schemeClr val="accent1"/>
                </a:solidFill>
              </a:rPr>
              <a:t>strokes.</a:t>
            </a:r>
            <a:endParaRPr lang="en-US" sz="2200" dirty="0">
              <a:solidFill>
                <a:schemeClr val="accent1"/>
              </a:solidFill>
            </a:endParaRPr>
          </a:p>
          <a:p>
            <a:pPr marL="357188" marR="0" lvl="0" indent="-357188" algn="l" rtl="0">
              <a:spcAft>
                <a:spcPts val="400"/>
              </a:spcAft>
              <a:buSzPct val="100000"/>
              <a:buChar char="•"/>
            </a:pPr>
            <a:r>
              <a:rPr lang="en-US" sz="2200" dirty="0">
                <a:solidFill>
                  <a:schemeClr val="accent1"/>
                </a:solidFill>
              </a:rPr>
              <a:t>For most engines, they are the same so the ratio is </a:t>
            </a:r>
            <a:r>
              <a:rPr lang="en-US" sz="2200">
                <a:solidFill>
                  <a:schemeClr val="accent1"/>
                </a:solidFill>
              </a:rPr>
              <a:t>1:1.</a:t>
            </a:r>
            <a:endParaRPr lang="en-US" sz="2200" dirty="0">
              <a:solidFill>
                <a:schemeClr val="accent1"/>
              </a:solidFill>
            </a:endParaRPr>
          </a:p>
          <a:p>
            <a:pPr marL="357188" marR="0" lvl="0" indent="-357188" algn="l" rtl="0">
              <a:spcAft>
                <a:spcPts val="400"/>
              </a:spcAft>
              <a:buSzPct val="100000"/>
              <a:buChar char="•"/>
            </a:pPr>
            <a:r>
              <a:rPr lang="en-US" sz="2200" dirty="0">
                <a:solidFill>
                  <a:schemeClr val="accent1"/>
                </a:solidFill>
              </a:rPr>
              <a:t>In </a:t>
            </a:r>
            <a:r>
              <a:rPr lang="en-US" sz="2200" b="1" dirty="0">
                <a:solidFill>
                  <a:schemeClr val="accent1"/>
                </a:solidFill>
              </a:rPr>
              <a:t>Atkinson cycle </a:t>
            </a:r>
            <a:r>
              <a:rPr lang="en-US" sz="2200" dirty="0">
                <a:solidFill>
                  <a:schemeClr val="accent1"/>
                </a:solidFill>
              </a:rPr>
              <a:t>and Miller cycle engines, the expansion ratio is greater than the compression </a:t>
            </a:r>
            <a:r>
              <a:rPr lang="en-US" sz="2200">
                <a:solidFill>
                  <a:schemeClr val="accent1"/>
                </a:solidFill>
              </a:rPr>
              <a:t>ratio.</a:t>
            </a:r>
            <a:endParaRPr lang="en-US" sz="2200" dirty="0">
              <a:solidFill>
                <a:schemeClr val="accent1"/>
              </a:solidFill>
            </a:endParaRPr>
          </a:p>
          <a:p>
            <a:pPr marL="717550" lvl="1" indent="-354013">
              <a:spcAft>
                <a:spcPts val="400"/>
              </a:spcAft>
              <a:buSzPct val="100000"/>
            </a:pPr>
            <a:r>
              <a:rPr lang="en-US" sz="2000" dirty="0">
                <a:solidFill>
                  <a:schemeClr val="accent1"/>
                </a:solidFill>
              </a:rPr>
              <a:t>This is achieved by holding the intake valve open into the compression stroke, well past its normal closing point allowing some of the air-fuel charge to exit the cylinder reduces pumping losses and reduces the compression </a:t>
            </a:r>
            <a:r>
              <a:rPr lang="en-US" sz="2000">
                <a:solidFill>
                  <a:schemeClr val="accent1"/>
                </a:solidFill>
              </a:rPr>
              <a:t>ratio.</a:t>
            </a:r>
            <a:endParaRPr lang="en-US" sz="2000" dirty="0">
              <a:solidFill>
                <a:schemeClr val="accent1"/>
              </a:solidFill>
            </a:endParaRPr>
          </a:p>
          <a:p>
            <a:pPr marL="717550" lvl="1" indent="-354013">
              <a:spcAft>
                <a:spcPts val="400"/>
              </a:spcAft>
              <a:buSzPct val="100000"/>
            </a:pPr>
            <a:r>
              <a:rPr lang="en-US" sz="2000" dirty="0">
                <a:solidFill>
                  <a:schemeClr val="accent1"/>
                </a:solidFill>
              </a:rPr>
              <a:t>Once the compressed air</a:t>
            </a:r>
            <a:r>
              <a:rPr lang="en-GB" sz="2000" dirty="0">
                <a:solidFill>
                  <a:schemeClr val="accent1"/>
                </a:solidFill>
              </a:rPr>
              <a:t>–</a:t>
            </a:r>
            <a:r>
              <a:rPr lang="en-US" sz="2000" dirty="0">
                <a:solidFill>
                  <a:schemeClr val="accent1"/>
                </a:solidFill>
              </a:rPr>
              <a:t>fuel charge is ignited, the expansion takes place over the entire length of the piston’s downward </a:t>
            </a:r>
            <a:r>
              <a:rPr lang="en-US" sz="2000">
                <a:solidFill>
                  <a:schemeClr val="accent1"/>
                </a:solidFill>
              </a:rPr>
              <a:t>stroke.</a:t>
            </a:r>
            <a:endParaRPr lang="en-US" sz="2000" dirty="0">
              <a:solidFill>
                <a:schemeClr val="accent1"/>
              </a:solidFill>
            </a:endParaRPr>
          </a:p>
          <a:p>
            <a:pPr marL="717550" lvl="1" indent="-354013">
              <a:spcAft>
                <a:spcPts val="400"/>
              </a:spcAft>
              <a:buSzPct val="100000"/>
            </a:pPr>
            <a:r>
              <a:rPr lang="en-US" sz="2000" dirty="0">
                <a:solidFill>
                  <a:schemeClr val="accent1"/>
                </a:solidFill>
              </a:rPr>
              <a:t>The result is an expansion cycle that is longer than the compression cycle, increasing the efficiency of the engine.</a:t>
            </a:r>
          </a:p>
        </p:txBody>
      </p:sp>
    </p:spTree>
    <p:extLst>
      <p:ext uri="{BB962C8B-B14F-4D97-AF65-F5344CB8AC3E}">
        <p14:creationId xmlns:p14="http://schemas.microsoft.com/office/powerpoint/2010/main" val="1370316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Engine Efficiency (1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SzPct val="100000"/>
              <a:buChar char="•"/>
            </a:pPr>
            <a:r>
              <a:rPr lang="en-US" sz="2000" dirty="0"/>
              <a:t>One of the dominating trends in automotive design is increasing an engine’s </a:t>
            </a:r>
            <a:r>
              <a:rPr lang="en-US" sz="2000"/>
              <a:t>efficiency.</a:t>
            </a:r>
            <a:endParaRPr lang="en-US" sz="2000" dirty="0"/>
          </a:p>
          <a:p>
            <a:pPr marL="357188" marR="0" lvl="0" indent="-357188" algn="l" rtl="0">
              <a:buSzPct val="100000"/>
              <a:buChar char="•"/>
            </a:pPr>
            <a:r>
              <a:rPr lang="en-US" sz="2000" b="1" dirty="0"/>
              <a:t>Efficiency</a:t>
            </a:r>
            <a:r>
              <a:rPr lang="en-US" sz="2000" dirty="0"/>
              <a:t> is simply a measure of the relationship between the amount of energy put into an engine and the amount of energy available from the engine. Other factors, or efficiencies, affect the overall efficiency of an </a:t>
            </a:r>
            <a:r>
              <a:rPr lang="en-US" sz="2000"/>
              <a:t>engine.</a:t>
            </a:r>
            <a:endParaRPr lang="en-US" sz="2000" dirty="0"/>
          </a:p>
          <a:p>
            <a:pPr marL="357188" marR="0" lvl="0" indent="-357188" algn="l" rtl="0">
              <a:buSzPct val="100000"/>
              <a:buChar char="•"/>
            </a:pPr>
            <a:r>
              <a:rPr lang="en-US" sz="2000" dirty="0"/>
              <a:t>Volumetric efficiency describes the engine’s ability to fill its cylinders with air and </a:t>
            </a:r>
            <a:r>
              <a:rPr lang="en-US" sz="2000"/>
              <a:t>fuel.</a:t>
            </a:r>
            <a:endParaRPr lang="en-US" sz="2000" dirty="0"/>
          </a:p>
          <a:p>
            <a:pPr marL="357188" marR="0" lvl="0" indent="-357188" algn="l" rtl="0">
              <a:buSzPct val="100000"/>
              <a:buChar char="•"/>
            </a:pPr>
            <a:r>
              <a:rPr lang="en-US" sz="2000" dirty="0"/>
              <a:t>If the engine’s cylinders can be filled during its intake stroke, the engine has a volumetric efficiency of 100 </a:t>
            </a:r>
            <a:r>
              <a:rPr lang="en-US" sz="2000"/>
              <a:t>percent.</a:t>
            </a:r>
            <a:endParaRPr lang="en-US" sz="2000" dirty="0"/>
          </a:p>
          <a:p>
            <a:pPr marL="357188" marR="0" lvl="0" indent="-357188" algn="l" rtl="0">
              <a:buSzPct val="100000"/>
              <a:buChar char="•"/>
            </a:pPr>
            <a:r>
              <a:rPr lang="en-US" sz="2000" dirty="0"/>
              <a:t>Typically, engines have a volumetric efficiency of 80 percent to 100 percent if they are not equipped with a turbo- or </a:t>
            </a:r>
            <a:r>
              <a:rPr lang="en-US" sz="2000"/>
              <a:t>supercharger.</a:t>
            </a:r>
            <a:endParaRPr lang="en-US" sz="2000" dirty="0"/>
          </a:p>
          <a:p>
            <a:pPr marL="357188" marR="0" lvl="0" indent="-357188" algn="l" rtl="0">
              <a:buSzPct val="100000"/>
              <a:buChar char="•"/>
            </a:pPr>
            <a:r>
              <a:rPr lang="en-US" sz="2000" dirty="0"/>
              <a:t>Turbochargers and superchargers force more air into the cylinders and therefore increase the volumetric efficiency of the </a:t>
            </a:r>
            <a:r>
              <a:rPr lang="en-US" sz="2000"/>
              <a:t>engine.</a:t>
            </a:r>
            <a:endParaRPr lang="en-US" sz="2000" dirty="0"/>
          </a:p>
        </p:txBody>
      </p:sp>
    </p:spTree>
    <p:extLst>
      <p:ext uri="{BB962C8B-B14F-4D97-AF65-F5344CB8AC3E}">
        <p14:creationId xmlns:p14="http://schemas.microsoft.com/office/powerpoint/2010/main" val="5747013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Engine Efficiency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lvl="0" indent="-357188">
              <a:spcAft>
                <a:spcPts val="600"/>
              </a:spcAft>
              <a:buSzPct val="100000"/>
            </a:pPr>
            <a:r>
              <a:rPr lang="en-US" sz="2400" dirty="0">
                <a:solidFill>
                  <a:schemeClr val="accent1"/>
                </a:solidFill>
              </a:rPr>
              <a:t>Thermal efficiency is a measure of how much of the heat formed during combustion is available as power from the </a:t>
            </a:r>
            <a:r>
              <a:rPr lang="en-US" sz="2400">
                <a:solidFill>
                  <a:schemeClr val="accent1"/>
                </a:solidFill>
              </a:rPr>
              <a:t>engine.</a:t>
            </a:r>
            <a:endParaRPr lang="en-US" sz="2200" dirty="0">
              <a:solidFill>
                <a:schemeClr val="accent1"/>
              </a:solidFill>
            </a:endParaRPr>
          </a:p>
          <a:p>
            <a:pPr marL="717550" lvl="1" indent="-354013">
              <a:spcAft>
                <a:spcPts val="600"/>
              </a:spcAft>
              <a:buSzPct val="100000"/>
            </a:pPr>
            <a:r>
              <a:rPr lang="en-US" sz="2200" dirty="0">
                <a:solidFill>
                  <a:schemeClr val="accent1"/>
                </a:solidFill>
              </a:rPr>
              <a:t>Normally, only one-fourth of the heat is used to power the vehicle. The rest is lost to the surrounding air and engine parts and to the engine’s </a:t>
            </a:r>
            <a:r>
              <a:rPr lang="en-US" sz="2200">
                <a:solidFill>
                  <a:schemeClr val="accent1"/>
                </a:solidFill>
              </a:rPr>
              <a:t>coolant.</a:t>
            </a:r>
            <a:endParaRPr lang="en-US" sz="2200" dirty="0">
              <a:solidFill>
                <a:schemeClr val="accent1"/>
              </a:solidFill>
            </a:endParaRPr>
          </a:p>
          <a:p>
            <a:pPr marL="717550" lvl="1" indent="-354013">
              <a:spcAft>
                <a:spcPts val="600"/>
              </a:spcAft>
              <a:buSzPct val="100000"/>
            </a:pPr>
            <a:r>
              <a:rPr lang="en-US" sz="2200" dirty="0">
                <a:solidFill>
                  <a:schemeClr val="accent1"/>
                </a:solidFill>
              </a:rPr>
              <a:t>When less heat is lost, the engine is more </a:t>
            </a:r>
            <a:r>
              <a:rPr lang="en-US" sz="2200">
                <a:solidFill>
                  <a:schemeClr val="accent1"/>
                </a:solidFill>
              </a:rPr>
              <a:t>efficient.</a:t>
            </a:r>
            <a:endParaRPr lang="en-US" sz="2200" dirty="0">
              <a:solidFill>
                <a:schemeClr val="accent1"/>
              </a:solidFill>
            </a:endParaRPr>
          </a:p>
          <a:p>
            <a:pPr marL="357188" lvl="0" indent="-357188">
              <a:spcAft>
                <a:spcPts val="600"/>
              </a:spcAft>
              <a:buSzPct val="100000"/>
            </a:pPr>
            <a:r>
              <a:rPr lang="en-US" sz="2400" dirty="0">
                <a:solidFill>
                  <a:schemeClr val="accent1"/>
                </a:solidFill>
              </a:rPr>
              <a:t>Mechanical efficiency is a measure of how much power is available once it leaves the engine compared to the amount of power that was exerted on the pistons during the power </a:t>
            </a:r>
            <a:r>
              <a:rPr lang="en-US" sz="2400">
                <a:solidFill>
                  <a:schemeClr val="accent1"/>
                </a:solidFill>
              </a:rPr>
              <a:t>stroke.</a:t>
            </a:r>
            <a:endParaRPr lang="en-US" sz="2400" dirty="0">
              <a:solidFill>
                <a:schemeClr val="accent1"/>
              </a:solidFill>
            </a:endParaRPr>
          </a:p>
          <a:p>
            <a:pPr marL="717550" lvl="1" indent="-354013">
              <a:spcAft>
                <a:spcPts val="600"/>
              </a:spcAft>
              <a:buSzPct val="100000"/>
            </a:pPr>
            <a:r>
              <a:rPr lang="en-US" sz="2200" dirty="0">
                <a:solidFill>
                  <a:schemeClr val="accent1"/>
                </a:solidFill>
              </a:rPr>
              <a:t>Power losses occur because of the friction generated by the moving parts. Minimizing friction increases mechanical efficiency.</a:t>
            </a:r>
          </a:p>
        </p:txBody>
      </p:sp>
    </p:spTree>
    <p:extLst>
      <p:ext uri="{BB962C8B-B14F-4D97-AF65-F5344CB8AC3E}">
        <p14:creationId xmlns:p14="http://schemas.microsoft.com/office/powerpoint/2010/main" val="69444092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Torque </a:t>
            </a:r>
            <a:r>
              <a:rPr lang="en-US" sz="4000"/>
              <a:t>versus Horsepower</a:t>
            </a:r>
            <a:endParaRPr dirty="0"/>
          </a:p>
        </p:txBody>
      </p:sp>
      <p:sp>
        <p:nvSpPr>
          <p:cNvPr id="145" name="Google Shape;145;p4"/>
          <p:cNvSpPr txBox="1">
            <a:spLocks noGrp="1"/>
          </p:cNvSpPr>
          <p:nvPr>
            <p:ph type="body" idx="1"/>
          </p:nvPr>
        </p:nvSpPr>
        <p:spPr>
          <a:xfrm>
            <a:off x="476843" y="1563624"/>
            <a:ext cx="5996693" cy="3694175"/>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t>Torque is a twisting or turning </a:t>
            </a:r>
            <a:r>
              <a:rPr lang="en-US" sz="2200"/>
              <a:t>force.</a:t>
            </a:r>
            <a:endParaRPr lang="en-US" sz="2200" dirty="0"/>
          </a:p>
          <a:p>
            <a:pPr marL="357188" marR="0" lvl="0" indent="-357188" algn="l" rtl="0">
              <a:spcAft>
                <a:spcPts val="600"/>
              </a:spcAft>
              <a:buSzPct val="100000"/>
              <a:buChar char="•"/>
            </a:pPr>
            <a:r>
              <a:rPr lang="en-US" sz="2200" dirty="0"/>
              <a:t>Horsepower is the rate at which torque is </a:t>
            </a:r>
            <a:r>
              <a:rPr lang="en-US" sz="2200"/>
              <a:t>produced.</a:t>
            </a:r>
            <a:endParaRPr lang="en-US" sz="2200" dirty="0"/>
          </a:p>
          <a:p>
            <a:pPr marL="357188" marR="0" lvl="0" indent="-357188" algn="l" rtl="0">
              <a:spcAft>
                <a:spcPts val="600"/>
              </a:spcAft>
              <a:buSzPct val="100000"/>
              <a:buChar char="•"/>
            </a:pPr>
            <a:r>
              <a:rPr lang="en-US" sz="2200" dirty="0"/>
              <a:t>When using foot-pounds (ft.-</a:t>
            </a:r>
            <a:r>
              <a:rPr lang="en-US" sz="2200" dirty="0" err="1"/>
              <a:t>lbs</a:t>
            </a:r>
            <a:r>
              <a:rPr lang="en-US" sz="2200" dirty="0"/>
              <a:t>) as units of torque, revolutions per minute (rpm) for engine speed, and horsepower (hp) for power, power can be calculated with the following </a:t>
            </a:r>
            <a:r>
              <a:rPr lang="en-US" sz="2200"/>
              <a:t>formula:</a:t>
            </a:r>
            <a:endParaRPr lang="en-US" sz="2200" dirty="0"/>
          </a:p>
        </p:txBody>
      </p:sp>
      <p:graphicFrame>
        <p:nvGraphicFramePr>
          <p:cNvPr id="9" name="Object 8" descr="The formula to calculate horsepower (h p) is as follows, horsepower = (foot-pounds times revolutions per minute)/5252.">
            <a:extLst>
              <a:ext uri="{FF2B5EF4-FFF2-40B4-BE49-F238E27FC236}">
                <a16:creationId xmlns:a16="http://schemas.microsoft.com/office/drawing/2014/main" id="{5414A1A0-EE7F-69F1-89EF-AD72C87B3FB0}"/>
              </a:ext>
            </a:extLst>
          </p:cNvPr>
          <p:cNvGraphicFramePr>
            <a:graphicFrameLocks noChangeAspect="1"/>
          </p:cNvGraphicFramePr>
          <p:nvPr>
            <p:extLst>
              <p:ext uri="{D42A27DB-BD31-4B8C-83A1-F6EECF244321}">
                <p14:modId xmlns:p14="http://schemas.microsoft.com/office/powerpoint/2010/main" val="3049480441"/>
              </p:ext>
            </p:extLst>
          </p:nvPr>
        </p:nvGraphicFramePr>
        <p:xfrm>
          <a:off x="1924050" y="5191125"/>
          <a:ext cx="2524125" cy="841375"/>
        </p:xfrm>
        <a:graphic>
          <a:graphicData uri="http://schemas.openxmlformats.org/presentationml/2006/ole">
            <mc:AlternateContent xmlns:mc="http://schemas.openxmlformats.org/markup-compatibility/2006">
              <mc:Choice xmlns:v="urn:schemas-microsoft-com:vml" Requires="v">
                <p:oleObj name="Equation" r:id="rId3" imgW="1295280" imgH="431640" progId="Equation.DSMT4">
                  <p:embed/>
                </p:oleObj>
              </mc:Choice>
              <mc:Fallback>
                <p:oleObj name="Equation" r:id="rId3" imgW="1295280" imgH="431640" progId="Equation.DSMT4">
                  <p:embed/>
                  <p:pic>
                    <p:nvPicPr>
                      <p:cNvPr id="0" name=""/>
                      <p:cNvPicPr/>
                      <p:nvPr/>
                    </p:nvPicPr>
                    <p:blipFill>
                      <a:blip r:embed="rId4"/>
                      <a:stretch>
                        <a:fillRect/>
                      </a:stretch>
                    </p:blipFill>
                    <p:spPr>
                      <a:xfrm>
                        <a:off x="1924050" y="5191125"/>
                        <a:ext cx="2524125" cy="841375"/>
                      </a:xfrm>
                      <a:prstGeom prst="rect">
                        <a:avLst/>
                      </a:prstGeom>
                    </p:spPr>
                  </p:pic>
                </p:oleObj>
              </mc:Fallback>
            </mc:AlternateContent>
          </a:graphicData>
        </a:graphic>
      </p:graphicFrame>
      <p:pic>
        <p:nvPicPr>
          <p:cNvPr id="8" name="Picture Placeholder 7" descr="A graph represents the relationship between horsepower and torque. The horizontal axis represents ‘Engine speed’. The markings on both the horizontal axis and the vertical axis are represented as small squares. The markings on the vertical axis are ranging from 100 to 550, in increments of 50. The markings on the horizontal axis are shown in 4 different rows with no specific interval. The first row reads, ‘5, 1, 1, 2, 2, 3, 3, 4, 4, 5, 5, 6, 6, 7, 7, 8’. The second row reads ‘0, 0, 5, 0, 5, 0, 5, 0, 5, 0, 5, 0, 5, 0, 5, 0’. The reading in the third row is ‘0’ entirely. The reading in the fourth row starts from its second marking and is entirely ‘0’ till the end. A vertical line is shown in the following positions gray line in the 6th unit (square) of the ‘horizontal axis’ and is labeled ‘Max torque 520 pound-feet at the rate 3200 rpm’; a blue line In the 10th unit (square) of the ‘horizontal axis’ and is labeled ‘5252 rpm’; a gray line on the 13th unit (square) of the ‘horizontal axis’ and is labeled ‘Max power 552 h p at the rate 6475 rpm’; A curved line in green is shown from 5,150 reaching its peak on the first vertical line at about 500 of the vertical axis and moving horizontally with a gradual slide from thereon. A curved line in red is shown from the first unit of the horizontal axis and about 125 of the vertical axis, moves upwards and reaches its peak on the third vertical line at about 550 of the vertical axis and gradually slides down from thereon.">
            <a:extLst>
              <a:ext uri="{FF2B5EF4-FFF2-40B4-BE49-F238E27FC236}">
                <a16:creationId xmlns:a16="http://schemas.microsoft.com/office/drawing/2014/main" id="{74A74B2A-0CCF-212B-B3A6-41F7BDA17BAD}"/>
              </a:ext>
            </a:extLst>
          </p:cNvPr>
          <p:cNvPicPr>
            <a:picLocks noGrp="1" noChangeAspect="1"/>
          </p:cNvPicPr>
          <p:nvPr>
            <p:ph type="pic" sz="quarter" idx="12"/>
          </p:nvPr>
        </p:nvPicPr>
        <p:blipFill>
          <a:blip r:embed="rId5"/>
          <a:srcRect b="10354"/>
          <a:stretch/>
        </p:blipFill>
        <p:spPr>
          <a:xfrm>
            <a:off x="6695011" y="1686426"/>
            <a:ext cx="4914634" cy="3485148"/>
          </a:xfrm>
          <a:prstGeom prst="rect">
            <a:avLst/>
          </a:prstGeom>
        </p:spPr>
      </p:pic>
    </p:spTree>
    <p:extLst>
      <p:ext uri="{BB962C8B-B14F-4D97-AF65-F5344CB8AC3E}">
        <p14:creationId xmlns:p14="http://schemas.microsoft.com/office/powerpoint/2010/main" val="40080035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Atkinson Cycle Engines</a:t>
            </a:r>
            <a:endParaRPr dirty="0"/>
          </a:p>
        </p:txBody>
      </p:sp>
      <p:sp>
        <p:nvSpPr>
          <p:cNvPr id="145" name="Google Shape;145;p4"/>
          <p:cNvSpPr txBox="1">
            <a:spLocks noGrp="1"/>
          </p:cNvSpPr>
          <p:nvPr>
            <p:ph type="body" idx="1"/>
          </p:nvPr>
        </p:nvSpPr>
        <p:spPr>
          <a:xfrm>
            <a:off x="476844" y="1527464"/>
            <a:ext cx="5986302" cy="4551217"/>
          </a:xfrm>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ct val="100000"/>
              <a:buNone/>
            </a:pPr>
            <a:r>
              <a:rPr lang="en-US" sz="2000" b="1">
                <a:solidFill>
                  <a:schemeClr val="accent1"/>
                </a:solidFill>
                <a:latin typeface="Work Sans"/>
                <a:sym typeface="Work Sans"/>
              </a:rPr>
              <a:t>09.05 Describe the basics of diesel, stratified, Atkinson, and Miller-cycle engine construction and operation</a:t>
            </a:r>
            <a:endParaRPr lang="en-US" sz="2000">
              <a:solidFill>
                <a:schemeClr val="accent1"/>
              </a:solidFill>
            </a:endParaRPr>
          </a:p>
          <a:p>
            <a:pPr marL="357188" marR="0" lvl="0" indent="-357188" algn="l" rtl="0">
              <a:lnSpc>
                <a:spcPct val="107000"/>
              </a:lnSpc>
              <a:spcBef>
                <a:spcPts val="0"/>
              </a:spcBef>
              <a:spcAft>
                <a:spcPts val="0"/>
              </a:spcAft>
              <a:buSzPct val="100000"/>
              <a:buChar char="•"/>
            </a:pPr>
            <a:r>
              <a:rPr lang="en-US" sz="2000">
                <a:solidFill>
                  <a:schemeClr val="accent1"/>
                </a:solidFill>
              </a:rPr>
              <a:t>An </a:t>
            </a:r>
            <a:r>
              <a:rPr lang="en-US" sz="2000" dirty="0">
                <a:solidFill>
                  <a:schemeClr val="accent1"/>
                </a:solidFill>
              </a:rPr>
              <a:t>Atkinson cycle engine is a four-stroke cycle engine in which the intake valve is held open longer than normal during the compression </a:t>
            </a:r>
            <a:r>
              <a:rPr lang="en-US" sz="2000">
                <a:solidFill>
                  <a:schemeClr val="accent1"/>
                </a:solidFill>
              </a:rPr>
              <a:t>stroke.</a:t>
            </a:r>
            <a:endParaRPr lang="en-US" sz="2000" dirty="0">
              <a:solidFill>
                <a:schemeClr val="accent1"/>
              </a:solidFill>
            </a:endParaRPr>
          </a:p>
          <a:p>
            <a:pPr marL="357188" marR="0" lvl="0" indent="-357188" algn="l" rtl="0">
              <a:lnSpc>
                <a:spcPct val="107000"/>
              </a:lnSpc>
              <a:spcBef>
                <a:spcPts val="0"/>
              </a:spcBef>
              <a:spcAft>
                <a:spcPts val="0"/>
              </a:spcAft>
              <a:buSzPct val="100000"/>
              <a:buChar char="•"/>
            </a:pPr>
            <a:r>
              <a:rPr lang="en-US" sz="2000" dirty="0">
                <a:solidFill>
                  <a:schemeClr val="accent1"/>
                </a:solidFill>
              </a:rPr>
              <a:t>As the piston is moving up, the mixture is being compressed, and some of it pushed back into the intake manifold. </a:t>
            </a:r>
          </a:p>
          <a:p>
            <a:pPr marL="357188" marR="0" lvl="0" indent="-357188" algn="l" rtl="0">
              <a:lnSpc>
                <a:spcPct val="107000"/>
              </a:lnSpc>
              <a:spcBef>
                <a:spcPts val="0"/>
              </a:spcBef>
              <a:spcAft>
                <a:spcPts val="0"/>
              </a:spcAft>
              <a:buSzPct val="100000"/>
              <a:buChar char="•"/>
            </a:pPr>
            <a:r>
              <a:rPr lang="en-US" sz="2000" dirty="0">
                <a:solidFill>
                  <a:schemeClr val="accent1"/>
                </a:solidFill>
              </a:rPr>
              <a:t>As a result, the amount of mixture in the cylinder and the engine’s effective displacement and compression ratio are </a:t>
            </a:r>
            <a:r>
              <a:rPr lang="en-US" sz="2000">
                <a:solidFill>
                  <a:schemeClr val="accent1"/>
                </a:solidFill>
              </a:rPr>
              <a:t>reduced.</a:t>
            </a:r>
            <a:endParaRPr lang="en-US" sz="2000" dirty="0">
              <a:solidFill>
                <a:schemeClr val="accent1"/>
              </a:solidFill>
            </a:endParaRPr>
          </a:p>
        </p:txBody>
      </p:sp>
      <p:pic>
        <p:nvPicPr>
          <p:cNvPr id="8" name="Picture Placeholder 7" descr="The intake and compression strokes for Atkinson cycle engines. The illustration on the left depicts the intake stroke for the Atkinson cycle engine, with labels: Air and fuel, Intake valve, Spark plug, Exhaust valve, Combustion chamber, Piston, and Crankshaft. During the intake stroke, air and fuel enters the combustion chamber when the intake valve is open, while the exhaust valve remains closed. A vertically downward arrow over the piston indicates the downward movement of the piston. A clockwise arrow below the crankshaft represents the clockwise rotation of the crankshaft. The illustration on the right depicts the compression stroke for the Atkinson cycle engine, with labels: Intake valve, Spark plug, Exhaust valve, Combustion chamber, and Piston. During the compression stroke, the inlet valve is slightly open and the exhaust valve remains closed. A vertically upward arrow over the piston indicates the upward movement of the piston and a portion of the air fuel mixture is pushed back through the slightly open intake valve. A clockwise arrow below the crankshaft represents the clockwise rotation of the crankshaft."/>
          <p:cNvPicPr>
            <a:picLocks noGrp="1" noChangeAspect="1"/>
          </p:cNvPicPr>
          <p:nvPr>
            <p:ph type="pic" sz="quarter" idx="12"/>
          </p:nvPr>
        </p:nvPicPr>
        <p:blipFill>
          <a:blip r:embed="rId3"/>
          <a:srcRect b="13863"/>
          <a:stretch/>
        </p:blipFill>
        <p:spPr>
          <a:xfrm>
            <a:off x="6627180" y="2124025"/>
            <a:ext cx="4855588" cy="2609950"/>
          </a:xfrm>
          <a:prstGeom prst="rect">
            <a:avLst/>
          </a:prstGeom>
        </p:spPr>
      </p:pic>
    </p:spTree>
    <p:extLst>
      <p:ext uri="{BB962C8B-B14F-4D97-AF65-F5344CB8AC3E}">
        <p14:creationId xmlns:p14="http://schemas.microsoft.com/office/powerpoint/2010/main" val="37615303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Miller Cycle Engines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200" b="1" dirty="0">
                <a:solidFill>
                  <a:schemeClr val="accent1"/>
                </a:solidFill>
              </a:rPr>
              <a:t>09.05 Describe the basics of diesel, stratified, Atkinson, and Miller-cycle engine construction and operation.</a:t>
            </a:r>
          </a:p>
          <a:p>
            <a:pPr marL="357188" marR="0" lvl="0" indent="-357188" algn="l" rtl="0">
              <a:spcAft>
                <a:spcPts val="600"/>
              </a:spcAft>
              <a:buSzPct val="100000"/>
              <a:buChar char="•"/>
            </a:pPr>
            <a:r>
              <a:rPr lang="en-US" sz="2200" dirty="0">
                <a:solidFill>
                  <a:schemeClr val="accent1"/>
                </a:solidFill>
              </a:rPr>
              <a:t>Miller Cycle Engines: An Atkinson cycle engine with forced induction (supercharging) is called a Miller cycle engine. The decrease of intake air and resulting low power is compensated for by the supercharger.</a:t>
            </a:r>
          </a:p>
          <a:p>
            <a:pPr marL="357188" marR="0" lvl="0" indent="-357188" algn="l" rtl="0">
              <a:spcAft>
                <a:spcPts val="600"/>
              </a:spcAft>
              <a:buSzPct val="100000"/>
              <a:buChar char="•"/>
            </a:pPr>
            <a:r>
              <a:rPr lang="en-US" sz="2200" dirty="0">
                <a:solidFill>
                  <a:schemeClr val="accent1"/>
                </a:solidFill>
              </a:rPr>
              <a:t>The supercharger forces air into the cylinder during the compression stroke. Keep in mind that the actual compression stroke in an Atkinson cycle engine does not begin until the intake valve closes.</a:t>
            </a:r>
          </a:p>
          <a:p>
            <a:pPr marL="357188" marR="0" lvl="0" indent="-357188" algn="l" rtl="0">
              <a:spcAft>
                <a:spcPts val="600"/>
              </a:spcAft>
              <a:buSzPct val="100000"/>
              <a:buChar char="•"/>
            </a:pPr>
            <a:r>
              <a:rPr lang="en-US" sz="2200" dirty="0">
                <a:solidFill>
                  <a:schemeClr val="accent1"/>
                </a:solidFill>
              </a:rPr>
              <a:t>The supercharger in a Miller cycle engine forces more air past the valve, and therefore, there is more air in the cylinder when the intake closes.</a:t>
            </a:r>
          </a:p>
        </p:txBody>
      </p:sp>
    </p:spTree>
    <p:extLst>
      <p:ext uri="{BB962C8B-B14F-4D97-AF65-F5344CB8AC3E}">
        <p14:creationId xmlns:p14="http://schemas.microsoft.com/office/powerpoint/2010/main" val="95387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Diesel Engines (1 of 2)</a:t>
            </a:r>
            <a:endParaRPr dirty="0"/>
          </a:p>
        </p:txBody>
      </p:sp>
      <p:sp>
        <p:nvSpPr>
          <p:cNvPr id="145" name="Google Shape;145;p4"/>
          <p:cNvSpPr txBox="1">
            <a:spLocks noGrp="1"/>
          </p:cNvSpPr>
          <p:nvPr>
            <p:ph type="body" idx="1"/>
          </p:nvPr>
        </p:nvSpPr>
        <p:spPr>
          <a:xfrm>
            <a:off x="476844" y="1563625"/>
            <a:ext cx="7669630" cy="4618966"/>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t>Diesel engines were invented by Dr. Rudolph Diesel, a German engineer, and first marketed in </a:t>
            </a:r>
            <a:r>
              <a:rPr lang="en-US" sz="2200"/>
              <a:t>1897.</a:t>
            </a:r>
            <a:endParaRPr lang="en-US" sz="2200" dirty="0"/>
          </a:p>
          <a:p>
            <a:pPr marL="357188" marR="0" lvl="0" indent="-357188" algn="l" rtl="0">
              <a:spcAft>
                <a:spcPts val="600"/>
              </a:spcAft>
              <a:buSzPct val="100000"/>
              <a:buChar char="•"/>
            </a:pPr>
            <a:r>
              <a:rPr lang="en-US" sz="2200" dirty="0"/>
              <a:t>The diesel engine is now the dominant power plant in heavy-duty trucks, construction equipment, farm equipment, buses, marine, and some automotive </a:t>
            </a:r>
            <a:r>
              <a:rPr lang="en-US" sz="2200"/>
              <a:t>applications.</a:t>
            </a:r>
            <a:endParaRPr lang="en-US" sz="2200" dirty="0"/>
          </a:p>
          <a:p>
            <a:pPr marL="357188" marR="0" lvl="0" indent="-357188" algn="l" rtl="0">
              <a:spcAft>
                <a:spcPts val="600"/>
              </a:spcAft>
              <a:buSzPct val="100000"/>
              <a:buChar char="•"/>
            </a:pPr>
            <a:r>
              <a:rPr lang="en-US" sz="2200" dirty="0"/>
              <a:t>The operation of a </a:t>
            </a:r>
            <a:r>
              <a:rPr lang="en-US" sz="2200" b="1" dirty="0"/>
              <a:t>diesel engine </a:t>
            </a:r>
            <a:r>
              <a:rPr lang="en-US" sz="2200" dirty="0"/>
              <a:t>is comparable to a gasoline engine. They also have a number of components in common, such as the crankshaft, pistons, valves, camshaft, and water and oil </a:t>
            </a:r>
            <a:r>
              <a:rPr lang="en-US" sz="2200"/>
              <a:t>pumps.</a:t>
            </a:r>
            <a:endParaRPr lang="en-US" sz="2200" dirty="0"/>
          </a:p>
        </p:txBody>
      </p:sp>
      <p:pic>
        <p:nvPicPr>
          <p:cNvPr id="7" name="Picture Placeholder 6" descr="A close-up of a European four-cylinder passenger car diesel engine.">
            <a:extLst>
              <a:ext uri="{FF2B5EF4-FFF2-40B4-BE49-F238E27FC236}">
                <a16:creationId xmlns:a16="http://schemas.microsoft.com/office/drawing/2014/main" id="{AC4D3A34-F489-8B92-C133-8531BD3A3F68}"/>
              </a:ext>
            </a:extLst>
          </p:cNvPr>
          <p:cNvPicPr>
            <a:picLocks noGrp="1" noChangeAspect="1"/>
          </p:cNvPicPr>
          <p:nvPr>
            <p:ph type="pic" sz="quarter" idx="12"/>
          </p:nvPr>
        </p:nvPicPr>
        <p:blipFill>
          <a:blip r:embed="rId3"/>
          <a:srcRect b="11373"/>
          <a:stretch/>
        </p:blipFill>
        <p:spPr>
          <a:xfrm>
            <a:off x="8321894" y="2018991"/>
            <a:ext cx="3393263" cy="3405064"/>
          </a:xfrm>
          <a:prstGeom prst="rect">
            <a:avLst/>
          </a:prstGeom>
        </p:spPr>
      </p:pic>
    </p:spTree>
    <p:extLst>
      <p:ext uri="{BB962C8B-B14F-4D97-AF65-F5344CB8AC3E}">
        <p14:creationId xmlns:p14="http://schemas.microsoft.com/office/powerpoint/2010/main" val="37725660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Diesel Engines  (2 of 2)</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2200" dirty="0">
                <a:solidFill>
                  <a:schemeClr val="accent1"/>
                </a:solidFill>
              </a:rPr>
              <a:t>A diesel engine uses the heat produced by compressing air in the combustion chamber to ignite the fuel. The compression ratio of diesel engines can be three times (as high as 25:1) that of a gasoline engine, though newer engine technologies allow diesel engines to use lower compression </a:t>
            </a:r>
            <a:r>
              <a:rPr lang="en-US" sz="2200">
                <a:solidFill>
                  <a:schemeClr val="accent1"/>
                </a:solidFill>
              </a:rPr>
              <a:t>ratios.</a:t>
            </a:r>
            <a:endParaRPr lang="en-US" sz="2200" dirty="0">
              <a:solidFill>
                <a:schemeClr val="accent1"/>
              </a:solidFill>
            </a:endParaRPr>
          </a:p>
          <a:p>
            <a:pPr marL="357188" marR="0" lvl="0" indent="-357188" algn="l" rtl="0">
              <a:spcAft>
                <a:spcPts val="600"/>
              </a:spcAft>
              <a:buSzPct val="100000"/>
              <a:buChar char="•"/>
            </a:pPr>
            <a:r>
              <a:rPr lang="en-US" sz="2200" dirty="0">
                <a:solidFill>
                  <a:schemeClr val="accent1"/>
                </a:solidFill>
              </a:rPr>
              <a:t>As intake air is compressed, its temperature rises to 1,300 °F to 1,650 °F (700 °C to 900 °</a:t>
            </a:r>
            <a:r>
              <a:rPr lang="en-US" sz="2200">
                <a:solidFill>
                  <a:schemeClr val="accent1"/>
                </a:solidFill>
              </a:rPr>
              <a:t>C).</a:t>
            </a:r>
            <a:endParaRPr lang="en-US" sz="2200" dirty="0">
              <a:solidFill>
                <a:schemeClr val="accent1"/>
              </a:solidFill>
            </a:endParaRPr>
          </a:p>
          <a:p>
            <a:pPr marL="357188" marR="0" lvl="0" indent="-357188" algn="l" rtl="0">
              <a:spcAft>
                <a:spcPts val="600"/>
              </a:spcAft>
              <a:buSzPct val="100000"/>
              <a:buChar char="•"/>
            </a:pPr>
            <a:r>
              <a:rPr lang="en-US" sz="2200" dirty="0">
                <a:solidFill>
                  <a:schemeClr val="accent1"/>
                </a:solidFill>
              </a:rPr>
              <a:t>Just before the air is fully compressed, a fuel injector sprays a small amount of diesel fuel into the </a:t>
            </a:r>
            <a:r>
              <a:rPr lang="en-US" sz="2200">
                <a:solidFill>
                  <a:schemeClr val="accent1"/>
                </a:solidFill>
              </a:rPr>
              <a:t>cylinder.</a:t>
            </a:r>
            <a:endParaRPr lang="en-US" sz="2200" dirty="0">
              <a:solidFill>
                <a:schemeClr val="accent1"/>
              </a:solidFill>
            </a:endParaRPr>
          </a:p>
          <a:p>
            <a:pPr marL="357188" marR="0" lvl="0" indent="-357188" algn="l" rtl="0">
              <a:spcAft>
                <a:spcPts val="600"/>
              </a:spcAft>
              <a:buSzPct val="100000"/>
              <a:buChar char="•"/>
            </a:pPr>
            <a:r>
              <a:rPr lang="en-US" sz="2200" dirty="0">
                <a:solidFill>
                  <a:schemeClr val="accent1"/>
                </a:solidFill>
              </a:rPr>
              <a:t>The high temperature of the compressed air instantly ignites the fuel. The combustion causes increased heat, and the resulting high pressure moves the piston down on its power stroke.</a:t>
            </a:r>
          </a:p>
        </p:txBody>
      </p:sp>
    </p:spTree>
    <p:extLst>
      <p:ext uri="{BB962C8B-B14F-4D97-AF65-F5344CB8AC3E}">
        <p14:creationId xmlns:p14="http://schemas.microsoft.com/office/powerpoint/2010/main" val="2937514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sz="4000" dirty="0"/>
              <a:t>Homogeneous Charge Compression Ignition (HCCI) Engines</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800" dirty="0">
                <a:solidFill>
                  <a:schemeClr val="accent1"/>
                </a:solidFill>
              </a:rPr>
              <a:t>These are four-stroke cycle engines and rely on a combination of spark ignition and compression ignition technologies and can run as spark or compression ignited </a:t>
            </a:r>
            <a:r>
              <a:rPr lang="en-US" sz="1800">
                <a:solidFill>
                  <a:schemeClr val="accent1"/>
                </a:solidFill>
              </a:rPr>
              <a:t>engines.</a:t>
            </a:r>
            <a:endParaRPr lang="en-US" sz="1800" dirty="0">
              <a:solidFill>
                <a:schemeClr val="accent1"/>
              </a:solidFill>
            </a:endParaRPr>
          </a:p>
          <a:p>
            <a:pPr marL="357188" lvl="0" indent="-357188">
              <a:spcAft>
                <a:spcPts val="600"/>
              </a:spcAft>
              <a:buSzPct val="100000"/>
            </a:pPr>
            <a:r>
              <a:rPr lang="en-US" sz="1800" dirty="0">
                <a:solidFill>
                  <a:schemeClr val="accent1"/>
                </a:solidFill>
              </a:rPr>
              <a:t>The term “Homogeneous Charge” means the fuel is thoroughly mixed with the intake </a:t>
            </a:r>
            <a:r>
              <a:rPr lang="en-US" sz="1800">
                <a:solidFill>
                  <a:schemeClr val="accent1"/>
                </a:solidFill>
              </a:rPr>
              <a:t>air.</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In the HCCI mode, the temperature of the mixture is greatly increased during the compression stroke, the air and fuel are mixed, and heat builds as the mixture is </a:t>
            </a:r>
            <a:r>
              <a:rPr lang="en-US" sz="1800">
                <a:solidFill>
                  <a:schemeClr val="accent1"/>
                </a:solidFill>
              </a:rPr>
              <a:t>compressed.</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This heat ignites the mixture without the need for a spark </a:t>
            </a:r>
            <a:r>
              <a:rPr lang="en-US" sz="1800">
                <a:solidFill>
                  <a:schemeClr val="accent1"/>
                </a:solidFill>
              </a:rPr>
              <a:t>plug.</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To develop the heat necessary for ignition, these engines have a very high-compression ratio and a very lean air/fuel mixture. To make all of this work, the mixture must get hot enough to “</a:t>
            </a:r>
            <a:r>
              <a:rPr lang="en-US" sz="1800">
                <a:solidFill>
                  <a:schemeClr val="accent1"/>
                </a:solidFill>
              </a:rPr>
              <a:t>auto-ignite.”</a:t>
            </a:r>
            <a:endParaRPr lang="en-US" sz="1800" dirty="0">
              <a:solidFill>
                <a:schemeClr val="accent1"/>
              </a:solidFill>
            </a:endParaRPr>
          </a:p>
          <a:p>
            <a:pPr marL="357188" marR="0" lvl="0" indent="-357188" algn="l" rtl="0">
              <a:spcAft>
                <a:spcPts val="600"/>
              </a:spcAft>
              <a:buSzPct val="100000"/>
              <a:buChar char="•"/>
            </a:pPr>
            <a:r>
              <a:rPr lang="en-US" sz="1800" dirty="0">
                <a:solidFill>
                  <a:schemeClr val="accent1"/>
                </a:solidFill>
              </a:rPr>
              <a:t>When the mixture ignites, combustion immediately and simultaneously begins at several points within the mixture.</a:t>
            </a:r>
          </a:p>
        </p:txBody>
      </p:sp>
    </p:spTree>
    <p:extLst>
      <p:ext uri="{BB962C8B-B14F-4D97-AF65-F5344CB8AC3E}">
        <p14:creationId xmlns:p14="http://schemas.microsoft.com/office/powerpoint/2010/main" val="29215003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Knowledge Check (2 of 2) </a:t>
            </a:r>
            <a:endParaRPr/>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lgn="ctr">
              <a:buNone/>
            </a:pPr>
            <a:r>
              <a:rPr lang="en-US" sz="2400" dirty="0"/>
              <a:t>True or False? Horsepower is a twisting or turning </a:t>
            </a:r>
            <a:r>
              <a:rPr lang="en-US" sz="2400"/>
              <a:t>force.</a:t>
            </a:r>
            <a:endParaRPr lang="en-US"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a:t>
            </a:r>
            <a:r>
              <a:rPr lang="en-US"/>
              <a:t>Check Answer (2 of 2)</a:t>
            </a:r>
            <a:endParaRPr dirty="0"/>
          </a:p>
        </p:txBody>
      </p:sp>
      <p:sp>
        <p:nvSpPr>
          <p:cNvPr id="317" name="Google Shape;317;p30"/>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1" indent="0">
              <a:spcAft>
                <a:spcPts val="2400"/>
              </a:spcAft>
              <a:buNone/>
            </a:pPr>
            <a:r>
              <a:rPr lang="en-US" sz="2400" dirty="0"/>
              <a:t>True or False? Horsepower is a twisting or turning force.</a:t>
            </a:r>
          </a:p>
          <a:p>
            <a:pPr marL="0" lvl="1" indent="0">
              <a:buNone/>
            </a:pPr>
            <a:r>
              <a:rPr lang="en-US" sz="2400" b="1" dirty="0">
                <a:solidFill>
                  <a:schemeClr val="tx1"/>
                </a:solidFill>
                <a:latin typeface="Work Sans" panose="020B0604020202020204" charset="0"/>
                <a:ea typeface="Work Sans"/>
                <a:cs typeface="Work Sans"/>
                <a:sym typeface="Work Sans"/>
              </a:rPr>
              <a:t>Answer</a:t>
            </a:r>
            <a:r>
              <a:rPr lang="en-US" sz="2400" dirty="0">
                <a:solidFill>
                  <a:schemeClr val="tx1"/>
                </a:solidFill>
                <a:latin typeface="Work Sans" panose="020B0604020202020204" charset="0"/>
                <a:ea typeface="Work Sans"/>
                <a:cs typeface="Work Sans"/>
                <a:sym typeface="Work Sans"/>
              </a:rPr>
              <a:t>: False. Torque is a twisting or turning force.</a:t>
            </a:r>
          </a:p>
          <a:p>
            <a:pPr marL="0" lvl="1" indent="0">
              <a:buNone/>
            </a:pPr>
            <a:r>
              <a:rPr lang="en-US" sz="2400" dirty="0">
                <a:solidFill>
                  <a:schemeClr val="tx1"/>
                </a:solidFill>
                <a:latin typeface="Work Sans" panose="020B0604020202020204" charset="0"/>
              </a:rPr>
              <a:t>Horsepower is the rate at which torque is produced.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a:t>Hybrids</a:t>
            </a:r>
            <a:endParaRPr lang="en-US" dirty="0"/>
          </a:p>
        </p:txBody>
      </p:sp>
      <p:sp>
        <p:nvSpPr>
          <p:cNvPr id="145" name="Google Shape;145;p4"/>
          <p:cNvSpPr txBox="1">
            <a:spLocks noGrp="1"/>
          </p:cNvSpPr>
          <p:nvPr>
            <p:ph type="body" idx="1"/>
          </p:nvPr>
        </p:nvSpPr>
        <p:spPr>
          <a:xfrm>
            <a:off x="476844" y="1563624"/>
            <a:ext cx="7420248" cy="4587793"/>
          </a:xfrm>
          <a:prstGeom prst="rect">
            <a:avLst/>
          </a:prstGeom>
          <a:noFill/>
          <a:ln>
            <a:noFill/>
          </a:ln>
        </p:spPr>
        <p:txBody>
          <a:bodyPr spcFirstLastPara="1" wrap="square" lIns="91425" tIns="45700" rIns="91425" bIns="45700" anchor="t" anchorCtr="0">
            <a:noAutofit/>
          </a:bodyPr>
          <a:lstStyle/>
          <a:p>
            <a:pPr marL="357188" marR="0" lvl="0" indent="-357188" algn="l" rtl="0">
              <a:spcAft>
                <a:spcPts val="600"/>
              </a:spcAft>
              <a:buSzPct val="100000"/>
              <a:buChar char="•"/>
            </a:pPr>
            <a:r>
              <a:rPr lang="en-US" sz="1600" dirty="0"/>
              <a:t>A hybrid vehicle has at least two different types of power or propulsion </a:t>
            </a:r>
            <a:r>
              <a:rPr lang="en-US" sz="1600"/>
              <a:t>systems.</a:t>
            </a:r>
            <a:endParaRPr lang="en-US" sz="1600" dirty="0"/>
          </a:p>
          <a:p>
            <a:pPr marL="357188" marR="0" lvl="0" indent="-357188" algn="l" rtl="0">
              <a:spcAft>
                <a:spcPts val="600"/>
              </a:spcAft>
              <a:buSzPct val="100000"/>
              <a:buChar char="•"/>
            </a:pPr>
            <a:r>
              <a:rPr lang="en-US" sz="1600" dirty="0"/>
              <a:t>Today’s hybrid vehicles have an internal combustion engine and electric motor(s).</a:t>
            </a:r>
          </a:p>
          <a:p>
            <a:pPr marL="357188" marR="0" lvl="0" indent="-357188" algn="l" rtl="0">
              <a:spcAft>
                <a:spcPts val="600"/>
              </a:spcAft>
              <a:buSzPct val="100000"/>
              <a:buChar char="•"/>
            </a:pPr>
            <a:r>
              <a:rPr lang="en-US" sz="1600" dirty="0"/>
              <a:t>A hybrid’s electric motor is powered by batteries and/or ultracapacitors, which are recharged by a generator that is driven by the </a:t>
            </a:r>
            <a:r>
              <a:rPr lang="en-US" sz="1600"/>
              <a:t>engine.</a:t>
            </a:r>
            <a:endParaRPr lang="en-US" sz="1600" dirty="0"/>
          </a:p>
          <a:p>
            <a:pPr marL="357188" marR="0" lvl="0" indent="-357188" algn="l" rtl="0">
              <a:spcAft>
                <a:spcPts val="600"/>
              </a:spcAft>
              <a:buSzPct val="100000"/>
              <a:buChar char="•"/>
            </a:pPr>
            <a:r>
              <a:rPr lang="en-US" sz="1600" dirty="0"/>
              <a:t>The electric motor may propel the vehicle by itself, assist the engine while it is propelling the vehicle, or act as a generator to charge the </a:t>
            </a:r>
            <a:r>
              <a:rPr lang="en-US" sz="1600"/>
              <a:t>batteries.</a:t>
            </a:r>
            <a:endParaRPr lang="en-US" sz="1600" dirty="0"/>
          </a:p>
          <a:p>
            <a:pPr marL="357188" marR="0" lvl="0" indent="-357188" algn="l" rtl="0">
              <a:spcAft>
                <a:spcPts val="600"/>
              </a:spcAft>
              <a:buSzPct val="100000"/>
              <a:buChar char="•"/>
            </a:pPr>
            <a:r>
              <a:rPr lang="en-US" sz="1600" dirty="0"/>
              <a:t>The engines used in hybrids are specially designed for fuel economy and low </a:t>
            </a:r>
            <a:r>
              <a:rPr lang="en-US" sz="1600"/>
              <a:t>emissions.</a:t>
            </a:r>
            <a:endParaRPr lang="en-US" sz="1600" dirty="0"/>
          </a:p>
          <a:p>
            <a:pPr marL="357188" marR="0" lvl="0" indent="-357188" algn="l" rtl="0">
              <a:spcAft>
                <a:spcPts val="600"/>
              </a:spcAft>
              <a:buSzPct val="100000"/>
              <a:buChar char="•"/>
            </a:pPr>
            <a:r>
              <a:rPr lang="en-US" sz="1600" dirty="0"/>
              <a:t>The engines tend to be small displacement engines that use VVT and the Atkinson cycle to provide low fuel </a:t>
            </a:r>
            <a:r>
              <a:rPr lang="en-US" sz="1600"/>
              <a:t>consumption.</a:t>
            </a:r>
            <a:endParaRPr lang="en-US" sz="1600" dirty="0"/>
          </a:p>
        </p:txBody>
      </p:sp>
      <p:pic>
        <p:nvPicPr>
          <p:cNvPr id="7" name="Picture Placeholder 6" descr="A close-up view of a gasoline engine with an electric motor connected to the engine's crankshaft.">
            <a:extLst>
              <a:ext uri="{FF2B5EF4-FFF2-40B4-BE49-F238E27FC236}">
                <a16:creationId xmlns:a16="http://schemas.microsoft.com/office/drawing/2014/main" id="{A55D4FC4-6E91-2536-7969-FF1068FF0089}"/>
              </a:ext>
            </a:extLst>
          </p:cNvPr>
          <p:cNvPicPr>
            <a:picLocks noGrp="1" noChangeAspect="1"/>
          </p:cNvPicPr>
          <p:nvPr>
            <p:ph type="pic" sz="quarter" idx="12"/>
          </p:nvPr>
        </p:nvPicPr>
        <p:blipFill rotWithShape="1">
          <a:blip r:embed="rId3"/>
          <a:srcRect b="12739"/>
          <a:stretch/>
        </p:blipFill>
        <p:spPr>
          <a:xfrm>
            <a:off x="7794403" y="2041252"/>
            <a:ext cx="3920754" cy="2775497"/>
          </a:xfrm>
          <a:prstGeom prst="rect">
            <a:avLst/>
          </a:prstGeom>
        </p:spPr>
      </p:pic>
    </p:spTree>
    <p:extLst>
      <p:ext uri="{BB962C8B-B14F-4D97-AF65-F5344CB8AC3E}">
        <p14:creationId xmlns:p14="http://schemas.microsoft.com/office/powerpoint/2010/main" val="30333547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a:t>Engine Identification</a:t>
            </a:r>
            <a:endParaRPr dirty="0"/>
          </a:p>
        </p:txBody>
      </p:sp>
      <p:sp>
        <p:nvSpPr>
          <p:cNvPr id="145" name="Google Shape;145;p4"/>
          <p:cNvSpPr txBox="1">
            <a:spLocks noGrp="1"/>
          </p:cNvSpPr>
          <p:nvPr>
            <p:ph type="body" idx="1"/>
          </p:nvPr>
        </p:nvSpPr>
        <p:spPr>
          <a:xfrm>
            <a:off x="476844" y="1563625"/>
            <a:ext cx="7212430" cy="4670920"/>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1800" b="1" dirty="0"/>
              <a:t>09.06 Identify engines using ID and calibration </a:t>
            </a:r>
            <a:r>
              <a:rPr lang="en-US" sz="1800" b="1"/>
              <a:t>tags.</a:t>
            </a:r>
            <a:endParaRPr lang="en-US" sz="1800" b="1" dirty="0"/>
          </a:p>
          <a:p>
            <a:pPr marL="357188" marR="0" lvl="0" indent="-357188" algn="l" rtl="0">
              <a:spcAft>
                <a:spcPts val="600"/>
              </a:spcAft>
              <a:buSzPct val="100000"/>
              <a:buChar char="•"/>
            </a:pPr>
            <a:r>
              <a:rPr lang="en-US" sz="1800" dirty="0"/>
              <a:t>Engine blocks often have a serial number stamped into them. An engine code is generally found beside the serial </a:t>
            </a:r>
            <a:r>
              <a:rPr lang="en-US" sz="1800"/>
              <a:t>number.</a:t>
            </a:r>
            <a:endParaRPr lang="en-US" sz="1800" dirty="0"/>
          </a:p>
          <a:p>
            <a:pPr marL="357188" marR="0" lvl="0" indent="-357188" algn="l" rtl="0">
              <a:spcAft>
                <a:spcPts val="600"/>
              </a:spcAft>
              <a:buSzPct val="100000"/>
              <a:buChar char="•"/>
            </a:pPr>
            <a:r>
              <a:rPr lang="en-US" sz="1800" dirty="0"/>
              <a:t>The engine code will help you determine the correct specifications for that particular engine.</a:t>
            </a:r>
          </a:p>
          <a:p>
            <a:pPr marL="357188" marR="0" lvl="0" indent="-357188" algn="l" rtl="0">
              <a:spcAft>
                <a:spcPts val="600"/>
              </a:spcAft>
              <a:buSzPct val="100000"/>
              <a:buChar char="•"/>
            </a:pPr>
            <a:r>
              <a:rPr lang="en-US" sz="1800" dirty="0"/>
              <a:t>Many engines have ID tags or stickers attached to various places on the engine, such as the valve cover or oil pan. The tags include the displacement, assembly plant, model year, change level, engine code, and date of production. </a:t>
            </a:r>
          </a:p>
          <a:p>
            <a:pPr marL="357188" marR="0" lvl="0" indent="-357188" algn="l" rtl="0">
              <a:spcAft>
                <a:spcPts val="600"/>
              </a:spcAft>
              <a:buSzPct val="100000"/>
              <a:buChar char="•"/>
            </a:pPr>
            <a:r>
              <a:rPr lang="en-US" sz="1800" dirty="0"/>
              <a:t>Casting Numbers: Whenever an engine part such as an engine block or head is cast, a number is put into the mold to identify the casting and the date when the part was </a:t>
            </a:r>
            <a:r>
              <a:rPr lang="en-US" sz="1800"/>
              <a:t>made.</a:t>
            </a:r>
            <a:endParaRPr lang="en-US" sz="1800" dirty="0"/>
          </a:p>
        </p:txBody>
      </p:sp>
      <p:pic>
        <p:nvPicPr>
          <p:cNvPr id="7" name="Picture Placeholder 6" descr="An engine with identifiable red and green strips. The labels on these strips are 'Block foundry ID and date' for the red strip and 'Engine number' for the green strip. Adjacent to the engine is a yellow strip labeled ‘Label located on valve cover’ that shows a series of small vertical lines and numbers above and below them. The numbers given below the vertical lines read ‘2235’, ‘1234’, ‘743’, and ‘3’ which indicate ‘Date’, ‘Seq number’, ‘B/code’, and ‘PLT’ respectively. The numbers given above the vertical lines read, ‘5.0’, ‘2355’ and ‘743’. The supporting text reads, ‘NOTE: VIN is stamped on the bedplate’.">
            <a:extLst>
              <a:ext uri="{FF2B5EF4-FFF2-40B4-BE49-F238E27FC236}">
                <a16:creationId xmlns:a16="http://schemas.microsoft.com/office/drawing/2014/main" id="{07781431-A375-4096-BFF8-2B5A6379D72B}"/>
              </a:ext>
            </a:extLst>
          </p:cNvPr>
          <p:cNvPicPr>
            <a:picLocks noGrp="1" noChangeAspect="1"/>
          </p:cNvPicPr>
          <p:nvPr>
            <p:ph type="pic" sz="quarter" idx="12"/>
          </p:nvPr>
        </p:nvPicPr>
        <p:blipFill rotWithShape="1">
          <a:blip r:embed="rId3"/>
          <a:srcRect b="15446"/>
          <a:stretch/>
        </p:blipFill>
        <p:spPr>
          <a:xfrm>
            <a:off x="7680710" y="2516239"/>
            <a:ext cx="4134655" cy="1825522"/>
          </a:xfrm>
          <a:prstGeom prst="rect">
            <a:avLst/>
          </a:prstGeom>
        </p:spPr>
      </p:pic>
    </p:spTree>
    <p:extLst>
      <p:ext uri="{BB962C8B-B14F-4D97-AF65-F5344CB8AC3E}">
        <p14:creationId xmlns:p14="http://schemas.microsoft.com/office/powerpoint/2010/main" val="405654198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dk1"/>
              </a:buClr>
              <a:buSzPts val="4000"/>
              <a:buFont typeface="Work Sans"/>
              <a:buNone/>
            </a:pPr>
            <a:r>
              <a:rPr lang="en-US" dirty="0"/>
              <a:t>Engine Diagnostics Relative Compression Test</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t>09.07 Explain the tests used to evaluate the condition of an engine.</a:t>
            </a:r>
            <a:endParaRPr lang="en-US" sz="2000" dirty="0"/>
          </a:p>
          <a:p>
            <a:pPr marL="363538" indent="-363538">
              <a:spcAft>
                <a:spcPts val="600"/>
              </a:spcAft>
              <a:buSzPct val="100000"/>
            </a:pPr>
            <a:r>
              <a:rPr lang="en-US" sz="2000" dirty="0"/>
              <a:t>Be sure to follow the manufacturers’ procedures to prevent vehicle damage and personal injury.</a:t>
            </a:r>
          </a:p>
          <a:p>
            <a:pPr marL="363538" indent="-363538">
              <a:spcAft>
                <a:spcPts val="600"/>
              </a:spcAft>
              <a:buSzPct val="100000"/>
            </a:pPr>
            <a:r>
              <a:rPr lang="en-US" sz="2000" dirty="0"/>
              <a:t>Which tests and in what order they are performed will depend on the vehicle and the concern being diagnosed.</a:t>
            </a:r>
          </a:p>
          <a:p>
            <a:pPr marL="363538" indent="-363538">
              <a:spcAft>
                <a:spcPts val="600"/>
              </a:spcAft>
              <a:buSzPct val="100000"/>
            </a:pPr>
            <a:r>
              <a:rPr lang="en-US" sz="2000" dirty="0"/>
              <a:t>If the concern is related to poor or uneven engine performance and there are no DTCs stored, a technician may perform a relative compression test to make a quick assessment of an engine’s condition.</a:t>
            </a:r>
          </a:p>
          <a:p>
            <a:pPr marL="363538" indent="-363538">
              <a:spcAft>
                <a:spcPts val="600"/>
              </a:spcAft>
              <a:buSzPct val="100000"/>
            </a:pPr>
            <a:r>
              <a:rPr lang="en-US" sz="2000" dirty="0"/>
              <a:t>By measuring the cranking current with a lab scope, each cylinder’s draw on the starter motor and battery can be compared to the other cylinders.</a:t>
            </a:r>
          </a:p>
          <a:p>
            <a:pPr marL="363538" indent="-363538">
              <a:spcAft>
                <a:spcPts val="600"/>
              </a:spcAft>
              <a:buSzPct val="100000"/>
            </a:pPr>
            <a:r>
              <a:rPr lang="en-US" sz="2000" dirty="0"/>
              <a:t>Disable the fuel pump and crank the engine for 5 to 7 seconds. A cylinder with low compression will have less current draw than one with good compression.</a:t>
            </a:r>
          </a:p>
        </p:txBody>
      </p:sp>
    </p:spTree>
    <p:extLst>
      <p:ext uri="{BB962C8B-B14F-4D97-AF65-F5344CB8AC3E}">
        <p14:creationId xmlns:p14="http://schemas.microsoft.com/office/powerpoint/2010/main" val="4141574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Running Compression Test</a:t>
            </a:r>
          </a:p>
        </p:txBody>
      </p:sp>
      <p:sp>
        <p:nvSpPr>
          <p:cNvPr id="145" name="Google Shape;145;p4"/>
          <p:cNvSpPr txBox="1">
            <a:spLocks noGrp="1"/>
          </p:cNvSpPr>
          <p:nvPr>
            <p:ph type="body" idx="1"/>
          </p:nvPr>
        </p:nvSpPr>
        <p:spPr>
          <a:xfrm>
            <a:off x="476844" y="1563625"/>
            <a:ext cx="7004612" cy="4525448"/>
          </a:xfrm>
          <a:prstGeom prst="rect">
            <a:avLst/>
          </a:prstGeom>
          <a:noFill/>
          <a:ln>
            <a:noFill/>
          </a:ln>
        </p:spPr>
        <p:txBody>
          <a:bodyPr spcFirstLastPara="1" wrap="square" lIns="91425" tIns="45700" rIns="91425" bIns="45700" anchor="t" anchorCtr="0">
            <a:noAutofit/>
          </a:bodyPr>
          <a:lstStyle/>
          <a:p>
            <a:pPr marL="363538" indent="-363538">
              <a:spcAft>
                <a:spcPts val="200"/>
              </a:spcAft>
              <a:buSzPct val="100000"/>
            </a:pPr>
            <a:r>
              <a:rPr lang="en-US" sz="2000" dirty="0">
                <a:solidFill>
                  <a:schemeClr val="accent1"/>
                </a:solidFill>
              </a:rPr>
              <a:t>Engine problems such as worn camshaft lobes are not easily detected using a cranking compression </a:t>
            </a:r>
            <a:r>
              <a:rPr lang="en-US" sz="2000">
                <a:solidFill>
                  <a:schemeClr val="accent1"/>
                </a:solidFill>
              </a:rPr>
              <a:t>test.</a:t>
            </a:r>
            <a:endParaRPr lang="en-US" sz="2000" dirty="0">
              <a:solidFill>
                <a:schemeClr val="accent1"/>
              </a:solidFill>
            </a:endParaRPr>
          </a:p>
          <a:p>
            <a:pPr marL="363538" indent="-363538">
              <a:spcAft>
                <a:spcPts val="200"/>
              </a:spcAft>
              <a:buSzPct val="100000"/>
            </a:pPr>
            <a:r>
              <a:rPr lang="en-US" sz="2000" dirty="0">
                <a:solidFill>
                  <a:schemeClr val="accent1"/>
                </a:solidFill>
              </a:rPr>
              <a:t>Using a standard compression test kit, remove the Schrader valve from the tester’s hose, or utilize a scope with pressure </a:t>
            </a:r>
            <a:r>
              <a:rPr lang="en-US" sz="2000">
                <a:solidFill>
                  <a:schemeClr val="accent1"/>
                </a:solidFill>
              </a:rPr>
              <a:t>transducer.</a:t>
            </a:r>
            <a:endParaRPr lang="en-US" sz="2000" dirty="0">
              <a:solidFill>
                <a:schemeClr val="accent1"/>
              </a:solidFill>
            </a:endParaRPr>
          </a:p>
          <a:p>
            <a:pPr marL="363538" indent="-363538">
              <a:spcAft>
                <a:spcPts val="200"/>
              </a:spcAft>
              <a:buSzPct val="100000"/>
            </a:pPr>
            <a:r>
              <a:rPr lang="en-US" sz="2000" dirty="0">
                <a:solidFill>
                  <a:schemeClr val="accent1"/>
                </a:solidFill>
              </a:rPr>
              <a:t>Start the engine, the gauge will show both pressure and vacuum, and the needle will sweep up and </a:t>
            </a:r>
            <a:r>
              <a:rPr lang="en-US" sz="2000">
                <a:solidFill>
                  <a:schemeClr val="accent1"/>
                </a:solidFill>
              </a:rPr>
              <a:t>down.</a:t>
            </a:r>
            <a:endParaRPr lang="en-US" sz="2000" dirty="0">
              <a:solidFill>
                <a:schemeClr val="accent1"/>
              </a:solidFill>
            </a:endParaRPr>
          </a:p>
          <a:p>
            <a:pPr marL="363538" indent="-363538">
              <a:spcAft>
                <a:spcPts val="200"/>
              </a:spcAft>
              <a:buSzPct val="100000"/>
            </a:pPr>
            <a:r>
              <a:rPr lang="en-US" sz="2000" dirty="0">
                <a:solidFill>
                  <a:schemeClr val="accent1"/>
                </a:solidFill>
              </a:rPr>
              <a:t>With the engine running, note the maximum </a:t>
            </a:r>
            <a:r>
              <a:rPr lang="en-US" sz="2000">
                <a:solidFill>
                  <a:schemeClr val="accent1"/>
                </a:solidFill>
              </a:rPr>
              <a:t>pressure.</a:t>
            </a:r>
            <a:endParaRPr lang="en-US" sz="2000" dirty="0">
              <a:solidFill>
                <a:schemeClr val="accent1"/>
              </a:solidFill>
            </a:endParaRPr>
          </a:p>
          <a:p>
            <a:pPr marL="363538" indent="-363538">
              <a:spcAft>
                <a:spcPts val="200"/>
              </a:spcAft>
              <a:buSzPct val="100000"/>
            </a:pPr>
            <a:r>
              <a:rPr lang="en-US" sz="2000" dirty="0">
                <a:solidFill>
                  <a:schemeClr val="accent1"/>
                </a:solidFill>
              </a:rPr>
              <a:t>During running compression tests, cylinder pressures will likely be in the 70 to 80 </a:t>
            </a:r>
            <a:r>
              <a:rPr lang="en-US" sz="2000">
                <a:solidFill>
                  <a:schemeClr val="accent1"/>
                </a:solidFill>
              </a:rPr>
              <a:t>psi range.</a:t>
            </a:r>
            <a:endParaRPr lang="en-US" sz="2000" dirty="0">
              <a:solidFill>
                <a:schemeClr val="accent1"/>
              </a:solidFill>
            </a:endParaRPr>
          </a:p>
        </p:txBody>
      </p:sp>
      <p:pic>
        <p:nvPicPr>
          <p:cNvPr id="7" name="Picture Placeholder 6" descr="A line graph for the compression test. The horizontal axis represents time in milliseconds ranging from 0 to 500 in increments of 50. The vertical axis represents compression in psi D C ranging from negative 25.0 to 100 in increments of 12.5. An irregular pulse wave initiates at 0.0, 0, maintains irregularity until 75, negative 10, then ascends in a curve to 100, 87.5, descends in a curve until 125, negative 10, and repeats this pattern. The sequence concludes at 500, 34. All the values are approximated.">
            <a:extLst>
              <a:ext uri="{FF2B5EF4-FFF2-40B4-BE49-F238E27FC236}">
                <a16:creationId xmlns:a16="http://schemas.microsoft.com/office/drawing/2014/main" id="{97AA112E-A393-C485-72F4-2195C2424006}"/>
              </a:ext>
            </a:extLst>
          </p:cNvPr>
          <p:cNvPicPr>
            <a:picLocks noGrp="1" noChangeAspect="1"/>
          </p:cNvPicPr>
          <p:nvPr>
            <p:ph type="pic" sz="quarter" idx="12"/>
          </p:nvPr>
        </p:nvPicPr>
        <p:blipFill rotWithShape="1">
          <a:blip r:embed="rId3"/>
          <a:srcRect b="13548"/>
          <a:stretch/>
        </p:blipFill>
        <p:spPr>
          <a:xfrm>
            <a:off x="7500884" y="2294686"/>
            <a:ext cx="4339533" cy="2268628"/>
          </a:xfrm>
          <a:prstGeom prst="rect">
            <a:avLst/>
          </a:prstGeom>
        </p:spPr>
      </p:pic>
    </p:spTree>
    <p:extLst>
      <p:ext uri="{BB962C8B-B14F-4D97-AF65-F5344CB8AC3E}">
        <p14:creationId xmlns:p14="http://schemas.microsoft.com/office/powerpoint/2010/main" val="22638150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Cylinder </a:t>
            </a:r>
            <a:r>
              <a:rPr lang="en-US"/>
              <a:t>Leakage Test</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1800" dirty="0">
                <a:solidFill>
                  <a:schemeClr val="accent1"/>
                </a:solidFill>
              </a:rPr>
              <a:t>If a compression test reading is low, a cylinder leakage test should be performed.</a:t>
            </a:r>
          </a:p>
          <a:p>
            <a:pPr marL="363538" indent="-363538">
              <a:spcAft>
                <a:spcPts val="600"/>
              </a:spcAft>
              <a:buSzPct val="100000"/>
            </a:pPr>
            <a:r>
              <a:rPr lang="en-US" sz="1800" dirty="0">
                <a:solidFill>
                  <a:schemeClr val="accent1"/>
                </a:solidFill>
              </a:rPr>
              <a:t>The cylinder leakage tester applies compressed air to a cylinder through its spark plug hole and has a gauge which registers the percentage of leakage between 0% and 100%.</a:t>
            </a:r>
          </a:p>
          <a:p>
            <a:pPr marL="363538" indent="-363538">
              <a:spcAft>
                <a:spcPts val="600"/>
              </a:spcAft>
              <a:buSzPct val="100000"/>
            </a:pPr>
            <a:r>
              <a:rPr lang="en-US" sz="1800" dirty="0">
                <a:solidFill>
                  <a:schemeClr val="accent1"/>
                </a:solidFill>
              </a:rPr>
              <a:t>The amount and location of the air that escapes gives a good idea of the engine’s condition and can pinpoint where compression is lost.</a:t>
            </a:r>
          </a:p>
          <a:p>
            <a:pPr marL="717550" lvl="1" indent="-354013">
              <a:spcAft>
                <a:spcPts val="600"/>
              </a:spcAft>
              <a:buSzPct val="100000"/>
            </a:pPr>
            <a:r>
              <a:rPr lang="en-US" sz="1600" dirty="0">
                <a:solidFill>
                  <a:schemeClr val="accent1"/>
                </a:solidFill>
              </a:rPr>
              <a:t>A zero reading means there is no leakage in the cylinder.</a:t>
            </a:r>
          </a:p>
          <a:p>
            <a:pPr marL="717550" lvl="1" indent="-354013">
              <a:spcAft>
                <a:spcPts val="600"/>
              </a:spcAft>
              <a:buSzPct val="100000"/>
            </a:pPr>
            <a:r>
              <a:rPr lang="en-US" sz="1600" dirty="0">
                <a:solidFill>
                  <a:schemeClr val="accent1"/>
                </a:solidFill>
              </a:rPr>
              <a:t>Readings of 100 percent indicate that the cylinder will not hold any pressure.</a:t>
            </a:r>
          </a:p>
          <a:p>
            <a:pPr marL="717550" lvl="1" indent="-354013">
              <a:spcAft>
                <a:spcPts val="600"/>
              </a:spcAft>
              <a:buSzPct val="100000"/>
            </a:pPr>
            <a:r>
              <a:rPr lang="en-US" sz="1600" dirty="0">
                <a:solidFill>
                  <a:schemeClr val="accent1"/>
                </a:solidFill>
              </a:rPr>
              <a:t>Any reading that is more than 0 percent indicates there is some leakage. </a:t>
            </a:r>
          </a:p>
          <a:p>
            <a:pPr marL="363538" indent="-363538">
              <a:spcAft>
                <a:spcPts val="600"/>
              </a:spcAft>
              <a:buSzPct val="100000"/>
            </a:pPr>
            <a:r>
              <a:rPr lang="en-US" sz="1800" dirty="0">
                <a:solidFill>
                  <a:schemeClr val="accent1"/>
                </a:solidFill>
              </a:rPr>
              <a:t>Most engines, even new ones, experience some leakage around the rings, as up to 20 percent is considered acceptable.</a:t>
            </a:r>
          </a:p>
          <a:p>
            <a:pPr marL="363538" indent="-363538">
              <a:spcAft>
                <a:spcPts val="600"/>
              </a:spcAft>
              <a:buSzPct val="100000"/>
            </a:pPr>
            <a:r>
              <a:rPr lang="en-US" sz="1800" dirty="0">
                <a:solidFill>
                  <a:schemeClr val="accent1"/>
                </a:solidFill>
              </a:rPr>
              <a:t>The location of dominant compression leaks can be found by listening or feeling around various parts of the engine.</a:t>
            </a:r>
          </a:p>
        </p:txBody>
      </p:sp>
    </p:spTree>
    <p:extLst>
      <p:ext uri="{BB962C8B-B14F-4D97-AF65-F5344CB8AC3E}">
        <p14:creationId xmlns:p14="http://schemas.microsoft.com/office/powerpoint/2010/main" val="2592877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Verifying Valve Timing (1 </a:t>
            </a:r>
            <a:r>
              <a:rPr lang="en-US"/>
              <a:t>of 2)</a:t>
            </a:r>
            <a:endParaRPr lang="en-US"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2000" dirty="0"/>
              <a:t>An engine that does not run properly, or possibly at all, may have incorrect valve timing.</a:t>
            </a:r>
          </a:p>
          <a:p>
            <a:pPr marL="363538" indent="-363538">
              <a:spcAft>
                <a:spcPts val="600"/>
              </a:spcAft>
              <a:buSzPct val="100000"/>
            </a:pPr>
            <a:r>
              <a:rPr lang="en-US" sz="2000" dirty="0"/>
              <a:t>As timing belts, chains, tensioners, and guides wear, the belt or chain may develop enough slack to jump time, meaning the crank and cam are no longer synchronized correctly.</a:t>
            </a:r>
          </a:p>
          <a:p>
            <a:pPr marL="363538" indent="-363538">
              <a:spcAft>
                <a:spcPts val="600"/>
              </a:spcAft>
              <a:buSzPct val="100000"/>
            </a:pPr>
            <a:r>
              <a:rPr lang="en-US" sz="2000" dirty="0"/>
              <a:t>To check cam timing with a scope:</a:t>
            </a:r>
          </a:p>
          <a:p>
            <a:pPr marL="717550" lvl="1" indent="-354013">
              <a:spcAft>
                <a:spcPts val="600"/>
              </a:spcAft>
              <a:buSzPct val="100000"/>
            </a:pPr>
            <a:r>
              <a:rPr lang="en-US" sz="1800" dirty="0"/>
              <a:t>Connect one channel to the crankshaft position (CKP) sensor signal and a second channel to the camshaft position (CMP) sensor.</a:t>
            </a:r>
          </a:p>
          <a:p>
            <a:pPr marL="717550" lvl="1" indent="-354013">
              <a:spcAft>
                <a:spcPts val="600"/>
              </a:spcAft>
              <a:buSzPct val="100000"/>
            </a:pPr>
            <a:r>
              <a:rPr lang="en-US" sz="1800" dirty="0"/>
              <a:t>Crank or start the engine and pause the signal patterns on the screen.</a:t>
            </a:r>
          </a:p>
          <a:p>
            <a:pPr marL="717550" lvl="1" indent="-354013">
              <a:spcAft>
                <a:spcPts val="600"/>
              </a:spcAft>
              <a:buSzPct val="100000"/>
            </a:pPr>
            <a:r>
              <a:rPr lang="en-US" sz="1800" dirty="0"/>
              <a:t>To determine if the correlation is correct, you may need to compare your pattern to a known good pattern.</a:t>
            </a:r>
          </a:p>
          <a:p>
            <a:pPr marL="717550" lvl="1" indent="-354013">
              <a:spcAft>
                <a:spcPts val="600"/>
              </a:spcAft>
              <a:buSzPct val="100000"/>
            </a:pPr>
            <a:r>
              <a:rPr lang="en-US" sz="1800" dirty="0"/>
              <a:t>These may be available from the vehicle manufacturer or you may find an example online.</a:t>
            </a:r>
          </a:p>
        </p:txBody>
      </p:sp>
    </p:spTree>
    <p:extLst>
      <p:ext uri="{BB962C8B-B14F-4D97-AF65-F5344CB8AC3E}">
        <p14:creationId xmlns:p14="http://schemas.microsoft.com/office/powerpoint/2010/main" val="6501478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lvl="0"/>
            <a:r>
              <a:rPr lang="en-US" dirty="0"/>
              <a:t>Verifying Valve Timing (2 of 2)</a:t>
            </a:r>
          </a:p>
        </p:txBody>
      </p:sp>
      <p:sp>
        <p:nvSpPr>
          <p:cNvPr id="145" name="Google Shape;145;p4"/>
          <p:cNvSpPr txBox="1">
            <a:spLocks noGrp="1"/>
          </p:cNvSpPr>
          <p:nvPr>
            <p:ph type="body" idx="1"/>
          </p:nvPr>
        </p:nvSpPr>
        <p:spPr>
          <a:xfrm>
            <a:off x="476844" y="1563624"/>
            <a:ext cx="7004612" cy="4535839"/>
          </a:xfrm>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2000" dirty="0"/>
              <a:t>To physically check the timing, rotate the crankshaft to number 1 TDC and align the crank timing </a:t>
            </a:r>
            <a:r>
              <a:rPr lang="en-US" sz="2000"/>
              <a:t>marks.</a:t>
            </a:r>
            <a:endParaRPr lang="en-US" sz="2000" dirty="0"/>
          </a:p>
          <a:p>
            <a:pPr marL="363538" indent="-363538">
              <a:spcAft>
                <a:spcPts val="600"/>
              </a:spcAft>
              <a:buSzPct val="100000"/>
            </a:pPr>
            <a:r>
              <a:rPr lang="en-US" sz="2000" dirty="0"/>
              <a:t>Remove the upper timing cover or valve cover as necessary to expose the timing marks on the camshaft(s).</a:t>
            </a:r>
          </a:p>
          <a:p>
            <a:pPr marL="363538" indent="-363538">
              <a:spcAft>
                <a:spcPts val="600"/>
              </a:spcAft>
              <a:buSzPct val="100000"/>
            </a:pPr>
            <a:r>
              <a:rPr lang="en-US" sz="2000" dirty="0"/>
              <a:t>Refer to the manufacturer’s service information to see how the marks should appear. If the marks all align properly, the valve timing is </a:t>
            </a:r>
            <a:r>
              <a:rPr lang="en-US" sz="2000"/>
              <a:t>correct.</a:t>
            </a:r>
            <a:endParaRPr lang="en-US" sz="2000" dirty="0"/>
          </a:p>
          <a:p>
            <a:pPr marL="363538" indent="-363538">
              <a:spcAft>
                <a:spcPts val="600"/>
              </a:spcAft>
              <a:buSzPct val="100000"/>
            </a:pPr>
            <a:r>
              <a:rPr lang="en-US" sz="2000" dirty="0"/>
              <a:t>Incorrect valve timing can cause drivability concerns such as a rough idle, misfires, a lack of power, excessive emissions, and </a:t>
            </a:r>
            <a:r>
              <a:rPr lang="en-US" sz="2000"/>
              <a:t>MIL.</a:t>
            </a:r>
            <a:endParaRPr lang="en-US" sz="2000" dirty="0"/>
          </a:p>
        </p:txBody>
      </p:sp>
      <p:pic>
        <p:nvPicPr>
          <p:cNvPr id="7" name="Picture Placeholder 6" descr="A close-up view of the position where the crankshaft is aligned to the number 1 TDC."/>
          <p:cNvPicPr>
            <a:picLocks noGrp="1" noChangeAspect="1"/>
          </p:cNvPicPr>
          <p:nvPr>
            <p:ph type="pic" sz="quarter" idx="12"/>
          </p:nvPr>
        </p:nvPicPr>
        <p:blipFill>
          <a:blip r:embed="rId3"/>
          <a:srcRect b="15572"/>
          <a:stretch/>
        </p:blipFill>
        <p:spPr>
          <a:xfrm>
            <a:off x="7469409" y="2135272"/>
            <a:ext cx="4447926" cy="2587456"/>
          </a:xfrm>
          <a:prstGeom prst="rect">
            <a:avLst/>
          </a:prstGeom>
        </p:spPr>
      </p:pic>
    </p:spTree>
    <p:extLst>
      <p:ext uri="{BB962C8B-B14F-4D97-AF65-F5344CB8AC3E}">
        <p14:creationId xmlns:p14="http://schemas.microsoft.com/office/powerpoint/2010/main" val="239943241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lvl="0"/>
            <a:r>
              <a:rPr lang="en-US" dirty="0"/>
              <a:t>Oil Pressure Testing </a:t>
            </a:r>
          </a:p>
        </p:txBody>
      </p:sp>
      <p:sp>
        <p:nvSpPr>
          <p:cNvPr id="145" name="Google Shape;145;p4"/>
          <p:cNvSpPr txBox="1">
            <a:spLocks noGrp="1"/>
          </p:cNvSpPr>
          <p:nvPr>
            <p:ph type="body" idx="1"/>
          </p:nvPr>
        </p:nvSpPr>
        <p:spPr>
          <a:xfrm>
            <a:off x="476843" y="1563624"/>
            <a:ext cx="6360375" cy="4567011"/>
          </a:xfrm>
          <a:prstGeom prst="rect">
            <a:avLst/>
          </a:prstGeom>
          <a:noFill/>
          <a:ln>
            <a:noFill/>
          </a:ln>
        </p:spPr>
        <p:txBody>
          <a:bodyPr spcFirstLastPara="1" wrap="square" lIns="91425" tIns="45700" rIns="91425" bIns="45700" anchor="t" anchorCtr="0">
            <a:noAutofit/>
          </a:bodyPr>
          <a:lstStyle/>
          <a:p>
            <a:pPr marL="363538" indent="-363538">
              <a:spcAft>
                <a:spcPts val="400"/>
              </a:spcAft>
              <a:buSzPct val="100000"/>
            </a:pPr>
            <a:r>
              <a:rPr lang="en-US" sz="1600" dirty="0"/>
              <a:t>An oil pressure test is used to determine the wear of an engine’s </a:t>
            </a:r>
            <a:r>
              <a:rPr lang="en-US" sz="1600"/>
              <a:t>parts.</a:t>
            </a:r>
            <a:endParaRPr lang="en-US" sz="1600" dirty="0"/>
          </a:p>
          <a:p>
            <a:pPr marL="363538" indent="-363538">
              <a:spcAft>
                <a:spcPts val="400"/>
              </a:spcAft>
              <a:buSzPct val="100000"/>
            </a:pPr>
            <a:r>
              <a:rPr lang="en-US" sz="1600" dirty="0"/>
              <a:t>The test is performed with an oil pressure gauge, which measures the pressure of the oil as it circulates through the </a:t>
            </a:r>
            <a:r>
              <a:rPr lang="en-US" sz="1600"/>
              <a:t>engine.</a:t>
            </a:r>
            <a:endParaRPr lang="en-US" sz="1600" dirty="0"/>
          </a:p>
          <a:p>
            <a:pPr marL="363538" indent="-363538">
              <a:spcAft>
                <a:spcPts val="400"/>
              </a:spcAft>
              <a:buSzPct val="100000"/>
            </a:pPr>
            <a:r>
              <a:rPr lang="en-US" sz="1600" dirty="0"/>
              <a:t>Excessive clearances, most often caused by wear between a shaft and its bearings, will cause a decrease in oil </a:t>
            </a:r>
            <a:r>
              <a:rPr lang="en-US" sz="1600"/>
              <a:t>pressure.</a:t>
            </a:r>
            <a:endParaRPr lang="en-US" sz="1600" dirty="0"/>
          </a:p>
          <a:p>
            <a:pPr marL="363538" indent="-363538">
              <a:spcAft>
                <a:spcPts val="400"/>
              </a:spcAft>
              <a:buSzPct val="100000"/>
            </a:pPr>
            <a:r>
              <a:rPr lang="en-US" sz="1600" dirty="0"/>
              <a:t>Excessive bearing clearances are not the only possible causes for low oil pressure readings; others are oil pump-related problems, a plugged oil pickup screen, weak or broken oil pressure relief valve, low oil level, contaminated oil, or low oil </a:t>
            </a:r>
            <a:r>
              <a:rPr lang="en-US" sz="1600"/>
              <a:t>viscosity.</a:t>
            </a:r>
            <a:endParaRPr lang="en-US" sz="1600" dirty="0"/>
          </a:p>
          <a:p>
            <a:pPr marL="363538" indent="-363538">
              <a:spcAft>
                <a:spcPts val="400"/>
              </a:spcAft>
              <a:buSzPct val="100000"/>
            </a:pPr>
            <a:r>
              <a:rPr lang="en-US" sz="1600" dirty="0"/>
              <a:t>Higher than normal pressures can be caused by too much oil, cold oil, high oil viscosity, restricted oil passages, or a faulty pressure </a:t>
            </a:r>
            <a:r>
              <a:rPr lang="en-US" sz="1600"/>
              <a:t>regulator.</a:t>
            </a:r>
            <a:endParaRPr lang="en-US" sz="1600" dirty="0"/>
          </a:p>
        </p:txBody>
      </p:sp>
      <p:pic>
        <p:nvPicPr>
          <p:cNvPr id="7" name="Picture Placeholder 6" descr="A close-up view where the threaded end of the gauge's hose is securely attached to the bore.">
            <a:extLst>
              <a:ext uri="{FF2B5EF4-FFF2-40B4-BE49-F238E27FC236}">
                <a16:creationId xmlns:a16="http://schemas.microsoft.com/office/drawing/2014/main" id="{FE85C3FE-76EC-BD1A-2A90-353354EFB91F}"/>
              </a:ext>
            </a:extLst>
          </p:cNvPr>
          <p:cNvPicPr>
            <a:picLocks noGrp="1" noChangeAspect="1"/>
          </p:cNvPicPr>
          <p:nvPr>
            <p:ph type="pic" sz="quarter" idx="12"/>
          </p:nvPr>
        </p:nvPicPr>
        <p:blipFill>
          <a:blip r:embed="rId3"/>
          <a:srcRect b="9450"/>
          <a:stretch/>
        </p:blipFill>
        <p:spPr>
          <a:xfrm>
            <a:off x="7442597" y="1605749"/>
            <a:ext cx="4079001" cy="3646502"/>
          </a:xfrm>
          <a:prstGeom prst="rect">
            <a:avLst/>
          </a:prstGeom>
        </p:spPr>
      </p:pic>
    </p:spTree>
    <p:extLst>
      <p:ext uri="{BB962C8B-B14F-4D97-AF65-F5344CB8AC3E}">
        <p14:creationId xmlns:p14="http://schemas.microsoft.com/office/powerpoint/2010/main" val="21965658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Evaluating the Engine’s Condition </a:t>
            </a:r>
            <a:r>
              <a:rPr lang="en-US" dirty="0"/>
              <a:t>(1 of 3)</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sz="2000" b="1" dirty="0">
                <a:solidFill>
                  <a:schemeClr val="accent1"/>
                </a:solidFill>
              </a:rPr>
              <a:t>09.08 Evaluate the condition of an engine.</a:t>
            </a:r>
          </a:p>
          <a:p>
            <a:pPr marL="363538" indent="-363538">
              <a:buSzPct val="100000"/>
            </a:pPr>
            <a:r>
              <a:rPr lang="en-US" sz="2000" dirty="0">
                <a:solidFill>
                  <a:schemeClr val="accent1"/>
                </a:solidFill>
              </a:rPr>
              <a:t>Once the compression, cylinder leakage, vacuum, and power balance tests are performed, further testing can be done to evaluate the engine’s condition.</a:t>
            </a:r>
          </a:p>
          <a:p>
            <a:pPr marL="363538" indent="-363538">
              <a:buSzPct val="100000"/>
            </a:pPr>
            <a:r>
              <a:rPr lang="en-US" sz="2000" dirty="0">
                <a:solidFill>
                  <a:schemeClr val="accent1"/>
                </a:solidFill>
              </a:rPr>
              <a:t>For example, an engine with good relative compression but high cylinder leakage past the rings is typical of a high-mileage worn engine.</a:t>
            </a:r>
          </a:p>
          <a:p>
            <a:pPr marL="363538" indent="-363538">
              <a:buSzPct val="100000"/>
            </a:pPr>
            <a:r>
              <a:rPr lang="en-US" sz="2000" dirty="0">
                <a:solidFill>
                  <a:schemeClr val="accent1"/>
                </a:solidFill>
              </a:rPr>
              <a:t>This engine would have these symptoms:</a:t>
            </a:r>
          </a:p>
          <a:p>
            <a:pPr marL="717550" lvl="1" indent="-354013">
              <a:buSzPct val="100000"/>
            </a:pPr>
            <a:r>
              <a:rPr lang="en-US" sz="1800" dirty="0">
                <a:solidFill>
                  <a:schemeClr val="accent1"/>
                </a:solidFill>
              </a:rPr>
              <a:t>Excessive blowby, lack of power</a:t>
            </a:r>
          </a:p>
          <a:p>
            <a:pPr marL="717550" lvl="1" indent="-354013">
              <a:buSzPct val="100000"/>
            </a:pPr>
            <a:r>
              <a:rPr lang="en-US" sz="1800" dirty="0">
                <a:solidFill>
                  <a:schemeClr val="accent1"/>
                </a:solidFill>
              </a:rPr>
              <a:t>Poor performance</a:t>
            </a:r>
          </a:p>
          <a:p>
            <a:pPr marL="717550" lvl="1" indent="-354013">
              <a:buSzPct val="100000"/>
            </a:pPr>
            <a:r>
              <a:rPr lang="en-US" sz="1800" dirty="0">
                <a:solidFill>
                  <a:schemeClr val="accent1"/>
                </a:solidFill>
              </a:rPr>
              <a:t>Reduced fuel economy</a:t>
            </a:r>
          </a:p>
          <a:p>
            <a:pPr marL="363538" indent="-363538">
              <a:buSzPct val="100000"/>
            </a:pPr>
            <a:r>
              <a:rPr lang="en-US" sz="2000" dirty="0">
                <a:solidFill>
                  <a:schemeClr val="accent1"/>
                </a:solidFill>
              </a:rPr>
              <a:t>If comparable compression and leakage test results are found on an engine with comparatively low mileage, the problem is probably stuck piston rings that are not expanding properly. </a:t>
            </a:r>
          </a:p>
          <a:p>
            <a:pPr marL="363538" indent="-363538">
              <a:buSzPct val="100000"/>
            </a:pPr>
            <a:r>
              <a:rPr lang="en-US" sz="2000" dirty="0">
                <a:solidFill>
                  <a:schemeClr val="accent1"/>
                </a:solidFill>
              </a:rPr>
              <a:t>If this is the case, try treating the engine with a combustion chamber cleaner. </a:t>
            </a:r>
          </a:p>
        </p:txBody>
      </p:sp>
    </p:spTree>
    <p:extLst>
      <p:ext uri="{BB962C8B-B14F-4D97-AF65-F5344CB8AC3E}">
        <p14:creationId xmlns:p14="http://schemas.microsoft.com/office/powerpoint/2010/main" val="335969631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Evaluating the Engine’s Condition </a:t>
            </a:r>
            <a:r>
              <a:rPr lang="en-US" dirty="0"/>
              <a:t>(2 of 3)</a:t>
            </a:r>
            <a:endParaRPr dirty="0"/>
          </a:p>
        </p:txBody>
      </p:sp>
      <p:sp>
        <p:nvSpPr>
          <p:cNvPr id="145" name="Google Shape;145;p4"/>
          <p:cNvSpPr txBox="1">
            <a:spLocks noGrp="1"/>
          </p:cNvSpPr>
          <p:nvPr>
            <p:ph type="body" idx="1"/>
          </p:nvPr>
        </p:nvSpPr>
        <p:spPr>
          <a:xfrm>
            <a:off x="476844" y="1563624"/>
            <a:ext cx="6599366" cy="4494275"/>
          </a:xfrm>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2400" dirty="0"/>
              <a:t>Fluid Leaks</a:t>
            </a:r>
          </a:p>
          <a:p>
            <a:pPr marL="717550" lvl="1" indent="-354013">
              <a:spcAft>
                <a:spcPts val="600"/>
              </a:spcAft>
              <a:buSzPct val="100000"/>
            </a:pPr>
            <a:r>
              <a:rPr lang="en-US" sz="2200" dirty="0"/>
              <a:t>When inspecting the engine, check it for leaks.</a:t>
            </a:r>
          </a:p>
          <a:p>
            <a:pPr marL="717550" lvl="1" indent="-354013">
              <a:spcAft>
                <a:spcPts val="600"/>
              </a:spcAft>
              <a:buSzPct val="100000"/>
            </a:pPr>
            <a:r>
              <a:rPr lang="en-US" sz="2200" dirty="0"/>
              <a:t>Carefully look at the top and sides of the engine and note any we residue that may be present.</a:t>
            </a:r>
          </a:p>
          <a:p>
            <a:pPr marL="717550" lvl="1" indent="-354013">
              <a:spcAft>
                <a:spcPts val="600"/>
              </a:spcAft>
              <a:buSzPct val="100000"/>
            </a:pPr>
            <a:r>
              <a:rPr lang="en-US" sz="2200" dirty="0"/>
              <a:t>Sometimes, road dirt will mix with the leaking fluid and create a heavy coating.</a:t>
            </a:r>
          </a:p>
          <a:p>
            <a:pPr marL="717550" lvl="1" indent="-354013">
              <a:spcAft>
                <a:spcPts val="600"/>
              </a:spcAft>
              <a:buSzPct val="100000"/>
            </a:pPr>
            <a:r>
              <a:rPr lang="en-US" sz="2200" dirty="0"/>
              <a:t>Look under the vehicle for leaks or drips.</a:t>
            </a:r>
          </a:p>
          <a:p>
            <a:pPr marL="717550" lvl="1" indent="-354013">
              <a:spcAft>
                <a:spcPts val="600"/>
              </a:spcAft>
              <a:buSzPct val="100000"/>
            </a:pPr>
            <a:r>
              <a:rPr lang="en-US" sz="2200" dirty="0"/>
              <a:t>All leaks should be corrected.</a:t>
            </a:r>
          </a:p>
        </p:txBody>
      </p:sp>
      <p:pic>
        <p:nvPicPr>
          <p:cNvPr id="7" name="Picture Placeholder 6" descr="A close-up look at the engine, reveals oil leakage around the oil pan gasket.">
            <a:extLst>
              <a:ext uri="{FF2B5EF4-FFF2-40B4-BE49-F238E27FC236}">
                <a16:creationId xmlns:a16="http://schemas.microsoft.com/office/drawing/2014/main" id="{886E2FAA-D584-54BA-96E0-DE105C69FA92}"/>
              </a:ext>
            </a:extLst>
          </p:cNvPr>
          <p:cNvPicPr>
            <a:picLocks noGrp="1" noChangeAspect="1"/>
          </p:cNvPicPr>
          <p:nvPr>
            <p:ph type="pic" sz="quarter" idx="12"/>
          </p:nvPr>
        </p:nvPicPr>
        <p:blipFill>
          <a:blip r:embed="rId3"/>
          <a:srcRect b="9838"/>
          <a:stretch/>
        </p:blipFill>
        <p:spPr>
          <a:xfrm>
            <a:off x="7209202" y="1870075"/>
            <a:ext cx="4505954" cy="3117850"/>
          </a:xfrm>
          <a:prstGeom prst="rect">
            <a:avLst/>
          </a:prstGeom>
        </p:spPr>
      </p:pic>
    </p:spTree>
    <p:extLst>
      <p:ext uri="{BB962C8B-B14F-4D97-AF65-F5344CB8AC3E}">
        <p14:creationId xmlns:p14="http://schemas.microsoft.com/office/powerpoint/2010/main" val="35649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Evaluating the Engine’s Condition </a:t>
            </a:r>
            <a:r>
              <a:rPr lang="en-US" dirty="0"/>
              <a:t>(3 of 3)</a:t>
            </a:r>
            <a:endParaRPr dirty="0"/>
          </a:p>
        </p:txBody>
      </p:sp>
      <p:sp>
        <p:nvSpPr>
          <p:cNvPr id="145" name="Google Shape;145;p4"/>
          <p:cNvSpPr txBox="1">
            <a:spLocks noGrp="1"/>
          </p:cNvSpPr>
          <p:nvPr>
            <p:ph type="body" idx="1"/>
          </p:nvPr>
        </p:nvSpPr>
        <p:spPr>
          <a:xfrm>
            <a:off x="476844" y="1563625"/>
            <a:ext cx="4604608" cy="4484478"/>
          </a:xfrm>
          <a:prstGeom prst="rect">
            <a:avLst/>
          </a:prstGeom>
          <a:noFill/>
          <a:ln>
            <a:noFill/>
          </a:ln>
        </p:spPr>
        <p:txBody>
          <a:bodyPr spcFirstLastPara="1" wrap="square" lIns="91425" tIns="45700" rIns="91425" bIns="45700" anchor="t" anchorCtr="0">
            <a:noAutofit/>
          </a:bodyPr>
          <a:lstStyle/>
          <a:p>
            <a:pPr>
              <a:spcAft>
                <a:spcPts val="600"/>
              </a:spcAft>
              <a:buSzPct val="100000"/>
            </a:pPr>
            <a:r>
              <a:rPr lang="en-US" sz="1800" dirty="0"/>
              <a:t>Examining and interpreting the vehicle’s exhaust can give clues of potential engine problems.</a:t>
            </a:r>
          </a:p>
          <a:p>
            <a:pPr>
              <a:spcAft>
                <a:spcPts val="600"/>
              </a:spcAft>
              <a:buSzPct val="100000"/>
            </a:pPr>
            <a:r>
              <a:rPr lang="en-US" sz="1800" dirty="0"/>
              <a:t>On a cold day after the vehicle has been idling for a while, it is normal for white smoke to come out of the tailpipe which is steam from condensation being heated.</a:t>
            </a:r>
          </a:p>
          <a:p>
            <a:pPr>
              <a:spcAft>
                <a:spcPts val="600"/>
              </a:spcAft>
              <a:buSzPct val="100000"/>
            </a:pPr>
            <a:r>
              <a:rPr lang="en-US" sz="1800" dirty="0"/>
              <a:t>However, the steam should stop once the engine reaches normal operating temperature. If it does not, a problem is indicated.</a:t>
            </a:r>
          </a:p>
          <a:p>
            <a:pPr>
              <a:spcAft>
                <a:spcPts val="600"/>
              </a:spcAft>
              <a:buSzPct val="100000"/>
            </a:pPr>
            <a:r>
              <a:rPr lang="en-US" sz="1800" dirty="0"/>
              <a:t>The color of the exhaust is used to diagnose engine concerns.</a:t>
            </a:r>
          </a:p>
        </p:txBody>
      </p:sp>
      <p:graphicFrame>
        <p:nvGraphicFramePr>
          <p:cNvPr id="9" name="Content Placeholder 8">
            <a:extLst>
              <a:ext uri="{FF2B5EF4-FFF2-40B4-BE49-F238E27FC236}">
                <a16:creationId xmlns:a16="http://schemas.microsoft.com/office/drawing/2014/main" id="{4CE97920-54DE-045D-20F3-34CBD848D08F}"/>
              </a:ext>
            </a:extLst>
          </p:cNvPr>
          <p:cNvGraphicFramePr>
            <a:graphicFrameLocks noGrp="1"/>
          </p:cNvGraphicFramePr>
          <p:nvPr>
            <p:ph sz="quarter" idx="11"/>
          </p:nvPr>
        </p:nvGraphicFramePr>
        <p:xfrm>
          <a:off x="5348693" y="1812641"/>
          <a:ext cx="6634526" cy="3804334"/>
        </p:xfrm>
        <a:graphic>
          <a:graphicData uri="http://schemas.openxmlformats.org/drawingml/2006/table">
            <a:tbl>
              <a:tblPr firstRow="1" bandRow="1">
                <a:tableStyleId>{69012ECD-51FC-41F1-AA8D-1B2483CD663E}</a:tableStyleId>
              </a:tblPr>
              <a:tblGrid>
                <a:gridCol w="1117419">
                  <a:extLst>
                    <a:ext uri="{9D8B030D-6E8A-4147-A177-3AD203B41FA5}">
                      <a16:colId xmlns:a16="http://schemas.microsoft.com/office/drawing/2014/main" val="3507391715"/>
                    </a:ext>
                  </a:extLst>
                </a:gridCol>
                <a:gridCol w="1110343">
                  <a:extLst>
                    <a:ext uri="{9D8B030D-6E8A-4147-A177-3AD203B41FA5}">
                      <a16:colId xmlns:a16="http://schemas.microsoft.com/office/drawing/2014/main" val="1744792188"/>
                    </a:ext>
                  </a:extLst>
                </a:gridCol>
                <a:gridCol w="1423852">
                  <a:extLst>
                    <a:ext uri="{9D8B030D-6E8A-4147-A177-3AD203B41FA5}">
                      <a16:colId xmlns:a16="http://schemas.microsoft.com/office/drawing/2014/main" val="3546289108"/>
                    </a:ext>
                  </a:extLst>
                </a:gridCol>
                <a:gridCol w="2982912">
                  <a:extLst>
                    <a:ext uri="{9D8B030D-6E8A-4147-A177-3AD203B41FA5}">
                      <a16:colId xmlns:a16="http://schemas.microsoft.com/office/drawing/2014/main" val="3802225757"/>
                    </a:ext>
                  </a:extLst>
                </a:gridCol>
              </a:tblGrid>
              <a:tr h="0">
                <a:tc>
                  <a:txBody>
                    <a:bodyPr/>
                    <a:lstStyle/>
                    <a:p>
                      <a:r>
                        <a:rPr lang="en-IN" sz="1000" b="1" u="none" strike="noStrike" cap="none" baseline="0" dirty="0">
                          <a:solidFill>
                            <a:schemeClr val="lt1"/>
                          </a:solidFill>
                          <a:latin typeface="Work Sans" pitchFamily="2" charset="0"/>
                          <a:sym typeface="Arial"/>
                        </a:rPr>
                        <a:t>Engine Type</a:t>
                      </a:r>
                      <a:endParaRPr lang="en-IN" sz="1000" b="1" dirty="0">
                        <a:latin typeface="Work Sans" pitchFamily="2" charset="0"/>
                      </a:endParaRPr>
                    </a:p>
                  </a:txBody>
                  <a:tcPr/>
                </a:tc>
                <a:tc>
                  <a:txBody>
                    <a:bodyPr/>
                    <a:lstStyle/>
                    <a:p>
                      <a:r>
                        <a:rPr lang="en-IN" sz="1000" b="1" u="none" strike="noStrike" cap="none" baseline="0" dirty="0">
                          <a:solidFill>
                            <a:schemeClr val="lt1"/>
                          </a:solidFill>
                          <a:latin typeface="Work Sans" pitchFamily="2" charset="0"/>
                          <a:sym typeface="Arial"/>
                        </a:rPr>
                        <a:t>Visible Sign</a:t>
                      </a:r>
                      <a:endParaRPr lang="en-IN" sz="1000" b="1" dirty="0">
                        <a:latin typeface="Work Sans" pitchFamily="2" charset="0"/>
                      </a:endParaRPr>
                    </a:p>
                  </a:txBody>
                  <a:tcPr/>
                </a:tc>
                <a:tc>
                  <a:txBody>
                    <a:bodyPr/>
                    <a:lstStyle/>
                    <a:p>
                      <a:r>
                        <a:rPr lang="en-IN" sz="1000" b="1" u="none" strike="noStrike" cap="none" baseline="0" dirty="0">
                          <a:solidFill>
                            <a:schemeClr val="lt1"/>
                          </a:solidFill>
                          <a:latin typeface="Work Sans" pitchFamily="2" charset="0"/>
                          <a:sym typeface="Arial"/>
                        </a:rPr>
                        <a:t>Diagnosis</a:t>
                      </a:r>
                      <a:endParaRPr lang="en-IN" sz="1000" b="1" dirty="0">
                        <a:latin typeface="Work Sans" pitchFamily="2" charset="0"/>
                      </a:endParaRPr>
                    </a:p>
                  </a:txBody>
                  <a:tcPr/>
                </a:tc>
                <a:tc>
                  <a:txBody>
                    <a:bodyPr/>
                    <a:lstStyle/>
                    <a:p>
                      <a:r>
                        <a:rPr lang="en-IN" sz="1000" b="1" u="none" strike="noStrike" cap="none" baseline="0" dirty="0">
                          <a:solidFill>
                            <a:schemeClr val="lt1"/>
                          </a:solidFill>
                          <a:latin typeface="Work Sans" pitchFamily="2" charset="0"/>
                          <a:sym typeface="Arial"/>
                        </a:rPr>
                        <a:t>Probable Causes</a:t>
                      </a:r>
                      <a:endParaRPr lang="en-IN" sz="1000" b="1" dirty="0">
                        <a:latin typeface="Work Sans" pitchFamily="2" charset="0"/>
                      </a:endParaRPr>
                    </a:p>
                  </a:txBody>
                  <a:tcPr/>
                </a:tc>
                <a:extLst>
                  <a:ext uri="{0D108BD9-81ED-4DB2-BD59-A6C34878D82A}">
                    <a16:rowId xmlns:a16="http://schemas.microsoft.com/office/drawing/2014/main" val="1702318376"/>
                  </a:ext>
                </a:extLst>
              </a:tr>
              <a:tr h="451534">
                <a:tc>
                  <a:txBody>
                    <a:bodyPr/>
                    <a:lstStyle/>
                    <a:p>
                      <a:r>
                        <a:rPr lang="en-IN" sz="1000" b="0" u="none" strike="noStrike" cap="none" baseline="0" dirty="0">
                          <a:solidFill>
                            <a:schemeClr val="dk1"/>
                          </a:solidFill>
                          <a:latin typeface="Work Sans" pitchFamily="2" charset="0"/>
                          <a:sym typeface="Arial"/>
                        </a:rPr>
                        <a:t>Gasoline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Gray or black smoke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Incomplete combustion or </a:t>
                      </a:r>
                      <a:r>
                        <a:rPr lang="en-US" sz="1000" b="0" u="none" strike="noStrike" cap="none" baseline="0" dirty="0">
                          <a:solidFill>
                            <a:schemeClr val="dk1"/>
                          </a:solidFill>
                          <a:latin typeface="Work Sans" pitchFamily="2" charset="0"/>
                          <a:sym typeface="Arial"/>
                        </a:rPr>
                        <a:t>excessively rich A/F mixture</a:t>
                      </a:r>
                      <a:endParaRPr lang="en-IN" sz="1000" dirty="0">
                        <a:latin typeface="Work Sans" pitchFamily="2" charset="0"/>
                      </a:endParaRPr>
                    </a:p>
                  </a:txBody>
                  <a:tcPr/>
                </a:tc>
                <a:tc>
                  <a:txBody>
                    <a:bodyPr/>
                    <a:lstStyle/>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Clogged air filter</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Faulty fuel injection system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Faulty emission control system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Ignition problem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Restricted intake manifold</a:t>
                      </a:r>
                      <a:endParaRPr lang="en-IN" sz="1000" dirty="0">
                        <a:latin typeface="Work Sans" pitchFamily="2" charset="0"/>
                      </a:endParaRPr>
                    </a:p>
                  </a:txBody>
                  <a:tcPr/>
                </a:tc>
                <a:extLst>
                  <a:ext uri="{0D108BD9-81ED-4DB2-BD59-A6C34878D82A}">
                    <a16:rowId xmlns:a16="http://schemas.microsoft.com/office/drawing/2014/main" val="773917605"/>
                  </a:ext>
                </a:extLst>
              </a:tr>
              <a:tr h="451534">
                <a:tc>
                  <a:txBody>
                    <a:bodyPr/>
                    <a:lstStyle/>
                    <a:p>
                      <a:r>
                        <a:rPr lang="en-IN" sz="1000" b="0" u="none" strike="noStrike" cap="none" baseline="0" dirty="0">
                          <a:solidFill>
                            <a:schemeClr val="dk1"/>
                          </a:solidFill>
                          <a:latin typeface="Work Sans" pitchFamily="2" charset="0"/>
                          <a:sym typeface="Arial"/>
                        </a:rPr>
                        <a:t>Diesel</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Gray or black smoke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Incomplete combustion</a:t>
                      </a:r>
                      <a:endParaRPr lang="en-IN" sz="1000" dirty="0">
                        <a:latin typeface="Work Sans" pitchFamily="2" charset="0"/>
                      </a:endParaRPr>
                    </a:p>
                  </a:txBody>
                  <a:tcPr/>
                </a:tc>
                <a:tc>
                  <a:txBody>
                    <a:bodyPr/>
                    <a:lstStyle/>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Clogged air filter</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Faulty fuel injection system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Faulty emission control system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Wrong grade of fuel</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Engine overheating</a:t>
                      </a:r>
                      <a:endParaRPr lang="en-IN" sz="1000" dirty="0">
                        <a:latin typeface="Work Sans" pitchFamily="2" charset="0"/>
                      </a:endParaRPr>
                    </a:p>
                  </a:txBody>
                  <a:tcPr/>
                </a:tc>
                <a:extLst>
                  <a:ext uri="{0D108BD9-81ED-4DB2-BD59-A6C34878D82A}">
                    <a16:rowId xmlns:a16="http://schemas.microsoft.com/office/drawing/2014/main" val="4040344028"/>
                  </a:ext>
                </a:extLst>
              </a:tr>
              <a:tr h="451534">
                <a:tc>
                  <a:txBody>
                    <a:bodyPr/>
                    <a:lstStyle/>
                    <a:p>
                      <a:r>
                        <a:rPr lang="en-IN" sz="1000" b="0" u="none" strike="noStrike" cap="none" baseline="0" dirty="0">
                          <a:solidFill>
                            <a:schemeClr val="dk1"/>
                          </a:solidFill>
                          <a:latin typeface="Work Sans" pitchFamily="2" charset="0"/>
                          <a:sym typeface="Arial"/>
                        </a:rPr>
                        <a:t>Gasoline and diesel</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Blue smoke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Burning engine oil</a:t>
                      </a:r>
                      <a:endParaRPr lang="en-IN" sz="1000" dirty="0">
                        <a:latin typeface="Work Sans" pitchFamily="2" charset="0"/>
                      </a:endParaRPr>
                    </a:p>
                  </a:txBody>
                  <a:tcPr/>
                </a:tc>
                <a:tc>
                  <a:txBody>
                    <a:bodyPr/>
                    <a:lstStyle/>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Oil leaking into combustion chamber</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Worn piston rings, cylinder walls, </a:t>
                      </a:r>
                      <a:r>
                        <a:rPr lang="en-US" sz="1000" b="0" u="none" strike="noStrike" cap="none" baseline="0" dirty="0">
                          <a:solidFill>
                            <a:schemeClr val="dk1"/>
                          </a:solidFill>
                          <a:latin typeface="Work Sans" pitchFamily="2" charset="0"/>
                          <a:sym typeface="Arial"/>
                        </a:rPr>
                        <a:t>valve guides, or valve stem seals</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Oil level too high</a:t>
                      </a:r>
                      <a:endParaRPr lang="en-IN" sz="1000" dirty="0">
                        <a:latin typeface="Work Sans" pitchFamily="2" charset="0"/>
                      </a:endParaRPr>
                    </a:p>
                  </a:txBody>
                  <a:tcPr/>
                </a:tc>
                <a:extLst>
                  <a:ext uri="{0D108BD9-81ED-4DB2-BD59-A6C34878D82A}">
                    <a16:rowId xmlns:a16="http://schemas.microsoft.com/office/drawing/2014/main" val="3894239110"/>
                  </a:ext>
                </a:extLst>
              </a:tr>
              <a:tr h="451534">
                <a:tc>
                  <a:txBody>
                    <a:bodyPr/>
                    <a:lstStyle/>
                    <a:p>
                      <a:r>
                        <a:rPr lang="en-IN" sz="1000" b="0" u="none" strike="noStrike" cap="none" baseline="0" dirty="0">
                          <a:solidFill>
                            <a:schemeClr val="dk1"/>
                          </a:solidFill>
                          <a:latin typeface="Work Sans" pitchFamily="2" charset="0"/>
                          <a:sym typeface="Arial"/>
                        </a:rPr>
                        <a:t>Gasoline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White smoke</a:t>
                      </a:r>
                      <a:endParaRPr lang="en-IN" sz="1000" dirty="0">
                        <a:latin typeface="Work Sans" pitchFamily="2" charset="0"/>
                      </a:endParaRPr>
                    </a:p>
                  </a:txBody>
                  <a:tcPr/>
                </a:tc>
                <a:tc>
                  <a:txBody>
                    <a:bodyPr/>
                    <a:lstStyle/>
                    <a:p>
                      <a:r>
                        <a:rPr lang="en-US" sz="1000" b="0" u="none" strike="noStrike" cap="none" baseline="0" dirty="0">
                          <a:solidFill>
                            <a:schemeClr val="dk1"/>
                          </a:solidFill>
                          <a:latin typeface="Work Sans" pitchFamily="2" charset="0"/>
                          <a:sym typeface="Arial"/>
                        </a:rPr>
                        <a:t>Coolant/water is burning in the </a:t>
                      </a:r>
                      <a:r>
                        <a:rPr lang="en-IN" sz="1000" b="0" u="none" strike="noStrike" cap="none" baseline="0" dirty="0">
                          <a:solidFill>
                            <a:schemeClr val="dk1"/>
                          </a:solidFill>
                          <a:latin typeface="Work Sans" pitchFamily="2" charset="0"/>
                          <a:sym typeface="Arial"/>
                        </a:rPr>
                        <a:t>combustion chamber</a:t>
                      </a:r>
                      <a:endParaRPr lang="en-IN" sz="1000" dirty="0">
                        <a:latin typeface="Work Sans" pitchFamily="2" charset="0"/>
                      </a:endParaRPr>
                    </a:p>
                  </a:txBody>
                  <a:tcPr/>
                </a:tc>
                <a:tc>
                  <a:txBody>
                    <a:bodyPr/>
                    <a:lstStyle/>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Leaking head gasket</a:t>
                      </a:r>
                    </a:p>
                    <a:p>
                      <a:pPr marL="182563" indent="-182563">
                        <a:buFont typeface="Arial" panose="020B0604020202020204" pitchFamily="34" charset="0"/>
                        <a:buChar char="•"/>
                      </a:pPr>
                      <a:r>
                        <a:rPr lang="en-US" sz="1000" b="0" u="none" strike="noStrike" cap="none" baseline="0" dirty="0">
                          <a:solidFill>
                            <a:schemeClr val="dk1"/>
                          </a:solidFill>
                          <a:latin typeface="Work Sans" pitchFamily="2" charset="0"/>
                          <a:sym typeface="Arial"/>
                        </a:rPr>
                        <a:t>Cracked cylinder head or block</a:t>
                      </a:r>
                      <a:endParaRPr lang="en-IN" sz="1000" dirty="0">
                        <a:latin typeface="Work Sans" pitchFamily="2" charset="0"/>
                      </a:endParaRPr>
                    </a:p>
                  </a:txBody>
                  <a:tcPr/>
                </a:tc>
                <a:extLst>
                  <a:ext uri="{0D108BD9-81ED-4DB2-BD59-A6C34878D82A}">
                    <a16:rowId xmlns:a16="http://schemas.microsoft.com/office/drawing/2014/main" val="742301062"/>
                  </a:ext>
                </a:extLst>
              </a:tr>
              <a:tr h="451534">
                <a:tc>
                  <a:txBody>
                    <a:bodyPr/>
                    <a:lstStyle/>
                    <a:p>
                      <a:r>
                        <a:rPr lang="en-IN" sz="1000" b="0" u="none" strike="noStrike" cap="none" baseline="0" dirty="0">
                          <a:solidFill>
                            <a:schemeClr val="dk1"/>
                          </a:solidFill>
                          <a:latin typeface="Work Sans" pitchFamily="2" charset="0"/>
                          <a:sym typeface="Arial"/>
                        </a:rPr>
                        <a:t>Diesel</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White smoke</a:t>
                      </a:r>
                      <a:endParaRPr lang="en-IN" sz="1000" dirty="0">
                        <a:latin typeface="Work Sans" pitchFamily="2" charset="0"/>
                      </a:endParaRPr>
                    </a:p>
                  </a:txBody>
                  <a:tcPr/>
                </a:tc>
                <a:tc>
                  <a:txBody>
                    <a:bodyPr/>
                    <a:lstStyle/>
                    <a:p>
                      <a:r>
                        <a:rPr lang="en-IN" sz="1000" b="0" u="none" strike="noStrike" cap="none" baseline="0" dirty="0">
                          <a:solidFill>
                            <a:schemeClr val="dk1"/>
                          </a:solidFill>
                          <a:latin typeface="Work Sans" pitchFamily="2" charset="0"/>
                          <a:sym typeface="Arial"/>
                        </a:rPr>
                        <a:t>Fuel is not burning</a:t>
                      </a:r>
                      <a:endParaRPr lang="en-IN" sz="1000" dirty="0">
                        <a:latin typeface="Work Sans" pitchFamily="2" charset="0"/>
                      </a:endParaRPr>
                    </a:p>
                  </a:txBody>
                  <a:tcPr/>
                </a:tc>
                <a:tc>
                  <a:txBody>
                    <a:bodyPr/>
                    <a:lstStyle/>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Faulty injection system</a:t>
                      </a:r>
                    </a:p>
                    <a:p>
                      <a:pPr marL="182563" indent="-182563">
                        <a:buFont typeface="Arial" panose="020B0604020202020204" pitchFamily="34" charset="0"/>
                        <a:buChar char="•"/>
                      </a:pPr>
                      <a:r>
                        <a:rPr lang="en-IN" sz="1000" b="0" u="none" strike="noStrike" cap="none" baseline="0" dirty="0">
                          <a:solidFill>
                            <a:schemeClr val="dk1"/>
                          </a:solidFill>
                          <a:latin typeface="Work Sans" pitchFamily="2" charset="0"/>
                          <a:sym typeface="Arial"/>
                        </a:rPr>
                        <a:t>Engine overheating</a:t>
                      </a:r>
                      <a:endParaRPr lang="en-IN" sz="1000" dirty="0">
                        <a:latin typeface="Work Sans" pitchFamily="2" charset="0"/>
                      </a:endParaRPr>
                    </a:p>
                  </a:txBody>
                  <a:tcPr/>
                </a:tc>
                <a:extLst>
                  <a:ext uri="{0D108BD9-81ED-4DB2-BD59-A6C34878D82A}">
                    <a16:rowId xmlns:a16="http://schemas.microsoft.com/office/drawing/2014/main" val="655608084"/>
                  </a:ext>
                </a:extLst>
              </a:tr>
            </a:tbl>
          </a:graphicData>
        </a:graphic>
      </p:graphicFrame>
      <p:sp>
        <p:nvSpPr>
          <p:cNvPr id="4" name="Content Placeholder 3">
            <a:extLst>
              <a:ext uri="{FF2B5EF4-FFF2-40B4-BE49-F238E27FC236}">
                <a16:creationId xmlns:a16="http://schemas.microsoft.com/office/drawing/2014/main" id="{B71BC21E-FDD7-8150-6A0C-91DA32753A70}"/>
              </a:ext>
            </a:extLst>
          </p:cNvPr>
          <p:cNvSpPr>
            <a:spLocks noGrp="1"/>
          </p:cNvSpPr>
          <p:nvPr>
            <p:ph sz="quarter" idx="10"/>
          </p:nvPr>
        </p:nvSpPr>
        <p:spPr>
          <a:xfrm>
            <a:off x="5270316" y="5694733"/>
            <a:ext cx="4604608" cy="398227"/>
          </a:xfrm>
        </p:spPr>
        <p:txBody>
          <a:bodyPr/>
          <a:lstStyle/>
          <a:p>
            <a:pPr marL="76200" indent="0">
              <a:spcBef>
                <a:spcPts val="0"/>
              </a:spcBef>
              <a:buNone/>
            </a:pPr>
            <a:r>
              <a:rPr lang="en-IN" sz="1800" b="1" i="0" u="none" strike="noStrike" baseline="0" dirty="0">
                <a:solidFill>
                  <a:schemeClr val="accent1"/>
                </a:solidFill>
                <a:latin typeface="Work Sans" pitchFamily="2" charset="0"/>
              </a:rPr>
              <a:t>Figure 9–55 </a:t>
            </a:r>
            <a:r>
              <a:rPr lang="en-IN" sz="1800" b="0" i="0" u="none" strike="noStrike" baseline="0" dirty="0">
                <a:solidFill>
                  <a:schemeClr val="accent1"/>
                </a:solidFill>
                <a:latin typeface="Work Sans" pitchFamily="2" charset="0"/>
              </a:rPr>
              <a:t>Exhaust analysis.</a:t>
            </a:r>
            <a:endParaRPr lang="en-IN" dirty="0">
              <a:solidFill>
                <a:schemeClr val="accent1"/>
              </a:solidFill>
              <a:latin typeface="Work Sans" pitchFamily="2" charset="0"/>
            </a:endParaRPr>
          </a:p>
        </p:txBody>
      </p:sp>
    </p:spTree>
    <p:extLst>
      <p:ext uri="{BB962C8B-B14F-4D97-AF65-F5344CB8AC3E}">
        <p14:creationId xmlns:p14="http://schemas.microsoft.com/office/powerpoint/2010/main" val="284700511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Noise and Vibration Diagnosis </a:t>
            </a:r>
            <a:r>
              <a:rPr lang="en-US" dirty="0"/>
              <a:t>(1 of 4)</a:t>
            </a:r>
            <a:endParaRPr dirty="0"/>
          </a:p>
        </p:txBody>
      </p:sp>
      <p:sp>
        <p:nvSpPr>
          <p:cNvPr id="145" name="Google Shape;145;p4"/>
          <p:cNvSpPr txBox="1">
            <a:spLocks noGrp="1"/>
          </p:cNvSpPr>
          <p:nvPr>
            <p:ph type="body" idx="1"/>
          </p:nvPr>
        </p:nvSpPr>
        <p:spPr>
          <a:xfrm>
            <a:off x="476843" y="1563624"/>
            <a:ext cx="11610773" cy="4613339"/>
          </a:xfrm>
          <a:prstGeom prst="rect">
            <a:avLst/>
          </a:prstGeom>
          <a:noFill/>
          <a:ln>
            <a:noFill/>
          </a:ln>
        </p:spPr>
        <p:txBody>
          <a:bodyPr spcFirstLastPara="1" wrap="square" lIns="91425" tIns="45700" rIns="91425" bIns="45700" anchor="t" anchorCtr="0">
            <a:noAutofit/>
          </a:bodyPr>
          <a:lstStyle/>
          <a:p>
            <a:pPr marL="0" indent="0">
              <a:spcAft>
                <a:spcPts val="600"/>
              </a:spcAft>
              <a:buSzPts val="2800"/>
              <a:buNone/>
            </a:pPr>
            <a:r>
              <a:rPr lang="en-US" sz="2000" b="1" dirty="0">
                <a:solidFill>
                  <a:schemeClr val="accent1"/>
                </a:solidFill>
              </a:rPr>
              <a:t>09.09 List and describe abnormal engine noises.</a:t>
            </a:r>
          </a:p>
          <a:p>
            <a:pPr marL="363538" indent="-363538">
              <a:spcAft>
                <a:spcPts val="600"/>
              </a:spcAft>
              <a:buSzPct val="100000"/>
            </a:pPr>
            <a:r>
              <a:rPr lang="en-US" sz="2000" dirty="0">
                <a:solidFill>
                  <a:schemeClr val="accent1"/>
                </a:solidFill>
              </a:rPr>
              <a:t>An engine malfunction is likely to reveal itself first as an unusual noise and increased vibration.</a:t>
            </a:r>
          </a:p>
          <a:p>
            <a:pPr marL="363538" indent="-363538">
              <a:spcAft>
                <a:spcPts val="600"/>
              </a:spcAft>
              <a:buSzPct val="100000"/>
            </a:pPr>
            <a:r>
              <a:rPr lang="en-US" sz="2000" dirty="0">
                <a:solidFill>
                  <a:schemeClr val="accent1"/>
                </a:solidFill>
              </a:rPr>
              <a:t>This can happen well before the problem affects the </a:t>
            </a:r>
            <a:r>
              <a:rPr lang="en-US" sz="2000" dirty="0" err="1">
                <a:solidFill>
                  <a:schemeClr val="accent1"/>
                </a:solidFill>
              </a:rPr>
              <a:t>driveability</a:t>
            </a:r>
            <a:r>
              <a:rPr lang="en-US" sz="2000" dirty="0">
                <a:solidFill>
                  <a:schemeClr val="accent1"/>
                </a:solidFill>
              </a:rPr>
              <a:t> of the vehicle.</a:t>
            </a:r>
          </a:p>
          <a:p>
            <a:pPr marL="363538" indent="-363538">
              <a:spcAft>
                <a:spcPts val="600"/>
              </a:spcAft>
              <a:buSzPct val="100000"/>
            </a:pPr>
            <a:r>
              <a:rPr lang="en-US" sz="2000" dirty="0">
                <a:solidFill>
                  <a:schemeClr val="accent1"/>
                </a:solidFill>
              </a:rPr>
              <a:t>Problems such as loose pistons, badly worn rings or ring lands, loose piston pins, worn main bearings and connecting rod bearings, loose vibration damper or flywheel, cracked </a:t>
            </a:r>
            <a:r>
              <a:rPr lang="en-US" sz="2000" dirty="0" err="1">
                <a:solidFill>
                  <a:schemeClr val="accent1"/>
                </a:solidFill>
              </a:rPr>
              <a:t>flexplates</a:t>
            </a:r>
            <a:r>
              <a:rPr lang="en-US" sz="2000" dirty="0">
                <a:solidFill>
                  <a:schemeClr val="accent1"/>
                </a:solidFill>
              </a:rPr>
              <a:t>, and worn or loose valve train components all produce telltale sounds.</a:t>
            </a:r>
          </a:p>
          <a:p>
            <a:pPr marL="363538" indent="-363538">
              <a:spcAft>
                <a:spcPts val="600"/>
              </a:spcAft>
              <a:buSzPct val="100000"/>
            </a:pPr>
            <a:r>
              <a:rPr lang="en-US" sz="2000" dirty="0">
                <a:solidFill>
                  <a:schemeClr val="accent1"/>
                </a:solidFill>
              </a:rPr>
              <a:t>Excessive engine vibration can also be linked to unusual noises.</a:t>
            </a:r>
          </a:p>
          <a:p>
            <a:pPr marL="363538" indent="-363538">
              <a:spcAft>
                <a:spcPts val="600"/>
              </a:spcAft>
              <a:buSzPct val="100000"/>
            </a:pPr>
            <a:r>
              <a:rPr lang="en-US" sz="2000" dirty="0">
                <a:solidFill>
                  <a:schemeClr val="accent1"/>
                </a:solidFill>
              </a:rPr>
              <a:t>Worn powertrain mounts can cause an engine to vibrate and move more than normal.</a:t>
            </a:r>
          </a:p>
          <a:p>
            <a:pPr marL="363538" indent="-363538">
              <a:spcAft>
                <a:spcPts val="600"/>
              </a:spcAft>
              <a:buSzPct val="100000"/>
            </a:pPr>
            <a:r>
              <a:rPr lang="en-US" sz="2000" dirty="0">
                <a:solidFill>
                  <a:schemeClr val="accent1"/>
                </a:solidFill>
              </a:rPr>
              <a:t>As mounts age, the dampening components can harden, allowing excessive vibration to transmit through the mount and to the body of the vehicle. </a:t>
            </a:r>
          </a:p>
        </p:txBody>
      </p:sp>
    </p:spTree>
    <p:extLst>
      <p:ext uri="{BB962C8B-B14F-4D97-AF65-F5344CB8AC3E}">
        <p14:creationId xmlns:p14="http://schemas.microsoft.com/office/powerpoint/2010/main" val="29122779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Noise and Vibration Diagnosis </a:t>
            </a:r>
            <a:r>
              <a:rPr lang="en-US" dirty="0"/>
              <a:t>(2 of 4)</a:t>
            </a:r>
            <a:endParaRPr dirty="0"/>
          </a:p>
        </p:txBody>
      </p:sp>
      <p:sp>
        <p:nvSpPr>
          <p:cNvPr id="145" name="Google Shape;145;p4"/>
          <p:cNvSpPr txBox="1">
            <a:spLocks noGrp="1"/>
          </p:cNvSpPr>
          <p:nvPr>
            <p:ph type="body" idx="1"/>
          </p:nvPr>
        </p:nvSpPr>
        <p:spPr>
          <a:xfrm>
            <a:off x="476843" y="1563624"/>
            <a:ext cx="6994221" cy="4608575"/>
          </a:xfrm>
          <a:prstGeom prst="rect">
            <a:avLst/>
          </a:prstGeom>
          <a:noFill/>
          <a:ln>
            <a:noFill/>
          </a:ln>
        </p:spPr>
        <p:txBody>
          <a:bodyPr spcFirstLastPara="1" wrap="square" lIns="91425" tIns="45700" rIns="91425" bIns="45700" anchor="t" anchorCtr="0">
            <a:noAutofit/>
          </a:bodyPr>
          <a:lstStyle/>
          <a:p>
            <a:pPr marL="363538" indent="-363538">
              <a:spcAft>
                <a:spcPts val="600"/>
              </a:spcAft>
              <a:buSzPct val="100000"/>
            </a:pPr>
            <a:r>
              <a:rPr lang="en-US" sz="2400" dirty="0"/>
              <a:t>Using a Stethoscope</a:t>
            </a:r>
          </a:p>
          <a:p>
            <a:pPr marL="717550" lvl="1" indent="-354013">
              <a:spcAft>
                <a:spcPts val="600"/>
              </a:spcAft>
              <a:buSzPct val="100000"/>
            </a:pPr>
            <a:r>
              <a:rPr lang="en-US" sz="2200" dirty="0"/>
              <a:t>A stethoscope is very helpful in locating engine noise by amplifying the sound waves.</a:t>
            </a:r>
          </a:p>
          <a:p>
            <a:pPr marL="717550" lvl="1" indent="-354013">
              <a:spcAft>
                <a:spcPts val="600"/>
              </a:spcAft>
              <a:buSzPct val="100000"/>
            </a:pPr>
            <a:r>
              <a:rPr lang="en-US" sz="2200" dirty="0"/>
              <a:t>Use the metal prod to trace the sound until it reaches its maximum intensity.</a:t>
            </a:r>
          </a:p>
          <a:p>
            <a:pPr marL="717550" lvl="1" indent="-354013">
              <a:spcAft>
                <a:spcPts val="600"/>
              </a:spcAft>
              <a:buSzPct val="100000"/>
            </a:pPr>
            <a:r>
              <a:rPr lang="en-US" sz="2200" dirty="0"/>
              <a:t>Once the precise location has been discovered, the sound can be better evaluated.</a:t>
            </a:r>
          </a:p>
          <a:p>
            <a:pPr marL="717550" lvl="1" indent="-354013">
              <a:spcAft>
                <a:spcPts val="600"/>
              </a:spcAft>
              <a:buSzPct val="100000"/>
            </a:pPr>
            <a:r>
              <a:rPr lang="en-US" sz="2200" dirty="0"/>
              <a:t>If a stethoscope is not available, a long screwdriver or prybar may also be used.</a:t>
            </a:r>
          </a:p>
        </p:txBody>
      </p:sp>
      <p:pic>
        <p:nvPicPr>
          <p:cNvPr id="7" name="Picture Placeholder 6" descr="A technician uses a stethoscope to observe abnormal noise produced by the engine.">
            <a:extLst>
              <a:ext uri="{FF2B5EF4-FFF2-40B4-BE49-F238E27FC236}">
                <a16:creationId xmlns:a16="http://schemas.microsoft.com/office/drawing/2014/main" id="{2F929B10-E0F9-0F8E-F327-87AFF3B5C072}"/>
              </a:ext>
            </a:extLst>
          </p:cNvPr>
          <p:cNvPicPr>
            <a:picLocks noGrp="1" noChangeAspect="1"/>
          </p:cNvPicPr>
          <p:nvPr>
            <p:ph type="pic" sz="quarter" idx="12"/>
          </p:nvPr>
        </p:nvPicPr>
        <p:blipFill>
          <a:blip r:embed="rId3"/>
          <a:srcRect b="9386"/>
          <a:stretch/>
        </p:blipFill>
        <p:spPr>
          <a:xfrm>
            <a:off x="7768303" y="1602694"/>
            <a:ext cx="3676691" cy="3652612"/>
          </a:xfrm>
          <a:prstGeom prst="rect">
            <a:avLst/>
          </a:prstGeom>
        </p:spPr>
      </p:pic>
    </p:spTree>
    <p:extLst>
      <p:ext uri="{BB962C8B-B14F-4D97-AF65-F5344CB8AC3E}">
        <p14:creationId xmlns:p14="http://schemas.microsoft.com/office/powerpoint/2010/main" val="236662354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Noise and Vibration Diagnosis </a:t>
            </a:r>
            <a:r>
              <a:rPr lang="en-US" dirty="0"/>
              <a:t>(3 of 4)</a:t>
            </a:r>
            <a:endParaRPr dirty="0"/>
          </a:p>
        </p:txBody>
      </p:sp>
      <p:sp>
        <p:nvSpPr>
          <p:cNvPr id="145" name="Google Shape;145;p4"/>
          <p:cNvSpPr txBox="1">
            <a:spLocks noGrp="1"/>
          </p:cNvSpPr>
          <p:nvPr>
            <p:ph type="body" idx="1"/>
          </p:nvPr>
        </p:nvSpPr>
        <p:spPr>
          <a:xfrm>
            <a:off x="476843" y="1563624"/>
            <a:ext cx="11715157" cy="4613339"/>
          </a:xfrm>
          <a:prstGeom prst="rect">
            <a:avLst/>
          </a:prstGeom>
          <a:noFill/>
          <a:ln>
            <a:noFill/>
          </a:ln>
        </p:spPr>
        <p:txBody>
          <a:bodyPr spcFirstLastPara="1" wrap="square" lIns="91425" tIns="45700" rIns="91425" bIns="45700" anchor="t" anchorCtr="0">
            <a:noAutofit/>
          </a:bodyPr>
          <a:lstStyle/>
          <a:p>
            <a:pPr marL="363538" indent="-363538">
              <a:buSzPct val="100000"/>
            </a:pPr>
            <a:r>
              <a:rPr lang="en-US" sz="2000" dirty="0"/>
              <a:t>An important point to keep in mind is that insufficient lubrication is the most common cause of engine noise.</a:t>
            </a:r>
          </a:p>
          <a:p>
            <a:pPr marL="363538" indent="-363538">
              <a:buSzPct val="100000"/>
            </a:pPr>
            <a:r>
              <a:rPr lang="en-US" sz="2000" dirty="0"/>
              <a:t>For this reason, always check the fluid levels first before moving on to other areas of the vehicle.</a:t>
            </a:r>
          </a:p>
          <a:p>
            <a:pPr marL="363538" indent="-363538">
              <a:buSzPct val="100000"/>
            </a:pPr>
            <a:r>
              <a:rPr lang="en-US" sz="2000" dirty="0"/>
              <a:t>Some noises are more pronounced on a cold engine because clearances are greater when parts are not expanded by heat. Remember that aluminum and iron expand at different rates as temperatures rise.</a:t>
            </a:r>
          </a:p>
          <a:p>
            <a:pPr marL="363538" indent="-363538">
              <a:buSzPct val="100000"/>
            </a:pPr>
            <a:r>
              <a:rPr lang="en-US" sz="2000" dirty="0"/>
              <a:t>For example, a knock that disappears as the engine warms. An aluminum piston expands more than the iron block, allowing the piston to fit more closely as engine temperature rises.</a:t>
            </a:r>
          </a:p>
          <a:p>
            <a:pPr marL="363538" indent="-363538">
              <a:buSzPct val="100000"/>
            </a:pPr>
            <a:r>
              <a:rPr lang="en-US" sz="2000" dirty="0"/>
              <a:t>Also keep in mind that loose accessories, cracked </a:t>
            </a:r>
            <a:r>
              <a:rPr lang="en-US" sz="2000" dirty="0" err="1"/>
              <a:t>flexplates</a:t>
            </a:r>
            <a:r>
              <a:rPr lang="en-US" sz="2000" dirty="0"/>
              <a:t>, damaged harmonic balancers, loose bolts, bad belts, broken mechanical fuel pump springs, and other noninternal engine problems can be mistaken for more serious internal engine problems.</a:t>
            </a:r>
          </a:p>
        </p:txBody>
      </p:sp>
    </p:spTree>
    <p:extLst>
      <p:ext uri="{BB962C8B-B14F-4D97-AF65-F5344CB8AC3E}">
        <p14:creationId xmlns:p14="http://schemas.microsoft.com/office/powerpoint/2010/main" val="41416768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000"/>
              <a:buFont typeface="Work Sans"/>
              <a:buNone/>
            </a:pPr>
            <a:r>
              <a:rPr lang="en-US" sz="4000" dirty="0"/>
              <a:t>Noise and Vibration Diagnosis </a:t>
            </a:r>
            <a:r>
              <a:rPr lang="en-US" dirty="0"/>
              <a:t>(4 of 4)</a:t>
            </a:r>
            <a:endParaRPr dirty="0"/>
          </a:p>
        </p:txBody>
      </p:sp>
      <p:sp>
        <p:nvSpPr>
          <p:cNvPr id="145" name="Google Shape;145;p4"/>
          <p:cNvSpPr txBox="1">
            <a:spLocks noGrp="1"/>
          </p:cNvSpPr>
          <p:nvPr>
            <p:ph type="body" idx="1"/>
          </p:nvPr>
        </p:nvSpPr>
        <p:spPr>
          <a:xfrm>
            <a:off x="476843" y="1563625"/>
            <a:ext cx="11241915" cy="2874870"/>
          </a:xfrm>
          <a:prstGeom prst="rect">
            <a:avLst/>
          </a:prstGeom>
          <a:noFill/>
          <a:ln>
            <a:noFill/>
          </a:ln>
        </p:spPr>
        <p:txBody>
          <a:bodyPr spcFirstLastPara="1" wrap="square" lIns="91425" tIns="45700" rIns="91425" bIns="45700" anchor="t" anchorCtr="0">
            <a:noAutofit/>
          </a:bodyPr>
          <a:lstStyle/>
          <a:p>
            <a:pPr marL="363538" indent="-363538">
              <a:buSzPct val="100000"/>
            </a:pPr>
            <a:r>
              <a:rPr lang="en-US" sz="2400" dirty="0">
                <a:solidFill>
                  <a:schemeClr val="accent1"/>
                </a:solidFill>
              </a:rPr>
              <a:t>Noises caused by detonation and preignition are caused by abnormal engine combustion.</a:t>
            </a:r>
          </a:p>
          <a:p>
            <a:pPr marL="363538" indent="-363538">
              <a:buSzPct val="100000"/>
            </a:pPr>
            <a:r>
              <a:rPr lang="en-US" sz="2400" b="1" dirty="0">
                <a:solidFill>
                  <a:schemeClr val="accent1"/>
                </a:solidFill>
              </a:rPr>
              <a:t>Detonation</a:t>
            </a:r>
            <a:r>
              <a:rPr lang="en-US" sz="2400" dirty="0">
                <a:solidFill>
                  <a:schemeClr val="accent1"/>
                </a:solidFill>
              </a:rPr>
              <a:t> knock or ping is a noise most noticeable during acceleration with the engine under load and running at normal temperature.</a:t>
            </a:r>
          </a:p>
          <a:p>
            <a:pPr marL="363538" indent="-363538">
              <a:buSzPct val="100000"/>
            </a:pPr>
            <a:r>
              <a:rPr lang="en-US" sz="2400" dirty="0">
                <a:solidFill>
                  <a:schemeClr val="accent1"/>
                </a:solidFill>
              </a:rPr>
              <a:t>Detonation occurs when part of the air</a:t>
            </a:r>
            <a:r>
              <a:rPr lang="en-GB" sz="2400" dirty="0">
                <a:solidFill>
                  <a:schemeClr val="accent1"/>
                </a:solidFill>
              </a:rPr>
              <a:t>–</a:t>
            </a:r>
            <a:r>
              <a:rPr lang="en-US" sz="2400" dirty="0">
                <a:solidFill>
                  <a:schemeClr val="accent1"/>
                </a:solidFill>
              </a:rPr>
              <a:t>fuel mixture begins to ignite on its own. This results in the collision of two flame fronts.</a:t>
            </a:r>
          </a:p>
        </p:txBody>
      </p:sp>
      <p:pic>
        <p:nvPicPr>
          <p:cNvPr id="7" name="Picture Placeholder 6" descr="Four stages during detonation. The first stage is labeled 1. The spark occurs depicts a big spot at the end of the chamber around which combustion takes place. The second stage is labeled 2. Combustion begins depicts combustion in the chamber with more compressed area. The third stage is labeled 3. Continues depicts the combustion around the spark with a bit more compressed area. The fourth stage is labeled 4. Detonation depicts combustion in the entire compressed chamber.">
            <a:extLst>
              <a:ext uri="{FF2B5EF4-FFF2-40B4-BE49-F238E27FC236}">
                <a16:creationId xmlns:a16="http://schemas.microsoft.com/office/drawing/2014/main" id="{C78FAECF-EEED-B795-2AD2-761E45E630CA}"/>
              </a:ext>
            </a:extLst>
          </p:cNvPr>
          <p:cNvPicPr>
            <a:picLocks noGrp="1" noChangeAspect="1"/>
          </p:cNvPicPr>
          <p:nvPr>
            <p:ph type="pic" sz="quarter" idx="12"/>
          </p:nvPr>
        </p:nvPicPr>
        <p:blipFill>
          <a:blip r:embed="rId3"/>
          <a:srcRect b="11947"/>
          <a:stretch/>
        </p:blipFill>
        <p:spPr>
          <a:xfrm>
            <a:off x="3227176" y="4531226"/>
            <a:ext cx="5737649" cy="1453150"/>
          </a:xfrm>
          <a:prstGeom prst="rect">
            <a:avLst/>
          </a:prstGeom>
        </p:spPr>
      </p:pic>
    </p:spTree>
    <p:extLst>
      <p:ext uri="{BB962C8B-B14F-4D97-AF65-F5344CB8AC3E}">
        <p14:creationId xmlns:p14="http://schemas.microsoft.com/office/powerpoint/2010/main" val="299169831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a:t>Chapter Reflection</a:t>
            </a:r>
            <a:endParaRPr/>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spcAft>
                <a:spcPts val="600"/>
              </a:spcAft>
              <a:buSzPts val="2800"/>
              <a:buNone/>
            </a:pPr>
            <a:r>
              <a:rPr lang="en-US" dirty="0">
                <a:solidFill>
                  <a:schemeClr val="accent1"/>
                </a:solidFill>
              </a:rPr>
              <a:t>Please take a moment to compare your perception of the automotive industry before and after you studied this chapter. Then respond to the following questions in one or two paragraphs. Use 150–200 words in your reflection.</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Did anything in this chapter change your thinking about automotive engine designs?</a:t>
            </a:r>
            <a:endParaRPr dirty="0">
              <a:solidFill>
                <a:schemeClr val="accent1"/>
              </a:solidFill>
            </a:endParaRPr>
          </a:p>
          <a:p>
            <a:pPr marL="360363" lvl="0" indent="-360363" algn="l" rtl="0">
              <a:lnSpc>
                <a:spcPct val="100000"/>
              </a:lnSpc>
              <a:spcAft>
                <a:spcPts val="600"/>
              </a:spcAft>
              <a:buSzPts val="2800"/>
              <a:buFont typeface="Arial"/>
              <a:buChar char="•"/>
            </a:pPr>
            <a:r>
              <a:rPr lang="en-US" dirty="0">
                <a:solidFill>
                  <a:schemeClr val="accent1"/>
                </a:solidFill>
              </a:rPr>
              <a:t>Considering all you have learned, do you feel you are able to apply basic engine </a:t>
            </a:r>
            <a:r>
              <a:rPr lang="en-US">
                <a:solidFill>
                  <a:schemeClr val="accent1"/>
                </a:solidFill>
              </a:rPr>
              <a:t>diagnosis theories?</a:t>
            </a: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8032</TotalTime>
  <Words>4976</Words>
  <Application>Microsoft Office PowerPoint</Application>
  <PresentationFormat>Widescreen</PresentationFormat>
  <Paragraphs>328</Paragraphs>
  <Slides>47</Slides>
  <Notes>47</Notes>
  <HiddenSlides>0</HiddenSlides>
  <MMClips>0</MMClips>
  <ScaleCrop>false</ScaleCrop>
  <HeadingPairs>
    <vt:vector size="8"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47</vt:i4>
      </vt:variant>
    </vt:vector>
  </HeadingPairs>
  <TitlesOfParts>
    <vt:vector size="52" baseType="lpstr">
      <vt:lpstr>Arial</vt:lpstr>
      <vt:lpstr>Work Sans</vt:lpstr>
      <vt:lpstr>Calibri</vt:lpstr>
      <vt:lpstr>Optimized Template Master</vt:lpstr>
      <vt:lpstr>Equation</vt:lpstr>
      <vt:lpstr>Automotive Technology:  A Systems Approach, 8e</vt:lpstr>
      <vt:lpstr>Chapter Objectives (1 of 2)</vt:lpstr>
      <vt:lpstr>Chapter Objectives (2 of 2)</vt:lpstr>
      <vt:lpstr>Introduction to Engines (1 of 2)</vt:lpstr>
      <vt:lpstr>Introduction to Engines (2 of 2)</vt:lpstr>
      <vt:lpstr>Engine Classifications</vt:lpstr>
      <vt:lpstr>Four-Stroke Cycle</vt:lpstr>
      <vt:lpstr>Knowledge Check (1 of 2)</vt:lpstr>
      <vt:lpstr>Knowledge Check Answer (1 of 2)</vt:lpstr>
      <vt:lpstr>The Intake Stroke</vt:lpstr>
      <vt:lpstr>The Compression Stroke</vt:lpstr>
      <vt:lpstr>The Power Stroke</vt:lpstr>
      <vt:lpstr>The Exhaust Stroke</vt:lpstr>
      <vt:lpstr>Firing Order</vt:lpstr>
      <vt:lpstr>Discussion</vt:lpstr>
      <vt:lpstr>Two-Stroke Gasoline Engine</vt:lpstr>
      <vt:lpstr>Combustion</vt:lpstr>
      <vt:lpstr>Engine Measurement and Performance (1 of 4)</vt:lpstr>
      <vt:lpstr>Engine Measurement and Performance (2 of 4)</vt:lpstr>
      <vt:lpstr>Engine Measurement and Performance (3 of 4)</vt:lpstr>
      <vt:lpstr>Engine Measurement and Performance (4 of 4)</vt:lpstr>
      <vt:lpstr>Engine Efficiency (1 of 2)</vt:lpstr>
      <vt:lpstr>Engine Efficiency (2 of 2)</vt:lpstr>
      <vt:lpstr>Torque versus Horsepower</vt:lpstr>
      <vt:lpstr>Atkinson Cycle Engines</vt:lpstr>
      <vt:lpstr>Miller Cycle Engines</vt:lpstr>
      <vt:lpstr>Diesel Engines (1 of 2)</vt:lpstr>
      <vt:lpstr>Diesel Engines  (2 of 2)</vt:lpstr>
      <vt:lpstr>Homogeneous Charge Compression Ignition (HCCI) Engines</vt:lpstr>
      <vt:lpstr>Knowledge Check (2 of 2) </vt:lpstr>
      <vt:lpstr>Knowledge Check Answer (2 of 2)</vt:lpstr>
      <vt:lpstr>Hybrids</vt:lpstr>
      <vt:lpstr>Engine Identification</vt:lpstr>
      <vt:lpstr>Engine Diagnostics Relative Compression Test</vt:lpstr>
      <vt:lpstr>Running Compression Test</vt:lpstr>
      <vt:lpstr>Cylinder Leakage Test</vt:lpstr>
      <vt:lpstr>Verifying Valve Timing (1 of 2)</vt:lpstr>
      <vt:lpstr>Verifying Valve Timing (2 of 2)</vt:lpstr>
      <vt:lpstr>Oil Pressure Testing </vt:lpstr>
      <vt:lpstr>Evaluating the Engine’s Condition (1 of 3)</vt:lpstr>
      <vt:lpstr>Evaluating the Engine’s Condition (2 of 3)</vt:lpstr>
      <vt:lpstr>Evaluating the Engine’s Condition (3 of 3)</vt:lpstr>
      <vt:lpstr>Noise and Vibration Diagnosis (1 of 4)</vt:lpstr>
      <vt:lpstr>Noise and Vibration Diagnosis (2 of 4)</vt:lpstr>
      <vt:lpstr>Noise and Vibration Diagnosis (3 of 4)</vt:lpstr>
      <vt:lpstr>Noise and Vibration Diagnosis (4 of 4)</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Muthukrishnan, Keerthi -</cp:lastModifiedBy>
  <cp:revision>131</cp:revision>
  <dcterms:created xsi:type="dcterms:W3CDTF">2021-12-10T16:21:02Z</dcterms:created>
  <dcterms:modified xsi:type="dcterms:W3CDTF">2024-10-18T14:34:10Z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