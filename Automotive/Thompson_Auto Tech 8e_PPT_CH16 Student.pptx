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403" r:id="rId2"/>
    <p:sldId id="301"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 id="341" r:id="rId43"/>
    <p:sldId id="342" r:id="rId44"/>
    <p:sldId id="343" r:id="rId45"/>
  </p:sldIdLst>
  <p:sldSz cx="12192000" cy="6858000"/>
  <p:notesSz cx="6858000" cy="9144000"/>
  <p:embeddedFontLst>
    <p:embeddedFont>
      <p:font typeface="Work Sans"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86375" autoAdjust="0"/>
  </p:normalViewPr>
  <p:slideViewPr>
    <p:cSldViewPr snapToGrid="0">
      <p:cViewPr varScale="1">
        <p:scale>
          <a:sx n="60" d="100"/>
          <a:sy n="60" d="100"/>
        </p:scale>
        <p:origin x="848"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Google Shape;14;p47">
            <a:extLst>
              <a:ext uri="{FF2B5EF4-FFF2-40B4-BE49-F238E27FC236}">
                <a16:creationId xmlns:a16="http://schemas.microsoft.com/office/drawing/2014/main" id="{A15C43B5-6DFB-1AF5-3A6E-AFB799FEF188}"/>
              </a:ext>
            </a:extLst>
          </p:cNvPr>
          <p:cNvSpPr txBox="1"/>
          <p:nvPr userDrawn="1"/>
        </p:nvSpPr>
        <p:spPr>
          <a:xfrm>
            <a:off x="2024634" y="6321898"/>
            <a:ext cx="9352203" cy="461665"/>
          </a:xfrm>
          <a:prstGeom prst="rect">
            <a:avLst/>
          </a:prstGeom>
          <a:noFill/>
          <a:ln>
            <a:noFill/>
          </a:ln>
        </p:spPr>
        <p:txBody>
          <a:bodyPr spcFirstLastPara="1" wrap="square" lIns="91425" tIns="45700" rIns="91425" bIns="45700" anchor="t" anchorCtr="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a:t>
            </a:r>
            <a:r>
              <a:rPr lang="en-US" sz="1200" dirty="0">
                <a:solidFill>
                  <a:schemeClr val="bg1"/>
                </a:solidFill>
                <a:cs typeface="Arial" panose="020B0604020202020204" pitchFamily="34" charset="0"/>
              </a:rPr>
              <a:t>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921997156"/>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6">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9D75E462-8DB8-2567-33A0-9CDC60D385F7}"/>
              </a:ext>
            </a:extLst>
          </p:cNvPr>
          <p:cNvSpPr txBox="1">
            <a:spLocks/>
          </p:cNvSpPr>
          <p:nvPr userDrawn="1"/>
        </p:nvSpPr>
        <p:spPr>
          <a:xfrm>
            <a:off x="2019935" y="6327949"/>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16: General Electrical System Diagnostics and Service</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pPr>
              <a:spcAft>
                <a:spcPts val="600"/>
              </a:spcAft>
            </a:pPr>
            <a:r>
              <a:rPr lang="en-US" dirty="0"/>
              <a:t>16.01 Describe the different possible types of electrical problems.</a:t>
            </a:r>
          </a:p>
          <a:p>
            <a:pPr>
              <a:spcAft>
                <a:spcPts val="600"/>
              </a:spcAft>
            </a:pPr>
            <a:r>
              <a:rPr lang="en-US" dirty="0"/>
              <a:t>16.02 Read electrical diagrams.</a:t>
            </a:r>
          </a:p>
          <a:p>
            <a:pPr>
              <a:spcAft>
                <a:spcPts val="600"/>
              </a:spcAft>
            </a:pPr>
            <a:r>
              <a:rPr lang="en-US" dirty="0"/>
              <a:t>16.03 Perform troubleshooting procedures using testing tools such as meters, test lights, and jumper wires.</a:t>
            </a:r>
          </a:p>
          <a:p>
            <a:pPr>
              <a:spcAft>
                <a:spcPts val="600"/>
              </a:spcAft>
            </a:pPr>
            <a:r>
              <a:rPr lang="en-US" dirty="0"/>
              <a:t>16.04 Explain how to use a DMM for diagnosing electrical and electronic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6262E-D1AC-8642-F2CF-2F33666686A4}"/>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00BA1105-A516-488D-A452-30D178A34E51}"/>
              </a:ext>
            </a:extLst>
          </p:cNvPr>
          <p:cNvSpPr>
            <a:spLocks noGrp="1"/>
          </p:cNvSpPr>
          <p:nvPr>
            <p:ph type="body" idx="1"/>
          </p:nvPr>
        </p:nvSpPr>
        <p:spPr/>
        <p:txBody>
          <a:bodyPr/>
          <a:lstStyle/>
          <a:p>
            <a:pPr>
              <a:spcAft>
                <a:spcPts val="600"/>
              </a:spcAft>
            </a:pPr>
            <a:r>
              <a:rPr lang="en-US" dirty="0"/>
              <a:t>16.05 Explain how to use a lab scope for diagnosing electrical and electronic systems.</a:t>
            </a:r>
          </a:p>
          <a:p>
            <a:pPr>
              <a:spcAft>
                <a:spcPts val="600"/>
              </a:spcAft>
            </a:pPr>
            <a:r>
              <a:rPr lang="en-US" dirty="0"/>
              <a:t>16.06 Test common electrical components.</a:t>
            </a:r>
          </a:p>
          <a:p>
            <a:pPr>
              <a:spcAft>
                <a:spcPts val="600"/>
              </a:spcAft>
            </a:pPr>
            <a:r>
              <a:rPr lang="en-US" dirty="0"/>
              <a:t>16.07 Diagnose common electrical circuit problems.</a:t>
            </a:r>
          </a:p>
          <a:p>
            <a:pPr>
              <a:spcAft>
                <a:spcPts val="600"/>
              </a:spcAft>
            </a:pPr>
            <a:r>
              <a:rPr lang="en-US" dirty="0"/>
              <a:t>16.08 Perform wire and connector repairs.</a:t>
            </a:r>
          </a:p>
        </p:txBody>
      </p:sp>
    </p:spTree>
    <p:extLst>
      <p:ext uri="{BB962C8B-B14F-4D97-AF65-F5344CB8AC3E}">
        <p14:creationId xmlns:p14="http://schemas.microsoft.com/office/powerpoint/2010/main" val="262351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DCCEF3-7E69-A1B6-652A-5A2509DBBAEE}"/>
              </a:ext>
            </a:extLst>
          </p:cNvPr>
          <p:cNvSpPr>
            <a:spLocks noGrp="1"/>
          </p:cNvSpPr>
          <p:nvPr>
            <p:ph type="title"/>
          </p:nvPr>
        </p:nvSpPr>
        <p:spPr/>
        <p:txBody>
          <a:bodyPr/>
          <a:lstStyle/>
          <a:p>
            <a:r>
              <a:rPr lang="en-US" dirty="0"/>
              <a:t>Electrical Problems (1 of 3)</a:t>
            </a:r>
          </a:p>
        </p:txBody>
      </p:sp>
      <p:sp>
        <p:nvSpPr>
          <p:cNvPr id="5" name="Text Placeholder 4">
            <a:extLst>
              <a:ext uri="{FF2B5EF4-FFF2-40B4-BE49-F238E27FC236}">
                <a16:creationId xmlns:a16="http://schemas.microsoft.com/office/drawing/2014/main" id="{EF1ED277-8569-F41C-8718-B9C57D8A0012}"/>
              </a:ext>
            </a:extLst>
          </p:cNvPr>
          <p:cNvSpPr>
            <a:spLocks noGrp="1"/>
          </p:cNvSpPr>
          <p:nvPr>
            <p:ph type="body" idx="1"/>
          </p:nvPr>
        </p:nvSpPr>
        <p:spPr>
          <a:xfrm>
            <a:off x="476843" y="1471264"/>
            <a:ext cx="7947829" cy="4649120"/>
          </a:xfrm>
        </p:spPr>
        <p:txBody>
          <a:bodyPr/>
          <a:lstStyle/>
          <a:p>
            <a:pPr marL="0" indent="0">
              <a:spcAft>
                <a:spcPts val="600"/>
              </a:spcAft>
              <a:buNone/>
            </a:pPr>
            <a:r>
              <a:rPr lang="en-US" sz="2000" b="1" dirty="0"/>
              <a:t>16.01 Describe the different possible types of electrical problems.</a:t>
            </a:r>
          </a:p>
          <a:p>
            <a:pPr>
              <a:spcAft>
                <a:spcPts val="600"/>
              </a:spcAft>
            </a:pPr>
            <a:r>
              <a:rPr lang="en-US" sz="2000" dirty="0"/>
              <a:t>An open circuit occurs when a circuit is incomplete.</a:t>
            </a:r>
          </a:p>
          <a:p>
            <a:pPr>
              <a:spcAft>
                <a:spcPts val="600"/>
              </a:spcAft>
            </a:pPr>
            <a:r>
              <a:rPr lang="en-US" sz="2000" dirty="0"/>
              <a:t>Without a completed path, current cannot flow, voltage is not dropped, and the load or component will not work.</a:t>
            </a:r>
          </a:p>
          <a:p>
            <a:pPr>
              <a:spcAft>
                <a:spcPts val="600"/>
              </a:spcAft>
            </a:pPr>
            <a:r>
              <a:rPr lang="en-US" sz="2000" dirty="0"/>
              <a:t>An open circuit can be caused by a disconnected wire or connector, a broken wire, or a switch in the off position.</a:t>
            </a:r>
          </a:p>
          <a:p>
            <a:pPr>
              <a:spcAft>
                <a:spcPts val="600"/>
              </a:spcAft>
            </a:pPr>
            <a:r>
              <a:rPr lang="en-US" sz="2000" dirty="0"/>
              <a:t>When a circuit is off, it is open. When the circuit is on, it is closed.</a:t>
            </a:r>
          </a:p>
          <a:p>
            <a:pPr>
              <a:spcAft>
                <a:spcPts val="600"/>
              </a:spcAft>
            </a:pPr>
            <a:r>
              <a:rPr lang="en-US" sz="2000" dirty="0"/>
              <a:t>Switches open and close circuits, but at times a fault, such as worn or burned contacts, in the switch will cause an open.</a:t>
            </a:r>
          </a:p>
        </p:txBody>
      </p:sp>
      <p:pic>
        <p:nvPicPr>
          <p:cNvPr id="7" name="Picture Placeholder 6" descr="Two circuits. The first circuit represents a 12 V battery whose negative and positive terminals are connected in parallel each with a resistance of 3 ohms and 6 ohms respectively. A 6 A current flows through the positive terminal of the battery, except in the 2 parallel connections with resistance where the current flow is reduced to 4 A and 2 A. The second circuit represents a 12 V battery whose negative and positive terminals are connected in parallel connections each with a resistance of 3 ohms and 6 ohms respectively. The connection along the negative terminal of the battery is not continuous until the parallel connection. The current through the positive of the battery is 0 A throughout the circuit, including the 2 parallel connections.">
            <a:extLst>
              <a:ext uri="{FF2B5EF4-FFF2-40B4-BE49-F238E27FC236}">
                <a16:creationId xmlns:a16="http://schemas.microsoft.com/office/drawing/2014/main" id="{81CB3BAF-BD19-07C5-CCE6-AC0D66FBA0B7}"/>
              </a:ext>
            </a:extLst>
          </p:cNvPr>
          <p:cNvPicPr>
            <a:picLocks noGrp="1" noChangeAspect="1"/>
          </p:cNvPicPr>
          <p:nvPr>
            <p:ph type="pic" sz="quarter" idx="10"/>
          </p:nvPr>
        </p:nvPicPr>
        <p:blipFill>
          <a:blip r:embed="rId2"/>
          <a:srcRect b="6197"/>
          <a:stretch/>
        </p:blipFill>
        <p:spPr>
          <a:xfrm>
            <a:off x="8809457" y="1759142"/>
            <a:ext cx="2730088" cy="4073363"/>
          </a:xfrm>
          <a:prstGeom prst="rect">
            <a:avLst/>
          </a:prstGeom>
        </p:spPr>
      </p:pic>
    </p:spTree>
    <p:extLst>
      <p:ext uri="{BB962C8B-B14F-4D97-AF65-F5344CB8AC3E}">
        <p14:creationId xmlns:p14="http://schemas.microsoft.com/office/powerpoint/2010/main" val="2100516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01D0-D436-A2E9-BB60-D92D462E7808}"/>
              </a:ext>
            </a:extLst>
          </p:cNvPr>
          <p:cNvSpPr>
            <a:spLocks noGrp="1"/>
          </p:cNvSpPr>
          <p:nvPr>
            <p:ph type="title"/>
          </p:nvPr>
        </p:nvSpPr>
        <p:spPr/>
        <p:txBody>
          <a:bodyPr/>
          <a:lstStyle/>
          <a:p>
            <a:r>
              <a:rPr lang="en-US" dirty="0"/>
              <a:t>Electrical Problems (2 of 3)</a:t>
            </a:r>
          </a:p>
        </p:txBody>
      </p:sp>
      <p:sp>
        <p:nvSpPr>
          <p:cNvPr id="3" name="Text Placeholder 2">
            <a:extLst>
              <a:ext uri="{FF2B5EF4-FFF2-40B4-BE49-F238E27FC236}">
                <a16:creationId xmlns:a16="http://schemas.microsoft.com/office/drawing/2014/main" id="{0F1692F9-ECEF-F6A0-E467-4E81FF15EFA4}"/>
              </a:ext>
            </a:extLst>
          </p:cNvPr>
          <p:cNvSpPr>
            <a:spLocks noGrp="1"/>
          </p:cNvSpPr>
          <p:nvPr>
            <p:ph type="body" idx="1"/>
          </p:nvPr>
        </p:nvSpPr>
        <p:spPr>
          <a:xfrm>
            <a:off x="476843" y="1408634"/>
            <a:ext cx="7833994" cy="4734464"/>
          </a:xfrm>
        </p:spPr>
        <p:txBody>
          <a:bodyPr/>
          <a:lstStyle/>
          <a:p>
            <a:pPr>
              <a:spcAft>
                <a:spcPts val="400"/>
              </a:spcAft>
            </a:pPr>
            <a:r>
              <a:rPr lang="en-US" sz="2000" dirty="0"/>
              <a:t>When a circuit has an unwanted path for current to follow, it has a </a:t>
            </a:r>
            <a:r>
              <a:rPr lang="en-US" sz="2000" b="1" dirty="0"/>
              <a:t>short.</a:t>
            </a:r>
          </a:p>
          <a:p>
            <a:pPr>
              <a:spcAft>
                <a:spcPts val="400"/>
              </a:spcAft>
            </a:pPr>
            <a:r>
              <a:rPr lang="en-US" sz="2000" dirty="0"/>
              <a:t>Shorts can be either to power or to ground.</a:t>
            </a:r>
          </a:p>
          <a:p>
            <a:pPr>
              <a:spcAft>
                <a:spcPts val="400"/>
              </a:spcAft>
            </a:pPr>
            <a:r>
              <a:rPr lang="en-US" sz="2000" dirty="0"/>
              <a:t>A short circuit is sometimes referred to as a low-resistance circuit.</a:t>
            </a:r>
          </a:p>
          <a:p>
            <a:pPr>
              <a:spcAft>
                <a:spcPts val="400"/>
              </a:spcAft>
            </a:pPr>
            <a:r>
              <a:rPr lang="en-US" sz="2000" dirty="0"/>
              <a:t>When an energized wire accidentally contacts the frame or body of the car or another wire, circuit current can travel in unintended directions through the wires.</a:t>
            </a:r>
          </a:p>
          <a:p>
            <a:pPr>
              <a:spcAft>
                <a:spcPts val="400"/>
              </a:spcAft>
            </a:pPr>
            <a:r>
              <a:rPr lang="en-US" sz="2000" dirty="0"/>
              <a:t>Shorts are caused by damaged wire insulation, loose wires or connections, damaged connections, improper wiring, or careless installation of accessories. </a:t>
            </a:r>
          </a:p>
          <a:p>
            <a:pPr>
              <a:spcAft>
                <a:spcPts val="400"/>
              </a:spcAft>
            </a:pPr>
            <a:r>
              <a:rPr lang="en-US" sz="2000" dirty="0"/>
              <a:t>A short creates an unwanted parallel leg or path in a circuit.</a:t>
            </a:r>
          </a:p>
        </p:txBody>
      </p:sp>
      <p:pic>
        <p:nvPicPr>
          <p:cNvPr id="5" name="Picture Placeholder 4" descr="An electrical circuit, short to ground, and a 12 V battery. The positive terminal of the battery is connected to a fuse that is open and connected to 2 parallel loads. The negative terminal of the battery is connected to 2 loads in parallel. A short is represented through a red wavy diagonal line from the positive terminal of the battery to the point between the fuse and the first load. Fuse opens and short are labeled.">
            <a:extLst>
              <a:ext uri="{FF2B5EF4-FFF2-40B4-BE49-F238E27FC236}">
                <a16:creationId xmlns:a16="http://schemas.microsoft.com/office/drawing/2014/main" id="{AEB9EB49-02D4-1C4E-B9C5-A2FA6B2EE089}"/>
              </a:ext>
            </a:extLst>
          </p:cNvPr>
          <p:cNvPicPr>
            <a:picLocks noGrp="1" noChangeAspect="1"/>
          </p:cNvPicPr>
          <p:nvPr>
            <p:ph type="pic" sz="quarter" idx="10"/>
          </p:nvPr>
        </p:nvPicPr>
        <p:blipFill>
          <a:blip r:embed="rId2"/>
          <a:srcRect b="7832"/>
          <a:stretch/>
        </p:blipFill>
        <p:spPr>
          <a:xfrm>
            <a:off x="8310837" y="2029828"/>
            <a:ext cx="3519511" cy="2983961"/>
          </a:xfrm>
          <a:prstGeom prst="rect">
            <a:avLst/>
          </a:prstGeom>
        </p:spPr>
      </p:pic>
    </p:spTree>
    <p:extLst>
      <p:ext uri="{BB962C8B-B14F-4D97-AF65-F5344CB8AC3E}">
        <p14:creationId xmlns:p14="http://schemas.microsoft.com/office/powerpoint/2010/main" val="3745697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Electrical Problems (3 of 3)</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371056"/>
            <a:ext cx="6738149" cy="4588160"/>
          </a:xfrm>
        </p:spPr>
        <p:txBody>
          <a:bodyPr/>
          <a:lstStyle/>
          <a:p>
            <a:r>
              <a:rPr lang="en-US" sz="2200" dirty="0"/>
              <a:t>Resistance problems occur when there is unwanted resistance in the circuit.</a:t>
            </a:r>
          </a:p>
          <a:p>
            <a:r>
              <a:rPr lang="en-US" sz="2200" dirty="0"/>
              <a:t>The higher than normal resistance causes the current flow to be lower, and the components in the circuit cannot operate properly.</a:t>
            </a:r>
          </a:p>
          <a:p>
            <a:r>
              <a:rPr lang="en-US" sz="2200" dirty="0"/>
              <a:t>A common cause of this problem is corrosion at a connector. </a:t>
            </a:r>
          </a:p>
          <a:p>
            <a:r>
              <a:rPr lang="en-US" sz="2200" dirty="0"/>
              <a:t>The corrosion becomes an additional load in the circuit. </a:t>
            </a:r>
          </a:p>
          <a:p>
            <a:r>
              <a:rPr lang="en-US" sz="2200" dirty="0"/>
              <a:t>This load uses some of the circuit’s voltage, which prevents full voltage to the circuit’s normal loads. </a:t>
            </a:r>
          </a:p>
        </p:txBody>
      </p:sp>
      <p:pic>
        <p:nvPicPr>
          <p:cNvPr id="5" name="Picture Placeholder 4" descr="Two circuits labeled (A) and (B). The first circuit (A) represents a 12 V battery whose positive terminal carries 3 A current and a resistance of 1 ohm before connecting to a bulb of 2 ohms resistance. The negative terminal of the battery is connected to the bulb of 2 ohms resistance through a 1 ohm resistance. A voltmeter is connected to both the positive and negative terminals before it is connected to the bulb. The voltmeter reading is 6 V. The second circuit (B) depicts a 12 V battery whose positive terminal carries 3 A current and a resistance of 1 ohms before connecting to a bulb of 2 ohms resistance. The negative terminal of the battery is connected to the bulb of 2 ohms resistance through a 1 ohm resistance. The label 9 watts used by resistance is near the 1 ohm resistance in the circuit. The label 18 watts used by bulb is near the bulb. The 1 ohm resistance in both the circuits labeled Corrosion. The text below the circuit reads, Total power used by the circuit = 36 watts, 12 V * 3 A = 36 watts.">
            <a:extLst>
              <a:ext uri="{FF2B5EF4-FFF2-40B4-BE49-F238E27FC236}">
                <a16:creationId xmlns:a16="http://schemas.microsoft.com/office/drawing/2014/main" id="{54196AA8-EB08-B5C3-0007-6DA5D5220C8F}"/>
              </a:ext>
            </a:extLst>
          </p:cNvPr>
          <p:cNvPicPr>
            <a:picLocks noGrp="1" noChangeAspect="1"/>
          </p:cNvPicPr>
          <p:nvPr>
            <p:ph type="pic" sz="quarter" idx="10"/>
          </p:nvPr>
        </p:nvPicPr>
        <p:blipFill>
          <a:blip r:embed="rId2"/>
          <a:srcRect b="9304"/>
          <a:stretch/>
        </p:blipFill>
        <p:spPr>
          <a:xfrm>
            <a:off x="7350258" y="2239274"/>
            <a:ext cx="4605396" cy="2158066"/>
          </a:xfrm>
          <a:prstGeom prst="rect">
            <a:avLst/>
          </a:prstGeom>
        </p:spPr>
      </p:pic>
    </p:spTree>
    <p:extLst>
      <p:ext uri="{BB962C8B-B14F-4D97-AF65-F5344CB8AC3E}">
        <p14:creationId xmlns:p14="http://schemas.microsoft.com/office/powerpoint/2010/main" val="28103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Electrical Wiring Diagrams</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630837" cy="4685696"/>
          </a:xfrm>
        </p:spPr>
        <p:txBody>
          <a:bodyPr/>
          <a:lstStyle/>
          <a:p>
            <a:r>
              <a:rPr lang="en-US" sz="1800" b="1" dirty="0"/>
              <a:t>16.02 Read electrical diagrams.</a:t>
            </a:r>
          </a:p>
          <a:p>
            <a:r>
              <a:rPr lang="en-US" sz="1800" dirty="0"/>
              <a:t>Wiring diagrams, sometimes called </a:t>
            </a:r>
            <a:r>
              <a:rPr lang="en-US" sz="1800" b="1" dirty="0"/>
              <a:t>schematics</a:t>
            </a:r>
            <a:r>
              <a:rPr lang="en-US" sz="1800" dirty="0"/>
              <a:t>, show how circuits are constructed.</a:t>
            </a:r>
          </a:p>
          <a:p>
            <a:r>
              <a:rPr lang="en-US" sz="1800" dirty="0"/>
              <a:t>These diagrams are used to diagnose and repair a vehicle’s electrical system.</a:t>
            </a:r>
          </a:p>
          <a:p>
            <a:r>
              <a:rPr lang="en-US" sz="1800" dirty="0"/>
              <a:t>They identify the wires and connectors in every circuit of a vehicle.</a:t>
            </a:r>
          </a:p>
          <a:p>
            <a:r>
              <a:rPr lang="en-US" sz="1800" dirty="0"/>
              <a:t>A wiring diagram does not show the actual location of the parts or their appearance, nor does it indicate the length of the wire that runs between components.</a:t>
            </a:r>
          </a:p>
          <a:p>
            <a:r>
              <a:rPr lang="en-US" sz="1800" dirty="0"/>
              <a:t>It does show the color of the wire’s insulation and sometimes the wire gauge size.</a:t>
            </a:r>
          </a:p>
          <a:p>
            <a:r>
              <a:rPr lang="en-US" sz="1800" dirty="0"/>
              <a:t>The diagram may also include the circuit number, connector and terminal identification, and general location of components.</a:t>
            </a:r>
          </a:p>
        </p:txBody>
      </p:sp>
      <p:pic>
        <p:nvPicPr>
          <p:cNvPr id="5" name="Picture Placeholder 4" descr="A wiring diagram of a component. A rectangular box labeled St-run-off A81, at the top. A pointer labeled Indicates the power circuit, below which is found a junction box. A Fuse 5 A is also found below. The connection points in both upward and downward directions above and below the fuse. An internal splice is below the fuse within the junction box. 10 and C 6 are the labels depicted right below the junction box. An internal splice labeled S213, has an Instrument cluster having an Oil pressure warning lamp and a Brake warning lamp that is connected. The upward arrow on the connection above this cluster is labeled 6 and C 2. In the connection from the oil pressure warning lamp, the down arrow is labeled 5 and C 1. A pointer to the label 5 is labeled Indicates connector PIN. The down arrow from the connection from the brake lamp is labeled 6 and C 1. A pointer to C 1 is labeled Indicates connector number. This goes to a dashed box where 5 components are numbered from 0 to 4 and are labeled Indicates operating condition of component Indicates connector number 1 Start, 2 Run, 0 Off, 3 Lock, 4 Acc. Component 3 is selected. A downward arrow labeled 2 flows from this junction before being grounded. The connection from the instrument cluster also branches to a rectangular box labeled junction block. Connection number C4 is going up from the junction box while C10 and C12 are going down from it. C10 connects to a switch labeled Park brake switch which is eventually grounded. PIN positions are as follows: 1 is above the park brake switch; 4 near C10; 11 near C2; 6 near C4; C2 is further connected to a circuit labeled Others ABS/DRL. A pointer to it reads, Indicates vehicle optional circuits. This circuit extends to a switch labeled Brake fluid level switch, a dashed box labeled Daytime running lamp module, and another dashed box labeled Controller antilock brake. A pointer to this box reads, Dashed box indicates component is not complete. The connection from the brake fluid level switch is numbered C110 and is grounded in green which is numbered G102. The pointer to this grounding reads Indicates a body ground. Pin number 1 is above this switch while 2 is below. The label S108 is depicted in the connection to the Controller antilock brake while S202 is depicted to the dashed box with the operating condition of component. The connection from pin number extends down with in-line connector number for connection C110 and 4 for C101. This further goes to a switch labeled Solid box indicates complete component. In-line connector number 1 is depicted above this solid box. The switch is grounded and depicted in green. A pointer to the grounding reads, Indicates component is case grounded.">
            <a:extLst>
              <a:ext uri="{FF2B5EF4-FFF2-40B4-BE49-F238E27FC236}">
                <a16:creationId xmlns:a16="http://schemas.microsoft.com/office/drawing/2014/main" id="{7A71342E-EE41-9DDA-E51D-C91FBF768C69}"/>
              </a:ext>
            </a:extLst>
          </p:cNvPr>
          <p:cNvPicPr>
            <a:picLocks noGrp="1" noChangeAspect="1"/>
          </p:cNvPicPr>
          <p:nvPr>
            <p:ph type="pic" sz="quarter" idx="10"/>
          </p:nvPr>
        </p:nvPicPr>
        <p:blipFill>
          <a:blip r:embed="rId2"/>
          <a:srcRect b="2578"/>
          <a:stretch/>
        </p:blipFill>
        <p:spPr>
          <a:xfrm>
            <a:off x="8303647" y="1631640"/>
            <a:ext cx="3411510" cy="4364943"/>
          </a:xfrm>
          <a:prstGeom prst="rect">
            <a:avLst/>
          </a:prstGeom>
        </p:spPr>
      </p:pic>
    </p:spTree>
    <p:extLst>
      <p:ext uri="{BB962C8B-B14F-4D97-AF65-F5344CB8AC3E}">
        <p14:creationId xmlns:p14="http://schemas.microsoft.com/office/powerpoint/2010/main" val="199908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Connector and Terminals</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4" y="1471264"/>
            <a:ext cx="7276768" cy="4551584"/>
          </a:xfrm>
        </p:spPr>
        <p:txBody>
          <a:bodyPr/>
          <a:lstStyle/>
          <a:p>
            <a:pPr>
              <a:spcAft>
                <a:spcPts val="600"/>
              </a:spcAft>
            </a:pPr>
            <a:r>
              <a:rPr lang="en-US" dirty="0"/>
              <a:t>An electrical terminal is a copper, brass, or steel end crimped or soldered to a wire.</a:t>
            </a:r>
          </a:p>
          <a:p>
            <a:pPr>
              <a:spcAft>
                <a:spcPts val="600"/>
              </a:spcAft>
            </a:pPr>
            <a:r>
              <a:rPr lang="en-US" dirty="0"/>
              <a:t>When mated to another terminal, an electrical connection is made.</a:t>
            </a:r>
          </a:p>
          <a:p>
            <a:pPr>
              <a:spcAft>
                <a:spcPts val="600"/>
              </a:spcAft>
            </a:pPr>
            <a:r>
              <a:rPr lang="en-US" dirty="0"/>
              <a:t>A connector slips into or over another connector, depending on the connection; a connector is either a male or female.</a:t>
            </a:r>
          </a:p>
          <a:p>
            <a:pPr>
              <a:spcAft>
                <a:spcPts val="600"/>
              </a:spcAft>
            </a:pPr>
            <a:r>
              <a:rPr lang="en-US" dirty="0"/>
              <a:t>There are different types of connectors</a:t>
            </a:r>
          </a:p>
        </p:txBody>
      </p:sp>
      <p:pic>
        <p:nvPicPr>
          <p:cNvPr id="5" name="Picture Placeholder 4" descr="The structure of the locking tang in a metric-pack connector with the following components labeled: Connector, Wire, Weather seal, Terminal, and Locking tang.">
            <a:extLst>
              <a:ext uri="{FF2B5EF4-FFF2-40B4-BE49-F238E27FC236}">
                <a16:creationId xmlns:a16="http://schemas.microsoft.com/office/drawing/2014/main" id="{7C24ED7F-098F-6745-ED5F-A61C317F55ED}"/>
              </a:ext>
            </a:extLst>
          </p:cNvPr>
          <p:cNvPicPr>
            <a:picLocks noGrp="1" noChangeAspect="1"/>
          </p:cNvPicPr>
          <p:nvPr>
            <p:ph type="pic" sz="quarter" idx="10"/>
          </p:nvPr>
        </p:nvPicPr>
        <p:blipFill>
          <a:blip r:embed="rId2"/>
          <a:srcRect b="12889"/>
          <a:stretch/>
        </p:blipFill>
        <p:spPr>
          <a:xfrm>
            <a:off x="7834887" y="2119555"/>
            <a:ext cx="4154085" cy="2618891"/>
          </a:xfrm>
          <a:prstGeom prst="rect">
            <a:avLst/>
          </a:prstGeom>
        </p:spPr>
      </p:pic>
    </p:spTree>
    <p:extLst>
      <p:ext uri="{BB962C8B-B14F-4D97-AF65-F5344CB8AC3E}">
        <p14:creationId xmlns:p14="http://schemas.microsoft.com/office/powerpoint/2010/main" val="199238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Electrical Testing Tools (1 of 3)</a:t>
            </a:r>
          </a:p>
        </p:txBody>
      </p:sp>
      <p:pic>
        <p:nvPicPr>
          <p:cNvPr id="5" name="Picture Placeholder 4" descr="A line graph depicts the voltage and current flow in a power window motor circuit. The current flow is a consistent red-colored horizontal line. The blue-colored line below represents voltage and depicts ups and downs based on the fluctuations in voltage.">
            <a:extLst>
              <a:ext uri="{FF2B5EF4-FFF2-40B4-BE49-F238E27FC236}">
                <a16:creationId xmlns:a16="http://schemas.microsoft.com/office/drawing/2014/main" id="{91C95BF2-0F83-A24D-2E1D-8F3EFEB35234}"/>
              </a:ext>
            </a:extLst>
          </p:cNvPr>
          <p:cNvPicPr>
            <a:picLocks noGrp="1" noChangeAspect="1"/>
          </p:cNvPicPr>
          <p:nvPr>
            <p:ph type="pic" sz="quarter" idx="10"/>
          </p:nvPr>
        </p:nvPicPr>
        <p:blipFill>
          <a:blip r:embed="rId2"/>
          <a:srcRect b="7890"/>
          <a:stretch/>
        </p:blipFill>
        <p:spPr>
          <a:xfrm>
            <a:off x="483749" y="2379106"/>
            <a:ext cx="4400289" cy="2377830"/>
          </a:xfrm>
          <a:prstGeom prst="rect">
            <a:avLst/>
          </a:prstGeom>
        </p:spPr>
      </p:pic>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5035296" y="1507840"/>
            <a:ext cx="6593218" cy="4563776"/>
          </a:xfrm>
        </p:spPr>
        <p:txBody>
          <a:bodyPr/>
          <a:lstStyle/>
          <a:p>
            <a:pPr>
              <a:spcAft>
                <a:spcPts val="600"/>
              </a:spcAft>
            </a:pPr>
            <a:r>
              <a:rPr lang="en-US" dirty="0"/>
              <a:t>Lab Scopes</a:t>
            </a:r>
          </a:p>
          <a:p>
            <a:pPr lvl="1">
              <a:spcAft>
                <a:spcPts val="600"/>
              </a:spcAft>
            </a:pPr>
            <a:r>
              <a:rPr lang="en-US" dirty="0"/>
              <a:t>Lab scopes are fast-reacting meters that measure and display voltages within a specific period of time.</a:t>
            </a:r>
          </a:p>
          <a:p>
            <a:pPr lvl="1">
              <a:spcAft>
                <a:spcPts val="600"/>
              </a:spcAft>
            </a:pPr>
            <a:r>
              <a:rPr lang="en-US" dirty="0"/>
              <a:t>The voltage readings appear as a waveform or trace on the scope’s screen.</a:t>
            </a:r>
          </a:p>
          <a:p>
            <a:pPr lvl="1">
              <a:spcAft>
                <a:spcPts val="600"/>
              </a:spcAft>
            </a:pPr>
            <a:r>
              <a:rPr lang="en-US" dirty="0"/>
              <a:t>The waveform displays what is happening and any problems can be observed when they happen.</a:t>
            </a:r>
          </a:p>
        </p:txBody>
      </p:sp>
    </p:spTree>
    <p:extLst>
      <p:ext uri="{BB962C8B-B14F-4D97-AF65-F5344CB8AC3E}">
        <p14:creationId xmlns:p14="http://schemas.microsoft.com/office/powerpoint/2010/main" val="3304512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Electrical Testing Tools (2 of 3)</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8453402" cy="4525775"/>
          </a:xfrm>
        </p:spPr>
        <p:txBody>
          <a:bodyPr/>
          <a:lstStyle/>
          <a:p>
            <a:r>
              <a:rPr lang="en-US" sz="2000" dirty="0"/>
              <a:t>A multimeter is one of the most important tools for troubleshooting electrical and electronic systems.</a:t>
            </a:r>
          </a:p>
          <a:p>
            <a:r>
              <a:rPr lang="en-US" sz="2000" dirty="0"/>
              <a:t>A basic multimeter measures DC and AC voltage, current, and resistance.</a:t>
            </a:r>
          </a:p>
          <a:p>
            <a:r>
              <a:rPr lang="en-US" sz="2000" dirty="0"/>
              <a:t>Because most of today’s multimeters have a digital display, they are commonly referred to as a digital multimeter or DMM.</a:t>
            </a:r>
          </a:p>
          <a:p>
            <a:r>
              <a:rPr lang="en-US" sz="2000" dirty="0"/>
              <a:t>Most DMMs also check engine speed, signal frequency, duty cycle, pulse width, diodes, and temperature.</a:t>
            </a:r>
          </a:p>
          <a:p>
            <a:r>
              <a:rPr lang="en-US" sz="2000" dirty="0"/>
              <a:t>The desired test is selected by turning a control knob or depressing keys on the meter.</a:t>
            </a:r>
          </a:p>
          <a:p>
            <a:r>
              <a:rPr lang="en-US" sz="2000" dirty="0"/>
              <a:t>These meters can be used to test simple electrical circuits, ignition systems, input sensors, fuel injectors, batteries, and starting and charging systems.</a:t>
            </a:r>
          </a:p>
        </p:txBody>
      </p:sp>
      <p:pic>
        <p:nvPicPr>
          <p:cNvPr id="5" name="Picture Placeholder 4" descr="A photo depicts a close-up view of a Digital Multi Meter (D M M) with the positive and negative wires plugged in.">
            <a:extLst>
              <a:ext uri="{FF2B5EF4-FFF2-40B4-BE49-F238E27FC236}">
                <a16:creationId xmlns:a16="http://schemas.microsoft.com/office/drawing/2014/main" id="{74F7A420-5985-C18E-4823-053718C478BC}"/>
              </a:ext>
            </a:extLst>
          </p:cNvPr>
          <p:cNvPicPr>
            <a:picLocks noGrp="1" noChangeAspect="1"/>
          </p:cNvPicPr>
          <p:nvPr>
            <p:ph type="pic" sz="quarter" idx="10"/>
          </p:nvPr>
        </p:nvPicPr>
        <p:blipFill>
          <a:blip r:embed="rId2"/>
          <a:srcRect b="6006"/>
          <a:stretch/>
        </p:blipFill>
        <p:spPr>
          <a:xfrm>
            <a:off x="8903888" y="1914565"/>
            <a:ext cx="3082079" cy="3472172"/>
          </a:xfrm>
          <a:prstGeom prst="rect">
            <a:avLst/>
          </a:prstGeom>
        </p:spPr>
      </p:pic>
    </p:spTree>
    <p:extLst>
      <p:ext uri="{BB962C8B-B14F-4D97-AF65-F5344CB8AC3E}">
        <p14:creationId xmlns:p14="http://schemas.microsoft.com/office/powerpoint/2010/main" val="1358369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Electrical Testing Tools (3 of 3)</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643029" cy="4502816"/>
          </a:xfrm>
        </p:spPr>
        <p:txBody>
          <a:bodyPr/>
          <a:lstStyle/>
          <a:p>
            <a:pPr>
              <a:spcAft>
                <a:spcPts val="600"/>
              </a:spcAft>
            </a:pPr>
            <a:r>
              <a:rPr lang="en-US" sz="1800" dirty="0"/>
              <a:t>A scan tool may be used as part of diagnosing an electrical issue because many of the systems on modern vehicles are computer controlled or monitored.</a:t>
            </a:r>
          </a:p>
          <a:p>
            <a:pPr>
              <a:spcAft>
                <a:spcPts val="600"/>
              </a:spcAft>
            </a:pPr>
            <a:r>
              <a:rPr lang="en-US" sz="1800" dirty="0"/>
              <a:t>A scan tool can retrieve fault codes from a computer’s memory and digitally display these codes.</a:t>
            </a:r>
          </a:p>
          <a:p>
            <a:pPr>
              <a:spcAft>
                <a:spcPts val="600"/>
              </a:spcAft>
            </a:pPr>
            <a:r>
              <a:rPr lang="en-US" sz="1800" dirty="0"/>
              <a:t>A scan tool may also perform other diagnostic functions depending on the year and make of the vehicle and the capabilities of the tool.</a:t>
            </a:r>
          </a:p>
          <a:p>
            <a:pPr>
              <a:spcAft>
                <a:spcPts val="600"/>
              </a:spcAft>
            </a:pPr>
            <a:r>
              <a:rPr lang="en-US" sz="1800" dirty="0"/>
              <a:t>This may include system calibrations and bidirectional controls.</a:t>
            </a:r>
          </a:p>
          <a:p>
            <a:pPr>
              <a:spcAft>
                <a:spcPts val="600"/>
              </a:spcAft>
            </a:pPr>
            <a:r>
              <a:rPr lang="en-US" sz="1800" dirty="0"/>
              <a:t>Trouble codes are typically set when a voltage signal is entirely out of its normal range.</a:t>
            </a:r>
          </a:p>
          <a:p>
            <a:pPr>
              <a:spcAft>
                <a:spcPts val="600"/>
              </a:spcAft>
            </a:pPr>
            <a:r>
              <a:rPr lang="en-US" sz="1800" dirty="0"/>
              <a:t>The codes help technicians identify the cause of the problem.</a:t>
            </a:r>
          </a:p>
        </p:txBody>
      </p:sp>
      <p:pic>
        <p:nvPicPr>
          <p:cNvPr id="5" name="Picture Placeholder 4" descr="A photo depicts a close-up view of a scanning tool with a few icons displayed on the screen.">
            <a:extLst>
              <a:ext uri="{FF2B5EF4-FFF2-40B4-BE49-F238E27FC236}">
                <a16:creationId xmlns:a16="http://schemas.microsoft.com/office/drawing/2014/main" id="{79E91CD0-8567-2A27-21FE-F63B10FA1F7D}"/>
              </a:ext>
            </a:extLst>
          </p:cNvPr>
          <p:cNvPicPr>
            <a:picLocks noGrp="1" noChangeAspect="1"/>
          </p:cNvPicPr>
          <p:nvPr>
            <p:ph type="pic" sz="quarter" idx="10"/>
          </p:nvPr>
        </p:nvPicPr>
        <p:blipFill>
          <a:blip r:embed="rId2"/>
          <a:srcRect b="7189"/>
          <a:stretch/>
        </p:blipFill>
        <p:spPr>
          <a:xfrm>
            <a:off x="8068210" y="2073874"/>
            <a:ext cx="3688521" cy="3094028"/>
          </a:xfrm>
          <a:prstGeom prst="rect">
            <a:avLst/>
          </a:prstGeom>
        </p:spPr>
      </p:pic>
    </p:spTree>
    <p:extLst>
      <p:ext uri="{BB962C8B-B14F-4D97-AF65-F5344CB8AC3E}">
        <p14:creationId xmlns:p14="http://schemas.microsoft.com/office/powerpoint/2010/main" val="3874400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Using Multimeters (1 of 3)</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691797" cy="4515008"/>
          </a:xfrm>
        </p:spPr>
        <p:txBody>
          <a:bodyPr/>
          <a:lstStyle/>
          <a:p>
            <a:r>
              <a:rPr lang="en-US" sz="2000" dirty="0"/>
              <a:t>Multimeters are available with either analog or digital displays.</a:t>
            </a:r>
          </a:p>
          <a:p>
            <a:r>
              <a:rPr lang="en-US" sz="2000" dirty="0"/>
              <a:t>Analog meters use a needle to point to a value on a scale and are seldom used on today’s vehicles.</a:t>
            </a:r>
          </a:p>
          <a:p>
            <a:r>
              <a:rPr lang="en-US" sz="2000" dirty="0"/>
              <a:t>A digital meter shows the value in numbers or digits. The most commonly used meter is DMM, sometimes called a digital volt/ohm meter (DVOM).</a:t>
            </a:r>
          </a:p>
          <a:p>
            <a:r>
              <a:rPr lang="en-US" sz="2000" dirty="0"/>
              <a:t>DMMs have high input impedance, 1 megohm (million ohms) to 10 megohms or more, and the metered voltage for resistance tests is below 5 volts, reducing the risk of damage to delicate electronic components and circuits.</a:t>
            </a:r>
          </a:p>
          <a:p>
            <a:r>
              <a:rPr lang="en-US" sz="2000" dirty="0"/>
              <a:t>The front of a DMM normally comprises sections: the display area, range selectors, mode selector, and jacks.</a:t>
            </a:r>
          </a:p>
        </p:txBody>
      </p:sp>
      <p:pic>
        <p:nvPicPr>
          <p:cNvPr id="5" name="Picture Placeholder 4" descr="A photo of a close-up view of 2 meters. The first meter depicts the internal resistance as 17.68 ohms while the second meter depicts the voltage output as 12.46 V.">
            <a:extLst>
              <a:ext uri="{FF2B5EF4-FFF2-40B4-BE49-F238E27FC236}">
                <a16:creationId xmlns:a16="http://schemas.microsoft.com/office/drawing/2014/main" id="{EA6E0325-9086-A06F-814C-CEF7BB362088}"/>
              </a:ext>
            </a:extLst>
          </p:cNvPr>
          <p:cNvPicPr>
            <a:picLocks noGrp="1" noChangeAspect="1"/>
          </p:cNvPicPr>
          <p:nvPr>
            <p:ph type="pic" sz="quarter" idx="10"/>
          </p:nvPr>
        </p:nvPicPr>
        <p:blipFill rotWithShape="1">
          <a:blip r:embed="rId2"/>
          <a:srcRect b="15937"/>
          <a:stretch/>
        </p:blipFill>
        <p:spPr>
          <a:xfrm>
            <a:off x="8156869" y="2179365"/>
            <a:ext cx="3711226" cy="2577570"/>
          </a:xfrm>
          <a:prstGeom prst="rect">
            <a:avLst/>
          </a:prstGeom>
        </p:spPr>
      </p:pic>
    </p:spTree>
    <p:extLst>
      <p:ext uri="{BB962C8B-B14F-4D97-AF65-F5344CB8AC3E}">
        <p14:creationId xmlns:p14="http://schemas.microsoft.com/office/powerpoint/2010/main" val="655661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Using Multimeters (2 of 3)</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5"/>
            <a:ext cx="8141064" cy="4636927"/>
          </a:xfrm>
        </p:spPr>
        <p:txBody>
          <a:bodyPr/>
          <a:lstStyle/>
          <a:p>
            <a:r>
              <a:rPr lang="en-US" sz="1800" dirty="0"/>
              <a:t>When using a meter with auto range, make sure you note the range being used by the meter.</a:t>
            </a:r>
          </a:p>
          <a:p>
            <a:r>
              <a:rPr lang="en-US" sz="1800" dirty="0"/>
              <a:t>There is a big difference between 10 ohms and 10,000,000 (10 M) ohms.</a:t>
            </a:r>
          </a:p>
          <a:p>
            <a:r>
              <a:rPr lang="en-US" sz="1800" dirty="0"/>
              <a:t>The mode selector defines what the meter will be measuring.</a:t>
            </a:r>
          </a:p>
          <a:p>
            <a:r>
              <a:rPr lang="en-US" sz="1800" dirty="0"/>
              <a:t>Most DMMs have two test leads and four input jacks.</a:t>
            </a:r>
          </a:p>
          <a:p>
            <a:r>
              <a:rPr lang="en-US" sz="1800" dirty="0"/>
              <a:t>The black test lead always plugs into the COM input jack and the red lead plugs into one of the other input jacks, depending on what is being measured.</a:t>
            </a:r>
          </a:p>
          <a:p>
            <a:r>
              <a:rPr lang="en-US" sz="1800" dirty="0"/>
              <a:t>Typically, the three input jacks are:</a:t>
            </a:r>
          </a:p>
          <a:p>
            <a:pPr lvl="1"/>
            <a:r>
              <a:rPr lang="en-US" sz="1600" dirty="0"/>
              <a:t> “A” for measuring up to 10 amps of current</a:t>
            </a:r>
          </a:p>
          <a:p>
            <a:pPr lvl="1"/>
            <a:r>
              <a:rPr lang="en-US" sz="1600" dirty="0"/>
              <a:t> “A/mA” for measuring up to 400 mA of current</a:t>
            </a:r>
          </a:p>
          <a:p>
            <a:pPr lvl="1"/>
            <a:r>
              <a:rPr lang="en-US" sz="1600" dirty="0"/>
              <a:t> “V/Ω/diode” for measuring voltage, resistance, conductance, capacitance, and checking diodes</a:t>
            </a:r>
          </a:p>
        </p:txBody>
      </p:sp>
      <p:pic>
        <p:nvPicPr>
          <p:cNvPr id="5" name="Picture Placeholder 4" descr="A mode selector depicts the pointer set to ohms. The modes, Volts (A C), Volts (D C), Millivolts, Ohms, Diode check, Amps/ milliamps, and Microamps, are labeled in the clockwise direction from left to right.">
            <a:extLst>
              <a:ext uri="{FF2B5EF4-FFF2-40B4-BE49-F238E27FC236}">
                <a16:creationId xmlns:a16="http://schemas.microsoft.com/office/drawing/2014/main" id="{5E0C036E-0C4E-C5B0-0B55-50806DC92100}"/>
              </a:ext>
            </a:extLst>
          </p:cNvPr>
          <p:cNvPicPr>
            <a:picLocks noGrp="1" noChangeAspect="1"/>
          </p:cNvPicPr>
          <p:nvPr>
            <p:ph type="pic" sz="quarter" idx="10"/>
          </p:nvPr>
        </p:nvPicPr>
        <p:blipFill>
          <a:blip r:embed="rId2"/>
          <a:srcRect b="22888"/>
          <a:stretch/>
        </p:blipFill>
        <p:spPr>
          <a:xfrm>
            <a:off x="8483885" y="2203282"/>
            <a:ext cx="3505175" cy="1464592"/>
          </a:xfrm>
          <a:prstGeom prst="rect">
            <a:avLst/>
          </a:prstGeom>
        </p:spPr>
      </p:pic>
    </p:spTree>
    <p:extLst>
      <p:ext uri="{BB962C8B-B14F-4D97-AF65-F5344CB8AC3E}">
        <p14:creationId xmlns:p14="http://schemas.microsoft.com/office/powerpoint/2010/main" val="4058726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C9B2DD-57E6-36F4-A4DE-6609AF43EA83}"/>
              </a:ext>
            </a:extLst>
          </p:cNvPr>
          <p:cNvSpPr>
            <a:spLocks noGrp="1"/>
          </p:cNvSpPr>
          <p:nvPr>
            <p:ph type="title"/>
          </p:nvPr>
        </p:nvSpPr>
        <p:spPr/>
        <p:txBody>
          <a:bodyPr/>
          <a:lstStyle/>
          <a:p>
            <a:r>
              <a:rPr lang="en-US" dirty="0"/>
              <a:t>Using Multimeters (3 of 3)</a:t>
            </a:r>
          </a:p>
        </p:txBody>
      </p:sp>
      <p:sp>
        <p:nvSpPr>
          <p:cNvPr id="6" name="Text Placeholder 5">
            <a:extLst>
              <a:ext uri="{FF2B5EF4-FFF2-40B4-BE49-F238E27FC236}">
                <a16:creationId xmlns:a16="http://schemas.microsoft.com/office/drawing/2014/main" id="{B8C60A5F-195E-2869-98F9-90B938A4A45C}"/>
              </a:ext>
            </a:extLst>
          </p:cNvPr>
          <p:cNvSpPr>
            <a:spLocks noGrp="1"/>
          </p:cNvSpPr>
          <p:nvPr>
            <p:ph type="body" idx="1"/>
          </p:nvPr>
        </p:nvSpPr>
        <p:spPr>
          <a:xfrm>
            <a:off x="476843" y="1471263"/>
            <a:ext cx="11056789" cy="4673505"/>
          </a:xfrm>
        </p:spPr>
        <p:txBody>
          <a:bodyPr/>
          <a:lstStyle/>
          <a:p>
            <a:pPr marL="0" indent="0">
              <a:spcAft>
                <a:spcPts val="400"/>
              </a:spcAft>
              <a:buNone/>
            </a:pPr>
            <a:r>
              <a:rPr lang="en-US" sz="1800" b="1" dirty="0"/>
              <a:t>16.04 Explain how to use a DMM for diagnosing electrical and electronic systems.</a:t>
            </a:r>
          </a:p>
          <a:p>
            <a:pPr>
              <a:spcAft>
                <a:spcPts val="400"/>
              </a:spcAft>
            </a:pPr>
            <a:r>
              <a:rPr lang="en-US" sz="1800" dirty="0"/>
              <a:t>Before using the meter, you should perform a couple of basic checks:</a:t>
            </a:r>
          </a:p>
          <a:p>
            <a:pPr>
              <a:spcAft>
                <a:spcPts val="400"/>
              </a:spcAft>
            </a:pPr>
            <a:r>
              <a:rPr lang="en-US" sz="1800" dirty="0"/>
              <a:t>Begin by inspecting the meter leads and probe tips and make sure they are in good condition with no damage.</a:t>
            </a:r>
          </a:p>
          <a:p>
            <a:pPr>
              <a:spcAft>
                <a:spcPts val="400"/>
              </a:spcAft>
            </a:pPr>
            <a:r>
              <a:rPr lang="en-US" sz="1800" dirty="0"/>
              <a:t>Next, set the meter to measure ohms and continuity.</a:t>
            </a:r>
          </a:p>
          <a:p>
            <a:pPr lvl="1">
              <a:spcAft>
                <a:spcPts val="400"/>
              </a:spcAft>
            </a:pPr>
            <a:r>
              <a:rPr lang="en-US" sz="1600" dirty="0"/>
              <a:t>Hold the two probe tips together; the meter should beep and show a low resistance reading. This indicates the leads are not open.</a:t>
            </a:r>
          </a:p>
          <a:p>
            <a:pPr lvl="1">
              <a:spcAft>
                <a:spcPts val="400"/>
              </a:spcAft>
            </a:pPr>
            <a:r>
              <a:rPr lang="en-US" sz="1600" dirty="0"/>
              <a:t>Wiggle the leads while performing this test. If the beep from the continuity test starts and stops while wiggling the leads, one or both are likely failing.</a:t>
            </a:r>
          </a:p>
          <a:p>
            <a:pPr>
              <a:spcAft>
                <a:spcPts val="400"/>
              </a:spcAft>
            </a:pPr>
            <a:r>
              <a:rPr lang="en-US" sz="1800" dirty="0"/>
              <a:t>Before performing voltage tests, ensure the meter reads voltage correctly at a known source.</a:t>
            </a:r>
          </a:p>
          <a:p>
            <a:pPr lvl="1">
              <a:spcAft>
                <a:spcPts val="400"/>
              </a:spcAft>
            </a:pPr>
            <a:r>
              <a:rPr lang="en-US" sz="1600" dirty="0"/>
              <a:t>For example, before testing voltage in a circuit on a vehicle, make sure the meter reads battery voltage correctly at the battery. This serves two purposes; you verify that the meter is working properly, and it gives you a battery voltage reading for the vehicle you are working on.</a:t>
            </a:r>
          </a:p>
        </p:txBody>
      </p:sp>
    </p:spTree>
    <p:extLst>
      <p:ext uri="{BB962C8B-B14F-4D97-AF65-F5344CB8AC3E}">
        <p14:creationId xmlns:p14="http://schemas.microsoft.com/office/powerpoint/2010/main" val="2650980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Measuring Voltage</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704827" cy="4636928"/>
          </a:xfrm>
        </p:spPr>
        <p:txBody>
          <a:bodyPr/>
          <a:lstStyle/>
          <a:p>
            <a:r>
              <a:rPr lang="en-US" sz="2000" dirty="0"/>
              <a:t>A DMM can measure source voltage, available voltage, and voltage drops.</a:t>
            </a:r>
          </a:p>
          <a:p>
            <a:r>
              <a:rPr lang="en-US" sz="2000" dirty="0"/>
              <a:t>Voltage is measured by placing the meter in parallel to the component or circuit being tested. In step three in the procedure to measure voltage, it states to connect the black meter lead to a good ground.</a:t>
            </a:r>
          </a:p>
          <a:p>
            <a:r>
              <a:rPr lang="en-US" sz="2000" dirty="0"/>
              <a:t>With the key on engine off (KOEO), the most negative point on the vehicle is the battery negative terminal, which is a “good ground.”</a:t>
            </a:r>
          </a:p>
          <a:p>
            <a:r>
              <a:rPr lang="en-US" sz="2000" dirty="0"/>
              <a:t>However, once the engine is running, the generator case becomes the most negative point.</a:t>
            </a:r>
          </a:p>
          <a:p>
            <a:r>
              <a:rPr lang="en-US" sz="2000" dirty="0"/>
              <a:t>Place the positive lead on the point you wish to measure, and the meter will display the “available voltage” like shown.</a:t>
            </a:r>
          </a:p>
        </p:txBody>
      </p:sp>
      <p:pic>
        <p:nvPicPr>
          <p:cNvPr id="5" name="Picture Placeholder 4" descr="A circuit where the negative terminal of a 12 V battery is grounded. The positive terminal of the battery is connected to a fuse which is connected to a switch. The connection continues from here, and the voltage is checked in five different parallel points using a voltmeter that is connected to a 12 V battery. The voltage is also checked between the first 12 V battery at the beginning of the circuit and the fuse.">
            <a:extLst>
              <a:ext uri="{FF2B5EF4-FFF2-40B4-BE49-F238E27FC236}">
                <a16:creationId xmlns:a16="http://schemas.microsoft.com/office/drawing/2014/main" id="{21DB3000-C898-78F1-5FB9-4A4C07056433}"/>
              </a:ext>
            </a:extLst>
          </p:cNvPr>
          <p:cNvPicPr>
            <a:picLocks noGrp="1" noChangeAspect="1"/>
          </p:cNvPicPr>
          <p:nvPr>
            <p:ph type="pic" sz="quarter" idx="10"/>
          </p:nvPr>
        </p:nvPicPr>
        <p:blipFill>
          <a:blip r:embed="rId2"/>
          <a:srcRect b="16644"/>
          <a:stretch/>
        </p:blipFill>
        <p:spPr>
          <a:xfrm>
            <a:off x="8273452" y="2629869"/>
            <a:ext cx="3344290" cy="1598262"/>
          </a:xfrm>
          <a:prstGeom prst="rect">
            <a:avLst/>
          </a:prstGeom>
        </p:spPr>
      </p:pic>
    </p:spTree>
    <p:extLst>
      <p:ext uri="{BB962C8B-B14F-4D97-AF65-F5344CB8AC3E}">
        <p14:creationId xmlns:p14="http://schemas.microsoft.com/office/powerpoint/2010/main" val="1664299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Measuring Current</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4" y="1471264"/>
            <a:ext cx="7289294" cy="4502816"/>
          </a:xfrm>
        </p:spPr>
        <p:txBody>
          <a:bodyPr/>
          <a:lstStyle/>
          <a:p>
            <a:r>
              <a:rPr lang="en-US" sz="2000" dirty="0"/>
              <a:t>Measuring the current through a circuit gives a true picture of what is happening in the circuit.</a:t>
            </a:r>
          </a:p>
          <a:p>
            <a:r>
              <a:rPr lang="en-US" sz="2000" dirty="0"/>
              <a:t>This is because the circuit is being tested under load.</a:t>
            </a:r>
          </a:p>
          <a:p>
            <a:r>
              <a:rPr lang="en-US" sz="2000" dirty="0"/>
              <a:t>Low current indicates that the circuit has high resistance, and high current means the circuit has low resistance.</a:t>
            </a:r>
          </a:p>
          <a:p>
            <a:r>
              <a:rPr lang="en-US" sz="2000" dirty="0"/>
              <a:t>Remember, to have current the circuit must be complete and there must be voltage applied to it.</a:t>
            </a:r>
          </a:p>
          <a:p>
            <a:r>
              <a:rPr lang="en-US" sz="2000" dirty="0"/>
              <a:t>The circuit shown normally draws 6 amps and is protected by a 10-amp fuse.</a:t>
            </a:r>
          </a:p>
          <a:p>
            <a:r>
              <a:rPr lang="en-US" sz="2000" dirty="0"/>
              <a:t>If the circuit constantly blows the fuse, something has reduced circuit resistance, and perhaps, there is a short somewhere in the circuit.</a:t>
            </a:r>
          </a:p>
        </p:txBody>
      </p:sp>
      <p:pic>
        <p:nvPicPr>
          <p:cNvPr id="5" name="Picture Placeholder 4" descr="A circuit is checked using an ammeter. A 12 V battery source is connected to the circuit. One wire of the battery is grounded and the other wire is connected to a circuit breaker which is connected to an ammeter. The second lead of the ammeter is connected to a switch which is connected to 4 bulbs that are connected in parallel. All the connections to the bulbs are grounded subsequently. A current of 6 amps flows from the switch to the bulbs. Each wire is connected to the bulb with a resistance of 8 ohms. The fuse before the switch is removed.">
            <a:extLst>
              <a:ext uri="{FF2B5EF4-FFF2-40B4-BE49-F238E27FC236}">
                <a16:creationId xmlns:a16="http://schemas.microsoft.com/office/drawing/2014/main" id="{83945347-4CBD-1899-B141-3E0A96E3ADEA}"/>
              </a:ext>
            </a:extLst>
          </p:cNvPr>
          <p:cNvPicPr>
            <a:picLocks noGrp="1" noChangeAspect="1"/>
          </p:cNvPicPr>
          <p:nvPr>
            <p:ph type="pic" sz="quarter" idx="10"/>
          </p:nvPr>
        </p:nvPicPr>
        <p:blipFill rotWithShape="1">
          <a:blip r:embed="rId2"/>
          <a:srcRect b="13272"/>
          <a:stretch/>
        </p:blipFill>
        <p:spPr>
          <a:xfrm>
            <a:off x="7478363" y="2677188"/>
            <a:ext cx="4557087" cy="1987279"/>
          </a:xfrm>
          <a:prstGeom prst="rect">
            <a:avLst/>
          </a:prstGeom>
        </p:spPr>
      </p:pic>
    </p:spTree>
    <p:extLst>
      <p:ext uri="{BB962C8B-B14F-4D97-AF65-F5344CB8AC3E}">
        <p14:creationId xmlns:p14="http://schemas.microsoft.com/office/powerpoint/2010/main" val="3682886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Measuring Resistance</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627517" y="1384173"/>
            <a:ext cx="7702291" cy="4748403"/>
          </a:xfrm>
        </p:spPr>
        <p:txBody>
          <a:bodyPr/>
          <a:lstStyle/>
          <a:p>
            <a:pPr>
              <a:spcAft>
                <a:spcPts val="400"/>
              </a:spcAft>
            </a:pPr>
            <a:r>
              <a:rPr lang="en-US" sz="1800" dirty="0"/>
              <a:t>To test circuit continuity and resistance, the circuit or component must first be disconnected from its power source.</a:t>
            </a:r>
          </a:p>
          <a:p>
            <a:pPr>
              <a:spcAft>
                <a:spcPts val="400"/>
              </a:spcAft>
            </a:pPr>
            <a:r>
              <a:rPr lang="en-US" sz="1800" dirty="0"/>
              <a:t>Checking the resistance can check the condition of a component or circuit.</a:t>
            </a:r>
          </a:p>
          <a:p>
            <a:pPr>
              <a:spcAft>
                <a:spcPts val="400"/>
              </a:spcAft>
            </a:pPr>
            <a:r>
              <a:rPr lang="en-US" sz="1800" dirty="0"/>
              <a:t>A DMM is used to check the resistance values across the switches when diagnosing certain concerns.</a:t>
            </a:r>
          </a:p>
          <a:p>
            <a:pPr>
              <a:spcAft>
                <a:spcPts val="400"/>
              </a:spcAft>
            </a:pPr>
            <a:r>
              <a:rPr lang="en-US" sz="1800" dirty="0"/>
              <a:t>Often, specifications list a normal range of resistance values for specific parts.</a:t>
            </a:r>
          </a:p>
          <a:p>
            <a:pPr>
              <a:spcAft>
                <a:spcPts val="400"/>
              </a:spcAft>
            </a:pPr>
            <a:r>
              <a:rPr lang="en-US" sz="1800" dirty="0"/>
              <a:t>If the resistance is too high, check for an open circuit or a faulty component.</a:t>
            </a:r>
          </a:p>
          <a:p>
            <a:pPr>
              <a:spcAft>
                <a:spcPts val="400"/>
              </a:spcAft>
            </a:pPr>
            <a:r>
              <a:rPr lang="en-US" sz="1800" dirty="0"/>
              <a:t>Loose, damaged, or dirty connections are common causes of excessive resistance.</a:t>
            </a:r>
          </a:p>
          <a:p>
            <a:pPr>
              <a:spcAft>
                <a:spcPts val="400"/>
              </a:spcAft>
            </a:pPr>
            <a:r>
              <a:rPr lang="en-US" sz="1800" dirty="0"/>
              <a:t>If the resistance is too low, check for a shorted circuit or faulty component.</a:t>
            </a:r>
          </a:p>
        </p:txBody>
      </p:sp>
      <p:pic>
        <p:nvPicPr>
          <p:cNvPr id="5" name="Picture Placeholder 4" descr="An ohmmeter with a negative and positive terminal connected to a component, and its resistance value reads, 080.7.">
            <a:extLst>
              <a:ext uri="{FF2B5EF4-FFF2-40B4-BE49-F238E27FC236}">
                <a16:creationId xmlns:a16="http://schemas.microsoft.com/office/drawing/2014/main" id="{83F43A4A-3B8F-EE4C-4832-08DE250D155C}"/>
              </a:ext>
            </a:extLst>
          </p:cNvPr>
          <p:cNvPicPr>
            <a:picLocks noGrp="1" noChangeAspect="1"/>
          </p:cNvPicPr>
          <p:nvPr>
            <p:ph type="pic" sz="quarter" idx="10"/>
          </p:nvPr>
        </p:nvPicPr>
        <p:blipFill>
          <a:blip r:embed="rId2"/>
          <a:srcRect b="10918"/>
          <a:stretch/>
        </p:blipFill>
        <p:spPr>
          <a:xfrm>
            <a:off x="8265072" y="2043430"/>
            <a:ext cx="3671196" cy="3430397"/>
          </a:xfrm>
          <a:prstGeom prst="rect">
            <a:avLst/>
          </a:prstGeom>
        </p:spPr>
      </p:pic>
    </p:spTree>
    <p:extLst>
      <p:ext uri="{BB962C8B-B14F-4D97-AF65-F5344CB8AC3E}">
        <p14:creationId xmlns:p14="http://schemas.microsoft.com/office/powerpoint/2010/main" val="1501278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Discussion</a:t>
            </a:r>
          </a:p>
        </p:txBody>
      </p:sp>
      <p:sp>
        <p:nvSpPr>
          <p:cNvPr id="5" name="Text Placeholder 4">
            <a:extLst>
              <a:ext uri="{FF2B5EF4-FFF2-40B4-BE49-F238E27FC236}">
                <a16:creationId xmlns:a16="http://schemas.microsoft.com/office/drawing/2014/main" id="{80368B8B-1C50-F405-65F8-D5152FF24878}"/>
              </a:ext>
            </a:extLst>
          </p:cNvPr>
          <p:cNvSpPr>
            <a:spLocks noGrp="1"/>
          </p:cNvSpPr>
          <p:nvPr>
            <p:ph type="body" idx="1"/>
          </p:nvPr>
        </p:nvSpPr>
        <p:spPr/>
        <p:txBody>
          <a:bodyPr/>
          <a:lstStyle/>
          <a:p>
            <a:r>
              <a:rPr lang="en-US" dirty="0"/>
              <a:t>Now that we have covered how to use a DMM to test voltage, current, and resistance, have a class discussion.</a:t>
            </a:r>
          </a:p>
          <a:p>
            <a:r>
              <a:rPr lang="en-US" dirty="0"/>
              <a:t>Describe how to test voltage, current, and resistance from your own understanding.</a:t>
            </a:r>
          </a:p>
        </p:txBody>
      </p:sp>
    </p:spTree>
    <p:extLst>
      <p:ext uri="{BB962C8B-B14F-4D97-AF65-F5344CB8AC3E}">
        <p14:creationId xmlns:p14="http://schemas.microsoft.com/office/powerpoint/2010/main" val="340659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MIN/MAX Readings</a:t>
            </a:r>
          </a:p>
        </p:txBody>
      </p:sp>
      <p:sp>
        <p:nvSpPr>
          <p:cNvPr id="5" name="Text Placeholder 4">
            <a:extLst>
              <a:ext uri="{FF2B5EF4-FFF2-40B4-BE49-F238E27FC236}">
                <a16:creationId xmlns:a16="http://schemas.microsoft.com/office/drawing/2014/main" id="{456AFC3A-81B6-BCC6-9694-34B8916DA2E6}"/>
              </a:ext>
            </a:extLst>
          </p:cNvPr>
          <p:cNvSpPr>
            <a:spLocks noGrp="1"/>
          </p:cNvSpPr>
          <p:nvPr>
            <p:ph type="body" idx="1"/>
          </p:nvPr>
        </p:nvSpPr>
        <p:spPr/>
        <p:txBody>
          <a:bodyPr/>
          <a:lstStyle/>
          <a:p>
            <a:pPr>
              <a:spcAft>
                <a:spcPts val="600"/>
              </a:spcAft>
            </a:pPr>
            <a:r>
              <a:rPr lang="en-US" sz="2000" dirty="0"/>
              <a:t>Some DMMs feature a MIN/MAX or Record function.</a:t>
            </a:r>
          </a:p>
          <a:p>
            <a:pPr>
              <a:spcAft>
                <a:spcPts val="600"/>
              </a:spcAft>
            </a:pPr>
            <a:r>
              <a:rPr lang="en-US" sz="2000" dirty="0"/>
              <a:t>This displays the maximum, minimum, and average voltage recorded during a period of time.</a:t>
            </a:r>
          </a:p>
          <a:p>
            <a:pPr>
              <a:spcAft>
                <a:spcPts val="600"/>
              </a:spcAft>
            </a:pPr>
            <a:r>
              <a:rPr lang="en-US" sz="2000" dirty="0"/>
              <a:t>This is valuable when checking sensors or when looking for electrical noise.</a:t>
            </a:r>
          </a:p>
          <a:p>
            <a:pPr>
              <a:spcAft>
                <a:spcPts val="600"/>
              </a:spcAft>
            </a:pPr>
            <a:r>
              <a:rPr lang="en-US" sz="2000" dirty="0"/>
              <a:t>Electrical noise is primarily caused by </a:t>
            </a:r>
            <a:r>
              <a:rPr lang="en-US" sz="2000" b="1" dirty="0"/>
              <a:t>radio frequency interference (RFI).</a:t>
            </a:r>
          </a:p>
          <a:p>
            <a:pPr lvl="1">
              <a:spcAft>
                <a:spcPts val="600"/>
              </a:spcAft>
            </a:pPr>
            <a:r>
              <a:rPr lang="en-US" sz="1600" dirty="0"/>
              <a:t>RFI is an unwanted voltage signal that rides on another signal.</a:t>
            </a:r>
          </a:p>
          <a:p>
            <a:pPr>
              <a:spcAft>
                <a:spcPts val="600"/>
              </a:spcAft>
            </a:pPr>
            <a:r>
              <a:rPr lang="en-US" sz="2000" dirty="0"/>
              <a:t>This noise can cause intermittent problems with unpredictable results.</a:t>
            </a:r>
          </a:p>
          <a:p>
            <a:pPr>
              <a:spcAft>
                <a:spcPts val="600"/>
              </a:spcAft>
            </a:pPr>
            <a:r>
              <a:rPr lang="en-US" sz="2000" dirty="0"/>
              <a:t>This noise causes slight increases and decreases in the voltage.</a:t>
            </a:r>
          </a:p>
          <a:p>
            <a:pPr>
              <a:spcAft>
                <a:spcPts val="600"/>
              </a:spcAft>
            </a:pPr>
            <a:r>
              <a:rPr lang="en-US" sz="2000" dirty="0"/>
              <a:t>When a computer receives a voltage signal with noise, it will try to react to those small changes.</a:t>
            </a:r>
          </a:p>
          <a:p>
            <a:pPr>
              <a:spcAft>
                <a:spcPts val="600"/>
              </a:spcAft>
            </a:pPr>
            <a:r>
              <a:rPr lang="en-US" sz="2000" dirty="0"/>
              <a:t>As a result, the computer responds to the noise rather than the true voltage signal.</a:t>
            </a:r>
          </a:p>
        </p:txBody>
      </p:sp>
    </p:spTree>
    <p:extLst>
      <p:ext uri="{BB962C8B-B14F-4D97-AF65-F5344CB8AC3E}">
        <p14:creationId xmlns:p14="http://schemas.microsoft.com/office/powerpoint/2010/main" val="1167035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Other Measurements</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4" y="1408634"/>
            <a:ext cx="7414554" cy="4649120"/>
          </a:xfrm>
        </p:spPr>
        <p:txBody>
          <a:bodyPr/>
          <a:lstStyle/>
          <a:p>
            <a:pPr>
              <a:spcAft>
                <a:spcPts val="600"/>
              </a:spcAft>
            </a:pPr>
            <a:r>
              <a:rPr lang="en-US" sz="2000" dirty="0"/>
              <a:t>Multimeters may have the ability to measure duty cycle, pulse width, and frequency.</a:t>
            </a:r>
          </a:p>
          <a:p>
            <a:pPr>
              <a:spcAft>
                <a:spcPts val="600"/>
              </a:spcAft>
            </a:pPr>
            <a:r>
              <a:rPr lang="en-US" sz="2000" dirty="0"/>
              <a:t>Duty cycle is measured as a percentage.</a:t>
            </a:r>
          </a:p>
          <a:p>
            <a:pPr>
              <a:spcAft>
                <a:spcPts val="600"/>
              </a:spcAft>
            </a:pPr>
            <a:r>
              <a:rPr lang="en-US" sz="2000" dirty="0"/>
              <a:t>A 60 percent duty cycle means that a device is on 60 percent of the time and off 40 percent of one cycle.</a:t>
            </a:r>
          </a:p>
          <a:p>
            <a:pPr>
              <a:spcAft>
                <a:spcPts val="600"/>
              </a:spcAft>
            </a:pPr>
            <a:r>
              <a:rPr lang="en-US" sz="2000" dirty="0"/>
              <a:t>When measuring duty cycle, you are looking at the amount of time something is ON during one cycle.</a:t>
            </a:r>
          </a:p>
          <a:p>
            <a:pPr>
              <a:spcAft>
                <a:spcPts val="600"/>
              </a:spcAft>
            </a:pPr>
            <a:r>
              <a:rPr lang="en-US" sz="2000" dirty="0"/>
              <a:t>An example of duty cycle in operation is when a dome light dims and then turns off after the door is closed.</a:t>
            </a:r>
          </a:p>
          <a:p>
            <a:pPr>
              <a:spcAft>
                <a:spcPts val="600"/>
              </a:spcAft>
            </a:pPr>
            <a:r>
              <a:rPr lang="en-US" sz="2000" dirty="0"/>
              <a:t>The voltage to the light decreases in “on” time, eventually reaching zero.</a:t>
            </a:r>
          </a:p>
          <a:p>
            <a:pPr>
              <a:spcAft>
                <a:spcPts val="600"/>
              </a:spcAft>
            </a:pPr>
            <a:r>
              <a:rPr lang="en-US" sz="2000" dirty="0"/>
              <a:t>Pulse width is normally measured in milliseconds.</a:t>
            </a:r>
          </a:p>
        </p:txBody>
      </p:sp>
      <p:pic>
        <p:nvPicPr>
          <p:cNvPr id="5" name="Picture Placeholder 4" descr="Three duty cycles in percentages and a duty cycle decreases, the lights dim and go out. The first duty cycle labeled 50 percent duty cycle (1/2) speed depicts a pair of continuous vertical bars that are connected at the base. On, Off, and Duty cycles are labeled. The second duty cycle labeled 25 percent duty cycle (1/4) speed depicts a pair of continuous thin vertical bars that are connected at the base. The third duty cycle labeled 75 percent duty cycle (3/4) speed depicts a pair of continuous broad vertical bars connected at the base. In all three duty cycles, the horizontal distance between the beginning of the first vertical bar and the second vertical bar is 33 Hertz. The duty cycle decreases the lights dim and go out. At the left are broader vertical bars and the vertical bars narrow as it goes rightward. The bars are labeled 90 percent, 75 percent, 50 percent, 25 percent, 10 percent, and 0 percent, in order from left to right. One cycle is marked at right end along with On and Off positions.">
            <a:extLst>
              <a:ext uri="{FF2B5EF4-FFF2-40B4-BE49-F238E27FC236}">
                <a16:creationId xmlns:a16="http://schemas.microsoft.com/office/drawing/2014/main" id="{1F8C5CEE-5657-3B37-BFFE-A131595B694F}"/>
              </a:ext>
            </a:extLst>
          </p:cNvPr>
          <p:cNvPicPr>
            <a:picLocks noGrp="1" noChangeAspect="1"/>
          </p:cNvPicPr>
          <p:nvPr>
            <p:ph type="pic" sz="quarter" idx="10"/>
          </p:nvPr>
        </p:nvPicPr>
        <p:blipFill rotWithShape="1">
          <a:blip r:embed="rId2"/>
          <a:srcRect b="10425"/>
          <a:stretch/>
        </p:blipFill>
        <p:spPr>
          <a:xfrm>
            <a:off x="7934672" y="2228476"/>
            <a:ext cx="4029986" cy="2401049"/>
          </a:xfrm>
          <a:prstGeom prst="rect">
            <a:avLst/>
          </a:prstGeom>
        </p:spPr>
      </p:pic>
    </p:spTree>
    <p:extLst>
      <p:ext uri="{BB962C8B-B14F-4D97-AF65-F5344CB8AC3E}">
        <p14:creationId xmlns:p14="http://schemas.microsoft.com/office/powerpoint/2010/main" val="1797389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a:t>Knowledge Check (1 of 2)</a:t>
            </a:r>
            <a:endParaRPr lang="en-US" dirty="0"/>
          </a:p>
        </p:txBody>
      </p:sp>
      <p:sp>
        <p:nvSpPr>
          <p:cNvPr id="5" name="Text Placeholder 4">
            <a:extLst>
              <a:ext uri="{FF2B5EF4-FFF2-40B4-BE49-F238E27FC236}">
                <a16:creationId xmlns:a16="http://schemas.microsoft.com/office/drawing/2014/main" id="{9128F7B5-61C0-0D05-D9EC-1E5302DE504E}"/>
              </a:ext>
            </a:extLst>
          </p:cNvPr>
          <p:cNvSpPr>
            <a:spLocks noGrp="1"/>
          </p:cNvSpPr>
          <p:nvPr>
            <p:ph type="body" idx="1"/>
          </p:nvPr>
        </p:nvSpPr>
        <p:spPr/>
        <p:txBody>
          <a:bodyPr/>
          <a:lstStyle/>
          <a:p>
            <a:pPr marL="0" indent="0">
              <a:buNone/>
            </a:pPr>
            <a:r>
              <a:rPr lang="en-US" dirty="0"/>
              <a:t>What is a lab scope?</a:t>
            </a:r>
          </a:p>
        </p:txBody>
      </p:sp>
    </p:spTree>
    <p:extLst>
      <p:ext uri="{BB962C8B-B14F-4D97-AF65-F5344CB8AC3E}">
        <p14:creationId xmlns:p14="http://schemas.microsoft.com/office/powerpoint/2010/main" val="3384936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AD5D4A9-C45F-B2E2-5B8D-8B9F2E621B7A}"/>
              </a:ext>
            </a:extLst>
          </p:cNvPr>
          <p:cNvSpPr>
            <a:spLocks noGrp="1"/>
          </p:cNvSpPr>
          <p:nvPr>
            <p:ph type="title"/>
          </p:nvPr>
        </p:nvSpPr>
        <p:spPr/>
        <p:txBody>
          <a:bodyPr/>
          <a:lstStyle/>
          <a:p>
            <a:r>
              <a:rPr lang="en-US" dirty="0"/>
              <a:t>Knowledge </a:t>
            </a:r>
            <a:r>
              <a:rPr lang="en-US"/>
              <a:t>Check Answer (1 of 2)</a:t>
            </a:r>
            <a:endParaRPr lang="en-US" dirty="0"/>
          </a:p>
        </p:txBody>
      </p:sp>
      <p:sp>
        <p:nvSpPr>
          <p:cNvPr id="6" name="Text Placeholder 5">
            <a:extLst>
              <a:ext uri="{FF2B5EF4-FFF2-40B4-BE49-F238E27FC236}">
                <a16:creationId xmlns:a16="http://schemas.microsoft.com/office/drawing/2014/main" id="{4BA6AA91-B865-92FE-B9D6-8C35B30DB37B}"/>
              </a:ext>
            </a:extLst>
          </p:cNvPr>
          <p:cNvSpPr>
            <a:spLocks noGrp="1"/>
          </p:cNvSpPr>
          <p:nvPr>
            <p:ph type="body" idx="1"/>
          </p:nvPr>
        </p:nvSpPr>
        <p:spPr/>
        <p:txBody>
          <a:bodyPr/>
          <a:lstStyle/>
          <a:p>
            <a:pPr marL="0" indent="0">
              <a:buNone/>
            </a:pPr>
            <a:r>
              <a:rPr lang="en-US" b="1" dirty="0"/>
              <a:t>Answer</a:t>
            </a:r>
            <a:r>
              <a:rPr lang="en-US" dirty="0"/>
              <a:t>:</a:t>
            </a:r>
            <a:r>
              <a:rPr lang="en-US" b="1" dirty="0"/>
              <a:t> </a:t>
            </a:r>
            <a:r>
              <a:rPr lang="en-US" dirty="0"/>
              <a:t>Lab scopes are fast-reacting meters that measure and display voltages within a specific period of time.</a:t>
            </a:r>
          </a:p>
        </p:txBody>
      </p:sp>
    </p:spTree>
    <p:extLst>
      <p:ext uri="{BB962C8B-B14F-4D97-AF65-F5344CB8AC3E}">
        <p14:creationId xmlns:p14="http://schemas.microsoft.com/office/powerpoint/2010/main" val="26574277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Using Lab Scopes (1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728373" cy="4612544"/>
          </a:xfrm>
        </p:spPr>
        <p:txBody>
          <a:bodyPr/>
          <a:lstStyle/>
          <a:p>
            <a:pPr marL="0" indent="0">
              <a:spcAft>
                <a:spcPts val="600"/>
              </a:spcAft>
              <a:buNone/>
            </a:pPr>
            <a:r>
              <a:rPr lang="en-US" sz="1800" b="1" dirty="0"/>
              <a:t>16.05 Explain how to use a lab scope for diagnosing electrical and electronic systems.</a:t>
            </a:r>
          </a:p>
          <a:p>
            <a:pPr>
              <a:spcAft>
                <a:spcPts val="600"/>
              </a:spcAft>
            </a:pPr>
            <a:r>
              <a:rPr lang="en-US" sz="1800" dirty="0"/>
              <a:t>The lab scope has become the diagnostic tool of choice. </a:t>
            </a:r>
          </a:p>
          <a:p>
            <a:pPr>
              <a:spcAft>
                <a:spcPts val="600"/>
              </a:spcAft>
            </a:pPr>
            <a:r>
              <a:rPr lang="en-US" sz="1800" dirty="0"/>
              <a:t>DMMs sample the voltage several times each second and update the meter’s reading at a particular rate.</a:t>
            </a:r>
          </a:p>
          <a:p>
            <a:pPr>
              <a:spcAft>
                <a:spcPts val="600"/>
              </a:spcAft>
            </a:pPr>
            <a:r>
              <a:rPr lang="en-US" sz="1800" dirty="0"/>
              <a:t>If the voltage is constant, good measurements are made.</a:t>
            </a:r>
          </a:p>
          <a:p>
            <a:pPr>
              <a:spcAft>
                <a:spcPts val="600"/>
              </a:spcAft>
            </a:pPr>
            <a:r>
              <a:rPr lang="en-US" sz="1800" dirty="0"/>
              <a:t>A scope, however, will display any change in voltage as it occurs. This is important for diagnosing intermittent problems.</a:t>
            </a:r>
          </a:p>
          <a:p>
            <a:pPr>
              <a:spcAft>
                <a:spcPts val="600"/>
              </a:spcAft>
            </a:pPr>
            <a:r>
              <a:rPr lang="en-US" sz="1800" dirty="0"/>
              <a:t>The screen is divided into small divisions of time and voltage.</a:t>
            </a:r>
          </a:p>
          <a:p>
            <a:pPr>
              <a:spcAft>
                <a:spcPts val="600"/>
              </a:spcAft>
            </a:pPr>
            <a:r>
              <a:rPr lang="en-US" sz="1800" dirty="0"/>
              <a:t>These set up a grid pattern on the screen. Time is represented by the horizontal movement of the trace. Voltage by the vertical movement of the trace.</a:t>
            </a:r>
          </a:p>
        </p:txBody>
      </p:sp>
      <p:pic>
        <p:nvPicPr>
          <p:cNvPr id="5" name="Picture Placeholder 4" descr="A scope screen consists of a grid background divided into four equal quadrants. The horizontal X axis is labeled Time and the vertical Y axis is labeled Voltage.">
            <a:extLst>
              <a:ext uri="{FF2B5EF4-FFF2-40B4-BE49-F238E27FC236}">
                <a16:creationId xmlns:a16="http://schemas.microsoft.com/office/drawing/2014/main" id="{DFB962BF-FF2C-AAF3-3640-0D5CB6EED28F}"/>
              </a:ext>
            </a:extLst>
          </p:cNvPr>
          <p:cNvPicPr>
            <a:picLocks noGrp="1" noChangeAspect="1"/>
          </p:cNvPicPr>
          <p:nvPr>
            <p:ph type="pic" sz="quarter" idx="10"/>
          </p:nvPr>
        </p:nvPicPr>
        <p:blipFill>
          <a:blip r:embed="rId2"/>
          <a:srcRect b="11537"/>
          <a:stretch/>
        </p:blipFill>
        <p:spPr>
          <a:xfrm>
            <a:off x="8323787" y="2160549"/>
            <a:ext cx="3181977" cy="2627208"/>
          </a:xfrm>
          <a:prstGeom prst="rect">
            <a:avLst/>
          </a:prstGeom>
        </p:spPr>
      </p:pic>
    </p:spTree>
    <p:extLst>
      <p:ext uri="{BB962C8B-B14F-4D97-AF65-F5344CB8AC3E}">
        <p14:creationId xmlns:p14="http://schemas.microsoft.com/office/powerpoint/2010/main" val="2446168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Using Lab Scopes (2 of 4)</a:t>
            </a:r>
          </a:p>
        </p:txBody>
      </p:sp>
      <p:sp>
        <p:nvSpPr>
          <p:cNvPr id="5" name="Text Placeholder 4">
            <a:extLst>
              <a:ext uri="{FF2B5EF4-FFF2-40B4-BE49-F238E27FC236}">
                <a16:creationId xmlns:a16="http://schemas.microsoft.com/office/drawing/2014/main" id="{CEF5D155-CB6A-7664-6051-ABD06DFD197B}"/>
              </a:ext>
            </a:extLst>
          </p:cNvPr>
          <p:cNvSpPr>
            <a:spLocks noGrp="1"/>
          </p:cNvSpPr>
          <p:nvPr>
            <p:ph type="body" idx="1"/>
          </p:nvPr>
        </p:nvSpPr>
        <p:spPr>
          <a:xfrm>
            <a:off x="476843" y="1471264"/>
            <a:ext cx="11056789" cy="4613339"/>
          </a:xfrm>
        </p:spPr>
        <p:txBody>
          <a:bodyPr/>
          <a:lstStyle/>
          <a:p>
            <a:pPr>
              <a:spcAft>
                <a:spcPts val="600"/>
              </a:spcAft>
            </a:pPr>
            <a:r>
              <a:rPr lang="en-US" sz="1800" dirty="0"/>
              <a:t>Analog scopes show the actual activity of a circuit and are called real-time or live scopes. This means that what is taking place at that time is what you see on the screen.</a:t>
            </a:r>
          </a:p>
          <a:p>
            <a:pPr>
              <a:spcAft>
                <a:spcPts val="600"/>
              </a:spcAft>
            </a:pPr>
            <a:r>
              <a:rPr lang="en-US" sz="1800" dirty="0"/>
              <a:t>Analog scopes have a fast update rate that allows for the display of activity without delay.</a:t>
            </a:r>
          </a:p>
          <a:p>
            <a:pPr>
              <a:spcAft>
                <a:spcPts val="600"/>
              </a:spcAft>
            </a:pPr>
            <a:r>
              <a:rPr lang="en-US" sz="1800" dirty="0"/>
              <a:t>Analog scopes have been replaced by digital scopes</a:t>
            </a:r>
          </a:p>
          <a:p>
            <a:pPr>
              <a:spcAft>
                <a:spcPts val="600"/>
              </a:spcAft>
            </a:pPr>
            <a:r>
              <a:rPr lang="en-US" sz="1800" dirty="0"/>
              <a:t>A digital scope, sometimes called a digital storage oscilloscope or DSO, converts the voltage signal into digital information and stores it in its memory.</a:t>
            </a:r>
          </a:p>
          <a:p>
            <a:pPr>
              <a:spcAft>
                <a:spcPts val="600"/>
              </a:spcAft>
            </a:pPr>
            <a:r>
              <a:rPr lang="en-US" sz="1800" dirty="0"/>
              <a:t>Some scopes connect directly to a computer or may be part of a diagnostic tool. A technician can “freeze” the captured signal for close analysis.</a:t>
            </a:r>
          </a:p>
          <a:p>
            <a:pPr>
              <a:spcAft>
                <a:spcPts val="600"/>
              </a:spcAft>
            </a:pPr>
            <a:r>
              <a:rPr lang="en-US" sz="1800" dirty="0"/>
              <a:t>DSOs also can capture both high- and low-frequency signals. Modern DSOs have a sampling rate of millions to a billion samples per second. This is quick enough to serve as an excellent diagnostic tool.</a:t>
            </a:r>
          </a:p>
          <a:p>
            <a:pPr>
              <a:spcAft>
                <a:spcPts val="600"/>
              </a:spcAft>
            </a:pPr>
            <a:r>
              <a:rPr lang="en-US" sz="1800" dirty="0"/>
              <a:t>This fast sampling rate shows slight changes in the voltage. Slight and quick voltage changes cannot be observed on an analog scope.</a:t>
            </a:r>
          </a:p>
        </p:txBody>
      </p:sp>
    </p:spTree>
    <p:extLst>
      <p:ext uri="{BB962C8B-B14F-4D97-AF65-F5344CB8AC3E}">
        <p14:creationId xmlns:p14="http://schemas.microsoft.com/office/powerpoint/2010/main" val="3792998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Using Lab Scopes (3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679605" cy="4649120"/>
          </a:xfrm>
        </p:spPr>
        <p:txBody>
          <a:bodyPr/>
          <a:lstStyle/>
          <a:p>
            <a:r>
              <a:rPr lang="en-US" sz="1800" dirty="0"/>
              <a:t>Since the height of a waveform represents voltage, any change in the height of the trace indicates a change in the voltage. When the trace is a straight horizontal line, the voltage is constant.</a:t>
            </a:r>
          </a:p>
          <a:p>
            <a:r>
              <a:rPr lang="en-US" sz="1800" dirty="0"/>
              <a:t>A diagonal line up or down represents a gradual increase or decrease in voltage.</a:t>
            </a:r>
          </a:p>
          <a:p>
            <a:r>
              <a:rPr lang="en-US" sz="1800" dirty="0"/>
              <a:t>A sudden rise or fall in the trace indicates a sudden change in voltage. A normal AC signal changes its polarity and amplitude over time.</a:t>
            </a:r>
          </a:p>
          <a:p>
            <a:r>
              <a:rPr lang="en-US" sz="1800" dirty="0"/>
              <a:t>The waveform created by AC voltage is typically called a sine wave.</a:t>
            </a:r>
          </a:p>
          <a:p>
            <a:r>
              <a:rPr lang="en-US" sz="1800" dirty="0"/>
              <a:t>One complete sine wave is a cycle.</a:t>
            </a:r>
          </a:p>
          <a:p>
            <a:r>
              <a:rPr lang="en-US" sz="1800" dirty="0"/>
              <a:t>The number of cycles that occur per second is the frequency of the signal. Frequency is measured in cycles per second (hertz or Hz).</a:t>
            </a:r>
          </a:p>
        </p:txBody>
      </p:sp>
      <p:pic>
        <p:nvPicPr>
          <p:cNvPr id="5" name="Picture Placeholder 4" descr="A snapshot of a scope screen represents an A C voltage sine wave. The markings on the horizontal axis start from 0 to 100 in intervals of 10. The markings on the vertical axis start from negative 60 to 100, in intervals of 20. The wave starts at (0, 40), dips, and reaches its low point at (10, 30). The wave then proceeds upward and reaches its peak around (20, 40) and proceeds in a similar fashion till the end of the window. Buttons are represented for Channel, Sweep, and Display triggers.">
            <a:extLst>
              <a:ext uri="{FF2B5EF4-FFF2-40B4-BE49-F238E27FC236}">
                <a16:creationId xmlns:a16="http://schemas.microsoft.com/office/drawing/2014/main" id="{0E10ACF3-FDD0-4666-258B-65D645BE4B39}"/>
              </a:ext>
            </a:extLst>
          </p:cNvPr>
          <p:cNvPicPr>
            <a:picLocks noGrp="1" noChangeAspect="1"/>
          </p:cNvPicPr>
          <p:nvPr>
            <p:ph type="pic" sz="quarter" idx="10"/>
          </p:nvPr>
        </p:nvPicPr>
        <p:blipFill>
          <a:blip r:embed="rId2"/>
          <a:srcRect b="9103"/>
          <a:stretch/>
        </p:blipFill>
        <p:spPr>
          <a:xfrm>
            <a:off x="8369566" y="2228119"/>
            <a:ext cx="3680472" cy="2652106"/>
          </a:xfrm>
          <a:prstGeom prst="rect">
            <a:avLst/>
          </a:prstGeom>
        </p:spPr>
      </p:pic>
    </p:spTree>
    <p:extLst>
      <p:ext uri="{BB962C8B-B14F-4D97-AF65-F5344CB8AC3E}">
        <p14:creationId xmlns:p14="http://schemas.microsoft.com/office/powerpoint/2010/main" val="3633191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440E12-A431-4952-EDBE-8636CFC04FFC}"/>
              </a:ext>
            </a:extLst>
          </p:cNvPr>
          <p:cNvSpPr>
            <a:spLocks noGrp="1"/>
          </p:cNvSpPr>
          <p:nvPr>
            <p:ph type="title"/>
          </p:nvPr>
        </p:nvSpPr>
        <p:spPr/>
        <p:txBody>
          <a:bodyPr/>
          <a:lstStyle/>
          <a:p>
            <a:r>
              <a:rPr lang="en-US" dirty="0"/>
              <a:t>Using Lab Scopes (4 of 4)</a:t>
            </a:r>
          </a:p>
        </p:txBody>
      </p:sp>
      <p:sp>
        <p:nvSpPr>
          <p:cNvPr id="6" name="Text Placeholder 5">
            <a:extLst>
              <a:ext uri="{FF2B5EF4-FFF2-40B4-BE49-F238E27FC236}">
                <a16:creationId xmlns:a16="http://schemas.microsoft.com/office/drawing/2014/main" id="{6A460498-F228-6B75-3F0B-5EB64C5355F2}"/>
              </a:ext>
            </a:extLst>
          </p:cNvPr>
          <p:cNvSpPr>
            <a:spLocks noGrp="1"/>
          </p:cNvSpPr>
          <p:nvPr>
            <p:ph type="body" idx="1"/>
          </p:nvPr>
        </p:nvSpPr>
        <p:spPr>
          <a:xfrm>
            <a:off x="476843" y="1471264"/>
            <a:ext cx="11241915" cy="4758848"/>
          </a:xfrm>
        </p:spPr>
        <p:txBody>
          <a:bodyPr/>
          <a:lstStyle/>
          <a:p>
            <a:pPr>
              <a:spcAft>
                <a:spcPts val="400"/>
              </a:spcAft>
            </a:pPr>
            <a:r>
              <a:rPr lang="en-US" sz="1800" dirty="0"/>
              <a:t>Depending on the manufacturer and model of the scope, the variety of its controls will vary. however, nearly all scopes have vertical (</a:t>
            </a:r>
            <a:r>
              <a:rPr lang="en-US" sz="1800" i="1" dirty="0"/>
              <a:t>Y</a:t>
            </a:r>
            <a:r>
              <a:rPr lang="en-US" sz="1800" dirty="0"/>
              <a:t>-axis) adjustments, horizontal (</a:t>
            </a:r>
            <a:r>
              <a:rPr lang="en-US" sz="1800" i="1" dirty="0"/>
              <a:t>X</a:t>
            </a:r>
            <a:r>
              <a:rPr lang="en-US" sz="1800" dirty="0"/>
              <a:t>-axis) adjustments, and trigger adjustments.</a:t>
            </a:r>
          </a:p>
          <a:p>
            <a:pPr>
              <a:spcAft>
                <a:spcPts val="400"/>
              </a:spcAft>
            </a:pPr>
            <a:r>
              <a:rPr lang="en-US" sz="1800" dirty="0"/>
              <a:t>The vertical adjustment controls the voltage that may be shown per division or as voltage over a preset figure, such as 20 volts.</a:t>
            </a:r>
          </a:p>
          <a:p>
            <a:pPr>
              <a:spcAft>
                <a:spcPts val="400"/>
              </a:spcAft>
            </a:pPr>
            <a:r>
              <a:rPr lang="en-US" sz="1800" dirty="0"/>
              <a:t>If the scope is set at 0.5 (500 mV) volt, a 5-volt signal will need 10 divisions. Likewise, if the scope is set to 1 volt, 5 volts will need only five divisions.</a:t>
            </a:r>
          </a:p>
          <a:p>
            <a:pPr>
              <a:spcAft>
                <a:spcPts val="400"/>
              </a:spcAft>
            </a:pPr>
            <a:r>
              <a:rPr lang="en-US" sz="1800" dirty="0"/>
              <a:t>It is important to set the vertical so that voltage can be accurately read. Setting the voltage too low may cause the waveform to move off the screen, whereas setting it too high may cause the trace to be flat and unreadable.</a:t>
            </a:r>
          </a:p>
          <a:p>
            <a:pPr>
              <a:spcAft>
                <a:spcPts val="400"/>
              </a:spcAft>
            </a:pPr>
            <a:r>
              <a:rPr lang="en-US" sz="1800" dirty="0"/>
              <a:t>The horizontal position control is the time control of the trace.</a:t>
            </a:r>
          </a:p>
          <a:p>
            <a:pPr>
              <a:spcAft>
                <a:spcPts val="400"/>
              </a:spcAft>
            </a:pPr>
            <a:r>
              <a:rPr lang="en-US" sz="1800" dirty="0"/>
              <a:t>If the time per division is set too low, the complete trace may not show across the screen. </a:t>
            </a:r>
          </a:p>
          <a:p>
            <a:pPr>
              <a:spcAft>
                <a:spcPts val="400"/>
              </a:spcAft>
            </a:pPr>
            <a:r>
              <a:rPr lang="en-US" sz="1800" dirty="0"/>
              <a:t>Also, if the time per division is set too high, the trace may be too crowded for detailed observation.</a:t>
            </a:r>
          </a:p>
        </p:txBody>
      </p:sp>
    </p:spTree>
    <p:extLst>
      <p:ext uri="{BB962C8B-B14F-4D97-AF65-F5344CB8AC3E}">
        <p14:creationId xmlns:p14="http://schemas.microsoft.com/office/powerpoint/2010/main" val="2733357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sz="3600" dirty="0"/>
              <a:t>Testing Basic Electrical Components (1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4" y="1471264"/>
            <a:ext cx="7151508" cy="4673504"/>
          </a:xfrm>
        </p:spPr>
        <p:txBody>
          <a:bodyPr/>
          <a:lstStyle/>
          <a:p>
            <a:r>
              <a:rPr lang="en-US" sz="1800" dirty="0"/>
              <a:t>When overloads or shorts cause too much current, the wiring heats up, the insulation melts, and a fire can result unless the circuit has some kind of protective device.</a:t>
            </a:r>
          </a:p>
          <a:p>
            <a:r>
              <a:rPr lang="en-US" sz="1800" dirty="0"/>
              <a:t>Fuses, fuse links, </a:t>
            </a:r>
            <a:r>
              <a:rPr lang="en-US" sz="1800" dirty="0" err="1"/>
              <a:t>maxifuses</a:t>
            </a:r>
            <a:r>
              <a:rPr lang="en-US" sz="1800" dirty="0"/>
              <a:t>, and circuit breakers are designed to provide protection from high current.</a:t>
            </a:r>
          </a:p>
          <a:p>
            <a:r>
              <a:rPr lang="en-US" sz="1800" dirty="0"/>
              <a:t>They may be used singularly or in combination. Circuit protection devices can be checked with an ohmmeter or test light.</a:t>
            </a:r>
          </a:p>
          <a:p>
            <a:r>
              <a:rPr lang="en-US" sz="1800" dirty="0"/>
              <a:t>If they are good, there will be continuity through them. To test a circuit protection device with a voltmeter, check for available voltage at both terminals of the unit.</a:t>
            </a:r>
          </a:p>
          <a:p>
            <a:r>
              <a:rPr lang="en-US" sz="1800" dirty="0"/>
              <a:t>There should be voltage on both sides. Measuring voltage drop can tell more about a device’s condition than just its continuity.</a:t>
            </a:r>
          </a:p>
        </p:txBody>
      </p:sp>
      <p:pic>
        <p:nvPicPr>
          <p:cNvPr id="5" name="Picture Placeholder 4" descr="An illustration depicts a circuit protective device tested using a voltmeter. The negative of the voltmeter is grounded while the positive is connected to the circuit protection device. Both the jacks of the circuit protective device are connected to the positive of the voltmeter. The label ‘Fuse provides access for testing’ is depicted toward the circuit protection device. The reading in voltmeter depicts 12.6 V.">
            <a:extLst>
              <a:ext uri="{FF2B5EF4-FFF2-40B4-BE49-F238E27FC236}">
                <a16:creationId xmlns:a16="http://schemas.microsoft.com/office/drawing/2014/main" id="{C3427389-96C8-9237-B213-CD10E4D4B6A4}"/>
              </a:ext>
            </a:extLst>
          </p:cNvPr>
          <p:cNvPicPr>
            <a:picLocks noGrp="1" noChangeAspect="1"/>
          </p:cNvPicPr>
          <p:nvPr>
            <p:ph type="pic" sz="quarter" idx="10"/>
          </p:nvPr>
        </p:nvPicPr>
        <p:blipFill>
          <a:blip r:embed="rId2"/>
          <a:srcRect b="13863"/>
          <a:stretch/>
        </p:blipFill>
        <p:spPr>
          <a:xfrm>
            <a:off x="7711521" y="2527794"/>
            <a:ext cx="4235212" cy="1951739"/>
          </a:xfrm>
          <a:prstGeom prst="rect">
            <a:avLst/>
          </a:prstGeom>
        </p:spPr>
      </p:pic>
    </p:spTree>
    <p:extLst>
      <p:ext uri="{BB962C8B-B14F-4D97-AF65-F5344CB8AC3E}">
        <p14:creationId xmlns:p14="http://schemas.microsoft.com/office/powerpoint/2010/main" val="376108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sz="3600" dirty="0"/>
              <a:t>Testing Basic Electrical Components (2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4" y="1471264"/>
            <a:ext cx="7489710" cy="4661312"/>
          </a:xfrm>
        </p:spPr>
        <p:txBody>
          <a:bodyPr/>
          <a:lstStyle/>
          <a:p>
            <a:pPr>
              <a:spcAft>
                <a:spcPts val="600"/>
              </a:spcAft>
            </a:pPr>
            <a:r>
              <a:rPr lang="en-US" sz="1800" dirty="0"/>
              <a:t>To check a switch, disconnect the connector at the switch.</a:t>
            </a:r>
          </a:p>
          <a:p>
            <a:pPr>
              <a:spcAft>
                <a:spcPts val="600"/>
              </a:spcAft>
            </a:pPr>
            <a:r>
              <a:rPr lang="en-US" sz="1800" dirty="0"/>
              <a:t>Check for continuity between the terminals of the switch with the switch in the on and off positions.</a:t>
            </a:r>
          </a:p>
          <a:p>
            <a:pPr>
              <a:spcAft>
                <a:spcPts val="600"/>
              </a:spcAft>
            </a:pPr>
            <a:r>
              <a:rPr lang="en-US" sz="1800" dirty="0"/>
              <a:t>While in the off position, there should be no continuity between the terminals.</a:t>
            </a:r>
          </a:p>
          <a:p>
            <a:pPr>
              <a:spcAft>
                <a:spcPts val="600"/>
              </a:spcAft>
            </a:pPr>
            <a:r>
              <a:rPr lang="en-US" sz="1800" dirty="0"/>
              <a:t>With the switch on, there should be good continuity between the terminals.</a:t>
            </a:r>
          </a:p>
          <a:p>
            <a:pPr>
              <a:spcAft>
                <a:spcPts val="600"/>
              </a:spcAft>
            </a:pPr>
            <a:r>
              <a:rPr lang="en-US" sz="1800" dirty="0"/>
              <a:t>If the switch is activated by something mechanical and does not complete the circuit when it should, check the adjustment of the switch (some switches are not adjustable).</a:t>
            </a:r>
          </a:p>
          <a:p>
            <a:pPr>
              <a:spcAft>
                <a:spcPts val="600"/>
              </a:spcAft>
            </a:pPr>
            <a:r>
              <a:rPr lang="en-US" sz="1800" dirty="0"/>
              <a:t>Another way to check a switch is to bypass it with a jumper wire, if the component works when the switch is jumped, the switch is bad.</a:t>
            </a:r>
          </a:p>
        </p:txBody>
      </p:sp>
      <p:pic>
        <p:nvPicPr>
          <p:cNvPr id="5" name="Picture Placeholder 4" descr="An illustration of an open and a closed switch checked using an ohmmeter. The first structure depicts an open switch. The positive and negative leads of an ohmmeter are connected to the two ends of the switch. The ohmmeter reading depicts ‘infinity’. The second structure depicts a closed switch. The positive and negative leads of an ohmmeter are connected to the two ends of the switch. The ohmmeter reading depicts ‘+0.00’.">
            <a:extLst>
              <a:ext uri="{FF2B5EF4-FFF2-40B4-BE49-F238E27FC236}">
                <a16:creationId xmlns:a16="http://schemas.microsoft.com/office/drawing/2014/main" id="{E323E2B4-BD74-5890-D683-CC21EE042579}"/>
              </a:ext>
            </a:extLst>
          </p:cNvPr>
          <p:cNvPicPr>
            <a:picLocks noGrp="1" noChangeAspect="1"/>
          </p:cNvPicPr>
          <p:nvPr>
            <p:ph type="pic" sz="quarter" idx="10"/>
          </p:nvPr>
        </p:nvPicPr>
        <p:blipFill>
          <a:blip r:embed="rId2"/>
          <a:srcRect b="13937"/>
          <a:stretch/>
        </p:blipFill>
        <p:spPr>
          <a:xfrm>
            <a:off x="8156087" y="2348523"/>
            <a:ext cx="3802205" cy="2120735"/>
          </a:xfrm>
          <a:prstGeom prst="rect">
            <a:avLst/>
          </a:prstGeom>
        </p:spPr>
      </p:pic>
    </p:spTree>
    <p:extLst>
      <p:ext uri="{BB962C8B-B14F-4D97-AF65-F5344CB8AC3E}">
        <p14:creationId xmlns:p14="http://schemas.microsoft.com/office/powerpoint/2010/main" val="886025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sz="3600" dirty="0"/>
              <a:t>Testing Basic Electrical Components (3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4" y="1471264"/>
            <a:ext cx="7464658" cy="4624736"/>
          </a:xfrm>
        </p:spPr>
        <p:txBody>
          <a:bodyPr/>
          <a:lstStyle/>
          <a:p>
            <a:r>
              <a:rPr lang="en-US" sz="2000" dirty="0"/>
              <a:t>A relay can be checked with a jumper wire, a voltmeter, an ohmmeter, or a test light.</a:t>
            </a:r>
          </a:p>
          <a:p>
            <a:r>
              <a:rPr lang="en-US" sz="2000" dirty="0"/>
              <a:t>The schematic for a relay is typically shown on the outside of the relay.</a:t>
            </a:r>
          </a:p>
          <a:p>
            <a:r>
              <a:rPr lang="en-US" sz="2000" dirty="0"/>
              <a:t>Use an ohmmeter to check the continuity between the relay coil terminals.</a:t>
            </a:r>
          </a:p>
          <a:p>
            <a:r>
              <a:rPr lang="en-US" sz="2000" dirty="0"/>
              <a:t>If the meter indicates an infinite reading, replace the relay.</a:t>
            </a:r>
          </a:p>
          <a:p>
            <a:r>
              <a:rPr lang="en-US" sz="2000" dirty="0"/>
              <a:t>If there is continuity, use a pair of jumper wires or a 9-volt battery to energize the coil.</a:t>
            </a:r>
          </a:p>
          <a:p>
            <a:r>
              <a:rPr lang="en-US" sz="2000" dirty="0"/>
              <a:t>Check for continuity through the relay contacts.</a:t>
            </a:r>
            <a:br>
              <a:rPr lang="en-US" sz="2000" dirty="0"/>
            </a:br>
            <a:r>
              <a:rPr lang="en-US" sz="2000" dirty="0"/>
              <a:t>If there is an infinite reading, the relay is faulty.</a:t>
            </a:r>
          </a:p>
          <a:p>
            <a:r>
              <a:rPr lang="en-US" sz="2000" dirty="0"/>
              <a:t>If there is continuity, the relay is good.</a:t>
            </a:r>
          </a:p>
        </p:txBody>
      </p:sp>
      <p:pic>
        <p:nvPicPr>
          <p:cNvPr id="5" name="Picture Placeholder 4" descr="A circuit where a relay is tested with a voltmeter. The circuit has a 12 V battery whose negative is grounded. The positive is connected to an ignition switch and a fusible link which commonly reaches a circuit breaker where it further splits into two more connections. One of the connections is to an ignition switch which is connected in parallel to a relay coil. A dashed horizontal line goes between the relay coil and the ignition switch. The connection from the ignition switch continues to the fuel pump circuit while the one from the relay coil is grounded. Two voltmeters are used in this circuit. The first voltmeter is labeled 12.6 V. Its dark lead is grounded while the red lead is placed on point A which is before the ignition switch, point B which is after the ignition switch, and point C which is before the relay coil. The second voltmeter labeled 0 V has the dark lead grounded while the red lead is placed on point D which is after the relay coil. The connection is grounded after point D.">
            <a:extLst>
              <a:ext uri="{FF2B5EF4-FFF2-40B4-BE49-F238E27FC236}">
                <a16:creationId xmlns:a16="http://schemas.microsoft.com/office/drawing/2014/main" id="{4ABCB459-BFEC-77BD-04B5-010E83CCA194}"/>
              </a:ext>
            </a:extLst>
          </p:cNvPr>
          <p:cNvPicPr>
            <a:picLocks noGrp="1" noChangeAspect="1"/>
          </p:cNvPicPr>
          <p:nvPr>
            <p:ph type="pic" sz="quarter" idx="10"/>
          </p:nvPr>
        </p:nvPicPr>
        <p:blipFill>
          <a:blip r:embed="rId2"/>
          <a:srcRect b="4571"/>
          <a:stretch/>
        </p:blipFill>
        <p:spPr>
          <a:xfrm>
            <a:off x="7982722" y="2333812"/>
            <a:ext cx="4007766" cy="2546413"/>
          </a:xfrm>
          <a:prstGeom prst="rect">
            <a:avLst/>
          </a:prstGeom>
        </p:spPr>
      </p:pic>
    </p:spTree>
    <p:extLst>
      <p:ext uri="{BB962C8B-B14F-4D97-AF65-F5344CB8AC3E}">
        <p14:creationId xmlns:p14="http://schemas.microsoft.com/office/powerpoint/2010/main" val="32352980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FB0A8E-A195-78F3-AA06-4E2AF854DA64}"/>
              </a:ext>
            </a:extLst>
          </p:cNvPr>
          <p:cNvSpPr>
            <a:spLocks noGrp="1"/>
          </p:cNvSpPr>
          <p:nvPr>
            <p:ph type="title"/>
          </p:nvPr>
        </p:nvSpPr>
        <p:spPr/>
        <p:txBody>
          <a:bodyPr/>
          <a:lstStyle/>
          <a:p>
            <a:r>
              <a:rPr lang="en-US" sz="3600" dirty="0"/>
              <a:t>Testing Basic Electrical Components (4 of 4)</a:t>
            </a:r>
          </a:p>
        </p:txBody>
      </p:sp>
      <p:sp>
        <p:nvSpPr>
          <p:cNvPr id="6" name="Text Placeholder 5">
            <a:extLst>
              <a:ext uri="{FF2B5EF4-FFF2-40B4-BE49-F238E27FC236}">
                <a16:creationId xmlns:a16="http://schemas.microsoft.com/office/drawing/2014/main" id="{024584E1-A13E-6551-C4B9-C17D41910BC9}"/>
              </a:ext>
            </a:extLst>
          </p:cNvPr>
          <p:cNvSpPr>
            <a:spLocks noGrp="1"/>
          </p:cNvSpPr>
          <p:nvPr>
            <p:ph type="body" idx="1"/>
          </p:nvPr>
        </p:nvSpPr>
        <p:spPr/>
        <p:txBody>
          <a:bodyPr/>
          <a:lstStyle/>
          <a:p>
            <a:pPr>
              <a:spcAft>
                <a:spcPts val="600"/>
              </a:spcAft>
            </a:pPr>
            <a:r>
              <a:rPr lang="en-US" dirty="0"/>
              <a:t>Stepped Resistors </a:t>
            </a:r>
          </a:p>
          <a:p>
            <a:pPr lvl="1">
              <a:spcAft>
                <a:spcPts val="600"/>
              </a:spcAft>
            </a:pPr>
            <a:r>
              <a:rPr lang="en-US" dirty="0"/>
              <a:t>To test a stepped resistor, remove it and connect an ohmmeter across the resistor.</a:t>
            </a:r>
          </a:p>
          <a:p>
            <a:pPr lvl="1">
              <a:spcAft>
                <a:spcPts val="600"/>
              </a:spcAft>
            </a:pPr>
            <a:r>
              <a:rPr lang="en-US" dirty="0"/>
              <a:t>Compare the readings to specifications.</a:t>
            </a:r>
          </a:p>
          <a:p>
            <a:pPr lvl="1">
              <a:spcAft>
                <a:spcPts val="600"/>
              </a:spcAft>
            </a:pPr>
            <a:r>
              <a:rPr lang="en-US" dirty="0"/>
              <a:t>A stepped resistor can also be checked with a voltmeter.</a:t>
            </a:r>
          </a:p>
          <a:p>
            <a:pPr lvl="1">
              <a:spcAft>
                <a:spcPts val="600"/>
              </a:spcAft>
            </a:pPr>
            <a:r>
              <a:rPr lang="en-US" dirty="0"/>
              <a:t>Measure the voltage after each part of the resistor block and compare the readings to specifications.</a:t>
            </a:r>
          </a:p>
        </p:txBody>
      </p:sp>
    </p:spTree>
    <p:extLst>
      <p:ext uri="{BB962C8B-B14F-4D97-AF65-F5344CB8AC3E}">
        <p14:creationId xmlns:p14="http://schemas.microsoft.com/office/powerpoint/2010/main" val="29169374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Wiring</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4" y="1471264"/>
            <a:ext cx="7514762" cy="4697888"/>
          </a:xfrm>
        </p:spPr>
        <p:txBody>
          <a:bodyPr/>
          <a:lstStyle/>
          <a:p>
            <a:r>
              <a:rPr lang="en-US" sz="1800" dirty="0"/>
              <a:t>A wire’s insulation should be in good condition. Broken, frayed, or damaged insulation can cause shorts.</a:t>
            </a:r>
          </a:p>
          <a:p>
            <a:r>
              <a:rPr lang="en-US" sz="1800" dirty="0"/>
              <a:t>A short circuit can cause wiring to overheat, which can melt insulation and connectors.</a:t>
            </a:r>
          </a:p>
          <a:p>
            <a:r>
              <a:rPr lang="en-US" sz="1800" dirty="0"/>
              <a:t>High resistance in a connection often leads to overheating and damage. </a:t>
            </a:r>
          </a:p>
          <a:p>
            <a:r>
              <a:rPr lang="en-US" sz="1800" dirty="0"/>
              <a:t>Whenever you see a wire or connector that shows signs of overheating, a thorough diagnosis of the fault is needed to identify the root cause of the failure.</a:t>
            </a:r>
          </a:p>
          <a:p>
            <a:r>
              <a:rPr lang="en-US" sz="1800" dirty="0"/>
              <a:t>These conditions can also create a safety hazard.</a:t>
            </a:r>
          </a:p>
          <a:p>
            <a:r>
              <a:rPr lang="en-US" sz="1800" dirty="0"/>
              <a:t>Replace all wires that have damaged insulation.</a:t>
            </a:r>
          </a:p>
          <a:p>
            <a:r>
              <a:rPr lang="en-US" sz="1800" dirty="0"/>
              <a:t>When checking a circuit, make sure to check the ground connections, including the ground strap from the engine or other component to the chassis.</a:t>
            </a:r>
          </a:p>
        </p:txBody>
      </p:sp>
      <p:pic>
        <p:nvPicPr>
          <p:cNvPr id="5" name="Picture Placeholder 4" descr="A live wire is exposed due to damaged insulation.">
            <a:extLst>
              <a:ext uri="{FF2B5EF4-FFF2-40B4-BE49-F238E27FC236}">
                <a16:creationId xmlns:a16="http://schemas.microsoft.com/office/drawing/2014/main" id="{79CF404A-C361-3A57-0E97-9A4CF4B158BB}"/>
              </a:ext>
            </a:extLst>
          </p:cNvPr>
          <p:cNvPicPr>
            <a:picLocks noGrp="1" noChangeAspect="1"/>
          </p:cNvPicPr>
          <p:nvPr>
            <p:ph type="pic" sz="quarter" idx="10"/>
          </p:nvPr>
        </p:nvPicPr>
        <p:blipFill>
          <a:blip r:embed="rId2"/>
          <a:srcRect b="13235"/>
          <a:stretch/>
        </p:blipFill>
        <p:spPr>
          <a:xfrm>
            <a:off x="7942705" y="2127055"/>
            <a:ext cx="3925166" cy="2938105"/>
          </a:xfrm>
          <a:prstGeom prst="rect">
            <a:avLst/>
          </a:prstGeom>
        </p:spPr>
      </p:pic>
    </p:spTree>
    <p:extLst>
      <p:ext uri="{BB962C8B-B14F-4D97-AF65-F5344CB8AC3E}">
        <p14:creationId xmlns:p14="http://schemas.microsoft.com/office/powerpoint/2010/main" val="3865803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Troubleshooting Circuits</a:t>
            </a:r>
          </a:p>
        </p:txBody>
      </p:sp>
      <p:sp>
        <p:nvSpPr>
          <p:cNvPr id="5" name="Text Placeholder 4">
            <a:extLst>
              <a:ext uri="{FF2B5EF4-FFF2-40B4-BE49-F238E27FC236}">
                <a16:creationId xmlns:a16="http://schemas.microsoft.com/office/drawing/2014/main" id="{FC2EBBDF-C218-E3D5-0CEF-C4C882ED3E02}"/>
              </a:ext>
            </a:extLst>
          </p:cNvPr>
          <p:cNvSpPr>
            <a:spLocks noGrp="1"/>
          </p:cNvSpPr>
          <p:nvPr>
            <p:ph type="body" idx="1"/>
          </p:nvPr>
        </p:nvSpPr>
        <p:spPr>
          <a:xfrm>
            <a:off x="476843" y="1471264"/>
            <a:ext cx="11142133" cy="4613339"/>
          </a:xfrm>
        </p:spPr>
        <p:txBody>
          <a:bodyPr/>
          <a:lstStyle/>
          <a:p>
            <a:pPr>
              <a:spcAft>
                <a:spcPts val="400"/>
              </a:spcAft>
            </a:pPr>
            <a:r>
              <a:rPr lang="en-US" sz="2000" dirty="0"/>
              <a:t>The basic steps for diagnosis given earlier in this book should be followed.</a:t>
            </a:r>
          </a:p>
          <a:p>
            <a:pPr>
              <a:spcAft>
                <a:spcPts val="400"/>
              </a:spcAft>
            </a:pPr>
            <a:r>
              <a:rPr lang="en-US" sz="2000" dirty="0"/>
              <a:t>Here they are again, only modified to fit electrical problems:</a:t>
            </a:r>
          </a:p>
          <a:p>
            <a:pPr lvl="1">
              <a:spcAft>
                <a:spcPts val="400"/>
              </a:spcAft>
            </a:pPr>
            <a:r>
              <a:rPr lang="en-US" sz="1800" dirty="0"/>
              <a:t>If something does not work, the problem is most likely caused by a short or an open. But remember, shorts and opens do not always just happen. Often, there is another problem that causes the short or open to occur.</a:t>
            </a:r>
          </a:p>
          <a:p>
            <a:pPr lvl="1">
              <a:spcAft>
                <a:spcPts val="400"/>
              </a:spcAft>
            </a:pPr>
            <a:r>
              <a:rPr lang="en-US" sz="1800" dirty="0"/>
              <a:t>If the fuse for that circuit is blown, the problem is a short. If the fuse is good, the problem is an open or high resistance.</a:t>
            </a:r>
          </a:p>
          <a:p>
            <a:pPr lvl="1">
              <a:spcAft>
                <a:spcPts val="400"/>
              </a:spcAft>
            </a:pPr>
            <a:r>
              <a:rPr lang="en-US" sz="1800" dirty="0"/>
              <a:t>If a part does not work correctly, such as a dim light bulb, the problem is high resistance.</a:t>
            </a:r>
          </a:p>
          <a:p>
            <a:pPr lvl="1">
              <a:spcAft>
                <a:spcPts val="400"/>
              </a:spcAft>
            </a:pPr>
            <a:r>
              <a:rPr lang="en-US" sz="1800" dirty="0"/>
              <a:t>Quick voltage checks will help define the problem. Check for voltage to the part that is not working correctly. If source voltage is present, the part is bad or the ground circuit is faulty. If less than source voltage is measured at the part, there is a fault in the power feed to the part. Check the voltage on the ground for the component. Source voltage on the ground side of a load indicates an open ground circuit. A voltage reading above 200 mV indicates resistance in the ground circuit.</a:t>
            </a:r>
          </a:p>
        </p:txBody>
      </p:sp>
    </p:spTree>
    <p:extLst>
      <p:ext uri="{BB962C8B-B14F-4D97-AF65-F5344CB8AC3E}">
        <p14:creationId xmlns:p14="http://schemas.microsoft.com/office/powerpoint/2010/main" val="3395156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Using Wiring Diagrams</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489710" cy="4710080"/>
          </a:xfrm>
        </p:spPr>
        <p:txBody>
          <a:bodyPr/>
          <a:lstStyle/>
          <a:p>
            <a:r>
              <a:rPr lang="en-US" sz="1800" dirty="0"/>
              <a:t>During diagnosis, one of the most important sources of information is a wiring diagram.</a:t>
            </a:r>
            <a:br>
              <a:rPr lang="en-US" sz="1800" dirty="0"/>
            </a:br>
            <a:r>
              <a:rPr lang="en-US" sz="1800" dirty="0"/>
              <a:t>This shows the relationships of one circuit to the others. </a:t>
            </a:r>
          </a:p>
          <a:p>
            <a:r>
              <a:rPr lang="en-US" sz="1800" dirty="0"/>
              <a:t>Based on an understanding of the diagram, electricity, and how a particular system is designed to work, testing points can be identified.</a:t>
            </a:r>
          </a:p>
          <a:p>
            <a:r>
              <a:rPr lang="en-US" sz="1800" dirty="0"/>
              <a:t>Wiring diagrams are included in the electrical section of most service information. Wiring diagrams contain a comprehensive look at each circuit with all the connectors, wiring, signal connections between the devices, and electrical or electronic components of the circuit.</a:t>
            </a:r>
          </a:p>
          <a:p>
            <a:r>
              <a:rPr lang="en-US" sz="1800" dirty="0"/>
              <a:t>The diagrams are drawn with lines that represent wires between the appropriate connectors. Most diagrams are drawn so the power source is on the top of the wiring diagram and the ground source at the bottom.</a:t>
            </a:r>
          </a:p>
        </p:txBody>
      </p:sp>
      <p:pic>
        <p:nvPicPr>
          <p:cNvPr id="5" name="Picture Placeholder 4" descr="The components listed in a wiring diagram. The horn switch encircled and labeled E, at the bottom left, is connected through Turn signal or multifunction switch through the Horn slip ring and then to A and C 2. A body control module B C M is to the right of the horn switch and is connected to A 4 and C 1 (encircled and labeled C). Both above are connected through 0.35 BLK, 28, to C 12, C 3. The horn assembly is ground to G 101 (encircled and labeled B) through 0.5 BLK 1350 (encircled and labeled A), and Splice pack SP 101, (encircled and labeled D). Both the above are connected at the top to Horn relay 11, (encircled and labeled G), which is further connected to Horn fuse 21 of 15 A (encircled and labeled F). The power distribution schematics go leftward. All the above are fuse block underhood, and Hot at all times. ">
            <a:extLst>
              <a:ext uri="{FF2B5EF4-FFF2-40B4-BE49-F238E27FC236}">
                <a16:creationId xmlns:a16="http://schemas.microsoft.com/office/drawing/2014/main" id="{9BB87ABE-264E-29B4-6540-B8DA0F7866FF}"/>
              </a:ext>
            </a:extLst>
          </p:cNvPr>
          <p:cNvPicPr>
            <a:picLocks noGrp="1" noChangeAspect="1"/>
          </p:cNvPicPr>
          <p:nvPr>
            <p:ph type="pic" sz="quarter" idx="10"/>
          </p:nvPr>
        </p:nvPicPr>
        <p:blipFill>
          <a:blip r:embed="rId2"/>
          <a:srcRect b="6435"/>
          <a:stretch/>
        </p:blipFill>
        <p:spPr>
          <a:xfrm>
            <a:off x="7947183" y="1903627"/>
            <a:ext cx="3962164" cy="3223177"/>
          </a:xfrm>
          <a:prstGeom prst="rect">
            <a:avLst/>
          </a:prstGeom>
        </p:spPr>
      </p:pic>
    </p:spTree>
    <p:extLst>
      <p:ext uri="{BB962C8B-B14F-4D97-AF65-F5344CB8AC3E}">
        <p14:creationId xmlns:p14="http://schemas.microsoft.com/office/powerpoint/2010/main" val="795104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Testing For Common Problems (1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813717" cy="4685696"/>
          </a:xfrm>
        </p:spPr>
        <p:txBody>
          <a:bodyPr/>
          <a:lstStyle/>
          <a:p>
            <a:r>
              <a:rPr lang="en-US" sz="1800" b="1" dirty="0"/>
              <a:t>16.07 Diagnose common electrical circuit problems.</a:t>
            </a:r>
          </a:p>
          <a:p>
            <a:r>
              <a:rPr lang="en-US" sz="1800" dirty="0"/>
              <a:t>An open is evident by an inoperative component or circuit.</a:t>
            </a:r>
          </a:p>
          <a:p>
            <a:r>
              <a:rPr lang="en-US" sz="1800" dirty="0"/>
              <a:t>Begin your testing at the most accessible place in the circuit and work from there.</a:t>
            </a:r>
          </a:p>
          <a:p>
            <a:r>
              <a:rPr lang="en-US" sz="1800" dirty="0"/>
              <a:t>Check for voltage at the positive side of the load.</a:t>
            </a:r>
          </a:p>
          <a:p>
            <a:r>
              <a:rPr lang="en-US" sz="1800" dirty="0"/>
              <a:t>If there are 0 volts, move to the output of the control.</a:t>
            </a:r>
          </a:p>
          <a:p>
            <a:r>
              <a:rPr lang="en-US" sz="1800" dirty="0"/>
              <a:t>If there are at least 10.5 volts, the open is between the control and the load. If the reading at the load is 10.5 volts or higher, check the ground side of the load. If the voltage on the ground side is 1 volt or lower and the load does not work, the load is bad.</a:t>
            </a:r>
          </a:p>
          <a:p>
            <a:r>
              <a:rPr lang="en-US" sz="1800" dirty="0"/>
              <a:t>If the voltage at ground is greater than 1 volt, there is excessive resistance or an open in the ground circuit. If source voltage is present on both the power and ground side of the load, the ground circuit is open.</a:t>
            </a:r>
          </a:p>
        </p:txBody>
      </p:sp>
      <p:pic>
        <p:nvPicPr>
          <p:cNvPr id="5" name="Picture Placeholder 4" descr="A photo depicts a close-up view of a damaged wire harness. A few wires from the bunch have snapped and are projecting out of the harness.">
            <a:extLst>
              <a:ext uri="{FF2B5EF4-FFF2-40B4-BE49-F238E27FC236}">
                <a16:creationId xmlns:a16="http://schemas.microsoft.com/office/drawing/2014/main" id="{4E065FB3-2751-C03F-92D9-FC46AD073AC5}"/>
              </a:ext>
            </a:extLst>
          </p:cNvPr>
          <p:cNvPicPr>
            <a:picLocks noGrp="1" noChangeAspect="1"/>
          </p:cNvPicPr>
          <p:nvPr>
            <p:ph type="pic" sz="quarter" idx="10"/>
          </p:nvPr>
        </p:nvPicPr>
        <p:blipFill>
          <a:blip r:embed="rId2"/>
          <a:srcRect b="8012"/>
          <a:stretch/>
        </p:blipFill>
        <p:spPr>
          <a:xfrm>
            <a:off x="8378810" y="2091884"/>
            <a:ext cx="3495220" cy="3168486"/>
          </a:xfrm>
          <a:prstGeom prst="rect">
            <a:avLst/>
          </a:prstGeom>
        </p:spPr>
      </p:pic>
    </p:spTree>
    <p:extLst>
      <p:ext uri="{BB962C8B-B14F-4D97-AF65-F5344CB8AC3E}">
        <p14:creationId xmlns:p14="http://schemas.microsoft.com/office/powerpoint/2010/main" val="1658889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Testing For Common Problems (2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4" y="1471264"/>
            <a:ext cx="7640022" cy="4600352"/>
          </a:xfrm>
        </p:spPr>
        <p:txBody>
          <a:bodyPr/>
          <a:lstStyle/>
          <a:p>
            <a:pPr>
              <a:spcAft>
                <a:spcPts val="600"/>
              </a:spcAft>
            </a:pPr>
            <a:r>
              <a:rPr lang="en-US" sz="2000" dirty="0"/>
              <a:t>Depending on the circuit, an open ground can present problems that you may not think of as an open circuit.</a:t>
            </a:r>
          </a:p>
          <a:p>
            <a:pPr>
              <a:spcAft>
                <a:spcPts val="600"/>
              </a:spcAft>
            </a:pPr>
            <a:r>
              <a:rPr lang="en-US" sz="2000" dirty="0"/>
              <a:t>For example, in a rear lighting circuit like shown, several bulbs are all connected together with a common ground.</a:t>
            </a:r>
          </a:p>
          <a:p>
            <a:pPr>
              <a:spcAft>
                <a:spcPts val="600"/>
              </a:spcAft>
            </a:pPr>
            <a:r>
              <a:rPr lang="en-US" sz="2000" dirty="0"/>
              <a:t>If an open occurs in the ground for the turn signal/running light, in this example circuit, when the left turn signal is turned on, the current can pass from turn signal filament to the running light filament.</a:t>
            </a:r>
          </a:p>
          <a:p>
            <a:pPr>
              <a:spcAft>
                <a:spcPts val="600"/>
              </a:spcAft>
            </a:pPr>
            <a:r>
              <a:rPr lang="en-US" sz="2000" dirty="0"/>
              <a:t>The current then continues on to the other turn signal/running light bulb to get to ground, which may cause both running lights to blink with the turn signal or may cause all three lights to glow.</a:t>
            </a:r>
          </a:p>
        </p:txBody>
      </p:sp>
      <p:pic>
        <p:nvPicPr>
          <p:cNvPr id="5" name="Picture Placeholder 4" descr="Two circuits labeled (A) and (B). In circuit A, 2 labels B+ are connected in parallel. The connection from the first B+ goes to a switch connected in parallel to 2 lamps, a brake, and a lamp. The second label B+ is connected to a Headlight switch. Two turn lights are on either side of the brake lights with the connection from the turn signal switch. Two run lights are along with the turn lights with the connection from the headlight switch. All four lights are connected in parallel and are commonly grounded with the label G 401. In circuit B, 2 labels B+ are connected in parallel. The connection from the first B+ goes to a switch which is connected in parallel to 2 lamps brake and a lamp. The second label B+ is connected to a Headlight switch. Two turn lights are on either side of the brake lights with the connection from the turn signal switch. Two run lights are depicted along with the turn lights with the connection coming from the headlight switch. All four lights are connected in parallel and are commonly grounded with the label G 401. The connection from the left turn light is broken before combining with the first brake light connection before getting grounded. Arrows are across the circuit indicating the direction of current flow.">
            <a:extLst>
              <a:ext uri="{FF2B5EF4-FFF2-40B4-BE49-F238E27FC236}">
                <a16:creationId xmlns:a16="http://schemas.microsoft.com/office/drawing/2014/main" id="{EA271714-34AB-9463-BF88-CB9C202C0E29}"/>
              </a:ext>
            </a:extLst>
          </p:cNvPr>
          <p:cNvPicPr>
            <a:picLocks noGrp="1" noChangeAspect="1"/>
          </p:cNvPicPr>
          <p:nvPr>
            <p:ph type="pic" sz="quarter" idx="10"/>
          </p:nvPr>
        </p:nvPicPr>
        <p:blipFill rotWithShape="1">
          <a:blip r:embed="rId2"/>
          <a:srcRect b="12887"/>
          <a:stretch/>
        </p:blipFill>
        <p:spPr>
          <a:xfrm>
            <a:off x="8239320" y="2806370"/>
            <a:ext cx="3708177" cy="1488228"/>
          </a:xfrm>
          <a:prstGeom prst="rect">
            <a:avLst/>
          </a:prstGeom>
        </p:spPr>
      </p:pic>
    </p:spTree>
    <p:extLst>
      <p:ext uri="{BB962C8B-B14F-4D97-AF65-F5344CB8AC3E}">
        <p14:creationId xmlns:p14="http://schemas.microsoft.com/office/powerpoint/2010/main" val="22026446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Testing For Common Problems (3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8606197" cy="4697888"/>
          </a:xfrm>
        </p:spPr>
        <p:txBody>
          <a:bodyPr/>
          <a:lstStyle/>
          <a:p>
            <a:r>
              <a:rPr lang="en-US" sz="1800" dirty="0"/>
              <a:t>Use an ohmmeter to check for an internal short in a component, such as a relay or fuel injector.</a:t>
            </a:r>
          </a:p>
          <a:p>
            <a:r>
              <a:rPr lang="en-US" sz="1800" dirty="0"/>
              <a:t>If the component is good, the meter will read the specified resistance or at least some resistance.</a:t>
            </a:r>
          </a:p>
          <a:p>
            <a:r>
              <a:rPr lang="en-US" sz="1800" dirty="0"/>
              <a:t>If it is shorted, it will read lower than normal or near zero resistance.</a:t>
            </a:r>
          </a:p>
          <a:p>
            <a:r>
              <a:rPr lang="en-US" sz="1800" dirty="0"/>
              <a:t>Also, if the component has more than two terminals or pins, check for continuity across all combinations of these. Refer to the wiring diagram to see where there should be continuity.</a:t>
            </a:r>
          </a:p>
          <a:p>
            <a:r>
              <a:rPr lang="en-US" sz="1800" dirty="0"/>
              <a:t>Any abnormal readings indicate an internal short.</a:t>
            </a:r>
          </a:p>
          <a:p>
            <a:r>
              <a:rPr lang="en-US" sz="1800" dirty="0"/>
              <a:t>When a fuse is blown, this probably is due to a wire-to-wire short or a short to ground.</a:t>
            </a:r>
          </a:p>
          <a:p>
            <a:r>
              <a:rPr lang="en-US" sz="1800" dirty="0"/>
              <a:t>To test these circuits, a special jumper wire with a circuit breaker should be used as a substitute for the blown fuse. This will allow for testing the circuit without causing damage to the wires and components in the circuit.</a:t>
            </a:r>
          </a:p>
        </p:txBody>
      </p:sp>
      <p:pic>
        <p:nvPicPr>
          <p:cNvPr id="5" name="Picture Placeholder 4" descr="A cable wire from the brake lights, have a damaged and exposed wiring harness.">
            <a:extLst>
              <a:ext uri="{FF2B5EF4-FFF2-40B4-BE49-F238E27FC236}">
                <a16:creationId xmlns:a16="http://schemas.microsoft.com/office/drawing/2014/main" id="{4643ED78-1BA2-0CAA-E5D0-F49E62C5F687}"/>
              </a:ext>
            </a:extLst>
          </p:cNvPr>
          <p:cNvPicPr>
            <a:picLocks noGrp="1" noChangeAspect="1"/>
          </p:cNvPicPr>
          <p:nvPr>
            <p:ph type="pic" sz="quarter" idx="10"/>
          </p:nvPr>
        </p:nvPicPr>
        <p:blipFill>
          <a:blip r:embed="rId2"/>
          <a:srcRect b="9468"/>
          <a:stretch/>
        </p:blipFill>
        <p:spPr>
          <a:xfrm>
            <a:off x="9055196" y="1762971"/>
            <a:ext cx="2900722" cy="3733704"/>
          </a:xfrm>
          <a:prstGeom prst="rect">
            <a:avLst/>
          </a:prstGeom>
        </p:spPr>
      </p:pic>
    </p:spTree>
    <p:extLst>
      <p:ext uri="{BB962C8B-B14F-4D97-AF65-F5344CB8AC3E}">
        <p14:creationId xmlns:p14="http://schemas.microsoft.com/office/powerpoint/2010/main" val="3135111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Testing For Common Problems (4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2" y="1471264"/>
            <a:ext cx="8179478" cy="4649120"/>
          </a:xfrm>
        </p:spPr>
        <p:txBody>
          <a:bodyPr/>
          <a:lstStyle/>
          <a:p>
            <a:r>
              <a:rPr lang="en-US" sz="1800" dirty="0"/>
              <a:t>High-resistance problems are typically caused by corrosion on terminal ends, loose or poor connections, or frayed and damaged wires.</a:t>
            </a:r>
          </a:p>
          <a:p>
            <a:r>
              <a:rPr lang="en-US" sz="1800" dirty="0"/>
              <a:t>Whenever excessive resistance is suspected, both sides of the circuit should be checked.</a:t>
            </a:r>
          </a:p>
          <a:p>
            <a:r>
              <a:rPr lang="en-US" sz="1800" dirty="0"/>
              <a:t>Begin by checking the voltage drop across the load.</a:t>
            </a:r>
          </a:p>
          <a:p>
            <a:r>
              <a:rPr lang="en-US" sz="1800" dirty="0"/>
              <a:t>This should be close to battery voltage unless the circuit contains a resistor located before the load.</a:t>
            </a:r>
          </a:p>
          <a:p>
            <a:r>
              <a:rPr lang="en-US" sz="1800" dirty="0"/>
              <a:t>If the voltage drop is excessive, that part of the circuit contains the unwanted resistance.</a:t>
            </a:r>
          </a:p>
          <a:p>
            <a:r>
              <a:rPr lang="en-US" sz="1800" dirty="0"/>
              <a:t>The higher the voltage drop, the higher the resistance is, and only the load in the circuit should have high resistance.</a:t>
            </a:r>
          </a:p>
          <a:p>
            <a:r>
              <a:rPr lang="en-US" sz="1800" dirty="0"/>
              <a:t>It is also possible to measure the resistance with the meter on the resistance setting, although voltage drop is preferred.</a:t>
            </a:r>
          </a:p>
        </p:txBody>
      </p:sp>
      <p:pic>
        <p:nvPicPr>
          <p:cNvPr id="5" name="Picture Placeholder 4" descr="A technician holds a light socket with corroded terminals.">
            <a:extLst>
              <a:ext uri="{FF2B5EF4-FFF2-40B4-BE49-F238E27FC236}">
                <a16:creationId xmlns:a16="http://schemas.microsoft.com/office/drawing/2014/main" id="{B5C6BC9C-BC0E-D9FD-2EBF-6F268E12E384}"/>
              </a:ext>
            </a:extLst>
          </p:cNvPr>
          <p:cNvPicPr>
            <a:picLocks noGrp="1" noChangeAspect="1"/>
          </p:cNvPicPr>
          <p:nvPr>
            <p:ph type="pic" sz="quarter" idx="10"/>
          </p:nvPr>
        </p:nvPicPr>
        <p:blipFill>
          <a:blip r:embed="rId2"/>
          <a:srcRect b="9491"/>
          <a:stretch/>
        </p:blipFill>
        <p:spPr>
          <a:xfrm>
            <a:off x="8465508" y="1884447"/>
            <a:ext cx="3428270" cy="2944408"/>
          </a:xfrm>
          <a:prstGeom prst="rect">
            <a:avLst/>
          </a:prstGeom>
        </p:spPr>
      </p:pic>
    </p:spTree>
    <p:extLst>
      <p:ext uri="{BB962C8B-B14F-4D97-AF65-F5344CB8AC3E}">
        <p14:creationId xmlns:p14="http://schemas.microsoft.com/office/powerpoint/2010/main" val="3980554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Connector and Wire Repairs (1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348508"/>
            <a:ext cx="7972213" cy="4796260"/>
          </a:xfrm>
        </p:spPr>
        <p:txBody>
          <a:bodyPr/>
          <a:lstStyle/>
          <a:p>
            <a:r>
              <a:rPr lang="en-US" sz="2000" b="1" dirty="0"/>
              <a:t>16.08 Perform wire and connector repairs.</a:t>
            </a:r>
          </a:p>
          <a:p>
            <a:r>
              <a:rPr lang="en-US" sz="2000" dirty="0"/>
              <a:t>When installing a terminal, select the appropriate size and type of terminal. Be sure it fits the unit’s connecting post or prongs and it has enough current-carrying capacity for the circuit.</a:t>
            </a:r>
          </a:p>
          <a:p>
            <a:r>
              <a:rPr lang="en-US" sz="2000" dirty="0"/>
              <a:t>Check all connectors for corrosion, dirt, and looseness.</a:t>
            </a:r>
          </a:p>
          <a:p>
            <a:r>
              <a:rPr lang="en-US" sz="2000" dirty="0"/>
              <a:t>Nearly all connectors have pushdown release-type locks. Make sure these are not damaged.</a:t>
            </a:r>
          </a:p>
          <a:p>
            <a:r>
              <a:rPr lang="en-US" sz="2000" dirty="0"/>
              <a:t>Many connectors have covers over them to protect them from dirt and moisture. Make sure these are properly installed to provide for that protection.</a:t>
            </a:r>
          </a:p>
          <a:p>
            <a:r>
              <a:rPr lang="en-US" sz="2000" dirty="0"/>
              <a:t>When a connector needs to be replaced because the original has melted or is otherwise damaged, attempt to replace it with the same type and size.</a:t>
            </a:r>
          </a:p>
        </p:txBody>
      </p:sp>
      <p:pic>
        <p:nvPicPr>
          <p:cNvPr id="5" name="Picture Placeholder 4" descr="Five wires connected to the terminal are being inspected for corrosion. One wire is found to be melted and corroded, requiring repair.">
            <a:extLst>
              <a:ext uri="{FF2B5EF4-FFF2-40B4-BE49-F238E27FC236}">
                <a16:creationId xmlns:a16="http://schemas.microsoft.com/office/drawing/2014/main" id="{7E8C3429-0892-ACB0-1482-CB04F4FE5E5B}"/>
              </a:ext>
            </a:extLst>
          </p:cNvPr>
          <p:cNvPicPr>
            <a:picLocks noGrp="1" noChangeAspect="1"/>
          </p:cNvPicPr>
          <p:nvPr>
            <p:ph type="pic" sz="quarter" idx="10"/>
          </p:nvPr>
        </p:nvPicPr>
        <p:blipFill rotWithShape="1">
          <a:blip r:embed="rId2"/>
          <a:srcRect b="12869"/>
          <a:stretch/>
        </p:blipFill>
        <p:spPr>
          <a:xfrm>
            <a:off x="8253388" y="2619677"/>
            <a:ext cx="3790879" cy="2270822"/>
          </a:xfrm>
          <a:prstGeom prst="rect">
            <a:avLst/>
          </a:prstGeom>
        </p:spPr>
      </p:pic>
    </p:spTree>
    <p:extLst>
      <p:ext uri="{BB962C8B-B14F-4D97-AF65-F5344CB8AC3E}">
        <p14:creationId xmlns:p14="http://schemas.microsoft.com/office/powerpoint/2010/main" val="4210980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Connector and Wire Repairs (2 of 4)</a:t>
            </a:r>
          </a:p>
        </p:txBody>
      </p:sp>
      <p:sp>
        <p:nvSpPr>
          <p:cNvPr id="3" name="Text Placeholder 2">
            <a:extLst>
              <a:ext uri="{FF2B5EF4-FFF2-40B4-BE49-F238E27FC236}">
                <a16:creationId xmlns:a16="http://schemas.microsoft.com/office/drawing/2014/main" id="{A7159585-C42C-3CD1-2710-0D8811FF27BE}"/>
              </a:ext>
            </a:extLst>
          </p:cNvPr>
          <p:cNvSpPr>
            <a:spLocks noGrp="1"/>
          </p:cNvSpPr>
          <p:nvPr>
            <p:ph type="body" idx="1"/>
          </p:nvPr>
        </p:nvSpPr>
        <p:spPr>
          <a:xfrm>
            <a:off x="476843" y="1471264"/>
            <a:ext cx="7026247" cy="4390917"/>
          </a:xfrm>
        </p:spPr>
        <p:txBody>
          <a:bodyPr/>
          <a:lstStyle/>
          <a:p>
            <a:pPr>
              <a:spcAft>
                <a:spcPts val="400"/>
              </a:spcAft>
            </a:pPr>
            <a:r>
              <a:rPr lang="en-US" sz="2000" dirty="0"/>
              <a:t>Replacing a Terminal</a:t>
            </a:r>
          </a:p>
          <a:p>
            <a:pPr lvl="1">
              <a:spcAft>
                <a:spcPts val="400"/>
              </a:spcAft>
            </a:pPr>
            <a:r>
              <a:rPr lang="en-US" sz="1800" dirty="0"/>
              <a:t>Terminal ends are replaced when they are damaged or to accommodate the use of a connector.</a:t>
            </a:r>
          </a:p>
          <a:p>
            <a:pPr lvl="1">
              <a:spcAft>
                <a:spcPts val="400"/>
              </a:spcAft>
            </a:pPr>
            <a:r>
              <a:rPr lang="en-US" sz="1800" dirty="0"/>
              <a:t>The replacement process must be done to provide for good continuity and to prevent electrical problems in the future. </a:t>
            </a:r>
          </a:p>
          <a:p>
            <a:pPr lvl="1">
              <a:spcAft>
                <a:spcPts val="400"/>
              </a:spcAft>
            </a:pPr>
            <a:r>
              <a:rPr lang="en-US" sz="1800" dirty="0"/>
              <a:t>Never reroute wires when making repairs.</a:t>
            </a:r>
          </a:p>
          <a:p>
            <a:pPr lvl="1">
              <a:spcAft>
                <a:spcPts val="400"/>
              </a:spcAft>
            </a:pPr>
            <a:r>
              <a:rPr lang="en-US" sz="1800" dirty="0"/>
              <a:t>Rerouting wires can result in </a:t>
            </a:r>
            <a:r>
              <a:rPr lang="en-US" sz="1800" b="1" dirty="0"/>
              <a:t>induced voltages</a:t>
            </a:r>
            <a:r>
              <a:rPr lang="en-US" sz="1800" dirty="0"/>
              <a:t> in nearby components.</a:t>
            </a:r>
          </a:p>
          <a:p>
            <a:pPr lvl="2">
              <a:spcAft>
                <a:spcPts val="400"/>
              </a:spcAft>
            </a:pPr>
            <a:r>
              <a:rPr lang="en-US" sz="1600" dirty="0"/>
              <a:t>Induced voltages produce unwanted signals through magnetism rather than from the components within the circuit.</a:t>
            </a:r>
          </a:p>
          <a:p>
            <a:pPr lvl="2">
              <a:spcAft>
                <a:spcPts val="400"/>
              </a:spcAft>
            </a:pPr>
            <a:r>
              <a:rPr lang="en-US" sz="1600" dirty="0"/>
              <a:t>These stray voltages can interfere with the function of electronic circuits.</a:t>
            </a:r>
          </a:p>
        </p:txBody>
      </p:sp>
      <p:pic>
        <p:nvPicPr>
          <p:cNvPr id="5" name="Picture Placeholder 4" descr="An illustration depicts 3 structures to represent the use of a recommended tool to unlock the tangs on a terminal. The first structure depicts the locking tangs of the terminal lifted. The second structure depicts a tool inserted into the slot. The third structure depicts the recommended tool to be used for unlocking. An illustration depicts 3 structures to represent the use of a recommended tool to unlock the tangs on a terminal. The first structure depicts the locking tangs of the terminal lifted. The second structure depicts a tool inserted into the slot. The third structure depicts the recommended tool to be used for unlocking.">
            <a:extLst>
              <a:ext uri="{FF2B5EF4-FFF2-40B4-BE49-F238E27FC236}">
                <a16:creationId xmlns:a16="http://schemas.microsoft.com/office/drawing/2014/main" id="{D6158200-BA76-E4E0-5336-FAF3780A239C}"/>
              </a:ext>
            </a:extLst>
          </p:cNvPr>
          <p:cNvPicPr>
            <a:picLocks noGrp="1" noChangeAspect="1"/>
          </p:cNvPicPr>
          <p:nvPr>
            <p:ph type="pic" sz="quarter" idx="10"/>
          </p:nvPr>
        </p:nvPicPr>
        <p:blipFill>
          <a:blip r:embed="rId2"/>
          <a:srcRect b="11771"/>
          <a:stretch/>
        </p:blipFill>
        <p:spPr>
          <a:xfrm>
            <a:off x="7864209" y="1867220"/>
            <a:ext cx="4138698" cy="3660277"/>
          </a:xfrm>
          <a:prstGeom prst="rect">
            <a:avLst/>
          </a:prstGeom>
        </p:spPr>
      </p:pic>
    </p:spTree>
    <p:extLst>
      <p:ext uri="{BB962C8B-B14F-4D97-AF65-F5344CB8AC3E}">
        <p14:creationId xmlns:p14="http://schemas.microsoft.com/office/powerpoint/2010/main" val="7860048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Connector and Wire Repairs (3 of 4)</a:t>
            </a:r>
          </a:p>
        </p:txBody>
      </p:sp>
      <p:sp>
        <p:nvSpPr>
          <p:cNvPr id="5" name="Text Placeholder 4">
            <a:extLst>
              <a:ext uri="{FF2B5EF4-FFF2-40B4-BE49-F238E27FC236}">
                <a16:creationId xmlns:a16="http://schemas.microsoft.com/office/drawing/2014/main" id="{EEE62A2D-A600-62A2-0574-2463E76ABA2A}"/>
              </a:ext>
            </a:extLst>
          </p:cNvPr>
          <p:cNvSpPr>
            <a:spLocks noGrp="1"/>
          </p:cNvSpPr>
          <p:nvPr>
            <p:ph type="body" idx="1"/>
          </p:nvPr>
        </p:nvSpPr>
        <p:spPr/>
        <p:txBody>
          <a:bodyPr/>
          <a:lstStyle/>
          <a:p>
            <a:r>
              <a:rPr lang="en-US" sz="2200" dirty="0"/>
              <a:t>Often, electrical problems require the replacement of a wire or two.</a:t>
            </a:r>
          </a:p>
          <a:p>
            <a:r>
              <a:rPr lang="en-US" sz="2200" dirty="0"/>
              <a:t>It is important that this is done in a way that corrects the original problem but does not create a new problem.</a:t>
            </a:r>
          </a:p>
          <a:p>
            <a:r>
              <a:rPr lang="en-US" sz="2200" dirty="0"/>
              <a:t>All replacement wires should be of the same size or larger than the original.</a:t>
            </a:r>
          </a:p>
          <a:p>
            <a:r>
              <a:rPr lang="en-US" sz="2200" dirty="0"/>
              <a:t>If adding an accessory, the new wire should be large enough to ensure safe and reliable performance. However, overly large wires add weight and expense, and add to the difficulty of splicing wires together.</a:t>
            </a:r>
          </a:p>
          <a:p>
            <a:r>
              <a:rPr lang="en-US" sz="2200" dirty="0"/>
              <a:t>If the wire is too small, an unwanted voltage drop can occur.</a:t>
            </a:r>
          </a:p>
          <a:p>
            <a:r>
              <a:rPr lang="en-US" sz="2200" dirty="0"/>
              <a:t>The two factors that should always be considered when determining the correct size of a wire are the total circuit amperage and the total length of wire (resistance increases with length) used in each circuit, including the ground.</a:t>
            </a:r>
          </a:p>
        </p:txBody>
      </p:sp>
    </p:spTree>
    <p:extLst>
      <p:ext uri="{BB962C8B-B14F-4D97-AF65-F5344CB8AC3E}">
        <p14:creationId xmlns:p14="http://schemas.microsoft.com/office/powerpoint/2010/main" val="2033817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Connector and Wire Repairs (4 of 4)</a:t>
            </a:r>
          </a:p>
        </p:txBody>
      </p:sp>
      <p:sp>
        <p:nvSpPr>
          <p:cNvPr id="5" name="Text Placeholder 4">
            <a:extLst>
              <a:ext uri="{FF2B5EF4-FFF2-40B4-BE49-F238E27FC236}">
                <a16:creationId xmlns:a16="http://schemas.microsoft.com/office/drawing/2014/main" id="{A0E65DA6-F466-01DB-4942-027CD2FD0C25}"/>
              </a:ext>
            </a:extLst>
          </p:cNvPr>
          <p:cNvSpPr>
            <a:spLocks noGrp="1"/>
          </p:cNvSpPr>
          <p:nvPr>
            <p:ph type="body" idx="1"/>
          </p:nvPr>
        </p:nvSpPr>
        <p:spPr/>
        <p:txBody>
          <a:bodyPr/>
          <a:lstStyle/>
          <a:p>
            <a:r>
              <a:rPr lang="en-US" sz="1800" dirty="0"/>
              <a:t>When a section of a wire needs to be replaced, cut the damaged end of the wire from the main wire.</a:t>
            </a:r>
          </a:p>
          <a:p>
            <a:r>
              <a:rPr lang="en-US" sz="1800" dirty="0"/>
              <a:t>Match the dimensions of the new wire to the old one.</a:t>
            </a:r>
          </a:p>
          <a:p>
            <a:r>
              <a:rPr lang="en-US" sz="1800" dirty="0"/>
              <a:t>Measure the required length of the replacement wire; make sure it is slightly longer than the section that was removed. Then connect the two wires together.</a:t>
            </a:r>
          </a:p>
          <a:p>
            <a:r>
              <a:rPr lang="en-US" sz="1800" dirty="0"/>
              <a:t>There are several ways of connecting the original wire to a replacement wire.</a:t>
            </a:r>
          </a:p>
          <a:p>
            <a:r>
              <a:rPr lang="en-US" sz="1800" dirty="0"/>
              <a:t>Butt connectors can provide a good joint between the wires. However, the preferred way to connect wires or to install a connector is by soldering.</a:t>
            </a:r>
          </a:p>
          <a:p>
            <a:r>
              <a:rPr lang="en-US" sz="1800" dirty="0"/>
              <a:t>Soldering joins two pieces of metal together by melting a lead and tin alloy and allowing it to flow into the joint. A soldering iron or gun is used to heat the solder.</a:t>
            </a:r>
          </a:p>
          <a:p>
            <a:r>
              <a:rPr lang="en-US" sz="1800" dirty="0"/>
              <a:t>Tightly wrap the tape around the wire. As the tape is being wrapped, about one half of the previous wrap should be covered by the tape as it completes one turn around the wire.</a:t>
            </a:r>
          </a:p>
          <a:p>
            <a:r>
              <a:rPr lang="en-US" sz="1800" dirty="0"/>
              <a:t>When using heat shrink tubing, make sure the tubing is slightly larger than the diameter of the splice. Use a heat gun and heat the tubing until it shrinks tightly around the splice.</a:t>
            </a:r>
          </a:p>
        </p:txBody>
      </p:sp>
    </p:spTree>
    <p:extLst>
      <p:ext uri="{BB962C8B-B14F-4D97-AF65-F5344CB8AC3E}">
        <p14:creationId xmlns:p14="http://schemas.microsoft.com/office/powerpoint/2010/main" val="31170827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31C44E-3B97-F525-E364-BC7431E5E27B}"/>
              </a:ext>
            </a:extLst>
          </p:cNvPr>
          <p:cNvSpPr>
            <a:spLocks noGrp="1"/>
          </p:cNvSpPr>
          <p:nvPr>
            <p:ph type="title"/>
          </p:nvPr>
        </p:nvSpPr>
        <p:spPr/>
        <p:txBody>
          <a:bodyPr/>
          <a:lstStyle/>
          <a:p>
            <a:r>
              <a:rPr lang="en-US"/>
              <a:t>Knowledge Check (2 of 2) </a:t>
            </a:r>
            <a:endParaRPr lang="en-US" dirty="0"/>
          </a:p>
        </p:txBody>
      </p:sp>
      <p:sp>
        <p:nvSpPr>
          <p:cNvPr id="6" name="Text Placeholder 5">
            <a:extLst>
              <a:ext uri="{FF2B5EF4-FFF2-40B4-BE49-F238E27FC236}">
                <a16:creationId xmlns:a16="http://schemas.microsoft.com/office/drawing/2014/main" id="{4E0E908F-9338-3BD8-CBD3-ABAB56A0C355}"/>
              </a:ext>
            </a:extLst>
          </p:cNvPr>
          <p:cNvSpPr>
            <a:spLocks noGrp="1"/>
          </p:cNvSpPr>
          <p:nvPr>
            <p:ph type="body" idx="1"/>
          </p:nvPr>
        </p:nvSpPr>
        <p:spPr/>
        <p:txBody>
          <a:bodyPr/>
          <a:lstStyle/>
          <a:p>
            <a:r>
              <a:rPr lang="en-US" dirty="0"/>
              <a:t>Describe two ways of connecting the original wire to a replacement wire, and two ways to make the connection water tight and insulated.</a:t>
            </a:r>
          </a:p>
        </p:txBody>
      </p:sp>
    </p:spTree>
    <p:extLst>
      <p:ext uri="{BB962C8B-B14F-4D97-AF65-F5344CB8AC3E}">
        <p14:creationId xmlns:p14="http://schemas.microsoft.com/office/powerpoint/2010/main" val="34690626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D001C1-EBD5-6C13-614A-BA00E7DE0A60}"/>
              </a:ext>
            </a:extLst>
          </p:cNvPr>
          <p:cNvSpPr>
            <a:spLocks noGrp="1"/>
          </p:cNvSpPr>
          <p:nvPr>
            <p:ph type="title"/>
          </p:nvPr>
        </p:nvSpPr>
        <p:spPr/>
        <p:txBody>
          <a:bodyPr/>
          <a:lstStyle/>
          <a:p>
            <a:r>
              <a:rPr lang="en-US" dirty="0"/>
              <a:t>Knowledge Check </a:t>
            </a:r>
            <a:r>
              <a:rPr lang="en-US"/>
              <a:t>Answer (2 of 2)</a:t>
            </a:r>
            <a:endParaRPr lang="en-US" dirty="0"/>
          </a:p>
        </p:txBody>
      </p:sp>
      <p:sp>
        <p:nvSpPr>
          <p:cNvPr id="6" name="Text Placeholder 5">
            <a:extLst>
              <a:ext uri="{FF2B5EF4-FFF2-40B4-BE49-F238E27FC236}">
                <a16:creationId xmlns:a16="http://schemas.microsoft.com/office/drawing/2014/main" id="{F63861E9-7264-90A0-2FF4-B5FC13367222}"/>
              </a:ext>
            </a:extLst>
          </p:cNvPr>
          <p:cNvSpPr>
            <a:spLocks noGrp="1"/>
          </p:cNvSpPr>
          <p:nvPr>
            <p:ph type="body" idx="1"/>
          </p:nvPr>
        </p:nvSpPr>
        <p:spPr/>
        <p:txBody>
          <a:bodyPr/>
          <a:lstStyle/>
          <a:p>
            <a:pPr>
              <a:spcAft>
                <a:spcPts val="600"/>
              </a:spcAft>
            </a:pPr>
            <a:r>
              <a:rPr lang="en-US" dirty="0"/>
              <a:t>To make the connection: Butt connector, soldering.</a:t>
            </a:r>
          </a:p>
          <a:p>
            <a:pPr>
              <a:spcAft>
                <a:spcPts val="600"/>
              </a:spcAft>
            </a:pPr>
            <a:r>
              <a:rPr lang="en-US" dirty="0"/>
              <a:t>To seal the connection: Tape, heat shrink tubing.</a:t>
            </a:r>
          </a:p>
        </p:txBody>
      </p:sp>
    </p:spTree>
    <p:extLst>
      <p:ext uri="{BB962C8B-B14F-4D97-AF65-F5344CB8AC3E}">
        <p14:creationId xmlns:p14="http://schemas.microsoft.com/office/powerpoint/2010/main" val="20209249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59E47-1FD2-6FBA-BEE4-F78F2A6899C4}"/>
              </a:ext>
            </a:extLst>
          </p:cNvPr>
          <p:cNvSpPr>
            <a:spLocks noGrp="1"/>
          </p:cNvSpPr>
          <p:nvPr>
            <p:ph type="title"/>
          </p:nvPr>
        </p:nvSpPr>
        <p:spPr/>
        <p:txBody>
          <a:bodyPr/>
          <a:lstStyle/>
          <a:p>
            <a:r>
              <a:rPr lang="en-US" dirty="0"/>
              <a:t>Chapter Reflection</a:t>
            </a:r>
          </a:p>
        </p:txBody>
      </p:sp>
      <p:sp>
        <p:nvSpPr>
          <p:cNvPr id="5" name="Text Placeholder 4">
            <a:extLst>
              <a:ext uri="{FF2B5EF4-FFF2-40B4-BE49-F238E27FC236}">
                <a16:creationId xmlns:a16="http://schemas.microsoft.com/office/drawing/2014/main" id="{D7C577F2-189C-F3DA-67AD-F7B491E33E25}"/>
              </a:ext>
            </a:extLst>
          </p:cNvPr>
          <p:cNvSpPr>
            <a:spLocks noGrp="1"/>
          </p:cNvSpPr>
          <p:nvPr>
            <p:ph type="body" idx="1"/>
          </p:nvPr>
        </p:nvSpPr>
        <p:spPr/>
        <p:txBody>
          <a:bodyPr/>
          <a:lstStyle/>
          <a:p>
            <a:pPr marL="0" indent="0">
              <a:spcAft>
                <a:spcPts val="600"/>
              </a:spcAft>
              <a:buNone/>
            </a:pPr>
            <a:r>
              <a:rPr lang="en-US" dirty="0"/>
              <a:t>Please take a moment to consider what you have learned. Then respond to the following questions in one or two paragraphs. Use 150–200 words in your reflection.</a:t>
            </a:r>
          </a:p>
          <a:p>
            <a:pPr>
              <a:spcAft>
                <a:spcPts val="600"/>
              </a:spcAft>
            </a:pPr>
            <a:r>
              <a:rPr lang="en-US" dirty="0"/>
              <a:t>Did you learn anything new about electrical system diagnosis? What about electrical system service? How can you reinforce your newly learned information?</a:t>
            </a:r>
          </a:p>
          <a:p>
            <a:pPr>
              <a:spcAft>
                <a:spcPts val="600"/>
              </a:spcAft>
            </a:pPr>
            <a:r>
              <a:rPr lang="en-US" dirty="0"/>
              <a:t>Considering all you have learned, do you feel you are able to apply what you have learned to performing electrical system diagnosis and service? Is there anything you should study more to be better prepared?</a:t>
            </a:r>
          </a:p>
        </p:txBody>
      </p:sp>
    </p:spTree>
    <p:extLst>
      <p:ext uri="{BB962C8B-B14F-4D97-AF65-F5344CB8AC3E}">
        <p14:creationId xmlns:p14="http://schemas.microsoft.com/office/powerpoint/2010/main" val="14206573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4916</TotalTime>
  <Words>5080</Words>
  <Application>Microsoft Office PowerPoint</Application>
  <PresentationFormat>Widescreen</PresentationFormat>
  <Paragraphs>285</Paragraphs>
  <Slides>44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Work Sans</vt:lpstr>
      <vt:lpstr>Arial</vt:lpstr>
      <vt:lpstr>Calibri</vt:lpstr>
      <vt:lpstr>Optimized Template Master</vt:lpstr>
      <vt:lpstr>Automotive Technology: A Systems Approach, 8e</vt:lpstr>
      <vt:lpstr>Chapter Objectives (1 of 2)</vt:lpstr>
      <vt:lpstr>Chapter Objectives (2 of 2)</vt:lpstr>
      <vt:lpstr>Electrical Problems (1 of 3)</vt:lpstr>
      <vt:lpstr>Electrical Problems (2 of 3)</vt:lpstr>
      <vt:lpstr>Electrical Problems (3 of 3)</vt:lpstr>
      <vt:lpstr>Electrical Wiring Diagrams</vt:lpstr>
      <vt:lpstr>Connector and Terminals</vt:lpstr>
      <vt:lpstr>Electrical Testing Tools (1 of 3)</vt:lpstr>
      <vt:lpstr>Electrical Testing Tools (2 of 3)</vt:lpstr>
      <vt:lpstr>Electrical Testing Tools (3 of 3)</vt:lpstr>
      <vt:lpstr>Using Multimeters (1 of 3)</vt:lpstr>
      <vt:lpstr>Using Multimeters (2 of 3)</vt:lpstr>
      <vt:lpstr>Using Multimeters (3 of 3)</vt:lpstr>
      <vt:lpstr>Measuring Voltage</vt:lpstr>
      <vt:lpstr>Measuring Current</vt:lpstr>
      <vt:lpstr>Measuring Resistance</vt:lpstr>
      <vt:lpstr>Discussion</vt:lpstr>
      <vt:lpstr>MIN/MAX Readings</vt:lpstr>
      <vt:lpstr>Other Measurements</vt:lpstr>
      <vt:lpstr>Knowledge Check (1 of 2)</vt:lpstr>
      <vt:lpstr>Knowledge Check Answer (1 of 2)</vt:lpstr>
      <vt:lpstr>Using Lab Scopes (1 of 4)</vt:lpstr>
      <vt:lpstr>Using Lab Scopes (2 of 4)</vt:lpstr>
      <vt:lpstr>Using Lab Scopes (3 of 4)</vt:lpstr>
      <vt:lpstr>Using Lab Scopes (4 of 4)</vt:lpstr>
      <vt:lpstr>Testing Basic Electrical Components (1 of 4)</vt:lpstr>
      <vt:lpstr>Testing Basic Electrical Components (2 of 4)</vt:lpstr>
      <vt:lpstr>Testing Basic Electrical Components (3 of 4)</vt:lpstr>
      <vt:lpstr>Testing Basic Electrical Components (4 of 4)</vt:lpstr>
      <vt:lpstr>Wiring</vt:lpstr>
      <vt:lpstr>Troubleshooting Circuits</vt:lpstr>
      <vt:lpstr>Using Wiring Diagrams</vt:lpstr>
      <vt:lpstr>Testing For Common Problems (1 of 4)</vt:lpstr>
      <vt:lpstr>Testing For Common Problems (2 of 4)</vt:lpstr>
      <vt:lpstr>Testing For Common Problems (3 of 4)</vt:lpstr>
      <vt:lpstr>Testing For Common Problems (4 of 4)</vt:lpstr>
      <vt:lpstr>Connector and Wire Repairs (1 of 4)</vt:lpstr>
      <vt:lpstr>Connector and Wire Repairs (2 of 4)</vt:lpstr>
      <vt:lpstr>Connector and Wire Repairs (3 of 4)</vt:lpstr>
      <vt:lpstr>Connector and Wire Repairs (4 of 4)</vt:lpstr>
      <vt:lpstr>Knowledge Check (2 of 2) </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DiCaterino, Kara</cp:lastModifiedBy>
  <cp:revision>221</cp:revision>
  <dcterms:created xsi:type="dcterms:W3CDTF">2021-12-10T16:21:02Z</dcterms:created>
  <dcterms:modified xsi:type="dcterms:W3CDTF">2024-10-23T20:25:30Z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