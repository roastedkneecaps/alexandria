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350" r:id="rId2"/>
    <p:sldId id="257" r:id="rId3"/>
    <p:sldId id="461" r:id="rId4"/>
    <p:sldId id="462" r:id="rId5"/>
    <p:sldId id="490" r:id="rId6"/>
    <p:sldId id="491" r:id="rId7"/>
    <p:sldId id="492" r:id="rId8"/>
    <p:sldId id="493" r:id="rId9"/>
    <p:sldId id="494" r:id="rId10"/>
    <p:sldId id="495" r:id="rId11"/>
    <p:sldId id="496" r:id="rId12"/>
    <p:sldId id="497" r:id="rId13"/>
    <p:sldId id="498" r:id="rId14"/>
    <p:sldId id="527" r:id="rId15"/>
    <p:sldId id="528" r:id="rId16"/>
    <p:sldId id="499" r:id="rId17"/>
    <p:sldId id="500" r:id="rId18"/>
    <p:sldId id="501" r:id="rId19"/>
    <p:sldId id="502" r:id="rId20"/>
    <p:sldId id="503" r:id="rId21"/>
    <p:sldId id="504" r:id="rId22"/>
    <p:sldId id="505" r:id="rId23"/>
    <p:sldId id="506" r:id="rId24"/>
    <p:sldId id="507" r:id="rId25"/>
    <p:sldId id="508" r:id="rId26"/>
    <p:sldId id="509" r:id="rId27"/>
    <p:sldId id="510" r:id="rId28"/>
    <p:sldId id="511" r:id="rId29"/>
    <p:sldId id="529" r:id="rId30"/>
    <p:sldId id="530" r:id="rId31"/>
    <p:sldId id="512" r:id="rId32"/>
    <p:sldId id="513" r:id="rId33"/>
    <p:sldId id="514" r:id="rId34"/>
    <p:sldId id="515" r:id="rId35"/>
    <p:sldId id="516" r:id="rId36"/>
    <p:sldId id="517" r:id="rId37"/>
    <p:sldId id="518" r:id="rId38"/>
    <p:sldId id="519" r:id="rId39"/>
    <p:sldId id="520" r:id="rId40"/>
    <p:sldId id="521" r:id="rId41"/>
    <p:sldId id="522" r:id="rId42"/>
    <p:sldId id="523" r:id="rId43"/>
    <p:sldId id="524" r:id="rId44"/>
    <p:sldId id="525" r:id="rId45"/>
    <p:sldId id="526" r:id="rId46"/>
    <p:sldId id="276" r:id="rId47"/>
    <p:sldId id="301" r:id="rId48"/>
  </p:sldIdLst>
  <p:sldSz cx="12192000" cy="6858000"/>
  <p:notesSz cx="6858000" cy="9144000"/>
  <p:embeddedFontLst>
    <p:embeddedFont>
      <p:font typeface="Work Sans"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1" autoAdjust="0"/>
    <p:restoredTop sz="88611" autoAdjust="0"/>
  </p:normalViewPr>
  <p:slideViewPr>
    <p:cSldViewPr snapToGrid="0">
      <p:cViewPr varScale="1">
        <p:scale>
          <a:sx n="53" d="100"/>
          <a:sy n="53" d="100"/>
        </p:scale>
        <p:origin x="148" y="36"/>
      </p:cViewPr>
      <p:guideLst>
        <p:guide orient="horz" pos="2160"/>
        <p:guide pos="3840"/>
      </p:guideLst>
    </p:cSldViewPr>
  </p:slideViewPr>
  <p:outlineViewPr>
    <p:cViewPr>
      <p:scale>
        <a:sx n="33" d="100"/>
        <a:sy n="33" d="100"/>
      </p:scale>
      <p:origin x="0" y="-3780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4804429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3505438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6007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A60A484-5CC5-A7D5-97C6-967B78090C6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9E42484-BC50-F05A-AD1B-FB2BA529E20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7F5DE3B-54AB-B729-E53A-753924C21092}"/>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752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84D0DC5-0445-C401-84EC-AB7E1927EEE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2634916-08D3-6C06-EA96-D4579317CFF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F85E50B-B85D-24ED-98D3-07E99A42869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5554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1E401F0-1663-224E-FDBC-F9333811083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51049CD-9348-B416-02D7-6AA805200E5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4C7D76F-BFA0-1D12-8B8E-A61DCDDDEA6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9497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587FCEF-A3AD-F262-D165-FE40AF5A204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8883FAE-585A-0608-DD70-5ED20B71C46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AF19F34-A1DA-6C2C-956B-D9CA1AA4245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9169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5D2A9A9-5621-AFC7-3C05-3B07E292869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C813248-3FC8-208D-3904-D11F61BB2D7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7D53900-1BE0-24E8-CA55-C79926FEEB8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4859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34D1974-8D36-0DB0-09E2-B487F2E8E49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DF58FD2-5D65-C423-4C1A-179C0B4578F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97BD965-DA37-99F3-5636-34F90F09C59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4704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6143251-B127-1550-657E-A19E4C701CA5}"/>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FD6923B-CF41-81FD-B4D3-C29208C873AF}"/>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BB854D68-4568-A1D4-D941-4CB0B398C35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6227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12045DD-7B50-8273-BD0A-CD72ECE42C7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B10622F-9D14-A149-B665-9095840E04A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11B1064-1C65-B29A-A117-DCB896C12C9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2642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EEE12E6-06EF-288F-43BC-FAFCC00EF70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1D1476D-C692-C84C-A400-97675CD750F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E2BFFCC2-F7FB-5B13-13B6-BE3F04C3DE9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5484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dirty="0"/>
          </a:p>
        </p:txBody>
      </p:sp>
    </p:spTree>
    <p:extLst>
      <p:ext uri="{BB962C8B-B14F-4D97-AF65-F5344CB8AC3E}">
        <p14:creationId xmlns:p14="http://schemas.microsoft.com/office/powerpoint/2010/main" val="4229672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dirty="0"/>
          </a:p>
        </p:txBody>
      </p:sp>
    </p:spTree>
    <p:extLst>
      <p:ext uri="{BB962C8B-B14F-4D97-AF65-F5344CB8AC3E}">
        <p14:creationId xmlns:p14="http://schemas.microsoft.com/office/powerpoint/2010/main" val="2770638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93AC2C1-2BE1-6CCA-68B3-D696453564C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35D4A5E-235D-9DAE-751F-CB8AA7BFC11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2D8358BE-618C-7351-E091-8DB7FBE8792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5869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C128F6F-EC00-66AB-2BC3-2B2C6C4B8C47}"/>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5D01822-21A2-A969-4753-1EF2C66A3043}"/>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C64D642-6177-8480-FC0D-A81A38CA8B3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8324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AC6040D-718D-D0E1-EF37-BCF871E35AD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D24D0FC-962E-FDDD-D8F2-F5344BC7B59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2206F418-A8E6-DA47-7CBB-FF4FDFBA28F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7647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D18CCF5-3286-61F1-058F-115CAF7765D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5723C92-724E-C114-DAD3-8EA5A792B91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0176D89-57D3-DC45-E6C6-20D0ED82FD6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8352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E6BB241-EB03-0520-FD9F-7E5821483E5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BB0FBC4-FDF4-68DD-6B68-C4FE2955530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CCAF5EC-1129-147E-9A18-4DCCBC3FCBF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1675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AAF882F-2121-02A4-60FA-72DC844D580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DA8A115B-8AF3-9921-1347-31EDEBCCDAD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FCAAB68-F0F9-BCEF-9C59-9B7C200C408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2176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845DCB5-EBFB-7B76-1FBD-57D0B65C59F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F17B500A-C568-C92E-4299-59B777024DB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521651B-0398-D435-C55D-4525945F137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64754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0AD2F3D-468C-5216-BB4B-46D5BFAD4785}"/>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2FE1B253-B35D-EE1C-B2C5-0CC34D5CB38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2B79CCD-EC03-D8C6-1838-9FB0F8D2049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17052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A9C4685-B37F-106E-7867-A5C24B12639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1F6F06C3-EE03-26AE-B241-2CB9F8CF14D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000392B-4FAE-C707-7FF5-B416DA1AFCB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0633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30585EA-9BC1-B7B6-A139-E0B87CDBFC5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34EFBA3-BEAB-3B23-DF74-DD71E942D033}"/>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B7B5D4B-E6C8-F492-34AD-FB65A5EA8708}"/>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9581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8826EDF-5C17-906E-9A9B-BAA83F641207}"/>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D0D630D-693F-3925-1350-E025AC4E769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5875CBF-C81A-302B-B4DE-237733F2C5D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7718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33D7E4A-53B6-32F0-C4CD-7E558FF448F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A432EE2-28F3-6C71-6842-DDA48EF8F25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A381189F-60BC-A641-9177-095C327DEEE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15370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30D5C01-1A0C-2FB4-C679-4D5FC3AD1D4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9FE094D-D4DF-8B64-0DFC-C94BA95B60F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4988DC1-B995-A649-280E-47EA34E1181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6216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dirty="0"/>
          </a:p>
        </p:txBody>
      </p:sp>
    </p:spTree>
    <p:extLst>
      <p:ext uri="{BB962C8B-B14F-4D97-AF65-F5344CB8AC3E}">
        <p14:creationId xmlns:p14="http://schemas.microsoft.com/office/powerpoint/2010/main" val="5497559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dirty="0"/>
          </a:p>
        </p:txBody>
      </p:sp>
    </p:spTree>
    <p:extLst>
      <p:ext uri="{BB962C8B-B14F-4D97-AF65-F5344CB8AC3E}">
        <p14:creationId xmlns:p14="http://schemas.microsoft.com/office/powerpoint/2010/main" val="21004337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3A0147A-EB3A-F6F1-86C4-02C03894ED9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8FF53CF-D88B-5A27-B167-977B805849D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C597CC1C-66F1-49C1-2748-FC70DE14F98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3039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88CFBD3-2E7F-FBFD-33E7-497E076FFFA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E8EF6074-025F-27DB-584C-4065AA6F934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21D536AF-936D-DE2C-E0F9-BADD29356831}"/>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81683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5879D08-ED39-51A6-6512-FA3EC60B40E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2851ABC1-F96A-8ED2-113A-CCFB33119F3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2156530B-D5A6-3753-2F76-CF8989E6DEC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23502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9F1A087-84BC-3945-643D-9AE65A49916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38810E3-2B68-B5E0-C1C7-93F160237AA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7BCC533-3761-AA5F-2400-5CDE27D0E12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55193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A076418-51EE-B510-735B-66112AE66C27}"/>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1D605EA-590A-D9F8-3D40-97A336153B0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B825DEF8-E567-3220-847B-734D4E0AB00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94161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98EFD7A-80BC-39CC-CC18-34DF105DB7C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ACDE7A8E-E641-73CD-12F8-3C9C2F9D5591}"/>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A8021CDB-8E9C-4C46-B9ED-EF9F0804F10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4464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2A043BC-0F0F-BA3C-845A-DBB1E9EE1C5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4B559D3-350A-AF8C-CE5B-74F8E0E8472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48FDF05-D298-F071-044C-FF1AC8E8796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32789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A98C8D2-0C07-5274-B835-B504ABCE1359}"/>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AD8B2351-3655-824A-7D2D-72588030877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CFB1889-C1D0-787C-B114-6F9D1B5B78E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19935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E1DBDDC-7E8E-ADE2-42A1-BAAB1BC8C707}"/>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C7DAE68-BD33-D72F-8421-46EC24D33BB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992D0D64-0709-CB8F-A685-4A7554FFB4E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724759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2770A24-5B87-6811-1B49-312481737D0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E23BEC0-7D19-DEAC-6D86-3891EAD676A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29C01E80-C8AE-1A4A-64CB-689BEA693F6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150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4F20842-93FB-5A05-3B3F-C6550920C55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A955D90B-D6F5-F07D-D231-E51058E295EF}"/>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457DDEC-7281-971F-3273-3C9C2D44D82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6651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F804B3F-7A00-6027-4B41-862C1ABC925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C596327-97A3-1D75-FC8A-97004EACA90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326FA67-1A56-1A2D-AA5D-0ACB58145E3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0005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C6B9F95-7FA7-810F-E980-7A235BBFF45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FD466ED4-44D8-D4A0-34A3-02D449CE89D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59B6AA4E-1607-7705-EE13-64234A5257E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64366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452915C-6244-1655-93F1-C32F4E373EC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060200B-7C89-6ED7-07CB-D9BABDBFF62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679A9CA-7A5C-80F2-0F92-498B1BB3C88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97114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6FCC5A5-8A2E-DD53-3419-7692A5DBE9C4}"/>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19F710E3-A009-5306-8E6C-4B7993B73A5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BC31D1D-3AED-E98F-E113-77EF1D82A75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61847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dirty="0"/>
          </a:p>
        </p:txBody>
      </p:sp>
    </p:spTree>
    <p:extLst>
      <p:ext uri="{BB962C8B-B14F-4D97-AF65-F5344CB8AC3E}">
        <p14:creationId xmlns:p14="http://schemas.microsoft.com/office/powerpoint/2010/main" val="25030290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dirty="0"/>
          </a:p>
        </p:txBody>
      </p:sp>
    </p:spTree>
    <p:extLst>
      <p:ext uri="{BB962C8B-B14F-4D97-AF65-F5344CB8AC3E}">
        <p14:creationId xmlns:p14="http://schemas.microsoft.com/office/powerpoint/2010/main" val="1440521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57093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8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06474"/>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Clr>
                <a:schemeClr val="tx1"/>
              </a:buClr>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Clr>
                <a:schemeClr val="tx1"/>
              </a:buClr>
              <a:buSzPct val="10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extLst>
      <p:ext uri="{BB962C8B-B14F-4D97-AF65-F5344CB8AC3E}">
        <p14:creationId xmlns:p14="http://schemas.microsoft.com/office/powerpoint/2010/main" val="4044916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8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06475"/>
            <a:ext cx="11241915" cy="192252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Clr>
                <a:schemeClr val="tx1"/>
              </a:buClr>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Clr>
                <a:schemeClr val="tx1"/>
              </a:buClr>
              <a:buSzPct val="10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824AC44C-D506-F7F4-950E-3758647CDB33}"/>
              </a:ext>
            </a:extLst>
          </p:cNvPr>
          <p:cNvSpPr>
            <a:spLocks noGrp="1"/>
          </p:cNvSpPr>
          <p:nvPr>
            <p:ph sz="quarter" idx="10"/>
          </p:nvPr>
        </p:nvSpPr>
        <p:spPr>
          <a:xfrm>
            <a:off x="600075" y="38385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0BBD8520-F596-77E6-5771-F38BE3861622}"/>
              </a:ext>
            </a:extLst>
          </p:cNvPr>
          <p:cNvSpPr>
            <a:spLocks noGrp="1"/>
          </p:cNvSpPr>
          <p:nvPr>
            <p:ph type="pic" sz="quarter" idx="11"/>
          </p:nvPr>
        </p:nvSpPr>
        <p:spPr>
          <a:xfrm>
            <a:off x="2419350" y="3838575"/>
            <a:ext cx="914400" cy="914400"/>
          </a:xfrm>
        </p:spPr>
        <p:txBody>
          <a:bodyPr/>
          <a:lstStyle/>
          <a:p>
            <a:endParaRPr lang="en-IN"/>
          </a:p>
        </p:txBody>
      </p:sp>
      <p:sp>
        <p:nvSpPr>
          <p:cNvPr id="7" name="Picture Placeholder 6">
            <a:extLst>
              <a:ext uri="{FF2B5EF4-FFF2-40B4-BE49-F238E27FC236}">
                <a16:creationId xmlns:a16="http://schemas.microsoft.com/office/drawing/2014/main" id="{00E807A2-B600-D517-A537-1A6D9B3755AA}"/>
              </a:ext>
            </a:extLst>
          </p:cNvPr>
          <p:cNvSpPr>
            <a:spLocks noGrp="1"/>
          </p:cNvSpPr>
          <p:nvPr>
            <p:ph type="pic" sz="quarter" idx="12"/>
          </p:nvPr>
        </p:nvSpPr>
        <p:spPr>
          <a:xfrm>
            <a:off x="4067175" y="3838575"/>
            <a:ext cx="914400" cy="914400"/>
          </a:xfrm>
        </p:spPr>
        <p:txBody>
          <a:bodyPr/>
          <a:lstStyle/>
          <a:p>
            <a:endParaRPr lang="en-IN"/>
          </a:p>
        </p:txBody>
      </p:sp>
      <p:sp>
        <p:nvSpPr>
          <p:cNvPr id="11" name="Table Placeholder 10">
            <a:extLst>
              <a:ext uri="{FF2B5EF4-FFF2-40B4-BE49-F238E27FC236}">
                <a16:creationId xmlns:a16="http://schemas.microsoft.com/office/drawing/2014/main" id="{E7DE0C2A-D136-8EE4-16A8-6C5CBE81DFE9}"/>
              </a:ext>
            </a:extLst>
          </p:cNvPr>
          <p:cNvSpPr>
            <a:spLocks noGrp="1"/>
          </p:cNvSpPr>
          <p:nvPr>
            <p:ph type="tbl" sz="quarter" idx="13"/>
          </p:nvPr>
        </p:nvSpPr>
        <p:spPr>
          <a:xfrm>
            <a:off x="5715000" y="3838575"/>
            <a:ext cx="914400" cy="914400"/>
          </a:xfrm>
        </p:spPr>
        <p:txBody>
          <a:bodyPr/>
          <a:lstStyle/>
          <a:p>
            <a:endParaRPr lang="en-IN"/>
          </a:p>
        </p:txBody>
      </p:sp>
    </p:spTree>
    <p:extLst>
      <p:ext uri="{BB962C8B-B14F-4D97-AF65-F5344CB8AC3E}">
        <p14:creationId xmlns:p14="http://schemas.microsoft.com/office/powerpoint/2010/main" val="2175769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9">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7B2DAFB1-E534-E3C1-ED16-C6F9EFDDDEF2}"/>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35: Hybrid Vehicles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400" dirty="0"/>
              <a:t>35.01 Explain the differences between the different platforms for hybrid vehicles.</a:t>
            </a:r>
          </a:p>
          <a:p>
            <a:pPr marL="357188" marR="0" lvl="0" indent="-357188" algn="l" rtl="0">
              <a:buChar char="•"/>
            </a:pPr>
            <a:r>
              <a:rPr lang="en-US" sz="2400" dirty="0"/>
              <a:t>35.02 Describe the components used in hybrid propulsion systems.</a:t>
            </a:r>
          </a:p>
          <a:p>
            <a:pPr marL="357188" marR="0" lvl="0" indent="-357188" algn="l" rtl="0">
              <a:buChar char="•"/>
            </a:pPr>
            <a:r>
              <a:rPr lang="en-US" sz="2400" dirty="0"/>
              <a:t>35.03 Explain hybrid vehicle HVAC operation.</a:t>
            </a:r>
          </a:p>
          <a:p>
            <a:pPr marL="357188" marR="0" lvl="0" indent="-357188" algn="l" rtl="0">
              <a:buChar char="•"/>
            </a:pPr>
            <a:r>
              <a:rPr lang="en-US" sz="2400" dirty="0"/>
              <a:t>35.04 Describe the types of hybrids available from various manufacturers.</a:t>
            </a:r>
          </a:p>
          <a:p>
            <a:pPr marL="357188" marR="0" lvl="0" indent="-357188" algn="l" rtl="0">
              <a:buChar char="•"/>
            </a:pPr>
            <a:r>
              <a:rPr lang="en-US" sz="2400" dirty="0"/>
              <a:t>35.05 Describe hybrid four-wheel drive systems.</a:t>
            </a:r>
          </a:p>
          <a:p>
            <a:pPr marL="357188" marR="0" lvl="0" indent="-357188" algn="l" rtl="0">
              <a:buChar char="•"/>
            </a:pPr>
            <a:r>
              <a:rPr lang="en-US" sz="2400" dirty="0"/>
              <a:t>35.06 Describe what preventative maintenance procedures are unique to a hybrid vehicle.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Types of Hybrid Vehicles</a:t>
            </a:r>
            <a:endParaRPr sz="3600" dirty="0"/>
          </a:p>
        </p:txBody>
      </p:sp>
      <p:sp>
        <p:nvSpPr>
          <p:cNvPr id="145" name="Google Shape;145;p4"/>
          <p:cNvSpPr txBox="1">
            <a:spLocks noGrp="1"/>
          </p:cNvSpPr>
          <p:nvPr>
            <p:ph type="body" idx="1"/>
          </p:nvPr>
        </p:nvSpPr>
        <p:spPr>
          <a:xfrm>
            <a:off x="476843" y="1506474"/>
            <a:ext cx="6496834" cy="4552803"/>
          </a:xfrm>
          <a:prstGeom prst="rect">
            <a:avLst/>
          </a:prstGeom>
          <a:noFill/>
          <a:ln>
            <a:noFill/>
          </a:ln>
        </p:spPr>
        <p:txBody>
          <a:bodyPr spcFirstLastPara="1" wrap="square" lIns="91425" tIns="45700" rIns="91425" bIns="45700" anchor="t" anchorCtr="0">
            <a:noAutofit/>
          </a:bodyPr>
          <a:lstStyle/>
          <a:p>
            <a:pPr marL="0" marR="0" lvl="0" indent="0" algn="l" rtl="0">
              <a:spcAft>
                <a:spcPts val="0"/>
              </a:spcAft>
              <a:buSzPts val="2800"/>
              <a:buNone/>
            </a:pPr>
            <a:r>
              <a:rPr lang="en-US" sz="1800" b="1" dirty="0">
                <a:solidFill>
                  <a:schemeClr val="tx1"/>
                </a:solidFill>
              </a:rPr>
              <a:t>35.01 Explain the differences between the different platforms for hybrid vehicles.</a:t>
            </a:r>
          </a:p>
          <a:p>
            <a:pPr marL="285750" indent="-285750">
              <a:spcAft>
                <a:spcPts val="0"/>
              </a:spcAft>
            </a:pPr>
            <a:r>
              <a:rPr lang="en-US" sz="1800" dirty="0">
                <a:solidFill>
                  <a:schemeClr val="tx1"/>
                </a:solidFill>
              </a:rPr>
              <a:t>Often, hybrids are categorized as parallel, series, or series-parallel designs.</a:t>
            </a:r>
          </a:p>
          <a:p>
            <a:pPr marL="285750" indent="-285750">
              <a:spcAft>
                <a:spcPts val="0"/>
              </a:spcAft>
            </a:pPr>
            <a:r>
              <a:rPr lang="en-US" sz="1800" dirty="0">
                <a:solidFill>
                  <a:schemeClr val="tx1"/>
                </a:solidFill>
              </a:rPr>
              <a:t>Few modern hybrid vehicles are parallel types, which rely on power from an electric motor and the engine.</a:t>
            </a:r>
          </a:p>
          <a:p>
            <a:pPr marL="285750" indent="-285750">
              <a:spcAft>
                <a:spcPts val="0"/>
              </a:spcAft>
            </a:pPr>
            <a:r>
              <a:rPr lang="en-US" sz="1800" dirty="0">
                <a:solidFill>
                  <a:schemeClr val="tx1"/>
                </a:solidFill>
              </a:rPr>
              <a:t>When necessary, the motor and engine work together (in parallel) to drive the vehicle.</a:t>
            </a:r>
          </a:p>
          <a:p>
            <a:pPr marL="285750" indent="-285750">
              <a:spcAft>
                <a:spcPts val="0"/>
              </a:spcAft>
            </a:pPr>
            <a:r>
              <a:rPr lang="en-US" sz="1800" dirty="0">
                <a:solidFill>
                  <a:schemeClr val="tx1"/>
                </a:solidFill>
              </a:rPr>
              <a:t>In a series hybrid, the engine never directly powers the vehicle.</a:t>
            </a:r>
          </a:p>
          <a:p>
            <a:pPr marL="285750" indent="-285750">
              <a:spcAft>
                <a:spcPts val="0"/>
              </a:spcAft>
            </a:pPr>
            <a:r>
              <a:rPr lang="en-US" sz="1800" dirty="0">
                <a:solidFill>
                  <a:schemeClr val="tx1"/>
                </a:solidFill>
              </a:rPr>
              <a:t>An electric motor powers the vehicle.</a:t>
            </a:r>
          </a:p>
          <a:p>
            <a:pPr marL="285750" indent="-285750">
              <a:spcAft>
                <a:spcPts val="0"/>
              </a:spcAft>
            </a:pPr>
            <a:r>
              <a:rPr lang="en-US" sz="1800" dirty="0">
                <a:solidFill>
                  <a:schemeClr val="tx1"/>
                </a:solidFill>
              </a:rPr>
              <a:t>The gasoline or diesel engine drives a generator, and the generator either charges the batteries or directly powers the electric motor that drives the wheels.</a:t>
            </a:r>
          </a:p>
        </p:txBody>
      </p:sp>
      <p:pic>
        <p:nvPicPr>
          <p:cNvPr id="7" name="Picture Placeholder 6" descr="The basic layout for a parallel hybrid depicts the top view of a car and highlights the important components under the hood. The following are the components labeled: Fuel tank, Electrical storage, Combustion engine, and Electric motor/generator. All the components are in the same line.">
            <a:extLst>
              <a:ext uri="{FF2B5EF4-FFF2-40B4-BE49-F238E27FC236}">
                <a16:creationId xmlns:a16="http://schemas.microsoft.com/office/drawing/2014/main" id="{0912DD87-1B0E-6AC4-B79C-56BC49E1D2B1}"/>
              </a:ext>
            </a:extLst>
          </p:cNvPr>
          <p:cNvPicPr>
            <a:picLocks noGrp="1" noChangeAspect="1"/>
          </p:cNvPicPr>
          <p:nvPr>
            <p:ph type="pic" sz="quarter" idx="11"/>
          </p:nvPr>
        </p:nvPicPr>
        <p:blipFill>
          <a:blip r:embed="rId3"/>
          <a:srcRect l="6193" b="58793"/>
          <a:stretch/>
        </p:blipFill>
        <p:spPr>
          <a:xfrm>
            <a:off x="7193888" y="1681931"/>
            <a:ext cx="4775906" cy="2020868"/>
          </a:xfrm>
          <a:prstGeom prst="rect">
            <a:avLst/>
          </a:prstGeom>
        </p:spPr>
      </p:pic>
      <p:pic>
        <p:nvPicPr>
          <p:cNvPr id="8" name="Picture Placeholder 7" descr="The basic layout for a series hybrid depicts the top view of a car and highlights the important components under the hood. The following components are labeled: Fuel tank, Electrical storage, Combustion engine, Generator, and Electric motor/generator. Combustion engine, fuel tank, and generator are connected in series.">
            <a:extLst>
              <a:ext uri="{FF2B5EF4-FFF2-40B4-BE49-F238E27FC236}">
                <a16:creationId xmlns:a16="http://schemas.microsoft.com/office/drawing/2014/main" id="{EAF13052-15EA-3B88-B168-3AE95C6ACC6A}"/>
              </a:ext>
            </a:extLst>
          </p:cNvPr>
          <p:cNvPicPr>
            <a:picLocks noGrp="1" noChangeAspect="1"/>
          </p:cNvPicPr>
          <p:nvPr>
            <p:ph type="pic" sz="quarter" idx="12"/>
          </p:nvPr>
        </p:nvPicPr>
        <p:blipFill>
          <a:blip r:embed="rId3"/>
          <a:srcRect l="6393" t="50233" b="9369"/>
          <a:stretch/>
        </p:blipFill>
        <p:spPr>
          <a:xfrm>
            <a:off x="7305529" y="3853179"/>
            <a:ext cx="4625572" cy="1922941"/>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Other Hybrid Classifications</a:t>
            </a:r>
            <a:endParaRPr dirty="0"/>
          </a:p>
        </p:txBody>
      </p:sp>
      <p:sp>
        <p:nvSpPr>
          <p:cNvPr id="145" name="Google Shape;145;p4"/>
          <p:cNvSpPr txBox="1">
            <a:spLocks noGrp="1"/>
          </p:cNvSpPr>
          <p:nvPr>
            <p:ph type="body" idx="1"/>
          </p:nvPr>
        </p:nvSpPr>
        <p:spPr>
          <a:xfrm>
            <a:off x="475042" y="1531187"/>
            <a:ext cx="11241915" cy="4613339"/>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t>Hybrid configurations are further defined by the role of the electric motor.</a:t>
            </a:r>
          </a:p>
          <a:p>
            <a:pPr marL="358775" indent="-358775">
              <a:spcAft>
                <a:spcPts val="0"/>
              </a:spcAft>
            </a:pPr>
            <a:r>
              <a:rPr lang="en-US" sz="1800" dirty="0"/>
              <a:t>Although there are many variations in designs, hybrids can be classified as mild or full.</a:t>
            </a:r>
          </a:p>
          <a:p>
            <a:pPr marL="358775" indent="-358775">
              <a:spcAft>
                <a:spcPts val="0"/>
              </a:spcAft>
            </a:pPr>
            <a:r>
              <a:rPr lang="en-US" sz="1800" dirty="0"/>
              <a:t>Also, keep in mind, non-hybrid vehicles may be equipped with some of the features of a hybrid vehicle, such as stop-start and regenerative braking.</a:t>
            </a:r>
          </a:p>
          <a:p>
            <a:pPr marL="358775" indent="-358775">
              <a:spcAft>
                <a:spcPts val="0"/>
              </a:spcAft>
            </a:pPr>
            <a:r>
              <a:rPr lang="en-US" sz="1800" dirty="0"/>
              <a:t>These are designed to minimize fuel consumption.</a:t>
            </a:r>
          </a:p>
          <a:p>
            <a:pPr marL="358775" indent="-358775">
              <a:spcAft>
                <a:spcPts val="0"/>
              </a:spcAft>
            </a:pPr>
            <a:r>
              <a:rPr lang="en-US" sz="1800" dirty="0"/>
              <a:t>A mild hybrid has stop-start, regenerative braking, and electric motor assist available when the engine needs added power to overcome the load.</a:t>
            </a:r>
          </a:p>
          <a:p>
            <a:pPr marL="358775" indent="-358775">
              <a:spcAft>
                <a:spcPts val="0"/>
              </a:spcAft>
            </a:pPr>
            <a:r>
              <a:rPr lang="en-US" sz="1800" dirty="0"/>
              <a:t>An electric motor helps or assists the engine to overcome increased load, but the vehicle is never powered by only the electric motor.</a:t>
            </a:r>
          </a:p>
          <a:p>
            <a:pPr marL="358775" indent="-358775">
              <a:spcAft>
                <a:spcPts val="0"/>
              </a:spcAft>
            </a:pPr>
            <a:r>
              <a:rPr lang="en-US" sz="1800" dirty="0"/>
              <a:t>Mild hybrids include those vehicles that have a stop-start system, in which the engine turns off when it would otherwise be idle and then restarts instantly on demand.</a:t>
            </a:r>
          </a:p>
          <a:p>
            <a:pPr marL="358775" indent="-358775">
              <a:spcAft>
                <a:spcPts val="0"/>
              </a:spcAft>
            </a:pPr>
            <a:r>
              <a:rPr lang="en-US" sz="1800" dirty="0"/>
              <a:t>A </a:t>
            </a:r>
            <a:r>
              <a:rPr lang="en-US" sz="1800" b="1" dirty="0"/>
              <a:t>full hybrid </a:t>
            </a:r>
            <a:r>
              <a:rPr lang="en-US" sz="1800" dirty="0"/>
              <a:t>can run on just the engine, just the batteries, or a combination of the two.</a:t>
            </a:r>
          </a:p>
          <a:p>
            <a:pPr marL="358775" indent="-358775">
              <a:spcAft>
                <a:spcPts val="0"/>
              </a:spcAft>
            </a:pPr>
            <a:r>
              <a:rPr lang="en-US" sz="1800" dirty="0"/>
              <a:t>A full hybrid has stop-start, regenerative braking, electric motor assist, and can be driven by only electricity.</a:t>
            </a:r>
          </a:p>
        </p:txBody>
      </p:sp>
    </p:spTree>
    <p:extLst>
      <p:ext uri="{BB962C8B-B14F-4D97-AF65-F5344CB8AC3E}">
        <p14:creationId xmlns:p14="http://schemas.microsoft.com/office/powerpoint/2010/main" val="2880874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0CD2631-1EE4-6DC2-F893-B9C5CC7801C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22FBE3A-E975-B0BD-702B-2B80F1F06CD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Plug-In Hybrids</a:t>
            </a:r>
            <a:endParaRPr dirty="0"/>
          </a:p>
        </p:txBody>
      </p:sp>
      <p:sp>
        <p:nvSpPr>
          <p:cNvPr id="145" name="Google Shape;145;p4">
            <a:extLst>
              <a:ext uri="{FF2B5EF4-FFF2-40B4-BE49-F238E27FC236}">
                <a16:creationId xmlns:a16="http://schemas.microsoft.com/office/drawing/2014/main" id="{B74B453F-FBF9-7F23-13B0-11C52EC1E380}"/>
              </a:ext>
            </a:extLst>
          </p:cNvPr>
          <p:cNvSpPr txBox="1">
            <a:spLocks noGrp="1"/>
          </p:cNvSpPr>
          <p:nvPr>
            <p:ph type="body" idx="1"/>
          </p:nvPr>
        </p:nvSpPr>
        <p:spPr>
          <a:xfrm>
            <a:off x="476843" y="1422250"/>
            <a:ext cx="11241915" cy="4613339"/>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b="1" dirty="0"/>
              <a:t>Plug-in hybrid electric vehicles (PHEVs) </a:t>
            </a:r>
            <a:r>
              <a:rPr lang="en-US" sz="1800" dirty="0"/>
              <a:t>are full hybrids with larger batteries.</a:t>
            </a:r>
          </a:p>
          <a:p>
            <a:pPr marL="358775" indent="-358775">
              <a:spcAft>
                <a:spcPts val="400"/>
              </a:spcAft>
            </a:pPr>
            <a:r>
              <a:rPr lang="en-US" sz="1800" dirty="0"/>
              <a:t>A battery charger can be plugged into a normal 120-volt outlet Level 1 or 240-volt Level 2 charging station to recharge the battery.</a:t>
            </a:r>
          </a:p>
          <a:p>
            <a:pPr marL="358775" indent="-358775">
              <a:spcAft>
                <a:spcPts val="400"/>
              </a:spcAft>
            </a:pPr>
            <a:r>
              <a:rPr lang="en-US" sz="1800" dirty="0"/>
              <a:t>Charged overnight, PHEVs can drive up to 60 miles without the engine turning on.</a:t>
            </a:r>
          </a:p>
          <a:p>
            <a:pPr marL="358775" indent="-358775">
              <a:spcAft>
                <a:spcPts val="400"/>
              </a:spcAft>
            </a:pPr>
            <a:r>
              <a:rPr lang="en-US" sz="1800" dirty="0"/>
              <a:t>When the batteries run low, the engine starts and powers the vehicle and the generator operates to charge the batteries.</a:t>
            </a:r>
          </a:p>
          <a:p>
            <a:pPr marL="358775" indent="-358775">
              <a:spcAft>
                <a:spcPts val="400"/>
              </a:spcAft>
            </a:pPr>
            <a:r>
              <a:rPr lang="en-US" sz="1800" dirty="0"/>
              <a:t>The biggest advantage of plug-in hybrids is they can be driven in an electric-only mode for a distance.</a:t>
            </a:r>
          </a:p>
          <a:p>
            <a:pPr marL="358775" indent="-358775">
              <a:spcAft>
                <a:spcPts val="400"/>
              </a:spcAft>
            </a:pPr>
            <a:r>
              <a:rPr lang="en-US" sz="1800" dirty="0"/>
              <a:t>During that time, the vehicle consumes no fuel.</a:t>
            </a:r>
          </a:p>
          <a:p>
            <a:pPr marL="358775" indent="-358775">
              <a:spcAft>
                <a:spcPts val="400"/>
              </a:spcAft>
            </a:pPr>
            <a:r>
              <a:rPr lang="en-US" sz="1800" dirty="0"/>
              <a:t>Under normal conditions, a plug-in hybrid can be twice as fuel-efficient as a regular hybrid. </a:t>
            </a:r>
          </a:p>
          <a:p>
            <a:pPr marL="358775" indent="-358775">
              <a:spcAft>
                <a:spcPts val="400"/>
              </a:spcAft>
            </a:pPr>
            <a:r>
              <a:rPr lang="en-US" sz="1800" dirty="0"/>
              <a:t>A fully charged PHEV will produce half the exhaust emissions of a normal HEV.</a:t>
            </a:r>
          </a:p>
          <a:p>
            <a:pPr marL="358775" indent="-358775">
              <a:spcAft>
                <a:spcPts val="400"/>
              </a:spcAft>
            </a:pPr>
            <a:r>
              <a:rPr lang="en-US" sz="1800" dirty="0"/>
              <a:t>The manufacturing costs of a PHEV are about 20 percent higher than a regular HEV mainly due to the price of the larger batteries.</a:t>
            </a:r>
          </a:p>
        </p:txBody>
      </p:sp>
    </p:spTree>
    <p:extLst>
      <p:ext uri="{BB962C8B-B14F-4D97-AF65-F5344CB8AC3E}">
        <p14:creationId xmlns:p14="http://schemas.microsoft.com/office/powerpoint/2010/main" val="2131324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A44E380-E1E8-8316-FF81-299E66167E5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0A790B2-3589-723F-9F48-0D6A1EA4730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Batteries</a:t>
            </a:r>
            <a:endParaRPr dirty="0"/>
          </a:p>
        </p:txBody>
      </p:sp>
      <p:sp>
        <p:nvSpPr>
          <p:cNvPr id="145" name="Google Shape;145;p4">
            <a:extLst>
              <a:ext uri="{FF2B5EF4-FFF2-40B4-BE49-F238E27FC236}">
                <a16:creationId xmlns:a16="http://schemas.microsoft.com/office/drawing/2014/main" id="{9C4E56F9-5FF9-8E92-85EF-EE86FDEC5A81}"/>
              </a:ext>
            </a:extLst>
          </p:cNvPr>
          <p:cNvSpPr txBox="1">
            <a:spLocks noGrp="1"/>
          </p:cNvSpPr>
          <p:nvPr>
            <p:ph type="body" idx="1"/>
          </p:nvPr>
        </p:nvSpPr>
        <p:spPr>
          <a:xfrm>
            <a:off x="476844" y="1506475"/>
            <a:ext cx="7431480" cy="4449482"/>
          </a:xfrm>
          <a:prstGeom prst="rect">
            <a:avLst/>
          </a:prstGeom>
          <a:noFill/>
          <a:ln>
            <a:noFill/>
          </a:ln>
        </p:spPr>
        <p:txBody>
          <a:bodyPr spcFirstLastPara="1" wrap="square" lIns="91425" tIns="45700" rIns="91425" bIns="45700" anchor="t" anchorCtr="0">
            <a:noAutofit/>
          </a:bodyPr>
          <a:lstStyle/>
          <a:p>
            <a:pPr marL="0" indent="0">
              <a:buSzPts val="2800"/>
              <a:buNone/>
            </a:pPr>
            <a:r>
              <a:rPr lang="en-US" sz="2200" b="1" dirty="0">
                <a:solidFill>
                  <a:schemeClr val="tx1"/>
                </a:solidFill>
              </a:rPr>
              <a:t>35.02 Describe the components used in hybrid propulsion systems.</a:t>
            </a:r>
          </a:p>
          <a:p>
            <a:pPr marL="358775" indent="-358775"/>
            <a:r>
              <a:rPr lang="en-US" sz="2200" dirty="0">
                <a:solidFill>
                  <a:schemeClr val="tx1"/>
                </a:solidFill>
              </a:rPr>
              <a:t>The available voltage of a hybrid’s battery pack depends on the system and the manufacturer.</a:t>
            </a:r>
          </a:p>
          <a:p>
            <a:pPr marL="358775" indent="-358775"/>
            <a:r>
              <a:rPr lang="en-US" sz="2200" dirty="0">
                <a:solidFill>
                  <a:schemeClr val="tx1"/>
                </a:solidFill>
              </a:rPr>
              <a:t>The voltage range is from 48 volts to 360 volts.</a:t>
            </a:r>
          </a:p>
          <a:p>
            <a:pPr marL="358775" indent="-358775"/>
            <a:r>
              <a:rPr lang="en-US" sz="2200" dirty="0">
                <a:solidFill>
                  <a:schemeClr val="tx1"/>
                </a:solidFill>
              </a:rPr>
              <a:t>Most battery packs are basically several small batteries connected together to provide the required voltage.</a:t>
            </a:r>
          </a:p>
          <a:p>
            <a:pPr marL="358775" indent="-358775"/>
            <a:r>
              <a:rPr lang="en-US" sz="2200" dirty="0">
                <a:solidFill>
                  <a:schemeClr val="tx1"/>
                </a:solidFill>
              </a:rPr>
              <a:t>Hybrids also have an auxiliary 12-volt battery to power conventional electrical items, such as lighting, wipers, sound systems, etc.</a:t>
            </a:r>
          </a:p>
        </p:txBody>
      </p:sp>
      <p:pic>
        <p:nvPicPr>
          <p:cNvPr id="7" name="Picture Placeholder 6" descr="The battery pack of a Toyota Camry hybrid consists of several small batteries connected together and placed at the rear end of the vehicle.">
            <a:extLst>
              <a:ext uri="{FF2B5EF4-FFF2-40B4-BE49-F238E27FC236}">
                <a16:creationId xmlns:a16="http://schemas.microsoft.com/office/drawing/2014/main" id="{6D0E04E9-8254-8F0D-F1CA-2C15DED0172A}"/>
              </a:ext>
            </a:extLst>
          </p:cNvPr>
          <p:cNvPicPr>
            <a:picLocks noGrp="1" noChangeAspect="1"/>
          </p:cNvPicPr>
          <p:nvPr>
            <p:ph type="pic" sz="quarter" idx="12"/>
          </p:nvPr>
        </p:nvPicPr>
        <p:blipFill rotWithShape="1">
          <a:blip r:embed="rId3"/>
          <a:srcRect b="3980"/>
          <a:stretch/>
        </p:blipFill>
        <p:spPr>
          <a:xfrm>
            <a:off x="8051052" y="1653481"/>
            <a:ext cx="3366916" cy="4427264"/>
          </a:xfrm>
          <a:prstGeom prst="rect">
            <a:avLst/>
          </a:prstGeom>
        </p:spPr>
      </p:pic>
    </p:spTree>
    <p:extLst>
      <p:ext uri="{BB962C8B-B14F-4D97-AF65-F5344CB8AC3E}">
        <p14:creationId xmlns:p14="http://schemas.microsoft.com/office/powerpoint/2010/main" val="1724196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BC6996B-5718-1D34-C7F3-CEFAA9F1C97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B78BBAA-3F38-687D-0F5F-06AF656AD10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Motor/Generators</a:t>
            </a:r>
            <a:endParaRPr dirty="0"/>
          </a:p>
        </p:txBody>
      </p:sp>
      <p:pic>
        <p:nvPicPr>
          <p:cNvPr id="7" name="Picture Placeholder 6" descr="A motor that also functions as a generator within the power split device of a Toyota Prius has two magnetic fields that oppose each other, with wires moving through the fields.">
            <a:extLst>
              <a:ext uri="{FF2B5EF4-FFF2-40B4-BE49-F238E27FC236}">
                <a16:creationId xmlns:a16="http://schemas.microsoft.com/office/drawing/2014/main" id="{491E3EA7-FC03-09B3-555C-227875874160}"/>
              </a:ext>
            </a:extLst>
          </p:cNvPr>
          <p:cNvPicPr>
            <a:picLocks noGrp="1" noChangeAspect="1"/>
          </p:cNvPicPr>
          <p:nvPr>
            <p:ph type="pic" sz="quarter" idx="12"/>
          </p:nvPr>
        </p:nvPicPr>
        <p:blipFill rotWithShape="1">
          <a:blip r:embed="rId3"/>
          <a:srcRect b="10306"/>
          <a:stretch/>
        </p:blipFill>
        <p:spPr>
          <a:xfrm>
            <a:off x="573665" y="1910050"/>
            <a:ext cx="4603064" cy="3311656"/>
          </a:xfrm>
          <a:prstGeom prst="rect">
            <a:avLst/>
          </a:prstGeom>
        </p:spPr>
      </p:pic>
      <p:sp>
        <p:nvSpPr>
          <p:cNvPr id="145" name="Google Shape;145;p4">
            <a:extLst>
              <a:ext uri="{FF2B5EF4-FFF2-40B4-BE49-F238E27FC236}">
                <a16:creationId xmlns:a16="http://schemas.microsoft.com/office/drawing/2014/main" id="{6F05A33E-2C61-A609-866F-5AFC14EC3F16}"/>
              </a:ext>
            </a:extLst>
          </p:cNvPr>
          <p:cNvSpPr txBox="1">
            <a:spLocks noGrp="1"/>
          </p:cNvSpPr>
          <p:nvPr>
            <p:ph type="body" idx="1"/>
          </p:nvPr>
        </p:nvSpPr>
        <p:spPr>
          <a:xfrm>
            <a:off x="5546558" y="1506475"/>
            <a:ext cx="6172200" cy="4548336"/>
          </a:xfrm>
          <a:prstGeom prst="rect">
            <a:avLst/>
          </a:prstGeom>
          <a:noFill/>
          <a:ln>
            <a:noFill/>
          </a:ln>
        </p:spPr>
        <p:txBody>
          <a:bodyPr spcFirstLastPara="1" wrap="square" lIns="91425" tIns="45700" rIns="91425" bIns="45700" anchor="t" anchorCtr="0">
            <a:noAutofit/>
          </a:bodyPr>
          <a:lstStyle/>
          <a:p>
            <a:pPr marL="358775" indent="-358775"/>
            <a:r>
              <a:rPr lang="en-US" sz="1800" dirty="0">
                <a:solidFill>
                  <a:schemeClr val="tx1"/>
                </a:solidFill>
              </a:rPr>
              <a:t>The main difference between a generator and a motor is that a motor has two magnetic fields that oppose each other, whereas a generator has one magnetic field and wires are moved through the field.</a:t>
            </a:r>
          </a:p>
          <a:p>
            <a:pPr marL="358775" indent="-358775"/>
            <a:r>
              <a:rPr lang="en-US" sz="1800" dirty="0">
                <a:solidFill>
                  <a:schemeClr val="tx1"/>
                </a:solidFill>
              </a:rPr>
              <a:t>Using electronics to control the current to and from the battery, a motor that also works as a generator is used in hybrids; these are commonly referred to as motor/generators or </a:t>
            </a:r>
            <a:r>
              <a:rPr lang="en-US" sz="1800" dirty="0" err="1">
                <a:solidFill>
                  <a:schemeClr val="tx1"/>
                </a:solidFill>
              </a:rPr>
              <a:t>MGs.</a:t>
            </a:r>
            <a:endParaRPr lang="en-US" sz="1800" dirty="0">
              <a:solidFill>
                <a:schemeClr val="tx1"/>
              </a:solidFill>
            </a:endParaRPr>
          </a:p>
          <a:p>
            <a:pPr marL="358775" indent="-358775"/>
            <a:r>
              <a:rPr lang="en-US" sz="1800" dirty="0">
                <a:solidFill>
                  <a:schemeClr val="tx1"/>
                </a:solidFill>
              </a:rPr>
              <a:t>Motor/generators may be mounted externally to the engine and connected to the crankshaft with a drive belt.</a:t>
            </a:r>
          </a:p>
          <a:p>
            <a:pPr marL="358775" indent="-358775"/>
            <a:r>
              <a:rPr lang="en-US" sz="1800" dirty="0">
                <a:solidFill>
                  <a:schemeClr val="tx1"/>
                </a:solidFill>
              </a:rPr>
              <a:t>Many hybrids place the motor/generators in the transmission or transaxle assembly.</a:t>
            </a:r>
          </a:p>
        </p:txBody>
      </p:sp>
    </p:spTree>
    <p:extLst>
      <p:ext uri="{BB962C8B-B14F-4D97-AF65-F5344CB8AC3E}">
        <p14:creationId xmlns:p14="http://schemas.microsoft.com/office/powerpoint/2010/main" val="179025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61D323B-3D40-058C-18BD-2E3F9706200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9F3BDEA-579A-720B-8799-C1DE1D34A88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Control System</a:t>
            </a:r>
            <a:endParaRPr dirty="0"/>
          </a:p>
        </p:txBody>
      </p:sp>
      <p:pic>
        <p:nvPicPr>
          <p:cNvPr id="7" name="Picture Placeholder 6" descr="A network flow where the individual computers in the control system are linked together and communicate with each other. A combination meter is connected to a Body E C U. A horizontal solid right arrow is drawn from the path between the combination meter and Body E C U. The Air-conditioning amplifier, and Transponder key E C U are connected to the arrow at the top while Power source control E C U and Entry key E C U are connected at the bottom. The air-conditioning amplifier and Power source control E C U are inter-connected while the Transponder key E C U and Entry key E C U are interconnected. A vertical solid line connects from the horizontal arrow to Gateway E C U. A dotted red arrow is drawn from the right of Gateway E C U which branches on its way to Multi display. A faded red line from Gateway E C U connects to a horizontal, faded arrow which is connected to H V control E C U, E C M, Skid control E C U, Battery E C U, and Power-steering E C U. E C M and Skid control E C U are interlinked while Battery E C U and Power-steering E C U are interlinked. The legend depicts a solid line as B E A N, a faded line as C A N, and a dotted red line as A V C-L A N.">
            <a:extLst>
              <a:ext uri="{FF2B5EF4-FFF2-40B4-BE49-F238E27FC236}">
                <a16:creationId xmlns:a16="http://schemas.microsoft.com/office/drawing/2014/main" id="{9468C26B-7F43-54B9-89FB-63E6D62D812C}"/>
              </a:ext>
            </a:extLst>
          </p:cNvPr>
          <p:cNvPicPr>
            <a:picLocks noGrp="1" noChangeAspect="1"/>
          </p:cNvPicPr>
          <p:nvPr>
            <p:ph type="pic" sz="quarter" idx="12"/>
          </p:nvPr>
        </p:nvPicPr>
        <p:blipFill rotWithShape="1">
          <a:blip r:embed="rId3"/>
          <a:srcRect b="7703"/>
          <a:stretch/>
        </p:blipFill>
        <p:spPr>
          <a:xfrm>
            <a:off x="575125" y="1650853"/>
            <a:ext cx="4629820" cy="4016021"/>
          </a:xfrm>
          <a:prstGeom prst="rect">
            <a:avLst/>
          </a:prstGeom>
        </p:spPr>
      </p:pic>
      <p:sp>
        <p:nvSpPr>
          <p:cNvPr id="145" name="Google Shape;145;p4">
            <a:extLst>
              <a:ext uri="{FF2B5EF4-FFF2-40B4-BE49-F238E27FC236}">
                <a16:creationId xmlns:a16="http://schemas.microsoft.com/office/drawing/2014/main" id="{8A076A60-6DBD-B2A6-F9B9-35FF75DCC5D9}"/>
              </a:ext>
            </a:extLst>
          </p:cNvPr>
          <p:cNvSpPr txBox="1">
            <a:spLocks noGrp="1"/>
          </p:cNvSpPr>
          <p:nvPr>
            <p:ph type="body" idx="1"/>
          </p:nvPr>
        </p:nvSpPr>
        <p:spPr>
          <a:xfrm>
            <a:off x="5436972" y="1506474"/>
            <a:ext cx="6281785" cy="4684261"/>
          </a:xfrm>
          <a:prstGeom prst="rect">
            <a:avLst/>
          </a:prstGeom>
          <a:noFill/>
          <a:ln>
            <a:noFill/>
          </a:ln>
        </p:spPr>
        <p:txBody>
          <a:bodyPr spcFirstLastPara="1" wrap="square" lIns="91425" tIns="45700" rIns="91425" bIns="45700" anchor="t" anchorCtr="0">
            <a:noAutofit/>
          </a:bodyPr>
          <a:lstStyle/>
          <a:p>
            <a:pPr marL="358775" indent="-358775"/>
            <a:r>
              <a:rPr lang="en-US" sz="1800" dirty="0"/>
              <a:t>The switching between the electric motor and gasoline engine is controlled by computers, as are other features of the vehicle.</a:t>
            </a:r>
          </a:p>
          <a:p>
            <a:pPr marL="358775" indent="-358775"/>
            <a:r>
              <a:rPr lang="en-US" sz="1800" dirty="0"/>
              <a:t>The control systems are extremely complex.</a:t>
            </a:r>
          </a:p>
          <a:p>
            <a:pPr marL="358775" indent="-358775"/>
            <a:r>
              <a:rPr lang="en-US" sz="1800" dirty="0"/>
              <a:t>They have very fast processing speeds and real-time operating systems.</a:t>
            </a:r>
          </a:p>
          <a:p>
            <a:pPr marL="358775" indent="-358775"/>
            <a:r>
              <a:rPr lang="en-US" sz="1800" dirty="0"/>
              <a:t>The individual computers are linked together and communicate with each other through CAN communications.</a:t>
            </a:r>
          </a:p>
          <a:p>
            <a:pPr marL="358775" indent="-358775"/>
            <a:r>
              <a:rPr lang="en-US" sz="1800" dirty="0"/>
              <a:t>The various computers include the electric motor controller, engine controller, battery management system, charge controller, brake system controller, transmission controller, and electrical grid controller.</a:t>
            </a:r>
          </a:p>
        </p:txBody>
      </p:sp>
    </p:spTree>
    <p:extLst>
      <p:ext uri="{BB962C8B-B14F-4D97-AF65-F5344CB8AC3E}">
        <p14:creationId xmlns:p14="http://schemas.microsoft.com/office/powerpoint/2010/main" val="2192944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4A2787C-36F2-0F55-BCC3-8C880CD4BF2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C5D35BB-2BA9-3FD2-4D86-B165C8B6286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Internal Combustion Engine</a:t>
            </a:r>
            <a:endParaRPr dirty="0"/>
          </a:p>
        </p:txBody>
      </p:sp>
      <p:sp>
        <p:nvSpPr>
          <p:cNvPr id="145" name="Google Shape;145;p4">
            <a:extLst>
              <a:ext uri="{FF2B5EF4-FFF2-40B4-BE49-F238E27FC236}">
                <a16:creationId xmlns:a16="http://schemas.microsoft.com/office/drawing/2014/main" id="{4F1BEA74-9457-1097-DDC5-05F3A64B092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2000" dirty="0">
                <a:solidFill>
                  <a:schemeClr val="tx1"/>
                </a:solidFill>
              </a:rPr>
              <a:t>The engine used in most hybrids is a four-stroke cycle engine that burns gasoline. These engines are very similar to those used in conventional vehicles.</a:t>
            </a:r>
          </a:p>
          <a:p>
            <a:pPr marL="358775" indent="-358775">
              <a:spcAft>
                <a:spcPts val="0"/>
              </a:spcAft>
            </a:pPr>
            <a:r>
              <a:rPr lang="en-US" sz="2000" dirty="0">
                <a:solidFill>
                  <a:schemeClr val="tx1"/>
                </a:solidFill>
              </a:rPr>
              <a:t>The engine relies on advanced technologies to reduce emissions and increase overall efficiency.</a:t>
            </a:r>
          </a:p>
          <a:p>
            <a:pPr marL="358775" indent="-358775">
              <a:spcAft>
                <a:spcPts val="0"/>
              </a:spcAft>
            </a:pPr>
            <a:r>
              <a:rPr lang="en-US" sz="2000" dirty="0">
                <a:solidFill>
                  <a:schemeClr val="tx1"/>
                </a:solidFill>
              </a:rPr>
              <a:t>The engines are typically Atkinson cycle engines in other countries where diesel fuel is commonly used, and diesel hybrids are being tested.</a:t>
            </a:r>
          </a:p>
          <a:p>
            <a:pPr marL="358775" indent="-358775">
              <a:spcAft>
                <a:spcPts val="0"/>
              </a:spcAft>
            </a:pPr>
            <a:r>
              <a:rPr lang="en-US" sz="2000" dirty="0">
                <a:solidFill>
                  <a:schemeClr val="tx1"/>
                </a:solidFill>
              </a:rPr>
              <a:t>Diesel engines have the highest thermal efficiency of any internal combustion engine. Because of this efficiency, diesel hybrids can achieve outstanding fuel economy.</a:t>
            </a:r>
          </a:p>
          <a:p>
            <a:pPr marL="358775" indent="-358775">
              <a:spcAft>
                <a:spcPts val="0"/>
              </a:spcAft>
            </a:pPr>
            <a:r>
              <a:rPr lang="en-US" sz="2000" dirty="0">
                <a:solidFill>
                  <a:schemeClr val="tx1"/>
                </a:solidFill>
              </a:rPr>
              <a:t>Mazda announced it will soon release a new plug-in series hybrid SUV with a rotary engine.</a:t>
            </a:r>
          </a:p>
          <a:p>
            <a:pPr marL="358775" indent="-358775">
              <a:spcAft>
                <a:spcPts val="0"/>
              </a:spcAft>
            </a:pPr>
            <a:r>
              <a:rPr lang="en-US" sz="2000" dirty="0">
                <a:solidFill>
                  <a:schemeClr val="tx1"/>
                </a:solidFill>
              </a:rPr>
              <a:t>The rotary will not drive the wheels, instead it will power the generator to produce electricity for the electric motors.</a:t>
            </a:r>
          </a:p>
        </p:txBody>
      </p:sp>
    </p:spTree>
    <p:extLst>
      <p:ext uri="{BB962C8B-B14F-4D97-AF65-F5344CB8AC3E}">
        <p14:creationId xmlns:p14="http://schemas.microsoft.com/office/powerpoint/2010/main" val="4176525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2F5B687-4E96-C654-1FCD-F9FDEF252A5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E6E3D7B-DE16-CEC4-6CD0-14B264BDDD1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Transmissions</a:t>
            </a:r>
            <a:endParaRPr dirty="0"/>
          </a:p>
        </p:txBody>
      </p:sp>
      <p:sp>
        <p:nvSpPr>
          <p:cNvPr id="145" name="Google Shape;145;p4">
            <a:extLst>
              <a:ext uri="{FF2B5EF4-FFF2-40B4-BE49-F238E27FC236}">
                <a16:creationId xmlns:a16="http://schemas.microsoft.com/office/drawing/2014/main" id="{3D4B3A18-2976-4CDE-FBE4-0807B3E3F2B5}"/>
              </a:ext>
            </a:extLst>
          </p:cNvPr>
          <p:cNvSpPr txBox="1">
            <a:spLocks noGrp="1"/>
          </p:cNvSpPr>
          <p:nvPr>
            <p:ph type="body" idx="1"/>
          </p:nvPr>
        </p:nvSpPr>
        <p:spPr>
          <a:xfrm>
            <a:off x="476843" y="1506474"/>
            <a:ext cx="6603579" cy="4313557"/>
          </a:xfrm>
          <a:prstGeom prst="rect">
            <a:avLst/>
          </a:prstGeom>
          <a:noFill/>
          <a:ln>
            <a:noFill/>
          </a:ln>
        </p:spPr>
        <p:txBody>
          <a:bodyPr spcFirstLastPara="1" wrap="square" lIns="91425" tIns="45700" rIns="91425" bIns="45700" anchor="t" anchorCtr="0">
            <a:noAutofit/>
          </a:bodyPr>
          <a:lstStyle/>
          <a:p>
            <a:pPr marL="358775" indent="-358775"/>
            <a:r>
              <a:rPr lang="en-US" sz="2200" dirty="0"/>
              <a:t>The transmission used in an HEV can be a normal transmission or one especially designed for the vehicle.</a:t>
            </a:r>
          </a:p>
          <a:p>
            <a:pPr marL="358775" indent="-358775"/>
            <a:r>
              <a:rPr lang="en-US" sz="2200" dirty="0"/>
              <a:t>Often, a continuously variable transmission (CVT) is used, whose gear ratios change according to load.</a:t>
            </a:r>
          </a:p>
          <a:p>
            <a:pPr marL="358775" indent="-358775"/>
            <a:r>
              <a:rPr lang="en-US" sz="2200" dirty="0"/>
              <a:t>In either case, the gear ratios are designed to allow the engine to run at its most efficient speed according to its current operating condition.</a:t>
            </a:r>
          </a:p>
        </p:txBody>
      </p:sp>
      <p:pic>
        <p:nvPicPr>
          <p:cNvPr id="7" name="Picture Placeholder 6" descr="A continuously variable transmission (C V T) consists of a belt and adjustable pulleys.">
            <a:extLst>
              <a:ext uri="{FF2B5EF4-FFF2-40B4-BE49-F238E27FC236}">
                <a16:creationId xmlns:a16="http://schemas.microsoft.com/office/drawing/2014/main" id="{5B63B648-7331-4366-DE39-08F372D04070}"/>
              </a:ext>
            </a:extLst>
          </p:cNvPr>
          <p:cNvPicPr>
            <a:picLocks noGrp="1" noChangeAspect="1"/>
          </p:cNvPicPr>
          <p:nvPr>
            <p:ph type="pic" sz="quarter" idx="12"/>
          </p:nvPr>
        </p:nvPicPr>
        <p:blipFill rotWithShape="1">
          <a:blip r:embed="rId3"/>
          <a:srcRect b="12991"/>
          <a:stretch/>
        </p:blipFill>
        <p:spPr>
          <a:xfrm>
            <a:off x="7286246" y="1559216"/>
            <a:ext cx="4531482" cy="3289509"/>
          </a:xfrm>
          <a:prstGeom prst="rect">
            <a:avLst/>
          </a:prstGeom>
        </p:spPr>
      </p:pic>
    </p:spTree>
    <p:extLst>
      <p:ext uri="{BB962C8B-B14F-4D97-AF65-F5344CB8AC3E}">
        <p14:creationId xmlns:p14="http://schemas.microsoft.com/office/powerpoint/2010/main" val="964932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2CE4287-E877-7C6A-0288-3343C595D03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7A559F4-3A0D-DDDF-7127-3357AF5B534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Regenerative Brakes</a:t>
            </a:r>
            <a:endParaRPr lang="en-US" sz="4800" dirty="0"/>
          </a:p>
        </p:txBody>
      </p:sp>
      <p:sp>
        <p:nvSpPr>
          <p:cNvPr id="145" name="Google Shape;145;p4">
            <a:extLst>
              <a:ext uri="{FF2B5EF4-FFF2-40B4-BE49-F238E27FC236}">
                <a16:creationId xmlns:a16="http://schemas.microsoft.com/office/drawing/2014/main" id="{F1B66077-D0BB-AE4C-69DD-7C8E779F6D63}"/>
              </a:ext>
            </a:extLst>
          </p:cNvPr>
          <p:cNvSpPr txBox="1">
            <a:spLocks noGrp="1"/>
          </p:cNvSpPr>
          <p:nvPr>
            <p:ph type="body" idx="1"/>
          </p:nvPr>
        </p:nvSpPr>
        <p:spPr>
          <a:xfrm>
            <a:off x="476843" y="1506474"/>
            <a:ext cx="6522879" cy="4437126"/>
          </a:xfrm>
          <a:prstGeom prst="rect">
            <a:avLst/>
          </a:prstGeom>
          <a:noFill/>
          <a:ln>
            <a:noFill/>
          </a:ln>
        </p:spPr>
        <p:txBody>
          <a:bodyPr spcFirstLastPara="1" wrap="square" lIns="91425" tIns="45700" rIns="91425" bIns="45700" anchor="t" anchorCtr="0">
            <a:noAutofit/>
          </a:bodyPr>
          <a:lstStyle/>
          <a:p>
            <a:pPr marL="360363" indent="-360363"/>
            <a:r>
              <a:rPr lang="en-US" sz="2000" dirty="0">
                <a:solidFill>
                  <a:schemeClr val="tx1"/>
                </a:solidFill>
              </a:rPr>
              <a:t>Regenerative braking is the process that allows a vehicle to recapture and store part of the kinetic energy that would ordinarily be lost during braking.</a:t>
            </a:r>
          </a:p>
          <a:p>
            <a:pPr marL="360363" indent="-360363"/>
            <a:r>
              <a:rPr lang="en-US" sz="2000" dirty="0">
                <a:solidFill>
                  <a:schemeClr val="tx1"/>
                </a:solidFill>
              </a:rPr>
              <a:t>A vehicle has more kinetic energy when it is moving fast; therefore, regenerative braking is more efficient at higher speeds.</a:t>
            </a:r>
          </a:p>
          <a:p>
            <a:pPr marL="360363" indent="-360363"/>
            <a:r>
              <a:rPr lang="en-US" sz="2000" dirty="0">
                <a:solidFill>
                  <a:schemeClr val="tx1"/>
                </a:solidFill>
              </a:rPr>
              <a:t>When the brakes are applied in a conventional vehicle, friction at the wheel brakes converts the vehicle’s kinetic energy into heat.</a:t>
            </a:r>
          </a:p>
          <a:p>
            <a:pPr marL="360363" indent="-360363"/>
            <a:r>
              <a:rPr lang="en-US" sz="2000" dirty="0">
                <a:solidFill>
                  <a:schemeClr val="tx1"/>
                </a:solidFill>
              </a:rPr>
              <a:t>With regenerative braking, that energy is used to recharge the batteries.</a:t>
            </a:r>
          </a:p>
        </p:txBody>
      </p:sp>
      <p:pic>
        <p:nvPicPr>
          <p:cNvPr id="7" name="Picture Placeholder 6" descr="Three parts. The first part depicts the bottom view of a car with the parts labeled as follows: H V battery, inverter assembly, M G 1, M G 2, combustion engine, and driver axle. The second and the third parts depict two graphs that depict the deceleration or braking. In the first graph, the horizontal axis represents time and the vertical axis represents speed. The curve starts at the origin, goes up and to the right, unevenly up to a certain time, and then the speed gradually increases. Then the speed gradually decreases to reach the horizontal axis. In the second graph, two vertical dashed lines, one at M G 1 and, the other at M G 2, are present on either side of a vertical line at the center, labeled engine. An upward-sloping line starts at M G 1 below the origin, on the vertical axis, then crosses the horizontal axis where it intersects the dashed vertical line, and then reaches M G 2 above the origin.">
            <a:extLst>
              <a:ext uri="{FF2B5EF4-FFF2-40B4-BE49-F238E27FC236}">
                <a16:creationId xmlns:a16="http://schemas.microsoft.com/office/drawing/2014/main" id="{80F3E559-DDB8-95A4-62CD-6F8E5B04C5F8}"/>
              </a:ext>
            </a:extLst>
          </p:cNvPr>
          <p:cNvPicPr>
            <a:picLocks noGrp="1" noChangeAspect="1"/>
          </p:cNvPicPr>
          <p:nvPr>
            <p:ph type="pic" sz="quarter" idx="12"/>
          </p:nvPr>
        </p:nvPicPr>
        <p:blipFill rotWithShape="1">
          <a:blip r:embed="rId3"/>
          <a:srcRect b="5943"/>
          <a:stretch/>
        </p:blipFill>
        <p:spPr>
          <a:xfrm>
            <a:off x="6999723" y="2622563"/>
            <a:ext cx="4962382" cy="2045689"/>
          </a:xfrm>
          <a:prstGeom prst="rect">
            <a:avLst/>
          </a:prstGeom>
        </p:spPr>
      </p:pic>
    </p:spTree>
    <p:extLst>
      <p:ext uri="{BB962C8B-B14F-4D97-AF65-F5344CB8AC3E}">
        <p14:creationId xmlns:p14="http://schemas.microsoft.com/office/powerpoint/2010/main" val="1705507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1CF9131-960B-D21E-18E8-EDC91A7E8265}"/>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83902B6-D121-4CA7-5D4A-5A6B9E3C05F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Basic Systems (1 of 2)</a:t>
            </a:r>
            <a:endParaRPr lang="en-US" sz="4800" dirty="0"/>
          </a:p>
        </p:txBody>
      </p:sp>
      <p:sp>
        <p:nvSpPr>
          <p:cNvPr id="145" name="Google Shape;145;p4">
            <a:extLst>
              <a:ext uri="{FF2B5EF4-FFF2-40B4-BE49-F238E27FC236}">
                <a16:creationId xmlns:a16="http://schemas.microsoft.com/office/drawing/2014/main" id="{18FA5225-542B-74EE-3EF4-95D44E41AC7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000" dirty="0"/>
              <a:t>Many different layouts and systems are used in today’s hybrid vehicles. Hybrids can be further defined by the location and purpose of the electric motor(s) in the system.</a:t>
            </a:r>
          </a:p>
          <a:p>
            <a:pPr marL="358775" indent="-358775"/>
            <a:r>
              <a:rPr lang="en-US" sz="2000" dirty="0"/>
              <a:t>Belt Alternator Starter</a:t>
            </a:r>
          </a:p>
          <a:p>
            <a:pPr marL="715963" lvl="1" indent="-357188"/>
            <a:r>
              <a:rPr lang="en-US" sz="1800" dirty="0"/>
              <a:t>The least complex is the </a:t>
            </a:r>
            <a:r>
              <a:rPr lang="en-US" sz="1800" b="1" dirty="0"/>
              <a:t>Belt Alternator Starter (BAS) </a:t>
            </a:r>
            <a:r>
              <a:rPr lang="en-US" sz="1800" dirty="0"/>
              <a:t>system. The BAS replaces the traditional starter and generator in a conventional vehicle. The motor/generator is located where the generator would normally be and is connected to the engine’s crankshaft by a drive belt. When the engine is running, the drive belt spins the motor’s rotor and the motor acts as a generator to charge the batteries.</a:t>
            </a:r>
          </a:p>
          <a:p>
            <a:pPr marL="358775" indent="-358775"/>
            <a:r>
              <a:rPr lang="en-US" sz="2000" dirty="0"/>
              <a:t>Integrated Starter Alternator Damper (ISAD)</a:t>
            </a:r>
          </a:p>
          <a:p>
            <a:pPr marL="715963" lvl="1" indent="-357188"/>
            <a:r>
              <a:rPr lang="en-US" sz="1800" dirty="0"/>
              <a:t>The </a:t>
            </a:r>
            <a:r>
              <a:rPr lang="en-US" sz="1800" b="1" dirty="0"/>
              <a:t>integrated starter alternator damper (ISAD) </a:t>
            </a:r>
            <a:r>
              <a:rPr lang="en-US" sz="1800" dirty="0"/>
              <a:t>system replaces the conventional starter, generator, and flywheel with an electronically controlled compact electric motor. Also called integrated motor assist (IMA), or integrated starter generator (ISG)</a:t>
            </a:r>
          </a:p>
        </p:txBody>
      </p:sp>
    </p:spTree>
    <p:extLst>
      <p:ext uri="{BB962C8B-B14F-4D97-AF65-F5344CB8AC3E}">
        <p14:creationId xmlns:p14="http://schemas.microsoft.com/office/powerpoint/2010/main" val="1244569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4A18428-9C22-E49A-BB91-633B6AC8ADF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87C8B93-35A1-03B9-C7DE-E5C090AD7E7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Basic Systems (2 of 2)</a:t>
            </a:r>
            <a:endParaRPr lang="en-US" sz="4800" dirty="0"/>
          </a:p>
        </p:txBody>
      </p:sp>
      <p:sp>
        <p:nvSpPr>
          <p:cNvPr id="145" name="Google Shape;145;p4">
            <a:extLst>
              <a:ext uri="{FF2B5EF4-FFF2-40B4-BE49-F238E27FC236}">
                <a16:creationId xmlns:a16="http://schemas.microsoft.com/office/drawing/2014/main" id="{FA4AAD1F-67D2-CA0F-6AA7-44B3E93757D3}"/>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000" dirty="0"/>
              <a:t>Power-Split System</a:t>
            </a:r>
          </a:p>
          <a:p>
            <a:pPr marL="715963" lvl="1" indent="-357188"/>
            <a:r>
              <a:rPr lang="en-US" sz="1800" dirty="0"/>
              <a:t>Currently, many full hybrid vehicles use a power-split system. They are the foundation for series-parallel hybrids and are capable of instantaneously switching from one power source to another or combining the two.</a:t>
            </a:r>
          </a:p>
          <a:p>
            <a:pPr marL="358775" indent="-358775"/>
            <a:r>
              <a:rPr lang="en-US" sz="2000" dirty="0"/>
              <a:t>Motors in Transmission</a:t>
            </a:r>
          </a:p>
          <a:p>
            <a:pPr marL="715963" lvl="1" indent="-357188"/>
            <a:r>
              <a:rPr lang="en-US" sz="1800" dirty="0"/>
              <a:t>This system relies on electric motors built into the transmission housing and connected to the transmission’s planetary gearsets. Most of these systems are based on simple planetary gearsets coupled to two electronically controlled AC motors.</a:t>
            </a:r>
          </a:p>
          <a:p>
            <a:pPr marL="358775" indent="-358775"/>
            <a:r>
              <a:rPr lang="en-US" sz="2000" dirty="0"/>
              <a:t>Electric 4WD</a:t>
            </a:r>
          </a:p>
          <a:p>
            <a:pPr marL="715963" lvl="1" indent="-357188"/>
            <a:r>
              <a:rPr lang="en-US" sz="1800" dirty="0"/>
              <a:t>Some 4WD hybrids use an electric motor, differential, and rear transaxle housing to drive the rear wheels. This unit is not mechanically tied to the front drive axles; rather, it’s action is controlled by electronics.</a:t>
            </a:r>
          </a:p>
        </p:txBody>
      </p:sp>
    </p:spTree>
    <p:extLst>
      <p:ext uri="{BB962C8B-B14F-4D97-AF65-F5344CB8AC3E}">
        <p14:creationId xmlns:p14="http://schemas.microsoft.com/office/powerpoint/2010/main" val="3951483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solidFill>
                  <a:schemeClr val="tx1"/>
                </a:solidFill>
              </a:rPr>
              <a:t>Which hybrid design type utilizes a power-split system?</a:t>
            </a:r>
          </a:p>
        </p:txBody>
      </p:sp>
    </p:spTree>
    <p:extLst>
      <p:ext uri="{BB962C8B-B14F-4D97-AF65-F5344CB8AC3E}">
        <p14:creationId xmlns:p14="http://schemas.microsoft.com/office/powerpoint/2010/main" val="3280663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46C8B3C6-192B-9AFE-2165-DE23CB380EBA}"/>
              </a:ext>
            </a:extLst>
          </p:cNvPr>
          <p:cNvSpPr>
            <a:spLocks noGrp="1"/>
          </p:cNvSpPr>
          <p:nvPr>
            <p:ph type="body" idx="1"/>
          </p:nvPr>
        </p:nvSpPr>
        <p:spPr/>
        <p:txBody>
          <a:bodyPr/>
          <a:lstStyle/>
          <a:p>
            <a:pPr marL="361950" lvl="1" indent="0">
              <a:buNone/>
            </a:pPr>
            <a:r>
              <a:rPr lang="en-US" sz="2600" b="1" dirty="0"/>
              <a:t>Answer</a:t>
            </a:r>
            <a:r>
              <a:rPr lang="en-US" sz="2600" dirty="0"/>
              <a:t>: Series-Parallel</a:t>
            </a:r>
          </a:p>
        </p:txBody>
      </p:sp>
    </p:spTree>
    <p:extLst>
      <p:ext uri="{BB962C8B-B14F-4D97-AF65-F5344CB8AC3E}">
        <p14:creationId xmlns:p14="http://schemas.microsoft.com/office/powerpoint/2010/main" val="832533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8D2B427-2793-196E-85D3-188794D8B3B4}"/>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63FA7A2-6EBA-FA0A-6BBF-B646FA89D1B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HVAC</a:t>
            </a:r>
            <a:endParaRPr lang="en-US" sz="4800" dirty="0"/>
          </a:p>
        </p:txBody>
      </p:sp>
      <p:pic>
        <p:nvPicPr>
          <p:cNvPr id="7" name="Picture Placeholder 6" descr="A high-voltage motor is provided to rotate an electric A/C compressor in a hybrid vehicle.">
            <a:extLst>
              <a:ext uri="{FF2B5EF4-FFF2-40B4-BE49-F238E27FC236}">
                <a16:creationId xmlns:a16="http://schemas.microsoft.com/office/drawing/2014/main" id="{DC83EC06-2CAC-2CCC-CB7A-873005627863}"/>
              </a:ext>
            </a:extLst>
          </p:cNvPr>
          <p:cNvPicPr>
            <a:picLocks noGrp="1" noChangeAspect="1"/>
          </p:cNvPicPr>
          <p:nvPr>
            <p:ph type="pic" sz="quarter" idx="11"/>
          </p:nvPr>
        </p:nvPicPr>
        <p:blipFill rotWithShape="1">
          <a:blip r:embed="rId3"/>
          <a:srcRect b="12100"/>
          <a:stretch/>
        </p:blipFill>
        <p:spPr>
          <a:xfrm>
            <a:off x="473240" y="1743385"/>
            <a:ext cx="4340793" cy="3370035"/>
          </a:xfrm>
          <a:prstGeom prst="rect">
            <a:avLst/>
          </a:prstGeom>
        </p:spPr>
      </p:pic>
      <p:sp>
        <p:nvSpPr>
          <p:cNvPr id="145" name="Google Shape;145;p4">
            <a:extLst>
              <a:ext uri="{FF2B5EF4-FFF2-40B4-BE49-F238E27FC236}">
                <a16:creationId xmlns:a16="http://schemas.microsoft.com/office/drawing/2014/main" id="{2BD9296B-DC32-9D4E-8D5C-CA0FB327B19D}"/>
              </a:ext>
            </a:extLst>
          </p:cNvPr>
          <p:cNvSpPr txBox="1">
            <a:spLocks noGrp="1"/>
          </p:cNvSpPr>
          <p:nvPr>
            <p:ph type="body" idx="1"/>
          </p:nvPr>
        </p:nvSpPr>
        <p:spPr>
          <a:xfrm>
            <a:off x="4967417" y="1506475"/>
            <a:ext cx="6751342" cy="4585406"/>
          </a:xfrm>
          <a:prstGeom prst="rect">
            <a:avLst/>
          </a:prstGeom>
          <a:noFill/>
          <a:ln>
            <a:noFill/>
          </a:ln>
        </p:spPr>
        <p:txBody>
          <a:bodyPr spcFirstLastPara="1" wrap="square" lIns="91425" tIns="45700" rIns="91425" bIns="45700" anchor="t" anchorCtr="0">
            <a:noAutofit/>
          </a:bodyPr>
          <a:lstStyle/>
          <a:p>
            <a:pPr marL="358775" indent="-358775">
              <a:buSzPts val="2800"/>
              <a:buNone/>
            </a:pPr>
            <a:r>
              <a:rPr lang="en-US" sz="1800" b="1" dirty="0"/>
              <a:t>35.03 Explain hybrid vehicle HVAC operation.</a:t>
            </a:r>
            <a:endParaRPr lang="en-US" sz="1800" dirty="0"/>
          </a:p>
          <a:p>
            <a:pPr marL="358775" indent="-358775"/>
            <a:r>
              <a:rPr lang="en-US" sz="1800" dirty="0"/>
              <a:t>The engine can be used to supply the heat so heating and defrosting systems are similar to conventional vehicles.</a:t>
            </a:r>
          </a:p>
          <a:p>
            <a:pPr marL="358775" indent="-358775"/>
            <a:r>
              <a:rPr lang="en-US" sz="1800" dirty="0"/>
              <a:t>Some hybrids however have additional electrical heaters.</a:t>
            </a:r>
          </a:p>
          <a:p>
            <a:pPr marL="358775" indent="-358775"/>
            <a:r>
              <a:rPr lang="en-US" sz="1800" dirty="0"/>
              <a:t>These keep the passenger compartment warm when the engine is off.</a:t>
            </a:r>
          </a:p>
          <a:p>
            <a:pPr marL="358775" indent="-358775"/>
            <a:r>
              <a:rPr lang="en-US" sz="1800" dirty="0"/>
              <a:t>HEV air-conditioning systems are identical to those used in a conventional vehicle, except a high-voltage motor is used to rotate the compressor.</a:t>
            </a:r>
          </a:p>
          <a:p>
            <a:pPr marL="358775" indent="-358775"/>
            <a:r>
              <a:rPr lang="en-US" sz="1800" dirty="0"/>
              <a:t>This increases efficiency of the engine and gives conditioned air when the engine is off.</a:t>
            </a:r>
          </a:p>
        </p:txBody>
      </p:sp>
    </p:spTree>
    <p:extLst>
      <p:ext uri="{BB962C8B-B14F-4D97-AF65-F5344CB8AC3E}">
        <p14:creationId xmlns:p14="http://schemas.microsoft.com/office/powerpoint/2010/main" val="3749788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72B120B-AE4D-BD1E-ACFE-9B6A2ED5545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BBC3375D-EA8F-9DF0-5700-BF80512461B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Power Brakes</a:t>
            </a:r>
            <a:endParaRPr lang="en-US" sz="4800" dirty="0"/>
          </a:p>
        </p:txBody>
      </p:sp>
      <p:sp>
        <p:nvSpPr>
          <p:cNvPr id="145" name="Google Shape;145;p4">
            <a:extLst>
              <a:ext uri="{FF2B5EF4-FFF2-40B4-BE49-F238E27FC236}">
                <a16:creationId xmlns:a16="http://schemas.microsoft.com/office/drawing/2014/main" id="{C79F2905-B74E-CAF8-3F4C-33415459E43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0"/>
              </a:spcAft>
            </a:pPr>
            <a:r>
              <a:rPr lang="en-US" sz="1800" dirty="0">
                <a:solidFill>
                  <a:schemeClr val="tx1"/>
                </a:solidFill>
              </a:rPr>
              <a:t>Many power brake systems use engine vacuum and atmospheric pressure to multiply the effort applied to the brake pedal during braking.</a:t>
            </a:r>
          </a:p>
          <a:p>
            <a:pPr>
              <a:spcAft>
                <a:spcPts val="0"/>
              </a:spcAft>
            </a:pPr>
            <a:r>
              <a:rPr lang="en-US" sz="1800" dirty="0">
                <a:solidFill>
                  <a:schemeClr val="tx1"/>
                </a:solidFill>
              </a:rPr>
              <a:t>Because there is an engine in an HEV, there is a natural vacuum source.</a:t>
            </a:r>
          </a:p>
          <a:p>
            <a:pPr>
              <a:spcAft>
                <a:spcPts val="0"/>
              </a:spcAft>
            </a:pPr>
            <a:r>
              <a:rPr lang="en-US" sz="1800" dirty="0">
                <a:solidFill>
                  <a:schemeClr val="tx1"/>
                </a:solidFill>
              </a:rPr>
              <a:t>However, there is no vacuum when the engine is not running.</a:t>
            </a:r>
          </a:p>
          <a:p>
            <a:pPr>
              <a:spcAft>
                <a:spcPts val="0"/>
              </a:spcAft>
            </a:pPr>
            <a:r>
              <a:rPr lang="en-US" sz="1800" dirty="0">
                <a:solidFill>
                  <a:schemeClr val="tx1"/>
                </a:solidFill>
              </a:rPr>
              <a:t>Therefore, some HEVs have an electrically powered vacuum pump fitted to the vacuum assist power brake system.</a:t>
            </a:r>
          </a:p>
          <a:p>
            <a:pPr>
              <a:spcAft>
                <a:spcPts val="0"/>
              </a:spcAft>
            </a:pPr>
            <a:r>
              <a:rPr lang="en-US" sz="1800" dirty="0">
                <a:solidFill>
                  <a:schemeClr val="tx1"/>
                </a:solidFill>
              </a:rPr>
              <a:t>Most hybrids have an electro-hydraulic brake system.</a:t>
            </a:r>
          </a:p>
          <a:p>
            <a:pPr>
              <a:spcAft>
                <a:spcPts val="0"/>
              </a:spcAft>
            </a:pPr>
            <a:r>
              <a:rPr lang="en-US" sz="1800" dirty="0">
                <a:solidFill>
                  <a:schemeClr val="tx1"/>
                </a:solidFill>
              </a:rPr>
              <a:t>An electric pump provides the hydraulic pressure for a hydraulic brake booster.</a:t>
            </a:r>
          </a:p>
          <a:p>
            <a:pPr>
              <a:spcAft>
                <a:spcPts val="0"/>
              </a:spcAft>
            </a:pPr>
            <a:r>
              <a:rPr lang="en-US" sz="1800" dirty="0">
                <a:solidFill>
                  <a:schemeClr val="tx1"/>
                </a:solidFill>
              </a:rPr>
              <a:t>When the driver presses the brake pedal, the stroke sensor relays pedal movement to the skid control module.</a:t>
            </a:r>
          </a:p>
          <a:p>
            <a:pPr>
              <a:spcAft>
                <a:spcPts val="0"/>
              </a:spcAft>
            </a:pPr>
            <a:r>
              <a:rPr lang="en-US" sz="1800" dirty="0">
                <a:solidFill>
                  <a:schemeClr val="tx1"/>
                </a:solidFill>
              </a:rPr>
              <a:t>The skid control module receives information from the hybrid control module regarding battery state-of-charge.</a:t>
            </a:r>
          </a:p>
          <a:p>
            <a:pPr>
              <a:spcAft>
                <a:spcPts val="0"/>
              </a:spcAft>
            </a:pPr>
            <a:r>
              <a:rPr lang="en-US" sz="1800" dirty="0">
                <a:solidFill>
                  <a:schemeClr val="tx1"/>
                </a:solidFill>
              </a:rPr>
              <a:t>The amount of braking and regeneration required determines the force needed for the wheel brakes.</a:t>
            </a:r>
          </a:p>
        </p:txBody>
      </p:sp>
    </p:spTree>
    <p:extLst>
      <p:ext uri="{BB962C8B-B14F-4D97-AF65-F5344CB8AC3E}">
        <p14:creationId xmlns:p14="http://schemas.microsoft.com/office/powerpoint/2010/main" val="4077090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32C78BA-1E67-BE95-E77A-82BFF003C8E6}"/>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BC6BB45A-192C-F4A1-4C7F-BF948ADD45D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GM’s Series Hybrids</a:t>
            </a:r>
            <a:endParaRPr lang="en-US" sz="4800" dirty="0"/>
          </a:p>
        </p:txBody>
      </p:sp>
      <p:pic>
        <p:nvPicPr>
          <p:cNvPr id="7" name="Picture Placeholder 6" descr="A Chevrolet Volt hatchback, an extended range electric vehicle, is being charged at an electric charging station in a parking lot.">
            <a:extLst>
              <a:ext uri="{FF2B5EF4-FFF2-40B4-BE49-F238E27FC236}">
                <a16:creationId xmlns:a16="http://schemas.microsoft.com/office/drawing/2014/main" id="{DFC1DEF8-C4D0-9C91-D41C-E11AC4BE8E5B}"/>
              </a:ext>
            </a:extLst>
          </p:cNvPr>
          <p:cNvPicPr>
            <a:picLocks noGrp="1" noChangeAspect="1"/>
          </p:cNvPicPr>
          <p:nvPr>
            <p:ph type="pic" sz="quarter" idx="11"/>
          </p:nvPr>
        </p:nvPicPr>
        <p:blipFill rotWithShape="1">
          <a:blip r:embed="rId3"/>
          <a:srcRect b="13175"/>
          <a:stretch/>
        </p:blipFill>
        <p:spPr>
          <a:xfrm>
            <a:off x="591327" y="2321421"/>
            <a:ext cx="4282488" cy="2744708"/>
          </a:xfrm>
          <a:prstGeom prst="rect">
            <a:avLst/>
          </a:prstGeom>
        </p:spPr>
      </p:pic>
      <p:sp>
        <p:nvSpPr>
          <p:cNvPr id="145" name="Google Shape;145;p4">
            <a:extLst>
              <a:ext uri="{FF2B5EF4-FFF2-40B4-BE49-F238E27FC236}">
                <a16:creationId xmlns:a16="http://schemas.microsoft.com/office/drawing/2014/main" id="{1291F6BF-980E-483E-D408-5DC958263DAB}"/>
              </a:ext>
            </a:extLst>
          </p:cNvPr>
          <p:cNvSpPr txBox="1">
            <a:spLocks noGrp="1"/>
          </p:cNvSpPr>
          <p:nvPr>
            <p:ph type="body" idx="1"/>
          </p:nvPr>
        </p:nvSpPr>
        <p:spPr>
          <a:xfrm>
            <a:off x="5066271" y="1506475"/>
            <a:ext cx="6652488" cy="4671903"/>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tx1"/>
                </a:solidFill>
              </a:rPr>
              <a:t>35.04 Describe the types of hybrids available from various manufacturers.</a:t>
            </a:r>
            <a:endParaRPr lang="en-US" sz="2000" dirty="0">
              <a:solidFill>
                <a:schemeClr val="tx1"/>
              </a:solidFill>
            </a:endParaRPr>
          </a:p>
          <a:p>
            <a:pPr marL="358775" indent="-358775"/>
            <a:r>
              <a:rPr lang="en-US" sz="2000" dirty="0">
                <a:solidFill>
                  <a:schemeClr val="tx1"/>
                </a:solidFill>
              </a:rPr>
              <a:t>The Chevrolet Volt is a hatchback called an extended range EV, sold from 2011 to 2019.</a:t>
            </a:r>
          </a:p>
          <a:p>
            <a:pPr marL="358775" indent="-358775"/>
            <a:r>
              <a:rPr lang="en-US" sz="2000" dirty="0">
                <a:solidFill>
                  <a:schemeClr val="tx1"/>
                </a:solidFill>
              </a:rPr>
              <a:t>According to the SAE, this model should be classified as series or plug-in hybrid.</a:t>
            </a:r>
          </a:p>
          <a:p>
            <a:pPr marL="358775" indent="-358775"/>
            <a:r>
              <a:rPr lang="en-US" sz="2000" dirty="0">
                <a:solidFill>
                  <a:schemeClr val="tx1"/>
                </a:solidFill>
              </a:rPr>
              <a:t>Mostly, the Volt acts as an EV or series hybrid.</a:t>
            </a:r>
          </a:p>
          <a:p>
            <a:pPr marL="358775" indent="-358775"/>
            <a:r>
              <a:rPr lang="en-US" sz="2000" dirty="0">
                <a:solidFill>
                  <a:schemeClr val="tx1"/>
                </a:solidFill>
              </a:rPr>
              <a:t>By combining the features of a battery-operated electric vehicle and a series hybrid, you have an extended range EV.</a:t>
            </a:r>
          </a:p>
          <a:p>
            <a:pPr marL="358775" indent="-358775"/>
            <a:r>
              <a:rPr lang="en-US" sz="2000" dirty="0">
                <a:solidFill>
                  <a:schemeClr val="tx1"/>
                </a:solidFill>
              </a:rPr>
              <a:t>A smaller, shorter-range version is available as the Malibu Hybrid.</a:t>
            </a:r>
          </a:p>
        </p:txBody>
      </p:sp>
    </p:spTree>
    <p:extLst>
      <p:ext uri="{BB962C8B-B14F-4D97-AF65-F5344CB8AC3E}">
        <p14:creationId xmlns:p14="http://schemas.microsoft.com/office/powerpoint/2010/main" val="3162631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96A4733-31B0-2DBD-7552-A7FDB5E9B44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4F0FE932-2CCD-2C50-6AB9-A1F98F97B16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Basic Operation </a:t>
            </a:r>
            <a:endParaRPr lang="en-US" sz="4800" dirty="0"/>
          </a:p>
        </p:txBody>
      </p:sp>
      <p:sp>
        <p:nvSpPr>
          <p:cNvPr id="145" name="Google Shape;145;p4">
            <a:extLst>
              <a:ext uri="{FF2B5EF4-FFF2-40B4-BE49-F238E27FC236}">
                <a16:creationId xmlns:a16="http://schemas.microsoft.com/office/drawing/2014/main" id="{5A700EEA-F060-1744-501F-23929DE89567}"/>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t>The drivetrain allows the Volt to operate as a pure electric vehicle.</a:t>
            </a:r>
          </a:p>
          <a:p>
            <a:pPr marL="358775" indent="-358775">
              <a:spcAft>
                <a:spcPts val="400"/>
              </a:spcAft>
            </a:pPr>
            <a:r>
              <a:rPr lang="en-US" sz="1800" dirty="0"/>
              <a:t>The distance it can travel on electricity alone is affected by many things including the battery’s state of charge (SOC), road conditions, driving style, driver comfort settings (e.g., HVAC), and weather.</a:t>
            </a:r>
          </a:p>
          <a:p>
            <a:pPr marL="358775" indent="-358775">
              <a:spcAft>
                <a:spcPts val="400"/>
              </a:spcAft>
            </a:pPr>
            <a:r>
              <a:rPr lang="en-US" sz="1800" dirty="0"/>
              <a:t>Once the battery is mostly depleted, the engine starts and powers the generator and the car operates as a series hybrid.</a:t>
            </a:r>
          </a:p>
          <a:p>
            <a:pPr marL="358775" indent="-358775">
              <a:spcAft>
                <a:spcPts val="400"/>
              </a:spcAft>
            </a:pPr>
            <a:r>
              <a:rPr lang="en-US" sz="1800" dirty="0"/>
              <a:t>While operating in the series mode at higher speeds and loads (normally above 30 miles per hour and/or under acceleration), the generator functions as a motor to aid the traction motor (MG-B).</a:t>
            </a:r>
          </a:p>
          <a:p>
            <a:pPr marL="358775" indent="-358775">
              <a:spcAft>
                <a:spcPts val="400"/>
              </a:spcAft>
            </a:pPr>
            <a:r>
              <a:rPr lang="en-US" sz="1800" dirty="0"/>
              <a:t>Also under particular conditions, the engine is mechanically linked to the output of the gearset and assists both electric motors to drive the wheels; therefore, the Volt can operate as a series-parallel hybrid when additional power is required.</a:t>
            </a:r>
          </a:p>
          <a:p>
            <a:pPr marL="358775" indent="-358775">
              <a:spcAft>
                <a:spcPts val="400"/>
              </a:spcAft>
            </a:pPr>
            <a:r>
              <a:rPr lang="en-US" sz="1800" dirty="0"/>
              <a:t>The first-generation Volt has four basic power modes: all battery-electric (charge depleting), low and high speed.</a:t>
            </a:r>
          </a:p>
        </p:txBody>
      </p:sp>
    </p:spTree>
    <p:extLst>
      <p:ext uri="{BB962C8B-B14F-4D97-AF65-F5344CB8AC3E}">
        <p14:creationId xmlns:p14="http://schemas.microsoft.com/office/powerpoint/2010/main" val="1063408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9AD2C13-5E39-634E-29EF-C65A7C20E04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E61E07D7-401B-DE78-5C17-9624B2F5E2A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GM’s Parallel Hybrids</a:t>
            </a:r>
            <a:endParaRPr lang="en-US" sz="4800" dirty="0"/>
          </a:p>
        </p:txBody>
      </p:sp>
      <p:sp>
        <p:nvSpPr>
          <p:cNvPr id="145" name="Google Shape;145;p4">
            <a:extLst>
              <a:ext uri="{FF2B5EF4-FFF2-40B4-BE49-F238E27FC236}">
                <a16:creationId xmlns:a16="http://schemas.microsoft.com/office/drawing/2014/main" id="{EC35B0DD-FEF7-9820-E912-967477FEF5D9}"/>
              </a:ext>
            </a:extLst>
          </p:cNvPr>
          <p:cNvSpPr txBox="1">
            <a:spLocks noGrp="1"/>
          </p:cNvSpPr>
          <p:nvPr>
            <p:ph type="body" idx="1"/>
          </p:nvPr>
        </p:nvSpPr>
        <p:spPr>
          <a:xfrm>
            <a:off x="476843" y="1506474"/>
            <a:ext cx="11386294" cy="4671904"/>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solidFill>
                  <a:schemeClr val="tx1"/>
                </a:solidFill>
              </a:rPr>
              <a:t>GM used a BAS hybrid system in 2006 through 2008 on some Saturn models, 2009 through 2010 on the Chevrolet Malibu, and in other Chevrolet and Buick models.</a:t>
            </a:r>
          </a:p>
          <a:p>
            <a:pPr marL="358775" indent="-358775">
              <a:spcAft>
                <a:spcPts val="400"/>
              </a:spcAft>
            </a:pPr>
            <a:r>
              <a:rPr lang="en-US" sz="1800" dirty="0">
                <a:solidFill>
                  <a:schemeClr val="tx1"/>
                </a:solidFill>
              </a:rPr>
              <a:t>The motor/generator can serve as the starter, assist motor, and generator.</a:t>
            </a:r>
          </a:p>
          <a:p>
            <a:pPr marL="358775" indent="-358775">
              <a:spcAft>
                <a:spcPts val="400"/>
              </a:spcAft>
            </a:pPr>
            <a:r>
              <a:rPr lang="en-US" sz="1800" dirty="0">
                <a:solidFill>
                  <a:schemeClr val="tx1"/>
                </a:solidFill>
              </a:rPr>
              <a:t>When working as a generator, it provides more than twice the output of a typical generator and is capable of providing 3,000 watts of continuous power.</a:t>
            </a:r>
          </a:p>
          <a:p>
            <a:pPr marL="358775" indent="-358775">
              <a:spcAft>
                <a:spcPts val="400"/>
              </a:spcAft>
            </a:pPr>
            <a:r>
              <a:rPr lang="en-US" sz="1800" dirty="0">
                <a:solidFill>
                  <a:schemeClr val="tx1"/>
                </a:solidFill>
              </a:rPr>
              <a:t>During operation, the generator’s control module can get hot and excessive heat can destroy it.</a:t>
            </a:r>
          </a:p>
          <a:p>
            <a:pPr marL="358775" indent="-358775">
              <a:spcAft>
                <a:spcPts val="400"/>
              </a:spcAft>
            </a:pPr>
            <a:r>
              <a:rPr lang="en-US" sz="1800" dirty="0">
                <a:solidFill>
                  <a:schemeClr val="tx1"/>
                </a:solidFill>
              </a:rPr>
              <a:t>So there is a coolant pump to keep engine coolant circulating through the module when the engine is off during stop-start.</a:t>
            </a:r>
          </a:p>
          <a:p>
            <a:pPr marL="358775" indent="-358775">
              <a:spcAft>
                <a:spcPts val="400"/>
              </a:spcAft>
            </a:pPr>
            <a:r>
              <a:rPr lang="en-US" sz="1800" dirty="0">
                <a:solidFill>
                  <a:schemeClr val="tx1"/>
                </a:solidFill>
              </a:rPr>
              <a:t>That pump shares an electrical circuit with a second electric pump that keeps coolant circulating through the heater core when the engine is off and the vehicle is in the stop-start mode.</a:t>
            </a:r>
          </a:p>
          <a:p>
            <a:pPr marL="358775" indent="-358775">
              <a:spcAft>
                <a:spcPts val="400"/>
              </a:spcAft>
            </a:pPr>
            <a:r>
              <a:rPr lang="en-US" sz="1800" dirty="0">
                <a:solidFill>
                  <a:schemeClr val="tx1"/>
                </a:solidFill>
              </a:rPr>
              <a:t>A third pump is used to keep transmission fluid circulating in the transmission when the engine is off during stop-start.</a:t>
            </a:r>
          </a:p>
        </p:txBody>
      </p:sp>
    </p:spTree>
    <p:extLst>
      <p:ext uri="{BB962C8B-B14F-4D97-AF65-F5344CB8AC3E}">
        <p14:creationId xmlns:p14="http://schemas.microsoft.com/office/powerpoint/2010/main" val="738500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9394FA3-DDBE-3AD3-6997-DBC269C6533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F928E48-DC94-E271-B30B-6419A730F12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Honda’s Hybrid Systems</a:t>
            </a:r>
            <a:endParaRPr lang="en-US" sz="4800" dirty="0"/>
          </a:p>
        </p:txBody>
      </p:sp>
      <p:sp>
        <p:nvSpPr>
          <p:cNvPr id="145" name="Google Shape;145;p4">
            <a:extLst>
              <a:ext uri="{FF2B5EF4-FFF2-40B4-BE49-F238E27FC236}">
                <a16:creationId xmlns:a16="http://schemas.microsoft.com/office/drawing/2014/main" id="{EB9AF67B-178C-650C-DD0E-CC63CB6C2C65}"/>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solidFill>
                  <a:schemeClr val="tx1"/>
                </a:solidFill>
              </a:rPr>
              <a:t>Until 2013, Honda hybrids used an ISAD system, called the integrated motor assist (IMA) system. Honda introduced their Insight in December 1999 and became the first manufacturer to offer hybrid vehicles in North America.</a:t>
            </a:r>
          </a:p>
          <a:p>
            <a:pPr marL="358775" indent="-358775">
              <a:spcAft>
                <a:spcPts val="0"/>
              </a:spcAft>
            </a:pPr>
            <a:r>
              <a:rPr lang="en-US" sz="1800" dirty="0">
                <a:solidFill>
                  <a:schemeClr val="tx1"/>
                </a:solidFill>
              </a:rPr>
              <a:t>With this introduction came a new technology, placing an electric motor between the engine and transmission.</a:t>
            </a:r>
          </a:p>
          <a:p>
            <a:pPr marL="358775" indent="-358775">
              <a:spcAft>
                <a:spcPts val="0"/>
              </a:spcAft>
            </a:pPr>
            <a:r>
              <a:rPr lang="en-US" sz="1800" dirty="0">
                <a:solidFill>
                  <a:schemeClr val="tx1"/>
                </a:solidFill>
              </a:rPr>
              <a:t>Since then, Honda has released many variations of this design and has offered many different hybrid models.</a:t>
            </a:r>
          </a:p>
          <a:p>
            <a:pPr marL="358775" indent="-358775">
              <a:spcAft>
                <a:spcPts val="0"/>
              </a:spcAft>
            </a:pPr>
            <a:r>
              <a:rPr lang="en-US" sz="1800" dirty="0">
                <a:solidFill>
                  <a:schemeClr val="tx1"/>
                </a:solidFill>
              </a:rPr>
              <a:t>With this design, Honda was able to use a small efficient engine in a vehicle.</a:t>
            </a:r>
          </a:p>
          <a:p>
            <a:pPr marL="358775" indent="-358775">
              <a:spcAft>
                <a:spcPts val="0"/>
              </a:spcAft>
            </a:pPr>
            <a:r>
              <a:rPr lang="en-US" sz="1800" dirty="0">
                <a:solidFill>
                  <a:schemeClr val="tx1"/>
                </a:solidFill>
              </a:rPr>
              <a:t>The power deficiencies of the engine are overcome by a small, efficient electric motor.</a:t>
            </a:r>
          </a:p>
          <a:p>
            <a:pPr marL="358775" indent="-358775">
              <a:spcAft>
                <a:spcPts val="0"/>
              </a:spcAft>
            </a:pPr>
            <a:r>
              <a:rPr lang="en-US" sz="1800" dirty="0">
                <a:solidFill>
                  <a:schemeClr val="tx1"/>
                </a:solidFill>
              </a:rPr>
              <a:t>Through the years, this platform was improved to allow the vehicle to be powered by the engine, electric motor, or both.</a:t>
            </a:r>
          </a:p>
          <a:p>
            <a:pPr marL="358775" indent="-358775">
              <a:spcAft>
                <a:spcPts val="0"/>
              </a:spcAft>
            </a:pPr>
            <a:r>
              <a:rPr lang="en-US" sz="1800" dirty="0">
                <a:solidFill>
                  <a:schemeClr val="tx1"/>
                </a:solidFill>
              </a:rPr>
              <a:t>Early Honda hybrids were assist-only hybrids.</a:t>
            </a:r>
          </a:p>
          <a:p>
            <a:pPr marL="358775" indent="-358775">
              <a:spcAft>
                <a:spcPts val="0"/>
              </a:spcAft>
            </a:pPr>
            <a:r>
              <a:rPr lang="en-US" sz="1800" dirty="0">
                <a:solidFill>
                  <a:schemeClr val="tx1"/>
                </a:solidFill>
              </a:rPr>
              <a:t>As of 2023, Honda has the Accord Hybrid and CR-V hybrid.</a:t>
            </a:r>
          </a:p>
          <a:p>
            <a:pPr marL="358775" indent="-358775">
              <a:spcAft>
                <a:spcPts val="0"/>
              </a:spcAft>
            </a:pPr>
            <a:r>
              <a:rPr lang="en-US" sz="1800" dirty="0">
                <a:solidFill>
                  <a:schemeClr val="tx1"/>
                </a:solidFill>
              </a:rPr>
              <a:t>The Insight and Clarity Plug-In Hybrid were available through 2022.</a:t>
            </a:r>
          </a:p>
        </p:txBody>
      </p:sp>
    </p:spTree>
    <p:extLst>
      <p:ext uri="{BB962C8B-B14F-4D97-AF65-F5344CB8AC3E}">
        <p14:creationId xmlns:p14="http://schemas.microsoft.com/office/powerpoint/2010/main" val="53007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37D0D30-6BBB-4F75-090C-EFB1B52629D4}"/>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A062518-2DD7-2B64-6CEA-6B862EED2D8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Two-Motor Hybrids</a:t>
            </a:r>
            <a:endParaRPr lang="en-US" sz="4800" dirty="0"/>
          </a:p>
        </p:txBody>
      </p:sp>
      <p:sp>
        <p:nvSpPr>
          <p:cNvPr id="145" name="Google Shape;145;p4">
            <a:extLst>
              <a:ext uri="{FF2B5EF4-FFF2-40B4-BE49-F238E27FC236}">
                <a16:creationId xmlns:a16="http://schemas.microsoft.com/office/drawing/2014/main" id="{FEC4B0D2-1E3B-DE31-D661-43CFA52B5DEB}"/>
              </a:ext>
            </a:extLst>
          </p:cNvPr>
          <p:cNvSpPr txBox="1">
            <a:spLocks noGrp="1"/>
          </p:cNvSpPr>
          <p:nvPr>
            <p:ph type="body" idx="1"/>
          </p:nvPr>
        </p:nvSpPr>
        <p:spPr>
          <a:xfrm>
            <a:off x="476844" y="1506474"/>
            <a:ext cx="6814294" cy="4461839"/>
          </a:xfrm>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In 2013, the IMA system was replaced by a two-motor hybrid drive system, called the Two-Motor Hybrid Intelligent Multi-Mode Drive system.</a:t>
            </a:r>
          </a:p>
          <a:p>
            <a:pPr marL="358775" indent="-358775"/>
            <a:r>
              <a:rPr lang="en-US" sz="2000" dirty="0">
                <a:solidFill>
                  <a:schemeClr val="tx1"/>
                </a:solidFill>
              </a:rPr>
              <a:t>The hybrid has a 2.0-liter four-cylinder engine, plus two electric motors, one of which is used for propulsion and is capable of delivering 204 peak combined horsepower, and 247 pounds-feet of torque.</a:t>
            </a:r>
          </a:p>
          <a:p>
            <a:pPr marL="358775" indent="-358775"/>
            <a:r>
              <a:rPr lang="en-US" sz="2000" dirty="0">
                <a:solidFill>
                  <a:schemeClr val="tx1"/>
                </a:solidFill>
              </a:rPr>
              <a:t>The second motor is used as a generator and also serves as the engine’s starter.</a:t>
            </a:r>
          </a:p>
          <a:p>
            <a:pPr marL="358775" indent="-358775"/>
            <a:r>
              <a:rPr lang="en-US" sz="2000" dirty="0">
                <a:solidFill>
                  <a:schemeClr val="tx1"/>
                </a:solidFill>
              </a:rPr>
              <a:t>In addition to the generator, the battery is recharged through regenerative braking.</a:t>
            </a:r>
          </a:p>
        </p:txBody>
      </p:sp>
      <p:pic>
        <p:nvPicPr>
          <p:cNvPr id="7" name="Picture Placeholder 6" descr="Honda's dual electric motor transaxle and power train with a 2.0-liter four-cylinder engine, are displayed on a table.">
            <a:extLst>
              <a:ext uri="{FF2B5EF4-FFF2-40B4-BE49-F238E27FC236}">
                <a16:creationId xmlns:a16="http://schemas.microsoft.com/office/drawing/2014/main" id="{17D504D2-F881-593F-BE77-498228A0FA69}"/>
              </a:ext>
            </a:extLst>
          </p:cNvPr>
          <p:cNvPicPr>
            <a:picLocks noGrp="1" noChangeAspect="1"/>
          </p:cNvPicPr>
          <p:nvPr>
            <p:ph type="pic" sz="quarter" idx="12"/>
          </p:nvPr>
        </p:nvPicPr>
        <p:blipFill rotWithShape="1">
          <a:blip r:embed="rId3"/>
          <a:srcRect b="12082"/>
          <a:stretch/>
        </p:blipFill>
        <p:spPr>
          <a:xfrm>
            <a:off x="7390434" y="2337358"/>
            <a:ext cx="4522914" cy="3257326"/>
          </a:xfrm>
          <a:prstGeom prst="rect">
            <a:avLst/>
          </a:prstGeom>
        </p:spPr>
      </p:pic>
    </p:spTree>
    <p:extLst>
      <p:ext uri="{BB962C8B-B14F-4D97-AF65-F5344CB8AC3E}">
        <p14:creationId xmlns:p14="http://schemas.microsoft.com/office/powerpoint/2010/main" val="677431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3097910-8096-34EB-B488-2E567BC6F710}"/>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0A5BAEF-4D6F-FB9B-CD54-EC61D17037F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Transmission</a:t>
            </a:r>
            <a:endParaRPr lang="en-US" sz="4800" dirty="0"/>
          </a:p>
        </p:txBody>
      </p:sp>
      <p:sp>
        <p:nvSpPr>
          <p:cNvPr id="145" name="Google Shape;145;p4">
            <a:extLst>
              <a:ext uri="{FF2B5EF4-FFF2-40B4-BE49-F238E27FC236}">
                <a16:creationId xmlns:a16="http://schemas.microsoft.com/office/drawing/2014/main" id="{C5688C11-BCB7-F90D-DDF1-362EE5E4530A}"/>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100" dirty="0"/>
              <a:t>Most of Honda’s hybrids are equipped with either a manual transmission (early Insights) or a continuously variable transmission (e-CVT).</a:t>
            </a:r>
          </a:p>
          <a:p>
            <a:pPr marL="358775" indent="-358775"/>
            <a:r>
              <a:rPr lang="en-US" sz="2100" dirty="0"/>
              <a:t>The manual transmissions are designed to be light, reduce power loss through friction, and make shifting easy.</a:t>
            </a:r>
          </a:p>
          <a:p>
            <a:pPr marL="358775" indent="-358775"/>
            <a:r>
              <a:rPr lang="en-US" sz="2100" dirty="0"/>
              <a:t>The CVT (Honda Multimatic) uses </a:t>
            </a:r>
            <a:r>
              <a:rPr lang="en-US" sz="2100" dirty="0">
                <a:solidFill>
                  <a:schemeClr val="accent1"/>
                </a:solidFill>
              </a:rPr>
              <a:t>computer-controlled drive and driven pulleys and a metal “push” belt running between the variable-width pulleys.</a:t>
            </a:r>
          </a:p>
          <a:p>
            <a:pPr marL="358775" indent="-358775"/>
            <a:r>
              <a:rPr lang="en-US" sz="2100" dirty="0">
                <a:solidFill>
                  <a:schemeClr val="accent1"/>
                </a:solidFill>
              </a:rPr>
              <a:t>The CVT constantly adjusts to provide the most efficient drive ratio possible depending on torque load.</a:t>
            </a:r>
          </a:p>
        </p:txBody>
      </p:sp>
    </p:spTree>
    <p:extLst>
      <p:ext uri="{BB962C8B-B14F-4D97-AF65-F5344CB8AC3E}">
        <p14:creationId xmlns:p14="http://schemas.microsoft.com/office/powerpoint/2010/main" val="3369199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9226BF1-143B-81BC-4C66-3A85605DAC5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F98CCA1-F34F-78DC-0A58-66F8B252FBA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Toyota’s Hybrids</a:t>
            </a:r>
            <a:endParaRPr lang="en-US" sz="4800" dirty="0"/>
          </a:p>
        </p:txBody>
      </p:sp>
      <p:sp>
        <p:nvSpPr>
          <p:cNvPr id="145" name="Google Shape;145;p4">
            <a:extLst>
              <a:ext uri="{FF2B5EF4-FFF2-40B4-BE49-F238E27FC236}">
                <a16:creationId xmlns:a16="http://schemas.microsoft.com/office/drawing/2014/main" id="{F6704329-894C-205E-B810-F94977F27243}"/>
              </a:ext>
            </a:extLst>
          </p:cNvPr>
          <p:cNvSpPr txBox="1">
            <a:spLocks noGrp="1"/>
          </p:cNvSpPr>
          <p:nvPr>
            <p:ph type="body" idx="1"/>
          </p:nvPr>
        </p:nvSpPr>
        <p:spPr>
          <a:xfrm>
            <a:off x="476844" y="1506474"/>
            <a:ext cx="7011352" cy="4573050"/>
          </a:xfrm>
          <a:prstGeom prst="rect">
            <a:avLst/>
          </a:prstGeom>
          <a:noFill/>
          <a:ln>
            <a:noFill/>
          </a:ln>
        </p:spPr>
        <p:txBody>
          <a:bodyPr spcFirstLastPara="1" wrap="square" lIns="91425" tIns="45700" rIns="91425" bIns="45700" anchor="t" anchorCtr="0">
            <a:noAutofit/>
          </a:bodyPr>
          <a:lstStyle/>
          <a:p>
            <a:pPr marL="358775" indent="-358775"/>
            <a:r>
              <a:rPr lang="en-US" sz="2000" dirty="0"/>
              <a:t>Toyota’s approach to hybridization is a combination of series and parallel hybrid platforms.</a:t>
            </a:r>
          </a:p>
          <a:p>
            <a:pPr marL="358775" indent="-358775"/>
            <a:r>
              <a:rPr lang="en-US" sz="2000" dirty="0"/>
              <a:t>The system relies on two electric motor/generators, a power-split transaxle, and a high-voltage battery.</a:t>
            </a:r>
          </a:p>
          <a:p>
            <a:pPr marL="358775" indent="-358775"/>
            <a:r>
              <a:rPr lang="en-US" sz="2000" dirty="0"/>
              <a:t>The power-split device (PSD), consisting of a planetary gearset, mechanically blends the output from the motors and an Atkinson cycle engine.</a:t>
            </a:r>
          </a:p>
          <a:p>
            <a:pPr marL="358775" indent="-358775"/>
            <a:r>
              <a:rPr lang="en-US" sz="2000" dirty="0"/>
              <a:t>This system was called the Toyota Hybrid System (THS) when it was released, and the newer designs of the THS are called the Hybrid Synergy Drive (HSD) system.</a:t>
            </a:r>
          </a:p>
        </p:txBody>
      </p:sp>
      <p:pic>
        <p:nvPicPr>
          <p:cNvPr id="7" name="Picture Placeholder 6" descr="The hybrid platform system of a Toyota, two electric Motor/Generators, labeled M G 1, and M G 2, at the top and at the bottom respectively, with a power-split device (P S D) between them.">
            <a:extLst>
              <a:ext uri="{FF2B5EF4-FFF2-40B4-BE49-F238E27FC236}">
                <a16:creationId xmlns:a16="http://schemas.microsoft.com/office/drawing/2014/main" id="{DB595594-D3FD-2FC2-627A-83A222DC39E5}"/>
              </a:ext>
            </a:extLst>
          </p:cNvPr>
          <p:cNvPicPr>
            <a:picLocks noGrp="1" noChangeAspect="1"/>
          </p:cNvPicPr>
          <p:nvPr>
            <p:ph type="pic" sz="quarter" idx="12"/>
          </p:nvPr>
        </p:nvPicPr>
        <p:blipFill rotWithShape="1">
          <a:blip r:embed="rId3"/>
          <a:srcRect b="9179"/>
          <a:stretch/>
        </p:blipFill>
        <p:spPr>
          <a:xfrm>
            <a:off x="7855985" y="1703458"/>
            <a:ext cx="3321352" cy="4107934"/>
          </a:xfrm>
          <a:prstGeom prst="rect">
            <a:avLst/>
          </a:prstGeom>
        </p:spPr>
      </p:pic>
    </p:spTree>
    <p:extLst>
      <p:ext uri="{BB962C8B-B14F-4D97-AF65-F5344CB8AC3E}">
        <p14:creationId xmlns:p14="http://schemas.microsoft.com/office/powerpoint/2010/main" val="1498368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2FE0D05-AC56-AECE-8F15-A1BD84390704}"/>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E85B59A-30FF-4A51-286A-49BFF3C0F1A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Other Hybrids from Toyota</a:t>
            </a:r>
            <a:endParaRPr lang="en-US" sz="4800" dirty="0"/>
          </a:p>
        </p:txBody>
      </p:sp>
      <p:sp>
        <p:nvSpPr>
          <p:cNvPr id="145" name="Google Shape;145;p4">
            <a:extLst>
              <a:ext uri="{FF2B5EF4-FFF2-40B4-BE49-F238E27FC236}">
                <a16:creationId xmlns:a16="http://schemas.microsoft.com/office/drawing/2014/main" id="{740625AC-354C-1622-782A-7B8ED66661E0}"/>
              </a:ext>
            </a:extLst>
          </p:cNvPr>
          <p:cNvSpPr txBox="1">
            <a:spLocks noGrp="1"/>
          </p:cNvSpPr>
          <p:nvPr>
            <p:ph type="body" idx="1"/>
          </p:nvPr>
        </p:nvSpPr>
        <p:spPr>
          <a:xfrm>
            <a:off x="476844" y="1506474"/>
            <a:ext cx="6645851" cy="4560694"/>
          </a:xfrm>
          <a:prstGeom prst="rect">
            <a:avLst/>
          </a:prstGeom>
          <a:noFill/>
          <a:ln>
            <a:noFill/>
          </a:ln>
        </p:spPr>
        <p:txBody>
          <a:bodyPr spcFirstLastPara="1" wrap="square" lIns="91425" tIns="45700" rIns="91425" bIns="45700" anchor="t" anchorCtr="0">
            <a:noAutofit/>
          </a:bodyPr>
          <a:lstStyle/>
          <a:p>
            <a:pPr marL="358775" indent="-358775"/>
            <a:r>
              <a:rPr lang="en-US" sz="1800" dirty="0"/>
              <a:t>Several hybrid cars are available from Toyota and Lexus.</a:t>
            </a:r>
          </a:p>
          <a:p>
            <a:pPr marL="358775" indent="-358775"/>
            <a:r>
              <a:rPr lang="en-US" sz="1800" dirty="0"/>
              <a:t>Lexus has hybrids across six products, from the Prius-based CT Hybrid to the performance-oriented LC Hybrid sports car.</a:t>
            </a:r>
          </a:p>
          <a:p>
            <a:pPr marL="358775" indent="-358775"/>
            <a:r>
              <a:rPr lang="en-US" sz="1800" dirty="0"/>
              <a:t>All of these except the LC Hybrid are based on the same architecture as the Prius.</a:t>
            </a:r>
          </a:p>
          <a:p>
            <a:pPr marL="358775" indent="-358775"/>
            <a:r>
              <a:rPr lang="en-US" sz="1800" dirty="0"/>
              <a:t>The base engine, traction motor, and battery have been made more powerful to offset.</a:t>
            </a:r>
          </a:p>
          <a:p>
            <a:pPr marL="358775" indent="-358775"/>
            <a:r>
              <a:rPr lang="en-US" sz="1800" dirty="0"/>
              <a:t>New in 2022, Toyota released the Tundra HEV.</a:t>
            </a:r>
          </a:p>
          <a:p>
            <a:pPr marL="358775" indent="-358775"/>
            <a:r>
              <a:rPr lang="en-US" sz="1800" dirty="0"/>
              <a:t>A twin-turbo V6 is attached to a single 48 hp motor/generator and 10-speed automatic transmission.</a:t>
            </a:r>
          </a:p>
        </p:txBody>
      </p:sp>
      <p:pic>
        <p:nvPicPr>
          <p:cNvPr id="7" name="Picture Placeholder 6" descr="The internal components of a 2023 Tundra Hybrid electric vehicle displays the base engine, traction motor, battery, inverter and three cooling system reservoirs.">
            <a:extLst>
              <a:ext uri="{FF2B5EF4-FFF2-40B4-BE49-F238E27FC236}">
                <a16:creationId xmlns:a16="http://schemas.microsoft.com/office/drawing/2014/main" id="{13462509-E6FE-D15B-13FC-26BFCA3FAF20}"/>
              </a:ext>
            </a:extLst>
          </p:cNvPr>
          <p:cNvPicPr>
            <a:picLocks noGrp="1" noChangeAspect="1"/>
          </p:cNvPicPr>
          <p:nvPr>
            <p:ph type="pic" sz="quarter" idx="12"/>
          </p:nvPr>
        </p:nvPicPr>
        <p:blipFill rotWithShape="1">
          <a:blip r:embed="rId3"/>
          <a:srcRect b="13172"/>
          <a:stretch/>
        </p:blipFill>
        <p:spPr>
          <a:xfrm>
            <a:off x="7433775" y="2458503"/>
            <a:ext cx="4366447" cy="2799297"/>
          </a:xfrm>
          <a:prstGeom prst="rect">
            <a:avLst/>
          </a:prstGeom>
        </p:spPr>
      </p:pic>
    </p:spTree>
    <p:extLst>
      <p:ext uri="{BB962C8B-B14F-4D97-AF65-F5344CB8AC3E}">
        <p14:creationId xmlns:p14="http://schemas.microsoft.com/office/powerpoint/2010/main" val="1096879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82ADF0E-6209-8BA5-783D-CD1298B46120}"/>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1B35F65-6957-83BF-F971-DE4E9035B7F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Electronic Controls</a:t>
            </a:r>
            <a:endParaRPr lang="en-US" sz="4800" dirty="0"/>
          </a:p>
        </p:txBody>
      </p:sp>
      <p:pic>
        <p:nvPicPr>
          <p:cNvPr id="7" name="Picture Placeholder 6" descr="An electrical schematic for a T H S vehicle. An inverter assembly has the following components labeled: Reactor, I G B Ts, Boost converter, Power transistor, Inverter, Current sensors, D C/D C converter, and A C inverter. A battery is connected to a reactor. The boost converter panel has a pair of I G B Ts. The inverter has two pairs of power transistors in two panels. The pairs are connected in parallel to both the panels. The reactor is connected to the I G B Ts. The connection parallel to the Boost connector has resistance. A C inverter is connected to the second connection from the battery. D C converter joins this connection after crossing a circuit breaker. Each unit of the I G B Ts and the power transistors are connected to its respective pair and the pairs are connected. A pair of current sensors is outside both the panels containing the power transistors. Three connections are drawn for M G 1 and M G 2 each - one from each pair of power transistors. A label H V E C U is outside at the bottom of the inverter assembly. Two double-headed arrows are drawn between the boost converter and H V E C U and inverter and H V E C U.">
            <a:extLst>
              <a:ext uri="{FF2B5EF4-FFF2-40B4-BE49-F238E27FC236}">
                <a16:creationId xmlns:a16="http://schemas.microsoft.com/office/drawing/2014/main" id="{AA9C20B2-E471-851C-92F2-E375A8E679A2}"/>
              </a:ext>
            </a:extLst>
          </p:cNvPr>
          <p:cNvPicPr>
            <a:picLocks noGrp="1" noChangeAspect="1"/>
          </p:cNvPicPr>
          <p:nvPr>
            <p:ph type="pic" sz="quarter" idx="11"/>
          </p:nvPr>
        </p:nvPicPr>
        <p:blipFill rotWithShape="1">
          <a:blip r:embed="rId3"/>
          <a:srcRect b="3620"/>
          <a:stretch/>
        </p:blipFill>
        <p:spPr>
          <a:xfrm>
            <a:off x="598473" y="2013977"/>
            <a:ext cx="4498276" cy="3147570"/>
          </a:xfrm>
          <a:prstGeom prst="rect">
            <a:avLst/>
          </a:prstGeom>
        </p:spPr>
      </p:pic>
      <p:sp>
        <p:nvSpPr>
          <p:cNvPr id="145" name="Google Shape;145;p4">
            <a:extLst>
              <a:ext uri="{FF2B5EF4-FFF2-40B4-BE49-F238E27FC236}">
                <a16:creationId xmlns:a16="http://schemas.microsoft.com/office/drawing/2014/main" id="{1AFE4407-7F54-6132-9419-B2AE0C77DD29}"/>
              </a:ext>
            </a:extLst>
          </p:cNvPr>
          <p:cNvSpPr txBox="1">
            <a:spLocks noGrp="1"/>
          </p:cNvSpPr>
          <p:nvPr>
            <p:ph type="body" idx="1"/>
          </p:nvPr>
        </p:nvSpPr>
        <p:spPr>
          <a:xfrm>
            <a:off x="5281863" y="1506475"/>
            <a:ext cx="6436895" cy="4647190"/>
          </a:xfrm>
          <a:prstGeom prst="rect">
            <a:avLst/>
          </a:prstGeom>
          <a:noFill/>
          <a:ln>
            <a:noFill/>
          </a:ln>
        </p:spPr>
        <p:txBody>
          <a:bodyPr spcFirstLastPara="1" wrap="square" lIns="91425" tIns="45700" rIns="91425" bIns="45700" anchor="t" anchorCtr="0">
            <a:noAutofit/>
          </a:bodyPr>
          <a:lstStyle/>
          <a:p>
            <a:pPr marL="358775" indent="-358775"/>
            <a:r>
              <a:rPr lang="en-US" sz="1800" dirty="0">
                <a:solidFill>
                  <a:schemeClr val="tx1"/>
                </a:solidFill>
              </a:rPr>
              <a:t>The control of the system is the responsibility of the Hybrid Vehicle Control Unit (HV ECU).</a:t>
            </a:r>
          </a:p>
          <a:p>
            <a:pPr marL="358775" indent="-358775"/>
            <a:r>
              <a:rPr lang="en-US" sz="1800" dirty="0">
                <a:solidFill>
                  <a:schemeClr val="tx1"/>
                </a:solidFill>
              </a:rPr>
              <a:t>This module receives information from sensors and other processors and in turn sends commands to a variety of actuators and controllers.</a:t>
            </a:r>
          </a:p>
          <a:p>
            <a:pPr marL="358775" indent="-358775"/>
            <a:r>
              <a:rPr lang="en-US" sz="1800" dirty="0">
                <a:solidFill>
                  <a:schemeClr val="tx1"/>
                </a:solidFill>
              </a:rPr>
              <a:t>The ECU coordinates the engine’s activity with the hybrid system.</a:t>
            </a:r>
          </a:p>
          <a:p>
            <a:pPr marL="358775" indent="-358775"/>
            <a:r>
              <a:rPr lang="en-US" sz="1800" dirty="0">
                <a:solidFill>
                  <a:schemeClr val="tx1"/>
                </a:solidFill>
              </a:rPr>
              <a:t>It starts and stops the engine as needed, as well as controls the operation of the engine.</a:t>
            </a:r>
          </a:p>
          <a:p>
            <a:pPr marL="358775" indent="-358775"/>
            <a:r>
              <a:rPr lang="en-US" sz="1800" dirty="0">
                <a:solidFill>
                  <a:schemeClr val="tx1"/>
                </a:solidFill>
              </a:rPr>
              <a:t>The HV ECU also makes sure there is proper phasing of AC to the motors.</a:t>
            </a:r>
          </a:p>
          <a:p>
            <a:pPr marL="358775" indent="-358775"/>
            <a:r>
              <a:rPr lang="en-US" sz="1800" dirty="0">
                <a:solidFill>
                  <a:schemeClr val="tx1"/>
                </a:solidFill>
              </a:rPr>
              <a:t>This circuit is connected between the motor/generator and the battery pack.</a:t>
            </a:r>
          </a:p>
        </p:txBody>
      </p:sp>
    </p:spTree>
    <p:extLst>
      <p:ext uri="{BB962C8B-B14F-4D97-AF65-F5344CB8AC3E}">
        <p14:creationId xmlns:p14="http://schemas.microsoft.com/office/powerpoint/2010/main" val="2774239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21D0DD6-99FF-E330-2E20-7C194ED2E01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22EC9D6-B418-34E4-AAB5-BC8F4DE3E30B}"/>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Power-Split Unit</a:t>
            </a:r>
            <a:endParaRPr lang="en-US" sz="4800" dirty="0"/>
          </a:p>
        </p:txBody>
      </p:sp>
      <p:pic>
        <p:nvPicPr>
          <p:cNvPr id="7" name="Picture Placeholder 6" descr="The internal components of a Prius transmission have components connected through belts and pulleys.">
            <a:extLst>
              <a:ext uri="{FF2B5EF4-FFF2-40B4-BE49-F238E27FC236}">
                <a16:creationId xmlns:a16="http://schemas.microsoft.com/office/drawing/2014/main" id="{77072AD7-230C-DDC5-10FC-DBABB8F3E40D}"/>
              </a:ext>
            </a:extLst>
          </p:cNvPr>
          <p:cNvPicPr>
            <a:picLocks noGrp="1" noChangeAspect="1"/>
          </p:cNvPicPr>
          <p:nvPr>
            <p:ph type="pic" sz="quarter" idx="11"/>
          </p:nvPr>
        </p:nvPicPr>
        <p:blipFill rotWithShape="1">
          <a:blip r:embed="rId3"/>
          <a:srcRect b="10320"/>
          <a:stretch/>
        </p:blipFill>
        <p:spPr>
          <a:xfrm>
            <a:off x="659141" y="1828015"/>
            <a:ext cx="4333926" cy="3658387"/>
          </a:xfrm>
          <a:prstGeom prst="rect">
            <a:avLst/>
          </a:prstGeom>
        </p:spPr>
      </p:pic>
      <p:sp>
        <p:nvSpPr>
          <p:cNvPr id="145" name="Google Shape;145;p4">
            <a:extLst>
              <a:ext uri="{FF2B5EF4-FFF2-40B4-BE49-F238E27FC236}">
                <a16:creationId xmlns:a16="http://schemas.microsoft.com/office/drawing/2014/main" id="{D966F315-881F-FE5E-7A0A-12B1D81BDE7A}"/>
              </a:ext>
            </a:extLst>
          </p:cNvPr>
          <p:cNvSpPr txBox="1">
            <a:spLocks noGrp="1"/>
          </p:cNvSpPr>
          <p:nvPr>
            <p:ph type="body" idx="1"/>
          </p:nvPr>
        </p:nvSpPr>
        <p:spPr>
          <a:xfrm>
            <a:off x="5140411" y="1446314"/>
            <a:ext cx="6578347" cy="4671903"/>
          </a:xfrm>
          <a:prstGeom prst="rect">
            <a:avLst/>
          </a:prstGeom>
          <a:noFill/>
          <a:ln>
            <a:noFill/>
          </a:ln>
        </p:spPr>
        <p:txBody>
          <a:bodyPr spcFirstLastPara="1" wrap="square" lIns="91425" tIns="45700" rIns="91425" bIns="45700" anchor="t" anchorCtr="0">
            <a:noAutofit/>
          </a:bodyPr>
          <a:lstStyle/>
          <a:p>
            <a:pPr marL="358775" indent="-358775"/>
            <a:r>
              <a:rPr lang="en-US" sz="2000" dirty="0"/>
              <a:t>The power-split device is also called the hybrid transaxle assembly.</a:t>
            </a:r>
          </a:p>
          <a:p>
            <a:pPr marL="358775" indent="-358775"/>
            <a:r>
              <a:rPr lang="en-US" sz="2000" dirty="0"/>
              <a:t>It functions as a continuously variable transaxle, although it does not use the belts and pulleys normally associated with CVTs.</a:t>
            </a:r>
          </a:p>
          <a:p>
            <a:pPr marL="358775" indent="-358775"/>
            <a:r>
              <a:rPr lang="en-US" sz="2000" dirty="0"/>
              <a:t>The variability of this transaxle depends on the action of MG1 and the torque supplied by MG2 and/or the engine.</a:t>
            </a:r>
          </a:p>
          <a:p>
            <a:pPr marL="358775" indent="-358775"/>
            <a:r>
              <a:rPr lang="en-US" sz="2000" dirty="0"/>
              <a:t>Conventional final drive and differential units are used to allow for good handling and ample torque to drive the wheels.</a:t>
            </a:r>
          </a:p>
          <a:p>
            <a:pPr marL="358775" indent="-358775"/>
            <a:r>
              <a:rPr lang="en-US" sz="2000" dirty="0"/>
              <a:t>The transaxle does not have a torque converter or clutch.</a:t>
            </a:r>
          </a:p>
        </p:txBody>
      </p:sp>
    </p:spTree>
    <p:extLst>
      <p:ext uri="{BB962C8B-B14F-4D97-AF65-F5344CB8AC3E}">
        <p14:creationId xmlns:p14="http://schemas.microsoft.com/office/powerpoint/2010/main" val="4133526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7D39B68-A5E6-850A-B154-9996E640B456}"/>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84B1824-2C83-BA76-E3CF-FD9092F6D23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Prius Plug-In</a:t>
            </a:r>
            <a:endParaRPr lang="en-US" sz="4800" dirty="0"/>
          </a:p>
        </p:txBody>
      </p:sp>
      <p:pic>
        <p:nvPicPr>
          <p:cNvPr id="7" name="Picture Placeholder 6" descr="A Plug-in Hybrid electric vehicle (P H E V) is charged through a charging nozzle connected to a wall outlet.">
            <a:extLst>
              <a:ext uri="{FF2B5EF4-FFF2-40B4-BE49-F238E27FC236}">
                <a16:creationId xmlns:a16="http://schemas.microsoft.com/office/drawing/2014/main" id="{EC9FD974-3AAA-B4C5-9179-BAE1A6B5BD3D}"/>
              </a:ext>
            </a:extLst>
          </p:cNvPr>
          <p:cNvPicPr>
            <a:picLocks noGrp="1" noChangeAspect="1"/>
          </p:cNvPicPr>
          <p:nvPr>
            <p:ph type="pic" sz="quarter" idx="11"/>
          </p:nvPr>
        </p:nvPicPr>
        <p:blipFill rotWithShape="1">
          <a:blip r:embed="rId3"/>
          <a:srcRect b="9876"/>
          <a:stretch/>
        </p:blipFill>
        <p:spPr>
          <a:xfrm>
            <a:off x="473242" y="1978794"/>
            <a:ext cx="4852824" cy="3315101"/>
          </a:xfrm>
          <a:prstGeom prst="rect">
            <a:avLst/>
          </a:prstGeom>
        </p:spPr>
      </p:pic>
      <p:sp>
        <p:nvSpPr>
          <p:cNvPr id="145" name="Google Shape;145;p4">
            <a:extLst>
              <a:ext uri="{FF2B5EF4-FFF2-40B4-BE49-F238E27FC236}">
                <a16:creationId xmlns:a16="http://schemas.microsoft.com/office/drawing/2014/main" id="{D7CD4BC3-DD11-22F5-11EA-93B5F1A0D67D}"/>
              </a:ext>
            </a:extLst>
          </p:cNvPr>
          <p:cNvSpPr txBox="1">
            <a:spLocks noGrp="1"/>
          </p:cNvSpPr>
          <p:nvPr>
            <p:ph type="body" idx="1"/>
          </p:nvPr>
        </p:nvSpPr>
        <p:spPr>
          <a:xfrm>
            <a:off x="5486400" y="1506475"/>
            <a:ext cx="6232358" cy="4548336"/>
          </a:xfrm>
          <a:prstGeom prst="rect">
            <a:avLst/>
          </a:prstGeom>
          <a:noFill/>
          <a:ln>
            <a:noFill/>
          </a:ln>
        </p:spPr>
        <p:txBody>
          <a:bodyPr spcFirstLastPara="1" wrap="square" lIns="91425" tIns="45700" rIns="91425" bIns="45700" anchor="t" anchorCtr="0">
            <a:noAutofit/>
          </a:bodyPr>
          <a:lstStyle/>
          <a:p>
            <a:pPr marL="358775" indent="-358775"/>
            <a:r>
              <a:rPr lang="en-US" sz="1800" dirty="0"/>
              <a:t>In 2012, Toyota released a plug-in version of the Prius which allows for charging from a wall outlet. </a:t>
            </a:r>
          </a:p>
          <a:p>
            <a:pPr marL="358775" indent="-358775"/>
            <a:r>
              <a:rPr lang="en-US" sz="1800" dirty="0"/>
              <a:t>The Prius Prime PHEV is based on the base Prius but is fitted with a 8.8 kWh Li-Ion battery pack.</a:t>
            </a:r>
            <a:endParaRPr lang="en-US" sz="2000" dirty="0"/>
          </a:p>
          <a:p>
            <a:pPr marL="715963" lvl="1" indent="-357188"/>
            <a:r>
              <a:rPr lang="en-US" sz="1600" dirty="0"/>
              <a:t>This allows it to operate as a pure EV for longer distances and higher speeds.</a:t>
            </a:r>
          </a:p>
          <a:p>
            <a:pPr marL="358775" indent="-358775"/>
            <a:r>
              <a:rPr lang="en-US" sz="1800" dirty="0"/>
              <a:t>The estimated all-electric range is 25 miles, which results in an expected total range of 640 miles.</a:t>
            </a:r>
          </a:p>
          <a:p>
            <a:pPr marL="358775" indent="-358775"/>
            <a:r>
              <a:rPr lang="en-US" sz="1800" dirty="0"/>
              <a:t>The car is also capable of driving up to 62 mph while in the electric mode.</a:t>
            </a:r>
          </a:p>
          <a:p>
            <a:pPr marL="358775" indent="-358775"/>
            <a:r>
              <a:rPr lang="en-US" sz="1800" dirty="0"/>
              <a:t>The estimated fuel economy while operating as a gasoline-electric hybrid is 133 </a:t>
            </a:r>
            <a:r>
              <a:rPr lang="en-US" sz="1800" dirty="0" err="1"/>
              <a:t>MPGe</a:t>
            </a:r>
            <a:r>
              <a:rPr lang="en-US" sz="1800" dirty="0"/>
              <a:t>.</a:t>
            </a:r>
          </a:p>
        </p:txBody>
      </p:sp>
    </p:spTree>
    <p:extLst>
      <p:ext uri="{BB962C8B-B14F-4D97-AF65-F5344CB8AC3E}">
        <p14:creationId xmlns:p14="http://schemas.microsoft.com/office/powerpoint/2010/main" val="1077273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solidFill>
                  <a:schemeClr val="tx1"/>
                </a:solidFill>
              </a:rPr>
              <a:t>What is the added benefit of a plug-in feature hybrid?</a:t>
            </a:r>
          </a:p>
          <a:p>
            <a:pPr marL="357188" indent="-357188"/>
            <a:r>
              <a:rPr lang="en-US" dirty="0">
                <a:solidFill>
                  <a:schemeClr val="tx1"/>
                </a:solidFill>
              </a:rPr>
              <a:t>The battery is larger which allows it to operate as a pure EV for longer distances and higher speeds.</a:t>
            </a:r>
          </a:p>
        </p:txBody>
      </p:sp>
    </p:spTree>
    <p:extLst>
      <p:ext uri="{BB962C8B-B14F-4D97-AF65-F5344CB8AC3E}">
        <p14:creationId xmlns:p14="http://schemas.microsoft.com/office/powerpoint/2010/main" val="2715561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F1B90982-671E-7C02-B82D-A0EAB65F4208}"/>
              </a:ext>
            </a:extLst>
          </p:cNvPr>
          <p:cNvSpPr>
            <a:spLocks noGrp="1"/>
          </p:cNvSpPr>
          <p:nvPr>
            <p:ph type="body" idx="1"/>
          </p:nvPr>
        </p:nvSpPr>
        <p:spPr/>
        <p:txBody>
          <a:bodyPr/>
          <a:lstStyle/>
          <a:p>
            <a:pPr marL="457200" lvl="0" indent="-381000">
              <a:buClr>
                <a:srgbClr val="282F7C"/>
              </a:buClr>
              <a:buSzPts val="2400"/>
              <a:defRPr/>
            </a:pPr>
            <a:r>
              <a:rPr lang="en-US" sz="2800" b="1" dirty="0"/>
              <a:t>Answer:</a:t>
            </a:r>
          </a:p>
          <a:p>
            <a:pPr marL="457200" lvl="0" indent="-381000">
              <a:buClr>
                <a:srgbClr val="282F7C"/>
              </a:buClr>
              <a:buSzPts val="2400"/>
              <a:defRPr/>
            </a:pPr>
            <a:r>
              <a:rPr lang="en-US" sz="2800" dirty="0"/>
              <a:t>This allows for charging from a wall outlet.</a:t>
            </a:r>
          </a:p>
        </p:txBody>
      </p:sp>
    </p:spTree>
    <p:extLst>
      <p:ext uri="{BB962C8B-B14F-4D97-AF65-F5344CB8AC3E}">
        <p14:creationId xmlns:p14="http://schemas.microsoft.com/office/powerpoint/2010/main" val="2435745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D03D79C-CFDC-4EAF-DDB4-DF6F3816606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0BD6E55-C81D-A8EF-0F68-7D0C9793B6A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Ford Hybrids</a:t>
            </a:r>
            <a:endParaRPr lang="en-US" sz="4800" dirty="0"/>
          </a:p>
        </p:txBody>
      </p:sp>
      <p:sp>
        <p:nvSpPr>
          <p:cNvPr id="145" name="Google Shape;145;p4">
            <a:extLst>
              <a:ext uri="{FF2B5EF4-FFF2-40B4-BE49-F238E27FC236}">
                <a16:creationId xmlns:a16="http://schemas.microsoft.com/office/drawing/2014/main" id="{6BC0421D-B05F-444D-5A19-4159B45A41A4}"/>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solidFill>
                  <a:schemeClr val="tx1"/>
                </a:solidFill>
              </a:rPr>
              <a:t>In 2004, Ford released the Escape Hybrid.</a:t>
            </a:r>
          </a:p>
          <a:p>
            <a:pPr marL="358775" indent="-358775">
              <a:spcAft>
                <a:spcPts val="0"/>
              </a:spcAft>
            </a:pPr>
            <a:r>
              <a:rPr lang="en-US" sz="1800" dirty="0">
                <a:solidFill>
                  <a:schemeClr val="tx1"/>
                </a:solidFill>
              </a:rPr>
              <a:t>This was the first hybrid SUV and the first hybrid vehicle built in North America.</a:t>
            </a:r>
          </a:p>
          <a:p>
            <a:pPr marL="358775" indent="-358775">
              <a:spcAft>
                <a:spcPts val="0"/>
              </a:spcAft>
            </a:pPr>
            <a:r>
              <a:rPr lang="en-US" sz="1800" dirty="0">
                <a:solidFill>
                  <a:schemeClr val="tx1"/>
                </a:solidFill>
              </a:rPr>
              <a:t>The standard Escape Hybrid was front-wheel drive, and an Intelligent 4WD system was optional.</a:t>
            </a:r>
          </a:p>
          <a:p>
            <a:pPr marL="358775" indent="-358775">
              <a:spcAft>
                <a:spcPts val="0"/>
              </a:spcAft>
            </a:pPr>
            <a:r>
              <a:rPr lang="en-US" sz="1800" dirty="0">
                <a:solidFill>
                  <a:schemeClr val="tx1"/>
                </a:solidFill>
              </a:rPr>
              <a:t>This option made the Escape the first 4WD hybrid.</a:t>
            </a:r>
          </a:p>
          <a:p>
            <a:pPr marL="358775" indent="-358775">
              <a:spcAft>
                <a:spcPts val="0"/>
              </a:spcAft>
            </a:pPr>
            <a:r>
              <a:rPr lang="en-US" sz="1800" dirty="0">
                <a:solidFill>
                  <a:schemeClr val="tx1"/>
                </a:solidFill>
              </a:rPr>
              <a:t>In 2006, Ford released a hybrid version of the Escape’s cousin, the Mercury Mariner.</a:t>
            </a:r>
          </a:p>
          <a:p>
            <a:pPr marL="358775" indent="-358775">
              <a:spcAft>
                <a:spcPts val="0"/>
              </a:spcAft>
            </a:pPr>
            <a:r>
              <a:rPr lang="en-US" sz="1800" dirty="0">
                <a:solidFill>
                  <a:schemeClr val="tx1"/>
                </a:solidFill>
              </a:rPr>
              <a:t>These SUVs were full hybrids and featured a CVT transmission and stop-start technology, as well as the ability to be powered solely by battery power.</a:t>
            </a:r>
          </a:p>
          <a:p>
            <a:pPr marL="358775" indent="-358775">
              <a:spcAft>
                <a:spcPts val="0"/>
              </a:spcAft>
            </a:pPr>
            <a:r>
              <a:rPr lang="en-US" sz="1800" dirty="0">
                <a:solidFill>
                  <a:schemeClr val="tx1"/>
                </a:solidFill>
              </a:rPr>
              <a:t>In 2010, Ford released a hybrid edition of its mid-sized car, the Fusion.</a:t>
            </a:r>
          </a:p>
          <a:p>
            <a:pPr marL="358775" indent="-358775">
              <a:spcAft>
                <a:spcPts val="0"/>
              </a:spcAft>
            </a:pPr>
            <a:r>
              <a:rPr lang="en-US" sz="1800" dirty="0">
                <a:solidFill>
                  <a:schemeClr val="tx1"/>
                </a:solidFill>
              </a:rPr>
              <a:t>Ford has offered two hybrid versions of the Fusion.</a:t>
            </a:r>
          </a:p>
          <a:p>
            <a:pPr marL="358775" indent="-358775">
              <a:spcAft>
                <a:spcPts val="0"/>
              </a:spcAft>
            </a:pPr>
            <a:r>
              <a:rPr lang="en-US" sz="1800" dirty="0">
                <a:solidFill>
                  <a:schemeClr val="tx1"/>
                </a:solidFill>
              </a:rPr>
              <a:t>The difference between the two models is that the Fusion Energi is a PHEV.</a:t>
            </a:r>
          </a:p>
          <a:p>
            <a:pPr marL="358775" indent="-358775">
              <a:spcAft>
                <a:spcPts val="0"/>
              </a:spcAft>
            </a:pPr>
            <a:r>
              <a:rPr lang="en-US" sz="1800" dirty="0">
                <a:solidFill>
                  <a:schemeClr val="tx1"/>
                </a:solidFill>
              </a:rPr>
              <a:t>Ford also released two hybrid versions of the compact car, the C-Max.</a:t>
            </a:r>
          </a:p>
          <a:p>
            <a:pPr marL="358775" indent="-358775">
              <a:spcAft>
                <a:spcPts val="0"/>
              </a:spcAft>
            </a:pPr>
            <a:r>
              <a:rPr lang="en-US" sz="1800" dirty="0">
                <a:solidFill>
                  <a:schemeClr val="tx1"/>
                </a:solidFill>
              </a:rPr>
              <a:t>Mechanically, Fusion and C-Max hybrids are identical.</a:t>
            </a:r>
          </a:p>
        </p:txBody>
      </p:sp>
    </p:spTree>
    <p:extLst>
      <p:ext uri="{BB962C8B-B14F-4D97-AF65-F5344CB8AC3E}">
        <p14:creationId xmlns:p14="http://schemas.microsoft.com/office/powerpoint/2010/main" val="2262684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635EB8A-DACE-3A19-FC51-6BA08491996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BAF2F848-E3A0-6E03-723B-F19E21C6CC61}"/>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Operation</a:t>
            </a:r>
            <a:endParaRPr lang="en-US" sz="4800" dirty="0"/>
          </a:p>
        </p:txBody>
      </p:sp>
      <p:sp>
        <p:nvSpPr>
          <p:cNvPr id="145" name="Google Shape;145;p4">
            <a:extLst>
              <a:ext uri="{FF2B5EF4-FFF2-40B4-BE49-F238E27FC236}">
                <a16:creationId xmlns:a16="http://schemas.microsoft.com/office/drawing/2014/main" id="{5A8CB7DC-3579-F7C6-918F-634C5B4A2B8F}"/>
              </a:ext>
            </a:extLst>
          </p:cNvPr>
          <p:cNvSpPr txBox="1">
            <a:spLocks noGrp="1"/>
          </p:cNvSpPr>
          <p:nvPr>
            <p:ph type="body" idx="1"/>
          </p:nvPr>
        </p:nvSpPr>
        <p:spPr>
          <a:xfrm>
            <a:off x="476843" y="1506474"/>
            <a:ext cx="6998995" cy="4387699"/>
          </a:xfrm>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The basic components and operation of Ford’s earlier hybrid system are very similar to Toyota hybrids.</a:t>
            </a:r>
          </a:p>
          <a:p>
            <a:pPr marL="358775" indent="-358775"/>
            <a:r>
              <a:rPr lang="en-US" sz="2000" dirty="0">
                <a:solidFill>
                  <a:schemeClr val="tx1"/>
                </a:solidFill>
              </a:rPr>
              <a:t>Newer hybrid model transmissions, such as used in the C-Max PHEV, still use two motors and a planetary gearset, but a transfer shaft is also used.</a:t>
            </a:r>
          </a:p>
          <a:p>
            <a:pPr marL="358775" indent="-358775"/>
            <a:r>
              <a:rPr lang="en-US" sz="2000" dirty="0">
                <a:solidFill>
                  <a:schemeClr val="tx1"/>
                </a:solidFill>
              </a:rPr>
              <a:t>Power from either the engine, electric drive motor, or both, can be used to drive the wheels.</a:t>
            </a:r>
          </a:p>
          <a:p>
            <a:pPr marL="358775" indent="-358775"/>
            <a:r>
              <a:rPr lang="en-US" sz="2000" dirty="0">
                <a:solidFill>
                  <a:schemeClr val="tx1"/>
                </a:solidFill>
              </a:rPr>
              <a:t>These are series-parallel hybrid vehicles.</a:t>
            </a:r>
          </a:p>
          <a:p>
            <a:pPr marL="358775" indent="-358775"/>
            <a:r>
              <a:rPr lang="en-US" sz="2000" dirty="0">
                <a:solidFill>
                  <a:schemeClr val="tx1"/>
                </a:solidFill>
              </a:rPr>
              <a:t>Ford divides the operation of the hybrid system into three different modes: positive split, negative split, and electric modes.</a:t>
            </a:r>
          </a:p>
        </p:txBody>
      </p:sp>
      <p:pic>
        <p:nvPicPr>
          <p:cNvPr id="7" name="Picture Placeholder 6" descr="The engine and transaxle of a Ford hybrid electric vehicle use two motors, a planetary gearset, and a transfer shaft.">
            <a:extLst>
              <a:ext uri="{FF2B5EF4-FFF2-40B4-BE49-F238E27FC236}">
                <a16:creationId xmlns:a16="http://schemas.microsoft.com/office/drawing/2014/main" id="{FD362695-3026-B01D-963A-5D7FC38C959B}"/>
              </a:ext>
            </a:extLst>
          </p:cNvPr>
          <p:cNvPicPr>
            <a:picLocks noGrp="1" noChangeAspect="1"/>
          </p:cNvPicPr>
          <p:nvPr>
            <p:ph type="pic" sz="quarter" idx="12"/>
          </p:nvPr>
        </p:nvPicPr>
        <p:blipFill rotWithShape="1">
          <a:blip r:embed="rId3"/>
          <a:srcRect b="10048"/>
          <a:stretch/>
        </p:blipFill>
        <p:spPr>
          <a:xfrm>
            <a:off x="7561532" y="2055949"/>
            <a:ext cx="4451900" cy="3322167"/>
          </a:xfrm>
          <a:prstGeom prst="rect">
            <a:avLst/>
          </a:prstGeom>
        </p:spPr>
      </p:pic>
    </p:spTree>
    <p:extLst>
      <p:ext uri="{BB962C8B-B14F-4D97-AF65-F5344CB8AC3E}">
        <p14:creationId xmlns:p14="http://schemas.microsoft.com/office/powerpoint/2010/main" val="2632373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B2431B4-1169-D96B-1AFF-3F110CD8FAD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C6E57F6-CDEE-0977-95B9-E2CCE012F49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4WD</a:t>
            </a:r>
            <a:endParaRPr lang="en-US" sz="4800" dirty="0"/>
          </a:p>
        </p:txBody>
      </p:sp>
      <p:sp>
        <p:nvSpPr>
          <p:cNvPr id="145" name="Google Shape;145;p4">
            <a:extLst>
              <a:ext uri="{FF2B5EF4-FFF2-40B4-BE49-F238E27FC236}">
                <a16:creationId xmlns:a16="http://schemas.microsoft.com/office/drawing/2014/main" id="{84F96BFB-8DF8-1E86-46DC-DDF49FE3F507}"/>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dirty="0">
                <a:solidFill>
                  <a:schemeClr val="tx1"/>
                </a:solidFill>
              </a:rPr>
              <a:t>Unlike the Toyotas with 4WD, the Escape and Mariner hybrids did not have a separate motor to drive the rear wheels.</a:t>
            </a:r>
          </a:p>
          <a:p>
            <a:pPr marL="358775" indent="-358775"/>
            <a:r>
              <a:rPr lang="en-US" dirty="0">
                <a:solidFill>
                  <a:schemeClr val="tx1"/>
                </a:solidFill>
              </a:rPr>
              <a:t>Rather, these wheels were driven in a conventional way with a transfer case, rear driveshaft, and a rear axle assembly.</a:t>
            </a:r>
          </a:p>
          <a:p>
            <a:pPr marL="358775" indent="-358775"/>
            <a:r>
              <a:rPr lang="en-US" dirty="0">
                <a:solidFill>
                  <a:schemeClr val="tx1"/>
                </a:solidFill>
              </a:rPr>
              <a:t>Current Escape plug-in hybrid models are not available with 4WD.</a:t>
            </a:r>
          </a:p>
          <a:p>
            <a:pPr marL="358775" indent="-358775"/>
            <a:r>
              <a:rPr lang="en-US" dirty="0">
                <a:solidFill>
                  <a:schemeClr val="tx1"/>
                </a:solidFill>
              </a:rPr>
              <a:t>The Maverick offers AWD and the Explorer and F-150 hybrids do offer 4WD.</a:t>
            </a:r>
          </a:p>
        </p:txBody>
      </p:sp>
    </p:spTree>
    <p:extLst>
      <p:ext uri="{BB962C8B-B14F-4D97-AF65-F5344CB8AC3E}">
        <p14:creationId xmlns:p14="http://schemas.microsoft.com/office/powerpoint/2010/main" val="3555346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197B735-C1BE-CB5F-C17F-8378AF7B629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96BB68D-680F-7FC0-D6DA-5C44DA2BC14B}"/>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Porsche Hybrids</a:t>
            </a:r>
            <a:endParaRPr lang="en-US" sz="4800" dirty="0"/>
          </a:p>
        </p:txBody>
      </p:sp>
      <p:sp>
        <p:nvSpPr>
          <p:cNvPr id="145" name="Google Shape;145;p4">
            <a:extLst>
              <a:ext uri="{FF2B5EF4-FFF2-40B4-BE49-F238E27FC236}">
                <a16:creationId xmlns:a16="http://schemas.microsoft.com/office/drawing/2014/main" id="{04CC606B-FEBE-737F-1074-8B7EF70EF5D1}"/>
              </a:ext>
            </a:extLst>
          </p:cNvPr>
          <p:cNvSpPr txBox="1">
            <a:spLocks noGrp="1"/>
          </p:cNvSpPr>
          <p:nvPr>
            <p:ph type="body" idx="1"/>
          </p:nvPr>
        </p:nvSpPr>
        <p:spPr>
          <a:xfrm>
            <a:off x="476844" y="1275348"/>
            <a:ext cx="7331651" cy="4865960"/>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2000" dirty="0">
                <a:solidFill>
                  <a:schemeClr val="tx1"/>
                </a:solidFill>
              </a:rPr>
              <a:t>The same basic hybrid system is used in the Porsche Cayenne, Porsche Panamera, and Volkswagen </a:t>
            </a:r>
            <a:r>
              <a:rPr lang="en-US" sz="2000" dirty="0" err="1">
                <a:solidFill>
                  <a:schemeClr val="tx1"/>
                </a:solidFill>
              </a:rPr>
              <a:t>Touareg</a:t>
            </a:r>
            <a:r>
              <a:rPr lang="en-US" sz="2000" dirty="0">
                <a:solidFill>
                  <a:schemeClr val="tx1"/>
                </a:solidFill>
              </a:rPr>
              <a:t>.</a:t>
            </a:r>
          </a:p>
          <a:p>
            <a:pPr marL="358775" indent="-358775">
              <a:spcAft>
                <a:spcPts val="0"/>
              </a:spcAft>
            </a:pPr>
            <a:r>
              <a:rPr lang="en-US" sz="2000" dirty="0">
                <a:solidFill>
                  <a:schemeClr val="tx1"/>
                </a:solidFill>
              </a:rPr>
              <a:t>Porsche continues to sell the Cayenne and Panamera E-Hybrid models but VW discontinued their hybrids in 2015.</a:t>
            </a:r>
          </a:p>
          <a:p>
            <a:pPr marL="358775" indent="-358775">
              <a:spcAft>
                <a:spcPts val="0"/>
              </a:spcAft>
            </a:pPr>
            <a:r>
              <a:rPr lang="en-US" sz="2000" dirty="0">
                <a:solidFill>
                  <a:schemeClr val="tx1"/>
                </a:solidFill>
              </a:rPr>
              <a:t>In 2014, Porsche introduced their plug-in hybrid Panamera, with a new engine and electric powertrain. </a:t>
            </a:r>
          </a:p>
          <a:p>
            <a:pPr marL="358775" indent="-358775">
              <a:spcAft>
                <a:spcPts val="0"/>
              </a:spcAft>
            </a:pPr>
            <a:r>
              <a:rPr lang="en-US" sz="2000" dirty="0">
                <a:solidFill>
                  <a:schemeClr val="tx1"/>
                </a:solidFill>
              </a:rPr>
              <a:t>The main difference between the various models is defined by the vehicle’s intended purpose and the body style.</a:t>
            </a:r>
          </a:p>
          <a:p>
            <a:pPr marL="358775" indent="-358775">
              <a:spcAft>
                <a:spcPts val="0"/>
              </a:spcAft>
            </a:pPr>
            <a:r>
              <a:rPr lang="en-US" sz="2000" dirty="0">
                <a:solidFill>
                  <a:schemeClr val="tx1"/>
                </a:solidFill>
              </a:rPr>
              <a:t>Powertrain options include 2.9- and 3.0-liter turbocharged V6 engines and, on older models, a 4.0-liter turbocharged V8.</a:t>
            </a:r>
          </a:p>
        </p:txBody>
      </p:sp>
      <p:pic>
        <p:nvPicPr>
          <p:cNvPr id="7" name="Picture Placeholder 6" descr="A Porsche Panamera plug-in E-hybrid model is on display at a car show.">
            <a:extLst>
              <a:ext uri="{FF2B5EF4-FFF2-40B4-BE49-F238E27FC236}">
                <a16:creationId xmlns:a16="http://schemas.microsoft.com/office/drawing/2014/main" id="{A19D6E42-C607-CAB3-208C-57B704CCDE2F}"/>
              </a:ext>
            </a:extLst>
          </p:cNvPr>
          <p:cNvPicPr>
            <a:picLocks noGrp="1" noChangeAspect="1"/>
          </p:cNvPicPr>
          <p:nvPr>
            <p:ph type="pic" sz="quarter" idx="12"/>
          </p:nvPr>
        </p:nvPicPr>
        <p:blipFill rotWithShape="1">
          <a:blip r:embed="rId3"/>
          <a:srcRect b="9376"/>
          <a:stretch/>
        </p:blipFill>
        <p:spPr>
          <a:xfrm>
            <a:off x="8018700" y="2450224"/>
            <a:ext cx="3897017" cy="2927891"/>
          </a:xfrm>
          <a:prstGeom prst="rect">
            <a:avLst/>
          </a:prstGeom>
        </p:spPr>
      </p:pic>
    </p:spTree>
    <p:extLst>
      <p:ext uri="{BB962C8B-B14F-4D97-AF65-F5344CB8AC3E}">
        <p14:creationId xmlns:p14="http://schemas.microsoft.com/office/powerpoint/2010/main" val="326733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D2413AD-8F8A-E86F-AE50-59EEA5084A84}"/>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A31509A-F4E0-BAC3-9779-087E5DFCB52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Hyundai and Kia Hybrids</a:t>
            </a:r>
            <a:endParaRPr lang="en-US" sz="4800" dirty="0"/>
          </a:p>
        </p:txBody>
      </p:sp>
      <p:sp>
        <p:nvSpPr>
          <p:cNvPr id="145" name="Google Shape;145;p4">
            <a:extLst>
              <a:ext uri="{FF2B5EF4-FFF2-40B4-BE49-F238E27FC236}">
                <a16:creationId xmlns:a16="http://schemas.microsoft.com/office/drawing/2014/main" id="{71A75A4D-1C68-A8AA-7206-9E6533798CAC}"/>
              </a:ext>
            </a:extLst>
          </p:cNvPr>
          <p:cNvSpPr txBox="1">
            <a:spLocks noGrp="1"/>
          </p:cNvSpPr>
          <p:nvPr>
            <p:ph type="body" idx="1"/>
          </p:nvPr>
        </p:nvSpPr>
        <p:spPr>
          <a:xfrm>
            <a:off x="476843" y="1506474"/>
            <a:ext cx="7247431" cy="4597763"/>
          </a:xfrm>
          <a:prstGeom prst="rect">
            <a:avLst/>
          </a:prstGeom>
          <a:noFill/>
          <a:ln>
            <a:noFill/>
          </a:ln>
        </p:spPr>
        <p:txBody>
          <a:bodyPr spcFirstLastPara="1" wrap="square" lIns="91425" tIns="45700" rIns="91425" bIns="45700" anchor="t" anchorCtr="0">
            <a:noAutofit/>
          </a:bodyPr>
          <a:lstStyle/>
          <a:p>
            <a:pPr marL="358775" indent="-358775"/>
            <a:r>
              <a:rPr lang="en-US" sz="2000" dirty="0"/>
              <a:t>Hyundai and Kia offer both hybrid and plug-in hybrid models in sedans and SUVs.</a:t>
            </a:r>
          </a:p>
          <a:p>
            <a:pPr marL="358775" indent="-358775"/>
            <a:r>
              <a:rPr lang="en-US" sz="2000" dirty="0"/>
              <a:t>Both companies also have electric vehicles.</a:t>
            </a:r>
          </a:p>
          <a:p>
            <a:pPr marL="358775" indent="-358775"/>
            <a:r>
              <a:rPr lang="en-US" sz="2000" dirty="0"/>
              <a:t>The Hyundai Tucson PHEV can go up to 33 miles propelled only by its electric motor. It has an EPA estimated fuel economy of 80 mpg-e and combined rating of 35 mpg.</a:t>
            </a:r>
          </a:p>
          <a:p>
            <a:pPr marL="358775" indent="-358775"/>
            <a:r>
              <a:rPr lang="en-US" sz="2000" dirty="0"/>
              <a:t>The combined power of the 1.6-liter engine and electric motor for this parallel hybrid is 195 hp. Other models use a 2.0-liter engine with 192 combined hp.</a:t>
            </a:r>
          </a:p>
          <a:p>
            <a:pPr marL="358775" indent="-358775"/>
            <a:r>
              <a:rPr lang="en-US" sz="2000" dirty="0"/>
              <a:t>The electric motor is sandwiched between the engine and a six-speed automatic transmission.</a:t>
            </a:r>
          </a:p>
        </p:txBody>
      </p:sp>
      <p:pic>
        <p:nvPicPr>
          <p:cNvPr id="7" name="Picture Placeholder 6" descr="The internal components of a Hyundai hybrid system include a 1.6-liter engine and an electric motor.">
            <a:extLst>
              <a:ext uri="{FF2B5EF4-FFF2-40B4-BE49-F238E27FC236}">
                <a16:creationId xmlns:a16="http://schemas.microsoft.com/office/drawing/2014/main" id="{691EFFD2-A2B9-59A6-914C-AACDFB07B0D4}"/>
              </a:ext>
            </a:extLst>
          </p:cNvPr>
          <p:cNvPicPr>
            <a:picLocks noGrp="1" noChangeAspect="1"/>
          </p:cNvPicPr>
          <p:nvPr>
            <p:ph type="pic" sz="quarter" idx="12"/>
          </p:nvPr>
        </p:nvPicPr>
        <p:blipFill rotWithShape="1">
          <a:blip r:embed="rId3"/>
          <a:srcRect b="8899"/>
          <a:stretch/>
        </p:blipFill>
        <p:spPr>
          <a:xfrm>
            <a:off x="7905579" y="2294337"/>
            <a:ext cx="3977622" cy="2903305"/>
          </a:xfrm>
          <a:prstGeom prst="rect">
            <a:avLst/>
          </a:prstGeom>
        </p:spPr>
      </p:pic>
    </p:spTree>
    <p:extLst>
      <p:ext uri="{BB962C8B-B14F-4D97-AF65-F5344CB8AC3E}">
        <p14:creationId xmlns:p14="http://schemas.microsoft.com/office/powerpoint/2010/main" val="29808970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8FE4CC0-D640-0684-37A7-681024C6ACE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C7608EF-9F36-4055-817A-D1EFA0387FA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BMW Hybrids</a:t>
            </a:r>
            <a:endParaRPr lang="en-US" sz="4800" dirty="0"/>
          </a:p>
        </p:txBody>
      </p:sp>
      <p:sp>
        <p:nvSpPr>
          <p:cNvPr id="145" name="Google Shape;145;p4">
            <a:extLst>
              <a:ext uri="{FF2B5EF4-FFF2-40B4-BE49-F238E27FC236}">
                <a16:creationId xmlns:a16="http://schemas.microsoft.com/office/drawing/2014/main" id="{C2303A6F-894D-E63F-CCC0-22FCE2546574}"/>
              </a:ext>
            </a:extLst>
          </p:cNvPr>
          <p:cNvSpPr txBox="1">
            <a:spLocks noGrp="1"/>
          </p:cNvSpPr>
          <p:nvPr>
            <p:ph type="body" idx="1"/>
          </p:nvPr>
        </p:nvSpPr>
        <p:spPr>
          <a:xfrm>
            <a:off x="476843" y="1506475"/>
            <a:ext cx="6739503" cy="4387698"/>
          </a:xfrm>
          <a:prstGeom prst="rect">
            <a:avLst/>
          </a:prstGeom>
          <a:noFill/>
          <a:ln>
            <a:noFill/>
          </a:ln>
        </p:spPr>
        <p:txBody>
          <a:bodyPr spcFirstLastPara="1" wrap="square" lIns="91425" tIns="45700" rIns="91425" bIns="45700" anchor="t" anchorCtr="0">
            <a:noAutofit/>
          </a:bodyPr>
          <a:lstStyle/>
          <a:p>
            <a:pPr marL="358775" indent="-358775"/>
            <a:r>
              <a:rPr lang="en-US" sz="2000" dirty="0"/>
              <a:t>Different BMW models are currently available as plug-in hybrids.</a:t>
            </a:r>
          </a:p>
          <a:p>
            <a:pPr marL="358775" indent="-358775"/>
            <a:r>
              <a:rPr lang="en-US" sz="2000" dirty="0"/>
              <a:t>The technology used in the older models varies.</a:t>
            </a:r>
          </a:p>
          <a:p>
            <a:pPr marL="358775" indent="-358775"/>
            <a:r>
              <a:rPr lang="en-US" sz="2000" dirty="0"/>
              <a:t>BMW’s 3 and 5 Series PHEVs are full hybrids.</a:t>
            </a:r>
          </a:p>
          <a:p>
            <a:pPr marL="358775" indent="-358775"/>
            <a:r>
              <a:rPr lang="en-US" sz="2000" dirty="0"/>
              <a:t>A 54 hp (40 kW) electric motor is sandwiched between the engine and an eight-speed transmission.</a:t>
            </a:r>
          </a:p>
          <a:p>
            <a:pPr marL="358775" indent="-358775"/>
            <a:r>
              <a:rPr lang="en-US" sz="2000" dirty="0"/>
              <a:t>The electric motor replaces the conventional starter and a belt-driven generator.</a:t>
            </a:r>
          </a:p>
          <a:p>
            <a:pPr marL="358775" indent="-358775"/>
            <a:r>
              <a:rPr lang="en-US" sz="2000" dirty="0"/>
              <a:t>When the motor is a generator, it recharges the battery mounted below the floor in the trunk.</a:t>
            </a:r>
          </a:p>
        </p:txBody>
      </p:sp>
      <p:pic>
        <p:nvPicPr>
          <p:cNvPr id="7" name="Picture Placeholder 6" descr="The hood of a B M W plug-in hybrid is left open to display the internal components, with an electric motor sandwiched between the engine and an eight-speed transmission.">
            <a:extLst>
              <a:ext uri="{FF2B5EF4-FFF2-40B4-BE49-F238E27FC236}">
                <a16:creationId xmlns:a16="http://schemas.microsoft.com/office/drawing/2014/main" id="{2C645980-0DF9-DC0F-A180-5301D0144C11}"/>
              </a:ext>
            </a:extLst>
          </p:cNvPr>
          <p:cNvPicPr>
            <a:picLocks noGrp="1" noChangeAspect="1"/>
          </p:cNvPicPr>
          <p:nvPr>
            <p:ph type="pic" sz="quarter" idx="12"/>
          </p:nvPr>
        </p:nvPicPr>
        <p:blipFill rotWithShape="1">
          <a:blip r:embed="rId3"/>
          <a:srcRect b="9747"/>
          <a:stretch/>
        </p:blipFill>
        <p:spPr>
          <a:xfrm>
            <a:off x="7216346" y="2275525"/>
            <a:ext cx="4514394" cy="2849598"/>
          </a:xfrm>
          <a:prstGeom prst="rect">
            <a:avLst/>
          </a:prstGeom>
        </p:spPr>
      </p:pic>
    </p:spTree>
    <p:extLst>
      <p:ext uri="{BB962C8B-B14F-4D97-AF65-F5344CB8AC3E}">
        <p14:creationId xmlns:p14="http://schemas.microsoft.com/office/powerpoint/2010/main" val="2230529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2256321-06C1-3AA6-D588-24EC94EAEE80}"/>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75E0301-A65F-628C-6989-BA2D99ECD6D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Maintenance and Service</a:t>
            </a:r>
            <a:endParaRPr lang="en-US" sz="4800" dirty="0"/>
          </a:p>
        </p:txBody>
      </p:sp>
      <p:pic>
        <p:nvPicPr>
          <p:cNvPr id="7" name="Picture Placeholder 6" descr="The maintenance and service information for a Hybrid electric vehicle reads that the vehicle should be used frequently. If left without being driven for three months, the high-voltage lithium-ion battery may be permanently damaged. The disposal information for the lithium-ion battery. Another warning for maintaining optimum temperature as high temperature may damage the high-voltage battery.">
            <a:extLst>
              <a:ext uri="{FF2B5EF4-FFF2-40B4-BE49-F238E27FC236}">
                <a16:creationId xmlns:a16="http://schemas.microsoft.com/office/drawing/2014/main" id="{AC4B4F75-73DD-8381-CDE3-EA0E7C9EFCCB}"/>
              </a:ext>
            </a:extLst>
          </p:cNvPr>
          <p:cNvPicPr>
            <a:picLocks noGrp="1" noChangeAspect="1"/>
          </p:cNvPicPr>
          <p:nvPr>
            <p:ph type="pic" sz="quarter" idx="11"/>
          </p:nvPr>
        </p:nvPicPr>
        <p:blipFill rotWithShape="1">
          <a:blip r:embed="rId3"/>
          <a:srcRect b="18084"/>
          <a:stretch/>
        </p:blipFill>
        <p:spPr>
          <a:xfrm>
            <a:off x="591844" y="2541106"/>
            <a:ext cx="4768238" cy="2018862"/>
          </a:xfrm>
          <a:prstGeom prst="rect">
            <a:avLst/>
          </a:prstGeom>
        </p:spPr>
      </p:pic>
      <p:sp>
        <p:nvSpPr>
          <p:cNvPr id="145" name="Google Shape;145;p4">
            <a:extLst>
              <a:ext uri="{FF2B5EF4-FFF2-40B4-BE49-F238E27FC236}">
                <a16:creationId xmlns:a16="http://schemas.microsoft.com/office/drawing/2014/main" id="{9421609B-0E09-51CA-690D-2D5787E6E22D}"/>
              </a:ext>
            </a:extLst>
          </p:cNvPr>
          <p:cNvSpPr txBox="1">
            <a:spLocks noGrp="1"/>
          </p:cNvSpPr>
          <p:nvPr>
            <p:ph type="body" idx="1"/>
          </p:nvPr>
        </p:nvSpPr>
        <p:spPr>
          <a:xfrm>
            <a:off x="5570621" y="1506475"/>
            <a:ext cx="6148137" cy="4647190"/>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35.06 Describe what preventative maintenance procedures are unique to a hybrid vehicle.</a:t>
            </a:r>
            <a:endParaRPr lang="en-US" sz="1800" dirty="0"/>
          </a:p>
          <a:p>
            <a:pPr marL="285750" indent="-285750"/>
            <a:r>
              <a:rPr lang="en-US" sz="1800" dirty="0"/>
              <a:t>Hybrid vehicles are maintained and serviced in much the same way as conventional vehicles, except for the hybrid components.</a:t>
            </a:r>
          </a:p>
          <a:p>
            <a:pPr marL="285750" indent="-285750"/>
            <a:r>
              <a:rPr lang="en-US" sz="1800" dirty="0"/>
              <a:t>The latter includes the high-voltage battery pack and circuits, which must be respected when doing any service.</a:t>
            </a:r>
          </a:p>
          <a:p>
            <a:pPr marL="285750" indent="-285750"/>
            <a:r>
              <a:rPr lang="en-US" sz="1800" dirty="0"/>
              <a:t>Manufacturers list the recommended service intervals in their service information and owner’s manuals.</a:t>
            </a:r>
          </a:p>
          <a:p>
            <a:pPr marL="285750" indent="-285750"/>
            <a:r>
              <a:rPr lang="en-US" sz="1800" dirty="0"/>
              <a:t>Care needs to be taken to avoid anything orange while carrying out the maintenance procedures.</a:t>
            </a:r>
          </a:p>
        </p:txBody>
      </p:sp>
    </p:spTree>
    <p:extLst>
      <p:ext uri="{BB962C8B-B14F-4D97-AF65-F5344CB8AC3E}">
        <p14:creationId xmlns:p14="http://schemas.microsoft.com/office/powerpoint/2010/main" val="26134585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EF61D90-9305-0745-39E9-04CCA493A4D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32A400A-836A-4965-87C0-0DA537EA3170}"/>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Safety Issues</a:t>
            </a:r>
            <a:endParaRPr lang="en-US" sz="4800" dirty="0"/>
          </a:p>
        </p:txBody>
      </p:sp>
      <p:pic>
        <p:nvPicPr>
          <p:cNvPr id="7" name="Picture Placeholder 6" descr="A close-up view of a warning label which cautions the presence of two batteries. The information in the warning label reads, Caution: 2 battery locations; To help avoid personal injury in case of emergency or vehicle service, turn ignition to Off and disconnect 300 Volts and 12 Volts batteries.">
            <a:extLst>
              <a:ext uri="{FF2B5EF4-FFF2-40B4-BE49-F238E27FC236}">
                <a16:creationId xmlns:a16="http://schemas.microsoft.com/office/drawing/2014/main" id="{91ED1E31-3C9C-99BC-3FB2-6E9D39D12942}"/>
              </a:ext>
            </a:extLst>
          </p:cNvPr>
          <p:cNvPicPr>
            <a:picLocks noGrp="1" noChangeAspect="1"/>
          </p:cNvPicPr>
          <p:nvPr>
            <p:ph type="pic" sz="quarter" idx="11"/>
          </p:nvPr>
        </p:nvPicPr>
        <p:blipFill rotWithShape="1">
          <a:blip r:embed="rId3"/>
          <a:srcRect b="10306"/>
          <a:stretch/>
        </p:blipFill>
        <p:spPr>
          <a:xfrm>
            <a:off x="496318" y="2358190"/>
            <a:ext cx="4614001" cy="2782222"/>
          </a:xfrm>
          <a:prstGeom prst="rect">
            <a:avLst/>
          </a:prstGeom>
        </p:spPr>
      </p:pic>
      <p:sp>
        <p:nvSpPr>
          <p:cNvPr id="145" name="Google Shape;145;p4">
            <a:extLst>
              <a:ext uri="{FF2B5EF4-FFF2-40B4-BE49-F238E27FC236}">
                <a16:creationId xmlns:a16="http://schemas.microsoft.com/office/drawing/2014/main" id="{5951C4B0-C7A2-5763-72B7-249C8F3D4DD9}"/>
              </a:ext>
            </a:extLst>
          </p:cNvPr>
          <p:cNvSpPr txBox="1">
            <a:spLocks noGrp="1"/>
          </p:cNvSpPr>
          <p:nvPr>
            <p:ph type="body" idx="1"/>
          </p:nvPr>
        </p:nvSpPr>
        <p:spPr>
          <a:xfrm>
            <a:off x="5449330" y="1506475"/>
            <a:ext cx="6269427" cy="4647190"/>
          </a:xfrm>
          <a:prstGeom prst="rect">
            <a:avLst/>
          </a:prstGeom>
          <a:noFill/>
          <a:ln>
            <a:noFill/>
          </a:ln>
        </p:spPr>
        <p:txBody>
          <a:bodyPr spcFirstLastPara="1" wrap="square" lIns="91425" tIns="45700" rIns="91425" bIns="45700" anchor="t" anchorCtr="0">
            <a:noAutofit/>
          </a:bodyPr>
          <a:lstStyle/>
          <a:p>
            <a:pPr marL="358775" indent="-358775"/>
            <a:r>
              <a:rPr lang="en-US" sz="1800" dirty="0"/>
              <a:t>Hybrid systems rely on very high voltages.</a:t>
            </a:r>
          </a:p>
          <a:p>
            <a:pPr marL="358775" indent="-358775"/>
            <a:r>
              <a:rPr lang="en-US" sz="1800" dirty="0"/>
              <a:t>Always follow the correct procedures for disarming the high-voltage system before performing any service on or near the high-voltage circuits.</a:t>
            </a:r>
          </a:p>
          <a:p>
            <a:pPr marL="358775" indent="-358775"/>
            <a:r>
              <a:rPr lang="en-US" sz="1800" dirty="0"/>
              <a:t>Air-conditioning, engine, transmission, and body work can require services completed around and/or with high-voltage systems.</a:t>
            </a:r>
          </a:p>
          <a:p>
            <a:pPr marL="358775" indent="-358775"/>
            <a:r>
              <a:rPr lang="en-US" sz="1800" dirty="0"/>
              <a:t>If there is any doubt as to whether something has high voltage or not, or if the circuit is sufficiently isolated, test it before touching anything. High-voltage circuits are identifiable by size and color.</a:t>
            </a:r>
          </a:p>
          <a:p>
            <a:pPr marL="358775" indent="-358775"/>
            <a:r>
              <a:rPr lang="en-US" sz="1800" dirty="0"/>
              <a:t>The cables have thicker insulation and are colored orange.</a:t>
            </a:r>
          </a:p>
        </p:txBody>
      </p:sp>
    </p:spTree>
    <p:extLst>
      <p:ext uri="{BB962C8B-B14F-4D97-AF65-F5344CB8AC3E}">
        <p14:creationId xmlns:p14="http://schemas.microsoft.com/office/powerpoint/2010/main" val="822999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E92639D-8801-DF71-70B1-05978889C56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2A78A8C-6E83-71F6-336E-A875F8094EB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Maintenance</a:t>
            </a:r>
            <a:endParaRPr lang="en-US" sz="4800" dirty="0"/>
          </a:p>
        </p:txBody>
      </p:sp>
      <p:sp>
        <p:nvSpPr>
          <p:cNvPr id="145" name="Google Shape;145;p4">
            <a:extLst>
              <a:ext uri="{FF2B5EF4-FFF2-40B4-BE49-F238E27FC236}">
                <a16:creationId xmlns:a16="http://schemas.microsoft.com/office/drawing/2014/main" id="{78C1FBF9-D542-7E19-5C98-99C95CC9BD6D}"/>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400" dirty="0">
                <a:solidFill>
                  <a:schemeClr val="tx1"/>
                </a:solidFill>
              </a:rPr>
              <a:t>The engines used in hybrids are modified versions of engines found in other models offered by the manufacturer.</a:t>
            </a:r>
          </a:p>
          <a:p>
            <a:pPr marL="358775" indent="-358775"/>
            <a:r>
              <a:rPr lang="en-US" sz="2400" dirty="0">
                <a:solidFill>
                  <a:schemeClr val="tx1"/>
                </a:solidFill>
              </a:rPr>
              <a:t>Other than fluid checks and changes, there is little maintenance required on these engines.</a:t>
            </a:r>
          </a:p>
          <a:p>
            <a:pPr marL="358775" indent="-358775"/>
            <a:r>
              <a:rPr lang="en-US" sz="2400" dirty="0">
                <a:solidFill>
                  <a:schemeClr val="tx1"/>
                </a:solidFill>
              </a:rPr>
              <a:t>However, there is less freedom in deciding the types of fluids that can be used and the parts that can replace the original equipment.</a:t>
            </a:r>
          </a:p>
          <a:p>
            <a:pPr marL="358775" indent="-358775"/>
            <a:r>
              <a:rPr lang="en-US" sz="2400" dirty="0">
                <a:solidFill>
                  <a:schemeClr val="tx1"/>
                </a:solidFill>
              </a:rPr>
              <a:t>Hybrids are not very forgiving.</a:t>
            </a:r>
          </a:p>
          <a:p>
            <a:pPr marL="358775" indent="-358775"/>
            <a:r>
              <a:rPr lang="en-US" sz="2400" dirty="0">
                <a:solidFill>
                  <a:schemeClr val="tx1"/>
                </a:solidFill>
              </a:rPr>
              <a:t>Always use the exact replacement parts and the fluids specified by the manufacturer.</a:t>
            </a:r>
          </a:p>
        </p:txBody>
      </p:sp>
    </p:spTree>
    <p:extLst>
      <p:ext uri="{BB962C8B-B14F-4D97-AF65-F5344CB8AC3E}">
        <p14:creationId xmlns:p14="http://schemas.microsoft.com/office/powerpoint/2010/main" val="2224235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B08B9E2-0903-BDAD-691D-14DED433765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0717707-9286-38C1-5904-D9C39781F9F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Cooling Systems</a:t>
            </a:r>
            <a:endParaRPr lang="en-US" sz="4800" dirty="0"/>
          </a:p>
        </p:txBody>
      </p:sp>
      <p:sp>
        <p:nvSpPr>
          <p:cNvPr id="145" name="Google Shape;145;p4">
            <a:extLst>
              <a:ext uri="{FF2B5EF4-FFF2-40B4-BE49-F238E27FC236}">
                <a16:creationId xmlns:a16="http://schemas.microsoft.com/office/drawing/2014/main" id="{CB7908B4-CCF8-598F-1215-C1E948BEC937}"/>
              </a:ext>
            </a:extLst>
          </p:cNvPr>
          <p:cNvSpPr txBox="1">
            <a:spLocks noGrp="1"/>
          </p:cNvSpPr>
          <p:nvPr>
            <p:ph type="body" idx="1"/>
          </p:nvPr>
        </p:nvSpPr>
        <p:spPr>
          <a:xfrm>
            <a:off x="476843" y="1506474"/>
            <a:ext cx="6900141" cy="4177633"/>
          </a:xfrm>
          <a:prstGeom prst="rect">
            <a:avLst/>
          </a:prstGeom>
          <a:noFill/>
          <a:ln>
            <a:noFill/>
          </a:ln>
        </p:spPr>
        <p:txBody>
          <a:bodyPr spcFirstLastPara="1" wrap="square" lIns="91425" tIns="45700" rIns="91425" bIns="45700" anchor="t" anchorCtr="0">
            <a:noAutofit/>
          </a:bodyPr>
          <a:lstStyle/>
          <a:p>
            <a:pPr marL="358775" indent="-358775"/>
            <a:r>
              <a:rPr lang="en-US" sz="2000" dirty="0"/>
              <a:t>Special coolants are required in most hybrids because the coolant not only cools the engine but may also cool the inverter assembly.</a:t>
            </a:r>
          </a:p>
          <a:p>
            <a:pPr marL="358775" indent="-358775"/>
            <a:r>
              <a:rPr lang="en-US" sz="2000" dirty="0"/>
              <a:t>Many hybrids have a complete and separate cooling system for the HV battery and electronics. </a:t>
            </a:r>
          </a:p>
          <a:p>
            <a:pPr marL="358775" indent="-358775"/>
            <a:r>
              <a:rPr lang="en-US" sz="2000" dirty="0"/>
              <a:t>Cooling the inverter is important, and checking its coolant condition and level is an additional check during preventative maintenance.</a:t>
            </a:r>
          </a:p>
          <a:p>
            <a:pPr marL="358775" indent="-358775"/>
            <a:r>
              <a:rPr lang="en-US" sz="2000" dirty="0"/>
              <a:t>Coolant, whether for the ICE or hybrid system, will eventually suffer from a depletion of the additives that protect the various components.</a:t>
            </a:r>
          </a:p>
        </p:txBody>
      </p:sp>
      <p:pic>
        <p:nvPicPr>
          <p:cNvPr id="7" name="Picture Placeholder 6" descr="A special coolant reservoir for an inverter is displayed in a hybrid vehicle.">
            <a:extLst>
              <a:ext uri="{FF2B5EF4-FFF2-40B4-BE49-F238E27FC236}">
                <a16:creationId xmlns:a16="http://schemas.microsoft.com/office/drawing/2014/main" id="{B3AC95F1-CE02-4F58-D291-D7D3A57FE30F}"/>
              </a:ext>
            </a:extLst>
          </p:cNvPr>
          <p:cNvPicPr>
            <a:picLocks noGrp="1" noChangeAspect="1"/>
          </p:cNvPicPr>
          <p:nvPr>
            <p:ph type="pic" sz="quarter" idx="12"/>
          </p:nvPr>
        </p:nvPicPr>
        <p:blipFill rotWithShape="1">
          <a:blip r:embed="rId3"/>
          <a:srcRect b="10382"/>
          <a:stretch/>
        </p:blipFill>
        <p:spPr>
          <a:xfrm>
            <a:off x="7537825" y="2010461"/>
            <a:ext cx="4437322" cy="3271401"/>
          </a:xfrm>
          <a:prstGeom prst="rect">
            <a:avLst/>
          </a:prstGeom>
        </p:spPr>
      </p:pic>
    </p:spTree>
    <p:extLst>
      <p:ext uri="{BB962C8B-B14F-4D97-AF65-F5344CB8AC3E}">
        <p14:creationId xmlns:p14="http://schemas.microsoft.com/office/powerpoint/2010/main" val="937012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855C3CC-74CC-EE6B-709D-CBCAF0EEDF92}"/>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0A768912-4137-E796-098A-AE1802E2130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Batteries </a:t>
            </a:r>
            <a:endParaRPr lang="en-US" sz="4800" dirty="0"/>
          </a:p>
        </p:txBody>
      </p:sp>
      <p:sp>
        <p:nvSpPr>
          <p:cNvPr id="145" name="Google Shape;145;p4">
            <a:extLst>
              <a:ext uri="{FF2B5EF4-FFF2-40B4-BE49-F238E27FC236}">
                <a16:creationId xmlns:a16="http://schemas.microsoft.com/office/drawing/2014/main" id="{347364ED-A804-7EE8-29A4-D12E3E1622F3}"/>
              </a:ext>
            </a:extLst>
          </p:cNvPr>
          <p:cNvSpPr txBox="1">
            <a:spLocks noGrp="1"/>
          </p:cNvSpPr>
          <p:nvPr>
            <p:ph type="body" idx="1"/>
          </p:nvPr>
        </p:nvSpPr>
        <p:spPr>
          <a:xfrm>
            <a:off x="476844" y="1506474"/>
            <a:ext cx="7048422" cy="4560693"/>
          </a:xfrm>
          <a:prstGeom prst="rect">
            <a:avLst/>
          </a:prstGeom>
          <a:noFill/>
          <a:ln>
            <a:noFill/>
          </a:ln>
        </p:spPr>
        <p:txBody>
          <a:bodyPr spcFirstLastPara="1" wrap="square" lIns="91425" tIns="45700" rIns="91425" bIns="45700" anchor="t" anchorCtr="0">
            <a:noAutofit/>
          </a:bodyPr>
          <a:lstStyle/>
          <a:p>
            <a:pPr marL="358775" indent="-358775"/>
            <a:r>
              <a:rPr lang="en-US" sz="2000" dirty="0"/>
              <a:t>Hybrids have two separate battery packs. One is the high-voltage pack and the other is a 12-volt battery.</a:t>
            </a:r>
          </a:p>
          <a:p>
            <a:pPr marL="358775" indent="-358775"/>
            <a:r>
              <a:rPr lang="en-US" sz="2000" dirty="0"/>
              <a:t>The high-voltage battery pack supplies the power to start the engine, assist the engine during times of heavy load, and in full hybrid it supplies the energy to move the vehicle without the engine’s power.</a:t>
            </a:r>
          </a:p>
          <a:p>
            <a:pPr marL="358775" indent="-358775"/>
            <a:r>
              <a:rPr lang="en-US" sz="2000" dirty="0"/>
              <a:t>The battery pack is the one that is most associated with the hybrid system.</a:t>
            </a:r>
          </a:p>
          <a:p>
            <a:pPr marL="358775" indent="-358775"/>
            <a:r>
              <a:rPr lang="en-US" sz="2000" dirty="0"/>
              <a:t>The 12-volt battery is associated with the rest of the vehicle, such as the lights, accessories, and power equipment.</a:t>
            </a:r>
          </a:p>
        </p:txBody>
      </p:sp>
      <p:pic>
        <p:nvPicPr>
          <p:cNvPr id="7" name="Picture Placeholder 6" descr="The high-voltage battery pack of a hybrid electric vehicle is located in the floor pan of a passenger vehicle.">
            <a:extLst>
              <a:ext uri="{FF2B5EF4-FFF2-40B4-BE49-F238E27FC236}">
                <a16:creationId xmlns:a16="http://schemas.microsoft.com/office/drawing/2014/main" id="{C9D68AD4-C7E4-E053-819F-FDB61D7368B0}"/>
              </a:ext>
            </a:extLst>
          </p:cNvPr>
          <p:cNvPicPr>
            <a:picLocks noGrp="1" noChangeAspect="1"/>
          </p:cNvPicPr>
          <p:nvPr>
            <p:ph type="pic" sz="quarter" idx="12"/>
          </p:nvPr>
        </p:nvPicPr>
        <p:blipFill rotWithShape="1">
          <a:blip r:embed="rId3"/>
          <a:srcRect b="8607"/>
          <a:stretch/>
        </p:blipFill>
        <p:spPr>
          <a:xfrm>
            <a:off x="7714473" y="1759375"/>
            <a:ext cx="3835843" cy="4106353"/>
          </a:xfrm>
          <a:prstGeom prst="rect">
            <a:avLst/>
          </a:prstGeom>
        </p:spPr>
      </p:pic>
    </p:spTree>
    <p:extLst>
      <p:ext uri="{BB962C8B-B14F-4D97-AF65-F5344CB8AC3E}">
        <p14:creationId xmlns:p14="http://schemas.microsoft.com/office/powerpoint/2010/main" val="40617596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FAC46F2-5CDD-557F-4D31-033F8E27C7C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1C65D43-E024-A515-FC44-756511B879B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dirty="0"/>
              <a:t>Battery Replacement and Repair</a:t>
            </a:r>
            <a:endParaRPr lang="en-US" sz="4800" dirty="0"/>
          </a:p>
        </p:txBody>
      </p:sp>
      <p:pic>
        <p:nvPicPr>
          <p:cNvPr id="7" name="Picture Placeholder 6" descr="The high-voltage battery pack is exposed after the removal of the rear seats and the interior trim of a Prius hybrid electric vehicle.">
            <a:extLst>
              <a:ext uri="{FF2B5EF4-FFF2-40B4-BE49-F238E27FC236}">
                <a16:creationId xmlns:a16="http://schemas.microsoft.com/office/drawing/2014/main" id="{47EC29A7-5B1F-5212-00C7-80F89D7FE679}"/>
              </a:ext>
            </a:extLst>
          </p:cNvPr>
          <p:cNvPicPr>
            <a:picLocks noGrp="1" noChangeAspect="1"/>
          </p:cNvPicPr>
          <p:nvPr>
            <p:ph type="pic" sz="quarter" idx="11"/>
          </p:nvPr>
        </p:nvPicPr>
        <p:blipFill rotWithShape="1">
          <a:blip r:embed="rId3"/>
          <a:srcRect b="14038"/>
          <a:stretch/>
        </p:blipFill>
        <p:spPr>
          <a:xfrm>
            <a:off x="618511" y="1979536"/>
            <a:ext cx="4213825" cy="2898927"/>
          </a:xfrm>
          <a:prstGeom prst="rect">
            <a:avLst/>
          </a:prstGeom>
        </p:spPr>
      </p:pic>
      <p:sp>
        <p:nvSpPr>
          <p:cNvPr id="145" name="Google Shape;145;p4">
            <a:extLst>
              <a:ext uri="{FF2B5EF4-FFF2-40B4-BE49-F238E27FC236}">
                <a16:creationId xmlns:a16="http://schemas.microsoft.com/office/drawing/2014/main" id="{C0D5DB01-C862-1B00-2634-6C7AC867F296}"/>
              </a:ext>
            </a:extLst>
          </p:cNvPr>
          <p:cNvSpPr txBox="1">
            <a:spLocks noGrp="1"/>
          </p:cNvSpPr>
          <p:nvPr>
            <p:ph type="body" idx="1"/>
          </p:nvPr>
        </p:nvSpPr>
        <p:spPr>
          <a:xfrm>
            <a:off x="5089358" y="1506474"/>
            <a:ext cx="6629400" cy="4400055"/>
          </a:xfrm>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Begin by performing the high-voltage disconnect procedure per the manufacturers’ service information.</a:t>
            </a:r>
          </a:p>
          <a:p>
            <a:pPr marL="358775" indent="-358775"/>
            <a:r>
              <a:rPr lang="en-US" sz="2000" dirty="0">
                <a:solidFill>
                  <a:schemeClr val="tx1"/>
                </a:solidFill>
              </a:rPr>
              <a:t>This typically includes disconnecting the 12-volt auxiliary battery and removing the high-voltage service plug. Before removing the service plug, perform a leak check of the high-voltage gloves.</a:t>
            </a:r>
          </a:p>
          <a:p>
            <a:pPr marL="358775" indent="-358775"/>
            <a:r>
              <a:rPr lang="en-US" sz="2000" dirty="0">
                <a:solidFill>
                  <a:schemeClr val="tx1"/>
                </a:solidFill>
              </a:rPr>
              <a:t>Battery removal from most hybrid vehicles requires some disassembly of the interior.</a:t>
            </a:r>
          </a:p>
          <a:p>
            <a:pPr marL="358775" indent="-358775"/>
            <a:r>
              <a:rPr lang="en-US" sz="2000" dirty="0">
                <a:solidFill>
                  <a:schemeClr val="tx1"/>
                </a:solidFill>
              </a:rPr>
              <a:t>Before removing items such as seats and interior trim, prepare an area of your workspace to place interior parts so they do not get damaged or dirty.</a:t>
            </a:r>
          </a:p>
        </p:txBody>
      </p:sp>
    </p:spTree>
    <p:extLst>
      <p:ext uri="{BB962C8B-B14F-4D97-AF65-F5344CB8AC3E}">
        <p14:creationId xmlns:p14="http://schemas.microsoft.com/office/powerpoint/2010/main" val="966649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B2FF5F2-BDD7-2FBE-B6F5-FD1BD8E48A9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CBACB051-D8AA-0876-9097-685D4BB25F6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dirty="0"/>
              <a:t>Diagnostics</a:t>
            </a:r>
            <a:endParaRPr lang="en-US" sz="4800" dirty="0"/>
          </a:p>
        </p:txBody>
      </p:sp>
      <p:pic>
        <p:nvPicPr>
          <p:cNvPr id="7" name="Picture Placeholder 6" descr="Five warning lamps of a hybrid vehicle are displayed with L E Ds. The first is a red triangle with an exclamation mark, indicating trouble with the vehicle. The V S C warning alerts the driver to check the traction system, while the check engine light indicates a potential engine issue.">
            <a:extLst>
              <a:ext uri="{FF2B5EF4-FFF2-40B4-BE49-F238E27FC236}">
                <a16:creationId xmlns:a16="http://schemas.microsoft.com/office/drawing/2014/main" id="{C2080DB0-6749-4D7C-5923-2A2ED32442FB}"/>
              </a:ext>
            </a:extLst>
          </p:cNvPr>
          <p:cNvPicPr>
            <a:picLocks noGrp="1" noChangeAspect="1"/>
          </p:cNvPicPr>
          <p:nvPr>
            <p:ph type="pic" sz="quarter" idx="11"/>
          </p:nvPr>
        </p:nvPicPr>
        <p:blipFill rotWithShape="1">
          <a:blip r:embed="rId3"/>
          <a:srcRect b="19778"/>
          <a:stretch/>
        </p:blipFill>
        <p:spPr>
          <a:xfrm>
            <a:off x="473241" y="2020773"/>
            <a:ext cx="4915129" cy="2816453"/>
          </a:xfrm>
          <a:prstGeom prst="rect">
            <a:avLst/>
          </a:prstGeom>
        </p:spPr>
      </p:pic>
      <p:sp>
        <p:nvSpPr>
          <p:cNvPr id="145" name="Google Shape;145;p4">
            <a:extLst>
              <a:ext uri="{FF2B5EF4-FFF2-40B4-BE49-F238E27FC236}">
                <a16:creationId xmlns:a16="http://schemas.microsoft.com/office/drawing/2014/main" id="{10A11C18-D47D-5B36-C534-0DB9B5F6DFD1}"/>
              </a:ext>
            </a:extLst>
          </p:cNvPr>
          <p:cNvSpPr txBox="1">
            <a:spLocks noGrp="1"/>
          </p:cNvSpPr>
          <p:nvPr>
            <p:ph type="body" idx="1"/>
          </p:nvPr>
        </p:nvSpPr>
        <p:spPr>
          <a:xfrm>
            <a:off x="5630779" y="1506475"/>
            <a:ext cx="6087980" cy="4523622"/>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solidFill>
                  <a:schemeClr val="tx1"/>
                </a:solidFill>
              </a:rPr>
              <a:t>All warning lamps in the instrument panel should be checked.</a:t>
            </a:r>
          </a:p>
          <a:p>
            <a:pPr marL="358775" indent="-358775">
              <a:spcAft>
                <a:spcPts val="0"/>
              </a:spcAft>
            </a:pPr>
            <a:r>
              <a:rPr lang="en-US" sz="1800" dirty="0">
                <a:solidFill>
                  <a:schemeClr val="tx1"/>
                </a:solidFill>
              </a:rPr>
              <a:t>If any of these remains on after the engine is started, the cause should be identified and corrected before continuing with diagnosis.</a:t>
            </a:r>
          </a:p>
          <a:p>
            <a:pPr marL="358775" indent="-358775">
              <a:spcAft>
                <a:spcPts val="0"/>
              </a:spcAft>
            </a:pPr>
            <a:r>
              <a:rPr lang="en-US" sz="1800" dirty="0">
                <a:solidFill>
                  <a:schemeClr val="tx1"/>
                </a:solidFill>
              </a:rPr>
              <a:t>Lastly, a scan tool should be used to retrieve any fault codes held in the computer’s memory.</a:t>
            </a:r>
          </a:p>
          <a:p>
            <a:pPr marL="358775" indent="-358775">
              <a:spcAft>
                <a:spcPts val="0"/>
              </a:spcAft>
            </a:pPr>
            <a:r>
              <a:rPr lang="en-US" sz="1800" dirty="0">
                <a:solidFill>
                  <a:schemeClr val="tx1"/>
                </a:solidFill>
              </a:rPr>
              <a:t>In many cases, a manufacturer-specific scan tool is required to test hybrids.</a:t>
            </a:r>
          </a:p>
          <a:p>
            <a:pPr marL="358775" indent="-358775">
              <a:spcAft>
                <a:spcPts val="0"/>
              </a:spcAft>
            </a:pPr>
            <a:r>
              <a:rPr lang="en-US" sz="1800" dirty="0">
                <a:solidFill>
                  <a:schemeClr val="tx1"/>
                </a:solidFill>
              </a:rPr>
              <a:t>Follow the prescribed sequence for retrieving and responding to all DTCs.</a:t>
            </a:r>
          </a:p>
          <a:p>
            <a:pPr marL="358775" indent="-358775">
              <a:spcAft>
                <a:spcPts val="0"/>
              </a:spcAft>
            </a:pPr>
            <a:r>
              <a:rPr lang="en-US" sz="1800" dirty="0">
                <a:solidFill>
                  <a:schemeClr val="tx1"/>
                </a:solidFill>
              </a:rPr>
              <a:t>The scan tool also allows for some active tests that enable you to excite or disable certain outputs.</a:t>
            </a:r>
          </a:p>
        </p:txBody>
      </p:sp>
    </p:spTree>
    <p:extLst>
      <p:ext uri="{BB962C8B-B14F-4D97-AF65-F5344CB8AC3E}">
        <p14:creationId xmlns:p14="http://schemas.microsoft.com/office/powerpoint/2010/main" val="15592467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20BEEA3-A3D3-AD1C-B585-F73BB50D9D2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D6A3B13-53BE-73D9-5F63-F2172D1151E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Test Equipment</a:t>
            </a:r>
            <a:endParaRPr lang="en-US" sz="4800" dirty="0"/>
          </a:p>
        </p:txBody>
      </p:sp>
      <p:sp>
        <p:nvSpPr>
          <p:cNvPr id="145" name="Google Shape;145;p4">
            <a:extLst>
              <a:ext uri="{FF2B5EF4-FFF2-40B4-BE49-F238E27FC236}">
                <a16:creationId xmlns:a16="http://schemas.microsoft.com/office/drawing/2014/main" id="{246596C8-DE42-9674-D8F3-427B924708D9}"/>
              </a:ext>
            </a:extLst>
          </p:cNvPr>
          <p:cNvSpPr txBox="1">
            <a:spLocks noGrp="1"/>
          </p:cNvSpPr>
          <p:nvPr>
            <p:ph type="body" idx="1"/>
          </p:nvPr>
        </p:nvSpPr>
        <p:spPr>
          <a:xfrm>
            <a:off x="476844" y="1506475"/>
            <a:ext cx="6236778" cy="4509314"/>
          </a:xfrm>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To test high-voltage systems, you need a DMM and a good pair of insulating gloves.</a:t>
            </a:r>
          </a:p>
          <a:p>
            <a:pPr marL="358775" indent="-358775"/>
            <a:r>
              <a:rPr lang="en-US" sz="2000" dirty="0">
                <a:solidFill>
                  <a:schemeClr val="tx1"/>
                </a:solidFill>
              </a:rPr>
              <a:t>Although the high-voltage system can be isolated from the rest of the vehicle, high voltage is still at and around the battery pack and inverter.</a:t>
            </a:r>
          </a:p>
          <a:p>
            <a:pPr marL="358775" indent="-358775"/>
            <a:r>
              <a:rPr lang="en-US" sz="2000" dirty="0">
                <a:solidFill>
                  <a:schemeClr val="tx1"/>
                </a:solidFill>
              </a:rPr>
              <a:t>The DMM used to diagnose a hybrid vehicle is not the same meter you would use on a conventional vehicle.</a:t>
            </a:r>
          </a:p>
          <a:p>
            <a:pPr marL="358775" indent="-358775"/>
            <a:r>
              <a:rPr lang="en-US" sz="2000" dirty="0">
                <a:solidFill>
                  <a:schemeClr val="tx1"/>
                </a:solidFill>
              </a:rPr>
              <a:t>The meter used on hybrids, electric vehicles, and fuel-cell vehicles must be classified as a </a:t>
            </a:r>
            <a:r>
              <a:rPr lang="en-US" sz="2000" b="1" dirty="0">
                <a:solidFill>
                  <a:schemeClr val="tx1"/>
                </a:solidFill>
              </a:rPr>
              <a:t>category 3 or 4 (CAT III or CAT IV) </a:t>
            </a:r>
            <a:r>
              <a:rPr lang="en-US" sz="2000" dirty="0">
                <a:solidFill>
                  <a:schemeClr val="tx1"/>
                </a:solidFill>
              </a:rPr>
              <a:t>meter.</a:t>
            </a:r>
          </a:p>
        </p:txBody>
      </p:sp>
      <p:pic>
        <p:nvPicPr>
          <p:cNvPr id="7" name="Picture Placeholder 6" descr="The terminals of a category 3 digital multimeter (D M M) is connected to the high-voltage system of a hybrid electric vehicle.">
            <a:extLst>
              <a:ext uri="{FF2B5EF4-FFF2-40B4-BE49-F238E27FC236}">
                <a16:creationId xmlns:a16="http://schemas.microsoft.com/office/drawing/2014/main" id="{6139C626-CB07-89A6-34DD-49FE42DA8B07}"/>
              </a:ext>
            </a:extLst>
          </p:cNvPr>
          <p:cNvPicPr>
            <a:picLocks noGrp="1" noChangeAspect="1"/>
          </p:cNvPicPr>
          <p:nvPr>
            <p:ph type="pic" sz="quarter" idx="12"/>
          </p:nvPr>
        </p:nvPicPr>
        <p:blipFill rotWithShape="1">
          <a:blip r:embed="rId3"/>
          <a:srcRect b="14793"/>
          <a:stretch/>
        </p:blipFill>
        <p:spPr>
          <a:xfrm>
            <a:off x="6929015" y="2060663"/>
            <a:ext cx="4825253" cy="3546053"/>
          </a:xfrm>
          <a:prstGeom prst="rect">
            <a:avLst/>
          </a:prstGeom>
        </p:spPr>
      </p:pic>
    </p:spTree>
    <p:extLst>
      <p:ext uri="{BB962C8B-B14F-4D97-AF65-F5344CB8AC3E}">
        <p14:creationId xmlns:p14="http://schemas.microsoft.com/office/powerpoint/2010/main" val="38360289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E8E72C0-9CDB-16A0-C6A8-F87831262AA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4CE6AFED-7BA2-C4B8-0AF6-23FFA63EE30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285750" indent="-285750">
              <a:lnSpc>
                <a:spcPct val="107000"/>
              </a:lnSpc>
              <a:spcBef>
                <a:spcPts val="0"/>
              </a:spcBef>
              <a:buSzPts val="2800"/>
            </a:pPr>
            <a:r>
              <a:rPr lang="en-US" sz="4000" dirty="0"/>
              <a:t>Air Conditioning</a:t>
            </a:r>
            <a:endParaRPr lang="en-US" sz="4800" dirty="0"/>
          </a:p>
        </p:txBody>
      </p:sp>
      <p:sp>
        <p:nvSpPr>
          <p:cNvPr id="145" name="Google Shape;145;p4">
            <a:extLst>
              <a:ext uri="{FF2B5EF4-FFF2-40B4-BE49-F238E27FC236}">
                <a16:creationId xmlns:a16="http://schemas.microsoft.com/office/drawing/2014/main" id="{AD8C6C78-CD70-DD1D-1441-4EFC06A6117A}"/>
              </a:ext>
            </a:extLst>
          </p:cNvPr>
          <p:cNvSpPr txBox="1">
            <a:spLocks noGrp="1"/>
          </p:cNvSpPr>
          <p:nvPr>
            <p:ph type="body" idx="1"/>
          </p:nvPr>
        </p:nvSpPr>
        <p:spPr>
          <a:xfrm>
            <a:off x="476844" y="1506474"/>
            <a:ext cx="6681945" cy="4523623"/>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solidFill>
                  <a:schemeClr val="tx1"/>
                </a:solidFill>
              </a:rPr>
              <a:t>Most hybrids are equipped with an electrically powered A/C compressor.</a:t>
            </a:r>
          </a:p>
          <a:p>
            <a:pPr marL="358775" indent="-358775">
              <a:spcAft>
                <a:spcPts val="0"/>
              </a:spcAft>
            </a:pPr>
            <a:r>
              <a:rPr lang="en-US" sz="1800" dirty="0">
                <a:solidFill>
                  <a:schemeClr val="tx1"/>
                </a:solidFill>
              </a:rPr>
              <a:t>The electrical units are powered by high voltage, and all precautions should be taken to work safely with these units.</a:t>
            </a:r>
          </a:p>
          <a:p>
            <a:pPr marL="358775" indent="-358775">
              <a:spcAft>
                <a:spcPts val="0"/>
              </a:spcAft>
            </a:pPr>
            <a:r>
              <a:rPr lang="en-US" sz="1800" dirty="0">
                <a:solidFill>
                  <a:schemeClr val="tx1"/>
                </a:solidFill>
              </a:rPr>
              <a:t>The refrigerant oil used in all electrically operated compressors must meet the specifications given by the manufacturer.</a:t>
            </a:r>
          </a:p>
          <a:p>
            <a:pPr marL="358775" indent="-358775">
              <a:spcAft>
                <a:spcPts val="0"/>
              </a:spcAft>
            </a:pPr>
            <a:r>
              <a:rPr lang="en-US" sz="1800" dirty="0">
                <a:solidFill>
                  <a:schemeClr val="tx1"/>
                </a:solidFill>
              </a:rPr>
              <a:t>In nearly all cases, the oil is synthetic and non-conductive and able to insulate the various electrical parts of the compressor.</a:t>
            </a:r>
          </a:p>
          <a:p>
            <a:pPr marL="358775" indent="-358775">
              <a:spcAft>
                <a:spcPts val="0"/>
              </a:spcAft>
            </a:pPr>
            <a:r>
              <a:rPr lang="en-US" sz="1800" dirty="0">
                <a:solidFill>
                  <a:schemeClr val="tx1"/>
                </a:solidFill>
              </a:rPr>
              <a:t>The most common is </a:t>
            </a:r>
            <a:r>
              <a:rPr lang="en-US" sz="1800" b="1" dirty="0">
                <a:solidFill>
                  <a:schemeClr val="tx1"/>
                </a:solidFill>
              </a:rPr>
              <a:t>Polyvinyl ether (PVE) oil</a:t>
            </a:r>
            <a:r>
              <a:rPr lang="en-US" sz="1800" dirty="0">
                <a:solidFill>
                  <a:schemeClr val="tx1"/>
                </a:solidFill>
              </a:rPr>
              <a:t>.</a:t>
            </a:r>
          </a:p>
          <a:p>
            <a:pPr marL="358775" indent="-358775">
              <a:spcAft>
                <a:spcPts val="0"/>
              </a:spcAft>
            </a:pPr>
            <a:r>
              <a:rPr lang="en-US" sz="1800" dirty="0">
                <a:solidFill>
                  <a:schemeClr val="tx1"/>
                </a:solidFill>
              </a:rPr>
              <a:t>The use of the regular refrigerant oil (PAG) can cause the destruction of the compressor.</a:t>
            </a:r>
          </a:p>
        </p:txBody>
      </p:sp>
      <p:pic>
        <p:nvPicPr>
          <p:cNvPr id="7" name="Picture Placeholder 6" descr="A compressor is burst open and damaged due to the use of a regular refrigerant oil (P A G).">
            <a:extLst>
              <a:ext uri="{FF2B5EF4-FFF2-40B4-BE49-F238E27FC236}">
                <a16:creationId xmlns:a16="http://schemas.microsoft.com/office/drawing/2014/main" id="{6A8804F7-7BAE-ADE8-0321-4E6D352FA369}"/>
              </a:ext>
            </a:extLst>
          </p:cNvPr>
          <p:cNvPicPr>
            <a:picLocks noGrp="1" noChangeAspect="1"/>
          </p:cNvPicPr>
          <p:nvPr>
            <p:ph type="pic" sz="quarter" idx="12"/>
          </p:nvPr>
        </p:nvPicPr>
        <p:blipFill rotWithShape="1">
          <a:blip r:embed="rId3"/>
          <a:srcRect b="13684"/>
          <a:stretch/>
        </p:blipFill>
        <p:spPr>
          <a:xfrm>
            <a:off x="7314496" y="1874171"/>
            <a:ext cx="4559268" cy="3419723"/>
          </a:xfrm>
          <a:prstGeom prst="rect">
            <a:avLst/>
          </a:prstGeom>
        </p:spPr>
      </p:pic>
    </p:spTree>
    <p:extLst>
      <p:ext uri="{BB962C8B-B14F-4D97-AF65-F5344CB8AC3E}">
        <p14:creationId xmlns:p14="http://schemas.microsoft.com/office/powerpoint/2010/main" val="37628838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Char char="•"/>
            </a:pPr>
            <a:r>
              <a:rPr lang="en-US" dirty="0"/>
              <a:t>Hybrid vehicles require a specific mindset and some safety precautions.</a:t>
            </a:r>
            <a:endParaRPr dirty="0"/>
          </a:p>
          <a:p>
            <a:pPr marL="358775" lvl="0" indent="-358775" algn="l" rtl="0">
              <a:lnSpc>
                <a:spcPct val="100000"/>
              </a:lnSpc>
              <a:buChar char="•"/>
            </a:pPr>
            <a:r>
              <a:rPr lang="en-US" dirty="0"/>
              <a:t>Have a class discussion about hybrid service in general. What should you watch out for. How would you proceed with service? Make a list of your PPE.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compare your perception of the hybrid vehicles before and after you studied this chapter. Then respond to the following questions in one or two paragraphs. Use 150–200 words in your reflection.</a:t>
            </a:r>
            <a:endParaRPr dirty="0"/>
          </a:p>
          <a:p>
            <a:pPr marL="360363" lvl="0" indent="-360363" algn="l" rtl="0">
              <a:lnSpc>
                <a:spcPct val="100000"/>
              </a:lnSpc>
              <a:buFont typeface="Arial"/>
              <a:buChar char="•"/>
            </a:pPr>
            <a:r>
              <a:rPr lang="en-US" dirty="0"/>
              <a:t>Did anything in this chapter change your thinking about hybrid vehicles? Describe the aspects that interest you most.</a:t>
            </a:r>
            <a:endParaRPr dirty="0"/>
          </a:p>
          <a:p>
            <a:pPr marL="360363" lvl="0" indent="-360363" algn="l" rtl="0">
              <a:lnSpc>
                <a:spcPct val="100000"/>
              </a:lnSpc>
              <a:buFont typeface="Arial"/>
              <a:buChar char="•"/>
            </a:pPr>
            <a:r>
              <a:rPr lang="en-US" dirty="0"/>
              <a:t>Considering all you have learned, do you feel prepared to perform service on hybrid vehicles in the lab or shop? How can you be sure you are prepared?</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14405</TotalTime>
  <Words>4647</Words>
  <Application>Microsoft Office PowerPoint</Application>
  <PresentationFormat>Widescreen</PresentationFormat>
  <Paragraphs>294</Paragraphs>
  <Slides>47</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Work Sans</vt:lpstr>
      <vt:lpstr>Arial</vt:lpstr>
      <vt:lpstr>Calibri</vt:lpstr>
      <vt:lpstr>Optimized Template Master</vt:lpstr>
      <vt:lpstr>Automotive Technology: A Systems Approach, 8e</vt:lpstr>
      <vt:lpstr>Chapter Objectives </vt:lpstr>
      <vt:lpstr>Types of Hybrid Vehicles</vt:lpstr>
      <vt:lpstr>Other Hybrid Classifications</vt:lpstr>
      <vt:lpstr>Plug-In Hybrids</vt:lpstr>
      <vt:lpstr>Batteries</vt:lpstr>
      <vt:lpstr>Motor/Generators</vt:lpstr>
      <vt:lpstr>Control System</vt:lpstr>
      <vt:lpstr>Internal Combustion Engine</vt:lpstr>
      <vt:lpstr>Transmissions</vt:lpstr>
      <vt:lpstr>Regenerative Brakes</vt:lpstr>
      <vt:lpstr>Basic Systems (1 of 2)</vt:lpstr>
      <vt:lpstr>Basic Systems (2 of 2)</vt:lpstr>
      <vt:lpstr>Knowledge Check (1 of 2)</vt:lpstr>
      <vt:lpstr>Knowledge Check Answer (1 of 2)</vt:lpstr>
      <vt:lpstr>HVAC</vt:lpstr>
      <vt:lpstr>Power Brakes</vt:lpstr>
      <vt:lpstr>GM’s Series Hybrids</vt:lpstr>
      <vt:lpstr>Basic Operation </vt:lpstr>
      <vt:lpstr>GM’s Parallel Hybrids</vt:lpstr>
      <vt:lpstr>Honda’s Hybrid Systems</vt:lpstr>
      <vt:lpstr>Two-Motor Hybrids</vt:lpstr>
      <vt:lpstr>Transmission</vt:lpstr>
      <vt:lpstr>Toyota’s Hybrids</vt:lpstr>
      <vt:lpstr>Other Hybrids from Toyota</vt:lpstr>
      <vt:lpstr>Electronic Controls</vt:lpstr>
      <vt:lpstr>Power-Split Unit</vt:lpstr>
      <vt:lpstr>Prius Plug-In</vt:lpstr>
      <vt:lpstr>Knowledge Check (2 of 2)</vt:lpstr>
      <vt:lpstr>Knowledge Check Answer (2 of 2)</vt:lpstr>
      <vt:lpstr>Ford Hybrids</vt:lpstr>
      <vt:lpstr>Operation</vt:lpstr>
      <vt:lpstr>4WD</vt:lpstr>
      <vt:lpstr>Porsche Hybrids</vt:lpstr>
      <vt:lpstr>Hyundai and Kia Hybrids</vt:lpstr>
      <vt:lpstr>BMW Hybrids</vt:lpstr>
      <vt:lpstr>Maintenance and Service</vt:lpstr>
      <vt:lpstr>Safety Issues</vt:lpstr>
      <vt:lpstr>Maintenance</vt:lpstr>
      <vt:lpstr>Cooling Systems</vt:lpstr>
      <vt:lpstr>Batteries </vt:lpstr>
      <vt:lpstr>Battery Replacement and Repair</vt:lpstr>
      <vt:lpstr>Diagnostics</vt:lpstr>
      <vt:lpstr>Test Equipment</vt:lpstr>
      <vt:lpstr>Air Conditioning</vt:lpstr>
      <vt:lpstr>Discussion</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289</cp:revision>
  <dcterms:created xsi:type="dcterms:W3CDTF">2021-12-10T16:21:02Z</dcterms:created>
  <dcterms:modified xsi:type="dcterms:W3CDTF">2024-11-26T14:47:00Z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