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811" r:id="rId2"/>
    <p:sldMasterId id="2147483824" r:id="rId3"/>
    <p:sldMasterId id="2147483842" r:id="rId4"/>
  </p:sldMasterIdLst>
  <p:notesMasterIdLst>
    <p:notesMasterId r:id="rId63"/>
  </p:notesMasterIdLst>
  <p:sldIdLst>
    <p:sldId id="386" r:id="rId5"/>
    <p:sldId id="363" r:id="rId6"/>
    <p:sldId id="364" r:id="rId7"/>
    <p:sldId id="365" r:id="rId8"/>
    <p:sldId id="378" r:id="rId9"/>
    <p:sldId id="258" r:id="rId10"/>
    <p:sldId id="260" r:id="rId11"/>
    <p:sldId id="261" r:id="rId12"/>
    <p:sldId id="262" r:id="rId13"/>
    <p:sldId id="266" r:id="rId14"/>
    <p:sldId id="267" r:id="rId15"/>
    <p:sldId id="268" r:id="rId16"/>
    <p:sldId id="269" r:id="rId17"/>
    <p:sldId id="272" r:id="rId18"/>
    <p:sldId id="274" r:id="rId19"/>
    <p:sldId id="277" r:id="rId20"/>
    <p:sldId id="279" r:id="rId21"/>
    <p:sldId id="281" r:id="rId22"/>
    <p:sldId id="284" r:id="rId23"/>
    <p:sldId id="366" r:id="rId24"/>
    <p:sldId id="285" r:id="rId25"/>
    <p:sldId id="288" r:id="rId26"/>
    <p:sldId id="290" r:id="rId27"/>
    <p:sldId id="292" r:id="rId28"/>
    <p:sldId id="293" r:id="rId29"/>
    <p:sldId id="294" r:id="rId30"/>
    <p:sldId id="295" r:id="rId31"/>
    <p:sldId id="367" r:id="rId32"/>
    <p:sldId id="300" r:id="rId33"/>
    <p:sldId id="369" r:id="rId34"/>
    <p:sldId id="303" r:id="rId35"/>
    <p:sldId id="368" r:id="rId36"/>
    <p:sldId id="305" r:id="rId37"/>
    <p:sldId id="306" r:id="rId38"/>
    <p:sldId id="308" r:id="rId39"/>
    <p:sldId id="309" r:id="rId40"/>
    <p:sldId id="310" r:id="rId41"/>
    <p:sldId id="312" r:id="rId42"/>
    <p:sldId id="313" r:id="rId43"/>
    <p:sldId id="315" r:id="rId44"/>
    <p:sldId id="316" r:id="rId45"/>
    <p:sldId id="319" r:id="rId46"/>
    <p:sldId id="323" r:id="rId47"/>
    <p:sldId id="324" r:id="rId48"/>
    <p:sldId id="370" r:id="rId49"/>
    <p:sldId id="325" r:id="rId50"/>
    <p:sldId id="326" r:id="rId51"/>
    <p:sldId id="330" r:id="rId52"/>
    <p:sldId id="334" r:id="rId53"/>
    <p:sldId id="336" r:id="rId54"/>
    <p:sldId id="337" r:id="rId55"/>
    <p:sldId id="338" r:id="rId56"/>
    <p:sldId id="340" r:id="rId57"/>
    <p:sldId id="344" r:id="rId58"/>
    <p:sldId id="345" r:id="rId59"/>
    <p:sldId id="350" r:id="rId60"/>
    <p:sldId id="371" r:id="rId61"/>
    <p:sldId id="377"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2"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07" autoAdjust="0"/>
    <p:restoredTop sz="86375" autoAdjust="0"/>
  </p:normalViewPr>
  <p:slideViewPr>
    <p:cSldViewPr snapToGrid="0" snapToObjects="1" showGuides="1">
      <p:cViewPr varScale="1">
        <p:scale>
          <a:sx n="64" d="100"/>
          <a:sy n="64" d="100"/>
        </p:scale>
        <p:origin x="648" y="40"/>
      </p:cViewPr>
      <p:guideLst>
        <p:guide orient="horz" pos="168"/>
        <p:guide pos="3876"/>
      </p:guideLst>
    </p:cSldViewPr>
  </p:slideViewPr>
  <p:outlineViewPr>
    <p:cViewPr>
      <p:scale>
        <a:sx n="33" d="100"/>
        <a:sy n="33" d="100"/>
      </p:scale>
      <p:origin x="0" y="-31056"/>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381000" y="685800"/>
            <a:ext cx="6096000" cy="3429000"/>
          </a:xfrm>
          <a:ln/>
        </p:spPr>
      </p:sp>
      <p:sp>
        <p:nvSpPr>
          <p:cNvPr id="7577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255454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381000" y="685800"/>
            <a:ext cx="6096000" cy="3429000"/>
          </a:xfrm>
          <a:ln/>
        </p:spPr>
      </p:sp>
      <p:sp>
        <p:nvSpPr>
          <p:cNvPr id="7885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438949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381000" y="685800"/>
            <a:ext cx="6096000" cy="3429000"/>
          </a:xfrm>
          <a:ln/>
        </p:spPr>
      </p:sp>
      <p:sp>
        <p:nvSpPr>
          <p:cNvPr id="7987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371449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381000" y="685800"/>
            <a:ext cx="6096000" cy="3429000"/>
          </a:xfrm>
          <a:ln/>
        </p:spPr>
      </p:sp>
      <p:sp>
        <p:nvSpPr>
          <p:cNvPr id="8089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076826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381000" y="685800"/>
            <a:ext cx="6096000" cy="3429000"/>
          </a:xfrm>
          <a:ln/>
        </p:spPr>
      </p:sp>
      <p:sp>
        <p:nvSpPr>
          <p:cNvPr id="8499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800345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381000" y="685800"/>
            <a:ext cx="6096000" cy="3429000"/>
          </a:xfrm>
          <a:ln/>
        </p:spPr>
      </p:sp>
      <p:sp>
        <p:nvSpPr>
          <p:cNvPr id="8499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141049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381000" y="685800"/>
            <a:ext cx="6096000" cy="3429000"/>
          </a:xfrm>
          <a:ln/>
        </p:spPr>
      </p:sp>
      <p:sp>
        <p:nvSpPr>
          <p:cNvPr id="860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24594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381000" y="685800"/>
            <a:ext cx="6096000" cy="3429000"/>
          </a:xfrm>
          <a:ln/>
        </p:spPr>
      </p:sp>
      <p:sp>
        <p:nvSpPr>
          <p:cNvPr id="8806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103600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381000" y="685800"/>
            <a:ext cx="6096000" cy="3429000"/>
          </a:xfrm>
          <a:ln/>
        </p:spPr>
      </p:sp>
      <p:sp>
        <p:nvSpPr>
          <p:cNvPr id="8909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099977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60397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381000" y="685800"/>
            <a:ext cx="6096000" cy="3429000"/>
          </a:xfrm>
          <a:ln/>
        </p:spPr>
      </p:sp>
      <p:sp>
        <p:nvSpPr>
          <p:cNvPr id="9318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586527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228261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2FD587-9CF3-488D-9387-7F2CCE936114}" type="slidenum">
              <a:rPr lang="en-US" smtClean="0"/>
              <a:pPr/>
              <a:t>19</a:t>
            </a:fld>
            <a:endParaRPr lang="en-US" dirty="0"/>
          </a:p>
        </p:txBody>
      </p:sp>
    </p:spTree>
    <p:extLst>
      <p:ext uri="{BB962C8B-B14F-4D97-AF65-F5344CB8AC3E}">
        <p14:creationId xmlns:p14="http://schemas.microsoft.com/office/powerpoint/2010/main" val="1243330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2FD587-9CF3-488D-9387-7F2CCE936114}" type="slidenum">
              <a:rPr lang="en-US" smtClean="0"/>
              <a:pPr/>
              <a:t>20</a:t>
            </a:fld>
            <a:endParaRPr lang="en-US" dirty="0"/>
          </a:p>
        </p:txBody>
      </p:sp>
    </p:spTree>
    <p:extLst>
      <p:ext uri="{BB962C8B-B14F-4D97-AF65-F5344CB8AC3E}">
        <p14:creationId xmlns:p14="http://schemas.microsoft.com/office/powerpoint/2010/main" val="2011556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381000" y="685800"/>
            <a:ext cx="6096000" cy="3429000"/>
          </a:xfrm>
          <a:ln/>
        </p:spPr>
      </p:sp>
      <p:sp>
        <p:nvSpPr>
          <p:cNvPr id="9625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972854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381000" y="685800"/>
            <a:ext cx="6096000" cy="3429000"/>
          </a:xfrm>
          <a:ln/>
        </p:spPr>
      </p:sp>
      <p:sp>
        <p:nvSpPr>
          <p:cNvPr id="98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6768987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381000" y="685800"/>
            <a:ext cx="6096000" cy="3429000"/>
          </a:xfrm>
          <a:ln/>
        </p:spPr>
      </p:sp>
      <p:sp>
        <p:nvSpPr>
          <p:cNvPr id="9933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862220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381000" y="685800"/>
            <a:ext cx="6096000" cy="3429000"/>
          </a:xfrm>
          <a:ln/>
        </p:spPr>
      </p:sp>
      <p:sp>
        <p:nvSpPr>
          <p:cNvPr id="10137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001357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381000" y="685800"/>
            <a:ext cx="6096000" cy="3429000"/>
          </a:xfrm>
          <a:ln/>
        </p:spPr>
      </p:sp>
      <p:sp>
        <p:nvSpPr>
          <p:cNvPr id="10240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696579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381000" y="685800"/>
            <a:ext cx="6096000" cy="3429000"/>
          </a:xfrm>
          <a:ln/>
        </p:spPr>
      </p:sp>
      <p:sp>
        <p:nvSpPr>
          <p:cNvPr id="10445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9215131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381000" y="685800"/>
            <a:ext cx="6096000" cy="3429000"/>
          </a:xfrm>
          <a:ln/>
        </p:spPr>
      </p:sp>
      <p:sp>
        <p:nvSpPr>
          <p:cNvPr id="10547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9895754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381000" y="685800"/>
            <a:ext cx="6096000" cy="3429000"/>
          </a:xfrm>
          <a:ln/>
        </p:spPr>
      </p:sp>
      <p:sp>
        <p:nvSpPr>
          <p:cNvPr id="10752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646112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2FD587-9CF3-488D-9387-7F2CCE936114}" type="slidenum">
              <a:rPr lang="en-US" smtClean="0"/>
              <a:pPr/>
              <a:t>31</a:t>
            </a:fld>
            <a:endParaRPr lang="en-US" dirty="0"/>
          </a:p>
        </p:txBody>
      </p:sp>
    </p:spTree>
    <p:extLst>
      <p:ext uri="{BB962C8B-B14F-4D97-AF65-F5344CB8AC3E}">
        <p14:creationId xmlns:p14="http://schemas.microsoft.com/office/powerpoint/2010/main" val="4028292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2FD587-9CF3-488D-9387-7F2CCE936114}" type="slidenum">
              <a:rPr lang="en-US" smtClean="0"/>
              <a:pPr/>
              <a:t>32</a:t>
            </a:fld>
            <a:endParaRPr lang="en-US" dirty="0"/>
          </a:p>
        </p:txBody>
      </p:sp>
    </p:spTree>
    <p:extLst>
      <p:ext uri="{BB962C8B-B14F-4D97-AF65-F5344CB8AC3E}">
        <p14:creationId xmlns:p14="http://schemas.microsoft.com/office/powerpoint/2010/main" val="502897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381000" y="685800"/>
            <a:ext cx="6096000" cy="3429000"/>
          </a:xfrm>
          <a:ln/>
        </p:spPr>
      </p:sp>
      <p:sp>
        <p:nvSpPr>
          <p:cNvPr id="10854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3764736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381000" y="685800"/>
            <a:ext cx="6096000" cy="3429000"/>
          </a:xfrm>
          <a:ln/>
        </p:spPr>
      </p:sp>
      <p:sp>
        <p:nvSpPr>
          <p:cNvPr id="10957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9736589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381000" y="685800"/>
            <a:ext cx="6096000" cy="3429000"/>
          </a:xfrm>
          <a:ln/>
        </p:spPr>
      </p:sp>
      <p:sp>
        <p:nvSpPr>
          <p:cNvPr id="1116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2946039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381000" y="685800"/>
            <a:ext cx="6096000" cy="3429000"/>
          </a:xfrm>
          <a:ln/>
        </p:spPr>
      </p:sp>
      <p:sp>
        <p:nvSpPr>
          <p:cNvPr id="1126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6797808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381000" y="685800"/>
            <a:ext cx="6096000" cy="3429000"/>
          </a:xfrm>
          <a:ln/>
        </p:spPr>
      </p:sp>
      <p:sp>
        <p:nvSpPr>
          <p:cNvPr id="11366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7396544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973377F3-E110-4836-8FEB-7B0E94F4A47B}" type="slidenum">
              <a:rPr lang="en-US" smtClean="0"/>
              <a:pPr/>
              <a:t>38</a:t>
            </a:fld>
            <a:endParaRPr lang="en-US" dirty="0"/>
          </a:p>
        </p:txBody>
      </p:sp>
      <p:sp>
        <p:nvSpPr>
          <p:cNvPr id="115715" name="Rectangle 2"/>
          <p:cNvSpPr>
            <a:spLocks noGrp="1" noRot="1" noChangeAspect="1" noChangeArrowheads="1" noTextEdit="1"/>
          </p:cNvSpPr>
          <p:nvPr>
            <p:ph type="sldImg"/>
          </p:nvPr>
        </p:nvSpPr>
        <p:spPr>
          <a:xfrm>
            <a:off x="381000" y="685800"/>
            <a:ext cx="6096000" cy="3429000"/>
          </a:xfrm>
          <a:ln/>
        </p:spPr>
      </p:sp>
      <p:sp>
        <p:nvSpPr>
          <p:cNvPr id="115716"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3854666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xfrm>
            <a:off x="381000" y="685800"/>
            <a:ext cx="6096000" cy="3429000"/>
          </a:xfrm>
          <a:ln/>
        </p:spPr>
      </p:sp>
      <p:sp>
        <p:nvSpPr>
          <p:cNvPr id="11673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872962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381000" y="685800"/>
            <a:ext cx="6096000" cy="3429000"/>
          </a:xfrm>
          <a:ln/>
        </p:spPr>
      </p:sp>
      <p:sp>
        <p:nvSpPr>
          <p:cNvPr id="11878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1135376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381000" y="685800"/>
            <a:ext cx="6096000" cy="3429000"/>
          </a:xfrm>
          <a:ln/>
        </p:spPr>
      </p:sp>
      <p:sp>
        <p:nvSpPr>
          <p:cNvPr id="11981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9862315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xfrm>
            <a:off x="381000" y="685800"/>
            <a:ext cx="6096000" cy="3429000"/>
          </a:xfrm>
          <a:ln/>
        </p:spPr>
      </p:sp>
      <p:sp>
        <p:nvSpPr>
          <p:cNvPr id="12288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3956101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2FD587-9CF3-488D-9387-7F2CCE936114}" type="slidenum">
              <a:rPr lang="en-US" smtClean="0"/>
              <a:pPr/>
              <a:t>44</a:t>
            </a:fld>
            <a:endParaRPr lang="en-US" dirty="0"/>
          </a:p>
        </p:txBody>
      </p:sp>
    </p:spTree>
    <p:extLst>
      <p:ext uri="{BB962C8B-B14F-4D97-AF65-F5344CB8AC3E}">
        <p14:creationId xmlns:p14="http://schemas.microsoft.com/office/powerpoint/2010/main" val="27210343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2FD587-9CF3-488D-9387-7F2CCE936114}" type="slidenum">
              <a:rPr lang="en-US" smtClean="0"/>
              <a:pPr/>
              <a:t>45</a:t>
            </a:fld>
            <a:endParaRPr lang="en-US" dirty="0"/>
          </a:p>
        </p:txBody>
      </p:sp>
    </p:spTree>
    <p:extLst>
      <p:ext uri="{BB962C8B-B14F-4D97-AF65-F5344CB8AC3E}">
        <p14:creationId xmlns:p14="http://schemas.microsoft.com/office/powerpoint/2010/main" val="27111729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381000" y="685800"/>
            <a:ext cx="6096000" cy="3429000"/>
          </a:xfrm>
          <a:ln/>
        </p:spPr>
      </p:sp>
      <p:sp>
        <p:nvSpPr>
          <p:cNvPr id="12595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9061638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381000" y="685800"/>
            <a:ext cx="6096000" cy="3429000"/>
          </a:xfrm>
          <a:ln/>
        </p:spPr>
      </p:sp>
      <p:sp>
        <p:nvSpPr>
          <p:cNvPr id="12697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4745021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381000" y="685800"/>
            <a:ext cx="6096000" cy="3429000"/>
          </a:xfrm>
          <a:ln/>
        </p:spPr>
      </p:sp>
      <p:sp>
        <p:nvSpPr>
          <p:cNvPr id="13005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5771213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381000" y="685800"/>
            <a:ext cx="6096000" cy="3429000"/>
          </a:xfrm>
          <a:ln/>
        </p:spPr>
      </p:sp>
      <p:sp>
        <p:nvSpPr>
          <p:cNvPr id="13312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2915078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xfrm>
            <a:off x="381000" y="685800"/>
            <a:ext cx="6096000" cy="3429000"/>
          </a:xfrm>
          <a:ln/>
        </p:spPr>
      </p:sp>
      <p:sp>
        <p:nvSpPr>
          <p:cNvPr id="135171"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4767699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xfrm>
            <a:off x="381000" y="685800"/>
            <a:ext cx="6096000" cy="3429000"/>
          </a:xfrm>
          <a:ln/>
        </p:spPr>
      </p:sp>
      <p:sp>
        <p:nvSpPr>
          <p:cNvPr id="136195"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203662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a:xfrm>
            <a:off x="381000" y="685800"/>
            <a:ext cx="6096000" cy="3429000"/>
          </a:xfrm>
          <a:ln/>
        </p:spPr>
      </p:sp>
      <p:sp>
        <p:nvSpPr>
          <p:cNvPr id="1372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6455313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xfrm>
            <a:off x="381000" y="685800"/>
            <a:ext cx="6096000" cy="3429000"/>
          </a:xfrm>
          <a:ln/>
        </p:spPr>
      </p:sp>
      <p:sp>
        <p:nvSpPr>
          <p:cNvPr id="1382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7765506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xfrm>
            <a:off x="381000" y="685800"/>
            <a:ext cx="6096000" cy="3429000"/>
          </a:xfrm>
          <a:ln/>
        </p:spPr>
      </p:sp>
      <p:sp>
        <p:nvSpPr>
          <p:cNvPr id="14233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7471295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46573257-A42C-4E47-80D3-C98B0ADFF887}" type="slidenum">
              <a:rPr lang="en-US" smtClean="0"/>
              <a:pPr/>
              <a:t>55</a:t>
            </a:fld>
            <a:endParaRPr lang="en-US" dirty="0"/>
          </a:p>
        </p:txBody>
      </p:sp>
      <p:sp>
        <p:nvSpPr>
          <p:cNvPr id="143363" name="Rectangle 2"/>
          <p:cNvSpPr>
            <a:spLocks noGrp="1" noRot="1" noChangeAspect="1" noChangeArrowheads="1" noTextEdit="1"/>
          </p:cNvSpPr>
          <p:nvPr>
            <p:ph type="sldImg"/>
          </p:nvPr>
        </p:nvSpPr>
        <p:spPr>
          <a:xfrm>
            <a:off x="381000" y="685800"/>
            <a:ext cx="6096000" cy="3429000"/>
          </a:xfrm>
          <a:ln/>
        </p:spPr>
      </p:sp>
      <p:sp>
        <p:nvSpPr>
          <p:cNvPr id="143364"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1613205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2FD587-9CF3-488D-9387-7F2CCE936114}" type="slidenum">
              <a:rPr lang="en-US" smtClean="0"/>
              <a:pPr/>
              <a:t>56</a:t>
            </a:fld>
            <a:endParaRPr lang="en-US" dirty="0"/>
          </a:p>
        </p:txBody>
      </p:sp>
    </p:spTree>
    <p:extLst>
      <p:ext uri="{BB962C8B-B14F-4D97-AF65-F5344CB8AC3E}">
        <p14:creationId xmlns:p14="http://schemas.microsoft.com/office/powerpoint/2010/main" val="15111760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2FD587-9CF3-488D-9387-7F2CCE936114}" type="slidenum">
              <a:rPr lang="en-US" smtClean="0"/>
              <a:pPr/>
              <a:t>57</a:t>
            </a:fld>
            <a:endParaRPr lang="en-US" dirty="0"/>
          </a:p>
        </p:txBody>
      </p:sp>
    </p:spTree>
    <p:extLst>
      <p:ext uri="{BB962C8B-B14F-4D97-AF65-F5344CB8AC3E}">
        <p14:creationId xmlns:p14="http://schemas.microsoft.com/office/powerpoint/2010/main" val="2532071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381119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7141018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868104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402581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17121117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561982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27682030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751612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746678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1851062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5613358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First Slide)">
  <p:cSld name="Title (First Slide)">
    <p:spTree>
      <p:nvGrpSpPr>
        <p:cNvPr id="1" name="Shape 15"/>
        <p:cNvGrpSpPr/>
        <p:nvPr/>
      </p:nvGrpSpPr>
      <p:grpSpPr>
        <a:xfrm>
          <a:off x="0" y="0"/>
          <a:ext cx="0" cy="0"/>
          <a:chOff x="0" y="0"/>
          <a:chExt cx="0" cy="0"/>
        </a:xfrm>
      </p:grpSpPr>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Tree>
    <p:extLst>
      <p:ext uri="{BB962C8B-B14F-4D97-AF65-F5344CB8AC3E}">
        <p14:creationId xmlns:p14="http://schemas.microsoft.com/office/powerpoint/2010/main" val="34703467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6992087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0442723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9850452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20B94EA-E0FC-45F7-8A06-3CE9694ED2AD}" type="datetimeFigureOut">
              <a:rPr lang="en-US" smtClean="0"/>
              <a:pPr/>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0E4ECC14-25A4-4E96-A863-D89966B2F4B2}" type="slidenum">
              <a:rPr lang="en-US" smtClean="0"/>
              <a:pPr/>
              <a:t>‹#›</a:t>
            </a:fld>
            <a:endParaRPr lang="en-US"/>
          </a:p>
        </p:txBody>
      </p:sp>
    </p:spTree>
    <p:extLst>
      <p:ext uri="{BB962C8B-B14F-4D97-AF65-F5344CB8AC3E}">
        <p14:creationId xmlns:p14="http://schemas.microsoft.com/office/powerpoint/2010/main" val="34645406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541762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588133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532928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774231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6245864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6997864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7942994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9701855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66104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7258752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3900025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6460826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
        <p:nvSpPr>
          <p:cNvPr id="5" name="Title 1"/>
          <p:cNvSpPr>
            <a:spLocks noGrp="1"/>
          </p:cNvSpPr>
          <p:nvPr>
            <p:ph type="title"/>
          </p:nvPr>
        </p:nvSpPr>
        <p:spPr>
          <a:xfrm>
            <a:off x="609600" y="274638"/>
            <a:ext cx="10972800" cy="1143000"/>
          </a:xfrm>
        </p:spPr>
        <p:txBody>
          <a:bodyPr/>
          <a:lstStyle/>
          <a:p>
            <a:r>
              <a:rPr lang="en-US"/>
              <a:t>Click to edit Master title style</a:t>
            </a:r>
          </a:p>
        </p:txBody>
      </p:sp>
      <p:sp>
        <p:nvSpPr>
          <p:cNvPr id="7" name="Content Placeholder 6"/>
          <p:cNvSpPr>
            <a:spLocks noGrp="1"/>
          </p:cNvSpPr>
          <p:nvPr>
            <p:ph sz="quarter" idx="13"/>
          </p:nvPr>
        </p:nvSpPr>
        <p:spPr>
          <a:xfrm>
            <a:off x="609600" y="1654176"/>
            <a:ext cx="10972800" cy="122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012017" y="3468689"/>
            <a:ext cx="1363133" cy="1277937"/>
          </a:xfrm>
        </p:spPr>
        <p:txBody>
          <a:bodyPr/>
          <a:lstStyle/>
          <a:p>
            <a:r>
              <a:rPr lang="en-US"/>
              <a:t>Click icon to add picture</a:t>
            </a:r>
          </a:p>
        </p:txBody>
      </p:sp>
      <p:sp>
        <p:nvSpPr>
          <p:cNvPr id="11" name="Picture Placeholder 10"/>
          <p:cNvSpPr>
            <a:spLocks noGrp="1"/>
          </p:cNvSpPr>
          <p:nvPr>
            <p:ph type="pic" sz="quarter" idx="15"/>
          </p:nvPr>
        </p:nvSpPr>
        <p:spPr>
          <a:xfrm>
            <a:off x="6794501" y="3281363"/>
            <a:ext cx="1231900" cy="1585912"/>
          </a:xfrm>
        </p:spPr>
        <p:txBody>
          <a:bodyPr/>
          <a:lstStyle/>
          <a:p>
            <a:r>
              <a:rPr lang="en-US"/>
              <a:t>Click icon to add picture</a:t>
            </a:r>
          </a:p>
        </p:txBody>
      </p:sp>
      <p:sp>
        <p:nvSpPr>
          <p:cNvPr id="13" name="Content Placeholder 12"/>
          <p:cNvSpPr>
            <a:spLocks noGrp="1"/>
          </p:cNvSpPr>
          <p:nvPr>
            <p:ph sz="quarter" idx="16"/>
          </p:nvPr>
        </p:nvSpPr>
        <p:spPr>
          <a:xfrm>
            <a:off x="609600" y="5068888"/>
            <a:ext cx="10972800" cy="887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62690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20759651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First Slide)" userDrawn="1">
  <p:cSld name="1_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116455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692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Char char="−"/>
              <a:defRPr sz="2400" b="0"/>
            </a:lvl2pPr>
            <a:lvl3pPr marL="1076325" lvl="2" indent="-361950" algn="l">
              <a:lnSpc>
                <a:spcPct val="100000"/>
              </a:lnSpc>
              <a:spcBef>
                <a:spcPts val="624"/>
              </a:spcBef>
              <a:spcAft>
                <a:spcPts val="600"/>
              </a:spcAft>
              <a:buSzPct val="8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35494443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692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7"/>
            <a:ext cx="11241915" cy="2551174"/>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600"/>
              </a:spcAft>
              <a:buSzPct val="100000"/>
              <a:buFont typeface="Arial" panose="020B0604020202020204" pitchFamily="34" charset="0"/>
              <a:buChar char="•"/>
              <a:defRPr sz="2600"/>
            </a:lvl1pPr>
            <a:lvl2pPr marL="714375" lvl="1" indent="-352425" algn="l">
              <a:lnSpc>
                <a:spcPct val="100000"/>
              </a:lnSpc>
              <a:spcBef>
                <a:spcPts val="624"/>
              </a:spcBef>
              <a:spcAft>
                <a:spcPts val="600"/>
              </a:spcAft>
              <a:buSzPct val="100000"/>
              <a:buChar char="−"/>
              <a:defRPr sz="2400" b="0"/>
            </a:lvl2pPr>
            <a:lvl3pPr marL="1076325" lvl="2" indent="-361950" algn="l">
              <a:lnSpc>
                <a:spcPct val="100000"/>
              </a:lnSpc>
              <a:spcBef>
                <a:spcPts val="624"/>
              </a:spcBef>
              <a:spcAft>
                <a:spcPts val="600"/>
              </a:spcAft>
              <a:buSzPct val="8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C73FB3D3-FC1D-2BC5-CC73-3AA417842822}"/>
              </a:ext>
            </a:extLst>
          </p:cNvPr>
          <p:cNvSpPr>
            <a:spLocks noGrp="1"/>
          </p:cNvSpPr>
          <p:nvPr>
            <p:ph sz="quarter" idx="10"/>
          </p:nvPr>
        </p:nvSpPr>
        <p:spPr>
          <a:xfrm>
            <a:off x="962025" y="451485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BD4627BE-2803-514F-A2AE-7288C65E706E}"/>
              </a:ext>
            </a:extLst>
          </p:cNvPr>
          <p:cNvSpPr>
            <a:spLocks noGrp="1"/>
          </p:cNvSpPr>
          <p:nvPr>
            <p:ph type="pic" sz="quarter" idx="11"/>
          </p:nvPr>
        </p:nvSpPr>
        <p:spPr>
          <a:xfrm>
            <a:off x="2628900" y="4514850"/>
            <a:ext cx="914400" cy="914400"/>
          </a:xfrm>
        </p:spPr>
        <p:txBody>
          <a:bodyPr/>
          <a:lstStyle/>
          <a:p>
            <a:endParaRPr lang="en-IN"/>
          </a:p>
        </p:txBody>
      </p:sp>
      <p:sp>
        <p:nvSpPr>
          <p:cNvPr id="7" name="Picture Placeholder 6">
            <a:extLst>
              <a:ext uri="{FF2B5EF4-FFF2-40B4-BE49-F238E27FC236}">
                <a16:creationId xmlns:a16="http://schemas.microsoft.com/office/drawing/2014/main" id="{71938AE0-4151-E28B-6D35-B7BE6289135E}"/>
              </a:ext>
            </a:extLst>
          </p:cNvPr>
          <p:cNvSpPr>
            <a:spLocks noGrp="1"/>
          </p:cNvSpPr>
          <p:nvPr>
            <p:ph type="pic" sz="quarter" idx="12"/>
          </p:nvPr>
        </p:nvSpPr>
        <p:spPr>
          <a:xfrm>
            <a:off x="4333875" y="4629150"/>
            <a:ext cx="914400" cy="914400"/>
          </a:xfrm>
        </p:spPr>
        <p:txBody>
          <a:bodyPr/>
          <a:lstStyle/>
          <a:p>
            <a:endParaRPr lang="en-IN"/>
          </a:p>
        </p:txBody>
      </p:sp>
      <p:sp>
        <p:nvSpPr>
          <p:cNvPr id="9" name="Table Placeholder 8">
            <a:extLst>
              <a:ext uri="{FF2B5EF4-FFF2-40B4-BE49-F238E27FC236}">
                <a16:creationId xmlns:a16="http://schemas.microsoft.com/office/drawing/2014/main" id="{1A7BCD32-82A5-8FC8-BC08-EB3009555B3E}"/>
              </a:ext>
            </a:extLst>
          </p:cNvPr>
          <p:cNvSpPr>
            <a:spLocks noGrp="1"/>
          </p:cNvSpPr>
          <p:nvPr>
            <p:ph type="tbl" sz="quarter" idx="13"/>
          </p:nvPr>
        </p:nvSpPr>
        <p:spPr>
          <a:xfrm>
            <a:off x="5848350" y="4514850"/>
            <a:ext cx="914400" cy="914400"/>
          </a:xfrm>
        </p:spPr>
        <p:txBody>
          <a:bodyPr/>
          <a:lstStyle/>
          <a:p>
            <a:endParaRPr lang="en-IN"/>
          </a:p>
        </p:txBody>
      </p:sp>
    </p:spTree>
    <p:extLst>
      <p:ext uri="{BB962C8B-B14F-4D97-AF65-F5344CB8AC3E}">
        <p14:creationId xmlns:p14="http://schemas.microsoft.com/office/powerpoint/2010/main" val="30322087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4429948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309553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9347208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9A670BA7-DE87-4785-B054-11F5AB483884}"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7FB27F77-B5FC-4EE7-9679-D86DADD66064}" type="slidenum">
              <a:rPr lang="en-US" smtClean="0"/>
              <a:t>‹#›</a:t>
            </a:fld>
            <a:endParaRPr lang="en-US"/>
          </a:p>
        </p:txBody>
      </p:sp>
    </p:spTree>
    <p:extLst>
      <p:ext uri="{BB962C8B-B14F-4D97-AF65-F5344CB8AC3E}">
        <p14:creationId xmlns:p14="http://schemas.microsoft.com/office/powerpoint/2010/main" val="42565877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39604346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0621119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5776223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0477389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2074569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0561990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36831124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280442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5322824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6909934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3190333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6062AD2B-FFE7-4EDF-BF1C-AF911F3B64C9}"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2262A19-C809-4066-BCFF-D0801F1AFFF0}"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4673600" y="2895600"/>
            <a:ext cx="1625600" cy="1371600"/>
          </a:xfrm>
        </p:spPr>
        <p:txBody>
          <a:bodyPr/>
          <a:lstStyle/>
          <a:p>
            <a:r>
              <a:rPr lang="en-US"/>
              <a:t>Click icon to add picture</a:t>
            </a:r>
          </a:p>
        </p:txBody>
      </p:sp>
      <p:sp>
        <p:nvSpPr>
          <p:cNvPr id="11" name="Picture Placeholder 10"/>
          <p:cNvSpPr>
            <a:spLocks noGrp="1"/>
          </p:cNvSpPr>
          <p:nvPr>
            <p:ph type="pic" sz="quarter" idx="15"/>
          </p:nvPr>
        </p:nvSpPr>
        <p:spPr>
          <a:xfrm>
            <a:off x="6908800" y="2819400"/>
            <a:ext cx="2540000" cy="1447800"/>
          </a:xfrm>
        </p:spPr>
        <p:txBody>
          <a:bodyPr/>
          <a:lstStyle/>
          <a:p>
            <a:r>
              <a:rPr lang="en-US"/>
              <a:t>Click icon to add picture</a:t>
            </a:r>
          </a:p>
        </p:txBody>
      </p:sp>
      <p:sp>
        <p:nvSpPr>
          <p:cNvPr id="13" name="Content Placeholder 12"/>
          <p:cNvSpPr>
            <a:spLocks noGrp="1"/>
          </p:cNvSpPr>
          <p:nvPr>
            <p:ph sz="quarter" idx="16"/>
          </p:nvPr>
        </p:nvSpPr>
        <p:spPr>
          <a:xfrm>
            <a:off x="609600" y="44196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2149457"/>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833EE582-07FE-4340-B291-A98D6735D754}"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6AF2B55-1CEC-4C2F-9FA6-21EDF5D4E06D}" type="slidenum">
              <a:t>‹#›</a:t>
            </a:fld>
            <a:endParaRPr lang="en-US"/>
          </a:p>
        </p:txBody>
      </p:sp>
      <p:sp>
        <p:nvSpPr>
          <p:cNvPr id="6" name="Title 1"/>
          <p:cNvSpPr>
            <a:spLocks noGrp="1"/>
          </p:cNvSpPr>
          <p:nvPr>
            <p:ph type="title"/>
          </p:nvPr>
        </p:nvSpPr>
        <p:spPr>
          <a:xfrm>
            <a:off x="609600" y="273600"/>
            <a:ext cx="10972320" cy="1144800"/>
          </a:xfrm>
        </p:spPr>
        <p:txBody>
          <a:bodyPr/>
          <a:lstStyle/>
          <a:p>
            <a:r>
              <a:rPr lang="en-US"/>
              <a:t>Click to edit Master title style</a:t>
            </a:r>
            <a:endParaRPr lang="ru-RU"/>
          </a:p>
        </p:txBody>
      </p:sp>
      <p:sp>
        <p:nvSpPr>
          <p:cNvPr id="8" name="Content Placeholder 7"/>
          <p:cNvSpPr>
            <a:spLocks noGrp="1"/>
          </p:cNvSpPr>
          <p:nvPr>
            <p:ph sz="quarter" idx="13"/>
          </p:nvPr>
        </p:nvSpPr>
        <p:spPr>
          <a:xfrm>
            <a:off x="609600" y="1676400"/>
            <a:ext cx="110744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4"/>
          </p:nvPr>
        </p:nvSpPr>
        <p:spPr>
          <a:xfrm>
            <a:off x="2235200" y="3124200"/>
            <a:ext cx="1828800" cy="1447800"/>
          </a:xfrm>
        </p:spPr>
        <p:txBody>
          <a:bodyPr/>
          <a:lstStyle/>
          <a:p>
            <a:r>
              <a:rPr lang="en-US"/>
              <a:t>Click icon to add picture</a:t>
            </a:r>
          </a:p>
        </p:txBody>
      </p:sp>
      <p:sp>
        <p:nvSpPr>
          <p:cNvPr id="12" name="Picture Placeholder 11"/>
          <p:cNvSpPr>
            <a:spLocks noGrp="1"/>
          </p:cNvSpPr>
          <p:nvPr>
            <p:ph type="pic" sz="quarter" idx="15"/>
          </p:nvPr>
        </p:nvSpPr>
        <p:spPr>
          <a:xfrm>
            <a:off x="6807200" y="3124200"/>
            <a:ext cx="2438400" cy="1371600"/>
          </a:xfrm>
        </p:spPr>
        <p:txBody>
          <a:bodyPr/>
          <a:lstStyle/>
          <a:p>
            <a:r>
              <a:rPr lang="en-US"/>
              <a:t>Click icon to add picture</a:t>
            </a:r>
          </a:p>
        </p:txBody>
      </p:sp>
      <p:sp>
        <p:nvSpPr>
          <p:cNvPr id="14" name="Content Placeholder 13"/>
          <p:cNvSpPr>
            <a:spLocks noGrp="1"/>
          </p:cNvSpPr>
          <p:nvPr>
            <p:ph sz="quarter" idx="16"/>
          </p:nvPr>
        </p:nvSpPr>
        <p:spPr>
          <a:xfrm>
            <a:off x="508000" y="4800600"/>
            <a:ext cx="111760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26428"/>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C41CBDD0-2F03-4EEE-B0BA-DAD5A187BF4A}"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5E5365A-B8AC-484A-86DF-44925BB27AC7}"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00200"/>
            <a:ext cx="11074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540000" y="3048000"/>
            <a:ext cx="2438400" cy="1295400"/>
          </a:xfrm>
        </p:spPr>
        <p:txBody>
          <a:bodyPr/>
          <a:lstStyle/>
          <a:p>
            <a:r>
              <a:rPr lang="en-US"/>
              <a:t>Click icon to add picture</a:t>
            </a:r>
          </a:p>
        </p:txBody>
      </p:sp>
      <p:sp>
        <p:nvSpPr>
          <p:cNvPr id="11" name="Picture Placeholder 10"/>
          <p:cNvSpPr>
            <a:spLocks noGrp="1"/>
          </p:cNvSpPr>
          <p:nvPr>
            <p:ph type="pic" sz="quarter" idx="15"/>
          </p:nvPr>
        </p:nvSpPr>
        <p:spPr>
          <a:xfrm>
            <a:off x="6502400" y="2895600"/>
            <a:ext cx="2743200" cy="1524000"/>
          </a:xfrm>
        </p:spPr>
        <p:txBody>
          <a:bodyPr/>
          <a:lstStyle/>
          <a:p>
            <a:r>
              <a:rPr lang="en-US"/>
              <a:t>Click icon to add picture</a:t>
            </a:r>
          </a:p>
        </p:txBody>
      </p:sp>
      <p:sp>
        <p:nvSpPr>
          <p:cNvPr id="13" name="Content Placeholder 12"/>
          <p:cNvSpPr>
            <a:spLocks noGrp="1"/>
          </p:cNvSpPr>
          <p:nvPr>
            <p:ph sz="quarter" idx="16"/>
          </p:nvPr>
        </p:nvSpPr>
        <p:spPr>
          <a:xfrm>
            <a:off x="508000" y="4724400"/>
            <a:ext cx="1127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7794635"/>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65295DC-44BC-4B97-B5CE-DB7846BEDB2B}"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45723046-0E6B-4AAD-9CA8-C3063FE2E474}"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8712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032000" y="3581400"/>
            <a:ext cx="2133600" cy="1143000"/>
          </a:xfrm>
        </p:spPr>
        <p:txBody>
          <a:bodyPr/>
          <a:lstStyle/>
          <a:p>
            <a:r>
              <a:rPr lang="en-US"/>
              <a:t>Click icon to add picture</a:t>
            </a:r>
          </a:p>
        </p:txBody>
      </p:sp>
      <p:sp>
        <p:nvSpPr>
          <p:cNvPr id="11" name="Picture Placeholder 10"/>
          <p:cNvSpPr>
            <a:spLocks noGrp="1"/>
          </p:cNvSpPr>
          <p:nvPr>
            <p:ph type="pic" sz="quarter" idx="15"/>
          </p:nvPr>
        </p:nvSpPr>
        <p:spPr>
          <a:xfrm>
            <a:off x="5689600" y="3581400"/>
            <a:ext cx="2336800" cy="1295400"/>
          </a:xfrm>
        </p:spPr>
        <p:txBody>
          <a:bodyPr/>
          <a:lstStyle/>
          <a:p>
            <a:r>
              <a:rPr lang="en-US"/>
              <a:t>Click icon to add picture</a:t>
            </a:r>
          </a:p>
        </p:txBody>
      </p:sp>
      <p:sp>
        <p:nvSpPr>
          <p:cNvPr id="13" name="Content Placeholder 12"/>
          <p:cNvSpPr>
            <a:spLocks noGrp="1"/>
          </p:cNvSpPr>
          <p:nvPr>
            <p:ph sz="quarter" idx="16"/>
          </p:nvPr>
        </p:nvSpPr>
        <p:spPr>
          <a:xfrm>
            <a:off x="609600" y="50292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218701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image" Target="../media/image3.png"/><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21" Type="http://schemas.openxmlformats.org/officeDocument/2006/relationships/image" Target="../media/image3.png"/><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theme" Target="../theme/theme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
        <p:nvSpPr>
          <p:cNvPr id="7" name="Rectangle 3">
            <a:extLst>
              <a:ext uri="{FF2B5EF4-FFF2-40B4-BE49-F238E27FC236}">
                <a16:creationId xmlns:a16="http://schemas.microsoft.com/office/drawing/2014/main" id="{8DFE830D-3871-CEDC-FEFB-E9E9E54C93D3}"/>
              </a:ext>
            </a:extLst>
          </p:cNvPr>
          <p:cNvSpPr>
            <a:spLocks noChangeArrowheads="1"/>
          </p:cNvSpPr>
          <p:nvPr userDrawn="1"/>
        </p:nvSpPr>
        <p:spPr bwMode="auto">
          <a:xfrm>
            <a:off x="4247444" y="6424082"/>
            <a:ext cx="7750595" cy="389999"/>
          </a:xfrm>
          <a:prstGeom prst="rect">
            <a:avLst/>
          </a:prstGeom>
          <a:noFill/>
          <a:ln w="9525">
            <a:noFill/>
            <a:round/>
            <a:headEnd/>
            <a:tailEnd/>
          </a:ln>
          <a:effectLst/>
        </p:spPr>
        <p:txBody>
          <a:bodyPr lIns="90000" tIns="46800" rIns="90000" bIns="46800"/>
          <a:lstStyle/>
          <a:p>
            <a:pPr algn="r" defTabSz="449263" fontAlgn="base">
              <a:spcBef>
                <a:spcPct val="0"/>
              </a:spcBef>
              <a:spcAft>
                <a:spcPct val="0"/>
              </a:spcAft>
              <a:buClr>
                <a:srgbClr val="000000"/>
              </a:buClr>
              <a:buSzPct val="100000"/>
              <a:buFont typeface="Calibri" pitchFamily="1"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GB" sz="900" dirty="0">
                <a:solidFill>
                  <a:srgbClr val="000000"/>
                </a:solidFill>
                <a:latin typeface="Calibri" pitchFamily="1" charset="0"/>
                <a:cs typeface="Arial" charset="0"/>
              </a:rPr>
              <a:t>© 2020 Cengage Learning. All Rights Reserved. May not be scanned, copied, </a:t>
            </a:r>
            <a:br>
              <a:rPr lang="en-GB" sz="900" dirty="0">
                <a:solidFill>
                  <a:srgbClr val="000000"/>
                </a:solidFill>
                <a:latin typeface="Calibri" pitchFamily="1" charset="0"/>
                <a:cs typeface="Arial" charset="0"/>
              </a:rPr>
            </a:br>
            <a:r>
              <a:rPr lang="en-GB" sz="900" dirty="0">
                <a:solidFill>
                  <a:srgbClr val="000000"/>
                </a:solidFill>
                <a:latin typeface="Calibri" pitchFamily="1" charset="0"/>
                <a:cs typeface="Arial" charset="0"/>
              </a:rPr>
              <a:t>duplicated,</a:t>
            </a:r>
            <a:r>
              <a:rPr lang="en-GB" sz="900" baseline="0" dirty="0">
                <a:solidFill>
                  <a:srgbClr val="000000"/>
                </a:solidFill>
                <a:latin typeface="Calibri" pitchFamily="1" charset="0"/>
                <a:cs typeface="Arial" charset="0"/>
              </a:rPr>
              <a:t> or posted to a publicly accessible website, in whole or in part.</a:t>
            </a:r>
            <a:endParaRPr lang="en-GB" sz="900" dirty="0">
              <a:solidFill>
                <a:srgbClr val="000000"/>
              </a:solidFill>
              <a:latin typeface="Calibri" pitchFamily="1" charset="0"/>
              <a:cs typeface="Arial" charset="0"/>
            </a:endParaRPr>
          </a:p>
        </p:txBody>
      </p:sp>
      <p:pic>
        <p:nvPicPr>
          <p:cNvPr id="8" name="Picture 7" descr="CL_Logo_RGB_R.png">
            <a:extLst>
              <a:ext uri="{FF2B5EF4-FFF2-40B4-BE49-F238E27FC236}">
                <a16:creationId xmlns:a16="http://schemas.microsoft.com/office/drawing/2014/main" id="{BBAE68C1-AF97-2FDC-EC09-1431955BD61C}"/>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1600" y="6172200"/>
            <a:ext cx="2133600" cy="843912"/>
          </a:xfrm>
          <a:prstGeom prst="rect">
            <a:avLst/>
          </a:prstGeom>
        </p:spPr>
      </p:pic>
      <p:pic>
        <p:nvPicPr>
          <p:cNvPr id="9" name="Picture 8" descr="Erjavec_AutoTech_MASTER.jpg">
            <a:extLst>
              <a:ext uri="{FF2B5EF4-FFF2-40B4-BE49-F238E27FC236}">
                <a16:creationId xmlns:a16="http://schemas.microsoft.com/office/drawing/2014/main" id="{3BFCAE23-0A81-464B-6FF3-4A8D0128978A}"/>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1732935613"/>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3">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70EC5AC4-AADF-F3DE-42E2-37CE1FA04BE8}"/>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154907672"/>
      </p:ext>
    </p:extLst>
  </p:cSld>
  <p:clrMap bg1="lt1" tx1="dk1" bg2="dk2" tx2="lt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62" r:id="rId18"/>
    <p:sldLayoutId id="2147483863" r:id="rId19"/>
    <p:sldLayoutId id="2147483864" r:id="rId20"/>
    <p:sldLayoutId id="2147483865" r:id="rId2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4A59AE58-3674-3013-0724-290070A57CAE}"/>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028765223"/>
      </p:ext>
    </p:extLst>
  </p:cSld>
  <p:clrMap bg1="lt1" tx1="dk1" bg2="dk2" tx2="lt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 id="2147483860" r:id="rId18"/>
    <p:sldLayoutId id="2147483861"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4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3.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3.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44.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3.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44.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44.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3.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44.xml"/><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3.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4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40: Drive Axles and Differentials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F398F-B967-5850-7799-93AF5C60FCA0}"/>
              </a:ext>
            </a:extLst>
          </p:cNvPr>
          <p:cNvSpPr>
            <a:spLocks noGrp="1"/>
          </p:cNvSpPr>
          <p:nvPr>
            <p:ph type="title"/>
          </p:nvPr>
        </p:nvSpPr>
        <p:spPr/>
        <p:txBody>
          <a:bodyPr/>
          <a:lstStyle/>
          <a:p>
            <a:r>
              <a:rPr lang="en-US" dirty="0"/>
              <a:t>Chapter Objectives (1 of 3)</a:t>
            </a:r>
          </a:p>
        </p:txBody>
      </p:sp>
      <p:sp>
        <p:nvSpPr>
          <p:cNvPr id="3" name="Text Placeholder 2">
            <a:extLst>
              <a:ext uri="{FF2B5EF4-FFF2-40B4-BE49-F238E27FC236}">
                <a16:creationId xmlns:a16="http://schemas.microsoft.com/office/drawing/2014/main" id="{CAADC278-64B6-4196-E6A2-49AFEA228A95}"/>
              </a:ext>
            </a:extLst>
          </p:cNvPr>
          <p:cNvSpPr>
            <a:spLocks noGrp="1"/>
          </p:cNvSpPr>
          <p:nvPr>
            <p:ph type="body" idx="1"/>
          </p:nvPr>
        </p:nvSpPr>
        <p:spPr/>
        <p:txBody>
          <a:bodyPr/>
          <a:lstStyle/>
          <a:p>
            <a:r>
              <a:rPr lang="en-US" sz="2600" dirty="0">
                <a:solidFill>
                  <a:schemeClr val="tx1"/>
                </a:solidFill>
                <a:latin typeface="Work Sans" pitchFamily="2" charset="0"/>
              </a:rPr>
              <a:t>40.01 Identify common drive shaft concerns.</a:t>
            </a:r>
          </a:p>
          <a:p>
            <a:r>
              <a:rPr lang="en-US" sz="2600" dirty="0">
                <a:solidFill>
                  <a:schemeClr val="tx1"/>
                </a:solidFill>
                <a:latin typeface="Work Sans" pitchFamily="2" charset="0"/>
              </a:rPr>
              <a:t>40.02 Name and describe the components of a front-wheel drive axle.</a:t>
            </a:r>
          </a:p>
          <a:p>
            <a:r>
              <a:rPr lang="en-US" sz="2600" dirty="0">
                <a:solidFill>
                  <a:schemeClr val="tx1"/>
                </a:solidFill>
                <a:latin typeface="Work Sans" pitchFamily="2" charset="0"/>
              </a:rPr>
              <a:t>40.03 Describe the operation of a front-wheel drive axle.</a:t>
            </a:r>
          </a:p>
          <a:p>
            <a:r>
              <a:rPr lang="en-US" sz="2600" dirty="0">
                <a:solidFill>
                  <a:schemeClr val="tx1"/>
                </a:solidFill>
                <a:latin typeface="Work Sans" pitchFamily="2" charset="0"/>
              </a:rPr>
              <a:t>40.04 Diagnose problems in CV joints.</a:t>
            </a:r>
          </a:p>
          <a:p>
            <a:r>
              <a:rPr lang="en-US" sz="2600" dirty="0">
                <a:solidFill>
                  <a:schemeClr val="tx1"/>
                </a:solidFill>
                <a:latin typeface="Work Sans" pitchFamily="2" charset="0"/>
              </a:rPr>
              <a:t>40.05 Explain the difference between CV joints and universal joints.</a:t>
            </a:r>
          </a:p>
        </p:txBody>
      </p:sp>
    </p:spTree>
    <p:extLst>
      <p:ext uri="{BB962C8B-B14F-4D97-AF65-F5344CB8AC3E}">
        <p14:creationId xmlns:p14="http://schemas.microsoft.com/office/powerpoint/2010/main" val="2856882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F398F-B967-5850-7799-93AF5C60FCA0}"/>
              </a:ext>
            </a:extLst>
          </p:cNvPr>
          <p:cNvSpPr>
            <a:spLocks noGrp="1"/>
          </p:cNvSpPr>
          <p:nvPr>
            <p:ph type="title"/>
          </p:nvPr>
        </p:nvSpPr>
        <p:spPr/>
        <p:txBody>
          <a:bodyPr/>
          <a:lstStyle/>
          <a:p>
            <a:r>
              <a:rPr lang="en-US" dirty="0"/>
              <a:t>Chapter Objectives (2 of 3)</a:t>
            </a:r>
          </a:p>
        </p:txBody>
      </p:sp>
      <p:sp>
        <p:nvSpPr>
          <p:cNvPr id="3" name="Text Placeholder 2">
            <a:extLst>
              <a:ext uri="{FF2B5EF4-FFF2-40B4-BE49-F238E27FC236}">
                <a16:creationId xmlns:a16="http://schemas.microsoft.com/office/drawing/2014/main" id="{CAADC278-64B6-4196-E6A2-49AFEA228A95}"/>
              </a:ext>
            </a:extLst>
          </p:cNvPr>
          <p:cNvSpPr>
            <a:spLocks noGrp="1"/>
          </p:cNvSpPr>
          <p:nvPr>
            <p:ph type="body" idx="1"/>
          </p:nvPr>
        </p:nvSpPr>
        <p:spPr/>
        <p:txBody>
          <a:bodyPr/>
          <a:lstStyle/>
          <a:p>
            <a:r>
              <a:rPr lang="en-US" sz="2600" dirty="0">
                <a:solidFill>
                  <a:schemeClr val="tx1"/>
                </a:solidFill>
                <a:latin typeface="Work Sans" pitchFamily="2" charset="0"/>
              </a:rPr>
              <a:t>40.06 Name and describe the components of a rear-wheel drive axle.</a:t>
            </a:r>
          </a:p>
          <a:p>
            <a:r>
              <a:rPr lang="en-US" sz="2600" dirty="0">
                <a:solidFill>
                  <a:schemeClr val="tx1"/>
                </a:solidFill>
                <a:latin typeface="Work Sans" pitchFamily="2" charset="0"/>
              </a:rPr>
              <a:t>40.07 Describe the operation of a rear-wheel drive axle.</a:t>
            </a:r>
          </a:p>
          <a:p>
            <a:r>
              <a:rPr lang="en-US" sz="2600" dirty="0">
                <a:solidFill>
                  <a:schemeClr val="tx1"/>
                </a:solidFill>
                <a:latin typeface="Work Sans" pitchFamily="2" charset="0"/>
              </a:rPr>
              <a:t>40.08 Explain the function and operation of a differential and drive axles.</a:t>
            </a:r>
          </a:p>
          <a:p>
            <a:r>
              <a:rPr lang="en-US" sz="2600" dirty="0">
                <a:solidFill>
                  <a:schemeClr val="tx1"/>
                </a:solidFill>
                <a:latin typeface="Work Sans" pitchFamily="2" charset="0"/>
              </a:rPr>
              <a:t>40.09 Describe the various differential designs, including complete, integral carrier, removable carrier, and limited slip.</a:t>
            </a:r>
          </a:p>
        </p:txBody>
      </p:sp>
    </p:spTree>
    <p:extLst>
      <p:ext uri="{BB962C8B-B14F-4D97-AF65-F5344CB8AC3E}">
        <p14:creationId xmlns:p14="http://schemas.microsoft.com/office/powerpoint/2010/main" val="2950138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F398F-B967-5850-7799-93AF5C60FCA0}"/>
              </a:ext>
            </a:extLst>
          </p:cNvPr>
          <p:cNvSpPr>
            <a:spLocks noGrp="1"/>
          </p:cNvSpPr>
          <p:nvPr>
            <p:ph type="title"/>
          </p:nvPr>
        </p:nvSpPr>
        <p:spPr/>
        <p:txBody>
          <a:bodyPr/>
          <a:lstStyle/>
          <a:p>
            <a:r>
              <a:rPr lang="en-US" dirty="0"/>
              <a:t>Chapter Objectives (3 of 3)</a:t>
            </a:r>
          </a:p>
        </p:txBody>
      </p:sp>
      <p:sp>
        <p:nvSpPr>
          <p:cNvPr id="3" name="Text Placeholder 2">
            <a:extLst>
              <a:ext uri="{FF2B5EF4-FFF2-40B4-BE49-F238E27FC236}">
                <a16:creationId xmlns:a16="http://schemas.microsoft.com/office/drawing/2014/main" id="{CAADC278-64B6-4196-E6A2-49AFEA228A95}"/>
              </a:ext>
            </a:extLst>
          </p:cNvPr>
          <p:cNvSpPr>
            <a:spLocks noGrp="1"/>
          </p:cNvSpPr>
          <p:nvPr>
            <p:ph type="body" idx="1"/>
          </p:nvPr>
        </p:nvSpPr>
        <p:spPr/>
        <p:txBody>
          <a:bodyPr/>
          <a:lstStyle/>
          <a:p>
            <a:r>
              <a:rPr lang="en-US" sz="2600" dirty="0">
                <a:solidFill>
                  <a:schemeClr val="tx1"/>
                </a:solidFill>
                <a:latin typeface="Work Sans" pitchFamily="2" charset="0"/>
              </a:rPr>
              <a:t>40.10 Describe the two common types of driving axles.</a:t>
            </a:r>
          </a:p>
          <a:p>
            <a:r>
              <a:rPr lang="en-US" sz="2600" dirty="0">
                <a:solidFill>
                  <a:schemeClr val="tx1"/>
                </a:solidFill>
                <a:latin typeface="Work Sans" pitchFamily="2" charset="0"/>
              </a:rPr>
              <a:t>40.11 Explain the function of the main driving gears, drive pinion gear, and ring gear.</a:t>
            </a:r>
          </a:p>
          <a:p>
            <a:r>
              <a:rPr lang="en-US" sz="2600" dirty="0">
                <a:solidFill>
                  <a:schemeClr val="tx1"/>
                </a:solidFill>
                <a:latin typeface="Work Sans" pitchFamily="2" charset="0"/>
              </a:rPr>
              <a:t>40.12 Describe the different types of axle shafts and axle shaft bearings.</a:t>
            </a:r>
          </a:p>
        </p:txBody>
      </p:sp>
    </p:spTree>
    <p:extLst>
      <p:ext uri="{BB962C8B-B14F-4D97-AF65-F5344CB8AC3E}">
        <p14:creationId xmlns:p14="http://schemas.microsoft.com/office/powerpoint/2010/main" val="3806882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D4D1B-87AD-84B7-0C2A-92898D0CA6FA}"/>
              </a:ext>
            </a:extLst>
          </p:cNvPr>
          <p:cNvSpPr>
            <a:spLocks noGrp="1"/>
          </p:cNvSpPr>
          <p:nvPr>
            <p:ph type="title"/>
          </p:nvPr>
        </p:nvSpPr>
        <p:spPr/>
        <p:txBody>
          <a:bodyPr/>
          <a:lstStyle/>
          <a:p>
            <a:r>
              <a:rPr lang="en-US" dirty="0"/>
              <a:t>Vibration and Noise Concerns</a:t>
            </a:r>
          </a:p>
        </p:txBody>
      </p:sp>
      <p:sp>
        <p:nvSpPr>
          <p:cNvPr id="3" name="Text Placeholder 2">
            <a:extLst>
              <a:ext uri="{FF2B5EF4-FFF2-40B4-BE49-F238E27FC236}">
                <a16:creationId xmlns:a16="http://schemas.microsoft.com/office/drawing/2014/main" id="{68FA42A2-A23F-39FF-07A2-45909F3CA4F9}"/>
              </a:ext>
            </a:extLst>
          </p:cNvPr>
          <p:cNvSpPr>
            <a:spLocks noGrp="1"/>
          </p:cNvSpPr>
          <p:nvPr>
            <p:ph type="body" idx="1"/>
          </p:nvPr>
        </p:nvSpPr>
        <p:spPr>
          <a:xfrm>
            <a:off x="476844" y="1563627"/>
            <a:ext cx="11241915" cy="569973"/>
          </a:xfrm>
        </p:spPr>
        <p:txBody>
          <a:bodyPr/>
          <a:lstStyle/>
          <a:p>
            <a:pPr marL="0" indent="0">
              <a:buNone/>
            </a:pPr>
            <a:r>
              <a:rPr lang="en-US" b="1" dirty="0">
                <a:solidFill>
                  <a:schemeClr val="tx1"/>
                </a:solidFill>
                <a:latin typeface="Work Sans" pitchFamily="2" charset="0"/>
              </a:rPr>
              <a:t>40.01 Identify common drive shaft concerns.</a:t>
            </a:r>
          </a:p>
        </p:txBody>
      </p:sp>
      <p:pic>
        <p:nvPicPr>
          <p:cNvPr id="10" name="Picture Placeholder 9" descr="A table depicts the details of vibration and noise concerns. The table has three columns, with the column headers that read, Problem, Vehicle Speed, and Relationship. The subcolumn of the problem reads, Area. The subcolumns of the vehicle speed have eight sub-columns that read, 0, 10, 20, 30, 40, 50, 60, and 70. The column relationship has a subcolumn, to speed. The sixteen possible problem areas in column 1 read as follows: Worn or damaged motor mounts, uneven tire wear, excessive lateral tire runout, excessive radial tire runout, incorrect tire balance, worn wheel bearing, bad U-joints, worn C V-joint, incorrect driveshaft angles, worn U-joint, Bad C V-joint, Worn extension housing bushing, worn rear suspension parts, bad axle bearings. The speed of the vehicle in column 2 is indicated with Y, a few with a question mark, and more blank spaces. Column 3 has the relationship to speed as, Engine speed-sensitive for the first three rows, vehicle speed sensitive from rows 4 to 11, and Accelerate or decelerate sensitive for the last five rows from 12 to 16.">
            <a:extLst>
              <a:ext uri="{FF2B5EF4-FFF2-40B4-BE49-F238E27FC236}">
                <a16:creationId xmlns:a16="http://schemas.microsoft.com/office/drawing/2014/main" id="{660FC10E-8798-5D51-3B15-8CBDDC94DCF9}"/>
              </a:ext>
            </a:extLst>
          </p:cNvPr>
          <p:cNvPicPr>
            <a:picLocks noGrp="1" noChangeAspect="1"/>
          </p:cNvPicPr>
          <p:nvPr>
            <p:ph type="pic" sz="quarter" idx="12"/>
          </p:nvPr>
        </p:nvPicPr>
        <p:blipFill>
          <a:blip r:embed="rId2"/>
          <a:srcRect b="4108"/>
          <a:stretch/>
        </p:blipFill>
        <p:spPr>
          <a:xfrm>
            <a:off x="2726010" y="2205480"/>
            <a:ext cx="6739981" cy="3856294"/>
          </a:xfrm>
          <a:prstGeom prst="rect">
            <a:avLst/>
          </a:prstGeom>
        </p:spPr>
      </p:pic>
    </p:spTree>
    <p:extLst>
      <p:ext uri="{BB962C8B-B14F-4D97-AF65-F5344CB8AC3E}">
        <p14:creationId xmlns:p14="http://schemas.microsoft.com/office/powerpoint/2010/main" val="3541491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5"/>
          <p:cNvSpPr>
            <a:spLocks noGrp="1"/>
          </p:cNvSpPr>
          <p:nvPr>
            <p:ph type="title"/>
          </p:nvPr>
        </p:nvSpPr>
        <p:spPr/>
        <p:txBody>
          <a:bodyPr/>
          <a:lstStyle/>
          <a:p>
            <a:r>
              <a:rPr lang="en-US" dirty="0"/>
              <a:t>Front-Wheel Drive Axles</a:t>
            </a:r>
          </a:p>
        </p:txBody>
      </p:sp>
      <p:sp>
        <p:nvSpPr>
          <p:cNvPr id="3075" name="Content Placeholder 6"/>
          <p:cNvSpPr>
            <a:spLocks noGrp="1"/>
          </p:cNvSpPr>
          <p:nvPr>
            <p:ph type="body" idx="1"/>
          </p:nvPr>
        </p:nvSpPr>
        <p:spPr>
          <a:xfrm>
            <a:off x="476844" y="1563627"/>
            <a:ext cx="11241915" cy="2031343"/>
          </a:xfrm>
        </p:spPr>
        <p:txBody>
          <a:bodyPr>
            <a:normAutofit/>
          </a:bodyPr>
          <a:lstStyle/>
          <a:p>
            <a:pPr marL="0" indent="0">
              <a:buNone/>
            </a:pPr>
            <a:r>
              <a:rPr lang="en-US" sz="2400" b="1" dirty="0">
                <a:solidFill>
                  <a:schemeClr val="tx1"/>
                </a:solidFill>
                <a:latin typeface="Work Sans" pitchFamily="2" charset="0"/>
              </a:rPr>
              <a:t>40.02 Name and describe the components of a front-wheel drive axle.</a:t>
            </a:r>
            <a:endParaRPr lang="en-US" sz="2400" dirty="0">
              <a:solidFill>
                <a:schemeClr val="tx1"/>
              </a:solidFill>
            </a:endParaRPr>
          </a:p>
          <a:p>
            <a:r>
              <a:rPr lang="en-US" sz="2400" dirty="0">
                <a:solidFill>
                  <a:schemeClr val="tx1"/>
                </a:solidFill>
              </a:rPr>
              <a:t>Also called axle shafts.</a:t>
            </a:r>
          </a:p>
          <a:p>
            <a:r>
              <a:rPr lang="en-US" sz="2400" dirty="0">
                <a:solidFill>
                  <a:schemeClr val="tx1"/>
                </a:solidFill>
              </a:rPr>
              <a:t>The constant velocity (CV) joints transfer uniform torque at a constant speed over a wide range of angles.</a:t>
            </a:r>
          </a:p>
        </p:txBody>
      </p:sp>
      <p:pic>
        <p:nvPicPr>
          <p:cNvPr id="8" name="Picture Placeholder 7" descr="A driver sits holding the steering wheel on the left side of the car. The front wheel axle has 20 degrees operating angle. An inset view of driver-side drive shaft depicts passenger side drive shaft and constant velocity (C V) joints. The drive shaft has 40 degrees steering angle.">
            <a:extLst>
              <a:ext uri="{FF2B5EF4-FFF2-40B4-BE49-F238E27FC236}">
                <a16:creationId xmlns:a16="http://schemas.microsoft.com/office/drawing/2014/main" id="{B2DAD582-9E29-064C-9718-11C3E56C58D3}"/>
              </a:ext>
            </a:extLst>
          </p:cNvPr>
          <p:cNvPicPr>
            <a:picLocks noGrp="1" noChangeAspect="1"/>
          </p:cNvPicPr>
          <p:nvPr>
            <p:ph type="pic" sz="quarter" idx="12"/>
          </p:nvPr>
        </p:nvPicPr>
        <p:blipFill>
          <a:blip r:embed="rId3"/>
          <a:srcRect b="10195"/>
          <a:stretch/>
        </p:blipFill>
        <p:spPr>
          <a:xfrm>
            <a:off x="2879525" y="3591678"/>
            <a:ext cx="6432951" cy="24745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CV Joint Types</a:t>
            </a:r>
          </a:p>
        </p:txBody>
      </p:sp>
      <p:sp>
        <p:nvSpPr>
          <p:cNvPr id="6147" name="Rectangle 3"/>
          <p:cNvSpPr>
            <a:spLocks noGrp="1" noChangeArrowheads="1"/>
          </p:cNvSpPr>
          <p:nvPr>
            <p:ph type="body" idx="1"/>
          </p:nvPr>
        </p:nvSpPr>
        <p:spPr/>
        <p:txBody>
          <a:bodyPr/>
          <a:lstStyle/>
          <a:p>
            <a:r>
              <a:rPr lang="en-US" sz="2600" dirty="0">
                <a:solidFill>
                  <a:schemeClr val="tx1"/>
                </a:solidFill>
              </a:rPr>
              <a:t>Ball-Type Joints</a:t>
            </a:r>
          </a:p>
          <a:p>
            <a:pPr lvl="1"/>
            <a:r>
              <a:rPr lang="en-US" dirty="0">
                <a:solidFill>
                  <a:schemeClr val="tx1"/>
                </a:solidFill>
              </a:rPr>
              <a:t>Fixed ball-type or </a:t>
            </a:r>
            <a:r>
              <a:rPr lang="en-US" dirty="0" err="1">
                <a:solidFill>
                  <a:schemeClr val="tx1"/>
                </a:solidFill>
              </a:rPr>
              <a:t>Rzeppa</a:t>
            </a:r>
            <a:r>
              <a:rPr lang="en-US" dirty="0">
                <a:solidFill>
                  <a:schemeClr val="tx1"/>
                </a:solidFill>
              </a:rPr>
              <a:t> joint.</a:t>
            </a:r>
          </a:p>
          <a:p>
            <a:pPr lvl="1"/>
            <a:r>
              <a:rPr lang="en-US" dirty="0">
                <a:solidFill>
                  <a:schemeClr val="tx1"/>
                </a:solidFill>
              </a:rPr>
              <a:t>Plunging ball-type joints.</a:t>
            </a:r>
          </a:p>
          <a:p>
            <a:pPr lvl="2"/>
            <a:r>
              <a:rPr lang="en-US" dirty="0">
                <a:solidFill>
                  <a:schemeClr val="tx1"/>
                </a:solidFill>
              </a:rPr>
              <a:t>Double-offset and cross groove joints.</a:t>
            </a:r>
          </a:p>
          <a:p>
            <a:r>
              <a:rPr lang="en-US" sz="2600" dirty="0">
                <a:solidFill>
                  <a:schemeClr val="tx1"/>
                </a:solidFill>
              </a:rPr>
              <a:t>Tripod CV Joints</a:t>
            </a:r>
          </a:p>
          <a:p>
            <a:pPr lvl="1"/>
            <a:r>
              <a:rPr lang="en-US" dirty="0">
                <a:solidFill>
                  <a:schemeClr val="tx1"/>
                </a:solidFill>
              </a:rPr>
              <a:t>Tripod plunging joint.</a:t>
            </a:r>
          </a:p>
          <a:p>
            <a:pPr lvl="1"/>
            <a:r>
              <a:rPr lang="en-US" dirty="0">
                <a:solidFill>
                  <a:schemeClr val="tx1"/>
                </a:solidFill>
              </a:rPr>
              <a:t>Fixed tripod joints.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CV Joint Functions</a:t>
            </a:r>
          </a:p>
        </p:txBody>
      </p:sp>
      <p:sp>
        <p:nvSpPr>
          <p:cNvPr id="7171" name="Rectangle 3"/>
          <p:cNvSpPr>
            <a:spLocks noGrp="1" noChangeArrowheads="1"/>
          </p:cNvSpPr>
          <p:nvPr>
            <p:ph type="body" idx="1"/>
          </p:nvPr>
        </p:nvSpPr>
        <p:spPr/>
        <p:txBody>
          <a:bodyPr/>
          <a:lstStyle/>
          <a:p>
            <a:r>
              <a:rPr lang="en-US" dirty="0">
                <a:solidFill>
                  <a:schemeClr val="tx1"/>
                </a:solidFill>
              </a:rPr>
              <a:t>Fixed Joint</a:t>
            </a:r>
          </a:p>
          <a:p>
            <a:pPr lvl="1"/>
            <a:r>
              <a:rPr lang="en-US" dirty="0">
                <a:solidFill>
                  <a:schemeClr val="tx1"/>
                </a:solidFill>
              </a:rPr>
              <a:t>Does not move in and out to change shaft length.</a:t>
            </a:r>
          </a:p>
          <a:p>
            <a:pPr lvl="1"/>
            <a:r>
              <a:rPr lang="en-US" dirty="0">
                <a:solidFill>
                  <a:schemeClr val="tx1"/>
                </a:solidFill>
              </a:rPr>
              <a:t>Is used as the outboard joint.</a:t>
            </a:r>
          </a:p>
          <a:p>
            <a:r>
              <a:rPr lang="en-US" dirty="0">
                <a:solidFill>
                  <a:schemeClr val="tx1"/>
                </a:solidFill>
              </a:rPr>
              <a:t>Plunging Joint</a:t>
            </a:r>
          </a:p>
          <a:p>
            <a:pPr lvl="1"/>
            <a:r>
              <a:rPr lang="en-US" dirty="0">
                <a:solidFill>
                  <a:schemeClr val="tx1"/>
                </a:solidFill>
              </a:rPr>
              <a:t>Allows for a change in axle shaft length to allow movement of the suspension.</a:t>
            </a:r>
          </a:p>
          <a:p>
            <a:pPr lvl="1"/>
            <a:r>
              <a:rPr lang="en-US" dirty="0">
                <a:solidFill>
                  <a:schemeClr val="tx1"/>
                </a:solidFill>
              </a:rPr>
              <a:t>Is used as the inboard joint.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p:cNvSpPr>
            <a:spLocks noGrp="1"/>
          </p:cNvSpPr>
          <p:nvPr>
            <p:ph type="title"/>
          </p:nvPr>
        </p:nvSpPr>
        <p:spPr/>
        <p:txBody>
          <a:bodyPr/>
          <a:lstStyle/>
          <a:p>
            <a:r>
              <a:rPr lang="en-US" dirty="0"/>
              <a:t>Joint Types</a:t>
            </a:r>
          </a:p>
        </p:txBody>
      </p:sp>
      <p:sp>
        <p:nvSpPr>
          <p:cNvPr id="5" name="Text Placeholder 4">
            <a:extLst>
              <a:ext uri="{FF2B5EF4-FFF2-40B4-BE49-F238E27FC236}">
                <a16:creationId xmlns:a16="http://schemas.microsoft.com/office/drawing/2014/main" id="{2E7F427D-9543-DFF0-426B-D95FCE43E8DB}"/>
              </a:ext>
            </a:extLst>
          </p:cNvPr>
          <p:cNvSpPr>
            <a:spLocks noGrp="1"/>
          </p:cNvSpPr>
          <p:nvPr>
            <p:ph type="body" idx="1"/>
          </p:nvPr>
        </p:nvSpPr>
        <p:spPr>
          <a:xfrm>
            <a:off x="476845" y="1563627"/>
            <a:ext cx="4345676" cy="2401030"/>
          </a:xfrm>
        </p:spPr>
        <p:txBody>
          <a:bodyPr/>
          <a:lstStyle/>
          <a:p>
            <a:pPr marL="342900" indent="-342900">
              <a:buFont typeface="Arial" panose="020B0604020202020204" pitchFamily="34" charset="0"/>
              <a:buChar char="•"/>
            </a:pPr>
            <a:r>
              <a:rPr lang="en-US" dirty="0">
                <a:solidFill>
                  <a:schemeClr val="accent1"/>
                </a:solidFill>
                <a:latin typeface="Work Sans" pitchFamily="2" charset="0"/>
              </a:rPr>
              <a:t>Fixed ball (</a:t>
            </a:r>
            <a:r>
              <a:rPr lang="en-US" dirty="0" err="1">
                <a:solidFill>
                  <a:schemeClr val="accent1"/>
                </a:solidFill>
                <a:latin typeface="Work Sans" pitchFamily="2" charset="0"/>
              </a:rPr>
              <a:t>Rzeppa</a:t>
            </a:r>
            <a:r>
              <a:rPr lang="en-US" dirty="0">
                <a:solidFill>
                  <a:schemeClr val="accent1"/>
                </a:solidFill>
                <a:latin typeface="Work Sans" pitchFamily="2" charset="0"/>
              </a:rPr>
              <a:t>)</a:t>
            </a:r>
          </a:p>
          <a:p>
            <a:pPr marL="342900" indent="-342900">
              <a:buFont typeface="Arial" panose="020B0604020202020204" pitchFamily="34" charset="0"/>
              <a:buChar char="•"/>
            </a:pPr>
            <a:r>
              <a:rPr lang="en-US" dirty="0">
                <a:solidFill>
                  <a:schemeClr val="accent1"/>
                </a:solidFill>
                <a:latin typeface="Work Sans" pitchFamily="2" charset="0"/>
              </a:rPr>
              <a:t>Plunging ball</a:t>
            </a:r>
          </a:p>
          <a:p>
            <a:pPr marL="342900" indent="-342900">
              <a:buFont typeface="Arial" panose="020B0604020202020204" pitchFamily="34" charset="0"/>
              <a:buChar char="•"/>
            </a:pPr>
            <a:r>
              <a:rPr lang="en-US" dirty="0">
                <a:solidFill>
                  <a:schemeClr val="accent1"/>
                </a:solidFill>
                <a:latin typeface="Work Sans" pitchFamily="2" charset="0"/>
              </a:rPr>
              <a:t>Fixed tripod</a:t>
            </a:r>
          </a:p>
          <a:p>
            <a:pPr marL="342900" indent="-342900">
              <a:buFont typeface="Arial" panose="020B0604020202020204" pitchFamily="34" charset="0"/>
              <a:buChar char="•"/>
            </a:pPr>
            <a:r>
              <a:rPr lang="en-US" dirty="0">
                <a:solidFill>
                  <a:schemeClr val="accent1"/>
                </a:solidFill>
                <a:latin typeface="Work Sans" pitchFamily="2" charset="0"/>
              </a:rPr>
              <a:t>Plunging tripod</a:t>
            </a:r>
          </a:p>
        </p:txBody>
      </p:sp>
      <p:pic>
        <p:nvPicPr>
          <p:cNvPr id="10" name="Picture Placeholder 9" descr="A Double-offset C V joint with the parts labeled as follows: Ball retainer, Ball cage, Balls, Outer race, Circlip, Stub shaft, and Inner bearing race.">
            <a:extLst>
              <a:ext uri="{FF2B5EF4-FFF2-40B4-BE49-F238E27FC236}">
                <a16:creationId xmlns:a16="http://schemas.microsoft.com/office/drawing/2014/main" id="{EE268708-15AE-2D97-9C8A-F8A88F35A69F}"/>
              </a:ext>
            </a:extLst>
          </p:cNvPr>
          <p:cNvPicPr>
            <a:picLocks noGrp="1" noChangeAspect="1"/>
          </p:cNvPicPr>
          <p:nvPr>
            <p:ph type="pic" sz="quarter" idx="11"/>
          </p:nvPr>
        </p:nvPicPr>
        <p:blipFill>
          <a:blip r:embed="rId3"/>
          <a:srcRect b="7522"/>
          <a:stretch/>
        </p:blipFill>
        <p:spPr>
          <a:xfrm>
            <a:off x="3743012" y="3284092"/>
            <a:ext cx="4042433" cy="2641133"/>
          </a:xfrm>
          <a:prstGeom prst="rect">
            <a:avLst/>
          </a:prstGeom>
        </p:spPr>
      </p:pic>
      <p:pic>
        <p:nvPicPr>
          <p:cNvPr id="11" name="Picture Placeholder 10" descr="A Rzeppa ball-type fixed C V joint with the parts labeled as follows: Stub axle, Splines to axle shaft, Inner race, and Outer race.">
            <a:extLst>
              <a:ext uri="{FF2B5EF4-FFF2-40B4-BE49-F238E27FC236}">
                <a16:creationId xmlns:a16="http://schemas.microsoft.com/office/drawing/2014/main" id="{746AEE0F-6119-A532-85F0-D177B76D0E16}"/>
              </a:ext>
            </a:extLst>
          </p:cNvPr>
          <p:cNvPicPr>
            <a:picLocks noGrp="1" noChangeAspect="1"/>
          </p:cNvPicPr>
          <p:nvPr>
            <p:ph type="pic" sz="quarter" idx="12"/>
          </p:nvPr>
        </p:nvPicPr>
        <p:blipFill>
          <a:blip r:embed="rId4"/>
          <a:srcRect b="7819"/>
          <a:stretch/>
        </p:blipFill>
        <p:spPr>
          <a:xfrm>
            <a:off x="8088688" y="3284091"/>
            <a:ext cx="3529955" cy="26411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5"/>
          <p:cNvSpPr>
            <a:spLocks noGrp="1"/>
          </p:cNvSpPr>
          <p:nvPr>
            <p:ph type="title"/>
          </p:nvPr>
        </p:nvSpPr>
        <p:spPr/>
        <p:txBody>
          <a:bodyPr/>
          <a:lstStyle/>
          <a:p>
            <a:r>
              <a:rPr lang="en-US" dirty="0"/>
              <a:t>FWD Applications (1 of 2)</a:t>
            </a:r>
          </a:p>
        </p:txBody>
      </p:sp>
      <p:sp>
        <p:nvSpPr>
          <p:cNvPr id="12291" name="Content Placeholder 6"/>
          <p:cNvSpPr>
            <a:spLocks noGrp="1"/>
          </p:cNvSpPr>
          <p:nvPr>
            <p:ph type="body" idx="1"/>
          </p:nvPr>
        </p:nvSpPr>
        <p:spPr/>
        <p:txBody>
          <a:bodyPr/>
          <a:lstStyle/>
          <a:p>
            <a:pPr marL="0" indent="0">
              <a:buNone/>
            </a:pPr>
            <a:r>
              <a:rPr lang="en-US" b="1" dirty="0">
                <a:solidFill>
                  <a:schemeClr val="tx1"/>
                </a:solidFill>
                <a:latin typeface="Work Sans" pitchFamily="2" charset="0"/>
              </a:rPr>
              <a:t>40.03 Describe the operation of a front-wheel drive axle</a:t>
            </a:r>
            <a:r>
              <a:rPr lang="en-US" dirty="0">
                <a:solidFill>
                  <a:schemeClr val="tx1"/>
                </a:solidFill>
                <a:latin typeface="Work Sans" pitchFamily="2" charset="0"/>
              </a:rPr>
              <a:t>.</a:t>
            </a:r>
            <a:endParaRPr lang="en-US" dirty="0">
              <a:solidFill>
                <a:schemeClr val="tx1"/>
              </a:solidFill>
            </a:endParaRPr>
          </a:p>
          <a:p>
            <a:r>
              <a:rPr lang="en-US" dirty="0">
                <a:solidFill>
                  <a:schemeClr val="tx1"/>
                </a:solidFill>
              </a:rPr>
              <a:t>Shafts can be solid or tubular, equal or unequal length, with or without damper weights.</a:t>
            </a:r>
          </a:p>
          <a:p>
            <a:r>
              <a:rPr lang="en-US" dirty="0">
                <a:solidFill>
                  <a:schemeClr val="tx1"/>
                </a:solidFill>
              </a:rPr>
              <a:t>Equal length shafts are used to reduce torque steer.</a:t>
            </a:r>
          </a:p>
          <a:p>
            <a:r>
              <a:rPr lang="en-US" dirty="0">
                <a:solidFill>
                  <a:schemeClr val="tx1"/>
                </a:solidFill>
              </a:rPr>
              <a:t>A damper is used to reduce harmonic vibrations in the drive shaft, not for balance.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5"/>
          <p:cNvSpPr>
            <a:spLocks noGrp="1"/>
          </p:cNvSpPr>
          <p:nvPr>
            <p:ph type="title"/>
          </p:nvPr>
        </p:nvSpPr>
        <p:spPr/>
        <p:txBody>
          <a:bodyPr/>
          <a:lstStyle/>
          <a:p>
            <a:r>
              <a:rPr lang="en-US" dirty="0"/>
              <a:t>FWD Applications (2 of 2) </a:t>
            </a:r>
          </a:p>
        </p:txBody>
      </p:sp>
      <p:pic>
        <p:nvPicPr>
          <p:cNvPr id="8" name="Picture Placeholder 7" descr="An Equal-length F W D half shaft consists of an Intermediate shaft with the following parts labeled: Half-shaft assembly, Differential, Support bracket, Intermediate shaft, Half-shaft assembly.">
            <a:extLst>
              <a:ext uri="{FF2B5EF4-FFF2-40B4-BE49-F238E27FC236}">
                <a16:creationId xmlns:a16="http://schemas.microsoft.com/office/drawing/2014/main" id="{76AD9348-91F2-D1E6-C1D2-E726ED9E6709}"/>
              </a:ext>
            </a:extLst>
          </p:cNvPr>
          <p:cNvPicPr>
            <a:picLocks noGrp="1" noChangeAspect="1"/>
          </p:cNvPicPr>
          <p:nvPr>
            <p:ph type="pic" sz="quarter" idx="12"/>
          </p:nvPr>
        </p:nvPicPr>
        <p:blipFill>
          <a:blip r:embed="rId3"/>
          <a:srcRect b="6902"/>
          <a:stretch/>
        </p:blipFill>
        <p:spPr>
          <a:xfrm>
            <a:off x="2024686" y="1685319"/>
            <a:ext cx="8142629" cy="38282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Other Applications</a:t>
            </a:r>
          </a:p>
        </p:txBody>
      </p:sp>
      <p:sp>
        <p:nvSpPr>
          <p:cNvPr id="5" name="Content Placeholder 4"/>
          <p:cNvSpPr>
            <a:spLocks noGrp="1"/>
          </p:cNvSpPr>
          <p:nvPr>
            <p:ph type="body" idx="1"/>
          </p:nvPr>
        </p:nvSpPr>
        <p:spPr>
          <a:xfrm>
            <a:off x="476845" y="1563626"/>
            <a:ext cx="5761118" cy="3822565"/>
          </a:xfrm>
        </p:spPr>
        <p:txBody>
          <a:bodyPr>
            <a:normAutofit/>
          </a:bodyPr>
          <a:lstStyle/>
          <a:p>
            <a:r>
              <a:rPr lang="en-US" sz="2800" dirty="0">
                <a:solidFill>
                  <a:schemeClr val="tx1"/>
                </a:solidFill>
              </a:rPr>
              <a:t>CV joints also used on front axles of 4WD vehicles and on vehicles with rear independent suspension.</a:t>
            </a:r>
          </a:p>
        </p:txBody>
      </p:sp>
      <p:pic>
        <p:nvPicPr>
          <p:cNvPr id="9" name="Picture Placeholder 8" descr="A rear axle assembly depicts a C V joint equipped with independent suspension.">
            <a:extLst>
              <a:ext uri="{FF2B5EF4-FFF2-40B4-BE49-F238E27FC236}">
                <a16:creationId xmlns:a16="http://schemas.microsoft.com/office/drawing/2014/main" id="{C725EAD4-3542-3B1A-89A4-AB0944AFF8A4}"/>
              </a:ext>
            </a:extLst>
          </p:cNvPr>
          <p:cNvPicPr>
            <a:picLocks noGrp="1" noChangeAspect="1"/>
          </p:cNvPicPr>
          <p:nvPr>
            <p:ph type="pic" sz="quarter" idx="12"/>
          </p:nvPr>
        </p:nvPicPr>
        <p:blipFill>
          <a:blip r:embed="rId2"/>
          <a:srcRect b="13033"/>
          <a:stretch/>
        </p:blipFill>
        <p:spPr>
          <a:xfrm>
            <a:off x="6464238" y="2021859"/>
            <a:ext cx="5050551" cy="316976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a:t>CV Joint Service</a:t>
            </a:r>
          </a:p>
        </p:txBody>
      </p:sp>
      <p:sp>
        <p:nvSpPr>
          <p:cNvPr id="13315" name="Rectangle 3"/>
          <p:cNvSpPr>
            <a:spLocks noGrp="1" noChangeArrowheads="1"/>
          </p:cNvSpPr>
          <p:nvPr>
            <p:ph type="body" idx="1"/>
          </p:nvPr>
        </p:nvSpPr>
        <p:spPr/>
        <p:txBody>
          <a:bodyPr/>
          <a:lstStyle/>
          <a:p>
            <a:pPr marL="0" indent="0">
              <a:buNone/>
            </a:pPr>
            <a:r>
              <a:rPr lang="en-US" b="1" dirty="0">
                <a:solidFill>
                  <a:schemeClr val="tx1"/>
                </a:solidFill>
                <a:latin typeface="Work Sans" pitchFamily="2" charset="0"/>
              </a:rPr>
              <a:t>40.04 Diagnose problems in CV joints.</a:t>
            </a:r>
            <a:endParaRPr lang="en-US" dirty="0">
              <a:solidFill>
                <a:schemeClr val="tx1"/>
              </a:solidFill>
            </a:endParaRPr>
          </a:p>
          <a:p>
            <a:r>
              <a:rPr lang="en-US" dirty="0">
                <a:solidFill>
                  <a:schemeClr val="tx1"/>
                </a:solidFill>
              </a:rPr>
              <a:t>The joint is generally trouble-free unless damage to the boot or joint goes unnoticed.</a:t>
            </a:r>
          </a:p>
          <a:p>
            <a:r>
              <a:rPr lang="en-US" dirty="0">
                <a:solidFill>
                  <a:schemeClr val="tx1"/>
                </a:solidFill>
              </a:rPr>
              <a:t>CV joints encased in a protective boot</a:t>
            </a:r>
          </a:p>
          <a:p>
            <a:r>
              <a:rPr lang="en-US" dirty="0">
                <a:solidFill>
                  <a:schemeClr val="tx1"/>
                </a:solidFill>
              </a:rPr>
              <a:t>The boot retains the grease and keeps dirt and water out.</a:t>
            </a:r>
          </a:p>
          <a:p>
            <a:r>
              <a:rPr lang="en-US" dirty="0">
                <a:solidFill>
                  <a:schemeClr val="tx1"/>
                </a:solidFill>
              </a:rPr>
              <a:t>A torn or loose boot or clamp will allow rapid wear of the joint.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5"/>
          <p:cNvSpPr>
            <a:spLocks noGrp="1"/>
          </p:cNvSpPr>
          <p:nvPr>
            <p:ph type="title"/>
          </p:nvPr>
        </p:nvSpPr>
        <p:spPr/>
        <p:txBody>
          <a:bodyPr/>
          <a:lstStyle/>
          <a:p>
            <a:r>
              <a:rPr lang="en-US" dirty="0"/>
              <a:t>Diagnosis and Inspection (1 of 2)</a:t>
            </a:r>
          </a:p>
        </p:txBody>
      </p:sp>
      <p:sp>
        <p:nvSpPr>
          <p:cNvPr id="15363" name="Content Placeholder 6"/>
          <p:cNvSpPr>
            <a:spLocks noGrp="1"/>
          </p:cNvSpPr>
          <p:nvPr>
            <p:ph type="body" idx="1"/>
          </p:nvPr>
        </p:nvSpPr>
        <p:spPr/>
        <p:txBody>
          <a:bodyPr/>
          <a:lstStyle/>
          <a:p>
            <a:r>
              <a:rPr lang="en-US" sz="2600" dirty="0">
                <a:solidFill>
                  <a:schemeClr val="tx1"/>
                </a:solidFill>
              </a:rPr>
              <a:t>Popping or clicking when turning indicates a possible worn outer joint.</a:t>
            </a:r>
          </a:p>
          <a:p>
            <a:r>
              <a:rPr lang="en-US" sz="2600" dirty="0">
                <a:solidFill>
                  <a:schemeClr val="tx1"/>
                </a:solidFill>
              </a:rPr>
              <a:t>Clunking during acceleration, deceleration, or going in/out of gear can be caused by a worn inner joint.</a:t>
            </a:r>
          </a:p>
          <a:p>
            <a:r>
              <a:rPr lang="en-US" sz="2600" dirty="0">
                <a:solidFill>
                  <a:schemeClr val="tx1"/>
                </a:solidFill>
              </a:rPr>
              <a:t>Humming or growling may be due to inadequate lubrication.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5"/>
          <p:cNvSpPr>
            <a:spLocks noGrp="1"/>
          </p:cNvSpPr>
          <p:nvPr>
            <p:ph type="title"/>
          </p:nvPr>
        </p:nvSpPr>
        <p:spPr/>
        <p:txBody>
          <a:bodyPr/>
          <a:lstStyle/>
          <a:p>
            <a:r>
              <a:rPr lang="en-US" dirty="0"/>
              <a:t>Diagnosis and Inspection (2 of 2)</a:t>
            </a:r>
          </a:p>
        </p:txBody>
      </p:sp>
      <p:sp>
        <p:nvSpPr>
          <p:cNvPr id="16387" name="Content Placeholder 6"/>
          <p:cNvSpPr>
            <a:spLocks noGrp="1"/>
          </p:cNvSpPr>
          <p:nvPr>
            <p:ph type="body" idx="1"/>
          </p:nvPr>
        </p:nvSpPr>
        <p:spPr/>
        <p:txBody>
          <a:bodyPr/>
          <a:lstStyle/>
          <a:p>
            <a:r>
              <a:rPr lang="en-US" dirty="0">
                <a:solidFill>
                  <a:schemeClr val="tx1"/>
                </a:solidFill>
              </a:rPr>
              <a:t>A shutter or vibration on acceleration can be caused by excessive play in either joint.</a:t>
            </a:r>
          </a:p>
          <a:p>
            <a:r>
              <a:rPr lang="en-US" dirty="0">
                <a:solidFill>
                  <a:schemeClr val="tx1"/>
                </a:solidFill>
              </a:rPr>
              <a:t>A cyclic vibration between 45 and 60 mph (72 and 100 km) may be a worn inner tripod joint.</a:t>
            </a:r>
          </a:p>
          <a:p>
            <a:r>
              <a:rPr lang="en-US" dirty="0">
                <a:solidFill>
                  <a:schemeClr val="tx1"/>
                </a:solidFill>
              </a:rPr>
              <a:t>A missing damper could cause a vibration that increases with speed.</a:t>
            </a:r>
          </a:p>
          <a:p>
            <a:r>
              <a:rPr lang="en-US" dirty="0">
                <a:solidFill>
                  <a:schemeClr val="tx1"/>
                </a:solidFill>
              </a:rPr>
              <a:t>Check the shafts for straightness and signs of damage.</a:t>
            </a:r>
          </a:p>
          <a:p>
            <a:r>
              <a:rPr lang="en-US" dirty="0">
                <a:solidFill>
                  <a:schemeClr val="tx1"/>
                </a:solidFill>
              </a:rPr>
              <a:t>Move the shaft, wheels, and other components to check for looseness.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Performing a Road Test</a:t>
            </a:r>
          </a:p>
        </p:txBody>
      </p:sp>
      <p:sp>
        <p:nvSpPr>
          <p:cNvPr id="18435" name="Rectangle 3"/>
          <p:cNvSpPr>
            <a:spLocks noGrp="1" noChangeArrowheads="1"/>
          </p:cNvSpPr>
          <p:nvPr>
            <p:ph type="body" idx="1"/>
          </p:nvPr>
        </p:nvSpPr>
        <p:spPr/>
        <p:txBody>
          <a:bodyPr/>
          <a:lstStyle/>
          <a:p>
            <a:r>
              <a:rPr lang="en-US" b="1" dirty="0">
                <a:solidFill>
                  <a:schemeClr val="tx1"/>
                </a:solidFill>
              </a:rPr>
              <a:t>Drive</a:t>
            </a:r>
            <a:r>
              <a:rPr lang="en-US" dirty="0">
                <a:solidFill>
                  <a:schemeClr val="tx1"/>
                </a:solidFill>
              </a:rPr>
              <a:t> the car under various conditions, such as accelerating, coasting, turning, and weaving side to side.</a:t>
            </a:r>
          </a:p>
          <a:p>
            <a:r>
              <a:rPr lang="en-US" b="1" dirty="0">
                <a:solidFill>
                  <a:schemeClr val="tx1"/>
                </a:solidFill>
              </a:rPr>
              <a:t>Listen</a:t>
            </a:r>
            <a:r>
              <a:rPr lang="en-US" dirty="0">
                <a:solidFill>
                  <a:schemeClr val="tx1"/>
                </a:solidFill>
              </a:rPr>
              <a:t> for clicking or clanking, especially while turning.</a:t>
            </a:r>
          </a:p>
          <a:p>
            <a:r>
              <a:rPr lang="en-US" b="1" dirty="0">
                <a:solidFill>
                  <a:schemeClr val="tx1"/>
                </a:solidFill>
              </a:rPr>
              <a:t>Feel</a:t>
            </a:r>
            <a:r>
              <a:rPr lang="en-US" dirty="0">
                <a:solidFill>
                  <a:schemeClr val="tx1"/>
                </a:solidFill>
              </a:rPr>
              <a:t> for shudder, shimmy, vibration, or anything else abnormal.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CV Joint Service Tips (1 of 2)</a:t>
            </a:r>
          </a:p>
        </p:txBody>
      </p:sp>
      <p:sp>
        <p:nvSpPr>
          <p:cNvPr id="20483" name="Rectangle 3"/>
          <p:cNvSpPr>
            <a:spLocks noGrp="1" noChangeArrowheads="1"/>
          </p:cNvSpPr>
          <p:nvPr>
            <p:ph type="body" idx="1"/>
          </p:nvPr>
        </p:nvSpPr>
        <p:spPr/>
        <p:txBody>
          <a:bodyPr>
            <a:normAutofit/>
          </a:bodyPr>
          <a:lstStyle/>
          <a:p>
            <a:r>
              <a:rPr lang="en-US" dirty="0">
                <a:solidFill>
                  <a:schemeClr val="tx1"/>
                </a:solidFill>
              </a:rPr>
              <a:t>Always follow manufacturer’s service procedures.</a:t>
            </a:r>
          </a:p>
          <a:p>
            <a:r>
              <a:rPr lang="en-US" dirty="0">
                <a:solidFill>
                  <a:schemeClr val="tx1"/>
                </a:solidFill>
              </a:rPr>
              <a:t>Never let the axle or other components hang free.</a:t>
            </a:r>
          </a:p>
          <a:p>
            <a:r>
              <a:rPr lang="en-US" dirty="0">
                <a:solidFill>
                  <a:schemeClr val="tx1"/>
                </a:solidFill>
              </a:rPr>
              <a:t>Be careful not to damage ABS sensor components.</a:t>
            </a:r>
          </a:p>
          <a:p>
            <a:r>
              <a:rPr lang="en-US" dirty="0">
                <a:solidFill>
                  <a:schemeClr val="tx1"/>
                </a:solidFill>
              </a:rPr>
              <a:t>Use the correct pullers to separate the inboard joint from the differential.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a:t>CV Joint Service Tips (2 of 2)</a:t>
            </a:r>
          </a:p>
        </p:txBody>
      </p:sp>
      <p:sp>
        <p:nvSpPr>
          <p:cNvPr id="21507" name="Rectangle 3"/>
          <p:cNvSpPr>
            <a:spLocks noGrp="1" noChangeArrowheads="1"/>
          </p:cNvSpPr>
          <p:nvPr>
            <p:ph type="body" idx="1"/>
          </p:nvPr>
        </p:nvSpPr>
        <p:spPr/>
        <p:txBody>
          <a:bodyPr/>
          <a:lstStyle/>
          <a:p>
            <a:r>
              <a:rPr lang="en-US" dirty="0">
                <a:solidFill>
                  <a:schemeClr val="tx1"/>
                </a:solidFill>
              </a:rPr>
              <a:t>Make sure all components are clean before assembly.</a:t>
            </a:r>
          </a:p>
          <a:p>
            <a:r>
              <a:rPr lang="en-US" dirty="0">
                <a:solidFill>
                  <a:schemeClr val="tx1"/>
                </a:solidFill>
              </a:rPr>
              <a:t>Use only new axle hub nuts.</a:t>
            </a:r>
          </a:p>
          <a:p>
            <a:r>
              <a:rPr lang="en-US" dirty="0">
                <a:solidFill>
                  <a:schemeClr val="tx1"/>
                </a:solidFill>
              </a:rPr>
              <a:t>Always torque axle hub nut to specifications.</a:t>
            </a:r>
          </a:p>
          <a:p>
            <a:r>
              <a:rPr lang="en-US" dirty="0">
                <a:solidFill>
                  <a:schemeClr val="tx1"/>
                </a:solidFill>
              </a:rPr>
              <a:t>Stake the hub nut to the shaft.</a:t>
            </a:r>
          </a:p>
          <a:p>
            <a:r>
              <a:rPr lang="en-US" dirty="0">
                <a:solidFill>
                  <a:schemeClr val="tx1"/>
                </a:solidFill>
              </a:rPr>
              <a:t>Recheck the alignment after replacement.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(1 of 4)</a:t>
            </a:r>
          </a:p>
        </p:txBody>
      </p:sp>
      <p:sp>
        <p:nvSpPr>
          <p:cNvPr id="3" name="Content Placeholder 2"/>
          <p:cNvSpPr>
            <a:spLocks noGrp="1"/>
          </p:cNvSpPr>
          <p:nvPr>
            <p:ph type="body" idx="1"/>
          </p:nvPr>
        </p:nvSpPr>
        <p:spPr/>
        <p:txBody>
          <a:bodyPr/>
          <a:lstStyle/>
          <a:p>
            <a:r>
              <a:rPr lang="en-US" dirty="0">
                <a:solidFill>
                  <a:schemeClr val="tx1"/>
                </a:solidFill>
              </a:rPr>
              <a:t>A FWD car has a clicking noise when turning. Technician A says a worn inner CV joint may be the cause. Technician B says a worn outer CV joint may be the cause. Who is correct?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(1 of 4)</a:t>
            </a:r>
          </a:p>
        </p:txBody>
      </p:sp>
      <p:sp>
        <p:nvSpPr>
          <p:cNvPr id="3" name="Content Placeholder 2"/>
          <p:cNvSpPr>
            <a:spLocks noGrp="1"/>
          </p:cNvSpPr>
          <p:nvPr>
            <p:ph type="body" idx="1"/>
          </p:nvPr>
        </p:nvSpPr>
        <p:spPr/>
        <p:txBody>
          <a:bodyPr/>
          <a:lstStyle/>
          <a:p>
            <a:pPr>
              <a:spcAft>
                <a:spcPts val="1200"/>
              </a:spcAft>
            </a:pPr>
            <a:r>
              <a:rPr lang="en-US" dirty="0">
                <a:solidFill>
                  <a:schemeClr val="tx1"/>
                </a:solidFill>
              </a:rPr>
              <a:t>A FWD car has a clicking noise when turning. Technician A says a worn inner CV joint may be the cause. Technician B says a worn outer CV joint may be the cause. Who is correct?</a:t>
            </a:r>
          </a:p>
          <a:p>
            <a:pPr marL="428625" lvl="1" indent="0">
              <a:buNone/>
            </a:pPr>
            <a:r>
              <a:rPr lang="en-US" b="1" dirty="0">
                <a:solidFill>
                  <a:schemeClr val="tx1"/>
                </a:solidFill>
              </a:rPr>
              <a:t>Answer: </a:t>
            </a:r>
            <a:r>
              <a:rPr lang="en-US" dirty="0">
                <a:solidFill>
                  <a:schemeClr val="tx1"/>
                </a:solidFill>
              </a:rPr>
              <a:t>Technician B only</a:t>
            </a:r>
          </a:p>
        </p:txBody>
      </p:sp>
    </p:spTree>
    <p:extLst>
      <p:ext uri="{BB962C8B-B14F-4D97-AF65-F5344CB8AC3E}">
        <p14:creationId xmlns:p14="http://schemas.microsoft.com/office/powerpoint/2010/main" val="4063040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Rear-Wheel Drive Shafts</a:t>
            </a:r>
          </a:p>
        </p:txBody>
      </p:sp>
      <p:sp>
        <p:nvSpPr>
          <p:cNvPr id="23555" name="Content Placeholder 2"/>
          <p:cNvSpPr>
            <a:spLocks noGrp="1"/>
          </p:cNvSpPr>
          <p:nvPr>
            <p:ph type="body" idx="1"/>
          </p:nvPr>
        </p:nvSpPr>
        <p:spPr>
          <a:xfrm>
            <a:off x="476844" y="1563627"/>
            <a:ext cx="6751270" cy="4271116"/>
          </a:xfrm>
        </p:spPr>
        <p:txBody>
          <a:bodyPr/>
          <a:lstStyle/>
          <a:p>
            <a:pPr marL="0" indent="0">
              <a:buNone/>
            </a:pPr>
            <a:r>
              <a:rPr lang="en-US" b="1" dirty="0">
                <a:solidFill>
                  <a:schemeClr val="tx1"/>
                </a:solidFill>
                <a:latin typeface="Work Sans" pitchFamily="2" charset="0"/>
              </a:rPr>
              <a:t>40.05 Explain the difference between CV joints and universal joints.</a:t>
            </a:r>
            <a:endParaRPr lang="en-US" dirty="0">
              <a:solidFill>
                <a:schemeClr val="tx1"/>
              </a:solidFill>
            </a:endParaRPr>
          </a:p>
          <a:p>
            <a:r>
              <a:rPr lang="en-US" dirty="0">
                <a:solidFill>
                  <a:schemeClr val="tx1"/>
                </a:solidFill>
              </a:rPr>
              <a:t>Must transfer torque while rotating, changing length, and moving up and down.</a:t>
            </a:r>
          </a:p>
          <a:p>
            <a:r>
              <a:rPr lang="en-US" dirty="0">
                <a:solidFill>
                  <a:schemeClr val="tx1"/>
                </a:solidFill>
              </a:rPr>
              <a:t>The U-joints permit variations of the angle of drive, and a slip yoke allows the length of the shaft to change.</a:t>
            </a:r>
          </a:p>
        </p:txBody>
      </p:sp>
      <p:pic>
        <p:nvPicPr>
          <p:cNvPr id="8" name="Picture Placeholder 7" descr="A Drive Shaft assembly with exploded U-joints with the parts labeled as follows: Universal joint, Differential pinion flange, Snap rings, Internal, Bearing, External, Spider, Slip Yoke, and Drive shaft.">
            <a:extLst>
              <a:ext uri="{FF2B5EF4-FFF2-40B4-BE49-F238E27FC236}">
                <a16:creationId xmlns:a16="http://schemas.microsoft.com/office/drawing/2014/main" id="{90B6E864-36EB-1EFC-1EB1-3FF8E9E7743D}"/>
              </a:ext>
            </a:extLst>
          </p:cNvPr>
          <p:cNvPicPr>
            <a:picLocks noGrp="1" noChangeAspect="1"/>
          </p:cNvPicPr>
          <p:nvPr>
            <p:ph type="pic" sz="quarter" idx="12"/>
          </p:nvPr>
        </p:nvPicPr>
        <p:blipFill>
          <a:blip r:embed="rId3"/>
          <a:srcRect b="5339"/>
          <a:stretch/>
        </p:blipFill>
        <p:spPr>
          <a:xfrm>
            <a:off x="7610911" y="1771840"/>
            <a:ext cx="4104245" cy="393689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Drive Shaft and Yokes</a:t>
            </a:r>
          </a:p>
        </p:txBody>
      </p:sp>
      <p:sp>
        <p:nvSpPr>
          <p:cNvPr id="25603" name="Content Placeholder 2"/>
          <p:cNvSpPr>
            <a:spLocks noGrp="1"/>
          </p:cNvSpPr>
          <p:nvPr>
            <p:ph type="body" idx="1"/>
          </p:nvPr>
        </p:nvSpPr>
        <p:spPr/>
        <p:txBody>
          <a:bodyPr>
            <a:normAutofit/>
          </a:bodyPr>
          <a:lstStyle/>
          <a:p>
            <a:r>
              <a:rPr lang="en-US" dirty="0">
                <a:solidFill>
                  <a:schemeClr val="tx1"/>
                </a:solidFill>
              </a:rPr>
              <a:t>Transfers torque to the rear driving axle.</a:t>
            </a:r>
          </a:p>
          <a:p>
            <a:r>
              <a:rPr lang="en-US" dirty="0">
                <a:solidFill>
                  <a:schemeClr val="tx1"/>
                </a:solidFill>
              </a:rPr>
              <a:t>Yokes on each end provide a way to connect two or more shafts together.</a:t>
            </a:r>
          </a:p>
          <a:p>
            <a:r>
              <a:rPr lang="en-US" dirty="0">
                <a:solidFill>
                  <a:schemeClr val="tx1"/>
                </a:solidFill>
              </a:rPr>
              <a:t>The shaft may be tube steel or fiber composite.</a:t>
            </a:r>
          </a:p>
          <a:p>
            <a:r>
              <a:rPr lang="en-US" dirty="0">
                <a:solidFill>
                  <a:schemeClr val="tx1"/>
                </a:solidFill>
              </a:rPr>
              <a:t>The shaft will reach its natural vibration frequency at its critical speed.</a:t>
            </a:r>
          </a:p>
          <a:p>
            <a:pPr lvl="1"/>
            <a:r>
              <a:rPr lang="en-US" dirty="0">
                <a:solidFill>
                  <a:schemeClr val="tx1"/>
                </a:solidFill>
              </a:rPr>
              <a:t>Based on shaft diameter and length.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Operation of U-Joints</a:t>
            </a:r>
          </a:p>
        </p:txBody>
      </p:sp>
      <p:sp>
        <p:nvSpPr>
          <p:cNvPr id="26627" name="Content Placeholder 2"/>
          <p:cNvSpPr>
            <a:spLocks noGrp="1"/>
          </p:cNvSpPr>
          <p:nvPr>
            <p:ph type="body" idx="1"/>
          </p:nvPr>
        </p:nvSpPr>
        <p:spPr/>
        <p:txBody>
          <a:bodyPr/>
          <a:lstStyle/>
          <a:p>
            <a:r>
              <a:rPr lang="en-US" dirty="0">
                <a:solidFill>
                  <a:schemeClr val="tx1"/>
                </a:solidFill>
              </a:rPr>
              <a:t>Allows two rotating shafts to operate at a slight angle to each other.</a:t>
            </a:r>
          </a:p>
          <a:p>
            <a:r>
              <a:rPr lang="en-US" dirty="0">
                <a:solidFill>
                  <a:schemeClr val="tx1"/>
                </a:solidFill>
              </a:rPr>
              <a:t>Double-hinged joint connected to two shaft yokes.</a:t>
            </a:r>
          </a:p>
          <a:p>
            <a:r>
              <a:rPr lang="en-US" dirty="0">
                <a:solidFill>
                  <a:schemeClr val="tx1"/>
                </a:solidFill>
              </a:rPr>
              <a:t>Do not operate at a constant velocity or without vibration.</a:t>
            </a:r>
          </a:p>
          <a:p>
            <a:r>
              <a:rPr lang="en-US" dirty="0">
                <a:solidFill>
                  <a:schemeClr val="tx1"/>
                </a:solidFill>
              </a:rPr>
              <a:t>Vibration may be felt if the U-joint angles are too steep or are unequal.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5"/>
          <p:cNvSpPr>
            <a:spLocks noGrp="1"/>
          </p:cNvSpPr>
          <p:nvPr>
            <p:ph type="title"/>
          </p:nvPr>
        </p:nvSpPr>
        <p:spPr/>
        <p:txBody>
          <a:bodyPr/>
          <a:lstStyle/>
          <a:p>
            <a:r>
              <a:rPr lang="en-US" dirty="0"/>
              <a:t>Speed Variations</a:t>
            </a:r>
          </a:p>
        </p:txBody>
      </p:sp>
      <p:sp>
        <p:nvSpPr>
          <p:cNvPr id="28675" name="Content Placeholder 6"/>
          <p:cNvSpPr>
            <a:spLocks noGrp="1"/>
          </p:cNvSpPr>
          <p:nvPr>
            <p:ph type="body" idx="1"/>
          </p:nvPr>
        </p:nvSpPr>
        <p:spPr/>
        <p:txBody>
          <a:bodyPr/>
          <a:lstStyle/>
          <a:p>
            <a:r>
              <a:rPr lang="en-US" dirty="0">
                <a:solidFill>
                  <a:schemeClr val="tx1"/>
                </a:solidFill>
              </a:rPr>
              <a:t>A U-joint speeds up and slows down twice each revolution when at an angle.</a:t>
            </a:r>
          </a:p>
          <a:p>
            <a:r>
              <a:rPr lang="en-US" dirty="0">
                <a:solidFill>
                  <a:schemeClr val="tx1"/>
                </a:solidFill>
              </a:rPr>
              <a:t>The speed change varies according to the angle.</a:t>
            </a:r>
          </a:p>
          <a:p>
            <a:r>
              <a:rPr lang="en-US" dirty="0">
                <a:solidFill>
                  <a:schemeClr val="tx1"/>
                </a:solidFill>
              </a:rPr>
              <a:t>Operating angle is the difference between the transmission angle and drive shaft angle.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14DD21-45D0-C5D8-3FC2-516683B23DD5}"/>
              </a:ext>
            </a:extLst>
          </p:cNvPr>
          <p:cNvSpPr>
            <a:spLocks noGrp="1"/>
          </p:cNvSpPr>
          <p:nvPr>
            <p:ph type="title"/>
          </p:nvPr>
        </p:nvSpPr>
        <p:spPr/>
        <p:txBody>
          <a:bodyPr/>
          <a:lstStyle/>
          <a:p>
            <a:r>
              <a:rPr lang="en-US" sz="4000" b="1" dirty="0">
                <a:latin typeface="Work Sans" pitchFamily="2" charset="0"/>
              </a:rPr>
              <a:t>Driveshaft Speed Fluctuations</a:t>
            </a:r>
            <a:endParaRPr lang="en-IN" dirty="0"/>
          </a:p>
        </p:txBody>
      </p:sp>
      <p:pic>
        <p:nvPicPr>
          <p:cNvPr id="10" name="Picture Placeholder 9" descr="A sine graph depicts typical drive shaft yoke speed fluctuations. The graph depicts the speed of the input and output yoke into two sections. The horizontal axis represents one complete revolution. One vertical axis represents R P M ranging from 900 to 1,100 in increments of 100. The other vertical axis represents R P M ranging from 700 to 1,300 in increments of 100. The yokes travel through different quadrants in the following order: 0 degrees; 45 degrees; 90 degrees; 135 degrees; 180 degrees; 225 degrees; 270 degrees; 315 degrees; and 360 degrees. The speed of the drive shaft represents the following: 900- Output at 10 degrees joint angle; 1,000-input; 700-output shaft speed at 30 degrees joint angle; 1,000- constant input shaft speed. The above graph depicts a sine wave which represents the shaft rotating at high speed and maintaining constant. The below graph depicts a sine wave that represents the shaft rotating with low speed.">
            <a:extLst>
              <a:ext uri="{FF2B5EF4-FFF2-40B4-BE49-F238E27FC236}">
                <a16:creationId xmlns:a16="http://schemas.microsoft.com/office/drawing/2014/main" id="{83D9B72D-7911-7B08-5142-3F905F08108D}"/>
              </a:ext>
            </a:extLst>
          </p:cNvPr>
          <p:cNvPicPr>
            <a:picLocks noGrp="1" noChangeAspect="1"/>
          </p:cNvPicPr>
          <p:nvPr>
            <p:ph type="pic" sz="quarter" idx="12"/>
          </p:nvPr>
        </p:nvPicPr>
        <p:blipFill>
          <a:blip r:embed="rId3"/>
          <a:srcRect b="5141"/>
          <a:stretch/>
        </p:blipFill>
        <p:spPr>
          <a:xfrm>
            <a:off x="1901321" y="1896581"/>
            <a:ext cx="8389359" cy="370051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a:t>Cancelling Angles</a:t>
            </a:r>
          </a:p>
        </p:txBody>
      </p:sp>
      <p:sp>
        <p:nvSpPr>
          <p:cNvPr id="31747" name="Rectangle 3"/>
          <p:cNvSpPr>
            <a:spLocks noGrp="1" noChangeArrowheads="1"/>
          </p:cNvSpPr>
          <p:nvPr>
            <p:ph type="body" idx="1"/>
          </p:nvPr>
        </p:nvSpPr>
        <p:spPr>
          <a:xfrm>
            <a:off x="476844" y="1563627"/>
            <a:ext cx="11241915" cy="1136030"/>
          </a:xfrm>
        </p:spPr>
        <p:txBody>
          <a:bodyPr/>
          <a:lstStyle/>
          <a:p>
            <a:r>
              <a:rPr lang="en-US" dirty="0"/>
              <a:t>U-joints must be in phase with each other to eliminate noise and vibration.</a:t>
            </a:r>
          </a:p>
        </p:txBody>
      </p:sp>
      <p:pic>
        <p:nvPicPr>
          <p:cNvPr id="7" name="Picture Placeholder 6" descr="A drive shaft’s joints in phase with the angle at the front of the drive shaft being negative 5 degrees and the angle at the rear of the drive shaft being 5 degrees.">
            <a:extLst>
              <a:ext uri="{FF2B5EF4-FFF2-40B4-BE49-F238E27FC236}">
                <a16:creationId xmlns:a16="http://schemas.microsoft.com/office/drawing/2014/main" id="{A64FBD8B-F088-AF78-C5FA-8A347310A8E0}"/>
              </a:ext>
            </a:extLst>
          </p:cNvPr>
          <p:cNvPicPr>
            <a:picLocks noGrp="1" noChangeAspect="1"/>
          </p:cNvPicPr>
          <p:nvPr>
            <p:ph type="pic" sz="quarter" idx="12"/>
          </p:nvPr>
        </p:nvPicPr>
        <p:blipFill>
          <a:blip r:embed="rId3"/>
          <a:srcRect b="23832"/>
          <a:stretch/>
        </p:blipFill>
        <p:spPr>
          <a:xfrm>
            <a:off x="2373435" y="2956739"/>
            <a:ext cx="7445130" cy="234393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Universal Joint Designs</a:t>
            </a:r>
          </a:p>
        </p:txBody>
      </p:sp>
      <p:sp>
        <p:nvSpPr>
          <p:cNvPr id="32771" name="Rectangle 3"/>
          <p:cNvSpPr>
            <a:spLocks noGrp="1" noChangeArrowheads="1"/>
          </p:cNvSpPr>
          <p:nvPr>
            <p:ph type="body" idx="1"/>
          </p:nvPr>
        </p:nvSpPr>
        <p:spPr>
          <a:xfrm>
            <a:off x="476845" y="1563626"/>
            <a:ext cx="5986585" cy="4303773"/>
          </a:xfrm>
        </p:spPr>
        <p:txBody>
          <a:bodyPr/>
          <a:lstStyle/>
          <a:p>
            <a:r>
              <a:rPr lang="en-US" dirty="0">
                <a:solidFill>
                  <a:schemeClr val="tx1"/>
                </a:solidFill>
              </a:rPr>
              <a:t>Single Universal Joint</a:t>
            </a:r>
          </a:p>
          <a:p>
            <a:pPr lvl="1">
              <a:buSzPct val="100000"/>
              <a:buFont typeface="Arial" panose="020B0604020202020204" pitchFamily="34" charset="0"/>
              <a:buChar char="–"/>
            </a:pPr>
            <a:r>
              <a:rPr lang="en-US" dirty="0">
                <a:solidFill>
                  <a:schemeClr val="tx1"/>
                </a:solidFill>
              </a:rPr>
              <a:t>Is sometimes known as single Cardan joint.</a:t>
            </a:r>
          </a:p>
          <a:p>
            <a:pPr lvl="1">
              <a:buSzPct val="100000"/>
              <a:buFont typeface="Arial" panose="020B0604020202020204" pitchFamily="34" charset="0"/>
              <a:buChar char="–"/>
            </a:pPr>
            <a:r>
              <a:rPr lang="en-US" dirty="0">
                <a:solidFill>
                  <a:schemeClr val="tx1"/>
                </a:solidFill>
              </a:rPr>
              <a:t>Consists of a cross and four needle bearings.</a:t>
            </a:r>
          </a:p>
          <a:p>
            <a:r>
              <a:rPr lang="en-US" dirty="0">
                <a:solidFill>
                  <a:schemeClr val="tx1"/>
                </a:solidFill>
              </a:rPr>
              <a:t>Double Cardan Joint</a:t>
            </a:r>
          </a:p>
          <a:p>
            <a:pPr lvl="1">
              <a:buSzPct val="100000"/>
              <a:buFont typeface="Arial" panose="020B0604020202020204" pitchFamily="34" charset="0"/>
              <a:buChar char="–"/>
            </a:pPr>
            <a:r>
              <a:rPr lang="en-US" dirty="0">
                <a:solidFill>
                  <a:schemeClr val="tx1"/>
                </a:solidFill>
              </a:rPr>
              <a:t>Consists of two single joints joined by a center yoke and a ball and socket.</a:t>
            </a:r>
          </a:p>
        </p:txBody>
      </p:sp>
      <p:pic>
        <p:nvPicPr>
          <p:cNvPr id="8" name="Picture Placeholder 7" descr="A Double-Cardan U joint with two single joints joined by a center yoke and a ball and socket.">
            <a:extLst>
              <a:ext uri="{FF2B5EF4-FFF2-40B4-BE49-F238E27FC236}">
                <a16:creationId xmlns:a16="http://schemas.microsoft.com/office/drawing/2014/main" id="{2740F0D1-B811-EC5C-73A0-3087388A8CF6}"/>
              </a:ext>
            </a:extLst>
          </p:cNvPr>
          <p:cNvPicPr>
            <a:picLocks noGrp="1" noChangeAspect="1"/>
          </p:cNvPicPr>
          <p:nvPr>
            <p:ph type="pic" sz="quarter" idx="12"/>
          </p:nvPr>
        </p:nvPicPr>
        <p:blipFill>
          <a:blip r:embed="rId3"/>
          <a:srcRect b="8255"/>
          <a:stretch/>
        </p:blipFill>
        <p:spPr>
          <a:xfrm>
            <a:off x="6812198" y="1905517"/>
            <a:ext cx="4930318" cy="334723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Diagnosis of Drive-Shaft and U-Joint Problems</a:t>
            </a:r>
          </a:p>
        </p:txBody>
      </p:sp>
      <p:sp>
        <p:nvSpPr>
          <p:cNvPr id="34819" name="Content Placeholder 2"/>
          <p:cNvSpPr>
            <a:spLocks noGrp="1"/>
          </p:cNvSpPr>
          <p:nvPr>
            <p:ph type="body" idx="1"/>
          </p:nvPr>
        </p:nvSpPr>
        <p:spPr/>
        <p:txBody>
          <a:bodyPr>
            <a:normAutofit lnSpcReduction="10000"/>
          </a:bodyPr>
          <a:lstStyle/>
          <a:p>
            <a:pPr>
              <a:buSzPct val="100000"/>
            </a:pPr>
            <a:r>
              <a:rPr lang="en-US" dirty="0"/>
              <a:t>Gather information.</a:t>
            </a:r>
          </a:p>
          <a:p>
            <a:pPr>
              <a:buSzPct val="100000"/>
            </a:pPr>
            <a:r>
              <a:rPr lang="en-US" dirty="0"/>
              <a:t>Road test.</a:t>
            </a:r>
          </a:p>
          <a:p>
            <a:pPr>
              <a:buSzPct val="100000"/>
            </a:pPr>
            <a:r>
              <a:rPr lang="en-US" dirty="0"/>
              <a:t>Visual inspection.</a:t>
            </a:r>
          </a:p>
          <a:p>
            <a:pPr>
              <a:buSzPct val="100000"/>
            </a:pPr>
            <a:r>
              <a:rPr lang="en-US" dirty="0"/>
              <a:t>Inspect pinion shaft seal for leaks.</a:t>
            </a:r>
          </a:p>
          <a:p>
            <a:pPr>
              <a:buSzPct val="100000"/>
            </a:pPr>
            <a:r>
              <a:rPr lang="en-US" dirty="0"/>
              <a:t>A clunk when shifting into gear is a common failure symptom</a:t>
            </a:r>
          </a:p>
          <a:p>
            <a:pPr>
              <a:buSzPct val="100000"/>
            </a:pPr>
            <a:r>
              <a:rPr lang="en-US" dirty="0"/>
              <a:t>Vibration during acceleration and deceleration that is less speed sensitive.</a:t>
            </a:r>
          </a:p>
          <a:p>
            <a:pPr>
              <a:buSzPct val="100000"/>
            </a:pPr>
            <a:r>
              <a:rPr lang="en-US" dirty="0"/>
              <a:t>Check drive shaft runout, angle, and inspect for dents, missing weights, or other damage.</a:t>
            </a:r>
          </a:p>
        </p:txBody>
      </p:sp>
    </p:spTree>
    <p:extLst>
      <p:ext uri="{BB962C8B-B14F-4D97-AF65-F5344CB8AC3E}">
        <p14:creationId xmlns:p14="http://schemas.microsoft.com/office/powerpoint/2010/main" val="361554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Companion Flange Runout</a:t>
            </a:r>
          </a:p>
        </p:txBody>
      </p:sp>
      <p:pic>
        <p:nvPicPr>
          <p:cNvPr id="9" name="Picture Placeholder 8" descr="A technician checks the runout of the companion flange, along with a dial indicator.">
            <a:extLst>
              <a:ext uri="{FF2B5EF4-FFF2-40B4-BE49-F238E27FC236}">
                <a16:creationId xmlns:a16="http://schemas.microsoft.com/office/drawing/2014/main" id="{DAD30121-3902-C947-2202-9EC90DF04B50}"/>
              </a:ext>
            </a:extLst>
          </p:cNvPr>
          <p:cNvPicPr>
            <a:picLocks noGrp="1" noChangeAspect="1"/>
          </p:cNvPicPr>
          <p:nvPr>
            <p:ph type="pic" sz="quarter" idx="12"/>
          </p:nvPr>
        </p:nvPicPr>
        <p:blipFill>
          <a:blip r:embed="rId2"/>
          <a:srcRect b="11425"/>
          <a:stretch/>
        </p:blipFill>
        <p:spPr>
          <a:xfrm>
            <a:off x="3578277" y="1578764"/>
            <a:ext cx="5383789" cy="396595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3783-ADDE-0AAD-50F2-BD24628440CA}"/>
              </a:ext>
            </a:extLst>
          </p:cNvPr>
          <p:cNvSpPr>
            <a:spLocks noGrp="1"/>
          </p:cNvSpPr>
          <p:nvPr>
            <p:ph type="title"/>
          </p:nvPr>
        </p:nvSpPr>
        <p:spPr/>
        <p:txBody>
          <a:bodyPr/>
          <a:lstStyle/>
          <a:p>
            <a:r>
              <a:rPr lang="en-US" dirty="0"/>
              <a:t>Measuring U Joint Angles</a:t>
            </a:r>
          </a:p>
        </p:txBody>
      </p:sp>
      <p:pic>
        <p:nvPicPr>
          <p:cNvPr id="9" name="Picture Placeholder 8" descr="An inclinometer mounted to a U-joint with an arrow pointing to the tip of inclinometer reading: Magnetic end of tool centered on bearing cap; bearing surfaces must be clean.">
            <a:extLst>
              <a:ext uri="{FF2B5EF4-FFF2-40B4-BE49-F238E27FC236}">
                <a16:creationId xmlns:a16="http://schemas.microsoft.com/office/drawing/2014/main" id="{04B56A1F-F625-0F5B-1778-86E8423C216E}"/>
              </a:ext>
            </a:extLst>
          </p:cNvPr>
          <p:cNvPicPr>
            <a:picLocks noGrp="1" noChangeAspect="1"/>
          </p:cNvPicPr>
          <p:nvPr>
            <p:ph type="pic" sz="quarter" idx="12"/>
          </p:nvPr>
        </p:nvPicPr>
        <p:blipFill>
          <a:blip r:embed="rId2"/>
          <a:srcRect b="4785"/>
          <a:stretch/>
        </p:blipFill>
        <p:spPr>
          <a:xfrm>
            <a:off x="4058679" y="1588629"/>
            <a:ext cx="4074643" cy="4215879"/>
          </a:xfrm>
          <a:prstGeom prst="rect">
            <a:avLst/>
          </a:prstGeom>
        </p:spPr>
      </p:pic>
    </p:spTree>
    <p:extLst>
      <p:ext uri="{BB962C8B-B14F-4D97-AF65-F5344CB8AC3E}">
        <p14:creationId xmlns:p14="http://schemas.microsoft.com/office/powerpoint/2010/main" val="2681107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(2 of 4)</a:t>
            </a:r>
          </a:p>
        </p:txBody>
      </p:sp>
      <p:sp>
        <p:nvSpPr>
          <p:cNvPr id="3" name="Content Placeholder 2"/>
          <p:cNvSpPr>
            <a:spLocks noGrp="1"/>
          </p:cNvSpPr>
          <p:nvPr>
            <p:ph type="body" idx="1"/>
          </p:nvPr>
        </p:nvSpPr>
        <p:spPr/>
        <p:txBody>
          <a:bodyPr/>
          <a:lstStyle/>
          <a:p>
            <a:r>
              <a:rPr lang="en-US" dirty="0">
                <a:solidFill>
                  <a:schemeClr val="tx1"/>
                </a:solidFill>
              </a:rPr>
              <a:t>Technician A says out-of-phase U-joints can cause a vibration. Technician B says incorrect driveline angles can cause a vibration. Who is correct?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(2 of 4)</a:t>
            </a:r>
          </a:p>
        </p:txBody>
      </p:sp>
      <p:sp>
        <p:nvSpPr>
          <p:cNvPr id="3" name="Content Placeholder 2"/>
          <p:cNvSpPr>
            <a:spLocks noGrp="1"/>
          </p:cNvSpPr>
          <p:nvPr>
            <p:ph type="body" idx="1"/>
          </p:nvPr>
        </p:nvSpPr>
        <p:spPr/>
        <p:txBody>
          <a:bodyPr/>
          <a:lstStyle/>
          <a:p>
            <a:pPr>
              <a:spcAft>
                <a:spcPts val="2400"/>
              </a:spcAft>
            </a:pPr>
            <a:r>
              <a:rPr lang="en-US" dirty="0">
                <a:solidFill>
                  <a:schemeClr val="tx1"/>
                </a:solidFill>
              </a:rPr>
              <a:t>Technician A says out-of-phase U-joints can cause a vibration. Technician B says incorrect driveline angles can cause a vibration. Who is correct?</a:t>
            </a:r>
          </a:p>
          <a:p>
            <a:pPr marL="719138" indent="0">
              <a:buNone/>
            </a:pPr>
            <a:r>
              <a:rPr lang="en-US" b="1" dirty="0">
                <a:solidFill>
                  <a:schemeClr val="tx1"/>
                </a:solidFill>
              </a:rPr>
              <a:t>Answer: </a:t>
            </a:r>
            <a:r>
              <a:rPr lang="en-US" dirty="0">
                <a:solidFill>
                  <a:schemeClr val="tx1"/>
                </a:solidFill>
              </a:rPr>
              <a:t>Both technicians A and B</a:t>
            </a:r>
          </a:p>
        </p:txBody>
      </p:sp>
    </p:spTree>
    <p:extLst>
      <p:ext uri="{BB962C8B-B14F-4D97-AF65-F5344CB8AC3E}">
        <p14:creationId xmlns:p14="http://schemas.microsoft.com/office/powerpoint/2010/main" val="702676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Purposes of a Differential Assembly</a:t>
            </a:r>
          </a:p>
        </p:txBody>
      </p:sp>
      <p:sp>
        <p:nvSpPr>
          <p:cNvPr id="35843" name="Rectangle 3"/>
          <p:cNvSpPr>
            <a:spLocks noGrp="1" noChangeArrowheads="1"/>
          </p:cNvSpPr>
          <p:nvPr>
            <p:ph type="body" idx="1"/>
          </p:nvPr>
        </p:nvSpPr>
        <p:spPr>
          <a:xfrm>
            <a:off x="476844" y="1563627"/>
            <a:ext cx="5619156" cy="3966316"/>
          </a:xfrm>
        </p:spPr>
        <p:txBody>
          <a:bodyPr/>
          <a:lstStyle/>
          <a:p>
            <a:pPr>
              <a:buSzPct val="100000"/>
            </a:pPr>
            <a:r>
              <a:rPr lang="en-US" dirty="0">
                <a:solidFill>
                  <a:schemeClr val="tx1"/>
                </a:solidFill>
              </a:rPr>
              <a:t>Transmit power from the drive shaft to the wheels.</a:t>
            </a:r>
          </a:p>
          <a:p>
            <a:pPr>
              <a:buSzPct val="100000"/>
            </a:pPr>
            <a:r>
              <a:rPr lang="en-US" dirty="0">
                <a:solidFill>
                  <a:schemeClr val="tx1"/>
                </a:solidFill>
              </a:rPr>
              <a:t>Turn the power flow 90 degrees on RWD cars.</a:t>
            </a:r>
          </a:p>
          <a:p>
            <a:pPr>
              <a:buSzPct val="100000"/>
            </a:pPr>
            <a:r>
              <a:rPr lang="en-US" dirty="0">
                <a:solidFill>
                  <a:schemeClr val="tx1"/>
                </a:solidFill>
              </a:rPr>
              <a:t>Allow the  wheels to turn at different speeds while cornering.</a:t>
            </a:r>
          </a:p>
        </p:txBody>
      </p:sp>
      <p:pic>
        <p:nvPicPr>
          <p:cNvPr id="8" name="Picture Placeholder 7" descr="The bottom view of a car turns toward the right. The front wheel on the right turns toward 46 feet (14 m) and the front wheel on the left turns toward 58 feet (17.7 m). The distance between the back wheel and front wheel is 30 feet (9.1 m).">
            <a:extLst>
              <a:ext uri="{FF2B5EF4-FFF2-40B4-BE49-F238E27FC236}">
                <a16:creationId xmlns:a16="http://schemas.microsoft.com/office/drawing/2014/main" id="{F33571A0-23B2-2781-CC42-9491D07DEBA0}"/>
              </a:ext>
            </a:extLst>
          </p:cNvPr>
          <p:cNvPicPr>
            <a:picLocks noGrp="1" noChangeAspect="1"/>
          </p:cNvPicPr>
          <p:nvPr>
            <p:ph type="pic" sz="quarter" idx="12"/>
          </p:nvPr>
        </p:nvPicPr>
        <p:blipFill>
          <a:blip r:embed="rId3"/>
          <a:srcRect b="8637"/>
          <a:stretch/>
        </p:blipFill>
        <p:spPr>
          <a:xfrm>
            <a:off x="7473145" y="1583915"/>
            <a:ext cx="3788623" cy="443055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Differential Components</a:t>
            </a:r>
          </a:p>
        </p:txBody>
      </p:sp>
      <p:sp>
        <p:nvSpPr>
          <p:cNvPr id="36867" name="Rectangle 3"/>
          <p:cNvSpPr>
            <a:spLocks noGrp="1" noChangeArrowheads="1"/>
          </p:cNvSpPr>
          <p:nvPr>
            <p:ph type="body" idx="1"/>
          </p:nvPr>
        </p:nvSpPr>
        <p:spPr/>
        <p:txBody>
          <a:bodyPr/>
          <a:lstStyle/>
          <a:p>
            <a:pPr marL="0" indent="0">
              <a:buNone/>
            </a:pPr>
            <a:r>
              <a:rPr lang="en-US" sz="2000" b="1" dirty="0">
                <a:solidFill>
                  <a:schemeClr val="tx1"/>
                </a:solidFill>
                <a:latin typeface="Work Sans" pitchFamily="2" charset="0"/>
              </a:rPr>
              <a:t>40.06 Name and describe the components of a rear-wheel drive axle.</a:t>
            </a:r>
            <a:endParaRPr lang="en-US" sz="2000" dirty="0">
              <a:solidFill>
                <a:schemeClr val="tx1"/>
              </a:solidFill>
            </a:endParaRPr>
          </a:p>
          <a:p>
            <a:pPr>
              <a:buSzPct val="100000"/>
            </a:pPr>
            <a:r>
              <a:rPr lang="en-US" sz="2200" dirty="0">
                <a:solidFill>
                  <a:schemeClr val="tx1"/>
                </a:solidFill>
              </a:rPr>
              <a:t>Housing</a:t>
            </a:r>
          </a:p>
          <a:p>
            <a:pPr lvl="1">
              <a:buSzPct val="100000"/>
            </a:pPr>
            <a:r>
              <a:rPr lang="en-US" sz="2000" dirty="0">
                <a:solidFill>
                  <a:schemeClr val="tx1"/>
                </a:solidFill>
              </a:rPr>
              <a:t>Holds all other components and attaches to the vehicle’s suspension.</a:t>
            </a:r>
          </a:p>
          <a:p>
            <a:pPr>
              <a:buSzPct val="100000"/>
            </a:pPr>
            <a:r>
              <a:rPr lang="en-US" sz="2200" dirty="0">
                <a:solidFill>
                  <a:schemeClr val="tx1"/>
                </a:solidFill>
              </a:rPr>
              <a:t>Ring and Pinion Gears</a:t>
            </a:r>
          </a:p>
          <a:p>
            <a:pPr lvl="1">
              <a:buSzPct val="100000"/>
            </a:pPr>
            <a:r>
              <a:rPr lang="en-US" sz="2000" dirty="0">
                <a:solidFill>
                  <a:schemeClr val="tx1"/>
                </a:solidFill>
              </a:rPr>
              <a:t>Provide a final gear reduction.</a:t>
            </a:r>
          </a:p>
          <a:p>
            <a:pPr lvl="1">
              <a:buSzPct val="100000"/>
            </a:pPr>
            <a:r>
              <a:rPr lang="en-US" sz="2000" dirty="0">
                <a:solidFill>
                  <a:schemeClr val="tx1"/>
                </a:solidFill>
              </a:rPr>
              <a:t>Transfer power 90 degrees to the wheels on RWD vehicles.</a:t>
            </a:r>
          </a:p>
          <a:p>
            <a:pPr>
              <a:buSzPct val="100000"/>
            </a:pPr>
            <a:r>
              <a:rPr lang="en-US" sz="2200" dirty="0">
                <a:solidFill>
                  <a:schemeClr val="tx1"/>
                </a:solidFill>
              </a:rPr>
              <a:t>Differential Assembly</a:t>
            </a:r>
          </a:p>
          <a:p>
            <a:pPr lvl="1">
              <a:buSzPct val="100000"/>
            </a:pPr>
            <a:r>
              <a:rPr lang="en-US" sz="2000" dirty="0">
                <a:solidFill>
                  <a:schemeClr val="tx1"/>
                </a:solidFill>
              </a:rPr>
              <a:t>Contains the differential case, which attaches to the ring gear.</a:t>
            </a:r>
          </a:p>
          <a:p>
            <a:pPr lvl="1">
              <a:buSzPct val="100000"/>
            </a:pPr>
            <a:r>
              <a:rPr lang="en-US" sz="2000" dirty="0">
                <a:solidFill>
                  <a:schemeClr val="tx1"/>
                </a:solidFill>
              </a:rPr>
              <a:t>Includes the side gears and differential pinion gears that allow wheels to turn at different speeds.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CCFFD-DF7C-0ECD-854B-F86019866F26}"/>
              </a:ext>
            </a:extLst>
          </p:cNvPr>
          <p:cNvSpPr>
            <a:spLocks noGrp="1"/>
          </p:cNvSpPr>
          <p:nvPr>
            <p:ph type="title"/>
          </p:nvPr>
        </p:nvSpPr>
        <p:spPr/>
        <p:txBody>
          <a:bodyPr/>
          <a:lstStyle/>
          <a:p>
            <a:r>
              <a:rPr lang="en-IN" dirty="0"/>
              <a:t>The Components of a Typical Final Drive Unit</a:t>
            </a:r>
          </a:p>
        </p:txBody>
      </p:sp>
      <p:sp>
        <p:nvSpPr>
          <p:cNvPr id="5" name="Text Placeholder 4">
            <a:extLst>
              <a:ext uri="{FF2B5EF4-FFF2-40B4-BE49-F238E27FC236}">
                <a16:creationId xmlns:a16="http://schemas.microsoft.com/office/drawing/2014/main" id="{6FCC0980-2C2A-E0CD-137F-A8A5D4F21137}"/>
              </a:ext>
            </a:extLst>
          </p:cNvPr>
          <p:cNvSpPr>
            <a:spLocks noGrp="1"/>
          </p:cNvSpPr>
          <p:nvPr>
            <p:ph type="body" idx="1"/>
          </p:nvPr>
        </p:nvSpPr>
        <p:spPr>
          <a:xfrm>
            <a:off x="1015462" y="1783697"/>
            <a:ext cx="9594082" cy="921924"/>
          </a:xfrm>
        </p:spPr>
        <p:txBody>
          <a:bodyPr/>
          <a:lstStyle/>
          <a:p>
            <a:pPr marL="0" indent="0">
              <a:buNone/>
            </a:pPr>
            <a:r>
              <a:rPr lang="en-US" sz="2400" b="1" dirty="0">
                <a:solidFill>
                  <a:schemeClr val="tx1"/>
                </a:solidFill>
                <a:latin typeface="Work Sans" pitchFamily="2" charset="0"/>
              </a:rPr>
              <a:t>40.11 Explain the function of the main driving gears, drive pinion gear, and ring gear.</a:t>
            </a:r>
          </a:p>
        </p:txBody>
      </p:sp>
      <p:pic>
        <p:nvPicPr>
          <p:cNvPr id="10" name="Picture Placeholder 9" descr="A typical Final drive unit with the components labeled as follows: Axle, Differential pinion gears, Ring gear, Drive pinion, Side gears, Axle, shaft, and Differential case.">
            <a:extLst>
              <a:ext uri="{FF2B5EF4-FFF2-40B4-BE49-F238E27FC236}">
                <a16:creationId xmlns:a16="http://schemas.microsoft.com/office/drawing/2014/main" id="{CAD9CD42-A7A3-A5E1-E2CC-59D3F12D3D1D}"/>
              </a:ext>
            </a:extLst>
          </p:cNvPr>
          <p:cNvPicPr>
            <a:picLocks noGrp="1" noChangeAspect="1"/>
          </p:cNvPicPr>
          <p:nvPr>
            <p:ph type="pic" idx="2"/>
          </p:nvPr>
        </p:nvPicPr>
        <p:blipFill>
          <a:blip r:embed="rId3"/>
          <a:srcRect b="6266"/>
          <a:stretch/>
        </p:blipFill>
        <p:spPr>
          <a:xfrm>
            <a:off x="4144289" y="2730673"/>
            <a:ext cx="3903423" cy="32868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dirty="0"/>
              <a:t>Hypoid Gears</a:t>
            </a:r>
          </a:p>
        </p:txBody>
      </p:sp>
      <p:sp>
        <p:nvSpPr>
          <p:cNvPr id="39939" name="Content Placeholder 2"/>
          <p:cNvSpPr>
            <a:spLocks noGrp="1"/>
          </p:cNvSpPr>
          <p:nvPr>
            <p:ph type="body" idx="1"/>
          </p:nvPr>
        </p:nvSpPr>
        <p:spPr>
          <a:xfrm>
            <a:off x="476844" y="1563627"/>
            <a:ext cx="11241915" cy="1865373"/>
          </a:xfrm>
        </p:spPr>
        <p:txBody>
          <a:bodyPr/>
          <a:lstStyle/>
          <a:p>
            <a:r>
              <a:rPr lang="en-US" dirty="0">
                <a:solidFill>
                  <a:schemeClr val="tx1"/>
                </a:solidFill>
              </a:rPr>
              <a:t>Contacts more than one tooth at a time.</a:t>
            </a:r>
          </a:p>
          <a:p>
            <a:r>
              <a:rPr lang="en-US" dirty="0">
                <a:solidFill>
                  <a:schemeClr val="tx1"/>
                </a:solidFill>
              </a:rPr>
              <a:t>Gear contact is a sliding motion which is more quiet.</a:t>
            </a:r>
          </a:p>
          <a:p>
            <a:r>
              <a:rPr lang="en-US" dirty="0">
                <a:solidFill>
                  <a:schemeClr val="tx1"/>
                </a:solidFill>
              </a:rPr>
              <a:t>Requires extreme pressure lubricants.</a:t>
            </a:r>
          </a:p>
        </p:txBody>
      </p:sp>
      <p:pic>
        <p:nvPicPr>
          <p:cNvPr id="7" name="Picture Placeholder 6" descr="The spiral bevel and the hypoid gear set depict ring gear and the center line C_L. The pinion meshed with the ring gear below the center line.">
            <a:extLst>
              <a:ext uri="{FF2B5EF4-FFF2-40B4-BE49-F238E27FC236}">
                <a16:creationId xmlns:a16="http://schemas.microsoft.com/office/drawing/2014/main" id="{E42141A4-F76E-62E4-A12D-8EB05A9E35AC}"/>
              </a:ext>
            </a:extLst>
          </p:cNvPr>
          <p:cNvPicPr>
            <a:picLocks noGrp="1" noChangeAspect="1"/>
          </p:cNvPicPr>
          <p:nvPr>
            <p:ph type="pic" sz="quarter" idx="12"/>
          </p:nvPr>
        </p:nvPicPr>
        <p:blipFill>
          <a:blip r:embed="rId3"/>
          <a:srcRect b="9309"/>
          <a:stretch/>
        </p:blipFill>
        <p:spPr>
          <a:xfrm>
            <a:off x="2081863" y="3575875"/>
            <a:ext cx="8028275" cy="225710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Gearset Classifications (1 of 2)</a:t>
            </a:r>
          </a:p>
        </p:txBody>
      </p:sp>
      <p:sp>
        <p:nvSpPr>
          <p:cNvPr id="40963" name="Rectangle 3"/>
          <p:cNvSpPr>
            <a:spLocks noGrp="1" noChangeArrowheads="1"/>
          </p:cNvSpPr>
          <p:nvPr>
            <p:ph type="body" idx="1"/>
          </p:nvPr>
        </p:nvSpPr>
        <p:spPr/>
        <p:txBody>
          <a:bodyPr/>
          <a:lstStyle/>
          <a:p>
            <a:pPr marL="0" indent="0">
              <a:buNone/>
            </a:pPr>
            <a:r>
              <a:rPr lang="en-US" sz="2000" b="1" dirty="0">
                <a:solidFill>
                  <a:schemeClr val="tx1"/>
                </a:solidFill>
                <a:latin typeface="Work Sans" pitchFamily="2" charset="0"/>
              </a:rPr>
              <a:t>40.07 Describe the operation of a rear-wheel drive axle.</a:t>
            </a:r>
            <a:endParaRPr lang="en-US" sz="2000" dirty="0">
              <a:solidFill>
                <a:schemeClr val="tx1"/>
              </a:solidFill>
            </a:endParaRPr>
          </a:p>
          <a:p>
            <a:r>
              <a:rPr lang="en-US" sz="2000" dirty="0">
                <a:solidFill>
                  <a:schemeClr val="tx1"/>
                </a:solidFill>
              </a:rPr>
              <a:t>Hunting Gearset</a:t>
            </a:r>
          </a:p>
          <a:p>
            <a:pPr lvl="1"/>
            <a:r>
              <a:rPr lang="en-US" sz="1800" dirty="0">
                <a:solidFill>
                  <a:schemeClr val="tx1"/>
                </a:solidFill>
              </a:rPr>
              <a:t>Any given tooth on the pinion gear contacts all of the teeth on the ring gear before it meets the same tooth again.</a:t>
            </a:r>
          </a:p>
          <a:p>
            <a:pPr lvl="1"/>
            <a:r>
              <a:rPr lang="en-US" sz="1800" dirty="0">
                <a:solidFill>
                  <a:schemeClr val="tx1"/>
                </a:solidFill>
              </a:rPr>
              <a:t>The gearset does not have to be indexed.</a:t>
            </a:r>
          </a:p>
          <a:p>
            <a:pPr lvl="1"/>
            <a:r>
              <a:rPr lang="en-US" sz="1800" dirty="0">
                <a:solidFill>
                  <a:schemeClr val="tx1"/>
                </a:solidFill>
              </a:rPr>
              <a:t>An example ratio is 3.73:1.</a:t>
            </a:r>
          </a:p>
          <a:p>
            <a:r>
              <a:rPr lang="en-US" sz="2000" dirty="0">
                <a:solidFill>
                  <a:schemeClr val="tx1"/>
                </a:solidFill>
              </a:rPr>
              <a:t>Non-hunting Gearset</a:t>
            </a:r>
          </a:p>
          <a:p>
            <a:pPr lvl="1"/>
            <a:r>
              <a:rPr lang="en-US" sz="1800" dirty="0">
                <a:solidFill>
                  <a:schemeClr val="tx1"/>
                </a:solidFill>
              </a:rPr>
              <a:t>Each tooth of the pinion gear will come in contact with the same tooth on the ring gear each revolution.</a:t>
            </a:r>
          </a:p>
          <a:p>
            <a:pPr lvl="1"/>
            <a:r>
              <a:rPr lang="en-US" sz="1800" dirty="0">
                <a:solidFill>
                  <a:schemeClr val="tx1"/>
                </a:solidFill>
              </a:rPr>
              <a:t>The gearset must be assembled with its index marks aligned.</a:t>
            </a:r>
          </a:p>
          <a:p>
            <a:pPr lvl="1"/>
            <a:r>
              <a:rPr lang="en-US" sz="1800" dirty="0">
                <a:solidFill>
                  <a:schemeClr val="tx1"/>
                </a:solidFill>
              </a:rPr>
              <a:t>An example ratio is 3.0:1.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Gearset Classifications (2 of 2)</a:t>
            </a:r>
          </a:p>
        </p:txBody>
      </p:sp>
      <p:sp>
        <p:nvSpPr>
          <p:cNvPr id="43011" name="Rectangle 3"/>
          <p:cNvSpPr>
            <a:spLocks noGrp="1" noChangeArrowheads="1"/>
          </p:cNvSpPr>
          <p:nvPr>
            <p:ph type="body" idx="1"/>
          </p:nvPr>
        </p:nvSpPr>
        <p:spPr/>
        <p:txBody>
          <a:bodyPr/>
          <a:lstStyle/>
          <a:p>
            <a:r>
              <a:rPr lang="en-US" dirty="0"/>
              <a:t>Partial Non-hunting Gearset</a:t>
            </a:r>
          </a:p>
          <a:p>
            <a:pPr lvl="1"/>
            <a:r>
              <a:rPr lang="en-US" dirty="0"/>
              <a:t>One tooth of the pinion gear will come in contact with the same tooth on the ring gear every other revolution.</a:t>
            </a:r>
          </a:p>
          <a:p>
            <a:pPr lvl="1"/>
            <a:r>
              <a:rPr lang="en-US" dirty="0"/>
              <a:t>The gearset must be assembled with its index marks aligned.</a:t>
            </a:r>
          </a:p>
          <a:p>
            <a:pPr lvl="1"/>
            <a:r>
              <a:rPr lang="en-US" dirty="0"/>
              <a:t>An example ratio is 3.5:1.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dirty="0"/>
              <a:t>Rear Axle Housing and Casing</a:t>
            </a:r>
          </a:p>
        </p:txBody>
      </p:sp>
      <p:sp>
        <p:nvSpPr>
          <p:cNvPr id="44035" name="Content Placeholder 2"/>
          <p:cNvSpPr>
            <a:spLocks noGrp="1"/>
          </p:cNvSpPr>
          <p:nvPr>
            <p:ph type="body" idx="1"/>
          </p:nvPr>
        </p:nvSpPr>
        <p:spPr>
          <a:xfrm>
            <a:off x="476844" y="1563628"/>
            <a:ext cx="11241915" cy="2398772"/>
          </a:xfrm>
        </p:spPr>
        <p:txBody>
          <a:bodyPr/>
          <a:lstStyle/>
          <a:p>
            <a:pPr marL="0" indent="0">
              <a:spcAft>
                <a:spcPts val="400"/>
              </a:spcAft>
              <a:buNone/>
            </a:pPr>
            <a:r>
              <a:rPr lang="en-US" sz="2400" b="1" dirty="0">
                <a:solidFill>
                  <a:schemeClr val="tx1"/>
                </a:solidFill>
                <a:latin typeface="Work Sans" pitchFamily="2" charset="0"/>
              </a:rPr>
              <a:t>40.09 Describe the various differential designs, including complete, integral carrier, removable carrier, and limited slip.</a:t>
            </a:r>
            <a:endParaRPr lang="en-US" sz="2400" dirty="0">
              <a:solidFill>
                <a:schemeClr val="tx1"/>
              </a:solidFill>
            </a:endParaRPr>
          </a:p>
          <a:p>
            <a:pPr>
              <a:spcAft>
                <a:spcPts val="400"/>
              </a:spcAft>
            </a:pPr>
            <a:r>
              <a:rPr lang="en-US" sz="2400" dirty="0">
                <a:solidFill>
                  <a:schemeClr val="tx1"/>
                </a:solidFill>
              </a:rPr>
              <a:t>Two common types</a:t>
            </a:r>
          </a:p>
          <a:p>
            <a:pPr lvl="1">
              <a:spcAft>
                <a:spcPts val="400"/>
              </a:spcAft>
            </a:pPr>
            <a:r>
              <a:rPr lang="en-US" sz="2200" dirty="0">
                <a:solidFill>
                  <a:schemeClr val="tx1"/>
                </a:solidFill>
              </a:rPr>
              <a:t>Removable carrier opens at the front.</a:t>
            </a:r>
          </a:p>
          <a:p>
            <a:pPr lvl="1">
              <a:spcAft>
                <a:spcPts val="400"/>
              </a:spcAft>
            </a:pPr>
            <a:r>
              <a:rPr lang="en-US" sz="2200" dirty="0">
                <a:solidFill>
                  <a:schemeClr val="tx1"/>
                </a:solidFill>
              </a:rPr>
              <a:t>Integral carrier opens at the rear.</a:t>
            </a:r>
          </a:p>
        </p:txBody>
      </p:sp>
      <p:pic>
        <p:nvPicPr>
          <p:cNvPr id="9" name="Picture Placeholder 8" descr="An assembly of integral rear axle housing with the parts labeled as follows: Gasket, Cover, and Vent.">
            <a:extLst>
              <a:ext uri="{FF2B5EF4-FFF2-40B4-BE49-F238E27FC236}">
                <a16:creationId xmlns:a16="http://schemas.microsoft.com/office/drawing/2014/main" id="{0570AF50-8323-298F-015A-916A9E1C1715}"/>
              </a:ext>
            </a:extLst>
          </p:cNvPr>
          <p:cNvPicPr>
            <a:picLocks noGrp="1" noChangeAspect="1"/>
          </p:cNvPicPr>
          <p:nvPr>
            <p:ph type="pic" sz="quarter" idx="11"/>
          </p:nvPr>
        </p:nvPicPr>
        <p:blipFill rotWithShape="1">
          <a:blip r:embed="rId3"/>
          <a:srcRect b="9589"/>
          <a:stretch/>
        </p:blipFill>
        <p:spPr>
          <a:xfrm>
            <a:off x="3092821" y="3902666"/>
            <a:ext cx="2812270" cy="2127300"/>
          </a:xfrm>
          <a:prstGeom prst="rect">
            <a:avLst/>
          </a:prstGeom>
        </p:spPr>
      </p:pic>
      <p:pic>
        <p:nvPicPr>
          <p:cNvPr id="10" name="Picture Placeholder 9" descr="A technician holds the removable-carrier rear axle housing.">
            <a:extLst>
              <a:ext uri="{FF2B5EF4-FFF2-40B4-BE49-F238E27FC236}">
                <a16:creationId xmlns:a16="http://schemas.microsoft.com/office/drawing/2014/main" id="{67C4568B-88CB-8024-4CE0-4D829E6FBD75}"/>
              </a:ext>
            </a:extLst>
          </p:cNvPr>
          <p:cNvPicPr>
            <a:picLocks noGrp="1" noChangeAspect="1"/>
          </p:cNvPicPr>
          <p:nvPr>
            <p:ph type="pic" sz="quarter" idx="12"/>
          </p:nvPr>
        </p:nvPicPr>
        <p:blipFill rotWithShape="1">
          <a:blip r:embed="rId4"/>
          <a:srcRect b="6640"/>
          <a:stretch/>
        </p:blipFill>
        <p:spPr>
          <a:xfrm>
            <a:off x="6465990" y="3786759"/>
            <a:ext cx="2729561" cy="235293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Differential Operation (1 of 2)</a:t>
            </a:r>
          </a:p>
        </p:txBody>
      </p:sp>
      <p:sp>
        <p:nvSpPr>
          <p:cNvPr id="46083" name="Rectangle 3"/>
          <p:cNvSpPr>
            <a:spLocks noGrp="1" noChangeArrowheads="1"/>
          </p:cNvSpPr>
          <p:nvPr>
            <p:ph type="body" idx="1"/>
          </p:nvPr>
        </p:nvSpPr>
        <p:spPr/>
        <p:txBody>
          <a:bodyPr/>
          <a:lstStyle/>
          <a:p>
            <a:pPr marL="0" indent="0">
              <a:buNone/>
            </a:pPr>
            <a:r>
              <a:rPr lang="en-US" sz="2200" b="1" dirty="0">
                <a:solidFill>
                  <a:schemeClr val="tx1"/>
                </a:solidFill>
                <a:latin typeface="Work Sans" pitchFamily="2" charset="0"/>
              </a:rPr>
              <a:t>40.07 Describe the operation of a rear-wheel drive axle.</a:t>
            </a:r>
            <a:endParaRPr lang="en-US" sz="2200" dirty="0">
              <a:solidFill>
                <a:schemeClr val="tx1"/>
              </a:solidFill>
            </a:endParaRPr>
          </a:p>
          <a:p>
            <a:r>
              <a:rPr lang="en-US" sz="2200" dirty="0">
                <a:solidFill>
                  <a:schemeClr val="tx1"/>
                </a:solidFill>
              </a:rPr>
              <a:t>The drive pinion drives the ring gear, which is attached to the differential case.</a:t>
            </a:r>
          </a:p>
          <a:p>
            <a:r>
              <a:rPr lang="en-US" sz="2200" dirty="0">
                <a:solidFill>
                  <a:schemeClr val="tx1"/>
                </a:solidFill>
              </a:rPr>
              <a:t>When going straight ahead</a:t>
            </a:r>
          </a:p>
          <a:p>
            <a:pPr lvl="1"/>
            <a:r>
              <a:rPr lang="en-US" sz="2000" dirty="0">
                <a:solidFill>
                  <a:schemeClr val="tx1"/>
                </a:solidFill>
              </a:rPr>
              <a:t>The differential housing and its components rotate as an assembly.</a:t>
            </a:r>
          </a:p>
          <a:p>
            <a:pPr lvl="1"/>
            <a:r>
              <a:rPr lang="en-US" sz="2000" dirty="0">
                <a:solidFill>
                  <a:schemeClr val="tx1"/>
                </a:solidFill>
              </a:rPr>
              <a:t>Power is transferred equally to both wheels.</a:t>
            </a:r>
          </a:p>
          <a:p>
            <a:r>
              <a:rPr lang="en-US" sz="2200" dirty="0">
                <a:solidFill>
                  <a:schemeClr val="tx1"/>
                </a:solidFill>
              </a:rPr>
              <a:t>When turning a corner</a:t>
            </a:r>
          </a:p>
          <a:p>
            <a:pPr lvl="1"/>
            <a:r>
              <a:rPr lang="en-US" sz="2000" dirty="0">
                <a:solidFill>
                  <a:schemeClr val="tx1"/>
                </a:solidFill>
              </a:rPr>
              <a:t>The wheels must travel at different speeds to prevent tire scrubbing.</a:t>
            </a:r>
          </a:p>
          <a:p>
            <a:pPr lvl="1"/>
            <a:r>
              <a:rPr lang="en-US" sz="2000" dirty="0">
                <a:solidFill>
                  <a:schemeClr val="tx1"/>
                </a:solidFill>
              </a:rPr>
              <a:t>The differential pinion gears “walk” around the slower side gear and cause the other side gear to turn faster.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3"/>
          <p:cNvSpPr>
            <a:spLocks noGrp="1"/>
          </p:cNvSpPr>
          <p:nvPr>
            <p:ph type="title"/>
          </p:nvPr>
        </p:nvSpPr>
        <p:spPr/>
        <p:txBody>
          <a:bodyPr/>
          <a:lstStyle/>
          <a:p>
            <a:r>
              <a:rPr lang="en-US" dirty="0"/>
              <a:t>Differential Operation (2 of 2) </a:t>
            </a:r>
          </a:p>
        </p:txBody>
      </p:sp>
      <p:pic>
        <p:nvPicPr>
          <p:cNvPr id="8" name="Picture Placeholder 7" descr="A series of three different components labeled (A), (B), and (C). The first component (A) is a basic differential component with the following parts labeled: Drive pinion, Pinion gear, Shaft, Differential side gear, Axle, Differential case, and Ring gear. The second component (B) is an occurrence of differential action while the vehicle is turning left. One forward arrow indicates that the right axle is turning left with 120 r p m, and another forward arrow indicates that the left axle is turning left with 80 r p m. The forward arrows on the ring gear and pinion gear indicate the direction of rotation. The third component (C) is an occurrence of differential action while the vehicle is moving straight. An arrow indicates that the right axle is turning counterclockwise with 100 r p m and another arrow indicates that the left axle is turning clockwise with 100 r p m.">
            <a:extLst>
              <a:ext uri="{FF2B5EF4-FFF2-40B4-BE49-F238E27FC236}">
                <a16:creationId xmlns:a16="http://schemas.microsoft.com/office/drawing/2014/main" id="{476CD7D7-8F74-C34A-DAC0-78D2478D2644}"/>
              </a:ext>
            </a:extLst>
          </p:cNvPr>
          <p:cNvPicPr>
            <a:picLocks noGrp="1" noChangeAspect="1"/>
          </p:cNvPicPr>
          <p:nvPr>
            <p:ph type="pic" sz="quarter" idx="12"/>
          </p:nvPr>
        </p:nvPicPr>
        <p:blipFill rotWithShape="1">
          <a:blip r:embed="rId3"/>
          <a:srcRect b="7445"/>
          <a:stretch/>
        </p:blipFill>
        <p:spPr>
          <a:xfrm>
            <a:off x="4905821" y="1619956"/>
            <a:ext cx="2380358" cy="438001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a:t>Limited-Slip Differentials</a:t>
            </a:r>
          </a:p>
        </p:txBody>
      </p:sp>
      <p:sp>
        <p:nvSpPr>
          <p:cNvPr id="50179" name="Content Placeholder 2"/>
          <p:cNvSpPr>
            <a:spLocks noGrp="1"/>
          </p:cNvSpPr>
          <p:nvPr>
            <p:ph type="body" idx="1"/>
          </p:nvPr>
        </p:nvSpPr>
        <p:spPr>
          <a:xfrm>
            <a:off x="476845" y="1563626"/>
            <a:ext cx="6049215" cy="4037073"/>
          </a:xfrm>
        </p:spPr>
        <p:txBody>
          <a:bodyPr/>
          <a:lstStyle/>
          <a:p>
            <a:r>
              <a:rPr lang="en-US" dirty="0"/>
              <a:t>In a standard differential, if one wheel loses traction, torque is lost to the other wheel.</a:t>
            </a:r>
          </a:p>
          <a:p>
            <a:r>
              <a:rPr lang="en-US" dirty="0"/>
              <a:t>The limited-slip differential (LSD) are used to reduce traction loss by applying torque to the wheel that is not slipping.</a:t>
            </a:r>
          </a:p>
        </p:txBody>
      </p:sp>
      <p:pic>
        <p:nvPicPr>
          <p:cNvPr id="7" name="Picture Placeholder 6" descr="An action of the clutches in a limited-slip differential with the following parts labeled: Outer side gear face, Differential case inner wall, Clutch pack engaged, Differential case, Driven wheel locked to case, Clutch pack engaged to axle shaft, Differential, Inner wall, Outer side gear face, and Spinning wheel locked to the case. The caption below reads, Energized clutches cause locked differential.">
            <a:extLst>
              <a:ext uri="{FF2B5EF4-FFF2-40B4-BE49-F238E27FC236}">
                <a16:creationId xmlns:a16="http://schemas.microsoft.com/office/drawing/2014/main" id="{B00FDDDC-68E6-1E75-66D0-136DCAB3A7F3}"/>
              </a:ext>
            </a:extLst>
          </p:cNvPr>
          <p:cNvPicPr>
            <a:picLocks noGrp="1" noChangeAspect="1"/>
          </p:cNvPicPr>
          <p:nvPr>
            <p:ph type="pic" sz="quarter" idx="12"/>
          </p:nvPr>
        </p:nvPicPr>
        <p:blipFill rotWithShape="1">
          <a:blip r:embed="rId3"/>
          <a:srcRect b="10647"/>
          <a:stretch/>
        </p:blipFill>
        <p:spPr>
          <a:xfrm>
            <a:off x="6594109" y="1747592"/>
            <a:ext cx="5338827" cy="391966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Torque Vectoring LSD</a:t>
            </a:r>
          </a:p>
        </p:txBody>
      </p:sp>
      <p:pic>
        <p:nvPicPr>
          <p:cNvPr id="9" name="Picture Placeholder 8" descr="The Ford focus torque-vectoring differential with the parts numbered from 1 through 4.">
            <a:extLst>
              <a:ext uri="{FF2B5EF4-FFF2-40B4-BE49-F238E27FC236}">
                <a16:creationId xmlns:a16="http://schemas.microsoft.com/office/drawing/2014/main" id="{593369CB-53F1-214C-7706-B048B271A1F9}"/>
              </a:ext>
            </a:extLst>
          </p:cNvPr>
          <p:cNvPicPr>
            <a:picLocks noGrp="1" noChangeAspect="1"/>
          </p:cNvPicPr>
          <p:nvPr>
            <p:ph type="pic" sz="quarter" idx="12"/>
          </p:nvPr>
        </p:nvPicPr>
        <p:blipFill rotWithShape="1">
          <a:blip r:embed="rId2"/>
          <a:srcRect b="8331"/>
          <a:stretch/>
        </p:blipFill>
        <p:spPr>
          <a:xfrm>
            <a:off x="3045193" y="1682691"/>
            <a:ext cx="6101615" cy="412973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(3 of 4)</a:t>
            </a:r>
          </a:p>
        </p:txBody>
      </p:sp>
      <p:sp>
        <p:nvSpPr>
          <p:cNvPr id="3" name="Content Placeholder 2"/>
          <p:cNvSpPr>
            <a:spLocks noGrp="1"/>
          </p:cNvSpPr>
          <p:nvPr>
            <p:ph type="body" idx="1"/>
          </p:nvPr>
        </p:nvSpPr>
        <p:spPr/>
        <p:txBody>
          <a:bodyPr/>
          <a:lstStyle/>
          <a:p>
            <a:r>
              <a:rPr lang="en-US" dirty="0">
                <a:solidFill>
                  <a:schemeClr val="tx1"/>
                </a:solidFill>
              </a:rPr>
              <a:t>Which type of rear axle gearsets do not need to be indexed?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(3 of 4)</a:t>
            </a:r>
          </a:p>
        </p:txBody>
      </p:sp>
      <p:sp>
        <p:nvSpPr>
          <p:cNvPr id="3" name="Content Placeholder 2"/>
          <p:cNvSpPr>
            <a:spLocks noGrp="1"/>
          </p:cNvSpPr>
          <p:nvPr>
            <p:ph type="body" idx="1"/>
          </p:nvPr>
        </p:nvSpPr>
        <p:spPr/>
        <p:txBody>
          <a:bodyPr/>
          <a:lstStyle/>
          <a:p>
            <a:pPr>
              <a:spcAft>
                <a:spcPts val="2400"/>
              </a:spcAft>
            </a:pPr>
            <a:r>
              <a:rPr lang="en-US" dirty="0">
                <a:solidFill>
                  <a:schemeClr val="tx1"/>
                </a:solidFill>
              </a:rPr>
              <a:t>Which type of rear axle gearsets do not need to be indexed?</a:t>
            </a:r>
          </a:p>
          <a:p>
            <a:pPr marL="723900" indent="0">
              <a:buNone/>
            </a:pPr>
            <a:r>
              <a:rPr lang="en-US" b="1" dirty="0">
                <a:solidFill>
                  <a:schemeClr val="tx1"/>
                </a:solidFill>
              </a:rPr>
              <a:t>Answer: </a:t>
            </a:r>
            <a:r>
              <a:rPr lang="en-US" dirty="0">
                <a:solidFill>
                  <a:schemeClr val="tx1"/>
                </a:solidFill>
              </a:rPr>
              <a:t>Hunting gearsets</a:t>
            </a:r>
          </a:p>
        </p:txBody>
      </p:sp>
    </p:spTree>
    <p:extLst>
      <p:ext uri="{BB962C8B-B14F-4D97-AF65-F5344CB8AC3E}">
        <p14:creationId xmlns:p14="http://schemas.microsoft.com/office/powerpoint/2010/main" val="2553395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dirty="0"/>
              <a:t>Axle Shafts</a:t>
            </a:r>
          </a:p>
        </p:txBody>
      </p:sp>
      <p:sp>
        <p:nvSpPr>
          <p:cNvPr id="53251" name="Content Placeholder 2"/>
          <p:cNvSpPr>
            <a:spLocks noGrp="1"/>
          </p:cNvSpPr>
          <p:nvPr>
            <p:ph type="body" idx="1"/>
          </p:nvPr>
        </p:nvSpPr>
        <p:spPr/>
        <p:txBody>
          <a:bodyPr>
            <a:normAutofit/>
          </a:bodyPr>
          <a:lstStyle/>
          <a:p>
            <a:pPr marL="0" indent="0">
              <a:buNone/>
            </a:pPr>
            <a:r>
              <a:rPr lang="en-US" sz="2800" b="1" dirty="0">
                <a:solidFill>
                  <a:schemeClr val="tx1"/>
                </a:solidFill>
                <a:latin typeface="Work Sans" pitchFamily="2" charset="0"/>
              </a:rPr>
              <a:t>40.08 Explain the function and operation of a differential and drive axles</a:t>
            </a:r>
            <a:r>
              <a:rPr lang="en-US" dirty="0">
                <a:solidFill>
                  <a:schemeClr val="tx1"/>
                </a:solidFill>
                <a:latin typeface="Work Sans" pitchFamily="2" charset="0"/>
              </a:rPr>
              <a:t>.</a:t>
            </a:r>
            <a:endParaRPr lang="en-US" dirty="0">
              <a:solidFill>
                <a:schemeClr val="tx1"/>
              </a:solidFill>
            </a:endParaRPr>
          </a:p>
          <a:p>
            <a:r>
              <a:rPr lang="en-US" dirty="0">
                <a:solidFill>
                  <a:schemeClr val="tx1"/>
                </a:solidFill>
              </a:rPr>
              <a:t>Transfers torque from the differential assembly to the driving wheels</a:t>
            </a:r>
          </a:p>
          <a:p>
            <a:r>
              <a:rPr lang="en-US" dirty="0">
                <a:solidFill>
                  <a:schemeClr val="tx1"/>
                </a:solidFill>
              </a:rPr>
              <a:t>Dead axles do not drive wheels.</a:t>
            </a:r>
          </a:p>
          <a:p>
            <a:r>
              <a:rPr lang="en-US" dirty="0">
                <a:solidFill>
                  <a:schemeClr val="tx1"/>
                </a:solidFill>
              </a:rPr>
              <a:t>Live axles drive the wheels.</a:t>
            </a:r>
          </a:p>
          <a:p>
            <a:r>
              <a:rPr lang="en-US" dirty="0">
                <a:solidFill>
                  <a:schemeClr val="tx1"/>
                </a:solidFill>
              </a:rPr>
              <a:t>Two types of driving axles are commonly used</a:t>
            </a:r>
          </a:p>
          <a:p>
            <a:pPr lvl="1"/>
            <a:r>
              <a:rPr lang="en-US" dirty="0">
                <a:solidFill>
                  <a:schemeClr val="tx1"/>
                </a:solidFill>
              </a:rPr>
              <a:t>Semifloating, full-floating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dirty="0"/>
              <a:t>Axle Shaft Designs</a:t>
            </a:r>
          </a:p>
        </p:txBody>
      </p:sp>
      <p:sp>
        <p:nvSpPr>
          <p:cNvPr id="3" name="Text Placeholder 2">
            <a:extLst>
              <a:ext uri="{FF2B5EF4-FFF2-40B4-BE49-F238E27FC236}">
                <a16:creationId xmlns:a16="http://schemas.microsoft.com/office/drawing/2014/main" id="{10E0AEC7-B897-0B3D-14A5-B0CBCDEE2706}"/>
              </a:ext>
            </a:extLst>
          </p:cNvPr>
          <p:cNvSpPr>
            <a:spLocks noGrp="1"/>
          </p:cNvSpPr>
          <p:nvPr>
            <p:ph type="body" idx="1"/>
          </p:nvPr>
        </p:nvSpPr>
        <p:spPr>
          <a:xfrm>
            <a:off x="476844" y="1563627"/>
            <a:ext cx="11241915" cy="665223"/>
          </a:xfrm>
        </p:spPr>
        <p:txBody>
          <a:bodyPr/>
          <a:lstStyle/>
          <a:p>
            <a:pPr marL="0" indent="0">
              <a:buNone/>
            </a:pPr>
            <a:r>
              <a:rPr lang="en-US" b="1" dirty="0">
                <a:solidFill>
                  <a:schemeClr val="tx1"/>
                </a:solidFill>
                <a:latin typeface="Work Sans" pitchFamily="2" charset="0"/>
              </a:rPr>
              <a:t>40.10 Describe the two common types of driving axles.</a:t>
            </a:r>
            <a:endParaRPr lang="en-US" b="1" dirty="0">
              <a:solidFill>
                <a:schemeClr val="tx1"/>
              </a:solidFill>
            </a:endParaRPr>
          </a:p>
        </p:txBody>
      </p:sp>
      <p:pic>
        <p:nvPicPr>
          <p:cNvPr id="10" name="Picture Placeholder 9" descr="A full-floating rear axle with the following parts labeled: Double bearing, and Axle shaft.">
            <a:extLst>
              <a:ext uri="{FF2B5EF4-FFF2-40B4-BE49-F238E27FC236}">
                <a16:creationId xmlns:a16="http://schemas.microsoft.com/office/drawing/2014/main" id="{AC788CF1-42FC-0089-4517-48B835BCF912}"/>
              </a:ext>
            </a:extLst>
          </p:cNvPr>
          <p:cNvPicPr>
            <a:picLocks noGrp="1" noChangeAspect="1"/>
          </p:cNvPicPr>
          <p:nvPr>
            <p:ph type="pic" sz="quarter" idx="11"/>
          </p:nvPr>
        </p:nvPicPr>
        <p:blipFill rotWithShape="1">
          <a:blip r:embed="rId3"/>
          <a:srcRect b="8927"/>
          <a:stretch/>
        </p:blipFill>
        <p:spPr>
          <a:xfrm>
            <a:off x="1135507" y="2218755"/>
            <a:ext cx="4785318" cy="3450170"/>
          </a:xfrm>
          <a:prstGeom prst="rect">
            <a:avLst/>
          </a:prstGeom>
        </p:spPr>
      </p:pic>
      <p:pic>
        <p:nvPicPr>
          <p:cNvPr id="11" name="Picture Placeholder 10" descr="A semi-floating rear axle with the following parts labeled: Axle shaft, Axle housing, Seal, and Bearing.">
            <a:extLst>
              <a:ext uri="{FF2B5EF4-FFF2-40B4-BE49-F238E27FC236}">
                <a16:creationId xmlns:a16="http://schemas.microsoft.com/office/drawing/2014/main" id="{7EB19712-27C4-ACF8-5954-E8C01139989D}"/>
              </a:ext>
            </a:extLst>
          </p:cNvPr>
          <p:cNvPicPr>
            <a:picLocks noGrp="1" noChangeAspect="1"/>
          </p:cNvPicPr>
          <p:nvPr>
            <p:ph type="pic" sz="quarter" idx="12"/>
          </p:nvPr>
        </p:nvPicPr>
        <p:blipFill rotWithShape="1">
          <a:blip r:embed="rId4"/>
          <a:srcRect l="27600" b="9286"/>
          <a:stretch/>
        </p:blipFill>
        <p:spPr>
          <a:xfrm>
            <a:off x="7089732" y="2261827"/>
            <a:ext cx="2326978" cy="345017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dirty="0"/>
              <a:t>Axle Shaft Bearings</a:t>
            </a:r>
          </a:p>
        </p:txBody>
      </p:sp>
      <p:sp>
        <p:nvSpPr>
          <p:cNvPr id="57347" name="Content Placeholder 2"/>
          <p:cNvSpPr>
            <a:spLocks noGrp="1"/>
          </p:cNvSpPr>
          <p:nvPr>
            <p:ph type="body" idx="1"/>
          </p:nvPr>
        </p:nvSpPr>
        <p:spPr/>
        <p:txBody>
          <a:bodyPr/>
          <a:lstStyle/>
          <a:p>
            <a:pPr marL="0" indent="0">
              <a:buNone/>
            </a:pPr>
            <a:r>
              <a:rPr lang="en-US" b="1" dirty="0">
                <a:solidFill>
                  <a:schemeClr val="tx1"/>
                </a:solidFill>
                <a:latin typeface="Work Sans" pitchFamily="2" charset="0"/>
              </a:rPr>
              <a:t>40.12 Describe the different types of axle shafts and axle shaft bearings.</a:t>
            </a:r>
            <a:endParaRPr lang="en-US" dirty="0">
              <a:solidFill>
                <a:schemeClr val="tx1"/>
              </a:solidFill>
            </a:endParaRPr>
          </a:p>
          <a:p>
            <a:r>
              <a:rPr lang="en-US" dirty="0">
                <a:solidFill>
                  <a:schemeClr val="tx1"/>
                </a:solidFill>
              </a:rPr>
              <a:t>Support vehicle weight and reduce rotational friction.</a:t>
            </a:r>
          </a:p>
          <a:p>
            <a:r>
              <a:rPr lang="en-US" dirty="0">
                <a:solidFill>
                  <a:schemeClr val="tx1"/>
                </a:solidFill>
              </a:rPr>
              <a:t>Radial loads are always present.</a:t>
            </a:r>
          </a:p>
          <a:p>
            <a:r>
              <a:rPr lang="en-US" dirty="0">
                <a:solidFill>
                  <a:schemeClr val="tx1"/>
                </a:solidFill>
              </a:rPr>
              <a:t>Thrust loads are present when driving.</a:t>
            </a:r>
          </a:p>
          <a:p>
            <a:r>
              <a:rPr lang="en-US" dirty="0">
                <a:solidFill>
                  <a:schemeClr val="tx1"/>
                </a:solidFill>
              </a:rPr>
              <a:t>Three types of bearings are used.</a:t>
            </a:r>
          </a:p>
          <a:p>
            <a:pPr lvl="1"/>
            <a:r>
              <a:rPr lang="en-US" dirty="0">
                <a:solidFill>
                  <a:schemeClr val="tx1"/>
                </a:solidFill>
              </a:rPr>
              <a:t>Ball bearings, straight roller bearings, and tapered roller bearings.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dirty="0"/>
              <a:t>Diagnosis</a:t>
            </a:r>
          </a:p>
        </p:txBody>
      </p:sp>
      <p:sp>
        <p:nvSpPr>
          <p:cNvPr id="60419" name="Content Placeholder 2"/>
          <p:cNvSpPr>
            <a:spLocks noGrp="1"/>
          </p:cNvSpPr>
          <p:nvPr>
            <p:ph type="body" idx="1"/>
          </p:nvPr>
        </p:nvSpPr>
        <p:spPr/>
        <p:txBody>
          <a:bodyPr/>
          <a:lstStyle/>
          <a:p>
            <a:r>
              <a:rPr lang="en-US" dirty="0">
                <a:solidFill>
                  <a:schemeClr val="tx1"/>
                </a:solidFill>
              </a:rPr>
              <a:t>To diagnose drive axle or differential concerns, operate the vehicle in these four modes.</a:t>
            </a:r>
          </a:p>
          <a:p>
            <a:pPr lvl="1"/>
            <a:r>
              <a:rPr lang="en-US" dirty="0">
                <a:solidFill>
                  <a:schemeClr val="tx1"/>
                </a:solidFill>
              </a:rPr>
              <a:t>Drive mode accelerates to apply torque.</a:t>
            </a:r>
          </a:p>
          <a:p>
            <a:pPr lvl="1"/>
            <a:r>
              <a:rPr lang="en-US" dirty="0">
                <a:solidFill>
                  <a:schemeClr val="tx1"/>
                </a:solidFill>
              </a:rPr>
              <a:t>Cruise mode holds speed constant.</a:t>
            </a:r>
          </a:p>
          <a:p>
            <a:pPr lvl="1"/>
            <a:r>
              <a:rPr lang="en-US" dirty="0">
                <a:solidFill>
                  <a:schemeClr val="tx1"/>
                </a:solidFill>
              </a:rPr>
              <a:t>Coast mode decelerates with closed throttle.</a:t>
            </a:r>
          </a:p>
          <a:p>
            <a:pPr lvl="1"/>
            <a:r>
              <a:rPr lang="en-US" dirty="0">
                <a:solidFill>
                  <a:schemeClr val="tx1"/>
                </a:solidFill>
              </a:rPr>
              <a:t>Float mode controlled deceleration.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Diagnosis Tips</a:t>
            </a:r>
          </a:p>
        </p:txBody>
      </p:sp>
      <p:sp>
        <p:nvSpPr>
          <p:cNvPr id="62467" name="Rectangle 3"/>
          <p:cNvSpPr>
            <a:spLocks noGrp="1" noChangeArrowheads="1"/>
          </p:cNvSpPr>
          <p:nvPr>
            <p:ph type="body" idx="1"/>
          </p:nvPr>
        </p:nvSpPr>
        <p:spPr/>
        <p:txBody>
          <a:bodyPr/>
          <a:lstStyle/>
          <a:p>
            <a:r>
              <a:rPr lang="en-US" dirty="0">
                <a:solidFill>
                  <a:schemeClr val="tx1"/>
                </a:solidFill>
              </a:rPr>
              <a:t>If noises change with road surfaces, they are not caused by the final drive unit.</a:t>
            </a:r>
          </a:p>
          <a:p>
            <a:r>
              <a:rPr lang="en-US" dirty="0">
                <a:solidFill>
                  <a:schemeClr val="tx1"/>
                </a:solidFill>
              </a:rPr>
              <a:t>Drive axle and differential noises usually change when accelerating and coasting.</a:t>
            </a:r>
          </a:p>
          <a:p>
            <a:r>
              <a:rPr lang="en-US" dirty="0">
                <a:solidFill>
                  <a:schemeClr val="tx1"/>
                </a:solidFill>
              </a:rPr>
              <a:t>Bearing noises usually don’t change with driving mode.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Servicing the Final Drive Assembly</a:t>
            </a:r>
          </a:p>
        </p:txBody>
      </p:sp>
      <p:sp>
        <p:nvSpPr>
          <p:cNvPr id="63491" name="Content Placeholder 2"/>
          <p:cNvSpPr>
            <a:spLocks noGrp="1"/>
          </p:cNvSpPr>
          <p:nvPr>
            <p:ph type="body" idx="1"/>
          </p:nvPr>
        </p:nvSpPr>
        <p:spPr/>
        <p:txBody>
          <a:bodyPr/>
          <a:lstStyle/>
          <a:p>
            <a:r>
              <a:rPr lang="en-US" sz="2600" dirty="0">
                <a:solidFill>
                  <a:schemeClr val="tx1"/>
                </a:solidFill>
              </a:rPr>
              <a:t>Basic diagnosis</a:t>
            </a:r>
          </a:p>
          <a:p>
            <a:pPr lvl="1"/>
            <a:r>
              <a:rPr lang="en-US" dirty="0">
                <a:solidFill>
                  <a:schemeClr val="tx1"/>
                </a:solidFill>
              </a:rPr>
              <a:t>Tires are a common noise source.</a:t>
            </a:r>
          </a:p>
          <a:p>
            <a:pPr lvl="1"/>
            <a:r>
              <a:rPr lang="en-US" dirty="0">
                <a:solidFill>
                  <a:schemeClr val="tx1"/>
                </a:solidFill>
              </a:rPr>
              <a:t>Differential noises change with drive modes, axle bearing noises do not.</a:t>
            </a:r>
          </a:p>
          <a:p>
            <a:pPr lvl="1"/>
            <a:r>
              <a:rPr lang="en-US" dirty="0">
                <a:solidFill>
                  <a:schemeClr val="tx1"/>
                </a:solidFill>
              </a:rPr>
              <a:t>Gear howling is often caused by low lubricant.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dirty="0"/>
              <a:t>Disassembly</a:t>
            </a:r>
          </a:p>
        </p:txBody>
      </p:sp>
      <p:sp>
        <p:nvSpPr>
          <p:cNvPr id="64515" name="Content Placeholder 2"/>
          <p:cNvSpPr>
            <a:spLocks noGrp="1"/>
          </p:cNvSpPr>
          <p:nvPr>
            <p:ph type="body" idx="1"/>
          </p:nvPr>
        </p:nvSpPr>
        <p:spPr/>
        <p:txBody>
          <a:bodyPr/>
          <a:lstStyle/>
          <a:p>
            <a:r>
              <a:rPr lang="en-US" sz="2600" dirty="0">
                <a:solidFill>
                  <a:schemeClr val="tx1"/>
                </a:solidFill>
              </a:rPr>
              <a:t>Carefully inspect each component during disassembly.</a:t>
            </a:r>
          </a:p>
          <a:p>
            <a:r>
              <a:rPr lang="en-US" sz="2600" dirty="0">
                <a:solidFill>
                  <a:schemeClr val="tx1"/>
                </a:solidFill>
              </a:rPr>
              <a:t>Check ring and pinion gear side play.</a:t>
            </a:r>
          </a:p>
          <a:p>
            <a:r>
              <a:rPr lang="en-US" sz="2600" dirty="0">
                <a:solidFill>
                  <a:schemeClr val="tx1"/>
                </a:solidFill>
              </a:rPr>
              <a:t>Measure ring gear runout.</a:t>
            </a:r>
          </a:p>
          <a:p>
            <a:r>
              <a:rPr lang="en-US" sz="2600" dirty="0">
                <a:solidFill>
                  <a:schemeClr val="tx1"/>
                </a:solidFill>
              </a:rPr>
              <a:t>Locate or mark new drive shaft-to-pinion alignment marks.</a:t>
            </a:r>
          </a:p>
          <a:p>
            <a:r>
              <a:rPr lang="en-US" sz="2600" dirty="0">
                <a:solidFill>
                  <a:schemeClr val="tx1"/>
                </a:solidFill>
              </a:rPr>
              <a:t>Keep left and right shims, cups, and caps separate.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3"/>
          <p:cNvSpPr>
            <a:spLocks noGrp="1"/>
          </p:cNvSpPr>
          <p:nvPr>
            <p:ph type="title"/>
          </p:nvPr>
        </p:nvSpPr>
        <p:spPr/>
        <p:txBody>
          <a:bodyPr/>
          <a:lstStyle/>
          <a:p>
            <a:r>
              <a:rPr lang="en-US" dirty="0"/>
              <a:t>Assembly</a:t>
            </a:r>
          </a:p>
        </p:txBody>
      </p:sp>
      <p:sp>
        <p:nvSpPr>
          <p:cNvPr id="65539" name="Content Placeholder 4"/>
          <p:cNvSpPr>
            <a:spLocks noGrp="1"/>
          </p:cNvSpPr>
          <p:nvPr>
            <p:ph type="body" idx="1"/>
          </p:nvPr>
        </p:nvSpPr>
        <p:spPr/>
        <p:txBody>
          <a:bodyPr/>
          <a:lstStyle/>
          <a:p>
            <a:r>
              <a:rPr lang="en-US" sz="2600" dirty="0">
                <a:solidFill>
                  <a:schemeClr val="tx1"/>
                </a:solidFill>
              </a:rPr>
              <a:t>Align ring gear bolt holes to case before pressing the gear on.</a:t>
            </a:r>
          </a:p>
          <a:p>
            <a:r>
              <a:rPr lang="en-US" sz="2600" dirty="0">
                <a:solidFill>
                  <a:schemeClr val="tx1"/>
                </a:solidFill>
              </a:rPr>
              <a:t>Tighten ring gear bolts in steps.</a:t>
            </a:r>
          </a:p>
          <a:p>
            <a:r>
              <a:rPr lang="en-US" sz="2600" dirty="0">
                <a:solidFill>
                  <a:schemeClr val="tx1"/>
                </a:solidFill>
              </a:rPr>
              <a:t>Locate gear teeth alignment marks.</a:t>
            </a:r>
          </a:p>
          <a:p>
            <a:r>
              <a:rPr lang="en-US" sz="2600" dirty="0">
                <a:solidFill>
                  <a:schemeClr val="tx1"/>
                </a:solidFill>
              </a:rPr>
              <a:t>Check and set pinion gear depth.</a:t>
            </a:r>
          </a:p>
          <a:p>
            <a:r>
              <a:rPr lang="en-US" sz="2600" dirty="0">
                <a:solidFill>
                  <a:schemeClr val="tx1"/>
                </a:solidFill>
              </a:rPr>
              <a:t>Set pinion bearing preload.</a:t>
            </a:r>
          </a:p>
          <a:p>
            <a:r>
              <a:rPr lang="en-US" sz="2600" dirty="0">
                <a:solidFill>
                  <a:schemeClr val="tx1"/>
                </a:solidFill>
              </a:rPr>
              <a:t>Check and adjust gear backlash.</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3"/>
          <p:cNvSpPr>
            <a:spLocks noGrp="1"/>
          </p:cNvSpPr>
          <p:nvPr>
            <p:ph type="title"/>
          </p:nvPr>
        </p:nvSpPr>
        <p:spPr/>
        <p:txBody>
          <a:bodyPr/>
          <a:lstStyle/>
          <a:p>
            <a:r>
              <a:rPr lang="en-US" dirty="0"/>
              <a:t>Common Contact Patterns</a:t>
            </a:r>
          </a:p>
        </p:txBody>
      </p:sp>
      <p:pic>
        <p:nvPicPr>
          <p:cNvPr id="8" name="Picture Placeholder 7" descr="The possible patterns on a ring gear with the recommended corrections. The ring gear is placed at the center. The four contacts of ring gear are as follows: low flank contact on the top, high flank contact on the bottom, toe contact on the left, and heel contact on the right. The low flank contact represents the Shift drive pinion away from the ring gear. The toe contact represents the Shift drive pinion away from the ring gear. The heel contact represents Bringing the drive pinion closer to the ring gear. The high flank contact represents Bringing the drive pinion closer to the ring gear.">
            <a:extLst>
              <a:ext uri="{FF2B5EF4-FFF2-40B4-BE49-F238E27FC236}">
                <a16:creationId xmlns:a16="http://schemas.microsoft.com/office/drawing/2014/main" id="{11F0F72E-8D28-BFFE-0C70-3DE7980164B6}"/>
              </a:ext>
            </a:extLst>
          </p:cNvPr>
          <p:cNvPicPr>
            <a:picLocks noGrp="1" noChangeAspect="1"/>
          </p:cNvPicPr>
          <p:nvPr>
            <p:ph type="pic" sz="quarter" idx="12"/>
          </p:nvPr>
        </p:nvPicPr>
        <p:blipFill rotWithShape="1">
          <a:blip r:embed="rId3"/>
          <a:srcRect b="6292"/>
          <a:stretch/>
        </p:blipFill>
        <p:spPr>
          <a:xfrm>
            <a:off x="3334144" y="1552438"/>
            <a:ext cx="5523712" cy="425306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3"/>
          <p:cNvSpPr>
            <a:spLocks noGrp="1"/>
          </p:cNvSpPr>
          <p:nvPr>
            <p:ph type="title"/>
          </p:nvPr>
        </p:nvSpPr>
        <p:spPr/>
        <p:txBody>
          <a:bodyPr/>
          <a:lstStyle/>
          <a:p>
            <a:r>
              <a:rPr lang="en-US" dirty="0"/>
              <a:t>Maintenance</a:t>
            </a:r>
          </a:p>
        </p:txBody>
      </p:sp>
      <p:sp>
        <p:nvSpPr>
          <p:cNvPr id="70659" name="Content Placeholder 4"/>
          <p:cNvSpPr>
            <a:spLocks noGrp="1"/>
          </p:cNvSpPr>
          <p:nvPr>
            <p:ph type="body" idx="1"/>
          </p:nvPr>
        </p:nvSpPr>
        <p:spPr/>
        <p:txBody>
          <a:bodyPr>
            <a:normAutofit/>
          </a:bodyPr>
          <a:lstStyle/>
          <a:p>
            <a:r>
              <a:rPr lang="en-US" sz="2600" dirty="0">
                <a:solidFill>
                  <a:schemeClr val="tx1"/>
                </a:solidFill>
              </a:rPr>
              <a:t>Lubricating U-joints.</a:t>
            </a:r>
          </a:p>
          <a:p>
            <a:r>
              <a:rPr lang="en-US" sz="2600" dirty="0">
                <a:solidFill>
                  <a:schemeClr val="tx1"/>
                </a:solidFill>
              </a:rPr>
              <a:t>Inspecting and changing lubricant.</a:t>
            </a:r>
          </a:p>
          <a:p>
            <a:pPr lvl="1"/>
            <a:r>
              <a:rPr lang="en-US" dirty="0">
                <a:solidFill>
                  <a:schemeClr val="tx1"/>
                </a:solidFill>
              </a:rPr>
              <a:t>Many rear axles use SAE 80 or 90 weight meeting API GL-4 or GL-5 specifications.</a:t>
            </a:r>
          </a:p>
          <a:p>
            <a:r>
              <a:rPr lang="en-US" sz="2600" dirty="0">
                <a:solidFill>
                  <a:schemeClr val="tx1"/>
                </a:solidFill>
              </a:rPr>
              <a:t>Proper lubricant on limited-slip differentials is very important to prevent damage to clutches.</a:t>
            </a:r>
          </a:p>
          <a:p>
            <a:r>
              <a:rPr lang="en-US" sz="2600" dirty="0">
                <a:solidFill>
                  <a:schemeClr val="tx1"/>
                </a:solidFill>
              </a:rPr>
              <a:t>Some vehicles require special rear differential lubricants.</a:t>
            </a:r>
          </a:p>
          <a:p>
            <a:pPr lvl="1"/>
            <a:r>
              <a:rPr lang="en-US" dirty="0">
                <a:solidFill>
                  <a:schemeClr val="tx1"/>
                </a:solidFill>
              </a:rPr>
              <a:t>Necessary for internal viscous clutches.</a:t>
            </a:r>
          </a:p>
          <a:p>
            <a:pPr lvl="1"/>
            <a:r>
              <a:rPr lang="en-US" dirty="0">
                <a:solidFill>
                  <a:schemeClr val="tx1"/>
                </a:solidFill>
              </a:rPr>
              <a:t>Incorrect fluid use can damage viscous clutch.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(4 of 4)</a:t>
            </a:r>
          </a:p>
        </p:txBody>
      </p:sp>
      <p:sp>
        <p:nvSpPr>
          <p:cNvPr id="3" name="Content Placeholder 2"/>
          <p:cNvSpPr>
            <a:spLocks noGrp="1"/>
          </p:cNvSpPr>
          <p:nvPr>
            <p:ph type="body" idx="1"/>
          </p:nvPr>
        </p:nvSpPr>
        <p:spPr/>
        <p:txBody>
          <a:bodyPr/>
          <a:lstStyle/>
          <a:p>
            <a:r>
              <a:rPr lang="en-US" dirty="0">
                <a:solidFill>
                  <a:schemeClr val="tx1"/>
                </a:solidFill>
              </a:rPr>
              <a:t>Technician A says most rear differentials can use 80 or 90 weight gear lubricant. Technician B says limited-slip differentials require special lubricants. Who is correct?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(4 of 4)</a:t>
            </a:r>
          </a:p>
        </p:txBody>
      </p:sp>
      <p:sp>
        <p:nvSpPr>
          <p:cNvPr id="3" name="Content Placeholder 2"/>
          <p:cNvSpPr>
            <a:spLocks noGrp="1"/>
          </p:cNvSpPr>
          <p:nvPr>
            <p:ph type="body" idx="1"/>
          </p:nvPr>
        </p:nvSpPr>
        <p:spPr/>
        <p:txBody>
          <a:bodyPr/>
          <a:lstStyle/>
          <a:p>
            <a:pPr>
              <a:spcAft>
                <a:spcPts val="1800"/>
              </a:spcAft>
            </a:pPr>
            <a:r>
              <a:rPr lang="en-US" dirty="0">
                <a:solidFill>
                  <a:schemeClr val="tx1"/>
                </a:solidFill>
              </a:rPr>
              <a:t>Technician A says most rear differentials can use 80 or 90 weight gear lubricant. Technician B says limited-slip differentials require special lubricants. Who is correct?</a:t>
            </a:r>
          </a:p>
          <a:p>
            <a:pPr marL="428625" lvl="1" indent="0">
              <a:buNone/>
            </a:pPr>
            <a:r>
              <a:rPr lang="en-US" b="1" dirty="0">
                <a:solidFill>
                  <a:schemeClr val="tx1"/>
                </a:solidFill>
              </a:rPr>
              <a:t>Answer: </a:t>
            </a:r>
            <a:r>
              <a:rPr lang="en-US" dirty="0">
                <a:solidFill>
                  <a:schemeClr val="tx1"/>
                </a:solidFill>
              </a:rPr>
              <a:t>Both technicians A and B</a:t>
            </a:r>
          </a:p>
        </p:txBody>
      </p:sp>
    </p:spTree>
    <p:extLst>
      <p:ext uri="{BB962C8B-B14F-4D97-AF65-F5344CB8AC3E}">
        <p14:creationId xmlns:p14="http://schemas.microsoft.com/office/powerpoint/2010/main" val="15137012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457200">
              <a:spcBef>
                <a:spcPts val="0"/>
              </a:spcBef>
            </a:pPr>
            <a:r>
              <a:rPr lang="en-US" sz="2600" dirty="0">
                <a:solidFill>
                  <a:schemeClr val="tx1"/>
                </a:solidFill>
                <a:latin typeface="Work Sans" pitchFamily="2" charset="0"/>
              </a:rPr>
              <a:t>Describe the concept from this chapter that challenged you the most. Describe what made the concept difficult for you and the steps you took to improve your understanding</a:t>
            </a:r>
            <a:r>
              <a:rPr lang="en-US" dirty="0">
                <a:solidFill>
                  <a:schemeClr val="tx1"/>
                </a:solidFill>
                <a:latin typeface="Work Sans" pitchFamily="2" charset="0"/>
              </a:rPr>
              <a:t>.</a:t>
            </a:r>
            <a:endParaRPr lang="en-US" sz="2600" dirty="0">
              <a:solidFill>
                <a:schemeClr val="tx1"/>
              </a:solidFill>
              <a:latin typeface="Work Sans" pitchFamily="2" charset="0"/>
            </a:endParaRPr>
          </a:p>
          <a:p>
            <a:pPr marL="457200">
              <a:spcAft>
                <a:spcPts val="24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3D131005-E0D0-4CE1-A589-094C50A290C7}" vid="{F2384AB8-E206-4835-9F32-18C2B45E4BC4}"/>
    </a:ext>
  </a:extLst>
</a:theme>
</file>

<file path=ppt/theme/theme3.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4.xml><?xml version="1.0" encoding="utf-8"?>
<a:theme xmlns:a="http://schemas.openxmlformats.org/drawingml/2006/main" name="1_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2446</TotalTime>
  <Words>2375</Words>
  <Application>Microsoft Office PowerPoint</Application>
  <PresentationFormat>Widescreen</PresentationFormat>
  <Paragraphs>263</Paragraphs>
  <Slides>58</Slides>
  <Notes>49</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58</vt:i4>
      </vt:variant>
    </vt:vector>
  </HeadingPairs>
  <TitlesOfParts>
    <vt:vector size="65" baseType="lpstr">
      <vt:lpstr>Arial</vt:lpstr>
      <vt:lpstr>Calibri</vt:lpstr>
      <vt:lpstr>Work Sans</vt:lpstr>
      <vt:lpstr>Custom Design</vt:lpstr>
      <vt:lpstr>Theme2</vt:lpstr>
      <vt:lpstr>Theme3</vt:lpstr>
      <vt:lpstr>1_Theme3</vt:lpstr>
      <vt:lpstr>Automotive Technology: A Systems Approach, 8e</vt:lpstr>
      <vt:lpstr>Chapter Objectives (1 of 3)</vt:lpstr>
      <vt:lpstr>Chapter Objectives (2 of 3)</vt:lpstr>
      <vt:lpstr>Chapter Objectives (3 of 3)</vt:lpstr>
      <vt:lpstr>Vibration and Noise Concerns</vt:lpstr>
      <vt:lpstr>Front-Wheel Drive Axles</vt:lpstr>
      <vt:lpstr>CV Joint Types</vt:lpstr>
      <vt:lpstr>CV Joint Functions</vt:lpstr>
      <vt:lpstr>Joint Types</vt:lpstr>
      <vt:lpstr>FWD Applications (1 of 2)</vt:lpstr>
      <vt:lpstr>FWD Applications (2 of 2) </vt:lpstr>
      <vt:lpstr>Other Applications</vt:lpstr>
      <vt:lpstr>CV Joint Service</vt:lpstr>
      <vt:lpstr>Diagnosis and Inspection (1 of 2)</vt:lpstr>
      <vt:lpstr>Diagnosis and Inspection (2 of 2)</vt:lpstr>
      <vt:lpstr>Performing a Road Test</vt:lpstr>
      <vt:lpstr>CV Joint Service Tips (1 of 2)</vt:lpstr>
      <vt:lpstr>CV Joint Service Tips (2 of 2)</vt:lpstr>
      <vt:lpstr>Knowledge Check (1 of 4)</vt:lpstr>
      <vt:lpstr>Knowledge Check Answer (1 of 4)</vt:lpstr>
      <vt:lpstr>Rear-Wheel Drive Shafts</vt:lpstr>
      <vt:lpstr>Drive Shaft and Yokes</vt:lpstr>
      <vt:lpstr>Operation of U-Joints</vt:lpstr>
      <vt:lpstr>Speed Variations</vt:lpstr>
      <vt:lpstr>Driveshaft Speed Fluctuations</vt:lpstr>
      <vt:lpstr>Cancelling Angles</vt:lpstr>
      <vt:lpstr>Universal Joint Designs</vt:lpstr>
      <vt:lpstr>Diagnosis of Drive-Shaft and U-Joint Problems</vt:lpstr>
      <vt:lpstr>Companion Flange Runout</vt:lpstr>
      <vt:lpstr>Measuring U Joint Angles</vt:lpstr>
      <vt:lpstr>Knowledge Check (2 of 4)</vt:lpstr>
      <vt:lpstr>Knowledge Check Answer (2 of 4)</vt:lpstr>
      <vt:lpstr>Purposes of a Differential Assembly</vt:lpstr>
      <vt:lpstr>Differential Components</vt:lpstr>
      <vt:lpstr>The Components of a Typical Final Drive Unit</vt:lpstr>
      <vt:lpstr>Hypoid Gears</vt:lpstr>
      <vt:lpstr>Gearset Classifications (1 of 2)</vt:lpstr>
      <vt:lpstr>Gearset Classifications (2 of 2)</vt:lpstr>
      <vt:lpstr>Rear Axle Housing and Casing</vt:lpstr>
      <vt:lpstr>Differential Operation (1 of 2)</vt:lpstr>
      <vt:lpstr>Differential Operation (2 of 2) </vt:lpstr>
      <vt:lpstr>Limited-Slip Differentials</vt:lpstr>
      <vt:lpstr>Torque Vectoring LSD</vt:lpstr>
      <vt:lpstr>Knowledge Check (3 of 4)</vt:lpstr>
      <vt:lpstr>Knowledge Check Answer (3 of 4)</vt:lpstr>
      <vt:lpstr>Axle Shafts</vt:lpstr>
      <vt:lpstr>Axle Shaft Designs</vt:lpstr>
      <vt:lpstr>Axle Shaft Bearings</vt:lpstr>
      <vt:lpstr>Diagnosis</vt:lpstr>
      <vt:lpstr>Diagnosis Tips</vt:lpstr>
      <vt:lpstr>Servicing the Final Drive Assembly</vt:lpstr>
      <vt:lpstr>Disassembly</vt:lpstr>
      <vt:lpstr>Assembly</vt:lpstr>
      <vt:lpstr>Common Contact Patterns</vt:lpstr>
      <vt:lpstr>Maintenance</vt:lpstr>
      <vt:lpstr>Knowledge Check (4 of 4)</vt:lpstr>
      <vt:lpstr>Knowledge Check Answer (4 of 4)</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 Admin</dc:creator>
  <cp:lastModifiedBy>DiCaterino, Kara</cp:lastModifiedBy>
  <cp:revision>126</cp:revision>
  <dcterms:created xsi:type="dcterms:W3CDTF">2012-09-04T13:49:02Z</dcterms:created>
  <dcterms:modified xsi:type="dcterms:W3CDTF">2024-12-04T16:17:28Z</dcterms:modified>
</cp:coreProperties>
</file>