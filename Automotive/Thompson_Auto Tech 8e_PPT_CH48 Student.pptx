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 id="2147483703" r:id="rId2"/>
    <p:sldMasterId id="2147483715" r:id="rId3"/>
    <p:sldMasterId id="2147483733" r:id="rId4"/>
  </p:sldMasterIdLst>
  <p:notesMasterIdLst>
    <p:notesMasterId r:id="rId59"/>
  </p:notesMasterIdLst>
  <p:sldIdLst>
    <p:sldId id="386" r:id="rId5"/>
    <p:sldId id="343" r:id="rId6"/>
    <p:sldId id="342" r:id="rId7"/>
    <p:sldId id="258" r:id="rId8"/>
    <p:sldId id="259" r:id="rId9"/>
    <p:sldId id="260" r:id="rId10"/>
    <p:sldId id="262" r:id="rId11"/>
    <p:sldId id="264" r:id="rId12"/>
    <p:sldId id="265" r:id="rId13"/>
    <p:sldId id="266" r:id="rId14"/>
    <p:sldId id="267" r:id="rId15"/>
    <p:sldId id="268" r:id="rId16"/>
    <p:sldId id="269" r:id="rId17"/>
    <p:sldId id="270" r:id="rId18"/>
    <p:sldId id="271" r:id="rId19"/>
    <p:sldId id="272" r:id="rId20"/>
    <p:sldId id="344" r:id="rId21"/>
    <p:sldId id="273" r:id="rId22"/>
    <p:sldId id="345" r:id="rId23"/>
    <p:sldId id="275" r:id="rId24"/>
    <p:sldId id="276" r:id="rId25"/>
    <p:sldId id="281" r:id="rId26"/>
    <p:sldId id="346" r:id="rId27"/>
    <p:sldId id="282" r:id="rId28"/>
    <p:sldId id="284" r:id="rId29"/>
    <p:sldId id="285" r:id="rId30"/>
    <p:sldId id="286" r:id="rId31"/>
    <p:sldId id="287" r:id="rId32"/>
    <p:sldId id="288" r:id="rId33"/>
    <p:sldId id="290" r:id="rId34"/>
    <p:sldId id="291" r:id="rId35"/>
    <p:sldId id="292" r:id="rId36"/>
    <p:sldId id="293" r:id="rId37"/>
    <p:sldId id="295" r:id="rId38"/>
    <p:sldId id="296" r:id="rId39"/>
    <p:sldId id="298" r:id="rId40"/>
    <p:sldId id="387" r:id="rId41"/>
    <p:sldId id="300" r:id="rId42"/>
    <p:sldId id="347" r:id="rId43"/>
    <p:sldId id="301" r:id="rId44"/>
    <p:sldId id="302" r:id="rId45"/>
    <p:sldId id="303" r:id="rId46"/>
    <p:sldId id="304" r:id="rId47"/>
    <p:sldId id="305" r:id="rId48"/>
    <p:sldId id="349" r:id="rId49"/>
    <p:sldId id="306" r:id="rId50"/>
    <p:sldId id="350" r:id="rId51"/>
    <p:sldId id="307" r:id="rId52"/>
    <p:sldId id="309" r:id="rId53"/>
    <p:sldId id="312" r:id="rId54"/>
    <p:sldId id="348" r:id="rId55"/>
    <p:sldId id="313" r:id="rId56"/>
    <p:sldId id="314" r:id="rId57"/>
    <p:sldId id="334" r:id="rId5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8" userDrawn="1">
          <p15:clr>
            <a:srgbClr val="A4A3A4"/>
          </p15:clr>
        </p15:guide>
        <p15:guide id="2" pos="387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E" initials="CE" lastIdx="2" clrIdx="0">
    <p:extLst>
      <p:ext uri="{19B8F6BF-5375-455C-9EA6-DF929625EA0E}">
        <p15:presenceInfo xmlns:p15="http://schemas.microsoft.com/office/powerpoint/2012/main" userId="C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8B5"/>
    <a:srgbClr val="FED43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52" autoAdjust="0"/>
    <p:restoredTop sz="86325" autoAdjust="0"/>
  </p:normalViewPr>
  <p:slideViewPr>
    <p:cSldViewPr snapToGrid="0" snapToObjects="1" showGuides="1">
      <p:cViewPr varScale="1">
        <p:scale>
          <a:sx n="64" d="100"/>
          <a:sy n="64" d="100"/>
        </p:scale>
        <p:origin x="640" y="40"/>
      </p:cViewPr>
      <p:guideLst>
        <p:guide orient="horz" pos="168"/>
        <p:guide pos="3876"/>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A548FF4-4699-5A47-96D0-8B4A564553D2}" type="datetimeFigureOut">
              <a:rPr lang="en-US" smtClean="0"/>
              <a:pPr/>
              <a:t>12/4/2024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B2C733B-E0FA-F944-BF5E-20E178C2BBF6}" type="slidenum">
              <a:rPr lang="en-US" smtClean="0"/>
              <a:pPr/>
              <a:t>‹#›</a:t>
            </a:fld>
            <a:endParaRPr lang="en-US"/>
          </a:p>
        </p:txBody>
      </p:sp>
    </p:spTree>
    <p:extLst>
      <p:ext uri="{BB962C8B-B14F-4D97-AF65-F5344CB8AC3E}">
        <p14:creationId xmlns:p14="http://schemas.microsoft.com/office/powerpoint/2010/main" val="2499885688"/>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82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xfrm>
            <a:off x="381000" y="685800"/>
            <a:ext cx="6096000" cy="3429000"/>
          </a:xfrm>
          <a:ln/>
        </p:spPr>
      </p:sp>
      <p:sp>
        <p:nvSpPr>
          <p:cNvPr id="5325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4640387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xfrm>
            <a:off x="381000" y="685800"/>
            <a:ext cx="6096000" cy="3429000"/>
          </a:xfrm>
          <a:ln/>
        </p:spPr>
      </p:sp>
      <p:sp>
        <p:nvSpPr>
          <p:cNvPr id="5427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551198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xfrm>
            <a:off x="381000" y="685800"/>
            <a:ext cx="6096000" cy="3429000"/>
          </a:xfrm>
          <a:ln/>
        </p:spPr>
      </p:sp>
      <p:sp>
        <p:nvSpPr>
          <p:cNvPr id="5529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6553900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xfrm>
            <a:off x="381000" y="685800"/>
            <a:ext cx="6096000" cy="3429000"/>
          </a:xfrm>
          <a:ln/>
        </p:spPr>
      </p:sp>
      <p:sp>
        <p:nvSpPr>
          <p:cNvPr id="5529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5092749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xfrm>
            <a:off x="381000" y="685800"/>
            <a:ext cx="6096000" cy="3429000"/>
          </a:xfrm>
          <a:ln/>
        </p:spPr>
      </p:sp>
      <p:sp>
        <p:nvSpPr>
          <p:cNvPr id="5734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5128517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xfrm>
            <a:off x="381000" y="685800"/>
            <a:ext cx="6096000" cy="3429000"/>
          </a:xfrm>
          <a:ln/>
        </p:spPr>
      </p:sp>
      <p:sp>
        <p:nvSpPr>
          <p:cNvPr id="5837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3008653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xfrm>
            <a:off x="381000" y="685800"/>
            <a:ext cx="6096000" cy="3429000"/>
          </a:xfrm>
          <a:ln/>
        </p:spPr>
      </p:sp>
      <p:sp>
        <p:nvSpPr>
          <p:cNvPr id="5939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196184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xfrm>
            <a:off x="381000" y="685800"/>
            <a:ext cx="6096000" cy="3429000"/>
          </a:xfrm>
          <a:ln/>
        </p:spPr>
      </p:sp>
      <p:sp>
        <p:nvSpPr>
          <p:cNvPr id="6041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6221649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a:xfrm>
            <a:off x="381000" y="685800"/>
            <a:ext cx="6096000" cy="3429000"/>
          </a:xfrm>
          <a:ln/>
        </p:spPr>
      </p:sp>
      <p:sp>
        <p:nvSpPr>
          <p:cNvPr id="6144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6369918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a:xfrm>
            <a:off x="381000" y="685800"/>
            <a:ext cx="6096000" cy="3429000"/>
          </a:xfrm>
          <a:ln/>
        </p:spPr>
      </p:sp>
      <p:sp>
        <p:nvSpPr>
          <p:cNvPr id="6246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754566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a:xfrm>
            <a:off x="381000" y="685800"/>
            <a:ext cx="6096000" cy="3429000"/>
          </a:xfrm>
          <a:ln/>
        </p:spPr>
      </p:sp>
      <p:sp>
        <p:nvSpPr>
          <p:cNvPr id="6349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6651711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xfrm>
            <a:off x="381000" y="685800"/>
            <a:ext cx="6096000" cy="3429000"/>
          </a:xfrm>
          <a:ln/>
        </p:spPr>
      </p:sp>
      <p:sp>
        <p:nvSpPr>
          <p:cNvPr id="6451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418476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436DACC-B06A-4468-A164-987019D52D01}" type="slidenum">
              <a:rPr lang="en-US" smtClean="0"/>
              <a:pPr/>
              <a:t>16</a:t>
            </a:fld>
            <a:endParaRPr lang="en-US" dirty="0"/>
          </a:p>
        </p:txBody>
      </p:sp>
    </p:spTree>
    <p:extLst>
      <p:ext uri="{BB962C8B-B14F-4D97-AF65-F5344CB8AC3E}">
        <p14:creationId xmlns:p14="http://schemas.microsoft.com/office/powerpoint/2010/main" val="4716665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436DACC-B06A-4468-A164-987019D52D01}" type="slidenum">
              <a:rPr lang="en-US" smtClean="0"/>
              <a:pPr/>
              <a:t>17</a:t>
            </a:fld>
            <a:endParaRPr lang="en-US" dirty="0"/>
          </a:p>
        </p:txBody>
      </p:sp>
    </p:spTree>
    <p:extLst>
      <p:ext uri="{BB962C8B-B14F-4D97-AF65-F5344CB8AC3E}">
        <p14:creationId xmlns:p14="http://schemas.microsoft.com/office/powerpoint/2010/main" val="31468439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a:xfrm>
            <a:off x="381000" y="685800"/>
            <a:ext cx="6096000" cy="3429000"/>
          </a:xfrm>
          <a:ln/>
        </p:spPr>
      </p:sp>
      <p:sp>
        <p:nvSpPr>
          <p:cNvPr id="6553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2769652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381000" y="685800"/>
            <a:ext cx="6096000" cy="3429000"/>
          </a:xfrm>
          <a:ln/>
        </p:spPr>
      </p:sp>
      <p:sp>
        <p:nvSpPr>
          <p:cNvPr id="6656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6454502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xfrm>
            <a:off x="381000" y="685800"/>
            <a:ext cx="6096000" cy="3429000"/>
          </a:xfrm>
          <a:ln/>
        </p:spPr>
      </p:sp>
      <p:sp>
        <p:nvSpPr>
          <p:cNvPr id="706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6831823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xfrm>
            <a:off x="381000" y="685800"/>
            <a:ext cx="6096000" cy="3429000"/>
          </a:xfrm>
          <a:ln/>
        </p:spPr>
      </p:sp>
      <p:sp>
        <p:nvSpPr>
          <p:cNvPr id="7168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9588980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a:xfrm>
            <a:off x="381000" y="685800"/>
            <a:ext cx="6096000" cy="3429000"/>
          </a:xfrm>
          <a:ln/>
        </p:spPr>
      </p:sp>
      <p:sp>
        <p:nvSpPr>
          <p:cNvPr id="7270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957959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xfrm>
            <a:off x="381000" y="685800"/>
            <a:ext cx="6096000" cy="3429000"/>
          </a:xfrm>
          <a:ln/>
        </p:spPr>
      </p:sp>
      <p:sp>
        <p:nvSpPr>
          <p:cNvPr id="7373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8605212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a:xfrm>
            <a:off x="381000" y="685800"/>
            <a:ext cx="6096000" cy="3429000"/>
          </a:xfrm>
          <a:ln/>
        </p:spPr>
      </p:sp>
      <p:sp>
        <p:nvSpPr>
          <p:cNvPr id="7475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0271672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a:xfrm>
            <a:off x="381000" y="685800"/>
            <a:ext cx="6096000" cy="3429000"/>
          </a:xfrm>
          <a:ln/>
        </p:spPr>
      </p:sp>
      <p:sp>
        <p:nvSpPr>
          <p:cNvPr id="7475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4853326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a:xfrm>
            <a:off x="381000" y="685800"/>
            <a:ext cx="6096000" cy="3429000"/>
          </a:xfrm>
          <a:ln/>
        </p:spPr>
      </p:sp>
      <p:sp>
        <p:nvSpPr>
          <p:cNvPr id="7475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0461734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xfrm>
            <a:off x="381000" y="685800"/>
            <a:ext cx="6096000" cy="3429000"/>
          </a:xfrm>
          <a:ln/>
        </p:spPr>
      </p:sp>
      <p:sp>
        <p:nvSpPr>
          <p:cNvPr id="7680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2556494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xfrm>
            <a:off x="381000" y="685800"/>
            <a:ext cx="6096000" cy="3429000"/>
          </a:xfrm>
          <a:ln/>
        </p:spPr>
      </p:sp>
      <p:sp>
        <p:nvSpPr>
          <p:cNvPr id="7782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1084872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xfrm>
            <a:off x="381000" y="685800"/>
            <a:ext cx="6096000" cy="3429000"/>
          </a:xfrm>
          <a:ln/>
        </p:spPr>
      </p:sp>
      <p:sp>
        <p:nvSpPr>
          <p:cNvPr id="7885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6435902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xfrm>
            <a:off x="381000" y="685800"/>
            <a:ext cx="6096000" cy="3429000"/>
          </a:xfrm>
          <a:ln/>
        </p:spPr>
      </p:sp>
      <p:sp>
        <p:nvSpPr>
          <p:cNvPr id="7987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5897991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xfrm>
            <a:off x="381000" y="685800"/>
            <a:ext cx="6096000" cy="3429000"/>
          </a:xfrm>
          <a:ln/>
        </p:spPr>
      </p:sp>
      <p:sp>
        <p:nvSpPr>
          <p:cNvPr id="8192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2581328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xfrm>
            <a:off x="381000" y="685800"/>
            <a:ext cx="6096000" cy="3429000"/>
          </a:xfrm>
          <a:ln/>
        </p:spPr>
      </p:sp>
      <p:sp>
        <p:nvSpPr>
          <p:cNvPr id="8294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6309123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xfrm>
            <a:off x="381000" y="685800"/>
            <a:ext cx="6096000" cy="3429000"/>
          </a:xfrm>
          <a:ln/>
        </p:spPr>
      </p:sp>
      <p:sp>
        <p:nvSpPr>
          <p:cNvPr id="8397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7273216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381000" y="685800"/>
            <a:ext cx="6096000" cy="3429000"/>
          </a:xfrm>
          <a:ln/>
        </p:spPr>
      </p:sp>
      <p:sp>
        <p:nvSpPr>
          <p:cNvPr id="8499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2650292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436DACC-B06A-4468-A164-987019D52D01}" type="slidenum">
              <a:rPr lang="en-US" smtClean="0"/>
              <a:pPr/>
              <a:t>38</a:t>
            </a:fld>
            <a:endParaRPr lang="en-US" dirty="0"/>
          </a:p>
        </p:txBody>
      </p:sp>
    </p:spTree>
    <p:extLst>
      <p:ext uri="{BB962C8B-B14F-4D97-AF65-F5344CB8AC3E}">
        <p14:creationId xmlns:p14="http://schemas.microsoft.com/office/powerpoint/2010/main" val="4520864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436DACC-B06A-4468-A164-987019D52D01}" type="slidenum">
              <a:rPr lang="en-US" smtClean="0"/>
              <a:pPr/>
              <a:t>39</a:t>
            </a:fld>
            <a:endParaRPr lang="en-US" dirty="0"/>
          </a:p>
        </p:txBody>
      </p:sp>
    </p:spTree>
    <p:extLst>
      <p:ext uri="{BB962C8B-B14F-4D97-AF65-F5344CB8AC3E}">
        <p14:creationId xmlns:p14="http://schemas.microsoft.com/office/powerpoint/2010/main" val="29257567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xfrm>
            <a:off x="381000" y="685800"/>
            <a:ext cx="6096000" cy="3429000"/>
          </a:xfrm>
          <a:ln/>
        </p:spPr>
      </p:sp>
      <p:sp>
        <p:nvSpPr>
          <p:cNvPr id="8704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2678257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xfrm>
            <a:off x="381000" y="685800"/>
            <a:ext cx="6096000" cy="3429000"/>
          </a:xfrm>
          <a:ln/>
        </p:spPr>
      </p:sp>
      <p:sp>
        <p:nvSpPr>
          <p:cNvPr id="8806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0024923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381000" y="685800"/>
            <a:ext cx="6096000" cy="3429000"/>
          </a:xfrm>
          <a:ln/>
        </p:spPr>
      </p:sp>
      <p:sp>
        <p:nvSpPr>
          <p:cNvPr id="8909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961925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381000" y="685800"/>
            <a:ext cx="6096000" cy="3429000"/>
          </a:xfrm>
          <a:ln/>
        </p:spPr>
      </p:sp>
      <p:sp>
        <p:nvSpPr>
          <p:cNvPr id="8909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2629975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381000" y="685800"/>
            <a:ext cx="6096000" cy="3429000"/>
          </a:xfrm>
          <a:ln/>
        </p:spPr>
      </p:sp>
      <p:sp>
        <p:nvSpPr>
          <p:cNvPr id="9113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8894792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381000" y="685800"/>
            <a:ext cx="6096000" cy="3429000"/>
          </a:xfrm>
          <a:ln/>
        </p:spPr>
      </p:sp>
      <p:sp>
        <p:nvSpPr>
          <p:cNvPr id="9113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8472047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xfrm>
            <a:off x="381000" y="685800"/>
            <a:ext cx="6096000" cy="3429000"/>
          </a:xfrm>
          <a:ln/>
        </p:spPr>
      </p:sp>
      <p:sp>
        <p:nvSpPr>
          <p:cNvPr id="92163"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80945126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436DACC-B06A-4468-A164-987019D52D01}" type="slidenum">
              <a:rPr lang="en-US" smtClean="0"/>
              <a:pPr/>
              <a:t>50</a:t>
            </a:fld>
            <a:endParaRPr lang="en-US" dirty="0"/>
          </a:p>
        </p:txBody>
      </p:sp>
    </p:spTree>
    <p:extLst>
      <p:ext uri="{BB962C8B-B14F-4D97-AF65-F5344CB8AC3E}">
        <p14:creationId xmlns:p14="http://schemas.microsoft.com/office/powerpoint/2010/main" val="14426031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436DACC-B06A-4468-A164-987019D52D01}" type="slidenum">
              <a:rPr lang="en-US" smtClean="0"/>
              <a:pPr/>
              <a:t>51</a:t>
            </a:fld>
            <a:endParaRPr lang="en-US" dirty="0"/>
          </a:p>
        </p:txBody>
      </p:sp>
    </p:spTree>
    <p:extLst>
      <p:ext uri="{BB962C8B-B14F-4D97-AF65-F5344CB8AC3E}">
        <p14:creationId xmlns:p14="http://schemas.microsoft.com/office/powerpoint/2010/main" val="54750502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381000" y="685800"/>
            <a:ext cx="6096000" cy="3429000"/>
          </a:xfrm>
          <a:ln/>
        </p:spPr>
      </p:sp>
      <p:sp>
        <p:nvSpPr>
          <p:cNvPr id="9421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78959348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381000" y="685800"/>
            <a:ext cx="6096000" cy="3429000"/>
          </a:xfrm>
          <a:ln/>
        </p:spPr>
      </p:sp>
      <p:sp>
        <p:nvSpPr>
          <p:cNvPr id="95235"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7117843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0D336FE-50F2-43B1-8E29-DA1489046407}" type="datetimeFigureOut">
              <a:rPr lang="en-US" smtClean="0"/>
              <a:pPr/>
              <a:t>12/4/2024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0D336FE-50F2-43B1-8E29-DA1489046407}" type="datetimeFigureOut">
              <a:rPr lang="en-US" smtClean="0"/>
              <a:pPr/>
              <a:t>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D336FE-50F2-43B1-8E29-DA1489046407}" type="datetimeFigureOut">
              <a:rPr lang="en-US" smtClean="0"/>
              <a:pPr/>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20B94EA-E0FC-45F7-8A06-3CE9694ED2AD}"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25983495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0B94EA-E0FC-45F7-8A06-3CE9694ED2AD}"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30487459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30763417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38467199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0D336FE-50F2-43B1-8E29-DA1489046407}" type="datetimeFigureOut">
              <a:rPr lang="en-US" smtClean="0"/>
              <a:pPr/>
              <a:t>12/4/2024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33298241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0B94EA-E0FC-45F7-8A06-3CE9694ED2AD}" type="datetimeFigureOut">
              <a:rPr lang="en-US" smtClean="0"/>
              <a:pPr/>
              <a:t>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23268389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B94EA-E0FC-45F7-8A06-3CE9694ED2AD}" type="datetimeFigureOut">
              <a:rPr lang="en-US" smtClean="0"/>
              <a:pPr/>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42550140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28666563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336FE-50F2-43B1-8E29-DA1489046407}"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10888283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14975328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D336FE-50F2-43B1-8E29-DA1489046407}"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88FE4E-7896-42C2-A565-469234630387}" type="slidenum">
              <a:rPr lang="en-US" smtClean="0"/>
              <a:pPr/>
              <a:t>‹#›</a:t>
            </a:fld>
            <a:endParaRPr lang="en-US"/>
          </a:p>
        </p:txBody>
      </p:sp>
    </p:spTree>
    <p:extLst>
      <p:ext uri="{BB962C8B-B14F-4D97-AF65-F5344CB8AC3E}">
        <p14:creationId xmlns:p14="http://schemas.microsoft.com/office/powerpoint/2010/main" val="26384782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First Slide)" preserve="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22" name="Google Shape;22;p48"/>
          <p:cNvSpPr txBox="1"/>
          <p:nvPr/>
        </p:nvSpPr>
        <p:spPr>
          <a:xfrm>
            <a:off x="2332233" y="6401464"/>
            <a:ext cx="8856323"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rgbClr val="FFFFFF"/>
              </a:buClr>
              <a:buSzPts val="1200"/>
              <a:buFont typeface="Arial"/>
              <a:buNone/>
            </a:pPr>
            <a:r>
              <a:rPr lang="en-US" sz="900" b="0" i="0" u="none" strike="noStrike" cap="none">
                <a:solidFill>
                  <a:srgbClr val="FFFFFF"/>
                </a:solidFill>
                <a:latin typeface="Arial"/>
                <a:ea typeface="Arial"/>
                <a:cs typeface="Arial"/>
                <a:sym typeface="Arial"/>
              </a:rPr>
              <a:t>Rob Thompson and Jack Erjavec, Automotive Technology: A Systems Approach, 8</a:t>
            </a:r>
            <a:r>
              <a:rPr lang="en-US" sz="900" b="0" i="0" u="none" strike="noStrike" cap="none" baseline="30000">
                <a:solidFill>
                  <a:srgbClr val="FFFFFF"/>
                </a:solidFill>
                <a:latin typeface="Arial"/>
                <a:ea typeface="Arial"/>
                <a:cs typeface="Arial"/>
                <a:sym typeface="Arial"/>
              </a:rPr>
              <a:t>th</a:t>
            </a:r>
            <a:r>
              <a:rPr lang="en-US" sz="900" b="0" i="0" u="none" strike="noStrike" cap="none">
                <a:solidFill>
                  <a:srgbClr val="FFFFFF"/>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19459763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Content" preserve="1">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9466091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50"/>
          <p:cNvSpPr txBox="1">
            <a:spLocks noGrp="1"/>
          </p:cNvSpPr>
          <p:nvPr>
            <p:ph type="body" idx="1"/>
          </p:nvPr>
        </p:nvSpPr>
        <p:spPr>
          <a:xfrm>
            <a:off x="476844" y="1825625"/>
            <a:ext cx="5542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29" name="Google Shape;29;p50"/>
          <p:cNvSpPr txBox="1">
            <a:spLocks noGrp="1"/>
          </p:cNvSpPr>
          <p:nvPr>
            <p:ph type="body" idx="2"/>
          </p:nvPr>
        </p:nvSpPr>
        <p:spPr>
          <a:xfrm>
            <a:off x="6172201" y="1825625"/>
            <a:ext cx="5542956"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7180603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2" name="Google Shape;32;p51"/>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fld id="{620B94EA-E0FC-45F7-8A06-3CE9694ED2AD}" type="datetimeFigureOut">
              <a:rPr lang="en-US" smtClean="0"/>
              <a:pPr/>
              <a:t>12/4/2024</a:t>
            </a:fld>
            <a:endParaRPr lang="en-US"/>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lang="en-US"/>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350">
                <a:solidFill>
                  <a:schemeClr val="dk1"/>
                </a:solidFill>
                <a:latin typeface="Calibri"/>
                <a:ea typeface="Calibri"/>
                <a:cs typeface="Calibri"/>
                <a:sym typeface="Calibri"/>
              </a:defRPr>
            </a:lvl1pPr>
            <a:lvl2pPr marL="0" marR="0" lvl="1" indent="0" algn="l" rtl="0">
              <a:spcBef>
                <a:spcPts val="0"/>
              </a:spcBef>
              <a:spcAft>
                <a:spcPts val="0"/>
              </a:spcAft>
              <a:buNone/>
              <a:defRPr sz="1350">
                <a:solidFill>
                  <a:schemeClr val="dk1"/>
                </a:solidFill>
                <a:latin typeface="Calibri"/>
                <a:ea typeface="Calibri"/>
                <a:cs typeface="Calibri"/>
                <a:sym typeface="Calibri"/>
              </a:defRPr>
            </a:lvl2pPr>
            <a:lvl3pPr marL="0" marR="0" lvl="2" indent="0" algn="l" rtl="0">
              <a:spcBef>
                <a:spcPts val="0"/>
              </a:spcBef>
              <a:spcAft>
                <a:spcPts val="0"/>
              </a:spcAft>
              <a:buNone/>
              <a:defRPr sz="1350">
                <a:solidFill>
                  <a:schemeClr val="dk1"/>
                </a:solidFill>
                <a:latin typeface="Calibri"/>
                <a:ea typeface="Calibri"/>
                <a:cs typeface="Calibri"/>
                <a:sym typeface="Calibri"/>
              </a:defRPr>
            </a:lvl3pPr>
            <a:lvl4pPr marL="0" marR="0" lvl="3" indent="0" algn="l" rtl="0">
              <a:spcBef>
                <a:spcPts val="0"/>
              </a:spcBef>
              <a:spcAft>
                <a:spcPts val="0"/>
              </a:spcAft>
              <a:buNone/>
              <a:defRPr sz="1350">
                <a:solidFill>
                  <a:schemeClr val="dk1"/>
                </a:solidFill>
                <a:latin typeface="Calibri"/>
                <a:ea typeface="Calibri"/>
                <a:cs typeface="Calibri"/>
                <a:sym typeface="Calibri"/>
              </a:defRPr>
            </a:lvl4pPr>
            <a:lvl5pPr marL="0" marR="0" lvl="4" indent="0" algn="l" rtl="0">
              <a:spcBef>
                <a:spcPts val="0"/>
              </a:spcBef>
              <a:spcAft>
                <a:spcPts val="0"/>
              </a:spcAft>
              <a:buNone/>
              <a:defRPr sz="1350">
                <a:solidFill>
                  <a:schemeClr val="dk1"/>
                </a:solidFill>
                <a:latin typeface="Calibri"/>
                <a:ea typeface="Calibri"/>
                <a:cs typeface="Calibri"/>
                <a:sym typeface="Calibri"/>
              </a:defRPr>
            </a:lvl5pPr>
            <a:lvl6pPr marL="0" marR="0" lvl="5" indent="0" algn="l" rtl="0">
              <a:spcBef>
                <a:spcPts val="0"/>
              </a:spcBef>
              <a:spcAft>
                <a:spcPts val="0"/>
              </a:spcAft>
              <a:buNone/>
              <a:defRPr sz="1350">
                <a:solidFill>
                  <a:schemeClr val="dk1"/>
                </a:solidFill>
                <a:latin typeface="Calibri"/>
                <a:ea typeface="Calibri"/>
                <a:cs typeface="Calibri"/>
                <a:sym typeface="Calibri"/>
              </a:defRPr>
            </a:lvl6pPr>
            <a:lvl7pPr marL="0" marR="0" lvl="6" indent="0" algn="l" rtl="0">
              <a:spcBef>
                <a:spcPts val="0"/>
              </a:spcBef>
              <a:spcAft>
                <a:spcPts val="0"/>
              </a:spcAft>
              <a:buNone/>
              <a:defRPr sz="1350">
                <a:solidFill>
                  <a:schemeClr val="dk1"/>
                </a:solidFill>
                <a:latin typeface="Calibri"/>
                <a:ea typeface="Calibri"/>
                <a:cs typeface="Calibri"/>
                <a:sym typeface="Calibri"/>
              </a:defRPr>
            </a:lvl7pPr>
            <a:lvl8pPr marL="0" marR="0" lvl="7" indent="0" algn="l" rtl="0">
              <a:spcBef>
                <a:spcPts val="0"/>
              </a:spcBef>
              <a:spcAft>
                <a:spcPts val="0"/>
              </a:spcAft>
              <a:buNone/>
              <a:defRPr sz="1350">
                <a:solidFill>
                  <a:schemeClr val="dk1"/>
                </a:solidFill>
                <a:latin typeface="Calibri"/>
                <a:ea typeface="Calibri"/>
                <a:cs typeface="Calibri"/>
                <a:sym typeface="Calibri"/>
              </a:defRPr>
            </a:lvl8pPr>
            <a:lvl9pPr marL="0" marR="0" lvl="8" indent="0" algn="l" rtl="0">
              <a:spcBef>
                <a:spcPts val="0"/>
              </a:spcBef>
              <a:spcAft>
                <a:spcPts val="0"/>
              </a:spcAft>
              <a:buNone/>
              <a:defRPr sz="1350">
                <a:solidFill>
                  <a:schemeClr val="dk1"/>
                </a:solidFill>
                <a:latin typeface="Calibri"/>
                <a:ea typeface="Calibri"/>
                <a:cs typeface="Calibri"/>
                <a:sym typeface="Calibri"/>
              </a:defRPr>
            </a:lvl9pPr>
          </a:lstStyle>
          <a:p>
            <a:fld id="{0E4ECC14-25A4-4E96-A863-D89966B2F4B2}" type="slidenum">
              <a:rPr lang="en-US" smtClean="0"/>
              <a:pPr/>
              <a:t>‹#›</a:t>
            </a:fld>
            <a:endParaRPr lang="en-US"/>
          </a:p>
        </p:txBody>
      </p:sp>
    </p:spTree>
    <p:extLst>
      <p:ext uri="{BB962C8B-B14F-4D97-AF65-F5344CB8AC3E}">
        <p14:creationId xmlns:p14="http://schemas.microsoft.com/office/powerpoint/2010/main" val="35597183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Divider" preserve="1">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40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750"/>
              </a:spcBef>
              <a:spcAft>
                <a:spcPts val="0"/>
              </a:spcAft>
              <a:buSzPts val="3600"/>
              <a:buNone/>
              <a:defRPr sz="27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pic>
        <p:nvPicPr>
          <p:cNvPr id="40" name="Google Shape;40;p52"/>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sp>
        <p:nvSpPr>
          <p:cNvPr id="42" name="Google Shape;42;p52"/>
          <p:cNvSpPr txBox="1"/>
          <p:nvPr/>
        </p:nvSpPr>
        <p:spPr>
          <a:xfrm>
            <a:off x="2322513" y="6393562"/>
            <a:ext cx="8677275"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900">
                <a:solidFill>
                  <a:schemeClr val="lt1"/>
                </a:solidFill>
                <a:latin typeface="Arial"/>
                <a:ea typeface="Arial"/>
                <a:cs typeface="Arial"/>
                <a:sym typeface="Arial"/>
              </a:rPr>
              <a:t>Rob Thompson and Jack Erjavec, Automotive Technology: A Systems Approach, 8</a:t>
            </a:r>
            <a:r>
              <a:rPr lang="en-US" sz="900" baseline="30000">
                <a:solidFill>
                  <a:schemeClr val="lt1"/>
                </a:solidFill>
                <a:latin typeface="Arial"/>
                <a:ea typeface="Arial"/>
                <a:cs typeface="Arial"/>
                <a:sym typeface="Arial"/>
              </a:rPr>
              <a:t>th</a:t>
            </a:r>
            <a:r>
              <a:rPr lang="en-US" sz="9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117809299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1_Title Content" preserve="1">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5" name="Google Shape;45;p53"/>
          <p:cNvSpPr txBox="1">
            <a:spLocks noGrp="1"/>
          </p:cNvSpPr>
          <p:nvPr>
            <p:ph type="body" idx="1"/>
          </p:nvPr>
        </p:nvSpPr>
        <p:spPr>
          <a:xfrm>
            <a:off x="476844" y="1508125"/>
            <a:ext cx="8429413" cy="1920876"/>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6" name="Google Shape;46;p53"/>
          <p:cNvSpPr>
            <a:spLocks noGrp="1"/>
          </p:cNvSpPr>
          <p:nvPr>
            <p:ph type="pic" idx="2"/>
          </p:nvPr>
        </p:nvSpPr>
        <p:spPr>
          <a:xfrm>
            <a:off x="712789" y="3713163"/>
            <a:ext cx="3640137" cy="1636712"/>
          </a:xfrm>
          <a:prstGeom prst="rect">
            <a:avLst/>
          </a:prstGeom>
          <a:noFill/>
          <a:ln>
            <a:noFill/>
          </a:ln>
        </p:spPr>
      </p:sp>
      <p:sp>
        <p:nvSpPr>
          <p:cNvPr id="47" name="Google Shape;47;p53"/>
          <p:cNvSpPr>
            <a:spLocks noGrp="1"/>
          </p:cNvSpPr>
          <p:nvPr>
            <p:ph type="pic" idx="3"/>
          </p:nvPr>
        </p:nvSpPr>
        <p:spPr>
          <a:xfrm>
            <a:off x="5157790" y="3713165"/>
            <a:ext cx="3062287" cy="1343025"/>
          </a:xfrm>
          <a:prstGeom prst="rect">
            <a:avLst/>
          </a:prstGeom>
          <a:noFill/>
          <a:ln>
            <a:noFill/>
          </a:ln>
        </p:spPr>
      </p:sp>
      <p:sp>
        <p:nvSpPr>
          <p:cNvPr id="48" name="Google Shape;48;p53"/>
          <p:cNvSpPr txBox="1">
            <a:spLocks noGrp="1"/>
          </p:cNvSpPr>
          <p:nvPr>
            <p:ph type="body" idx="4"/>
          </p:nvPr>
        </p:nvSpPr>
        <p:spPr>
          <a:xfrm>
            <a:off x="7839076" y="2259013"/>
            <a:ext cx="3408363" cy="14541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05837772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_Title Content and image caption" preserve="1">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2" name="Google Shape;52;p54"/>
          <p:cNvSpPr txBox="1">
            <a:spLocks noGrp="1"/>
          </p:cNvSpPr>
          <p:nvPr>
            <p:ph type="body" idx="1"/>
          </p:nvPr>
        </p:nvSpPr>
        <p:spPr>
          <a:xfrm>
            <a:off x="476844" y="1280161"/>
            <a:ext cx="11241915" cy="177501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3" name="Google Shape;53;p54"/>
          <p:cNvSpPr txBox="1">
            <a:spLocks noGrp="1"/>
          </p:cNvSpPr>
          <p:nvPr>
            <p:ph type="body" idx="2"/>
          </p:nvPr>
        </p:nvSpPr>
        <p:spPr>
          <a:xfrm>
            <a:off x="476251" y="3184525"/>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4" name="Google Shape;54;p54"/>
          <p:cNvSpPr txBox="1">
            <a:spLocks noGrp="1"/>
          </p:cNvSpPr>
          <p:nvPr>
            <p:ph type="body" idx="3"/>
          </p:nvPr>
        </p:nvSpPr>
        <p:spPr>
          <a:xfrm>
            <a:off x="476251" y="3925890"/>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5" name="Google Shape;55;p54"/>
          <p:cNvSpPr>
            <a:spLocks noGrp="1"/>
          </p:cNvSpPr>
          <p:nvPr>
            <p:ph type="pic" idx="4"/>
          </p:nvPr>
        </p:nvSpPr>
        <p:spPr>
          <a:xfrm>
            <a:off x="5745164" y="3313113"/>
            <a:ext cx="2484437" cy="1054100"/>
          </a:xfrm>
          <a:prstGeom prst="rect">
            <a:avLst/>
          </a:prstGeom>
          <a:noFill/>
          <a:ln>
            <a:noFill/>
          </a:ln>
        </p:spPr>
      </p:sp>
      <p:sp>
        <p:nvSpPr>
          <p:cNvPr id="56" name="Google Shape;56;p54"/>
          <p:cNvSpPr>
            <a:spLocks noGrp="1"/>
          </p:cNvSpPr>
          <p:nvPr>
            <p:ph type="pic" idx="5"/>
          </p:nvPr>
        </p:nvSpPr>
        <p:spPr>
          <a:xfrm>
            <a:off x="5948364" y="4538663"/>
            <a:ext cx="2033587" cy="754062"/>
          </a:xfrm>
          <a:prstGeom prst="rect">
            <a:avLst/>
          </a:prstGeom>
          <a:noFill/>
          <a:ln>
            <a:noFill/>
          </a:ln>
        </p:spPr>
      </p:sp>
    </p:spTree>
    <p:extLst>
      <p:ext uri="{BB962C8B-B14F-4D97-AF65-F5344CB8AC3E}">
        <p14:creationId xmlns:p14="http://schemas.microsoft.com/office/powerpoint/2010/main" val="31148409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hree Content" preserve="1">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9" name="Google Shape;59;p55"/>
          <p:cNvSpPr txBox="1">
            <a:spLocks noGrp="1"/>
          </p:cNvSpPr>
          <p:nvPr>
            <p:ph type="body" idx="1"/>
          </p:nvPr>
        </p:nvSpPr>
        <p:spPr>
          <a:xfrm>
            <a:off x="476844"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0" name="Google Shape;60;p55"/>
          <p:cNvSpPr txBox="1">
            <a:spLocks noGrp="1"/>
          </p:cNvSpPr>
          <p:nvPr>
            <p:ph type="body" idx="2"/>
          </p:nvPr>
        </p:nvSpPr>
        <p:spPr>
          <a:xfrm>
            <a:off x="4423735" y="1829037"/>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1" name="Google Shape;61;p55"/>
          <p:cNvSpPr txBox="1">
            <a:spLocks noGrp="1"/>
          </p:cNvSpPr>
          <p:nvPr>
            <p:ph type="body" idx="3"/>
          </p:nvPr>
        </p:nvSpPr>
        <p:spPr>
          <a:xfrm>
            <a:off x="8370625"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1977304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Subtitle" preserve="1">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4" name="Google Shape;64;p56"/>
          <p:cNvSpPr txBox="1">
            <a:spLocks noGrp="1"/>
          </p:cNvSpPr>
          <p:nvPr>
            <p:ph type="body" idx="1"/>
          </p:nvPr>
        </p:nvSpPr>
        <p:spPr>
          <a:xfrm>
            <a:off x="476844" y="188767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5" name="Google Shape;65;p56"/>
          <p:cNvSpPr txBox="1">
            <a:spLocks noGrp="1"/>
          </p:cNvSpPr>
          <p:nvPr>
            <p:ph type="body" idx="2"/>
          </p:nvPr>
        </p:nvSpPr>
        <p:spPr>
          <a:xfrm>
            <a:off x="476844" y="2677888"/>
            <a:ext cx="11241915" cy="2621900"/>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6" name="Google Shape;66;p56"/>
          <p:cNvSpPr txBox="1">
            <a:spLocks noGrp="1"/>
          </p:cNvSpPr>
          <p:nvPr>
            <p:ph type="body" idx="3"/>
          </p:nvPr>
        </p:nvSpPr>
        <p:spPr>
          <a:xfrm>
            <a:off x="476844" y="5395329"/>
            <a:ext cx="11241915" cy="951787"/>
          </a:xfrm>
          <a:prstGeom prst="rect">
            <a:avLst/>
          </a:prstGeom>
          <a:noFill/>
          <a:ln>
            <a:noFill/>
          </a:ln>
        </p:spPr>
        <p:txBody>
          <a:bodyPr spcFirstLastPara="1" wrap="square" lIns="91425" tIns="45700" rIns="91425" bIns="45700" anchor="t" anchorCtr="0">
            <a:noAutofit/>
          </a:bodyPr>
          <a:lstStyle>
            <a:lvl1pPr marL="342900" lvl="0" indent="-214313" algn="l">
              <a:lnSpc>
                <a:spcPct val="100000"/>
              </a:lnSpc>
              <a:spcBef>
                <a:spcPts val="750"/>
              </a:spcBef>
              <a:spcAft>
                <a:spcPts val="0"/>
              </a:spcAft>
              <a:buSzPts val="900"/>
              <a:buChar char="•"/>
              <a:defRPr sz="675" b="0"/>
            </a:lvl1pPr>
            <a:lvl2pPr marL="685800" lvl="1" indent="-214313" algn="l">
              <a:lnSpc>
                <a:spcPct val="100000"/>
              </a:lnSpc>
              <a:spcBef>
                <a:spcPts val="600"/>
              </a:spcBef>
              <a:spcAft>
                <a:spcPts val="0"/>
              </a:spcAft>
              <a:buSzPts val="900"/>
              <a:buChar char="−"/>
              <a:defRPr sz="675" b="0"/>
            </a:lvl2pPr>
            <a:lvl3pPr marL="1028700" lvl="2" indent="-205739" algn="l">
              <a:lnSpc>
                <a:spcPct val="100000"/>
              </a:lnSpc>
              <a:spcBef>
                <a:spcPts val="600"/>
              </a:spcBef>
              <a:spcAft>
                <a:spcPts val="0"/>
              </a:spcAft>
              <a:buSzPts val="720"/>
              <a:buChar char="▪"/>
              <a:defRPr sz="675" b="0"/>
            </a:lvl3pPr>
            <a:lvl4pPr marL="1371600" lvl="3" indent="-214313" algn="l">
              <a:lnSpc>
                <a:spcPct val="90000"/>
              </a:lnSpc>
              <a:spcBef>
                <a:spcPts val="600"/>
              </a:spcBef>
              <a:spcAft>
                <a:spcPts val="0"/>
              </a:spcAft>
              <a:buSzPts val="900"/>
              <a:buChar char="•"/>
              <a:defRPr sz="675" b="0"/>
            </a:lvl4pPr>
            <a:lvl5pPr marL="1714500" lvl="4" indent="-214313" algn="l">
              <a:lnSpc>
                <a:spcPct val="90000"/>
              </a:lnSpc>
              <a:spcBef>
                <a:spcPts val="375"/>
              </a:spcBef>
              <a:spcAft>
                <a:spcPts val="0"/>
              </a:spcAft>
              <a:buClr>
                <a:schemeClr val="accent1"/>
              </a:buClr>
              <a:buSzPts val="900"/>
              <a:buChar char="•"/>
              <a:defRPr sz="675" b="0"/>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76442652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Subtitle/Images" preserve="1">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4"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9" name="Google Shape;69;p57"/>
          <p:cNvSpPr txBox="1">
            <a:spLocks noGrp="1"/>
          </p:cNvSpPr>
          <p:nvPr>
            <p:ph type="body" idx="1"/>
          </p:nvPr>
        </p:nvSpPr>
        <p:spPr>
          <a:xfrm>
            <a:off x="476844" y="185769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0" name="Google Shape;70;p57"/>
          <p:cNvSpPr txBox="1">
            <a:spLocks noGrp="1"/>
          </p:cNvSpPr>
          <p:nvPr>
            <p:ph type="body" idx="2"/>
          </p:nvPr>
        </p:nvSpPr>
        <p:spPr>
          <a:xfrm>
            <a:off x="476844" y="2677888"/>
            <a:ext cx="11241915" cy="150549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76695802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Multi Image/Content" preserve="1">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4" y="473247"/>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7" name="Google Shape;77;p58"/>
          <p:cNvSpPr txBox="1">
            <a:spLocks noGrp="1"/>
          </p:cNvSpPr>
          <p:nvPr>
            <p:ph type="body" idx="1"/>
          </p:nvPr>
        </p:nvSpPr>
        <p:spPr>
          <a:xfrm>
            <a:off x="480447"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8" name="Google Shape;78;p58"/>
          <p:cNvSpPr txBox="1">
            <a:spLocks noGrp="1"/>
          </p:cNvSpPr>
          <p:nvPr>
            <p:ph type="body" idx="2"/>
          </p:nvPr>
        </p:nvSpPr>
        <p:spPr>
          <a:xfrm>
            <a:off x="3386091"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9" name="Google Shape;79;p58"/>
          <p:cNvSpPr txBox="1">
            <a:spLocks noGrp="1"/>
          </p:cNvSpPr>
          <p:nvPr>
            <p:ph type="body" idx="3"/>
          </p:nvPr>
        </p:nvSpPr>
        <p:spPr>
          <a:xfrm>
            <a:off x="628549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0" name="Google Shape;80;p58"/>
          <p:cNvSpPr txBox="1">
            <a:spLocks noGrp="1"/>
          </p:cNvSpPr>
          <p:nvPr>
            <p:ph type="body" idx="4"/>
          </p:nvPr>
        </p:nvSpPr>
        <p:spPr>
          <a:xfrm>
            <a:off x="915551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1" name="Google Shape;81;p58"/>
          <p:cNvSpPr txBox="1">
            <a:spLocks noGrp="1"/>
          </p:cNvSpPr>
          <p:nvPr>
            <p:ph type="body" idx="5"/>
          </p:nvPr>
        </p:nvSpPr>
        <p:spPr>
          <a:xfrm>
            <a:off x="480446"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2" name="Google Shape;82;p58"/>
          <p:cNvSpPr txBox="1">
            <a:spLocks noGrp="1"/>
          </p:cNvSpPr>
          <p:nvPr>
            <p:ph type="body" idx="6"/>
          </p:nvPr>
        </p:nvSpPr>
        <p:spPr>
          <a:xfrm>
            <a:off x="3386090"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3" name="Google Shape;83;p58"/>
          <p:cNvSpPr txBox="1">
            <a:spLocks noGrp="1"/>
          </p:cNvSpPr>
          <p:nvPr>
            <p:ph type="body" idx="7"/>
          </p:nvPr>
        </p:nvSpPr>
        <p:spPr>
          <a:xfrm>
            <a:off x="628549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4" name="Google Shape;84;p58"/>
          <p:cNvSpPr txBox="1">
            <a:spLocks noGrp="1"/>
          </p:cNvSpPr>
          <p:nvPr>
            <p:ph type="body" idx="8"/>
          </p:nvPr>
        </p:nvSpPr>
        <p:spPr>
          <a:xfrm>
            <a:off x="915551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5" name="Google Shape;85;p58"/>
          <p:cNvSpPr txBox="1">
            <a:spLocks noGrp="1"/>
          </p:cNvSpPr>
          <p:nvPr>
            <p:ph type="body" idx="9"/>
          </p:nvPr>
        </p:nvSpPr>
        <p:spPr>
          <a:xfrm>
            <a:off x="741362" y="5549902"/>
            <a:ext cx="1909763"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6" name="Google Shape;86;p58"/>
          <p:cNvSpPr txBox="1">
            <a:spLocks noGrp="1"/>
          </p:cNvSpPr>
          <p:nvPr>
            <p:ph type="body" idx="13"/>
          </p:nvPr>
        </p:nvSpPr>
        <p:spPr>
          <a:xfrm>
            <a:off x="3305177" y="5549902"/>
            <a:ext cx="2562225"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7" name="Google Shape;87;p58"/>
          <p:cNvSpPr txBox="1">
            <a:spLocks noGrp="1"/>
          </p:cNvSpPr>
          <p:nvPr>
            <p:ph type="body" idx="14"/>
          </p:nvPr>
        </p:nvSpPr>
        <p:spPr>
          <a:xfrm>
            <a:off x="6181726" y="554355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8" name="Google Shape;88;p58"/>
          <p:cNvSpPr txBox="1">
            <a:spLocks noGrp="1"/>
          </p:cNvSpPr>
          <p:nvPr>
            <p:ph type="body" idx="15"/>
          </p:nvPr>
        </p:nvSpPr>
        <p:spPr>
          <a:xfrm>
            <a:off x="9156534" y="554990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17306663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wo Image/One Content" preserve="1">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1" name="Google Shape;91;p59"/>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2" name="Google Shape;92;p59"/>
          <p:cNvSpPr txBox="1">
            <a:spLocks noGrp="1"/>
          </p:cNvSpPr>
          <p:nvPr>
            <p:ph type="body" idx="2"/>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46938382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wo Image/Two Content" preserve="1">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6" name="Google Shape;96;p60"/>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8" name="Google Shape;98;p60"/>
          <p:cNvSpPr txBox="1">
            <a:spLocks noGrp="1"/>
          </p:cNvSpPr>
          <p:nvPr>
            <p:ph type="body" idx="3"/>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9" name="Google Shape;99;p60"/>
          <p:cNvSpPr txBox="1">
            <a:spLocks noGrp="1"/>
          </p:cNvSpPr>
          <p:nvPr>
            <p:ph type="body" idx="4"/>
          </p:nvPr>
        </p:nvSpPr>
        <p:spPr>
          <a:xfrm>
            <a:off x="3624200" y="4136860"/>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35758540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hree Image/Three Content" preserve="1">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02" name="Google Shape;102;p61"/>
          <p:cNvSpPr txBox="1">
            <a:spLocks noGrp="1"/>
          </p:cNvSpPr>
          <p:nvPr>
            <p:ph type="body" idx="1"/>
          </p:nvPr>
        </p:nvSpPr>
        <p:spPr>
          <a:xfrm>
            <a:off x="476844" y="1825630"/>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4" name="Google Shape;104;p61"/>
          <p:cNvSpPr txBox="1">
            <a:spLocks noGrp="1"/>
          </p:cNvSpPr>
          <p:nvPr>
            <p:ph type="body" idx="3"/>
          </p:nvPr>
        </p:nvSpPr>
        <p:spPr>
          <a:xfrm>
            <a:off x="479344" y="3207221"/>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6" name="Google Shape;106;p61"/>
          <p:cNvSpPr txBox="1">
            <a:spLocks noGrp="1"/>
          </p:cNvSpPr>
          <p:nvPr>
            <p:ph type="body" idx="5"/>
          </p:nvPr>
        </p:nvSpPr>
        <p:spPr>
          <a:xfrm>
            <a:off x="479344" y="4631284"/>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7741538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Four Image/Four Content" preserve="1">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10" name="Google Shape;110;p62"/>
          <p:cNvSpPr txBox="1">
            <a:spLocks noGrp="1"/>
          </p:cNvSpPr>
          <p:nvPr>
            <p:ph type="body" idx="1"/>
          </p:nvPr>
        </p:nvSpPr>
        <p:spPr>
          <a:xfrm>
            <a:off x="476844" y="182562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1" name="Google Shape;111;p62"/>
          <p:cNvSpPr txBox="1">
            <a:spLocks noGrp="1"/>
          </p:cNvSpPr>
          <p:nvPr>
            <p:ph type="body" idx="2"/>
          </p:nvPr>
        </p:nvSpPr>
        <p:spPr>
          <a:xfrm>
            <a:off x="3624200" y="182562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2" name="Google Shape;112;p62"/>
          <p:cNvSpPr txBox="1">
            <a:spLocks noGrp="1"/>
          </p:cNvSpPr>
          <p:nvPr>
            <p:ph type="body" idx="3"/>
          </p:nvPr>
        </p:nvSpPr>
        <p:spPr>
          <a:xfrm>
            <a:off x="476844" y="294143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3" name="Google Shape;113;p62"/>
          <p:cNvSpPr txBox="1">
            <a:spLocks noGrp="1"/>
          </p:cNvSpPr>
          <p:nvPr>
            <p:ph type="body" idx="4"/>
          </p:nvPr>
        </p:nvSpPr>
        <p:spPr>
          <a:xfrm>
            <a:off x="3624200" y="294143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5" name="Google Shape;115;p62"/>
          <p:cNvSpPr txBox="1">
            <a:spLocks noGrp="1"/>
          </p:cNvSpPr>
          <p:nvPr>
            <p:ph type="body" idx="6"/>
          </p:nvPr>
        </p:nvSpPr>
        <p:spPr>
          <a:xfrm>
            <a:off x="3627802" y="406596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7" name="Google Shape;117;p62"/>
          <p:cNvSpPr txBox="1">
            <a:spLocks noGrp="1"/>
          </p:cNvSpPr>
          <p:nvPr>
            <p:ph type="body" idx="8"/>
          </p:nvPr>
        </p:nvSpPr>
        <p:spPr>
          <a:xfrm>
            <a:off x="3627802" y="518177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99084552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B94EA-E0FC-45F7-8A06-3CE9694ED2AD}" type="datetimeFigureOut">
              <a:rPr lang="en-US" smtClean="0"/>
              <a:pPr/>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310501345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B94EA-E0FC-45F7-8A06-3CE9694ED2AD}" type="datetimeFigureOut">
              <a:rPr lang="en-US" smtClean="0"/>
              <a:pPr/>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ECC14-25A4-4E96-A863-D89966B2F4B2}" type="slidenum">
              <a:rPr lang="en-US" smtClean="0"/>
              <a:pPr/>
              <a:t>‹#›</a:t>
            </a:fld>
            <a:endParaRPr lang="en-US"/>
          </a:p>
        </p:txBody>
      </p:sp>
      <p:sp>
        <p:nvSpPr>
          <p:cNvPr id="5" name="Title 1"/>
          <p:cNvSpPr>
            <a:spLocks noGrp="1"/>
          </p:cNvSpPr>
          <p:nvPr>
            <p:ph type="title"/>
          </p:nvPr>
        </p:nvSpPr>
        <p:spPr>
          <a:xfrm>
            <a:off x="609600" y="274638"/>
            <a:ext cx="10972800" cy="1143000"/>
          </a:xfrm>
        </p:spPr>
        <p:txBody>
          <a:bodyPr/>
          <a:lstStyle/>
          <a:p>
            <a:r>
              <a:rPr lang="en-US"/>
              <a:t>Click to edit Master title style</a:t>
            </a:r>
          </a:p>
        </p:txBody>
      </p:sp>
      <p:sp>
        <p:nvSpPr>
          <p:cNvPr id="7" name="Content Placeholder 6"/>
          <p:cNvSpPr>
            <a:spLocks noGrp="1"/>
          </p:cNvSpPr>
          <p:nvPr>
            <p:ph sz="quarter" idx="13"/>
          </p:nvPr>
        </p:nvSpPr>
        <p:spPr>
          <a:xfrm>
            <a:off x="609600" y="1654176"/>
            <a:ext cx="10972800" cy="122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3012017" y="3468689"/>
            <a:ext cx="1363133" cy="1277937"/>
          </a:xfrm>
        </p:spPr>
        <p:txBody>
          <a:bodyPr/>
          <a:lstStyle/>
          <a:p>
            <a:r>
              <a:rPr lang="en-US"/>
              <a:t>Click icon to add picture</a:t>
            </a:r>
          </a:p>
        </p:txBody>
      </p:sp>
      <p:sp>
        <p:nvSpPr>
          <p:cNvPr id="11" name="Picture Placeholder 10"/>
          <p:cNvSpPr>
            <a:spLocks noGrp="1"/>
          </p:cNvSpPr>
          <p:nvPr>
            <p:ph type="pic" sz="quarter" idx="15"/>
          </p:nvPr>
        </p:nvSpPr>
        <p:spPr>
          <a:xfrm>
            <a:off x="6794501" y="3281363"/>
            <a:ext cx="1231900" cy="1585912"/>
          </a:xfrm>
        </p:spPr>
        <p:txBody>
          <a:bodyPr/>
          <a:lstStyle/>
          <a:p>
            <a:r>
              <a:rPr lang="en-US"/>
              <a:t>Click icon to add picture</a:t>
            </a:r>
          </a:p>
        </p:txBody>
      </p:sp>
      <p:sp>
        <p:nvSpPr>
          <p:cNvPr id="13" name="Content Placeholder 12"/>
          <p:cNvSpPr>
            <a:spLocks noGrp="1"/>
          </p:cNvSpPr>
          <p:nvPr>
            <p:ph sz="quarter" idx="16"/>
          </p:nvPr>
        </p:nvSpPr>
        <p:spPr>
          <a:xfrm>
            <a:off x="609600" y="5068888"/>
            <a:ext cx="10972800" cy="887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50061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20B94EA-E0FC-45F7-8A06-3CE9694ED2AD}"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318322370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0B94EA-E0FC-45F7-8A06-3CE9694ED2AD}" type="datetimeFigureOut">
              <a:rPr lang="en-US" smtClean="0"/>
              <a:pPr/>
              <a:t>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59142103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First Slide)" preserve="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22" name="Google Shape;22;p48"/>
          <p:cNvSpPr txBox="1"/>
          <p:nvPr/>
        </p:nvSpPr>
        <p:spPr>
          <a:xfrm>
            <a:off x="2332233" y="6401464"/>
            <a:ext cx="8856323"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rgbClr val="FFFFFF"/>
              </a:buClr>
              <a:buSzPts val="1200"/>
              <a:buFont typeface="Arial"/>
              <a:buNone/>
            </a:pPr>
            <a:r>
              <a:rPr lang="en-US" sz="900" b="0" i="0" u="none" strike="noStrike" cap="none">
                <a:solidFill>
                  <a:srgbClr val="FFFFFF"/>
                </a:solidFill>
                <a:latin typeface="Arial"/>
                <a:ea typeface="Arial"/>
                <a:cs typeface="Arial"/>
                <a:sym typeface="Arial"/>
              </a:rPr>
              <a:t>Rob Thompson and Jack Erjavec, Automotive Technology: A Systems Approach, 8</a:t>
            </a:r>
            <a:r>
              <a:rPr lang="en-US" sz="900" b="0" i="0" u="none" strike="noStrike" cap="none" baseline="30000">
                <a:solidFill>
                  <a:srgbClr val="FFFFFF"/>
                </a:solidFill>
                <a:latin typeface="Arial"/>
                <a:ea typeface="Arial"/>
                <a:cs typeface="Arial"/>
                <a:sym typeface="Arial"/>
              </a:rPr>
              <a:t>th</a:t>
            </a:r>
            <a:r>
              <a:rPr lang="en-US" sz="900" b="0" i="0" u="none" strike="noStrike" cap="none">
                <a:solidFill>
                  <a:srgbClr val="FFFFFF"/>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119901734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Content" preserve="1">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80847344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50"/>
          <p:cNvSpPr txBox="1">
            <a:spLocks noGrp="1"/>
          </p:cNvSpPr>
          <p:nvPr>
            <p:ph type="body" idx="1"/>
          </p:nvPr>
        </p:nvSpPr>
        <p:spPr>
          <a:xfrm>
            <a:off x="476844" y="1825625"/>
            <a:ext cx="5542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29" name="Google Shape;29;p50"/>
          <p:cNvSpPr txBox="1">
            <a:spLocks noGrp="1"/>
          </p:cNvSpPr>
          <p:nvPr>
            <p:ph type="body" idx="2"/>
          </p:nvPr>
        </p:nvSpPr>
        <p:spPr>
          <a:xfrm>
            <a:off x="6172201" y="1825625"/>
            <a:ext cx="5542956"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47500421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2" name="Google Shape;32;p51"/>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lvl="0"/>
            <a:fld id="{9A670BA7-DE87-4785-B054-11F5AB483884}" type="datetime1">
              <a:rPr lang="en-US" smtClean="0"/>
              <a:pPr lvl="0"/>
              <a:t>12/4/2024</a:t>
            </a:fld>
            <a:endParaRPr lang="en-US"/>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lvl="0"/>
            <a:endParaRPr lang="en-US"/>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350">
                <a:solidFill>
                  <a:schemeClr val="dk1"/>
                </a:solidFill>
                <a:latin typeface="Calibri"/>
                <a:ea typeface="Calibri"/>
                <a:cs typeface="Calibri"/>
                <a:sym typeface="Calibri"/>
              </a:defRPr>
            </a:lvl1pPr>
            <a:lvl2pPr marL="0" marR="0" lvl="1" indent="0" algn="l" rtl="0">
              <a:spcBef>
                <a:spcPts val="0"/>
              </a:spcBef>
              <a:spcAft>
                <a:spcPts val="0"/>
              </a:spcAft>
              <a:buNone/>
              <a:defRPr sz="1350">
                <a:solidFill>
                  <a:schemeClr val="dk1"/>
                </a:solidFill>
                <a:latin typeface="Calibri"/>
                <a:ea typeface="Calibri"/>
                <a:cs typeface="Calibri"/>
                <a:sym typeface="Calibri"/>
              </a:defRPr>
            </a:lvl2pPr>
            <a:lvl3pPr marL="0" marR="0" lvl="2" indent="0" algn="l" rtl="0">
              <a:spcBef>
                <a:spcPts val="0"/>
              </a:spcBef>
              <a:spcAft>
                <a:spcPts val="0"/>
              </a:spcAft>
              <a:buNone/>
              <a:defRPr sz="1350">
                <a:solidFill>
                  <a:schemeClr val="dk1"/>
                </a:solidFill>
                <a:latin typeface="Calibri"/>
                <a:ea typeface="Calibri"/>
                <a:cs typeface="Calibri"/>
                <a:sym typeface="Calibri"/>
              </a:defRPr>
            </a:lvl3pPr>
            <a:lvl4pPr marL="0" marR="0" lvl="3" indent="0" algn="l" rtl="0">
              <a:spcBef>
                <a:spcPts val="0"/>
              </a:spcBef>
              <a:spcAft>
                <a:spcPts val="0"/>
              </a:spcAft>
              <a:buNone/>
              <a:defRPr sz="1350">
                <a:solidFill>
                  <a:schemeClr val="dk1"/>
                </a:solidFill>
                <a:latin typeface="Calibri"/>
                <a:ea typeface="Calibri"/>
                <a:cs typeface="Calibri"/>
                <a:sym typeface="Calibri"/>
              </a:defRPr>
            </a:lvl4pPr>
            <a:lvl5pPr marL="0" marR="0" lvl="4" indent="0" algn="l" rtl="0">
              <a:spcBef>
                <a:spcPts val="0"/>
              </a:spcBef>
              <a:spcAft>
                <a:spcPts val="0"/>
              </a:spcAft>
              <a:buNone/>
              <a:defRPr sz="1350">
                <a:solidFill>
                  <a:schemeClr val="dk1"/>
                </a:solidFill>
                <a:latin typeface="Calibri"/>
                <a:ea typeface="Calibri"/>
                <a:cs typeface="Calibri"/>
                <a:sym typeface="Calibri"/>
              </a:defRPr>
            </a:lvl5pPr>
            <a:lvl6pPr marL="0" marR="0" lvl="5" indent="0" algn="l" rtl="0">
              <a:spcBef>
                <a:spcPts val="0"/>
              </a:spcBef>
              <a:spcAft>
                <a:spcPts val="0"/>
              </a:spcAft>
              <a:buNone/>
              <a:defRPr sz="1350">
                <a:solidFill>
                  <a:schemeClr val="dk1"/>
                </a:solidFill>
                <a:latin typeface="Calibri"/>
                <a:ea typeface="Calibri"/>
                <a:cs typeface="Calibri"/>
                <a:sym typeface="Calibri"/>
              </a:defRPr>
            </a:lvl6pPr>
            <a:lvl7pPr marL="0" marR="0" lvl="6" indent="0" algn="l" rtl="0">
              <a:spcBef>
                <a:spcPts val="0"/>
              </a:spcBef>
              <a:spcAft>
                <a:spcPts val="0"/>
              </a:spcAft>
              <a:buNone/>
              <a:defRPr sz="1350">
                <a:solidFill>
                  <a:schemeClr val="dk1"/>
                </a:solidFill>
                <a:latin typeface="Calibri"/>
                <a:ea typeface="Calibri"/>
                <a:cs typeface="Calibri"/>
                <a:sym typeface="Calibri"/>
              </a:defRPr>
            </a:lvl7pPr>
            <a:lvl8pPr marL="0" marR="0" lvl="7" indent="0" algn="l" rtl="0">
              <a:spcBef>
                <a:spcPts val="0"/>
              </a:spcBef>
              <a:spcAft>
                <a:spcPts val="0"/>
              </a:spcAft>
              <a:buNone/>
              <a:defRPr sz="1350">
                <a:solidFill>
                  <a:schemeClr val="dk1"/>
                </a:solidFill>
                <a:latin typeface="Calibri"/>
                <a:ea typeface="Calibri"/>
                <a:cs typeface="Calibri"/>
                <a:sym typeface="Calibri"/>
              </a:defRPr>
            </a:lvl8pPr>
            <a:lvl9pPr marL="0" marR="0" lvl="8" indent="0" algn="l" rtl="0">
              <a:spcBef>
                <a:spcPts val="0"/>
              </a:spcBef>
              <a:spcAft>
                <a:spcPts val="0"/>
              </a:spcAft>
              <a:buNone/>
              <a:defRPr sz="1350">
                <a:solidFill>
                  <a:schemeClr val="dk1"/>
                </a:solidFill>
                <a:latin typeface="Calibri"/>
                <a:ea typeface="Calibri"/>
                <a:cs typeface="Calibri"/>
                <a:sym typeface="Calibri"/>
              </a:defRPr>
            </a:lvl9pPr>
          </a:lstStyle>
          <a:p>
            <a:pPr lvl="0"/>
            <a:fld id="{7FB27F77-B5FC-4EE7-9679-D86DADD66064}" type="slidenum">
              <a:rPr lang="en-US" smtClean="0"/>
              <a:t>‹#›</a:t>
            </a:fld>
            <a:endParaRPr lang="en-US"/>
          </a:p>
        </p:txBody>
      </p:sp>
    </p:spTree>
    <p:extLst>
      <p:ext uri="{BB962C8B-B14F-4D97-AF65-F5344CB8AC3E}">
        <p14:creationId xmlns:p14="http://schemas.microsoft.com/office/powerpoint/2010/main" val="267402885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Section Divider" preserve="1">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40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750"/>
              </a:spcBef>
              <a:spcAft>
                <a:spcPts val="0"/>
              </a:spcAft>
              <a:buSzPts val="3600"/>
              <a:buNone/>
              <a:defRPr sz="27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pic>
        <p:nvPicPr>
          <p:cNvPr id="40" name="Google Shape;40;p52"/>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sp>
        <p:nvSpPr>
          <p:cNvPr id="42" name="Google Shape;42;p52"/>
          <p:cNvSpPr txBox="1"/>
          <p:nvPr/>
        </p:nvSpPr>
        <p:spPr>
          <a:xfrm>
            <a:off x="2322513" y="6393562"/>
            <a:ext cx="8677275"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900">
                <a:solidFill>
                  <a:schemeClr val="lt1"/>
                </a:solidFill>
                <a:latin typeface="Arial"/>
                <a:ea typeface="Arial"/>
                <a:cs typeface="Arial"/>
                <a:sym typeface="Arial"/>
              </a:rPr>
              <a:t>Rob Thompson and Jack Erjavec, Automotive Technology: A Systems Approach, 8</a:t>
            </a:r>
            <a:r>
              <a:rPr lang="en-US" sz="900" baseline="30000">
                <a:solidFill>
                  <a:schemeClr val="lt1"/>
                </a:solidFill>
                <a:latin typeface="Arial"/>
                <a:ea typeface="Arial"/>
                <a:cs typeface="Arial"/>
                <a:sym typeface="Arial"/>
              </a:rPr>
              <a:t>th</a:t>
            </a:r>
            <a:r>
              <a:rPr lang="en-US" sz="9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335142598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1_Title Content" preserve="1">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5" name="Google Shape;45;p53"/>
          <p:cNvSpPr txBox="1">
            <a:spLocks noGrp="1"/>
          </p:cNvSpPr>
          <p:nvPr>
            <p:ph type="body" idx="1"/>
          </p:nvPr>
        </p:nvSpPr>
        <p:spPr>
          <a:xfrm>
            <a:off x="476844" y="1508125"/>
            <a:ext cx="8429413" cy="1920876"/>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6" name="Google Shape;46;p53"/>
          <p:cNvSpPr>
            <a:spLocks noGrp="1"/>
          </p:cNvSpPr>
          <p:nvPr>
            <p:ph type="pic" idx="2"/>
          </p:nvPr>
        </p:nvSpPr>
        <p:spPr>
          <a:xfrm>
            <a:off x="712789" y="3713163"/>
            <a:ext cx="3640137" cy="1636712"/>
          </a:xfrm>
          <a:prstGeom prst="rect">
            <a:avLst/>
          </a:prstGeom>
          <a:noFill/>
          <a:ln>
            <a:noFill/>
          </a:ln>
        </p:spPr>
      </p:sp>
      <p:sp>
        <p:nvSpPr>
          <p:cNvPr id="47" name="Google Shape;47;p53"/>
          <p:cNvSpPr>
            <a:spLocks noGrp="1"/>
          </p:cNvSpPr>
          <p:nvPr>
            <p:ph type="pic" idx="3"/>
          </p:nvPr>
        </p:nvSpPr>
        <p:spPr>
          <a:xfrm>
            <a:off x="5157790" y="3713165"/>
            <a:ext cx="3062287" cy="1343025"/>
          </a:xfrm>
          <a:prstGeom prst="rect">
            <a:avLst/>
          </a:prstGeom>
          <a:noFill/>
          <a:ln>
            <a:noFill/>
          </a:ln>
        </p:spPr>
      </p:sp>
      <p:sp>
        <p:nvSpPr>
          <p:cNvPr id="48" name="Google Shape;48;p53"/>
          <p:cNvSpPr txBox="1">
            <a:spLocks noGrp="1"/>
          </p:cNvSpPr>
          <p:nvPr>
            <p:ph type="body" idx="4"/>
          </p:nvPr>
        </p:nvSpPr>
        <p:spPr>
          <a:xfrm>
            <a:off x="7839076" y="2259013"/>
            <a:ext cx="3408363" cy="14541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1770622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1_Title Content and image caption" preserve="1">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2" name="Google Shape;52;p54"/>
          <p:cNvSpPr txBox="1">
            <a:spLocks noGrp="1"/>
          </p:cNvSpPr>
          <p:nvPr>
            <p:ph type="body" idx="1"/>
          </p:nvPr>
        </p:nvSpPr>
        <p:spPr>
          <a:xfrm>
            <a:off x="476844" y="1280161"/>
            <a:ext cx="11241915" cy="177501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3" name="Google Shape;53;p54"/>
          <p:cNvSpPr txBox="1">
            <a:spLocks noGrp="1"/>
          </p:cNvSpPr>
          <p:nvPr>
            <p:ph type="body" idx="2"/>
          </p:nvPr>
        </p:nvSpPr>
        <p:spPr>
          <a:xfrm>
            <a:off x="476251" y="3184525"/>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4" name="Google Shape;54;p54"/>
          <p:cNvSpPr txBox="1">
            <a:spLocks noGrp="1"/>
          </p:cNvSpPr>
          <p:nvPr>
            <p:ph type="body" idx="3"/>
          </p:nvPr>
        </p:nvSpPr>
        <p:spPr>
          <a:xfrm>
            <a:off x="476251" y="3925890"/>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5" name="Google Shape;55;p54"/>
          <p:cNvSpPr>
            <a:spLocks noGrp="1"/>
          </p:cNvSpPr>
          <p:nvPr>
            <p:ph type="pic" idx="4"/>
          </p:nvPr>
        </p:nvSpPr>
        <p:spPr>
          <a:xfrm>
            <a:off x="5745164" y="3313113"/>
            <a:ext cx="2484437" cy="1054100"/>
          </a:xfrm>
          <a:prstGeom prst="rect">
            <a:avLst/>
          </a:prstGeom>
          <a:noFill/>
          <a:ln>
            <a:noFill/>
          </a:ln>
        </p:spPr>
      </p:sp>
      <p:sp>
        <p:nvSpPr>
          <p:cNvPr id="56" name="Google Shape;56;p54"/>
          <p:cNvSpPr>
            <a:spLocks noGrp="1"/>
          </p:cNvSpPr>
          <p:nvPr>
            <p:ph type="pic" idx="5"/>
          </p:nvPr>
        </p:nvSpPr>
        <p:spPr>
          <a:xfrm>
            <a:off x="5948364" y="4538663"/>
            <a:ext cx="2033587" cy="754062"/>
          </a:xfrm>
          <a:prstGeom prst="rect">
            <a:avLst/>
          </a:prstGeom>
          <a:noFill/>
          <a:ln>
            <a:noFill/>
          </a:ln>
        </p:spPr>
      </p:sp>
    </p:spTree>
    <p:extLst>
      <p:ext uri="{BB962C8B-B14F-4D97-AF65-F5344CB8AC3E}">
        <p14:creationId xmlns:p14="http://schemas.microsoft.com/office/powerpoint/2010/main" val="32416979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hree Content" preserve="1">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9" name="Google Shape;59;p55"/>
          <p:cNvSpPr txBox="1">
            <a:spLocks noGrp="1"/>
          </p:cNvSpPr>
          <p:nvPr>
            <p:ph type="body" idx="1"/>
          </p:nvPr>
        </p:nvSpPr>
        <p:spPr>
          <a:xfrm>
            <a:off x="476844"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0" name="Google Shape;60;p55"/>
          <p:cNvSpPr txBox="1">
            <a:spLocks noGrp="1"/>
          </p:cNvSpPr>
          <p:nvPr>
            <p:ph type="body" idx="2"/>
          </p:nvPr>
        </p:nvSpPr>
        <p:spPr>
          <a:xfrm>
            <a:off x="4423735" y="1829037"/>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1" name="Google Shape;61;p55"/>
          <p:cNvSpPr txBox="1">
            <a:spLocks noGrp="1"/>
          </p:cNvSpPr>
          <p:nvPr>
            <p:ph type="body" idx="3"/>
          </p:nvPr>
        </p:nvSpPr>
        <p:spPr>
          <a:xfrm>
            <a:off x="8370625"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81267162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Subtitle" preserve="1">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4" name="Google Shape;64;p56"/>
          <p:cNvSpPr txBox="1">
            <a:spLocks noGrp="1"/>
          </p:cNvSpPr>
          <p:nvPr>
            <p:ph type="body" idx="1"/>
          </p:nvPr>
        </p:nvSpPr>
        <p:spPr>
          <a:xfrm>
            <a:off x="476844" y="188767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5" name="Google Shape;65;p56"/>
          <p:cNvSpPr txBox="1">
            <a:spLocks noGrp="1"/>
          </p:cNvSpPr>
          <p:nvPr>
            <p:ph type="body" idx="2"/>
          </p:nvPr>
        </p:nvSpPr>
        <p:spPr>
          <a:xfrm>
            <a:off x="476844" y="2677888"/>
            <a:ext cx="11241915" cy="2621900"/>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6" name="Google Shape;66;p56"/>
          <p:cNvSpPr txBox="1">
            <a:spLocks noGrp="1"/>
          </p:cNvSpPr>
          <p:nvPr>
            <p:ph type="body" idx="3"/>
          </p:nvPr>
        </p:nvSpPr>
        <p:spPr>
          <a:xfrm>
            <a:off x="476844" y="5395329"/>
            <a:ext cx="11241915" cy="951787"/>
          </a:xfrm>
          <a:prstGeom prst="rect">
            <a:avLst/>
          </a:prstGeom>
          <a:noFill/>
          <a:ln>
            <a:noFill/>
          </a:ln>
        </p:spPr>
        <p:txBody>
          <a:bodyPr spcFirstLastPara="1" wrap="square" lIns="91425" tIns="45700" rIns="91425" bIns="45700" anchor="t" anchorCtr="0">
            <a:noAutofit/>
          </a:bodyPr>
          <a:lstStyle>
            <a:lvl1pPr marL="342900" lvl="0" indent="-214313" algn="l">
              <a:lnSpc>
                <a:spcPct val="100000"/>
              </a:lnSpc>
              <a:spcBef>
                <a:spcPts val="750"/>
              </a:spcBef>
              <a:spcAft>
                <a:spcPts val="0"/>
              </a:spcAft>
              <a:buSzPts val="900"/>
              <a:buChar char="•"/>
              <a:defRPr sz="675" b="0"/>
            </a:lvl1pPr>
            <a:lvl2pPr marL="685800" lvl="1" indent="-214313" algn="l">
              <a:lnSpc>
                <a:spcPct val="100000"/>
              </a:lnSpc>
              <a:spcBef>
                <a:spcPts val="600"/>
              </a:spcBef>
              <a:spcAft>
                <a:spcPts val="0"/>
              </a:spcAft>
              <a:buSzPts val="900"/>
              <a:buChar char="−"/>
              <a:defRPr sz="675" b="0"/>
            </a:lvl2pPr>
            <a:lvl3pPr marL="1028700" lvl="2" indent="-205739" algn="l">
              <a:lnSpc>
                <a:spcPct val="100000"/>
              </a:lnSpc>
              <a:spcBef>
                <a:spcPts val="600"/>
              </a:spcBef>
              <a:spcAft>
                <a:spcPts val="0"/>
              </a:spcAft>
              <a:buSzPts val="720"/>
              <a:buChar char="▪"/>
              <a:defRPr sz="675" b="0"/>
            </a:lvl3pPr>
            <a:lvl4pPr marL="1371600" lvl="3" indent="-214313" algn="l">
              <a:lnSpc>
                <a:spcPct val="90000"/>
              </a:lnSpc>
              <a:spcBef>
                <a:spcPts val="600"/>
              </a:spcBef>
              <a:spcAft>
                <a:spcPts val="0"/>
              </a:spcAft>
              <a:buSzPts val="900"/>
              <a:buChar char="•"/>
              <a:defRPr sz="675" b="0"/>
            </a:lvl4pPr>
            <a:lvl5pPr marL="1714500" lvl="4" indent="-214313" algn="l">
              <a:lnSpc>
                <a:spcPct val="90000"/>
              </a:lnSpc>
              <a:spcBef>
                <a:spcPts val="375"/>
              </a:spcBef>
              <a:spcAft>
                <a:spcPts val="0"/>
              </a:spcAft>
              <a:buClr>
                <a:schemeClr val="accent1"/>
              </a:buClr>
              <a:buSzPts val="900"/>
              <a:buChar char="•"/>
              <a:defRPr sz="675" b="0"/>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41073176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Subtitle/Images" preserve="1">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4"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9" name="Google Shape;69;p57"/>
          <p:cNvSpPr txBox="1">
            <a:spLocks noGrp="1"/>
          </p:cNvSpPr>
          <p:nvPr>
            <p:ph type="body" idx="1"/>
          </p:nvPr>
        </p:nvSpPr>
        <p:spPr>
          <a:xfrm>
            <a:off x="476844" y="185769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0" name="Google Shape;70;p57"/>
          <p:cNvSpPr txBox="1">
            <a:spLocks noGrp="1"/>
          </p:cNvSpPr>
          <p:nvPr>
            <p:ph type="body" idx="2"/>
          </p:nvPr>
        </p:nvSpPr>
        <p:spPr>
          <a:xfrm>
            <a:off x="476844" y="2677888"/>
            <a:ext cx="11241915" cy="150549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23449102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Multi Image/Content" preserve="1">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4" y="473247"/>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7" name="Google Shape;77;p58"/>
          <p:cNvSpPr txBox="1">
            <a:spLocks noGrp="1"/>
          </p:cNvSpPr>
          <p:nvPr>
            <p:ph type="body" idx="1"/>
          </p:nvPr>
        </p:nvSpPr>
        <p:spPr>
          <a:xfrm>
            <a:off x="480447"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8" name="Google Shape;78;p58"/>
          <p:cNvSpPr txBox="1">
            <a:spLocks noGrp="1"/>
          </p:cNvSpPr>
          <p:nvPr>
            <p:ph type="body" idx="2"/>
          </p:nvPr>
        </p:nvSpPr>
        <p:spPr>
          <a:xfrm>
            <a:off x="3386091"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9" name="Google Shape;79;p58"/>
          <p:cNvSpPr txBox="1">
            <a:spLocks noGrp="1"/>
          </p:cNvSpPr>
          <p:nvPr>
            <p:ph type="body" idx="3"/>
          </p:nvPr>
        </p:nvSpPr>
        <p:spPr>
          <a:xfrm>
            <a:off x="628549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0" name="Google Shape;80;p58"/>
          <p:cNvSpPr txBox="1">
            <a:spLocks noGrp="1"/>
          </p:cNvSpPr>
          <p:nvPr>
            <p:ph type="body" idx="4"/>
          </p:nvPr>
        </p:nvSpPr>
        <p:spPr>
          <a:xfrm>
            <a:off x="915551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1" name="Google Shape;81;p58"/>
          <p:cNvSpPr txBox="1">
            <a:spLocks noGrp="1"/>
          </p:cNvSpPr>
          <p:nvPr>
            <p:ph type="body" idx="5"/>
          </p:nvPr>
        </p:nvSpPr>
        <p:spPr>
          <a:xfrm>
            <a:off x="480446"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2" name="Google Shape;82;p58"/>
          <p:cNvSpPr txBox="1">
            <a:spLocks noGrp="1"/>
          </p:cNvSpPr>
          <p:nvPr>
            <p:ph type="body" idx="6"/>
          </p:nvPr>
        </p:nvSpPr>
        <p:spPr>
          <a:xfrm>
            <a:off x="3386090"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3" name="Google Shape;83;p58"/>
          <p:cNvSpPr txBox="1">
            <a:spLocks noGrp="1"/>
          </p:cNvSpPr>
          <p:nvPr>
            <p:ph type="body" idx="7"/>
          </p:nvPr>
        </p:nvSpPr>
        <p:spPr>
          <a:xfrm>
            <a:off x="628549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4" name="Google Shape;84;p58"/>
          <p:cNvSpPr txBox="1">
            <a:spLocks noGrp="1"/>
          </p:cNvSpPr>
          <p:nvPr>
            <p:ph type="body" idx="8"/>
          </p:nvPr>
        </p:nvSpPr>
        <p:spPr>
          <a:xfrm>
            <a:off x="915551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5" name="Google Shape;85;p58"/>
          <p:cNvSpPr txBox="1">
            <a:spLocks noGrp="1"/>
          </p:cNvSpPr>
          <p:nvPr>
            <p:ph type="body" idx="9"/>
          </p:nvPr>
        </p:nvSpPr>
        <p:spPr>
          <a:xfrm>
            <a:off x="741362" y="5549902"/>
            <a:ext cx="1909763"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6" name="Google Shape;86;p58"/>
          <p:cNvSpPr txBox="1">
            <a:spLocks noGrp="1"/>
          </p:cNvSpPr>
          <p:nvPr>
            <p:ph type="body" idx="13"/>
          </p:nvPr>
        </p:nvSpPr>
        <p:spPr>
          <a:xfrm>
            <a:off x="3305177" y="5549902"/>
            <a:ext cx="2562225"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7" name="Google Shape;87;p58"/>
          <p:cNvSpPr txBox="1">
            <a:spLocks noGrp="1"/>
          </p:cNvSpPr>
          <p:nvPr>
            <p:ph type="body" idx="14"/>
          </p:nvPr>
        </p:nvSpPr>
        <p:spPr>
          <a:xfrm>
            <a:off x="6181726" y="554355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8" name="Google Shape;88;p58"/>
          <p:cNvSpPr txBox="1">
            <a:spLocks noGrp="1"/>
          </p:cNvSpPr>
          <p:nvPr>
            <p:ph type="body" idx="15"/>
          </p:nvPr>
        </p:nvSpPr>
        <p:spPr>
          <a:xfrm>
            <a:off x="9156534" y="554990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97906512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wo Image/One Content" preserve="1">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1" name="Google Shape;91;p59"/>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2" name="Google Shape;92;p59"/>
          <p:cNvSpPr txBox="1">
            <a:spLocks noGrp="1"/>
          </p:cNvSpPr>
          <p:nvPr>
            <p:ph type="body" idx="2"/>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84709346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wo Image/Two Content" preserve="1">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6" name="Google Shape;96;p60"/>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8" name="Google Shape;98;p60"/>
          <p:cNvSpPr txBox="1">
            <a:spLocks noGrp="1"/>
          </p:cNvSpPr>
          <p:nvPr>
            <p:ph type="body" idx="3"/>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9" name="Google Shape;99;p60"/>
          <p:cNvSpPr txBox="1">
            <a:spLocks noGrp="1"/>
          </p:cNvSpPr>
          <p:nvPr>
            <p:ph type="body" idx="4"/>
          </p:nvPr>
        </p:nvSpPr>
        <p:spPr>
          <a:xfrm>
            <a:off x="3624200" y="4136860"/>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91164140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hree Image/Three Content" preserve="1">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02" name="Google Shape;102;p61"/>
          <p:cNvSpPr txBox="1">
            <a:spLocks noGrp="1"/>
          </p:cNvSpPr>
          <p:nvPr>
            <p:ph type="body" idx="1"/>
          </p:nvPr>
        </p:nvSpPr>
        <p:spPr>
          <a:xfrm>
            <a:off x="476844" y="1825630"/>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4" name="Google Shape;104;p61"/>
          <p:cNvSpPr txBox="1">
            <a:spLocks noGrp="1"/>
          </p:cNvSpPr>
          <p:nvPr>
            <p:ph type="body" idx="3"/>
          </p:nvPr>
        </p:nvSpPr>
        <p:spPr>
          <a:xfrm>
            <a:off x="479344" y="3207221"/>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6" name="Google Shape;106;p61"/>
          <p:cNvSpPr txBox="1">
            <a:spLocks noGrp="1"/>
          </p:cNvSpPr>
          <p:nvPr>
            <p:ph type="body" idx="5"/>
          </p:nvPr>
        </p:nvSpPr>
        <p:spPr>
          <a:xfrm>
            <a:off x="479344" y="4631284"/>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30293220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Four Image/Four Content" preserve="1">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10" name="Google Shape;110;p62"/>
          <p:cNvSpPr txBox="1">
            <a:spLocks noGrp="1"/>
          </p:cNvSpPr>
          <p:nvPr>
            <p:ph type="body" idx="1"/>
          </p:nvPr>
        </p:nvSpPr>
        <p:spPr>
          <a:xfrm>
            <a:off x="476844" y="182562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1" name="Google Shape;111;p62"/>
          <p:cNvSpPr txBox="1">
            <a:spLocks noGrp="1"/>
          </p:cNvSpPr>
          <p:nvPr>
            <p:ph type="body" idx="2"/>
          </p:nvPr>
        </p:nvSpPr>
        <p:spPr>
          <a:xfrm>
            <a:off x="3624200" y="182562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2" name="Google Shape;112;p62"/>
          <p:cNvSpPr txBox="1">
            <a:spLocks noGrp="1"/>
          </p:cNvSpPr>
          <p:nvPr>
            <p:ph type="body" idx="3"/>
          </p:nvPr>
        </p:nvSpPr>
        <p:spPr>
          <a:xfrm>
            <a:off x="476844" y="294143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3" name="Google Shape;113;p62"/>
          <p:cNvSpPr txBox="1">
            <a:spLocks noGrp="1"/>
          </p:cNvSpPr>
          <p:nvPr>
            <p:ph type="body" idx="4"/>
          </p:nvPr>
        </p:nvSpPr>
        <p:spPr>
          <a:xfrm>
            <a:off x="3624200" y="294143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5" name="Google Shape;115;p62"/>
          <p:cNvSpPr txBox="1">
            <a:spLocks noGrp="1"/>
          </p:cNvSpPr>
          <p:nvPr>
            <p:ph type="body" idx="6"/>
          </p:nvPr>
        </p:nvSpPr>
        <p:spPr>
          <a:xfrm>
            <a:off x="3627802" y="406596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7" name="Google Shape;117;p62"/>
          <p:cNvSpPr txBox="1">
            <a:spLocks noGrp="1"/>
          </p:cNvSpPr>
          <p:nvPr>
            <p:ph type="body" idx="8"/>
          </p:nvPr>
        </p:nvSpPr>
        <p:spPr>
          <a:xfrm>
            <a:off x="3627802" y="518177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69625308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6062AD2B-FFE7-4EDF-BF1C-AF911F3B64C9}" type="datetime1">
              <a:rPr lang="en-US" smtClean="0"/>
              <a:pPr lvl="0"/>
              <a:t>12/4/2024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62262A19-C809-4066-BCFF-D0801F1AFFF0}" type="slidenum">
              <a:t>‹#›</a:t>
            </a:fld>
            <a:endParaRPr lang="en-US"/>
          </a:p>
        </p:txBody>
      </p:sp>
      <p:sp>
        <p:nvSpPr>
          <p:cNvPr id="5" name="Title 1"/>
          <p:cNvSpPr>
            <a:spLocks noGrp="1"/>
          </p:cNvSpPr>
          <p:nvPr>
            <p:ph type="title"/>
          </p:nvPr>
        </p:nvSpPr>
        <p:spPr>
          <a:xfrm>
            <a:off x="609600" y="274680"/>
            <a:ext cx="10972320" cy="1142640"/>
          </a:xfrm>
        </p:spPr>
        <p:txBody>
          <a:bodyPr/>
          <a:lstStyle/>
          <a:p>
            <a:r>
              <a:rPr lang="en-US"/>
              <a:t>Click to edit Master title style</a:t>
            </a:r>
            <a:endParaRPr lang="ru-RU"/>
          </a:p>
        </p:txBody>
      </p:sp>
      <p:sp>
        <p:nvSpPr>
          <p:cNvPr id="7" name="Content Placeholder 6"/>
          <p:cNvSpPr>
            <a:spLocks noGrp="1"/>
          </p:cNvSpPr>
          <p:nvPr>
            <p:ph sz="quarter" idx="13"/>
          </p:nvPr>
        </p:nvSpPr>
        <p:spPr>
          <a:xfrm>
            <a:off x="609600" y="1676400"/>
            <a:ext cx="109728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4673600" y="2895600"/>
            <a:ext cx="1625600" cy="1371600"/>
          </a:xfrm>
        </p:spPr>
        <p:txBody>
          <a:bodyPr/>
          <a:lstStyle/>
          <a:p>
            <a:r>
              <a:rPr lang="en-US"/>
              <a:t>Click icon to add picture</a:t>
            </a:r>
          </a:p>
        </p:txBody>
      </p:sp>
      <p:sp>
        <p:nvSpPr>
          <p:cNvPr id="11" name="Picture Placeholder 10"/>
          <p:cNvSpPr>
            <a:spLocks noGrp="1"/>
          </p:cNvSpPr>
          <p:nvPr>
            <p:ph type="pic" sz="quarter" idx="15"/>
          </p:nvPr>
        </p:nvSpPr>
        <p:spPr>
          <a:xfrm>
            <a:off x="6908800" y="2819400"/>
            <a:ext cx="2540000" cy="1447800"/>
          </a:xfrm>
        </p:spPr>
        <p:txBody>
          <a:bodyPr/>
          <a:lstStyle/>
          <a:p>
            <a:r>
              <a:rPr lang="en-US"/>
              <a:t>Click icon to add picture</a:t>
            </a:r>
          </a:p>
        </p:txBody>
      </p:sp>
      <p:sp>
        <p:nvSpPr>
          <p:cNvPr id="13" name="Content Placeholder 12"/>
          <p:cNvSpPr>
            <a:spLocks noGrp="1"/>
          </p:cNvSpPr>
          <p:nvPr>
            <p:ph sz="quarter" idx="16"/>
          </p:nvPr>
        </p:nvSpPr>
        <p:spPr>
          <a:xfrm>
            <a:off x="609600" y="4419600"/>
            <a:ext cx="1107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0003310"/>
      </p:ext>
    </p:extLst>
  </p:cSld>
  <p:clrMapOvr>
    <a:masterClrMapping/>
  </p:clrMapOvr>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833EE582-07FE-4340-B291-A98D6735D754}" type="datetime1">
              <a:rPr lang="en-US" smtClean="0"/>
              <a:pPr lvl="0"/>
              <a:t>12/4/2024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B6AF2B55-1CEC-4C2F-9FA6-21EDF5D4E06D}" type="slidenum">
              <a:t>‹#›</a:t>
            </a:fld>
            <a:endParaRPr lang="en-US"/>
          </a:p>
        </p:txBody>
      </p:sp>
      <p:sp>
        <p:nvSpPr>
          <p:cNvPr id="6" name="Title 1"/>
          <p:cNvSpPr>
            <a:spLocks noGrp="1"/>
          </p:cNvSpPr>
          <p:nvPr>
            <p:ph type="title"/>
          </p:nvPr>
        </p:nvSpPr>
        <p:spPr>
          <a:xfrm>
            <a:off x="609600" y="273600"/>
            <a:ext cx="10972320" cy="1144800"/>
          </a:xfrm>
        </p:spPr>
        <p:txBody>
          <a:bodyPr/>
          <a:lstStyle/>
          <a:p>
            <a:r>
              <a:rPr lang="en-US"/>
              <a:t>Click to edit Master title style</a:t>
            </a:r>
            <a:endParaRPr lang="ru-RU"/>
          </a:p>
        </p:txBody>
      </p:sp>
      <p:sp>
        <p:nvSpPr>
          <p:cNvPr id="8" name="Content Placeholder 7"/>
          <p:cNvSpPr>
            <a:spLocks noGrp="1"/>
          </p:cNvSpPr>
          <p:nvPr>
            <p:ph sz="quarter" idx="13"/>
          </p:nvPr>
        </p:nvSpPr>
        <p:spPr>
          <a:xfrm>
            <a:off x="609600" y="1676400"/>
            <a:ext cx="11074400" cy="114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p:cNvSpPr>
            <a:spLocks noGrp="1"/>
          </p:cNvSpPr>
          <p:nvPr>
            <p:ph type="pic" sz="quarter" idx="14"/>
          </p:nvPr>
        </p:nvSpPr>
        <p:spPr>
          <a:xfrm>
            <a:off x="2235200" y="3124200"/>
            <a:ext cx="1828800" cy="1447800"/>
          </a:xfrm>
        </p:spPr>
        <p:txBody>
          <a:bodyPr/>
          <a:lstStyle/>
          <a:p>
            <a:r>
              <a:rPr lang="en-US"/>
              <a:t>Click icon to add picture</a:t>
            </a:r>
          </a:p>
        </p:txBody>
      </p:sp>
      <p:sp>
        <p:nvSpPr>
          <p:cNvPr id="12" name="Picture Placeholder 11"/>
          <p:cNvSpPr>
            <a:spLocks noGrp="1"/>
          </p:cNvSpPr>
          <p:nvPr>
            <p:ph type="pic" sz="quarter" idx="15"/>
          </p:nvPr>
        </p:nvSpPr>
        <p:spPr>
          <a:xfrm>
            <a:off x="6807200" y="3124200"/>
            <a:ext cx="2438400" cy="1371600"/>
          </a:xfrm>
        </p:spPr>
        <p:txBody>
          <a:bodyPr/>
          <a:lstStyle/>
          <a:p>
            <a:r>
              <a:rPr lang="en-US"/>
              <a:t>Click icon to add picture</a:t>
            </a:r>
          </a:p>
        </p:txBody>
      </p:sp>
      <p:sp>
        <p:nvSpPr>
          <p:cNvPr id="14" name="Content Placeholder 13"/>
          <p:cNvSpPr>
            <a:spLocks noGrp="1"/>
          </p:cNvSpPr>
          <p:nvPr>
            <p:ph sz="quarter" idx="16"/>
          </p:nvPr>
        </p:nvSpPr>
        <p:spPr>
          <a:xfrm>
            <a:off x="508000" y="4800600"/>
            <a:ext cx="11176000" cy="106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2115023"/>
      </p:ext>
    </p:extLst>
  </p:cSld>
  <p:clrMapOvr>
    <a:masterClrMapping/>
  </p:clrMapOvr>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3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C41CBDD0-2F03-4EEE-B0BA-DAD5A187BF4A}" type="datetime1">
              <a:rPr lang="en-US" smtClean="0"/>
              <a:pPr lvl="0"/>
              <a:t>12/4/2024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D5E5365A-B8AC-484A-86DF-44925BB27AC7}" type="slidenum">
              <a:t>‹#›</a:t>
            </a:fld>
            <a:endParaRPr lang="en-US"/>
          </a:p>
        </p:txBody>
      </p:sp>
      <p:sp>
        <p:nvSpPr>
          <p:cNvPr id="5" name="Title 1"/>
          <p:cNvSpPr>
            <a:spLocks noGrp="1"/>
          </p:cNvSpPr>
          <p:nvPr>
            <p:ph type="title"/>
          </p:nvPr>
        </p:nvSpPr>
        <p:spPr>
          <a:xfrm>
            <a:off x="609600" y="274680"/>
            <a:ext cx="10972320" cy="1142640"/>
          </a:xfrm>
        </p:spPr>
        <p:txBody>
          <a:bodyPr/>
          <a:lstStyle/>
          <a:p>
            <a:r>
              <a:rPr lang="en-US"/>
              <a:t>Click to edit Master title style</a:t>
            </a:r>
            <a:endParaRPr lang="ru-RU"/>
          </a:p>
        </p:txBody>
      </p:sp>
      <p:sp>
        <p:nvSpPr>
          <p:cNvPr id="7" name="Content Placeholder 6"/>
          <p:cNvSpPr>
            <a:spLocks noGrp="1"/>
          </p:cNvSpPr>
          <p:nvPr>
            <p:ph sz="quarter" idx="13"/>
          </p:nvPr>
        </p:nvSpPr>
        <p:spPr>
          <a:xfrm>
            <a:off x="609600" y="1600200"/>
            <a:ext cx="11074400" cy="106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2540000" y="3048000"/>
            <a:ext cx="2438400" cy="1295400"/>
          </a:xfrm>
        </p:spPr>
        <p:txBody>
          <a:bodyPr/>
          <a:lstStyle/>
          <a:p>
            <a:r>
              <a:rPr lang="en-US"/>
              <a:t>Click icon to add picture</a:t>
            </a:r>
          </a:p>
        </p:txBody>
      </p:sp>
      <p:sp>
        <p:nvSpPr>
          <p:cNvPr id="11" name="Picture Placeholder 10"/>
          <p:cNvSpPr>
            <a:spLocks noGrp="1"/>
          </p:cNvSpPr>
          <p:nvPr>
            <p:ph type="pic" sz="quarter" idx="15"/>
          </p:nvPr>
        </p:nvSpPr>
        <p:spPr>
          <a:xfrm>
            <a:off x="6502400" y="2895600"/>
            <a:ext cx="2743200" cy="1524000"/>
          </a:xfrm>
        </p:spPr>
        <p:txBody>
          <a:bodyPr/>
          <a:lstStyle/>
          <a:p>
            <a:r>
              <a:rPr lang="en-US"/>
              <a:t>Click icon to add picture</a:t>
            </a:r>
          </a:p>
        </p:txBody>
      </p:sp>
      <p:sp>
        <p:nvSpPr>
          <p:cNvPr id="13" name="Content Placeholder 12"/>
          <p:cNvSpPr>
            <a:spLocks noGrp="1"/>
          </p:cNvSpPr>
          <p:nvPr>
            <p:ph sz="quarter" idx="16"/>
          </p:nvPr>
        </p:nvSpPr>
        <p:spPr>
          <a:xfrm>
            <a:off x="508000" y="4724400"/>
            <a:ext cx="11277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3568437"/>
      </p:ext>
    </p:extLst>
  </p:cSld>
  <p:clrMapOvr>
    <a:masterClrMapping/>
  </p:clrMapOvr>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4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465295DC-44BC-4B97-B5CE-DB7846BEDB2B}" type="datetime1">
              <a:rPr lang="en-US" smtClean="0"/>
              <a:pPr lvl="0"/>
              <a:t>12/4/2024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45723046-0E6B-4AAD-9CA8-C3063FE2E474}" type="slidenum">
              <a:t>‹#›</a:t>
            </a:fld>
            <a:endParaRPr lang="en-US"/>
          </a:p>
        </p:txBody>
      </p:sp>
      <p:sp>
        <p:nvSpPr>
          <p:cNvPr id="5" name="Title 1"/>
          <p:cNvSpPr>
            <a:spLocks noGrp="1"/>
          </p:cNvSpPr>
          <p:nvPr>
            <p:ph type="title"/>
          </p:nvPr>
        </p:nvSpPr>
        <p:spPr>
          <a:xfrm>
            <a:off x="609600" y="274680"/>
            <a:ext cx="10972320" cy="1142640"/>
          </a:xfrm>
        </p:spPr>
        <p:txBody>
          <a:bodyPr/>
          <a:lstStyle/>
          <a:p>
            <a:r>
              <a:rPr lang="en-US"/>
              <a:t>Click to edit Master title style</a:t>
            </a:r>
            <a:endParaRPr lang="ru-RU"/>
          </a:p>
        </p:txBody>
      </p:sp>
      <p:sp>
        <p:nvSpPr>
          <p:cNvPr id="7" name="Content Placeholder 6"/>
          <p:cNvSpPr>
            <a:spLocks noGrp="1"/>
          </p:cNvSpPr>
          <p:nvPr>
            <p:ph sz="quarter" idx="13"/>
          </p:nvPr>
        </p:nvSpPr>
        <p:spPr>
          <a:xfrm>
            <a:off x="609600" y="1676400"/>
            <a:ext cx="10871200" cy="152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2032000" y="3581400"/>
            <a:ext cx="2133600" cy="1143000"/>
          </a:xfrm>
        </p:spPr>
        <p:txBody>
          <a:bodyPr/>
          <a:lstStyle/>
          <a:p>
            <a:r>
              <a:rPr lang="en-US"/>
              <a:t>Click icon to add picture</a:t>
            </a:r>
          </a:p>
        </p:txBody>
      </p:sp>
      <p:sp>
        <p:nvSpPr>
          <p:cNvPr id="11" name="Picture Placeholder 10"/>
          <p:cNvSpPr>
            <a:spLocks noGrp="1"/>
          </p:cNvSpPr>
          <p:nvPr>
            <p:ph type="pic" sz="quarter" idx="15"/>
          </p:nvPr>
        </p:nvSpPr>
        <p:spPr>
          <a:xfrm>
            <a:off x="5689600" y="3581400"/>
            <a:ext cx="2336800" cy="1295400"/>
          </a:xfrm>
        </p:spPr>
        <p:txBody>
          <a:bodyPr/>
          <a:lstStyle/>
          <a:p>
            <a:r>
              <a:rPr lang="en-US"/>
              <a:t>Click icon to add picture</a:t>
            </a:r>
          </a:p>
        </p:txBody>
      </p:sp>
      <p:sp>
        <p:nvSpPr>
          <p:cNvPr id="13" name="Content Placeholder 12"/>
          <p:cNvSpPr>
            <a:spLocks noGrp="1"/>
          </p:cNvSpPr>
          <p:nvPr>
            <p:ph sz="quarter" idx="16"/>
          </p:nvPr>
        </p:nvSpPr>
        <p:spPr>
          <a:xfrm>
            <a:off x="609600" y="5029200"/>
            <a:ext cx="1107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2137994"/>
      </p:ext>
    </p:extLst>
  </p:cSld>
  <p:clrMapOvr>
    <a:masterClrMapping/>
  </p:clrMapOvr>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0B94EA-E0FC-45F7-8A06-3CE9694ED2AD}" type="datetimeFigureOut">
              <a:rPr lang="en-US" smtClean="0"/>
              <a:pPr/>
              <a:t>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338004886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B94EA-E0FC-45F7-8A06-3CE9694ED2AD}" type="datetimeFigureOut">
              <a:rPr lang="en-US" smtClean="0"/>
              <a:pPr/>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126158334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First Slide)" userDrawn="1">
  <p:cSld name="1_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2"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27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2"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563"/>
              </a:spcBef>
              <a:spcAft>
                <a:spcPts val="0"/>
              </a:spcAft>
              <a:buSzPts val="3200"/>
              <a:buNone/>
              <a:defRPr sz="1800">
                <a:solidFill>
                  <a:schemeClr val="lt1"/>
                </a:solidFill>
              </a:defRPr>
            </a:lvl1pPr>
            <a:lvl2pPr lvl="1" algn="ctr">
              <a:lnSpc>
                <a:spcPct val="100000"/>
              </a:lnSpc>
              <a:spcBef>
                <a:spcPts val="450"/>
              </a:spcBef>
              <a:spcAft>
                <a:spcPts val="0"/>
              </a:spcAft>
              <a:buSzPts val="2000"/>
              <a:buNone/>
              <a:defRPr sz="1125"/>
            </a:lvl2pPr>
            <a:lvl3pPr lvl="2" algn="ctr">
              <a:lnSpc>
                <a:spcPct val="100000"/>
              </a:lnSpc>
              <a:spcBef>
                <a:spcPts val="450"/>
              </a:spcBef>
              <a:spcAft>
                <a:spcPts val="0"/>
              </a:spcAft>
              <a:buSzPts val="1440"/>
              <a:buNone/>
              <a:defRPr sz="1013"/>
            </a:lvl3pPr>
            <a:lvl4pPr lvl="3" algn="ctr">
              <a:lnSpc>
                <a:spcPct val="90000"/>
              </a:lnSpc>
              <a:spcBef>
                <a:spcPts val="450"/>
              </a:spcBef>
              <a:spcAft>
                <a:spcPts val="0"/>
              </a:spcAft>
              <a:buSzPts val="1600"/>
              <a:buNone/>
              <a:defRPr sz="900"/>
            </a:lvl4pPr>
            <a:lvl5pPr lvl="4" algn="ctr">
              <a:lnSpc>
                <a:spcPct val="90000"/>
              </a:lnSpc>
              <a:spcBef>
                <a:spcPts val="281"/>
              </a:spcBef>
              <a:spcAft>
                <a:spcPts val="0"/>
              </a:spcAft>
              <a:buClr>
                <a:schemeClr val="accent1"/>
              </a:buClr>
              <a:buSzPts val="1600"/>
              <a:buNone/>
              <a:defRPr sz="900"/>
            </a:lvl5pPr>
            <a:lvl6pPr lvl="5" algn="ctr">
              <a:lnSpc>
                <a:spcPct val="90000"/>
              </a:lnSpc>
              <a:spcBef>
                <a:spcPts val="281"/>
              </a:spcBef>
              <a:spcAft>
                <a:spcPts val="0"/>
              </a:spcAft>
              <a:buClr>
                <a:schemeClr val="dk1"/>
              </a:buClr>
              <a:buSzPts val="1600"/>
              <a:buNone/>
              <a:defRPr sz="900"/>
            </a:lvl6pPr>
            <a:lvl7pPr lvl="6" algn="ctr">
              <a:lnSpc>
                <a:spcPct val="90000"/>
              </a:lnSpc>
              <a:spcBef>
                <a:spcPts val="281"/>
              </a:spcBef>
              <a:spcAft>
                <a:spcPts val="0"/>
              </a:spcAft>
              <a:buClr>
                <a:schemeClr val="dk1"/>
              </a:buClr>
              <a:buSzPts val="1600"/>
              <a:buNone/>
              <a:defRPr sz="900"/>
            </a:lvl7pPr>
            <a:lvl8pPr lvl="7" algn="ctr">
              <a:lnSpc>
                <a:spcPct val="90000"/>
              </a:lnSpc>
              <a:spcBef>
                <a:spcPts val="281"/>
              </a:spcBef>
              <a:spcAft>
                <a:spcPts val="0"/>
              </a:spcAft>
              <a:buClr>
                <a:schemeClr val="dk1"/>
              </a:buClr>
              <a:buSzPts val="1600"/>
              <a:buNone/>
              <a:defRPr sz="900"/>
            </a:lvl8pPr>
            <a:lvl9pPr lvl="8" algn="ctr">
              <a:lnSpc>
                <a:spcPct val="90000"/>
              </a:lnSpc>
              <a:spcBef>
                <a:spcPts val="281"/>
              </a:spcBef>
              <a:spcAft>
                <a:spcPts val="0"/>
              </a:spcAft>
              <a:buClr>
                <a:schemeClr val="dk1"/>
              </a:buClr>
              <a:buSzPts val="1600"/>
              <a:buNone/>
              <a:defRPr sz="900"/>
            </a:lvl9pPr>
          </a:lstStyle>
          <a:p>
            <a:r>
              <a:rPr lang="en-US"/>
              <a:t>Click to edit Master subtitle style</a:t>
            </a:r>
            <a:endParaRPr/>
          </a:p>
        </p:txBody>
      </p:sp>
      <p:sp>
        <p:nvSpPr>
          <p:cNvPr id="19" name="Google Shape;19;p48"/>
          <p:cNvSpPr>
            <a:spLocks noGrp="1"/>
          </p:cNvSpPr>
          <p:nvPr>
            <p:ph type="pic" idx="2"/>
          </p:nvPr>
        </p:nvSpPr>
        <p:spPr>
          <a:xfrm>
            <a:off x="475251" y="808041"/>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51427" tIns="25706" rIns="51427" bIns="25706" anchor="ctr" anchorCtr="0">
            <a:noAutofit/>
          </a:bodyPr>
          <a:lstStyle/>
          <a:p>
            <a:pPr marL="0" marR="0" lvl="0" indent="0" algn="r" rtl="0">
              <a:spcBef>
                <a:spcPts val="0"/>
              </a:spcBef>
              <a:spcAft>
                <a:spcPts val="0"/>
              </a:spcAft>
              <a:buNone/>
            </a:pPr>
            <a:fld id="{00000000-1234-1234-1234-123412341234}" type="slidenum">
              <a:rPr lang="en-US" sz="619">
                <a:solidFill>
                  <a:schemeClr val="lt1"/>
                </a:solidFill>
                <a:latin typeface="Work Sans"/>
                <a:ea typeface="Work Sans"/>
                <a:cs typeface="Work Sans"/>
                <a:sym typeface="Work Sans"/>
              </a:rPr>
              <a:pPr marL="0" marR="0" lvl="0" indent="0" algn="r" rtl="0">
                <a:spcBef>
                  <a:spcPts val="0"/>
                </a:spcBef>
                <a:spcAft>
                  <a:spcPts val="0"/>
                </a:spcAft>
                <a:buNone/>
              </a:pPr>
              <a:t>‹#›</a:t>
            </a:fld>
            <a:endParaRPr sz="619">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90" y="6223889"/>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2"/>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77476631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Content" preserve="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5"/>
            <a:ext cx="11241915" cy="926929"/>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SzPct val="100000"/>
              <a:buFont typeface="Arial" panose="020B0604020202020204" pitchFamily="34" charset="0"/>
              <a:buChar char="•"/>
              <a:defRPr sz="2600"/>
            </a:lvl1pPr>
            <a:lvl2pPr marL="714375" lvl="1" indent="-352425" algn="l">
              <a:lnSpc>
                <a:spcPct val="100000"/>
              </a:lnSpc>
              <a:spcBef>
                <a:spcPts val="624"/>
              </a:spcBef>
              <a:spcAft>
                <a:spcPts val="600"/>
              </a:spcAft>
              <a:buSzPct val="100000"/>
              <a:buFont typeface="Arial" panose="020B0604020202020204" pitchFamily="34" charset="0"/>
              <a:buChar char="–"/>
              <a:defRPr sz="2400" b="0"/>
            </a:lvl2pPr>
            <a:lvl3pPr marL="1076325" lvl="2" indent="-361950" algn="l">
              <a:lnSpc>
                <a:spcPct val="100000"/>
              </a:lnSpc>
              <a:spcBef>
                <a:spcPts val="624"/>
              </a:spcBef>
              <a:spcAft>
                <a:spcPts val="600"/>
              </a:spcAft>
              <a:buSzPct val="10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dirty="0"/>
          </a:p>
          <a:p>
            <a:pPr lvl="2"/>
            <a:endParaRPr lang="en-US" dirty="0"/>
          </a:p>
        </p:txBody>
      </p:sp>
    </p:spTree>
    <p:extLst>
      <p:ext uri="{BB962C8B-B14F-4D97-AF65-F5344CB8AC3E}">
        <p14:creationId xmlns:p14="http://schemas.microsoft.com/office/powerpoint/2010/main" val="28625314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5"/>
            <a:ext cx="11241915" cy="926929"/>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6"/>
            <a:ext cx="11241915" cy="2541649"/>
          </a:xfrm>
          <a:prstGeom prst="rect">
            <a:avLst/>
          </a:prstGeom>
          <a:noFill/>
          <a:ln>
            <a:noFill/>
          </a:ln>
        </p:spPr>
        <p:txBody>
          <a:bodyPr spcFirstLastPara="1" wrap="square" lIns="91425" tIns="45700" rIns="91425" bIns="45700" anchor="t" anchorCtr="0">
            <a:noAutofit/>
          </a:bodyPr>
          <a:lstStyle>
            <a:lvl1pPr marL="361950" lvl="0" indent="-361950" algn="l">
              <a:lnSpc>
                <a:spcPct val="100000"/>
              </a:lnSpc>
              <a:spcBef>
                <a:spcPts val="624"/>
              </a:spcBef>
              <a:spcAft>
                <a:spcPts val="600"/>
              </a:spcAft>
              <a:buSzPct val="100000"/>
              <a:buChar char="•"/>
              <a:defRPr sz="2600"/>
            </a:lvl1pPr>
            <a:lvl2pPr marL="714375" lvl="1" indent="-352425" algn="l">
              <a:lnSpc>
                <a:spcPct val="100000"/>
              </a:lnSpc>
              <a:spcBef>
                <a:spcPts val="624"/>
              </a:spcBef>
              <a:spcAft>
                <a:spcPts val="600"/>
              </a:spcAft>
              <a:buSzPct val="100000"/>
              <a:buFont typeface="Arial" panose="020B0604020202020204" pitchFamily="34" charset="0"/>
              <a:buChar char="–"/>
              <a:defRPr sz="2400" b="0"/>
            </a:lvl2pPr>
            <a:lvl3pPr marL="1076325" lvl="2" indent="-361950" algn="l">
              <a:lnSpc>
                <a:spcPct val="100000"/>
              </a:lnSpc>
              <a:spcBef>
                <a:spcPts val="624"/>
              </a:spcBef>
              <a:spcAft>
                <a:spcPts val="600"/>
              </a:spcAft>
              <a:buSzPct val="10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dirty="0"/>
          </a:p>
          <a:p>
            <a:pPr lvl="2"/>
            <a:endParaRPr lang="en-US" dirty="0"/>
          </a:p>
        </p:txBody>
      </p:sp>
      <p:sp>
        <p:nvSpPr>
          <p:cNvPr id="3" name="Content Placeholder 2">
            <a:extLst>
              <a:ext uri="{FF2B5EF4-FFF2-40B4-BE49-F238E27FC236}">
                <a16:creationId xmlns:a16="http://schemas.microsoft.com/office/drawing/2014/main" id="{B2ACCB7B-7D83-FA46-5EF5-81CBEC60A965}"/>
              </a:ext>
            </a:extLst>
          </p:cNvPr>
          <p:cNvSpPr>
            <a:spLocks noGrp="1"/>
          </p:cNvSpPr>
          <p:nvPr>
            <p:ph sz="quarter" idx="10"/>
          </p:nvPr>
        </p:nvSpPr>
        <p:spPr>
          <a:xfrm>
            <a:off x="676275" y="4562475"/>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Picture Placeholder 4">
            <a:extLst>
              <a:ext uri="{FF2B5EF4-FFF2-40B4-BE49-F238E27FC236}">
                <a16:creationId xmlns:a16="http://schemas.microsoft.com/office/drawing/2014/main" id="{56F860C1-AF44-B6C8-5AD4-96D3A3BCEB6F}"/>
              </a:ext>
            </a:extLst>
          </p:cNvPr>
          <p:cNvSpPr>
            <a:spLocks noGrp="1"/>
          </p:cNvSpPr>
          <p:nvPr>
            <p:ph type="pic" sz="quarter" idx="11"/>
          </p:nvPr>
        </p:nvSpPr>
        <p:spPr>
          <a:xfrm>
            <a:off x="2314575" y="4667250"/>
            <a:ext cx="914400" cy="914400"/>
          </a:xfrm>
        </p:spPr>
        <p:txBody>
          <a:bodyPr/>
          <a:lstStyle/>
          <a:p>
            <a:endParaRPr lang="en-IN"/>
          </a:p>
        </p:txBody>
      </p:sp>
      <p:sp>
        <p:nvSpPr>
          <p:cNvPr id="7" name="Picture Placeholder 6">
            <a:extLst>
              <a:ext uri="{FF2B5EF4-FFF2-40B4-BE49-F238E27FC236}">
                <a16:creationId xmlns:a16="http://schemas.microsoft.com/office/drawing/2014/main" id="{5F5ACFE2-F10A-AC90-1DD2-3F90C2E239F0}"/>
              </a:ext>
            </a:extLst>
          </p:cNvPr>
          <p:cNvSpPr>
            <a:spLocks noGrp="1"/>
          </p:cNvSpPr>
          <p:nvPr>
            <p:ph type="pic" sz="quarter" idx="12"/>
          </p:nvPr>
        </p:nvSpPr>
        <p:spPr>
          <a:xfrm>
            <a:off x="4048125" y="4562475"/>
            <a:ext cx="914400" cy="914400"/>
          </a:xfrm>
        </p:spPr>
        <p:txBody>
          <a:bodyPr/>
          <a:lstStyle/>
          <a:p>
            <a:endParaRPr lang="en-IN"/>
          </a:p>
        </p:txBody>
      </p:sp>
      <p:sp>
        <p:nvSpPr>
          <p:cNvPr id="9" name="Table Placeholder 8">
            <a:extLst>
              <a:ext uri="{FF2B5EF4-FFF2-40B4-BE49-F238E27FC236}">
                <a16:creationId xmlns:a16="http://schemas.microsoft.com/office/drawing/2014/main" id="{21C8604E-CEEC-1ACB-9FE2-2CF587916EBF}"/>
              </a:ext>
            </a:extLst>
          </p:cNvPr>
          <p:cNvSpPr>
            <a:spLocks noGrp="1"/>
          </p:cNvSpPr>
          <p:nvPr>
            <p:ph type="tbl" sz="quarter" idx="13"/>
          </p:nvPr>
        </p:nvSpPr>
        <p:spPr>
          <a:xfrm>
            <a:off x="5810250" y="4562475"/>
            <a:ext cx="914400" cy="914400"/>
          </a:xfrm>
        </p:spPr>
        <p:txBody>
          <a:bodyPr/>
          <a:lstStyle/>
          <a:p>
            <a:endParaRPr lang="en-IN"/>
          </a:p>
        </p:txBody>
      </p:sp>
    </p:spTree>
    <p:extLst>
      <p:ext uri="{BB962C8B-B14F-4D97-AF65-F5344CB8AC3E}">
        <p14:creationId xmlns:p14="http://schemas.microsoft.com/office/powerpoint/2010/main" val="51123526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itle Content"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889562"/>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5" name="Google Shape;25;p49"/>
          <p:cNvSpPr txBox="1">
            <a:spLocks noGrp="1"/>
          </p:cNvSpPr>
          <p:nvPr>
            <p:ph type="body" idx="1"/>
          </p:nvPr>
        </p:nvSpPr>
        <p:spPr>
          <a:xfrm>
            <a:off x="476844" y="1563626"/>
            <a:ext cx="11241915" cy="2516005"/>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SzPct val="100000"/>
              <a:buChar char="•"/>
              <a:defRPr sz="2600"/>
            </a:lvl1pPr>
            <a:lvl2pPr marL="720725" lvl="1" indent="-360363" algn="l">
              <a:lnSpc>
                <a:spcPct val="100000"/>
              </a:lnSpc>
              <a:spcBef>
                <a:spcPts val="624"/>
              </a:spcBef>
              <a:spcAft>
                <a:spcPts val="600"/>
              </a:spcAft>
              <a:buSzPct val="100000"/>
              <a:buFont typeface="Work Sans" pitchFamily="2" charset="0"/>
              <a:buChar char="–"/>
              <a:defRPr sz="2400" b="0"/>
            </a:lvl2pPr>
            <a:lvl3pPr marL="1073150" lvl="2" indent="-352425" algn="l">
              <a:lnSpc>
                <a:spcPct val="100000"/>
              </a:lnSpc>
              <a:spcBef>
                <a:spcPts val="624"/>
              </a:spcBef>
              <a:spcAft>
                <a:spcPts val="600"/>
              </a:spcAft>
              <a:buSzPct val="10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a:p>
            <a:pPr lvl="1"/>
            <a:r>
              <a:rPr lang="en-US"/>
              <a:t> </a:t>
            </a:r>
          </a:p>
          <a:p>
            <a:pPr lvl="2"/>
            <a:r>
              <a:rPr lang="en-US"/>
              <a:t> </a:t>
            </a:r>
          </a:p>
        </p:txBody>
      </p:sp>
      <p:sp>
        <p:nvSpPr>
          <p:cNvPr id="3" name="Picture Placeholder 2">
            <a:extLst>
              <a:ext uri="{FF2B5EF4-FFF2-40B4-BE49-F238E27FC236}">
                <a16:creationId xmlns:a16="http://schemas.microsoft.com/office/drawing/2014/main" id="{5BC23E4B-B65F-81DE-FE53-BBC8A786D346}"/>
              </a:ext>
            </a:extLst>
          </p:cNvPr>
          <p:cNvSpPr>
            <a:spLocks noGrp="1"/>
          </p:cNvSpPr>
          <p:nvPr>
            <p:ph type="pic" sz="quarter" idx="10"/>
          </p:nvPr>
        </p:nvSpPr>
        <p:spPr>
          <a:xfrm>
            <a:off x="476250" y="4202113"/>
            <a:ext cx="914400" cy="914400"/>
          </a:xfrm>
        </p:spPr>
        <p:txBody>
          <a:bodyPr/>
          <a:lstStyle/>
          <a:p>
            <a:endParaRPr lang="en-IN"/>
          </a:p>
        </p:txBody>
      </p:sp>
      <p:sp>
        <p:nvSpPr>
          <p:cNvPr id="5" name="Table Placeholder 4">
            <a:extLst>
              <a:ext uri="{FF2B5EF4-FFF2-40B4-BE49-F238E27FC236}">
                <a16:creationId xmlns:a16="http://schemas.microsoft.com/office/drawing/2014/main" id="{A7F71144-B3A8-498A-2395-2B9CD89927B7}"/>
              </a:ext>
            </a:extLst>
          </p:cNvPr>
          <p:cNvSpPr>
            <a:spLocks noGrp="1"/>
          </p:cNvSpPr>
          <p:nvPr>
            <p:ph type="tbl" sz="quarter" idx="11"/>
          </p:nvPr>
        </p:nvSpPr>
        <p:spPr>
          <a:xfrm>
            <a:off x="1627188" y="4227513"/>
            <a:ext cx="914400" cy="914400"/>
          </a:xfrm>
        </p:spPr>
        <p:txBody>
          <a:bodyPr/>
          <a:lstStyle/>
          <a:p>
            <a:endParaRPr lang="en-IN"/>
          </a:p>
        </p:txBody>
      </p:sp>
    </p:spTree>
    <p:extLst>
      <p:ext uri="{BB962C8B-B14F-4D97-AF65-F5344CB8AC3E}">
        <p14:creationId xmlns:p14="http://schemas.microsoft.com/office/powerpoint/2010/main" val="1330396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21" Type="http://schemas.openxmlformats.org/officeDocument/2006/relationships/image" Target="../media/image3.png"/><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theme" Target="../theme/theme3.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18" Type="http://schemas.openxmlformats.org/officeDocument/2006/relationships/slideLayout" Target="../slideLayouts/slideLayout59.xml"/><Relationship Id="rId26" Type="http://schemas.openxmlformats.org/officeDocument/2006/relationships/theme" Target="../theme/theme4.xml"/><Relationship Id="rId3" Type="http://schemas.openxmlformats.org/officeDocument/2006/relationships/slideLayout" Target="../slideLayouts/slideLayout44.xml"/><Relationship Id="rId21" Type="http://schemas.openxmlformats.org/officeDocument/2006/relationships/slideLayout" Target="../slideLayouts/slideLayout62.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5" Type="http://schemas.openxmlformats.org/officeDocument/2006/relationships/slideLayout" Target="../slideLayouts/slideLayout66.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slideLayout" Target="../slideLayouts/slideLayout61.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24" Type="http://schemas.openxmlformats.org/officeDocument/2006/relationships/slideLayout" Target="../slideLayouts/slideLayout65.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slideLayout" Target="../slideLayouts/slideLayout64.xml"/><Relationship Id="rId10" Type="http://schemas.openxmlformats.org/officeDocument/2006/relationships/slideLayout" Target="../slideLayouts/slideLayout51.xml"/><Relationship Id="rId19" Type="http://schemas.openxmlformats.org/officeDocument/2006/relationships/slideLayout" Target="../slideLayouts/slideLayout60.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slideLayout" Target="../slideLayouts/slideLayout63.xml"/><Relationship Id="rId27"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D336FE-50F2-43B1-8E29-DA1489046407}" type="datetimeFigureOut">
              <a:rPr lang="en-US" smtClean="0"/>
              <a:pPr/>
              <a:t>12/4/2024</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88FE4E-7896-42C2-A565-469234630387}"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D336FE-50F2-43B1-8E29-DA1489046407}" type="datetimeFigureOut">
              <a:rPr lang="en-US" smtClean="0"/>
              <a:pPr/>
              <a:t>12/4/2024</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88FE4E-7896-42C2-A565-469234630387}" type="slidenum">
              <a:rPr lang="en-US" smtClean="0"/>
              <a:pPr/>
              <a:t>‹#›</a:t>
            </a:fld>
            <a:endParaRPr lang="en-US" dirty="0"/>
          </a:p>
        </p:txBody>
      </p:sp>
      <p:sp>
        <p:nvSpPr>
          <p:cNvPr id="7" name="Rectangle 3">
            <a:extLst>
              <a:ext uri="{FF2B5EF4-FFF2-40B4-BE49-F238E27FC236}">
                <a16:creationId xmlns:a16="http://schemas.microsoft.com/office/drawing/2014/main" id="{DDFB1ECC-F935-6576-D00C-5105358B0AB8}"/>
              </a:ext>
            </a:extLst>
          </p:cNvPr>
          <p:cNvSpPr>
            <a:spLocks noChangeArrowheads="1"/>
          </p:cNvSpPr>
          <p:nvPr userDrawn="1"/>
        </p:nvSpPr>
        <p:spPr bwMode="auto">
          <a:xfrm>
            <a:off x="4247444" y="6424082"/>
            <a:ext cx="7750595" cy="389999"/>
          </a:xfrm>
          <a:prstGeom prst="rect">
            <a:avLst/>
          </a:prstGeom>
          <a:noFill/>
          <a:ln w="9525">
            <a:noFill/>
            <a:round/>
            <a:headEnd/>
            <a:tailEnd/>
          </a:ln>
          <a:effectLst/>
        </p:spPr>
        <p:txBody>
          <a:bodyPr lIns="90000" tIns="46800" rIns="90000" bIns="46800"/>
          <a:lstStyle/>
          <a:p>
            <a:pPr algn="r" defTabSz="449263" fontAlgn="base">
              <a:spcBef>
                <a:spcPct val="0"/>
              </a:spcBef>
              <a:spcAft>
                <a:spcPct val="0"/>
              </a:spcAft>
              <a:buClr>
                <a:srgbClr val="000000"/>
              </a:buClr>
              <a:buSzPct val="100000"/>
              <a:buFont typeface="Calibri" pitchFamily="1"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GB" sz="900" dirty="0">
                <a:solidFill>
                  <a:srgbClr val="000000"/>
                </a:solidFill>
                <a:latin typeface="Calibri" pitchFamily="1" charset="0"/>
                <a:cs typeface="Arial" charset="0"/>
              </a:rPr>
              <a:t>© 2020 Cengage Learning. All Rights Reserved. May not be scanned, copied, </a:t>
            </a:r>
            <a:br>
              <a:rPr lang="en-GB" sz="900" dirty="0">
                <a:solidFill>
                  <a:srgbClr val="000000"/>
                </a:solidFill>
                <a:latin typeface="Calibri" pitchFamily="1" charset="0"/>
                <a:cs typeface="Arial" charset="0"/>
              </a:rPr>
            </a:br>
            <a:r>
              <a:rPr lang="en-GB" sz="900" dirty="0">
                <a:solidFill>
                  <a:srgbClr val="000000"/>
                </a:solidFill>
                <a:latin typeface="Calibri" pitchFamily="1" charset="0"/>
                <a:cs typeface="Arial" charset="0"/>
              </a:rPr>
              <a:t>duplicated,</a:t>
            </a:r>
            <a:r>
              <a:rPr lang="en-GB" sz="900" baseline="0" dirty="0">
                <a:solidFill>
                  <a:srgbClr val="000000"/>
                </a:solidFill>
                <a:latin typeface="Calibri" pitchFamily="1" charset="0"/>
                <a:cs typeface="Arial" charset="0"/>
              </a:rPr>
              <a:t> or posted to a publicly accessible website, in whole or in part.</a:t>
            </a:r>
            <a:endParaRPr lang="en-GB" sz="900" dirty="0">
              <a:solidFill>
                <a:srgbClr val="000000"/>
              </a:solidFill>
              <a:latin typeface="Calibri" pitchFamily="1" charset="0"/>
              <a:cs typeface="Arial" charset="0"/>
            </a:endParaRPr>
          </a:p>
        </p:txBody>
      </p:sp>
      <p:pic>
        <p:nvPicPr>
          <p:cNvPr id="8" name="Picture 7" descr="CL_Logo_RGB_R.png">
            <a:extLst>
              <a:ext uri="{FF2B5EF4-FFF2-40B4-BE49-F238E27FC236}">
                <a16:creationId xmlns:a16="http://schemas.microsoft.com/office/drawing/2014/main" id="{16BF6157-82D3-36FA-604B-06E2CFA5D496}"/>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01600" y="6172200"/>
            <a:ext cx="2133600" cy="843912"/>
          </a:xfrm>
          <a:prstGeom prst="rect">
            <a:avLst/>
          </a:prstGeom>
        </p:spPr>
      </p:pic>
      <p:pic>
        <p:nvPicPr>
          <p:cNvPr id="9" name="Picture 8" descr="Erjavec_AutoTech_MASTER.jpg">
            <a:extLst>
              <a:ext uri="{FF2B5EF4-FFF2-40B4-BE49-F238E27FC236}">
                <a16:creationId xmlns:a16="http://schemas.microsoft.com/office/drawing/2014/main" id="{893155AD-4EEE-20CD-C803-433BF135808E}"/>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0"/>
            <a:ext cx="12192000" cy="457200"/>
          </a:xfrm>
          <a:prstGeom prst="rect">
            <a:avLst/>
          </a:prstGeom>
        </p:spPr>
      </p:pic>
    </p:spTree>
    <p:extLst>
      <p:ext uri="{BB962C8B-B14F-4D97-AF65-F5344CB8AC3E}">
        <p14:creationId xmlns:p14="http://schemas.microsoft.com/office/powerpoint/2010/main" val="389830862"/>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dirty="0">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21">
            <a:alphaModFix/>
          </a:blip>
          <a:srcRect/>
          <a:stretch/>
        </p:blipFill>
        <p:spPr>
          <a:xfrm>
            <a:off x="183089" y="6223887"/>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b="0" i="0" u="none" strike="noStrike" cap="none">
                <a:solidFill>
                  <a:schemeClr val="lt1"/>
                </a:solidFill>
                <a:latin typeface="Work Sans"/>
                <a:ea typeface="Work Sans"/>
                <a:cs typeface="Work Sans"/>
                <a:sym typeface="Work Sans"/>
              </a:rPr>
              <a:pPr marL="0" marR="0" lvl="0" indent="0" algn="r" rtl="0">
                <a:spcBef>
                  <a:spcPts val="0"/>
                </a:spcBef>
                <a:spcAft>
                  <a:spcPts val="0"/>
                </a:spcAft>
                <a:buNone/>
              </a:pPr>
              <a:t>‹#›</a:t>
            </a:fld>
            <a:endParaRPr sz="825" b="0" i="0" u="none" strike="noStrike" cap="none" dirty="0">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EF06821E-60DB-4A91-8FBD-9D433B6FE901}"/>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914400"/>
            <a:r>
              <a:rPr lang="en-US" sz="1200" kern="1200" dirty="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414428696"/>
      </p:ext>
    </p:extLst>
  </p:cSld>
  <p:clrMap bg1="lt1" tx1="dk1" bg2="dk2" tx2="lt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53" r:id="rId18"/>
    <p:sldLayoutId id="2147483754" r:id="rId19"/>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27">
            <a:alphaModFix/>
          </a:blip>
          <a:srcRect/>
          <a:stretch/>
        </p:blipFill>
        <p:spPr>
          <a:xfrm>
            <a:off x="183089" y="6223887"/>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b="0" i="0" u="none" strike="noStrike" cap="none">
                <a:solidFill>
                  <a:schemeClr val="lt1"/>
                </a:solidFill>
                <a:latin typeface="Work Sans"/>
                <a:ea typeface="Work Sans"/>
                <a:cs typeface="Work Sans"/>
                <a:sym typeface="Work Sans"/>
              </a:rPr>
              <a:pPr marL="0" marR="0" lvl="0" indent="0" algn="r" rtl="0">
                <a:spcBef>
                  <a:spcPts val="0"/>
                </a:spcBef>
                <a:spcAft>
                  <a:spcPts val="0"/>
                </a:spcAft>
                <a:buNone/>
              </a:pPr>
              <a:t>‹#›</a:t>
            </a:fld>
            <a:endParaRPr sz="825" b="0" i="0" u="none" strike="noStrike" cap="none">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59777F19-ACF2-BBAF-22B0-98422CE8BE53}"/>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defTabSz="914400"/>
            <a:r>
              <a:rPr lang="en-US" sz="1200" kern="1200" dirty="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668195541"/>
      </p:ext>
    </p:extLst>
  </p:cSld>
  <p:clrMap bg1="lt1" tx1="dk1" bg2="dk2" tx2="lt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48" r:id="rId15"/>
    <p:sldLayoutId id="2147483749" r:id="rId16"/>
    <p:sldLayoutId id="2147483750" r:id="rId17"/>
    <p:sldLayoutId id="2147483751" r:id="rId18"/>
    <p:sldLayoutId id="2147483752" r:id="rId19"/>
    <p:sldLayoutId id="2147483756" r:id="rId20"/>
    <p:sldLayoutId id="2147483757" r:id="rId21"/>
    <p:sldLayoutId id="2147483758" r:id="rId22"/>
    <p:sldLayoutId id="2147483759" r:id="rId23"/>
    <p:sldLayoutId id="2147483760" r:id="rId24"/>
    <p:sldLayoutId id="2147483761" r:id="rId25"/>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6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4.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5.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4.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5.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6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4.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65.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65.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65.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65.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6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4.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6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4.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65.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6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4.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6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4.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5.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68569" tIns="34275" rIns="68569" bIns="34275" anchor="b" anchorCtr="0">
            <a:noAutofit/>
          </a:bodyPr>
          <a:lstStyle/>
          <a:p>
            <a:pPr>
              <a:buSzPts val="4000"/>
            </a:pPr>
            <a:r>
              <a:rPr lang="en-US" sz="4000" dirty="0">
                <a:latin typeface="Work Sans" pitchFamily="2" charset="0"/>
                <a:ea typeface="Arial"/>
                <a:cs typeface="Arial"/>
                <a:sym typeface="Arial"/>
              </a:rPr>
              <a:t>Automotive Technology: A Systems Approach,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68569" tIns="34275" rIns="68569" bIns="34275" anchor="t" anchorCtr="0">
            <a:noAutofit/>
          </a:bodyPr>
          <a:lstStyle/>
          <a:p>
            <a:pPr marL="0" indent="0"/>
            <a:r>
              <a:rPr lang="en-US" sz="3200" dirty="0">
                <a:latin typeface="Work Sans" pitchFamily="2" charset="0"/>
                <a:ea typeface="Arial"/>
                <a:cs typeface="Arial"/>
                <a:sym typeface="Arial"/>
              </a:rPr>
              <a:t>Chapter 48:Restraint Systems: Theory, Diagnosis, and Service</a:t>
            </a:r>
            <a:endParaRPr lang="en-US" sz="3200" dirty="0">
              <a:solidFill>
                <a:srgbClr val="FFFFFF"/>
              </a:solidFill>
              <a:latin typeface="Work Sans" pitchFamily="2" charset="0"/>
            </a:endParaRP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DB99020-A06F-75A8-4066-0CF07954B800}"/>
              </a:ext>
            </a:extLst>
          </p:cNvPr>
          <p:cNvPicPr>
            <a:picLocks noGrp="1" noChangeAspect="1"/>
          </p:cNvPicPr>
          <p:nvPr>
            <p:ph type="pic" idx="2"/>
          </p:nvPr>
        </p:nvPicPr>
        <p:blipFill rotWithShape="1">
          <a:blip r:embed="rId3"/>
          <a:stretch/>
        </p:blipFill>
        <p:spPr>
          <a:xfrm>
            <a:off x="595173" y="556200"/>
            <a:ext cx="4381500" cy="5611091"/>
          </a:xfrm>
          <a:prstGeom prst="rect">
            <a:avLst/>
          </a:prstGeom>
        </p:spPr>
      </p:pic>
      <p:sp>
        <p:nvSpPr>
          <p:cNvPr id="7" name="Content Placeholder 4">
            <a:extLst>
              <a:ext uri="{FF2B5EF4-FFF2-40B4-BE49-F238E27FC236}">
                <a16:creationId xmlns:a16="http://schemas.microsoft.com/office/drawing/2014/main" id="{9ADBD692-C193-CBE4-9654-BE90037C8B10}"/>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57D7B-FB25-38B6-9AC3-97B962978CF8}"/>
              </a:ext>
            </a:extLst>
          </p:cNvPr>
          <p:cNvSpPr>
            <a:spLocks noGrp="1"/>
          </p:cNvSpPr>
          <p:nvPr>
            <p:ph type="title"/>
          </p:nvPr>
        </p:nvSpPr>
        <p:spPr/>
        <p:txBody>
          <a:bodyPr/>
          <a:lstStyle/>
          <a:p>
            <a:r>
              <a:rPr lang="en-US" dirty="0"/>
              <a:t>Chapter Objectives (1 of 2)</a:t>
            </a:r>
          </a:p>
        </p:txBody>
      </p:sp>
      <p:sp>
        <p:nvSpPr>
          <p:cNvPr id="3" name="Text Placeholder 2">
            <a:extLst>
              <a:ext uri="{FF2B5EF4-FFF2-40B4-BE49-F238E27FC236}">
                <a16:creationId xmlns:a16="http://schemas.microsoft.com/office/drawing/2014/main" id="{D4900DD3-E063-86A1-25F0-CFE778799C63}"/>
              </a:ext>
            </a:extLst>
          </p:cNvPr>
          <p:cNvSpPr>
            <a:spLocks noGrp="1"/>
          </p:cNvSpPr>
          <p:nvPr>
            <p:ph type="body" idx="1"/>
          </p:nvPr>
        </p:nvSpPr>
        <p:spPr/>
        <p:txBody>
          <a:bodyPr/>
          <a:lstStyle/>
          <a:p>
            <a:pPr algn="l">
              <a:buClr>
                <a:schemeClr val="tx1"/>
              </a:buClr>
              <a:buSzPct val="100000"/>
            </a:pPr>
            <a:r>
              <a:rPr lang="en-US" sz="2600" dirty="0">
                <a:solidFill>
                  <a:schemeClr val="tx1"/>
                </a:solidFill>
                <a:latin typeface="Work Sans" pitchFamily="2" charset="0"/>
              </a:rPr>
              <a:t>48.01 Explain the difference between active and passive restraint systems.</a:t>
            </a:r>
          </a:p>
          <a:p>
            <a:pPr algn="l">
              <a:buClr>
                <a:schemeClr val="tx1"/>
              </a:buClr>
              <a:buSzPct val="100000"/>
            </a:pPr>
            <a:r>
              <a:rPr lang="en-US" sz="2600" dirty="0">
                <a:solidFill>
                  <a:schemeClr val="tx1"/>
                </a:solidFill>
                <a:latin typeface="Work Sans" pitchFamily="2" charset="0"/>
              </a:rPr>
              <a:t>48.02 Know how to service and repair passive belt systems.</a:t>
            </a:r>
          </a:p>
          <a:p>
            <a:pPr algn="l">
              <a:buClr>
                <a:schemeClr val="tx1"/>
              </a:buClr>
              <a:buSzPct val="100000"/>
            </a:pPr>
            <a:r>
              <a:rPr lang="en-US" sz="2600" dirty="0">
                <a:solidFill>
                  <a:schemeClr val="tx1"/>
                </a:solidFill>
                <a:latin typeface="Work Sans" pitchFamily="2" charset="0"/>
              </a:rPr>
              <a:t>48.03 Describe the function and operation of air bags.</a:t>
            </a:r>
          </a:p>
          <a:p>
            <a:pPr algn="l">
              <a:buClr>
                <a:schemeClr val="tx1"/>
              </a:buClr>
              <a:buSzPct val="100000"/>
            </a:pPr>
            <a:r>
              <a:rPr lang="en-US" sz="2600" dirty="0">
                <a:solidFill>
                  <a:schemeClr val="tx1"/>
                </a:solidFill>
                <a:latin typeface="Work Sans" pitchFamily="2" charset="0"/>
              </a:rPr>
              <a:t>48.04 Identify the major parts of a typical air bag system.</a:t>
            </a:r>
          </a:p>
        </p:txBody>
      </p:sp>
    </p:spTree>
    <p:extLst>
      <p:ext uri="{BB962C8B-B14F-4D97-AF65-F5344CB8AC3E}">
        <p14:creationId xmlns:p14="http://schemas.microsoft.com/office/powerpoint/2010/main" val="1832311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589A9-2B1B-5B79-58DC-952F01605A1F}"/>
              </a:ext>
            </a:extLst>
          </p:cNvPr>
          <p:cNvSpPr>
            <a:spLocks noGrp="1"/>
          </p:cNvSpPr>
          <p:nvPr>
            <p:ph type="title"/>
          </p:nvPr>
        </p:nvSpPr>
        <p:spPr/>
        <p:txBody>
          <a:bodyPr/>
          <a:lstStyle/>
          <a:p>
            <a:r>
              <a:rPr lang="en-US" dirty="0"/>
              <a:t>Chapter Objectives (2 of 2)</a:t>
            </a:r>
          </a:p>
        </p:txBody>
      </p:sp>
      <p:sp>
        <p:nvSpPr>
          <p:cNvPr id="3" name="Text Placeholder 2">
            <a:extLst>
              <a:ext uri="{FF2B5EF4-FFF2-40B4-BE49-F238E27FC236}">
                <a16:creationId xmlns:a16="http://schemas.microsoft.com/office/drawing/2014/main" id="{EEFD593A-A520-8374-439F-D503C0562B2C}"/>
              </a:ext>
            </a:extLst>
          </p:cNvPr>
          <p:cNvSpPr>
            <a:spLocks noGrp="1"/>
          </p:cNvSpPr>
          <p:nvPr>
            <p:ph type="body" idx="1"/>
          </p:nvPr>
        </p:nvSpPr>
        <p:spPr/>
        <p:txBody>
          <a:bodyPr/>
          <a:lstStyle/>
          <a:p>
            <a:pPr algn="l">
              <a:buClr>
                <a:schemeClr val="tx1"/>
              </a:buClr>
              <a:buSzPct val="100000"/>
              <a:buFont typeface="Arial" panose="020B0604020202020204" pitchFamily="34" charset="0"/>
              <a:buChar char="•"/>
            </a:pPr>
            <a:r>
              <a:rPr lang="en-US" sz="2600" dirty="0">
                <a:solidFill>
                  <a:schemeClr val="tx1"/>
                </a:solidFill>
                <a:latin typeface="Work Sans" pitchFamily="2" charset="0"/>
              </a:rPr>
              <a:t>48.05 Diagnose faults with restraint systems.</a:t>
            </a:r>
          </a:p>
          <a:p>
            <a:pPr algn="l">
              <a:buClr>
                <a:schemeClr val="tx1"/>
              </a:buClr>
              <a:buSzPct val="100000"/>
              <a:buFont typeface="Arial" panose="020B0604020202020204" pitchFamily="34" charset="0"/>
              <a:buChar char="•"/>
            </a:pPr>
            <a:r>
              <a:rPr lang="en-US" sz="2600" dirty="0">
                <a:solidFill>
                  <a:schemeClr val="tx1"/>
                </a:solidFill>
                <a:latin typeface="Work Sans" pitchFamily="2" charset="0"/>
              </a:rPr>
              <a:t>48.06 Know how to diagnose and service an air bag system.</a:t>
            </a:r>
          </a:p>
          <a:p>
            <a:pPr algn="l">
              <a:buClr>
                <a:schemeClr val="tx1"/>
              </a:buClr>
              <a:buSzPct val="100000"/>
              <a:buFont typeface="Arial" panose="020B0604020202020204" pitchFamily="34" charset="0"/>
              <a:buChar char="•"/>
            </a:pPr>
            <a:r>
              <a:rPr lang="en-US" sz="2600" dirty="0">
                <a:solidFill>
                  <a:schemeClr val="tx1"/>
                </a:solidFill>
                <a:latin typeface="Work Sans" pitchFamily="2" charset="0"/>
              </a:rPr>
              <a:t>48.07 Safely disable and inspect an air bag assembly.</a:t>
            </a:r>
          </a:p>
          <a:p>
            <a:pPr algn="l">
              <a:buClr>
                <a:schemeClr val="tx1"/>
              </a:buClr>
              <a:buSzPct val="100000"/>
              <a:buFont typeface="Arial" panose="020B0604020202020204" pitchFamily="34" charset="0"/>
              <a:buChar char="•"/>
            </a:pPr>
            <a:r>
              <a:rPr lang="en-US" sz="2600" dirty="0">
                <a:solidFill>
                  <a:schemeClr val="tx1"/>
                </a:solidFill>
                <a:latin typeface="Work Sans" pitchFamily="2" charset="0"/>
              </a:rPr>
              <a:t>48.08 Identify other components of occupant protection systems.</a:t>
            </a:r>
          </a:p>
        </p:txBody>
      </p:sp>
    </p:spTree>
    <p:extLst>
      <p:ext uri="{BB962C8B-B14F-4D97-AF65-F5344CB8AC3E}">
        <p14:creationId xmlns:p14="http://schemas.microsoft.com/office/powerpoint/2010/main" val="3396421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Types of Restraint Systems</a:t>
            </a:r>
          </a:p>
        </p:txBody>
      </p:sp>
      <p:sp>
        <p:nvSpPr>
          <p:cNvPr id="3075" name="Rectangle 3"/>
          <p:cNvSpPr>
            <a:spLocks noGrp="1" noChangeArrowheads="1"/>
          </p:cNvSpPr>
          <p:nvPr>
            <p:ph type="body" idx="1"/>
          </p:nvPr>
        </p:nvSpPr>
        <p:spPr/>
        <p:txBody>
          <a:bodyPr/>
          <a:lstStyle/>
          <a:p>
            <a:pPr>
              <a:buClr>
                <a:schemeClr val="tx1"/>
              </a:buClr>
            </a:pPr>
            <a:r>
              <a:rPr lang="en-US" sz="2600" dirty="0">
                <a:solidFill>
                  <a:schemeClr val="tx1"/>
                </a:solidFill>
              </a:rPr>
              <a:t>Active Systems</a:t>
            </a:r>
          </a:p>
          <a:p>
            <a:pPr lvl="1"/>
            <a:r>
              <a:rPr lang="en-US" dirty="0">
                <a:solidFill>
                  <a:schemeClr val="tx1"/>
                </a:solidFill>
              </a:rPr>
              <a:t>Systems that the occupant must make a manual effort to use.</a:t>
            </a:r>
          </a:p>
          <a:p>
            <a:pPr lvl="1"/>
            <a:r>
              <a:rPr lang="en-US" dirty="0">
                <a:solidFill>
                  <a:schemeClr val="tx1"/>
                </a:solidFill>
              </a:rPr>
              <a:t>Seat belts.</a:t>
            </a:r>
          </a:p>
          <a:p>
            <a:pPr>
              <a:buClr>
                <a:schemeClr val="tx1"/>
              </a:buClr>
            </a:pPr>
            <a:r>
              <a:rPr lang="en-US" sz="2600" dirty="0">
                <a:solidFill>
                  <a:schemeClr val="tx1"/>
                </a:solidFill>
              </a:rPr>
              <a:t>Passive Systems</a:t>
            </a:r>
          </a:p>
          <a:p>
            <a:pPr lvl="1"/>
            <a:r>
              <a:rPr lang="en-US" dirty="0">
                <a:solidFill>
                  <a:schemeClr val="tx1"/>
                </a:solidFill>
              </a:rPr>
              <a:t>Systems that operate automatically.</a:t>
            </a:r>
          </a:p>
          <a:p>
            <a:pPr lvl="1"/>
            <a:r>
              <a:rPr lang="en-US" dirty="0">
                <a:solidFill>
                  <a:schemeClr val="tx1"/>
                </a:solidFill>
              </a:rPr>
              <a:t>Air bags.</a:t>
            </a:r>
          </a:p>
          <a:p>
            <a:pPr lvl="1"/>
            <a:r>
              <a:rPr lang="en-US" dirty="0">
                <a:solidFill>
                  <a:schemeClr val="tx1"/>
                </a:solidFill>
              </a:rPr>
              <a:t>Seat belt tensioners.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dirty="0"/>
              <a:t>Seat Belts</a:t>
            </a:r>
          </a:p>
        </p:txBody>
      </p:sp>
      <p:sp>
        <p:nvSpPr>
          <p:cNvPr id="4099" name="Content Placeholder 2"/>
          <p:cNvSpPr>
            <a:spLocks noGrp="1"/>
          </p:cNvSpPr>
          <p:nvPr>
            <p:ph type="body" idx="1"/>
          </p:nvPr>
        </p:nvSpPr>
        <p:spPr/>
        <p:txBody>
          <a:bodyPr>
            <a:noAutofit/>
          </a:bodyPr>
          <a:lstStyle/>
          <a:p>
            <a:pPr marL="0" indent="0" algn="l">
              <a:buNone/>
            </a:pPr>
            <a:r>
              <a:rPr lang="en-US" sz="2600" b="1" dirty="0">
                <a:solidFill>
                  <a:schemeClr val="tx1"/>
                </a:solidFill>
                <a:latin typeface="Work Sans" pitchFamily="2" charset="0"/>
              </a:rPr>
              <a:t>48.01 Explain the difference between active and passive restraint systems.</a:t>
            </a:r>
          </a:p>
          <a:p>
            <a:pPr algn="l">
              <a:buClr>
                <a:schemeClr val="tx1"/>
              </a:buClr>
              <a:buSzPct val="100000"/>
            </a:pPr>
            <a:r>
              <a:rPr lang="en-US" sz="2600" dirty="0">
                <a:solidFill>
                  <a:schemeClr val="tx1"/>
                </a:solidFill>
                <a:latin typeface="Work Sans" pitchFamily="2" charset="0"/>
              </a:rPr>
              <a:t>An active restraint system is one that a vehicle’s occupant must make a manual effort to use. </a:t>
            </a:r>
          </a:p>
          <a:p>
            <a:pPr>
              <a:buClr>
                <a:schemeClr val="tx1"/>
              </a:buClr>
              <a:buSzPct val="100000"/>
            </a:pPr>
            <a:r>
              <a:rPr lang="en-US" sz="2600" dirty="0">
                <a:solidFill>
                  <a:schemeClr val="tx1"/>
                </a:solidFill>
              </a:rPr>
              <a:t>Passive belts use electric motors to move shoulder belts.</a:t>
            </a:r>
          </a:p>
          <a:p>
            <a:pPr>
              <a:buClr>
                <a:schemeClr val="tx1"/>
              </a:buClr>
              <a:buSzPct val="100000"/>
            </a:pPr>
            <a:r>
              <a:rPr lang="en-US" sz="2600" dirty="0">
                <a:solidFill>
                  <a:schemeClr val="tx1"/>
                </a:solidFill>
              </a:rPr>
              <a:t>Most vehicles have two active belts joined together at a single point.</a:t>
            </a:r>
          </a:p>
          <a:p>
            <a:pPr>
              <a:buClr>
                <a:schemeClr val="tx1"/>
              </a:buClr>
              <a:buSzPct val="100000"/>
            </a:pPr>
            <a:r>
              <a:rPr lang="en-US" sz="2600" dirty="0">
                <a:solidFill>
                  <a:schemeClr val="tx1"/>
                </a:solidFill>
              </a:rPr>
              <a:t>Look inside of buckle if seat belt will not latch correctly.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dirty="0"/>
              <a:t>Seat Belt Retractors (1 of 2)</a:t>
            </a:r>
          </a:p>
        </p:txBody>
      </p:sp>
      <p:sp>
        <p:nvSpPr>
          <p:cNvPr id="5123" name="Content Placeholder 2"/>
          <p:cNvSpPr>
            <a:spLocks noGrp="1"/>
          </p:cNvSpPr>
          <p:nvPr>
            <p:ph type="body" idx="1"/>
          </p:nvPr>
        </p:nvSpPr>
        <p:spPr>
          <a:xfrm>
            <a:off x="476844" y="1563626"/>
            <a:ext cx="6203655" cy="3255509"/>
          </a:xfrm>
        </p:spPr>
        <p:txBody>
          <a:bodyPr/>
          <a:lstStyle/>
          <a:p>
            <a:r>
              <a:rPr lang="en-US" sz="2600" dirty="0">
                <a:solidFill>
                  <a:schemeClr val="tx1"/>
                </a:solidFill>
              </a:rPr>
              <a:t>May operate as pretensioners to take up slack during an accident.</a:t>
            </a:r>
          </a:p>
          <a:p>
            <a:r>
              <a:rPr lang="en-US" sz="2600" dirty="0">
                <a:solidFill>
                  <a:schemeClr val="tx1"/>
                </a:solidFill>
              </a:rPr>
              <a:t>Inertia lock retractors prevent movement when there is a sudden pull.</a:t>
            </a:r>
          </a:p>
        </p:txBody>
      </p:sp>
      <p:pic>
        <p:nvPicPr>
          <p:cNvPr id="7" name="Picture Placeholder 6" descr="A technician operates a seat belt retractor.">
            <a:extLst>
              <a:ext uri="{FF2B5EF4-FFF2-40B4-BE49-F238E27FC236}">
                <a16:creationId xmlns:a16="http://schemas.microsoft.com/office/drawing/2014/main" id="{FAAD3AD1-74F9-5D65-332B-3837458621A3}"/>
              </a:ext>
            </a:extLst>
          </p:cNvPr>
          <p:cNvPicPr>
            <a:picLocks noGrp="1" noChangeAspect="1"/>
          </p:cNvPicPr>
          <p:nvPr>
            <p:ph type="pic" sz="quarter" idx="12"/>
          </p:nvPr>
        </p:nvPicPr>
        <p:blipFill rotWithShape="1">
          <a:blip r:embed="rId3"/>
          <a:srcRect b="5289"/>
          <a:stretch/>
        </p:blipFill>
        <p:spPr>
          <a:xfrm>
            <a:off x="7450757" y="1703531"/>
            <a:ext cx="2974661" cy="42212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dirty="0"/>
              <a:t>Seat Belt Retractors (2 of 2)  </a:t>
            </a:r>
          </a:p>
        </p:txBody>
      </p:sp>
      <p:sp>
        <p:nvSpPr>
          <p:cNvPr id="5123" name="Content Placeholder 2"/>
          <p:cNvSpPr>
            <a:spLocks noGrp="1"/>
          </p:cNvSpPr>
          <p:nvPr>
            <p:ph type="body" idx="1"/>
          </p:nvPr>
        </p:nvSpPr>
        <p:spPr/>
        <p:txBody>
          <a:bodyPr/>
          <a:lstStyle/>
          <a:p>
            <a:r>
              <a:rPr lang="en-US" sz="2600" dirty="0">
                <a:solidFill>
                  <a:schemeClr val="tx1"/>
                </a:solidFill>
              </a:rPr>
              <a:t>Some vehicles use electric or pyrotechnic pretensioners.</a:t>
            </a:r>
          </a:p>
          <a:p>
            <a:r>
              <a:rPr lang="en-US" sz="2600" dirty="0">
                <a:solidFill>
                  <a:schemeClr val="tx1"/>
                </a:solidFill>
              </a:rPr>
              <a:t>These are used to pull the seat belt in during a collision.</a:t>
            </a:r>
          </a:p>
          <a:p>
            <a:r>
              <a:rPr lang="en-US" sz="2600" dirty="0">
                <a:solidFill>
                  <a:schemeClr val="tx1"/>
                </a:solidFill>
              </a:rPr>
              <a:t>This keeps the passenger tight against the seat.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dirty="0"/>
              <a:t>Warning Lights</a:t>
            </a:r>
          </a:p>
        </p:txBody>
      </p:sp>
      <p:sp>
        <p:nvSpPr>
          <p:cNvPr id="7171" name="Content Placeholder 2"/>
          <p:cNvSpPr>
            <a:spLocks noGrp="1"/>
          </p:cNvSpPr>
          <p:nvPr>
            <p:ph type="body" idx="1"/>
          </p:nvPr>
        </p:nvSpPr>
        <p:spPr/>
        <p:txBody>
          <a:bodyPr>
            <a:noAutofit/>
          </a:bodyPr>
          <a:lstStyle/>
          <a:p>
            <a:r>
              <a:rPr lang="en-US" sz="2600" dirty="0">
                <a:solidFill>
                  <a:schemeClr val="tx1"/>
                </a:solidFill>
              </a:rPr>
              <a:t>All modern vehicles use a reminder light or chime.</a:t>
            </a:r>
          </a:p>
          <a:p>
            <a:r>
              <a:rPr lang="en-US" sz="2600" dirty="0">
                <a:solidFill>
                  <a:schemeClr val="tx1"/>
                </a:solidFill>
              </a:rPr>
              <a:t>Once a seat belt is fastened, a signal is sent to the indicator module.</a:t>
            </a:r>
          </a:p>
          <a:p>
            <a:r>
              <a:rPr lang="en-US" sz="2600" dirty="0">
                <a:solidFill>
                  <a:schemeClr val="tx1"/>
                </a:solidFill>
              </a:rPr>
              <a:t>If a seat belt remains unfastened, an alert will sound.</a:t>
            </a:r>
          </a:p>
          <a:p>
            <a:r>
              <a:rPr lang="en-US" sz="2600" dirty="0">
                <a:solidFill>
                  <a:schemeClr val="tx1"/>
                </a:solidFill>
              </a:rPr>
              <a:t>A sensor in the seat detects occupant.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Seat Belt Service</a:t>
            </a:r>
          </a:p>
        </p:txBody>
      </p:sp>
      <p:sp>
        <p:nvSpPr>
          <p:cNvPr id="8195" name="Rectangle 3"/>
          <p:cNvSpPr>
            <a:spLocks noGrp="1" noChangeArrowheads="1"/>
          </p:cNvSpPr>
          <p:nvPr>
            <p:ph type="body" idx="1"/>
          </p:nvPr>
        </p:nvSpPr>
        <p:spPr/>
        <p:txBody>
          <a:bodyPr/>
          <a:lstStyle/>
          <a:p>
            <a:pPr marL="0" indent="0">
              <a:buNone/>
            </a:pPr>
            <a:r>
              <a:rPr lang="en-US" b="1" dirty="0">
                <a:solidFill>
                  <a:schemeClr val="tx1"/>
                </a:solidFill>
              </a:rPr>
              <a:t>48.02 Know how to service and repair passive belt systems.</a:t>
            </a:r>
            <a:endParaRPr lang="en-US" sz="2600" b="1" dirty="0">
              <a:solidFill>
                <a:schemeClr val="tx1"/>
              </a:solidFill>
            </a:endParaRPr>
          </a:p>
          <a:p>
            <a:r>
              <a:rPr lang="en-US" sz="2600" dirty="0">
                <a:solidFill>
                  <a:schemeClr val="tx1"/>
                </a:solidFill>
              </a:rPr>
              <a:t>Pay special attention to where the webbing contacts maximum stress points.</a:t>
            </a:r>
          </a:p>
          <a:p>
            <a:r>
              <a:rPr lang="en-US" sz="2600" dirty="0">
                <a:solidFill>
                  <a:schemeClr val="tx1"/>
                </a:solidFill>
              </a:rPr>
              <a:t>If webbing is stuck in the retractor, check for dirt or foreign material on webbing.</a:t>
            </a:r>
          </a:p>
          <a:p>
            <a:r>
              <a:rPr lang="en-US" sz="2600" dirty="0">
                <a:solidFill>
                  <a:schemeClr val="tx1"/>
                </a:solidFill>
              </a:rPr>
              <a:t>Never bleach or dye the belt webbing.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dirty="0"/>
              <a:t>Belt Webbing Defects</a:t>
            </a:r>
          </a:p>
        </p:txBody>
      </p:sp>
      <p:pic>
        <p:nvPicPr>
          <p:cNvPr id="8" name="Picture Placeholder 7" descr="Examples of Webbing defects. The webbing is fully extended from the retractor. The webbing is inspected and replaced with either of the six types of combinations. If webbing cannot be pulled out of the retractor to the stowed position, the following conditions like webbing soiled with gum, syrup, grease, or other material, twisted webbing, or the retractor or loop on the B-pillar out of position, are checked. The webbing defects are of the following six types: Cut or damaged webbing, Cut loops at belt edge (damage from being caught in door), Broken or pulled threads, color fading, cut loops at belt edge, and Bowed webbing. Buckle inspection, retractor inspection, and anchor inspection are also carried out parallel to enhance good service as per the service guidelines.">
            <a:extLst>
              <a:ext uri="{FF2B5EF4-FFF2-40B4-BE49-F238E27FC236}">
                <a16:creationId xmlns:a16="http://schemas.microsoft.com/office/drawing/2014/main" id="{7B6FD671-8967-0E45-204B-C03262C8A339}"/>
              </a:ext>
            </a:extLst>
          </p:cNvPr>
          <p:cNvPicPr>
            <a:picLocks noGrp="1" noChangeAspect="1"/>
          </p:cNvPicPr>
          <p:nvPr>
            <p:ph type="pic" sz="quarter" idx="12"/>
          </p:nvPr>
        </p:nvPicPr>
        <p:blipFill rotWithShape="1">
          <a:blip r:embed="rId3"/>
          <a:srcRect b="5354"/>
          <a:stretch/>
        </p:blipFill>
        <p:spPr>
          <a:xfrm>
            <a:off x="4003501" y="1584541"/>
            <a:ext cx="4443504" cy="43527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dirty="0"/>
              <a:t>Buckle Inspection</a:t>
            </a:r>
          </a:p>
        </p:txBody>
      </p:sp>
      <p:sp>
        <p:nvSpPr>
          <p:cNvPr id="10243" name="Content Placeholder 2"/>
          <p:cNvSpPr>
            <a:spLocks noGrp="1"/>
          </p:cNvSpPr>
          <p:nvPr>
            <p:ph type="body" idx="1"/>
          </p:nvPr>
        </p:nvSpPr>
        <p:spPr/>
        <p:txBody>
          <a:bodyPr/>
          <a:lstStyle/>
          <a:p>
            <a:r>
              <a:rPr lang="en-US" sz="2600" dirty="0">
                <a:solidFill>
                  <a:schemeClr val="tx1"/>
                </a:solidFill>
              </a:rPr>
              <a:t>Insert seat belt until a click is heard.</a:t>
            </a:r>
          </a:p>
          <a:p>
            <a:r>
              <a:rPr lang="en-US" sz="2600" dirty="0">
                <a:solidFill>
                  <a:schemeClr val="tx1"/>
                </a:solidFill>
              </a:rPr>
              <a:t>Quickly pull on the webbing to ensure it is properly latched.</a:t>
            </a:r>
          </a:p>
          <a:p>
            <a:r>
              <a:rPr lang="en-US" sz="2600" dirty="0">
                <a:solidFill>
                  <a:schemeClr val="tx1"/>
                </a:solidFill>
              </a:rPr>
              <a:t>Replace the assembly if it fails to latch.</a:t>
            </a:r>
          </a:p>
          <a:p>
            <a:r>
              <a:rPr lang="en-US" sz="2600" dirty="0">
                <a:solidFill>
                  <a:schemeClr val="tx1"/>
                </a:solidFill>
              </a:rPr>
              <a:t>Press the seat belt release</a:t>
            </a:r>
          </a:p>
          <a:p>
            <a:pPr lvl="1"/>
            <a:r>
              <a:rPr lang="en-US" dirty="0">
                <a:solidFill>
                  <a:schemeClr val="tx1"/>
                </a:solidFill>
              </a:rPr>
              <a:t>Should release with about two pounds of pressure.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dirty="0"/>
              <a:t>Retractor Inspection</a:t>
            </a:r>
          </a:p>
        </p:txBody>
      </p:sp>
      <p:sp>
        <p:nvSpPr>
          <p:cNvPr id="11267" name="Content Placeholder 2"/>
          <p:cNvSpPr>
            <a:spLocks noGrp="1"/>
          </p:cNvSpPr>
          <p:nvPr>
            <p:ph type="body" idx="1"/>
          </p:nvPr>
        </p:nvSpPr>
        <p:spPr/>
        <p:txBody>
          <a:bodyPr/>
          <a:lstStyle/>
          <a:p>
            <a:pPr>
              <a:spcAft>
                <a:spcPts val="1200"/>
              </a:spcAft>
            </a:pPr>
            <a:r>
              <a:rPr lang="en-US" sz="2600" dirty="0">
                <a:solidFill>
                  <a:schemeClr val="tx1"/>
                </a:solidFill>
              </a:rPr>
              <a:t>Lap belt retractors should lock once the belt is fully out.</a:t>
            </a:r>
          </a:p>
          <a:p>
            <a:pPr>
              <a:spcAft>
                <a:spcPts val="1200"/>
              </a:spcAft>
            </a:pPr>
            <a:r>
              <a:rPr lang="en-US" sz="2600" dirty="0">
                <a:solidFill>
                  <a:schemeClr val="tx1"/>
                </a:solidFill>
              </a:rPr>
              <a:t>Vehicle-sensitive retractors tested by a braking test</a:t>
            </a:r>
          </a:p>
          <a:p>
            <a:pPr lvl="1">
              <a:spcAft>
                <a:spcPts val="1200"/>
              </a:spcAft>
            </a:pPr>
            <a:r>
              <a:rPr lang="en-US" dirty="0">
                <a:solidFill>
                  <a:schemeClr val="tx1"/>
                </a:solidFill>
              </a:rPr>
              <a:t>Drive vehicle at 5–8 mph and stop quickly.</a:t>
            </a:r>
          </a:p>
          <a:p>
            <a:pPr>
              <a:spcAft>
                <a:spcPts val="1200"/>
              </a:spcAft>
            </a:pPr>
            <a:r>
              <a:rPr lang="en-US" sz="2600" dirty="0">
                <a:solidFill>
                  <a:schemeClr val="tx1"/>
                </a:solidFill>
              </a:rPr>
              <a:t>Most retractors are not interchangeable.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dirty="0"/>
              <a:t>Anchor Inspection</a:t>
            </a:r>
          </a:p>
        </p:txBody>
      </p:sp>
      <p:sp>
        <p:nvSpPr>
          <p:cNvPr id="12291" name="Content Placeholder 2"/>
          <p:cNvSpPr>
            <a:spLocks noGrp="1"/>
          </p:cNvSpPr>
          <p:nvPr>
            <p:ph type="body" idx="1"/>
          </p:nvPr>
        </p:nvSpPr>
        <p:spPr/>
        <p:txBody>
          <a:bodyPr/>
          <a:lstStyle/>
          <a:p>
            <a:r>
              <a:rPr lang="en-US" sz="2600" dirty="0">
                <a:solidFill>
                  <a:schemeClr val="tx1"/>
                </a:solidFill>
              </a:rPr>
              <a:t>Inspect anchor areas and attaching bolts.</a:t>
            </a:r>
          </a:p>
          <a:p>
            <a:r>
              <a:rPr lang="en-US" sz="2600" dirty="0">
                <a:solidFill>
                  <a:schemeClr val="tx1"/>
                </a:solidFill>
              </a:rPr>
              <a:t>Clean the inside of the loops.</a:t>
            </a:r>
          </a:p>
          <a:p>
            <a:r>
              <a:rPr lang="en-US" sz="2600" dirty="0">
                <a:solidFill>
                  <a:schemeClr val="tx1"/>
                </a:solidFill>
              </a:rPr>
              <a:t>Replace loose bolts.</a:t>
            </a:r>
          </a:p>
          <a:p>
            <a:r>
              <a:rPr lang="en-US" sz="2600" dirty="0">
                <a:solidFill>
                  <a:schemeClr val="tx1"/>
                </a:solidFill>
              </a:rPr>
              <a:t>Inspect the metal in the anchor mounting area.</a:t>
            </a:r>
          </a:p>
          <a:p>
            <a:r>
              <a:rPr lang="en-US" sz="2600" dirty="0">
                <a:solidFill>
                  <a:schemeClr val="tx1"/>
                </a:solidFill>
              </a:rPr>
              <a:t>Inspect and test rear seat restraints in the same way as front restraints.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Warning Light and Sound System</a:t>
            </a:r>
          </a:p>
        </p:txBody>
      </p:sp>
      <p:sp>
        <p:nvSpPr>
          <p:cNvPr id="13315" name="Content Placeholder 2"/>
          <p:cNvSpPr>
            <a:spLocks noGrp="1"/>
          </p:cNvSpPr>
          <p:nvPr>
            <p:ph type="body" idx="1"/>
          </p:nvPr>
        </p:nvSpPr>
        <p:spPr/>
        <p:txBody>
          <a:bodyPr/>
          <a:lstStyle/>
          <a:p>
            <a:r>
              <a:rPr lang="en-US" sz="2600" dirty="0">
                <a:solidFill>
                  <a:schemeClr val="tx1"/>
                </a:solidFill>
              </a:rPr>
              <a:t>Warning light should come on with key in on or run position.</a:t>
            </a:r>
          </a:p>
          <a:p>
            <a:r>
              <a:rPr lang="en-US" sz="2600" dirty="0">
                <a:solidFill>
                  <a:schemeClr val="tx1"/>
                </a:solidFill>
              </a:rPr>
              <a:t>Should also be a warning chime.</a:t>
            </a:r>
          </a:p>
          <a:p>
            <a:r>
              <a:rPr lang="en-US" sz="2600" dirty="0">
                <a:solidFill>
                  <a:schemeClr val="tx1"/>
                </a:solidFill>
              </a:rPr>
              <a:t>Check for blown fuse if light and/or chime is inoperative.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a:t>Servicing Seat Belts</a:t>
            </a:r>
          </a:p>
        </p:txBody>
      </p:sp>
      <p:sp>
        <p:nvSpPr>
          <p:cNvPr id="14339" name="Content Placeholder 2"/>
          <p:cNvSpPr>
            <a:spLocks noGrp="1"/>
          </p:cNvSpPr>
          <p:nvPr>
            <p:ph type="body" idx="1"/>
          </p:nvPr>
        </p:nvSpPr>
        <p:spPr/>
        <p:txBody>
          <a:bodyPr/>
          <a:lstStyle/>
          <a:p>
            <a:pPr algn="l">
              <a:buClr>
                <a:schemeClr val="tx1"/>
              </a:buClr>
              <a:buSzPct val="100000"/>
              <a:buFont typeface="Arial" panose="020B0604020202020204" pitchFamily="34" charset="0"/>
              <a:buChar char="•"/>
            </a:pPr>
            <a:r>
              <a:rPr lang="en-US" sz="2600" dirty="0">
                <a:solidFill>
                  <a:schemeClr val="tx1"/>
                </a:solidFill>
                <a:latin typeface="Work Sans" pitchFamily="2" charset="0"/>
              </a:rPr>
              <a:t>Replace the seat belt with a new assembly if there is any abnormality.</a:t>
            </a:r>
          </a:p>
          <a:p>
            <a:pPr algn="l">
              <a:buClr>
                <a:schemeClr val="tx1"/>
              </a:buClr>
              <a:buSzPct val="100000"/>
              <a:buFont typeface="Arial" panose="020B0604020202020204" pitchFamily="34" charset="0"/>
              <a:buChar char="•"/>
            </a:pPr>
            <a:r>
              <a:rPr lang="en-US" sz="2600" dirty="0">
                <a:solidFill>
                  <a:schemeClr val="tx1"/>
                </a:solidFill>
                <a:latin typeface="Work Sans" pitchFamily="2" charset="0"/>
              </a:rPr>
              <a:t>Never disassemble any part of the seat belt system.</a:t>
            </a:r>
          </a:p>
          <a:p>
            <a:pPr algn="l">
              <a:buClr>
                <a:schemeClr val="tx1"/>
              </a:buClr>
              <a:buSzPct val="100000"/>
              <a:buFont typeface="Arial" panose="020B0604020202020204" pitchFamily="34" charset="0"/>
              <a:buChar char="•"/>
            </a:pPr>
            <a:r>
              <a:rPr lang="en-US" sz="2600" dirty="0">
                <a:solidFill>
                  <a:schemeClr val="tx1"/>
                </a:solidFill>
                <a:latin typeface="Work Sans" pitchFamily="2" charset="0"/>
              </a:rPr>
              <a:t>Never attempt repairs on lap or shoulder belt retractors or retractor covers. Replace them if necessary.</a:t>
            </a:r>
          </a:p>
          <a:p>
            <a:pPr algn="l">
              <a:buClr>
                <a:schemeClr val="tx1"/>
              </a:buClr>
              <a:buSzPct val="100000"/>
              <a:buFont typeface="Arial" panose="020B0604020202020204" pitchFamily="34" charset="0"/>
              <a:buChar char="•"/>
            </a:pPr>
            <a:r>
              <a:rPr lang="en-US" sz="2600" dirty="0">
                <a:solidFill>
                  <a:schemeClr val="tx1"/>
                </a:solidFill>
                <a:latin typeface="Work Sans" pitchFamily="2" charset="0"/>
              </a:rPr>
              <a:t>Tighten all anchor bolts to specifications</a:t>
            </a:r>
            <a:r>
              <a:rPr lang="en-US" sz="1800" dirty="0">
                <a:solidFill>
                  <a:schemeClr val="tx1"/>
                </a:solidFill>
                <a:latin typeface="Work Sans" pitchFamily="2" charset="0"/>
              </a:rPr>
              <a:t>.</a:t>
            </a:r>
            <a:endParaRPr lang="en-US" dirty="0">
              <a:solidFill>
                <a:schemeClr val="tx1"/>
              </a:solidFill>
              <a:latin typeface="Work Sans" pitchFamily="2"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(1 of 3)</a:t>
            </a:r>
          </a:p>
        </p:txBody>
      </p:sp>
      <p:sp>
        <p:nvSpPr>
          <p:cNvPr id="3" name="Content Placeholder 2"/>
          <p:cNvSpPr>
            <a:spLocks noGrp="1"/>
          </p:cNvSpPr>
          <p:nvPr>
            <p:ph type="body" idx="1"/>
          </p:nvPr>
        </p:nvSpPr>
        <p:spPr/>
        <p:txBody>
          <a:bodyPr/>
          <a:lstStyle/>
          <a:p>
            <a:pPr marL="85725" indent="0">
              <a:buNone/>
            </a:pPr>
            <a:r>
              <a:rPr lang="en-US" sz="2600" dirty="0">
                <a:solidFill>
                  <a:schemeClr val="tx1"/>
                </a:solidFill>
              </a:rPr>
              <a:t>Technician A says a faulty seat belt retractor should be disassembled, inspected, and repaired. Technician B says a faulty retractor should be replaced.</a:t>
            </a:r>
          </a:p>
          <a:p>
            <a:pPr marL="85725" indent="0">
              <a:buNone/>
            </a:pPr>
            <a:r>
              <a:rPr lang="en-US" sz="2600" dirty="0">
                <a:solidFill>
                  <a:schemeClr val="tx1"/>
                </a:solidFill>
              </a:rPr>
              <a:t>Who is correct?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Answer (1 of 3)</a:t>
            </a:r>
          </a:p>
        </p:txBody>
      </p:sp>
      <p:sp>
        <p:nvSpPr>
          <p:cNvPr id="3" name="Content Placeholder 2"/>
          <p:cNvSpPr>
            <a:spLocks noGrp="1"/>
          </p:cNvSpPr>
          <p:nvPr>
            <p:ph type="body" idx="1"/>
          </p:nvPr>
        </p:nvSpPr>
        <p:spPr/>
        <p:txBody>
          <a:bodyPr/>
          <a:lstStyle/>
          <a:p>
            <a:pPr marL="85725" indent="0">
              <a:buNone/>
            </a:pPr>
            <a:r>
              <a:rPr lang="en-US" sz="2600" dirty="0">
                <a:solidFill>
                  <a:schemeClr val="tx1"/>
                </a:solidFill>
              </a:rPr>
              <a:t>Technician A says a faulty seat belt retractor should be disassembled, inspected, and repaired. Technician B says a faulty retractor should be replaced. </a:t>
            </a:r>
          </a:p>
          <a:p>
            <a:pPr marL="85725" indent="0">
              <a:spcAft>
                <a:spcPts val="1800"/>
              </a:spcAft>
              <a:buNone/>
            </a:pPr>
            <a:r>
              <a:rPr lang="en-US" sz="2600" dirty="0">
                <a:solidFill>
                  <a:schemeClr val="tx1"/>
                </a:solidFill>
              </a:rPr>
              <a:t>Who is correct? </a:t>
            </a:r>
          </a:p>
          <a:p>
            <a:pPr marL="85725" indent="0">
              <a:buNone/>
            </a:pPr>
            <a:r>
              <a:rPr lang="en-US" sz="2600" b="1" dirty="0">
                <a:solidFill>
                  <a:schemeClr val="tx1"/>
                </a:solidFill>
              </a:rPr>
              <a:t>Answer: </a:t>
            </a:r>
            <a:r>
              <a:rPr lang="en-US" sz="2600" dirty="0">
                <a:solidFill>
                  <a:schemeClr val="tx1"/>
                </a:solidFill>
              </a:rPr>
              <a:t>Technician B Only</a:t>
            </a:r>
          </a:p>
        </p:txBody>
      </p:sp>
    </p:spTree>
    <p:extLst>
      <p:ext uri="{BB962C8B-B14F-4D97-AF65-F5344CB8AC3E}">
        <p14:creationId xmlns:p14="http://schemas.microsoft.com/office/powerpoint/2010/main" val="6758007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Air Bags</a:t>
            </a:r>
          </a:p>
        </p:txBody>
      </p:sp>
      <p:sp>
        <p:nvSpPr>
          <p:cNvPr id="3" name="Content Placeholder 2"/>
          <p:cNvSpPr>
            <a:spLocks noGrp="1"/>
          </p:cNvSpPr>
          <p:nvPr>
            <p:ph type="body" idx="1"/>
          </p:nvPr>
        </p:nvSpPr>
        <p:spPr>
          <a:xfrm>
            <a:off x="476844" y="1563626"/>
            <a:ext cx="6331729" cy="3626212"/>
          </a:xfrm>
        </p:spPr>
        <p:txBody>
          <a:bodyPr/>
          <a:lstStyle/>
          <a:p>
            <a:pPr marL="0" indent="0">
              <a:buNone/>
            </a:pPr>
            <a:r>
              <a:rPr lang="en-US" sz="2400" b="1" dirty="0">
                <a:solidFill>
                  <a:schemeClr val="tx1"/>
                </a:solidFill>
              </a:rPr>
              <a:t>48.03 Describe the function and operation of air bags.</a:t>
            </a:r>
          </a:p>
          <a:p>
            <a:r>
              <a:rPr lang="en-US" sz="2400" dirty="0">
                <a:solidFill>
                  <a:schemeClr val="tx1"/>
                </a:solidFill>
              </a:rPr>
              <a:t>Designed to be used with seat belts.</a:t>
            </a:r>
          </a:p>
          <a:p>
            <a:r>
              <a:rPr lang="en-US" sz="2400" dirty="0">
                <a:solidFill>
                  <a:schemeClr val="tx1"/>
                </a:solidFill>
              </a:rPr>
              <a:t>Sensors and components vary with vehicle manufacturer and year of vehicle.</a:t>
            </a:r>
          </a:p>
          <a:p>
            <a:r>
              <a:rPr lang="en-US" sz="2400" dirty="0">
                <a:solidFill>
                  <a:schemeClr val="tx1"/>
                </a:solidFill>
              </a:rPr>
              <a:t>May include driver, passenger, side, curtain, and knee air bags.</a:t>
            </a:r>
          </a:p>
        </p:txBody>
      </p:sp>
      <p:pic>
        <p:nvPicPr>
          <p:cNvPr id="10" name="Picture Placeholder 9" descr="A demonstration of airbag inflation with a dummy passenger in a car.">
            <a:extLst>
              <a:ext uri="{FF2B5EF4-FFF2-40B4-BE49-F238E27FC236}">
                <a16:creationId xmlns:a16="http://schemas.microsoft.com/office/drawing/2014/main" id="{AD565552-D9F3-7987-1313-27656BB288D3}"/>
              </a:ext>
            </a:extLst>
          </p:cNvPr>
          <p:cNvPicPr>
            <a:picLocks noGrp="1" noChangeAspect="1"/>
          </p:cNvPicPr>
          <p:nvPr>
            <p:ph type="pic" sz="quarter" idx="12"/>
          </p:nvPr>
        </p:nvPicPr>
        <p:blipFill rotWithShape="1">
          <a:blip r:embed="rId2"/>
          <a:srcRect b="7018"/>
          <a:stretch/>
        </p:blipFill>
        <p:spPr>
          <a:xfrm>
            <a:off x="6964333" y="1614970"/>
            <a:ext cx="4215212" cy="397163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27CC9-D92F-651A-17D4-10C2DFCE8A99}"/>
              </a:ext>
            </a:extLst>
          </p:cNvPr>
          <p:cNvSpPr>
            <a:spLocks noGrp="1"/>
          </p:cNvSpPr>
          <p:nvPr>
            <p:ph type="title"/>
          </p:nvPr>
        </p:nvSpPr>
        <p:spPr/>
        <p:txBody>
          <a:bodyPr/>
          <a:lstStyle/>
          <a:p>
            <a:r>
              <a:rPr lang="en-US" dirty="0"/>
              <a:t>Side Air Bags</a:t>
            </a:r>
          </a:p>
        </p:txBody>
      </p:sp>
      <p:pic>
        <p:nvPicPr>
          <p:cNvPr id="10" name="Picture Placeholder 9" descr="A fully blown side air bag, located on the door of a vehicle just below the window.">
            <a:extLst>
              <a:ext uri="{FF2B5EF4-FFF2-40B4-BE49-F238E27FC236}">
                <a16:creationId xmlns:a16="http://schemas.microsoft.com/office/drawing/2014/main" id="{0381BE80-143F-D804-2C34-7CFB5FA390FF}"/>
              </a:ext>
            </a:extLst>
          </p:cNvPr>
          <p:cNvPicPr>
            <a:picLocks noGrp="1" noChangeAspect="1"/>
          </p:cNvPicPr>
          <p:nvPr>
            <p:ph type="pic" sz="quarter" idx="11"/>
          </p:nvPr>
        </p:nvPicPr>
        <p:blipFill rotWithShape="1">
          <a:blip r:embed="rId2"/>
          <a:srcRect b="5858"/>
          <a:stretch/>
        </p:blipFill>
        <p:spPr>
          <a:xfrm>
            <a:off x="2585779" y="1542540"/>
            <a:ext cx="2750996" cy="4031542"/>
          </a:xfrm>
          <a:prstGeom prst="rect">
            <a:avLst/>
          </a:prstGeom>
        </p:spPr>
      </p:pic>
      <p:pic>
        <p:nvPicPr>
          <p:cNvPr id="11" name="Picture Placeholder 10" descr="A side curtain protects the passengers inside the vehicle. Side curtains blanket the entire side of the car.">
            <a:extLst>
              <a:ext uri="{FF2B5EF4-FFF2-40B4-BE49-F238E27FC236}">
                <a16:creationId xmlns:a16="http://schemas.microsoft.com/office/drawing/2014/main" id="{56644607-0E29-7771-DD0E-3D7B1A203190}"/>
              </a:ext>
            </a:extLst>
          </p:cNvPr>
          <p:cNvPicPr>
            <a:picLocks noGrp="1" noChangeAspect="1"/>
          </p:cNvPicPr>
          <p:nvPr>
            <p:ph type="pic" sz="quarter" idx="12"/>
          </p:nvPr>
        </p:nvPicPr>
        <p:blipFill rotWithShape="1">
          <a:blip r:embed="rId3"/>
          <a:srcRect b="10492"/>
          <a:stretch/>
        </p:blipFill>
        <p:spPr>
          <a:xfrm>
            <a:off x="6096000" y="1926378"/>
            <a:ext cx="4775699" cy="3647704"/>
          </a:xfrm>
          <a:prstGeom prst="rect">
            <a:avLst/>
          </a:prstGeom>
        </p:spPr>
      </p:pic>
    </p:spTree>
    <p:extLst>
      <p:ext uri="{BB962C8B-B14F-4D97-AF65-F5344CB8AC3E}">
        <p14:creationId xmlns:p14="http://schemas.microsoft.com/office/powerpoint/2010/main" val="29604988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dirty="0"/>
              <a:t>Typical Air Bag Deployment Sequence (1 of 2)</a:t>
            </a:r>
          </a:p>
        </p:txBody>
      </p:sp>
      <p:sp>
        <p:nvSpPr>
          <p:cNvPr id="15363" name="Rectangle 3"/>
          <p:cNvSpPr>
            <a:spLocks noGrp="1" noChangeArrowheads="1"/>
          </p:cNvSpPr>
          <p:nvPr>
            <p:ph type="body" idx="1"/>
          </p:nvPr>
        </p:nvSpPr>
        <p:spPr>
          <a:xfrm>
            <a:off x="665687" y="1363600"/>
            <a:ext cx="11241915" cy="4613339"/>
          </a:xfrm>
        </p:spPr>
        <p:txBody>
          <a:bodyPr/>
          <a:lstStyle/>
          <a:p>
            <a:r>
              <a:rPr lang="en-US" sz="2600" dirty="0">
                <a:solidFill>
                  <a:schemeClr val="tx1"/>
                </a:solidFill>
              </a:rPr>
              <a:t>When a crash occurs, the arming sensor will close first, and then one of the crash sensors will close.</a:t>
            </a:r>
          </a:p>
          <a:p>
            <a:r>
              <a:rPr lang="en-US" sz="2600" dirty="0">
                <a:solidFill>
                  <a:schemeClr val="tx1"/>
                </a:solidFill>
              </a:rPr>
              <a:t>Within 40 milliseconds, the igniter module burns the propellant and inflates the bag.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dirty="0"/>
              <a:t>Typical Air Bag Deployment Sequence (2 of 2) </a:t>
            </a:r>
          </a:p>
        </p:txBody>
      </p:sp>
      <p:sp>
        <p:nvSpPr>
          <p:cNvPr id="16387" name="Rectangle 3"/>
          <p:cNvSpPr>
            <a:spLocks noGrp="1" noChangeArrowheads="1"/>
          </p:cNvSpPr>
          <p:nvPr>
            <p:ph type="body" idx="1"/>
          </p:nvPr>
        </p:nvSpPr>
        <p:spPr/>
        <p:txBody>
          <a:bodyPr/>
          <a:lstStyle/>
          <a:p>
            <a:r>
              <a:rPr lang="en-US" dirty="0">
                <a:solidFill>
                  <a:schemeClr val="tx1"/>
                </a:solidFill>
              </a:rPr>
              <a:t>Within 100 milliseconds, the air bag starts to deflate.</a:t>
            </a:r>
          </a:p>
          <a:p>
            <a:r>
              <a:rPr lang="en-US" dirty="0">
                <a:solidFill>
                  <a:schemeClr val="tx1"/>
                </a:solidFill>
              </a:rPr>
              <a:t>Within 2 seconds, the air bag is completely deflated.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a:t>Second-Generation Air Bags</a:t>
            </a:r>
          </a:p>
        </p:txBody>
      </p:sp>
      <p:sp>
        <p:nvSpPr>
          <p:cNvPr id="20483" name="Content Placeholder 2"/>
          <p:cNvSpPr>
            <a:spLocks noGrp="1"/>
          </p:cNvSpPr>
          <p:nvPr>
            <p:ph type="body" idx="1"/>
          </p:nvPr>
        </p:nvSpPr>
        <p:spPr/>
        <p:txBody>
          <a:bodyPr/>
          <a:lstStyle/>
          <a:p>
            <a:r>
              <a:rPr lang="en-US" sz="2600" dirty="0">
                <a:solidFill>
                  <a:schemeClr val="tx1"/>
                </a:solidFill>
              </a:rPr>
              <a:t>Inflate with less force.</a:t>
            </a:r>
          </a:p>
          <a:p>
            <a:r>
              <a:rPr lang="en-US" sz="2600" dirty="0">
                <a:solidFill>
                  <a:schemeClr val="tx1"/>
                </a:solidFill>
              </a:rPr>
              <a:t>Designed to reduce the number of injuries caused by air bags.</a:t>
            </a:r>
          </a:p>
          <a:p>
            <a:r>
              <a:rPr lang="en-US" sz="2600" dirty="0">
                <a:solidFill>
                  <a:schemeClr val="tx1"/>
                </a:solidFill>
              </a:rPr>
              <a:t>Second generation bags deploy with about 20 to 35 percent less energy.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B79BA-8556-8605-A1B1-4AE103DD1C53}"/>
              </a:ext>
            </a:extLst>
          </p:cNvPr>
          <p:cNvSpPr>
            <a:spLocks noGrp="1"/>
          </p:cNvSpPr>
          <p:nvPr>
            <p:ph type="title"/>
          </p:nvPr>
        </p:nvSpPr>
        <p:spPr/>
        <p:txBody>
          <a:bodyPr/>
          <a:lstStyle/>
          <a:p>
            <a:r>
              <a:rPr lang="en-US" dirty="0"/>
              <a:t>Smart (adaptive) Air Bags</a:t>
            </a:r>
          </a:p>
        </p:txBody>
      </p:sp>
      <p:pic>
        <p:nvPicPr>
          <p:cNvPr id="9" name="Picture Placeholder 8" descr="Illustrations (A) and (B) depict a full-strength air bag and a reduced-strength air bag deployment, depending on the occupant's weight.">
            <a:extLst>
              <a:ext uri="{FF2B5EF4-FFF2-40B4-BE49-F238E27FC236}">
                <a16:creationId xmlns:a16="http://schemas.microsoft.com/office/drawing/2014/main" id="{E660E2E4-92A3-7364-3E9B-BD686CA2C7F3}"/>
              </a:ext>
            </a:extLst>
          </p:cNvPr>
          <p:cNvPicPr>
            <a:picLocks noGrp="1" noChangeAspect="1"/>
          </p:cNvPicPr>
          <p:nvPr>
            <p:ph type="pic" sz="quarter" idx="12"/>
          </p:nvPr>
        </p:nvPicPr>
        <p:blipFill rotWithShape="1">
          <a:blip r:embed="rId2"/>
          <a:srcRect b="12012"/>
          <a:stretch/>
        </p:blipFill>
        <p:spPr>
          <a:xfrm>
            <a:off x="4554851" y="1642171"/>
            <a:ext cx="3771535" cy="4220010"/>
          </a:xfrm>
          <a:prstGeom prst="rect">
            <a:avLst/>
          </a:prstGeom>
        </p:spPr>
      </p:pic>
    </p:spTree>
    <p:extLst>
      <p:ext uri="{BB962C8B-B14F-4D97-AF65-F5344CB8AC3E}">
        <p14:creationId xmlns:p14="http://schemas.microsoft.com/office/powerpoint/2010/main" val="1218826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Adaptive SRS Systems</a:t>
            </a:r>
          </a:p>
        </p:txBody>
      </p:sp>
      <p:sp>
        <p:nvSpPr>
          <p:cNvPr id="21507" name="Rectangle 3"/>
          <p:cNvSpPr>
            <a:spLocks noGrp="1" noChangeArrowheads="1"/>
          </p:cNvSpPr>
          <p:nvPr>
            <p:ph type="body" idx="1"/>
          </p:nvPr>
        </p:nvSpPr>
        <p:spPr>
          <a:xfrm>
            <a:off x="476845" y="1563626"/>
            <a:ext cx="5619156" cy="3456049"/>
          </a:xfrm>
        </p:spPr>
        <p:txBody>
          <a:bodyPr/>
          <a:lstStyle/>
          <a:p>
            <a:r>
              <a:rPr lang="en-US" dirty="0">
                <a:solidFill>
                  <a:schemeClr val="tx1"/>
                </a:solidFill>
              </a:rPr>
              <a:t>All 2006 and newer vehicles must allow for air bag suppression when infants, children, or small adults are in front passenger seat.</a:t>
            </a:r>
          </a:p>
          <a:p>
            <a:r>
              <a:rPr lang="en-US" dirty="0">
                <a:solidFill>
                  <a:schemeClr val="tx1"/>
                </a:solidFill>
              </a:rPr>
              <a:t>Uses a load sensor in seat.</a:t>
            </a:r>
          </a:p>
          <a:p>
            <a:r>
              <a:rPr lang="en-US" dirty="0">
                <a:solidFill>
                  <a:schemeClr val="tx1"/>
                </a:solidFill>
              </a:rPr>
              <a:t>Seat belt tension sensor.</a:t>
            </a:r>
          </a:p>
        </p:txBody>
      </p:sp>
      <p:pic>
        <p:nvPicPr>
          <p:cNvPr id="8" name="Picture Placeholder 7" descr="An occupant detection adaptive S R S system is being installed in a car seat with a seat belt tension sensor.">
            <a:extLst>
              <a:ext uri="{FF2B5EF4-FFF2-40B4-BE49-F238E27FC236}">
                <a16:creationId xmlns:a16="http://schemas.microsoft.com/office/drawing/2014/main" id="{19C38E9E-4A80-9F20-D74D-F95DE8A86A0A}"/>
              </a:ext>
            </a:extLst>
          </p:cNvPr>
          <p:cNvPicPr>
            <a:picLocks noGrp="1" noChangeAspect="1"/>
          </p:cNvPicPr>
          <p:nvPr>
            <p:ph type="pic" sz="quarter" idx="12"/>
          </p:nvPr>
        </p:nvPicPr>
        <p:blipFill rotWithShape="1">
          <a:blip r:embed="rId3"/>
          <a:srcRect b="7772"/>
          <a:stretch/>
        </p:blipFill>
        <p:spPr>
          <a:xfrm>
            <a:off x="6813354" y="1728355"/>
            <a:ext cx="4598199" cy="407119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dirty="0"/>
              <a:t>Electrical System Components</a:t>
            </a:r>
          </a:p>
        </p:txBody>
      </p:sp>
      <p:sp>
        <p:nvSpPr>
          <p:cNvPr id="22531" name="Content Placeholder 2"/>
          <p:cNvSpPr>
            <a:spLocks noGrp="1"/>
          </p:cNvSpPr>
          <p:nvPr>
            <p:ph type="body" idx="1"/>
          </p:nvPr>
        </p:nvSpPr>
        <p:spPr/>
        <p:txBody>
          <a:bodyPr/>
          <a:lstStyle/>
          <a:p>
            <a:r>
              <a:rPr lang="en-US" sz="2600" dirty="0">
                <a:solidFill>
                  <a:schemeClr val="tx1"/>
                </a:solidFill>
              </a:rPr>
              <a:t>Impact sensors.</a:t>
            </a:r>
          </a:p>
          <a:p>
            <a:r>
              <a:rPr lang="en-US" sz="2600" dirty="0">
                <a:solidFill>
                  <a:schemeClr val="tx1"/>
                </a:solidFill>
              </a:rPr>
              <a:t>Electronic control module(s).</a:t>
            </a:r>
          </a:p>
          <a:p>
            <a:r>
              <a:rPr lang="en-US" sz="2600" dirty="0">
                <a:solidFill>
                  <a:schemeClr val="tx1"/>
                </a:solidFill>
              </a:rPr>
              <a:t>Sensors send a signal to the module, which sends current to the inflator.</a:t>
            </a:r>
          </a:p>
          <a:p>
            <a:r>
              <a:rPr lang="en-US" sz="2600" dirty="0">
                <a:solidFill>
                  <a:schemeClr val="tx1"/>
                </a:solidFill>
              </a:rPr>
              <a:t>Most systems require at least two sensor switches to close before an air bag is deployed.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Common Air Bag Components</a:t>
            </a:r>
          </a:p>
        </p:txBody>
      </p:sp>
      <p:sp>
        <p:nvSpPr>
          <p:cNvPr id="5" name="Text Placeholder 4">
            <a:extLst>
              <a:ext uri="{FF2B5EF4-FFF2-40B4-BE49-F238E27FC236}">
                <a16:creationId xmlns:a16="http://schemas.microsoft.com/office/drawing/2014/main" id="{6DAC447F-4109-922B-B5E7-FABA311939F2}"/>
              </a:ext>
            </a:extLst>
          </p:cNvPr>
          <p:cNvSpPr>
            <a:spLocks noGrp="1"/>
          </p:cNvSpPr>
          <p:nvPr>
            <p:ph type="body" idx="1"/>
          </p:nvPr>
        </p:nvSpPr>
        <p:spPr>
          <a:xfrm>
            <a:off x="476844" y="1563626"/>
            <a:ext cx="11241915" cy="731899"/>
          </a:xfrm>
        </p:spPr>
        <p:txBody>
          <a:bodyPr/>
          <a:lstStyle/>
          <a:p>
            <a:pPr marL="0" indent="0">
              <a:buNone/>
            </a:pPr>
            <a:r>
              <a:rPr lang="en-US" b="1" dirty="0"/>
              <a:t>48.04 Identify the major parts of a typical air bag system.</a:t>
            </a:r>
          </a:p>
        </p:txBody>
      </p:sp>
      <p:pic>
        <p:nvPicPr>
          <p:cNvPr id="10" name="Picture Placeholder 9" descr="Location of common S R S components. A vehicle contains many different air bag modules. The components are of different shapes and numbered from 1 through 10 as follows: 1) Driver front airbag in a circular shape. 2) passenger front airbag in a rectangular shaped with curved edges. 3) Driver seat cushion airbag in the shape of a pentagon. 4) Passenger seat cushion airbag in the shape of a pentagon. 5) Driver side airbag in the shape of a vertical rectangle. 6) Passenger side airbag in the shape of a vertical rectangle. 7) Driver shoulder belt pretensioner, in the shape of a rhombus. 8) Passenger shoulder belt pretensioner in the shape of a rhombus. 9) Left curtain airbag in the shape of a vertical large rectangle. 10) Right curtain airbag in the shape of a vertical large rectangle. Similar components are shaded in similar colors.">
            <a:extLst>
              <a:ext uri="{FF2B5EF4-FFF2-40B4-BE49-F238E27FC236}">
                <a16:creationId xmlns:a16="http://schemas.microsoft.com/office/drawing/2014/main" id="{38C1E5E7-3572-4319-3CFA-4016A01ECF9E}"/>
              </a:ext>
            </a:extLst>
          </p:cNvPr>
          <p:cNvPicPr>
            <a:picLocks noGrp="1" noChangeAspect="1"/>
          </p:cNvPicPr>
          <p:nvPr>
            <p:ph type="pic" sz="quarter" idx="11"/>
          </p:nvPr>
        </p:nvPicPr>
        <p:blipFill rotWithShape="1">
          <a:blip r:embed="rId3"/>
          <a:srcRect b="6986"/>
          <a:stretch/>
        </p:blipFill>
        <p:spPr>
          <a:xfrm>
            <a:off x="3062706" y="2608250"/>
            <a:ext cx="6066589" cy="311292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dirty="0">
                <a:solidFill>
                  <a:schemeClr val="tx1"/>
                </a:solidFill>
              </a:rPr>
              <a:t>Impact</a:t>
            </a:r>
            <a:r>
              <a:rPr lang="en-GB" dirty="0">
                <a:solidFill>
                  <a:schemeClr val="tx1"/>
                </a:solidFill>
              </a:rPr>
              <a:t>—</a:t>
            </a:r>
            <a:r>
              <a:rPr lang="en-US" dirty="0">
                <a:solidFill>
                  <a:schemeClr val="tx1"/>
                </a:solidFill>
              </a:rPr>
              <a:t>Safing Sensors</a:t>
            </a:r>
          </a:p>
        </p:txBody>
      </p:sp>
      <p:sp>
        <p:nvSpPr>
          <p:cNvPr id="24579" name="Content Placeholder 2"/>
          <p:cNvSpPr>
            <a:spLocks noGrp="1"/>
          </p:cNvSpPr>
          <p:nvPr>
            <p:ph type="body" idx="1"/>
          </p:nvPr>
        </p:nvSpPr>
        <p:spPr>
          <a:xfrm>
            <a:off x="476844" y="1563627"/>
            <a:ext cx="11241915" cy="1204288"/>
          </a:xfrm>
        </p:spPr>
        <p:txBody>
          <a:bodyPr>
            <a:normAutofit/>
          </a:bodyPr>
          <a:lstStyle/>
          <a:p>
            <a:r>
              <a:rPr lang="en-US" sz="2600" dirty="0"/>
              <a:t>Roller-Type</a:t>
            </a:r>
          </a:p>
          <a:p>
            <a:pPr lvl="1"/>
            <a:r>
              <a:rPr lang="en-US" dirty="0"/>
              <a:t>During impact, the roller moves and completes the circuit.</a:t>
            </a:r>
          </a:p>
        </p:txBody>
      </p:sp>
      <p:pic>
        <p:nvPicPr>
          <p:cNvPr id="7" name="Picture Placeholder 6" descr="Two illustrations depict a roller-type air bag sensor with a sensor at rest and a sensor at impact. These have a roller located on a ramp. One terminal of the sensor is connected to the ramp. The other terminal is connected to a spring contact extending through an opening in the ramp but not touching the ramp. Small springs hold the roller against a stop. When the sensor is at rest the weight is carried by the foil, foil spring (electrical contact), and contact. The foil coils more and is in the counterclockwise direction. When the sensor is at impact, there is less number of foil coiling in the clockwise direction.">
            <a:extLst>
              <a:ext uri="{FF2B5EF4-FFF2-40B4-BE49-F238E27FC236}">
                <a16:creationId xmlns:a16="http://schemas.microsoft.com/office/drawing/2014/main" id="{65064F74-2976-C933-0251-5D4C2060A5DE}"/>
              </a:ext>
            </a:extLst>
          </p:cNvPr>
          <p:cNvPicPr>
            <a:picLocks noGrp="1" noChangeAspect="1"/>
          </p:cNvPicPr>
          <p:nvPr>
            <p:ph type="pic" sz="quarter" idx="12"/>
          </p:nvPr>
        </p:nvPicPr>
        <p:blipFill rotWithShape="1">
          <a:blip r:embed="rId3"/>
          <a:srcRect b="7812"/>
          <a:stretch/>
        </p:blipFill>
        <p:spPr>
          <a:xfrm>
            <a:off x="2351941" y="2950179"/>
            <a:ext cx="7488119" cy="295682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dirty="0">
                <a:solidFill>
                  <a:schemeClr val="tx1"/>
                </a:solidFill>
              </a:rPr>
              <a:t>Impact</a:t>
            </a:r>
            <a:r>
              <a:rPr lang="en-GB" dirty="0">
                <a:solidFill>
                  <a:schemeClr val="tx1"/>
                </a:solidFill>
              </a:rPr>
              <a:t>—</a:t>
            </a:r>
            <a:r>
              <a:rPr lang="en-US" dirty="0" err="1">
                <a:solidFill>
                  <a:schemeClr val="tx1"/>
                </a:solidFill>
              </a:rPr>
              <a:t>Safing</a:t>
            </a:r>
            <a:r>
              <a:rPr lang="en-US" dirty="0">
                <a:solidFill>
                  <a:schemeClr val="tx1"/>
                </a:solidFill>
              </a:rPr>
              <a:t> Sensors (1 of 2) </a:t>
            </a:r>
          </a:p>
        </p:txBody>
      </p:sp>
      <p:sp>
        <p:nvSpPr>
          <p:cNvPr id="24579" name="Content Placeholder 2"/>
          <p:cNvSpPr>
            <a:spLocks noGrp="1"/>
          </p:cNvSpPr>
          <p:nvPr>
            <p:ph type="body" idx="1"/>
          </p:nvPr>
        </p:nvSpPr>
        <p:spPr>
          <a:xfrm>
            <a:off x="476844" y="1563626"/>
            <a:ext cx="11241915" cy="1229001"/>
          </a:xfrm>
        </p:spPr>
        <p:txBody>
          <a:bodyPr>
            <a:normAutofit/>
          </a:bodyPr>
          <a:lstStyle/>
          <a:p>
            <a:r>
              <a:rPr lang="en-US" sz="2600" dirty="0">
                <a:solidFill>
                  <a:schemeClr val="tx1"/>
                </a:solidFill>
              </a:rPr>
              <a:t>Mass-Type</a:t>
            </a:r>
          </a:p>
          <a:p>
            <a:pPr lvl="1"/>
            <a:r>
              <a:rPr lang="en-US" dirty="0">
                <a:solidFill>
                  <a:schemeClr val="tx1"/>
                </a:solidFill>
              </a:rPr>
              <a:t>Sensing mass breaks loose with sufficient force.</a:t>
            </a:r>
          </a:p>
        </p:txBody>
      </p:sp>
      <p:pic>
        <p:nvPicPr>
          <p:cNvPr id="7" name="Picture Placeholder 6" descr="The construction and principle of a mass-type sensor. The parts in the construction are labeled as follows: Fixed contact, Mass, Shaft, and Moving contact. The principle, an inset view of the moving shaft depicts the shaft rotating in the forward direction and mass rotating in the clockwise direction. This sensor consists of a normally open set of gold-plated switch contacts and a ball. The ball serves as the sensing mass and is held in place by a magnet. When there is sufficient force, the ball breaks loose and makes contact with the electrical contacts completing the circuit.">
            <a:extLst>
              <a:ext uri="{FF2B5EF4-FFF2-40B4-BE49-F238E27FC236}">
                <a16:creationId xmlns:a16="http://schemas.microsoft.com/office/drawing/2014/main" id="{C5A1F4DC-75E1-1E1E-7DFD-EA8A5061B23D}"/>
              </a:ext>
            </a:extLst>
          </p:cNvPr>
          <p:cNvPicPr>
            <a:picLocks noGrp="1" noChangeAspect="1"/>
          </p:cNvPicPr>
          <p:nvPr>
            <p:ph type="pic" sz="quarter" idx="12"/>
          </p:nvPr>
        </p:nvPicPr>
        <p:blipFill rotWithShape="1">
          <a:blip r:embed="rId3"/>
          <a:srcRect b="12593"/>
          <a:stretch/>
        </p:blipFill>
        <p:spPr>
          <a:xfrm>
            <a:off x="3094334" y="2865746"/>
            <a:ext cx="6579529" cy="295216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dirty="0">
                <a:solidFill>
                  <a:schemeClr val="tx1"/>
                </a:solidFill>
              </a:rPr>
              <a:t>Impact</a:t>
            </a:r>
            <a:r>
              <a:rPr lang="en-GB" dirty="0">
                <a:solidFill>
                  <a:schemeClr val="tx1"/>
                </a:solidFill>
              </a:rPr>
              <a:t>—</a:t>
            </a:r>
            <a:r>
              <a:rPr lang="en-US" dirty="0" err="1">
                <a:solidFill>
                  <a:schemeClr val="tx1"/>
                </a:solidFill>
              </a:rPr>
              <a:t>Safing</a:t>
            </a:r>
            <a:r>
              <a:rPr lang="en-US" dirty="0">
                <a:solidFill>
                  <a:schemeClr val="tx1"/>
                </a:solidFill>
              </a:rPr>
              <a:t> Sensors (2 of 2)  </a:t>
            </a:r>
          </a:p>
        </p:txBody>
      </p:sp>
      <p:sp>
        <p:nvSpPr>
          <p:cNvPr id="24579" name="Content Placeholder 2"/>
          <p:cNvSpPr>
            <a:spLocks noGrp="1"/>
          </p:cNvSpPr>
          <p:nvPr>
            <p:ph type="body" idx="1"/>
          </p:nvPr>
        </p:nvSpPr>
        <p:spPr>
          <a:xfrm>
            <a:off x="476844" y="1563626"/>
            <a:ext cx="11241915" cy="1191931"/>
          </a:xfrm>
        </p:spPr>
        <p:txBody>
          <a:bodyPr>
            <a:normAutofit/>
          </a:bodyPr>
          <a:lstStyle/>
          <a:p>
            <a:r>
              <a:rPr lang="en-US" sz="2600" dirty="0">
                <a:solidFill>
                  <a:schemeClr val="tx1"/>
                </a:solidFill>
              </a:rPr>
              <a:t>Accelerometer</a:t>
            </a:r>
          </a:p>
          <a:p>
            <a:pPr lvl="1"/>
            <a:r>
              <a:rPr lang="en-US" sz="2400" dirty="0">
                <a:solidFill>
                  <a:schemeClr val="tx1"/>
                </a:solidFill>
              </a:rPr>
              <a:t>Uses a piezoelectric sensing element.</a:t>
            </a:r>
          </a:p>
        </p:txBody>
      </p:sp>
      <p:pic>
        <p:nvPicPr>
          <p:cNvPr id="7" name="Picture Placeholder 6" descr="An accelerometer air bag sensor utilizes a piezoelectric element that is distorted during a collision, generating an analog voltage proportional to the strength of the deceleration forces. The labeled part is the Piezoelectric element.">
            <a:extLst>
              <a:ext uri="{FF2B5EF4-FFF2-40B4-BE49-F238E27FC236}">
                <a16:creationId xmlns:a16="http://schemas.microsoft.com/office/drawing/2014/main" id="{ABDC4443-845A-884C-E0A3-7C4805184781}"/>
              </a:ext>
            </a:extLst>
          </p:cNvPr>
          <p:cNvPicPr>
            <a:picLocks noGrp="1" noChangeAspect="1"/>
          </p:cNvPicPr>
          <p:nvPr>
            <p:ph type="pic" sz="quarter" idx="12"/>
          </p:nvPr>
        </p:nvPicPr>
        <p:blipFill rotWithShape="1">
          <a:blip r:embed="rId3"/>
          <a:srcRect b="8073"/>
          <a:stretch/>
        </p:blipFill>
        <p:spPr>
          <a:xfrm>
            <a:off x="3509142" y="2923792"/>
            <a:ext cx="5173716" cy="290120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dirty="0"/>
              <a:t>Seat Position Sensor</a:t>
            </a:r>
          </a:p>
        </p:txBody>
      </p:sp>
      <p:sp>
        <p:nvSpPr>
          <p:cNvPr id="26627" name="Content Placeholder 2"/>
          <p:cNvSpPr>
            <a:spLocks noGrp="1"/>
          </p:cNvSpPr>
          <p:nvPr>
            <p:ph type="body" idx="1"/>
          </p:nvPr>
        </p:nvSpPr>
        <p:spPr>
          <a:xfrm>
            <a:off x="476844" y="1563626"/>
            <a:ext cx="6294659" cy="3601498"/>
          </a:xfrm>
        </p:spPr>
        <p:txBody>
          <a:bodyPr/>
          <a:lstStyle/>
          <a:p>
            <a:r>
              <a:rPr lang="en-US" dirty="0">
                <a:solidFill>
                  <a:schemeClr val="tx1"/>
                </a:solidFill>
              </a:rPr>
              <a:t>Mounted on seat rail.</a:t>
            </a:r>
          </a:p>
          <a:p>
            <a:r>
              <a:rPr lang="en-US" dirty="0">
                <a:solidFill>
                  <a:schemeClr val="tx1"/>
                </a:solidFill>
              </a:rPr>
              <a:t>Usually a magnet and Hall-effect switch.</a:t>
            </a:r>
          </a:p>
          <a:p>
            <a:r>
              <a:rPr lang="en-US" dirty="0">
                <a:solidFill>
                  <a:schemeClr val="tx1"/>
                </a:solidFill>
              </a:rPr>
              <a:t>Detects when seat is in a forward position.</a:t>
            </a:r>
          </a:p>
          <a:p>
            <a:r>
              <a:rPr lang="en-US" dirty="0">
                <a:solidFill>
                  <a:schemeClr val="tx1"/>
                </a:solidFill>
              </a:rPr>
              <a:t>When the seat is forward, the air bag deploys with decreased force.</a:t>
            </a:r>
          </a:p>
        </p:txBody>
      </p:sp>
      <p:pic>
        <p:nvPicPr>
          <p:cNvPr id="7" name="Picture Placeholder 6" descr="The seat position sensor mounted on the inner rail of the front seats. The seat position has a specified gap between the sensor and the lower seat rail. The gap distance between the seat position sensor and the lower seat rail is 1.0 mm. The parts labeled are as follows: Seat position sensor and lower seat rail.">
            <a:extLst>
              <a:ext uri="{FF2B5EF4-FFF2-40B4-BE49-F238E27FC236}">
                <a16:creationId xmlns:a16="http://schemas.microsoft.com/office/drawing/2014/main" id="{62E46694-AE84-7FF2-65FA-CCB6983695F3}"/>
              </a:ext>
            </a:extLst>
          </p:cNvPr>
          <p:cNvPicPr>
            <a:picLocks noGrp="1" noChangeAspect="1"/>
          </p:cNvPicPr>
          <p:nvPr>
            <p:ph type="pic" sz="quarter" idx="12"/>
          </p:nvPr>
        </p:nvPicPr>
        <p:blipFill rotWithShape="1">
          <a:blip r:embed="rId3"/>
          <a:srcRect l="11913" r="9388" b="10224"/>
          <a:stretch/>
        </p:blipFill>
        <p:spPr>
          <a:xfrm>
            <a:off x="7503090" y="1919515"/>
            <a:ext cx="4165579" cy="381740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3"/>
          <p:cNvSpPr>
            <a:spLocks noGrp="1"/>
          </p:cNvSpPr>
          <p:nvPr>
            <p:ph type="title"/>
          </p:nvPr>
        </p:nvSpPr>
        <p:spPr/>
        <p:txBody>
          <a:bodyPr/>
          <a:lstStyle/>
          <a:p>
            <a:r>
              <a:rPr lang="en-US" dirty="0"/>
              <a:t>Seat Belt Buckle Switch</a:t>
            </a:r>
          </a:p>
        </p:txBody>
      </p:sp>
      <p:sp>
        <p:nvSpPr>
          <p:cNvPr id="27651" name="Content Placeholder 4"/>
          <p:cNvSpPr>
            <a:spLocks noGrp="1"/>
          </p:cNvSpPr>
          <p:nvPr>
            <p:ph type="body" idx="1"/>
          </p:nvPr>
        </p:nvSpPr>
        <p:spPr/>
        <p:txBody>
          <a:bodyPr/>
          <a:lstStyle/>
          <a:p>
            <a:r>
              <a:rPr lang="en-US" sz="2600" dirty="0">
                <a:solidFill>
                  <a:schemeClr val="tx1"/>
                </a:solidFill>
              </a:rPr>
              <a:t>Detects whether the seat belt is fastened.</a:t>
            </a:r>
          </a:p>
          <a:p>
            <a:r>
              <a:rPr lang="en-US" sz="2600" dirty="0">
                <a:solidFill>
                  <a:schemeClr val="tx1"/>
                </a:solidFill>
              </a:rPr>
              <a:t>Also uses a magnet and Hall-effect switch.</a:t>
            </a:r>
          </a:p>
          <a:p>
            <a:r>
              <a:rPr lang="en-US" sz="2600" dirty="0">
                <a:solidFill>
                  <a:schemeClr val="tx1"/>
                </a:solidFill>
              </a:rPr>
              <a:t>The magnetic field changes as the seat belt is fastened and unfastened.</a:t>
            </a:r>
          </a:p>
          <a:p>
            <a:r>
              <a:rPr lang="en-US" sz="2600" dirty="0">
                <a:solidFill>
                  <a:schemeClr val="tx1"/>
                </a:solidFill>
              </a:rPr>
              <a:t>Air bag deployment force is adjusted according to switch input.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3"/>
          <p:cNvSpPr>
            <a:spLocks noGrp="1"/>
          </p:cNvSpPr>
          <p:nvPr>
            <p:ph type="title"/>
          </p:nvPr>
        </p:nvSpPr>
        <p:spPr/>
        <p:txBody>
          <a:bodyPr/>
          <a:lstStyle/>
          <a:p>
            <a:r>
              <a:rPr lang="en-US" dirty="0"/>
              <a:t>Occupant Classification Sensor</a:t>
            </a:r>
          </a:p>
        </p:txBody>
      </p:sp>
      <p:sp>
        <p:nvSpPr>
          <p:cNvPr id="28675" name="Content Placeholder 4"/>
          <p:cNvSpPr>
            <a:spLocks noGrp="1"/>
          </p:cNvSpPr>
          <p:nvPr>
            <p:ph type="body" idx="1"/>
          </p:nvPr>
        </p:nvSpPr>
        <p:spPr>
          <a:xfrm>
            <a:off x="476845" y="1563626"/>
            <a:ext cx="6628290" cy="3749779"/>
          </a:xfrm>
        </p:spPr>
        <p:txBody>
          <a:bodyPr/>
          <a:lstStyle/>
          <a:p>
            <a:r>
              <a:rPr lang="en-US" dirty="0">
                <a:solidFill>
                  <a:schemeClr val="tx1"/>
                </a:solidFill>
              </a:rPr>
              <a:t>Occupant weight is measured to determine front air bag deployment force.</a:t>
            </a:r>
          </a:p>
          <a:p>
            <a:r>
              <a:rPr lang="en-US" dirty="0">
                <a:solidFill>
                  <a:schemeClr val="tx1"/>
                </a:solidFill>
              </a:rPr>
              <a:t>If no occupant is detected, the air bag will not deploy.</a:t>
            </a:r>
          </a:p>
          <a:p>
            <a:r>
              <a:rPr lang="en-US" dirty="0">
                <a:solidFill>
                  <a:schemeClr val="tx1"/>
                </a:solidFill>
              </a:rPr>
              <a:t>Most use a silicone-filled mat with a pressure sensor.</a:t>
            </a:r>
          </a:p>
        </p:txBody>
      </p:sp>
      <p:pic>
        <p:nvPicPr>
          <p:cNvPr id="7" name="Picture Placeholder 6" descr="Two illustrations and a graph depicting a gel mat-type occupant classification sensor. The first illustration depicts a seat cushion consisting of a pressure sensor and a gel mat. The second illustration depicts a magnified view of the gel mat depicting downward arrows representing weight flowing toward the pressure sensor. The graph depicts a line. The horizontal axis is labeled pressure and the vertical axis is labeled output voltage. The line is a downward-sloping line, graphed on the coordinate plane. The output voltage decreases as the pressure increases. Pressure is applied to the silicone in the mat when there is weight on the seat cushion. The pressure sensor measures that pressure and converts it to voltage signals.">
            <a:extLst>
              <a:ext uri="{FF2B5EF4-FFF2-40B4-BE49-F238E27FC236}">
                <a16:creationId xmlns:a16="http://schemas.microsoft.com/office/drawing/2014/main" id="{29360AEB-AD17-97B6-DCC9-82F3A16E7D0E}"/>
              </a:ext>
            </a:extLst>
          </p:cNvPr>
          <p:cNvPicPr>
            <a:picLocks noGrp="1" noChangeAspect="1"/>
          </p:cNvPicPr>
          <p:nvPr>
            <p:ph type="pic" sz="quarter" idx="12"/>
          </p:nvPr>
        </p:nvPicPr>
        <p:blipFill rotWithShape="1">
          <a:blip r:embed="rId3"/>
          <a:srcRect b="10939"/>
          <a:stretch/>
        </p:blipFill>
        <p:spPr>
          <a:xfrm>
            <a:off x="7511508" y="1760305"/>
            <a:ext cx="3965219" cy="297233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dirty="0"/>
              <a:t>Wiring Harness</a:t>
            </a:r>
          </a:p>
        </p:txBody>
      </p:sp>
      <p:sp>
        <p:nvSpPr>
          <p:cNvPr id="29699" name="Content Placeholder 2"/>
          <p:cNvSpPr>
            <a:spLocks noGrp="1"/>
          </p:cNvSpPr>
          <p:nvPr>
            <p:ph type="body" idx="1"/>
          </p:nvPr>
        </p:nvSpPr>
        <p:spPr/>
        <p:txBody>
          <a:bodyPr/>
          <a:lstStyle/>
          <a:p>
            <a:r>
              <a:rPr lang="en-US" sz="2600" dirty="0">
                <a:solidFill>
                  <a:schemeClr val="tx1"/>
                </a:solidFill>
              </a:rPr>
              <a:t>For identification and safety purposes, SRS components usually have yellow connectors.</a:t>
            </a:r>
          </a:p>
          <a:p>
            <a:r>
              <a:rPr lang="en-US" sz="2600" dirty="0">
                <a:solidFill>
                  <a:schemeClr val="tx1"/>
                </a:solidFill>
              </a:rPr>
              <a:t>All SRS connectors have gold-plated terminals.</a:t>
            </a:r>
          </a:p>
          <a:p>
            <a:r>
              <a:rPr lang="en-US" sz="2600" dirty="0">
                <a:solidFill>
                  <a:schemeClr val="tx1"/>
                </a:solidFill>
              </a:rPr>
              <a:t>Connectors also use a shorting bar to prevent accidental deployment.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dirty="0"/>
              <a:t>Clockspring</a:t>
            </a:r>
          </a:p>
        </p:txBody>
      </p:sp>
      <p:sp>
        <p:nvSpPr>
          <p:cNvPr id="31747" name="Content Placeholder 2"/>
          <p:cNvSpPr>
            <a:spLocks noGrp="1"/>
          </p:cNvSpPr>
          <p:nvPr>
            <p:ph type="body" idx="1"/>
          </p:nvPr>
        </p:nvSpPr>
        <p:spPr>
          <a:xfrm>
            <a:off x="476844" y="1563627"/>
            <a:ext cx="11241915" cy="1451422"/>
          </a:xfrm>
        </p:spPr>
        <p:txBody>
          <a:bodyPr/>
          <a:lstStyle/>
          <a:p>
            <a:r>
              <a:rPr lang="en-US" dirty="0">
                <a:solidFill>
                  <a:schemeClr val="tx1"/>
                </a:solidFill>
              </a:rPr>
              <a:t>Maintains the electrical connection to the air bag regardless of steering wheel position.</a:t>
            </a:r>
          </a:p>
          <a:p>
            <a:r>
              <a:rPr lang="en-US" dirty="0">
                <a:solidFill>
                  <a:schemeClr val="tx1"/>
                </a:solidFill>
              </a:rPr>
              <a:t>Contains a long conductive ribbon.</a:t>
            </a:r>
          </a:p>
        </p:txBody>
      </p:sp>
      <p:pic>
        <p:nvPicPr>
          <p:cNvPr id="7" name="Picture Placeholder 6" descr="The internal view of a car steering wheel removed area depicts the clock spring and its associated components. The clock spring is a spiral electrical conductor that connects the steering wheel to the electrical components of the car, with labels and bar codes on it.">
            <a:extLst>
              <a:ext uri="{FF2B5EF4-FFF2-40B4-BE49-F238E27FC236}">
                <a16:creationId xmlns:a16="http://schemas.microsoft.com/office/drawing/2014/main" id="{21F4D3D1-6EEF-48BE-B747-99B37DA5A3C4}"/>
              </a:ext>
            </a:extLst>
          </p:cNvPr>
          <p:cNvPicPr>
            <a:picLocks noGrp="1" noChangeAspect="1"/>
          </p:cNvPicPr>
          <p:nvPr>
            <p:ph type="pic" sz="quarter" idx="12"/>
          </p:nvPr>
        </p:nvPicPr>
        <p:blipFill rotWithShape="1">
          <a:blip r:embed="rId3"/>
          <a:srcRect b="9537"/>
          <a:stretch/>
        </p:blipFill>
        <p:spPr>
          <a:xfrm>
            <a:off x="3949118" y="3212291"/>
            <a:ext cx="4293765" cy="258303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dirty="0"/>
              <a:t>SRS or Air Bag Readiness Light</a:t>
            </a:r>
          </a:p>
        </p:txBody>
      </p:sp>
      <p:sp>
        <p:nvSpPr>
          <p:cNvPr id="32771" name="Content Placeholder 2"/>
          <p:cNvSpPr>
            <a:spLocks noGrp="1"/>
          </p:cNvSpPr>
          <p:nvPr>
            <p:ph type="body" idx="1"/>
          </p:nvPr>
        </p:nvSpPr>
        <p:spPr>
          <a:xfrm>
            <a:off x="476844" y="1563626"/>
            <a:ext cx="6368799" cy="2541649"/>
          </a:xfrm>
        </p:spPr>
        <p:txBody>
          <a:bodyPr/>
          <a:lstStyle/>
          <a:p>
            <a:r>
              <a:rPr lang="en-US" dirty="0">
                <a:solidFill>
                  <a:schemeClr val="tx1"/>
                </a:solidFill>
              </a:rPr>
              <a:t>Operated by the diagnostic module.</a:t>
            </a:r>
          </a:p>
          <a:p>
            <a:r>
              <a:rPr lang="en-US" dirty="0">
                <a:solidFill>
                  <a:schemeClr val="tx1"/>
                </a:solidFill>
              </a:rPr>
              <a:t>Turns on briefly when ignition turned on.</a:t>
            </a:r>
          </a:p>
          <a:p>
            <a:r>
              <a:rPr lang="en-US" dirty="0">
                <a:solidFill>
                  <a:schemeClr val="tx1"/>
                </a:solidFill>
              </a:rPr>
              <a:t>A malfunction causes the light to stay on or flash.</a:t>
            </a:r>
          </a:p>
        </p:txBody>
      </p:sp>
      <p:pic>
        <p:nvPicPr>
          <p:cNvPr id="8" name="Picture Placeholder 7" descr="An air bag warning light lets the driver know the airbag system is ready to do its job. The warning lamp is operated by the diagnostic module. The readiness lamp lights up briefly when the driver turns the ignition key from off to run. The lamp should go out once the engine is running.">
            <a:extLst>
              <a:ext uri="{FF2B5EF4-FFF2-40B4-BE49-F238E27FC236}">
                <a16:creationId xmlns:a16="http://schemas.microsoft.com/office/drawing/2014/main" id="{250A317F-5A70-5466-1E89-7D1B9F9A7B4D}"/>
              </a:ext>
            </a:extLst>
          </p:cNvPr>
          <p:cNvPicPr>
            <a:picLocks noGrp="1" noChangeAspect="1"/>
          </p:cNvPicPr>
          <p:nvPr>
            <p:ph type="pic" sz="quarter" idx="12"/>
          </p:nvPr>
        </p:nvPicPr>
        <p:blipFill rotWithShape="1">
          <a:blip r:embed="rId3"/>
          <a:srcRect b="6966"/>
          <a:stretch/>
        </p:blipFill>
        <p:spPr>
          <a:xfrm>
            <a:off x="7177072" y="1940674"/>
            <a:ext cx="4545222" cy="3495622"/>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dirty="0"/>
              <a:t>Air Bag Module</a:t>
            </a:r>
          </a:p>
        </p:txBody>
      </p:sp>
      <p:sp>
        <p:nvSpPr>
          <p:cNvPr id="33795" name="Content Placeholder 2"/>
          <p:cNvSpPr>
            <a:spLocks noGrp="1"/>
          </p:cNvSpPr>
          <p:nvPr>
            <p:ph type="body" idx="1"/>
          </p:nvPr>
        </p:nvSpPr>
        <p:spPr/>
        <p:txBody>
          <a:bodyPr/>
          <a:lstStyle/>
          <a:p>
            <a:r>
              <a:rPr lang="en-US" dirty="0">
                <a:solidFill>
                  <a:schemeClr val="tx1"/>
                </a:solidFill>
              </a:rPr>
              <a:t>Contains the air bag and inflator.</a:t>
            </a:r>
          </a:p>
          <a:p>
            <a:r>
              <a:rPr lang="en-US" dirty="0">
                <a:solidFill>
                  <a:schemeClr val="tx1"/>
                </a:solidFill>
              </a:rPr>
              <a:t>Inflation is usually accomplished by an explosive release of nitrogen gas.</a:t>
            </a:r>
          </a:p>
          <a:p>
            <a:r>
              <a:rPr lang="en-US" dirty="0">
                <a:solidFill>
                  <a:schemeClr val="tx1"/>
                </a:solidFill>
              </a:rPr>
              <a:t>Voltage is applied to the squib, igniting the gas canister.</a:t>
            </a:r>
          </a:p>
          <a:p>
            <a:r>
              <a:rPr lang="en-US" dirty="0">
                <a:solidFill>
                  <a:schemeClr val="tx1"/>
                </a:solidFill>
              </a:rPr>
              <a:t>Some air bags use compressed argon gas.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633174B-6279-6469-328F-82E93454651A}"/>
              </a:ext>
            </a:extLst>
          </p:cNvPr>
          <p:cNvSpPr>
            <a:spLocks noGrp="1"/>
          </p:cNvSpPr>
          <p:nvPr>
            <p:ph type="title"/>
          </p:nvPr>
        </p:nvSpPr>
        <p:spPr/>
        <p:txBody>
          <a:bodyPr/>
          <a:lstStyle/>
          <a:p>
            <a:r>
              <a:rPr lang="en-IN" dirty="0"/>
              <a:t>A Cutaway View of an Air Bag Module</a:t>
            </a:r>
          </a:p>
        </p:txBody>
      </p:sp>
      <p:pic>
        <p:nvPicPr>
          <p:cNvPr id="7" name="Picture Placeholder 6" descr="A cutaway view of an air bag module. The parts are labeled as follows: Steering wheel, Steering column attachment, Electrical connector, Spring-loaded brush (electrical contact), Inflator, Air bag, Air bag container, and Cover.">
            <a:extLst>
              <a:ext uri="{FF2B5EF4-FFF2-40B4-BE49-F238E27FC236}">
                <a16:creationId xmlns:a16="http://schemas.microsoft.com/office/drawing/2014/main" id="{170125F0-0415-28D8-5884-EC2E311B8501}"/>
              </a:ext>
            </a:extLst>
          </p:cNvPr>
          <p:cNvPicPr>
            <a:picLocks noGrp="1" noChangeAspect="1"/>
          </p:cNvPicPr>
          <p:nvPr>
            <p:ph type="pic" sz="quarter" idx="10"/>
          </p:nvPr>
        </p:nvPicPr>
        <p:blipFill rotWithShape="1">
          <a:blip r:embed="rId3"/>
          <a:srcRect b="6223"/>
          <a:stretch/>
        </p:blipFill>
        <p:spPr>
          <a:xfrm>
            <a:off x="3498272" y="1771737"/>
            <a:ext cx="5195455" cy="4214393"/>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(2 of 3)</a:t>
            </a:r>
          </a:p>
        </p:txBody>
      </p:sp>
      <p:sp>
        <p:nvSpPr>
          <p:cNvPr id="3" name="Content Placeholder 2"/>
          <p:cNvSpPr>
            <a:spLocks noGrp="1"/>
          </p:cNvSpPr>
          <p:nvPr>
            <p:ph type="body" idx="1"/>
          </p:nvPr>
        </p:nvSpPr>
        <p:spPr/>
        <p:txBody>
          <a:bodyPr/>
          <a:lstStyle/>
          <a:p>
            <a:pPr marL="85725" indent="0">
              <a:buNone/>
            </a:pPr>
            <a:r>
              <a:rPr lang="en-US" sz="2600" dirty="0">
                <a:solidFill>
                  <a:schemeClr val="tx1"/>
                </a:solidFill>
              </a:rPr>
              <a:t>What type of air bag system uses two inflators?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Answer (2 of 3)</a:t>
            </a:r>
          </a:p>
        </p:txBody>
      </p:sp>
      <p:sp>
        <p:nvSpPr>
          <p:cNvPr id="3" name="Content Placeholder 2"/>
          <p:cNvSpPr>
            <a:spLocks noGrp="1"/>
          </p:cNvSpPr>
          <p:nvPr>
            <p:ph type="body" idx="1"/>
          </p:nvPr>
        </p:nvSpPr>
        <p:spPr/>
        <p:txBody>
          <a:bodyPr/>
          <a:lstStyle/>
          <a:p>
            <a:pPr marL="85725" indent="0">
              <a:spcBef>
                <a:spcPts val="624"/>
              </a:spcBef>
              <a:spcAft>
                <a:spcPts val="3000"/>
              </a:spcAft>
              <a:buNone/>
            </a:pPr>
            <a:r>
              <a:rPr lang="en-US" sz="2600" dirty="0">
                <a:solidFill>
                  <a:schemeClr val="tx1"/>
                </a:solidFill>
              </a:rPr>
              <a:t>What type of air bag system uses two inflators?</a:t>
            </a:r>
          </a:p>
          <a:p>
            <a:pPr marL="85725" indent="0">
              <a:buNone/>
            </a:pPr>
            <a:r>
              <a:rPr lang="en-US" sz="2600" b="1" dirty="0">
                <a:solidFill>
                  <a:schemeClr val="tx1"/>
                </a:solidFill>
              </a:rPr>
              <a:t>Answer: </a:t>
            </a:r>
            <a:r>
              <a:rPr lang="en-US" sz="2600" dirty="0">
                <a:solidFill>
                  <a:schemeClr val="tx1"/>
                </a:solidFill>
              </a:rPr>
              <a:t>Smart or adaptive air bags</a:t>
            </a:r>
          </a:p>
        </p:txBody>
      </p:sp>
    </p:spTree>
    <p:extLst>
      <p:ext uri="{BB962C8B-B14F-4D97-AF65-F5344CB8AC3E}">
        <p14:creationId xmlns:p14="http://schemas.microsoft.com/office/powerpoint/2010/main" val="6185513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Air Bag Diagnosis (1 of 2)</a:t>
            </a:r>
          </a:p>
        </p:txBody>
      </p:sp>
      <p:sp>
        <p:nvSpPr>
          <p:cNvPr id="36867" name="Rectangle 3"/>
          <p:cNvSpPr>
            <a:spLocks noGrp="1" noChangeArrowheads="1"/>
          </p:cNvSpPr>
          <p:nvPr>
            <p:ph type="body" idx="1"/>
          </p:nvPr>
        </p:nvSpPr>
        <p:spPr/>
        <p:txBody>
          <a:bodyPr>
            <a:normAutofit/>
          </a:bodyPr>
          <a:lstStyle/>
          <a:p>
            <a:pPr marL="0" indent="0">
              <a:buNone/>
            </a:pPr>
            <a:r>
              <a:rPr lang="en-US" b="1" dirty="0">
                <a:solidFill>
                  <a:schemeClr val="tx1"/>
                </a:solidFill>
              </a:rPr>
              <a:t>48.05 Diagnose faults with restraint systems.</a:t>
            </a:r>
            <a:endParaRPr lang="en-US" sz="2600" b="1" dirty="0">
              <a:solidFill>
                <a:schemeClr val="tx1"/>
              </a:solidFill>
            </a:endParaRPr>
          </a:p>
          <a:p>
            <a:r>
              <a:rPr lang="en-US" sz="2600" dirty="0">
                <a:solidFill>
                  <a:schemeClr val="tx1"/>
                </a:solidFill>
              </a:rPr>
              <a:t>Always perform a system check first.</a:t>
            </a:r>
          </a:p>
          <a:p>
            <a:r>
              <a:rPr lang="en-US" sz="2600" dirty="0">
                <a:solidFill>
                  <a:schemeClr val="tx1"/>
                </a:solidFill>
              </a:rPr>
              <a:t>Check the warning lamp for proper operation.</a:t>
            </a:r>
          </a:p>
          <a:p>
            <a:r>
              <a:rPr lang="en-US" sz="2600" dirty="0">
                <a:solidFill>
                  <a:schemeClr val="tx1"/>
                </a:solidFill>
              </a:rPr>
              <a:t>Use the recommended procedure to retrieve fault codes if available.</a:t>
            </a:r>
          </a:p>
          <a:p>
            <a:r>
              <a:rPr lang="en-US" sz="2600" dirty="0">
                <a:solidFill>
                  <a:schemeClr val="tx1"/>
                </a:solidFill>
              </a:rPr>
              <a:t>Follow the manufacturer’s procedures to repair the fault.</a:t>
            </a:r>
          </a:p>
          <a:p>
            <a:r>
              <a:rPr lang="en-US" sz="2600" dirty="0">
                <a:solidFill>
                  <a:schemeClr val="tx1"/>
                </a:solidFill>
              </a:rPr>
              <a:t>Clear trouble codes when system is repaired.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dirty="0"/>
              <a:t>Air Bag Diagnosis (2 of 2) </a:t>
            </a:r>
          </a:p>
        </p:txBody>
      </p:sp>
      <p:sp>
        <p:nvSpPr>
          <p:cNvPr id="37891" name="Content Placeholder 2"/>
          <p:cNvSpPr>
            <a:spLocks noGrp="1"/>
          </p:cNvSpPr>
          <p:nvPr>
            <p:ph type="body" idx="1"/>
          </p:nvPr>
        </p:nvSpPr>
        <p:spPr/>
        <p:txBody>
          <a:bodyPr/>
          <a:lstStyle/>
          <a:p>
            <a:r>
              <a:rPr lang="en-US" sz="2600" dirty="0">
                <a:solidFill>
                  <a:schemeClr val="tx1"/>
                </a:solidFill>
              </a:rPr>
              <a:t>Testing individual components must be done with care to prevent accidental deployment.</a:t>
            </a:r>
          </a:p>
          <a:p>
            <a:r>
              <a:rPr lang="en-US" sz="2600" dirty="0">
                <a:solidFill>
                  <a:schemeClr val="tx1"/>
                </a:solidFill>
              </a:rPr>
              <a:t>Air bag simulators are installed in place of the air bag.</a:t>
            </a:r>
          </a:p>
          <a:p>
            <a:r>
              <a:rPr lang="en-US" sz="2600" dirty="0">
                <a:solidFill>
                  <a:schemeClr val="tx1"/>
                </a:solidFill>
              </a:rPr>
              <a:t>Provides normal electrical load to alloy accurate testing of air bag circuits.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Retrieving Diagnostic Trouble Codes</a:t>
            </a:r>
          </a:p>
        </p:txBody>
      </p:sp>
      <p:pic>
        <p:nvPicPr>
          <p:cNvPr id="9" name="Picture Placeholder 8" descr="A screenshot depicts an example of S R S trouble codes. The header reads, Asian 1983-2009. The subheader reads, History D T C List. The text below reads as follows: Line 1. 71 Airbag Module (V B-Short). Line 2. 52 Assist A/B Module (V B-short). Line 3. 53 Assist A/B Module (Ground-short). Line 4. 11 Control Unit Failure. Line 5. 13 Control Unit Failure.">
            <a:extLst>
              <a:ext uri="{FF2B5EF4-FFF2-40B4-BE49-F238E27FC236}">
                <a16:creationId xmlns:a16="http://schemas.microsoft.com/office/drawing/2014/main" id="{32C8CAF8-3BB2-3960-3756-3FF58417E971}"/>
              </a:ext>
            </a:extLst>
          </p:cNvPr>
          <p:cNvPicPr>
            <a:picLocks noGrp="1" noChangeAspect="1"/>
          </p:cNvPicPr>
          <p:nvPr>
            <p:ph type="pic" sz="quarter" idx="12"/>
          </p:nvPr>
        </p:nvPicPr>
        <p:blipFill rotWithShape="1">
          <a:blip r:embed="rId2"/>
          <a:srcRect b="8712"/>
          <a:stretch/>
        </p:blipFill>
        <p:spPr>
          <a:xfrm>
            <a:off x="2643829" y="1947728"/>
            <a:ext cx="7269555" cy="363888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SRS Safety Warning</a:t>
            </a:r>
          </a:p>
        </p:txBody>
      </p:sp>
      <p:pic>
        <p:nvPicPr>
          <p:cNvPr id="9" name="Picture Placeholder 8" descr="A warning label of an air bag. The text on the label reads: S R S Airbag ATTENTION! REPLACEMENT DATE: DATE DE REPLACEMENT: Steering wheel 3-2013, Instrument panel 3-2013, Left front door 3-2013, Right front door 3-2013, Left rear door (empty), Right rear door (empty), Left roof frame (empty), and Right roof frame (empty).">
            <a:extLst>
              <a:ext uri="{FF2B5EF4-FFF2-40B4-BE49-F238E27FC236}">
                <a16:creationId xmlns:a16="http://schemas.microsoft.com/office/drawing/2014/main" id="{7BFB2963-6FE0-8421-D3C0-A9C33F0F7082}"/>
              </a:ext>
            </a:extLst>
          </p:cNvPr>
          <p:cNvPicPr>
            <a:picLocks noGrp="1" noChangeAspect="1"/>
          </p:cNvPicPr>
          <p:nvPr>
            <p:ph type="pic" sz="quarter" idx="12"/>
          </p:nvPr>
        </p:nvPicPr>
        <p:blipFill rotWithShape="1">
          <a:blip r:embed="rId2"/>
          <a:srcRect b="4905"/>
          <a:stretch/>
        </p:blipFill>
        <p:spPr>
          <a:xfrm>
            <a:off x="4652503" y="1692312"/>
            <a:ext cx="3151212" cy="4195274"/>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dirty="0"/>
              <a:t>Servicing the Air Bag System( 1 of 5)</a:t>
            </a:r>
            <a:endParaRPr lang="en-US" i="1" dirty="0"/>
          </a:p>
        </p:txBody>
      </p:sp>
      <p:sp>
        <p:nvSpPr>
          <p:cNvPr id="38915" name="Rectangle 3"/>
          <p:cNvSpPr>
            <a:spLocks noGrp="1" noChangeArrowheads="1"/>
          </p:cNvSpPr>
          <p:nvPr>
            <p:ph type="body" idx="1"/>
          </p:nvPr>
        </p:nvSpPr>
        <p:spPr/>
        <p:txBody>
          <a:bodyPr/>
          <a:lstStyle/>
          <a:p>
            <a:pPr marL="0" indent="0">
              <a:lnSpc>
                <a:spcPct val="90000"/>
              </a:lnSpc>
              <a:buNone/>
            </a:pPr>
            <a:r>
              <a:rPr lang="en-US" b="1" dirty="0">
                <a:solidFill>
                  <a:schemeClr val="tx1"/>
                </a:solidFill>
              </a:rPr>
              <a:t>48.06 Know how to diagnose and service an air bag system.</a:t>
            </a:r>
            <a:endParaRPr lang="en-US" sz="2600" b="1" dirty="0">
              <a:solidFill>
                <a:schemeClr val="tx1"/>
              </a:solidFill>
            </a:endParaRPr>
          </a:p>
          <a:p>
            <a:r>
              <a:rPr lang="en-US" sz="2600" dirty="0">
                <a:solidFill>
                  <a:schemeClr val="tx1"/>
                </a:solidFill>
              </a:rPr>
              <a:t>When working inside of the vehicle, be aware of locations of all air bags.</a:t>
            </a:r>
          </a:p>
          <a:p>
            <a:r>
              <a:rPr lang="en-US" sz="2600" dirty="0">
                <a:solidFill>
                  <a:schemeClr val="tx1"/>
                </a:solidFill>
              </a:rPr>
              <a:t>Always wear safety glasses.</a:t>
            </a:r>
          </a:p>
          <a:p>
            <a:r>
              <a:rPr lang="en-US" sz="2600" dirty="0">
                <a:solidFill>
                  <a:schemeClr val="tx1"/>
                </a:solidFill>
              </a:rPr>
              <a:t>Wait at least 5 minutes after disconnecting the battery before performing any service.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dirty="0"/>
              <a:t>Servicing the Air Bag System (2 of 5)   </a:t>
            </a:r>
            <a:endParaRPr lang="en-US" i="1" dirty="0"/>
          </a:p>
        </p:txBody>
      </p:sp>
      <p:sp>
        <p:nvSpPr>
          <p:cNvPr id="38915" name="Rectangle 3"/>
          <p:cNvSpPr>
            <a:spLocks noGrp="1" noChangeArrowheads="1"/>
          </p:cNvSpPr>
          <p:nvPr>
            <p:ph type="body" idx="1"/>
          </p:nvPr>
        </p:nvSpPr>
        <p:spPr/>
        <p:txBody>
          <a:bodyPr/>
          <a:lstStyle/>
          <a:p>
            <a:r>
              <a:rPr lang="en-US" sz="2600" dirty="0">
                <a:solidFill>
                  <a:schemeClr val="tx1"/>
                </a:solidFill>
              </a:rPr>
              <a:t>Follow service procedures exactly.</a:t>
            </a:r>
          </a:p>
          <a:p>
            <a:r>
              <a:rPr lang="en-US" sz="2600" dirty="0">
                <a:solidFill>
                  <a:schemeClr val="tx1"/>
                </a:solidFill>
              </a:rPr>
              <a:t>Never disassemble or attempt to repair any parts.</a:t>
            </a:r>
          </a:p>
        </p:txBody>
      </p:sp>
    </p:spTree>
    <p:extLst>
      <p:ext uri="{BB962C8B-B14F-4D97-AF65-F5344CB8AC3E}">
        <p14:creationId xmlns:p14="http://schemas.microsoft.com/office/powerpoint/2010/main" val="4604025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normAutofit/>
          </a:bodyPr>
          <a:lstStyle/>
          <a:p>
            <a:r>
              <a:rPr lang="en-US" dirty="0"/>
              <a:t>Servicing the Air Bag System (3 of 5)</a:t>
            </a:r>
          </a:p>
        </p:txBody>
      </p:sp>
      <p:sp>
        <p:nvSpPr>
          <p:cNvPr id="40963" name="Content Placeholder 2"/>
          <p:cNvSpPr>
            <a:spLocks noGrp="1"/>
          </p:cNvSpPr>
          <p:nvPr>
            <p:ph type="body" idx="1"/>
          </p:nvPr>
        </p:nvSpPr>
        <p:spPr/>
        <p:txBody>
          <a:bodyPr/>
          <a:lstStyle/>
          <a:p>
            <a:r>
              <a:rPr lang="en-US" sz="2600" dirty="0">
                <a:solidFill>
                  <a:schemeClr val="tx1"/>
                </a:solidFill>
              </a:rPr>
              <a:t>Handle sensors with care.</a:t>
            </a:r>
          </a:p>
          <a:p>
            <a:r>
              <a:rPr lang="en-US" sz="2600" dirty="0">
                <a:solidFill>
                  <a:schemeClr val="tx1"/>
                </a:solidFill>
              </a:rPr>
              <a:t>When carrying a live air bag module, face the trim and bag away from your body.</a:t>
            </a:r>
          </a:p>
          <a:p>
            <a:r>
              <a:rPr lang="en-US" sz="2600" dirty="0">
                <a:solidFill>
                  <a:schemeClr val="tx1"/>
                </a:solidFill>
              </a:rPr>
              <a:t>Do not carry the module by its wires or connector.</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normAutofit/>
          </a:bodyPr>
          <a:lstStyle/>
          <a:p>
            <a:r>
              <a:rPr lang="en-US" dirty="0"/>
              <a:t>Servicing the Air Bag System (4 of 5) </a:t>
            </a:r>
          </a:p>
        </p:txBody>
      </p:sp>
      <p:sp>
        <p:nvSpPr>
          <p:cNvPr id="40963" name="Content Placeholder 2"/>
          <p:cNvSpPr>
            <a:spLocks noGrp="1"/>
          </p:cNvSpPr>
          <p:nvPr>
            <p:ph type="body" idx="1"/>
          </p:nvPr>
        </p:nvSpPr>
        <p:spPr/>
        <p:txBody>
          <a:bodyPr/>
          <a:lstStyle/>
          <a:p>
            <a:r>
              <a:rPr lang="en-US" sz="2600" dirty="0">
                <a:solidFill>
                  <a:schemeClr val="tx1"/>
                </a:solidFill>
              </a:rPr>
              <a:t>When placing a live module on a bench, face the trim and air bag up.</a:t>
            </a:r>
          </a:p>
          <a:p>
            <a:r>
              <a:rPr lang="en-US" sz="2600" dirty="0">
                <a:solidFill>
                  <a:schemeClr val="tx1"/>
                </a:solidFill>
              </a:rPr>
              <a:t>Wear safety glasses and gloves when handling deployed air bags and wash your hands immediately after handling the bag.</a:t>
            </a:r>
          </a:p>
        </p:txBody>
      </p:sp>
    </p:spTree>
    <p:extLst>
      <p:ext uri="{BB962C8B-B14F-4D97-AF65-F5344CB8AC3E}">
        <p14:creationId xmlns:p14="http://schemas.microsoft.com/office/powerpoint/2010/main" val="12410683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dirty="0"/>
              <a:t>Servicing the Air Bag System (5 of 5) </a:t>
            </a:r>
            <a:endParaRPr lang="en-US" i="1" dirty="0"/>
          </a:p>
        </p:txBody>
      </p:sp>
      <p:sp>
        <p:nvSpPr>
          <p:cNvPr id="41987" name="Rectangle 3"/>
          <p:cNvSpPr>
            <a:spLocks noGrp="1" noChangeArrowheads="1"/>
          </p:cNvSpPr>
          <p:nvPr>
            <p:ph type="body" idx="1"/>
          </p:nvPr>
        </p:nvSpPr>
        <p:spPr/>
        <p:txBody>
          <a:bodyPr/>
          <a:lstStyle/>
          <a:p>
            <a:r>
              <a:rPr lang="en-US" sz="2600" dirty="0">
                <a:solidFill>
                  <a:schemeClr val="tx1"/>
                </a:solidFill>
              </a:rPr>
              <a:t>A live air bag module must be deployed before disposal.</a:t>
            </a:r>
          </a:p>
          <a:p>
            <a:r>
              <a:rPr lang="en-US" sz="2600" dirty="0">
                <a:solidFill>
                  <a:schemeClr val="tx1"/>
                </a:solidFill>
              </a:rPr>
              <a:t>Use only test equipment specified in the service manual.</a:t>
            </a:r>
          </a:p>
          <a:p>
            <a:pPr algn="l"/>
            <a:r>
              <a:rPr lang="en-US" sz="2600" dirty="0">
                <a:solidFill>
                  <a:schemeClr val="tx1"/>
                </a:solidFill>
                <a:latin typeface="Work Sans" pitchFamily="2" charset="0"/>
              </a:rPr>
              <a:t>Do not use a battery- or AC-powered voltmeter, ohmmeter, or any other type of test equipment not specified in the service information to test the air bag module.</a:t>
            </a:r>
          </a:p>
          <a:p>
            <a:pPr algn="l"/>
            <a:r>
              <a:rPr lang="en-US" sz="2600" dirty="0">
                <a:solidFill>
                  <a:schemeClr val="tx1"/>
                </a:solidFill>
                <a:latin typeface="Work Sans" pitchFamily="2" charset="0"/>
              </a:rPr>
              <a:t>After work on the SRS is completed, perform the SRS warning light check.</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Guidelines</a:t>
            </a:r>
          </a:p>
        </p:txBody>
      </p:sp>
      <p:sp>
        <p:nvSpPr>
          <p:cNvPr id="3" name="Content Placeholder 2"/>
          <p:cNvSpPr>
            <a:spLocks noGrp="1"/>
          </p:cNvSpPr>
          <p:nvPr>
            <p:ph type="body" idx="1"/>
          </p:nvPr>
        </p:nvSpPr>
        <p:spPr/>
        <p:txBody>
          <a:bodyPr/>
          <a:lstStyle/>
          <a:p>
            <a:pPr marL="0" indent="0">
              <a:buNone/>
            </a:pPr>
            <a:r>
              <a:rPr lang="en-US" b="1" dirty="0">
                <a:solidFill>
                  <a:schemeClr val="tx1"/>
                </a:solidFill>
                <a:latin typeface="Work Sans" pitchFamily="2" charset="0"/>
              </a:rPr>
              <a:t>48.07 Safely disable and inspect an air bag assembly.</a:t>
            </a:r>
            <a:endParaRPr lang="en-US" sz="2600" b="1" dirty="0">
              <a:solidFill>
                <a:schemeClr val="tx1"/>
              </a:solidFill>
              <a:latin typeface="Work Sans" pitchFamily="2" charset="0"/>
            </a:endParaRPr>
          </a:p>
          <a:p>
            <a:pPr algn="l"/>
            <a:r>
              <a:rPr lang="en-US" sz="2600" dirty="0">
                <a:solidFill>
                  <a:schemeClr val="tx1"/>
                </a:solidFill>
                <a:latin typeface="Work Sans" pitchFamily="2" charset="0"/>
              </a:rPr>
              <a:t>An air bag module is serviced as a complete assembly.</a:t>
            </a:r>
          </a:p>
          <a:p>
            <a:pPr algn="l"/>
            <a:r>
              <a:rPr lang="en-US" sz="2600" dirty="0">
                <a:solidFill>
                  <a:schemeClr val="tx1"/>
                </a:solidFill>
                <a:latin typeface="Work Sans" pitchFamily="2" charset="0"/>
              </a:rPr>
              <a:t>A damaged crash sensor must be replaced.</a:t>
            </a:r>
          </a:p>
          <a:p>
            <a:pPr algn="l"/>
            <a:r>
              <a:rPr lang="en-US" sz="2600" dirty="0">
                <a:solidFill>
                  <a:schemeClr val="tx1"/>
                </a:solidFill>
                <a:latin typeface="Work Sans" pitchFamily="2" charset="0"/>
              </a:rPr>
              <a:t>Typically, when an air bag or bags have deployed, the control module and sensors must be replaced in addition to the air bags.</a:t>
            </a:r>
          </a:p>
          <a:p>
            <a:pPr algn="l"/>
            <a:r>
              <a:rPr lang="en-US" sz="2600" dirty="0">
                <a:solidFill>
                  <a:schemeClr val="tx1"/>
                </a:solidFill>
                <a:latin typeface="Work Sans" pitchFamily="2" charset="0"/>
              </a:rPr>
              <a:t>The new control module will likely need to be programmed with a scan tool once installed.</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(3 of 3)</a:t>
            </a:r>
          </a:p>
        </p:txBody>
      </p:sp>
      <p:sp>
        <p:nvSpPr>
          <p:cNvPr id="3" name="Content Placeholder 2"/>
          <p:cNvSpPr>
            <a:spLocks noGrp="1"/>
          </p:cNvSpPr>
          <p:nvPr>
            <p:ph type="body" idx="1"/>
          </p:nvPr>
        </p:nvSpPr>
        <p:spPr/>
        <p:txBody>
          <a:bodyPr/>
          <a:lstStyle/>
          <a:p>
            <a:pPr marL="85725" indent="0">
              <a:buNone/>
            </a:pPr>
            <a:r>
              <a:rPr lang="en-US" sz="2600" dirty="0">
                <a:solidFill>
                  <a:schemeClr val="tx1"/>
                </a:solidFill>
              </a:rPr>
              <a:t>Technician A says the air bag module must be replaced after an air bag has deployed. Technician B </a:t>
            </a:r>
            <a:r>
              <a:rPr lang="en-US" sz="2600" dirty="0">
                <a:solidFill>
                  <a:schemeClr val="tx1"/>
                </a:solidFill>
                <a:latin typeface="Work Sans" pitchFamily="2" charset="0"/>
              </a:rPr>
              <a:t>says the new control module will likely need to be programmed with a scan tool once installed. </a:t>
            </a:r>
          </a:p>
          <a:p>
            <a:pPr marL="85725" indent="0">
              <a:buNone/>
            </a:pPr>
            <a:r>
              <a:rPr lang="en-US" sz="2600" dirty="0">
                <a:solidFill>
                  <a:schemeClr val="tx1"/>
                </a:solidFill>
              </a:rPr>
              <a:t>Who is correct?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 Answer (3 of 3)</a:t>
            </a:r>
          </a:p>
        </p:txBody>
      </p:sp>
      <p:sp>
        <p:nvSpPr>
          <p:cNvPr id="3" name="Content Placeholder 2"/>
          <p:cNvSpPr>
            <a:spLocks noGrp="1"/>
          </p:cNvSpPr>
          <p:nvPr>
            <p:ph type="body" idx="1"/>
          </p:nvPr>
        </p:nvSpPr>
        <p:spPr/>
        <p:txBody>
          <a:bodyPr/>
          <a:lstStyle/>
          <a:p>
            <a:pPr marL="85725" indent="0">
              <a:buNone/>
            </a:pPr>
            <a:r>
              <a:rPr lang="en-US" sz="2600" dirty="0">
                <a:solidFill>
                  <a:schemeClr val="tx1"/>
                </a:solidFill>
              </a:rPr>
              <a:t>Technician A says the air bag module must be replaced after an air bag has deployed. Technician B </a:t>
            </a:r>
            <a:r>
              <a:rPr lang="en-US" sz="2600" dirty="0">
                <a:solidFill>
                  <a:schemeClr val="tx1"/>
                </a:solidFill>
                <a:latin typeface="Work Sans" pitchFamily="2" charset="0"/>
              </a:rPr>
              <a:t>says the new control module will likely need to be programmed with a scan tool once installed. </a:t>
            </a:r>
          </a:p>
          <a:p>
            <a:pPr marL="85725" indent="0">
              <a:spcAft>
                <a:spcPts val="3000"/>
              </a:spcAft>
              <a:buNone/>
            </a:pPr>
            <a:r>
              <a:rPr lang="en-US" sz="2600" dirty="0">
                <a:solidFill>
                  <a:schemeClr val="tx1"/>
                </a:solidFill>
              </a:rPr>
              <a:t>Who is correct?</a:t>
            </a:r>
          </a:p>
          <a:p>
            <a:pPr marL="85725" indent="0">
              <a:buNone/>
            </a:pPr>
            <a:r>
              <a:rPr lang="en-US" sz="2600" b="1" dirty="0">
                <a:solidFill>
                  <a:schemeClr val="tx1"/>
                </a:solidFill>
              </a:rPr>
              <a:t>Answer: </a:t>
            </a:r>
            <a:r>
              <a:rPr lang="en-US" sz="2600" dirty="0">
                <a:solidFill>
                  <a:schemeClr val="tx1"/>
                </a:solidFill>
              </a:rPr>
              <a:t>Both Technicians A and B</a:t>
            </a:r>
          </a:p>
        </p:txBody>
      </p:sp>
    </p:spTree>
    <p:extLst>
      <p:ext uri="{BB962C8B-B14F-4D97-AF65-F5344CB8AC3E}">
        <p14:creationId xmlns:p14="http://schemas.microsoft.com/office/powerpoint/2010/main" val="8978394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Other Protection Systems (1 of 2) </a:t>
            </a:r>
          </a:p>
        </p:txBody>
      </p:sp>
      <p:sp>
        <p:nvSpPr>
          <p:cNvPr id="44035" name="Rectangle 3"/>
          <p:cNvSpPr>
            <a:spLocks noGrp="1" noChangeArrowheads="1"/>
          </p:cNvSpPr>
          <p:nvPr>
            <p:ph type="body" idx="1"/>
          </p:nvPr>
        </p:nvSpPr>
        <p:spPr/>
        <p:txBody>
          <a:bodyPr/>
          <a:lstStyle/>
          <a:p>
            <a:pPr marL="0" indent="0">
              <a:buNone/>
            </a:pPr>
            <a:r>
              <a:rPr lang="en-US" b="1" dirty="0">
                <a:solidFill>
                  <a:schemeClr val="tx1"/>
                </a:solidFill>
              </a:rPr>
              <a:t>48.08 Identify other components of occupant protection systems.</a:t>
            </a:r>
            <a:endParaRPr lang="en-US" sz="2600" b="1" dirty="0">
              <a:solidFill>
                <a:schemeClr val="tx1"/>
              </a:solidFill>
            </a:endParaRPr>
          </a:p>
          <a:p>
            <a:r>
              <a:rPr lang="en-US" sz="2600" dirty="0">
                <a:solidFill>
                  <a:schemeClr val="tx1"/>
                </a:solidFill>
              </a:rPr>
              <a:t>Headrests</a:t>
            </a:r>
          </a:p>
          <a:p>
            <a:pPr lvl="1"/>
            <a:r>
              <a:rPr lang="en-US" dirty="0">
                <a:solidFill>
                  <a:schemeClr val="tx1"/>
                </a:solidFill>
              </a:rPr>
              <a:t>Are designed to prevent whiplash.</a:t>
            </a:r>
          </a:p>
          <a:p>
            <a:pPr lvl="1"/>
            <a:r>
              <a:rPr lang="en-US" dirty="0">
                <a:solidFill>
                  <a:schemeClr val="tx1"/>
                </a:solidFill>
              </a:rPr>
              <a:t>Should be positioned to top of ears and less than four inches from back of head.</a:t>
            </a:r>
          </a:p>
          <a:p>
            <a:r>
              <a:rPr lang="en-US" sz="2600" dirty="0">
                <a:solidFill>
                  <a:schemeClr val="tx1"/>
                </a:solidFill>
              </a:rPr>
              <a:t>Event Data Recorder (EDR)</a:t>
            </a:r>
          </a:p>
          <a:p>
            <a:pPr lvl="1"/>
            <a:r>
              <a:rPr lang="en-US" dirty="0">
                <a:solidFill>
                  <a:schemeClr val="tx1"/>
                </a:solidFill>
              </a:rPr>
              <a:t>Records air bag diagnostic and deployment data.</a:t>
            </a:r>
          </a:p>
          <a:p>
            <a:pPr lvl="1"/>
            <a:r>
              <a:rPr lang="en-US" dirty="0">
                <a:solidFill>
                  <a:schemeClr val="tx1"/>
                </a:solidFill>
              </a:rPr>
              <a:t>Also records engine speed, throttle and brake pedal data.</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Other Protection Systems (2 of 2)</a:t>
            </a:r>
          </a:p>
        </p:txBody>
      </p:sp>
      <p:sp>
        <p:nvSpPr>
          <p:cNvPr id="45059" name="Content Placeholder 2"/>
          <p:cNvSpPr>
            <a:spLocks noGrp="1"/>
          </p:cNvSpPr>
          <p:nvPr>
            <p:ph type="body" idx="1"/>
          </p:nvPr>
        </p:nvSpPr>
        <p:spPr/>
        <p:txBody>
          <a:bodyPr/>
          <a:lstStyle/>
          <a:p>
            <a:r>
              <a:rPr lang="en-US" sz="2600" dirty="0">
                <a:solidFill>
                  <a:schemeClr val="tx1"/>
                </a:solidFill>
              </a:rPr>
              <a:t>Pre-Collision System</a:t>
            </a:r>
          </a:p>
          <a:p>
            <a:pPr lvl="1"/>
            <a:r>
              <a:rPr lang="en-US" dirty="0">
                <a:solidFill>
                  <a:schemeClr val="tx1"/>
                </a:solidFill>
              </a:rPr>
              <a:t>Predicts possible collisions using radar.</a:t>
            </a:r>
          </a:p>
          <a:p>
            <a:pPr lvl="1"/>
            <a:r>
              <a:rPr lang="en-US" dirty="0">
                <a:solidFill>
                  <a:schemeClr val="tx1"/>
                </a:solidFill>
              </a:rPr>
              <a:t>Retracts seat belts and alerts occupants.</a:t>
            </a:r>
          </a:p>
          <a:p>
            <a:r>
              <a:rPr lang="en-US" sz="2600" dirty="0">
                <a:solidFill>
                  <a:schemeClr val="tx1"/>
                </a:solidFill>
              </a:rPr>
              <a:t>Rollover Protection</a:t>
            </a:r>
          </a:p>
          <a:p>
            <a:pPr lvl="1"/>
            <a:r>
              <a:rPr lang="en-US" dirty="0">
                <a:solidFill>
                  <a:schemeClr val="tx1"/>
                </a:solidFill>
              </a:rPr>
              <a:t>Some vehicles are equipped with automatic roll bar.</a:t>
            </a:r>
          </a:p>
          <a:p>
            <a:pPr lvl="1"/>
            <a:r>
              <a:rPr lang="en-US" dirty="0">
                <a:solidFill>
                  <a:schemeClr val="tx1"/>
                </a:solidFill>
              </a:rPr>
              <a:t>During rollover, the air bags stay inflated longer.</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6BB30-AE78-C4E3-4F80-BABFF60887DC}"/>
              </a:ext>
            </a:extLst>
          </p:cNvPr>
          <p:cNvSpPr>
            <a:spLocks noGrp="1"/>
          </p:cNvSpPr>
          <p:nvPr>
            <p:ph type="title"/>
          </p:nvPr>
        </p:nvSpPr>
        <p:spPr/>
        <p:txBody>
          <a:bodyPr/>
          <a:lstStyle/>
          <a:p>
            <a:r>
              <a:rPr lang="en-US" dirty="0"/>
              <a:t>Chapter Reflection</a:t>
            </a:r>
          </a:p>
        </p:txBody>
      </p:sp>
      <p:sp>
        <p:nvSpPr>
          <p:cNvPr id="3" name="Text Placeholder 2">
            <a:extLst>
              <a:ext uri="{FF2B5EF4-FFF2-40B4-BE49-F238E27FC236}">
                <a16:creationId xmlns:a16="http://schemas.microsoft.com/office/drawing/2014/main" id="{0BE51107-0DC8-2444-E34F-83523A6449DA}"/>
              </a:ext>
            </a:extLst>
          </p:cNvPr>
          <p:cNvSpPr>
            <a:spLocks noGrp="1"/>
          </p:cNvSpPr>
          <p:nvPr>
            <p:ph type="body" idx="1"/>
          </p:nvPr>
        </p:nvSpPr>
        <p:spPr/>
        <p:txBody>
          <a:bodyPr/>
          <a:lstStyle/>
          <a:p>
            <a:pPr marL="358775" indent="-358775"/>
            <a:r>
              <a:rPr lang="en-US" sz="2600" dirty="0">
                <a:solidFill>
                  <a:schemeClr val="tx1"/>
                </a:solidFill>
                <a:latin typeface="Work Sans" pitchFamily="2" charset="0"/>
              </a:rPr>
              <a:t>Describe a concept from this chapter that challenged you the most.</a:t>
            </a:r>
          </a:p>
          <a:p>
            <a:pPr marL="358775" indent="-358775"/>
            <a:r>
              <a:rPr lang="en-US" sz="2600" dirty="0">
                <a:solidFill>
                  <a:schemeClr val="tx1"/>
                </a:solidFill>
                <a:latin typeface="Work Sans" pitchFamily="2" charset="0"/>
              </a:rPr>
              <a:t>Describe what made the concept difficult for you and the steps you took to improve your understanding.</a:t>
            </a:r>
          </a:p>
          <a:p>
            <a:pPr marL="358775" indent="-358775">
              <a:spcAft>
                <a:spcPts val="2400"/>
              </a:spcAft>
            </a:pPr>
            <a:r>
              <a:rPr lang="en-US" sz="2600" dirty="0">
                <a:solidFill>
                  <a:schemeClr val="tx1"/>
                </a:solidFill>
                <a:latin typeface="Work Sans" pitchFamily="2" charset="0"/>
              </a:rPr>
              <a:t>How could you help another student who was struggling with the same concept.</a:t>
            </a:r>
          </a:p>
          <a:p>
            <a:pPr marL="152400" indent="0">
              <a:buNone/>
            </a:pPr>
            <a:r>
              <a:rPr lang="en-US" sz="2600" dirty="0">
                <a:solidFill>
                  <a:schemeClr val="tx1"/>
                </a:solidFill>
                <a:latin typeface="Work Sans" pitchFamily="2" charset="0"/>
              </a:rPr>
              <a:t>Use 100– 150 words in your answer.</a:t>
            </a:r>
          </a:p>
        </p:txBody>
      </p:sp>
    </p:spTree>
    <p:extLst>
      <p:ext uri="{BB962C8B-B14F-4D97-AF65-F5344CB8AC3E}">
        <p14:creationId xmlns:p14="http://schemas.microsoft.com/office/powerpoint/2010/main" val="94639150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2" id="{3D131005-E0D0-4CE1-A589-094C50A290C7}" vid="{F2384AB8-E206-4835-9F32-18C2B45E4BC4}"/>
    </a:ext>
  </a:extLst>
</a:theme>
</file>

<file path=ppt/theme/theme3.xml><?xml version="1.0" encoding="utf-8"?>
<a:theme xmlns:a="http://schemas.openxmlformats.org/drawingml/2006/main" name="Theme3">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3" id="{31071DBD-571E-4430-8335-9DE43A012D14}" vid="{B3E8A73A-56E9-4C0C-A516-70CEC8C81554}"/>
    </a:ext>
  </a:extLst>
</a:theme>
</file>

<file path=ppt/theme/theme4.xml><?xml version="1.0" encoding="utf-8"?>
<a:theme xmlns:a="http://schemas.openxmlformats.org/drawingml/2006/main" name="1_Theme3">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3" id="{D9E01E5A-49F8-4B50-8D93-9ECCB43EC13E}" vid="{30B6B27D-277C-4F37-A5BA-236F8C07DB0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781</TotalTime>
  <Words>2058</Words>
  <Application>Microsoft Office PowerPoint</Application>
  <PresentationFormat>Widescreen</PresentationFormat>
  <Paragraphs>224</Paragraphs>
  <Slides>54</Slides>
  <Notes>45</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54</vt:i4>
      </vt:variant>
    </vt:vector>
  </HeadingPairs>
  <TitlesOfParts>
    <vt:vector size="61" baseType="lpstr">
      <vt:lpstr>Arial</vt:lpstr>
      <vt:lpstr>Calibri</vt:lpstr>
      <vt:lpstr>Work Sans</vt:lpstr>
      <vt:lpstr>Custom Design</vt:lpstr>
      <vt:lpstr>Theme2</vt:lpstr>
      <vt:lpstr>Theme3</vt:lpstr>
      <vt:lpstr>1_Theme3</vt:lpstr>
      <vt:lpstr>Automotive Technology: A Systems Approach, 8e</vt:lpstr>
      <vt:lpstr>Chapter Objectives (1 of 2)</vt:lpstr>
      <vt:lpstr>Chapter Objectives (2 of 2)</vt:lpstr>
      <vt:lpstr>Types of Restraint Systems</vt:lpstr>
      <vt:lpstr>Seat Belts</vt:lpstr>
      <vt:lpstr>Seat Belt Retractors (1 of 2)</vt:lpstr>
      <vt:lpstr>Seat Belt Retractors (2 of 2)  </vt:lpstr>
      <vt:lpstr>Warning Lights</vt:lpstr>
      <vt:lpstr>Seat Belt Service</vt:lpstr>
      <vt:lpstr>Belt Webbing Defects</vt:lpstr>
      <vt:lpstr>Buckle Inspection</vt:lpstr>
      <vt:lpstr>Retractor Inspection</vt:lpstr>
      <vt:lpstr>Anchor Inspection</vt:lpstr>
      <vt:lpstr>Warning Light and Sound System</vt:lpstr>
      <vt:lpstr>Servicing Seat Belts</vt:lpstr>
      <vt:lpstr>Knowledge Check (1 of 3)</vt:lpstr>
      <vt:lpstr>Knowledge Check Answer (1 of 3)</vt:lpstr>
      <vt:lpstr>Air Bags</vt:lpstr>
      <vt:lpstr>Side Air Bags</vt:lpstr>
      <vt:lpstr>Typical Air Bag Deployment Sequence (1 of 2)</vt:lpstr>
      <vt:lpstr>Typical Air Bag Deployment Sequence (2 of 2) </vt:lpstr>
      <vt:lpstr>Second-Generation Air Bags</vt:lpstr>
      <vt:lpstr>Smart (adaptive) Air Bags</vt:lpstr>
      <vt:lpstr>Adaptive SRS Systems</vt:lpstr>
      <vt:lpstr>Electrical System Components</vt:lpstr>
      <vt:lpstr>Common Air Bag Components</vt:lpstr>
      <vt:lpstr>Impact—Safing Sensors</vt:lpstr>
      <vt:lpstr>Impact—Safing Sensors (1 of 2) </vt:lpstr>
      <vt:lpstr>Impact—Safing Sensors (2 of 2)  </vt:lpstr>
      <vt:lpstr>Seat Position Sensor</vt:lpstr>
      <vt:lpstr>Seat Belt Buckle Switch</vt:lpstr>
      <vt:lpstr>Occupant Classification Sensor</vt:lpstr>
      <vt:lpstr>Wiring Harness</vt:lpstr>
      <vt:lpstr>Clockspring</vt:lpstr>
      <vt:lpstr>SRS or Air Bag Readiness Light</vt:lpstr>
      <vt:lpstr>Air Bag Module</vt:lpstr>
      <vt:lpstr>A Cutaway View of an Air Bag Module</vt:lpstr>
      <vt:lpstr>Knowledge Check (2 of 3)</vt:lpstr>
      <vt:lpstr>Knowledge Check Answer (2 of 3)</vt:lpstr>
      <vt:lpstr>Air Bag Diagnosis (1 of 2)</vt:lpstr>
      <vt:lpstr>Air Bag Diagnosis (2 of 2) </vt:lpstr>
      <vt:lpstr>Retrieving Diagnostic Trouble Codes</vt:lpstr>
      <vt:lpstr>SRS Safety Warning</vt:lpstr>
      <vt:lpstr>Servicing the Air Bag System( 1 of 5)</vt:lpstr>
      <vt:lpstr>Servicing the Air Bag System (2 of 5)   </vt:lpstr>
      <vt:lpstr>Servicing the Air Bag System (3 of 5)</vt:lpstr>
      <vt:lpstr>Servicing the Air Bag System (4 of 5) </vt:lpstr>
      <vt:lpstr>Servicing the Air Bag System (5 of 5) </vt:lpstr>
      <vt:lpstr>Service Guidelines</vt:lpstr>
      <vt:lpstr>Knowledge Check (3 of 3)</vt:lpstr>
      <vt:lpstr>Knowledge Check Answer (3 of 3)</vt:lpstr>
      <vt:lpstr>Other Protection Systems (1 of 2) </vt:lpstr>
      <vt:lpstr>Other Protection Systems (2 of 2)</vt:lpstr>
      <vt:lpstr>Chapter Reflection</vt:lpstr>
    </vt:vector>
  </TitlesOfParts>
  <Company>GEX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 Admin</dc:creator>
  <cp:lastModifiedBy>DiCaterino, Kara</cp:lastModifiedBy>
  <cp:revision>114</cp:revision>
  <dcterms:created xsi:type="dcterms:W3CDTF">2012-09-04T13:49:02Z</dcterms:created>
  <dcterms:modified xsi:type="dcterms:W3CDTF">2024-12-04T16:37:52Z</dcterms:modified>
</cp:coreProperties>
</file>