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7"/>
  </p:notesMasterIdLst>
  <p:sldIdLst>
    <p:sldId id="256" r:id="rId2"/>
    <p:sldId id="257" r:id="rId3"/>
    <p:sldId id="433" r:id="rId4"/>
    <p:sldId id="461" r:id="rId5"/>
    <p:sldId id="493" r:id="rId6"/>
    <p:sldId id="462" r:id="rId7"/>
    <p:sldId id="496" r:id="rId8"/>
    <p:sldId id="495" r:id="rId9"/>
    <p:sldId id="464" r:id="rId10"/>
    <p:sldId id="465" r:id="rId11"/>
    <p:sldId id="276" r:id="rId12"/>
    <p:sldId id="466" r:id="rId13"/>
    <p:sldId id="467" r:id="rId14"/>
    <p:sldId id="468" r:id="rId15"/>
    <p:sldId id="469" r:id="rId16"/>
    <p:sldId id="470" r:id="rId17"/>
    <p:sldId id="471" r:id="rId18"/>
    <p:sldId id="472" r:id="rId19"/>
    <p:sldId id="473" r:id="rId20"/>
    <p:sldId id="474" r:id="rId21"/>
    <p:sldId id="475" r:id="rId22"/>
    <p:sldId id="476" r:id="rId23"/>
    <p:sldId id="477" r:id="rId24"/>
    <p:sldId id="478" r:id="rId25"/>
    <p:sldId id="284" r:id="rId26"/>
    <p:sldId id="285" r:id="rId27"/>
    <p:sldId id="479" r:id="rId28"/>
    <p:sldId id="480" r:id="rId29"/>
    <p:sldId id="497" r:id="rId30"/>
    <p:sldId id="481" r:id="rId31"/>
    <p:sldId id="482" r:id="rId32"/>
    <p:sldId id="483" r:id="rId33"/>
    <p:sldId id="484" r:id="rId34"/>
    <p:sldId id="498" r:id="rId35"/>
    <p:sldId id="485" r:id="rId36"/>
    <p:sldId id="486" r:id="rId37"/>
    <p:sldId id="487" r:id="rId38"/>
    <p:sldId id="488" r:id="rId39"/>
    <p:sldId id="489" r:id="rId40"/>
    <p:sldId id="490" r:id="rId41"/>
    <p:sldId id="491" r:id="rId42"/>
    <p:sldId id="492" r:id="rId43"/>
    <p:sldId id="293" r:id="rId44"/>
    <p:sldId id="294" r:id="rId45"/>
    <p:sldId id="301" r:id="rId46"/>
  </p:sldIdLst>
  <p:sldSz cx="12192000" cy="6858000"/>
  <p:notesSz cx="6858000" cy="9144000"/>
  <p:embeddedFontLst>
    <p:embeddedFont>
      <p:font typeface="Work Sans"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5" autoAdjust="0"/>
    <p:restoredTop sz="85731" autoAdjust="0"/>
  </p:normalViewPr>
  <p:slideViewPr>
    <p:cSldViewPr snapToGrid="0">
      <p:cViewPr varScale="1">
        <p:scale>
          <a:sx n="92" d="100"/>
          <a:sy n="92" d="100"/>
        </p:scale>
        <p:origin x="1194" y="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customschemas.google.com/relationships/presentationmetadata" Target="metadata"/><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6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108489985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438620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20826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49639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228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72637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635819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144056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67387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58829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37283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042068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95279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744850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75849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550087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926664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724036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797804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411816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116015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060282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611719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917503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294996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093305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680557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634838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222316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592848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894601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697354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255883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200836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221284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972853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12585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0" y="1168663"/>
            <a:ext cx="6104302"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48"/>
          <p:cNvSpPr txBox="1">
            <a:spLocks noGrp="1"/>
          </p:cNvSpPr>
          <p:nvPr>
            <p:ph type="subTitle" idx="1"/>
          </p:nvPr>
        </p:nvSpPr>
        <p:spPr>
          <a:xfrm>
            <a:off x="5646420" y="3809720"/>
            <a:ext cx="6104302"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1000"/>
              </a:spcBef>
              <a:spcAft>
                <a:spcPts val="0"/>
              </a:spcAft>
              <a:buSzPts val="3200"/>
              <a:buNone/>
              <a:defRPr sz="32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48"/>
          <p:cNvSpPr>
            <a:spLocks noGrp="1"/>
          </p:cNvSpPr>
          <p:nvPr>
            <p:ph type="pic" idx="2"/>
          </p:nvPr>
        </p:nvSpPr>
        <p:spPr>
          <a:xfrm>
            <a:off x="475250" y="808037"/>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3" name="Content Placeholder 2">
            <a:extLst>
              <a:ext uri="{FF2B5EF4-FFF2-40B4-BE49-F238E27FC236}">
                <a16:creationId xmlns:a16="http://schemas.microsoft.com/office/drawing/2014/main" id="{FDEF2B6C-31C8-4FD9-1B41-ACB9AE51A782}"/>
              </a:ext>
            </a:extLst>
          </p:cNvPr>
          <p:cNvSpPr>
            <a:spLocks noGrp="1"/>
          </p:cNvSpPr>
          <p:nvPr>
            <p:ph sz="quarter" idx="10"/>
          </p:nvPr>
        </p:nvSpPr>
        <p:spPr>
          <a:xfrm>
            <a:off x="2003425" y="6338888"/>
            <a:ext cx="9329738" cy="476250"/>
          </a:xfrm>
        </p:spPr>
        <p:txBody>
          <a:bodyPr/>
          <a:lstStyle>
            <a:lvl1pPr marL="76200" indent="0">
              <a:buNone/>
              <a:defRPr>
                <a:solidFill>
                  <a:schemeClr val="bg1"/>
                </a:solidFill>
              </a:defRPr>
            </a:lvl1pPr>
            <a:lvl2pPr marL="533400" indent="0">
              <a:buNone/>
              <a:defRPr>
                <a:solidFill>
                  <a:schemeClr val="bg1"/>
                </a:solidFill>
              </a:defRPr>
            </a:lvl2pPr>
            <a:lvl3pPr marL="1021081" indent="0">
              <a:buNone/>
              <a:defRPr>
                <a:solidFill>
                  <a:schemeClr val="bg1"/>
                </a:solidFill>
              </a:defRPr>
            </a:lvl3pPr>
            <a:lvl4pPr marL="1447800" indent="0">
              <a:buNone/>
              <a:defRPr>
                <a:solidFill>
                  <a:schemeClr val="bg1"/>
                </a:solidFill>
              </a:defRPr>
            </a:lvl4pPr>
            <a:lvl5pPr marL="1854200" inden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9354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55600" lvl="0" indent="-355600" algn="l">
              <a:lnSpc>
                <a:spcPct val="100000"/>
              </a:lnSpc>
              <a:spcBef>
                <a:spcPts val="624"/>
              </a:spcBef>
              <a:spcAft>
                <a:spcPts val="0"/>
              </a:spcAft>
              <a:buSzPts val="2800"/>
              <a:buChar char="•"/>
              <a:defRPr sz="2600"/>
            </a:lvl1pPr>
            <a:lvl2pPr marL="722313" lvl="1" indent="-366713" algn="l">
              <a:lnSpc>
                <a:spcPct val="100000"/>
              </a:lnSpc>
              <a:spcBef>
                <a:spcPts val="624"/>
              </a:spcBef>
              <a:spcAft>
                <a:spcPts val="0"/>
              </a:spcAft>
              <a:buSzPts val="2600"/>
              <a:buChar char="−"/>
              <a:defRPr sz="2400" b="0"/>
            </a:lvl2pPr>
            <a:lvl3pPr marL="1077913" lvl="2" indent="-355600"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a:p>
          <a:p>
            <a:pPr lvl="1"/>
            <a:r>
              <a:rPr lang="en-IN"/>
              <a:t>  </a:t>
            </a:r>
          </a:p>
          <a:p>
            <a:pPr lvl="2"/>
            <a:r>
              <a:rPr lang="en-IN"/>
              <a:t>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9354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p:nvPr>
        </p:nvSpPr>
        <p:spPr>
          <a:xfrm>
            <a:off x="476843" y="1563625"/>
            <a:ext cx="11241915" cy="1988098"/>
          </a:xfrm>
          <a:prstGeom prst="rect">
            <a:avLst/>
          </a:prstGeom>
          <a:noFill/>
          <a:ln>
            <a:noFill/>
          </a:ln>
        </p:spPr>
        <p:txBody>
          <a:bodyPr spcFirstLastPara="1" wrap="square" lIns="91425" tIns="45700" rIns="91425" bIns="45700" anchor="t" anchorCtr="0">
            <a:noAutofit/>
          </a:bodyPr>
          <a:lstStyle>
            <a:lvl1pPr marL="355600" lvl="0" indent="-355600" algn="l">
              <a:lnSpc>
                <a:spcPct val="100000"/>
              </a:lnSpc>
              <a:spcBef>
                <a:spcPts val="624"/>
              </a:spcBef>
              <a:spcAft>
                <a:spcPts val="0"/>
              </a:spcAft>
              <a:buSzPts val="2800"/>
              <a:buChar char="•"/>
              <a:defRPr sz="2600"/>
            </a:lvl1pPr>
            <a:lvl2pPr marL="722313" lvl="1" indent="-366713" algn="l">
              <a:lnSpc>
                <a:spcPct val="100000"/>
              </a:lnSpc>
              <a:spcBef>
                <a:spcPts val="624"/>
              </a:spcBef>
              <a:spcAft>
                <a:spcPts val="0"/>
              </a:spcAft>
              <a:buSzPts val="2600"/>
              <a:buChar char="−"/>
              <a:defRPr sz="2400" b="0"/>
            </a:lvl2pPr>
            <a:lvl3pPr marL="1077913" lvl="2" indent="-355600"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a:p>
          <a:p>
            <a:pPr lvl="1"/>
            <a:r>
              <a:rPr lang="en-IN"/>
              <a:t>  </a:t>
            </a:r>
          </a:p>
          <a:p>
            <a:pPr lvl="2"/>
            <a:r>
              <a:rPr lang="en-IN"/>
              <a:t>  </a:t>
            </a:r>
          </a:p>
        </p:txBody>
      </p:sp>
      <p:sp>
        <p:nvSpPr>
          <p:cNvPr id="3" name="Picture Placeholder 2">
            <a:extLst>
              <a:ext uri="{FF2B5EF4-FFF2-40B4-BE49-F238E27FC236}">
                <a16:creationId xmlns:a16="http://schemas.microsoft.com/office/drawing/2014/main" id="{7CC55328-A08D-8C0A-3328-18B605B47904}"/>
              </a:ext>
            </a:extLst>
          </p:cNvPr>
          <p:cNvSpPr>
            <a:spLocks noGrp="1"/>
          </p:cNvSpPr>
          <p:nvPr>
            <p:ph type="pic" sz="quarter" idx="10"/>
          </p:nvPr>
        </p:nvSpPr>
        <p:spPr>
          <a:xfrm>
            <a:off x="2974975" y="3975100"/>
            <a:ext cx="914400" cy="914400"/>
          </a:xfrm>
        </p:spPr>
        <p:txBody>
          <a:bodyPr/>
          <a:lstStyle/>
          <a:p>
            <a:endParaRPr lang="en-IN"/>
          </a:p>
        </p:txBody>
      </p:sp>
      <p:sp>
        <p:nvSpPr>
          <p:cNvPr id="5" name="Picture Placeholder 4">
            <a:extLst>
              <a:ext uri="{FF2B5EF4-FFF2-40B4-BE49-F238E27FC236}">
                <a16:creationId xmlns:a16="http://schemas.microsoft.com/office/drawing/2014/main" id="{A85B2194-5CB5-B7A9-CB3F-E04CACA38F7D}"/>
              </a:ext>
            </a:extLst>
          </p:cNvPr>
          <p:cNvSpPr>
            <a:spLocks noGrp="1"/>
          </p:cNvSpPr>
          <p:nvPr>
            <p:ph type="pic" sz="quarter" idx="11"/>
          </p:nvPr>
        </p:nvSpPr>
        <p:spPr>
          <a:xfrm>
            <a:off x="4148138" y="4100513"/>
            <a:ext cx="914400" cy="914400"/>
          </a:xfrm>
        </p:spPr>
        <p:txBody>
          <a:bodyPr/>
          <a:lstStyle/>
          <a:p>
            <a:endParaRPr lang="en-IN"/>
          </a:p>
        </p:txBody>
      </p:sp>
    </p:spTree>
    <p:extLst>
      <p:ext uri="{BB962C8B-B14F-4D97-AF65-F5344CB8AC3E}">
        <p14:creationId xmlns:p14="http://schemas.microsoft.com/office/powerpoint/2010/main" val="1705055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F713ADF2-5AD2-5E47-B963-923818ECE24D}"/>
              </a:ext>
            </a:extLst>
          </p:cNvPr>
          <p:cNvSpPr txBox="1">
            <a:spLocks/>
          </p:cNvSpPr>
          <p:nvPr userDrawn="1"/>
        </p:nvSpPr>
        <p:spPr>
          <a:xfrm>
            <a:off x="2034598" y="6338888"/>
            <a:ext cx="9329738" cy="47625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64"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xfrm>
            <a:off x="5646420" y="1168663"/>
            <a:ext cx="5717916" cy="23876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000"/>
              <a:buFont typeface="Arial"/>
              <a:buNone/>
            </a:pPr>
            <a:r>
              <a:rPr lang="en-US" sz="4000">
                <a:latin typeface="Work Sans" pitchFamily="2" charset="0"/>
                <a:ea typeface="Arial"/>
                <a:cs typeface="Arial"/>
                <a:sym typeface="Arial"/>
              </a:rPr>
              <a:t>Automotive Technology: </a:t>
            </a:r>
            <a:br>
              <a:rPr lang="en-US" sz="4000">
                <a:latin typeface="Work Sans" pitchFamily="2" charset="0"/>
                <a:ea typeface="Arial"/>
                <a:cs typeface="Arial"/>
                <a:sym typeface="Arial"/>
              </a:rPr>
            </a:br>
            <a:r>
              <a:rPr lang="en-US" sz="4000">
                <a:latin typeface="Work Sans" pitchFamily="2" charset="0"/>
                <a:ea typeface="Arial"/>
                <a:cs typeface="Arial"/>
                <a:sym typeface="Arial"/>
              </a:rPr>
              <a:t>A Systems Approach, 8e</a:t>
            </a:r>
            <a:endParaRPr sz="400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200"/>
              <a:buNone/>
            </a:pPr>
            <a:r>
              <a:rPr lang="en-US" dirty="0">
                <a:latin typeface="Work Sans" pitchFamily="2" charset="0"/>
                <a:ea typeface="Arial"/>
                <a:cs typeface="Arial"/>
                <a:sym typeface="Arial"/>
              </a:rPr>
              <a:t>Chapter 12: </a:t>
            </a:r>
            <a:r>
              <a:rPr lang="en-US" dirty="0">
                <a:latin typeface="Work Sans" pitchFamily="2" charset="0"/>
              </a:rPr>
              <a:t>Upper End Theory and Service</a:t>
            </a:r>
            <a:endParaRPr lang="en-US" dirty="0">
              <a:latin typeface="Work Sans" pitchFamily="2" charset="0"/>
              <a:ea typeface="Arial"/>
              <a:cs typeface="Arial"/>
              <a:sym typeface="Arial"/>
            </a:endParaRPr>
          </a:p>
        </p:txBody>
      </p:sp>
      <p:pic>
        <p:nvPicPr>
          <p:cNvPr id="6"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E05F9FFB-DD4C-3C09-8D02-8845A2CDC032}"/>
              </a:ext>
            </a:extLst>
          </p:cNvPr>
          <p:cNvPicPr>
            <a:picLocks noGrp="1" noChangeAspect="1"/>
          </p:cNvPicPr>
          <p:nvPr>
            <p:ph type="pic" idx="2"/>
          </p:nvPr>
        </p:nvPicPr>
        <p:blipFill rotWithShape="1">
          <a:blip r:embed="rId3"/>
          <a:stretch/>
        </p:blipFill>
        <p:spPr>
          <a:xfrm>
            <a:off x="631392" y="557894"/>
            <a:ext cx="4381500" cy="5611091"/>
          </a:xfrm>
          <a:prstGeom prst="rect">
            <a:avLst/>
          </a:prstGeom>
        </p:spPr>
      </p:pic>
      <p:sp>
        <p:nvSpPr>
          <p:cNvPr id="8" name="Content Placeholder 4">
            <a:extLst>
              <a:ext uri="{FF2B5EF4-FFF2-40B4-BE49-F238E27FC236}">
                <a16:creationId xmlns:a16="http://schemas.microsoft.com/office/drawing/2014/main" id="{76795F4B-3E46-D827-6B99-D9145B227BDA}"/>
              </a:ext>
            </a:extLst>
          </p:cNvPr>
          <p:cNvSpPr txBox="1">
            <a:spLocks noGrp="1"/>
          </p:cNvSpPr>
          <p:nvPr>
            <p:ph sz="quarter" idx="10"/>
          </p:nvPr>
        </p:nvSpPr>
        <p:spPr>
          <a:xfrm>
            <a:off x="2034598" y="6338888"/>
            <a:ext cx="9329738" cy="476250"/>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a:t>
            </a:r>
            <a:r>
              <a:rPr lang="en-US"/>
              <a:t>2)</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dirty="0"/>
              <a:t>12.01 Describe the purpose, operation, and location of the </a:t>
            </a:r>
            <a:r>
              <a:rPr lang="en-US"/>
              <a:t>camshaft.</a:t>
            </a:r>
            <a:endParaRPr lang="en-US" dirty="0"/>
          </a:p>
          <a:p>
            <a:pPr marL="357188" marR="0" lvl="0" indent="-357188" algn="l" rtl="0">
              <a:spcAft>
                <a:spcPts val="600"/>
              </a:spcAft>
              <a:buSzPct val="100000"/>
              <a:buChar char="•"/>
            </a:pPr>
            <a:r>
              <a:rPr lang="en-US" dirty="0"/>
              <a:t>12.02 Inspect the camshaft and timing components.</a:t>
            </a:r>
          </a:p>
          <a:p>
            <a:pPr marL="357188" marR="0" lvl="0" indent="-357188" algn="l" rtl="0">
              <a:spcAft>
                <a:spcPts val="600"/>
              </a:spcAft>
              <a:buSzPct val="100000"/>
              <a:buChar char="•"/>
            </a:pPr>
            <a:r>
              <a:rPr lang="en-US" dirty="0"/>
              <a:t>12.03 Describe the purpose of an engine’s cylinder head, valves, and related valve </a:t>
            </a:r>
            <a:r>
              <a:rPr lang="en-US"/>
              <a:t>parts.</a:t>
            </a:r>
            <a:endParaRPr lang="en-US" dirty="0"/>
          </a:p>
          <a:p>
            <a:pPr marL="357188" marR="0" lvl="0" indent="-357188" algn="l" rtl="0">
              <a:spcAft>
                <a:spcPts val="600"/>
              </a:spcAft>
              <a:buSzPct val="100000"/>
              <a:buChar char="•"/>
            </a:pPr>
            <a:r>
              <a:rPr lang="en-US" dirty="0"/>
              <a:t>12.04 Know why there are special service procedures for aluminum and OHC </a:t>
            </a:r>
            <a:r>
              <a:rPr lang="en-US"/>
              <a:t>heads.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a:t>
            </a:r>
            <a:r>
              <a:rPr lang="en-US"/>
              <a:t>2)</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dirty="0"/>
              <a:t>12.05 Describe the types of combustion chamber shapes.</a:t>
            </a:r>
          </a:p>
          <a:p>
            <a:pPr marL="357188" marR="0" lvl="0" indent="-357188" algn="l" rtl="0">
              <a:spcAft>
                <a:spcPts val="600"/>
              </a:spcAft>
              <a:buSzPct val="100000"/>
              <a:buChar char="•"/>
            </a:pPr>
            <a:r>
              <a:rPr lang="en-US" dirty="0"/>
              <a:t>12.06 Do a complete inspection of the cylinder head and valve train </a:t>
            </a:r>
            <a:r>
              <a:rPr lang="en-US"/>
              <a:t>parts.</a:t>
            </a:r>
            <a:endParaRPr lang="en-US" dirty="0"/>
          </a:p>
          <a:p>
            <a:pPr marL="357188" marR="0" lvl="0" indent="-357188" algn="l" rtl="0">
              <a:spcAft>
                <a:spcPts val="600"/>
              </a:spcAft>
              <a:buSzPct val="100000"/>
              <a:buChar char="•"/>
            </a:pPr>
            <a:r>
              <a:rPr lang="en-US" dirty="0"/>
              <a:t>12.07 Describe the different ways manufacturers vary valve </a:t>
            </a:r>
            <a:r>
              <a:rPr lang="en-US"/>
              <a:t>timing.</a:t>
            </a:r>
            <a:endParaRPr lang="en-US" dirty="0"/>
          </a:p>
          <a:p>
            <a:pPr marL="357188" marR="0" lvl="0" indent="-357188" algn="l" rtl="0">
              <a:spcAft>
                <a:spcPts val="600"/>
              </a:spcAft>
              <a:buSzPct val="100000"/>
              <a:buChar char="•"/>
            </a:pPr>
            <a:r>
              <a:rPr lang="en-US" dirty="0"/>
              <a:t>12.08 Inspect and replace valve stem seals. Reassemble a cylinder head.</a:t>
            </a:r>
          </a:p>
        </p:txBody>
      </p:sp>
    </p:spTree>
    <p:extLst>
      <p:ext uri="{BB962C8B-B14F-4D97-AF65-F5344CB8AC3E}">
        <p14:creationId xmlns:p14="http://schemas.microsoft.com/office/powerpoint/2010/main" val="4141584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Camshafts (1 of </a:t>
            </a:r>
            <a:r>
              <a:rPr lang="en-US" sz="4000"/>
              <a:t>2)</a:t>
            </a:r>
            <a:endParaRPr dirty="0"/>
          </a:p>
        </p:txBody>
      </p:sp>
      <p:sp>
        <p:nvSpPr>
          <p:cNvPr id="145" name="Google Shape;145;p4"/>
          <p:cNvSpPr txBox="1">
            <a:spLocks noGrp="1"/>
          </p:cNvSpPr>
          <p:nvPr>
            <p:ph type="body" idx="1"/>
          </p:nvPr>
        </p:nvSpPr>
        <p:spPr>
          <a:xfrm>
            <a:off x="476844" y="1563624"/>
            <a:ext cx="7669630" cy="4535839"/>
          </a:xfrm>
          <a:prstGeom prst="rect">
            <a:avLst/>
          </a:prstGeom>
          <a:noFill/>
          <a:ln>
            <a:noFill/>
          </a:ln>
        </p:spPr>
        <p:txBody>
          <a:bodyPr spcFirstLastPara="1" wrap="square" lIns="91425" tIns="45700" rIns="91425" bIns="45700" anchor="t" anchorCtr="0">
            <a:noAutofit/>
          </a:bodyPr>
          <a:lstStyle/>
          <a:p>
            <a:pPr marL="0" indent="0">
              <a:spcAft>
                <a:spcPts val="400"/>
              </a:spcAft>
              <a:buSzPts val="2800"/>
              <a:buNone/>
            </a:pPr>
            <a:r>
              <a:rPr lang="en-US" sz="2000" b="1" dirty="0"/>
              <a:t>12.01 Describe the purpose, operation, and location of the camshaft. </a:t>
            </a:r>
          </a:p>
          <a:p>
            <a:pPr marL="357188" marR="0" lvl="0" indent="-357188" algn="l" rtl="0">
              <a:spcAft>
                <a:spcPts val="400"/>
              </a:spcAft>
              <a:buSzPct val="100000"/>
              <a:buChar char="•"/>
            </a:pPr>
            <a:r>
              <a:rPr lang="en-US" sz="2000" dirty="0"/>
              <a:t>A camshaft has a cam lobe for each exhaust and intake valve. </a:t>
            </a:r>
          </a:p>
          <a:p>
            <a:pPr marL="357188" marR="0" lvl="0" indent="-357188" algn="l" rtl="0">
              <a:spcAft>
                <a:spcPts val="400"/>
              </a:spcAft>
              <a:buSzPct val="100000"/>
              <a:buChar char="•"/>
            </a:pPr>
            <a:r>
              <a:rPr lang="en-US" sz="2000" dirty="0"/>
              <a:t>The height of the lobe is proportional to the amount the valve will open. </a:t>
            </a:r>
          </a:p>
          <a:p>
            <a:pPr marL="357188" marR="0" lvl="0" indent="-357188" algn="l" rtl="0">
              <a:spcAft>
                <a:spcPts val="400"/>
              </a:spcAft>
              <a:buSzPct val="100000"/>
              <a:buChar char="•"/>
            </a:pPr>
            <a:r>
              <a:rPr lang="en-US" sz="2000" dirty="0"/>
              <a:t>In all engines, the camshaft converts rotary motion, that of the spinning camshaft lobes, into the linear or reciprocating motion of the valves. In OHC engines, the camshaft fits in a bore in the cylinder head. </a:t>
            </a:r>
          </a:p>
          <a:p>
            <a:pPr marL="357188" marR="0" lvl="0" indent="-357188" algn="l" rtl="0">
              <a:spcAft>
                <a:spcPts val="400"/>
              </a:spcAft>
              <a:buSzPct val="100000"/>
              <a:buChar char="•"/>
            </a:pPr>
            <a:r>
              <a:rPr lang="en-US" sz="2000" dirty="0"/>
              <a:t>On OHV engines, as the cam lobe rotates, it pushes up on the lifter, which moves the pushrod and one end of the rocker arm up.</a:t>
            </a:r>
          </a:p>
        </p:txBody>
      </p:sp>
      <p:pic>
        <p:nvPicPr>
          <p:cNvPr id="3" name="Picture Placeholder 2" descr="The basic operation of camshaft. The labeled parts are as follows: Camshaft, lifter, and push-rod.">
            <a:extLst>
              <a:ext uri="{FF2B5EF4-FFF2-40B4-BE49-F238E27FC236}">
                <a16:creationId xmlns:a16="http://schemas.microsoft.com/office/drawing/2014/main" id="{2FD1F76F-A38D-2C5F-F009-0BCDCE741830}"/>
              </a:ext>
            </a:extLst>
          </p:cNvPr>
          <p:cNvPicPr>
            <a:picLocks noGrp="1" noChangeAspect="1"/>
          </p:cNvPicPr>
          <p:nvPr>
            <p:ph type="pic" sz="quarter" idx="10"/>
          </p:nvPr>
        </p:nvPicPr>
        <p:blipFill>
          <a:blip r:embed="rId3"/>
          <a:srcRect b="12248"/>
          <a:stretch/>
        </p:blipFill>
        <p:spPr>
          <a:xfrm>
            <a:off x="8273643" y="2382711"/>
            <a:ext cx="3441514" cy="2397107"/>
          </a:xfrm>
          <a:prstGeom prst="rect">
            <a:avLst/>
          </a:prstGeom>
        </p:spPr>
      </p:pic>
    </p:spTree>
    <p:extLst>
      <p:ext uri="{BB962C8B-B14F-4D97-AF65-F5344CB8AC3E}">
        <p14:creationId xmlns:p14="http://schemas.microsoft.com/office/powerpoint/2010/main" val="236662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Camshafts (2 of </a:t>
            </a:r>
            <a:r>
              <a:rPr lang="en-US" sz="4000"/>
              <a:t>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000" dirty="0"/>
              <a:t>Since a rocker arm is a lever, as that end goes up, the other end moves down. Which pushes down on the valve to open </a:t>
            </a:r>
            <a:r>
              <a:rPr lang="en-US" sz="2000"/>
              <a:t>it.</a:t>
            </a:r>
            <a:endParaRPr lang="en-US" sz="2000" dirty="0"/>
          </a:p>
          <a:p>
            <a:pPr marL="357188" lvl="0" indent="-357188">
              <a:spcAft>
                <a:spcPts val="600"/>
              </a:spcAft>
              <a:buSzPct val="100000"/>
            </a:pPr>
            <a:r>
              <a:rPr lang="en-US" sz="2000" dirty="0"/>
              <a:t>As the cam continues to rotate, the valve spring closes the valve while maintaining contact between the valve and the rocker arm, thereby keeping the pushrod and the lifter in contact with the rotating </a:t>
            </a:r>
            <a:r>
              <a:rPr lang="en-US" sz="2000"/>
              <a:t>cam.</a:t>
            </a:r>
            <a:endParaRPr lang="en-US" sz="2000" dirty="0"/>
          </a:p>
          <a:p>
            <a:pPr marL="357188" lvl="0" indent="-357188">
              <a:spcAft>
                <a:spcPts val="600"/>
              </a:spcAft>
              <a:buSzPct val="100000"/>
            </a:pPr>
            <a:r>
              <a:rPr lang="en-US" sz="2000" dirty="0"/>
              <a:t>OHC engines may have separate camshafts for the intake and exhaust </a:t>
            </a:r>
            <a:r>
              <a:rPr lang="en-US" sz="2000"/>
              <a:t>valves.</a:t>
            </a:r>
            <a:endParaRPr lang="en-US" sz="2000" dirty="0"/>
          </a:p>
          <a:p>
            <a:pPr marL="357188" lvl="0" indent="-357188">
              <a:spcAft>
                <a:spcPts val="600"/>
              </a:spcAft>
              <a:buSzPct val="100000"/>
            </a:pPr>
            <a:r>
              <a:rPr lang="en-US" sz="2000" dirty="0"/>
              <a:t>As these camshafts rotate, the lobes directly open the valves or open them indirectly with cam followers, rocker arms, or bucket-type tappets. The closing of the valves is still the responsibility of the valve </a:t>
            </a:r>
            <a:r>
              <a:rPr lang="en-US" sz="2000"/>
              <a:t>springs.</a:t>
            </a:r>
            <a:endParaRPr lang="en-US" sz="2000" dirty="0"/>
          </a:p>
          <a:p>
            <a:pPr marL="357188" lvl="0" indent="-357188">
              <a:spcAft>
                <a:spcPts val="600"/>
              </a:spcAft>
              <a:buSzPct val="100000"/>
            </a:pPr>
            <a:r>
              <a:rPr lang="en-US" sz="2000" dirty="0"/>
              <a:t>A camshaft is driven by the crankshaft at half its speed. The size of the camshaft drive gear or sprocket is twice as large as the crankshaft </a:t>
            </a:r>
            <a:r>
              <a:rPr lang="en-US" sz="2000"/>
              <a:t>sprocket.</a:t>
            </a:r>
            <a:endParaRPr lang="en-US" sz="2000" dirty="0"/>
          </a:p>
        </p:txBody>
      </p:sp>
    </p:spTree>
    <p:extLst>
      <p:ext uri="{BB962C8B-B14F-4D97-AF65-F5344CB8AC3E}">
        <p14:creationId xmlns:p14="http://schemas.microsoft.com/office/powerpoint/2010/main" val="156521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Camshaft Terminology</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800" dirty="0">
                <a:solidFill>
                  <a:schemeClr val="accent1"/>
                </a:solidFill>
              </a:rPr>
              <a:t>Many different terms are used to define the specifications of a camshaft.</a:t>
            </a:r>
          </a:p>
          <a:p>
            <a:pPr marL="357188" marR="0" lvl="0" indent="-357188" algn="l" rtl="0">
              <a:spcAft>
                <a:spcPts val="600"/>
              </a:spcAft>
              <a:buSzPct val="100000"/>
              <a:buChar char="•"/>
            </a:pPr>
            <a:r>
              <a:rPr lang="en-US" sz="1800" dirty="0">
                <a:solidFill>
                  <a:schemeClr val="accent1"/>
                </a:solidFill>
              </a:rPr>
              <a:t>The actual shape of a cam lobe is called the cam profile.</a:t>
            </a:r>
          </a:p>
          <a:p>
            <a:pPr marL="357188" marR="0" lvl="0" indent="-357188" algn="l" rtl="0">
              <a:spcAft>
                <a:spcPts val="600"/>
              </a:spcAft>
              <a:buSzPct val="100000"/>
              <a:buChar char="•"/>
            </a:pPr>
            <a:r>
              <a:rPr lang="en-US" sz="1800" dirty="0">
                <a:solidFill>
                  <a:schemeClr val="accent1"/>
                </a:solidFill>
              </a:rPr>
              <a:t>The profile determines the </a:t>
            </a:r>
            <a:r>
              <a:rPr lang="en-US" sz="1800" b="1" dirty="0">
                <a:solidFill>
                  <a:schemeClr val="accent1"/>
                </a:solidFill>
              </a:rPr>
              <a:t>duration</a:t>
            </a:r>
            <a:r>
              <a:rPr lang="en-US" sz="1800" dirty="0">
                <a:solidFill>
                  <a:schemeClr val="accent1"/>
                </a:solidFill>
              </a:rPr>
              <a:t> and lift provided by the camshaft.</a:t>
            </a:r>
          </a:p>
          <a:p>
            <a:pPr marL="357188" marR="0" lvl="0" indent="-357188" algn="l" rtl="0">
              <a:spcAft>
                <a:spcPts val="600"/>
              </a:spcAft>
              <a:buSzPct val="100000"/>
              <a:buChar char="•"/>
            </a:pPr>
            <a:r>
              <a:rPr lang="en-US" sz="1800" dirty="0">
                <a:solidFill>
                  <a:schemeClr val="accent1"/>
                </a:solidFill>
              </a:rPr>
              <a:t>Camshaft duration is how long the cam holds the valves open and is expressed in crankshaft degrees. The width of the lobe determines the cam’s duration.</a:t>
            </a:r>
          </a:p>
          <a:p>
            <a:pPr marL="357188" marR="0" lvl="0" indent="-357188" algn="l" rtl="0">
              <a:spcAft>
                <a:spcPts val="600"/>
              </a:spcAft>
              <a:buSzPct val="100000"/>
              <a:buChar char="•"/>
            </a:pPr>
            <a:r>
              <a:rPr lang="en-US" sz="1800" dirty="0">
                <a:solidFill>
                  <a:schemeClr val="accent1"/>
                </a:solidFill>
              </a:rPr>
              <a:t>Lift is the distance the lobe moves the lifter or follower to open the valve. The valve is fully open only when the lifter is at the top of the lobe.</a:t>
            </a:r>
          </a:p>
          <a:p>
            <a:pPr marL="357188" marR="0" lvl="0" indent="-357188" algn="l" rtl="0">
              <a:spcAft>
                <a:spcPts val="600"/>
              </a:spcAft>
              <a:buSzPct val="100000"/>
              <a:buChar char="•"/>
            </a:pPr>
            <a:r>
              <a:rPr lang="en-US" sz="1800" dirty="0">
                <a:solidFill>
                  <a:schemeClr val="accent1"/>
                </a:solidFill>
              </a:rPr>
              <a:t>Camshaft lift does not express how far the valve is open. Rocker arms increase the actual amount of valve opening. Both valves are open slightly at the end of the exhaust stroke and the beginning of the intake stroke; this is called valve </a:t>
            </a:r>
            <a:r>
              <a:rPr lang="en-US" sz="1800" b="1" dirty="0">
                <a:solidFill>
                  <a:schemeClr val="accent1"/>
                </a:solidFill>
              </a:rPr>
              <a:t>overlap</a:t>
            </a:r>
            <a:r>
              <a:rPr lang="en-US" sz="1800" dirty="0">
                <a:solidFill>
                  <a:schemeClr val="accent1"/>
                </a:solidFill>
              </a:rPr>
              <a:t>.</a:t>
            </a:r>
          </a:p>
          <a:p>
            <a:pPr marL="357188" marR="0" lvl="0" indent="-357188" algn="l" rtl="0">
              <a:spcAft>
                <a:spcPts val="600"/>
              </a:spcAft>
              <a:buSzPct val="100000"/>
              <a:buChar char="•"/>
            </a:pPr>
            <a:r>
              <a:rPr lang="en-US" sz="1800" dirty="0">
                <a:solidFill>
                  <a:schemeClr val="accent1"/>
                </a:solidFill>
              </a:rPr>
              <a:t>A camshaft with a long overlap helps empty the cylinders at high engine speeds for improved efficiency; however, since both valves are open for a longer period, low-rpm cylinder pressure tends to drop.</a:t>
            </a:r>
            <a:endParaRPr lang="en-US" sz="1800" b="1" dirty="0">
              <a:solidFill>
                <a:schemeClr val="accent1"/>
              </a:solidFill>
            </a:endParaRPr>
          </a:p>
        </p:txBody>
      </p:sp>
    </p:spTree>
    <p:extLst>
      <p:ext uri="{BB962C8B-B14F-4D97-AF65-F5344CB8AC3E}">
        <p14:creationId xmlns:p14="http://schemas.microsoft.com/office/powerpoint/2010/main" val="1431893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Timing Mechanisms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1800" dirty="0"/>
              <a:t>Belt Drive</a:t>
            </a:r>
          </a:p>
          <a:p>
            <a:pPr marL="800100" lvl="1" indent="-342900">
              <a:spcAft>
                <a:spcPts val="600"/>
              </a:spcAft>
              <a:buSzPct val="100000"/>
            </a:pPr>
            <a:r>
              <a:rPr lang="en-US" sz="1800" dirty="0"/>
              <a:t>Sprockets on the crankshaft and the camshaft are linked by a continuous neoprene belt. The belt has square-shaped internal teeth that mesh with teeth on the sprockets. The timing belt is reinforced with nylon or fiberglass to give it strength and prevent stretching.</a:t>
            </a:r>
          </a:p>
          <a:p>
            <a:pPr marL="357188" marR="0" lvl="0" indent="-357188" algn="l" rtl="0">
              <a:spcAft>
                <a:spcPts val="600"/>
              </a:spcAft>
              <a:buSzPct val="100000"/>
              <a:buChar char="•"/>
            </a:pPr>
            <a:r>
              <a:rPr lang="en-US" sz="1800" dirty="0"/>
              <a:t>Chain Drive</a:t>
            </a:r>
          </a:p>
          <a:p>
            <a:pPr marL="800100" lvl="1" indent="-342900">
              <a:spcAft>
                <a:spcPts val="600"/>
              </a:spcAft>
              <a:buSzPct val="100000"/>
            </a:pPr>
            <a:r>
              <a:rPr lang="en-US" sz="1800" dirty="0"/>
              <a:t>Sprockets on the camshaft and the crankshaft are linked by a continuous chain. Nearly all OHV engines use a chain drive system. Chain drives are also used on many OHC engines, especially DOHCs. Often multiple chains are used and arranged in an elaborate fashion.</a:t>
            </a:r>
          </a:p>
          <a:p>
            <a:pPr marL="357188" marR="0" lvl="0" indent="-357188" algn="l" rtl="0">
              <a:spcAft>
                <a:spcPts val="600"/>
              </a:spcAft>
              <a:buSzPct val="100000"/>
              <a:buChar char="•"/>
            </a:pPr>
            <a:r>
              <a:rPr lang="en-US" sz="1800" dirty="0"/>
              <a:t>Gear Drive</a:t>
            </a:r>
          </a:p>
          <a:p>
            <a:pPr marL="800100" lvl="1" indent="-342900">
              <a:spcAft>
                <a:spcPts val="600"/>
              </a:spcAft>
              <a:buSzPct val="100000"/>
            </a:pPr>
            <a:r>
              <a:rPr lang="en-US" sz="1800" dirty="0"/>
              <a:t>A gear on the crankshaft meshes directly with a gear on the camshaft. The crankshaft gear is usually iron or steel. The camshaft gear is steel on heavy-duty applications, or aluminum or pressed fiber when quiet operation is a major consideration. </a:t>
            </a:r>
            <a:endParaRPr lang="en-US" sz="1200" b="1" dirty="0"/>
          </a:p>
        </p:txBody>
      </p:sp>
    </p:spTree>
    <p:extLst>
      <p:ext uri="{BB962C8B-B14F-4D97-AF65-F5344CB8AC3E}">
        <p14:creationId xmlns:p14="http://schemas.microsoft.com/office/powerpoint/2010/main" val="1602114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Variable </a:t>
            </a:r>
            <a:r>
              <a:rPr lang="en-US"/>
              <a:t>Valve Timing</a:t>
            </a:r>
            <a:endParaRPr lang="en-US" dirty="0"/>
          </a:p>
        </p:txBody>
      </p:sp>
      <p:sp>
        <p:nvSpPr>
          <p:cNvPr id="145" name="Google Shape;145;p4"/>
          <p:cNvSpPr txBox="1">
            <a:spLocks noGrp="1"/>
          </p:cNvSpPr>
          <p:nvPr>
            <p:ph type="body" idx="1"/>
          </p:nvPr>
        </p:nvSpPr>
        <p:spPr>
          <a:xfrm>
            <a:off x="476844" y="1563624"/>
            <a:ext cx="8313866" cy="4459985"/>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600" dirty="0">
                <a:solidFill>
                  <a:schemeClr val="accent1"/>
                </a:solidFill>
              </a:rPr>
              <a:t>The </a:t>
            </a:r>
            <a:r>
              <a:rPr lang="en-US" sz="1600" b="1" dirty="0">
                <a:solidFill>
                  <a:schemeClr val="accent1"/>
                </a:solidFill>
              </a:rPr>
              <a:t>variable valve timing (VVT) </a:t>
            </a:r>
            <a:r>
              <a:rPr lang="en-US" sz="1600" dirty="0">
                <a:solidFill>
                  <a:schemeClr val="accent1"/>
                </a:solidFill>
              </a:rPr>
              <a:t>system electronically adjusts valve overlap by changing exhaust valve opening times in response to engine speed and load.</a:t>
            </a:r>
          </a:p>
          <a:p>
            <a:pPr marL="357188" marR="0" lvl="0" indent="-357188" algn="l" rtl="0">
              <a:spcAft>
                <a:spcPts val="600"/>
              </a:spcAft>
              <a:buSzPct val="100000"/>
              <a:buChar char="•"/>
            </a:pPr>
            <a:r>
              <a:rPr lang="en-US" sz="1600" dirty="0">
                <a:solidFill>
                  <a:schemeClr val="accent1"/>
                </a:solidFill>
              </a:rPr>
              <a:t>The system provides an increase in horsepower and torque. It also reduces fuel consumption and exhaust emissions.</a:t>
            </a:r>
          </a:p>
          <a:p>
            <a:pPr marL="357188" marR="0" lvl="0" indent="-357188" algn="l" rtl="0">
              <a:spcAft>
                <a:spcPts val="600"/>
              </a:spcAft>
              <a:buSzPct val="100000"/>
              <a:buChar char="•"/>
            </a:pPr>
            <a:r>
              <a:rPr lang="en-US" sz="1600" dirty="0">
                <a:solidFill>
                  <a:schemeClr val="accent1"/>
                </a:solidFill>
              </a:rPr>
              <a:t>This VVT system uses a special camshaft and </a:t>
            </a:r>
            <a:r>
              <a:rPr lang="en-US" sz="1600" dirty="0" err="1">
                <a:solidFill>
                  <a:schemeClr val="accent1"/>
                </a:solidFill>
              </a:rPr>
              <a:t>phaser</a:t>
            </a:r>
            <a:r>
              <a:rPr lang="en-US" sz="1600" dirty="0">
                <a:solidFill>
                  <a:schemeClr val="accent1"/>
                </a:solidFill>
              </a:rPr>
              <a:t> attached to the end of the camshaft. Inside the phaser are vanes that move within a fixed cavity inside a sealed hub.</a:t>
            </a:r>
          </a:p>
          <a:p>
            <a:pPr marL="357188" marR="0" lvl="0" indent="-357188" algn="l" rtl="0">
              <a:spcAft>
                <a:spcPts val="600"/>
              </a:spcAft>
              <a:buSzPct val="100000"/>
              <a:buChar char="•"/>
            </a:pPr>
            <a:r>
              <a:rPr lang="en-US" sz="1600" dirty="0">
                <a:solidFill>
                  <a:schemeClr val="accent1"/>
                </a:solidFill>
              </a:rPr>
              <a:t>The movement of the vanes is controlled by oil pressure he applied oil pressure is controlled by the powertrain control module (PCM).</a:t>
            </a:r>
          </a:p>
          <a:p>
            <a:pPr marL="357188" marR="0" lvl="0" indent="-357188" algn="l" rtl="0">
              <a:spcAft>
                <a:spcPts val="600"/>
              </a:spcAft>
              <a:buSzPct val="100000"/>
              <a:buChar char="•"/>
            </a:pPr>
            <a:r>
              <a:rPr lang="en-US" sz="1600" dirty="0">
                <a:solidFill>
                  <a:schemeClr val="accent1"/>
                </a:solidFill>
              </a:rPr>
              <a:t>The PCM transmits a signal to a solenoid to move a valve spool that regulates the flow of oil to the phaser cavity.</a:t>
            </a:r>
          </a:p>
          <a:p>
            <a:pPr marL="357188" marR="0" lvl="0" indent="-357188" algn="l" rtl="0">
              <a:spcAft>
                <a:spcPts val="600"/>
              </a:spcAft>
              <a:buSzPct val="100000"/>
              <a:buChar char="•"/>
            </a:pPr>
            <a:r>
              <a:rPr lang="en-US" sz="1600" dirty="0">
                <a:solidFill>
                  <a:schemeClr val="accent1"/>
                </a:solidFill>
              </a:rPr>
              <a:t>As the applied oil pressure increases, the vanes move against spring pressure. Each vane can rotate a total of 22.5 degrees.</a:t>
            </a:r>
            <a:endParaRPr lang="en-US" sz="1600" b="1" dirty="0">
              <a:solidFill>
                <a:schemeClr val="accent1"/>
              </a:solidFill>
            </a:endParaRPr>
          </a:p>
        </p:txBody>
      </p:sp>
      <p:pic>
        <p:nvPicPr>
          <p:cNvPr id="4" name="Picture Placeholder 3" descr="Two photos, a and b. Photo 'a' displays the V V T vane assembly with return springs fixed inside circular grooves, while photo b depicts the major parts of a V V T phaser.">
            <a:extLst>
              <a:ext uri="{FF2B5EF4-FFF2-40B4-BE49-F238E27FC236}">
                <a16:creationId xmlns:a16="http://schemas.microsoft.com/office/drawing/2014/main" id="{571D3CBB-94DA-C9B4-895A-D2C348A22EC8}"/>
              </a:ext>
            </a:extLst>
          </p:cNvPr>
          <p:cNvPicPr>
            <a:picLocks noGrp="1" noChangeAspect="1"/>
          </p:cNvPicPr>
          <p:nvPr>
            <p:ph type="pic" sz="quarter" idx="10"/>
          </p:nvPr>
        </p:nvPicPr>
        <p:blipFill>
          <a:blip r:embed="rId3"/>
          <a:srcRect b="8085"/>
          <a:stretch/>
        </p:blipFill>
        <p:spPr>
          <a:xfrm>
            <a:off x="8905483" y="1563625"/>
            <a:ext cx="2809674" cy="4099420"/>
          </a:xfrm>
          <a:prstGeom prst="rect">
            <a:avLst/>
          </a:prstGeom>
        </p:spPr>
      </p:pic>
    </p:spTree>
    <p:extLst>
      <p:ext uri="{BB962C8B-B14F-4D97-AF65-F5344CB8AC3E}">
        <p14:creationId xmlns:p14="http://schemas.microsoft.com/office/powerpoint/2010/main" val="1607586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Valve Lifters</a:t>
            </a:r>
            <a:endParaRPr dirty="0"/>
          </a:p>
        </p:txBody>
      </p:sp>
      <p:sp>
        <p:nvSpPr>
          <p:cNvPr id="145" name="Google Shape;145;p4"/>
          <p:cNvSpPr txBox="1">
            <a:spLocks noGrp="1"/>
          </p:cNvSpPr>
          <p:nvPr>
            <p:ph type="body" idx="1"/>
          </p:nvPr>
        </p:nvSpPr>
        <p:spPr>
          <a:xfrm>
            <a:off x="476843" y="1563625"/>
            <a:ext cx="7492983" cy="3953948"/>
          </a:xfrm>
          <a:prstGeom prst="rect">
            <a:avLst/>
          </a:prstGeom>
          <a:noFill/>
          <a:ln>
            <a:noFill/>
          </a:ln>
        </p:spPr>
        <p:txBody>
          <a:bodyPr spcFirstLastPara="1" wrap="square" lIns="91425" tIns="45700" rIns="91425" bIns="45700" anchor="t" anchorCtr="0">
            <a:noAutofit/>
          </a:bodyPr>
          <a:lstStyle/>
          <a:p>
            <a:pPr marL="357188" marR="0" lvl="0" indent="-357188" algn="l" rtl="0">
              <a:lnSpc>
                <a:spcPct val="107000"/>
              </a:lnSpc>
              <a:spcBef>
                <a:spcPts val="0"/>
              </a:spcBef>
              <a:spcAft>
                <a:spcPts val="0"/>
              </a:spcAft>
              <a:buSzPct val="100000"/>
              <a:buChar char="•"/>
            </a:pPr>
            <a:r>
              <a:rPr lang="en-US" sz="1800" b="1" dirty="0"/>
              <a:t>Valve lifters</a:t>
            </a:r>
            <a:r>
              <a:rPr lang="en-US" sz="1800" dirty="0"/>
              <a:t>, sometimes called </a:t>
            </a:r>
            <a:r>
              <a:rPr lang="en-US" sz="1800" b="1" dirty="0"/>
              <a:t>cam followers </a:t>
            </a:r>
            <a:r>
              <a:rPr lang="en-US" sz="1800" dirty="0"/>
              <a:t>or tappets, follow the shape of the cam lobe.</a:t>
            </a:r>
          </a:p>
          <a:p>
            <a:pPr marL="357188" marR="0" lvl="0" indent="-357188" algn="l" rtl="0">
              <a:lnSpc>
                <a:spcPct val="107000"/>
              </a:lnSpc>
              <a:spcBef>
                <a:spcPts val="0"/>
              </a:spcBef>
              <a:spcAft>
                <a:spcPts val="0"/>
              </a:spcAft>
              <a:buSzPct val="100000"/>
              <a:buChar char="•"/>
            </a:pPr>
            <a:r>
              <a:rPr lang="en-US" sz="1800" dirty="0"/>
              <a:t>Solid lifters provide a rigid connection between the camshaft and the valves.</a:t>
            </a:r>
          </a:p>
          <a:p>
            <a:pPr marL="357188" marR="0" lvl="0" indent="-357188" algn="l" rtl="0">
              <a:lnSpc>
                <a:spcPct val="107000"/>
              </a:lnSpc>
              <a:spcBef>
                <a:spcPts val="0"/>
              </a:spcBef>
              <a:spcAft>
                <a:spcPts val="0"/>
              </a:spcAft>
              <a:buSzPct val="100000"/>
              <a:buChar char="•"/>
            </a:pPr>
            <a:r>
              <a:rPr lang="en-US" sz="1800" dirty="0"/>
              <a:t>Hydraulic valve lifters provide the same connection but use oil to absorb the shock that results from the movement of the valve train.</a:t>
            </a:r>
          </a:p>
          <a:p>
            <a:pPr marL="357188" marR="0" lvl="0" indent="-357188" algn="l" rtl="0">
              <a:lnSpc>
                <a:spcPct val="107000"/>
              </a:lnSpc>
              <a:spcBef>
                <a:spcPts val="0"/>
              </a:spcBef>
              <a:spcAft>
                <a:spcPts val="0"/>
              </a:spcAft>
              <a:buSzPct val="100000"/>
              <a:buChar char="•"/>
            </a:pPr>
            <a:r>
              <a:rPr lang="en-US" sz="1800" dirty="0"/>
              <a:t>Hydraulic lifters are designed to automatically compensate for the effects of engine temperature. Changes in temperature cause valve train components to expand and contract. Hydraulic lifters automatically maintain a direct connection between valve train parts.</a:t>
            </a:r>
          </a:p>
          <a:p>
            <a:pPr marL="357188" marR="0" lvl="0" indent="-357188" algn="l" rtl="0">
              <a:lnSpc>
                <a:spcPct val="107000"/>
              </a:lnSpc>
              <a:spcBef>
                <a:spcPts val="0"/>
              </a:spcBef>
              <a:spcAft>
                <a:spcPts val="0"/>
              </a:spcAft>
              <a:buSzPct val="100000"/>
              <a:buChar char="•"/>
            </a:pPr>
            <a:r>
              <a:rPr lang="en-US" sz="1800" dirty="0"/>
              <a:t>Solid lifters require a clearance between the parts of the valve train. This clearance allows for component expansion as the engine gets hot. </a:t>
            </a:r>
          </a:p>
        </p:txBody>
      </p:sp>
      <p:pic>
        <p:nvPicPr>
          <p:cNvPr id="3" name="Picture Placeholder 2" descr="A camshaft’s lobe. The labeled parts are as follows: point of contact, valve lifter, and cam lobe. The diameter of a tape is 0.001 inch.">
            <a:extLst>
              <a:ext uri="{FF2B5EF4-FFF2-40B4-BE49-F238E27FC236}">
                <a16:creationId xmlns:a16="http://schemas.microsoft.com/office/drawing/2014/main" id="{0D975421-3F29-89F7-3294-E0AE96519D51}"/>
              </a:ext>
            </a:extLst>
          </p:cNvPr>
          <p:cNvPicPr>
            <a:picLocks noGrp="1" noChangeAspect="1"/>
          </p:cNvPicPr>
          <p:nvPr>
            <p:ph type="pic" sz="quarter" idx="10"/>
          </p:nvPr>
        </p:nvPicPr>
        <p:blipFill>
          <a:blip r:embed="rId3"/>
          <a:srcRect b="13381"/>
          <a:stretch/>
        </p:blipFill>
        <p:spPr>
          <a:xfrm>
            <a:off x="8172306" y="2100691"/>
            <a:ext cx="3542850" cy="2959682"/>
          </a:xfrm>
          <a:prstGeom prst="rect">
            <a:avLst/>
          </a:prstGeom>
        </p:spPr>
      </p:pic>
    </p:spTree>
    <p:extLst>
      <p:ext uri="{BB962C8B-B14F-4D97-AF65-F5344CB8AC3E}">
        <p14:creationId xmlns:p14="http://schemas.microsoft.com/office/powerpoint/2010/main" val="902755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a:t>
            </a:r>
            <a:r>
              <a:rPr lang="en-US" sz="4000" dirty="0"/>
              <a:t>peration of Hydraulic Valve Lifters</a:t>
            </a:r>
            <a:endParaRPr dirty="0"/>
          </a:p>
        </p:txBody>
      </p:sp>
      <p:sp>
        <p:nvSpPr>
          <p:cNvPr id="145" name="Google Shape;145;p4"/>
          <p:cNvSpPr txBox="1">
            <a:spLocks noGrp="1"/>
          </p:cNvSpPr>
          <p:nvPr>
            <p:ph type="body" idx="1"/>
          </p:nvPr>
        </p:nvSpPr>
        <p:spPr>
          <a:xfrm>
            <a:off x="476843" y="1563625"/>
            <a:ext cx="8950489" cy="4409438"/>
          </a:xfrm>
          <a:prstGeom prst="rect">
            <a:avLst/>
          </a:prstGeom>
          <a:noFill/>
          <a:ln>
            <a:noFill/>
          </a:ln>
        </p:spPr>
        <p:txBody>
          <a:bodyPr spcFirstLastPara="1" wrap="square" lIns="91425" tIns="45700" rIns="91425" bIns="45700" anchor="t" anchorCtr="0">
            <a:noAutofit/>
          </a:bodyPr>
          <a:lstStyle/>
          <a:p>
            <a:pPr marL="357188" marR="0" lvl="0" indent="-357188" algn="l" rtl="0">
              <a:spcBef>
                <a:spcPts val="600"/>
              </a:spcBef>
              <a:spcAft>
                <a:spcPts val="0"/>
              </a:spcAft>
              <a:buSzPct val="100000"/>
              <a:buChar char="•"/>
            </a:pPr>
            <a:r>
              <a:rPr lang="en-US" sz="1800" dirty="0"/>
              <a:t>A hydraulic lifter has a plunger, oil metering valve, pushrod seat, check valve spring, and a plunger return spring housed in a hardened iron body. </a:t>
            </a:r>
          </a:p>
          <a:p>
            <a:pPr marL="357188" marR="0" lvl="0" indent="-357188" algn="l" rtl="0">
              <a:spcBef>
                <a:spcPts val="600"/>
              </a:spcBef>
              <a:spcAft>
                <a:spcPts val="0"/>
              </a:spcAft>
              <a:buSzPct val="100000"/>
              <a:buChar char="•"/>
            </a:pPr>
            <a:r>
              <a:rPr lang="en-US" sz="1800" dirty="0"/>
              <a:t>When the lifter is resting on the cam’s base circle, the valve is closed and the lifter maintains a zero clearance in the valve train.</a:t>
            </a:r>
          </a:p>
          <a:p>
            <a:pPr marL="357188" marR="0" lvl="0" indent="-357188" algn="l" rtl="0">
              <a:spcBef>
                <a:spcPts val="600"/>
              </a:spcBef>
              <a:spcAft>
                <a:spcPts val="0"/>
              </a:spcAft>
              <a:buSzPct val="100000"/>
              <a:buChar char="•"/>
            </a:pPr>
            <a:r>
              <a:rPr lang="en-US" sz="1800" dirty="0"/>
              <a:t>Oil is fed to the lifter through feed holes in its bore. Oil pressure forces the lifter’s check valve closed to keep the oil inside the lifter.</a:t>
            </a:r>
          </a:p>
          <a:p>
            <a:pPr marL="357188" marR="0" lvl="0" indent="-357188" algn="l" rtl="0">
              <a:spcBef>
                <a:spcPts val="600"/>
              </a:spcBef>
              <a:spcAft>
                <a:spcPts val="0"/>
              </a:spcAft>
              <a:buSzPct val="100000"/>
              <a:buChar char="•"/>
            </a:pPr>
            <a:r>
              <a:rPr lang="en-US" sz="1800" dirty="0"/>
              <a:t>When there is some clearance in the valve train, a spring between the plunger and lifter body pushes the plunger up to eliminate the clearance. </a:t>
            </a:r>
          </a:p>
          <a:p>
            <a:pPr marL="357188" marR="0" lvl="0" indent="-357188" algn="l" rtl="0">
              <a:spcBef>
                <a:spcPts val="600"/>
              </a:spcBef>
              <a:spcAft>
                <a:spcPts val="0"/>
              </a:spcAft>
              <a:buSzPct val="100000"/>
              <a:buChar char="•"/>
            </a:pPr>
            <a:r>
              <a:rPr lang="en-US" sz="1800" dirty="0"/>
              <a:t>As the cam lobe turns and opens a valve, the lifter’s oil feed hole moves away from the oil feed in the lifter bore. New oil cannot enter the lifter.</a:t>
            </a:r>
          </a:p>
          <a:p>
            <a:pPr marL="357188" marR="0" lvl="0" indent="-357188" algn="l" rtl="0">
              <a:spcBef>
                <a:spcPts val="600"/>
              </a:spcBef>
              <a:spcAft>
                <a:spcPts val="0"/>
              </a:spcAft>
              <a:buSzPct val="100000"/>
              <a:buChar char="•"/>
            </a:pPr>
            <a:r>
              <a:rPr lang="en-US" sz="1800" dirty="0"/>
              <a:t>The effort to open the valve pushes the lifter’s plunger down slightly. This allows a small amount of oil to leak out; this is called </a:t>
            </a:r>
            <a:r>
              <a:rPr lang="en-US" sz="1800" b="1" dirty="0" err="1"/>
              <a:t>leakdown</a:t>
            </a:r>
            <a:r>
              <a:rPr lang="en-US" sz="1800" dirty="0"/>
              <a:t>. When the lifter returns to the base of the cam, oil can again fill the lifter.</a:t>
            </a:r>
          </a:p>
        </p:txBody>
      </p:sp>
      <p:pic>
        <p:nvPicPr>
          <p:cNvPr id="4" name="Picture Placeholder 3" descr="Hydraulic lift operations in three structures. In the first structure, valve lifter on the cam lobe base circle, the valve is closed and plunger spring eliminates valve lash. In the second structure, the valve lifter on the cam lobe nose, the valve is open and oil is trapped by the check valve. Third: the oil flowing check valve.">
            <a:extLst>
              <a:ext uri="{FF2B5EF4-FFF2-40B4-BE49-F238E27FC236}">
                <a16:creationId xmlns:a16="http://schemas.microsoft.com/office/drawing/2014/main" id="{7C8E63FF-2FC8-0D7F-83EC-27D5F0FAE991}"/>
              </a:ext>
            </a:extLst>
          </p:cNvPr>
          <p:cNvPicPr>
            <a:picLocks noGrp="1" noChangeAspect="1"/>
          </p:cNvPicPr>
          <p:nvPr>
            <p:ph type="pic" sz="quarter" idx="10"/>
          </p:nvPr>
        </p:nvPicPr>
        <p:blipFill>
          <a:blip r:embed="rId3"/>
          <a:srcRect b="3731"/>
          <a:stretch/>
        </p:blipFill>
        <p:spPr>
          <a:xfrm>
            <a:off x="9427332" y="1563625"/>
            <a:ext cx="2287825" cy="4244893"/>
          </a:xfrm>
          <a:prstGeom prst="rect">
            <a:avLst/>
          </a:prstGeom>
        </p:spPr>
      </p:pic>
    </p:spTree>
    <p:extLst>
      <p:ext uri="{BB962C8B-B14F-4D97-AF65-F5344CB8AC3E}">
        <p14:creationId xmlns:p14="http://schemas.microsoft.com/office/powerpoint/2010/main" val="71107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Discussion</a:t>
            </a:r>
            <a:endParaRPr/>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63538" lvl="0" indent="-363538" algn="l" rtl="0">
              <a:lnSpc>
                <a:spcPct val="100000"/>
              </a:lnSpc>
              <a:spcAft>
                <a:spcPts val="0"/>
              </a:spcAft>
              <a:buSzPts val="2400"/>
              <a:buChar char="•"/>
            </a:pPr>
            <a:r>
              <a:rPr lang="en-US" dirty="0"/>
              <a:t>Hydraulic lifters are very common and have mostly replaced solid </a:t>
            </a:r>
            <a:r>
              <a:rPr lang="en-US"/>
              <a:t>lifters.</a:t>
            </a:r>
            <a:endParaRPr dirty="0"/>
          </a:p>
          <a:p>
            <a:pPr marL="363538" lvl="0" indent="-363538" algn="l" rtl="0">
              <a:lnSpc>
                <a:spcPct val="100000"/>
              </a:lnSpc>
              <a:spcAft>
                <a:spcPts val="0"/>
              </a:spcAft>
              <a:buSzPts val="2400"/>
              <a:buChar char="•"/>
            </a:pPr>
            <a:r>
              <a:rPr lang="en-US" dirty="0"/>
              <a:t>Have a class discussion about why you suspect the hydraulic lifter has become more common and what advantages it offers from the perspective of the </a:t>
            </a:r>
            <a:r>
              <a:rPr lang="en-US"/>
              <a:t>customer.</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Cylinder Head (1 of </a:t>
            </a:r>
            <a:r>
              <a:rPr lang="en-US" sz="4000"/>
              <a:t>3)</a:t>
            </a:r>
            <a:endParaRPr dirty="0"/>
          </a:p>
        </p:txBody>
      </p:sp>
      <p:sp>
        <p:nvSpPr>
          <p:cNvPr id="145" name="Google Shape;145;p4"/>
          <p:cNvSpPr txBox="1">
            <a:spLocks noGrp="1"/>
          </p:cNvSpPr>
          <p:nvPr>
            <p:ph type="body" idx="1"/>
          </p:nvPr>
        </p:nvSpPr>
        <p:spPr>
          <a:xfrm>
            <a:off x="476843" y="1563624"/>
            <a:ext cx="7419907" cy="4421539"/>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1600" b="1" dirty="0"/>
              <a:t>12.03 Describe the purpose of an engine’s cylinder head, valves, and related valve </a:t>
            </a:r>
            <a:r>
              <a:rPr lang="en-US" sz="1600" b="1"/>
              <a:t>parts.</a:t>
            </a:r>
            <a:endParaRPr lang="en-US" sz="1600" b="1" dirty="0"/>
          </a:p>
          <a:p>
            <a:pPr marL="357188" marR="0" lvl="0" indent="-357188" algn="l" rtl="0">
              <a:spcAft>
                <a:spcPts val="600"/>
              </a:spcAft>
              <a:buSzPct val="100000"/>
              <a:buChar char="•"/>
            </a:pPr>
            <a:r>
              <a:rPr lang="en-US" sz="1600" dirty="0"/>
              <a:t>On OHV engines, the cylinder head contains the valves, valve seats, valve guides, valve springs, rocker arm supports, and a recessed area that makes up the top portion of the combustion </a:t>
            </a:r>
            <a:r>
              <a:rPr lang="en-US" sz="1600"/>
              <a:t>chamber.</a:t>
            </a:r>
            <a:endParaRPr lang="en-US" sz="1600" dirty="0"/>
          </a:p>
          <a:p>
            <a:pPr marL="357188" marR="0" lvl="0" indent="-357188" algn="l" rtl="0">
              <a:spcAft>
                <a:spcPts val="600"/>
              </a:spcAft>
              <a:buSzPct val="100000"/>
              <a:buChar char="•"/>
            </a:pPr>
            <a:r>
              <a:rPr lang="en-US" sz="1600" dirty="0"/>
              <a:t>On OHC engines, the cylinder head contains these items, plus the supports for the camshaft and camshaft bearings. </a:t>
            </a:r>
          </a:p>
          <a:p>
            <a:pPr marL="357188" marR="0" lvl="0" indent="-357188" algn="l" rtl="0">
              <a:spcAft>
                <a:spcPts val="600"/>
              </a:spcAft>
              <a:buSzPct val="100000"/>
              <a:buChar char="•"/>
            </a:pPr>
            <a:r>
              <a:rPr lang="en-US" sz="1600" dirty="0"/>
              <a:t>All cylinder heads contain passages that match passages in the cylinder </a:t>
            </a:r>
            <a:r>
              <a:rPr lang="en-US" sz="1600"/>
              <a:t>block.</a:t>
            </a:r>
            <a:endParaRPr lang="en-US" sz="1600" dirty="0"/>
          </a:p>
          <a:p>
            <a:pPr marL="357188" marR="0" lvl="0" indent="-357188" algn="l" rtl="0">
              <a:spcAft>
                <a:spcPts val="600"/>
              </a:spcAft>
              <a:buSzPct val="100000"/>
              <a:buChar char="•"/>
            </a:pPr>
            <a:r>
              <a:rPr lang="en-US" sz="1600" dirty="0"/>
              <a:t>These passages allow coolant to circulate in the head and oil to drain back into the oil </a:t>
            </a:r>
            <a:r>
              <a:rPr lang="en-US" sz="1600"/>
              <a:t>pan.</a:t>
            </a:r>
            <a:endParaRPr lang="en-US" sz="1600" dirty="0"/>
          </a:p>
          <a:p>
            <a:pPr marL="357188" marR="0" lvl="0" indent="-357188" algn="l" rtl="0">
              <a:spcAft>
                <a:spcPts val="600"/>
              </a:spcAft>
              <a:buSzPct val="100000"/>
              <a:buChar char="•"/>
            </a:pPr>
            <a:r>
              <a:rPr lang="en-US" sz="1600" dirty="0"/>
              <a:t>Oil also moves through the head to lube the camshaft and valve </a:t>
            </a:r>
            <a:r>
              <a:rPr lang="en-US" sz="1600"/>
              <a:t>train.</a:t>
            </a:r>
            <a:endParaRPr lang="en-US" sz="1600" dirty="0"/>
          </a:p>
          <a:p>
            <a:pPr marL="357188" marR="0" lvl="0" indent="-357188" algn="l" rtl="0">
              <a:spcAft>
                <a:spcPts val="600"/>
              </a:spcAft>
              <a:buSzPct val="100000"/>
              <a:buChar char="•"/>
            </a:pPr>
            <a:r>
              <a:rPr lang="en-US" sz="1600" dirty="0"/>
              <a:t>The cylinder head also has tapped holes for spark plugs. </a:t>
            </a:r>
          </a:p>
        </p:txBody>
      </p:sp>
      <p:pic>
        <p:nvPicPr>
          <p:cNvPr id="3" name="Picture Placeholder 2" descr="The top view of a typical late-model cylinder head.">
            <a:extLst>
              <a:ext uri="{FF2B5EF4-FFF2-40B4-BE49-F238E27FC236}">
                <a16:creationId xmlns:a16="http://schemas.microsoft.com/office/drawing/2014/main" id="{C4411A2F-1008-31D0-CA57-F0DBD415F356}"/>
              </a:ext>
            </a:extLst>
          </p:cNvPr>
          <p:cNvPicPr>
            <a:picLocks noGrp="1" noChangeAspect="1"/>
          </p:cNvPicPr>
          <p:nvPr>
            <p:ph type="pic" sz="quarter" idx="10"/>
          </p:nvPr>
        </p:nvPicPr>
        <p:blipFill>
          <a:blip r:embed="rId3"/>
          <a:srcRect b="9284"/>
          <a:stretch/>
        </p:blipFill>
        <p:spPr>
          <a:xfrm>
            <a:off x="7896751" y="2591142"/>
            <a:ext cx="3818405" cy="2406886"/>
          </a:xfrm>
          <a:prstGeom prst="rect">
            <a:avLst/>
          </a:prstGeom>
        </p:spPr>
      </p:pic>
    </p:spTree>
    <p:extLst>
      <p:ext uri="{BB962C8B-B14F-4D97-AF65-F5344CB8AC3E}">
        <p14:creationId xmlns:p14="http://schemas.microsoft.com/office/powerpoint/2010/main" val="534883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Cylinder Head (2 of </a:t>
            </a:r>
            <a:r>
              <a:rPr lang="en-US" sz="4000"/>
              <a:t>3)</a:t>
            </a:r>
            <a:endParaRPr dirty="0"/>
          </a:p>
        </p:txBody>
      </p:sp>
      <p:sp>
        <p:nvSpPr>
          <p:cNvPr id="145" name="Google Shape;145;p4"/>
          <p:cNvSpPr txBox="1">
            <a:spLocks noGrp="1"/>
          </p:cNvSpPr>
          <p:nvPr>
            <p:ph type="body" idx="1"/>
          </p:nvPr>
        </p:nvSpPr>
        <p:spPr>
          <a:xfrm>
            <a:off x="476844" y="1526046"/>
            <a:ext cx="7607284" cy="4535839"/>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2200" dirty="0">
                <a:solidFill>
                  <a:schemeClr val="accent1"/>
                </a:solidFill>
              </a:rPr>
              <a:t>Ports</a:t>
            </a:r>
          </a:p>
          <a:p>
            <a:pPr marL="717550" lvl="1" indent="-354013">
              <a:buSzPct val="100000"/>
            </a:pPr>
            <a:r>
              <a:rPr lang="en-US" sz="2000" dirty="0">
                <a:solidFill>
                  <a:schemeClr val="accent1"/>
                </a:solidFill>
              </a:rPr>
              <a:t>Intake and exhaust ports are cast into the cylinder head. </a:t>
            </a:r>
          </a:p>
          <a:p>
            <a:pPr marL="717550" lvl="1" indent="-354013">
              <a:buSzPct val="100000"/>
            </a:pPr>
            <a:r>
              <a:rPr lang="en-US" sz="2000" dirty="0">
                <a:solidFill>
                  <a:schemeClr val="accent1"/>
                </a:solidFill>
              </a:rPr>
              <a:t>Normally, there is one port for each valve. </a:t>
            </a:r>
          </a:p>
          <a:p>
            <a:pPr marL="717550" lvl="1" indent="-354013">
              <a:buSzPct val="100000"/>
            </a:pPr>
            <a:r>
              <a:rPr lang="en-US" sz="2000" dirty="0">
                <a:solidFill>
                  <a:schemeClr val="accent1"/>
                </a:solidFill>
              </a:rPr>
              <a:t>The intake and exhaust ports may be located on the same side of the combustion chamber or set on the opposites of the chamber. </a:t>
            </a:r>
          </a:p>
          <a:p>
            <a:pPr marL="717550" lvl="1" indent="-354013">
              <a:buSzPct val="100000"/>
            </a:pPr>
            <a:r>
              <a:rPr lang="en-US" sz="2000" dirty="0">
                <a:solidFill>
                  <a:schemeClr val="accent1"/>
                </a:solidFill>
              </a:rPr>
              <a:t>The ports in this arrangement are called cross-flow ports. </a:t>
            </a:r>
          </a:p>
          <a:p>
            <a:pPr marL="357188" lvl="0" indent="-357188">
              <a:buSzPct val="100000"/>
            </a:pPr>
            <a:r>
              <a:rPr lang="en-US" sz="2200" dirty="0">
                <a:solidFill>
                  <a:schemeClr val="accent1"/>
                </a:solidFill>
              </a:rPr>
              <a:t>The sealing surface of the head must be flat and smooth. To aid in the sealing, a gasket is placed between the head and the block, called the head gasket.</a:t>
            </a:r>
          </a:p>
        </p:txBody>
      </p:sp>
      <p:pic>
        <p:nvPicPr>
          <p:cNvPr id="4" name="Picture Placeholder 3" descr="A view of the exposed intake side of a V 6 cylinder head.">
            <a:extLst>
              <a:ext uri="{FF2B5EF4-FFF2-40B4-BE49-F238E27FC236}">
                <a16:creationId xmlns:a16="http://schemas.microsoft.com/office/drawing/2014/main" id="{E76C73DE-55D1-2B76-5543-8516E59D908B}"/>
              </a:ext>
            </a:extLst>
          </p:cNvPr>
          <p:cNvPicPr>
            <a:picLocks noGrp="1" noChangeAspect="1"/>
          </p:cNvPicPr>
          <p:nvPr>
            <p:ph type="pic" sz="quarter" idx="10"/>
          </p:nvPr>
        </p:nvPicPr>
        <p:blipFill>
          <a:blip r:embed="rId3"/>
          <a:srcRect b="15861"/>
          <a:stretch/>
        </p:blipFill>
        <p:spPr>
          <a:xfrm>
            <a:off x="7975482" y="2708377"/>
            <a:ext cx="3739675" cy="2040268"/>
          </a:xfrm>
          <a:prstGeom prst="rect">
            <a:avLst/>
          </a:prstGeom>
        </p:spPr>
      </p:pic>
    </p:spTree>
    <p:extLst>
      <p:ext uri="{BB962C8B-B14F-4D97-AF65-F5344CB8AC3E}">
        <p14:creationId xmlns:p14="http://schemas.microsoft.com/office/powerpoint/2010/main" val="10463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Cylinder Head (3 of 3)</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800" dirty="0"/>
              <a:t>The performance of an engine, its fuel efficiency, and its exhaust emissions depend to a large extent on the shape of the combustion chamber.</a:t>
            </a:r>
          </a:p>
          <a:p>
            <a:pPr marL="357188" marR="0" lvl="0" indent="-357188" algn="l" rtl="0">
              <a:spcAft>
                <a:spcPts val="600"/>
              </a:spcAft>
              <a:buSzPct val="100000"/>
              <a:buChar char="•"/>
            </a:pPr>
            <a:r>
              <a:rPr lang="en-US" sz="1800" dirty="0"/>
              <a:t>The point of ignition should be at the center of the combustion chamber to minimize the distance from the spark to the furthest point in the chamber.</a:t>
            </a:r>
          </a:p>
          <a:p>
            <a:pPr marL="717550" lvl="1" indent="-354013">
              <a:spcAft>
                <a:spcPts val="600"/>
              </a:spcAft>
              <a:buSzPct val="100000"/>
              <a:buFont typeface="+mj-lt"/>
              <a:buAutoNum type="arabicPeriod"/>
            </a:pPr>
            <a:r>
              <a:rPr lang="en-US" sz="1600" b="1" dirty="0"/>
              <a:t>Turbulence</a:t>
            </a:r>
            <a:r>
              <a:rPr lang="en-US" sz="1600" dirty="0"/>
              <a:t> is the very rapid movement of gases. Turbulence improves combustion because the air and fuel are mixed better.</a:t>
            </a:r>
          </a:p>
          <a:p>
            <a:pPr marL="717550" lvl="1" indent="-354013">
              <a:spcAft>
                <a:spcPts val="600"/>
              </a:spcAft>
              <a:buSzPct val="100000"/>
              <a:buFont typeface="+mj-lt"/>
              <a:buAutoNum type="arabicPeriod"/>
            </a:pPr>
            <a:r>
              <a:rPr lang="en-US" sz="1600" dirty="0"/>
              <a:t>Quenching is the mixing of gases by pressing them into a thin area, called the quench area.</a:t>
            </a:r>
          </a:p>
          <a:p>
            <a:pPr marL="357188" marR="0" lvl="0" indent="-357188" algn="l" rtl="0">
              <a:spcAft>
                <a:spcPts val="600"/>
              </a:spcAft>
              <a:buSzPct val="100000"/>
              <a:buChar char="•"/>
            </a:pPr>
            <a:r>
              <a:rPr lang="en-US" sz="1800" dirty="0"/>
              <a:t>In the </a:t>
            </a:r>
            <a:r>
              <a:rPr lang="en-US" sz="1800" b="1" dirty="0"/>
              <a:t>wedge-type combustion chamber</a:t>
            </a:r>
            <a:r>
              <a:rPr lang="en-US" sz="1800" dirty="0"/>
              <a:t>, the spark plug is located at the wide part of the wedge. The spark travels from a large area in the chamber to a smaller one, in the quench area.</a:t>
            </a:r>
          </a:p>
          <a:p>
            <a:pPr marL="357188" marR="0" lvl="0" indent="-357188" algn="l" rtl="0">
              <a:spcAft>
                <a:spcPts val="600"/>
              </a:spcAft>
              <a:buSzPct val="100000"/>
              <a:buChar char="•"/>
            </a:pPr>
            <a:r>
              <a:rPr lang="en-US" sz="1800" dirty="0"/>
              <a:t>The </a:t>
            </a:r>
            <a:r>
              <a:rPr lang="en-US" sz="1800" b="1" dirty="0"/>
              <a:t>hemispherical combustion chamber </a:t>
            </a:r>
            <a:r>
              <a:rPr lang="en-US" sz="1800" dirty="0"/>
              <a:t>is so named because of its basic shape. Hemi is defined as half, and spherical means circle, and the combustion chamber is shaped like a half circle.</a:t>
            </a:r>
          </a:p>
        </p:txBody>
      </p:sp>
    </p:spTree>
    <p:extLst>
      <p:ext uri="{BB962C8B-B14F-4D97-AF65-F5344CB8AC3E}">
        <p14:creationId xmlns:p14="http://schemas.microsoft.com/office/powerpoint/2010/main" val="3839241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Intake and Exhaust Valves (</a:t>
            </a:r>
            <a:r>
              <a:rPr lang="en-US" dirty="0"/>
              <a:t>1</a:t>
            </a:r>
            <a:r>
              <a:rPr lang="en-US" sz="4000" dirty="0"/>
              <a:t> of </a:t>
            </a:r>
            <a:r>
              <a:rPr lang="en-US" sz="4000"/>
              <a:t>4)</a:t>
            </a:r>
            <a:endParaRPr dirty="0"/>
          </a:p>
        </p:txBody>
      </p:sp>
      <p:sp>
        <p:nvSpPr>
          <p:cNvPr id="145" name="Google Shape;145;p4"/>
          <p:cNvSpPr txBox="1">
            <a:spLocks noGrp="1"/>
          </p:cNvSpPr>
          <p:nvPr>
            <p:ph type="body" idx="1"/>
          </p:nvPr>
        </p:nvSpPr>
        <p:spPr>
          <a:xfrm>
            <a:off x="476843" y="1563625"/>
            <a:ext cx="7752757" cy="4483884"/>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400" dirty="0"/>
              <a:t>The intake and exhaust valves are also called poppet valves. </a:t>
            </a:r>
          </a:p>
          <a:p>
            <a:pPr marL="357188" marR="0" lvl="0" indent="-357188" algn="l" rtl="0">
              <a:spcAft>
                <a:spcPts val="600"/>
              </a:spcAft>
              <a:buSzPct val="100000"/>
              <a:buChar char="•"/>
            </a:pPr>
            <a:r>
              <a:rPr lang="en-US" sz="2400" dirty="0"/>
              <a:t>They tend to pop open and close.</a:t>
            </a:r>
          </a:p>
          <a:p>
            <a:pPr marL="357188" marR="0" lvl="0" indent="-357188" algn="l" rtl="0">
              <a:spcAft>
                <a:spcPts val="600"/>
              </a:spcAft>
              <a:buSzPct val="100000"/>
              <a:buChar char="•"/>
            </a:pPr>
            <a:r>
              <a:rPr lang="en-US" sz="2400" dirty="0"/>
              <a:t>When they open, intake air flows into the combustion chamber or exhaust gases leave it.</a:t>
            </a:r>
          </a:p>
          <a:p>
            <a:pPr marL="357188" marR="0" lvl="0" indent="-357188" algn="l" rtl="0">
              <a:spcAft>
                <a:spcPts val="600"/>
              </a:spcAft>
              <a:buSzPct val="100000"/>
              <a:buChar char="•"/>
            </a:pPr>
            <a:r>
              <a:rPr lang="en-US" sz="2400" dirty="0"/>
              <a:t>When closed, they seal the chamber.</a:t>
            </a:r>
          </a:p>
          <a:p>
            <a:pPr marL="357188" marR="0" lvl="0" indent="-357188" algn="l" rtl="0">
              <a:spcAft>
                <a:spcPts val="600"/>
              </a:spcAft>
              <a:buSzPct val="100000"/>
              <a:buChar char="•"/>
            </a:pPr>
            <a:r>
              <a:rPr lang="en-US" sz="2400" dirty="0"/>
              <a:t>An exhaust valve can be smaller because exhaust gases move more easily than intake air.</a:t>
            </a:r>
          </a:p>
        </p:txBody>
      </p:sp>
      <p:pic>
        <p:nvPicPr>
          <p:cNvPr id="4" name="Picture Placeholder 3" descr="A poppet valve features a disk-shaped head connected to a stem.">
            <a:extLst>
              <a:ext uri="{FF2B5EF4-FFF2-40B4-BE49-F238E27FC236}">
                <a16:creationId xmlns:a16="http://schemas.microsoft.com/office/drawing/2014/main" id="{62961794-BA83-B452-CCD2-59D44B462202}"/>
              </a:ext>
            </a:extLst>
          </p:cNvPr>
          <p:cNvPicPr>
            <a:picLocks noGrp="1" noChangeAspect="1"/>
          </p:cNvPicPr>
          <p:nvPr>
            <p:ph type="pic" sz="quarter" idx="10"/>
          </p:nvPr>
        </p:nvPicPr>
        <p:blipFill>
          <a:blip r:embed="rId3"/>
          <a:srcRect b="8814"/>
          <a:stretch/>
        </p:blipFill>
        <p:spPr>
          <a:xfrm>
            <a:off x="8780675" y="2067763"/>
            <a:ext cx="2934482" cy="3439420"/>
          </a:xfrm>
          <a:prstGeom prst="rect">
            <a:avLst/>
          </a:prstGeom>
        </p:spPr>
      </p:pic>
    </p:spTree>
    <p:extLst>
      <p:ext uri="{BB962C8B-B14F-4D97-AF65-F5344CB8AC3E}">
        <p14:creationId xmlns:p14="http://schemas.microsoft.com/office/powerpoint/2010/main" val="3497706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Intake and Exhaust Valves (2 of 4)</a:t>
            </a:r>
            <a:endParaRPr dirty="0"/>
          </a:p>
        </p:txBody>
      </p:sp>
      <p:sp>
        <p:nvSpPr>
          <p:cNvPr id="145" name="Google Shape;145;p4"/>
          <p:cNvSpPr txBox="1">
            <a:spLocks noGrp="1"/>
          </p:cNvSpPr>
          <p:nvPr>
            <p:ph type="body" idx="1"/>
          </p:nvPr>
        </p:nvSpPr>
        <p:spPr>
          <a:xfrm>
            <a:off x="476843" y="1563624"/>
            <a:ext cx="8386602" cy="4535839"/>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800" dirty="0"/>
              <a:t>Most valves are made from hardened steel, steel alloys, or stainless steel. Other metals are often used in high-performance </a:t>
            </a:r>
            <a:r>
              <a:rPr lang="en-US" sz="1800"/>
              <a:t>valves.</a:t>
            </a:r>
            <a:endParaRPr lang="en-US" sz="1800" dirty="0"/>
          </a:p>
          <a:p>
            <a:pPr marL="357188" marR="0" lvl="0" indent="-357188" algn="l" rtl="0">
              <a:spcAft>
                <a:spcPts val="600"/>
              </a:spcAft>
              <a:buSzPct val="100000"/>
              <a:buChar char="•"/>
            </a:pPr>
            <a:r>
              <a:rPr lang="en-US" sz="1800" dirty="0"/>
              <a:t>The material used to make a valve must be able to withstand high temperatures and be able to dissipate the heat quickly. Most of the heat is dissipated through the contact of the valve face and </a:t>
            </a:r>
            <a:r>
              <a:rPr lang="en-US" sz="1800"/>
              <a:t>seat.</a:t>
            </a:r>
            <a:endParaRPr lang="en-US" sz="1800" dirty="0"/>
          </a:p>
          <a:p>
            <a:pPr marL="357188" marR="0" lvl="0" indent="-357188" algn="l" rtl="0">
              <a:spcAft>
                <a:spcPts val="600"/>
              </a:spcAft>
              <a:buSzPct val="100000"/>
              <a:buChar char="•"/>
            </a:pPr>
            <a:r>
              <a:rPr lang="en-US" sz="1800" dirty="0"/>
              <a:t>The heat then moves through the cylinder head to its coolant </a:t>
            </a:r>
            <a:r>
              <a:rPr lang="en-US" sz="1800"/>
              <a:t>passages.</a:t>
            </a:r>
            <a:endParaRPr lang="en-US" sz="1800" dirty="0"/>
          </a:p>
          <a:p>
            <a:pPr marL="357188" marR="0" lvl="0" indent="-357188" algn="l" rtl="0">
              <a:spcAft>
                <a:spcPts val="600"/>
              </a:spcAft>
              <a:buSzPct val="100000"/>
              <a:buChar char="•"/>
            </a:pPr>
            <a:r>
              <a:rPr lang="en-US" sz="1800" dirty="0"/>
              <a:t>Heat is also transferred through the valve stem to the valve guide and again to the cylinder </a:t>
            </a:r>
            <a:r>
              <a:rPr lang="en-US" sz="1800"/>
              <a:t>head.</a:t>
            </a:r>
            <a:endParaRPr lang="en-US" sz="1800" dirty="0"/>
          </a:p>
          <a:p>
            <a:pPr marL="357188" marR="0" lvl="0" indent="-357188" algn="l" rtl="0">
              <a:spcAft>
                <a:spcPts val="600"/>
              </a:spcAft>
              <a:buSzPct val="100000"/>
              <a:buChar char="•"/>
            </a:pPr>
            <a:r>
              <a:rPr lang="en-US" sz="1800" dirty="0"/>
              <a:t>Intake and exhaust valves are typically made with different </a:t>
            </a:r>
            <a:r>
              <a:rPr lang="en-US" sz="1800"/>
              <a:t>materials.</a:t>
            </a:r>
            <a:endParaRPr lang="en-US" sz="1800" dirty="0"/>
          </a:p>
          <a:p>
            <a:pPr marL="357188" marR="0" lvl="0" indent="-357188" algn="l" rtl="0">
              <a:spcAft>
                <a:spcPts val="600"/>
              </a:spcAft>
              <a:buSzPct val="100000"/>
              <a:buChar char="•"/>
            </a:pPr>
            <a:r>
              <a:rPr lang="en-US" sz="1800" dirty="0"/>
              <a:t>Intake valves run cooler than exhaust valves. Therefore, intake valves need less heat </a:t>
            </a:r>
            <a:r>
              <a:rPr lang="en-US" sz="1800"/>
              <a:t>resistance.</a:t>
            </a:r>
            <a:endParaRPr lang="en-US" sz="1050" dirty="0"/>
          </a:p>
        </p:txBody>
      </p:sp>
      <p:pic>
        <p:nvPicPr>
          <p:cNvPr id="3" name="Picture Placeholder 2" descr="Arrows indicate heat dissipation from the valve stem through liquid passages in the cylinder head, transferring to the cooling system via the valve guide.">
            <a:extLst>
              <a:ext uri="{FF2B5EF4-FFF2-40B4-BE49-F238E27FC236}">
                <a16:creationId xmlns:a16="http://schemas.microsoft.com/office/drawing/2014/main" id="{88A321C0-CDBB-BCA4-65F0-418B8C072BEE}"/>
              </a:ext>
            </a:extLst>
          </p:cNvPr>
          <p:cNvPicPr>
            <a:picLocks noGrp="1" noChangeAspect="1"/>
          </p:cNvPicPr>
          <p:nvPr>
            <p:ph type="pic" sz="quarter" idx="10"/>
          </p:nvPr>
        </p:nvPicPr>
        <p:blipFill>
          <a:blip r:embed="rId3"/>
          <a:srcRect b="14829"/>
          <a:stretch/>
        </p:blipFill>
        <p:spPr>
          <a:xfrm>
            <a:off x="8780480" y="2227156"/>
            <a:ext cx="3038587" cy="2687744"/>
          </a:xfrm>
          <a:prstGeom prst="rect">
            <a:avLst/>
          </a:prstGeom>
        </p:spPr>
      </p:pic>
    </p:spTree>
    <p:extLst>
      <p:ext uri="{BB962C8B-B14F-4D97-AF65-F5344CB8AC3E}">
        <p14:creationId xmlns:p14="http://schemas.microsoft.com/office/powerpoint/2010/main" val="1512406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Intake and Exhaust Valves (3 of 4</a:t>
            </a:r>
            <a:r>
              <a:rPr lang="en-US" dirty="0"/>
              <a:t>)</a:t>
            </a:r>
            <a:endParaRPr dirty="0"/>
          </a:p>
        </p:txBody>
      </p:sp>
      <p:sp>
        <p:nvSpPr>
          <p:cNvPr id="145" name="Google Shape;145;p4"/>
          <p:cNvSpPr txBox="1">
            <a:spLocks noGrp="1"/>
          </p:cNvSpPr>
          <p:nvPr>
            <p:ph type="body" idx="1"/>
          </p:nvPr>
        </p:nvSpPr>
        <p:spPr>
          <a:xfrm>
            <a:off x="476843" y="1563624"/>
            <a:ext cx="8193219" cy="4650139"/>
          </a:xfrm>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SzPct val="100000"/>
              <a:buChar char="•"/>
            </a:pPr>
            <a:r>
              <a:rPr lang="en-US" sz="1800" dirty="0"/>
              <a:t>Valve guides support the valves and prevent them from moving in any direction other than up and down.</a:t>
            </a:r>
          </a:p>
          <a:p>
            <a:pPr marL="357188" marR="0" lvl="0" indent="-357188" algn="l" rtl="0">
              <a:spcAft>
                <a:spcPts val="400"/>
              </a:spcAft>
              <a:buSzPct val="100000"/>
              <a:buChar char="•"/>
            </a:pPr>
            <a:r>
              <a:rPr lang="en-US" sz="1800" dirty="0"/>
              <a:t>The inside diameter of a guide is machined to provide a very small clearance with the valve stem.</a:t>
            </a:r>
          </a:p>
          <a:p>
            <a:pPr marL="357188" marR="0" lvl="0" indent="-357188" algn="l" rtl="0">
              <a:spcAft>
                <a:spcPts val="400"/>
              </a:spcAft>
              <a:buSzPct val="100000"/>
              <a:buChar char="•"/>
            </a:pPr>
            <a:r>
              <a:rPr lang="en-US" sz="1800" dirty="0"/>
              <a:t>This clearance is important for the following reasons:</a:t>
            </a:r>
          </a:p>
          <a:p>
            <a:pPr marL="717550" lvl="1" indent="-354013">
              <a:spcAft>
                <a:spcPts val="400"/>
              </a:spcAft>
              <a:buSzPct val="100000"/>
            </a:pPr>
            <a:r>
              <a:rPr lang="en-US" sz="1600" dirty="0"/>
              <a:t>It keeps oil from being drawn into the combustion chamber during the intake stroke, and it keeps oil from leaking into the exhaust port when the pressure in the exhaust port is lower than the pressure in the crankcase.</a:t>
            </a:r>
          </a:p>
          <a:p>
            <a:pPr marL="717550" lvl="1" indent="-354013">
              <a:spcAft>
                <a:spcPts val="400"/>
              </a:spcAft>
              <a:buSzPct val="100000"/>
            </a:pPr>
            <a:r>
              <a:rPr lang="en-US" sz="1600" dirty="0"/>
              <a:t>It keeps exhaust gases from leaking into the crankcase past the exhaust valve stems during the exhaust stroke.</a:t>
            </a:r>
          </a:p>
          <a:p>
            <a:pPr marL="717550" lvl="1" indent="-354013">
              <a:spcAft>
                <a:spcPts val="400"/>
              </a:spcAft>
              <a:buSzPct val="100000"/>
            </a:pPr>
            <a:r>
              <a:rPr lang="en-US" sz="1600" dirty="0"/>
              <a:t>It keeps the valve face in perfect alignment with the valve seat.</a:t>
            </a:r>
          </a:p>
          <a:p>
            <a:pPr marL="363538" indent="-363538">
              <a:spcAft>
                <a:spcPts val="400"/>
              </a:spcAft>
              <a:buSzPct val="100000"/>
            </a:pPr>
            <a:r>
              <a:rPr lang="en-US" sz="1800" dirty="0"/>
              <a:t>Valve guides can be cast integrally with the head, or they can be removable.</a:t>
            </a:r>
          </a:p>
        </p:txBody>
      </p:sp>
      <p:pic>
        <p:nvPicPr>
          <p:cNvPr id="4" name="Picture Placeholder 3" descr="Two illustrations, A and B. In part A, a valve has an integral valve guide fitted to it. In part B, a valve has a removable valve guide fitted to it.">
            <a:extLst>
              <a:ext uri="{FF2B5EF4-FFF2-40B4-BE49-F238E27FC236}">
                <a16:creationId xmlns:a16="http://schemas.microsoft.com/office/drawing/2014/main" id="{FDD714F1-6CA3-4755-95F7-32B0A2217344}"/>
              </a:ext>
            </a:extLst>
          </p:cNvPr>
          <p:cNvPicPr>
            <a:picLocks noGrp="1" noChangeAspect="1"/>
          </p:cNvPicPr>
          <p:nvPr>
            <p:ph type="pic" sz="quarter" idx="10"/>
          </p:nvPr>
        </p:nvPicPr>
        <p:blipFill>
          <a:blip r:embed="rId3"/>
          <a:srcRect b="15220"/>
          <a:stretch/>
        </p:blipFill>
        <p:spPr>
          <a:xfrm>
            <a:off x="8770270" y="2958677"/>
            <a:ext cx="3045095" cy="1654887"/>
          </a:xfrm>
          <a:prstGeom prst="rect">
            <a:avLst/>
          </a:prstGeom>
        </p:spPr>
      </p:pic>
    </p:spTree>
    <p:extLst>
      <p:ext uri="{BB962C8B-B14F-4D97-AF65-F5344CB8AC3E}">
        <p14:creationId xmlns:p14="http://schemas.microsoft.com/office/powerpoint/2010/main" val="1041729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Intake and Exhaust Valves (</a:t>
            </a:r>
            <a:r>
              <a:rPr lang="en-US" dirty="0"/>
              <a:t>4</a:t>
            </a:r>
            <a:r>
              <a:rPr lang="en-US" sz="4000" dirty="0"/>
              <a:t> of 4)</a:t>
            </a:r>
            <a:endParaRPr dirty="0"/>
          </a:p>
        </p:txBody>
      </p:sp>
      <p:sp>
        <p:nvSpPr>
          <p:cNvPr id="145" name="Google Shape;145;p4"/>
          <p:cNvSpPr txBox="1">
            <a:spLocks noGrp="1"/>
          </p:cNvSpPr>
          <p:nvPr>
            <p:ph type="body" idx="1"/>
          </p:nvPr>
        </p:nvSpPr>
        <p:spPr>
          <a:xfrm>
            <a:off x="476843" y="1563625"/>
            <a:ext cx="8552857" cy="4525448"/>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800" dirty="0">
                <a:solidFill>
                  <a:schemeClr val="accent1"/>
                </a:solidFill>
              </a:rPr>
              <a:t>Rocker Arms: Rocker arms change the direction of the cam’s lifting </a:t>
            </a:r>
            <a:r>
              <a:rPr lang="en-US" sz="1800">
                <a:solidFill>
                  <a:schemeClr val="accent1"/>
                </a:solidFill>
              </a:rPr>
              <a:t>force.</a:t>
            </a:r>
            <a:endParaRPr lang="en-US" sz="1800" dirty="0">
              <a:solidFill>
                <a:schemeClr val="accent1"/>
              </a:solidFill>
            </a:endParaRPr>
          </a:p>
          <a:p>
            <a:pPr marL="357188" marR="0" lvl="0" indent="-357188" algn="l" rtl="0">
              <a:spcAft>
                <a:spcPts val="600"/>
              </a:spcAft>
              <a:buSzPct val="100000"/>
              <a:buChar char="•"/>
            </a:pPr>
            <a:r>
              <a:rPr lang="en-US" sz="1800" dirty="0">
                <a:solidFill>
                  <a:schemeClr val="accent1"/>
                </a:solidFill>
              </a:rPr>
              <a:t>As the lifter and pushrod move upward, the rocker arm pivots at its center point which pushes the valve </a:t>
            </a:r>
            <a:r>
              <a:rPr lang="en-US" sz="1800">
                <a:solidFill>
                  <a:schemeClr val="accent1"/>
                </a:solidFill>
              </a:rPr>
              <a:t>down.</a:t>
            </a:r>
            <a:endParaRPr lang="en-US" sz="1800" dirty="0">
              <a:solidFill>
                <a:schemeClr val="accent1"/>
              </a:solidFill>
            </a:endParaRPr>
          </a:p>
          <a:p>
            <a:pPr marL="357188" marR="0" lvl="0" indent="-357188" algn="l" rtl="0">
              <a:spcAft>
                <a:spcPts val="600"/>
              </a:spcAft>
              <a:buSzPct val="100000"/>
              <a:buChar char="•"/>
            </a:pPr>
            <a:r>
              <a:rPr lang="en-US" sz="1800" dirty="0">
                <a:solidFill>
                  <a:schemeClr val="accent1"/>
                </a:solidFill>
              </a:rPr>
              <a:t>Rocker arms also allow the valve to open farther than the actual lift of the cam </a:t>
            </a:r>
            <a:r>
              <a:rPr lang="en-US" sz="1800">
                <a:solidFill>
                  <a:schemeClr val="accent1"/>
                </a:solidFill>
              </a:rPr>
              <a:t>lobe.</a:t>
            </a:r>
            <a:endParaRPr lang="en-US" sz="1800" dirty="0">
              <a:solidFill>
                <a:schemeClr val="accent1"/>
              </a:solidFill>
            </a:endParaRPr>
          </a:p>
          <a:p>
            <a:pPr marL="357188" marR="0" lvl="0" indent="-357188" algn="l" rtl="0">
              <a:spcAft>
                <a:spcPts val="600"/>
              </a:spcAft>
              <a:buSzPct val="100000"/>
              <a:buChar char="•"/>
            </a:pPr>
            <a:r>
              <a:rPr lang="en-US" sz="1800" dirty="0">
                <a:solidFill>
                  <a:schemeClr val="accent1"/>
                </a:solidFill>
              </a:rPr>
              <a:t>Pushrods: In an OHV engine, a pushrod is the connecting link between the rocker arm and the valve lifter. They transmit the rotation of the camshaft to the valves. The pushrods may have a hole in the center to allow oil to pass from the lifter to the rocker arm </a:t>
            </a:r>
            <a:r>
              <a:rPr lang="en-US" sz="1800">
                <a:solidFill>
                  <a:schemeClr val="accent1"/>
                </a:solidFill>
              </a:rPr>
              <a:t>assembly.</a:t>
            </a:r>
            <a:endParaRPr lang="en-US" sz="1800" dirty="0">
              <a:solidFill>
                <a:schemeClr val="accent1"/>
              </a:solidFill>
            </a:endParaRPr>
          </a:p>
          <a:p>
            <a:pPr marL="357188" marR="0" lvl="0" indent="-357188" algn="l" rtl="0">
              <a:spcAft>
                <a:spcPts val="600"/>
              </a:spcAft>
              <a:buSzPct val="100000"/>
              <a:buChar char="•"/>
            </a:pPr>
            <a:r>
              <a:rPr lang="en-US" sz="1800" dirty="0">
                <a:solidFill>
                  <a:schemeClr val="accent1"/>
                </a:solidFill>
              </a:rPr>
              <a:t>Found on some OHC engines, cam followers are cups that provide a surface for the cam lobes to move the valves. Some followers have a hydraulic unit that fits under the cup to maintain proper valve </a:t>
            </a:r>
            <a:r>
              <a:rPr lang="en-US" sz="1800">
                <a:solidFill>
                  <a:schemeClr val="accent1"/>
                </a:solidFill>
              </a:rPr>
              <a:t>clearance.</a:t>
            </a:r>
            <a:endParaRPr lang="en-US" sz="1800" dirty="0">
              <a:solidFill>
                <a:schemeClr val="accent1"/>
              </a:solidFill>
            </a:endParaRPr>
          </a:p>
        </p:txBody>
      </p:sp>
      <p:pic>
        <p:nvPicPr>
          <p:cNvPr id="7" name="Picture Placeholder 6" descr="The working of a push-rod in an O H V engine. Inward arrows indicate oil flows through lifter and outward arrow indicates oil leaves through the rocker arm assembly. The parts labeled are as follows: camshaft, lifter, and push-rod.">
            <a:extLst>
              <a:ext uri="{FF2B5EF4-FFF2-40B4-BE49-F238E27FC236}">
                <a16:creationId xmlns:a16="http://schemas.microsoft.com/office/drawing/2014/main" id="{061ADE95-DB92-7304-99A3-6775CE7F6FC8}"/>
              </a:ext>
            </a:extLst>
          </p:cNvPr>
          <p:cNvPicPr>
            <a:picLocks noGrp="1" noChangeAspect="1"/>
          </p:cNvPicPr>
          <p:nvPr>
            <p:ph type="pic" sz="quarter" idx="10"/>
          </p:nvPr>
        </p:nvPicPr>
        <p:blipFill>
          <a:blip r:embed="rId3"/>
          <a:srcRect b="18580"/>
          <a:stretch/>
        </p:blipFill>
        <p:spPr>
          <a:xfrm>
            <a:off x="9159133" y="1645204"/>
            <a:ext cx="2556024" cy="1783796"/>
          </a:xfrm>
          <a:prstGeom prst="rect">
            <a:avLst/>
          </a:prstGeom>
        </p:spPr>
      </p:pic>
      <p:pic>
        <p:nvPicPr>
          <p:cNvPr id="8" name="Picture Placeholder 7" descr="An adjustable shim is located within a tappet beneath a camshaft. The top of the shim is contacted by a cam lobe on the camshaft. A cutaway on the tappet exposes the adjustable shim.">
            <a:extLst>
              <a:ext uri="{FF2B5EF4-FFF2-40B4-BE49-F238E27FC236}">
                <a16:creationId xmlns:a16="http://schemas.microsoft.com/office/drawing/2014/main" id="{39390720-0B5C-3A92-1A6E-2C101FE88173}"/>
              </a:ext>
            </a:extLst>
          </p:cNvPr>
          <p:cNvPicPr>
            <a:picLocks noGrp="1" noChangeAspect="1"/>
          </p:cNvPicPr>
          <p:nvPr>
            <p:ph type="pic" sz="quarter" idx="11"/>
          </p:nvPr>
        </p:nvPicPr>
        <p:blipFill>
          <a:blip r:embed="rId4"/>
          <a:srcRect b="15626"/>
          <a:stretch/>
        </p:blipFill>
        <p:spPr>
          <a:xfrm>
            <a:off x="9159133" y="3975100"/>
            <a:ext cx="2559625" cy="1615209"/>
          </a:xfrm>
          <a:prstGeom prst="rect">
            <a:avLst/>
          </a:prstGeom>
        </p:spPr>
      </p:pic>
    </p:spTree>
    <p:extLst>
      <p:ext uri="{BB962C8B-B14F-4D97-AF65-F5344CB8AC3E}">
        <p14:creationId xmlns:p14="http://schemas.microsoft.com/office/powerpoint/2010/main" val="3516672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a:t>Multi</a:t>
            </a:r>
            <a:r>
              <a:rPr lang="en-US"/>
              <a:t>v</a:t>
            </a:r>
            <a:r>
              <a:rPr lang="en-US" sz="4000"/>
              <a:t>alve Engines</a:t>
            </a:r>
            <a:endParaRPr dirty="0"/>
          </a:p>
        </p:txBody>
      </p:sp>
      <p:sp>
        <p:nvSpPr>
          <p:cNvPr id="145" name="Google Shape;145;p4"/>
          <p:cNvSpPr txBox="1">
            <a:spLocks noGrp="1"/>
          </p:cNvSpPr>
          <p:nvPr>
            <p:ph type="body" idx="1"/>
          </p:nvPr>
        </p:nvSpPr>
        <p:spPr>
          <a:xfrm>
            <a:off x="476844" y="1563624"/>
            <a:ext cx="8216219" cy="4535839"/>
          </a:xfrm>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SzPct val="100000"/>
              <a:buChar char="•"/>
            </a:pPr>
            <a:r>
              <a:rPr lang="en-US" sz="1800" dirty="0"/>
              <a:t>Most newer engines use multivalve arrangements.</a:t>
            </a:r>
          </a:p>
          <a:p>
            <a:pPr marL="357188" marR="0" lvl="0" indent="-357188" algn="l" rtl="0">
              <a:spcAft>
                <a:spcPts val="400"/>
              </a:spcAft>
              <a:buSzPct val="100000"/>
              <a:buChar char="•"/>
            </a:pPr>
            <a:r>
              <a:rPr lang="en-US" sz="1800" dirty="0"/>
              <a:t>The basic reason for using more than one intake and/or exhaust valve is simple—better efficiency.</a:t>
            </a:r>
          </a:p>
          <a:p>
            <a:pPr marL="357188" marR="0" lvl="0" indent="-357188" algn="l" rtl="0">
              <a:spcAft>
                <a:spcPts val="400"/>
              </a:spcAft>
              <a:buSzPct val="100000"/>
              <a:buChar char="•"/>
            </a:pPr>
            <a:r>
              <a:rPr lang="en-US" sz="1800" dirty="0"/>
              <a:t>To improve efficiency, the flow in and out of the combustion chamber must be improved. In the past, this was attempted by making the valves larger and by changing valve timing.</a:t>
            </a:r>
          </a:p>
          <a:p>
            <a:pPr marL="357188" marR="0" lvl="0" indent="-357188" algn="l" rtl="0">
              <a:spcAft>
                <a:spcPts val="400"/>
              </a:spcAft>
              <a:buSzPct val="100000"/>
              <a:buChar char="•"/>
            </a:pPr>
            <a:r>
              <a:rPr lang="en-US" sz="1800" dirty="0"/>
              <a:t>Larger valves allowed more air in and more exhaust out, but the bigger valves are heavy and require stronger springs to close them. The stronger springs hold the valves closed tighter</a:t>
            </a:r>
            <a:r>
              <a:rPr lang="en-US" sz="1800" dirty="0">
                <a:solidFill>
                  <a:srgbClr val="FF0000"/>
                </a:solidFill>
              </a:rPr>
              <a:t>,</a:t>
            </a:r>
            <a:r>
              <a:rPr lang="en-US" sz="1800" dirty="0"/>
              <a:t> and more engine power is required to open them.</a:t>
            </a:r>
          </a:p>
          <a:p>
            <a:pPr marL="357188" marR="0" lvl="0" indent="-357188" algn="l" rtl="0">
              <a:spcAft>
                <a:spcPts val="400"/>
              </a:spcAft>
              <a:buSzPct val="100000"/>
              <a:buChar char="•"/>
            </a:pPr>
            <a:r>
              <a:rPr lang="en-US" sz="1800" dirty="0"/>
              <a:t>Today, multivalve engines can have three, four, or five valves per cylinder.</a:t>
            </a:r>
          </a:p>
          <a:p>
            <a:pPr marL="357188" marR="0" lvl="0" indent="-357188" algn="l" rtl="0">
              <a:spcAft>
                <a:spcPts val="400"/>
              </a:spcAft>
              <a:buSzPct val="100000"/>
              <a:buChar char="•"/>
            </a:pPr>
            <a:r>
              <a:rPr lang="en-US" sz="1800" dirty="0"/>
              <a:t>The most common arrangement is four valves per cylinder with two intake and two exhaust valves.</a:t>
            </a:r>
          </a:p>
        </p:txBody>
      </p:sp>
      <p:pic>
        <p:nvPicPr>
          <p:cNvPr id="5" name="Picture Placeholder 4" descr="The engine is configured with dual spark plugs, paired with two intake valves and one exhaust valve for each cylinder.">
            <a:extLst>
              <a:ext uri="{FF2B5EF4-FFF2-40B4-BE49-F238E27FC236}">
                <a16:creationId xmlns:a16="http://schemas.microsoft.com/office/drawing/2014/main" id="{3247F62E-4E0C-274F-D80F-ECDC5DE39023}"/>
              </a:ext>
            </a:extLst>
          </p:cNvPr>
          <p:cNvPicPr>
            <a:picLocks noGrp="1" noChangeAspect="1"/>
          </p:cNvPicPr>
          <p:nvPr>
            <p:ph type="pic" sz="quarter" idx="10"/>
          </p:nvPr>
        </p:nvPicPr>
        <p:blipFill rotWithShape="1">
          <a:blip r:embed="rId3"/>
          <a:srcRect b="15008"/>
          <a:stretch/>
        </p:blipFill>
        <p:spPr>
          <a:xfrm>
            <a:off x="8581627" y="2493574"/>
            <a:ext cx="3363918" cy="2244681"/>
          </a:xfrm>
          <a:prstGeom prst="rect">
            <a:avLst/>
          </a:prstGeom>
        </p:spPr>
      </p:pic>
    </p:spTree>
    <p:extLst>
      <p:ext uri="{BB962C8B-B14F-4D97-AF65-F5344CB8AC3E}">
        <p14:creationId xmlns:p14="http://schemas.microsoft.com/office/powerpoint/2010/main" val="864992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000" dirty="0"/>
              <a:t>Variable Valve Timing and Lift Systems (</a:t>
            </a:r>
            <a:r>
              <a:rPr lang="en-US" dirty="0"/>
              <a:t>1</a:t>
            </a:r>
            <a:r>
              <a:rPr lang="en-US" sz="4000" dirty="0"/>
              <a:t> of </a:t>
            </a:r>
            <a:r>
              <a:rPr lang="en-US" sz="4000"/>
              <a:t>5)</a:t>
            </a:r>
            <a:endParaRPr dirty="0"/>
          </a:p>
        </p:txBody>
      </p:sp>
      <p:sp>
        <p:nvSpPr>
          <p:cNvPr id="145" name="Google Shape;145;p4"/>
          <p:cNvSpPr txBox="1">
            <a:spLocks noGrp="1"/>
          </p:cNvSpPr>
          <p:nvPr>
            <p:ph type="body" idx="1"/>
          </p:nvPr>
        </p:nvSpPr>
        <p:spPr>
          <a:xfrm>
            <a:off x="476843" y="1563625"/>
            <a:ext cx="7263659" cy="4667054"/>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800" dirty="0"/>
              <a:t>Changing valve timing in response to driving conditions improves </a:t>
            </a:r>
            <a:r>
              <a:rPr lang="en-US" sz="1800" dirty="0" err="1"/>
              <a:t>driveability</a:t>
            </a:r>
            <a:r>
              <a:rPr lang="en-US" sz="1800" dirty="0"/>
              <a:t> and lowers fuel consumption and emission </a:t>
            </a:r>
            <a:r>
              <a:rPr lang="en-US" sz="1800"/>
              <a:t>levels.</a:t>
            </a:r>
            <a:endParaRPr lang="en-US" sz="1800" dirty="0"/>
          </a:p>
          <a:p>
            <a:pPr marL="357188" marR="0" lvl="0" indent="-357188" algn="l" rtl="0">
              <a:spcAft>
                <a:spcPts val="600"/>
              </a:spcAft>
              <a:buSzPct val="100000"/>
              <a:buChar char="•"/>
            </a:pPr>
            <a:r>
              <a:rPr lang="en-US" sz="1800" dirty="0"/>
              <a:t>There are many different variable valve timing (VVT) systems used on today’s </a:t>
            </a:r>
            <a:r>
              <a:rPr lang="en-US" sz="1800"/>
              <a:t>engines.</a:t>
            </a:r>
            <a:endParaRPr lang="en-US" sz="1800" dirty="0"/>
          </a:p>
          <a:p>
            <a:pPr marL="357188" marR="0" lvl="0" indent="-357188" algn="l" rtl="0">
              <a:spcAft>
                <a:spcPts val="600"/>
              </a:spcAft>
              <a:buSzPct val="100000"/>
              <a:buChar char="•"/>
            </a:pPr>
            <a:r>
              <a:rPr lang="en-US" sz="1800" dirty="0"/>
              <a:t>An ECM advances or retards valve timing based on operating conditions, such as engine speed and load.</a:t>
            </a:r>
          </a:p>
          <a:p>
            <a:pPr marL="357188" marR="0" lvl="0" indent="-357188" algn="l" rtl="0">
              <a:spcAft>
                <a:spcPts val="600"/>
              </a:spcAft>
              <a:buSzPct val="100000"/>
              <a:buChar char="•"/>
            </a:pPr>
            <a:r>
              <a:rPr lang="en-US" sz="1800" dirty="0"/>
              <a:t>Continuously variable systems alter valve timing whenever operating conditions change. Continuously variable systems change the phasing or timing of a valve’s </a:t>
            </a:r>
            <a:r>
              <a:rPr lang="en-US" sz="1800"/>
              <a:t>duration.</a:t>
            </a:r>
            <a:endParaRPr lang="en-US" sz="1800" dirty="0"/>
          </a:p>
          <a:p>
            <a:pPr marL="357188" marR="0" lvl="0" indent="-357188" algn="l" rtl="0">
              <a:spcAft>
                <a:spcPts val="600"/>
              </a:spcAft>
              <a:buSzPct val="100000"/>
              <a:buChar char="•"/>
            </a:pPr>
            <a:r>
              <a:rPr lang="en-US" sz="1800" dirty="0"/>
              <a:t>These systems provide a wider torque curve, reduction in fuel consumption, improved power at high speeds, and a reduction in </a:t>
            </a:r>
            <a:r>
              <a:rPr lang="en-US" sz="1800"/>
              <a:t>emissions.</a:t>
            </a:r>
            <a:endParaRPr lang="en-US" sz="1800" dirty="0"/>
          </a:p>
        </p:txBody>
      </p:sp>
      <p:pic>
        <p:nvPicPr>
          <p:cNvPr id="5" name="Picture Placeholder 4" descr="An information flow for a typical V V T system. Engine coolant temperature, Lft. Exh V V T sensor, Rt. Exh V V T sensor, Rt. Int V V T sensor, Lft. Int V V T sensor, Crank position sensor, mass airflow, and TP sensor are connected to ECM. ECM is further connected to Lft. Exh O C V, Rt. Exh O C V, Rt. Int O C V, and Lft. Int O C V.">
            <a:extLst>
              <a:ext uri="{FF2B5EF4-FFF2-40B4-BE49-F238E27FC236}">
                <a16:creationId xmlns:a16="http://schemas.microsoft.com/office/drawing/2014/main" id="{B4276EEF-6B2E-9840-A646-52BA2A72D6A0}"/>
              </a:ext>
            </a:extLst>
          </p:cNvPr>
          <p:cNvPicPr>
            <a:picLocks noGrp="1" noChangeAspect="1"/>
          </p:cNvPicPr>
          <p:nvPr>
            <p:ph type="pic" sz="quarter" idx="10"/>
          </p:nvPr>
        </p:nvPicPr>
        <p:blipFill>
          <a:blip r:embed="rId3"/>
          <a:srcRect b="8845"/>
          <a:stretch/>
        </p:blipFill>
        <p:spPr>
          <a:xfrm>
            <a:off x="7895505" y="2912263"/>
            <a:ext cx="3769407" cy="1524656"/>
          </a:xfrm>
          <a:prstGeom prst="rect">
            <a:avLst/>
          </a:prstGeom>
        </p:spPr>
      </p:pic>
    </p:spTree>
    <p:extLst>
      <p:ext uri="{BB962C8B-B14F-4D97-AF65-F5344CB8AC3E}">
        <p14:creationId xmlns:p14="http://schemas.microsoft.com/office/powerpoint/2010/main" val="3910714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000" dirty="0"/>
              <a:t>Variable Valve Timing and Lift Systems (2 of 5)</a:t>
            </a:r>
            <a:endParaRPr dirty="0"/>
          </a:p>
        </p:txBody>
      </p:sp>
      <p:sp>
        <p:nvSpPr>
          <p:cNvPr id="145" name="Google Shape;145;p4"/>
          <p:cNvSpPr txBox="1">
            <a:spLocks noGrp="1"/>
          </p:cNvSpPr>
          <p:nvPr>
            <p:ph type="body" idx="1"/>
          </p:nvPr>
        </p:nvSpPr>
        <p:spPr>
          <a:xfrm>
            <a:off x="476843" y="1563625"/>
            <a:ext cx="7072273" cy="4560728"/>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1600" b="1" dirty="0">
                <a:solidFill>
                  <a:schemeClr val="accent1"/>
                </a:solidFill>
              </a:rPr>
              <a:t>12.07 Describe the different ways manufacturers vary valve </a:t>
            </a:r>
            <a:r>
              <a:rPr lang="en-US" sz="1600" b="1">
                <a:solidFill>
                  <a:schemeClr val="accent1"/>
                </a:solidFill>
              </a:rPr>
              <a:t>timing.</a:t>
            </a:r>
            <a:endParaRPr lang="en-US" sz="1600" b="1" dirty="0">
              <a:solidFill>
                <a:schemeClr val="accent1"/>
              </a:solidFill>
            </a:endParaRPr>
          </a:p>
          <a:p>
            <a:pPr marL="357188" marR="0" lvl="0" indent="-357188" algn="l" rtl="0">
              <a:spcAft>
                <a:spcPts val="600"/>
              </a:spcAft>
              <a:buSzPct val="100000"/>
              <a:buChar char="•"/>
            </a:pPr>
            <a:r>
              <a:rPr lang="en-US" sz="1600" dirty="0">
                <a:solidFill>
                  <a:schemeClr val="accent1"/>
                </a:solidFill>
              </a:rPr>
              <a:t>Most staged valve timing systems switch between two and more different camshaft profiles based on operating conditions. An example of this is Honda’s VTEC system used on multivalve </a:t>
            </a:r>
            <a:r>
              <a:rPr lang="en-US" sz="1600">
                <a:solidFill>
                  <a:schemeClr val="accent1"/>
                </a:solidFill>
              </a:rPr>
              <a:t>engines.</a:t>
            </a:r>
            <a:endParaRPr lang="en-US" sz="1600" dirty="0">
              <a:solidFill>
                <a:schemeClr val="accent1"/>
              </a:solidFill>
            </a:endParaRPr>
          </a:p>
          <a:p>
            <a:pPr marL="357188" marR="0" lvl="0" indent="-357188" algn="l" rtl="0">
              <a:spcAft>
                <a:spcPts val="600"/>
              </a:spcAft>
              <a:buSzPct val="100000"/>
              <a:buChar char="•"/>
            </a:pPr>
            <a:r>
              <a:rPr lang="en-US" sz="1600" dirty="0">
                <a:solidFill>
                  <a:schemeClr val="accent1"/>
                </a:solidFill>
              </a:rPr>
              <a:t>The camshaft has three lobes for each pair of intake valves. The third lobe is shaped for more valve lift and different open and close times.</a:t>
            </a:r>
          </a:p>
          <a:p>
            <a:pPr marL="357188" marR="0" lvl="0" indent="-357188" algn="l" rtl="0">
              <a:spcAft>
                <a:spcPts val="600"/>
              </a:spcAft>
              <a:buSzPct val="100000"/>
              <a:buChar char="•"/>
            </a:pPr>
            <a:r>
              <a:rPr lang="en-US" sz="1600" dirty="0">
                <a:solidFill>
                  <a:schemeClr val="accent1"/>
                </a:solidFill>
              </a:rPr>
              <a:t>There is a rocker arm over each of the three lobes. At low engine speeds, only the second lobe’s rocker arms move the valves. At high speed, a solenoid valve sends pressurized oil through the rocker shaft to a piston in the outer rocker </a:t>
            </a:r>
            <a:r>
              <a:rPr lang="en-US" sz="1600">
                <a:solidFill>
                  <a:schemeClr val="accent1"/>
                </a:solidFill>
              </a:rPr>
              <a:t>arms.</a:t>
            </a:r>
            <a:endParaRPr lang="en-US" sz="1600" dirty="0">
              <a:solidFill>
                <a:schemeClr val="accent1"/>
              </a:solidFill>
            </a:endParaRPr>
          </a:p>
          <a:p>
            <a:pPr marL="357188" marR="0" lvl="0" indent="-357188" algn="l" rtl="0">
              <a:spcAft>
                <a:spcPts val="600"/>
              </a:spcAft>
              <a:buSzPct val="100000"/>
              <a:buChar char="•"/>
            </a:pPr>
            <a:r>
              <a:rPr lang="en-US" sz="1600" dirty="0">
                <a:solidFill>
                  <a:schemeClr val="accent1"/>
                </a:solidFill>
              </a:rPr>
              <a:t>This pushes the piston partly into the center rocker arm, locking the three rocker arms together. The valves now open according to the shape of the third </a:t>
            </a:r>
            <a:r>
              <a:rPr lang="en-US" sz="1600">
                <a:solidFill>
                  <a:schemeClr val="accent1"/>
                </a:solidFill>
              </a:rPr>
              <a:t>lobe.</a:t>
            </a:r>
            <a:endParaRPr lang="en-US" sz="1600" dirty="0">
              <a:solidFill>
                <a:schemeClr val="accent1"/>
              </a:solidFill>
            </a:endParaRPr>
          </a:p>
        </p:txBody>
      </p:sp>
      <p:pic>
        <p:nvPicPr>
          <p:cNvPr id="5" name="Picture Placeholder 4" descr="Two cam lobes for exhaust and three cam lobes for intake. The table below lists the size of three lobes as follows: First lobe: Intake - 1.1692 inches. (29.700 millimeters); Exhaust - 1.1771 inches (29.900 millimeters). 2nd lobe: Intake - 1.4003 inches (35.568 millimeters); Exhaust - 1.4054 inches (35.699 millimeters). 3rd: Intake - 1.4196 inches (36.060 millimeters).">
            <a:extLst>
              <a:ext uri="{FF2B5EF4-FFF2-40B4-BE49-F238E27FC236}">
                <a16:creationId xmlns:a16="http://schemas.microsoft.com/office/drawing/2014/main" id="{AD4F6658-F719-0929-FAED-BD55442216C8}"/>
              </a:ext>
            </a:extLst>
          </p:cNvPr>
          <p:cNvPicPr>
            <a:picLocks noGrp="1" noChangeAspect="1"/>
          </p:cNvPicPr>
          <p:nvPr>
            <p:ph type="pic" sz="quarter" idx="10"/>
          </p:nvPr>
        </p:nvPicPr>
        <p:blipFill rotWithShape="1">
          <a:blip r:embed="rId3"/>
          <a:srcRect b="12181"/>
          <a:stretch/>
        </p:blipFill>
        <p:spPr>
          <a:xfrm>
            <a:off x="7631075" y="2032812"/>
            <a:ext cx="4208905" cy="3422415"/>
          </a:xfrm>
          <a:prstGeom prst="rect">
            <a:avLst/>
          </a:prstGeom>
        </p:spPr>
      </p:pic>
    </p:spTree>
    <p:extLst>
      <p:ext uri="{BB962C8B-B14F-4D97-AF65-F5344CB8AC3E}">
        <p14:creationId xmlns:p14="http://schemas.microsoft.com/office/powerpoint/2010/main" val="4172108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000" dirty="0"/>
              <a:t>Variable Valve Timing and Lift Systems (</a:t>
            </a:r>
            <a:r>
              <a:rPr lang="en-US" dirty="0"/>
              <a:t>3</a:t>
            </a:r>
            <a:r>
              <a:rPr lang="en-US" sz="4000" dirty="0"/>
              <a:t> of 5)</a:t>
            </a:r>
            <a:endParaRPr dirty="0"/>
          </a:p>
        </p:txBody>
      </p:sp>
      <p:sp>
        <p:nvSpPr>
          <p:cNvPr id="145" name="Google Shape;145;p4"/>
          <p:cNvSpPr txBox="1">
            <a:spLocks noGrp="1"/>
          </p:cNvSpPr>
          <p:nvPr>
            <p:ph type="body" idx="1"/>
          </p:nvPr>
        </p:nvSpPr>
        <p:spPr>
          <a:xfrm>
            <a:off x="476844" y="1563624"/>
            <a:ext cx="7742702" cy="4567011"/>
          </a:xfrm>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SzPct val="100000"/>
              <a:buChar char="•"/>
            </a:pPr>
            <a:r>
              <a:rPr lang="en-US" sz="1800" dirty="0">
                <a:solidFill>
                  <a:schemeClr val="accent1"/>
                </a:solidFill>
              </a:rPr>
              <a:t>To provide continuously variable valve timing, camshafts are fitted with a </a:t>
            </a:r>
            <a:r>
              <a:rPr lang="en-US" sz="1800">
                <a:solidFill>
                  <a:schemeClr val="accent1"/>
                </a:solidFill>
              </a:rPr>
              <a:t>phaser.</a:t>
            </a:r>
            <a:endParaRPr lang="en-US" sz="1800" dirty="0">
              <a:solidFill>
                <a:schemeClr val="accent1"/>
              </a:solidFill>
            </a:endParaRPr>
          </a:p>
          <a:p>
            <a:pPr marL="357188" marR="0" lvl="0" indent="-357188" algn="l" rtl="0">
              <a:spcAft>
                <a:spcPts val="400"/>
              </a:spcAft>
              <a:buSzPct val="100000"/>
              <a:buChar char="•"/>
            </a:pPr>
            <a:r>
              <a:rPr lang="en-US" sz="1800" dirty="0">
                <a:solidFill>
                  <a:schemeClr val="accent1"/>
                </a:solidFill>
              </a:rPr>
              <a:t>The </a:t>
            </a:r>
            <a:r>
              <a:rPr lang="en-US" sz="1800" b="1" dirty="0">
                <a:solidFill>
                  <a:schemeClr val="accent1"/>
                </a:solidFill>
              </a:rPr>
              <a:t>phaser</a:t>
            </a:r>
            <a:r>
              <a:rPr lang="en-US" sz="1800" dirty="0">
                <a:solidFill>
                  <a:schemeClr val="accent1"/>
                </a:solidFill>
              </a:rPr>
              <a:t> is mounted where a timing pulley, sprocket, or gear would </a:t>
            </a:r>
            <a:r>
              <a:rPr lang="en-US" sz="1800">
                <a:solidFill>
                  <a:schemeClr val="accent1"/>
                </a:solidFill>
              </a:rPr>
              <a:t>be.</a:t>
            </a:r>
            <a:endParaRPr lang="en-US" sz="1800" dirty="0">
              <a:solidFill>
                <a:schemeClr val="accent1"/>
              </a:solidFill>
            </a:endParaRPr>
          </a:p>
          <a:p>
            <a:pPr marL="357188" marR="0" lvl="0" indent="-357188" algn="l" rtl="0">
              <a:spcAft>
                <a:spcPts val="400"/>
              </a:spcAft>
              <a:buSzPct val="100000"/>
              <a:buChar char="•"/>
            </a:pPr>
            <a:r>
              <a:rPr lang="en-US" sz="1800" dirty="0">
                <a:solidFill>
                  <a:schemeClr val="accent1"/>
                </a:solidFill>
              </a:rPr>
              <a:t>The phaser allows camshaft-to-crankshaft timing to change while the engine is running. Phasers can be electronically or hydraulically controlled. In a hydraulically controlled system, oil flow is controlled by the </a:t>
            </a:r>
            <a:r>
              <a:rPr lang="en-US" sz="1800">
                <a:solidFill>
                  <a:schemeClr val="accent1"/>
                </a:solidFill>
              </a:rPr>
              <a:t>ECM.</a:t>
            </a:r>
            <a:endParaRPr lang="en-US" sz="1800" dirty="0">
              <a:solidFill>
                <a:schemeClr val="accent1"/>
              </a:solidFill>
            </a:endParaRPr>
          </a:p>
          <a:p>
            <a:pPr marL="357188" marR="0" lvl="0" indent="-357188" algn="l" rtl="0">
              <a:spcAft>
                <a:spcPts val="400"/>
              </a:spcAft>
              <a:buSzPct val="100000"/>
              <a:buChar char="•"/>
            </a:pPr>
            <a:r>
              <a:rPr lang="en-US" sz="1800" dirty="0">
                <a:solidFill>
                  <a:schemeClr val="accent1"/>
                </a:solidFill>
              </a:rPr>
              <a:t>Electronic systems rely on stepper </a:t>
            </a:r>
            <a:r>
              <a:rPr lang="en-US" sz="1800">
                <a:solidFill>
                  <a:schemeClr val="accent1"/>
                </a:solidFill>
              </a:rPr>
              <a:t>motors.</a:t>
            </a:r>
            <a:endParaRPr lang="en-US" sz="1800" dirty="0">
              <a:solidFill>
                <a:schemeClr val="accent1"/>
              </a:solidFill>
            </a:endParaRPr>
          </a:p>
          <a:p>
            <a:pPr marL="357188" marR="0" lvl="0" indent="-357188" algn="l" rtl="0">
              <a:spcAft>
                <a:spcPts val="400"/>
              </a:spcAft>
              <a:buSzPct val="100000"/>
              <a:buChar char="•"/>
            </a:pPr>
            <a:r>
              <a:rPr lang="en-US" sz="1800" dirty="0" err="1">
                <a:solidFill>
                  <a:schemeClr val="accent1"/>
                </a:solidFill>
              </a:rPr>
              <a:t>Phasers</a:t>
            </a:r>
            <a:r>
              <a:rPr lang="en-US" sz="1800" dirty="0">
                <a:solidFill>
                  <a:schemeClr val="accent1"/>
                </a:solidFill>
              </a:rPr>
              <a:t> are either based on a helical gear set or vanes enclosed in a </a:t>
            </a:r>
            <a:r>
              <a:rPr lang="en-US" sz="1800">
                <a:solidFill>
                  <a:schemeClr val="accent1"/>
                </a:solidFill>
              </a:rPr>
              <a:t>housing.</a:t>
            </a:r>
            <a:endParaRPr lang="en-US" sz="1800" dirty="0">
              <a:solidFill>
                <a:schemeClr val="accent1"/>
              </a:solidFill>
            </a:endParaRPr>
          </a:p>
          <a:p>
            <a:pPr marL="357188" marR="0" lvl="0" indent="-357188" algn="l" rtl="0">
              <a:spcAft>
                <a:spcPts val="400"/>
              </a:spcAft>
              <a:buSzPct val="100000"/>
              <a:buChar char="•"/>
            </a:pPr>
            <a:r>
              <a:rPr lang="en-US" sz="1800" dirty="0">
                <a:solidFill>
                  <a:schemeClr val="accent1"/>
                </a:solidFill>
              </a:rPr>
              <a:t>As the hydraulically controlled piston moves, the helical splines on the piston and inner gear force the camshaft to change its position in relationship to the timing </a:t>
            </a:r>
            <a:r>
              <a:rPr lang="en-US" sz="1800">
                <a:solidFill>
                  <a:schemeClr val="accent1"/>
                </a:solidFill>
              </a:rPr>
              <a:t>gear.</a:t>
            </a:r>
            <a:endParaRPr lang="en-US" sz="1800" dirty="0">
              <a:solidFill>
                <a:schemeClr val="accent1"/>
              </a:solidFill>
            </a:endParaRPr>
          </a:p>
        </p:txBody>
      </p:sp>
      <p:pic>
        <p:nvPicPr>
          <p:cNvPr id="5" name="Picture Placeholder 4" descr="Two phasers are installed in the position where a timing pulley, sprocket, or gear is located in a late-model engine design.">
            <a:extLst>
              <a:ext uri="{FF2B5EF4-FFF2-40B4-BE49-F238E27FC236}">
                <a16:creationId xmlns:a16="http://schemas.microsoft.com/office/drawing/2014/main" id="{962B1FD3-01D6-EA38-4004-C0FD2C6A7DBF}"/>
              </a:ext>
            </a:extLst>
          </p:cNvPr>
          <p:cNvPicPr>
            <a:picLocks noGrp="1" noChangeAspect="1"/>
          </p:cNvPicPr>
          <p:nvPr>
            <p:ph type="pic" sz="quarter" idx="10"/>
          </p:nvPr>
        </p:nvPicPr>
        <p:blipFill>
          <a:blip r:embed="rId3"/>
          <a:srcRect b="14268"/>
          <a:stretch/>
        </p:blipFill>
        <p:spPr>
          <a:xfrm>
            <a:off x="8219545" y="2434222"/>
            <a:ext cx="3495612" cy="2605370"/>
          </a:xfrm>
          <a:prstGeom prst="rect">
            <a:avLst/>
          </a:prstGeom>
        </p:spPr>
      </p:pic>
    </p:spTree>
    <p:extLst>
      <p:ext uri="{BB962C8B-B14F-4D97-AF65-F5344CB8AC3E}">
        <p14:creationId xmlns:p14="http://schemas.microsoft.com/office/powerpoint/2010/main" val="23998601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000" dirty="0"/>
              <a:t>Variable Valve Timing and Lift Systems (4 of </a:t>
            </a:r>
            <a:r>
              <a:rPr lang="en-US" sz="4000"/>
              <a:t>5)</a:t>
            </a:r>
            <a:endParaRPr dirty="0"/>
          </a:p>
        </p:txBody>
      </p:sp>
      <p:sp>
        <p:nvSpPr>
          <p:cNvPr id="145" name="Google Shape;145;p4"/>
          <p:cNvSpPr txBox="1">
            <a:spLocks noGrp="1"/>
          </p:cNvSpPr>
          <p:nvPr>
            <p:ph type="body" idx="1"/>
          </p:nvPr>
        </p:nvSpPr>
        <p:spPr>
          <a:xfrm>
            <a:off x="476843" y="1563625"/>
            <a:ext cx="7752723" cy="4546230"/>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800" dirty="0">
                <a:solidFill>
                  <a:schemeClr val="accent1"/>
                </a:solidFill>
              </a:rPr>
              <a:t>Fiat’s </a:t>
            </a:r>
            <a:r>
              <a:rPr lang="en-US" sz="1800" dirty="0" err="1">
                <a:solidFill>
                  <a:schemeClr val="accent1"/>
                </a:solidFill>
              </a:rPr>
              <a:t>MultiAir</a:t>
            </a:r>
            <a:r>
              <a:rPr lang="en-US" sz="1800" dirty="0">
                <a:solidFill>
                  <a:schemeClr val="accent1"/>
                </a:solidFill>
              </a:rPr>
              <a:t> (or </a:t>
            </a:r>
            <a:r>
              <a:rPr lang="en-US" sz="1800" dirty="0" err="1">
                <a:solidFill>
                  <a:schemeClr val="accent1"/>
                </a:solidFill>
              </a:rPr>
              <a:t>UniAir</a:t>
            </a:r>
            <a:r>
              <a:rPr lang="en-US" sz="1800" dirty="0">
                <a:solidFill>
                  <a:schemeClr val="accent1"/>
                </a:solidFill>
              </a:rPr>
              <a:t>) system is a variable valve lift and duration control system for gasoline or diesel </a:t>
            </a:r>
            <a:r>
              <a:rPr lang="en-US" sz="1800">
                <a:solidFill>
                  <a:schemeClr val="accent1"/>
                </a:solidFill>
              </a:rPr>
              <a:t>engines.</a:t>
            </a:r>
            <a:endParaRPr lang="en-US" sz="1800" dirty="0">
              <a:solidFill>
                <a:schemeClr val="accent1"/>
              </a:solidFill>
            </a:endParaRPr>
          </a:p>
          <a:p>
            <a:pPr marL="357188" marR="0" lvl="0" indent="-357188" algn="l" rtl="0">
              <a:spcAft>
                <a:spcPts val="600"/>
              </a:spcAft>
              <a:buSzPct val="100000"/>
              <a:buChar char="•"/>
            </a:pPr>
            <a:r>
              <a:rPr lang="en-US" sz="1800" dirty="0">
                <a:solidFill>
                  <a:schemeClr val="accent1"/>
                </a:solidFill>
              </a:rPr>
              <a:t>It is a system that relies on mechanical, hydraulic, and electronic technologies. The system controls individual intake valves through the interaction of a roller cam follower, a hydraulic piston, a hydraulic chamber, an electronically controlled solenoid valve, and a hydraulic valve </a:t>
            </a:r>
            <a:r>
              <a:rPr lang="en-US" sz="1800">
                <a:solidFill>
                  <a:schemeClr val="accent1"/>
                </a:solidFill>
              </a:rPr>
              <a:t>actuator.</a:t>
            </a:r>
            <a:endParaRPr lang="en-US" sz="1800" dirty="0">
              <a:solidFill>
                <a:schemeClr val="accent1"/>
              </a:solidFill>
            </a:endParaRPr>
          </a:p>
          <a:p>
            <a:pPr marL="357188" marR="0" lvl="0" indent="-357188" algn="l" rtl="0">
              <a:spcAft>
                <a:spcPts val="600"/>
              </a:spcAft>
              <a:buSzPct val="100000"/>
              <a:buChar char="•"/>
            </a:pPr>
            <a:r>
              <a:rPr lang="en-US" sz="1800" dirty="0">
                <a:solidFill>
                  <a:schemeClr val="accent1"/>
                </a:solidFill>
              </a:rPr>
              <a:t>The intake valves are controlled by the action of the hydraulic solenoid valve, which is controlled by an </a:t>
            </a:r>
            <a:r>
              <a:rPr lang="en-US" sz="1800">
                <a:solidFill>
                  <a:schemeClr val="accent1"/>
                </a:solidFill>
              </a:rPr>
              <a:t>ECM.</a:t>
            </a:r>
            <a:endParaRPr lang="en-US" sz="1800" dirty="0">
              <a:solidFill>
                <a:schemeClr val="accent1"/>
              </a:solidFill>
            </a:endParaRPr>
          </a:p>
          <a:p>
            <a:pPr marL="357188" marR="0" lvl="0" indent="-357188" algn="l" rtl="0">
              <a:spcAft>
                <a:spcPts val="600"/>
              </a:spcAft>
              <a:buSzPct val="100000"/>
              <a:buChar char="•"/>
            </a:pPr>
            <a:r>
              <a:rPr lang="en-US" sz="1800" dirty="0">
                <a:solidFill>
                  <a:schemeClr val="accent1"/>
                </a:solidFill>
              </a:rPr>
              <a:t>When the solenoid valve is closed, trapped oil in the hydraulic chamber provides a solid link between the cam follower and the intake valve. Therefore, the intake valves operate according to the profile of the camshaft </a:t>
            </a:r>
            <a:r>
              <a:rPr lang="en-US" sz="1800">
                <a:solidFill>
                  <a:schemeClr val="accent1"/>
                </a:solidFill>
              </a:rPr>
              <a:t>lobes.</a:t>
            </a:r>
            <a:endParaRPr lang="en-US" sz="1800" dirty="0">
              <a:solidFill>
                <a:schemeClr val="accent1"/>
              </a:solidFill>
            </a:endParaRPr>
          </a:p>
        </p:txBody>
      </p:sp>
      <p:pic>
        <p:nvPicPr>
          <p:cNvPr id="5" name="Picture Placeholder 4" descr="Fiat's MultiAir system valve train from an external perspective provides insights into its functionality and design.">
            <a:extLst>
              <a:ext uri="{FF2B5EF4-FFF2-40B4-BE49-F238E27FC236}">
                <a16:creationId xmlns:a16="http://schemas.microsoft.com/office/drawing/2014/main" id="{AB02DB57-7812-0AC3-E67C-6B7E7D67D428}"/>
              </a:ext>
            </a:extLst>
          </p:cNvPr>
          <p:cNvPicPr>
            <a:picLocks noGrp="1" noChangeAspect="1"/>
          </p:cNvPicPr>
          <p:nvPr>
            <p:ph type="pic" sz="quarter" idx="10"/>
          </p:nvPr>
        </p:nvPicPr>
        <p:blipFill>
          <a:blip r:embed="rId3"/>
          <a:srcRect b="12949"/>
          <a:stretch/>
        </p:blipFill>
        <p:spPr>
          <a:xfrm>
            <a:off x="8105390" y="2063609"/>
            <a:ext cx="3834150" cy="2508391"/>
          </a:xfrm>
          <a:prstGeom prst="rect">
            <a:avLst/>
          </a:prstGeom>
        </p:spPr>
      </p:pic>
    </p:spTree>
    <p:extLst>
      <p:ext uri="{BB962C8B-B14F-4D97-AF65-F5344CB8AC3E}">
        <p14:creationId xmlns:p14="http://schemas.microsoft.com/office/powerpoint/2010/main" val="70941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000" dirty="0"/>
              <a:t>Variable Valve Timing and Lift Systems (</a:t>
            </a:r>
            <a:r>
              <a:rPr lang="en-US" dirty="0"/>
              <a:t>5</a:t>
            </a:r>
            <a:r>
              <a:rPr lang="en-US" sz="4000" dirty="0"/>
              <a:t> of 5</a:t>
            </a:r>
            <a:r>
              <a:rPr lang="en-US" dirty="0"/>
              <a:t>)</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600" dirty="0"/>
              <a:t>A unique setup for controlling intake and exhaust valve timing and lift relies on a conventional camshaft, which is ground for high performance, with hydraulic lifters fitted with ultra-high-speed valves to bleed off the </a:t>
            </a:r>
            <a:r>
              <a:rPr lang="en-US" sz="1600"/>
              <a:t>fluid.</a:t>
            </a:r>
            <a:endParaRPr lang="en-US" sz="1600" dirty="0"/>
          </a:p>
          <a:p>
            <a:pPr marL="357188" marR="0" lvl="0" indent="-357188" algn="l" rtl="0">
              <a:spcAft>
                <a:spcPts val="600"/>
              </a:spcAft>
              <a:buSzPct val="100000"/>
              <a:buChar char="•"/>
            </a:pPr>
            <a:r>
              <a:rPr lang="en-US" sz="1600" dirty="0"/>
              <a:t>The ECM changes the pressure in the lifter to delay valve openings, change valve duration, or prevent valves from </a:t>
            </a:r>
            <a:r>
              <a:rPr lang="en-US" sz="1600"/>
              <a:t>opening.</a:t>
            </a:r>
            <a:endParaRPr lang="en-US" sz="1600" dirty="0"/>
          </a:p>
          <a:p>
            <a:pPr marL="357188" marR="0" lvl="0" indent="-357188" algn="l" rtl="0">
              <a:spcAft>
                <a:spcPts val="600"/>
              </a:spcAft>
              <a:buSzPct val="100000"/>
              <a:buChar char="•"/>
            </a:pPr>
            <a:r>
              <a:rPr lang="en-US" sz="1600" dirty="0"/>
              <a:t>A solenoid is used to control the flow of oil into a piston in each lifter that effectively determines the tappet’s </a:t>
            </a:r>
            <a:r>
              <a:rPr lang="en-US" sz="1600"/>
              <a:t>height.</a:t>
            </a:r>
            <a:endParaRPr lang="en-US" sz="1600" dirty="0"/>
          </a:p>
          <a:p>
            <a:pPr marL="357188" marR="0" lvl="0" indent="-357188" algn="l" rtl="0">
              <a:spcAft>
                <a:spcPts val="600"/>
              </a:spcAft>
              <a:buSzPct val="100000"/>
              <a:buChar char="•"/>
            </a:pPr>
            <a:r>
              <a:rPr lang="en-US" sz="1600" dirty="0"/>
              <a:t>Another design uses pressurized oil to allow a four-valve-per-cylinder engine to operate as a three-valve engine at low </a:t>
            </a:r>
            <a:r>
              <a:rPr lang="en-US" sz="1600"/>
              <a:t>speeds.</a:t>
            </a:r>
            <a:endParaRPr lang="en-US" sz="1600" dirty="0"/>
          </a:p>
          <a:p>
            <a:pPr marL="357188" marR="0" lvl="0" indent="-357188" algn="l" rtl="0">
              <a:spcAft>
                <a:spcPts val="600"/>
              </a:spcAft>
              <a:buSzPct val="100000"/>
              <a:buChar char="•"/>
            </a:pPr>
            <a:r>
              <a:rPr lang="en-US" sz="1600" dirty="0"/>
              <a:t>The primary valve opens and closes normally, while the secondary intake opens just enough to keep the engine running </a:t>
            </a:r>
            <a:r>
              <a:rPr lang="en-US" sz="1600"/>
              <a:t>smoothly.</a:t>
            </a:r>
            <a:endParaRPr lang="en-US" sz="1600" dirty="0"/>
          </a:p>
          <a:p>
            <a:pPr marL="357188" marR="0" lvl="0" indent="-357188" algn="l" rtl="0">
              <a:spcAft>
                <a:spcPts val="600"/>
              </a:spcAft>
              <a:buSzPct val="100000"/>
              <a:buChar char="•"/>
            </a:pPr>
            <a:r>
              <a:rPr lang="en-US" sz="1600" dirty="0"/>
              <a:t>As the engine reaches 2,500 rpm, the ECM allows pressurized oil to move small pins that lock each pair of rocker arms together, causing both intake valves to follow the normal cam lobe. When the engine slows down, the pressurized oil is bled off and the pin releases, separating the two rocker arms.</a:t>
            </a:r>
          </a:p>
        </p:txBody>
      </p:sp>
    </p:spTree>
    <p:extLst>
      <p:ext uri="{BB962C8B-B14F-4D97-AF65-F5344CB8AC3E}">
        <p14:creationId xmlns:p14="http://schemas.microsoft.com/office/powerpoint/2010/main" val="2905026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(1 of 2)</a:t>
            </a:r>
            <a:endParaRPr/>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buNone/>
            </a:pPr>
            <a:r>
              <a:rPr lang="en-US" sz="2400" dirty="0"/>
              <a:t>True or False? VVT can increase horsepower while simultaneously lowering </a:t>
            </a:r>
            <a:r>
              <a:rPr lang="en-US" sz="2400"/>
              <a:t>emissions.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Answer (1 of 2)</a:t>
            </a:r>
            <a:endParaRPr/>
          </a:p>
        </p:txBody>
      </p:sp>
      <p:sp>
        <p:nvSpPr>
          <p:cNvPr id="3" name="Google Shape;318;p30"/>
          <p:cNvSpPr txBox="1">
            <a:spLocks noGrp="1"/>
          </p:cNvSpPr>
          <p:nvPr>
            <p:ph type="body" idx="1"/>
          </p:nvPr>
        </p:nvSpPr>
        <p:spPr>
          <a:xfrm>
            <a:off x="476250" y="1563688"/>
            <a:ext cx="11242675" cy="907900"/>
          </a:xfrm>
          <a:prstGeom prst="rect">
            <a:avLst/>
          </a:prstGeom>
          <a:noFill/>
          <a:ln>
            <a:noFill/>
          </a:ln>
        </p:spPr>
        <p:txBody>
          <a:bodyPr spcFirstLastPara="1" wrap="square" lIns="91425" tIns="45700" rIns="91425" bIns="45700" anchor="t" anchorCtr="0">
            <a:spAutoFit/>
          </a:bodyPr>
          <a:lstStyle/>
          <a:p>
            <a:pPr marL="0" lvl="1" indent="0">
              <a:buNone/>
            </a:pPr>
            <a:r>
              <a:rPr lang="en-US" sz="2400" b="1" dirty="0">
                <a:solidFill>
                  <a:schemeClr val="dk1"/>
                </a:solidFill>
                <a:latin typeface="Work Sans"/>
                <a:ea typeface="Work Sans"/>
                <a:cs typeface="Work Sans"/>
                <a:sym typeface="Work Sans"/>
              </a:rPr>
              <a:t>Answer</a:t>
            </a:r>
            <a:r>
              <a:rPr lang="en-US" sz="2400" dirty="0">
                <a:solidFill>
                  <a:schemeClr val="dk1"/>
                </a:solidFill>
                <a:latin typeface="Work Sans"/>
                <a:ea typeface="Work Sans"/>
                <a:cs typeface="Work Sans"/>
                <a:sym typeface="Work Sans"/>
              </a:rPr>
              <a:t>: True. Changing valve timing in response to driving conditions improves </a:t>
            </a:r>
            <a:r>
              <a:rPr lang="en-US" sz="2400" dirty="0" err="1">
                <a:solidFill>
                  <a:schemeClr val="dk1"/>
                </a:solidFill>
                <a:latin typeface="Work Sans"/>
                <a:ea typeface="Work Sans"/>
                <a:cs typeface="Work Sans"/>
                <a:sym typeface="Work Sans"/>
              </a:rPr>
              <a:t>driveability</a:t>
            </a:r>
            <a:r>
              <a:rPr lang="en-US" sz="2400" dirty="0">
                <a:solidFill>
                  <a:schemeClr val="dk1"/>
                </a:solidFill>
                <a:latin typeface="Work Sans"/>
                <a:ea typeface="Work Sans"/>
                <a:cs typeface="Work Sans"/>
                <a:sym typeface="Work Sans"/>
              </a:rPr>
              <a:t> and lowers fuel consumption and emission levels.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a:t>Cylinder Deactivation</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600" dirty="0"/>
              <a:t>Cylinder deactivation works by keeping the intake and exhaust valves closed in a group of the engine’s cylinders.</a:t>
            </a:r>
          </a:p>
          <a:p>
            <a:pPr marL="357188" marR="0" lvl="0" indent="-357188" algn="l" rtl="0">
              <a:spcAft>
                <a:spcPts val="600"/>
              </a:spcAft>
              <a:buSzPct val="100000"/>
              <a:buChar char="•"/>
            </a:pPr>
            <a:r>
              <a:rPr lang="en-US" sz="1600" dirty="0"/>
              <a:t>This decreases the working displacement of the engine and provides an increase in fuel economy and reduced emissions.</a:t>
            </a:r>
          </a:p>
          <a:p>
            <a:pPr marL="357188" marR="0" lvl="0" indent="-357188" algn="l" rtl="0">
              <a:spcAft>
                <a:spcPts val="600"/>
              </a:spcAft>
              <a:buSzPct val="100000"/>
              <a:buChar char="•"/>
            </a:pPr>
            <a:r>
              <a:rPr lang="en-US" sz="1600" dirty="0"/>
              <a:t>The systems are designed to make the deactivation and activation of the cylinders unnoticeable to the driver.</a:t>
            </a:r>
          </a:p>
          <a:p>
            <a:pPr marL="357188" marR="0" lvl="0" indent="-357188" algn="l" rtl="0">
              <a:spcAft>
                <a:spcPts val="600"/>
              </a:spcAft>
              <a:buSzPct val="100000"/>
              <a:buChar char="•"/>
            </a:pPr>
            <a:r>
              <a:rPr lang="en-US" sz="1600" dirty="0"/>
              <a:t>This is accomplished by controlling the fuel injectors, ignition timing, throttle opening, and valve timing.</a:t>
            </a:r>
          </a:p>
          <a:p>
            <a:pPr marL="357188" marR="0" lvl="0" indent="-357188" algn="l" rtl="0">
              <a:spcAft>
                <a:spcPts val="600"/>
              </a:spcAft>
              <a:buSzPct val="100000"/>
              <a:buChar char="•"/>
            </a:pPr>
            <a:r>
              <a:rPr lang="en-US" sz="1600" dirty="0"/>
              <a:t>OHC engines typically have a pair of rocker arms at each valve. One of the rocker arms rides on the camshaft lobe and the other works the valve.</a:t>
            </a:r>
          </a:p>
          <a:p>
            <a:pPr marL="357188" marR="0" lvl="0" indent="-357188" algn="l" rtl="0">
              <a:spcAft>
                <a:spcPts val="600"/>
              </a:spcAft>
              <a:buSzPct val="100000"/>
              <a:buChar char="•"/>
            </a:pPr>
            <a:r>
              <a:rPr lang="en-US" sz="1600" dirty="0"/>
              <a:t>When the two rocker arms are locked together, the valve moves according to the rotation of the camshaft. To disable a cylinder, the rocker arms are unlocked.</a:t>
            </a:r>
          </a:p>
          <a:p>
            <a:pPr marL="357188" marR="0" lvl="0" indent="-357188" algn="l" rtl="0">
              <a:spcAft>
                <a:spcPts val="600"/>
              </a:spcAft>
              <a:buSzPct val="100000"/>
              <a:buChar char="•"/>
            </a:pPr>
            <a:r>
              <a:rPr lang="en-US" sz="1600" dirty="0"/>
              <a:t>The rocker arm on the cam lobe continues to work but does not transfer its movement to the other. The locking device is simply a pin that moves in response to oil pressure. A solenoid, controlled by the ECM, directs oil pressure to the pin.</a:t>
            </a:r>
          </a:p>
        </p:txBody>
      </p:sp>
    </p:spTree>
    <p:extLst>
      <p:ext uri="{BB962C8B-B14F-4D97-AF65-F5344CB8AC3E}">
        <p14:creationId xmlns:p14="http://schemas.microsoft.com/office/powerpoint/2010/main" val="4444533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Cylinder Head Disassembly (</a:t>
            </a:r>
            <a:r>
              <a:rPr lang="en-US" dirty="0"/>
              <a:t>1</a:t>
            </a:r>
            <a:r>
              <a:rPr lang="en-US" sz="4000" dirty="0"/>
              <a:t> of 3)</a:t>
            </a:r>
            <a:endParaRPr dirty="0"/>
          </a:p>
        </p:txBody>
      </p:sp>
      <p:sp>
        <p:nvSpPr>
          <p:cNvPr id="145" name="Google Shape;145;p4"/>
          <p:cNvSpPr txBox="1">
            <a:spLocks noGrp="1"/>
          </p:cNvSpPr>
          <p:nvPr>
            <p:ph type="body" idx="1"/>
          </p:nvPr>
        </p:nvSpPr>
        <p:spPr>
          <a:xfrm>
            <a:off x="476843" y="1563625"/>
            <a:ext cx="7659239" cy="4525448"/>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600" dirty="0">
                <a:solidFill>
                  <a:schemeClr val="accent1"/>
                </a:solidFill>
              </a:rPr>
              <a:t>Cylinder Head Disassembly: On some engines, the rocker arms must be removed before the head is </a:t>
            </a:r>
            <a:r>
              <a:rPr lang="en-US" sz="1600">
                <a:solidFill>
                  <a:schemeClr val="accent1"/>
                </a:solidFill>
              </a:rPr>
              <a:t>disassembled.</a:t>
            </a:r>
            <a:endParaRPr lang="en-US" sz="1600" dirty="0">
              <a:solidFill>
                <a:schemeClr val="accent1"/>
              </a:solidFill>
            </a:endParaRPr>
          </a:p>
          <a:p>
            <a:pPr marL="357188" marR="0" lvl="0" indent="-357188" algn="l" rtl="0">
              <a:spcAft>
                <a:spcPts val="600"/>
              </a:spcAft>
              <a:buSzPct val="100000"/>
              <a:buChar char="•"/>
            </a:pPr>
            <a:r>
              <a:rPr lang="en-US" sz="1600" dirty="0">
                <a:solidFill>
                  <a:schemeClr val="accent1"/>
                </a:solidFill>
              </a:rPr>
              <a:t>If the camshaft rides directly above the rocker arms, use the appropriate spring compressor and depress the valve enough to pull the rocker arm </a:t>
            </a:r>
            <a:r>
              <a:rPr lang="en-US" sz="1600">
                <a:solidFill>
                  <a:schemeClr val="accent1"/>
                </a:solidFill>
              </a:rPr>
              <a:t>out.</a:t>
            </a:r>
            <a:endParaRPr lang="en-US" sz="1600" dirty="0">
              <a:solidFill>
                <a:schemeClr val="accent1"/>
              </a:solidFill>
            </a:endParaRPr>
          </a:p>
          <a:p>
            <a:pPr marL="357188" marR="0" lvl="0" indent="-357188" algn="l" rtl="0">
              <a:spcAft>
                <a:spcPts val="600"/>
              </a:spcAft>
              <a:buSzPct val="100000"/>
              <a:buChar char="•"/>
            </a:pPr>
            <a:r>
              <a:rPr lang="en-US" sz="1600" dirty="0">
                <a:solidFill>
                  <a:schemeClr val="accent1"/>
                </a:solidFill>
              </a:rPr>
              <a:t>Some have the rocker arms mounted on a separate shaft. The ends of the rocker arms do not directly contact the valves; rather a bridge rocker arm is </a:t>
            </a:r>
            <a:r>
              <a:rPr lang="en-US" sz="1600">
                <a:solidFill>
                  <a:schemeClr val="accent1"/>
                </a:solidFill>
              </a:rPr>
              <a:t>used.</a:t>
            </a:r>
            <a:endParaRPr lang="en-US" sz="1600" dirty="0">
              <a:solidFill>
                <a:schemeClr val="accent1"/>
              </a:solidFill>
            </a:endParaRPr>
          </a:p>
          <a:p>
            <a:pPr marL="357188" marR="0" lvl="0" indent="-357188" algn="l" rtl="0">
              <a:spcAft>
                <a:spcPts val="600"/>
              </a:spcAft>
              <a:buSzPct val="100000"/>
              <a:buChar char="•"/>
            </a:pPr>
            <a:r>
              <a:rPr lang="en-US" sz="1600" dirty="0">
                <a:solidFill>
                  <a:schemeClr val="accent1"/>
                </a:solidFill>
              </a:rPr>
              <a:t>The bridge rocker arm assembly is also mounted on a shaft. To </a:t>
            </a:r>
            <a:r>
              <a:rPr lang="en-US" sz="1600">
                <a:solidFill>
                  <a:schemeClr val="accent1"/>
                </a:solidFill>
              </a:rPr>
              <a:t>remove these </a:t>
            </a:r>
            <a:r>
              <a:rPr lang="en-US" sz="1600" dirty="0">
                <a:solidFill>
                  <a:schemeClr val="accent1"/>
                </a:solidFill>
              </a:rPr>
              <a:t>rocker arms, both shafts are </a:t>
            </a:r>
            <a:r>
              <a:rPr lang="en-US" sz="1600">
                <a:solidFill>
                  <a:schemeClr val="accent1"/>
                </a:solidFill>
              </a:rPr>
              <a:t>unbolted.</a:t>
            </a:r>
            <a:endParaRPr lang="en-US" sz="1600" dirty="0">
              <a:solidFill>
                <a:schemeClr val="accent1"/>
              </a:solidFill>
            </a:endParaRPr>
          </a:p>
          <a:p>
            <a:pPr marL="357188" marR="0" lvl="0" indent="-357188" algn="l" rtl="0">
              <a:spcAft>
                <a:spcPts val="600"/>
              </a:spcAft>
              <a:buSzPct val="100000"/>
              <a:buChar char="•"/>
            </a:pPr>
            <a:r>
              <a:rPr lang="en-US" sz="1600" dirty="0">
                <a:solidFill>
                  <a:schemeClr val="accent1"/>
                </a:solidFill>
              </a:rPr>
              <a:t>On all OHC engines, the camshaft must be removed before the cylinder head can be </a:t>
            </a:r>
            <a:r>
              <a:rPr lang="en-US" sz="1600">
                <a:solidFill>
                  <a:schemeClr val="accent1"/>
                </a:solidFill>
              </a:rPr>
              <a:t>disassembled.</a:t>
            </a:r>
            <a:endParaRPr lang="en-US" sz="1600" dirty="0">
              <a:solidFill>
                <a:schemeClr val="accent1"/>
              </a:solidFill>
            </a:endParaRPr>
          </a:p>
          <a:p>
            <a:pPr marL="357188" marR="0" lvl="0" indent="-357188" algn="l" rtl="0">
              <a:spcAft>
                <a:spcPts val="600"/>
              </a:spcAft>
              <a:buSzPct val="100000"/>
              <a:buChar char="•"/>
            </a:pPr>
            <a:r>
              <a:rPr lang="en-US" sz="1600" dirty="0">
                <a:solidFill>
                  <a:schemeClr val="accent1"/>
                </a:solidFill>
              </a:rPr>
              <a:t>Follow the specified order for loosening the camshaft bearing caps. Keep the caps in the order they were on the head.</a:t>
            </a:r>
          </a:p>
        </p:txBody>
      </p:sp>
      <p:pic>
        <p:nvPicPr>
          <p:cNvPr id="5" name="Picture Placeholder 4" descr="Two photos. (A) The camshafts are housed within the camshaft carrier assembly. (B) The cylinder head includes roller rockers and hydraulic lash adjusters.">
            <a:extLst>
              <a:ext uri="{FF2B5EF4-FFF2-40B4-BE49-F238E27FC236}">
                <a16:creationId xmlns:a16="http://schemas.microsoft.com/office/drawing/2014/main" id="{E555DC25-D96F-73C9-B1A0-7E08A2D401E6}"/>
              </a:ext>
            </a:extLst>
          </p:cNvPr>
          <p:cNvPicPr>
            <a:picLocks noGrp="1" noChangeAspect="1"/>
          </p:cNvPicPr>
          <p:nvPr>
            <p:ph type="pic" sz="quarter" idx="10"/>
          </p:nvPr>
        </p:nvPicPr>
        <p:blipFill>
          <a:blip r:embed="rId3"/>
          <a:srcRect b="11270"/>
          <a:stretch/>
        </p:blipFill>
        <p:spPr>
          <a:xfrm>
            <a:off x="8448197" y="1825727"/>
            <a:ext cx="3136186" cy="3850788"/>
          </a:xfrm>
          <a:prstGeom prst="rect">
            <a:avLst/>
          </a:prstGeom>
        </p:spPr>
      </p:pic>
    </p:spTree>
    <p:extLst>
      <p:ext uri="{BB962C8B-B14F-4D97-AF65-F5344CB8AC3E}">
        <p14:creationId xmlns:p14="http://schemas.microsoft.com/office/powerpoint/2010/main" val="25351548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Cylinder Head Disassembly (</a:t>
            </a:r>
            <a:r>
              <a:rPr lang="en-US" dirty="0"/>
              <a:t>2</a:t>
            </a:r>
            <a:r>
              <a:rPr lang="en-US" sz="4000" dirty="0"/>
              <a:t> of 3)</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lvl="0" indent="-357188">
              <a:spcAft>
                <a:spcPts val="600"/>
              </a:spcAft>
              <a:buSzPct val="100000"/>
            </a:pPr>
            <a:r>
              <a:rPr lang="en-US" sz="1600" dirty="0"/>
              <a:t>Measure the installed spring height for each </a:t>
            </a:r>
            <a:r>
              <a:rPr lang="en-US" sz="1600"/>
              <a:t>valve.</a:t>
            </a:r>
            <a:endParaRPr lang="en-US" sz="1600" dirty="0"/>
          </a:p>
          <a:p>
            <a:pPr marL="357188" lvl="0" indent="-357188">
              <a:spcAft>
                <a:spcPts val="600"/>
              </a:spcAft>
              <a:buSzPct val="100000"/>
            </a:pPr>
            <a:r>
              <a:rPr lang="en-US" sz="1600" dirty="0"/>
              <a:t>This measurement will be needed during </a:t>
            </a:r>
            <a:r>
              <a:rPr lang="en-US" sz="1600"/>
              <a:t>reassembly.</a:t>
            </a:r>
            <a:endParaRPr lang="en-US" sz="1600" dirty="0"/>
          </a:p>
          <a:p>
            <a:pPr marL="357188" lvl="0" indent="-357188">
              <a:spcAft>
                <a:spcPts val="600"/>
              </a:spcAft>
              <a:buSzPct val="100000"/>
            </a:pPr>
            <a:r>
              <a:rPr lang="en-US" sz="1600" dirty="0"/>
              <a:t>To remove the valves, use a valve spring compressor. First, select a socket that fits over the valve tip and onto the </a:t>
            </a:r>
            <a:r>
              <a:rPr lang="en-US" sz="1600"/>
              <a:t>retainer.</a:t>
            </a:r>
            <a:endParaRPr lang="en-US" sz="1600" dirty="0"/>
          </a:p>
          <a:p>
            <a:pPr marL="357188" lvl="0" indent="-357188">
              <a:spcAft>
                <a:spcPts val="600"/>
              </a:spcAft>
              <a:buSzPct val="100000"/>
            </a:pPr>
            <a:r>
              <a:rPr lang="en-US" sz="1600" dirty="0"/>
              <a:t>Tap the socket with a plastic mallet to loosen the </a:t>
            </a:r>
            <a:r>
              <a:rPr lang="en-US" sz="1600"/>
              <a:t>keepers.</a:t>
            </a:r>
            <a:endParaRPr lang="en-US" sz="1600" dirty="0"/>
          </a:p>
          <a:p>
            <a:pPr marL="357188" lvl="0" indent="-357188">
              <a:spcAft>
                <a:spcPts val="600"/>
              </a:spcAft>
              <a:buSzPct val="100000"/>
            </a:pPr>
            <a:r>
              <a:rPr lang="en-US" sz="1600" dirty="0"/>
              <a:t>Select the correct adaptor or adjust the jaws of the compressor so that they fit securely over the spring </a:t>
            </a:r>
            <a:r>
              <a:rPr lang="en-US" sz="1600"/>
              <a:t>retainers.</a:t>
            </a:r>
            <a:endParaRPr lang="en-US" sz="1600" dirty="0"/>
          </a:p>
          <a:p>
            <a:pPr marL="357188" lvl="0" indent="-357188">
              <a:spcAft>
                <a:spcPts val="600"/>
              </a:spcAft>
              <a:buSzPct val="100000"/>
            </a:pPr>
            <a:r>
              <a:rPr lang="en-US" sz="1600" dirty="0"/>
              <a:t>Compress the valve springs just enough to remove the </a:t>
            </a:r>
            <a:r>
              <a:rPr lang="en-US" sz="1600"/>
              <a:t>keepers.</a:t>
            </a:r>
            <a:endParaRPr lang="en-US" sz="1600" dirty="0"/>
          </a:p>
          <a:p>
            <a:pPr marL="357188" lvl="0" indent="-357188">
              <a:spcAft>
                <a:spcPts val="600"/>
              </a:spcAft>
              <a:buSzPct val="100000"/>
            </a:pPr>
            <a:r>
              <a:rPr lang="en-US" sz="1600" dirty="0"/>
              <a:t>Next, remove the valve oil seals and valves. Keep the assemblies together according to the cylinder they were </a:t>
            </a:r>
            <a:r>
              <a:rPr lang="en-US" sz="1600"/>
              <a:t>in.</a:t>
            </a:r>
            <a:endParaRPr lang="en-US" sz="1600" dirty="0"/>
          </a:p>
          <a:p>
            <a:pPr marL="357188" lvl="0" indent="-357188">
              <a:spcAft>
                <a:spcPts val="600"/>
              </a:spcAft>
              <a:buSzPct val="100000"/>
            </a:pPr>
            <a:r>
              <a:rPr lang="en-US" sz="1600" dirty="0"/>
              <a:t>If a valve cannot pass through its guide, its tip might be mushroomed or peened </a:t>
            </a:r>
            <a:r>
              <a:rPr lang="en-US" sz="1600"/>
              <a:t>over.</a:t>
            </a:r>
            <a:endParaRPr lang="en-US" sz="1600" dirty="0"/>
          </a:p>
          <a:p>
            <a:pPr marL="357188" lvl="0" indent="-357188">
              <a:spcAft>
                <a:spcPts val="600"/>
              </a:spcAft>
              <a:buSzPct val="100000"/>
            </a:pPr>
            <a:r>
              <a:rPr lang="en-US" sz="1600" dirty="0"/>
              <a:t>Do not force the valve through the guide. It could score or crack the valve guide or head. Raise the stem and file off the ridge until the stem slides through the guide easily.</a:t>
            </a:r>
          </a:p>
        </p:txBody>
      </p:sp>
    </p:spTree>
    <p:extLst>
      <p:ext uri="{BB962C8B-B14F-4D97-AF65-F5344CB8AC3E}">
        <p14:creationId xmlns:p14="http://schemas.microsoft.com/office/powerpoint/2010/main" val="162128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Cylinder Head Disassembly (3 of 3)</a:t>
            </a:r>
            <a:endParaRPr dirty="0"/>
          </a:p>
        </p:txBody>
      </p:sp>
      <p:sp>
        <p:nvSpPr>
          <p:cNvPr id="145" name="Google Shape;145;p4"/>
          <p:cNvSpPr txBox="1">
            <a:spLocks noGrp="1"/>
          </p:cNvSpPr>
          <p:nvPr>
            <p:ph type="body" idx="1"/>
          </p:nvPr>
        </p:nvSpPr>
        <p:spPr>
          <a:xfrm>
            <a:off x="476844" y="1563624"/>
            <a:ext cx="5861612" cy="4452711"/>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2200" dirty="0"/>
              <a:t>Inspection of Head Cylinder</a:t>
            </a:r>
          </a:p>
          <a:p>
            <a:pPr marL="717550" lvl="1" indent="-354013">
              <a:spcAft>
                <a:spcPts val="600"/>
              </a:spcAft>
              <a:buSzPts val="2800"/>
              <a:buFont typeface="Work Sans" pitchFamily="2" charset="0"/>
              <a:buChar char="–"/>
            </a:pPr>
            <a:r>
              <a:rPr lang="en-US" sz="2000" dirty="0"/>
              <a:t>As engines undergo heating and cooling cycles over their life span, certain parts tend to warp.</a:t>
            </a:r>
          </a:p>
          <a:p>
            <a:pPr marL="717550" lvl="1" indent="-354013">
              <a:spcAft>
                <a:spcPts val="600"/>
              </a:spcAft>
              <a:buSzPts val="2800"/>
              <a:buFont typeface="Work Sans" pitchFamily="2" charset="0"/>
              <a:buChar char="–"/>
            </a:pPr>
            <a:r>
              <a:rPr lang="en-US" sz="2000" dirty="0"/>
              <a:t>By using a precision straightedge and feeler gauge, the amount of warpage can be measured.</a:t>
            </a:r>
          </a:p>
          <a:p>
            <a:pPr marL="717550" lvl="1" indent="-354013">
              <a:spcAft>
                <a:spcPts val="600"/>
              </a:spcAft>
              <a:buSzPts val="2800"/>
              <a:buFont typeface="Work Sans" pitchFamily="2" charset="0"/>
              <a:buChar char="–"/>
            </a:pPr>
            <a:r>
              <a:rPr lang="en-US" sz="2000" dirty="0"/>
              <a:t>The surface should be checked both across the head as well as lengthwise.</a:t>
            </a:r>
          </a:p>
          <a:p>
            <a:pPr marL="717550" lvl="1" indent="-354013">
              <a:spcAft>
                <a:spcPts val="600"/>
              </a:spcAft>
              <a:buSzPts val="2800"/>
              <a:buFont typeface="Work Sans" pitchFamily="2" charset="0"/>
              <a:buChar char="–"/>
            </a:pPr>
            <a:r>
              <a:rPr lang="en-US" sz="2000" dirty="0"/>
              <a:t>In general, the maximum allowable deformation is 0.004 inch (0.1016 mm).</a:t>
            </a:r>
          </a:p>
        </p:txBody>
      </p:sp>
      <p:pic>
        <p:nvPicPr>
          <p:cNvPr id="5" name="Picture Placeholder 4" descr="Four illustrations show the ways of measuring a cylinder head for warpage. (1) The cylinder head is checked using a straightedge and a thickness gauge. (2) The head is checked along the six planes of the block mating surface. (3) The head is checked along four planes of the block mating surface. (4) The head is checked along four planes of the block mating surface.">
            <a:extLst>
              <a:ext uri="{FF2B5EF4-FFF2-40B4-BE49-F238E27FC236}">
                <a16:creationId xmlns:a16="http://schemas.microsoft.com/office/drawing/2014/main" id="{A6E75EEA-7DF8-09DA-E9EB-EA6A95C72B5A}"/>
              </a:ext>
            </a:extLst>
          </p:cNvPr>
          <p:cNvPicPr>
            <a:picLocks noGrp="1" noChangeAspect="1"/>
          </p:cNvPicPr>
          <p:nvPr>
            <p:ph type="pic" sz="quarter" idx="10"/>
          </p:nvPr>
        </p:nvPicPr>
        <p:blipFill>
          <a:blip r:embed="rId3"/>
          <a:srcRect b="9849"/>
          <a:stretch/>
        </p:blipFill>
        <p:spPr>
          <a:xfrm>
            <a:off x="7413597" y="1887832"/>
            <a:ext cx="3479866" cy="3804293"/>
          </a:xfrm>
          <a:prstGeom prst="rect">
            <a:avLst/>
          </a:prstGeom>
        </p:spPr>
      </p:pic>
    </p:spTree>
    <p:extLst>
      <p:ext uri="{BB962C8B-B14F-4D97-AF65-F5344CB8AC3E}">
        <p14:creationId xmlns:p14="http://schemas.microsoft.com/office/powerpoint/2010/main" val="4115913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Valves</a:t>
            </a:r>
            <a:endParaRPr dirty="0"/>
          </a:p>
        </p:txBody>
      </p:sp>
      <p:sp>
        <p:nvSpPr>
          <p:cNvPr id="145" name="Google Shape;145;p4"/>
          <p:cNvSpPr txBox="1">
            <a:spLocks noGrp="1"/>
          </p:cNvSpPr>
          <p:nvPr>
            <p:ph type="body" idx="1"/>
          </p:nvPr>
        </p:nvSpPr>
        <p:spPr>
          <a:xfrm>
            <a:off x="476843" y="1563624"/>
            <a:ext cx="6994221" cy="4494275"/>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600" dirty="0"/>
              <a:t>Each valve face should be checked for evidence of burning or signs of wear or </a:t>
            </a:r>
            <a:r>
              <a:rPr lang="en-US" sz="1600"/>
              <a:t>distortion.</a:t>
            </a:r>
            <a:endParaRPr lang="en-US" sz="1600" dirty="0"/>
          </a:p>
          <a:p>
            <a:pPr marL="357188" marR="0" lvl="0" indent="-357188" algn="l" rtl="0">
              <a:spcAft>
                <a:spcPts val="600"/>
              </a:spcAft>
              <a:buSzPct val="100000"/>
              <a:buChar char="•"/>
            </a:pPr>
            <a:r>
              <a:rPr lang="en-US" sz="1600" dirty="0"/>
              <a:t>Replace any valves that are badly burned, worn, or bent. </a:t>
            </a:r>
          </a:p>
          <a:p>
            <a:pPr marL="357188" marR="0" lvl="0" indent="-357188" algn="l" rtl="0">
              <a:spcAft>
                <a:spcPts val="600"/>
              </a:spcAft>
              <a:buSzPct val="100000"/>
              <a:buChar char="•"/>
            </a:pPr>
            <a:r>
              <a:rPr lang="en-US" sz="1600" dirty="0"/>
              <a:t>Discard any valve that is badly burned, cracked, pitted, or shows signs of excessive wear. Examine the facings on the </a:t>
            </a:r>
            <a:r>
              <a:rPr lang="en-US" sz="1600"/>
              <a:t>stem.</a:t>
            </a:r>
            <a:endParaRPr lang="en-US" sz="1600" dirty="0"/>
          </a:p>
          <a:p>
            <a:pPr marL="357188" marR="0" lvl="0" indent="-357188" algn="l" rtl="0">
              <a:spcAft>
                <a:spcPts val="600"/>
              </a:spcAft>
              <a:buSzPct val="100000"/>
              <a:buChar char="•"/>
            </a:pPr>
            <a:r>
              <a:rPr lang="en-US" sz="1600" dirty="0"/>
              <a:t>If the plating is flaking or chipped, the valve should be replaced. Examine the backside of the intake </a:t>
            </a:r>
            <a:r>
              <a:rPr lang="en-US" sz="1600"/>
              <a:t>valves.</a:t>
            </a:r>
            <a:endParaRPr lang="en-US" sz="1600" dirty="0"/>
          </a:p>
          <a:p>
            <a:pPr marL="357188" marR="0" lvl="0" indent="-357188" algn="l" rtl="0">
              <a:spcAft>
                <a:spcPts val="600"/>
              </a:spcAft>
              <a:buSzPct val="100000"/>
              <a:buChar char="•"/>
            </a:pPr>
            <a:r>
              <a:rPr lang="en-US" sz="1600" dirty="0"/>
              <a:t>A black oily buildup on the neck and stem area indicates that oil is entering the cylinder through the intake valve or valve guide </a:t>
            </a:r>
            <a:r>
              <a:rPr lang="en-US" sz="1600"/>
              <a:t>seats.</a:t>
            </a:r>
            <a:endParaRPr lang="en-US" sz="1600" dirty="0"/>
          </a:p>
          <a:p>
            <a:pPr marL="357188" marR="0" lvl="0" indent="-357188" algn="l" rtl="0">
              <a:spcAft>
                <a:spcPts val="600"/>
              </a:spcAft>
              <a:buSzPct val="100000"/>
              <a:buChar char="•"/>
            </a:pPr>
            <a:r>
              <a:rPr lang="en-US" sz="1600" dirty="0"/>
              <a:t>Measure the margin on the valve. Valves that cannot be refaced without leaving at least a 1⁄32-inch (0.79 mm) valve margin should not be </a:t>
            </a:r>
            <a:r>
              <a:rPr lang="en-US" sz="1600"/>
              <a:t>reused.</a:t>
            </a:r>
            <a:endParaRPr lang="en-US" sz="1600" dirty="0"/>
          </a:p>
        </p:txBody>
      </p:sp>
      <p:pic>
        <p:nvPicPr>
          <p:cNvPr id="5" name="Picture Placeholder 4" descr="Two valves that are critically damaged by burning.">
            <a:extLst>
              <a:ext uri="{FF2B5EF4-FFF2-40B4-BE49-F238E27FC236}">
                <a16:creationId xmlns:a16="http://schemas.microsoft.com/office/drawing/2014/main" id="{5B7510B3-BCA2-763D-3CF8-2B2EBBABC416}"/>
              </a:ext>
            </a:extLst>
          </p:cNvPr>
          <p:cNvPicPr>
            <a:picLocks noGrp="1" noChangeAspect="1"/>
          </p:cNvPicPr>
          <p:nvPr>
            <p:ph type="pic" sz="quarter" idx="10"/>
          </p:nvPr>
        </p:nvPicPr>
        <p:blipFill>
          <a:blip r:embed="rId3"/>
          <a:srcRect b="10500"/>
          <a:stretch/>
        </p:blipFill>
        <p:spPr>
          <a:xfrm>
            <a:off x="7573269" y="2107468"/>
            <a:ext cx="4122303" cy="2643065"/>
          </a:xfrm>
          <a:prstGeom prst="rect">
            <a:avLst/>
          </a:prstGeom>
        </p:spPr>
      </p:pic>
    </p:spTree>
    <p:extLst>
      <p:ext uri="{BB962C8B-B14F-4D97-AF65-F5344CB8AC3E}">
        <p14:creationId xmlns:p14="http://schemas.microsoft.com/office/powerpoint/2010/main" val="8740264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Valve Seats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600" dirty="0"/>
              <a:t>Valve seats should be checked for damage, cracks, burning, and deterioration. Also, check insert seats for looseness in their </a:t>
            </a:r>
            <a:r>
              <a:rPr lang="en-US" sz="1600"/>
              <a:t>bores.</a:t>
            </a:r>
            <a:endParaRPr lang="en-US" sz="1600" dirty="0"/>
          </a:p>
          <a:p>
            <a:pPr marL="357188" marR="0" lvl="0" indent="-357188" algn="l" rtl="0">
              <a:spcAft>
                <a:spcPts val="600"/>
              </a:spcAft>
              <a:buSzPct val="100000"/>
              <a:buChar char="•"/>
            </a:pPr>
            <a:r>
              <a:rPr lang="en-US" sz="1600" dirty="0"/>
              <a:t>If any damage is found on the seat, a new insert seat can be installed. If an integral seat is damaged, the area around it will need to be cut out and an insert seat </a:t>
            </a:r>
            <a:r>
              <a:rPr lang="en-US" sz="1600"/>
              <a:t>installed.</a:t>
            </a:r>
            <a:endParaRPr lang="en-US" sz="1600" dirty="0"/>
          </a:p>
          <a:p>
            <a:pPr marL="357188" marR="0" lvl="0" indent="-357188" algn="l" rtl="0">
              <a:spcAft>
                <a:spcPts val="600"/>
              </a:spcAft>
              <a:buSzPct val="100000"/>
              <a:buChar char="•"/>
            </a:pPr>
            <a:r>
              <a:rPr lang="en-US" sz="1600" dirty="0"/>
              <a:t>If the seat appears to have sunk too deeply in its bore, it needs to be replaced. A seat should also be replaced if its valve was broken or bent. A worn retainer will allow the spring to move away from the centerline of the valve. This affects valve operation because spring tension on the valve will not be evenly </a:t>
            </a:r>
            <a:r>
              <a:rPr lang="en-US" sz="1600"/>
              <a:t>distributed.</a:t>
            </a:r>
            <a:endParaRPr lang="en-US" sz="1600" dirty="0"/>
          </a:p>
          <a:p>
            <a:pPr marL="357188" marR="0" lvl="0" indent="-357188" algn="l" rtl="0">
              <a:spcAft>
                <a:spcPts val="600"/>
              </a:spcAft>
              <a:buSzPct val="100000"/>
              <a:buChar char="•"/>
            </a:pPr>
            <a:r>
              <a:rPr lang="en-US" sz="1600" dirty="0"/>
              <a:t>Each retainer should be carefully inspected for cracks. The inside shape of most retainers is a cone that matches the outside shape of the keepers. There must be a good fit to secure the keepers in their grooves on the valve stem. If the retainers and keepers show damage or wear, they should be </a:t>
            </a:r>
            <a:r>
              <a:rPr lang="en-US" sz="1600"/>
              <a:t>replaced.</a:t>
            </a:r>
            <a:endParaRPr lang="en-US" sz="1600" dirty="0"/>
          </a:p>
          <a:p>
            <a:pPr marL="357188" marR="0" lvl="0" indent="-357188" algn="l" rtl="0">
              <a:spcAft>
                <a:spcPts val="600"/>
              </a:spcAft>
              <a:buSzPct val="100000"/>
              <a:buChar char="•"/>
            </a:pPr>
            <a:r>
              <a:rPr lang="en-US" sz="1600" dirty="0"/>
              <a:t>The valve stem grooves should match the inside shape of the keepers. Some valves have multiple keeper grooves. Others have only one. All of the valve stem grooves should be inspected for damage and fit by inserting a keeper in </a:t>
            </a:r>
            <a:r>
              <a:rPr lang="en-US" sz="1600"/>
              <a:t>them.</a:t>
            </a:r>
            <a:endParaRPr lang="en-US" sz="1600" dirty="0"/>
          </a:p>
        </p:txBody>
      </p:sp>
    </p:spTree>
    <p:extLst>
      <p:ext uri="{BB962C8B-B14F-4D97-AF65-F5344CB8AC3E}">
        <p14:creationId xmlns:p14="http://schemas.microsoft.com/office/powerpoint/2010/main" val="25506286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Inspection of the Valve Train (</a:t>
            </a:r>
            <a:r>
              <a:rPr lang="en-US" dirty="0"/>
              <a:t>1</a:t>
            </a:r>
            <a:r>
              <a:rPr lang="en-US" sz="4000" dirty="0"/>
              <a:t> of 4)</a:t>
            </a:r>
            <a:endParaRPr dirty="0"/>
          </a:p>
        </p:txBody>
      </p:sp>
      <p:sp>
        <p:nvSpPr>
          <p:cNvPr id="145" name="Google Shape;145;p4"/>
          <p:cNvSpPr txBox="1">
            <a:spLocks noGrp="1"/>
          </p:cNvSpPr>
          <p:nvPr>
            <p:ph type="body" idx="1"/>
          </p:nvPr>
        </p:nvSpPr>
        <p:spPr>
          <a:xfrm>
            <a:off x="476844" y="1563624"/>
            <a:ext cx="7761385" cy="4535839"/>
          </a:xfrm>
          <a:prstGeom prst="rect">
            <a:avLst/>
          </a:prstGeom>
          <a:noFill/>
          <a:ln>
            <a:noFill/>
          </a:ln>
        </p:spPr>
        <p:txBody>
          <a:bodyPr spcFirstLastPara="1" wrap="square" lIns="91425" tIns="45700" rIns="91425" bIns="45700" anchor="t" anchorCtr="0">
            <a:noAutofit/>
          </a:bodyPr>
          <a:lstStyle/>
          <a:p>
            <a:pPr marL="357188" marR="0" lvl="0" indent="-357188" algn="l" rtl="0">
              <a:spcBef>
                <a:spcPts val="624"/>
              </a:spcBef>
              <a:spcAft>
                <a:spcPts val="600"/>
              </a:spcAft>
              <a:buSzPct val="100000"/>
              <a:buChar char="•"/>
            </a:pPr>
            <a:r>
              <a:rPr lang="en-US" sz="1600" dirty="0"/>
              <a:t>When inspecting the valve train, each part should be carefully checked.</a:t>
            </a:r>
          </a:p>
          <a:p>
            <a:pPr marL="357188" marR="0" lvl="0" indent="-357188" algn="l" rtl="0">
              <a:spcBef>
                <a:spcPts val="624"/>
              </a:spcBef>
              <a:spcAft>
                <a:spcPts val="600"/>
              </a:spcAft>
              <a:buSzPct val="100000"/>
              <a:buChar char="•"/>
            </a:pPr>
            <a:r>
              <a:rPr lang="en-US" sz="1600" dirty="0"/>
              <a:t>Belt failure is commonly due to insufficient tensioning, extended service life, abusive operation, or worn tensioners. Most manufacturers recommend timing belt replacement every 60,000 miles.</a:t>
            </a:r>
          </a:p>
          <a:p>
            <a:pPr marL="357188" marR="0" lvl="0" indent="-357188" algn="l" rtl="0">
              <a:spcBef>
                <a:spcPts val="624"/>
              </a:spcBef>
              <a:spcAft>
                <a:spcPts val="600"/>
              </a:spcAft>
              <a:buSzPct val="100000"/>
              <a:buChar char="•"/>
            </a:pPr>
            <a:r>
              <a:rPr lang="en-US" sz="1600" dirty="0"/>
              <a:t>Loose timing belts will jump across the teeth of the timing sprockets, causing shearing of the belt teeth. Check for cord separation and cracks on all surfaces of the belt.</a:t>
            </a:r>
          </a:p>
          <a:p>
            <a:pPr marL="357188" marR="0" lvl="0" indent="-357188" algn="l" rtl="0">
              <a:spcBef>
                <a:spcPts val="624"/>
              </a:spcBef>
              <a:spcAft>
                <a:spcPts val="600"/>
              </a:spcAft>
              <a:buSzPct val="100000"/>
              <a:buChar char="•"/>
            </a:pPr>
            <a:r>
              <a:rPr lang="en-US" sz="1600" dirty="0"/>
              <a:t>Also check for evidence of exposure to oil or water.</a:t>
            </a:r>
          </a:p>
          <a:p>
            <a:pPr marL="357188" marR="0" lvl="0" indent="-357188" algn="l" rtl="0">
              <a:spcBef>
                <a:spcPts val="624"/>
              </a:spcBef>
              <a:spcAft>
                <a:spcPts val="600"/>
              </a:spcAft>
              <a:buSzPct val="100000"/>
              <a:buChar char="•"/>
            </a:pPr>
            <a:r>
              <a:rPr lang="en-US" sz="1600" dirty="0"/>
              <a:t>On many engines, severe engine damage can result from a broken timing belt.</a:t>
            </a:r>
          </a:p>
          <a:p>
            <a:pPr marL="357188" marR="0" lvl="0" indent="-357188" algn="l" rtl="0">
              <a:spcBef>
                <a:spcPts val="624"/>
              </a:spcBef>
              <a:spcAft>
                <a:spcPts val="600"/>
              </a:spcAft>
              <a:buSzPct val="100000"/>
              <a:buChar char="•"/>
            </a:pPr>
            <a:r>
              <a:rPr lang="en-US" sz="1600" dirty="0"/>
              <a:t>When a timing belt breaks, the camshaft no longer turns, but the crankshaft continues to rotate, causing the pistons to contact the valves.</a:t>
            </a:r>
          </a:p>
        </p:txBody>
      </p:sp>
      <p:pic>
        <p:nvPicPr>
          <p:cNvPr id="5" name="Picture Placeholder 4" descr="The timing belt failures. The first and the second belt: Peeling; Tooth missing and canvas fiber exposed; Third belt: Rounded edge with abnormal wear (fluffy strand); Fourth belt: Rubber exposed cracks; Peeling is marked on five belts.">
            <a:extLst>
              <a:ext uri="{FF2B5EF4-FFF2-40B4-BE49-F238E27FC236}">
                <a16:creationId xmlns:a16="http://schemas.microsoft.com/office/drawing/2014/main" id="{7623D6F9-17FF-EA46-5780-9AA5246E9A27}"/>
              </a:ext>
            </a:extLst>
          </p:cNvPr>
          <p:cNvPicPr>
            <a:picLocks noGrp="1" noChangeAspect="1"/>
          </p:cNvPicPr>
          <p:nvPr>
            <p:ph type="pic" sz="quarter" idx="10"/>
          </p:nvPr>
        </p:nvPicPr>
        <p:blipFill>
          <a:blip r:embed="rId3"/>
          <a:srcRect b="5854"/>
          <a:stretch/>
        </p:blipFill>
        <p:spPr>
          <a:xfrm>
            <a:off x="8238229" y="1791255"/>
            <a:ext cx="3708183" cy="3795037"/>
          </a:xfrm>
          <a:prstGeom prst="rect">
            <a:avLst/>
          </a:prstGeom>
        </p:spPr>
      </p:pic>
    </p:spTree>
    <p:extLst>
      <p:ext uri="{BB962C8B-B14F-4D97-AF65-F5344CB8AC3E}">
        <p14:creationId xmlns:p14="http://schemas.microsoft.com/office/powerpoint/2010/main" val="37093002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Inspection of the Valve Train (</a:t>
            </a:r>
            <a:r>
              <a:rPr lang="en-US" dirty="0"/>
              <a:t>2</a:t>
            </a:r>
            <a:r>
              <a:rPr lang="en-US" sz="4000" dirty="0"/>
              <a:t> of 4)</a:t>
            </a:r>
            <a:endParaRPr dirty="0"/>
          </a:p>
        </p:txBody>
      </p:sp>
      <p:sp>
        <p:nvSpPr>
          <p:cNvPr id="145" name="Google Shape;145;p4"/>
          <p:cNvSpPr txBox="1">
            <a:spLocks noGrp="1"/>
          </p:cNvSpPr>
          <p:nvPr>
            <p:ph type="body" idx="1"/>
          </p:nvPr>
        </p:nvSpPr>
        <p:spPr>
          <a:xfrm>
            <a:off x="476844" y="1563625"/>
            <a:ext cx="7953172" cy="4483884"/>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800" dirty="0">
                <a:solidFill>
                  <a:schemeClr val="accent1"/>
                </a:solidFill>
              </a:rPr>
              <a:t>Timing Chains: Late-model engines may have many drive chains.</a:t>
            </a:r>
          </a:p>
          <a:p>
            <a:pPr marL="357188" marR="0" lvl="0" indent="-357188" algn="l" rtl="0">
              <a:spcAft>
                <a:spcPts val="600"/>
              </a:spcAft>
              <a:buSzPct val="100000"/>
              <a:buChar char="•"/>
            </a:pPr>
            <a:r>
              <a:rPr lang="en-US" sz="1800" dirty="0">
                <a:solidFill>
                  <a:schemeClr val="accent1"/>
                </a:solidFill>
              </a:rPr>
              <a:t>Those with one chain use it to drive the camshaft(s) by the crankshaft.</a:t>
            </a:r>
          </a:p>
          <a:p>
            <a:pPr marL="357188" marR="0" lvl="0" indent="-357188" algn="l" rtl="0">
              <a:spcAft>
                <a:spcPts val="600"/>
              </a:spcAft>
              <a:buSzPct val="100000"/>
              <a:buChar char="•"/>
            </a:pPr>
            <a:r>
              <a:rPr lang="en-US" sz="1800" dirty="0">
                <a:solidFill>
                  <a:schemeClr val="accent1"/>
                </a:solidFill>
              </a:rPr>
              <a:t>Each drive chain should be inspected and replaced if it is damaged.</a:t>
            </a:r>
          </a:p>
          <a:p>
            <a:pPr marL="357188" marR="0" lvl="0" indent="-357188" algn="l" rtl="0">
              <a:spcAft>
                <a:spcPts val="600"/>
              </a:spcAft>
              <a:buSzPct val="100000"/>
              <a:buChar char="•"/>
            </a:pPr>
            <a:r>
              <a:rPr lang="en-US" sz="1800" dirty="0">
                <a:solidFill>
                  <a:schemeClr val="accent1"/>
                </a:solidFill>
              </a:rPr>
              <a:t>The length of the chain should also be checked.</a:t>
            </a:r>
          </a:p>
          <a:p>
            <a:pPr marL="717550" lvl="1" indent="-354013">
              <a:spcAft>
                <a:spcPts val="600"/>
              </a:spcAft>
              <a:buSzPct val="100000"/>
            </a:pPr>
            <a:r>
              <a:rPr lang="en-US" sz="1600" dirty="0">
                <a:solidFill>
                  <a:schemeClr val="accent1"/>
                </a:solidFill>
              </a:rPr>
              <a:t>Some manufacturers recommend measuring the entire length of the chain and comparing that to specifications.</a:t>
            </a:r>
          </a:p>
          <a:p>
            <a:pPr marL="717550" lvl="1" indent="-354013">
              <a:spcAft>
                <a:spcPts val="600"/>
              </a:spcAft>
              <a:buSzPct val="100000"/>
            </a:pPr>
            <a:r>
              <a:rPr lang="en-US" sz="1600" dirty="0">
                <a:solidFill>
                  <a:schemeClr val="accent1"/>
                </a:solidFill>
              </a:rPr>
              <a:t>The chains on other engines should be measured in sections while they are being stretched. To do this, pull the chain with the specified tension. Then measure the length of the specified number of chain links.</a:t>
            </a:r>
          </a:p>
        </p:txBody>
      </p:sp>
      <p:pic>
        <p:nvPicPr>
          <p:cNvPr id="4" name="Picture Placeholder 3" descr="An engine equipped with a lengthy chain responsible for driving the camshafts and a shorter chain dedicated to driving the balance shaft.">
            <a:extLst>
              <a:ext uri="{FF2B5EF4-FFF2-40B4-BE49-F238E27FC236}">
                <a16:creationId xmlns:a16="http://schemas.microsoft.com/office/drawing/2014/main" id="{732E3A60-4156-0498-A5D2-F47FE24C4421}"/>
              </a:ext>
            </a:extLst>
          </p:cNvPr>
          <p:cNvPicPr>
            <a:picLocks noGrp="1" noChangeAspect="1"/>
          </p:cNvPicPr>
          <p:nvPr>
            <p:ph type="pic" sz="quarter" idx="10"/>
          </p:nvPr>
        </p:nvPicPr>
        <p:blipFill>
          <a:blip r:embed="rId3"/>
          <a:srcRect b="6484"/>
          <a:stretch/>
        </p:blipFill>
        <p:spPr>
          <a:xfrm>
            <a:off x="8591550" y="1661061"/>
            <a:ext cx="3051601" cy="3991594"/>
          </a:xfrm>
          <a:prstGeom prst="rect">
            <a:avLst/>
          </a:prstGeom>
        </p:spPr>
      </p:pic>
    </p:spTree>
    <p:extLst>
      <p:ext uri="{BB962C8B-B14F-4D97-AF65-F5344CB8AC3E}">
        <p14:creationId xmlns:p14="http://schemas.microsoft.com/office/powerpoint/2010/main" val="37409024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Inspection of the Valve Train (3 of </a:t>
            </a:r>
            <a:r>
              <a:rPr lang="en-US" dirty="0"/>
              <a:t>4</a:t>
            </a:r>
            <a:r>
              <a:rPr lang="en-US" sz="4000" dirty="0"/>
              <a:t>)</a:t>
            </a:r>
            <a:endParaRPr dirty="0"/>
          </a:p>
        </p:txBody>
      </p:sp>
      <p:sp>
        <p:nvSpPr>
          <p:cNvPr id="145" name="Google Shape;145;p4"/>
          <p:cNvSpPr txBox="1">
            <a:spLocks noGrp="1"/>
          </p:cNvSpPr>
          <p:nvPr>
            <p:ph type="body" idx="1"/>
          </p:nvPr>
        </p:nvSpPr>
        <p:spPr>
          <a:xfrm>
            <a:off x="476844" y="1563624"/>
            <a:ext cx="7056565" cy="4473493"/>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600" dirty="0"/>
              <a:t>The tensioners of belt and chain drive systems should be </a:t>
            </a:r>
            <a:r>
              <a:rPr lang="en-US" sz="1600"/>
              <a:t>checked.</a:t>
            </a:r>
            <a:endParaRPr lang="en-US" sz="1600" dirty="0"/>
          </a:p>
          <a:p>
            <a:pPr marL="357188" marR="0" lvl="0" indent="-357188" algn="l" rtl="0">
              <a:spcAft>
                <a:spcPts val="600"/>
              </a:spcAft>
              <a:buSzPct val="100000"/>
              <a:buChar char="•"/>
            </a:pPr>
            <a:r>
              <a:rPr lang="en-US" sz="1600" dirty="0"/>
              <a:t>Check the surface of the tensioner’s pulley. It should be smooth and have no buildup of grease or </a:t>
            </a:r>
            <a:r>
              <a:rPr lang="en-US" sz="1600"/>
              <a:t>oil.</a:t>
            </a:r>
            <a:endParaRPr lang="en-US" sz="1600" dirty="0"/>
          </a:p>
          <a:p>
            <a:pPr marL="357188" marR="0" lvl="0" indent="-357188" algn="l" rtl="0">
              <a:spcAft>
                <a:spcPts val="600"/>
              </a:spcAft>
              <a:buSzPct val="100000"/>
              <a:buChar char="•"/>
            </a:pPr>
            <a:r>
              <a:rPr lang="en-US" sz="1600" dirty="0"/>
              <a:t>Most belt tensioners should also be checked for signs of lubricant leakage. Check around the seal. If any damage or leakage is evident, the tensioner should be </a:t>
            </a:r>
            <a:r>
              <a:rPr lang="en-US" sz="1600"/>
              <a:t>replaced.</a:t>
            </a:r>
            <a:endParaRPr lang="en-US" sz="1600" dirty="0"/>
          </a:p>
          <a:p>
            <a:pPr marL="357188" marR="0" lvl="0" indent="-357188" algn="l" rtl="0">
              <a:spcAft>
                <a:spcPts val="600"/>
              </a:spcAft>
              <a:buSzPct val="100000"/>
              <a:buChar char="•"/>
            </a:pPr>
            <a:r>
              <a:rPr lang="en-US" sz="1600" dirty="0"/>
              <a:t>The action of a belt tensioner should be checked. Make sure the spring is free to move the tensioner pulley. If the tensioner spring is defective, replace the tensioner. </a:t>
            </a:r>
          </a:p>
          <a:p>
            <a:pPr marL="357188" marR="0" lvl="0" indent="-357188" algn="l" rtl="0">
              <a:spcAft>
                <a:spcPts val="600"/>
              </a:spcAft>
              <a:buSzPct val="100000"/>
              <a:buChar char="•"/>
            </a:pPr>
            <a:r>
              <a:rPr lang="en-US" sz="1600" dirty="0"/>
              <a:t>On plunger-type tensioners, hold the tensioner with both hands and push the pushrod strongly against a flat surface. The pushrod should not move. If it does, replace the </a:t>
            </a:r>
            <a:r>
              <a:rPr lang="en-US" sz="1600"/>
              <a:t>tensioner.</a:t>
            </a:r>
            <a:endParaRPr lang="en-US" sz="1600" dirty="0"/>
          </a:p>
          <a:p>
            <a:pPr marL="357188" marR="0" lvl="0" indent="-357188" algn="l" rtl="0">
              <a:spcAft>
                <a:spcPts val="600"/>
              </a:spcAft>
              <a:buSzPct val="100000"/>
              <a:buChar char="•"/>
            </a:pPr>
            <a:r>
              <a:rPr lang="en-US" sz="1600" dirty="0"/>
              <a:t>Measure the distance the pushrod extends from the housing. Compare that distance to </a:t>
            </a:r>
            <a:r>
              <a:rPr lang="en-US" sz="1600"/>
              <a:t>specifications.</a:t>
            </a:r>
            <a:endParaRPr lang="en-US" sz="1600" dirty="0"/>
          </a:p>
        </p:txBody>
      </p:sp>
      <p:pic>
        <p:nvPicPr>
          <p:cNvPr id="5" name="Picture Placeholder 4" descr="The exploded view of a timing belt tensioner assembly. The labeled parts are as follows: mounting collar, belt tensioner, and attaching bolt.">
            <a:extLst>
              <a:ext uri="{FF2B5EF4-FFF2-40B4-BE49-F238E27FC236}">
                <a16:creationId xmlns:a16="http://schemas.microsoft.com/office/drawing/2014/main" id="{0C40DCC1-90C4-5815-BDE6-69ED890AA038}"/>
              </a:ext>
            </a:extLst>
          </p:cNvPr>
          <p:cNvPicPr>
            <a:picLocks noGrp="1" noChangeAspect="1"/>
          </p:cNvPicPr>
          <p:nvPr>
            <p:ph type="pic" sz="quarter" idx="10"/>
          </p:nvPr>
        </p:nvPicPr>
        <p:blipFill>
          <a:blip r:embed="rId3"/>
          <a:srcRect b="11799"/>
          <a:stretch/>
        </p:blipFill>
        <p:spPr>
          <a:xfrm>
            <a:off x="7648398" y="2504789"/>
            <a:ext cx="4391638" cy="2285420"/>
          </a:xfrm>
          <a:prstGeom prst="rect">
            <a:avLst/>
          </a:prstGeom>
        </p:spPr>
      </p:pic>
    </p:spTree>
    <p:extLst>
      <p:ext uri="{BB962C8B-B14F-4D97-AF65-F5344CB8AC3E}">
        <p14:creationId xmlns:p14="http://schemas.microsoft.com/office/powerpoint/2010/main" val="29996539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Inspection of the Valve Train (4 of </a:t>
            </a:r>
            <a:r>
              <a:rPr lang="en-US" dirty="0"/>
              <a:t>4</a:t>
            </a:r>
            <a:r>
              <a:rPr lang="en-US" sz="4000" dirty="0"/>
              <a:t>)</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800" dirty="0">
                <a:solidFill>
                  <a:schemeClr val="accent1"/>
                </a:solidFill>
              </a:rPr>
              <a:t>Camshaft phasers can be checked while it is attached to the camshaft.</a:t>
            </a:r>
          </a:p>
          <a:p>
            <a:pPr marL="357188" marR="0" lvl="0" indent="-357188" algn="l" rtl="0">
              <a:spcAft>
                <a:spcPts val="600"/>
              </a:spcAft>
              <a:buSzPct val="100000"/>
              <a:buChar char="•"/>
            </a:pPr>
            <a:r>
              <a:rPr lang="en-US" sz="1800" dirty="0">
                <a:solidFill>
                  <a:schemeClr val="accent1"/>
                </a:solidFill>
              </a:rPr>
              <a:t>Clamp the camshaft in a soft-jawed vise. Attempt to rotate the timing gear on the phaser. If it moves, the phaser must be replaced.</a:t>
            </a:r>
          </a:p>
          <a:p>
            <a:pPr marL="357188" marR="0" lvl="0" indent="-357188" algn="l" rtl="0">
              <a:spcAft>
                <a:spcPts val="600"/>
              </a:spcAft>
              <a:buSzPct val="100000"/>
              <a:buChar char="•"/>
            </a:pPr>
            <a:r>
              <a:rPr lang="en-US" sz="1800" dirty="0">
                <a:solidFill>
                  <a:schemeClr val="accent1"/>
                </a:solidFill>
              </a:rPr>
              <a:t>During inspection, some pushrods may have a groove worn in the area where they pass through the cylinder head, and some may have tip wear. All damaged pushrods should be replaced. Hollow pushrods should be thoroughly cleaned so that there are no blockages in the bore. Also, the ends of the pushrods should be checked for nicks, grooves, roughness, or signs of excessive wear. Check the straightness of each of the pushrods.</a:t>
            </a:r>
          </a:p>
          <a:p>
            <a:pPr marL="357188" marR="0" lvl="0" indent="-357188" algn="l" rtl="0">
              <a:spcAft>
                <a:spcPts val="600"/>
              </a:spcAft>
              <a:buSzPct val="100000"/>
              <a:buChar char="•"/>
            </a:pPr>
            <a:r>
              <a:rPr lang="en-US" sz="1800" dirty="0">
                <a:solidFill>
                  <a:schemeClr val="accent1"/>
                </a:solidFill>
              </a:rPr>
              <a:t>Camshaft and Bearings: The camshafts in most OHC engines are secured to the cylinder head by bearing caps. Some ride on split bearings, whereas others ride on a machined surface in the cylinder head. The bearings or bearing surface should be carefully inspected for signs of unusual wear. If the engine is equipped with camshaft bearings, they are normally replaced during engine rebuilding.</a:t>
            </a:r>
          </a:p>
        </p:txBody>
      </p:sp>
    </p:spTree>
    <p:extLst>
      <p:ext uri="{BB962C8B-B14F-4D97-AF65-F5344CB8AC3E}">
        <p14:creationId xmlns:p14="http://schemas.microsoft.com/office/powerpoint/2010/main" val="29531397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Servicing Cylinder Heads (1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2000" dirty="0">
                <a:solidFill>
                  <a:schemeClr val="accent1"/>
                </a:solidFill>
              </a:rPr>
              <a:t>Service to the cylinder head may involve many different procedures. These vary with the metal used to make the head and the design of the </a:t>
            </a:r>
            <a:r>
              <a:rPr lang="en-US" sz="2000">
                <a:solidFill>
                  <a:schemeClr val="accent1"/>
                </a:solidFill>
              </a:rPr>
              <a:t>engine.</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Crack Repair: Common locations of cracks in a cylinder head include: between the spark plug bore and the valve seat, between the valve seats, around the valve guides, and in the exhaust </a:t>
            </a:r>
            <a:r>
              <a:rPr lang="en-US" sz="2000">
                <a:solidFill>
                  <a:schemeClr val="accent1"/>
                </a:solidFill>
              </a:rPr>
              <a:t>ports.</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In most cases, a cracked head should be replaced. However, some cracks can be effectively repaired. Crack repair is normally done by specialty shops. </a:t>
            </a:r>
          </a:p>
          <a:p>
            <a:pPr marL="357188" marR="0" lvl="0" indent="-357188" algn="l" rtl="0">
              <a:spcAft>
                <a:spcPts val="600"/>
              </a:spcAft>
              <a:buSzPct val="100000"/>
              <a:buChar char="•"/>
            </a:pPr>
            <a:r>
              <a:rPr lang="en-US" sz="2000" dirty="0">
                <a:solidFill>
                  <a:schemeClr val="accent1"/>
                </a:solidFill>
              </a:rPr>
              <a:t>The cause of the cracking needs to be identified and </a:t>
            </a:r>
            <a:r>
              <a:rPr lang="en-US" sz="2000">
                <a:solidFill>
                  <a:schemeClr val="accent1"/>
                </a:solidFill>
              </a:rPr>
              <a:t>corrected.</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No matter what caused the crack, the crack needs to be repaired if the head is </a:t>
            </a:r>
            <a:r>
              <a:rPr lang="en-US" sz="2000">
                <a:solidFill>
                  <a:schemeClr val="accent1"/>
                </a:solidFill>
              </a:rPr>
              <a:t>reused.</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Crack repair is done by the cold process of pinning or the hot process of welding.</a:t>
            </a:r>
          </a:p>
        </p:txBody>
      </p:sp>
    </p:spTree>
    <p:extLst>
      <p:ext uri="{BB962C8B-B14F-4D97-AF65-F5344CB8AC3E}">
        <p14:creationId xmlns:p14="http://schemas.microsoft.com/office/powerpoint/2010/main" val="18640766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Servicing Cylinder Heads (2 of 2)</a:t>
            </a:r>
            <a:endParaRPr dirty="0"/>
          </a:p>
        </p:txBody>
      </p:sp>
      <p:sp>
        <p:nvSpPr>
          <p:cNvPr id="145" name="Google Shape;145;p4"/>
          <p:cNvSpPr txBox="1">
            <a:spLocks noGrp="1"/>
          </p:cNvSpPr>
          <p:nvPr>
            <p:ph type="body" idx="1"/>
          </p:nvPr>
        </p:nvSpPr>
        <p:spPr>
          <a:xfrm>
            <a:off x="476844" y="1563625"/>
            <a:ext cx="7181256" cy="4618966"/>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800" dirty="0"/>
              <a:t>The amount a valve guide is worn can be measured with a ball (small-bore) gauge and micrometer. Insert and expand the ball gauge at the top of the guide, then measure the ball gauge with an outside micrometer. Repeat this process with the ball gauge in the middle and the bottom of the </a:t>
            </a:r>
            <a:r>
              <a:rPr lang="en-US" sz="1800"/>
              <a:t>guide.</a:t>
            </a:r>
            <a:endParaRPr lang="en-US" sz="1800" dirty="0"/>
          </a:p>
          <a:p>
            <a:pPr marL="357188" marR="0" lvl="0" indent="-357188" algn="l" rtl="0">
              <a:spcAft>
                <a:spcPts val="600"/>
              </a:spcAft>
              <a:buSzPct val="100000"/>
              <a:buChar char="•"/>
            </a:pPr>
            <a:r>
              <a:rPr lang="en-US" sz="1800" dirty="0"/>
              <a:t>Any difference in reading indicates taper or wear inside the guide. Compare the measured diameter to </a:t>
            </a:r>
            <a:r>
              <a:rPr lang="en-US" sz="1800"/>
              <a:t>specifications.</a:t>
            </a:r>
            <a:endParaRPr lang="en-US" sz="1800" dirty="0"/>
          </a:p>
          <a:p>
            <a:pPr marL="357188" marR="0" lvl="0" indent="-357188" algn="l" rtl="0">
              <a:spcAft>
                <a:spcPts val="600"/>
              </a:spcAft>
              <a:buSzPct val="100000"/>
              <a:buChar char="•"/>
            </a:pPr>
            <a:r>
              <a:rPr lang="en-US" sz="1800" dirty="0"/>
              <a:t>A dial indicator can also be used in a different procedure. </a:t>
            </a:r>
          </a:p>
          <a:p>
            <a:pPr marL="357188" indent="-357188">
              <a:spcAft>
                <a:spcPts val="600"/>
              </a:spcAft>
              <a:buSzPct val="100000"/>
            </a:pPr>
            <a:r>
              <a:rPr lang="en-US" sz="1800" dirty="0"/>
              <a:t>Although oil consumption is more of a problem with sloppy or worn intake guides, oil can also be pulled down the exhaust guides by the suction created in the exhaust </a:t>
            </a:r>
            <a:r>
              <a:rPr lang="en-US" sz="1800"/>
              <a:t>port.</a:t>
            </a:r>
            <a:endParaRPr lang="en-US" sz="1800" dirty="0"/>
          </a:p>
        </p:txBody>
      </p:sp>
      <p:pic>
        <p:nvPicPr>
          <p:cNvPr id="5" name="Picture Placeholder 4" descr="A small hole gauge is held at the top of the valve guide. The measurement in three places are as follows: top of the valve guide, middle of the valve guide and bottom of the valve guide.">
            <a:extLst>
              <a:ext uri="{FF2B5EF4-FFF2-40B4-BE49-F238E27FC236}">
                <a16:creationId xmlns:a16="http://schemas.microsoft.com/office/drawing/2014/main" id="{30533743-B032-F10A-7830-1900F96D4DA2}"/>
              </a:ext>
            </a:extLst>
          </p:cNvPr>
          <p:cNvPicPr>
            <a:picLocks noGrp="1" noChangeAspect="1"/>
          </p:cNvPicPr>
          <p:nvPr>
            <p:ph type="pic" sz="quarter" idx="10"/>
          </p:nvPr>
        </p:nvPicPr>
        <p:blipFill rotWithShape="1">
          <a:blip r:embed="rId3"/>
          <a:srcRect b="24956"/>
          <a:stretch/>
        </p:blipFill>
        <p:spPr>
          <a:xfrm>
            <a:off x="7752157" y="2905717"/>
            <a:ext cx="3923115" cy="1572765"/>
          </a:xfrm>
          <a:prstGeom prst="rect">
            <a:avLst/>
          </a:prstGeom>
        </p:spPr>
      </p:pic>
    </p:spTree>
    <p:extLst>
      <p:ext uri="{BB962C8B-B14F-4D97-AF65-F5344CB8AC3E}">
        <p14:creationId xmlns:p14="http://schemas.microsoft.com/office/powerpoint/2010/main" val="29915975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 Valve Stem Seals (1 of </a:t>
            </a:r>
            <a:r>
              <a:rPr lang="en-US" sz="4000"/>
              <a:t>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600" dirty="0"/>
              <a:t>Valve stem seals are used to control the amount of oil that flows between the valve stem and the </a:t>
            </a:r>
            <a:r>
              <a:rPr lang="en-US" sz="1600"/>
              <a:t>guide.</a:t>
            </a:r>
            <a:endParaRPr lang="en-US" sz="1600" dirty="0"/>
          </a:p>
          <a:p>
            <a:pPr marL="357188" marR="0" lvl="0" indent="-357188" algn="l" rtl="0">
              <a:spcAft>
                <a:spcPts val="600"/>
              </a:spcAft>
              <a:buSzPct val="100000"/>
              <a:buChar char="•"/>
            </a:pPr>
            <a:r>
              <a:rPr lang="en-US" sz="1600" dirty="0"/>
              <a:t>Insufficient lubrication will allow the stems and guides to scuff and </a:t>
            </a:r>
            <a:r>
              <a:rPr lang="en-US" sz="1600"/>
              <a:t>wear.</a:t>
            </a:r>
            <a:endParaRPr lang="en-US" sz="1600" dirty="0"/>
          </a:p>
          <a:p>
            <a:pPr marL="357188" marR="0" lvl="0" indent="-357188" algn="l" rtl="0">
              <a:spcAft>
                <a:spcPts val="600"/>
              </a:spcAft>
              <a:buSzPct val="100000"/>
              <a:buChar char="•"/>
            </a:pPr>
            <a:r>
              <a:rPr lang="en-US" sz="1600" dirty="0"/>
              <a:t>Too much oil causes a buildup of heavy deposits on the intake valve and hard deposits on the exhaust valve </a:t>
            </a:r>
            <a:r>
              <a:rPr lang="en-US" sz="1600"/>
              <a:t>stem.</a:t>
            </a:r>
            <a:endParaRPr lang="en-US" sz="1600" dirty="0"/>
          </a:p>
          <a:p>
            <a:pPr marL="357188" marR="0" lvl="0" indent="-357188" algn="l" rtl="0">
              <a:spcAft>
                <a:spcPts val="600"/>
              </a:spcAft>
              <a:buSzPct val="100000"/>
              <a:buChar char="•"/>
            </a:pPr>
            <a:r>
              <a:rPr lang="en-US" sz="1600" dirty="0"/>
              <a:t>Worn valve stem seals can increase oil consumption by as much as 70 percent. There are basically three types of </a:t>
            </a:r>
            <a:r>
              <a:rPr lang="en-US" sz="1600"/>
              <a:t>seals.</a:t>
            </a:r>
            <a:endParaRPr lang="en-US" sz="1600" dirty="0"/>
          </a:p>
          <a:p>
            <a:pPr marL="357188" marR="0" lvl="0" indent="-357188" algn="l" rtl="0">
              <a:spcAft>
                <a:spcPts val="600"/>
              </a:spcAft>
              <a:buSzPct val="100000"/>
              <a:buChar char="•"/>
            </a:pPr>
            <a:r>
              <a:rPr lang="en-US" sz="1600" b="1" dirty="0"/>
              <a:t>Positive seals </a:t>
            </a:r>
            <a:r>
              <a:rPr lang="en-US" sz="1600" dirty="0"/>
              <a:t>fit tightly around the top of the guide and scrape oil off the valve stem as it moves up and </a:t>
            </a:r>
            <a:r>
              <a:rPr lang="en-US" sz="1600"/>
              <a:t>down.</a:t>
            </a:r>
            <a:endParaRPr lang="en-US" sz="1600" dirty="0"/>
          </a:p>
          <a:p>
            <a:pPr marL="357188" marR="0" lvl="0" indent="-357188" algn="l" rtl="0">
              <a:spcAft>
                <a:spcPts val="600"/>
              </a:spcAft>
              <a:buSzPct val="100000"/>
              <a:buChar char="•"/>
            </a:pPr>
            <a:r>
              <a:rPr lang="en-US" sz="1600" dirty="0"/>
              <a:t>Deflector, splash, or umbrella-type seals ride up and down on the valve stems to deflect oil away from the </a:t>
            </a:r>
            <a:r>
              <a:rPr lang="en-US" sz="1600"/>
              <a:t>guides.</a:t>
            </a:r>
            <a:endParaRPr lang="en-US" sz="1600" dirty="0"/>
          </a:p>
          <a:p>
            <a:pPr marL="357188" marR="0" lvl="0" indent="-357188" algn="l" rtl="0">
              <a:spcAft>
                <a:spcPts val="600"/>
              </a:spcAft>
              <a:buSzPct val="100000"/>
              <a:buChar char="•"/>
            </a:pPr>
            <a:r>
              <a:rPr lang="en-US" sz="1600" dirty="0"/>
              <a:t>O-ring seals are used to prevent oil from moving into the guide when the valve is open. If replacing valve stem seals on an engine still installed in the vehicle, remove the valve cover(s) and spark </a:t>
            </a:r>
            <a:r>
              <a:rPr lang="en-US" sz="1600"/>
              <a:t>plugs.</a:t>
            </a:r>
            <a:endParaRPr lang="en-US" sz="1600" dirty="0"/>
          </a:p>
        </p:txBody>
      </p:sp>
    </p:spTree>
    <p:extLst>
      <p:ext uri="{BB962C8B-B14F-4D97-AF65-F5344CB8AC3E}">
        <p14:creationId xmlns:p14="http://schemas.microsoft.com/office/powerpoint/2010/main" val="40411816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 Valve Stem Seals (2 of 2)</a:t>
            </a:r>
            <a:endParaRPr dirty="0"/>
          </a:p>
        </p:txBody>
      </p:sp>
      <p:sp>
        <p:nvSpPr>
          <p:cNvPr id="145" name="Google Shape;145;p4"/>
          <p:cNvSpPr txBox="1">
            <a:spLocks noGrp="1"/>
          </p:cNvSpPr>
          <p:nvPr>
            <p:ph type="body" idx="1"/>
          </p:nvPr>
        </p:nvSpPr>
        <p:spPr>
          <a:xfrm>
            <a:off x="476843" y="1563625"/>
            <a:ext cx="8180207" cy="4525448"/>
          </a:xfrm>
          <a:prstGeom prst="rect">
            <a:avLst/>
          </a:prstGeom>
          <a:noFill/>
          <a:ln>
            <a:noFill/>
          </a:ln>
        </p:spPr>
        <p:txBody>
          <a:bodyPr spcFirstLastPara="1" wrap="square" lIns="91425" tIns="45700" rIns="91425" bIns="45700" anchor="t" anchorCtr="0">
            <a:noAutofit/>
          </a:bodyPr>
          <a:lstStyle/>
          <a:p>
            <a:pPr marL="357188" indent="-357188">
              <a:lnSpc>
                <a:spcPct val="107000"/>
              </a:lnSpc>
              <a:spcBef>
                <a:spcPts val="0"/>
              </a:spcBef>
              <a:buSzPct val="100000"/>
            </a:pPr>
            <a:r>
              <a:rPr lang="en-US" sz="2000" dirty="0">
                <a:solidFill>
                  <a:schemeClr val="accent1"/>
                </a:solidFill>
              </a:rPr>
              <a:t>To keep the valves from dropping down into the guides, compressed air is used to pressurize the cylinder.</a:t>
            </a:r>
          </a:p>
          <a:p>
            <a:pPr marL="357188" marR="0" lvl="0" indent="-357188" algn="l" rtl="0">
              <a:lnSpc>
                <a:spcPct val="107000"/>
              </a:lnSpc>
              <a:spcBef>
                <a:spcPts val="0"/>
              </a:spcBef>
              <a:spcAft>
                <a:spcPts val="0"/>
              </a:spcAft>
              <a:buSzPct val="100000"/>
              <a:buChar char="•"/>
            </a:pPr>
            <a:r>
              <a:rPr lang="en-US" sz="2000" dirty="0">
                <a:solidFill>
                  <a:schemeClr val="accent1"/>
                </a:solidFill>
              </a:rPr>
              <a:t>To install a positive valve seal, place the plastic sleeve from the seal kit over the end of the valve stem to protect the seal as it slides over the keeper grooves. Lightly lubricate the sleeve before pushing and seating the seal in </a:t>
            </a:r>
            <a:r>
              <a:rPr lang="en-US" sz="2000">
                <a:solidFill>
                  <a:schemeClr val="accent1"/>
                </a:solidFill>
              </a:rPr>
              <a:t>place.</a:t>
            </a:r>
            <a:endParaRPr lang="en-US" sz="2000" dirty="0">
              <a:solidFill>
                <a:schemeClr val="accent1"/>
              </a:solidFill>
            </a:endParaRPr>
          </a:p>
          <a:p>
            <a:pPr marL="357188" marR="0" lvl="0" indent="-357188" algn="l" rtl="0">
              <a:lnSpc>
                <a:spcPct val="107000"/>
              </a:lnSpc>
              <a:spcBef>
                <a:spcPts val="0"/>
              </a:spcBef>
              <a:spcAft>
                <a:spcPts val="0"/>
              </a:spcAft>
              <a:buSzPct val="100000"/>
              <a:buChar char="•"/>
            </a:pPr>
            <a:r>
              <a:rPr lang="en-US" sz="2000" dirty="0">
                <a:solidFill>
                  <a:schemeClr val="accent1"/>
                </a:solidFill>
              </a:rPr>
              <a:t>Installing Umbrella-Type Valve Seals: An umbrella-type seal is installed on the valve stem before the spring is installed. It is pushed down on the valve stem until it touches the valve guide boss.</a:t>
            </a:r>
          </a:p>
          <a:p>
            <a:pPr marL="357188" marR="0" lvl="0" indent="-357188" algn="l" rtl="0">
              <a:lnSpc>
                <a:spcPct val="107000"/>
              </a:lnSpc>
              <a:spcBef>
                <a:spcPts val="0"/>
              </a:spcBef>
              <a:spcAft>
                <a:spcPts val="0"/>
              </a:spcAft>
              <a:buSzPct val="100000"/>
              <a:buChar char="•"/>
            </a:pPr>
            <a:r>
              <a:rPr lang="en-US" sz="2000" dirty="0">
                <a:solidFill>
                  <a:schemeClr val="accent1"/>
                </a:solidFill>
              </a:rPr>
              <a:t>Installing O-Rings: When installing O-rings, use engine oil to lightly lubricate the O-ring. Then install it in the lower groove of the lock section of the valve stem. Make sure the O-ring is not twisted.</a:t>
            </a:r>
          </a:p>
        </p:txBody>
      </p:sp>
      <p:pic>
        <p:nvPicPr>
          <p:cNvPr id="5" name="Picture Placeholder 4" descr="A cut-a-way view of automotive valve assembly with an umbrella- type oil seal. The labeled parts are as follows: valve guide, valve guide seal, valve locks (keepers), spring retainer, and valve spring assembly.">
            <a:extLst>
              <a:ext uri="{FF2B5EF4-FFF2-40B4-BE49-F238E27FC236}">
                <a16:creationId xmlns:a16="http://schemas.microsoft.com/office/drawing/2014/main" id="{7842F024-905F-3D53-3A77-1CC1875BFB64}"/>
              </a:ext>
            </a:extLst>
          </p:cNvPr>
          <p:cNvPicPr>
            <a:picLocks noGrp="1" noChangeAspect="1"/>
          </p:cNvPicPr>
          <p:nvPr>
            <p:ph type="pic" sz="quarter" idx="10"/>
          </p:nvPr>
        </p:nvPicPr>
        <p:blipFill>
          <a:blip r:embed="rId3"/>
          <a:srcRect b="9441"/>
          <a:stretch/>
        </p:blipFill>
        <p:spPr>
          <a:xfrm>
            <a:off x="8657050" y="2183232"/>
            <a:ext cx="3058107" cy="3111143"/>
          </a:xfrm>
          <a:prstGeom prst="rect">
            <a:avLst/>
          </a:prstGeom>
        </p:spPr>
      </p:pic>
    </p:spTree>
    <p:extLst>
      <p:ext uri="{BB962C8B-B14F-4D97-AF65-F5344CB8AC3E}">
        <p14:creationId xmlns:p14="http://schemas.microsoft.com/office/powerpoint/2010/main" val="2261566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 Assembling the Cylinder Head (</a:t>
            </a:r>
            <a:r>
              <a:rPr lang="en-US" dirty="0"/>
              <a:t>1</a:t>
            </a:r>
            <a:r>
              <a:rPr lang="en-US" sz="4000" dirty="0"/>
              <a:t>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2000" dirty="0"/>
              <a:t>Before a cylinder head is reassembled and installed, two measurements must be checked:</a:t>
            </a:r>
          </a:p>
          <a:p>
            <a:pPr marL="717550" lvl="1" indent="-354013">
              <a:spcAft>
                <a:spcPts val="600"/>
              </a:spcAft>
              <a:buSzPct val="100000"/>
            </a:pPr>
            <a:r>
              <a:rPr lang="en-US" sz="1800" dirty="0"/>
              <a:t>Installed stem height is the distance between the spring seat and stem tip. A number of tools can be used to obtain an accurate stem height reading, including a depth micrometer, vernier caliper, and telescoping gauge.</a:t>
            </a:r>
          </a:p>
          <a:p>
            <a:pPr marL="717550" lvl="1" indent="-354013">
              <a:spcAft>
                <a:spcPts val="600"/>
              </a:spcAft>
              <a:buSzPct val="100000"/>
            </a:pPr>
            <a:r>
              <a:rPr lang="en-US" sz="1800" dirty="0"/>
              <a:t>Installed spring height is measured from the spring seat to the underside of the retainer when it is assembled with keepers.</a:t>
            </a:r>
          </a:p>
          <a:p>
            <a:pPr marL="1081088" lvl="2" indent="-363538">
              <a:spcAft>
                <a:spcPts val="600"/>
              </a:spcAft>
              <a:buSzPct val="100000"/>
            </a:pPr>
            <a:r>
              <a:rPr lang="en-US" sz="1600" dirty="0"/>
              <a:t>This measurement can be made with a set of dividers or scales, telescoping gauge, or spring height gauge. Adjustments to valve spring height can be made with valve spring inserts, also known as spring shims.</a:t>
            </a:r>
          </a:p>
          <a:p>
            <a:pPr marL="1081088" lvl="2" indent="-363538">
              <a:spcAft>
                <a:spcPts val="600"/>
              </a:spcAft>
              <a:buSzPct val="100000"/>
            </a:pPr>
            <a:r>
              <a:rPr lang="en-US" sz="1600" dirty="0"/>
              <a:t>These shims come only in three standard thicknesses—0.060, 0.030, and 0.015 inch (1.52, 0.7620, and 0.3810 mm).</a:t>
            </a:r>
          </a:p>
          <a:p>
            <a:pPr marL="1081088" lvl="2" indent="-363538">
              <a:spcAft>
                <a:spcPts val="600"/>
              </a:spcAft>
              <a:buSzPct val="100000"/>
            </a:pPr>
            <a:r>
              <a:rPr lang="en-US" sz="1600" dirty="0"/>
              <a:t>Using combinations of different shims allows compensation for variations in spring height.</a:t>
            </a:r>
          </a:p>
        </p:txBody>
      </p:sp>
    </p:spTree>
    <p:extLst>
      <p:ext uri="{BB962C8B-B14F-4D97-AF65-F5344CB8AC3E}">
        <p14:creationId xmlns:p14="http://schemas.microsoft.com/office/powerpoint/2010/main" val="3141138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 Assembling the Cylinder Head (2 of 2)</a:t>
            </a:r>
            <a:endParaRPr dirty="0"/>
          </a:p>
        </p:txBody>
      </p:sp>
      <p:sp>
        <p:nvSpPr>
          <p:cNvPr id="145" name="Google Shape;145;p4"/>
          <p:cNvSpPr txBox="1">
            <a:spLocks noGrp="1"/>
          </p:cNvSpPr>
          <p:nvPr>
            <p:ph type="body" idx="1"/>
          </p:nvPr>
        </p:nvSpPr>
        <p:spPr>
          <a:xfrm>
            <a:off x="476843" y="1563624"/>
            <a:ext cx="8137221" cy="4473493"/>
          </a:xfrm>
          <a:prstGeom prst="rect">
            <a:avLst/>
          </a:prstGeom>
          <a:noFill/>
          <a:ln>
            <a:noFill/>
          </a:ln>
        </p:spPr>
        <p:txBody>
          <a:bodyPr spcFirstLastPara="1" wrap="square" lIns="91425" tIns="45700" rIns="91425" bIns="45700" anchor="t" anchorCtr="0">
            <a:noAutofit/>
          </a:bodyPr>
          <a:lstStyle/>
          <a:p>
            <a:pPr marL="357188" marR="0" lvl="0" indent="-357188" algn="l" rtl="0">
              <a:spcAft>
                <a:spcPts val="300"/>
              </a:spcAft>
              <a:buSzPct val="100000"/>
              <a:buChar char="•"/>
            </a:pPr>
            <a:r>
              <a:rPr lang="en-US" sz="1800" dirty="0"/>
              <a:t>After the valves are installed and the cylinder head is assembled, the camshaft can be installed in the cylinder head. Some engines have a separate camshaft housing that bolts to the cylinder head. This should be installed with the proper seals and </a:t>
            </a:r>
            <a:r>
              <a:rPr lang="en-US" sz="1800"/>
              <a:t>gaskets.</a:t>
            </a:r>
            <a:endParaRPr lang="en-US" sz="1800" dirty="0"/>
          </a:p>
          <a:p>
            <a:pPr marL="357188" marR="0" lvl="0" indent="-357188" algn="l" rtl="0">
              <a:spcAft>
                <a:spcPts val="300"/>
              </a:spcAft>
              <a:buSzPct val="100000"/>
              <a:buChar char="•"/>
            </a:pPr>
            <a:r>
              <a:rPr lang="en-US" sz="1800" dirty="0"/>
              <a:t>On OHC engines, if the engine uses full-round insert bearings, press them into the bores in the cylinder </a:t>
            </a:r>
            <a:r>
              <a:rPr lang="en-US" sz="1800"/>
              <a:t>head.</a:t>
            </a:r>
            <a:endParaRPr lang="en-US" sz="1800" dirty="0"/>
          </a:p>
          <a:p>
            <a:pPr marL="357188" marR="0" lvl="0" indent="-357188" algn="l" rtl="0">
              <a:spcAft>
                <a:spcPts val="300"/>
              </a:spcAft>
              <a:buSzPct val="100000"/>
              <a:buChar char="•"/>
            </a:pPr>
            <a:r>
              <a:rPr lang="en-US" sz="1800" dirty="0"/>
              <a:t>After each bearing is fully seated in its bore, double-check the alignment of the bearing’s oil hole with the oil hole in the </a:t>
            </a:r>
            <a:r>
              <a:rPr lang="en-US" sz="1800"/>
              <a:t>head.</a:t>
            </a:r>
            <a:endParaRPr lang="en-US" sz="1800" dirty="0"/>
          </a:p>
          <a:p>
            <a:pPr marL="357188" marR="0" lvl="0" indent="-357188" algn="l" rtl="0">
              <a:spcAft>
                <a:spcPts val="300"/>
              </a:spcAft>
              <a:buSzPct val="100000"/>
              <a:buChar char="•"/>
            </a:pPr>
            <a:r>
              <a:rPr lang="en-US" sz="1800" dirty="0"/>
              <a:t>Working with these bearings is like working with crankshaft main bearings. </a:t>
            </a:r>
          </a:p>
          <a:p>
            <a:pPr marL="357188" marR="0" lvl="0" indent="-357188" algn="l" rtl="0">
              <a:spcAft>
                <a:spcPts val="300"/>
              </a:spcAft>
              <a:buSzPct val="100000"/>
              <a:buChar char="•"/>
            </a:pPr>
            <a:r>
              <a:rPr lang="en-US" sz="1800" dirty="0"/>
              <a:t>This includes checking bearing clearances with </a:t>
            </a:r>
            <a:r>
              <a:rPr lang="en-US" sz="1800" err="1"/>
              <a:t>Plastigage</a:t>
            </a:r>
            <a:r>
              <a:rPr lang="en-US" sz="1800"/>
              <a:t>.</a:t>
            </a:r>
            <a:endParaRPr lang="en-US" sz="1800" dirty="0"/>
          </a:p>
          <a:p>
            <a:pPr marL="357188" marR="0" lvl="0" indent="-357188" algn="l" rtl="0">
              <a:spcAft>
                <a:spcPts val="300"/>
              </a:spcAft>
              <a:buSzPct val="100000"/>
              <a:buChar char="•"/>
            </a:pPr>
            <a:r>
              <a:rPr lang="en-US" sz="1800" dirty="0"/>
              <a:t>Prior to installation, wipe off each cam bearing with a lint-free cloth, then thoroughly coat the camshaft lobes and bearing journals with the lube recommended by the manufacturer.</a:t>
            </a:r>
          </a:p>
        </p:txBody>
      </p:sp>
      <p:pic>
        <p:nvPicPr>
          <p:cNvPr id="5" name="Picture Placeholder 4" descr="A close-up of a person’s hand placing a plastigage measure on a plastigage strip.">
            <a:extLst>
              <a:ext uri="{FF2B5EF4-FFF2-40B4-BE49-F238E27FC236}">
                <a16:creationId xmlns:a16="http://schemas.microsoft.com/office/drawing/2014/main" id="{822CF8B7-7330-100E-5341-73AB0D6A84F8}"/>
              </a:ext>
            </a:extLst>
          </p:cNvPr>
          <p:cNvPicPr>
            <a:picLocks noGrp="1" noChangeAspect="1"/>
          </p:cNvPicPr>
          <p:nvPr>
            <p:ph type="pic" sz="quarter" idx="10"/>
          </p:nvPr>
        </p:nvPicPr>
        <p:blipFill rotWithShape="1">
          <a:blip r:embed="rId3"/>
          <a:srcRect b="11567"/>
          <a:stretch/>
        </p:blipFill>
        <p:spPr>
          <a:xfrm>
            <a:off x="8558801" y="2109547"/>
            <a:ext cx="3306659" cy="2898871"/>
          </a:xfrm>
          <a:prstGeom prst="rect">
            <a:avLst/>
          </a:prstGeom>
        </p:spPr>
      </p:pic>
    </p:spTree>
    <p:extLst>
      <p:ext uri="{BB962C8B-B14F-4D97-AF65-F5344CB8AC3E}">
        <p14:creationId xmlns:p14="http://schemas.microsoft.com/office/powerpoint/2010/main" val="27169039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(2 of 2)</a:t>
            </a:r>
            <a:endParaRPr/>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ts val="2800"/>
              <a:buChar char="•"/>
            </a:pPr>
            <a:r>
              <a:rPr lang="en-US" sz="2300" dirty="0"/>
              <a:t>When replacing valve guide seals with the engine in the vehicle, what should be done to prevent the valves from falling into the cylinder when the valve springs are removed?</a:t>
            </a:r>
            <a:endParaRPr lang="en-US" sz="2300"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(2 of 2)</a:t>
            </a:r>
            <a:endParaRPr dirty="0"/>
          </a:p>
        </p:txBody>
      </p:sp>
      <p:sp>
        <p:nvSpPr>
          <p:cNvPr id="3" name="Google Shape;385;p39"/>
          <p:cNvSpPr txBox="1">
            <a:spLocks noGrp="1"/>
          </p:cNvSpPr>
          <p:nvPr>
            <p:ph type="body" idx="1"/>
          </p:nvPr>
        </p:nvSpPr>
        <p:spPr>
          <a:xfrm>
            <a:off x="476250" y="1563688"/>
            <a:ext cx="11242675" cy="1461898"/>
          </a:xfrm>
          <a:prstGeom prst="rect">
            <a:avLst/>
          </a:prstGeom>
          <a:noFill/>
          <a:ln>
            <a:noFill/>
          </a:ln>
        </p:spPr>
        <p:txBody>
          <a:bodyPr spcFirstLastPara="1" wrap="square" lIns="91425" tIns="45700" rIns="91425" bIns="45700" anchor="t" anchorCtr="0">
            <a:spAutoFit/>
          </a:bodyPr>
          <a:lstStyle/>
          <a:p>
            <a:pPr marL="357188" lvl="0" indent="-357188">
              <a:spcAft>
                <a:spcPts val="600"/>
              </a:spcAft>
              <a:buClr>
                <a:srgbClr val="282F7C"/>
              </a:buClr>
              <a:buSzPts val="2800"/>
              <a:buFont typeface="Arial"/>
              <a:buChar char="•"/>
              <a:defRPr/>
            </a:pPr>
            <a:r>
              <a:rPr lang="en-US" sz="2300" dirty="0">
                <a:solidFill>
                  <a:srgbClr val="282F7C"/>
                </a:solidFill>
                <a:latin typeface="Work Sans"/>
                <a:sym typeface="Work Sans"/>
              </a:rPr>
              <a:t>To keep the valves from dropping down into the guides, compressed air is used to pressurize the cylinder.</a:t>
            </a:r>
          </a:p>
          <a:p>
            <a:pPr marL="357188" lvl="0" indent="-357188">
              <a:spcAft>
                <a:spcPts val="600"/>
              </a:spcAft>
              <a:buClr>
                <a:srgbClr val="282F7C"/>
              </a:buClr>
              <a:buSzPts val="2800"/>
              <a:buFont typeface="Arial"/>
              <a:buChar char="•"/>
              <a:defRPr/>
            </a:pPr>
            <a:r>
              <a:rPr lang="en-US" sz="2300" dirty="0">
                <a:solidFill>
                  <a:srgbClr val="282F7C"/>
                </a:solidFill>
                <a:latin typeface="Work Sans"/>
                <a:sym typeface="Work Sans"/>
              </a:rPr>
              <a:t>It is also recommended to bring that cylinder to </a:t>
            </a:r>
            <a:r>
              <a:rPr lang="en-US" sz="2300">
                <a:solidFill>
                  <a:srgbClr val="282F7C"/>
                </a:solidFill>
                <a:latin typeface="Work Sans"/>
                <a:sym typeface="Work Sans"/>
              </a:rPr>
              <a:t>TDC.</a:t>
            </a:r>
            <a:endParaRPr lang="en-US" sz="2300" dirty="0">
              <a:solidFill>
                <a:srgbClr val="282F7C"/>
              </a:solidFill>
              <a:latin typeface="Work Sans"/>
              <a:sym typeface="Work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Chapter Reflection</a:t>
            </a:r>
            <a:endParaRPr/>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spcAft>
                <a:spcPts val="600"/>
              </a:spcAft>
              <a:buNone/>
            </a:pPr>
            <a:r>
              <a:rPr lang="en-US" dirty="0">
                <a:solidFill>
                  <a:schemeClr val="accent1"/>
                </a:solidFill>
              </a:rPr>
              <a:t>Please take a moment to compare your perception of the automotive industry before and after you studied this chapter. Then respond to the following questions in one or two paragraphs. Use 150–200 words in your reflection.</a:t>
            </a:r>
            <a:endParaRPr dirty="0">
              <a:solidFill>
                <a:schemeClr val="accent1"/>
              </a:solidFill>
            </a:endParaRPr>
          </a:p>
          <a:p>
            <a:pPr marL="360363" lvl="0" indent="-360363" algn="l" rtl="0">
              <a:lnSpc>
                <a:spcPct val="100000"/>
              </a:lnSpc>
              <a:spcAft>
                <a:spcPts val="600"/>
              </a:spcAft>
              <a:buSzPts val="2800"/>
              <a:buFont typeface="Arial"/>
              <a:buChar char="•"/>
            </a:pPr>
            <a:r>
              <a:rPr lang="en-US" dirty="0">
                <a:solidFill>
                  <a:schemeClr val="accent1"/>
                </a:solidFill>
              </a:rPr>
              <a:t>Did anything in this chapter change your thinking about upper end theory and service.</a:t>
            </a:r>
            <a:endParaRPr dirty="0">
              <a:solidFill>
                <a:schemeClr val="accent1"/>
              </a:solidFill>
            </a:endParaRPr>
          </a:p>
          <a:p>
            <a:pPr marL="360363" lvl="0" indent="-360363" algn="l" rtl="0">
              <a:lnSpc>
                <a:spcPct val="100000"/>
              </a:lnSpc>
              <a:spcAft>
                <a:spcPts val="600"/>
              </a:spcAft>
              <a:buSzPts val="2800"/>
              <a:buFont typeface="Arial"/>
              <a:buChar char="•"/>
            </a:pPr>
            <a:r>
              <a:rPr lang="en-US" dirty="0">
                <a:solidFill>
                  <a:schemeClr val="accent1"/>
                </a:solidFill>
              </a:rPr>
              <a:t>Considering all you have learned, do you feel you are able to perform some of these upper end service procedures outlined in the chapter? How can you prepare further?</a:t>
            </a:r>
            <a:endParaRPr dirty="0">
              <a:solidFill>
                <a:schemeClr val="accent1"/>
              </a:solidFill>
            </a:endParaRPr>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3369</TotalTime>
  <Words>5843</Words>
  <Application>Microsoft Office PowerPoint</Application>
  <PresentationFormat>Widescreen</PresentationFormat>
  <Paragraphs>281</Paragraphs>
  <Slides>45</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Work Sans</vt:lpstr>
      <vt:lpstr>Arial</vt:lpstr>
      <vt:lpstr>Calibri</vt:lpstr>
      <vt:lpstr>Optimized Template Master</vt:lpstr>
      <vt:lpstr>Automotive Technology:  A Systems Approach, 8e</vt:lpstr>
      <vt:lpstr>Chapter Objectives (1 of 2)</vt:lpstr>
      <vt:lpstr>Chapter Objectives (2 of 2)</vt:lpstr>
      <vt:lpstr>Camshafts (1 of 2)</vt:lpstr>
      <vt:lpstr>Camshafts (2 of 2)</vt:lpstr>
      <vt:lpstr>Camshaft Terminology</vt:lpstr>
      <vt:lpstr>Timing Mechanisms</vt:lpstr>
      <vt:lpstr>Variable Valve Timing</vt:lpstr>
      <vt:lpstr>Valve Lifters</vt:lpstr>
      <vt:lpstr>Operation of Hydraulic Valve Lifters</vt:lpstr>
      <vt:lpstr>Discussion</vt:lpstr>
      <vt:lpstr>Cylinder Head (1 of 3)</vt:lpstr>
      <vt:lpstr>Cylinder Head (2 of 3)</vt:lpstr>
      <vt:lpstr>Cylinder Head (3 of 3)</vt:lpstr>
      <vt:lpstr>Intake and Exhaust Valves (1 of 4)</vt:lpstr>
      <vt:lpstr>Intake and Exhaust Valves (2 of 4)</vt:lpstr>
      <vt:lpstr>Intake and Exhaust Valves (3 of 4)</vt:lpstr>
      <vt:lpstr>Intake and Exhaust Valves (4 of 4)</vt:lpstr>
      <vt:lpstr>Multivalve Engines</vt:lpstr>
      <vt:lpstr>Variable Valve Timing and Lift Systems (1 of 5)</vt:lpstr>
      <vt:lpstr>Variable Valve Timing and Lift Systems (2 of 5)</vt:lpstr>
      <vt:lpstr>Variable Valve Timing and Lift Systems (3 of 5)</vt:lpstr>
      <vt:lpstr>Variable Valve Timing and Lift Systems (4 of 5)</vt:lpstr>
      <vt:lpstr>Variable Valve Timing and Lift Systems (5 of 5)</vt:lpstr>
      <vt:lpstr>Knowledge Check (1 of 2)</vt:lpstr>
      <vt:lpstr>Knowledge Check Answer (1 of 2)</vt:lpstr>
      <vt:lpstr>Cylinder Deactivation</vt:lpstr>
      <vt:lpstr>Cylinder Head Disassembly (1 of 3)</vt:lpstr>
      <vt:lpstr>Cylinder Head Disassembly (2 of 3)</vt:lpstr>
      <vt:lpstr>Cylinder Head Disassembly (3 of 3)</vt:lpstr>
      <vt:lpstr>Valves</vt:lpstr>
      <vt:lpstr>Valve Seats</vt:lpstr>
      <vt:lpstr>Inspection of the Valve Train (1 of 4)</vt:lpstr>
      <vt:lpstr>Inspection of the Valve Train (2 of 4)</vt:lpstr>
      <vt:lpstr>Inspection of the Valve Train (3 of 4)</vt:lpstr>
      <vt:lpstr>Inspection of the Valve Train (4 of 4)</vt:lpstr>
      <vt:lpstr>Servicing Cylinder Heads (1 of 2)</vt:lpstr>
      <vt:lpstr>Servicing Cylinder Heads (2 of 2)</vt:lpstr>
      <vt:lpstr> Valve Stem Seals (1 of 2)</vt:lpstr>
      <vt:lpstr> Valve Stem Seals (2 of 2)</vt:lpstr>
      <vt:lpstr> Assembling the Cylinder Head (1 of 2)</vt:lpstr>
      <vt:lpstr> Assembling the Cylinder Head (2 of 2)</vt:lpstr>
      <vt:lpstr>Knowledge Check (2 of 2)</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Muthukrishnan, Keerthi -</cp:lastModifiedBy>
  <cp:revision>130</cp:revision>
  <dcterms:created xsi:type="dcterms:W3CDTF">2021-12-10T16:21:02Z</dcterms:created>
  <dcterms:modified xsi:type="dcterms:W3CDTF">2024-10-18T14:47:58Z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