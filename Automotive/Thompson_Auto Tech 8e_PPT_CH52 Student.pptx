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3" r:id="rId2"/>
  </p:sldMasterIdLst>
  <p:notesMasterIdLst>
    <p:notesMasterId r:id="rId60"/>
  </p:notesMasterIdLst>
  <p:sldIdLst>
    <p:sldId id="342" r:id="rId3"/>
    <p:sldId id="337" r:id="rId4"/>
    <p:sldId id="338" r:id="rId5"/>
    <p:sldId id="259" r:id="rId6"/>
    <p:sldId id="261" r:id="rId7"/>
    <p:sldId id="262" r:id="rId8"/>
    <p:sldId id="263" r:id="rId9"/>
    <p:sldId id="266" r:id="rId10"/>
    <p:sldId id="268" r:id="rId11"/>
    <p:sldId id="270" r:id="rId12"/>
    <p:sldId id="271" r:id="rId13"/>
    <p:sldId id="272" r:id="rId14"/>
    <p:sldId id="273" r:id="rId15"/>
    <p:sldId id="274" r:id="rId16"/>
    <p:sldId id="275" r:id="rId17"/>
    <p:sldId id="276" r:id="rId18"/>
    <p:sldId id="278" r:id="rId19"/>
    <p:sldId id="280" r:id="rId20"/>
    <p:sldId id="282" r:id="rId21"/>
    <p:sldId id="339" r:id="rId22"/>
    <p:sldId id="283" r:id="rId23"/>
    <p:sldId id="285" r:id="rId24"/>
    <p:sldId id="287" r:id="rId25"/>
    <p:sldId id="289" r:id="rId26"/>
    <p:sldId id="290" r:id="rId27"/>
    <p:sldId id="291" r:id="rId28"/>
    <p:sldId id="293" r:id="rId29"/>
    <p:sldId id="294" r:id="rId30"/>
    <p:sldId id="295" r:id="rId31"/>
    <p:sldId id="296" r:id="rId32"/>
    <p:sldId id="297" r:id="rId33"/>
    <p:sldId id="299" r:id="rId34"/>
    <p:sldId id="300" r:id="rId35"/>
    <p:sldId id="340" r:id="rId36"/>
    <p:sldId id="301" r:id="rId37"/>
    <p:sldId id="303" r:id="rId38"/>
    <p:sldId id="304" r:id="rId39"/>
    <p:sldId id="306" r:id="rId40"/>
    <p:sldId id="307" r:id="rId41"/>
    <p:sldId id="308" r:id="rId42"/>
    <p:sldId id="309" r:id="rId43"/>
    <p:sldId id="311" r:id="rId44"/>
    <p:sldId id="314" r:id="rId45"/>
    <p:sldId id="315" r:id="rId46"/>
    <p:sldId id="316" r:id="rId47"/>
    <p:sldId id="317" r:id="rId48"/>
    <p:sldId id="318" r:id="rId49"/>
    <p:sldId id="319" r:id="rId50"/>
    <p:sldId id="320" r:id="rId51"/>
    <p:sldId id="322" r:id="rId52"/>
    <p:sldId id="324" r:id="rId53"/>
    <p:sldId id="325" r:id="rId54"/>
    <p:sldId id="326" r:id="rId55"/>
    <p:sldId id="328" r:id="rId56"/>
    <p:sldId id="329" r:id="rId57"/>
    <p:sldId id="330" r:id="rId58"/>
    <p:sldId id="334"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4093B-3FEC-4D33-8424-3EFAABF221FD}" v="15" dt="2024-11-22T17:01:40.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6331" autoAdjust="0"/>
  </p:normalViewPr>
  <p:slideViewPr>
    <p:cSldViewPr snapToGrid="0" snapToObjects="1" showGuides="1">
      <p:cViewPr varScale="1">
        <p:scale>
          <a:sx n="64" d="100"/>
          <a:sy n="64" d="100"/>
        </p:scale>
        <p:origin x="624" y="40"/>
      </p:cViewPr>
      <p:guideLst>
        <p:guide orient="horz" pos="168"/>
        <p:guide pos="38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9A94093B-3FEC-4D33-8424-3EFAABF221FD}"/>
    <pc:docChg chg="modSld">
      <pc:chgData name="venugopal Loganathan" userId="EaSm3crqCl59iHUciktDee7zyU+rF3MDLbCEjhOn3WE=" providerId="None" clId="Web-{9A94093B-3FEC-4D33-8424-3EFAABF221FD}" dt="2024-11-22T17:01:39.803" v="12" actId="20577"/>
      <pc:docMkLst>
        <pc:docMk/>
      </pc:docMkLst>
      <pc:sldChg chg="modSp">
        <pc:chgData name="venugopal Loganathan" userId="EaSm3crqCl59iHUciktDee7zyU+rF3MDLbCEjhOn3WE=" providerId="None" clId="Web-{9A94093B-3FEC-4D33-8424-3EFAABF221FD}" dt="2024-11-22T17:01:29.381" v="5" actId="20577"/>
        <pc:sldMkLst>
          <pc:docMk/>
          <pc:sldMk cId="3613794813" sldId="337"/>
        </pc:sldMkLst>
        <pc:spChg chg="mod">
          <ac:chgData name="venugopal Loganathan" userId="EaSm3crqCl59iHUciktDee7zyU+rF3MDLbCEjhOn3WE=" providerId="None" clId="Web-{9A94093B-3FEC-4D33-8424-3EFAABF221FD}" dt="2024-11-22T17:01:29.381" v="5" actId="20577"/>
          <ac:spMkLst>
            <pc:docMk/>
            <pc:sldMk cId="3613794813" sldId="337"/>
            <ac:spMk id="3" creationId="{CE4BBE52-2B9C-7A76-B4E8-17B85C30B667}"/>
          </ac:spMkLst>
        </pc:spChg>
      </pc:sldChg>
      <pc:sldChg chg="modSp">
        <pc:chgData name="venugopal Loganathan" userId="EaSm3crqCl59iHUciktDee7zyU+rF3MDLbCEjhOn3WE=" providerId="None" clId="Web-{9A94093B-3FEC-4D33-8424-3EFAABF221FD}" dt="2024-11-22T17:01:39.803" v="12" actId="20577"/>
        <pc:sldMkLst>
          <pc:docMk/>
          <pc:sldMk cId="3721474685" sldId="338"/>
        </pc:sldMkLst>
        <pc:spChg chg="mod">
          <ac:chgData name="venugopal Loganathan" userId="EaSm3crqCl59iHUciktDee7zyU+rF3MDLbCEjhOn3WE=" providerId="None" clId="Web-{9A94093B-3FEC-4D33-8424-3EFAABF221FD}" dt="2024-11-22T17:01:39.803" v="12" actId="20577"/>
          <ac:spMkLst>
            <pc:docMk/>
            <pc:sldMk cId="3721474685" sldId="338"/>
            <ac:spMk id="3" creationId="{CE4BBE52-2B9C-7A76-B4E8-17B85C30B6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381000" y="685800"/>
            <a:ext cx="6096000" cy="3429000"/>
          </a:xfrm>
          <a:ln/>
        </p:spPr>
      </p:sp>
      <p:sp>
        <p:nvSpPr>
          <p:cNvPr id="665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50448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381000" y="685800"/>
            <a:ext cx="6096000" cy="3429000"/>
          </a:xfrm>
          <a:ln/>
        </p:spPr>
      </p:sp>
      <p:sp>
        <p:nvSpPr>
          <p:cNvPr id="675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9987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381000" y="685800"/>
            <a:ext cx="6096000" cy="3429000"/>
          </a:xfrm>
          <a:ln/>
        </p:spPr>
      </p:sp>
      <p:sp>
        <p:nvSpPr>
          <p:cNvPr id="686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2465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8558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381000" y="685800"/>
            <a:ext cx="6096000" cy="3429000"/>
          </a:xfrm>
          <a:ln/>
        </p:spPr>
      </p:sp>
      <p:sp>
        <p:nvSpPr>
          <p:cNvPr id="727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108195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724383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15314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078963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98917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30636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381000" y="685800"/>
            <a:ext cx="6096000" cy="3429000"/>
          </a:xfrm>
          <a:ln/>
        </p:spPr>
      </p:sp>
      <p:sp>
        <p:nvSpPr>
          <p:cNvPr id="808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424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381000" y="685800"/>
            <a:ext cx="6096000" cy="3429000"/>
          </a:xfrm>
          <a:ln/>
        </p:spPr>
      </p:sp>
      <p:sp>
        <p:nvSpPr>
          <p:cNvPr id="829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8055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76402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The hydraulic pressure applied to the piston forces the piston out of the caliper bore against the inner brake pad. At the same time, this action also forces the caliper to move backward, applying force against the outer brake pad. It is because of the movement of the caliper that floating and sliding calipers need to be able to move freely on their mounts.</a:t>
            </a:r>
            <a:endParaRPr lang="en-US" dirty="0"/>
          </a:p>
        </p:txBody>
      </p:sp>
      <p:sp>
        <p:nvSpPr>
          <p:cNvPr id="4" name="Slide Number Placeholder 3"/>
          <p:cNvSpPr>
            <a:spLocks noGrp="1"/>
          </p:cNvSpPr>
          <p:nvPr>
            <p:ph type="sldNum" sz="quarter" idx="10"/>
          </p:nvPr>
        </p:nvSpPr>
        <p:spPr/>
        <p:txBody>
          <a:bodyPr/>
          <a:lstStyle/>
          <a:p>
            <a:fld id="{28F4E089-7887-4099-ABA5-FEDD1B67EA24}" type="slidenum">
              <a:rPr lang="en-US" smtClean="0"/>
              <a:pPr/>
              <a:t>19</a:t>
            </a:fld>
            <a:endParaRPr lang="en-US" dirty="0"/>
          </a:p>
        </p:txBody>
      </p:sp>
    </p:spTree>
    <p:extLst>
      <p:ext uri="{BB962C8B-B14F-4D97-AF65-F5344CB8AC3E}">
        <p14:creationId xmlns:p14="http://schemas.microsoft.com/office/powerpoint/2010/main" val="1878728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The hydraulic pressure applied to the piston forces the piston out of the caliper bore against the inner brake pad. At the same time this action also forces the caliper to move backward, applying force against the outer brake pad. It is because of the movement of the caliper that floating and sliding calipers need to be able to move freely on their mounts.</a:t>
            </a:r>
            <a:endParaRPr lang="en-US" dirty="0"/>
          </a:p>
        </p:txBody>
      </p:sp>
      <p:sp>
        <p:nvSpPr>
          <p:cNvPr id="4" name="Slide Number Placeholder 3"/>
          <p:cNvSpPr>
            <a:spLocks noGrp="1"/>
          </p:cNvSpPr>
          <p:nvPr>
            <p:ph type="sldNum" sz="quarter" idx="10"/>
          </p:nvPr>
        </p:nvSpPr>
        <p:spPr/>
        <p:txBody>
          <a:bodyPr/>
          <a:lstStyle/>
          <a:p>
            <a:fld id="{28F4E089-7887-4099-ABA5-FEDD1B67EA24}" type="slidenum">
              <a:rPr lang="en-US" smtClean="0"/>
              <a:pPr/>
              <a:t>20</a:t>
            </a:fld>
            <a:endParaRPr lang="en-US" dirty="0"/>
          </a:p>
        </p:txBody>
      </p:sp>
    </p:spTree>
    <p:extLst>
      <p:ext uri="{BB962C8B-B14F-4D97-AF65-F5344CB8AC3E}">
        <p14:creationId xmlns:p14="http://schemas.microsoft.com/office/powerpoint/2010/main" val="726356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p:spPr>
      </p:sp>
      <p:sp>
        <p:nvSpPr>
          <p:cNvPr id="880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43652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385832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568217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381000" y="685800"/>
            <a:ext cx="6096000" cy="3429000"/>
          </a:xfrm>
          <a:ln/>
        </p:spPr>
      </p:sp>
      <p:sp>
        <p:nvSpPr>
          <p:cNvPr id="921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194954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381000" y="685800"/>
            <a:ext cx="6096000" cy="3429000"/>
          </a:xfrm>
          <a:ln/>
        </p:spPr>
      </p:sp>
      <p:sp>
        <p:nvSpPr>
          <p:cNvPr id="931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73050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82625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632213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381000" y="685800"/>
            <a:ext cx="6096000" cy="3429000"/>
          </a:xfrm>
          <a:ln/>
        </p:spPr>
      </p:sp>
      <p:sp>
        <p:nvSpPr>
          <p:cNvPr id="962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53786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613240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81000" y="685800"/>
            <a:ext cx="6096000" cy="3429000"/>
          </a:xfrm>
          <a:ln/>
        </p:spPr>
      </p:sp>
      <p:sp>
        <p:nvSpPr>
          <p:cNvPr id="983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12949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Rotor </a:t>
            </a:r>
            <a:r>
              <a:rPr lang="en-US" sz="1200" kern="1200" dirty="0" err="1">
                <a:solidFill>
                  <a:schemeClr val="tx1"/>
                </a:solidFill>
                <a:latin typeface="+mn-lt"/>
                <a:ea typeface="+mn-ea"/>
                <a:cs typeface="+mn-cs"/>
              </a:rPr>
              <a:t>runout</a:t>
            </a:r>
            <a:r>
              <a:rPr lang="en-US" sz="1200" kern="1200" dirty="0">
                <a:solidFill>
                  <a:schemeClr val="tx1"/>
                </a:solidFill>
                <a:latin typeface="+mn-lt"/>
                <a:ea typeface="+mn-ea"/>
                <a:cs typeface="+mn-cs"/>
              </a:rPr>
              <a:t> is the side-to-side movement or deviation from center as the rotor spins. This side-to-side variation can force the brake pads and caliper to also move side-to-side during braking. In addition, </a:t>
            </a:r>
            <a:r>
              <a:rPr lang="en-US" sz="1200" kern="1200" dirty="0" err="1">
                <a:solidFill>
                  <a:schemeClr val="tx1"/>
                </a:solidFill>
                <a:latin typeface="+mn-lt"/>
                <a:ea typeface="+mn-ea"/>
                <a:cs typeface="+mn-cs"/>
              </a:rPr>
              <a:t>runout</a:t>
            </a:r>
            <a:r>
              <a:rPr lang="en-US" sz="1200" kern="1200" dirty="0">
                <a:solidFill>
                  <a:schemeClr val="tx1"/>
                </a:solidFill>
                <a:latin typeface="+mn-lt"/>
                <a:ea typeface="+mn-ea"/>
                <a:cs typeface="+mn-cs"/>
              </a:rPr>
              <a:t> can also cause the brake pads to wear away at the rotor, which causes rotor thickness variation.</a:t>
            </a:r>
            <a:endParaRPr lang="en-US" dirty="0"/>
          </a:p>
        </p:txBody>
      </p:sp>
      <p:sp>
        <p:nvSpPr>
          <p:cNvPr id="4" name="Slide Number Placeholder 3"/>
          <p:cNvSpPr>
            <a:spLocks noGrp="1"/>
          </p:cNvSpPr>
          <p:nvPr>
            <p:ph type="sldNum" sz="quarter" idx="10"/>
          </p:nvPr>
        </p:nvSpPr>
        <p:spPr/>
        <p:txBody>
          <a:bodyPr/>
          <a:lstStyle/>
          <a:p>
            <a:fld id="{28F4E089-7887-4099-ABA5-FEDD1B67EA24}" type="slidenum">
              <a:rPr lang="en-US" smtClean="0"/>
              <a:pPr/>
              <a:t>33</a:t>
            </a:fld>
            <a:endParaRPr lang="en-US" dirty="0"/>
          </a:p>
        </p:txBody>
      </p:sp>
    </p:spTree>
    <p:extLst>
      <p:ext uri="{BB962C8B-B14F-4D97-AF65-F5344CB8AC3E}">
        <p14:creationId xmlns:p14="http://schemas.microsoft.com/office/powerpoint/2010/main" val="4279445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Rotor </a:t>
            </a:r>
            <a:r>
              <a:rPr lang="en-US" sz="1200" kern="1200" dirty="0" err="1">
                <a:solidFill>
                  <a:schemeClr val="tx1"/>
                </a:solidFill>
                <a:latin typeface="+mn-lt"/>
                <a:ea typeface="+mn-ea"/>
                <a:cs typeface="+mn-cs"/>
              </a:rPr>
              <a:t>runout</a:t>
            </a:r>
            <a:r>
              <a:rPr lang="en-US" sz="1200" kern="1200" dirty="0">
                <a:solidFill>
                  <a:schemeClr val="tx1"/>
                </a:solidFill>
                <a:latin typeface="+mn-lt"/>
                <a:ea typeface="+mn-ea"/>
                <a:cs typeface="+mn-cs"/>
              </a:rPr>
              <a:t> is the side-to-side movement or deviation from center as the rotor spins. This side-to-side variation can force the brake pads and caliper to also move side-to-side during braking. In addition, </a:t>
            </a:r>
            <a:r>
              <a:rPr lang="en-US" sz="1200" kern="1200" dirty="0" err="1">
                <a:solidFill>
                  <a:schemeClr val="tx1"/>
                </a:solidFill>
                <a:latin typeface="+mn-lt"/>
                <a:ea typeface="+mn-ea"/>
                <a:cs typeface="+mn-cs"/>
              </a:rPr>
              <a:t>runout</a:t>
            </a:r>
            <a:r>
              <a:rPr lang="en-US" sz="1200" kern="1200" dirty="0">
                <a:solidFill>
                  <a:schemeClr val="tx1"/>
                </a:solidFill>
                <a:latin typeface="+mn-lt"/>
                <a:ea typeface="+mn-ea"/>
                <a:cs typeface="+mn-cs"/>
              </a:rPr>
              <a:t> can also cause the brake pads to wear away at the rotor, which causes rotor thickness variation.</a:t>
            </a:r>
            <a:endParaRPr lang="en-US" dirty="0"/>
          </a:p>
        </p:txBody>
      </p:sp>
      <p:sp>
        <p:nvSpPr>
          <p:cNvPr id="4" name="Slide Number Placeholder 3"/>
          <p:cNvSpPr>
            <a:spLocks noGrp="1"/>
          </p:cNvSpPr>
          <p:nvPr>
            <p:ph type="sldNum" sz="quarter" idx="10"/>
          </p:nvPr>
        </p:nvSpPr>
        <p:spPr/>
        <p:txBody>
          <a:bodyPr/>
          <a:lstStyle/>
          <a:p>
            <a:fld id="{28F4E089-7887-4099-ABA5-FEDD1B67EA24}" type="slidenum">
              <a:rPr lang="en-US" smtClean="0"/>
              <a:pPr/>
              <a:t>34</a:t>
            </a:fld>
            <a:endParaRPr lang="en-US" dirty="0"/>
          </a:p>
        </p:txBody>
      </p:sp>
    </p:spTree>
    <p:extLst>
      <p:ext uri="{BB962C8B-B14F-4D97-AF65-F5344CB8AC3E}">
        <p14:creationId xmlns:p14="http://schemas.microsoft.com/office/powerpoint/2010/main" val="511626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92786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381000" y="685800"/>
            <a:ext cx="6096000" cy="3429000"/>
          </a:xfrm>
          <a:ln/>
        </p:spPr>
      </p:sp>
      <p:sp>
        <p:nvSpPr>
          <p:cNvPr id="1003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230568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381000" y="685800"/>
            <a:ext cx="6096000" cy="3429000"/>
          </a:xfrm>
          <a:ln/>
        </p:spPr>
      </p:sp>
      <p:sp>
        <p:nvSpPr>
          <p:cNvPr id="1013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07336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762096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94741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381000" y="685800"/>
            <a:ext cx="6096000" cy="3429000"/>
          </a:xfrm>
          <a:ln/>
        </p:spPr>
      </p:sp>
      <p:sp>
        <p:nvSpPr>
          <p:cNvPr id="1044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35760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81000" y="685800"/>
            <a:ext cx="6096000" cy="3429000"/>
          </a:xfrm>
          <a:ln/>
        </p:spPr>
      </p:sp>
      <p:sp>
        <p:nvSpPr>
          <p:cNvPr id="1064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414554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xfrm>
            <a:off x="381000" y="685800"/>
            <a:ext cx="6096000" cy="3429000"/>
          </a:xfrm>
          <a:ln/>
        </p:spPr>
      </p:sp>
      <p:sp>
        <p:nvSpPr>
          <p:cNvPr id="1228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273014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573438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768594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381000" y="685800"/>
            <a:ext cx="6096000" cy="3429000"/>
          </a:xfrm>
          <a:ln/>
        </p:spPr>
      </p:sp>
      <p:sp>
        <p:nvSpPr>
          <p:cNvPr id="1239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085137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381000" y="685800"/>
            <a:ext cx="6096000" cy="3429000"/>
          </a:xfrm>
          <a:ln/>
        </p:spPr>
      </p:sp>
      <p:sp>
        <p:nvSpPr>
          <p:cNvPr id="1095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438326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28396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381000" y="685800"/>
            <a:ext cx="6096000" cy="3429000"/>
          </a:xfrm>
          <a:ln/>
        </p:spPr>
      </p:sp>
      <p:sp>
        <p:nvSpPr>
          <p:cNvPr id="1136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7211243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81000" y="685800"/>
            <a:ext cx="6096000" cy="3429000"/>
          </a:xfrm>
          <a:ln/>
        </p:spPr>
      </p:sp>
      <p:sp>
        <p:nvSpPr>
          <p:cNvPr id="1146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0069436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xfrm>
            <a:off x="381000" y="685800"/>
            <a:ext cx="6096000" cy="3429000"/>
          </a:xfrm>
          <a:ln/>
        </p:spPr>
      </p:sp>
      <p:sp>
        <p:nvSpPr>
          <p:cNvPr id="1177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077579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287124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381000" y="685800"/>
            <a:ext cx="6096000" cy="3429000"/>
          </a:xfrm>
          <a:ln/>
        </p:spPr>
      </p:sp>
      <p:sp>
        <p:nvSpPr>
          <p:cNvPr id="1198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7882416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381000" y="685800"/>
            <a:ext cx="6096000" cy="3429000"/>
          </a:xfrm>
          <a:ln/>
        </p:spPr>
      </p:sp>
      <p:sp>
        <p:nvSpPr>
          <p:cNvPr id="1208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160523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Clr>
                <a:schemeClr val="tx1"/>
              </a:buClr>
              <a:buSzPct val="100000"/>
              <a:buFont typeface="Arial" panose="020B0604020202020204" pitchFamily="34" charset="0"/>
              <a:buChar char="–"/>
              <a:defRPr sz="2400" b="0"/>
            </a:lvl2pPr>
            <a:lvl3pPr marL="1028700" lvl="2" indent="-262889" algn="l">
              <a:lnSpc>
                <a:spcPct val="100000"/>
              </a:lnSpc>
              <a:spcBef>
                <a:spcPts val="624"/>
              </a:spcBef>
              <a:spcAft>
                <a:spcPts val="600"/>
              </a:spcAft>
              <a:buClr>
                <a:schemeClr val="tx1"/>
              </a:buClr>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a:p>
            <a:pPr lvl="1"/>
            <a:endParaRPr lang="en-US" dirty="0"/>
          </a:p>
          <a:p>
            <a:pPr lvl="2"/>
            <a:endParaRPr lang="en-US" dirty="0"/>
          </a:p>
        </p:txBody>
      </p:sp>
    </p:spTree>
    <p:extLst>
      <p:ext uri="{BB962C8B-B14F-4D97-AF65-F5344CB8AC3E}">
        <p14:creationId xmlns:p14="http://schemas.microsoft.com/office/powerpoint/2010/main" val="3833558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90297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5792"/>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60363" algn="l">
              <a:lnSpc>
                <a:spcPct val="100000"/>
              </a:lnSpc>
              <a:spcBef>
                <a:spcPts val="624"/>
              </a:spcBef>
              <a:spcAft>
                <a:spcPts val="600"/>
              </a:spcAft>
              <a:buClr>
                <a:schemeClr val="tx1"/>
              </a:buClr>
              <a:buSzPct val="100000"/>
              <a:buFont typeface="Arial" panose="020B0604020202020204" pitchFamily="34" charset="0"/>
              <a:buChar char="–"/>
              <a:defRPr sz="2400" b="0"/>
            </a:lvl2pPr>
            <a:lvl3pPr marL="1028700" lvl="2" indent="-262889" algn="l">
              <a:lnSpc>
                <a:spcPct val="100000"/>
              </a:lnSpc>
              <a:spcBef>
                <a:spcPts val="624"/>
              </a:spcBef>
              <a:spcAft>
                <a:spcPts val="600"/>
              </a:spcAft>
              <a:buClr>
                <a:schemeClr val="tx1"/>
              </a:buClr>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a:p>
            <a:pPr lvl="1"/>
            <a:endParaRPr lang="en-US" dirty="0"/>
          </a:p>
          <a:p>
            <a:pPr lvl="2"/>
            <a:endParaRPr lang="en-US" dirty="0"/>
          </a:p>
        </p:txBody>
      </p:sp>
      <p:sp>
        <p:nvSpPr>
          <p:cNvPr id="3" name="Content Placeholder 2">
            <a:extLst>
              <a:ext uri="{FF2B5EF4-FFF2-40B4-BE49-F238E27FC236}">
                <a16:creationId xmlns:a16="http://schemas.microsoft.com/office/drawing/2014/main" id="{64DEFAA5-FAF9-2B92-03DE-5341ADCA7D96}"/>
              </a:ext>
            </a:extLst>
          </p:cNvPr>
          <p:cNvSpPr>
            <a:spLocks noGrp="1"/>
          </p:cNvSpPr>
          <p:nvPr>
            <p:ph sz="quarter" idx="10"/>
          </p:nvPr>
        </p:nvSpPr>
        <p:spPr>
          <a:xfrm>
            <a:off x="684213" y="460851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ACE8D34C-9BDE-BB88-2A45-B8B98E6BC916}"/>
              </a:ext>
            </a:extLst>
          </p:cNvPr>
          <p:cNvSpPr>
            <a:spLocks noGrp="1"/>
          </p:cNvSpPr>
          <p:nvPr>
            <p:ph type="pic" sz="quarter" idx="11"/>
          </p:nvPr>
        </p:nvSpPr>
        <p:spPr>
          <a:xfrm>
            <a:off x="2687638" y="4756150"/>
            <a:ext cx="914400" cy="914400"/>
          </a:xfrm>
        </p:spPr>
        <p:txBody>
          <a:bodyPr/>
          <a:lstStyle/>
          <a:p>
            <a:endParaRPr lang="en-IN"/>
          </a:p>
        </p:txBody>
      </p:sp>
      <p:sp>
        <p:nvSpPr>
          <p:cNvPr id="7" name="Picture Placeholder 6">
            <a:extLst>
              <a:ext uri="{FF2B5EF4-FFF2-40B4-BE49-F238E27FC236}">
                <a16:creationId xmlns:a16="http://schemas.microsoft.com/office/drawing/2014/main" id="{AC06536D-0F6F-EB07-EAE4-C8F728B0693E}"/>
              </a:ext>
            </a:extLst>
          </p:cNvPr>
          <p:cNvSpPr>
            <a:spLocks noGrp="1"/>
          </p:cNvSpPr>
          <p:nvPr>
            <p:ph type="pic" sz="quarter" idx="12"/>
          </p:nvPr>
        </p:nvSpPr>
        <p:spPr>
          <a:xfrm>
            <a:off x="4368800" y="4608513"/>
            <a:ext cx="914400" cy="914400"/>
          </a:xfrm>
        </p:spPr>
        <p:txBody>
          <a:bodyPr/>
          <a:lstStyle/>
          <a:p>
            <a:endParaRPr lang="en-IN"/>
          </a:p>
        </p:txBody>
      </p:sp>
      <p:sp>
        <p:nvSpPr>
          <p:cNvPr id="9" name="Table Placeholder 8">
            <a:extLst>
              <a:ext uri="{FF2B5EF4-FFF2-40B4-BE49-F238E27FC236}">
                <a16:creationId xmlns:a16="http://schemas.microsoft.com/office/drawing/2014/main" id="{B83EF297-EC1A-C921-574E-1C9E9BB71FBC}"/>
              </a:ext>
            </a:extLst>
          </p:cNvPr>
          <p:cNvSpPr>
            <a:spLocks noGrp="1"/>
          </p:cNvSpPr>
          <p:nvPr>
            <p:ph type="tbl" sz="quarter" idx="13"/>
          </p:nvPr>
        </p:nvSpPr>
        <p:spPr>
          <a:xfrm>
            <a:off x="6354763" y="4608513"/>
            <a:ext cx="914400" cy="914400"/>
          </a:xfrm>
        </p:spPr>
        <p:txBody>
          <a:bodyPr/>
          <a:lstStyle/>
          <a:p>
            <a:endParaRPr lang="en-IN"/>
          </a:p>
        </p:txBody>
      </p:sp>
      <p:sp>
        <p:nvSpPr>
          <p:cNvPr id="4" name="Content Placeholder 3">
            <a:extLst>
              <a:ext uri="{FF2B5EF4-FFF2-40B4-BE49-F238E27FC236}">
                <a16:creationId xmlns:a16="http://schemas.microsoft.com/office/drawing/2014/main" id="{A2F6F4BB-141F-E086-0EB4-4D73E4F15FFE}"/>
              </a:ext>
            </a:extLst>
          </p:cNvPr>
          <p:cNvSpPr>
            <a:spLocks noGrp="1"/>
          </p:cNvSpPr>
          <p:nvPr>
            <p:ph sz="quarter" idx="14"/>
          </p:nvPr>
        </p:nvSpPr>
        <p:spPr>
          <a:xfrm>
            <a:off x="7894638" y="4756150"/>
            <a:ext cx="3948112" cy="903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Tree>
    <p:extLst>
      <p:ext uri="{BB962C8B-B14F-4D97-AF65-F5344CB8AC3E}">
        <p14:creationId xmlns:p14="http://schemas.microsoft.com/office/powerpoint/2010/main" val="1595929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973495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375801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429011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47943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32312574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146063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04289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180054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99830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796379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906616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999614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1120695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endParaRPr lang="en-US"/>
          </a:p>
        </p:txBody>
      </p:sp>
      <p:sp>
        <p:nvSpPr>
          <p:cNvPr id="11" name="Picture Placeholder 10"/>
          <p:cNvSpPr>
            <a:spLocks noGrp="1"/>
          </p:cNvSpPr>
          <p:nvPr>
            <p:ph type="pic" sz="quarter" idx="15"/>
          </p:nvPr>
        </p:nvSpPr>
        <p:spPr>
          <a:xfrm>
            <a:off x="6908800" y="2819400"/>
            <a:ext cx="2540000" cy="1447800"/>
          </a:xfrm>
        </p:spPr>
        <p:txBody>
          <a:bodyPr/>
          <a:lstStyle/>
          <a:p>
            <a:endParaRPr lang="en-US"/>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9444936"/>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endParaRPr lang="en-US"/>
          </a:p>
        </p:txBody>
      </p:sp>
      <p:sp>
        <p:nvSpPr>
          <p:cNvPr id="12" name="Picture Placeholder 11"/>
          <p:cNvSpPr>
            <a:spLocks noGrp="1"/>
          </p:cNvSpPr>
          <p:nvPr>
            <p:ph type="pic" sz="quarter" idx="15"/>
          </p:nvPr>
        </p:nvSpPr>
        <p:spPr>
          <a:xfrm>
            <a:off x="6807200" y="3124200"/>
            <a:ext cx="2438400" cy="1371600"/>
          </a:xfrm>
        </p:spPr>
        <p:txBody>
          <a:bodyPr/>
          <a:lstStyle/>
          <a:p>
            <a:endParaRPr lang="en-US"/>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00991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endParaRPr lang="en-US"/>
          </a:p>
        </p:txBody>
      </p:sp>
      <p:sp>
        <p:nvSpPr>
          <p:cNvPr id="11" name="Picture Placeholder 10"/>
          <p:cNvSpPr>
            <a:spLocks noGrp="1"/>
          </p:cNvSpPr>
          <p:nvPr>
            <p:ph type="pic" sz="quarter" idx="15"/>
          </p:nvPr>
        </p:nvSpPr>
        <p:spPr>
          <a:xfrm>
            <a:off x="6502400" y="2895600"/>
            <a:ext cx="2743200" cy="1524000"/>
          </a:xfrm>
        </p:spPr>
        <p:txBody>
          <a:bodyPr/>
          <a:lstStyle/>
          <a:p>
            <a:endParaRPr lang="en-US"/>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0611968"/>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endParaRPr lang="en-US"/>
          </a:p>
        </p:txBody>
      </p:sp>
      <p:sp>
        <p:nvSpPr>
          <p:cNvPr id="11" name="Picture Placeholder 10"/>
          <p:cNvSpPr>
            <a:spLocks noGrp="1"/>
          </p:cNvSpPr>
          <p:nvPr>
            <p:ph type="pic" sz="quarter" idx="15"/>
          </p:nvPr>
        </p:nvSpPr>
        <p:spPr>
          <a:xfrm>
            <a:off x="5689600" y="3581400"/>
            <a:ext cx="2336800" cy="1295400"/>
          </a:xfrm>
        </p:spPr>
        <p:txBody>
          <a:bodyPr/>
          <a:lstStyle/>
          <a:p>
            <a:endParaRPr lang="en-US"/>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6375530"/>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73319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11/22/2024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2">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353F6DF2-57F3-D3F7-9311-6D1F83B2EA06}"/>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1972638792"/>
      </p:ext>
    </p:extLst>
  </p:cSld>
  <p:clrMap bg1="lt1" tx1="dk1" bg2="dk2" tx2="lt2" accent1="accent1" accent2="accent2" accent3="accent3" accent4="accent4" accent5="accent5" accent6="accent6" hlink="hlink" folHlink="folHlink"/>
  <p:sldLayoutIdLst>
    <p:sldLayoutId id="2147483705" r:id="rId1"/>
    <p:sldLayoutId id="2147483724"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52: </a:t>
            </a:r>
            <a:r>
              <a:rPr lang="en-US" sz="3200" dirty="0">
                <a:solidFill>
                  <a:srgbClr val="FFFFFF"/>
                </a:solidFill>
                <a:latin typeface="Work Sans" pitchFamily="2" charset="0"/>
                <a:ea typeface="Arial"/>
                <a:cs typeface="Arial"/>
                <a:sym typeface="Arial"/>
              </a:rPr>
              <a:t>Disc Brakes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CE93-A41F-416E-0206-08F563750E64}"/>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CE4BBE52-2B9C-7A76-B4E8-17B85C30B667}"/>
              </a:ext>
            </a:extLst>
          </p:cNvPr>
          <p:cNvSpPr>
            <a:spLocks noGrp="1"/>
          </p:cNvSpPr>
          <p:nvPr>
            <p:ph type="body" idx="1"/>
          </p:nvPr>
        </p:nvSpPr>
        <p:spPr/>
        <p:txBody>
          <a:bodyPr/>
          <a:lstStyle/>
          <a:p>
            <a:pPr marL="356870" indent="-356870"/>
            <a:r>
              <a:rPr lang="en-US" dirty="0">
                <a:solidFill>
                  <a:schemeClr val="tx1"/>
                </a:solidFill>
              </a:rPr>
              <a:t>52.01</a:t>
            </a:r>
            <a:r>
              <a:rPr lang="en-US" sz="2600" dirty="0">
                <a:solidFill>
                  <a:schemeClr val="tx1"/>
                </a:solidFill>
              </a:rPr>
              <a:t> List disc brake components and describe their functions.</a:t>
            </a:r>
            <a:endParaRPr lang="en-US" dirty="0">
              <a:solidFill>
                <a:schemeClr val="tx1"/>
              </a:solidFill>
            </a:endParaRPr>
          </a:p>
          <a:p>
            <a:pPr marL="356870" indent="-356870"/>
            <a:r>
              <a:rPr lang="en-US" dirty="0">
                <a:solidFill>
                  <a:schemeClr val="tx1"/>
                </a:solidFill>
              </a:rPr>
              <a:t>52.02</a:t>
            </a:r>
            <a:r>
              <a:rPr lang="en-US" sz="2600" dirty="0">
                <a:solidFill>
                  <a:schemeClr val="tx1"/>
                </a:solidFill>
              </a:rPr>
              <a:t> Explain the difference between the three types of calipers commonly used on disc brakes.</a:t>
            </a:r>
          </a:p>
          <a:p>
            <a:pPr marL="356870" indent="-356870"/>
            <a:r>
              <a:rPr lang="en-US" dirty="0">
                <a:solidFill>
                  <a:schemeClr val="tx1"/>
                </a:solidFill>
              </a:rPr>
              <a:t>52.03</a:t>
            </a:r>
            <a:r>
              <a:rPr lang="en-US" sz="2600" dirty="0">
                <a:solidFill>
                  <a:schemeClr val="tx1"/>
                </a:solidFill>
              </a:rPr>
              <a:t> Describe the two types of parking brake systems used with rear disc brakes.</a:t>
            </a:r>
          </a:p>
          <a:p>
            <a:pPr marL="356870" indent="-356870"/>
            <a:r>
              <a:rPr lang="en-US" dirty="0">
                <a:solidFill>
                  <a:schemeClr val="tx1"/>
                </a:solidFill>
              </a:rPr>
              <a:t>52.04</a:t>
            </a:r>
            <a:r>
              <a:rPr lang="en-US" sz="2600" dirty="0">
                <a:solidFill>
                  <a:schemeClr val="tx1"/>
                </a:solidFill>
              </a:rPr>
              <a:t> Describe the causes of common disc brake problems.</a:t>
            </a:r>
          </a:p>
        </p:txBody>
      </p:sp>
    </p:spTree>
    <p:extLst>
      <p:ext uri="{BB962C8B-B14F-4D97-AF65-F5344CB8AC3E}">
        <p14:creationId xmlns:p14="http://schemas.microsoft.com/office/powerpoint/2010/main" val="3613794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CE93-A41F-416E-0206-08F563750E64}"/>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CE4BBE52-2B9C-7A76-B4E8-17B85C30B667}"/>
              </a:ext>
            </a:extLst>
          </p:cNvPr>
          <p:cNvSpPr>
            <a:spLocks noGrp="1"/>
          </p:cNvSpPr>
          <p:nvPr>
            <p:ph type="body" idx="1"/>
          </p:nvPr>
        </p:nvSpPr>
        <p:spPr/>
        <p:txBody>
          <a:bodyPr/>
          <a:lstStyle/>
          <a:p>
            <a:pPr marL="355600" indent="-355600"/>
            <a:r>
              <a:rPr lang="en-US" dirty="0">
                <a:solidFill>
                  <a:schemeClr val="tx1"/>
                </a:solidFill>
              </a:rPr>
              <a:t>52.05</a:t>
            </a:r>
            <a:r>
              <a:rPr lang="en-US" sz="2600" dirty="0">
                <a:solidFill>
                  <a:schemeClr val="tx1"/>
                </a:solidFill>
              </a:rPr>
              <a:t> Explain what precautions should be taken when servicing disc brake systems.</a:t>
            </a:r>
          </a:p>
          <a:p>
            <a:pPr marL="355600" indent="-355600"/>
            <a:r>
              <a:rPr lang="en-US" dirty="0">
                <a:solidFill>
                  <a:schemeClr val="tx1"/>
                </a:solidFill>
              </a:rPr>
              <a:t>52.06</a:t>
            </a:r>
            <a:r>
              <a:rPr lang="en-US" sz="2600" dirty="0">
                <a:solidFill>
                  <a:schemeClr val="tx1"/>
                </a:solidFill>
              </a:rPr>
              <a:t> Describe the general procedure involved in replacing disc brake pads.</a:t>
            </a:r>
          </a:p>
          <a:p>
            <a:pPr marL="355600" indent="-355600"/>
            <a:r>
              <a:rPr lang="en-US" dirty="0">
                <a:solidFill>
                  <a:schemeClr val="tx1"/>
                </a:solidFill>
              </a:rPr>
              <a:t>52.07</a:t>
            </a:r>
            <a:r>
              <a:rPr lang="en-US" sz="2600" dirty="0">
                <a:solidFill>
                  <a:schemeClr val="tx1"/>
                </a:solidFill>
              </a:rPr>
              <a:t> List and describe five typical disc brake rotor problems.</a:t>
            </a:r>
          </a:p>
          <a:p>
            <a:pPr marL="355600" indent="-355600"/>
            <a:r>
              <a:rPr lang="en-US" dirty="0">
                <a:solidFill>
                  <a:schemeClr val="tx1"/>
                </a:solidFill>
              </a:rPr>
              <a:t>52.08</a:t>
            </a:r>
            <a:r>
              <a:rPr lang="en-US" sz="2600" dirty="0">
                <a:solidFill>
                  <a:schemeClr val="tx1"/>
                </a:solidFill>
              </a:rPr>
              <a:t> Describe rotor servicing and replacement procedures.</a:t>
            </a:r>
          </a:p>
        </p:txBody>
      </p:sp>
    </p:spTree>
    <p:extLst>
      <p:ext uri="{BB962C8B-B14F-4D97-AF65-F5344CB8AC3E}">
        <p14:creationId xmlns:p14="http://schemas.microsoft.com/office/powerpoint/2010/main" val="372147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
          <p:cNvSpPr>
            <a:spLocks noGrp="1"/>
          </p:cNvSpPr>
          <p:nvPr>
            <p:ph type="title"/>
          </p:nvPr>
        </p:nvSpPr>
        <p:spPr/>
        <p:txBody>
          <a:bodyPr/>
          <a:lstStyle/>
          <a:p>
            <a:r>
              <a:rPr lang="en-US" dirty="0"/>
              <a:t>Disc Brake Advantage</a:t>
            </a:r>
          </a:p>
        </p:txBody>
      </p:sp>
      <p:sp>
        <p:nvSpPr>
          <p:cNvPr id="5123" name="Content Placeholder 6"/>
          <p:cNvSpPr>
            <a:spLocks noGrp="1"/>
          </p:cNvSpPr>
          <p:nvPr>
            <p:ph type="body" idx="1"/>
          </p:nvPr>
        </p:nvSpPr>
        <p:spPr/>
        <p:txBody>
          <a:bodyPr/>
          <a:lstStyle/>
          <a:p>
            <a:r>
              <a:rPr lang="en-US" sz="2600" dirty="0">
                <a:solidFill>
                  <a:schemeClr val="tx1"/>
                </a:solidFill>
              </a:rPr>
              <a:t>Four major advantages over drum brakes:</a:t>
            </a:r>
          </a:p>
          <a:p>
            <a:pPr lvl="1"/>
            <a:r>
              <a:rPr lang="en-US" dirty="0">
                <a:solidFill>
                  <a:schemeClr val="tx1"/>
                </a:solidFill>
              </a:rPr>
              <a:t>More resistant to heat and water fade</a:t>
            </a:r>
          </a:p>
          <a:p>
            <a:pPr lvl="1"/>
            <a:r>
              <a:rPr lang="en-US" dirty="0">
                <a:solidFill>
                  <a:schemeClr val="tx1"/>
                </a:solidFill>
              </a:rPr>
              <a:t>Dissipates heat more effectively</a:t>
            </a:r>
          </a:p>
          <a:p>
            <a:pPr lvl="1"/>
            <a:r>
              <a:rPr lang="en-US" dirty="0">
                <a:solidFill>
                  <a:schemeClr val="tx1"/>
                </a:solidFill>
              </a:rPr>
              <a:t>Less likely to cause pulling problems</a:t>
            </a:r>
          </a:p>
          <a:p>
            <a:pPr lvl="1"/>
            <a:r>
              <a:rPr lang="en-US" dirty="0">
                <a:solidFill>
                  <a:schemeClr val="tx1"/>
                </a:solidFill>
              </a:rPr>
              <a:t>Automatically adjusts for pad wear</a:t>
            </a:r>
            <a:endParaRPr lang="en-US" sz="26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Disc Brake Components and Their Functions</a:t>
            </a:r>
          </a:p>
        </p:txBody>
      </p:sp>
      <p:sp>
        <p:nvSpPr>
          <p:cNvPr id="6147" name="Content Placeholder 6"/>
          <p:cNvSpPr>
            <a:spLocks noGrp="1"/>
          </p:cNvSpPr>
          <p:nvPr>
            <p:ph type="body" idx="1"/>
          </p:nvPr>
        </p:nvSpPr>
        <p:spPr/>
        <p:txBody>
          <a:bodyPr/>
          <a:lstStyle/>
          <a:p>
            <a:pPr marL="85725" indent="0">
              <a:buNone/>
            </a:pPr>
            <a:r>
              <a:rPr lang="en-US" b="1" dirty="0">
                <a:solidFill>
                  <a:schemeClr val="tx1"/>
                </a:solidFill>
                <a:latin typeface="Work Sans" pitchFamily="2" charset="0"/>
              </a:rPr>
              <a:t>52-01 List disc brake components and describe their functions.</a:t>
            </a:r>
          </a:p>
          <a:p>
            <a:r>
              <a:rPr lang="en-US" sz="2600" dirty="0">
                <a:solidFill>
                  <a:schemeClr val="tx1"/>
                </a:solidFill>
              </a:rPr>
              <a:t>Two basic types of disc brakes used today:</a:t>
            </a:r>
          </a:p>
          <a:p>
            <a:pPr lvl="1"/>
            <a:r>
              <a:rPr lang="en-US" sz="2600" dirty="0">
                <a:solidFill>
                  <a:schemeClr val="tx1"/>
                </a:solidFill>
              </a:rPr>
              <a:t>Fixed caliper</a:t>
            </a:r>
          </a:p>
          <a:p>
            <a:pPr lvl="1"/>
            <a:r>
              <a:rPr lang="en-US" sz="2600" dirty="0">
                <a:solidFill>
                  <a:schemeClr val="tx1"/>
                </a:solidFill>
              </a:rPr>
              <a:t>Floating or sliding caliper</a:t>
            </a:r>
          </a:p>
          <a:p>
            <a:r>
              <a:rPr lang="en-US" sz="2600" dirty="0">
                <a:solidFill>
                  <a:schemeClr val="tx1"/>
                </a:solidFill>
              </a:rPr>
              <a:t>Rotors can be fixed or floating, solid or vented.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Caliper Designs</a:t>
            </a:r>
          </a:p>
        </p:txBody>
      </p:sp>
      <p:pic>
        <p:nvPicPr>
          <p:cNvPr id="8" name="Picture Placeholder 7" descr="A rotor cast as a separate part and fastened to the hub depicts a floating rotor. Several parts are assembled to form a floating rotor. The labeled parts are as follows: hub, knuckle, rotor, rotor hub flange, braking surface, and cooling fins.">
            <a:extLst>
              <a:ext uri="{FF2B5EF4-FFF2-40B4-BE49-F238E27FC236}">
                <a16:creationId xmlns:a16="http://schemas.microsoft.com/office/drawing/2014/main" id="{06C1B9B6-7A27-7FCC-E2CE-A138923F22E9}"/>
              </a:ext>
            </a:extLst>
          </p:cNvPr>
          <p:cNvPicPr>
            <a:picLocks noGrp="1" noChangeAspect="1"/>
          </p:cNvPicPr>
          <p:nvPr>
            <p:ph type="pic" sz="quarter" idx="11"/>
          </p:nvPr>
        </p:nvPicPr>
        <p:blipFill>
          <a:blip r:embed="rId2"/>
          <a:srcRect b="9138"/>
          <a:stretch/>
        </p:blipFill>
        <p:spPr>
          <a:xfrm>
            <a:off x="3595728" y="1632770"/>
            <a:ext cx="5000545" cy="40210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5"/>
          <p:cNvSpPr>
            <a:spLocks noGrp="1"/>
          </p:cNvSpPr>
          <p:nvPr>
            <p:ph type="title"/>
          </p:nvPr>
        </p:nvSpPr>
        <p:spPr/>
        <p:txBody>
          <a:bodyPr/>
          <a:lstStyle/>
          <a:p>
            <a:r>
              <a:rPr lang="en-US" dirty="0"/>
              <a:t>Rotors</a:t>
            </a:r>
          </a:p>
        </p:txBody>
      </p:sp>
      <p:sp>
        <p:nvSpPr>
          <p:cNvPr id="7171" name="Content Placeholder 6"/>
          <p:cNvSpPr>
            <a:spLocks noGrp="1"/>
          </p:cNvSpPr>
          <p:nvPr>
            <p:ph type="body" idx="1"/>
          </p:nvPr>
        </p:nvSpPr>
        <p:spPr/>
        <p:txBody>
          <a:bodyPr/>
          <a:lstStyle/>
          <a:p>
            <a:r>
              <a:rPr lang="en-US" sz="2600" dirty="0">
                <a:solidFill>
                  <a:schemeClr val="tx1"/>
                </a:solidFill>
              </a:rPr>
              <a:t>Comprised of the hub and braking surface</a:t>
            </a:r>
          </a:p>
          <a:p>
            <a:r>
              <a:rPr lang="en-US" sz="2600" dirty="0">
                <a:solidFill>
                  <a:schemeClr val="tx1"/>
                </a:solidFill>
              </a:rPr>
              <a:t>Braking surface is machined onto both sides of the rotor.</a:t>
            </a:r>
          </a:p>
          <a:p>
            <a:r>
              <a:rPr lang="en-US" sz="2600" dirty="0">
                <a:solidFill>
                  <a:schemeClr val="tx1"/>
                </a:solidFill>
              </a:rPr>
              <a:t>Rotor size is determined by braking need.</a:t>
            </a:r>
          </a:p>
          <a:p>
            <a:r>
              <a:rPr lang="en-US" sz="2600" dirty="0">
                <a:solidFill>
                  <a:schemeClr val="tx1"/>
                </a:solidFill>
              </a:rPr>
              <a:t>Splash shields protect the inner side of the rotor and help direct air for cooling.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p:txBody>
          <a:bodyPr/>
          <a:lstStyle/>
          <a:p>
            <a:r>
              <a:rPr lang="en-US" dirty="0"/>
              <a:t>Fixed and Floating Rotors</a:t>
            </a:r>
          </a:p>
        </p:txBody>
      </p:sp>
      <p:sp>
        <p:nvSpPr>
          <p:cNvPr id="9219" name="Content Placeholder 6"/>
          <p:cNvSpPr>
            <a:spLocks noGrp="1"/>
          </p:cNvSpPr>
          <p:nvPr>
            <p:ph type="body" idx="1"/>
          </p:nvPr>
        </p:nvSpPr>
        <p:spPr/>
        <p:txBody>
          <a:bodyPr/>
          <a:lstStyle/>
          <a:p>
            <a:r>
              <a:rPr lang="en-US" sz="2600" dirty="0">
                <a:solidFill>
                  <a:schemeClr val="tx1"/>
                </a:solidFill>
              </a:rPr>
              <a:t>A fixed rotor has a hub and rotor cast as a single unit.</a:t>
            </a:r>
          </a:p>
          <a:p>
            <a:r>
              <a:rPr lang="en-US" sz="2600" dirty="0">
                <a:solidFill>
                  <a:schemeClr val="tx1"/>
                </a:solidFill>
              </a:rPr>
              <a:t>Floating rotors are separate from the hub.</a:t>
            </a:r>
          </a:p>
          <a:p>
            <a:pPr lvl="1"/>
            <a:r>
              <a:rPr lang="en-US" dirty="0">
                <a:solidFill>
                  <a:schemeClr val="tx1"/>
                </a:solidFill>
              </a:rPr>
              <a:t>This design is less expensive.</a:t>
            </a:r>
          </a:p>
          <a:p>
            <a:pPr lvl="1"/>
            <a:r>
              <a:rPr lang="en-US" dirty="0">
                <a:solidFill>
                  <a:schemeClr val="tx1"/>
                </a:solidFill>
              </a:rPr>
              <a:t>More easily replaced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dirty="0"/>
              <a:t>Ceramic Rotors</a:t>
            </a:r>
          </a:p>
        </p:txBody>
      </p:sp>
      <p:sp>
        <p:nvSpPr>
          <p:cNvPr id="11267" name="Content Placeholder 5"/>
          <p:cNvSpPr>
            <a:spLocks noGrp="1"/>
          </p:cNvSpPr>
          <p:nvPr>
            <p:ph type="body" idx="1"/>
          </p:nvPr>
        </p:nvSpPr>
        <p:spPr>
          <a:xfrm>
            <a:off x="476844" y="1563627"/>
            <a:ext cx="7048421" cy="4330546"/>
          </a:xfrm>
        </p:spPr>
        <p:txBody>
          <a:bodyPr/>
          <a:lstStyle/>
          <a:p>
            <a:r>
              <a:rPr lang="en-US" dirty="0">
                <a:solidFill>
                  <a:schemeClr val="tx1"/>
                </a:solidFill>
              </a:rPr>
              <a:t>Standard equipment on high-end sports cars</a:t>
            </a:r>
          </a:p>
          <a:p>
            <a:r>
              <a:rPr lang="en-US" dirty="0">
                <a:solidFill>
                  <a:schemeClr val="tx1"/>
                </a:solidFill>
              </a:rPr>
              <a:t>Weigh about half as much as a conventional rotor</a:t>
            </a:r>
          </a:p>
          <a:p>
            <a:r>
              <a:rPr lang="en-US" dirty="0">
                <a:solidFill>
                  <a:schemeClr val="tx1"/>
                </a:solidFill>
              </a:rPr>
              <a:t>Last up to four times longer</a:t>
            </a:r>
          </a:p>
          <a:p>
            <a:r>
              <a:rPr lang="en-US" dirty="0">
                <a:solidFill>
                  <a:schemeClr val="tx1"/>
                </a:solidFill>
              </a:rPr>
              <a:t>Designed to be used with ceramic pads</a:t>
            </a:r>
          </a:p>
          <a:p>
            <a:r>
              <a:rPr lang="en-US" dirty="0">
                <a:solidFill>
                  <a:schemeClr val="tx1"/>
                </a:solidFill>
              </a:rPr>
              <a:t>Increased fade resistance and reduced dust</a:t>
            </a:r>
          </a:p>
        </p:txBody>
      </p:sp>
      <p:pic>
        <p:nvPicPr>
          <p:cNvPr id="7" name="Picture Placeholder 6" descr="Three types of ceramic rotors are labeled from top to bottom as follows, Z 06 Ceramic, Z 06 Standard, and Stingray Z 51 package.">
            <a:extLst>
              <a:ext uri="{FF2B5EF4-FFF2-40B4-BE49-F238E27FC236}">
                <a16:creationId xmlns:a16="http://schemas.microsoft.com/office/drawing/2014/main" id="{413C99FA-3279-A04F-B480-47AAFB1143F1}"/>
              </a:ext>
            </a:extLst>
          </p:cNvPr>
          <p:cNvPicPr>
            <a:picLocks noGrp="1" noChangeAspect="1"/>
          </p:cNvPicPr>
          <p:nvPr>
            <p:ph type="pic" sz="quarter" idx="11"/>
          </p:nvPr>
        </p:nvPicPr>
        <p:blipFill>
          <a:blip r:embed="rId3"/>
          <a:srcRect b="3331"/>
          <a:stretch/>
        </p:blipFill>
        <p:spPr>
          <a:xfrm>
            <a:off x="8252624" y="1736300"/>
            <a:ext cx="1882723" cy="37603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Solid and Vented Rotors</a:t>
            </a:r>
          </a:p>
        </p:txBody>
      </p:sp>
      <p:sp>
        <p:nvSpPr>
          <p:cNvPr id="12291" name="Content Placeholder 4"/>
          <p:cNvSpPr>
            <a:spLocks noGrp="1"/>
          </p:cNvSpPr>
          <p:nvPr>
            <p:ph sz="quarter" idx="10"/>
          </p:nvPr>
        </p:nvSpPr>
        <p:spPr>
          <a:xfrm>
            <a:off x="622430" y="1519323"/>
            <a:ext cx="5716586" cy="4127715"/>
          </a:xfrm>
        </p:spPr>
        <p:txBody>
          <a:bodyPr>
            <a:noAutofit/>
          </a:bodyPr>
          <a:lstStyle/>
          <a:p>
            <a:pPr marL="358775" indent="-358775">
              <a:spcBef>
                <a:spcPts val="624"/>
              </a:spcBef>
              <a:spcAft>
                <a:spcPts val="600"/>
              </a:spcAft>
            </a:pPr>
            <a:r>
              <a:rPr lang="en-US" sz="2600" dirty="0">
                <a:solidFill>
                  <a:schemeClr val="tx1"/>
                </a:solidFill>
              </a:rPr>
              <a:t>Solid rotors used on the rear</a:t>
            </a:r>
          </a:p>
          <a:p>
            <a:pPr marL="358775" indent="-358775">
              <a:spcBef>
                <a:spcPts val="624"/>
              </a:spcBef>
              <a:spcAft>
                <a:spcPts val="600"/>
              </a:spcAft>
            </a:pPr>
            <a:r>
              <a:rPr lang="en-US" sz="2600" dirty="0">
                <a:solidFill>
                  <a:schemeClr val="tx1"/>
                </a:solidFill>
              </a:rPr>
              <a:t>Cooling fins may be unidirectional and mount only on the right or left sides.</a:t>
            </a:r>
          </a:p>
        </p:txBody>
      </p:sp>
      <p:pic>
        <p:nvPicPr>
          <p:cNvPr id="8" name="Picture 2" descr="The rotor on the left is a solid rotor with braking surface at the outer circumference. The rotor on the right is a ventilated rotor with cooling fins resembling gaps, mounted around it's outer circumference."/>
          <p:cNvPicPr>
            <a:picLocks noGrp="1" noChangeAspect="1" noChangeArrowheads="1"/>
          </p:cNvPicPr>
          <p:nvPr>
            <p:ph type="pic" sz="quarter" idx="11"/>
          </p:nvPr>
        </p:nvPicPr>
        <p:blipFill>
          <a:blip r:embed="rId3" cstate="print"/>
          <a:stretch/>
        </p:blipFill>
        <p:spPr bwMode="auto">
          <a:xfrm>
            <a:off x="6714542" y="1822643"/>
            <a:ext cx="4869594" cy="317335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en-US" dirty="0"/>
              <a:t>Drilled and Slotted Rotors</a:t>
            </a:r>
          </a:p>
        </p:txBody>
      </p:sp>
      <p:sp>
        <p:nvSpPr>
          <p:cNvPr id="13315" name="Content Placeholder 6"/>
          <p:cNvSpPr>
            <a:spLocks noGrp="1"/>
          </p:cNvSpPr>
          <p:nvPr>
            <p:ph type="body" idx="1"/>
          </p:nvPr>
        </p:nvSpPr>
        <p:spPr/>
        <p:txBody>
          <a:bodyPr/>
          <a:lstStyle/>
          <a:p>
            <a:r>
              <a:rPr lang="en-US" sz="2600" dirty="0">
                <a:solidFill>
                  <a:schemeClr val="tx1"/>
                </a:solidFill>
              </a:rPr>
              <a:t>Used in high-performance applications</a:t>
            </a:r>
          </a:p>
          <a:p>
            <a:r>
              <a:rPr lang="en-US" sz="2600" dirty="0">
                <a:solidFill>
                  <a:schemeClr val="tx1"/>
                </a:solidFill>
              </a:rPr>
              <a:t>Allows heat, gases, and dirt to escape</a:t>
            </a:r>
          </a:p>
          <a:p>
            <a:r>
              <a:rPr lang="en-US" sz="2600" dirty="0">
                <a:solidFill>
                  <a:schemeClr val="tx1"/>
                </a:solidFill>
              </a:rPr>
              <a:t>Decreases the amount of surface area, which reduces the thermal capacity</a:t>
            </a:r>
          </a:p>
          <a:p>
            <a:r>
              <a:rPr lang="en-US" sz="2600" dirty="0">
                <a:solidFill>
                  <a:schemeClr val="tx1"/>
                </a:solidFill>
              </a:rPr>
              <a:t>Newer designs use tangential slots or channels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Cross-Drilled and Slotted Rotor</a:t>
            </a:r>
          </a:p>
        </p:txBody>
      </p:sp>
      <p:pic>
        <p:nvPicPr>
          <p:cNvPr id="9" name="Picture Placeholder 8" descr="A cross-drilled and slotted brake rotor is mounted on a vehicle, and secured by bolts.">
            <a:extLst>
              <a:ext uri="{FF2B5EF4-FFF2-40B4-BE49-F238E27FC236}">
                <a16:creationId xmlns:a16="http://schemas.microsoft.com/office/drawing/2014/main" id="{1CA62C70-7573-9122-5438-0C4B0652A686}"/>
              </a:ext>
            </a:extLst>
          </p:cNvPr>
          <p:cNvPicPr>
            <a:picLocks noGrp="1" noChangeAspect="1"/>
          </p:cNvPicPr>
          <p:nvPr>
            <p:ph type="pic" sz="quarter" idx="11"/>
          </p:nvPr>
        </p:nvPicPr>
        <p:blipFill>
          <a:blip r:embed="rId2"/>
          <a:srcRect b="6859"/>
          <a:stretch/>
        </p:blipFill>
        <p:spPr>
          <a:xfrm>
            <a:off x="3996946" y="1518063"/>
            <a:ext cx="4198108" cy="4112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Caliper Assembly</a:t>
            </a:r>
          </a:p>
        </p:txBody>
      </p:sp>
      <p:sp>
        <p:nvSpPr>
          <p:cNvPr id="15363" name="Content Placeholder 2"/>
          <p:cNvSpPr>
            <a:spLocks noGrp="1"/>
          </p:cNvSpPr>
          <p:nvPr>
            <p:ph type="body" idx="1"/>
          </p:nvPr>
        </p:nvSpPr>
        <p:spPr>
          <a:xfrm>
            <a:off x="476844" y="1563626"/>
            <a:ext cx="11241915" cy="4429401"/>
          </a:xfrm>
        </p:spPr>
        <p:txBody>
          <a:bodyPr/>
          <a:lstStyle/>
          <a:p>
            <a:pPr marL="85725" indent="0">
              <a:buNone/>
            </a:pPr>
            <a:r>
              <a:rPr lang="en-US" b="1" dirty="0">
                <a:solidFill>
                  <a:schemeClr val="tx1"/>
                </a:solidFill>
                <a:latin typeface="Work Sans" pitchFamily="2" charset="0"/>
              </a:rPr>
              <a:t>52-02 Explain the difference between the three types of calipers commonly used on disc brakes.</a:t>
            </a:r>
          </a:p>
          <a:p>
            <a:r>
              <a:rPr lang="en-US" dirty="0">
                <a:solidFill>
                  <a:schemeClr val="tx1"/>
                </a:solidFill>
              </a:rPr>
              <a:t>Converts hydraulic pressure into mechanical force</a:t>
            </a:r>
          </a:p>
          <a:p>
            <a:r>
              <a:rPr lang="en-US" dirty="0">
                <a:solidFill>
                  <a:schemeClr val="tx1"/>
                </a:solidFill>
              </a:rPr>
              <a:t>Usually one piece cast iron or aluminum</a:t>
            </a:r>
          </a:p>
          <a:p>
            <a:r>
              <a:rPr lang="en-US" dirty="0">
                <a:solidFill>
                  <a:schemeClr val="tx1"/>
                </a:solidFill>
              </a:rPr>
              <a:t>Contains one or more pistons and seals</a:t>
            </a:r>
          </a:p>
          <a:p>
            <a:pPr lvl="1"/>
            <a:r>
              <a:rPr lang="en-US" dirty="0">
                <a:solidFill>
                  <a:schemeClr val="tx1"/>
                </a:solidFill>
              </a:rPr>
              <a:t>Pistons can be steel or phenolic plastic.</a:t>
            </a:r>
          </a:p>
          <a:p>
            <a:pPr lvl="1"/>
            <a:r>
              <a:rPr lang="en-US" dirty="0">
                <a:solidFill>
                  <a:schemeClr val="tx1"/>
                </a:solidFill>
              </a:rPr>
              <a:t>Inner square seal allows piston movement, seals fluid, and acts as a piston return spring.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DD52-2FE3-921A-89B2-6CD154AFF3CB}"/>
              </a:ext>
            </a:extLst>
          </p:cNvPr>
          <p:cNvSpPr>
            <a:spLocks noGrp="1"/>
          </p:cNvSpPr>
          <p:nvPr>
            <p:ph type="title"/>
          </p:nvPr>
        </p:nvSpPr>
        <p:spPr/>
        <p:txBody>
          <a:bodyPr/>
          <a:lstStyle/>
          <a:p>
            <a:r>
              <a:rPr lang="en-IN" dirty="0"/>
              <a:t>Cross Section of a Typical </a:t>
            </a:r>
            <a:r>
              <a:rPr lang="en-IN" dirty="0" err="1"/>
              <a:t>Caliper</a:t>
            </a:r>
            <a:endParaRPr lang="en-IN" dirty="0"/>
          </a:p>
        </p:txBody>
      </p:sp>
      <p:pic>
        <p:nvPicPr>
          <p:cNvPr id="9" name="Picture Placeholder 8" descr="A cross section of a typical caliper with the parts labeled as follows: Pads, Caliper body, Rotor, Piston seal, Hollow piston, Pad spring, Brake line connection, and Bleeder screw. The cylinder bore is grooved and acts as a seat for the dust boot. A fluid inlet hole into the cylinder bore and a bleeder valve is located at the top of the casting.">
            <a:extLst>
              <a:ext uri="{FF2B5EF4-FFF2-40B4-BE49-F238E27FC236}">
                <a16:creationId xmlns:a16="http://schemas.microsoft.com/office/drawing/2014/main" id="{0C262E1B-B32B-BC11-EB74-6191F025389A}"/>
              </a:ext>
            </a:extLst>
          </p:cNvPr>
          <p:cNvPicPr>
            <a:picLocks noGrp="1" noChangeAspect="1"/>
          </p:cNvPicPr>
          <p:nvPr>
            <p:ph type="pic" sz="quarter" idx="11"/>
          </p:nvPr>
        </p:nvPicPr>
        <p:blipFill>
          <a:blip r:embed="rId3"/>
          <a:srcRect b="5696"/>
          <a:stretch/>
        </p:blipFill>
        <p:spPr>
          <a:xfrm>
            <a:off x="3238500" y="1737163"/>
            <a:ext cx="5715000" cy="40600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Designs</a:t>
            </a:r>
          </a:p>
        </p:txBody>
      </p:sp>
      <p:sp>
        <p:nvSpPr>
          <p:cNvPr id="16387" name="Content Placeholder 3"/>
          <p:cNvSpPr>
            <a:spLocks noGrp="1" noChangeArrowheads="1"/>
          </p:cNvSpPr>
          <p:nvPr>
            <p:ph type="body" idx="1"/>
          </p:nvPr>
        </p:nvSpPr>
        <p:spPr/>
        <p:txBody>
          <a:bodyPr/>
          <a:lstStyle/>
          <a:p>
            <a:r>
              <a:rPr lang="en-US" sz="2600" dirty="0">
                <a:solidFill>
                  <a:schemeClr val="tx1"/>
                </a:solidFill>
              </a:rPr>
              <a:t>Fixed Caliper</a:t>
            </a:r>
          </a:p>
          <a:p>
            <a:pPr lvl="1"/>
            <a:r>
              <a:rPr lang="en-US" dirty="0">
                <a:solidFill>
                  <a:schemeClr val="tx1"/>
                </a:solidFill>
              </a:rPr>
              <a:t>The caliper is bolted in a fixed position and does not move.</a:t>
            </a:r>
          </a:p>
          <a:p>
            <a:r>
              <a:rPr lang="en-US" sz="2600" dirty="0">
                <a:solidFill>
                  <a:schemeClr val="tx1"/>
                </a:solidFill>
              </a:rPr>
              <a:t>Floating Caliper</a:t>
            </a:r>
          </a:p>
          <a:p>
            <a:pPr lvl="1"/>
            <a:r>
              <a:rPr lang="en-US" dirty="0">
                <a:solidFill>
                  <a:schemeClr val="tx1"/>
                </a:solidFill>
              </a:rPr>
              <a:t>The caliper moves on locating pins.</a:t>
            </a:r>
          </a:p>
          <a:p>
            <a:r>
              <a:rPr lang="en-US" sz="2600" dirty="0">
                <a:solidFill>
                  <a:schemeClr val="tx1"/>
                </a:solidFill>
              </a:rPr>
              <a:t>Sliding Caliper</a:t>
            </a:r>
          </a:p>
          <a:p>
            <a:pPr lvl="1"/>
            <a:r>
              <a:rPr lang="en-US" dirty="0">
                <a:solidFill>
                  <a:schemeClr val="tx1"/>
                </a:solidFill>
              </a:rPr>
              <a:t>It is similar to the floating type, but it does not use pins.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Fixed Caliper Disc Brakes</a:t>
            </a:r>
          </a:p>
        </p:txBody>
      </p:sp>
      <p:sp>
        <p:nvSpPr>
          <p:cNvPr id="19459" name="Content Placeholder 2"/>
          <p:cNvSpPr>
            <a:spLocks noGrp="1"/>
          </p:cNvSpPr>
          <p:nvPr>
            <p:ph sz="quarter" idx="10"/>
          </p:nvPr>
        </p:nvSpPr>
        <p:spPr>
          <a:xfrm>
            <a:off x="659499" y="1858131"/>
            <a:ext cx="5436502" cy="3615912"/>
          </a:xfrm>
        </p:spPr>
        <p:txBody>
          <a:bodyPr>
            <a:normAutofit/>
          </a:bodyPr>
          <a:lstStyle/>
          <a:p>
            <a:pPr marL="358775" indent="-358775">
              <a:spcBef>
                <a:spcPts val="624"/>
              </a:spcBef>
              <a:spcAft>
                <a:spcPts val="600"/>
              </a:spcAft>
              <a:buClr>
                <a:schemeClr val="tx1"/>
              </a:buClr>
              <a:buSzPct val="100000"/>
            </a:pPr>
            <a:r>
              <a:rPr lang="en-US" sz="2600" dirty="0">
                <a:solidFill>
                  <a:schemeClr val="accent1"/>
                </a:solidFill>
              </a:rPr>
              <a:t>Bolted to the steering knuckle</a:t>
            </a:r>
          </a:p>
          <a:p>
            <a:pPr marL="358775" indent="-358775">
              <a:spcBef>
                <a:spcPts val="624"/>
              </a:spcBef>
              <a:spcAft>
                <a:spcPts val="600"/>
              </a:spcAft>
              <a:buClr>
                <a:schemeClr val="tx1"/>
              </a:buClr>
              <a:buSzPct val="100000"/>
            </a:pPr>
            <a:r>
              <a:rPr lang="en-US" sz="2600" dirty="0">
                <a:solidFill>
                  <a:schemeClr val="accent1"/>
                </a:solidFill>
              </a:rPr>
              <a:t>Does not move</a:t>
            </a:r>
          </a:p>
          <a:p>
            <a:pPr marL="358775" indent="-358775">
              <a:spcBef>
                <a:spcPts val="624"/>
              </a:spcBef>
              <a:spcAft>
                <a:spcPts val="600"/>
              </a:spcAft>
              <a:buClr>
                <a:schemeClr val="tx1"/>
              </a:buClr>
              <a:buSzPct val="100000"/>
            </a:pPr>
            <a:r>
              <a:rPr lang="en-US" sz="2600" dirty="0">
                <a:solidFill>
                  <a:schemeClr val="accent1"/>
                </a:solidFill>
              </a:rPr>
              <a:t>Pistons on both sides of the rotor apply equal force against the rotor.</a:t>
            </a:r>
          </a:p>
        </p:txBody>
      </p:sp>
      <p:pic>
        <p:nvPicPr>
          <p:cNvPr id="7" name="Picture Placeholder 6" descr="A caliper of a fixed caliper assembly is bolted in a fixed position. The caliper does not move when the brakes are applied. The labeled parts are as follows: Caliper, Seal, Hydraulic pressure, Rotor, Piston, and Boot.">
            <a:extLst>
              <a:ext uri="{FF2B5EF4-FFF2-40B4-BE49-F238E27FC236}">
                <a16:creationId xmlns:a16="http://schemas.microsoft.com/office/drawing/2014/main" id="{9ED1F5A8-1042-831A-643D-5C47F088869B}"/>
              </a:ext>
            </a:extLst>
          </p:cNvPr>
          <p:cNvPicPr>
            <a:picLocks noGrp="1" noChangeAspect="1"/>
          </p:cNvPicPr>
          <p:nvPr>
            <p:ph type="pic" sz="quarter" idx="11"/>
          </p:nvPr>
        </p:nvPicPr>
        <p:blipFill>
          <a:blip r:embed="rId3"/>
          <a:srcRect b="7913"/>
          <a:stretch/>
        </p:blipFill>
        <p:spPr>
          <a:xfrm>
            <a:off x="6756799" y="1813219"/>
            <a:ext cx="4115389" cy="33855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Floating Caliper Disc Brakes</a:t>
            </a:r>
          </a:p>
        </p:txBody>
      </p:sp>
      <p:sp>
        <p:nvSpPr>
          <p:cNvPr id="21507" name="Content Placeholder 2"/>
          <p:cNvSpPr>
            <a:spLocks noGrp="1"/>
          </p:cNvSpPr>
          <p:nvPr>
            <p:ph type="body" idx="1"/>
          </p:nvPr>
        </p:nvSpPr>
        <p:spPr>
          <a:xfrm>
            <a:off x="476844" y="1679584"/>
            <a:ext cx="6319372" cy="3898059"/>
          </a:xfrm>
        </p:spPr>
        <p:txBody>
          <a:bodyPr/>
          <a:lstStyle/>
          <a:p>
            <a:r>
              <a:rPr lang="en-US" dirty="0">
                <a:solidFill>
                  <a:schemeClr val="tx1"/>
                </a:solidFill>
              </a:rPr>
              <a:t>Commonly a one piece caliper with one piston</a:t>
            </a:r>
          </a:p>
          <a:p>
            <a:r>
              <a:rPr lang="en-US" dirty="0">
                <a:solidFill>
                  <a:schemeClr val="tx1"/>
                </a:solidFill>
              </a:rPr>
              <a:t>Mounted on pins and bushings that allow the caliper to slide back and forth</a:t>
            </a:r>
          </a:p>
          <a:p>
            <a:r>
              <a:rPr lang="en-US" dirty="0">
                <a:solidFill>
                  <a:schemeClr val="tx1"/>
                </a:solidFill>
              </a:rPr>
              <a:t>Hydraulic pressure forces the piston out, causing the caliper to move inward.</a:t>
            </a:r>
          </a:p>
        </p:txBody>
      </p:sp>
      <p:pic>
        <p:nvPicPr>
          <p:cNvPr id="7" name="Picture Placeholder 6" descr="An operation of a floating caliper. The parts are labeled as follows: hydraulic pressure, piston, and caliper. The text beside reads, fluid pushes piston out and caliper backward. A left arrow labeled reaction is placed at caliper and another right arrow labeled action is placed near piston.">
            <a:extLst>
              <a:ext uri="{FF2B5EF4-FFF2-40B4-BE49-F238E27FC236}">
                <a16:creationId xmlns:a16="http://schemas.microsoft.com/office/drawing/2014/main" id="{3E0474D4-6EE8-96DC-74F8-732D99DE1A4A}"/>
              </a:ext>
            </a:extLst>
          </p:cNvPr>
          <p:cNvPicPr>
            <a:picLocks noGrp="1" noChangeAspect="1"/>
          </p:cNvPicPr>
          <p:nvPr>
            <p:ph type="pic" sz="quarter" idx="11"/>
          </p:nvPr>
        </p:nvPicPr>
        <p:blipFill>
          <a:blip r:embed="rId3"/>
          <a:srcRect b="5382"/>
          <a:stretch/>
        </p:blipFill>
        <p:spPr>
          <a:xfrm>
            <a:off x="7438946" y="1724738"/>
            <a:ext cx="3838497" cy="350480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Sliding Caliper Disc Brakes</a:t>
            </a:r>
          </a:p>
        </p:txBody>
      </p:sp>
      <p:sp>
        <p:nvSpPr>
          <p:cNvPr id="23555" name="Content Placeholder 2"/>
          <p:cNvSpPr>
            <a:spLocks noGrp="1"/>
          </p:cNvSpPr>
          <p:nvPr>
            <p:ph type="body" idx="1"/>
          </p:nvPr>
        </p:nvSpPr>
        <p:spPr/>
        <p:txBody>
          <a:bodyPr/>
          <a:lstStyle/>
          <a:p>
            <a:r>
              <a:rPr lang="en-US" sz="2600" dirty="0">
                <a:solidFill>
                  <a:schemeClr val="tx1"/>
                </a:solidFill>
              </a:rPr>
              <a:t>Similar to the floating caliper but does not float on pins or bolts</a:t>
            </a:r>
          </a:p>
          <a:p>
            <a:r>
              <a:rPr lang="en-US" sz="2600" dirty="0">
                <a:solidFill>
                  <a:schemeClr val="tx1"/>
                </a:solidFill>
              </a:rPr>
              <a:t>The caliper slides on machined surfaces.</a:t>
            </a:r>
          </a:p>
          <a:p>
            <a:r>
              <a:rPr lang="en-US" sz="2600" dirty="0">
                <a:solidFill>
                  <a:schemeClr val="tx1"/>
                </a:solidFill>
              </a:rPr>
              <a:t>May use a support key to locate and support the caliper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2)</a:t>
            </a:r>
          </a:p>
        </p:txBody>
      </p:sp>
      <p:sp>
        <p:nvSpPr>
          <p:cNvPr id="3" name="Content Placeholder 2"/>
          <p:cNvSpPr>
            <a:spLocks noGrp="1"/>
          </p:cNvSpPr>
          <p:nvPr>
            <p:ph type="body" idx="1"/>
          </p:nvPr>
        </p:nvSpPr>
        <p:spPr/>
        <p:txBody>
          <a:bodyPr/>
          <a:lstStyle/>
          <a:p>
            <a:pPr marL="85725" indent="0">
              <a:spcBef>
                <a:spcPts val="624"/>
              </a:spcBef>
              <a:spcAft>
                <a:spcPts val="600"/>
              </a:spcAft>
              <a:buNone/>
            </a:pPr>
            <a:r>
              <a:rPr lang="en-US" sz="2600" dirty="0">
                <a:solidFill>
                  <a:schemeClr val="tx1"/>
                </a:solidFill>
              </a:rPr>
              <a:t>Technician A says two-piece calipers are more expensive than a one-piece caliper.</a:t>
            </a:r>
          </a:p>
          <a:p>
            <a:pPr marL="85725" indent="0">
              <a:spcBef>
                <a:spcPts val="624"/>
              </a:spcBef>
              <a:spcAft>
                <a:spcPts val="600"/>
              </a:spcAft>
              <a:buNone/>
            </a:pPr>
            <a:r>
              <a:rPr lang="en-US" sz="2600" dirty="0">
                <a:solidFill>
                  <a:schemeClr val="tx1"/>
                </a:solidFill>
              </a:rPr>
              <a:t>Technician B says the caliper in a fixed design does not move when the brakes are applied.</a:t>
            </a:r>
          </a:p>
          <a:p>
            <a:pPr marL="85725" indent="0">
              <a:spcBef>
                <a:spcPts val="624"/>
              </a:spcBef>
              <a:spcAft>
                <a:spcPts val="600"/>
              </a:spcAft>
              <a:buNone/>
            </a:pPr>
            <a:r>
              <a:rPr lang="en-US" sz="2600" dirty="0">
                <a:solidFill>
                  <a:schemeClr val="tx1"/>
                </a:solidFill>
              </a:rPr>
              <a:t>Who is correct?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2)</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two-piece calipers are more expensive than a one-piece caliper.</a:t>
            </a:r>
          </a:p>
          <a:p>
            <a:pPr marL="85725" indent="0">
              <a:buNone/>
            </a:pPr>
            <a:r>
              <a:rPr lang="en-US" sz="2600" dirty="0">
                <a:solidFill>
                  <a:schemeClr val="tx1"/>
                </a:solidFill>
              </a:rPr>
              <a:t>Technician B says the caliper in a fixed design does not move when the brakes are applied.</a:t>
            </a:r>
          </a:p>
          <a:p>
            <a:pPr marL="85725" indent="0">
              <a:spcAft>
                <a:spcPts val="2400"/>
              </a:spcAft>
              <a:buNone/>
            </a:pPr>
            <a:r>
              <a:rPr lang="en-US" sz="2600" dirty="0">
                <a:solidFill>
                  <a:schemeClr val="tx1"/>
                </a:solidFill>
              </a:rPr>
              <a:t>Who is correct?</a:t>
            </a:r>
          </a:p>
          <a:p>
            <a:pPr marL="85725" indent="0">
              <a:buNone/>
            </a:pPr>
            <a:r>
              <a:rPr lang="en-US" sz="2600" dirty="0">
                <a:solidFill>
                  <a:schemeClr val="tx1"/>
                </a:solidFill>
              </a:rPr>
              <a:t>Answer: B only</a:t>
            </a:r>
          </a:p>
        </p:txBody>
      </p:sp>
    </p:spTree>
    <p:extLst>
      <p:ext uri="{BB962C8B-B14F-4D97-AF65-F5344CB8AC3E}">
        <p14:creationId xmlns:p14="http://schemas.microsoft.com/office/powerpoint/2010/main" val="638411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Brake Pad Assembly</a:t>
            </a:r>
          </a:p>
        </p:txBody>
      </p:sp>
      <p:sp>
        <p:nvSpPr>
          <p:cNvPr id="25603" name="Content Placeholder 2"/>
          <p:cNvSpPr>
            <a:spLocks noGrp="1"/>
          </p:cNvSpPr>
          <p:nvPr>
            <p:ph sz="quarter" idx="10"/>
          </p:nvPr>
        </p:nvSpPr>
        <p:spPr>
          <a:xfrm>
            <a:off x="684212" y="1717589"/>
            <a:ext cx="5315755" cy="3731741"/>
          </a:xfrm>
        </p:spPr>
        <p:txBody>
          <a:bodyPr>
            <a:noAutofit/>
          </a:bodyPr>
          <a:lstStyle/>
          <a:p>
            <a:pPr marL="358775" indent="-358775">
              <a:spcBef>
                <a:spcPts val="624"/>
              </a:spcBef>
              <a:spcAft>
                <a:spcPts val="600"/>
              </a:spcAft>
            </a:pPr>
            <a:r>
              <a:rPr lang="en-US" sz="2600" dirty="0">
                <a:solidFill>
                  <a:schemeClr val="tx1"/>
                </a:solidFill>
              </a:rPr>
              <a:t>Metal plates with either a bonded or riveted friction material</a:t>
            </a:r>
          </a:p>
          <a:p>
            <a:pPr marL="358775" indent="-358775">
              <a:spcBef>
                <a:spcPts val="624"/>
              </a:spcBef>
              <a:spcAft>
                <a:spcPts val="600"/>
              </a:spcAft>
            </a:pPr>
            <a:r>
              <a:rPr lang="en-US" sz="2600" dirty="0">
                <a:solidFill>
                  <a:schemeClr val="tx1"/>
                </a:solidFill>
              </a:rPr>
              <a:t>May have audible or electronic wear sensors</a:t>
            </a:r>
          </a:p>
        </p:txBody>
      </p:sp>
      <p:pic>
        <p:nvPicPr>
          <p:cNvPr id="7" name="Picture Placeholder 6" descr="The working of the wear indicator in the rotor before and during the application of the brake. Before the application of the brake, the brake pad and the rotor remain untouched. The bottom of the rotor has a wear indicator. This position of operation is labeled new pad. During the application of the brake, the pad pushes the rotor. The wear indicator touches the rotor and produces noise. This position of operation is labeled worn pad.">
            <a:extLst>
              <a:ext uri="{FF2B5EF4-FFF2-40B4-BE49-F238E27FC236}">
                <a16:creationId xmlns:a16="http://schemas.microsoft.com/office/drawing/2014/main" id="{6643ADCF-AF40-8979-AE68-B7EC97B7222D}"/>
              </a:ext>
            </a:extLst>
          </p:cNvPr>
          <p:cNvPicPr>
            <a:picLocks noGrp="1" noChangeAspect="1"/>
          </p:cNvPicPr>
          <p:nvPr>
            <p:ph type="pic" sz="quarter" idx="11"/>
          </p:nvPr>
        </p:nvPicPr>
        <p:blipFill>
          <a:blip r:embed="rId3"/>
          <a:srcRect b="5762"/>
          <a:stretch/>
        </p:blipFill>
        <p:spPr>
          <a:xfrm>
            <a:off x="6810264" y="1840338"/>
            <a:ext cx="4861076" cy="41305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Rear Wheel Disc Brakes (1 of 2)</a:t>
            </a:r>
          </a:p>
        </p:txBody>
      </p:sp>
      <p:sp>
        <p:nvSpPr>
          <p:cNvPr id="26627" name="Content Placeholder 2"/>
          <p:cNvSpPr>
            <a:spLocks noGrp="1"/>
          </p:cNvSpPr>
          <p:nvPr>
            <p:ph type="body" idx="1"/>
          </p:nvPr>
        </p:nvSpPr>
        <p:spPr/>
        <p:txBody>
          <a:bodyPr/>
          <a:lstStyle/>
          <a:p>
            <a:pPr marL="85725" indent="0">
              <a:buNone/>
            </a:pPr>
            <a:r>
              <a:rPr lang="en-US" b="1" dirty="0">
                <a:solidFill>
                  <a:schemeClr val="tx1"/>
                </a:solidFill>
                <a:latin typeface="Work Sans" pitchFamily="2" charset="0"/>
              </a:rPr>
              <a:t>52-03 Describe the two types of parking brake systems used with rear disc brakes.</a:t>
            </a:r>
            <a:endParaRPr lang="en-US" dirty="0">
              <a:solidFill>
                <a:schemeClr val="tx1"/>
              </a:solidFill>
            </a:endParaRPr>
          </a:p>
          <a:p>
            <a:r>
              <a:rPr lang="en-US" dirty="0">
                <a:solidFill>
                  <a:schemeClr val="tx1"/>
                </a:solidFill>
              </a:rPr>
              <a:t>Can be of same designs as front brakes</a:t>
            </a:r>
          </a:p>
          <a:p>
            <a:r>
              <a:rPr lang="en-US" dirty="0">
                <a:solidFill>
                  <a:schemeClr val="tx1"/>
                </a:solidFill>
              </a:rPr>
              <a:t>Some rear disc brakes incorporate the parking brake mechanism into the caliper.</a:t>
            </a:r>
          </a:p>
          <a:p>
            <a:pPr lvl="1"/>
            <a:r>
              <a:rPr lang="en-US" dirty="0">
                <a:solidFill>
                  <a:schemeClr val="tx1"/>
                </a:solidFill>
              </a:rPr>
              <a:t>This style uses a threaded piston insert to mechanically apply the pads against the rotor.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Rear Wheel Disc Brakes (2 of 2) </a:t>
            </a:r>
          </a:p>
        </p:txBody>
      </p:sp>
      <p:sp>
        <p:nvSpPr>
          <p:cNvPr id="26627" name="Content Placeholder 2"/>
          <p:cNvSpPr>
            <a:spLocks noGrp="1"/>
          </p:cNvSpPr>
          <p:nvPr>
            <p:ph sz="quarter" idx="10"/>
          </p:nvPr>
        </p:nvSpPr>
        <p:spPr>
          <a:xfrm>
            <a:off x="671856" y="1691117"/>
            <a:ext cx="5951366" cy="3140375"/>
          </a:xfrm>
        </p:spPr>
        <p:txBody>
          <a:bodyPr>
            <a:normAutofit/>
          </a:bodyPr>
          <a:lstStyle/>
          <a:p>
            <a:pPr marL="358775" indent="-358775">
              <a:spcBef>
                <a:spcPts val="624"/>
              </a:spcBef>
              <a:spcAft>
                <a:spcPts val="600"/>
              </a:spcAft>
            </a:pPr>
            <a:r>
              <a:rPr lang="en-US" sz="2600" dirty="0">
                <a:solidFill>
                  <a:schemeClr val="tx1"/>
                </a:solidFill>
              </a:rPr>
              <a:t>Many late model parking brake types use a small set of shoes housed within the rotor hat section.</a:t>
            </a:r>
          </a:p>
        </p:txBody>
      </p:sp>
      <p:pic>
        <p:nvPicPr>
          <p:cNvPr id="7" name="Picture Placeholder 6" descr="A rear wheel disc brake has a small set of shoes housed within the rotor hat section and used as the parking brake drum.">
            <a:extLst>
              <a:ext uri="{FF2B5EF4-FFF2-40B4-BE49-F238E27FC236}">
                <a16:creationId xmlns:a16="http://schemas.microsoft.com/office/drawing/2014/main" id="{BF393718-E7E5-7F3A-9058-637E56B2233C}"/>
              </a:ext>
            </a:extLst>
          </p:cNvPr>
          <p:cNvPicPr>
            <a:picLocks noGrp="1" noChangeAspect="1"/>
          </p:cNvPicPr>
          <p:nvPr>
            <p:ph type="pic" sz="quarter" idx="11"/>
          </p:nvPr>
        </p:nvPicPr>
        <p:blipFill>
          <a:blip r:embed="rId3"/>
          <a:srcRect b="13273"/>
          <a:stretch/>
        </p:blipFill>
        <p:spPr>
          <a:xfrm>
            <a:off x="7313951" y="1606434"/>
            <a:ext cx="3996385" cy="382986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Electric Parking Brake</a:t>
            </a:r>
          </a:p>
        </p:txBody>
      </p:sp>
      <p:pic>
        <p:nvPicPr>
          <p:cNvPr id="9" name="Picture Placeholder 8" descr="An electric parking brake motor is connected to a rear caliper.">
            <a:extLst>
              <a:ext uri="{FF2B5EF4-FFF2-40B4-BE49-F238E27FC236}">
                <a16:creationId xmlns:a16="http://schemas.microsoft.com/office/drawing/2014/main" id="{CB24EFE2-2878-4349-10CF-190165D9D651}"/>
              </a:ext>
            </a:extLst>
          </p:cNvPr>
          <p:cNvPicPr>
            <a:picLocks noGrp="1" noChangeAspect="1"/>
          </p:cNvPicPr>
          <p:nvPr>
            <p:ph type="pic" sz="quarter" idx="11"/>
          </p:nvPr>
        </p:nvPicPr>
        <p:blipFill>
          <a:blip r:embed="rId2"/>
          <a:srcRect b="12413"/>
          <a:stretch/>
        </p:blipFill>
        <p:spPr>
          <a:xfrm>
            <a:off x="3372236" y="1609723"/>
            <a:ext cx="5447528" cy="41271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Disc Brake Lamp Diagnosis </a:t>
            </a:r>
          </a:p>
        </p:txBody>
      </p:sp>
      <p:sp>
        <p:nvSpPr>
          <p:cNvPr id="5" name="Text Placeholder 4">
            <a:extLst>
              <a:ext uri="{FF2B5EF4-FFF2-40B4-BE49-F238E27FC236}">
                <a16:creationId xmlns:a16="http://schemas.microsoft.com/office/drawing/2014/main" id="{75DC3544-5C3F-7D56-67D0-B3C7185FF99B}"/>
              </a:ext>
            </a:extLst>
          </p:cNvPr>
          <p:cNvSpPr>
            <a:spLocks noGrp="1"/>
          </p:cNvSpPr>
          <p:nvPr>
            <p:ph type="body" idx="1"/>
          </p:nvPr>
        </p:nvSpPr>
        <p:spPr>
          <a:xfrm>
            <a:off x="476844" y="1563627"/>
            <a:ext cx="6937210" cy="4503542"/>
          </a:xfrm>
        </p:spPr>
        <p:txBody>
          <a:bodyPr/>
          <a:lstStyle/>
          <a:p>
            <a:pPr algn="l"/>
            <a:r>
              <a:rPr lang="en-US" sz="2200" dirty="0">
                <a:solidFill>
                  <a:schemeClr val="tx1"/>
                </a:solidFill>
                <a:latin typeface="Work Sans" pitchFamily="2" charset="0"/>
              </a:rPr>
              <a:t>Today’s vehicles are normally equipped with more than one brake warning light.</a:t>
            </a:r>
          </a:p>
          <a:p>
            <a:pPr algn="l"/>
            <a:r>
              <a:rPr lang="en-US" sz="2200" dirty="0">
                <a:solidFill>
                  <a:schemeClr val="tx1"/>
                </a:solidFill>
                <a:latin typeface="Work Sans" pitchFamily="2" charset="0"/>
              </a:rPr>
              <a:t>The red warning light indicates there is a problem in the regular brake system.</a:t>
            </a:r>
          </a:p>
          <a:p>
            <a:pPr algn="l"/>
            <a:r>
              <a:rPr lang="en-US" sz="2200" dirty="0">
                <a:solidFill>
                  <a:schemeClr val="tx1"/>
                </a:solidFill>
                <a:latin typeface="Work Sans" pitchFamily="2" charset="0"/>
              </a:rPr>
              <a:t>The yellow or amber brake warning light is tied into the antilock brake system (ABS).</a:t>
            </a:r>
          </a:p>
          <a:p>
            <a:pPr algn="l"/>
            <a:r>
              <a:rPr lang="en-US" sz="2200" dirty="0">
                <a:solidFill>
                  <a:schemeClr val="tx1"/>
                </a:solidFill>
                <a:latin typeface="Work Sans" pitchFamily="2" charset="0"/>
              </a:rPr>
              <a:t>An amber light indicates a problem with the electronic parking brake system.</a:t>
            </a:r>
          </a:p>
          <a:p>
            <a:pPr algn="l"/>
            <a:r>
              <a:rPr lang="en-US" sz="2200" dirty="0">
                <a:solidFill>
                  <a:schemeClr val="tx1"/>
                </a:solidFill>
                <a:latin typeface="Work Sans" pitchFamily="2" charset="0"/>
              </a:rPr>
              <a:t>A blue or yellow warning light lets the driver know the wheels are slipping.</a:t>
            </a:r>
          </a:p>
        </p:txBody>
      </p:sp>
      <p:pic>
        <p:nvPicPr>
          <p:cNvPr id="8" name="Picture Placeholder 7" descr="Two parts labeled (A) and (B). (A). A typical brake warning lamp depicts a pointer with BRAKE and A B S buttons. (B). An electronic parking brake warning light with a BRAKE symbol and a button P indicates a brake system problem.">
            <a:extLst>
              <a:ext uri="{FF2B5EF4-FFF2-40B4-BE49-F238E27FC236}">
                <a16:creationId xmlns:a16="http://schemas.microsoft.com/office/drawing/2014/main" id="{0F9FA34B-604E-CF66-FCE3-7AFD76A56AEB}"/>
              </a:ext>
            </a:extLst>
          </p:cNvPr>
          <p:cNvPicPr>
            <a:picLocks noGrp="1" noChangeAspect="1"/>
          </p:cNvPicPr>
          <p:nvPr>
            <p:ph type="pic" sz="quarter" idx="11"/>
          </p:nvPr>
        </p:nvPicPr>
        <p:blipFill>
          <a:blip r:embed="rId3"/>
          <a:srcRect b="4146"/>
          <a:stretch/>
        </p:blipFill>
        <p:spPr>
          <a:xfrm>
            <a:off x="8545078" y="1759192"/>
            <a:ext cx="1940442" cy="414252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Pulsating Pedal Diagnosis</a:t>
            </a:r>
          </a:p>
        </p:txBody>
      </p:sp>
      <p:sp>
        <p:nvSpPr>
          <p:cNvPr id="30723" name="Content Placeholder 2"/>
          <p:cNvSpPr>
            <a:spLocks noGrp="1"/>
          </p:cNvSpPr>
          <p:nvPr>
            <p:ph type="body" idx="1"/>
          </p:nvPr>
        </p:nvSpPr>
        <p:spPr>
          <a:xfrm>
            <a:off x="476844" y="1563627"/>
            <a:ext cx="11241915" cy="685860"/>
          </a:xfrm>
        </p:spPr>
        <p:txBody>
          <a:bodyPr>
            <a:normAutofit/>
          </a:bodyPr>
          <a:lstStyle/>
          <a:p>
            <a:pPr marL="0" lvl="1" indent="0" algn="ctr">
              <a:buClr>
                <a:schemeClr val="bg2"/>
              </a:buClr>
              <a:buNone/>
            </a:pPr>
            <a:r>
              <a:rPr lang="en-US" b="1" dirty="0">
                <a:solidFill>
                  <a:schemeClr val="tx1"/>
                </a:solidFill>
                <a:latin typeface="Work Sans" pitchFamily="2" charset="0"/>
              </a:rPr>
              <a:t>52-04 Describe the causes of common disc brake problems.</a:t>
            </a:r>
            <a:endParaRPr lang="en-US" sz="2000" b="1" dirty="0">
              <a:solidFill>
                <a:schemeClr val="tx1"/>
              </a:solidFill>
            </a:endParaRPr>
          </a:p>
        </p:txBody>
      </p:sp>
      <p:sp>
        <p:nvSpPr>
          <p:cNvPr id="4" name="Text Placeholder 3">
            <a:extLst>
              <a:ext uri="{FF2B5EF4-FFF2-40B4-BE49-F238E27FC236}">
                <a16:creationId xmlns:a16="http://schemas.microsoft.com/office/drawing/2014/main" id="{95A2351D-D1D2-E752-9248-83A4AE27E6D1}"/>
              </a:ext>
            </a:extLst>
          </p:cNvPr>
          <p:cNvSpPr>
            <a:spLocks noGrp="1"/>
          </p:cNvSpPr>
          <p:nvPr>
            <p:ph sz="quarter" idx="10"/>
          </p:nvPr>
        </p:nvSpPr>
        <p:spPr>
          <a:xfrm>
            <a:off x="684212" y="2298526"/>
            <a:ext cx="4990077" cy="3112718"/>
          </a:xfrm>
        </p:spPr>
        <p:txBody>
          <a:bodyPr/>
          <a:lstStyle/>
          <a:p>
            <a:pPr>
              <a:buClr>
                <a:schemeClr val="bg2"/>
              </a:buClr>
            </a:pPr>
            <a:r>
              <a:rPr lang="en-US" sz="2400" dirty="0">
                <a:solidFill>
                  <a:schemeClr val="tx1"/>
                </a:solidFill>
              </a:rPr>
              <a:t>Check rotor parallelism, also called taper and thickness variation.</a:t>
            </a:r>
          </a:p>
          <a:p>
            <a:pPr>
              <a:buClr>
                <a:schemeClr val="bg2"/>
              </a:buClr>
            </a:pPr>
            <a:r>
              <a:rPr lang="en-US" sz="2400" dirty="0">
                <a:solidFill>
                  <a:schemeClr val="tx1"/>
                </a:solidFill>
              </a:rPr>
              <a:t>Measure in 6 to 8 places.</a:t>
            </a:r>
          </a:p>
          <a:p>
            <a:pPr>
              <a:buClr>
                <a:schemeClr val="bg2"/>
              </a:buClr>
            </a:pPr>
            <a:r>
              <a:rPr lang="en-US" sz="2400" dirty="0">
                <a:solidFill>
                  <a:schemeClr val="tx1"/>
                </a:solidFill>
              </a:rPr>
              <a:t>Typical parallelism spec is 0.0005”.</a:t>
            </a:r>
          </a:p>
        </p:txBody>
      </p:sp>
      <p:sp>
        <p:nvSpPr>
          <p:cNvPr id="9" name="Content Placeholder 8">
            <a:extLst>
              <a:ext uri="{FF2B5EF4-FFF2-40B4-BE49-F238E27FC236}">
                <a16:creationId xmlns:a16="http://schemas.microsoft.com/office/drawing/2014/main" id="{FE3319D7-F370-1B10-8C90-A304D3D72834}"/>
              </a:ext>
            </a:extLst>
          </p:cNvPr>
          <p:cNvSpPr>
            <a:spLocks noGrp="1"/>
          </p:cNvSpPr>
          <p:nvPr>
            <p:ph sz="quarter" idx="14"/>
          </p:nvPr>
        </p:nvSpPr>
        <p:spPr>
          <a:xfrm>
            <a:off x="6095999" y="2298526"/>
            <a:ext cx="5622759" cy="2784611"/>
          </a:xfrm>
        </p:spPr>
        <p:txBody>
          <a:bodyPr/>
          <a:lstStyle/>
          <a:p>
            <a:pPr marL="363538" indent="-363538">
              <a:spcBef>
                <a:spcPts val="624"/>
              </a:spcBef>
              <a:spcAft>
                <a:spcPts val="600"/>
              </a:spcAft>
              <a:buSzPct val="100000"/>
            </a:pPr>
            <a:r>
              <a:rPr lang="en-US" sz="2400" dirty="0">
                <a:solidFill>
                  <a:schemeClr val="tx1"/>
                </a:solidFill>
              </a:rPr>
              <a:t>A warped rotor or hub can also cause a brake pedal pulsation.</a:t>
            </a:r>
          </a:p>
          <a:p>
            <a:pPr marL="363538" indent="-363538">
              <a:spcBef>
                <a:spcPts val="624"/>
              </a:spcBef>
              <a:spcAft>
                <a:spcPts val="600"/>
              </a:spcAft>
              <a:buSzPct val="100000"/>
            </a:pPr>
            <a:r>
              <a:rPr lang="en-US" sz="2400" dirty="0">
                <a:solidFill>
                  <a:schemeClr val="tx1"/>
                </a:solidFill>
              </a:rPr>
              <a:t>Typical runout spec is 0.003”.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Measuring </a:t>
            </a:r>
            <a:r>
              <a:rPr lang="en-US" dirty="0" err="1"/>
              <a:t>Runout</a:t>
            </a:r>
            <a:endParaRPr lang="en-US" dirty="0"/>
          </a:p>
        </p:txBody>
      </p:sp>
      <p:pic>
        <p:nvPicPr>
          <p:cNvPr id="9" name="Picture Placeholder 8" descr="A mounting adapter is used to fix a dial indicator to the outboard surface of a rotor, and the runout measurement in the indicator reads, negative 0.02.">
            <a:extLst>
              <a:ext uri="{FF2B5EF4-FFF2-40B4-BE49-F238E27FC236}">
                <a16:creationId xmlns:a16="http://schemas.microsoft.com/office/drawing/2014/main" id="{BECE23F4-1BEA-F5F9-EEA1-1A76661DD51A}"/>
              </a:ext>
            </a:extLst>
          </p:cNvPr>
          <p:cNvPicPr>
            <a:picLocks noGrp="1" noChangeAspect="1"/>
          </p:cNvPicPr>
          <p:nvPr>
            <p:ph type="pic" sz="quarter" idx="11"/>
          </p:nvPr>
        </p:nvPicPr>
        <p:blipFill>
          <a:blip r:embed="rId3"/>
          <a:srcRect b="10048"/>
          <a:stretch/>
        </p:blipFill>
        <p:spPr>
          <a:xfrm>
            <a:off x="4406989" y="1467860"/>
            <a:ext cx="3378022" cy="45224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Disc Brake Symptom Diagnosis (1 of 2)</a:t>
            </a:r>
          </a:p>
        </p:txBody>
      </p:sp>
      <p:sp>
        <p:nvSpPr>
          <p:cNvPr id="32771" name="Content Placeholder 2"/>
          <p:cNvSpPr>
            <a:spLocks noGrp="1"/>
          </p:cNvSpPr>
          <p:nvPr>
            <p:ph type="body" idx="1"/>
          </p:nvPr>
        </p:nvSpPr>
        <p:spPr/>
        <p:txBody>
          <a:bodyPr/>
          <a:lstStyle/>
          <a:p>
            <a:pPr marL="0" indent="0">
              <a:buNone/>
              <a:tabLst>
                <a:tab pos="185738" algn="l"/>
              </a:tabLst>
            </a:pPr>
            <a:r>
              <a:rPr lang="en-US" b="1" dirty="0">
                <a:solidFill>
                  <a:schemeClr val="tx1"/>
                </a:solidFill>
                <a:latin typeface="Work Sans" pitchFamily="2" charset="0"/>
              </a:rPr>
              <a:t>52-07 List and describe five typical disc brake rotor problems.</a:t>
            </a:r>
            <a:endParaRPr lang="en-US" dirty="0">
              <a:solidFill>
                <a:schemeClr val="tx1"/>
              </a:solidFill>
            </a:endParaRPr>
          </a:p>
          <a:p>
            <a:r>
              <a:rPr lang="en-US" dirty="0">
                <a:solidFill>
                  <a:schemeClr val="tx1"/>
                </a:solidFill>
              </a:rPr>
              <a:t>Spongy Pedal</a:t>
            </a:r>
          </a:p>
          <a:p>
            <a:pPr lvl="1"/>
            <a:r>
              <a:rPr lang="en-US" dirty="0">
                <a:solidFill>
                  <a:schemeClr val="tx1"/>
                </a:solidFill>
              </a:rPr>
              <a:t>May need to pump the brake pedal to get good stopping ability</a:t>
            </a:r>
          </a:p>
          <a:p>
            <a:pPr lvl="1"/>
            <a:r>
              <a:rPr lang="en-US" dirty="0">
                <a:solidFill>
                  <a:schemeClr val="tx1"/>
                </a:solidFill>
              </a:rPr>
              <a:t>Caused by air in the hydraulic system</a:t>
            </a:r>
          </a:p>
          <a:p>
            <a:r>
              <a:rPr lang="en-US" dirty="0">
                <a:solidFill>
                  <a:schemeClr val="tx1"/>
                </a:solidFill>
              </a:rPr>
              <a:t>Hard Pedal</a:t>
            </a:r>
          </a:p>
          <a:p>
            <a:pPr lvl="1"/>
            <a:r>
              <a:rPr lang="en-US" dirty="0">
                <a:solidFill>
                  <a:schemeClr val="tx1"/>
                </a:solidFill>
              </a:rPr>
              <a:t>Usually indicates a power booster problem</a:t>
            </a:r>
          </a:p>
          <a:p>
            <a:pPr lvl="1"/>
            <a:r>
              <a:rPr lang="en-US" dirty="0">
                <a:solidFill>
                  <a:schemeClr val="tx1"/>
                </a:solidFill>
              </a:rPr>
              <a:t>Can also be caused by restricted brake hoses and seized hydraulic cylinders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Disc Brake Symptom Diagnosis (2 of 2) </a:t>
            </a:r>
          </a:p>
        </p:txBody>
      </p:sp>
      <p:sp>
        <p:nvSpPr>
          <p:cNvPr id="33795" name="Content Placeholder 2"/>
          <p:cNvSpPr>
            <a:spLocks noGrp="1"/>
          </p:cNvSpPr>
          <p:nvPr>
            <p:ph type="body" idx="1"/>
          </p:nvPr>
        </p:nvSpPr>
        <p:spPr/>
        <p:txBody>
          <a:bodyPr/>
          <a:lstStyle/>
          <a:p>
            <a:r>
              <a:rPr lang="en-US" sz="2600" dirty="0">
                <a:solidFill>
                  <a:schemeClr val="tx1"/>
                </a:solidFill>
              </a:rPr>
              <a:t>Dragging Brakes</a:t>
            </a:r>
          </a:p>
          <a:p>
            <a:pPr lvl="1"/>
            <a:r>
              <a:rPr lang="en-US" sz="2600" dirty="0">
                <a:solidFill>
                  <a:schemeClr val="tx1"/>
                </a:solidFill>
              </a:rPr>
              <a:t>Feels as if the vehicle is losing power</a:t>
            </a:r>
          </a:p>
          <a:p>
            <a:pPr lvl="1"/>
            <a:r>
              <a:rPr lang="en-US" sz="2600" dirty="0">
                <a:solidFill>
                  <a:schemeClr val="tx1"/>
                </a:solidFill>
              </a:rPr>
              <a:t>Check parking brake</a:t>
            </a:r>
          </a:p>
          <a:p>
            <a:pPr lvl="1"/>
            <a:r>
              <a:rPr lang="en-US" sz="2600" dirty="0">
                <a:solidFill>
                  <a:schemeClr val="tx1"/>
                </a:solidFill>
              </a:rPr>
              <a:t>Restricted brake hoses and sticky or seized pistons</a:t>
            </a:r>
          </a:p>
          <a:p>
            <a:r>
              <a:rPr lang="en-US" sz="2600" dirty="0">
                <a:solidFill>
                  <a:schemeClr val="tx1"/>
                </a:solidFill>
              </a:rPr>
              <a:t>Grabbing Brakes</a:t>
            </a:r>
          </a:p>
          <a:p>
            <a:pPr lvl="1"/>
            <a:r>
              <a:rPr lang="en-US" sz="2600" dirty="0">
                <a:solidFill>
                  <a:schemeClr val="tx1"/>
                </a:solidFill>
              </a:rPr>
              <a:t>Normally caused by contaminated brake linings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Dragging Brakes</a:t>
            </a:r>
          </a:p>
        </p:txBody>
      </p:sp>
      <p:sp>
        <p:nvSpPr>
          <p:cNvPr id="6" name="Text Placeholder 5">
            <a:extLst>
              <a:ext uri="{FF2B5EF4-FFF2-40B4-BE49-F238E27FC236}">
                <a16:creationId xmlns:a16="http://schemas.microsoft.com/office/drawing/2014/main" id="{AD4A6E8D-EE8E-899E-100E-3A85E49CDEA9}"/>
              </a:ext>
            </a:extLst>
          </p:cNvPr>
          <p:cNvSpPr>
            <a:spLocks noGrp="1"/>
          </p:cNvSpPr>
          <p:nvPr>
            <p:ph type="body" idx="1"/>
          </p:nvPr>
        </p:nvSpPr>
        <p:spPr>
          <a:xfrm>
            <a:off x="476845" y="1563626"/>
            <a:ext cx="6269944" cy="3984557"/>
          </a:xfrm>
        </p:spPr>
        <p:txBody>
          <a:bodyPr/>
          <a:lstStyle/>
          <a:p>
            <a:pPr algn="l"/>
            <a:r>
              <a:rPr lang="en-US" sz="2400" dirty="0">
                <a:solidFill>
                  <a:schemeClr val="tx1"/>
                </a:solidFill>
                <a:latin typeface="Work Sans" pitchFamily="2" charset="0"/>
              </a:rPr>
              <a:t>Dragging brakes make the vehicle feel as if it has lost or is losing power as it drives down the road.</a:t>
            </a:r>
          </a:p>
          <a:p>
            <a:r>
              <a:rPr lang="en-US" sz="2400" dirty="0">
                <a:solidFill>
                  <a:schemeClr val="tx1"/>
                </a:solidFill>
                <a:latin typeface="Work Sans" pitchFamily="2" charset="0"/>
              </a:rPr>
              <a:t>Make sure the parking brake is off</a:t>
            </a:r>
            <a:r>
              <a:rPr lang="en-US" sz="2400" dirty="0">
                <a:solidFill>
                  <a:schemeClr val="tx1"/>
                </a:solidFill>
              </a:rPr>
              <a:t>.</a:t>
            </a:r>
            <a:endParaRPr lang="en-US" sz="2400" dirty="0">
              <a:solidFill>
                <a:schemeClr val="tx1"/>
              </a:solidFill>
              <a:latin typeface="Work Sans" pitchFamily="2" charset="0"/>
            </a:endParaRPr>
          </a:p>
          <a:p>
            <a:pPr algn="l"/>
            <a:r>
              <a:rPr lang="en-US" sz="2400" dirty="0">
                <a:solidFill>
                  <a:schemeClr val="tx1"/>
                </a:solidFill>
                <a:latin typeface="Work Sans" pitchFamily="2" charset="0"/>
              </a:rPr>
              <a:t>May be caused by a restricted brake hose</a:t>
            </a:r>
          </a:p>
        </p:txBody>
      </p:sp>
      <p:pic>
        <p:nvPicPr>
          <p:cNvPr id="10" name="Picture Placeholder 9" descr="An overheated disc brake with a rough surface, wear and tear.">
            <a:extLst>
              <a:ext uri="{FF2B5EF4-FFF2-40B4-BE49-F238E27FC236}">
                <a16:creationId xmlns:a16="http://schemas.microsoft.com/office/drawing/2014/main" id="{1D19F92B-E4BA-B114-0382-CFEAE0A1B52C}"/>
              </a:ext>
            </a:extLst>
          </p:cNvPr>
          <p:cNvPicPr>
            <a:picLocks noGrp="1" noChangeAspect="1"/>
          </p:cNvPicPr>
          <p:nvPr>
            <p:ph type="pic" sz="quarter" idx="11"/>
          </p:nvPr>
        </p:nvPicPr>
        <p:blipFill>
          <a:blip r:embed="rId2"/>
          <a:srcRect b="8544"/>
          <a:stretch/>
        </p:blipFill>
        <p:spPr>
          <a:xfrm>
            <a:off x="7040960" y="1984376"/>
            <a:ext cx="4368568" cy="316297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Noise Diagnosis </a:t>
            </a:r>
          </a:p>
        </p:txBody>
      </p:sp>
      <p:sp>
        <p:nvSpPr>
          <p:cNvPr id="34819" name="Content Placeholder 2"/>
          <p:cNvSpPr>
            <a:spLocks noGrp="1"/>
          </p:cNvSpPr>
          <p:nvPr>
            <p:ph type="body" idx="1"/>
          </p:nvPr>
        </p:nvSpPr>
        <p:spPr/>
        <p:txBody>
          <a:bodyPr>
            <a:normAutofit/>
          </a:bodyPr>
          <a:lstStyle/>
          <a:p>
            <a:r>
              <a:rPr lang="en-US" sz="2600" dirty="0">
                <a:solidFill>
                  <a:schemeClr val="tx1"/>
                </a:solidFill>
              </a:rPr>
              <a:t>Noise</a:t>
            </a:r>
          </a:p>
          <a:p>
            <a:pPr lvl="1"/>
            <a:r>
              <a:rPr lang="en-US" dirty="0">
                <a:solidFill>
                  <a:schemeClr val="tx1"/>
                </a:solidFill>
              </a:rPr>
              <a:t>Can be from wear sensors</a:t>
            </a:r>
          </a:p>
          <a:p>
            <a:pPr lvl="1"/>
            <a:r>
              <a:rPr lang="en-US" dirty="0">
                <a:solidFill>
                  <a:schemeClr val="tx1"/>
                </a:solidFill>
              </a:rPr>
              <a:t>Debris caught against rotor</a:t>
            </a:r>
          </a:p>
          <a:p>
            <a:pPr lvl="1"/>
            <a:r>
              <a:rPr lang="en-US" dirty="0">
                <a:solidFill>
                  <a:schemeClr val="tx1"/>
                </a:solidFill>
              </a:rPr>
              <a:t>Loose or broken caliper/pad hardware</a:t>
            </a:r>
          </a:p>
          <a:p>
            <a:pPr lvl="1"/>
            <a:r>
              <a:rPr lang="en-US" dirty="0">
                <a:solidFill>
                  <a:schemeClr val="tx1"/>
                </a:solidFill>
              </a:rPr>
              <a:t>Worn linings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a:t>Brake Pulling to One Side</a:t>
            </a:r>
          </a:p>
        </p:txBody>
      </p:sp>
      <p:sp>
        <p:nvSpPr>
          <p:cNvPr id="35843" name="Content Placeholder 2"/>
          <p:cNvSpPr>
            <a:spLocks noGrp="1"/>
          </p:cNvSpPr>
          <p:nvPr>
            <p:ph type="body" idx="1"/>
          </p:nvPr>
        </p:nvSpPr>
        <p:spPr/>
        <p:txBody>
          <a:bodyPr/>
          <a:lstStyle/>
          <a:p>
            <a:r>
              <a:rPr lang="en-US" sz="2800" dirty="0">
                <a:solidFill>
                  <a:schemeClr val="tx1"/>
                </a:solidFill>
              </a:rPr>
              <a:t>Can be caused by the steering and suspension system</a:t>
            </a:r>
          </a:p>
          <a:p>
            <a:r>
              <a:rPr lang="en-US" sz="2800" dirty="0">
                <a:solidFill>
                  <a:schemeClr val="tx1"/>
                </a:solidFill>
              </a:rPr>
              <a:t>Check tire inflation, tire condition, and tire size</a:t>
            </a:r>
          </a:p>
          <a:p>
            <a:r>
              <a:rPr lang="en-US" sz="2800" dirty="0">
                <a:solidFill>
                  <a:schemeClr val="tx1"/>
                </a:solidFill>
              </a:rPr>
              <a:t>Restricted brake hoses can cause pulling.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2)</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a stuck rotor can cause the pads overheat.</a:t>
            </a:r>
          </a:p>
          <a:p>
            <a:pPr marL="85725" indent="0">
              <a:buNone/>
            </a:pPr>
            <a:r>
              <a:rPr lang="en-US" sz="2600" dirty="0">
                <a:solidFill>
                  <a:schemeClr val="tx1"/>
                </a:solidFill>
              </a:rPr>
              <a:t>Technician B says a stuck rotor can cause the vehicle to pull to one side when braking.</a:t>
            </a:r>
          </a:p>
          <a:p>
            <a:pPr marL="85725" indent="0">
              <a:buNone/>
            </a:pPr>
            <a:r>
              <a:rPr lang="en-US" sz="2600" dirty="0">
                <a:solidFill>
                  <a:schemeClr val="tx1"/>
                </a:solidFill>
              </a:rPr>
              <a:t>Who is correct?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2)</a:t>
            </a:r>
          </a:p>
        </p:txBody>
      </p:sp>
      <p:sp>
        <p:nvSpPr>
          <p:cNvPr id="3" name="Content Placeholder 2"/>
          <p:cNvSpPr>
            <a:spLocks noGrp="1"/>
          </p:cNvSpPr>
          <p:nvPr>
            <p:ph type="body" idx="1"/>
          </p:nvPr>
        </p:nvSpPr>
        <p:spPr/>
        <p:txBody>
          <a:bodyPr/>
          <a:lstStyle/>
          <a:p>
            <a:pPr marL="85725" indent="0">
              <a:spcBef>
                <a:spcPts val="624"/>
              </a:spcBef>
              <a:buNone/>
            </a:pPr>
            <a:r>
              <a:rPr lang="en-US" sz="2600" dirty="0">
                <a:solidFill>
                  <a:schemeClr val="tx1"/>
                </a:solidFill>
              </a:rPr>
              <a:t>Technician A says a stuck rotor can cause the pads overheat.</a:t>
            </a:r>
          </a:p>
          <a:p>
            <a:pPr marL="85725" indent="0">
              <a:spcBef>
                <a:spcPts val="624"/>
              </a:spcBef>
              <a:buNone/>
            </a:pPr>
            <a:r>
              <a:rPr lang="en-US" sz="2600" dirty="0">
                <a:solidFill>
                  <a:schemeClr val="tx1"/>
                </a:solidFill>
              </a:rPr>
              <a:t>Technician B says a stuck rotor can cause the vehicle to pull to one side when braking.</a:t>
            </a:r>
          </a:p>
          <a:p>
            <a:pPr marL="85725" indent="0">
              <a:spcBef>
                <a:spcPts val="624"/>
              </a:spcBef>
              <a:spcAft>
                <a:spcPts val="2400"/>
              </a:spcAft>
              <a:buNone/>
            </a:pPr>
            <a:r>
              <a:rPr lang="en-US" sz="2600" dirty="0">
                <a:solidFill>
                  <a:schemeClr val="tx1"/>
                </a:solidFill>
              </a:rPr>
              <a:t>Who is correct?</a:t>
            </a:r>
          </a:p>
          <a:p>
            <a:pPr marL="85725" indent="0">
              <a:buNone/>
            </a:pPr>
            <a:r>
              <a:rPr lang="en-US" sz="2600" dirty="0">
                <a:solidFill>
                  <a:schemeClr val="tx1"/>
                </a:solidFill>
              </a:rPr>
              <a:t>Answer: Both Technicians A and B</a:t>
            </a:r>
          </a:p>
        </p:txBody>
      </p:sp>
    </p:spTree>
    <p:extLst>
      <p:ext uri="{BB962C8B-B14F-4D97-AF65-F5344CB8AC3E}">
        <p14:creationId xmlns:p14="http://schemas.microsoft.com/office/powerpoint/2010/main" val="40790002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Guidelines</a:t>
            </a:r>
          </a:p>
        </p:txBody>
      </p:sp>
      <p:sp>
        <p:nvSpPr>
          <p:cNvPr id="3" name="Content Placeholder 2"/>
          <p:cNvSpPr>
            <a:spLocks noGrp="1"/>
          </p:cNvSpPr>
          <p:nvPr>
            <p:ph type="body" idx="1"/>
          </p:nvPr>
        </p:nvSpPr>
        <p:spPr/>
        <p:txBody>
          <a:bodyPr/>
          <a:lstStyle/>
          <a:p>
            <a:pPr marL="85725" indent="0">
              <a:buNone/>
            </a:pPr>
            <a:r>
              <a:rPr lang="en-US" b="1" dirty="0">
                <a:solidFill>
                  <a:schemeClr val="tx1"/>
                </a:solidFill>
                <a:latin typeface="Work Sans" pitchFamily="2" charset="0"/>
              </a:rPr>
              <a:t>52-05 Explain what precautions should be taken when servicing disc brake systems</a:t>
            </a:r>
            <a:r>
              <a:rPr lang="en-US" dirty="0">
                <a:solidFill>
                  <a:schemeClr val="tx1"/>
                </a:solidFill>
                <a:latin typeface="Work Sans" pitchFamily="2" charset="0"/>
              </a:rPr>
              <a:t>.</a:t>
            </a:r>
          </a:p>
          <a:p>
            <a:r>
              <a:rPr lang="en-US" dirty="0">
                <a:solidFill>
                  <a:schemeClr val="tx1"/>
                </a:solidFill>
                <a:latin typeface="Work Sans" pitchFamily="2" charset="0"/>
              </a:rPr>
              <a:t>Be sure the vehicle is properly raised and secured</a:t>
            </a:r>
            <a:r>
              <a:rPr lang="en-US" dirty="0">
                <a:solidFill>
                  <a:schemeClr val="tx1"/>
                </a:solidFill>
              </a:rPr>
              <a:t>.</a:t>
            </a:r>
            <a:endParaRPr lang="en-US" dirty="0">
              <a:solidFill>
                <a:schemeClr val="tx1"/>
              </a:solidFill>
              <a:latin typeface="Work Sans" pitchFamily="2" charset="0"/>
            </a:endParaRPr>
          </a:p>
          <a:p>
            <a:pPr algn="l"/>
            <a:r>
              <a:rPr lang="en-US" dirty="0">
                <a:solidFill>
                  <a:schemeClr val="tx1"/>
                </a:solidFill>
                <a:latin typeface="Work Sans" pitchFamily="2" charset="0"/>
              </a:rPr>
              <a:t>If the vehicle has antilock brakes, you may need to depressurize the system.</a:t>
            </a:r>
          </a:p>
          <a:p>
            <a:pPr algn="l"/>
            <a:r>
              <a:rPr lang="en-US" dirty="0">
                <a:solidFill>
                  <a:schemeClr val="tx1"/>
                </a:solidFill>
                <a:latin typeface="Work Sans" pitchFamily="2" charset="0"/>
              </a:rPr>
              <a:t>If working on a hybrid vehicle, read and follow the manufacturer’s brake service precautions and procedures.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Pre-Service Checks (1 of 2)</a:t>
            </a:r>
          </a:p>
        </p:txBody>
      </p:sp>
      <p:sp>
        <p:nvSpPr>
          <p:cNvPr id="36867" name="Rectangle 3"/>
          <p:cNvSpPr>
            <a:spLocks noGrp="1" noChangeArrowheads="1"/>
          </p:cNvSpPr>
          <p:nvPr>
            <p:ph type="body" idx="1"/>
          </p:nvPr>
        </p:nvSpPr>
        <p:spPr/>
        <p:txBody>
          <a:bodyPr/>
          <a:lstStyle/>
          <a:p>
            <a:r>
              <a:rPr lang="en-US" sz="2600" dirty="0">
                <a:solidFill>
                  <a:schemeClr val="tx1"/>
                </a:solidFill>
              </a:rPr>
              <a:t>Tires for wear and improper inflation</a:t>
            </a:r>
          </a:p>
          <a:p>
            <a:r>
              <a:rPr lang="en-US" sz="2600" dirty="0">
                <a:solidFill>
                  <a:schemeClr val="tx1"/>
                </a:solidFill>
              </a:rPr>
              <a:t>Wheels for bent or warped rims</a:t>
            </a:r>
          </a:p>
          <a:p>
            <a:r>
              <a:rPr lang="en-US" sz="2600" dirty="0">
                <a:solidFill>
                  <a:schemeClr val="tx1"/>
                </a:solidFill>
              </a:rPr>
              <a:t>Wheel bearings for wear or looseness</a:t>
            </a:r>
          </a:p>
          <a:p>
            <a:r>
              <a:rPr lang="en-US" sz="2600" dirty="0">
                <a:solidFill>
                  <a:schemeClr val="tx1"/>
                </a:solidFill>
              </a:rPr>
              <a:t>Suspension components for wear or looseness</a:t>
            </a:r>
          </a:p>
          <a:p>
            <a:r>
              <a:rPr lang="en-US" sz="2600" dirty="0">
                <a:solidFill>
                  <a:schemeClr val="tx1"/>
                </a:solidFill>
              </a:rPr>
              <a:t>Brake fluid level</a:t>
            </a:r>
          </a:p>
          <a:p>
            <a:r>
              <a:rPr lang="en-US" sz="2600" dirty="0">
                <a:solidFill>
                  <a:schemeClr val="tx1"/>
                </a:solidFill>
              </a:rPr>
              <a:t>Hydraulic system for leaks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Pre-Service Checks (2 of 2) </a:t>
            </a:r>
          </a:p>
        </p:txBody>
      </p:sp>
      <p:sp>
        <p:nvSpPr>
          <p:cNvPr id="37891" name="Content Placeholder 2"/>
          <p:cNvSpPr>
            <a:spLocks noGrp="1"/>
          </p:cNvSpPr>
          <p:nvPr>
            <p:ph type="body" idx="1"/>
          </p:nvPr>
        </p:nvSpPr>
        <p:spPr/>
        <p:txBody>
          <a:bodyPr/>
          <a:lstStyle/>
          <a:p>
            <a:r>
              <a:rPr lang="en-US" sz="2600" dirty="0">
                <a:solidFill>
                  <a:schemeClr val="tx1"/>
                </a:solidFill>
                <a:latin typeface="Work Sans" pitchFamily="2" charset="0"/>
              </a:rPr>
              <a:t>Before removing a hydraulic part, use a pedal depressor to slightly depress the brake pedal.</a:t>
            </a:r>
          </a:p>
          <a:p>
            <a:r>
              <a:rPr lang="en-US" sz="2600" dirty="0">
                <a:solidFill>
                  <a:schemeClr val="tx1"/>
                </a:solidFill>
                <a:latin typeface="Work Sans" pitchFamily="2" charset="0"/>
              </a:rPr>
              <a:t>Remove about two-thirds of the brake fluid from the master cylinder reservoir</a:t>
            </a:r>
          </a:p>
          <a:p>
            <a:pPr algn="l"/>
            <a:r>
              <a:rPr lang="en-US" sz="2600" dirty="0">
                <a:solidFill>
                  <a:schemeClr val="tx1"/>
                </a:solidFill>
                <a:latin typeface="Work Sans" pitchFamily="2" charset="0"/>
              </a:rPr>
              <a:t>If the bleeder screws are frozen tight with corrosion, it is sometimes possible to free them by tapping on the caliper body at the bleeder with a hammer.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General Caliper Inspection and Servicing</a:t>
            </a:r>
          </a:p>
        </p:txBody>
      </p:sp>
      <p:sp>
        <p:nvSpPr>
          <p:cNvPr id="38915" name="Content Placeholder 2"/>
          <p:cNvSpPr>
            <a:spLocks noGrp="1"/>
          </p:cNvSpPr>
          <p:nvPr>
            <p:ph type="body" idx="1"/>
          </p:nvPr>
        </p:nvSpPr>
        <p:spPr/>
        <p:txBody>
          <a:bodyPr/>
          <a:lstStyle/>
          <a:p>
            <a:r>
              <a:rPr lang="en-US" sz="2600" dirty="0">
                <a:solidFill>
                  <a:schemeClr val="tx1"/>
                </a:solidFill>
              </a:rPr>
              <a:t>Removal</a:t>
            </a:r>
          </a:p>
          <a:p>
            <a:pPr lvl="1"/>
            <a:r>
              <a:rPr lang="en-US" dirty="0">
                <a:solidFill>
                  <a:schemeClr val="tx1"/>
                </a:solidFill>
              </a:rPr>
              <a:t>Always follow manufacturers service procedures.</a:t>
            </a:r>
          </a:p>
          <a:p>
            <a:pPr lvl="1"/>
            <a:r>
              <a:rPr lang="en-US" dirty="0">
                <a:solidFill>
                  <a:schemeClr val="tx1"/>
                </a:solidFill>
              </a:rPr>
              <a:t>Remove a portion of brake fluid from reservoir.</a:t>
            </a:r>
          </a:p>
          <a:p>
            <a:pPr lvl="1"/>
            <a:r>
              <a:rPr lang="en-US" dirty="0">
                <a:solidFill>
                  <a:schemeClr val="tx1"/>
                </a:solidFill>
              </a:rPr>
              <a:t>On floating/sliding calipers, use a C-clamp to bottom the piston.</a:t>
            </a:r>
          </a:p>
          <a:p>
            <a:pPr lvl="1"/>
            <a:r>
              <a:rPr lang="en-US" dirty="0">
                <a:solidFill>
                  <a:schemeClr val="tx1"/>
                </a:solidFill>
              </a:rPr>
              <a:t>On threaded parking brake calipers, rotate the piston back into its bore.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Retracting the Caliper Piston</a:t>
            </a:r>
          </a:p>
        </p:txBody>
      </p:sp>
      <p:pic>
        <p:nvPicPr>
          <p:cNvPr id="9" name="Picture Placeholder 8" descr="A C-clamp retracts the piston into the bore of the caliper. The piston is released back into the caliper using a C-clamp. The labeled parts are as follows: end of the clamp against the caliper and end of the screw against the outboard pad.">
            <a:extLst>
              <a:ext uri="{FF2B5EF4-FFF2-40B4-BE49-F238E27FC236}">
                <a16:creationId xmlns:a16="http://schemas.microsoft.com/office/drawing/2014/main" id="{5493B641-2D62-B486-39F1-5F5EE4DEA3FA}"/>
              </a:ext>
            </a:extLst>
          </p:cNvPr>
          <p:cNvPicPr>
            <a:picLocks noGrp="1" noChangeAspect="1"/>
          </p:cNvPicPr>
          <p:nvPr>
            <p:ph type="pic" sz="quarter" idx="11"/>
          </p:nvPr>
        </p:nvPicPr>
        <p:blipFill>
          <a:blip r:embed="rId3"/>
          <a:srcRect b="13433"/>
          <a:stretch/>
        </p:blipFill>
        <p:spPr>
          <a:xfrm>
            <a:off x="3290419" y="1676333"/>
            <a:ext cx="5611162" cy="399117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t>Brake Pad Removal</a:t>
            </a:r>
          </a:p>
        </p:txBody>
      </p:sp>
      <p:sp>
        <p:nvSpPr>
          <p:cNvPr id="40963" name="Content Placeholder 2"/>
          <p:cNvSpPr>
            <a:spLocks noGrp="1"/>
          </p:cNvSpPr>
          <p:nvPr>
            <p:ph type="body" idx="1"/>
          </p:nvPr>
        </p:nvSpPr>
        <p:spPr/>
        <p:txBody>
          <a:bodyPr/>
          <a:lstStyle/>
          <a:p>
            <a:pPr marL="85725" indent="0">
              <a:buNone/>
            </a:pPr>
            <a:r>
              <a:rPr lang="en-US" b="1" dirty="0">
                <a:solidFill>
                  <a:schemeClr val="tx1"/>
                </a:solidFill>
                <a:latin typeface="Work Sans" pitchFamily="2" charset="0"/>
              </a:rPr>
              <a:t>52-06 Describe the general procedure involved in replacing disc brake pads.</a:t>
            </a:r>
            <a:endParaRPr lang="en-US" dirty="0">
              <a:solidFill>
                <a:schemeClr val="tx1"/>
              </a:solidFill>
            </a:endParaRPr>
          </a:p>
          <a:p>
            <a:r>
              <a:rPr lang="en-US" dirty="0">
                <a:solidFill>
                  <a:schemeClr val="tx1"/>
                </a:solidFill>
              </a:rPr>
              <a:t>Floating and sliding calipers must be lifted off the rotor for pad replacement.</a:t>
            </a:r>
          </a:p>
          <a:p>
            <a:r>
              <a:rPr lang="en-US" dirty="0">
                <a:solidFill>
                  <a:schemeClr val="tx1"/>
                </a:solidFill>
              </a:rPr>
              <a:t>Pads on fixed calipers can often be replaced by removing the pad pins.</a:t>
            </a:r>
          </a:p>
          <a:p>
            <a:r>
              <a:rPr lang="en-US" dirty="0">
                <a:solidFill>
                  <a:schemeClr val="tx1"/>
                </a:solidFill>
              </a:rPr>
              <a:t>Note position of anti-rattle clips and springs</a:t>
            </a:r>
          </a:p>
          <a:p>
            <a:r>
              <a:rPr lang="en-US" dirty="0">
                <a:solidFill>
                  <a:schemeClr val="tx1"/>
                </a:solidFill>
              </a:rPr>
              <a:t>Hang the caliper by a wire—</a:t>
            </a:r>
            <a:r>
              <a:rPr lang="en-US" i="1" dirty="0">
                <a:solidFill>
                  <a:schemeClr val="tx1"/>
                </a:solidFill>
              </a:rPr>
              <a:t>never let the caliper hang by the hose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Caliper Support</a:t>
            </a:r>
          </a:p>
        </p:txBody>
      </p:sp>
      <p:pic>
        <p:nvPicPr>
          <p:cNvPr id="9" name="Picture Placeholder 8" descr="Support is provided for the caliper assembly as it hangs with its weight on the brake hose.">
            <a:extLst>
              <a:ext uri="{FF2B5EF4-FFF2-40B4-BE49-F238E27FC236}">
                <a16:creationId xmlns:a16="http://schemas.microsoft.com/office/drawing/2014/main" id="{019CD11B-C7F1-48D3-3CEB-FFD7D039185C}"/>
              </a:ext>
            </a:extLst>
          </p:cNvPr>
          <p:cNvPicPr>
            <a:picLocks noGrp="1" noChangeAspect="1"/>
          </p:cNvPicPr>
          <p:nvPr>
            <p:ph type="pic" sz="quarter" idx="11"/>
          </p:nvPr>
        </p:nvPicPr>
        <p:blipFill>
          <a:blip r:embed="rId2"/>
          <a:srcRect b="9369"/>
          <a:stretch/>
        </p:blipFill>
        <p:spPr>
          <a:xfrm>
            <a:off x="4513793" y="1592592"/>
            <a:ext cx="3164415" cy="432099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5"/>
          <p:cNvSpPr>
            <a:spLocks noGrp="1"/>
          </p:cNvSpPr>
          <p:nvPr>
            <p:ph type="title"/>
          </p:nvPr>
        </p:nvSpPr>
        <p:spPr/>
        <p:txBody>
          <a:bodyPr/>
          <a:lstStyle/>
          <a:p>
            <a:r>
              <a:rPr lang="en-US" dirty="0"/>
              <a:t>Pad Inspection</a:t>
            </a:r>
          </a:p>
        </p:txBody>
      </p:sp>
      <p:sp>
        <p:nvSpPr>
          <p:cNvPr id="41987" name="Content Placeholder 6"/>
          <p:cNvSpPr>
            <a:spLocks noGrp="1"/>
          </p:cNvSpPr>
          <p:nvPr>
            <p:ph type="body" idx="1"/>
          </p:nvPr>
        </p:nvSpPr>
        <p:spPr/>
        <p:txBody>
          <a:bodyPr/>
          <a:lstStyle/>
          <a:p>
            <a:r>
              <a:rPr lang="en-US" sz="2600" dirty="0">
                <a:solidFill>
                  <a:schemeClr val="tx1"/>
                </a:solidFill>
              </a:rPr>
              <a:t>Measure at the thinnest point</a:t>
            </a:r>
          </a:p>
          <a:p>
            <a:r>
              <a:rPr lang="en-US" sz="2600" dirty="0">
                <a:solidFill>
                  <a:schemeClr val="tx1"/>
                </a:solidFill>
              </a:rPr>
              <a:t>Less than 1/8” (3.175 mm) and the pads should be replaced</a:t>
            </a:r>
          </a:p>
          <a:p>
            <a:r>
              <a:rPr lang="en-US" sz="2600" dirty="0">
                <a:solidFill>
                  <a:schemeClr val="tx1"/>
                </a:solidFill>
              </a:rPr>
              <a:t>Uneven pad wear is often caused by a caliper that is not sliding properly.</a:t>
            </a:r>
          </a:p>
          <a:p>
            <a:r>
              <a:rPr lang="en-US" sz="2600" dirty="0">
                <a:solidFill>
                  <a:schemeClr val="tx1"/>
                </a:solidFill>
              </a:rPr>
              <a:t>A slightly tapered wear is normal but should not exceed 1/8” (3.175 mm).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3"/>
          <p:cNvSpPr>
            <a:spLocks noGrp="1"/>
          </p:cNvSpPr>
          <p:nvPr>
            <p:ph type="title"/>
          </p:nvPr>
        </p:nvSpPr>
        <p:spPr/>
        <p:txBody>
          <a:bodyPr/>
          <a:lstStyle/>
          <a:p>
            <a:r>
              <a:rPr lang="en-US" dirty="0"/>
              <a:t>Caliper Disassembly</a:t>
            </a:r>
          </a:p>
        </p:txBody>
      </p:sp>
      <p:sp>
        <p:nvSpPr>
          <p:cNvPr id="44035" name="Content Placeholder 4"/>
          <p:cNvSpPr>
            <a:spLocks noGrp="1"/>
          </p:cNvSpPr>
          <p:nvPr>
            <p:ph type="body" idx="1"/>
          </p:nvPr>
        </p:nvSpPr>
        <p:spPr/>
        <p:txBody>
          <a:bodyPr/>
          <a:lstStyle/>
          <a:p>
            <a:r>
              <a:rPr lang="en-US" sz="2600" dirty="0">
                <a:solidFill>
                  <a:schemeClr val="tx1"/>
                </a:solidFill>
              </a:rPr>
              <a:t>Inspect pins and bushings</a:t>
            </a:r>
            <a:r>
              <a:rPr lang="en-US" sz="2800" dirty="0">
                <a:solidFill>
                  <a:schemeClr val="tx1"/>
                </a:solidFill>
              </a:rPr>
              <a:t>—</a:t>
            </a:r>
            <a:r>
              <a:rPr lang="en-US" sz="2600" dirty="0">
                <a:solidFill>
                  <a:schemeClr val="tx1"/>
                </a:solidFill>
              </a:rPr>
              <a:t>replace as needed</a:t>
            </a:r>
          </a:p>
          <a:p>
            <a:r>
              <a:rPr lang="en-US" sz="2600" dirty="0">
                <a:solidFill>
                  <a:schemeClr val="tx1"/>
                </a:solidFill>
              </a:rPr>
              <a:t>Remove the piston dust boot and piston</a:t>
            </a:r>
          </a:p>
          <a:p>
            <a:r>
              <a:rPr lang="en-US" sz="2600" dirty="0">
                <a:solidFill>
                  <a:schemeClr val="tx1"/>
                </a:solidFill>
              </a:rPr>
              <a:t>Inspect phenolic pistons for cracks and steel pistons for scoring and pitting</a:t>
            </a:r>
          </a:p>
          <a:p>
            <a:r>
              <a:rPr lang="en-US" sz="2600" dirty="0">
                <a:solidFill>
                  <a:schemeClr val="tx1"/>
                </a:solidFill>
              </a:rPr>
              <a:t>Check the piston bore for rust and scoring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Removing the  Caliper Piston</a:t>
            </a:r>
          </a:p>
        </p:txBody>
      </p:sp>
      <p:pic>
        <p:nvPicPr>
          <p:cNvPr id="9" name="Picture Placeholder 8" descr="The removal of the piston from the caliper housing using air. At the fluid inlet port of the caliper, low air pressure is applied to remove the piston. Folded shop cloths are placed on the face of the lining to hold the removed piston. The labeled parts are as follows: shop cloths and caliper.">
            <a:extLst>
              <a:ext uri="{FF2B5EF4-FFF2-40B4-BE49-F238E27FC236}">
                <a16:creationId xmlns:a16="http://schemas.microsoft.com/office/drawing/2014/main" id="{9FD00CC8-92F3-25F8-BCF6-F5BC2E32E247}"/>
              </a:ext>
            </a:extLst>
          </p:cNvPr>
          <p:cNvPicPr>
            <a:picLocks noGrp="1" noChangeAspect="1"/>
          </p:cNvPicPr>
          <p:nvPr>
            <p:ph type="pic" sz="quarter" idx="11"/>
          </p:nvPr>
        </p:nvPicPr>
        <p:blipFill>
          <a:blip r:embed="rId3"/>
          <a:srcRect b="5776"/>
          <a:stretch/>
        </p:blipFill>
        <p:spPr>
          <a:xfrm>
            <a:off x="3238500" y="1855574"/>
            <a:ext cx="5715000" cy="373356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dirty="0"/>
              <a:t>Loaded Calipers</a:t>
            </a:r>
          </a:p>
        </p:txBody>
      </p:sp>
      <p:sp>
        <p:nvSpPr>
          <p:cNvPr id="45059" name="Content Placeholder 2"/>
          <p:cNvSpPr>
            <a:spLocks noGrp="1"/>
          </p:cNvSpPr>
          <p:nvPr>
            <p:ph type="body" idx="1"/>
          </p:nvPr>
        </p:nvSpPr>
        <p:spPr/>
        <p:txBody>
          <a:bodyPr/>
          <a:lstStyle/>
          <a:p>
            <a:r>
              <a:rPr lang="en-US" sz="2600" dirty="0">
                <a:solidFill>
                  <a:schemeClr val="tx1"/>
                </a:solidFill>
              </a:rPr>
              <a:t>Complete units with pads and mounting hardware included</a:t>
            </a:r>
          </a:p>
          <a:p>
            <a:r>
              <a:rPr lang="en-US" sz="2600" dirty="0">
                <a:solidFill>
                  <a:schemeClr val="tx1"/>
                </a:solidFill>
              </a:rPr>
              <a:t>Often more cost effective</a:t>
            </a:r>
          </a:p>
          <a:p>
            <a:r>
              <a:rPr lang="en-US" sz="2600" dirty="0">
                <a:solidFill>
                  <a:schemeClr val="tx1"/>
                </a:solidFill>
              </a:rPr>
              <a:t>Reduces chance of problems when rebuilding calipers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dirty="0"/>
              <a:t>Caliper Reassembly</a:t>
            </a:r>
          </a:p>
        </p:txBody>
      </p:sp>
      <p:sp>
        <p:nvSpPr>
          <p:cNvPr id="46083" name="Content Placeholder 2"/>
          <p:cNvSpPr>
            <a:spLocks noGrp="1"/>
          </p:cNvSpPr>
          <p:nvPr>
            <p:ph type="body" idx="1"/>
          </p:nvPr>
        </p:nvSpPr>
        <p:spPr/>
        <p:txBody>
          <a:bodyPr/>
          <a:lstStyle/>
          <a:p>
            <a:r>
              <a:rPr lang="en-US" sz="2600" dirty="0">
                <a:solidFill>
                  <a:schemeClr val="tx1"/>
                </a:solidFill>
              </a:rPr>
              <a:t>Clean the bore, piston, fluid passages, and all parts being reused</a:t>
            </a:r>
          </a:p>
          <a:p>
            <a:r>
              <a:rPr lang="en-US" sz="2600" dirty="0">
                <a:solidFill>
                  <a:schemeClr val="tx1"/>
                </a:solidFill>
              </a:rPr>
              <a:t>Lubricate the piston and seals and install</a:t>
            </a:r>
          </a:p>
          <a:p>
            <a:r>
              <a:rPr lang="en-US" sz="2600" dirty="0">
                <a:solidFill>
                  <a:schemeClr val="tx1"/>
                </a:solidFill>
              </a:rPr>
              <a:t>Ensure the piston is aligned exactly in the bore</a:t>
            </a:r>
          </a:p>
          <a:p>
            <a:r>
              <a:rPr lang="en-US" sz="2600" dirty="0">
                <a:solidFill>
                  <a:schemeClr val="tx1"/>
                </a:solidFill>
              </a:rPr>
              <a:t>A seal installer may be necessary for the dust boot.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Caliper Dust Boot</a:t>
            </a:r>
          </a:p>
        </p:txBody>
      </p:sp>
      <p:pic>
        <p:nvPicPr>
          <p:cNvPr id="9" name="Picture Placeholder 8" descr="A dust boot gets seated with a boot installer using an installation tool or a wooden block. The labeled parts are as follows: Boot installer, and dust boot.">
            <a:extLst>
              <a:ext uri="{FF2B5EF4-FFF2-40B4-BE49-F238E27FC236}">
                <a16:creationId xmlns:a16="http://schemas.microsoft.com/office/drawing/2014/main" id="{F2F9E5FC-558D-B0C0-2FD5-CD95DF3B5D09}"/>
              </a:ext>
            </a:extLst>
          </p:cNvPr>
          <p:cNvPicPr>
            <a:picLocks noGrp="1" noChangeAspect="1"/>
          </p:cNvPicPr>
          <p:nvPr>
            <p:ph type="pic" sz="quarter" idx="11"/>
          </p:nvPr>
        </p:nvPicPr>
        <p:blipFill>
          <a:blip r:embed="rId3"/>
          <a:srcRect b="6939"/>
          <a:stretch/>
        </p:blipFill>
        <p:spPr>
          <a:xfrm>
            <a:off x="3560114" y="1798646"/>
            <a:ext cx="5071772" cy="386241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p:txBody>
          <a:bodyPr/>
          <a:lstStyle/>
          <a:p>
            <a:r>
              <a:rPr lang="en-US" dirty="0"/>
              <a:t>Brake Pad Installation</a:t>
            </a:r>
          </a:p>
        </p:txBody>
      </p:sp>
      <p:sp>
        <p:nvSpPr>
          <p:cNvPr id="47107" name="Content Placeholder 4"/>
          <p:cNvSpPr>
            <a:spLocks noGrp="1"/>
          </p:cNvSpPr>
          <p:nvPr>
            <p:ph type="body" idx="1"/>
          </p:nvPr>
        </p:nvSpPr>
        <p:spPr/>
        <p:txBody>
          <a:bodyPr/>
          <a:lstStyle/>
          <a:p>
            <a:r>
              <a:rPr lang="en-US" sz="2600" dirty="0">
                <a:solidFill>
                  <a:schemeClr val="tx1"/>
                </a:solidFill>
              </a:rPr>
              <a:t>Always replace pad hardware.</a:t>
            </a:r>
          </a:p>
          <a:p>
            <a:r>
              <a:rPr lang="en-US" sz="2600" dirty="0">
                <a:solidFill>
                  <a:schemeClr val="tx1"/>
                </a:solidFill>
              </a:rPr>
              <a:t>Clean rust from all pad/caliper sliding surfaces.</a:t>
            </a:r>
          </a:p>
          <a:p>
            <a:r>
              <a:rPr lang="en-US" sz="2600" dirty="0">
                <a:solidFill>
                  <a:schemeClr val="tx1"/>
                </a:solidFill>
              </a:rPr>
              <a:t>Lubricate sliding surfaces with anti-seize or per the manufacturers recommendations.</a:t>
            </a:r>
          </a:p>
          <a:p>
            <a:r>
              <a:rPr lang="en-US" sz="2600" dirty="0">
                <a:solidFill>
                  <a:schemeClr val="tx1"/>
                </a:solidFill>
              </a:rPr>
              <a:t>Some pads require bending a retaining flange or tab to prevent looseness and noise.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Caliper Service Tips </a:t>
            </a:r>
          </a:p>
        </p:txBody>
      </p:sp>
      <p:sp>
        <p:nvSpPr>
          <p:cNvPr id="49155" name="Content Placeholder 3"/>
          <p:cNvSpPr>
            <a:spLocks noGrp="1" noChangeArrowheads="1"/>
          </p:cNvSpPr>
          <p:nvPr>
            <p:ph type="body" idx="1"/>
          </p:nvPr>
        </p:nvSpPr>
        <p:spPr/>
        <p:txBody>
          <a:bodyPr/>
          <a:lstStyle/>
          <a:p>
            <a:r>
              <a:rPr lang="en-US" sz="2600" dirty="0">
                <a:solidFill>
                  <a:schemeClr val="tx1"/>
                </a:solidFill>
              </a:rPr>
              <a:t>Make sure the correct caliper is mounted on the correct anchor plate.</a:t>
            </a:r>
          </a:p>
          <a:p>
            <a:r>
              <a:rPr lang="en-US" sz="2600" dirty="0">
                <a:solidFill>
                  <a:schemeClr val="tx1"/>
                </a:solidFill>
              </a:rPr>
              <a:t>Lubricate rubber insulators with silicone dielectric compound.</a:t>
            </a:r>
          </a:p>
          <a:p>
            <a:r>
              <a:rPr lang="en-US" sz="2600" dirty="0">
                <a:solidFill>
                  <a:schemeClr val="tx1"/>
                </a:solidFill>
              </a:rPr>
              <a:t>If copper washers are used, always use new ones.</a:t>
            </a:r>
          </a:p>
          <a:p>
            <a:r>
              <a:rPr lang="en-US" sz="2600" dirty="0">
                <a:solidFill>
                  <a:schemeClr val="tx1"/>
                </a:solidFill>
              </a:rPr>
              <a:t>Fill the master cylinder and bleed the hydraulic system.</a:t>
            </a:r>
          </a:p>
          <a:p>
            <a:r>
              <a:rPr lang="en-US" sz="2600" dirty="0">
                <a:solidFill>
                  <a:schemeClr val="tx1"/>
                </a:solidFill>
              </a:rPr>
              <a:t>Check for leaks under maximum pedal pressure.</a:t>
            </a:r>
          </a:p>
          <a:p>
            <a:r>
              <a:rPr lang="en-US" sz="2600" dirty="0">
                <a:solidFill>
                  <a:schemeClr val="tx1"/>
                </a:solidFill>
              </a:rPr>
              <a:t>Road test the vehicle.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t>Rear Disc Brake Calipers</a:t>
            </a:r>
          </a:p>
        </p:txBody>
      </p:sp>
      <p:sp>
        <p:nvSpPr>
          <p:cNvPr id="51203" name="Content Placeholder 2"/>
          <p:cNvSpPr>
            <a:spLocks noGrp="1"/>
          </p:cNvSpPr>
          <p:nvPr>
            <p:ph type="body" idx="1"/>
          </p:nvPr>
        </p:nvSpPr>
        <p:spPr/>
        <p:txBody>
          <a:bodyPr/>
          <a:lstStyle/>
          <a:p>
            <a:r>
              <a:rPr lang="en-US" sz="2600" dirty="0">
                <a:solidFill>
                  <a:schemeClr val="tx1"/>
                </a:solidFill>
              </a:rPr>
              <a:t>Rear disc brake calipers with an internal parking brake require special disassembly and reassembly procedures.</a:t>
            </a:r>
          </a:p>
          <a:p>
            <a:r>
              <a:rPr lang="en-US" sz="2600" dirty="0">
                <a:solidFill>
                  <a:schemeClr val="tx1"/>
                </a:solidFill>
              </a:rPr>
              <a:t>Always follow the manufacturers service procedures.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Rotor Inspection </a:t>
            </a:r>
          </a:p>
        </p:txBody>
      </p:sp>
      <p:sp>
        <p:nvSpPr>
          <p:cNvPr id="52227" name="Content Placeholder 2"/>
          <p:cNvSpPr>
            <a:spLocks noGrp="1"/>
          </p:cNvSpPr>
          <p:nvPr>
            <p:ph type="body" idx="1"/>
          </p:nvPr>
        </p:nvSpPr>
        <p:spPr/>
        <p:txBody>
          <a:bodyPr/>
          <a:lstStyle/>
          <a:p>
            <a:pPr marL="85725" indent="0">
              <a:buNone/>
            </a:pPr>
            <a:r>
              <a:rPr lang="en-US" b="1" dirty="0">
                <a:solidFill>
                  <a:schemeClr val="tx1"/>
                </a:solidFill>
                <a:latin typeface="Work Sans" pitchFamily="2" charset="0"/>
              </a:rPr>
              <a:t>52-08 Describe rotor servicing and replacement procedures.</a:t>
            </a:r>
            <a:endParaRPr lang="en-US" dirty="0">
              <a:solidFill>
                <a:schemeClr val="tx1"/>
              </a:solidFill>
            </a:endParaRPr>
          </a:p>
          <a:p>
            <a:r>
              <a:rPr lang="en-US" sz="2600" dirty="0">
                <a:solidFill>
                  <a:schemeClr val="tx1"/>
                </a:solidFill>
              </a:rPr>
              <a:t>Measure thickness, parallelism, and runout.</a:t>
            </a:r>
          </a:p>
          <a:p>
            <a:pPr lvl="1"/>
            <a:r>
              <a:rPr lang="en-US" dirty="0">
                <a:solidFill>
                  <a:schemeClr val="tx1"/>
                </a:solidFill>
              </a:rPr>
              <a:t>Small grooves, 0.010” or 0.25 mm, are usually acceptable.</a:t>
            </a:r>
          </a:p>
          <a:p>
            <a:r>
              <a:rPr lang="en-US" sz="2600" dirty="0">
                <a:solidFill>
                  <a:schemeClr val="tx1"/>
                </a:solidFill>
              </a:rPr>
              <a:t>Check for cracks and hard spots (bluing).</a:t>
            </a:r>
          </a:p>
          <a:p>
            <a:r>
              <a:rPr lang="en-US" sz="2600" dirty="0">
                <a:solidFill>
                  <a:schemeClr val="tx1"/>
                </a:solidFill>
              </a:rPr>
              <a:t>Inspect vents for excessive rusting.</a:t>
            </a:r>
          </a:p>
          <a:p>
            <a:r>
              <a:rPr lang="en-US" sz="2600" dirty="0">
                <a:solidFill>
                  <a:schemeClr val="tx1"/>
                </a:solidFill>
              </a:rPr>
              <a:t>If beyond specifications, the rotor must be replaced.</a:t>
            </a:r>
          </a:p>
          <a:p>
            <a:r>
              <a:rPr lang="en-US" sz="2600" dirty="0">
                <a:solidFill>
                  <a:schemeClr val="tx1"/>
                </a:solidFill>
              </a:rPr>
              <a:t>Inspect wheel speed sensors at same time.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Measuring Rotors</a:t>
            </a:r>
          </a:p>
        </p:txBody>
      </p:sp>
      <p:pic>
        <p:nvPicPr>
          <p:cNvPr id="10" name="Picture Placeholder 9" descr="The measurement of the thickness of a rotor and parallelism. The measurement is done using a brake disc micrometer at eight different spots. The micrometer is placed at the outer edge of the rotor. Eight points are marked on the outer edge for the measurement. An arrow points to the micrometer with a text that reads Measure 8–12 points.">
            <a:extLst>
              <a:ext uri="{FF2B5EF4-FFF2-40B4-BE49-F238E27FC236}">
                <a16:creationId xmlns:a16="http://schemas.microsoft.com/office/drawing/2014/main" id="{BB7F72A1-3C35-C8F4-F348-DAE97CED2BB1}"/>
              </a:ext>
            </a:extLst>
          </p:cNvPr>
          <p:cNvPicPr>
            <a:picLocks noGrp="1" noChangeAspect="1"/>
          </p:cNvPicPr>
          <p:nvPr>
            <p:ph type="pic" sz="quarter" idx="11"/>
          </p:nvPr>
        </p:nvPicPr>
        <p:blipFill>
          <a:blip r:embed="rId2"/>
          <a:srcRect b="12664"/>
          <a:stretch/>
        </p:blipFill>
        <p:spPr>
          <a:xfrm>
            <a:off x="1973248" y="1810425"/>
            <a:ext cx="4637324" cy="3172541"/>
          </a:xfrm>
          <a:prstGeom prst="rect">
            <a:avLst/>
          </a:prstGeom>
        </p:spPr>
      </p:pic>
      <p:pic>
        <p:nvPicPr>
          <p:cNvPr id="11" name="Picture Placeholder 10" descr="The wobbling of the rotor occurs due to excessive lateral runout. The rotor has brake pads on either side. The labeled parts are as follows: pad, caliper, rotor, and piston.">
            <a:extLst>
              <a:ext uri="{FF2B5EF4-FFF2-40B4-BE49-F238E27FC236}">
                <a16:creationId xmlns:a16="http://schemas.microsoft.com/office/drawing/2014/main" id="{4B0F9178-1AFC-81E3-E9E8-6F1FE8E52E00}"/>
              </a:ext>
            </a:extLst>
          </p:cNvPr>
          <p:cNvPicPr>
            <a:picLocks noGrp="1" noChangeAspect="1"/>
          </p:cNvPicPr>
          <p:nvPr>
            <p:ph type="pic" sz="quarter" idx="12"/>
          </p:nvPr>
        </p:nvPicPr>
        <p:blipFill>
          <a:blip r:embed="rId3"/>
          <a:srcRect b="7394"/>
          <a:stretch/>
        </p:blipFill>
        <p:spPr>
          <a:xfrm>
            <a:off x="7400351" y="1798001"/>
            <a:ext cx="2963504" cy="338017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t>Rotor Service</a:t>
            </a:r>
          </a:p>
        </p:txBody>
      </p:sp>
      <p:sp>
        <p:nvSpPr>
          <p:cNvPr id="55299" name="Content Placeholder 2"/>
          <p:cNvSpPr>
            <a:spLocks noGrp="1"/>
          </p:cNvSpPr>
          <p:nvPr>
            <p:ph type="body" idx="1"/>
          </p:nvPr>
        </p:nvSpPr>
        <p:spPr/>
        <p:txBody>
          <a:bodyPr/>
          <a:lstStyle/>
          <a:p>
            <a:r>
              <a:rPr lang="en-US" sz="2600" dirty="0">
                <a:solidFill>
                  <a:schemeClr val="tx1"/>
                </a:solidFill>
              </a:rPr>
              <a:t>Before removing, mark each rotor as right and left</a:t>
            </a:r>
          </a:p>
          <a:p>
            <a:r>
              <a:rPr lang="en-US" sz="2600" dirty="0">
                <a:solidFill>
                  <a:schemeClr val="tx1"/>
                </a:solidFill>
              </a:rPr>
              <a:t>Two piece rotors require removing the hub and then separating the two sections.</a:t>
            </a:r>
          </a:p>
          <a:p>
            <a:r>
              <a:rPr lang="en-US" sz="2600" dirty="0">
                <a:solidFill>
                  <a:schemeClr val="tx1"/>
                </a:solidFill>
              </a:rPr>
              <a:t>Clean mounting surfaces on floating rotors.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dirty="0"/>
              <a:t>Brake Lathes</a:t>
            </a:r>
          </a:p>
        </p:txBody>
      </p:sp>
      <p:sp>
        <p:nvSpPr>
          <p:cNvPr id="56323" name="Content Placeholder 2"/>
          <p:cNvSpPr>
            <a:spLocks noGrp="1"/>
          </p:cNvSpPr>
          <p:nvPr>
            <p:ph type="body" idx="1"/>
          </p:nvPr>
        </p:nvSpPr>
        <p:spPr/>
        <p:txBody>
          <a:bodyPr/>
          <a:lstStyle/>
          <a:p>
            <a:r>
              <a:rPr lang="en-US" sz="2600" dirty="0">
                <a:solidFill>
                  <a:schemeClr val="tx1"/>
                </a:solidFill>
              </a:rPr>
              <a:t>Used to machine the rotor if there is excessive thickness variation or scoring.</a:t>
            </a:r>
          </a:p>
          <a:p>
            <a:r>
              <a:rPr lang="en-US" sz="2600" dirty="0">
                <a:solidFill>
                  <a:schemeClr val="tx1"/>
                </a:solidFill>
              </a:rPr>
              <a:t>Remove the least amount of metal possible.</a:t>
            </a:r>
          </a:p>
          <a:p>
            <a:r>
              <a:rPr lang="en-US" sz="2600" dirty="0">
                <a:solidFill>
                  <a:schemeClr val="tx1"/>
                </a:solidFill>
              </a:rPr>
              <a:t>Some manufacturers specify the use of on-vehicle brake lathes.</a:t>
            </a:r>
          </a:p>
          <a:p>
            <a:pPr lvl="1"/>
            <a:r>
              <a:rPr lang="en-US" dirty="0">
                <a:solidFill>
                  <a:schemeClr val="tx1"/>
                </a:solidFill>
              </a:rPr>
              <a:t>Often more effective at reducing </a:t>
            </a:r>
            <a:r>
              <a:rPr lang="en-US" dirty="0" err="1">
                <a:solidFill>
                  <a:schemeClr val="tx1"/>
                </a:solidFill>
              </a:rPr>
              <a:t>runout</a:t>
            </a:r>
            <a:r>
              <a:rPr lang="en-US" dirty="0">
                <a:solidFill>
                  <a:schemeClr val="tx1"/>
                </a:solidFill>
              </a:rPr>
              <a:t> problems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On-Car Lathe</a:t>
            </a:r>
          </a:p>
        </p:txBody>
      </p:sp>
      <p:pic>
        <p:nvPicPr>
          <p:cNvPr id="9" name="Picture Placeholder 8" descr="An on-vehicle brake lathe machines the rotor for excessive thickness variation or scoring.">
            <a:extLst>
              <a:ext uri="{FF2B5EF4-FFF2-40B4-BE49-F238E27FC236}">
                <a16:creationId xmlns:a16="http://schemas.microsoft.com/office/drawing/2014/main" id="{D943D4F4-E1FC-C42D-AEB5-DAA174A38AD4}"/>
              </a:ext>
            </a:extLst>
          </p:cNvPr>
          <p:cNvPicPr>
            <a:picLocks noGrp="1" noChangeAspect="1"/>
          </p:cNvPicPr>
          <p:nvPr>
            <p:ph type="pic" sz="quarter" idx="11"/>
          </p:nvPr>
        </p:nvPicPr>
        <p:blipFill>
          <a:blip r:embed="rId3"/>
          <a:srcRect b="7493"/>
          <a:stretch/>
        </p:blipFill>
        <p:spPr>
          <a:xfrm>
            <a:off x="3832536" y="1812213"/>
            <a:ext cx="4526928" cy="391549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t>Installing a Rotor</a:t>
            </a:r>
          </a:p>
        </p:txBody>
      </p:sp>
      <p:sp>
        <p:nvSpPr>
          <p:cNvPr id="58371" name="Content Placeholder 2"/>
          <p:cNvSpPr>
            <a:spLocks noGrp="1"/>
          </p:cNvSpPr>
          <p:nvPr>
            <p:ph type="body" idx="1"/>
          </p:nvPr>
        </p:nvSpPr>
        <p:spPr/>
        <p:txBody>
          <a:bodyPr/>
          <a:lstStyle/>
          <a:p>
            <a:r>
              <a:rPr lang="en-US" sz="2600" dirty="0">
                <a:solidFill>
                  <a:schemeClr val="tx1"/>
                </a:solidFill>
              </a:rPr>
              <a:t>Make sure all mounting surfaces are clean.</a:t>
            </a:r>
          </a:p>
          <a:p>
            <a:r>
              <a:rPr lang="en-US" sz="2600" dirty="0">
                <a:solidFill>
                  <a:schemeClr val="tx1"/>
                </a:solidFill>
              </a:rPr>
              <a:t>Apply a small amount of dielectric grease to the pilot diameter of the rotor.</a:t>
            </a:r>
          </a:p>
          <a:p>
            <a:r>
              <a:rPr lang="en-US" sz="2600" dirty="0">
                <a:solidFill>
                  <a:schemeClr val="tx1"/>
                </a:solidFill>
              </a:rPr>
              <a:t>On fixed one-piece rotors, clean and pack the wheel bearings and hub with new grease.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spcBef>
                <a:spcPts val="0"/>
              </a:spcBef>
            </a:pPr>
            <a:r>
              <a:rPr lang="en-US" sz="2600" dirty="0">
                <a:solidFill>
                  <a:schemeClr val="tx1"/>
                </a:solidFill>
                <a:latin typeface="Work Sans" pitchFamily="2" charset="0"/>
              </a:rPr>
              <a:t>Describe the concept from this chapter that challenged you the most.</a:t>
            </a:r>
          </a:p>
          <a:p>
            <a:pPr marL="358775" indent="-358775">
              <a:spcBef>
                <a:spcPts val="0"/>
              </a:spcBef>
            </a:pPr>
            <a:r>
              <a:rPr lang="en-US" sz="2600" dirty="0">
                <a:solidFill>
                  <a:schemeClr val="tx1"/>
                </a:solidFill>
                <a:latin typeface="Work Sans" pitchFamily="2" charset="0"/>
              </a:rPr>
              <a:t>Describe what made the concept difficult for you and the steps you took to improve your understanding</a:t>
            </a:r>
            <a:r>
              <a:rPr lang="en-US" sz="2600" dirty="0">
                <a:solidFill>
                  <a:schemeClr val="tx1"/>
                </a:solidFill>
              </a:rPr>
              <a:t>.</a:t>
            </a:r>
            <a:endParaRPr lang="en-US" sz="2600" dirty="0">
              <a:solidFill>
                <a:schemeClr val="tx1"/>
              </a:solidFill>
              <a:latin typeface="Work Sans" pitchFamily="2" charset="0"/>
            </a:endParaRPr>
          </a:p>
          <a:p>
            <a:pPr marL="358775" indent="-358775">
              <a:spcBef>
                <a:spcPts val="0"/>
              </a:spcBef>
              <a:spcAft>
                <a:spcPts val="3000"/>
              </a:spcAft>
            </a:pPr>
            <a:r>
              <a:rPr lang="en-US" sz="2600" dirty="0">
                <a:solidFill>
                  <a:schemeClr val="tx1"/>
                </a:solidFill>
                <a:latin typeface="Work Sans" pitchFamily="2" charset="0"/>
              </a:rPr>
              <a:t>How could you help another student who was struggling with the same concept?</a:t>
            </a:r>
          </a:p>
          <a:p>
            <a:pPr marL="152400" indent="0">
              <a:spcBef>
                <a:spcPts val="0"/>
              </a:spcBef>
              <a:buNone/>
            </a:pPr>
            <a:r>
              <a:rPr lang="en-US" sz="2600">
                <a:solidFill>
                  <a:schemeClr val="tx1"/>
                </a:solidFill>
                <a:latin typeface="Work Sans" pitchFamily="2" charset="0"/>
              </a:rPr>
              <a:t>Use 100–150 </a:t>
            </a:r>
            <a:r>
              <a:rPr lang="en-US" sz="2600" dirty="0">
                <a:solidFill>
                  <a:schemeClr val="tx1"/>
                </a:solidFill>
                <a:latin typeface="Work Sans" pitchFamily="2" charset="0"/>
              </a:rPr>
              <a:t>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492</TotalTime>
  <Words>2316</Words>
  <Application>Microsoft Office PowerPoint</Application>
  <PresentationFormat>Widescreen</PresentationFormat>
  <Paragraphs>253</Paragraphs>
  <Slides>57</Slides>
  <Notes>47</Notes>
  <HiddenSlides>0</HiddenSlides>
  <MMClips>0</MMClips>
  <ScaleCrop>false</ScaleCrop>
  <HeadingPairs>
    <vt:vector size="4" baseType="variant">
      <vt:variant>
        <vt:lpstr>Theme</vt:lpstr>
      </vt:variant>
      <vt:variant>
        <vt:i4>2</vt:i4>
      </vt:variant>
      <vt:variant>
        <vt:lpstr>Slide Titles</vt:lpstr>
      </vt:variant>
      <vt:variant>
        <vt:i4>57</vt:i4>
      </vt:variant>
    </vt:vector>
  </HeadingPairs>
  <TitlesOfParts>
    <vt:vector size="59" baseType="lpstr">
      <vt:lpstr>Custom Design</vt:lpstr>
      <vt:lpstr>1_Theme3</vt:lpstr>
      <vt:lpstr>Automotive Technology: A Systems Approach, 8e</vt:lpstr>
      <vt:lpstr>Chapter Objectives (1 of 2)</vt:lpstr>
      <vt:lpstr>Chapter Objectives (2 of 2)</vt:lpstr>
      <vt:lpstr>Disc Brake Advantage</vt:lpstr>
      <vt:lpstr>Disc Brake Components and Their Functions</vt:lpstr>
      <vt:lpstr>Caliper Designs</vt:lpstr>
      <vt:lpstr>Rotors</vt:lpstr>
      <vt:lpstr>Fixed and Floating Rotors</vt:lpstr>
      <vt:lpstr>Ceramic Rotors</vt:lpstr>
      <vt:lpstr>Solid and Vented Rotors</vt:lpstr>
      <vt:lpstr>Drilled and Slotted Rotors</vt:lpstr>
      <vt:lpstr>Cross-Drilled and Slotted Rotor</vt:lpstr>
      <vt:lpstr>Caliper Assembly</vt:lpstr>
      <vt:lpstr>Cross Section of a Typical Caliper</vt:lpstr>
      <vt:lpstr>Designs</vt:lpstr>
      <vt:lpstr>Fixed Caliper Disc Brakes</vt:lpstr>
      <vt:lpstr>Floating Caliper Disc Brakes</vt:lpstr>
      <vt:lpstr>Sliding Caliper Disc Brakes</vt:lpstr>
      <vt:lpstr>Knowledge Check (1 of 2)</vt:lpstr>
      <vt:lpstr>Knowledge Check Answer (1 of 2)</vt:lpstr>
      <vt:lpstr>Brake Pad Assembly</vt:lpstr>
      <vt:lpstr>Rear Wheel Disc Brakes (1 of 2)</vt:lpstr>
      <vt:lpstr>Rear Wheel Disc Brakes (2 of 2) </vt:lpstr>
      <vt:lpstr>Electric Parking Brake</vt:lpstr>
      <vt:lpstr>Disc Brake Lamp Diagnosis </vt:lpstr>
      <vt:lpstr>Pulsating Pedal Diagnosis</vt:lpstr>
      <vt:lpstr>Measuring Runout</vt:lpstr>
      <vt:lpstr>Disc Brake Symptom Diagnosis (1 of 2)</vt:lpstr>
      <vt:lpstr>Disc Brake Symptom Diagnosis (2 of 2) </vt:lpstr>
      <vt:lpstr>Dragging Brakes</vt:lpstr>
      <vt:lpstr>Noise Diagnosis </vt:lpstr>
      <vt:lpstr>Brake Pulling to One Side</vt:lpstr>
      <vt:lpstr>Knowledge Check (2 of 2)</vt:lpstr>
      <vt:lpstr>Knowledge Check Answer (2 of 2)</vt:lpstr>
      <vt:lpstr>Service Guidelines</vt:lpstr>
      <vt:lpstr>Pre-Service Checks (1 of 2)</vt:lpstr>
      <vt:lpstr>Pre-Service Checks (2 of 2) </vt:lpstr>
      <vt:lpstr>General Caliper Inspection and Servicing</vt:lpstr>
      <vt:lpstr>Retracting the Caliper Piston</vt:lpstr>
      <vt:lpstr>Brake Pad Removal</vt:lpstr>
      <vt:lpstr>Caliper Support</vt:lpstr>
      <vt:lpstr>Pad Inspection</vt:lpstr>
      <vt:lpstr>Caliper Disassembly</vt:lpstr>
      <vt:lpstr>Removing the  Caliper Piston</vt:lpstr>
      <vt:lpstr>Loaded Calipers</vt:lpstr>
      <vt:lpstr>Caliper Reassembly</vt:lpstr>
      <vt:lpstr>Installing Caliper Dust Boot</vt:lpstr>
      <vt:lpstr>Brake Pad Installation</vt:lpstr>
      <vt:lpstr>Caliper Service Tips </vt:lpstr>
      <vt:lpstr>Rear Disc Brake Calipers</vt:lpstr>
      <vt:lpstr>Rotor Inspection </vt:lpstr>
      <vt:lpstr>Measuring Rotors</vt:lpstr>
      <vt:lpstr>Rotor Service</vt:lpstr>
      <vt:lpstr>Brake Lathes</vt:lpstr>
      <vt:lpstr>On-Car Lathe</vt:lpstr>
      <vt:lpstr>Installing a Rotor</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52 Disc Brakes</dc:title>
  <dc:creator>Erjavec</dc:creator>
  <cp:lastModifiedBy>DiCaterino, Kara</cp:lastModifiedBy>
  <cp:revision>141</cp:revision>
  <dcterms:modified xsi:type="dcterms:W3CDTF">2024-11-22T17:01:41Z</dcterms:modified>
</cp:coreProperties>
</file>