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8"/>
  </p:notesMasterIdLst>
  <p:sldIdLst>
    <p:sldId id="403" r:id="rId2"/>
    <p:sldId id="257" r:id="rId3"/>
    <p:sldId id="258" r:id="rId4"/>
    <p:sldId id="259" r:id="rId5"/>
    <p:sldId id="333" r:id="rId6"/>
    <p:sldId id="334" r:id="rId7"/>
    <p:sldId id="335" r:id="rId8"/>
    <p:sldId id="337" r:id="rId9"/>
    <p:sldId id="338" r:id="rId10"/>
    <p:sldId id="339" r:id="rId11"/>
    <p:sldId id="340" r:id="rId12"/>
    <p:sldId id="336" r:id="rId13"/>
    <p:sldId id="276" r:id="rId14"/>
    <p:sldId id="342" r:id="rId15"/>
    <p:sldId id="344" r:id="rId16"/>
    <p:sldId id="345" r:id="rId17"/>
    <p:sldId id="346" r:id="rId18"/>
    <p:sldId id="343" r:id="rId19"/>
    <p:sldId id="348" r:id="rId20"/>
    <p:sldId id="349" r:id="rId21"/>
    <p:sldId id="284" r:id="rId22"/>
    <p:sldId id="285" r:id="rId23"/>
    <p:sldId id="350" r:id="rId24"/>
    <p:sldId id="352" r:id="rId25"/>
    <p:sldId id="353" r:id="rId26"/>
    <p:sldId id="354" r:id="rId27"/>
    <p:sldId id="355" r:id="rId28"/>
    <p:sldId id="372" r:id="rId29"/>
    <p:sldId id="351" r:id="rId30"/>
    <p:sldId id="356" r:id="rId31"/>
    <p:sldId id="358" r:id="rId32"/>
    <p:sldId id="357" r:id="rId33"/>
    <p:sldId id="360" r:id="rId34"/>
    <p:sldId id="362" r:id="rId35"/>
    <p:sldId id="363" r:id="rId36"/>
    <p:sldId id="364" r:id="rId37"/>
    <p:sldId id="361" r:id="rId38"/>
    <p:sldId id="293" r:id="rId39"/>
    <p:sldId id="294" r:id="rId40"/>
    <p:sldId id="367" r:id="rId41"/>
    <p:sldId id="373" r:id="rId42"/>
    <p:sldId id="368" r:id="rId43"/>
    <p:sldId id="369" r:id="rId44"/>
    <p:sldId id="371" r:id="rId45"/>
    <p:sldId id="370" r:id="rId46"/>
    <p:sldId id="301" r:id="rId47"/>
  </p:sldIdLst>
  <p:sldSz cx="12192000" cy="6858000"/>
  <p:notesSz cx="6858000" cy="9144000"/>
  <p:embeddedFontLst>
    <p:embeddedFont>
      <p:font typeface="Work Sans" pitchFamily="2"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7"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29" clrIdx="1">
    <p:extLst>
      <p:ext uri="{19B8F6BF-5375-455C-9EA6-DF929625EA0E}">
        <p15:presenceInfo xmlns:p15="http://schemas.microsoft.com/office/powerpoint/2012/main" userId="6637e9e8b0383d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2" autoAdjust="0"/>
    <p:restoredTop sz="90048" autoAdjust="0"/>
  </p:normalViewPr>
  <p:slideViewPr>
    <p:cSldViewPr snapToGrid="0">
      <p:cViewPr varScale="1">
        <p:scale>
          <a:sx n="97" d="100"/>
          <a:sy n="97" d="100"/>
        </p:scale>
        <p:origin x="348" y="78"/>
      </p:cViewPr>
      <p:guideLst>
        <p:guide orient="horz" pos="2160"/>
        <p:guide pos="3840"/>
      </p:guideLst>
    </p:cSldViewPr>
  </p:slideViewPr>
  <p:outlineViewPr>
    <p:cViewPr>
      <p:scale>
        <a:sx n="33" d="100"/>
        <a:sy n="33" d="100"/>
      </p:scale>
      <p:origin x="0" y="-1950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customschemas.google.com/relationships/presentationmetadata" Target="meta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97256637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3999971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35" name="Google Shape;135;p3: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3: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753828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5609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038539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854523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340751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451506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93126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11815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868894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8890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4927635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30622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915956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108420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752248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383280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846764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85121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32345218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19372213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44814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614938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091685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164260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96339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670828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0973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356478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137823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440901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87504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547820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19701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684604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304801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25448054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34977628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937171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286812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318713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196294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999827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552319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extLst>
      <p:ext uri="{BB962C8B-B14F-4D97-AF65-F5344CB8AC3E}">
        <p14:creationId xmlns:p14="http://schemas.microsoft.com/office/powerpoint/2010/main" val="3415072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429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hasCustomPrompt="1"/>
          </p:nvPr>
        </p:nvSpPr>
        <p:spPr>
          <a:xfrm>
            <a:off x="476843" y="1563624"/>
            <a:ext cx="11241915" cy="4613339"/>
          </a:xfrm>
          <a:prstGeom prst="rect">
            <a:avLst/>
          </a:prstGeom>
          <a:noFill/>
          <a:ln>
            <a:noFill/>
          </a:ln>
        </p:spPr>
        <p:txBody>
          <a:bodyPr spcFirstLastPara="1" wrap="square" lIns="91425" tIns="45700" rIns="91425" bIns="45700" anchor="t" anchorCtr="0">
            <a:noAutofit/>
          </a:bodyPr>
          <a:lstStyle>
            <a:lvl1pPr marL="355600" lvl="0" indent="-355600" algn="l">
              <a:lnSpc>
                <a:spcPct val="100000"/>
              </a:lnSpc>
              <a:spcBef>
                <a:spcPts val="624"/>
              </a:spcBef>
              <a:spcAft>
                <a:spcPts val="600"/>
              </a:spcAft>
              <a:buSzPts val="2800"/>
              <a:buChar char="•"/>
              <a:defRPr sz="2600"/>
            </a:lvl1pPr>
            <a:lvl2pPr marL="722313" lvl="1" indent="-366713" algn="l">
              <a:lnSpc>
                <a:spcPct val="100000"/>
              </a:lnSpc>
              <a:spcBef>
                <a:spcPts val="624"/>
              </a:spcBef>
              <a:spcAft>
                <a:spcPts val="600"/>
              </a:spcAft>
              <a:buSzPts val="2600"/>
              <a:buChar char="−"/>
              <a:defRPr sz="2400" b="0"/>
            </a:lvl2pPr>
            <a:lvl3pPr marL="1433513" lvl="2" indent="-355600" algn="l">
              <a:lnSpc>
                <a:spcPct val="100000"/>
              </a:lnSpc>
              <a:spcBef>
                <a:spcPts val="624"/>
              </a:spcBef>
              <a:spcAft>
                <a:spcPts val="60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IN"/>
              <a:t> </a:t>
            </a:r>
          </a:p>
          <a:p>
            <a:pPr lvl="1"/>
            <a:r>
              <a:rPr lang="en-IN"/>
              <a:t> </a:t>
            </a:r>
          </a:p>
          <a:p>
            <a:pPr lvl="2"/>
            <a:r>
              <a:rPr lang="en-IN"/>
              <a:t>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883916"/>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355600" lvl="0" indent="-355600" algn="l">
              <a:lnSpc>
                <a:spcPct val="100000"/>
              </a:lnSpc>
              <a:spcBef>
                <a:spcPts val="624"/>
              </a:spcBef>
              <a:spcAft>
                <a:spcPts val="0"/>
              </a:spcAft>
              <a:buSzPts val="2800"/>
              <a:buChar char="•"/>
              <a:defRPr sz="2600"/>
            </a:lvl1pPr>
            <a:lvl2pPr marL="722313" lvl="1" indent="-366713" algn="l">
              <a:lnSpc>
                <a:spcPct val="100000"/>
              </a:lnSpc>
              <a:spcBef>
                <a:spcPts val="624"/>
              </a:spcBef>
              <a:spcAft>
                <a:spcPts val="0"/>
              </a:spcAft>
              <a:buSzPts val="2600"/>
              <a:buChar char="−"/>
              <a:defRPr sz="2400" b="0"/>
            </a:lvl2pPr>
            <a:lvl3pPr marL="1077913" lvl="2" indent="-355600"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a:p>
          <a:p>
            <a:pPr lvl="1"/>
            <a:endParaRPr lang="en-IN"/>
          </a:p>
          <a:p>
            <a:pPr lvl="2"/>
            <a:r>
              <a:rPr lang="en-IN"/>
              <a:t> </a:t>
            </a: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D13D6583-B40C-2D1D-24F2-84CA0411EB21}"/>
              </a:ext>
            </a:extLst>
          </p:cNvPr>
          <p:cNvSpPr>
            <a:spLocks noGrp="1"/>
          </p:cNvSpPr>
          <p:nvPr>
            <p:ph sz="quarter" idx="12"/>
          </p:nvPr>
        </p:nvSpPr>
        <p:spPr>
          <a:xfrm>
            <a:off x="2146300" y="6303963"/>
            <a:ext cx="8739188" cy="2698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1404506997"/>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7">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8D128358-5CB7-9079-8970-1F7AD35813FC}"/>
              </a:ext>
            </a:extLst>
          </p:cNvPr>
          <p:cNvSpPr txBox="1">
            <a:spLocks/>
          </p:cNvSpPr>
          <p:nvPr userDrawn="1"/>
        </p:nvSpPr>
        <p:spPr>
          <a:xfrm>
            <a:off x="2031365" y="6328394"/>
            <a:ext cx="9345472"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 </a:t>
            </a:r>
            <a:br>
              <a:rPr lang="en-US" sz="4000" dirty="0">
                <a:cs typeface="Arial" panose="020B0604020202020204" pitchFamily="34" charset="0"/>
              </a:rPr>
            </a:br>
            <a:r>
              <a:rPr lang="en-US" sz="4000" dirty="0">
                <a:cs typeface="Arial" panose="020B0604020202020204" pitchFamily="34" charset="0"/>
              </a:rPr>
              <a:t>A 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dirty="0">
                <a:cs typeface="Arial" panose="020B0604020202020204" pitchFamily="34" charset="0"/>
              </a:rPr>
              <a:t>Chapter 6: Diagnostic Equipment and Special Tools</a:t>
            </a: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31365" y="6328394"/>
            <a:ext cx="9345472" cy="461665"/>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4000"/>
              <a:buFont typeface="Work Sans"/>
              <a:buNone/>
            </a:pPr>
            <a:r>
              <a:rPr lang="en-US"/>
              <a:t>Chapter Objectives (1 of 2)</a:t>
            </a:r>
            <a:endParaRPr/>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dirty="0"/>
              <a:t>06.01 Describe the various diagnostic and service tools used to check and repair an engine and its related systems.</a:t>
            </a:r>
          </a:p>
          <a:p>
            <a:pPr marL="357188" marR="0" lvl="0" indent="-357188" algn="l" rtl="0">
              <a:buSzPct val="100000"/>
              <a:buChar char="•"/>
            </a:pPr>
            <a:r>
              <a:rPr lang="en-US" dirty="0"/>
              <a:t>06.02 Describe the various diagnostic tools and service tools used to check and repair electrical and electronic systems.</a:t>
            </a:r>
          </a:p>
          <a:p>
            <a:pPr marL="357188" marR="0" lvl="0" indent="-357188" algn="l" rtl="0">
              <a:buSzPct val="100000"/>
              <a:buChar char="•"/>
            </a:pPr>
            <a:r>
              <a:rPr lang="en-US" dirty="0"/>
              <a:t>06.03 Describe the various diagnostic and service tools used to check and repair engine performance systems.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3"/>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4000"/>
              <a:buFont typeface="Work Sans"/>
              <a:buNone/>
            </a:pPr>
            <a:r>
              <a:rPr lang="en-US"/>
              <a:t>Chapter Objectives (2 of 2)</a:t>
            </a:r>
            <a:endParaRPr/>
          </a:p>
        </p:txBody>
      </p:sp>
      <p:sp>
        <p:nvSpPr>
          <p:cNvPr id="139" name="Google Shape;139;p3"/>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lvl="0" indent="-357188" algn="l" rtl="0">
              <a:buSzPct val="100000"/>
              <a:buChar char="•"/>
            </a:pPr>
            <a:r>
              <a:rPr lang="en-US" dirty="0"/>
              <a:t>06.04 Describe the various diagnostic and service tools used to check and repair hybrid vehicles.</a:t>
            </a:r>
          </a:p>
          <a:p>
            <a:pPr marL="357188" lvl="0" indent="-357188" algn="l" rtl="0">
              <a:buSzPct val="100000"/>
              <a:buChar char="•"/>
            </a:pPr>
            <a:r>
              <a:rPr lang="en-US" dirty="0"/>
              <a:t>06.05 Describe the various diagnostic and service tools used to check and repair a vehicle’s drivetrain.</a:t>
            </a:r>
          </a:p>
          <a:p>
            <a:pPr marL="357188" lvl="0" indent="-357188" algn="l" rtl="0">
              <a:buSzPct val="100000"/>
              <a:buChar char="•"/>
            </a:pPr>
            <a:r>
              <a:rPr lang="en-US" dirty="0"/>
              <a:t>06.06 Describe the various diagnostic and service tools used to check and repair a vehicle’s running gear.</a:t>
            </a:r>
          </a:p>
          <a:p>
            <a:pPr marL="357188" lvl="0" indent="-357188" algn="l" rtl="0">
              <a:buSzPct val="100000"/>
              <a:buChar char="•"/>
            </a:pPr>
            <a:r>
              <a:rPr lang="en-US" dirty="0"/>
              <a:t>06.07 Describe the various diagnostic and service tools used to check and repair a vehicle’s heating and air-conditioning system.</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Compression Tester</a:t>
            </a:r>
            <a:endParaRPr dirty="0"/>
          </a:p>
        </p:txBody>
      </p:sp>
      <p:sp>
        <p:nvSpPr>
          <p:cNvPr id="145" name="Google Shape;145;p4"/>
          <p:cNvSpPr txBox="1">
            <a:spLocks noGrp="1"/>
          </p:cNvSpPr>
          <p:nvPr>
            <p:ph type="body" idx="1"/>
          </p:nvPr>
        </p:nvSpPr>
        <p:spPr>
          <a:xfrm>
            <a:off x="476843" y="1508125"/>
            <a:ext cx="7295557" cy="4509616"/>
          </a:xfrm>
          <a:prstGeom prst="rect">
            <a:avLst/>
          </a:prstGeom>
          <a:noFill/>
          <a:ln>
            <a:noFill/>
          </a:ln>
        </p:spPr>
        <p:txBody>
          <a:bodyPr spcFirstLastPara="1" wrap="square" lIns="91425" tIns="45700" rIns="91425" bIns="45700" anchor="t" anchorCtr="0">
            <a:noAutofit/>
          </a:bodyPr>
          <a:lstStyle/>
          <a:p>
            <a:pPr marL="0" indent="0">
              <a:spcAft>
                <a:spcPts val="1800"/>
              </a:spcAft>
              <a:buNone/>
            </a:pPr>
            <a:r>
              <a:rPr lang="en-US" sz="2000" b="1" dirty="0">
                <a:solidFill>
                  <a:schemeClr val="accent1"/>
                </a:solidFill>
              </a:rPr>
              <a:t>06.01 Describe the various diagnostic and service tools used to check and repair an engine and its related systems.</a:t>
            </a:r>
            <a:endParaRPr lang="en-US" sz="2000" dirty="0">
              <a:solidFill>
                <a:schemeClr val="accent1"/>
              </a:solidFill>
            </a:endParaRPr>
          </a:p>
          <a:p>
            <a:pPr>
              <a:buSzPct val="100000"/>
            </a:pPr>
            <a:r>
              <a:rPr lang="en-US" sz="2000" dirty="0">
                <a:solidFill>
                  <a:schemeClr val="accent1"/>
                </a:solidFill>
              </a:rPr>
              <a:t>Used to check cylinder compression while the engine is cranked or running. </a:t>
            </a:r>
          </a:p>
          <a:p>
            <a:pPr>
              <a:buSzPct val="100000"/>
            </a:pPr>
            <a:r>
              <a:rPr lang="en-US" sz="2000" dirty="0">
                <a:solidFill>
                  <a:schemeClr val="accent1"/>
                </a:solidFill>
              </a:rPr>
              <a:t>The operation of an engine depends on the compression of the air–fuel mixture within its cylinders. </a:t>
            </a:r>
          </a:p>
          <a:p>
            <a:pPr>
              <a:buSzPct val="100000"/>
            </a:pPr>
            <a:r>
              <a:rPr lang="en-US" sz="2000" dirty="0">
                <a:solidFill>
                  <a:schemeClr val="accent1"/>
                </a:solidFill>
              </a:rPr>
              <a:t>If the combustion chamber leaks, some of the mixture will escape while it is being compressed, resulting in a loss of power and a waste of fuel. </a:t>
            </a:r>
          </a:p>
          <a:p>
            <a:pPr>
              <a:buSzPct val="100000"/>
            </a:pPr>
            <a:r>
              <a:rPr lang="en-US" sz="2000" dirty="0">
                <a:solidFill>
                  <a:schemeClr val="accent1"/>
                </a:solidFill>
              </a:rPr>
              <a:t>Installed into spark plug hole, or glow plug hole for diesel. </a:t>
            </a:r>
            <a:endParaRPr sz="2000" dirty="0">
              <a:solidFill>
                <a:schemeClr val="accent1"/>
              </a:solidFill>
            </a:endParaRPr>
          </a:p>
        </p:txBody>
      </p:sp>
      <p:pic>
        <p:nvPicPr>
          <p:cNvPr id="7" name="Picture Placeholder 6" descr="A screw-in compression gauge set includes a long, flexible hose with a threaded adapter on one end and a measurement dial on the other.">
            <a:extLst>
              <a:ext uri="{FF2B5EF4-FFF2-40B4-BE49-F238E27FC236}">
                <a16:creationId xmlns:a16="http://schemas.microsoft.com/office/drawing/2014/main" id="{49EED809-2DD1-02AF-50CA-5EF89FB1D3B0}"/>
              </a:ext>
            </a:extLst>
          </p:cNvPr>
          <p:cNvPicPr>
            <a:picLocks noGrp="1" noChangeAspect="1"/>
          </p:cNvPicPr>
          <p:nvPr>
            <p:ph type="pic" idx="2"/>
          </p:nvPr>
        </p:nvPicPr>
        <p:blipFill>
          <a:blip r:embed="rId3"/>
          <a:srcRect b="6556"/>
          <a:stretch/>
        </p:blipFill>
        <p:spPr>
          <a:xfrm>
            <a:off x="8362319" y="1476171"/>
            <a:ext cx="3192198" cy="39056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Cylinder Leakage Tester </a:t>
            </a:r>
          </a:p>
        </p:txBody>
      </p:sp>
      <p:sp>
        <p:nvSpPr>
          <p:cNvPr id="145" name="Google Shape;145;p4"/>
          <p:cNvSpPr txBox="1">
            <a:spLocks noGrp="1"/>
          </p:cNvSpPr>
          <p:nvPr>
            <p:ph type="body" idx="1"/>
          </p:nvPr>
        </p:nvSpPr>
        <p:spPr>
          <a:xfrm>
            <a:off x="476843" y="1508125"/>
            <a:ext cx="7258487" cy="4583756"/>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200" dirty="0"/>
              <a:t>A cylinder leakage tester applies compressed air through the spark plug hole into the cylinder.</a:t>
            </a:r>
          </a:p>
          <a:p>
            <a:pPr>
              <a:spcAft>
                <a:spcPts val="600"/>
              </a:spcAft>
              <a:buSzPct val="100000"/>
            </a:pPr>
            <a:r>
              <a:rPr lang="en-US" sz="2200" dirty="0"/>
              <a:t>The gauge registering air pressure lost from the cylinder and reads 0 percent to 100 percent.</a:t>
            </a:r>
          </a:p>
          <a:p>
            <a:pPr>
              <a:spcAft>
                <a:spcPts val="600"/>
              </a:spcAft>
              <a:buSzPct val="100000"/>
            </a:pPr>
            <a:r>
              <a:rPr lang="en-US" sz="2200" dirty="0"/>
              <a:t>A zero reading means there is no leakage in the cylinder.</a:t>
            </a:r>
          </a:p>
          <a:p>
            <a:pPr>
              <a:spcAft>
                <a:spcPts val="600"/>
              </a:spcAft>
              <a:buSzPct val="100000"/>
            </a:pPr>
            <a:r>
              <a:rPr lang="en-US" sz="2200" dirty="0"/>
              <a:t>A reading of 100 percent indicates that the cylinder will hold zero pressure.</a:t>
            </a:r>
          </a:p>
          <a:p>
            <a:pPr>
              <a:spcAft>
                <a:spcPts val="600"/>
              </a:spcAft>
              <a:buSzPct val="100000"/>
            </a:pPr>
            <a:r>
              <a:rPr lang="en-US" sz="2200" dirty="0"/>
              <a:t>The location of the compression leak can be found by listening and feeling around various parts of the engine.</a:t>
            </a:r>
          </a:p>
        </p:txBody>
      </p:sp>
      <p:pic>
        <p:nvPicPr>
          <p:cNvPr id="7" name="Picture Placeholder 6" descr="A cylinder leakage tester includes a spark plug hole with a piston and two measurement dials at the top of its bore.">
            <a:extLst>
              <a:ext uri="{FF2B5EF4-FFF2-40B4-BE49-F238E27FC236}">
                <a16:creationId xmlns:a16="http://schemas.microsoft.com/office/drawing/2014/main" id="{8317F50A-5340-AABF-A78F-926851F3A21D}"/>
              </a:ext>
            </a:extLst>
          </p:cNvPr>
          <p:cNvPicPr>
            <a:picLocks noGrp="1" noChangeAspect="1"/>
          </p:cNvPicPr>
          <p:nvPr>
            <p:ph type="pic" idx="2"/>
          </p:nvPr>
        </p:nvPicPr>
        <p:blipFill>
          <a:blip r:embed="rId3"/>
          <a:srcRect b="8014"/>
          <a:stretch/>
        </p:blipFill>
        <p:spPr>
          <a:xfrm>
            <a:off x="7943474" y="1592654"/>
            <a:ext cx="3951287" cy="3672693"/>
          </a:xfrm>
          <a:prstGeom prst="rect">
            <a:avLst/>
          </a:prstGeom>
        </p:spPr>
      </p:pic>
    </p:spTree>
    <p:extLst>
      <p:ext uri="{BB962C8B-B14F-4D97-AF65-F5344CB8AC3E}">
        <p14:creationId xmlns:p14="http://schemas.microsoft.com/office/powerpoint/2010/main" val="3927180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t>Stethoscope</a:t>
            </a:r>
            <a:endParaRPr dirty="0"/>
          </a:p>
        </p:txBody>
      </p:sp>
      <p:sp>
        <p:nvSpPr>
          <p:cNvPr id="145" name="Google Shape;145;p4"/>
          <p:cNvSpPr txBox="1">
            <a:spLocks noGrp="1"/>
          </p:cNvSpPr>
          <p:nvPr>
            <p:ph type="body" idx="1"/>
          </p:nvPr>
        </p:nvSpPr>
        <p:spPr>
          <a:xfrm>
            <a:off x="476844" y="1508125"/>
            <a:ext cx="6788930" cy="4583756"/>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400" dirty="0"/>
              <a:t>A stethoscope is used to locate the source of engine and other noises.</a:t>
            </a:r>
          </a:p>
          <a:p>
            <a:pPr>
              <a:spcAft>
                <a:spcPts val="600"/>
              </a:spcAft>
              <a:buSzPct val="100000"/>
            </a:pPr>
            <a:r>
              <a:rPr lang="en-US" sz="2400" dirty="0"/>
              <a:t>Can also distinguish between normal and abnormal sounds.</a:t>
            </a:r>
          </a:p>
          <a:p>
            <a:pPr>
              <a:spcAft>
                <a:spcPts val="600"/>
              </a:spcAft>
              <a:buSzPct val="100000"/>
            </a:pPr>
            <a:r>
              <a:rPr lang="en-US" sz="2400" dirty="0"/>
              <a:t>It amplifies sound.</a:t>
            </a:r>
          </a:p>
          <a:p>
            <a:pPr>
              <a:spcAft>
                <a:spcPts val="600"/>
              </a:spcAft>
              <a:buSzPct val="100000"/>
            </a:pPr>
            <a:r>
              <a:rPr lang="en-US" sz="2400" dirty="0"/>
              <a:t>The stethoscope pickup is placed on the suspected component, and the stethoscope’s receptacles are placed in the technician’s ears.</a:t>
            </a:r>
          </a:p>
        </p:txBody>
      </p:sp>
      <p:pic>
        <p:nvPicPr>
          <p:cNvPr id="7" name="Picture Placeholder 6" descr="A stethoscope with a thin lengthy rod at the other end of the receptacles.">
            <a:extLst>
              <a:ext uri="{FF2B5EF4-FFF2-40B4-BE49-F238E27FC236}">
                <a16:creationId xmlns:a16="http://schemas.microsoft.com/office/drawing/2014/main" id="{D1ADC2EC-5036-6A5B-EF49-A8926A5260CA}"/>
              </a:ext>
            </a:extLst>
          </p:cNvPr>
          <p:cNvPicPr>
            <a:picLocks noGrp="1" noChangeAspect="1"/>
          </p:cNvPicPr>
          <p:nvPr>
            <p:ph type="pic" idx="2"/>
          </p:nvPr>
        </p:nvPicPr>
        <p:blipFill>
          <a:blip r:embed="rId3"/>
          <a:srcRect b="15214"/>
          <a:stretch/>
        </p:blipFill>
        <p:spPr>
          <a:xfrm>
            <a:off x="7505380" y="2767551"/>
            <a:ext cx="4209777" cy="1853610"/>
          </a:xfrm>
          <a:prstGeom prst="rect">
            <a:avLst/>
          </a:prstGeom>
        </p:spPr>
      </p:pic>
    </p:spTree>
    <p:extLst>
      <p:ext uri="{BB962C8B-B14F-4D97-AF65-F5344CB8AC3E}">
        <p14:creationId xmlns:p14="http://schemas.microsoft.com/office/powerpoint/2010/main" val="1802736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Piston </a:t>
            </a:r>
            <a:r>
              <a:rPr lang="en-US"/>
              <a:t>Ring Compressor</a:t>
            </a:r>
            <a:endParaRPr lang="en-US" dirty="0"/>
          </a:p>
        </p:txBody>
      </p:sp>
      <p:pic>
        <p:nvPicPr>
          <p:cNvPr id="7" name="Picture Placeholder 6" descr="A piston ring compressor with ratcheting pliers to tighten a steel band around a piston.">
            <a:extLst>
              <a:ext uri="{FF2B5EF4-FFF2-40B4-BE49-F238E27FC236}">
                <a16:creationId xmlns:a16="http://schemas.microsoft.com/office/drawing/2014/main" id="{C158F54A-12EF-7EF7-16C5-352F1FF7525B}"/>
              </a:ext>
            </a:extLst>
          </p:cNvPr>
          <p:cNvPicPr>
            <a:picLocks noGrp="1" noChangeAspect="1"/>
          </p:cNvPicPr>
          <p:nvPr>
            <p:ph type="pic" idx="2"/>
          </p:nvPr>
        </p:nvPicPr>
        <p:blipFill>
          <a:blip r:embed="rId3"/>
          <a:srcRect b="14615"/>
          <a:stretch/>
        </p:blipFill>
        <p:spPr>
          <a:xfrm>
            <a:off x="564685" y="1887908"/>
            <a:ext cx="4281350" cy="3244532"/>
          </a:xfrm>
          <a:prstGeom prst="rect">
            <a:avLst/>
          </a:prstGeom>
        </p:spPr>
      </p:pic>
      <p:sp>
        <p:nvSpPr>
          <p:cNvPr id="145" name="Google Shape;145;p4"/>
          <p:cNvSpPr txBox="1">
            <a:spLocks noGrp="1"/>
          </p:cNvSpPr>
          <p:nvPr>
            <p:ph type="body" idx="1"/>
          </p:nvPr>
        </p:nvSpPr>
        <p:spPr>
          <a:xfrm>
            <a:off x="5029200" y="1508125"/>
            <a:ext cx="6689558" cy="4608470"/>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400" dirty="0"/>
              <a:t>It is used to install a piston into a cylinder bore.</a:t>
            </a:r>
          </a:p>
          <a:p>
            <a:pPr>
              <a:spcAft>
                <a:spcPts val="600"/>
              </a:spcAft>
              <a:buSzPct val="100000"/>
            </a:pPr>
            <a:r>
              <a:rPr lang="en-US" sz="2400" dirty="0"/>
              <a:t>There are three basic types.</a:t>
            </a:r>
          </a:p>
          <a:p>
            <a:pPr lvl="1">
              <a:spcAft>
                <a:spcPts val="600"/>
              </a:spcAft>
              <a:buSzPct val="100000"/>
            </a:pPr>
            <a:r>
              <a:rPr lang="en-US" sz="2200" dirty="0"/>
              <a:t>One style has an adjustable band with a ratchet mechanism to tighten it around the piston.</a:t>
            </a:r>
          </a:p>
          <a:p>
            <a:pPr lvl="1">
              <a:spcAft>
                <a:spcPts val="600"/>
              </a:spcAft>
              <a:buSzPct val="100000"/>
            </a:pPr>
            <a:r>
              <a:rPr lang="en-US" sz="2200" dirty="0"/>
              <a:t>Another uses ratcheting pliers to tighten a steel band around the piston.</a:t>
            </a:r>
          </a:p>
          <a:p>
            <a:pPr lvl="1">
              <a:spcAft>
                <a:spcPts val="600"/>
              </a:spcAft>
              <a:buSzPct val="100000"/>
            </a:pPr>
            <a:r>
              <a:rPr lang="en-US" sz="2200" dirty="0"/>
              <a:t>The third type has a single band that is wrinkled.</a:t>
            </a:r>
          </a:p>
        </p:txBody>
      </p:sp>
    </p:spTree>
    <p:extLst>
      <p:ext uri="{BB962C8B-B14F-4D97-AF65-F5344CB8AC3E}">
        <p14:creationId xmlns:p14="http://schemas.microsoft.com/office/powerpoint/2010/main" val="2617437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Cylinder Hone </a:t>
            </a:r>
            <a:r>
              <a:rPr lang="en-US"/>
              <a:t>and Deglazer</a:t>
            </a:r>
            <a:endParaRPr lang="en-US" dirty="0"/>
          </a:p>
        </p:txBody>
      </p:sp>
      <p:sp>
        <p:nvSpPr>
          <p:cNvPr id="145" name="Google Shape;145;p4"/>
          <p:cNvSpPr txBox="1">
            <a:spLocks noGrp="1"/>
          </p:cNvSpPr>
          <p:nvPr>
            <p:ph type="body" idx="1"/>
          </p:nvPr>
        </p:nvSpPr>
        <p:spPr>
          <a:xfrm>
            <a:off x="476843" y="1508125"/>
            <a:ext cx="6900141" cy="4521972"/>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200" dirty="0"/>
              <a:t>The proper surface finish on a cylinder wall is important as it acts as a reservoir for oil to lubricate the piston rings and prevent piston and ring scuffing.</a:t>
            </a:r>
          </a:p>
          <a:p>
            <a:pPr>
              <a:spcAft>
                <a:spcPts val="600"/>
              </a:spcAft>
              <a:buSzPct val="100000"/>
            </a:pPr>
            <a:r>
              <a:rPr lang="en-US" sz="2200" dirty="0"/>
              <a:t>Honing sands the walls to remove imperfections. A cylinder hone usually consists of two or three stones.</a:t>
            </a:r>
          </a:p>
          <a:p>
            <a:pPr>
              <a:spcAft>
                <a:spcPts val="600"/>
              </a:spcAft>
              <a:buSzPct val="100000"/>
            </a:pPr>
            <a:r>
              <a:rPr lang="en-US" sz="2200" dirty="0"/>
              <a:t>The hone rotates at a selected speed and is moved up and down the cylinder’s bore.</a:t>
            </a:r>
          </a:p>
          <a:p>
            <a:pPr>
              <a:spcAft>
                <a:spcPts val="600"/>
              </a:spcAft>
              <a:buSzPct val="100000"/>
            </a:pPr>
            <a:r>
              <a:rPr lang="en-US" sz="2200" dirty="0"/>
              <a:t>Honing oil flows over the stones and onto the cylinder wall to control the temperature and flush out any metallic and abrasive residue.</a:t>
            </a:r>
          </a:p>
        </p:txBody>
      </p:sp>
      <p:pic>
        <p:nvPicPr>
          <p:cNvPr id="7" name="Picture Placeholder 6" descr="A cylinder deglazer with several round stones that extend on a coiled wire from a center shaft.">
            <a:extLst>
              <a:ext uri="{FF2B5EF4-FFF2-40B4-BE49-F238E27FC236}">
                <a16:creationId xmlns:a16="http://schemas.microsoft.com/office/drawing/2014/main" id="{5FCCA40B-EC01-7200-AD5D-CEBD738A687A}"/>
              </a:ext>
            </a:extLst>
          </p:cNvPr>
          <p:cNvPicPr>
            <a:picLocks noGrp="1" noChangeAspect="1"/>
          </p:cNvPicPr>
          <p:nvPr>
            <p:ph type="pic" idx="2"/>
          </p:nvPr>
        </p:nvPicPr>
        <p:blipFill>
          <a:blip r:embed="rId3"/>
          <a:srcRect b="12128"/>
          <a:stretch/>
        </p:blipFill>
        <p:spPr>
          <a:xfrm>
            <a:off x="7498872" y="2421900"/>
            <a:ext cx="4216285" cy="2572887"/>
          </a:xfrm>
          <a:prstGeom prst="rect">
            <a:avLst/>
          </a:prstGeom>
        </p:spPr>
      </p:pic>
    </p:spTree>
    <p:extLst>
      <p:ext uri="{BB962C8B-B14F-4D97-AF65-F5344CB8AC3E}">
        <p14:creationId xmlns:p14="http://schemas.microsoft.com/office/powerpoint/2010/main" val="446580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Valve </a:t>
            </a:r>
            <a:r>
              <a:rPr lang="en-US"/>
              <a:t>Spring Compressor</a:t>
            </a:r>
            <a:endParaRPr lang="en-US" dirty="0"/>
          </a:p>
        </p:txBody>
      </p:sp>
      <p:sp>
        <p:nvSpPr>
          <p:cNvPr id="145" name="Google Shape;145;p4"/>
          <p:cNvSpPr txBox="1">
            <a:spLocks noGrp="1"/>
          </p:cNvSpPr>
          <p:nvPr>
            <p:ph type="body" idx="1"/>
          </p:nvPr>
        </p:nvSpPr>
        <p:spPr>
          <a:xfrm>
            <a:off x="476843" y="1508124"/>
            <a:ext cx="7393499" cy="4596113"/>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200" dirty="0"/>
              <a:t>To remove valves from a cylinder head, the valve spring must be compressed enough to remove the valve keepers, then the retainer. There are many types of valve spring compressors.</a:t>
            </a:r>
          </a:p>
          <a:p>
            <a:pPr>
              <a:spcAft>
                <a:spcPts val="600"/>
              </a:spcAft>
              <a:buSzPct val="100000"/>
            </a:pPr>
            <a:r>
              <a:rPr lang="en-US" sz="2200" dirty="0"/>
              <a:t>Some are designed to allow valve spring removal while the cylinder head is still on the engine block. In this case, compressed air is supplied to the cylinder on the compression stroke to hold the valves from falling into the cylinder.</a:t>
            </a:r>
          </a:p>
          <a:p>
            <a:pPr>
              <a:spcAft>
                <a:spcPts val="600"/>
              </a:spcAft>
              <a:buSzPct val="100000"/>
            </a:pPr>
            <a:r>
              <a:rPr lang="en-US" sz="2200" dirty="0"/>
              <a:t>Other designs are only used when the cylinder head is removed.</a:t>
            </a:r>
          </a:p>
        </p:txBody>
      </p:sp>
      <p:pic>
        <p:nvPicPr>
          <p:cNvPr id="7" name="Picture Placeholder 6" descr="A typical spring compressor for O H C valves with the following components labeled : ‘Remove rocker arm’ and ‘Compress spring with special tool or pry bar’.">
            <a:extLst>
              <a:ext uri="{FF2B5EF4-FFF2-40B4-BE49-F238E27FC236}">
                <a16:creationId xmlns:a16="http://schemas.microsoft.com/office/drawing/2014/main" id="{D779E7C1-8577-5562-F564-C1F237A9BA78}"/>
              </a:ext>
            </a:extLst>
          </p:cNvPr>
          <p:cNvPicPr>
            <a:picLocks noGrp="1" noChangeAspect="1"/>
          </p:cNvPicPr>
          <p:nvPr>
            <p:ph type="pic" idx="2"/>
          </p:nvPr>
        </p:nvPicPr>
        <p:blipFill>
          <a:blip r:embed="rId3"/>
          <a:srcRect b="13673"/>
          <a:stretch/>
        </p:blipFill>
        <p:spPr>
          <a:xfrm>
            <a:off x="8029055" y="2298844"/>
            <a:ext cx="3844815" cy="2558291"/>
          </a:xfrm>
          <a:prstGeom prst="rect">
            <a:avLst/>
          </a:prstGeom>
        </p:spPr>
      </p:pic>
    </p:spTree>
    <p:extLst>
      <p:ext uri="{BB962C8B-B14F-4D97-AF65-F5344CB8AC3E}">
        <p14:creationId xmlns:p14="http://schemas.microsoft.com/office/powerpoint/2010/main" val="3120474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Cooling System </a:t>
            </a:r>
            <a:r>
              <a:rPr lang="en-US"/>
              <a:t>Pressure Tester</a:t>
            </a:r>
            <a:endParaRPr lang="en-US" dirty="0"/>
          </a:p>
        </p:txBody>
      </p:sp>
      <p:pic>
        <p:nvPicPr>
          <p:cNvPr id="7" name="Picture Placeholder 6" descr="A cooling system pressure tester with a hand pump and a pressure gauge.">
            <a:extLst>
              <a:ext uri="{FF2B5EF4-FFF2-40B4-BE49-F238E27FC236}">
                <a16:creationId xmlns:a16="http://schemas.microsoft.com/office/drawing/2014/main" id="{59E91EAB-0586-6A8C-139E-2BD4BAC3578B}"/>
              </a:ext>
            </a:extLst>
          </p:cNvPr>
          <p:cNvPicPr>
            <a:picLocks noGrp="1" noChangeAspect="1"/>
          </p:cNvPicPr>
          <p:nvPr>
            <p:ph type="pic" idx="2"/>
          </p:nvPr>
        </p:nvPicPr>
        <p:blipFill>
          <a:blip r:embed="rId3"/>
          <a:srcRect b="8965"/>
          <a:stretch/>
        </p:blipFill>
        <p:spPr>
          <a:xfrm>
            <a:off x="799980" y="1615970"/>
            <a:ext cx="4209777" cy="3998250"/>
          </a:xfrm>
          <a:prstGeom prst="rect">
            <a:avLst/>
          </a:prstGeom>
        </p:spPr>
      </p:pic>
      <p:sp>
        <p:nvSpPr>
          <p:cNvPr id="145" name="Google Shape;145;p4"/>
          <p:cNvSpPr txBox="1">
            <a:spLocks noGrp="1"/>
          </p:cNvSpPr>
          <p:nvPr>
            <p:ph type="body" idx="1"/>
          </p:nvPr>
        </p:nvSpPr>
        <p:spPr>
          <a:xfrm>
            <a:off x="5412259" y="1508124"/>
            <a:ext cx="6306499" cy="4499807"/>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200" dirty="0"/>
              <a:t>Used to pressurize the cooling system and check for coolant leaks.</a:t>
            </a:r>
          </a:p>
          <a:p>
            <a:pPr>
              <a:spcAft>
                <a:spcPts val="600"/>
              </a:spcAft>
              <a:buSzPct val="100000"/>
            </a:pPr>
            <a:r>
              <a:rPr lang="en-US" sz="2200" dirty="0"/>
              <a:t>It contains a hand pump and a pressure gauge.</a:t>
            </a:r>
          </a:p>
          <a:p>
            <a:pPr>
              <a:spcAft>
                <a:spcPts val="600"/>
              </a:spcAft>
              <a:buSzPct val="100000"/>
            </a:pPr>
            <a:r>
              <a:rPr lang="en-US" sz="2200" dirty="0"/>
              <a:t>A hose is connected from the hand pump to an adapter that fits on the radiator filler neck.</a:t>
            </a:r>
          </a:p>
          <a:p>
            <a:pPr>
              <a:spcAft>
                <a:spcPts val="600"/>
              </a:spcAft>
              <a:buSzPct val="100000"/>
            </a:pPr>
            <a:r>
              <a:rPr lang="en-US" sz="2200" dirty="0"/>
              <a:t>Additional adapters are available to connect the tester to the radiator or the radiator cap.</a:t>
            </a:r>
          </a:p>
        </p:txBody>
      </p:sp>
    </p:spTree>
    <p:extLst>
      <p:ext uri="{BB962C8B-B14F-4D97-AF65-F5344CB8AC3E}">
        <p14:creationId xmlns:p14="http://schemas.microsoft.com/office/powerpoint/2010/main" val="2090210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Coolant Hydrometer and Refractometer</a:t>
            </a:r>
          </a:p>
        </p:txBody>
      </p:sp>
      <p:pic>
        <p:nvPicPr>
          <p:cNvPr id="7" name="Picture Placeholder 6" descr="A refractometer kit.">
            <a:extLst>
              <a:ext uri="{FF2B5EF4-FFF2-40B4-BE49-F238E27FC236}">
                <a16:creationId xmlns:a16="http://schemas.microsoft.com/office/drawing/2014/main" id="{2CDCADAD-2A76-6F89-FC8E-2A4D0CE2DB69}"/>
              </a:ext>
            </a:extLst>
          </p:cNvPr>
          <p:cNvPicPr>
            <a:picLocks noGrp="1" noChangeAspect="1"/>
          </p:cNvPicPr>
          <p:nvPr>
            <p:ph type="pic" idx="2"/>
          </p:nvPr>
        </p:nvPicPr>
        <p:blipFill>
          <a:blip r:embed="rId3"/>
          <a:srcRect b="14091"/>
          <a:stretch/>
        </p:blipFill>
        <p:spPr>
          <a:xfrm>
            <a:off x="861486" y="1914071"/>
            <a:ext cx="4261831" cy="3208536"/>
          </a:xfrm>
          <a:prstGeom prst="rect">
            <a:avLst/>
          </a:prstGeom>
        </p:spPr>
      </p:pic>
      <p:sp>
        <p:nvSpPr>
          <p:cNvPr id="145" name="Google Shape;145;p4"/>
          <p:cNvSpPr txBox="1">
            <a:spLocks noGrp="1"/>
          </p:cNvSpPr>
          <p:nvPr>
            <p:ph type="body" idx="1"/>
          </p:nvPr>
        </p:nvSpPr>
        <p:spPr>
          <a:xfrm>
            <a:off x="5449330" y="1508125"/>
            <a:ext cx="6269428" cy="4546686"/>
          </a:xfrm>
          <a:prstGeom prst="rect">
            <a:avLst/>
          </a:prstGeom>
          <a:noFill/>
          <a:ln>
            <a:noFill/>
          </a:ln>
        </p:spPr>
        <p:txBody>
          <a:bodyPr spcFirstLastPara="1" wrap="square" lIns="91425" tIns="45700" rIns="91425" bIns="45700" anchor="t" anchorCtr="0">
            <a:noAutofit/>
          </a:bodyPr>
          <a:lstStyle/>
          <a:p>
            <a:pPr>
              <a:buSzPct val="100000"/>
            </a:pPr>
            <a:r>
              <a:rPr lang="en-US" sz="2400" dirty="0"/>
              <a:t>Coolant Hydrometer</a:t>
            </a:r>
          </a:p>
          <a:p>
            <a:pPr lvl="1">
              <a:buSzPct val="100000"/>
            </a:pPr>
            <a:r>
              <a:rPr lang="en-US" sz="2200" dirty="0"/>
              <a:t>A coolant </a:t>
            </a:r>
            <a:r>
              <a:rPr lang="en-US" sz="2200" b="1" dirty="0"/>
              <a:t>hydrometer</a:t>
            </a:r>
            <a:r>
              <a:rPr lang="en-US" sz="2200" dirty="0"/>
              <a:t> is used to check the amount of antifreeze in the coolant which indicates is freeze protection.</a:t>
            </a:r>
          </a:p>
          <a:p>
            <a:pPr lvl="1">
              <a:buSzPct val="100000"/>
            </a:pPr>
            <a:r>
              <a:rPr lang="en-US" sz="2200" dirty="0"/>
              <a:t>This tester contains a pickup hose, a coolant reservoir, and a squeeze bulb.</a:t>
            </a:r>
          </a:p>
          <a:p>
            <a:pPr>
              <a:buSzPct val="100000"/>
            </a:pPr>
            <a:r>
              <a:rPr lang="en-US" sz="2400" dirty="0"/>
              <a:t>Refractory Testers</a:t>
            </a:r>
          </a:p>
          <a:p>
            <a:pPr lvl="1">
              <a:buSzPct val="100000"/>
            </a:pPr>
            <a:r>
              <a:rPr lang="en-US" sz="2200" dirty="0"/>
              <a:t>For many shops, the preferred way to check coolant is with a refractometer.</a:t>
            </a:r>
          </a:p>
        </p:txBody>
      </p:sp>
    </p:spTree>
    <p:extLst>
      <p:ext uri="{BB962C8B-B14F-4D97-AF65-F5344CB8AC3E}">
        <p14:creationId xmlns:p14="http://schemas.microsoft.com/office/powerpoint/2010/main" val="3209502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Other Engine </a:t>
            </a:r>
            <a:r>
              <a:rPr lang="en-US"/>
              <a:t>Repair Tools</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buSzPct val="100000"/>
            </a:pPr>
            <a:r>
              <a:rPr lang="en-US" sz="2300" dirty="0"/>
              <a:t>Ring Expander</a:t>
            </a:r>
          </a:p>
          <a:p>
            <a:pPr>
              <a:buSzPct val="100000"/>
            </a:pPr>
            <a:r>
              <a:rPr lang="en-US" sz="2300" dirty="0"/>
              <a:t>Ring Groove Cleaner</a:t>
            </a:r>
          </a:p>
          <a:p>
            <a:pPr>
              <a:buSzPct val="100000"/>
            </a:pPr>
            <a:r>
              <a:rPr lang="en-US" sz="2300" dirty="0"/>
              <a:t>Dial Bore Indicator</a:t>
            </a:r>
          </a:p>
          <a:p>
            <a:pPr>
              <a:buSzPct val="100000"/>
            </a:pPr>
            <a:r>
              <a:rPr lang="en-US" sz="2300" dirty="0"/>
              <a:t>Cam Bearing Driver Set</a:t>
            </a:r>
          </a:p>
          <a:p>
            <a:pPr>
              <a:buSzPct val="100000"/>
            </a:pPr>
            <a:r>
              <a:rPr lang="en-US" sz="2300" dirty="0"/>
              <a:t>V-Blocks</a:t>
            </a:r>
          </a:p>
          <a:p>
            <a:pPr>
              <a:buSzPct val="100000"/>
            </a:pPr>
            <a:r>
              <a:rPr lang="en-US" sz="2300" dirty="0"/>
              <a:t>Valve and Valve Seat Resurfacing Equipment</a:t>
            </a:r>
          </a:p>
          <a:p>
            <a:pPr>
              <a:buSzPct val="100000"/>
            </a:pPr>
            <a:r>
              <a:rPr lang="en-US" sz="2300" dirty="0"/>
              <a:t>Valve Guide Repair Tools</a:t>
            </a:r>
          </a:p>
          <a:p>
            <a:pPr>
              <a:buSzPct val="100000"/>
            </a:pPr>
            <a:r>
              <a:rPr lang="en-US" sz="2300" dirty="0"/>
              <a:t>Valve Spring Tester</a:t>
            </a:r>
          </a:p>
          <a:p>
            <a:pPr>
              <a:buSzPct val="100000"/>
            </a:pPr>
            <a:r>
              <a:rPr lang="en-US" sz="2300" dirty="0"/>
              <a:t>Torque Angle Gauge</a:t>
            </a:r>
          </a:p>
        </p:txBody>
      </p:sp>
    </p:spTree>
    <p:extLst>
      <p:ext uri="{BB962C8B-B14F-4D97-AF65-F5344CB8AC3E}">
        <p14:creationId xmlns:p14="http://schemas.microsoft.com/office/powerpoint/2010/main" val="3198404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Discussion</a:t>
            </a:r>
            <a:endParaRPr/>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lvl="0" indent="-358775" algn="l" rtl="0">
              <a:lnSpc>
                <a:spcPct val="100000"/>
              </a:lnSpc>
              <a:buSzPct val="100000"/>
              <a:buChar char="•"/>
            </a:pPr>
            <a:r>
              <a:rPr lang="en-US" dirty="0"/>
              <a:t>You have learned about the basic function of a cylinder leakage tester. </a:t>
            </a:r>
          </a:p>
          <a:p>
            <a:pPr marL="358775" lvl="0" indent="-358775" algn="l" rtl="0">
              <a:lnSpc>
                <a:spcPct val="100000"/>
              </a:lnSpc>
              <a:buSzPct val="100000"/>
              <a:buChar char="•"/>
            </a:pPr>
            <a:r>
              <a:rPr lang="en-US" dirty="0"/>
              <a:t>Have a class discussion about how you would use this tool and how you would locate compression leaking at the:</a:t>
            </a:r>
          </a:p>
          <a:p>
            <a:pPr marL="715963" lvl="1" indent="-357188">
              <a:buSzPct val="100000"/>
              <a:buFont typeface="Work Sans" pitchFamily="2" charset="0"/>
              <a:buChar char="–"/>
            </a:pPr>
            <a:r>
              <a:rPr lang="en-US" dirty="0"/>
              <a:t>Intake valve</a:t>
            </a:r>
          </a:p>
          <a:p>
            <a:pPr marL="715963" lvl="1" indent="-357188">
              <a:buSzPct val="100000"/>
              <a:buFont typeface="Work Sans" pitchFamily="2" charset="0"/>
              <a:buChar char="–"/>
            </a:pPr>
            <a:r>
              <a:rPr lang="en-US" dirty="0"/>
              <a:t>Exhaust valve</a:t>
            </a:r>
          </a:p>
          <a:p>
            <a:pPr marL="715963" lvl="1" indent="-357188">
              <a:buSzPct val="100000"/>
              <a:buFont typeface="Work Sans" pitchFamily="2" charset="0"/>
              <a:buChar char="–"/>
            </a:pPr>
            <a:r>
              <a:rPr lang="en-US" dirty="0"/>
              <a:t>Piston or piston rings</a:t>
            </a:r>
          </a:p>
          <a:p>
            <a:pPr marL="715963" lvl="1" indent="-357188">
              <a:buSzPct val="100000"/>
              <a:buFont typeface="Work Sans" pitchFamily="2" charset="0"/>
              <a:buChar char="–"/>
            </a:pPr>
            <a:r>
              <a:rPr lang="en-US" dirty="0"/>
              <a:t>Head gasket </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Circuit Tester</a:t>
            </a:r>
            <a:endParaRPr lang="en-US" dirty="0"/>
          </a:p>
        </p:txBody>
      </p:sp>
      <p:sp>
        <p:nvSpPr>
          <p:cNvPr id="145" name="Google Shape;145;p4"/>
          <p:cNvSpPr txBox="1">
            <a:spLocks noGrp="1"/>
          </p:cNvSpPr>
          <p:nvPr>
            <p:ph type="body" idx="1"/>
          </p:nvPr>
        </p:nvSpPr>
        <p:spPr>
          <a:xfrm>
            <a:off x="476843" y="1508125"/>
            <a:ext cx="7253993" cy="4521972"/>
          </a:xfrm>
          <a:prstGeom prst="rect">
            <a:avLst/>
          </a:prstGeom>
          <a:noFill/>
          <a:ln>
            <a:noFill/>
          </a:ln>
        </p:spPr>
        <p:txBody>
          <a:bodyPr spcFirstLastPara="1" wrap="square" lIns="91425" tIns="45700" rIns="91425" bIns="45700" anchor="t" anchorCtr="0">
            <a:noAutofit/>
          </a:bodyPr>
          <a:lstStyle/>
          <a:p>
            <a:pPr marL="76200" indent="0">
              <a:spcAft>
                <a:spcPts val="600"/>
              </a:spcAft>
              <a:buNone/>
            </a:pPr>
            <a:r>
              <a:rPr lang="en-US" b="1" dirty="0"/>
              <a:t>06.02 Describe the various diagnostic tools and service tools used to check and repair electrical and electronic systems.</a:t>
            </a:r>
            <a:endParaRPr lang="en-US" dirty="0"/>
          </a:p>
          <a:p>
            <a:pPr>
              <a:spcAft>
                <a:spcPts val="600"/>
              </a:spcAft>
              <a:buSzPct val="100000"/>
            </a:pPr>
            <a:r>
              <a:rPr lang="en-US" dirty="0"/>
              <a:t>They are used to check for voltage in an electrical circuit.</a:t>
            </a:r>
          </a:p>
          <a:p>
            <a:pPr>
              <a:spcAft>
                <a:spcPts val="600"/>
              </a:spcAft>
              <a:buSzPct val="100000"/>
            </a:pPr>
            <a:r>
              <a:rPr lang="en-US" dirty="0"/>
              <a:t>Commonly called a </a:t>
            </a:r>
            <a:r>
              <a:rPr lang="en-US" b="1" dirty="0"/>
              <a:t>test light</a:t>
            </a:r>
            <a:r>
              <a:rPr lang="en-US" dirty="0"/>
              <a:t>, looks like a stubby ice pick.</a:t>
            </a:r>
          </a:p>
          <a:p>
            <a:pPr>
              <a:spcAft>
                <a:spcPts val="600"/>
              </a:spcAft>
              <a:buSzPct val="100000"/>
            </a:pPr>
            <a:r>
              <a:rPr lang="en-US" dirty="0"/>
              <a:t>A probe extends from one end of the handle and a ground clip and wire from the other end.</a:t>
            </a:r>
          </a:p>
        </p:txBody>
      </p:sp>
      <p:pic>
        <p:nvPicPr>
          <p:cNvPr id="7" name="Picture Placeholder 6" descr="An L E D circuit tester resembles a stubby ice pick with a transparent handle and L E Ds within. The probe of the circuit tester touches a live connector in the vehicle.">
            <a:extLst>
              <a:ext uri="{FF2B5EF4-FFF2-40B4-BE49-F238E27FC236}">
                <a16:creationId xmlns:a16="http://schemas.microsoft.com/office/drawing/2014/main" id="{795A2757-6F5F-4B9D-F7A9-C85F3D344416}"/>
              </a:ext>
            </a:extLst>
          </p:cNvPr>
          <p:cNvPicPr>
            <a:picLocks noGrp="1" noChangeAspect="1"/>
          </p:cNvPicPr>
          <p:nvPr>
            <p:ph type="pic" idx="2"/>
          </p:nvPr>
        </p:nvPicPr>
        <p:blipFill>
          <a:blip r:embed="rId3"/>
          <a:srcRect b="13598"/>
          <a:stretch/>
        </p:blipFill>
        <p:spPr>
          <a:xfrm>
            <a:off x="7874677" y="2095799"/>
            <a:ext cx="4023360" cy="3105466"/>
          </a:xfrm>
          <a:prstGeom prst="rect">
            <a:avLst/>
          </a:prstGeom>
        </p:spPr>
      </p:pic>
    </p:spTree>
    <p:extLst>
      <p:ext uri="{BB962C8B-B14F-4D97-AF65-F5344CB8AC3E}">
        <p14:creationId xmlns:p14="http://schemas.microsoft.com/office/powerpoint/2010/main" val="412245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Multimeters</a:t>
            </a:r>
            <a:endParaRPr lang="en-US" dirty="0"/>
          </a:p>
        </p:txBody>
      </p:sp>
      <p:sp>
        <p:nvSpPr>
          <p:cNvPr id="145" name="Google Shape;145;p4"/>
          <p:cNvSpPr txBox="1">
            <a:spLocks noGrp="1"/>
          </p:cNvSpPr>
          <p:nvPr>
            <p:ph type="body" idx="1"/>
          </p:nvPr>
        </p:nvSpPr>
        <p:spPr>
          <a:xfrm>
            <a:off x="476844" y="1508124"/>
            <a:ext cx="7740400" cy="4559043"/>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200" dirty="0"/>
              <a:t>A </a:t>
            </a:r>
            <a:r>
              <a:rPr lang="en-US" sz="2200" b="1" dirty="0"/>
              <a:t>multimeter</a:t>
            </a:r>
            <a:r>
              <a:rPr lang="en-US" sz="2200" dirty="0"/>
              <a:t> is a must for diagnosing the individual components of an electrical system.</a:t>
            </a:r>
          </a:p>
          <a:p>
            <a:pPr>
              <a:spcAft>
                <a:spcPts val="600"/>
              </a:spcAft>
              <a:buSzPct val="100000"/>
            </a:pPr>
            <a:r>
              <a:rPr lang="en-US" sz="2200" dirty="0"/>
              <a:t>A volt-ohm-milliamp meter is referred to as a VOM or DVOM if it is digital. A </a:t>
            </a:r>
            <a:r>
              <a:rPr lang="en-US" sz="2200" b="1" dirty="0"/>
              <a:t>digital multimeter (DMM) </a:t>
            </a:r>
            <a:r>
              <a:rPr lang="en-US" sz="2200" dirty="0"/>
              <a:t>can measure many more things than volts, ohms, and low current.</a:t>
            </a:r>
          </a:p>
          <a:p>
            <a:pPr>
              <a:spcAft>
                <a:spcPts val="600"/>
              </a:spcAft>
              <a:buSzPct val="100000"/>
            </a:pPr>
            <a:r>
              <a:rPr lang="en-US" sz="2200" dirty="0"/>
              <a:t>Most multimeters (Figure 6–20) measure direct current (DC) and alternating current (AC) amperes, volts, and ohms.</a:t>
            </a:r>
          </a:p>
          <a:p>
            <a:pPr>
              <a:spcAft>
                <a:spcPts val="600"/>
              </a:spcAft>
              <a:buSzPct val="100000"/>
            </a:pPr>
            <a:r>
              <a:rPr lang="en-US" sz="2200" dirty="0"/>
              <a:t>More advanced multimeters may also measure diode continuity, frequency, temperature, engine speed, dwell and/or duty cycle.</a:t>
            </a:r>
          </a:p>
        </p:txBody>
      </p:sp>
      <p:pic>
        <p:nvPicPr>
          <p:cNvPr id="7" name="Picture Placeholder 6" descr="A digital multimeter with a display that reads, 12.30, is connected to an electrical system.">
            <a:extLst>
              <a:ext uri="{FF2B5EF4-FFF2-40B4-BE49-F238E27FC236}">
                <a16:creationId xmlns:a16="http://schemas.microsoft.com/office/drawing/2014/main" id="{54151667-6AB5-CC41-D22E-7144FC88E842}"/>
              </a:ext>
            </a:extLst>
          </p:cNvPr>
          <p:cNvPicPr>
            <a:picLocks noGrp="1" noChangeAspect="1"/>
          </p:cNvPicPr>
          <p:nvPr>
            <p:ph type="pic" idx="2"/>
          </p:nvPr>
        </p:nvPicPr>
        <p:blipFill>
          <a:blip r:embed="rId3"/>
          <a:srcRect b="10547"/>
          <a:stretch/>
        </p:blipFill>
        <p:spPr>
          <a:xfrm>
            <a:off x="8337684" y="1722298"/>
            <a:ext cx="3538305" cy="3872257"/>
          </a:xfrm>
          <a:prstGeom prst="rect">
            <a:avLst/>
          </a:prstGeom>
        </p:spPr>
      </p:pic>
    </p:spTree>
    <p:extLst>
      <p:ext uri="{BB962C8B-B14F-4D97-AF65-F5344CB8AC3E}">
        <p14:creationId xmlns:p14="http://schemas.microsoft.com/office/powerpoint/2010/main" val="2925325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Volt/</a:t>
            </a:r>
            <a:r>
              <a:rPr lang="en-US"/>
              <a:t>Ampere Tester</a:t>
            </a:r>
            <a:endParaRPr lang="en-US" dirty="0"/>
          </a:p>
        </p:txBody>
      </p:sp>
      <p:pic>
        <p:nvPicPr>
          <p:cNvPr id="7" name="Picture Placeholder 6" descr="A volt/ampere tester (V A T) contains a voltmeter, an ammeter, and a carbon pile with different displays for their respective readings.">
            <a:extLst>
              <a:ext uri="{FF2B5EF4-FFF2-40B4-BE49-F238E27FC236}">
                <a16:creationId xmlns:a16="http://schemas.microsoft.com/office/drawing/2014/main" id="{D841334D-C4A1-938A-4560-3B5892FE0CC2}"/>
              </a:ext>
            </a:extLst>
          </p:cNvPr>
          <p:cNvPicPr>
            <a:picLocks noGrp="1" noChangeAspect="1"/>
          </p:cNvPicPr>
          <p:nvPr>
            <p:ph type="pic" idx="2"/>
          </p:nvPr>
        </p:nvPicPr>
        <p:blipFill>
          <a:blip r:embed="rId3"/>
          <a:srcRect b="10057"/>
          <a:stretch/>
        </p:blipFill>
        <p:spPr>
          <a:xfrm>
            <a:off x="890660" y="1508125"/>
            <a:ext cx="3452268" cy="4115927"/>
          </a:xfrm>
          <a:prstGeom prst="rect">
            <a:avLst/>
          </a:prstGeom>
        </p:spPr>
      </p:pic>
      <p:sp>
        <p:nvSpPr>
          <p:cNvPr id="145" name="Google Shape;145;p4"/>
          <p:cNvSpPr txBox="1">
            <a:spLocks noGrp="1"/>
          </p:cNvSpPr>
          <p:nvPr>
            <p:ph type="body" idx="1"/>
          </p:nvPr>
        </p:nvSpPr>
        <p:spPr>
          <a:xfrm>
            <a:off x="4757351" y="1508124"/>
            <a:ext cx="6961407" cy="4576137"/>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t>A volt/ampere tester </a:t>
            </a:r>
            <a:r>
              <a:rPr lang="en-US" b="1" dirty="0"/>
              <a:t>(VAT) </a:t>
            </a:r>
            <a:r>
              <a:rPr lang="en-US" dirty="0"/>
              <a:t>is used to test batteries, starting systems, and charging systems.</a:t>
            </a:r>
          </a:p>
          <a:p>
            <a:pPr>
              <a:spcAft>
                <a:spcPts val="600"/>
              </a:spcAft>
              <a:buSzPct val="100000"/>
            </a:pPr>
            <a:r>
              <a:rPr lang="en-US" dirty="0"/>
              <a:t>The tester contains a voltmeter, ammeter, and carbon pile.</a:t>
            </a:r>
          </a:p>
          <a:p>
            <a:pPr>
              <a:spcAft>
                <a:spcPts val="600"/>
              </a:spcAft>
              <a:buSzPct val="100000"/>
            </a:pPr>
            <a:r>
              <a:rPr lang="en-US" dirty="0"/>
              <a:t>The carbon pile is a variable resistor.</a:t>
            </a:r>
          </a:p>
          <a:p>
            <a:pPr>
              <a:spcAft>
                <a:spcPts val="600"/>
              </a:spcAft>
              <a:buSzPct val="100000"/>
            </a:pPr>
            <a:r>
              <a:rPr lang="en-US" dirty="0"/>
              <a:t>A VAT also measures the current draw of the starter and current output from the charging system.</a:t>
            </a:r>
          </a:p>
        </p:txBody>
      </p:sp>
    </p:spTree>
    <p:extLst>
      <p:ext uri="{BB962C8B-B14F-4D97-AF65-F5344CB8AC3E}">
        <p14:creationId xmlns:p14="http://schemas.microsoft.com/office/powerpoint/2010/main" val="1275058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Lab Scopes</a:t>
            </a:r>
            <a:endParaRPr lang="en-US" dirty="0"/>
          </a:p>
        </p:txBody>
      </p:sp>
      <p:pic>
        <p:nvPicPr>
          <p:cNvPr id="11" name="Picture Placeholder 10" descr="A lab scope kit includes a display that provides a waveform or trace to depict the electrical signal received.">
            <a:extLst>
              <a:ext uri="{FF2B5EF4-FFF2-40B4-BE49-F238E27FC236}">
                <a16:creationId xmlns:a16="http://schemas.microsoft.com/office/drawing/2014/main" id="{7798EC31-5059-59EC-AC43-55FFB474FD1E}"/>
              </a:ext>
            </a:extLst>
          </p:cNvPr>
          <p:cNvPicPr>
            <a:picLocks noGrp="1" noChangeAspect="1"/>
          </p:cNvPicPr>
          <p:nvPr>
            <p:ph type="pic" idx="2"/>
          </p:nvPr>
        </p:nvPicPr>
        <p:blipFill>
          <a:blip r:embed="rId3"/>
          <a:srcRect b="11375"/>
          <a:stretch/>
        </p:blipFill>
        <p:spPr>
          <a:xfrm>
            <a:off x="313804" y="1756960"/>
            <a:ext cx="5125324" cy="3621285"/>
          </a:xfrm>
          <a:prstGeom prst="rect">
            <a:avLst/>
          </a:prstGeom>
        </p:spPr>
      </p:pic>
      <p:sp>
        <p:nvSpPr>
          <p:cNvPr id="145" name="Google Shape;145;p4"/>
          <p:cNvSpPr txBox="1">
            <a:spLocks noGrp="1"/>
          </p:cNvSpPr>
          <p:nvPr>
            <p:ph type="body" idx="1"/>
          </p:nvPr>
        </p:nvSpPr>
        <p:spPr>
          <a:xfrm>
            <a:off x="5622324" y="1508125"/>
            <a:ext cx="6096434" cy="4583756"/>
          </a:xfrm>
          <a:prstGeom prst="rect">
            <a:avLst/>
          </a:prstGeom>
          <a:noFill/>
          <a:ln>
            <a:noFill/>
          </a:ln>
        </p:spPr>
        <p:txBody>
          <a:bodyPr spcFirstLastPara="1" wrap="square" lIns="91425" tIns="45700" rIns="91425" bIns="45700" anchor="t" anchorCtr="0">
            <a:noAutofit/>
          </a:bodyPr>
          <a:lstStyle/>
          <a:p>
            <a:pPr>
              <a:buSzPct val="100000"/>
            </a:pPr>
            <a:r>
              <a:rPr lang="en-US" dirty="0">
                <a:solidFill>
                  <a:schemeClr val="accent1"/>
                </a:solidFill>
              </a:rPr>
              <a:t>An oscilloscope or lab scope is a visual voltmeter.</a:t>
            </a:r>
          </a:p>
          <a:p>
            <a:pPr>
              <a:buSzPct val="100000"/>
            </a:pPr>
            <a:r>
              <a:rPr lang="en-US" dirty="0">
                <a:solidFill>
                  <a:schemeClr val="accent1"/>
                </a:solidFill>
              </a:rPr>
              <a:t>It converts electrical signals to a visual image representing voltage changes over a period of time.</a:t>
            </a:r>
          </a:p>
          <a:p>
            <a:pPr>
              <a:buSzPct val="100000"/>
            </a:pPr>
            <a:r>
              <a:rPr lang="en-US" dirty="0">
                <a:solidFill>
                  <a:schemeClr val="accent1"/>
                </a:solidFill>
              </a:rPr>
              <a:t>This information is displayed in the form of a continuous voltage line called a </a:t>
            </a:r>
            <a:r>
              <a:rPr lang="en-US" b="1" dirty="0">
                <a:solidFill>
                  <a:schemeClr val="accent1"/>
                </a:solidFill>
              </a:rPr>
              <a:t>waveform </a:t>
            </a:r>
            <a:r>
              <a:rPr lang="en-US" dirty="0">
                <a:solidFill>
                  <a:schemeClr val="accent1"/>
                </a:solidFill>
              </a:rPr>
              <a:t>or </a:t>
            </a:r>
            <a:r>
              <a:rPr lang="en-US" b="1" dirty="0">
                <a:solidFill>
                  <a:schemeClr val="accent1"/>
                </a:solidFill>
              </a:rPr>
              <a:t>trace</a:t>
            </a:r>
            <a:r>
              <a:rPr lang="en-US" dirty="0">
                <a:solidFill>
                  <a:schemeClr val="accent1"/>
                </a:solidFill>
              </a:rPr>
              <a:t>.</a:t>
            </a:r>
          </a:p>
          <a:p>
            <a:pPr>
              <a:buSzPct val="100000"/>
            </a:pPr>
            <a:r>
              <a:rPr lang="en-US" dirty="0">
                <a:solidFill>
                  <a:schemeClr val="accent1"/>
                </a:solidFill>
              </a:rPr>
              <a:t>A scope displays any change in voltage as it occurs.</a:t>
            </a:r>
          </a:p>
        </p:txBody>
      </p:sp>
    </p:spTree>
    <p:extLst>
      <p:ext uri="{BB962C8B-B14F-4D97-AF65-F5344CB8AC3E}">
        <p14:creationId xmlns:p14="http://schemas.microsoft.com/office/powerpoint/2010/main" val="3021536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Other Electrical/Electronic System Tools </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buSzPct val="100000"/>
            </a:pPr>
            <a:r>
              <a:rPr lang="en-US" dirty="0"/>
              <a:t>Computer Memory Saver</a:t>
            </a:r>
          </a:p>
          <a:p>
            <a:pPr>
              <a:buSzPct val="100000"/>
            </a:pPr>
            <a:r>
              <a:rPr lang="en-US" dirty="0"/>
              <a:t>Voltmeter</a:t>
            </a:r>
          </a:p>
          <a:p>
            <a:pPr>
              <a:buSzPct val="100000"/>
            </a:pPr>
            <a:r>
              <a:rPr lang="en-US" b="1" dirty="0"/>
              <a:t>Ammeter</a:t>
            </a:r>
          </a:p>
          <a:p>
            <a:pPr>
              <a:buSzPct val="100000"/>
            </a:pPr>
            <a:r>
              <a:rPr lang="en-US" b="1" dirty="0"/>
              <a:t>Ohmmeter</a:t>
            </a:r>
          </a:p>
          <a:p>
            <a:pPr>
              <a:buSzPct val="100000"/>
            </a:pPr>
            <a:r>
              <a:rPr lang="en-US" dirty="0"/>
              <a:t>Battery Capacitance Tester</a:t>
            </a:r>
          </a:p>
          <a:p>
            <a:pPr>
              <a:buSzPct val="100000"/>
            </a:pPr>
            <a:r>
              <a:rPr lang="en-US" b="1" dirty="0"/>
              <a:t>Graphing Multimeter</a:t>
            </a:r>
          </a:p>
          <a:p>
            <a:pPr>
              <a:buSzPct val="100000"/>
            </a:pPr>
            <a:r>
              <a:rPr lang="en-US" dirty="0"/>
              <a:t>Wire and Terminal Repair Tools</a:t>
            </a:r>
          </a:p>
          <a:p>
            <a:pPr>
              <a:buSzPct val="100000"/>
            </a:pPr>
            <a:r>
              <a:rPr lang="en-US" dirty="0"/>
              <a:t>Headlight Aimers</a:t>
            </a:r>
            <a:endParaRPr lang="en-US" b="1" dirty="0"/>
          </a:p>
        </p:txBody>
      </p:sp>
    </p:spTree>
    <p:extLst>
      <p:ext uri="{BB962C8B-B14F-4D97-AF65-F5344CB8AC3E}">
        <p14:creationId xmlns:p14="http://schemas.microsoft.com/office/powerpoint/2010/main" val="2476473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Scan Tools</a:t>
            </a:r>
            <a:endParaRPr lang="en-US" dirty="0"/>
          </a:p>
        </p:txBody>
      </p:sp>
      <p:sp>
        <p:nvSpPr>
          <p:cNvPr id="145" name="Google Shape;145;p4"/>
          <p:cNvSpPr txBox="1">
            <a:spLocks noGrp="1"/>
          </p:cNvSpPr>
          <p:nvPr>
            <p:ph type="body" idx="1"/>
          </p:nvPr>
        </p:nvSpPr>
        <p:spPr>
          <a:xfrm>
            <a:off x="476843" y="1508125"/>
            <a:ext cx="7357341" cy="4521972"/>
          </a:xfrm>
          <a:prstGeom prst="rect">
            <a:avLst/>
          </a:prstGeom>
          <a:noFill/>
          <a:ln>
            <a:noFill/>
          </a:ln>
        </p:spPr>
        <p:txBody>
          <a:bodyPr spcFirstLastPara="1" wrap="square" lIns="91425" tIns="45700" rIns="91425" bIns="45700" anchor="t" anchorCtr="0">
            <a:noAutofit/>
          </a:bodyPr>
          <a:lstStyle/>
          <a:p>
            <a:pPr marL="76200" indent="0">
              <a:buNone/>
            </a:pPr>
            <a:r>
              <a:rPr lang="en-US" sz="2200" b="1" dirty="0"/>
              <a:t>06.03 Describe the various diagnostic and service tools used to check and repair engine performance systems.</a:t>
            </a:r>
            <a:endParaRPr lang="en-US" sz="2200" dirty="0"/>
          </a:p>
          <a:p>
            <a:pPr>
              <a:buSzPct val="100000"/>
            </a:pPr>
            <a:r>
              <a:rPr lang="en-US" sz="2200" dirty="0"/>
              <a:t>A scan tool is a computer designed to communicate with the vehicle’s computers.</a:t>
            </a:r>
          </a:p>
          <a:p>
            <a:pPr>
              <a:buSzPct val="100000"/>
            </a:pPr>
            <a:r>
              <a:rPr lang="en-US" sz="2200" dirty="0"/>
              <a:t>Connected to the electronic control system through diagnostic connectors, a scan tool can access diagnostic trouble codes (DTCs), run tests to check system operations, and monitor the activity of the system.</a:t>
            </a:r>
          </a:p>
          <a:p>
            <a:pPr>
              <a:buSzPct val="100000"/>
            </a:pPr>
            <a:r>
              <a:rPr lang="en-US" sz="2200" dirty="0"/>
              <a:t>The scan tool is connected to specific diagnostic connectors on the vehicle.</a:t>
            </a:r>
          </a:p>
        </p:txBody>
      </p:sp>
      <p:pic>
        <p:nvPicPr>
          <p:cNvPr id="7" name="Picture Placeholder 6" descr="A generic scan tool made by Snap-On. The scan tool is a rectangular box with a large screen at the center, a few buttons on the right, and an adapter at the top.">
            <a:extLst>
              <a:ext uri="{FF2B5EF4-FFF2-40B4-BE49-F238E27FC236}">
                <a16:creationId xmlns:a16="http://schemas.microsoft.com/office/drawing/2014/main" id="{48B9B639-73B3-87BF-CE3C-D4CED52679D1}"/>
              </a:ext>
            </a:extLst>
          </p:cNvPr>
          <p:cNvPicPr>
            <a:picLocks noGrp="1" noChangeAspect="1"/>
          </p:cNvPicPr>
          <p:nvPr>
            <p:ph type="pic" idx="2"/>
          </p:nvPr>
        </p:nvPicPr>
        <p:blipFill>
          <a:blip r:embed="rId3"/>
          <a:srcRect b="9001"/>
          <a:stretch/>
        </p:blipFill>
        <p:spPr>
          <a:xfrm>
            <a:off x="8057557" y="2435986"/>
            <a:ext cx="3841518" cy="2784943"/>
          </a:xfrm>
          <a:prstGeom prst="rect">
            <a:avLst/>
          </a:prstGeom>
        </p:spPr>
      </p:pic>
    </p:spTree>
    <p:extLst>
      <p:ext uri="{BB962C8B-B14F-4D97-AF65-F5344CB8AC3E}">
        <p14:creationId xmlns:p14="http://schemas.microsoft.com/office/powerpoint/2010/main" val="1953706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Pressure Gauge</a:t>
            </a:r>
          </a:p>
        </p:txBody>
      </p:sp>
      <p:sp>
        <p:nvSpPr>
          <p:cNvPr id="145" name="Google Shape;145;p4"/>
          <p:cNvSpPr txBox="1">
            <a:spLocks noGrp="1"/>
          </p:cNvSpPr>
          <p:nvPr>
            <p:ph type="body" idx="1"/>
          </p:nvPr>
        </p:nvSpPr>
        <p:spPr>
          <a:xfrm>
            <a:off x="476843" y="1508124"/>
            <a:ext cx="6957109" cy="4596113"/>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solidFill>
                  <a:schemeClr val="accent1"/>
                </a:solidFill>
              </a:rPr>
              <a:t>Fuel pressure gauge is used to check the discharge pressure of fuel pumps, the regulated pressure of fuel injection systems, and injector pressure drop.</a:t>
            </a:r>
          </a:p>
          <a:p>
            <a:pPr>
              <a:spcAft>
                <a:spcPts val="600"/>
              </a:spcAft>
              <a:buSzPct val="100000"/>
            </a:pPr>
            <a:r>
              <a:rPr lang="en-US" dirty="0">
                <a:solidFill>
                  <a:schemeClr val="accent1"/>
                </a:solidFill>
              </a:rPr>
              <a:t>These systems rely on fuel pressures, from 35 to 70 psi.</a:t>
            </a:r>
          </a:p>
          <a:p>
            <a:pPr>
              <a:spcAft>
                <a:spcPts val="600"/>
              </a:spcAft>
              <a:buSzPct val="100000"/>
            </a:pPr>
            <a:r>
              <a:rPr lang="en-US" dirty="0">
                <a:solidFill>
                  <a:schemeClr val="accent1"/>
                </a:solidFill>
              </a:rPr>
              <a:t>A drop in fuel pressure reduces the amount of fuel delivered to the injectors and results in a lean air–fuel mixture.</a:t>
            </a:r>
          </a:p>
        </p:txBody>
      </p:sp>
      <p:pic>
        <p:nvPicPr>
          <p:cNvPr id="7" name="Picture Placeholder 6" descr="A fuel pressure gauge kit that includes indicator dials, valves of different sizes, and an outlet hose.">
            <a:extLst>
              <a:ext uri="{FF2B5EF4-FFF2-40B4-BE49-F238E27FC236}">
                <a16:creationId xmlns:a16="http://schemas.microsoft.com/office/drawing/2014/main" id="{AB06364E-FE3A-440D-EE7D-A9E42A57BEA5}"/>
              </a:ext>
            </a:extLst>
          </p:cNvPr>
          <p:cNvPicPr>
            <a:picLocks noGrp="1" noChangeAspect="1"/>
          </p:cNvPicPr>
          <p:nvPr>
            <p:ph type="pic" idx="2"/>
          </p:nvPr>
        </p:nvPicPr>
        <p:blipFill>
          <a:blip r:embed="rId3"/>
          <a:srcRect b="8608"/>
          <a:stretch/>
        </p:blipFill>
        <p:spPr>
          <a:xfrm>
            <a:off x="7561482" y="1640386"/>
            <a:ext cx="4065331" cy="3944337"/>
          </a:xfrm>
          <a:prstGeom prst="rect">
            <a:avLst/>
          </a:prstGeom>
        </p:spPr>
      </p:pic>
    </p:spTree>
    <p:extLst>
      <p:ext uri="{BB962C8B-B14F-4D97-AF65-F5344CB8AC3E}">
        <p14:creationId xmlns:p14="http://schemas.microsoft.com/office/powerpoint/2010/main" val="846203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(1 of 2)</a:t>
            </a:r>
            <a:endParaRPr/>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571500" lvl="1" indent="0" algn="ctr">
              <a:buNone/>
            </a:pPr>
            <a:r>
              <a:rPr lang="en-US" sz="2600" dirty="0"/>
              <a:t>When using a scan tool, where would it be connected to begin communication with the vehicle </a:t>
            </a:r>
            <a:r>
              <a:rPr lang="en-US" sz="2600"/>
              <a:t>computers?</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Answer (1 of 2)</a:t>
            </a:r>
            <a:endParaRPr/>
          </a:p>
        </p:txBody>
      </p:sp>
      <p:sp>
        <p:nvSpPr>
          <p:cNvPr id="317" name="Google Shape;317;p30"/>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1" indent="0" algn="ctr">
              <a:buNone/>
            </a:pPr>
            <a:r>
              <a:rPr lang="en-US" dirty="0"/>
              <a:t>When using a scan tool, where would it be connected to begin communication with the vehicle </a:t>
            </a:r>
            <a:r>
              <a:rPr lang="en-US"/>
              <a:t>computers?</a:t>
            </a:r>
          </a:p>
          <a:p>
            <a:pPr marL="0" lvl="1" indent="0" algn="ctr">
              <a:buNone/>
            </a:pPr>
            <a:r>
              <a:rPr lang="en-US" b="1"/>
              <a:t>Answer</a:t>
            </a:r>
            <a:r>
              <a:rPr lang="en-US"/>
              <a:t>: The scan tool is connected to specific diagnostic connectors on the vehicle.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Pressure Transducer</a:t>
            </a:r>
            <a:endParaRPr dirty="0"/>
          </a:p>
        </p:txBody>
      </p:sp>
      <p:pic>
        <p:nvPicPr>
          <p:cNvPr id="7" name="Picture Placeholder 6" descr="A pressure transducer with a connector for a Schrader valve and a lab scope.">
            <a:extLst>
              <a:ext uri="{FF2B5EF4-FFF2-40B4-BE49-F238E27FC236}">
                <a16:creationId xmlns:a16="http://schemas.microsoft.com/office/drawing/2014/main" id="{38FB1BF3-803D-70FD-7AA6-F3940F41F13F}"/>
              </a:ext>
            </a:extLst>
          </p:cNvPr>
          <p:cNvPicPr>
            <a:picLocks noGrp="1" noChangeAspect="1"/>
          </p:cNvPicPr>
          <p:nvPr>
            <p:ph type="pic" idx="2"/>
          </p:nvPr>
        </p:nvPicPr>
        <p:blipFill>
          <a:blip r:embed="rId3"/>
          <a:srcRect b="9819"/>
          <a:stretch/>
        </p:blipFill>
        <p:spPr>
          <a:xfrm>
            <a:off x="821159" y="1709313"/>
            <a:ext cx="4268336" cy="3373964"/>
          </a:xfrm>
          <a:prstGeom prst="rect">
            <a:avLst/>
          </a:prstGeom>
        </p:spPr>
      </p:pic>
      <p:sp>
        <p:nvSpPr>
          <p:cNvPr id="145" name="Google Shape;145;p4"/>
          <p:cNvSpPr txBox="1">
            <a:spLocks noGrp="1"/>
          </p:cNvSpPr>
          <p:nvPr>
            <p:ph type="body" idx="1"/>
          </p:nvPr>
        </p:nvSpPr>
        <p:spPr>
          <a:xfrm>
            <a:off x="5399903" y="1508124"/>
            <a:ext cx="6318855" cy="4571399"/>
          </a:xfrm>
          <a:prstGeom prst="rect">
            <a:avLst/>
          </a:prstGeom>
          <a:noFill/>
          <a:ln>
            <a:noFill/>
          </a:ln>
        </p:spPr>
        <p:txBody>
          <a:bodyPr spcFirstLastPara="1" wrap="square" lIns="91425" tIns="45700" rIns="91425" bIns="45700" anchor="t" anchorCtr="0">
            <a:noAutofit/>
          </a:bodyPr>
          <a:lstStyle/>
          <a:p>
            <a:pPr>
              <a:buSzPct val="100000"/>
            </a:pPr>
            <a:r>
              <a:rPr lang="en-US" sz="2400" dirty="0"/>
              <a:t>It measures pressure and changes it into an electrical signal so it can be displayed on a lab scope of graphing DMM.</a:t>
            </a:r>
          </a:p>
          <a:p>
            <a:pPr>
              <a:buSzPct val="100000"/>
            </a:pPr>
            <a:r>
              <a:rPr lang="en-US" sz="2400" dirty="0"/>
              <a:t>A pressure transducer can measure such things as:</a:t>
            </a:r>
          </a:p>
          <a:p>
            <a:pPr lvl="1">
              <a:buSzPct val="100000"/>
            </a:pPr>
            <a:r>
              <a:rPr lang="en-US" sz="2200" dirty="0"/>
              <a:t>Fuel pressure, oil pressure, exhaust pressure, intake pressure (vacuum), crankcase pressure, radiator pressures, and cylinder compression.</a:t>
            </a:r>
          </a:p>
          <a:p>
            <a:pPr>
              <a:buSzPct val="100000"/>
            </a:pPr>
            <a:r>
              <a:rPr lang="en-US" sz="2400" dirty="0"/>
              <a:t>A fuel pressure transducer connects to the Schrader valve on the fuel rail.</a:t>
            </a:r>
          </a:p>
        </p:txBody>
      </p:sp>
    </p:spTree>
    <p:extLst>
      <p:ext uri="{BB962C8B-B14F-4D97-AF65-F5344CB8AC3E}">
        <p14:creationId xmlns:p14="http://schemas.microsoft.com/office/powerpoint/2010/main" val="2591918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Injector </a:t>
            </a:r>
            <a:r>
              <a:rPr lang="en-US"/>
              <a:t>Balance Tester</a:t>
            </a:r>
            <a:endParaRPr lang="en-US" dirty="0"/>
          </a:p>
        </p:txBody>
      </p:sp>
      <p:pic>
        <p:nvPicPr>
          <p:cNvPr id="7" name="Picture Placeholder 6" descr="An injector balance tester tests the injectors in a port fueled-injected engine, using a fuel pressure gauge.">
            <a:extLst>
              <a:ext uri="{FF2B5EF4-FFF2-40B4-BE49-F238E27FC236}">
                <a16:creationId xmlns:a16="http://schemas.microsoft.com/office/drawing/2014/main" id="{C84FE5FA-6EDD-5492-67CB-C4983C61FFE6}"/>
              </a:ext>
            </a:extLst>
          </p:cNvPr>
          <p:cNvPicPr>
            <a:picLocks noGrp="1" noChangeAspect="1"/>
          </p:cNvPicPr>
          <p:nvPr>
            <p:ph type="pic" idx="2"/>
          </p:nvPr>
        </p:nvPicPr>
        <p:blipFill>
          <a:blip r:embed="rId3"/>
          <a:srcRect b="7366"/>
          <a:stretch/>
        </p:blipFill>
        <p:spPr>
          <a:xfrm>
            <a:off x="725145" y="2081896"/>
            <a:ext cx="3657600" cy="3286517"/>
          </a:xfrm>
          <a:prstGeom prst="rect">
            <a:avLst/>
          </a:prstGeom>
        </p:spPr>
      </p:pic>
      <p:sp>
        <p:nvSpPr>
          <p:cNvPr id="145" name="Google Shape;145;p4"/>
          <p:cNvSpPr txBox="1">
            <a:spLocks noGrp="1"/>
          </p:cNvSpPr>
          <p:nvPr>
            <p:ph type="body" idx="1"/>
          </p:nvPr>
        </p:nvSpPr>
        <p:spPr>
          <a:xfrm>
            <a:off x="4534931" y="1508125"/>
            <a:ext cx="7183828" cy="4583756"/>
          </a:xfrm>
          <a:prstGeom prst="rect">
            <a:avLst/>
          </a:prstGeom>
          <a:noFill/>
          <a:ln>
            <a:noFill/>
          </a:ln>
        </p:spPr>
        <p:txBody>
          <a:bodyPr spcFirstLastPara="1" wrap="square" lIns="91425" tIns="45700" rIns="91425" bIns="45700" anchor="t" anchorCtr="0">
            <a:noAutofit/>
          </a:bodyPr>
          <a:lstStyle/>
          <a:p>
            <a:pPr>
              <a:buSzPct val="100000"/>
            </a:pPr>
            <a:r>
              <a:rPr lang="en-US" sz="2000" dirty="0"/>
              <a:t>The tester leads are attached to the injector terminals.</a:t>
            </a:r>
          </a:p>
          <a:p>
            <a:pPr>
              <a:buSzPct val="100000"/>
            </a:pPr>
            <a:r>
              <a:rPr lang="en-US" sz="2000" dirty="0"/>
              <a:t>The fuel pressure gauge is connected to the fuel rail, and fuel pressure is shown on the pressure gauge.</a:t>
            </a:r>
          </a:p>
          <a:p>
            <a:pPr>
              <a:buSzPct val="100000"/>
            </a:pPr>
            <a:r>
              <a:rPr lang="en-US" sz="2000" dirty="0"/>
              <a:t>The tester energizes the injector for a specific length of time, and the technician records the pressure decrease on the fuel pressure gauge.</a:t>
            </a:r>
          </a:p>
          <a:p>
            <a:pPr>
              <a:buSzPct val="100000"/>
            </a:pPr>
            <a:r>
              <a:rPr lang="en-US" sz="2000" dirty="0"/>
              <a:t>If the pressure drops little, or if there is no pressure drop, the injector’s orifice is restricted or the injector is faulty.</a:t>
            </a:r>
          </a:p>
          <a:p>
            <a:pPr>
              <a:buSzPct val="100000"/>
            </a:pPr>
            <a:r>
              <a:rPr lang="en-US" sz="2000" dirty="0"/>
              <a:t>If there is an excessive amount of pressure drop, the injector plunger is sticking open, which results in a rich air-fuel mixture.</a:t>
            </a:r>
          </a:p>
        </p:txBody>
      </p:sp>
    </p:spTree>
    <p:extLst>
      <p:ext uri="{BB962C8B-B14F-4D97-AF65-F5344CB8AC3E}">
        <p14:creationId xmlns:p14="http://schemas.microsoft.com/office/powerpoint/2010/main" val="702333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Vacuum Gauge</a:t>
            </a:r>
            <a:endParaRPr lang="en-US" dirty="0"/>
          </a:p>
        </p:txBody>
      </p:sp>
      <p:pic>
        <p:nvPicPr>
          <p:cNvPr id="7" name="Picture Placeholder 6" descr="A technician uses a vacuum gauge to measure the vacuum of an engine. The needle of the gauge points to approximately 18 inches of mercury on the vacuum scale.">
            <a:extLst>
              <a:ext uri="{FF2B5EF4-FFF2-40B4-BE49-F238E27FC236}">
                <a16:creationId xmlns:a16="http://schemas.microsoft.com/office/drawing/2014/main" id="{140E86BA-AA63-08DB-A584-2FA052B0AD9A}"/>
              </a:ext>
            </a:extLst>
          </p:cNvPr>
          <p:cNvPicPr>
            <a:picLocks noGrp="1" noChangeAspect="1"/>
          </p:cNvPicPr>
          <p:nvPr>
            <p:ph type="pic" idx="2"/>
          </p:nvPr>
        </p:nvPicPr>
        <p:blipFill>
          <a:blip r:embed="rId3"/>
          <a:srcRect b="14099"/>
          <a:stretch/>
        </p:blipFill>
        <p:spPr>
          <a:xfrm>
            <a:off x="736131" y="1719074"/>
            <a:ext cx="4307376" cy="3197056"/>
          </a:xfrm>
          <a:prstGeom prst="rect">
            <a:avLst/>
          </a:prstGeom>
        </p:spPr>
      </p:pic>
      <p:sp>
        <p:nvSpPr>
          <p:cNvPr id="145" name="Google Shape;145;p4"/>
          <p:cNvSpPr txBox="1">
            <a:spLocks noGrp="1"/>
          </p:cNvSpPr>
          <p:nvPr>
            <p:ph type="body" idx="1"/>
          </p:nvPr>
        </p:nvSpPr>
        <p:spPr>
          <a:xfrm>
            <a:off x="5043507" y="1472499"/>
            <a:ext cx="6675251" cy="4596113"/>
          </a:xfrm>
          <a:prstGeom prst="rect">
            <a:avLst/>
          </a:prstGeom>
          <a:noFill/>
          <a:ln>
            <a:noFill/>
          </a:ln>
        </p:spPr>
        <p:txBody>
          <a:bodyPr spcFirstLastPara="1" wrap="square" lIns="91425" tIns="45700" rIns="91425" bIns="45700" anchor="t" anchorCtr="0">
            <a:noAutofit/>
          </a:bodyPr>
          <a:lstStyle/>
          <a:p>
            <a:pPr>
              <a:buSzPct val="100000"/>
            </a:pPr>
            <a:r>
              <a:rPr lang="en-US" sz="2400" dirty="0"/>
              <a:t>Measuring intake manifold vacuum can diagnose the condition of an engine.</a:t>
            </a:r>
          </a:p>
          <a:p>
            <a:pPr>
              <a:buSzPct val="100000"/>
            </a:pPr>
            <a:r>
              <a:rPr lang="en-US" sz="2400" dirty="0"/>
              <a:t>To measure vacuum, a hose on the vacuum gauge is connected to a source of manifold vacuum, either on the manifold or at a point below the throttle plates.</a:t>
            </a:r>
          </a:p>
          <a:p>
            <a:pPr>
              <a:buSzPct val="100000"/>
            </a:pPr>
            <a:r>
              <a:rPr lang="en-US" sz="2400" dirty="0"/>
              <a:t>The test is made with the engine cranking or running. A good vacuum reading is typically at least 16 in. Hg. However, a reading of 15 to 20 in. Hg (50 to 65 kPa) is normally acceptable.</a:t>
            </a:r>
          </a:p>
        </p:txBody>
      </p:sp>
    </p:spTree>
    <p:extLst>
      <p:ext uri="{BB962C8B-B14F-4D97-AF65-F5344CB8AC3E}">
        <p14:creationId xmlns:p14="http://schemas.microsoft.com/office/powerpoint/2010/main" val="16333884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t>Pyrometers</a:t>
            </a:r>
            <a:endParaRPr dirty="0"/>
          </a:p>
        </p:txBody>
      </p:sp>
      <p:pic>
        <p:nvPicPr>
          <p:cNvPr id="7" name="Picture Placeholder 6" descr="A technician holds a digital pyrometer over an air-conditioning system line.">
            <a:extLst>
              <a:ext uri="{FF2B5EF4-FFF2-40B4-BE49-F238E27FC236}">
                <a16:creationId xmlns:a16="http://schemas.microsoft.com/office/drawing/2014/main" id="{4521CB47-5930-0372-2C38-B788D7775D49}"/>
              </a:ext>
            </a:extLst>
          </p:cNvPr>
          <p:cNvPicPr>
            <a:picLocks noGrp="1" noChangeAspect="1"/>
          </p:cNvPicPr>
          <p:nvPr>
            <p:ph type="pic" idx="2"/>
          </p:nvPr>
        </p:nvPicPr>
        <p:blipFill>
          <a:blip r:embed="rId3"/>
          <a:srcRect b="14746"/>
          <a:stretch/>
        </p:blipFill>
        <p:spPr>
          <a:xfrm>
            <a:off x="653208" y="1978411"/>
            <a:ext cx="4216285" cy="3006544"/>
          </a:xfrm>
          <a:prstGeom prst="rect">
            <a:avLst/>
          </a:prstGeom>
        </p:spPr>
      </p:pic>
      <p:sp>
        <p:nvSpPr>
          <p:cNvPr id="145" name="Google Shape;145;p4"/>
          <p:cNvSpPr txBox="1">
            <a:spLocks noGrp="1"/>
          </p:cNvSpPr>
          <p:nvPr>
            <p:ph type="body" idx="1"/>
          </p:nvPr>
        </p:nvSpPr>
        <p:spPr>
          <a:xfrm>
            <a:off x="4992130" y="1508124"/>
            <a:ext cx="6726628" cy="4534329"/>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t>A</a:t>
            </a:r>
            <a:r>
              <a:rPr lang="en-US" b="1" dirty="0"/>
              <a:t> pyrometer </a:t>
            </a:r>
            <a:r>
              <a:rPr lang="en-US" dirty="0"/>
              <a:t>is an electronic device that measures temperature.</a:t>
            </a:r>
          </a:p>
          <a:p>
            <a:pPr>
              <a:spcAft>
                <a:spcPts val="600"/>
              </a:spcAft>
              <a:buSzPct val="100000"/>
            </a:pPr>
            <a:r>
              <a:rPr lang="en-US" dirty="0"/>
              <a:t>These are used to:</a:t>
            </a:r>
          </a:p>
          <a:p>
            <a:pPr lvl="1">
              <a:spcAft>
                <a:spcPts val="600"/>
              </a:spcAft>
              <a:buSzPct val="100000"/>
            </a:pPr>
            <a:r>
              <a:rPr lang="en-US" dirty="0"/>
              <a:t>Check for blockages across the radiator.</a:t>
            </a:r>
          </a:p>
          <a:p>
            <a:pPr lvl="1">
              <a:spcAft>
                <a:spcPts val="600"/>
              </a:spcAft>
              <a:buSzPct val="100000"/>
            </a:pPr>
            <a:r>
              <a:rPr lang="en-US" dirty="0"/>
              <a:t>Measure temperatures on air-conditioning system lines, hoses, and condenser.</a:t>
            </a:r>
          </a:p>
          <a:p>
            <a:pPr lvl="1">
              <a:spcAft>
                <a:spcPts val="600"/>
              </a:spcAft>
              <a:buSzPct val="100000"/>
            </a:pPr>
            <a:r>
              <a:rPr lang="en-US" dirty="0"/>
              <a:t>Find dragging brakes.</a:t>
            </a:r>
          </a:p>
        </p:txBody>
      </p:sp>
    </p:spTree>
    <p:extLst>
      <p:ext uri="{BB962C8B-B14F-4D97-AF65-F5344CB8AC3E}">
        <p14:creationId xmlns:p14="http://schemas.microsoft.com/office/powerpoint/2010/main" val="13233951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Spark </a:t>
            </a:r>
            <a:r>
              <a:rPr lang="en-US"/>
              <a:t>Plug Sockets</a:t>
            </a:r>
            <a:endParaRPr lang="en-US" dirty="0"/>
          </a:p>
        </p:txBody>
      </p:sp>
      <p:sp>
        <p:nvSpPr>
          <p:cNvPr id="145" name="Google Shape;145;p4"/>
          <p:cNvSpPr txBox="1">
            <a:spLocks noGrp="1"/>
          </p:cNvSpPr>
          <p:nvPr>
            <p:ph type="body" idx="1"/>
          </p:nvPr>
        </p:nvSpPr>
        <p:spPr>
          <a:xfrm>
            <a:off x="476843" y="1508124"/>
            <a:ext cx="7233773" cy="4596113"/>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200" dirty="0"/>
              <a:t>Special sockets are available for the installation and removal of spark plugs.</a:t>
            </a:r>
          </a:p>
          <a:p>
            <a:pPr>
              <a:spcAft>
                <a:spcPts val="600"/>
              </a:spcAft>
              <a:buSzPct val="100000"/>
            </a:pPr>
            <a:r>
              <a:rPr lang="en-US" sz="2200" dirty="0"/>
              <a:t>These deep sockets have a hex nut drive at the end to allow a technician to turn them with a ratchet or an open-end wrench.</a:t>
            </a:r>
          </a:p>
          <a:p>
            <a:pPr>
              <a:spcAft>
                <a:spcPts val="600"/>
              </a:spcAft>
              <a:buSzPct val="100000"/>
            </a:pPr>
            <a:r>
              <a:rPr lang="en-US" sz="2200" dirty="0"/>
              <a:t>The sockets are available in the common sizes of spark plugs (5/8-inch, 9/16-inch, and 13/16-inch) and have a 3/8-inch drive.</a:t>
            </a:r>
          </a:p>
          <a:p>
            <a:pPr>
              <a:spcAft>
                <a:spcPts val="600"/>
              </a:spcAft>
              <a:buSzPct val="100000"/>
            </a:pPr>
            <a:r>
              <a:rPr lang="en-US" sz="2200" dirty="0"/>
              <a:t>The socket has a rubber sleeve that surrounds the insulator part of the spark plug to prevent cracking or other damage to the plug while it is being removed or installed.</a:t>
            </a:r>
          </a:p>
        </p:txBody>
      </p:sp>
      <p:pic>
        <p:nvPicPr>
          <p:cNvPr id="11" name="Picture Placeholder 10" descr="A set of spark plug sockets with a hex nut drive at one end."/>
          <p:cNvPicPr>
            <a:picLocks noGrp="1" noChangeAspect="1"/>
          </p:cNvPicPr>
          <p:nvPr>
            <p:ph type="pic" idx="2"/>
          </p:nvPr>
        </p:nvPicPr>
        <p:blipFill>
          <a:blip r:embed="rId3"/>
          <a:srcRect b="6194"/>
          <a:stretch/>
        </p:blipFill>
        <p:spPr>
          <a:xfrm>
            <a:off x="7809907" y="2032107"/>
            <a:ext cx="3905250" cy="3395300"/>
          </a:xfrm>
          <a:prstGeom prst="rect">
            <a:avLst/>
          </a:prstGeom>
        </p:spPr>
      </p:pic>
    </p:spTree>
    <p:extLst>
      <p:ext uri="{BB962C8B-B14F-4D97-AF65-F5344CB8AC3E}">
        <p14:creationId xmlns:p14="http://schemas.microsoft.com/office/powerpoint/2010/main" val="2890731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Chassis Dynamometer</a:t>
            </a:r>
            <a:endParaRPr lang="en-US"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buSzPct val="100000"/>
            </a:pPr>
            <a:r>
              <a:rPr lang="en-US" sz="2200" dirty="0"/>
              <a:t>A chassis </a:t>
            </a:r>
            <a:r>
              <a:rPr lang="en-US" sz="2200" b="1" dirty="0"/>
              <a:t>dynamometer</a:t>
            </a:r>
            <a:r>
              <a:rPr lang="en-US" sz="2200" dirty="0"/>
              <a:t>, commonly called a dyno, is used to simulate a road test.</a:t>
            </a:r>
          </a:p>
          <a:p>
            <a:pPr>
              <a:buSzPct val="100000"/>
            </a:pPr>
            <a:r>
              <a:rPr lang="en-US" sz="2200" dirty="0"/>
              <a:t>A vehicle can be driven through a wide assortment of operating conditions without leaving the shop.</a:t>
            </a:r>
          </a:p>
          <a:p>
            <a:pPr>
              <a:buSzPct val="100000"/>
            </a:pPr>
            <a:r>
              <a:rPr lang="en-US" sz="2200" dirty="0"/>
              <a:t>Because the vehicle is stationary, test equipment can be connected and monitored while the vehicle is driven under various loads. This is extremely valuable when diagnosing a problem.</a:t>
            </a:r>
          </a:p>
          <a:p>
            <a:pPr>
              <a:buSzPct val="100000"/>
            </a:pPr>
            <a:r>
              <a:rPr lang="en-US" sz="2200" dirty="0"/>
              <a:t>A chassis dyno can also be used for performance tuning.</a:t>
            </a:r>
          </a:p>
          <a:p>
            <a:pPr>
              <a:buSzPct val="100000"/>
            </a:pPr>
            <a:r>
              <a:rPr lang="en-US" sz="2200" dirty="0"/>
              <a:t>Some performance shops have an engine dynamometer that directly measures the output from an engine while the chassis dyno measures the engine output after it has passed through the driveline.</a:t>
            </a:r>
          </a:p>
        </p:txBody>
      </p:sp>
    </p:spTree>
    <p:extLst>
      <p:ext uri="{BB962C8B-B14F-4D97-AF65-F5344CB8AC3E}">
        <p14:creationId xmlns:p14="http://schemas.microsoft.com/office/powerpoint/2010/main" val="19296101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Other Pressure Transducers</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buSzPct val="100000"/>
            </a:pPr>
            <a:r>
              <a:rPr lang="en-US" sz="2000" dirty="0"/>
              <a:t>Injector Circuit Test light</a:t>
            </a:r>
          </a:p>
          <a:p>
            <a:pPr>
              <a:buSzPct val="100000"/>
            </a:pPr>
            <a:r>
              <a:rPr lang="en-US" sz="2000" dirty="0"/>
              <a:t>Fuel Injector Cleaners</a:t>
            </a:r>
          </a:p>
          <a:p>
            <a:pPr>
              <a:buSzPct val="100000"/>
            </a:pPr>
            <a:r>
              <a:rPr lang="en-US" sz="2000" dirty="0"/>
              <a:t>Fuel Line Tools</a:t>
            </a:r>
          </a:p>
          <a:p>
            <a:pPr>
              <a:buSzPct val="100000"/>
            </a:pPr>
            <a:r>
              <a:rPr lang="en-US" sz="2000" dirty="0"/>
              <a:t>Pinch-Off Pliers</a:t>
            </a:r>
          </a:p>
          <a:p>
            <a:pPr>
              <a:buSzPct val="100000"/>
            </a:pPr>
            <a:r>
              <a:rPr lang="en-US" sz="2000" dirty="0"/>
              <a:t>Vacuum Leak Detector</a:t>
            </a:r>
          </a:p>
          <a:p>
            <a:pPr>
              <a:buSzPct val="100000"/>
            </a:pPr>
            <a:r>
              <a:rPr lang="en-US" sz="2000" dirty="0"/>
              <a:t>Vacuum Pump</a:t>
            </a:r>
          </a:p>
          <a:p>
            <a:pPr>
              <a:buSzPct val="100000"/>
            </a:pPr>
            <a:r>
              <a:rPr lang="en-US" sz="2000" dirty="0"/>
              <a:t>Spark Tester</a:t>
            </a:r>
          </a:p>
          <a:p>
            <a:pPr>
              <a:buSzPct val="100000"/>
            </a:pPr>
            <a:r>
              <a:rPr lang="en-US" sz="2000" dirty="0"/>
              <a:t>Tachometer</a:t>
            </a:r>
          </a:p>
          <a:p>
            <a:pPr>
              <a:buSzPct val="100000"/>
            </a:pPr>
            <a:r>
              <a:rPr lang="en-US" sz="2000" dirty="0"/>
              <a:t>Logic Probes</a:t>
            </a:r>
          </a:p>
          <a:p>
            <a:pPr>
              <a:buSzPct val="100000"/>
            </a:pPr>
            <a:r>
              <a:rPr lang="en-US" sz="2000" dirty="0"/>
              <a:t>Sensor Tools</a:t>
            </a:r>
          </a:p>
        </p:txBody>
      </p:sp>
    </p:spTree>
    <p:extLst>
      <p:ext uri="{BB962C8B-B14F-4D97-AF65-F5344CB8AC3E}">
        <p14:creationId xmlns:p14="http://schemas.microsoft.com/office/powerpoint/2010/main" val="9801540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Transmission and Driveline Tools (1 of 2)</a:t>
            </a:r>
            <a:endParaRPr dirty="0"/>
          </a:p>
        </p:txBody>
      </p:sp>
      <p:sp>
        <p:nvSpPr>
          <p:cNvPr id="145" name="Google Shape;145;p4"/>
          <p:cNvSpPr txBox="1">
            <a:spLocks noGrp="1"/>
          </p:cNvSpPr>
          <p:nvPr>
            <p:ph type="body" idx="1"/>
          </p:nvPr>
        </p:nvSpPr>
        <p:spPr>
          <a:xfrm>
            <a:off x="476843" y="1508124"/>
            <a:ext cx="8370595" cy="4596113"/>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400" dirty="0"/>
              <a:t>Transmission Jack</a:t>
            </a:r>
          </a:p>
          <a:p>
            <a:pPr lvl="1">
              <a:spcAft>
                <a:spcPts val="600"/>
              </a:spcAft>
              <a:buSzPct val="100000"/>
            </a:pPr>
            <a:r>
              <a:rPr lang="en-US" sz="2200" dirty="0"/>
              <a:t>It is designed to help you while removing a transmission from under the vehicle.</a:t>
            </a:r>
          </a:p>
          <a:p>
            <a:pPr lvl="1">
              <a:spcAft>
                <a:spcPts val="600"/>
              </a:spcAft>
              <a:buSzPct val="100000"/>
            </a:pPr>
            <a:r>
              <a:rPr lang="en-US" sz="2200" dirty="0"/>
              <a:t>The transmission’s weight makes it difficult and unsafe to remove it without assistance and/ or a transmission jack.</a:t>
            </a:r>
          </a:p>
          <a:p>
            <a:pPr lvl="1">
              <a:spcAft>
                <a:spcPts val="600"/>
              </a:spcAft>
              <a:buSzPct val="100000"/>
            </a:pPr>
            <a:r>
              <a:rPr lang="en-US" sz="2200" dirty="0"/>
              <a:t>They are available in two basic styles.</a:t>
            </a:r>
          </a:p>
          <a:p>
            <a:pPr lvl="2">
              <a:spcAft>
                <a:spcPts val="600"/>
              </a:spcAft>
              <a:buSzPct val="100000"/>
            </a:pPr>
            <a:r>
              <a:rPr lang="en-US" sz="2000" dirty="0"/>
              <a:t>One is used when the vehicle is raised by a hydraulic jack and sitting on jack stands.</a:t>
            </a:r>
          </a:p>
          <a:p>
            <a:pPr lvl="2">
              <a:spcAft>
                <a:spcPts val="600"/>
              </a:spcAft>
              <a:buSzPct val="100000"/>
            </a:pPr>
            <a:r>
              <a:rPr lang="en-US" sz="2000" dirty="0"/>
              <a:t>The other style is used when the vehicle is raised on a lift.</a:t>
            </a:r>
          </a:p>
        </p:txBody>
      </p:sp>
      <p:pic>
        <p:nvPicPr>
          <p:cNvPr id="7" name="Picture Placeholder 6" descr="A transmission jack with a saddle.">
            <a:extLst>
              <a:ext uri="{FF2B5EF4-FFF2-40B4-BE49-F238E27FC236}">
                <a16:creationId xmlns:a16="http://schemas.microsoft.com/office/drawing/2014/main" id="{2945FBA3-818B-F542-0FF1-FB9186B83A52}"/>
              </a:ext>
            </a:extLst>
          </p:cNvPr>
          <p:cNvPicPr>
            <a:picLocks noGrp="1" noChangeAspect="1"/>
          </p:cNvPicPr>
          <p:nvPr>
            <p:ph type="pic" idx="2"/>
          </p:nvPr>
        </p:nvPicPr>
        <p:blipFill>
          <a:blip r:embed="rId3"/>
          <a:srcRect b="5351"/>
          <a:stretch/>
        </p:blipFill>
        <p:spPr>
          <a:xfrm>
            <a:off x="8829747" y="1855217"/>
            <a:ext cx="3022810" cy="3709842"/>
          </a:xfrm>
          <a:prstGeom prst="rect">
            <a:avLst/>
          </a:prstGeom>
        </p:spPr>
      </p:pic>
    </p:spTree>
    <p:extLst>
      <p:ext uri="{BB962C8B-B14F-4D97-AF65-F5344CB8AC3E}">
        <p14:creationId xmlns:p14="http://schemas.microsoft.com/office/powerpoint/2010/main" val="39509868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Transmission and Driveline Tools (2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buSzPct val="100000"/>
            </a:pPr>
            <a:r>
              <a:rPr lang="en-US" sz="2200" dirty="0"/>
              <a:t>Axle Pullers</a:t>
            </a:r>
          </a:p>
          <a:p>
            <a:pPr lvl="1">
              <a:buSzPct val="100000"/>
            </a:pPr>
            <a:r>
              <a:rPr lang="en-US" sz="2000" dirty="0"/>
              <a:t>Axle pullers are used to pull rear axles in RWD vehicles.</a:t>
            </a:r>
          </a:p>
          <a:p>
            <a:pPr>
              <a:buSzPct val="100000"/>
            </a:pPr>
            <a:r>
              <a:rPr lang="en-US" sz="2200" dirty="0"/>
              <a:t>Clutch Alignment Tool</a:t>
            </a:r>
          </a:p>
          <a:p>
            <a:pPr lvl="1">
              <a:buSzPct val="100000"/>
            </a:pPr>
            <a:r>
              <a:rPr lang="en-US" sz="2000" dirty="0"/>
              <a:t>To keep the clutch disc centered on the flywheel while assembling the clutch, a clutch alignment tool is used.</a:t>
            </a:r>
          </a:p>
          <a:p>
            <a:pPr>
              <a:buSzPct val="100000"/>
            </a:pPr>
            <a:r>
              <a:rPr lang="en-US" sz="2200" dirty="0"/>
              <a:t>Clutch Pilot Bearing/Bushing Puller/Installer</a:t>
            </a:r>
          </a:p>
          <a:p>
            <a:pPr lvl="1">
              <a:buSzPct val="100000"/>
            </a:pPr>
            <a:r>
              <a:rPr lang="en-US" sz="2000" dirty="0"/>
              <a:t>To remove and install a clutch pilot bearing or bushing, special tools are needed.</a:t>
            </a:r>
          </a:p>
          <a:p>
            <a:pPr>
              <a:buSzPct val="100000"/>
            </a:pPr>
            <a:r>
              <a:rPr lang="en-US" sz="2200" dirty="0"/>
              <a:t>Hydraulic Pressure Gauge Set</a:t>
            </a:r>
          </a:p>
          <a:p>
            <a:pPr lvl="1">
              <a:buSzPct val="100000"/>
            </a:pPr>
            <a:r>
              <a:rPr lang="en-US" sz="2000" dirty="0"/>
              <a:t>It is a common diagnostic tool for automatic transmissions.</a:t>
            </a:r>
          </a:p>
        </p:txBody>
      </p:sp>
    </p:spTree>
    <p:extLst>
      <p:ext uri="{BB962C8B-B14F-4D97-AF65-F5344CB8AC3E}">
        <p14:creationId xmlns:p14="http://schemas.microsoft.com/office/powerpoint/2010/main" val="9335537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Other Transmission and Driveline Tools</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buSzPct val="100000"/>
            </a:pPr>
            <a:r>
              <a:rPr lang="en-US" dirty="0"/>
              <a:t>Transaxle Removal and Installation Equipment</a:t>
            </a:r>
          </a:p>
          <a:p>
            <a:pPr>
              <a:buSzPct val="100000"/>
            </a:pPr>
            <a:r>
              <a:rPr lang="en-US" dirty="0"/>
              <a:t>Transmission/Transaxle Holding Fixtures</a:t>
            </a:r>
          </a:p>
          <a:p>
            <a:pPr>
              <a:buSzPct val="100000"/>
            </a:pPr>
            <a:r>
              <a:rPr lang="en-US" dirty="0"/>
              <a:t>Universal Joint Tools</a:t>
            </a:r>
          </a:p>
        </p:txBody>
      </p:sp>
    </p:spTree>
    <p:extLst>
      <p:ext uri="{BB962C8B-B14F-4D97-AF65-F5344CB8AC3E}">
        <p14:creationId xmlns:p14="http://schemas.microsoft.com/office/powerpoint/2010/main" val="6303042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Suspension and Steering Tools (1 of 4)</a:t>
            </a:r>
            <a:endParaRPr dirty="0"/>
          </a:p>
        </p:txBody>
      </p:sp>
      <p:sp>
        <p:nvSpPr>
          <p:cNvPr id="145" name="Google Shape;145;p4"/>
          <p:cNvSpPr txBox="1">
            <a:spLocks noGrp="1"/>
          </p:cNvSpPr>
          <p:nvPr>
            <p:ph type="body" idx="1"/>
          </p:nvPr>
        </p:nvSpPr>
        <p:spPr>
          <a:xfrm>
            <a:off x="476844" y="1508125"/>
            <a:ext cx="8299022" cy="4300716"/>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solidFill>
                  <a:schemeClr val="accent1"/>
                </a:solidFill>
              </a:rPr>
              <a:t>Tire Pressure Monitoring (TPM) Tools</a:t>
            </a:r>
          </a:p>
          <a:p>
            <a:pPr lvl="1">
              <a:spcAft>
                <a:spcPts val="600"/>
              </a:spcAft>
              <a:buSzPct val="100000"/>
            </a:pPr>
            <a:r>
              <a:rPr lang="en-US" dirty="0">
                <a:solidFill>
                  <a:schemeClr val="accent1"/>
                </a:solidFill>
              </a:rPr>
              <a:t>These are required for checking and resetting TPM systems after service.</a:t>
            </a:r>
          </a:p>
          <a:p>
            <a:pPr lvl="1">
              <a:spcAft>
                <a:spcPts val="600"/>
              </a:spcAft>
              <a:buSzPct val="100000"/>
            </a:pPr>
            <a:r>
              <a:rPr lang="en-US" dirty="0">
                <a:solidFill>
                  <a:schemeClr val="accent1"/>
                </a:solidFill>
              </a:rPr>
              <a:t>The tool is also used to program a replacement tire pressure monitoring.</a:t>
            </a:r>
          </a:p>
          <a:p>
            <a:pPr lvl="1">
              <a:spcAft>
                <a:spcPts val="600"/>
              </a:spcAft>
              <a:buSzPct val="100000"/>
            </a:pPr>
            <a:r>
              <a:rPr lang="en-US" dirty="0">
                <a:solidFill>
                  <a:schemeClr val="accent1"/>
                </a:solidFill>
              </a:rPr>
              <a:t>TPM tool kits contain the special tools needed to service and replace TPMS.</a:t>
            </a:r>
          </a:p>
        </p:txBody>
      </p:sp>
      <p:pic>
        <p:nvPicPr>
          <p:cNvPr id="7" name="Picture Placeholder 6" descr="A tire pressure monitoring tool with a display is used to program a replacement tire pressure monitoring sensor. The display reads, press test to activate the right front.">
            <a:extLst>
              <a:ext uri="{FF2B5EF4-FFF2-40B4-BE49-F238E27FC236}">
                <a16:creationId xmlns:a16="http://schemas.microsoft.com/office/drawing/2014/main" id="{A7A50BD8-DB69-3B44-8B39-48E42BB0CF41}"/>
              </a:ext>
            </a:extLst>
          </p:cNvPr>
          <p:cNvPicPr>
            <a:picLocks noGrp="1" noChangeAspect="1"/>
          </p:cNvPicPr>
          <p:nvPr>
            <p:ph type="pic" idx="2"/>
          </p:nvPr>
        </p:nvPicPr>
        <p:blipFill>
          <a:blip r:embed="rId3"/>
          <a:srcRect b="4726"/>
          <a:stretch/>
        </p:blipFill>
        <p:spPr>
          <a:xfrm>
            <a:off x="8829747" y="1499963"/>
            <a:ext cx="3022810" cy="4300717"/>
          </a:xfrm>
          <a:prstGeom prst="rect">
            <a:avLst/>
          </a:prstGeom>
        </p:spPr>
      </p:pic>
    </p:spTree>
    <p:extLst>
      <p:ext uri="{BB962C8B-B14F-4D97-AF65-F5344CB8AC3E}">
        <p14:creationId xmlns:p14="http://schemas.microsoft.com/office/powerpoint/2010/main" val="21743648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Suspension and Steering Tools (2 of 4)</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buSzPct val="100000"/>
            </a:pPr>
            <a:r>
              <a:rPr lang="en-US" dirty="0"/>
              <a:t>Tie-Rod End and Ball Joint Puller</a:t>
            </a:r>
          </a:p>
          <a:p>
            <a:pPr lvl="1">
              <a:buSzPct val="100000"/>
            </a:pPr>
            <a:r>
              <a:rPr lang="en-US" dirty="0"/>
              <a:t>It can be used to remove tie-rod ends and pull ball joint studs from the steering knuckle.</a:t>
            </a:r>
          </a:p>
          <a:p>
            <a:pPr>
              <a:buSzPct val="100000"/>
            </a:pPr>
            <a:r>
              <a:rPr lang="en-US" dirty="0"/>
              <a:t>Front Bearing Hub Tool</a:t>
            </a:r>
          </a:p>
          <a:p>
            <a:pPr lvl="1">
              <a:buSzPct val="100000"/>
            </a:pPr>
            <a:r>
              <a:rPr lang="en-US" dirty="0"/>
              <a:t>They are designed to remove and install front wheel bearings on FWD cars.</a:t>
            </a:r>
          </a:p>
          <a:p>
            <a:pPr>
              <a:buSzPct val="100000"/>
            </a:pPr>
            <a:r>
              <a:rPr lang="en-US" dirty="0"/>
              <a:t>Pitman Arm Puller</a:t>
            </a:r>
          </a:p>
          <a:p>
            <a:pPr lvl="1">
              <a:buSzPct val="100000"/>
            </a:pPr>
            <a:r>
              <a:rPr lang="en-US" dirty="0"/>
              <a:t>A pitman arm puller is a heavy-duty puller designed to remove the pitman arm from the pitman shaft.</a:t>
            </a:r>
          </a:p>
        </p:txBody>
      </p:sp>
    </p:spTree>
    <p:extLst>
      <p:ext uri="{BB962C8B-B14F-4D97-AF65-F5344CB8AC3E}">
        <p14:creationId xmlns:p14="http://schemas.microsoft.com/office/powerpoint/2010/main" val="10818519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Suspension and Steering Tools (3 of 4)</a:t>
            </a:r>
            <a:endParaRPr dirty="0"/>
          </a:p>
        </p:txBody>
      </p:sp>
      <p:sp>
        <p:nvSpPr>
          <p:cNvPr id="145" name="Google Shape;145;p4"/>
          <p:cNvSpPr txBox="1">
            <a:spLocks noGrp="1"/>
          </p:cNvSpPr>
          <p:nvPr>
            <p:ph type="body" idx="1"/>
          </p:nvPr>
        </p:nvSpPr>
        <p:spPr>
          <a:xfrm>
            <a:off x="476843" y="1508124"/>
            <a:ext cx="8370595" cy="4520475"/>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t>Spring/Strut Compressor Tool</a:t>
            </a:r>
          </a:p>
          <a:p>
            <a:pPr>
              <a:spcAft>
                <a:spcPts val="600"/>
              </a:spcAft>
              <a:buSzPct val="100000"/>
            </a:pPr>
            <a:r>
              <a:rPr lang="en-US" dirty="0"/>
              <a:t>Many types of coil spring compressors are available.</a:t>
            </a:r>
          </a:p>
          <a:p>
            <a:pPr>
              <a:spcAft>
                <a:spcPts val="600"/>
              </a:spcAft>
              <a:buSzPct val="100000"/>
            </a:pPr>
            <a:r>
              <a:rPr lang="en-US" dirty="0"/>
              <a:t>These tools are designed to compress a coil spring and hold it in the compressed position while removing the spring from a short-long arm (SLA) suspension, removing the strut from the coil spring, or performing other suspension work.</a:t>
            </a:r>
          </a:p>
        </p:txBody>
      </p:sp>
      <p:pic>
        <p:nvPicPr>
          <p:cNvPr id="7" name="Picture Placeholder 6" descr="A spring compressor tool with a threaded rod, an upper and lower ball nut, a thrust washer, and a forcing nut.">
            <a:extLst>
              <a:ext uri="{FF2B5EF4-FFF2-40B4-BE49-F238E27FC236}">
                <a16:creationId xmlns:a16="http://schemas.microsoft.com/office/drawing/2014/main" id="{4F68E87A-AF89-5605-D24C-B1FB4500875E}"/>
              </a:ext>
            </a:extLst>
          </p:cNvPr>
          <p:cNvPicPr>
            <a:picLocks noGrp="1" noChangeAspect="1"/>
          </p:cNvPicPr>
          <p:nvPr>
            <p:ph type="pic" idx="2"/>
          </p:nvPr>
        </p:nvPicPr>
        <p:blipFill>
          <a:blip r:embed="rId3"/>
          <a:srcRect b="3730"/>
          <a:stretch/>
        </p:blipFill>
        <p:spPr>
          <a:xfrm>
            <a:off x="8967148" y="1508125"/>
            <a:ext cx="2748009" cy="4351901"/>
          </a:xfrm>
          <a:prstGeom prst="rect">
            <a:avLst/>
          </a:prstGeom>
        </p:spPr>
      </p:pic>
    </p:spTree>
    <p:extLst>
      <p:ext uri="{BB962C8B-B14F-4D97-AF65-F5344CB8AC3E}">
        <p14:creationId xmlns:p14="http://schemas.microsoft.com/office/powerpoint/2010/main" val="38253036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Suspension and Steering Tools (4 of 4)</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buSzPct val="100000"/>
            </a:pPr>
            <a:r>
              <a:rPr lang="en-US" dirty="0"/>
              <a:t>Tire Changer</a:t>
            </a:r>
          </a:p>
          <a:p>
            <a:pPr lvl="1">
              <a:buSzPct val="100000"/>
            </a:pPr>
            <a:r>
              <a:rPr lang="en-US" dirty="0"/>
              <a:t>Tire changers are used to demount and mount tires.</a:t>
            </a:r>
            <a:endParaRPr lang="en-US" sz="2600" dirty="0"/>
          </a:p>
          <a:p>
            <a:pPr>
              <a:buSzPct val="100000"/>
            </a:pPr>
            <a:r>
              <a:rPr lang="en-US" dirty="0"/>
              <a:t>Road Force Balancer</a:t>
            </a:r>
          </a:p>
          <a:p>
            <a:pPr lvl="1">
              <a:buSzPct val="100000"/>
            </a:pPr>
            <a:r>
              <a:rPr lang="en-US" dirty="0"/>
              <a:t>Many shops have a wheel balancing machine that is a road force balancer. The primary purpose of the machine is to see if a wheel and tire assembly is round while it is rolling down the road.</a:t>
            </a:r>
          </a:p>
          <a:p>
            <a:pPr>
              <a:buSzPct val="100000"/>
            </a:pPr>
            <a:r>
              <a:rPr lang="en-US" dirty="0"/>
              <a:t>Wheel Weight Pliers</a:t>
            </a:r>
          </a:p>
          <a:p>
            <a:pPr lvl="1">
              <a:buSzPct val="100000"/>
            </a:pPr>
            <a:r>
              <a:rPr lang="en-US" dirty="0"/>
              <a:t>They are combination tools designed to install and remove clip-on lead wheel weights.</a:t>
            </a:r>
          </a:p>
        </p:txBody>
      </p:sp>
    </p:spTree>
    <p:extLst>
      <p:ext uri="{BB962C8B-B14F-4D97-AF65-F5344CB8AC3E}">
        <p14:creationId xmlns:p14="http://schemas.microsoft.com/office/powerpoint/2010/main" val="12245705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Other Suspension and Steering Tools</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buSzPct val="100000"/>
            </a:pPr>
            <a:r>
              <a:rPr lang="en-US" dirty="0"/>
              <a:t>Tire Tread Depth Gauge</a:t>
            </a:r>
          </a:p>
          <a:p>
            <a:pPr>
              <a:buSzPct val="100000"/>
            </a:pPr>
            <a:r>
              <a:rPr lang="en-US" dirty="0"/>
              <a:t>Power Steering Pressure Gauge</a:t>
            </a:r>
          </a:p>
          <a:p>
            <a:pPr>
              <a:buSzPct val="100000"/>
            </a:pPr>
            <a:r>
              <a:rPr lang="en-US" dirty="0"/>
              <a:t>Control Arm Bushing Tool</a:t>
            </a:r>
          </a:p>
          <a:p>
            <a:pPr>
              <a:buSzPct val="100000"/>
            </a:pPr>
            <a:r>
              <a:rPr lang="en-US" dirty="0"/>
              <a:t>Pitman Arm Puller</a:t>
            </a:r>
          </a:p>
          <a:p>
            <a:pPr>
              <a:buSzPct val="100000"/>
            </a:pPr>
            <a:r>
              <a:rPr lang="en-US" dirty="0"/>
              <a:t>Steering Column Special Tool Set</a:t>
            </a:r>
          </a:p>
          <a:p>
            <a:pPr>
              <a:buSzPct val="100000"/>
            </a:pPr>
            <a:r>
              <a:rPr lang="en-US" dirty="0"/>
              <a:t>Shock Absorber Tools</a:t>
            </a:r>
          </a:p>
          <a:p>
            <a:pPr>
              <a:buSzPct val="100000"/>
            </a:pPr>
            <a:r>
              <a:rPr lang="en-US" dirty="0"/>
              <a:t>Power-Steering Pump Pulley Special Tool Set</a:t>
            </a:r>
          </a:p>
          <a:p>
            <a:pPr>
              <a:buSzPct val="100000"/>
            </a:pPr>
            <a:r>
              <a:rPr lang="en-US" dirty="0"/>
              <a:t>Wheel Alignment Equipment—Four Wheel</a:t>
            </a:r>
          </a:p>
        </p:txBody>
      </p:sp>
    </p:spTree>
    <p:extLst>
      <p:ext uri="{BB962C8B-B14F-4D97-AF65-F5344CB8AC3E}">
        <p14:creationId xmlns:p14="http://schemas.microsoft.com/office/powerpoint/2010/main" val="14172005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(2 of 2)</a:t>
            </a:r>
            <a:endParaRPr/>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ctr">
              <a:spcBef>
                <a:spcPts val="0"/>
              </a:spcBef>
              <a:buSzPts val="2400"/>
              <a:buNone/>
            </a:pPr>
            <a:r>
              <a:rPr lang="en-US" dirty="0">
                <a:solidFill>
                  <a:schemeClr val="accent1"/>
                </a:solidFill>
              </a:rPr>
              <a:t>What is a</a:t>
            </a:r>
            <a:r>
              <a:rPr lang="en-US" b="1" dirty="0">
                <a:solidFill>
                  <a:schemeClr val="accent1"/>
                </a:solidFill>
              </a:rPr>
              <a:t> pyrometer </a:t>
            </a:r>
            <a:r>
              <a:rPr lang="en-US" dirty="0">
                <a:solidFill>
                  <a:schemeClr val="accent1"/>
                </a:solidFill>
              </a:rPr>
              <a:t>and what does it measure?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Answer (2 of 2)</a:t>
            </a:r>
            <a:endParaRPr/>
          </a:p>
        </p:txBody>
      </p:sp>
      <p:sp>
        <p:nvSpPr>
          <p:cNvPr id="384" name="Google Shape;384;p3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ctr">
              <a:spcBef>
                <a:spcPts val="0"/>
              </a:spcBef>
              <a:spcAft>
                <a:spcPts val="3600"/>
              </a:spcAft>
              <a:buSzPts val="2400"/>
              <a:buNone/>
            </a:pPr>
            <a:r>
              <a:rPr lang="en-US" dirty="0">
                <a:solidFill>
                  <a:schemeClr val="accent1"/>
                </a:solidFill>
              </a:rPr>
              <a:t>What is a</a:t>
            </a:r>
            <a:r>
              <a:rPr lang="en-US" b="1" dirty="0">
                <a:solidFill>
                  <a:schemeClr val="accent1"/>
                </a:solidFill>
              </a:rPr>
              <a:t> pyrometer </a:t>
            </a:r>
            <a:r>
              <a:rPr lang="en-US" dirty="0">
                <a:solidFill>
                  <a:schemeClr val="accent1"/>
                </a:solidFill>
              </a:rPr>
              <a:t>and what does it measure?</a:t>
            </a:r>
          </a:p>
          <a:p>
            <a:pPr marL="0" lvl="0" indent="0" algn="ctr">
              <a:spcBef>
                <a:spcPts val="0"/>
              </a:spcBef>
              <a:spcAft>
                <a:spcPts val="0"/>
              </a:spcAft>
              <a:buNone/>
            </a:pPr>
            <a:r>
              <a:rPr lang="en-US" b="1" dirty="0">
                <a:solidFill>
                  <a:schemeClr val="accent1"/>
                </a:solidFill>
              </a:rPr>
              <a:t>Answer</a:t>
            </a:r>
            <a:r>
              <a:rPr lang="en-US" dirty="0">
                <a:solidFill>
                  <a:schemeClr val="accent1"/>
                </a:solidFill>
              </a:rPr>
              <a:t>: A pyrometer is an electronic device that measures temperature.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Brake System Tools (1 of 2)</a:t>
            </a:r>
            <a:endParaRPr dirty="0"/>
          </a:p>
        </p:txBody>
      </p:sp>
      <p:sp>
        <p:nvSpPr>
          <p:cNvPr id="145" name="Google Shape;145;p4"/>
          <p:cNvSpPr txBox="1">
            <a:spLocks noGrp="1"/>
          </p:cNvSpPr>
          <p:nvPr>
            <p:ph type="body" idx="1"/>
          </p:nvPr>
        </p:nvSpPr>
        <p:spPr>
          <a:xfrm>
            <a:off x="476843" y="1508124"/>
            <a:ext cx="6776573" cy="4571399"/>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400" dirty="0"/>
              <a:t>Brake disc micrometer</a:t>
            </a:r>
          </a:p>
          <a:p>
            <a:pPr>
              <a:spcAft>
                <a:spcPts val="600"/>
              </a:spcAft>
              <a:buSzPct val="100000"/>
            </a:pPr>
            <a:r>
              <a:rPr lang="en-US" sz="2400" dirty="0"/>
              <a:t>A special micrometer is used to accurately check the thickness of a brake rotor.</a:t>
            </a:r>
          </a:p>
          <a:p>
            <a:pPr>
              <a:spcAft>
                <a:spcPts val="600"/>
              </a:spcAft>
              <a:buSzPct val="100000"/>
            </a:pPr>
            <a:r>
              <a:rPr lang="en-US" sz="2400" dirty="0"/>
              <a:t>A brake disc micrometer has pointed anvils that allow the tip to fit into grooves worn on the rotor.</a:t>
            </a:r>
          </a:p>
          <a:p>
            <a:pPr>
              <a:spcAft>
                <a:spcPts val="600"/>
              </a:spcAft>
              <a:buSzPct val="100000"/>
            </a:pPr>
            <a:r>
              <a:rPr lang="en-US" sz="2400" dirty="0"/>
              <a:t>This type of micrometer is read in the same way as other micrometers but it is made with a range from 0.200 to 1,100 inches.</a:t>
            </a:r>
          </a:p>
        </p:txBody>
      </p:sp>
      <p:pic>
        <p:nvPicPr>
          <p:cNvPr id="7" name="Picture Placeholder 6" descr="A special brake disc micrometer."/>
          <p:cNvPicPr>
            <a:picLocks noGrp="1" noChangeAspect="1"/>
          </p:cNvPicPr>
          <p:nvPr>
            <p:ph type="pic" idx="2"/>
          </p:nvPr>
        </p:nvPicPr>
        <p:blipFill>
          <a:blip r:embed="rId3"/>
          <a:srcRect b="14107"/>
          <a:stretch/>
        </p:blipFill>
        <p:spPr>
          <a:xfrm>
            <a:off x="7214595" y="2099468"/>
            <a:ext cx="4714875" cy="2924816"/>
          </a:xfrm>
          <a:prstGeom prst="rect">
            <a:avLst/>
          </a:prstGeom>
        </p:spPr>
      </p:pic>
    </p:spTree>
    <p:extLst>
      <p:ext uri="{BB962C8B-B14F-4D97-AF65-F5344CB8AC3E}">
        <p14:creationId xmlns:p14="http://schemas.microsoft.com/office/powerpoint/2010/main" val="40540097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Brake System Tools (2 of 2)</a:t>
            </a:r>
            <a:endParaRPr dirty="0"/>
          </a:p>
        </p:txBody>
      </p:sp>
      <p:sp>
        <p:nvSpPr>
          <p:cNvPr id="145" name="Google Shape;145;p4"/>
          <p:cNvSpPr txBox="1">
            <a:spLocks noGrp="1"/>
          </p:cNvSpPr>
          <p:nvPr>
            <p:ph type="body" idx="1"/>
          </p:nvPr>
        </p:nvSpPr>
        <p:spPr>
          <a:xfrm>
            <a:off x="476843" y="1508125"/>
            <a:ext cx="8370595" cy="4523842"/>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t>Drum Brake Adjusting Tools</a:t>
            </a:r>
          </a:p>
          <a:p>
            <a:pPr>
              <a:spcAft>
                <a:spcPts val="600"/>
              </a:spcAft>
              <a:buSzPct val="100000"/>
            </a:pPr>
            <a:r>
              <a:rPr lang="en-US" dirty="0"/>
              <a:t>Although drum brakes have some type of </a:t>
            </a:r>
            <a:r>
              <a:rPr lang="en-US" dirty="0" err="1"/>
              <a:t>selfadjuster</a:t>
            </a:r>
            <a:r>
              <a:rPr lang="en-US" dirty="0"/>
              <a:t>, brake shoes still require an initial adjustment after they are installed.</a:t>
            </a:r>
          </a:p>
          <a:p>
            <a:pPr>
              <a:spcAft>
                <a:spcPts val="600"/>
              </a:spcAft>
              <a:buSzPct val="100000"/>
            </a:pPr>
            <a:r>
              <a:rPr lang="en-US" dirty="0"/>
              <a:t>The star wheel adjusters of many drum brakes can be adjusted with a flat-blade screwdriver. Brake-adjusting spoons and wire hooks designed for this specific purpose can make the job faster and easier.</a:t>
            </a:r>
          </a:p>
        </p:txBody>
      </p:sp>
      <p:pic>
        <p:nvPicPr>
          <p:cNvPr id="8" name="Picture Placeholder 7" descr="A technician uses a brake shoe-adjusting gauge or brake shoe caliper for a rough adjustment of brake shoes."/>
          <p:cNvPicPr>
            <a:picLocks noGrp="1" noChangeAspect="1"/>
          </p:cNvPicPr>
          <p:nvPr>
            <p:ph type="pic" idx="2"/>
          </p:nvPr>
        </p:nvPicPr>
        <p:blipFill>
          <a:blip r:embed="rId3"/>
          <a:srcRect b="6196"/>
          <a:stretch/>
        </p:blipFill>
        <p:spPr>
          <a:xfrm>
            <a:off x="9047819" y="1335346"/>
            <a:ext cx="2667338" cy="1963930"/>
          </a:xfrm>
          <a:prstGeom prst="rect">
            <a:avLst/>
          </a:prstGeom>
        </p:spPr>
      </p:pic>
      <p:pic>
        <p:nvPicPr>
          <p:cNvPr id="9" name="Picture Placeholder 8" descr="A technician uses a holddown spring tool that resembles a cross between a screwdriver and a nut driver."/>
          <p:cNvPicPr>
            <a:picLocks noGrp="1" noChangeAspect="1"/>
          </p:cNvPicPr>
          <p:nvPr>
            <p:ph type="pic" idx="3"/>
          </p:nvPr>
        </p:nvPicPr>
        <p:blipFill rotWithShape="1">
          <a:blip r:embed="rId4"/>
          <a:srcRect b="6952"/>
          <a:stretch/>
        </p:blipFill>
        <p:spPr>
          <a:xfrm>
            <a:off x="9047819" y="3558725"/>
            <a:ext cx="2500125" cy="2301302"/>
          </a:xfrm>
          <a:prstGeom prst="rect">
            <a:avLst/>
          </a:prstGeom>
        </p:spPr>
      </p:pic>
    </p:spTree>
    <p:extLst>
      <p:ext uri="{BB962C8B-B14F-4D97-AF65-F5344CB8AC3E}">
        <p14:creationId xmlns:p14="http://schemas.microsoft.com/office/powerpoint/2010/main" val="15500471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Other Brake </a:t>
            </a:r>
            <a:r>
              <a:rPr lang="en-US"/>
              <a:t>System Tools</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buSzPct val="100000"/>
            </a:pPr>
            <a:r>
              <a:rPr lang="en-US" dirty="0"/>
              <a:t>Boot Drivers, Rings, and Pliers </a:t>
            </a:r>
          </a:p>
          <a:p>
            <a:pPr>
              <a:buSzPct val="100000"/>
            </a:pPr>
            <a:r>
              <a:rPr lang="en-US" dirty="0"/>
              <a:t>Tubing Tools</a:t>
            </a:r>
          </a:p>
          <a:p>
            <a:pPr>
              <a:buSzPct val="100000"/>
            </a:pPr>
            <a:r>
              <a:rPr lang="en-US" dirty="0"/>
              <a:t>Caliper Piston Removal Tools </a:t>
            </a:r>
          </a:p>
          <a:p>
            <a:pPr>
              <a:buSzPct val="100000"/>
            </a:pPr>
            <a:r>
              <a:rPr lang="en-US" dirty="0"/>
              <a:t>Brake Shoe Adjusting Gauge (Calipers)</a:t>
            </a:r>
          </a:p>
          <a:p>
            <a:pPr>
              <a:buSzPct val="100000"/>
            </a:pPr>
            <a:r>
              <a:rPr lang="en-US" dirty="0"/>
              <a:t>Brake Lathes</a:t>
            </a:r>
          </a:p>
        </p:txBody>
      </p:sp>
    </p:spTree>
    <p:extLst>
      <p:ext uri="{BB962C8B-B14F-4D97-AF65-F5344CB8AC3E}">
        <p14:creationId xmlns:p14="http://schemas.microsoft.com/office/powerpoint/2010/main" val="37613528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Heating and Air-Conditioning Tools (1 of 2)</a:t>
            </a:r>
            <a:endParaRPr dirty="0"/>
          </a:p>
        </p:txBody>
      </p:sp>
      <p:sp>
        <p:nvSpPr>
          <p:cNvPr id="145" name="Google Shape;145;p4"/>
          <p:cNvSpPr txBox="1">
            <a:spLocks noGrp="1"/>
          </p:cNvSpPr>
          <p:nvPr>
            <p:ph type="body" idx="1"/>
          </p:nvPr>
        </p:nvSpPr>
        <p:spPr>
          <a:xfrm>
            <a:off x="476844" y="1508124"/>
            <a:ext cx="7245620" cy="4571399"/>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400" dirty="0"/>
              <a:t>Manifold Gauge Set</a:t>
            </a:r>
          </a:p>
          <a:p>
            <a:pPr lvl="1">
              <a:spcAft>
                <a:spcPts val="600"/>
              </a:spcAft>
              <a:buSzPct val="100000"/>
            </a:pPr>
            <a:r>
              <a:rPr lang="en-US" sz="2200" dirty="0"/>
              <a:t>It is used when discharging, charging, evacuating, and diagnosing an A/C system.</a:t>
            </a:r>
          </a:p>
          <a:p>
            <a:pPr lvl="1">
              <a:spcAft>
                <a:spcPts val="600"/>
              </a:spcAft>
              <a:buSzPct val="100000"/>
            </a:pPr>
            <a:r>
              <a:rPr lang="en-US" sz="2200" dirty="0"/>
              <a:t>The low-pressure gauge is graduated into pounds of pressure from 1 to 120 (with cushion to 250) in 1-pound graduations, and, in the opposite direction, in inches of vacuum from 0 to 30.</a:t>
            </a:r>
          </a:p>
          <a:p>
            <a:pPr lvl="1">
              <a:spcAft>
                <a:spcPts val="600"/>
              </a:spcAft>
              <a:buSzPct val="100000"/>
            </a:pPr>
            <a:r>
              <a:rPr lang="en-US" sz="2200" dirty="0"/>
              <a:t>The high-pressure gauge is graduated from 0 to 500 pounds pressure in 10-pound graduations.</a:t>
            </a:r>
          </a:p>
        </p:txBody>
      </p:sp>
      <p:pic>
        <p:nvPicPr>
          <p:cNvPr id="7" name="Picture Placeholder 6" descr="A manifold gauge set has two gauges with two differently colored knobs to control the pressure.">
            <a:extLst>
              <a:ext uri="{FF2B5EF4-FFF2-40B4-BE49-F238E27FC236}">
                <a16:creationId xmlns:a16="http://schemas.microsoft.com/office/drawing/2014/main" id="{657AD274-1544-8525-9B27-6EB21B36362F}"/>
              </a:ext>
            </a:extLst>
          </p:cNvPr>
          <p:cNvPicPr>
            <a:picLocks noGrp="1" noChangeAspect="1"/>
          </p:cNvPicPr>
          <p:nvPr>
            <p:ph type="pic" idx="2"/>
          </p:nvPr>
        </p:nvPicPr>
        <p:blipFill>
          <a:blip r:embed="rId3"/>
          <a:srcRect b="8609"/>
          <a:stretch/>
        </p:blipFill>
        <p:spPr>
          <a:xfrm>
            <a:off x="7841216" y="2289990"/>
            <a:ext cx="3992694" cy="2940772"/>
          </a:xfrm>
          <a:prstGeom prst="rect">
            <a:avLst/>
          </a:prstGeom>
        </p:spPr>
      </p:pic>
    </p:spTree>
    <p:extLst>
      <p:ext uri="{BB962C8B-B14F-4D97-AF65-F5344CB8AC3E}">
        <p14:creationId xmlns:p14="http://schemas.microsoft.com/office/powerpoint/2010/main" val="7040140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Heating and Air-Conditioning Tools (2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buSzPct val="100000"/>
            </a:pPr>
            <a:r>
              <a:rPr lang="en-US" sz="2400" dirty="0"/>
              <a:t>Electronic Leak Detector</a:t>
            </a:r>
          </a:p>
          <a:p>
            <a:pPr lvl="1">
              <a:buSzPct val="100000"/>
            </a:pPr>
            <a:r>
              <a:rPr lang="en-US" sz="2200" dirty="0"/>
              <a:t>It is safe and effective and can be used with all types of refrigerants.</a:t>
            </a:r>
          </a:p>
          <a:p>
            <a:pPr>
              <a:buSzPct val="100000"/>
            </a:pPr>
            <a:r>
              <a:rPr lang="en-US" sz="2400" dirty="0"/>
              <a:t>Fluorescent Leak Tracer</a:t>
            </a:r>
          </a:p>
          <a:p>
            <a:pPr lvl="1">
              <a:buSzPct val="100000"/>
            </a:pPr>
            <a:r>
              <a:rPr lang="en-US" sz="2200" dirty="0"/>
              <a:t>To find a refrigerant leak using the fluorescent tracer system, a fluorescent dye is introduced into the air-conditioning system with a special infuser included with the detector equipment.</a:t>
            </a:r>
          </a:p>
          <a:p>
            <a:pPr>
              <a:buSzPct val="100000"/>
            </a:pPr>
            <a:r>
              <a:rPr lang="en-US" sz="2400" dirty="0"/>
              <a:t>Refrigerant Identifier</a:t>
            </a:r>
          </a:p>
          <a:p>
            <a:pPr lvl="1">
              <a:buSzPct val="100000"/>
            </a:pPr>
            <a:r>
              <a:rPr lang="en-US" sz="2200" dirty="0"/>
              <a:t>It is used to identify the type of refrigerant present in a system. This test should be done before any service work.</a:t>
            </a:r>
          </a:p>
        </p:txBody>
      </p:sp>
    </p:spTree>
    <p:extLst>
      <p:ext uri="{BB962C8B-B14F-4D97-AF65-F5344CB8AC3E}">
        <p14:creationId xmlns:p14="http://schemas.microsoft.com/office/powerpoint/2010/main" val="7849692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Other Heating and Air-Conditioning Tools</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buSzPct val="100000"/>
            </a:pPr>
            <a:r>
              <a:rPr lang="en-US" dirty="0"/>
              <a:t>Bleeding Tools</a:t>
            </a:r>
          </a:p>
          <a:p>
            <a:pPr>
              <a:buSzPct val="100000"/>
            </a:pPr>
            <a:r>
              <a:rPr lang="en-US" dirty="0"/>
              <a:t>Bleeder Screw Wrenches</a:t>
            </a:r>
          </a:p>
          <a:p>
            <a:pPr>
              <a:buSzPct val="100000"/>
            </a:pPr>
            <a:r>
              <a:rPr lang="en-US" dirty="0"/>
              <a:t>Sealant Detection Kit</a:t>
            </a:r>
          </a:p>
          <a:p>
            <a:pPr>
              <a:buSzPct val="100000"/>
            </a:pPr>
            <a:r>
              <a:rPr lang="en-US" dirty="0"/>
              <a:t>Compressor tools</a:t>
            </a:r>
          </a:p>
          <a:p>
            <a:pPr>
              <a:buSzPct val="100000"/>
            </a:pPr>
            <a:r>
              <a:rPr lang="en-US" dirty="0"/>
              <a:t>Refrigerant Recycling/Charging Stations</a:t>
            </a:r>
          </a:p>
          <a:p>
            <a:pPr>
              <a:buSzPct val="100000"/>
            </a:pPr>
            <a:r>
              <a:rPr lang="en-US" dirty="0"/>
              <a:t>Thermometer</a:t>
            </a:r>
          </a:p>
          <a:p>
            <a:pPr>
              <a:buSzPct val="100000"/>
            </a:pPr>
            <a:r>
              <a:rPr lang="en-US" dirty="0"/>
              <a:t>Hose and Fitting Tools</a:t>
            </a:r>
          </a:p>
        </p:txBody>
      </p:sp>
    </p:spTree>
    <p:extLst>
      <p:ext uri="{BB962C8B-B14F-4D97-AF65-F5344CB8AC3E}">
        <p14:creationId xmlns:p14="http://schemas.microsoft.com/office/powerpoint/2010/main" val="14335500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Chapter Reflection</a:t>
            </a:r>
            <a:endParaRPr/>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buNone/>
            </a:pPr>
            <a:r>
              <a:rPr lang="en-US" dirty="0">
                <a:solidFill>
                  <a:schemeClr val="accent1"/>
                </a:solidFill>
              </a:rPr>
              <a:t>Please take a moment to compare your perception of the automotive industry before and after you studied this chapter. Then respond to the following questions in one or two paragraphs. Use 150–200 words in your reflection.</a:t>
            </a:r>
            <a:endParaRPr dirty="0">
              <a:solidFill>
                <a:schemeClr val="accent1"/>
              </a:solidFill>
            </a:endParaRPr>
          </a:p>
          <a:p>
            <a:pPr marL="360363" lvl="0" indent="-360363" algn="l" rtl="0">
              <a:lnSpc>
                <a:spcPct val="100000"/>
              </a:lnSpc>
              <a:buSzPct val="100000"/>
              <a:buFont typeface="Arial"/>
              <a:buChar char="•"/>
            </a:pPr>
            <a:r>
              <a:rPr lang="en-US" dirty="0">
                <a:solidFill>
                  <a:schemeClr val="accent1"/>
                </a:solidFill>
              </a:rPr>
              <a:t>Did seeing the large number of different tools commonly used in automotive surprise you?</a:t>
            </a:r>
            <a:endParaRPr dirty="0">
              <a:solidFill>
                <a:schemeClr val="accent1"/>
              </a:solidFill>
            </a:endParaRPr>
          </a:p>
          <a:p>
            <a:pPr marL="360363" lvl="0" indent="-360363" algn="l" rtl="0">
              <a:lnSpc>
                <a:spcPct val="100000"/>
              </a:lnSpc>
              <a:buSzPct val="100000"/>
              <a:buFont typeface="Arial"/>
              <a:buChar char="•"/>
            </a:pPr>
            <a:r>
              <a:rPr lang="en-US" dirty="0">
                <a:solidFill>
                  <a:schemeClr val="accent1"/>
                </a:solidFill>
              </a:rPr>
              <a:t>Considering that you have briefly discussed many of them, how do you plan to become familiar with each of these tools and equipment so you can be successful in your career?</a:t>
            </a:r>
            <a:endParaRPr dirty="0">
              <a:solidFill>
                <a:schemeClr val="accent1"/>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1067</TotalTime>
  <Words>2962</Words>
  <Application>Microsoft Office PowerPoint</Application>
  <PresentationFormat>Widescreen</PresentationFormat>
  <Paragraphs>263</Paragraphs>
  <Slides>46</Slides>
  <Notes>46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Work Sans</vt:lpstr>
      <vt:lpstr>Arial</vt:lpstr>
      <vt:lpstr>Calibri</vt:lpstr>
      <vt:lpstr>Optimized Template Master</vt:lpstr>
      <vt:lpstr>Automotive Technology:  A Systems Approach, 8e</vt:lpstr>
      <vt:lpstr>Chapter Objectives (1 of 2)</vt:lpstr>
      <vt:lpstr>Chapter Objectives (2 of 2)</vt:lpstr>
      <vt:lpstr>Compression Tester</vt:lpstr>
      <vt:lpstr>Cylinder Leakage Tester </vt:lpstr>
      <vt:lpstr>Stethoscope</vt:lpstr>
      <vt:lpstr>Piston Ring Compressor</vt:lpstr>
      <vt:lpstr>Cylinder Hone and Deglazer</vt:lpstr>
      <vt:lpstr>Valve Spring Compressor</vt:lpstr>
      <vt:lpstr>Cooling System Pressure Tester</vt:lpstr>
      <vt:lpstr>Coolant Hydrometer and Refractometer</vt:lpstr>
      <vt:lpstr>Other Engine Repair Tools</vt:lpstr>
      <vt:lpstr>Discussion</vt:lpstr>
      <vt:lpstr>Circuit Tester</vt:lpstr>
      <vt:lpstr>Multimeters</vt:lpstr>
      <vt:lpstr>Volt/Ampere Tester</vt:lpstr>
      <vt:lpstr>Lab Scopes</vt:lpstr>
      <vt:lpstr>Other Electrical/Electronic System Tools </vt:lpstr>
      <vt:lpstr>Scan Tools</vt:lpstr>
      <vt:lpstr>Fuel Pressure Gauge</vt:lpstr>
      <vt:lpstr>Knowledge Check (1 of 2)</vt:lpstr>
      <vt:lpstr>Knowledge Check Answer (1 of 2)</vt:lpstr>
      <vt:lpstr>Pressure Transducer</vt:lpstr>
      <vt:lpstr>Injector Balance Tester</vt:lpstr>
      <vt:lpstr>Vacuum Gauge</vt:lpstr>
      <vt:lpstr>Pyrometers</vt:lpstr>
      <vt:lpstr>Spark Plug Sockets</vt:lpstr>
      <vt:lpstr>Chassis Dynamometer</vt:lpstr>
      <vt:lpstr>Other Pressure Transducers</vt:lpstr>
      <vt:lpstr>Transmission and Driveline Tools (1 of 2)</vt:lpstr>
      <vt:lpstr>Transmission and Driveline Tools (2 of 2)</vt:lpstr>
      <vt:lpstr>Other Transmission and Driveline Tools</vt:lpstr>
      <vt:lpstr>Suspension and Steering Tools (1 of 4)</vt:lpstr>
      <vt:lpstr>Suspension and Steering Tools (2 of 4)</vt:lpstr>
      <vt:lpstr>Suspension and Steering Tools (3 of 4)</vt:lpstr>
      <vt:lpstr>Suspension and Steering Tools (4 of 4)</vt:lpstr>
      <vt:lpstr>Other Suspension and Steering Tools</vt:lpstr>
      <vt:lpstr>Knowledge Check (2 of 2)</vt:lpstr>
      <vt:lpstr>Knowledge Check Answer (2 of 2)</vt:lpstr>
      <vt:lpstr>Brake System Tools (1 of 2)</vt:lpstr>
      <vt:lpstr>Brake System Tools (2 of 2)</vt:lpstr>
      <vt:lpstr>Other Brake System Tools</vt:lpstr>
      <vt:lpstr>Heating and Air-Conditioning Tools (1 of 2)</vt:lpstr>
      <vt:lpstr>Heating and Air-Conditioning Tools (2 of 2)</vt:lpstr>
      <vt:lpstr>Other Heating and Air-Conditioning Tools</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dc:title>
  <dc:creator>Owner</dc:creator>
  <cp:lastModifiedBy>Muthukrishnan, Keerthi -</cp:lastModifiedBy>
  <cp:revision>95</cp:revision>
  <dcterms:created xsi:type="dcterms:W3CDTF">2021-12-10T16:21:02Z</dcterms:created>
  <dcterms:modified xsi:type="dcterms:W3CDTF">2024-10-18T14:20:41Z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