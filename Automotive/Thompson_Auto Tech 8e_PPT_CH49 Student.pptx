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757" r:id="rId2"/>
    <p:sldMasterId id="2147483770" r:id="rId3"/>
    <p:sldMasterId id="2147483810" r:id="rId4"/>
    <p:sldMasterId id="2147483788" r:id="rId5"/>
  </p:sldMasterIdLst>
  <p:notesMasterIdLst>
    <p:notesMasterId r:id="rId57"/>
  </p:notesMasterIdLst>
  <p:sldIdLst>
    <p:sldId id="341" r:id="rId6"/>
    <p:sldId id="316" r:id="rId7"/>
    <p:sldId id="342" r:id="rId8"/>
    <p:sldId id="343" r:id="rId9"/>
    <p:sldId id="258" r:id="rId10"/>
    <p:sldId id="259" r:id="rId11"/>
    <p:sldId id="260" r:id="rId12"/>
    <p:sldId id="262" r:id="rId13"/>
    <p:sldId id="263" r:id="rId14"/>
    <p:sldId id="265" r:id="rId15"/>
    <p:sldId id="266" r:id="rId16"/>
    <p:sldId id="268" r:id="rId17"/>
    <p:sldId id="269" r:id="rId18"/>
    <p:sldId id="271" r:id="rId19"/>
    <p:sldId id="272" r:id="rId20"/>
    <p:sldId id="274" r:id="rId21"/>
    <p:sldId id="275" r:id="rId22"/>
    <p:sldId id="276" r:id="rId23"/>
    <p:sldId id="278" r:id="rId24"/>
    <p:sldId id="281" r:id="rId25"/>
    <p:sldId id="283" r:id="rId26"/>
    <p:sldId id="285" r:id="rId27"/>
    <p:sldId id="344" r:id="rId28"/>
    <p:sldId id="286" r:id="rId29"/>
    <p:sldId id="287" r:id="rId30"/>
    <p:sldId id="289" r:id="rId31"/>
    <p:sldId id="290" r:id="rId32"/>
    <p:sldId id="291" r:id="rId33"/>
    <p:sldId id="292" r:id="rId34"/>
    <p:sldId id="293" r:id="rId35"/>
    <p:sldId id="350" r:id="rId36"/>
    <p:sldId id="294" r:id="rId37"/>
    <p:sldId id="297" r:id="rId38"/>
    <p:sldId id="298" r:id="rId39"/>
    <p:sldId id="299" r:id="rId40"/>
    <p:sldId id="345" r:id="rId41"/>
    <p:sldId id="300" r:id="rId42"/>
    <p:sldId id="301" r:id="rId43"/>
    <p:sldId id="302" r:id="rId44"/>
    <p:sldId id="303" r:id="rId45"/>
    <p:sldId id="304" r:id="rId46"/>
    <p:sldId id="346" r:id="rId47"/>
    <p:sldId id="347" r:id="rId48"/>
    <p:sldId id="307" r:id="rId49"/>
    <p:sldId id="348" r:id="rId50"/>
    <p:sldId id="310" r:id="rId51"/>
    <p:sldId id="311" r:id="rId52"/>
    <p:sldId id="312" r:id="rId53"/>
    <p:sldId id="313" r:id="rId54"/>
    <p:sldId id="349" r:id="rId55"/>
    <p:sldId id="334"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B64EE4-6BE9-4949-A290-11063E3F4B35}" v="23" dt="2024-11-22T17:05:50.0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08" autoAdjust="0"/>
    <p:restoredTop sz="86331" autoAdjust="0"/>
  </p:normalViewPr>
  <p:slideViewPr>
    <p:cSldViewPr snapToGrid="0" snapToObjects="1" showGuides="1">
      <p:cViewPr varScale="1">
        <p:scale>
          <a:sx n="64" d="100"/>
          <a:sy n="64" d="100"/>
        </p:scale>
        <p:origin x="872" y="40"/>
      </p:cViewPr>
      <p:guideLst>
        <p:guide orient="horz" pos="168"/>
        <p:guide pos="38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notesMaster" Target="notesMasters/notes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gopal Loganathan" userId="EaSm3crqCl59iHUciktDee7zyU+rF3MDLbCEjhOn3WE=" providerId="None" clId="Web-{5AB64EE4-6BE9-4949-A290-11063E3F4B35}"/>
    <pc:docChg chg="modSld">
      <pc:chgData name="venugopal Loganathan" userId="EaSm3crqCl59iHUciktDee7zyU+rF3MDLbCEjhOn3WE=" providerId="None" clId="Web-{5AB64EE4-6BE9-4949-A290-11063E3F4B35}" dt="2024-11-22T17:05:49.191" v="19" actId="20577"/>
      <pc:docMkLst>
        <pc:docMk/>
      </pc:docMkLst>
      <pc:sldChg chg="modSp">
        <pc:chgData name="venugopal Loganathan" userId="EaSm3crqCl59iHUciktDee7zyU+rF3MDLbCEjhOn3WE=" providerId="None" clId="Web-{5AB64EE4-6BE9-4949-A290-11063E3F4B35}" dt="2024-11-22T17:05:27.456" v="4" actId="20577"/>
        <pc:sldMkLst>
          <pc:docMk/>
          <pc:sldMk cId="436246106" sldId="316"/>
        </pc:sldMkLst>
        <pc:spChg chg="mod">
          <ac:chgData name="venugopal Loganathan" userId="EaSm3crqCl59iHUciktDee7zyU+rF3MDLbCEjhOn3WE=" providerId="None" clId="Web-{5AB64EE4-6BE9-4949-A290-11063E3F4B35}" dt="2024-11-22T17:05:27.456" v="4" actId="20577"/>
          <ac:spMkLst>
            <pc:docMk/>
            <pc:sldMk cId="436246106" sldId="316"/>
            <ac:spMk id="3" creationId="{AE95060B-9418-4259-76DB-796FEFB4955F}"/>
          </ac:spMkLst>
        </pc:spChg>
      </pc:sldChg>
      <pc:sldChg chg="modSp">
        <pc:chgData name="venugopal Loganathan" userId="EaSm3crqCl59iHUciktDee7zyU+rF3MDLbCEjhOn3WE=" providerId="None" clId="Web-{5AB64EE4-6BE9-4949-A290-11063E3F4B35}" dt="2024-11-22T17:05:38.253" v="12" actId="20577"/>
        <pc:sldMkLst>
          <pc:docMk/>
          <pc:sldMk cId="723453817" sldId="342"/>
        </pc:sldMkLst>
        <pc:spChg chg="mod">
          <ac:chgData name="venugopal Loganathan" userId="EaSm3crqCl59iHUciktDee7zyU+rF3MDLbCEjhOn3WE=" providerId="None" clId="Web-{5AB64EE4-6BE9-4949-A290-11063E3F4B35}" dt="2024-11-22T17:05:38.253" v="12" actId="20577"/>
          <ac:spMkLst>
            <pc:docMk/>
            <pc:sldMk cId="723453817" sldId="342"/>
            <ac:spMk id="3" creationId="{AE95060B-9418-4259-76DB-796FEFB4955F}"/>
          </ac:spMkLst>
        </pc:spChg>
      </pc:sldChg>
      <pc:sldChg chg="modSp">
        <pc:chgData name="venugopal Loganathan" userId="EaSm3crqCl59iHUciktDee7zyU+rF3MDLbCEjhOn3WE=" providerId="None" clId="Web-{5AB64EE4-6BE9-4949-A290-11063E3F4B35}" dt="2024-11-22T17:05:49.191" v="19" actId="20577"/>
        <pc:sldMkLst>
          <pc:docMk/>
          <pc:sldMk cId="1967873771" sldId="343"/>
        </pc:sldMkLst>
        <pc:spChg chg="mod">
          <ac:chgData name="venugopal Loganathan" userId="EaSm3crqCl59iHUciktDee7zyU+rF3MDLbCEjhOn3WE=" providerId="None" clId="Web-{5AB64EE4-6BE9-4949-A290-11063E3F4B35}" dt="2024-11-22T17:05:49.191" v="19" actId="20577"/>
          <ac:spMkLst>
            <pc:docMk/>
            <pc:sldMk cId="1967873771" sldId="343"/>
            <ac:spMk id="3" creationId="{AE95060B-9418-4259-76DB-796FEFB4955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11/22/2024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381000" y="685800"/>
            <a:ext cx="6096000" cy="3429000"/>
          </a:xfrm>
          <a:ln/>
        </p:spPr>
      </p:sp>
      <p:sp>
        <p:nvSpPr>
          <p:cNvPr id="4608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023456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381000" y="685800"/>
            <a:ext cx="6096000" cy="3429000"/>
          </a:xfrm>
          <a:ln/>
        </p:spPr>
      </p:sp>
      <p:sp>
        <p:nvSpPr>
          <p:cNvPr id="4813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557486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a:ln/>
        </p:spPr>
      </p:sp>
      <p:sp>
        <p:nvSpPr>
          <p:cNvPr id="4915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593537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381000" y="685800"/>
            <a:ext cx="6096000" cy="3429000"/>
          </a:xfrm>
          <a:ln/>
        </p:spPr>
      </p:sp>
      <p:sp>
        <p:nvSpPr>
          <p:cNvPr id="5017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134021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381000" y="685800"/>
            <a:ext cx="6096000" cy="3429000"/>
          </a:xfrm>
          <a:ln/>
        </p:spPr>
      </p:sp>
      <p:sp>
        <p:nvSpPr>
          <p:cNvPr id="5120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444005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381000" y="685800"/>
            <a:ext cx="6096000" cy="3429000"/>
          </a:xfrm>
          <a:ln/>
        </p:spPr>
      </p:sp>
      <p:sp>
        <p:nvSpPr>
          <p:cNvPr id="5222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53608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381000" y="685800"/>
            <a:ext cx="6096000" cy="3429000"/>
          </a:xfrm>
          <a:ln/>
        </p:spPr>
      </p:sp>
      <p:sp>
        <p:nvSpPr>
          <p:cNvPr id="5325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85872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381000" y="685800"/>
            <a:ext cx="6096000" cy="3429000"/>
          </a:xfrm>
          <a:ln/>
        </p:spPr>
      </p:sp>
      <p:sp>
        <p:nvSpPr>
          <p:cNvPr id="5427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521737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381000" y="685800"/>
            <a:ext cx="6096000" cy="3429000"/>
          </a:xfrm>
          <a:ln/>
        </p:spPr>
      </p:sp>
      <p:sp>
        <p:nvSpPr>
          <p:cNvPr id="5529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636507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381000" y="685800"/>
            <a:ext cx="6096000" cy="3429000"/>
          </a:xfrm>
          <a:ln/>
        </p:spPr>
      </p:sp>
      <p:sp>
        <p:nvSpPr>
          <p:cNvPr id="5632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242157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381000" y="685800"/>
            <a:ext cx="6096000" cy="3429000"/>
          </a:xfrm>
          <a:ln/>
        </p:spPr>
      </p:sp>
      <p:sp>
        <p:nvSpPr>
          <p:cNvPr id="5734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545286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381000" y="685800"/>
            <a:ext cx="6096000" cy="3429000"/>
          </a:xfrm>
          <a:ln/>
        </p:spPr>
      </p:sp>
      <p:sp>
        <p:nvSpPr>
          <p:cNvPr id="5837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284803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381000" y="685800"/>
            <a:ext cx="6096000" cy="3429000"/>
          </a:xfrm>
          <a:ln/>
        </p:spPr>
      </p:sp>
      <p:sp>
        <p:nvSpPr>
          <p:cNvPr id="5939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748176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381000" y="685800"/>
            <a:ext cx="6096000" cy="3429000"/>
          </a:xfrm>
          <a:ln/>
        </p:spPr>
      </p:sp>
      <p:sp>
        <p:nvSpPr>
          <p:cNvPr id="614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649974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E60BF7-1CD7-49A8-B577-3BD79EFC9E2E}" type="slidenum">
              <a:rPr lang="en-US" smtClean="0"/>
              <a:pPr/>
              <a:t>22</a:t>
            </a:fld>
            <a:endParaRPr lang="en-US" dirty="0"/>
          </a:p>
        </p:txBody>
      </p:sp>
    </p:spTree>
    <p:extLst>
      <p:ext uri="{BB962C8B-B14F-4D97-AF65-F5344CB8AC3E}">
        <p14:creationId xmlns:p14="http://schemas.microsoft.com/office/powerpoint/2010/main" val="16028524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E60BF7-1CD7-49A8-B577-3BD79EFC9E2E}" type="slidenum">
              <a:rPr lang="en-US" smtClean="0"/>
              <a:pPr/>
              <a:t>23</a:t>
            </a:fld>
            <a:endParaRPr lang="en-US" dirty="0"/>
          </a:p>
        </p:txBody>
      </p:sp>
    </p:spTree>
    <p:extLst>
      <p:ext uri="{BB962C8B-B14F-4D97-AF65-F5344CB8AC3E}">
        <p14:creationId xmlns:p14="http://schemas.microsoft.com/office/powerpoint/2010/main" val="22392923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381000" y="685800"/>
            <a:ext cx="6096000" cy="3429000"/>
          </a:xfrm>
          <a:ln/>
        </p:spPr>
      </p:sp>
      <p:sp>
        <p:nvSpPr>
          <p:cNvPr id="6553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38655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381000" y="685800"/>
            <a:ext cx="6096000" cy="3429000"/>
          </a:xfrm>
          <a:ln/>
        </p:spPr>
      </p:sp>
      <p:sp>
        <p:nvSpPr>
          <p:cNvPr id="6656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7767464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381000" y="685800"/>
            <a:ext cx="6096000" cy="3429000"/>
          </a:xfrm>
          <a:ln/>
        </p:spPr>
      </p:sp>
      <p:sp>
        <p:nvSpPr>
          <p:cNvPr id="6758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73301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4FB848AC-90BE-4C9A-B772-B29EC5BFEFC7}" type="slidenum">
              <a:rPr lang="en-US" smtClean="0"/>
              <a:pPr/>
              <a:t>30</a:t>
            </a:fld>
            <a:endParaRPr lang="en-US" dirty="0"/>
          </a:p>
        </p:txBody>
      </p:sp>
      <p:sp>
        <p:nvSpPr>
          <p:cNvPr id="68611" name="Rectangle 2"/>
          <p:cNvSpPr>
            <a:spLocks noGrp="1" noRot="1" noChangeAspect="1" noChangeArrowheads="1" noTextEdit="1"/>
          </p:cNvSpPr>
          <p:nvPr>
            <p:ph type="sldImg"/>
          </p:nvPr>
        </p:nvSpPr>
        <p:spPr>
          <a:xfrm>
            <a:off x="381000" y="685800"/>
            <a:ext cx="6096000" cy="3429000"/>
          </a:xfrm>
          <a:ln/>
        </p:spPr>
      </p:sp>
      <p:sp>
        <p:nvSpPr>
          <p:cNvPr id="68612" name="Rectangle 3"/>
          <p:cNvSpPr>
            <a:spLocks noGrp="1" noChangeArrowheads="1"/>
          </p:cNvSpPr>
          <p:nvPr>
            <p:ph type="body" idx="1"/>
          </p:nvPr>
        </p:nvSpPr>
        <p:spPr>
          <a:noFill/>
          <a:ln/>
        </p:spPr>
        <p:txBody>
          <a:bodyPr/>
          <a:lstStyle/>
          <a:p>
            <a:r>
              <a:rPr lang="en-US" dirty="0"/>
              <a:t>This was one slide</a:t>
            </a:r>
            <a:r>
              <a:rPr lang="en-US" sz="1200" kern="1200" dirty="0">
                <a:solidFill>
                  <a:schemeClr val="tx1"/>
                </a:solidFill>
                <a:effectLst/>
                <a:latin typeface="+mn-lt"/>
                <a:ea typeface="+mn-ea"/>
                <a:cs typeface="+mn-cs"/>
              </a:rPr>
              <a:t>—</a:t>
            </a:r>
            <a:r>
              <a:rPr lang="en-US" dirty="0"/>
              <a:t>split to two. Too crowded for this list.</a:t>
            </a:r>
          </a:p>
        </p:txBody>
      </p:sp>
    </p:spTree>
    <p:extLst>
      <p:ext uri="{BB962C8B-B14F-4D97-AF65-F5344CB8AC3E}">
        <p14:creationId xmlns:p14="http://schemas.microsoft.com/office/powerpoint/2010/main" val="20197646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381000" y="685800"/>
            <a:ext cx="6096000" cy="3429000"/>
          </a:xfrm>
          <a:ln/>
        </p:spPr>
      </p:sp>
      <p:sp>
        <p:nvSpPr>
          <p:cNvPr id="6963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6602561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381000" y="685800"/>
            <a:ext cx="6096000" cy="3429000"/>
          </a:xfrm>
          <a:ln/>
        </p:spPr>
      </p:sp>
      <p:sp>
        <p:nvSpPr>
          <p:cNvPr id="7168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946418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381000" y="685800"/>
            <a:ext cx="6096000" cy="3429000"/>
          </a:xfrm>
          <a:ln/>
        </p:spPr>
      </p:sp>
      <p:sp>
        <p:nvSpPr>
          <p:cNvPr id="727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36745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E60BF7-1CD7-49A8-B577-3BD79EFC9E2E}" type="slidenum">
              <a:rPr lang="en-US" smtClean="0"/>
              <a:pPr/>
              <a:t>35</a:t>
            </a:fld>
            <a:endParaRPr lang="en-US" dirty="0"/>
          </a:p>
        </p:txBody>
      </p:sp>
    </p:spTree>
    <p:extLst>
      <p:ext uri="{BB962C8B-B14F-4D97-AF65-F5344CB8AC3E}">
        <p14:creationId xmlns:p14="http://schemas.microsoft.com/office/powerpoint/2010/main" val="4304235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E60BF7-1CD7-49A8-B577-3BD79EFC9E2E}" type="slidenum">
              <a:rPr lang="en-US" smtClean="0"/>
              <a:pPr/>
              <a:t>36</a:t>
            </a:fld>
            <a:endParaRPr lang="en-US" dirty="0"/>
          </a:p>
        </p:txBody>
      </p:sp>
    </p:spTree>
    <p:extLst>
      <p:ext uri="{BB962C8B-B14F-4D97-AF65-F5344CB8AC3E}">
        <p14:creationId xmlns:p14="http://schemas.microsoft.com/office/powerpoint/2010/main" val="27026482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381000" y="685800"/>
            <a:ext cx="6096000" cy="3429000"/>
          </a:xfrm>
          <a:ln/>
        </p:spPr>
      </p:sp>
      <p:sp>
        <p:nvSpPr>
          <p:cNvPr id="7373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2295099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381000" y="685800"/>
            <a:ext cx="6096000" cy="3429000"/>
          </a:xfrm>
          <a:ln/>
        </p:spPr>
      </p:sp>
      <p:sp>
        <p:nvSpPr>
          <p:cNvPr id="7475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0925096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381000" y="685800"/>
            <a:ext cx="6096000" cy="3429000"/>
          </a:xfrm>
          <a:ln/>
        </p:spPr>
      </p:sp>
      <p:sp>
        <p:nvSpPr>
          <p:cNvPr id="7577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5956812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381000" y="685800"/>
            <a:ext cx="6096000" cy="3429000"/>
          </a:xfrm>
          <a:ln/>
        </p:spPr>
      </p:sp>
      <p:sp>
        <p:nvSpPr>
          <p:cNvPr id="7680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1997913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381000" y="685800"/>
            <a:ext cx="6096000" cy="3429000"/>
          </a:xfrm>
          <a:ln/>
        </p:spPr>
      </p:sp>
      <p:sp>
        <p:nvSpPr>
          <p:cNvPr id="7782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349707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381000" y="685800"/>
            <a:ext cx="6096000" cy="3429000"/>
          </a:xfrm>
          <a:ln/>
        </p:spPr>
      </p:sp>
      <p:sp>
        <p:nvSpPr>
          <p:cNvPr id="7782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2902989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381000" y="685800"/>
            <a:ext cx="6096000" cy="3429000"/>
          </a:xfrm>
          <a:ln/>
        </p:spPr>
      </p:sp>
      <p:sp>
        <p:nvSpPr>
          <p:cNvPr id="7782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8334260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381000" y="685800"/>
            <a:ext cx="6096000" cy="3429000"/>
          </a:xfrm>
          <a:ln/>
        </p:spPr>
      </p:sp>
      <p:sp>
        <p:nvSpPr>
          <p:cNvPr id="8089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7310022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381000" y="685800"/>
            <a:ext cx="6096000" cy="3429000"/>
          </a:xfrm>
          <a:ln/>
        </p:spPr>
      </p:sp>
      <p:sp>
        <p:nvSpPr>
          <p:cNvPr id="8089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8369393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381000" y="685800"/>
            <a:ext cx="6096000" cy="3429000"/>
          </a:xfrm>
          <a:ln/>
        </p:spPr>
      </p:sp>
      <p:sp>
        <p:nvSpPr>
          <p:cNvPr id="8397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999070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381000" y="685800"/>
            <a:ext cx="6096000" cy="3429000"/>
          </a:xfrm>
          <a:ln/>
        </p:spPr>
      </p:sp>
      <p:sp>
        <p:nvSpPr>
          <p:cNvPr id="8499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6516823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381000" y="685800"/>
            <a:ext cx="6096000" cy="3429000"/>
          </a:xfrm>
          <a:ln/>
        </p:spPr>
      </p:sp>
      <p:sp>
        <p:nvSpPr>
          <p:cNvPr id="860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605530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15306196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261189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76616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242892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76316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28950990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29997971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1601816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7110120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8201898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4250479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First Slide)">
  <p:cSld name="Title (First Slide)">
    <p:spTree>
      <p:nvGrpSpPr>
        <p:cNvPr id="1" name="Shape 15"/>
        <p:cNvGrpSpPr/>
        <p:nvPr/>
      </p:nvGrpSpPr>
      <p:grpSpPr>
        <a:xfrm>
          <a:off x="0" y="0"/>
          <a:ext cx="0" cy="0"/>
          <a:chOff x="0" y="0"/>
          <a:chExt cx="0" cy="0"/>
        </a:xfrm>
      </p:grpSpPr>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Tree>
    <p:extLst>
      <p:ext uri="{BB962C8B-B14F-4D97-AF65-F5344CB8AC3E}">
        <p14:creationId xmlns:p14="http://schemas.microsoft.com/office/powerpoint/2010/main" val="2362279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35430768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14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03262" lvl="1" indent="-342900"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ts val="192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32091865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1995943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20B94EA-E0FC-45F7-8A06-3CE9694ED2AD}" type="datetimeFigureOut">
              <a:rPr lang="en-US" smtClean="0"/>
              <a:pPr/>
              <a:t>11/22/2024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0E4ECC14-25A4-4E96-A863-D89966B2F4B2}" type="slidenum">
              <a:rPr lang="en-US" smtClean="0"/>
              <a:pPr/>
              <a:t>‹#›</a:t>
            </a:fld>
            <a:endParaRPr lang="en-US"/>
          </a:p>
        </p:txBody>
      </p:sp>
    </p:spTree>
    <p:extLst>
      <p:ext uri="{BB962C8B-B14F-4D97-AF65-F5344CB8AC3E}">
        <p14:creationId xmlns:p14="http://schemas.microsoft.com/office/powerpoint/2010/main" val="5099118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26224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0314314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41891599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812430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4012817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2347436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374336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5101315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89983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5870966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210245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8831977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
        <p:nvSpPr>
          <p:cNvPr id="5" name="Title 1"/>
          <p:cNvSpPr>
            <a:spLocks noGrp="1"/>
          </p:cNvSpPr>
          <p:nvPr>
            <p:ph type="title"/>
          </p:nvPr>
        </p:nvSpPr>
        <p:spPr>
          <a:xfrm>
            <a:off x="609600" y="274638"/>
            <a:ext cx="10972800" cy="1143000"/>
          </a:xfrm>
        </p:spPr>
        <p:txBody>
          <a:bodyPr/>
          <a:lstStyle/>
          <a:p>
            <a:r>
              <a:rPr lang="en-US"/>
              <a:t>Click to edit Master title style</a:t>
            </a:r>
          </a:p>
        </p:txBody>
      </p:sp>
      <p:sp>
        <p:nvSpPr>
          <p:cNvPr id="7" name="Content Placeholder 6"/>
          <p:cNvSpPr>
            <a:spLocks noGrp="1"/>
          </p:cNvSpPr>
          <p:nvPr>
            <p:ph sz="quarter" idx="13"/>
          </p:nvPr>
        </p:nvSpPr>
        <p:spPr>
          <a:xfrm>
            <a:off x="609600" y="1654176"/>
            <a:ext cx="10972800" cy="122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012017" y="3468689"/>
            <a:ext cx="1363133" cy="1277937"/>
          </a:xfrm>
        </p:spPr>
        <p:txBody>
          <a:bodyPr/>
          <a:lstStyle/>
          <a:p>
            <a:r>
              <a:rPr lang="en-US"/>
              <a:t>Click icon to add picture</a:t>
            </a:r>
          </a:p>
        </p:txBody>
      </p:sp>
      <p:sp>
        <p:nvSpPr>
          <p:cNvPr id="11" name="Picture Placeholder 10"/>
          <p:cNvSpPr>
            <a:spLocks noGrp="1"/>
          </p:cNvSpPr>
          <p:nvPr>
            <p:ph type="pic" sz="quarter" idx="15"/>
          </p:nvPr>
        </p:nvSpPr>
        <p:spPr>
          <a:xfrm>
            <a:off x="6794501" y="3281363"/>
            <a:ext cx="1231900" cy="1585912"/>
          </a:xfrm>
        </p:spPr>
        <p:txBody>
          <a:bodyPr/>
          <a:lstStyle/>
          <a:p>
            <a:r>
              <a:rPr lang="en-US"/>
              <a:t>Click icon to add picture</a:t>
            </a:r>
          </a:p>
        </p:txBody>
      </p:sp>
      <p:sp>
        <p:nvSpPr>
          <p:cNvPr id="13" name="Content Placeholder 12"/>
          <p:cNvSpPr>
            <a:spLocks noGrp="1"/>
          </p:cNvSpPr>
          <p:nvPr>
            <p:ph sz="quarter" idx="16"/>
          </p:nvPr>
        </p:nvSpPr>
        <p:spPr>
          <a:xfrm>
            <a:off x="609600" y="5068888"/>
            <a:ext cx="10972800" cy="887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43837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5269878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First Slide)" userDrawn="1">
  <p:cSld name="1_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924024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0914121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14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03262" lvl="1" indent="-342900"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ts val="192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5955251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14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257426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03262" lvl="1" indent="-342900"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ts val="192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D13E8102-57E0-8CB3-B966-289903DFADFC}"/>
              </a:ext>
            </a:extLst>
          </p:cNvPr>
          <p:cNvSpPr>
            <a:spLocks noGrp="1"/>
          </p:cNvSpPr>
          <p:nvPr>
            <p:ph sz="quarter" idx="10"/>
          </p:nvPr>
        </p:nvSpPr>
        <p:spPr>
          <a:xfrm>
            <a:off x="839788" y="447992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EE07E526-E85F-845E-7E6E-79045F57B454}"/>
              </a:ext>
            </a:extLst>
          </p:cNvPr>
          <p:cNvSpPr>
            <a:spLocks noGrp="1"/>
          </p:cNvSpPr>
          <p:nvPr>
            <p:ph type="pic" sz="quarter" idx="11"/>
          </p:nvPr>
        </p:nvSpPr>
        <p:spPr>
          <a:xfrm>
            <a:off x="2687638" y="4479925"/>
            <a:ext cx="914400" cy="914400"/>
          </a:xfrm>
        </p:spPr>
        <p:txBody>
          <a:bodyPr/>
          <a:lstStyle/>
          <a:p>
            <a:endParaRPr lang="en-IN"/>
          </a:p>
        </p:txBody>
      </p:sp>
      <p:sp>
        <p:nvSpPr>
          <p:cNvPr id="7" name="Picture Placeholder 6">
            <a:extLst>
              <a:ext uri="{FF2B5EF4-FFF2-40B4-BE49-F238E27FC236}">
                <a16:creationId xmlns:a16="http://schemas.microsoft.com/office/drawing/2014/main" id="{0D09B6B8-52B4-B4D8-8256-2557D2BDA084}"/>
              </a:ext>
            </a:extLst>
          </p:cNvPr>
          <p:cNvSpPr>
            <a:spLocks noGrp="1"/>
          </p:cNvSpPr>
          <p:nvPr>
            <p:ph type="pic" sz="quarter" idx="12"/>
          </p:nvPr>
        </p:nvSpPr>
        <p:spPr>
          <a:xfrm>
            <a:off x="4719638" y="4637088"/>
            <a:ext cx="914400" cy="914400"/>
          </a:xfrm>
        </p:spPr>
        <p:txBody>
          <a:bodyPr/>
          <a:lstStyle/>
          <a:p>
            <a:endParaRPr lang="en-IN"/>
          </a:p>
        </p:txBody>
      </p:sp>
      <p:sp>
        <p:nvSpPr>
          <p:cNvPr id="9" name="Table Placeholder 8">
            <a:extLst>
              <a:ext uri="{FF2B5EF4-FFF2-40B4-BE49-F238E27FC236}">
                <a16:creationId xmlns:a16="http://schemas.microsoft.com/office/drawing/2014/main" id="{CD69DD19-18BD-BE91-2B58-08109D228662}"/>
              </a:ext>
            </a:extLst>
          </p:cNvPr>
          <p:cNvSpPr>
            <a:spLocks noGrp="1"/>
          </p:cNvSpPr>
          <p:nvPr>
            <p:ph type="tbl" sz="quarter" idx="13"/>
          </p:nvPr>
        </p:nvSpPr>
        <p:spPr>
          <a:xfrm>
            <a:off x="6669088" y="4479925"/>
            <a:ext cx="914400" cy="914400"/>
          </a:xfrm>
        </p:spPr>
        <p:txBody>
          <a:bodyPr/>
          <a:lstStyle/>
          <a:p>
            <a:endParaRPr lang="en-IN"/>
          </a:p>
        </p:txBody>
      </p:sp>
    </p:spTree>
    <p:extLst>
      <p:ext uri="{BB962C8B-B14F-4D97-AF65-F5344CB8AC3E}">
        <p14:creationId xmlns:p14="http://schemas.microsoft.com/office/powerpoint/2010/main" val="25813183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7685105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20B94EA-E0FC-45F7-8A06-3CE9694ED2AD}" type="datetimeFigureOut">
              <a:rPr lang="en-US" smtClean="0"/>
              <a:pPr/>
              <a:t>11/22/2024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0E4ECC14-25A4-4E96-A863-D89966B2F4B2}" type="slidenum">
              <a:rPr lang="en-US" smtClean="0"/>
              <a:pPr/>
              <a:t>‹#›</a:t>
            </a:fld>
            <a:endParaRPr lang="en-US"/>
          </a:p>
        </p:txBody>
      </p:sp>
    </p:spTree>
    <p:extLst>
      <p:ext uri="{BB962C8B-B14F-4D97-AF65-F5344CB8AC3E}">
        <p14:creationId xmlns:p14="http://schemas.microsoft.com/office/powerpoint/2010/main" val="8535763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39096793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5721730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019052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823037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882302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2282793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9063351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0617251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05689190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8747951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8783142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33930479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
        <p:nvSpPr>
          <p:cNvPr id="5" name="Title 1"/>
          <p:cNvSpPr>
            <a:spLocks noGrp="1"/>
          </p:cNvSpPr>
          <p:nvPr>
            <p:ph type="title"/>
          </p:nvPr>
        </p:nvSpPr>
        <p:spPr>
          <a:xfrm>
            <a:off x="609600" y="274638"/>
            <a:ext cx="10972800" cy="1143000"/>
          </a:xfrm>
        </p:spPr>
        <p:txBody>
          <a:bodyPr/>
          <a:lstStyle/>
          <a:p>
            <a:r>
              <a:rPr lang="en-US"/>
              <a:t>Click to edit Master title style</a:t>
            </a:r>
          </a:p>
        </p:txBody>
      </p:sp>
      <p:sp>
        <p:nvSpPr>
          <p:cNvPr id="7" name="Content Placeholder 6"/>
          <p:cNvSpPr>
            <a:spLocks noGrp="1"/>
          </p:cNvSpPr>
          <p:nvPr>
            <p:ph sz="quarter" idx="13"/>
          </p:nvPr>
        </p:nvSpPr>
        <p:spPr>
          <a:xfrm>
            <a:off x="609600" y="1654176"/>
            <a:ext cx="10972800" cy="122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012017" y="3468689"/>
            <a:ext cx="1363133" cy="1277937"/>
          </a:xfrm>
        </p:spPr>
        <p:txBody>
          <a:bodyPr/>
          <a:lstStyle/>
          <a:p>
            <a:r>
              <a:rPr lang="en-US"/>
              <a:t>Click icon to add picture</a:t>
            </a:r>
          </a:p>
        </p:txBody>
      </p:sp>
      <p:sp>
        <p:nvSpPr>
          <p:cNvPr id="11" name="Picture Placeholder 10"/>
          <p:cNvSpPr>
            <a:spLocks noGrp="1"/>
          </p:cNvSpPr>
          <p:nvPr>
            <p:ph type="pic" sz="quarter" idx="15"/>
          </p:nvPr>
        </p:nvSpPr>
        <p:spPr>
          <a:xfrm>
            <a:off x="6794501" y="3281363"/>
            <a:ext cx="1231900" cy="1585912"/>
          </a:xfrm>
        </p:spPr>
        <p:txBody>
          <a:bodyPr/>
          <a:lstStyle/>
          <a:p>
            <a:r>
              <a:rPr lang="en-US"/>
              <a:t>Click icon to add picture</a:t>
            </a:r>
          </a:p>
        </p:txBody>
      </p:sp>
      <p:sp>
        <p:nvSpPr>
          <p:cNvPr id="13" name="Content Placeholder 12"/>
          <p:cNvSpPr>
            <a:spLocks noGrp="1"/>
          </p:cNvSpPr>
          <p:nvPr>
            <p:ph sz="quarter" idx="16"/>
          </p:nvPr>
        </p:nvSpPr>
        <p:spPr>
          <a:xfrm>
            <a:off x="609600" y="5068888"/>
            <a:ext cx="10972800" cy="887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46905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0081782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First Slide)" preserve="1" userDrawn="1">
  <p:cSld name="1_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4841911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5146910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7136133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31046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9A670BA7-DE87-4785-B054-11F5AB483884}" type="datetime1">
              <a:rPr lang="en-US" smtClean="0"/>
              <a:pPr lvl="0"/>
              <a:t>11/22/2024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7FB27F77-B5FC-4EE7-9679-D86DADD66064}" type="slidenum">
              <a:rPr lang="en-US" smtClean="0"/>
              <a:t>‹#›</a:t>
            </a:fld>
            <a:endParaRPr lang="en-US"/>
          </a:p>
        </p:txBody>
      </p:sp>
    </p:spTree>
    <p:extLst>
      <p:ext uri="{BB962C8B-B14F-4D97-AF65-F5344CB8AC3E}">
        <p14:creationId xmlns:p14="http://schemas.microsoft.com/office/powerpoint/2010/main" val="30836146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43287128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16054138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93790437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3200681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7273572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3517899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219265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1265206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51030528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91107504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73218902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6062AD2B-FFE7-4EDF-BF1C-AF911F3B64C9}"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2262A19-C809-4066-BCFF-D0801F1AFFF0}"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4673600" y="2895600"/>
            <a:ext cx="1625600" cy="1371600"/>
          </a:xfrm>
        </p:spPr>
        <p:txBody>
          <a:bodyPr/>
          <a:lstStyle/>
          <a:p>
            <a:r>
              <a:rPr lang="en-US"/>
              <a:t>Click icon to add picture</a:t>
            </a:r>
          </a:p>
        </p:txBody>
      </p:sp>
      <p:sp>
        <p:nvSpPr>
          <p:cNvPr id="11" name="Picture Placeholder 10"/>
          <p:cNvSpPr>
            <a:spLocks noGrp="1"/>
          </p:cNvSpPr>
          <p:nvPr>
            <p:ph type="pic" sz="quarter" idx="15"/>
          </p:nvPr>
        </p:nvSpPr>
        <p:spPr>
          <a:xfrm>
            <a:off x="6908800" y="2819400"/>
            <a:ext cx="2540000" cy="1447800"/>
          </a:xfrm>
        </p:spPr>
        <p:txBody>
          <a:bodyPr/>
          <a:lstStyle/>
          <a:p>
            <a:r>
              <a:rPr lang="en-US"/>
              <a:t>Click icon to add picture</a:t>
            </a:r>
          </a:p>
        </p:txBody>
      </p:sp>
      <p:sp>
        <p:nvSpPr>
          <p:cNvPr id="13" name="Content Placeholder 12"/>
          <p:cNvSpPr>
            <a:spLocks noGrp="1"/>
          </p:cNvSpPr>
          <p:nvPr>
            <p:ph sz="quarter" idx="16"/>
          </p:nvPr>
        </p:nvSpPr>
        <p:spPr>
          <a:xfrm>
            <a:off x="609600" y="44196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893224"/>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833EE582-07FE-4340-B291-A98D6735D754}"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6AF2B55-1CEC-4C2F-9FA6-21EDF5D4E06D}" type="slidenum">
              <a:t>‹#›</a:t>
            </a:fld>
            <a:endParaRPr lang="en-US"/>
          </a:p>
        </p:txBody>
      </p:sp>
      <p:sp>
        <p:nvSpPr>
          <p:cNvPr id="6" name="Title 1"/>
          <p:cNvSpPr>
            <a:spLocks noGrp="1"/>
          </p:cNvSpPr>
          <p:nvPr>
            <p:ph type="title"/>
          </p:nvPr>
        </p:nvSpPr>
        <p:spPr>
          <a:xfrm>
            <a:off x="609600" y="273600"/>
            <a:ext cx="10972320" cy="1144800"/>
          </a:xfrm>
        </p:spPr>
        <p:txBody>
          <a:bodyPr/>
          <a:lstStyle/>
          <a:p>
            <a:r>
              <a:rPr lang="en-US"/>
              <a:t>Click to edit Master title style</a:t>
            </a:r>
            <a:endParaRPr lang="ru-RU"/>
          </a:p>
        </p:txBody>
      </p:sp>
      <p:sp>
        <p:nvSpPr>
          <p:cNvPr id="8" name="Content Placeholder 7"/>
          <p:cNvSpPr>
            <a:spLocks noGrp="1"/>
          </p:cNvSpPr>
          <p:nvPr>
            <p:ph sz="quarter" idx="13"/>
          </p:nvPr>
        </p:nvSpPr>
        <p:spPr>
          <a:xfrm>
            <a:off x="609600" y="1676400"/>
            <a:ext cx="110744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4"/>
          </p:nvPr>
        </p:nvSpPr>
        <p:spPr>
          <a:xfrm>
            <a:off x="2235200" y="3124200"/>
            <a:ext cx="1828800" cy="1447800"/>
          </a:xfrm>
        </p:spPr>
        <p:txBody>
          <a:bodyPr/>
          <a:lstStyle/>
          <a:p>
            <a:r>
              <a:rPr lang="en-US"/>
              <a:t>Click icon to add picture</a:t>
            </a:r>
          </a:p>
        </p:txBody>
      </p:sp>
      <p:sp>
        <p:nvSpPr>
          <p:cNvPr id="12" name="Picture Placeholder 11"/>
          <p:cNvSpPr>
            <a:spLocks noGrp="1"/>
          </p:cNvSpPr>
          <p:nvPr>
            <p:ph type="pic" sz="quarter" idx="15"/>
          </p:nvPr>
        </p:nvSpPr>
        <p:spPr>
          <a:xfrm>
            <a:off x="6807200" y="3124200"/>
            <a:ext cx="2438400" cy="1371600"/>
          </a:xfrm>
        </p:spPr>
        <p:txBody>
          <a:bodyPr/>
          <a:lstStyle/>
          <a:p>
            <a:r>
              <a:rPr lang="en-US"/>
              <a:t>Click icon to add picture</a:t>
            </a:r>
          </a:p>
        </p:txBody>
      </p:sp>
      <p:sp>
        <p:nvSpPr>
          <p:cNvPr id="14" name="Content Placeholder 13"/>
          <p:cNvSpPr>
            <a:spLocks noGrp="1"/>
          </p:cNvSpPr>
          <p:nvPr>
            <p:ph sz="quarter" idx="16"/>
          </p:nvPr>
        </p:nvSpPr>
        <p:spPr>
          <a:xfrm>
            <a:off x="508000" y="4800600"/>
            <a:ext cx="111760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1357911"/>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C41CBDD0-2F03-4EEE-B0BA-DAD5A187BF4A}"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5E5365A-B8AC-484A-86DF-44925BB27AC7}"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00200"/>
            <a:ext cx="11074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540000" y="3048000"/>
            <a:ext cx="2438400" cy="1295400"/>
          </a:xfrm>
        </p:spPr>
        <p:txBody>
          <a:bodyPr/>
          <a:lstStyle/>
          <a:p>
            <a:r>
              <a:rPr lang="en-US"/>
              <a:t>Click icon to add picture</a:t>
            </a:r>
          </a:p>
        </p:txBody>
      </p:sp>
      <p:sp>
        <p:nvSpPr>
          <p:cNvPr id="11" name="Picture Placeholder 10"/>
          <p:cNvSpPr>
            <a:spLocks noGrp="1"/>
          </p:cNvSpPr>
          <p:nvPr>
            <p:ph type="pic" sz="quarter" idx="15"/>
          </p:nvPr>
        </p:nvSpPr>
        <p:spPr>
          <a:xfrm>
            <a:off x="6502400" y="2895600"/>
            <a:ext cx="2743200" cy="1524000"/>
          </a:xfrm>
        </p:spPr>
        <p:txBody>
          <a:bodyPr/>
          <a:lstStyle/>
          <a:p>
            <a:r>
              <a:rPr lang="en-US"/>
              <a:t>Click icon to add picture</a:t>
            </a:r>
          </a:p>
        </p:txBody>
      </p:sp>
      <p:sp>
        <p:nvSpPr>
          <p:cNvPr id="13" name="Content Placeholder 12"/>
          <p:cNvSpPr>
            <a:spLocks noGrp="1"/>
          </p:cNvSpPr>
          <p:nvPr>
            <p:ph sz="quarter" idx="16"/>
          </p:nvPr>
        </p:nvSpPr>
        <p:spPr>
          <a:xfrm>
            <a:off x="508000" y="4724400"/>
            <a:ext cx="1127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3067476"/>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65295DC-44BC-4B97-B5CE-DB7846BEDB2B}"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45723046-0E6B-4AAD-9CA8-C3063FE2E474}"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8712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032000" y="3581400"/>
            <a:ext cx="2133600" cy="1143000"/>
          </a:xfrm>
        </p:spPr>
        <p:txBody>
          <a:bodyPr/>
          <a:lstStyle/>
          <a:p>
            <a:r>
              <a:rPr lang="en-US"/>
              <a:t>Click icon to add picture</a:t>
            </a:r>
          </a:p>
        </p:txBody>
      </p:sp>
      <p:sp>
        <p:nvSpPr>
          <p:cNvPr id="11" name="Picture Placeholder 10"/>
          <p:cNvSpPr>
            <a:spLocks noGrp="1"/>
          </p:cNvSpPr>
          <p:nvPr>
            <p:ph type="pic" sz="quarter" idx="15"/>
          </p:nvPr>
        </p:nvSpPr>
        <p:spPr>
          <a:xfrm>
            <a:off x="5689600" y="3581400"/>
            <a:ext cx="2336800" cy="1295400"/>
          </a:xfrm>
        </p:spPr>
        <p:txBody>
          <a:bodyPr/>
          <a:lstStyle/>
          <a:p>
            <a:r>
              <a:rPr lang="en-US"/>
              <a:t>Click icon to add picture</a:t>
            </a:r>
          </a:p>
        </p:txBody>
      </p:sp>
      <p:sp>
        <p:nvSpPr>
          <p:cNvPr id="13" name="Content Placeholder 12"/>
          <p:cNvSpPr>
            <a:spLocks noGrp="1"/>
          </p:cNvSpPr>
          <p:nvPr>
            <p:ph sz="quarter" idx="16"/>
          </p:nvPr>
        </p:nvSpPr>
        <p:spPr>
          <a:xfrm>
            <a:off x="609600" y="50292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750915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image" Target="../media/image3.png"/><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theme" Target="../theme/theme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slideLayout" Target="../slideLayouts/slideLayout60.xml"/><Relationship Id="rId3" Type="http://schemas.openxmlformats.org/officeDocument/2006/relationships/slideLayout" Target="../slideLayouts/slideLayout45.xml"/><Relationship Id="rId21" Type="http://schemas.openxmlformats.org/officeDocument/2006/relationships/theme" Target="../theme/theme4.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21" Type="http://schemas.openxmlformats.org/officeDocument/2006/relationships/image" Target="../media/image3.png"/><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theme" Target="../theme/theme5.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11/22/2024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11/22/2024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
        <p:nvSpPr>
          <p:cNvPr id="7" name="Rectangle 3">
            <a:extLst>
              <a:ext uri="{FF2B5EF4-FFF2-40B4-BE49-F238E27FC236}">
                <a16:creationId xmlns:a16="http://schemas.microsoft.com/office/drawing/2014/main" id="{E07958E8-13E5-CB1D-E958-BD70151A8DDC}"/>
              </a:ext>
            </a:extLst>
          </p:cNvPr>
          <p:cNvSpPr>
            <a:spLocks noChangeArrowheads="1"/>
          </p:cNvSpPr>
          <p:nvPr userDrawn="1"/>
        </p:nvSpPr>
        <p:spPr bwMode="auto">
          <a:xfrm>
            <a:off x="4247444" y="6424082"/>
            <a:ext cx="7750595" cy="389999"/>
          </a:xfrm>
          <a:prstGeom prst="rect">
            <a:avLst/>
          </a:prstGeom>
          <a:noFill/>
          <a:ln w="9525">
            <a:noFill/>
            <a:round/>
            <a:headEnd/>
            <a:tailEnd/>
          </a:ln>
          <a:effectLst/>
        </p:spPr>
        <p:txBody>
          <a:bodyPr lIns="90000" tIns="46800" rIns="90000" bIns="46800"/>
          <a:lstStyle/>
          <a:p>
            <a:pPr algn="r" defTabSz="449263" fontAlgn="base">
              <a:spcBef>
                <a:spcPct val="0"/>
              </a:spcBef>
              <a:spcAft>
                <a:spcPct val="0"/>
              </a:spcAft>
              <a:buClr>
                <a:srgbClr val="000000"/>
              </a:buClr>
              <a:buSzPct val="100000"/>
              <a:buFont typeface="Calibri" pitchFamily="1"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GB" sz="900" dirty="0">
                <a:solidFill>
                  <a:srgbClr val="000000"/>
                </a:solidFill>
                <a:latin typeface="Calibri" pitchFamily="1" charset="0"/>
                <a:cs typeface="Arial" charset="0"/>
              </a:rPr>
              <a:t>© 2020 Cengage Learning. All Rights Reserved. May not be scanned, copied, </a:t>
            </a:r>
            <a:br>
              <a:rPr lang="en-GB" sz="900" dirty="0">
                <a:solidFill>
                  <a:srgbClr val="000000"/>
                </a:solidFill>
                <a:latin typeface="Calibri" pitchFamily="1" charset="0"/>
                <a:cs typeface="Arial" charset="0"/>
              </a:rPr>
            </a:br>
            <a:r>
              <a:rPr lang="en-GB" sz="900" dirty="0">
                <a:solidFill>
                  <a:srgbClr val="000000"/>
                </a:solidFill>
                <a:latin typeface="Calibri" pitchFamily="1" charset="0"/>
                <a:cs typeface="Arial" charset="0"/>
              </a:rPr>
              <a:t>duplicated,</a:t>
            </a:r>
            <a:r>
              <a:rPr lang="en-GB" sz="900" baseline="0" dirty="0">
                <a:solidFill>
                  <a:srgbClr val="000000"/>
                </a:solidFill>
                <a:latin typeface="Calibri" pitchFamily="1" charset="0"/>
                <a:cs typeface="Arial" charset="0"/>
              </a:rPr>
              <a:t> or posted to a publicly accessible website, in whole or in part.</a:t>
            </a:r>
            <a:endParaRPr lang="en-GB" sz="900" dirty="0">
              <a:solidFill>
                <a:srgbClr val="000000"/>
              </a:solidFill>
              <a:latin typeface="Calibri" pitchFamily="1" charset="0"/>
              <a:cs typeface="Arial" charset="0"/>
            </a:endParaRPr>
          </a:p>
        </p:txBody>
      </p:sp>
      <p:pic>
        <p:nvPicPr>
          <p:cNvPr id="8" name="Picture 7" descr="CL_Logo_RGB_R.png">
            <a:extLst>
              <a:ext uri="{FF2B5EF4-FFF2-40B4-BE49-F238E27FC236}">
                <a16:creationId xmlns:a16="http://schemas.microsoft.com/office/drawing/2014/main" id="{F3DA0C0A-D5BC-3C35-44DC-2CD77AB4EB31}"/>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1600" y="6172200"/>
            <a:ext cx="2133600" cy="843912"/>
          </a:xfrm>
          <a:prstGeom prst="rect">
            <a:avLst/>
          </a:prstGeom>
        </p:spPr>
      </p:pic>
      <p:pic>
        <p:nvPicPr>
          <p:cNvPr id="9" name="Picture 8" descr="Erjavec_AutoTech_MASTER.jpg">
            <a:extLst>
              <a:ext uri="{FF2B5EF4-FFF2-40B4-BE49-F238E27FC236}">
                <a16:creationId xmlns:a16="http://schemas.microsoft.com/office/drawing/2014/main" id="{8F182047-F2F2-4247-9CEC-64FCEB34178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180765384"/>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91FBB025-F3E5-10A4-1872-02EDFEC1C724}"/>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1860947795"/>
      </p:ext>
    </p:extLst>
  </p:cSld>
  <p:clrMap bg1="lt1" tx1="dk1" bg2="dk2" tx2="lt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808" r:id="rId18"/>
    <p:sldLayoutId id="2147483809"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2">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1DE99DF1-9172-4272-089D-AB25E231EF14}"/>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2652487171"/>
      </p:ext>
    </p:extLst>
  </p:cSld>
  <p:clrMap bg1="lt1" tx1="dk1" bg2="dk2" tx2="lt2" accent1="accent1" accent2="accent2" accent3="accent3" accent4="accent4" accent5="accent5" accent6="accent6" hlink="hlink" folHlink="folHlink"/>
  <p:sldLayoutIdLst>
    <p:sldLayoutId id="2147483811" r:id="rId1"/>
    <p:sldLayoutId id="2147483812" r:id="rId2"/>
    <p:sldLayoutId id="2147483830"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 id="2147483826" r:id="rId17"/>
    <p:sldLayoutId id="2147483827" r:id="rId18"/>
    <p:sldLayoutId id="2147483828" r:id="rId19"/>
    <p:sldLayoutId id="2147483829" r:id="rId2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2D677E60-323B-83C7-EC25-69F27A82949A}"/>
              </a:ext>
            </a:extLst>
          </p:cNvPr>
          <p:cNvSpPr txBox="1">
            <a:spLocks/>
          </p:cNvSpPr>
          <p:nvPr userDrawn="1"/>
        </p:nvSpPr>
        <p:spPr>
          <a:xfrm>
            <a:off x="2031365" y="6315289"/>
            <a:ext cx="9220200"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Ken Pickerill, Automotive Technology: A Systems Approach, </a:t>
            </a:r>
            <a:r>
              <a:rPr lang="en-US" sz="1200" kern="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2136822"/>
      </p:ext>
    </p:extLst>
  </p:cSld>
  <p:clrMap bg1="lt1" tx1="dk1" bg2="dk2" tx2="lt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45.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4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4.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45.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45.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45.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4.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4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4.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4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a:t>
            </a:r>
            <a:r>
              <a:rPr lang="en-US" sz="3200">
                <a:latin typeface="Work Sans" pitchFamily="2" charset="0"/>
                <a:ea typeface="Arial"/>
                <a:cs typeface="Arial"/>
                <a:sym typeface="Arial"/>
              </a:rPr>
              <a:t>49: </a:t>
            </a:r>
            <a:r>
              <a:rPr lang="en-US" sz="3200">
                <a:solidFill>
                  <a:srgbClr val="FFFFFF"/>
                </a:solidFill>
                <a:latin typeface="Work Sans" pitchFamily="2" charset="0"/>
                <a:ea typeface="Arial"/>
                <a:cs typeface="Arial"/>
                <a:sym typeface="Arial"/>
              </a:rPr>
              <a:t>Wheel </a:t>
            </a:r>
            <a:r>
              <a:rPr lang="en-US" sz="3200" dirty="0">
                <a:solidFill>
                  <a:srgbClr val="FFFFFF"/>
                </a:solidFill>
                <a:latin typeface="Work Sans" pitchFamily="2" charset="0"/>
                <a:ea typeface="Arial"/>
                <a:cs typeface="Arial"/>
                <a:sym typeface="Arial"/>
              </a:rPr>
              <a:t>Alignment</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8096F-D0EF-F5C8-2B00-D2BA450225DC}"/>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AE95060B-9418-4259-76DB-796FEFB4955F}"/>
              </a:ext>
            </a:extLst>
          </p:cNvPr>
          <p:cNvSpPr>
            <a:spLocks noGrp="1"/>
          </p:cNvSpPr>
          <p:nvPr>
            <p:ph type="body" idx="1"/>
          </p:nvPr>
        </p:nvSpPr>
        <p:spPr/>
        <p:txBody>
          <a:bodyPr/>
          <a:lstStyle/>
          <a:p>
            <a:pPr marL="360045" indent="-360045" algn="l">
              <a:buFont typeface="Arial" panose="020B0604020202020204" pitchFamily="34" charset="0"/>
              <a:buChar char="•"/>
            </a:pPr>
            <a:r>
              <a:rPr lang="en-US" dirty="0">
                <a:solidFill>
                  <a:schemeClr val="tx1"/>
                </a:solidFill>
              </a:rPr>
              <a:t>49.01</a:t>
            </a:r>
            <a:r>
              <a:rPr lang="en-US" sz="2600" dirty="0">
                <a:solidFill>
                  <a:schemeClr val="tx1"/>
                </a:solidFill>
              </a:rPr>
              <a:t> Explain the types of wheel alignment.</a:t>
            </a:r>
            <a:endParaRPr lang="en-US" dirty="0">
              <a:solidFill>
                <a:schemeClr val="tx1"/>
              </a:solidFill>
            </a:endParaRPr>
          </a:p>
          <a:p>
            <a:pPr marL="360045" indent="-360045" algn="l">
              <a:buFont typeface="Arial" panose="020B0604020202020204" pitchFamily="34" charset="0"/>
              <a:buChar char="•"/>
            </a:pPr>
            <a:r>
              <a:rPr lang="en-US">
                <a:solidFill>
                  <a:schemeClr val="tx1"/>
                </a:solidFill>
              </a:rPr>
              <a:t>49.02</a:t>
            </a:r>
            <a:r>
              <a:rPr lang="en-US" sz="2600">
                <a:solidFill>
                  <a:schemeClr val="tx1"/>
                </a:solidFill>
              </a:rPr>
              <a:t> Explain the importance of correct wheel alignment angles.</a:t>
            </a:r>
          </a:p>
          <a:p>
            <a:pPr marL="360045" indent="-360045" algn="l">
              <a:buFont typeface="Arial" panose="020B0604020202020204" pitchFamily="34" charset="0"/>
              <a:buChar char="•"/>
            </a:pPr>
            <a:r>
              <a:rPr lang="en-US">
                <a:solidFill>
                  <a:schemeClr val="tx1"/>
                </a:solidFill>
              </a:rPr>
              <a:t>49.03</a:t>
            </a:r>
            <a:r>
              <a:rPr lang="en-US" sz="2600">
                <a:solidFill>
                  <a:schemeClr val="tx1"/>
                </a:solidFill>
              </a:rPr>
              <a:t> Describe the different functions of camber and caster </a:t>
            </a:r>
            <a:r>
              <a:rPr lang="en-US" sz="2600" dirty="0">
                <a:solidFill>
                  <a:schemeClr val="tx1"/>
                </a:solidFill>
              </a:rPr>
              <a:t>with regard to the vehicle’s suspension.</a:t>
            </a:r>
          </a:p>
          <a:p>
            <a:pPr marL="360045" indent="-360045" algn="l">
              <a:buFont typeface="Arial" panose="020B0604020202020204" pitchFamily="34" charset="0"/>
              <a:buChar char="•"/>
            </a:pPr>
            <a:r>
              <a:rPr lang="en-US" dirty="0">
                <a:solidFill>
                  <a:schemeClr val="tx1"/>
                </a:solidFill>
              </a:rPr>
              <a:t>49.04</a:t>
            </a:r>
            <a:r>
              <a:rPr lang="en-US" sz="2600" dirty="0">
                <a:solidFill>
                  <a:schemeClr val="tx1"/>
                </a:solidFill>
              </a:rPr>
              <a:t> Identify the purposes of steering axis inclination.</a:t>
            </a:r>
          </a:p>
        </p:txBody>
      </p:sp>
    </p:spTree>
    <p:extLst>
      <p:ext uri="{BB962C8B-B14F-4D97-AF65-F5344CB8AC3E}">
        <p14:creationId xmlns:p14="http://schemas.microsoft.com/office/powerpoint/2010/main" val="436246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8096F-D0EF-F5C8-2B00-D2BA450225DC}"/>
              </a:ext>
            </a:extLst>
          </p:cNvPr>
          <p:cNvSpPr>
            <a:spLocks noGrp="1"/>
          </p:cNvSpPr>
          <p:nvPr>
            <p:ph type="title"/>
          </p:nvPr>
        </p:nvSpPr>
        <p:spPr/>
        <p:txBody>
          <a:bodyPr/>
          <a:lstStyle/>
          <a:p>
            <a:r>
              <a:rPr lang="en-US" dirty="0"/>
              <a:t>Chapter Objectives </a:t>
            </a:r>
          </a:p>
        </p:txBody>
      </p:sp>
      <p:sp>
        <p:nvSpPr>
          <p:cNvPr id="3" name="Content Placeholder 2">
            <a:extLst>
              <a:ext uri="{FF2B5EF4-FFF2-40B4-BE49-F238E27FC236}">
                <a16:creationId xmlns:a16="http://schemas.microsoft.com/office/drawing/2014/main" id="{AE95060B-9418-4259-76DB-796FEFB4955F}"/>
              </a:ext>
            </a:extLst>
          </p:cNvPr>
          <p:cNvSpPr>
            <a:spLocks noGrp="1"/>
          </p:cNvSpPr>
          <p:nvPr>
            <p:ph type="body" idx="1"/>
          </p:nvPr>
        </p:nvSpPr>
        <p:spPr/>
        <p:txBody>
          <a:bodyPr/>
          <a:lstStyle/>
          <a:p>
            <a:pPr marL="360045" indent="-360045" algn="l">
              <a:buFont typeface="Arial" panose="020B0604020202020204" pitchFamily="34" charset="0"/>
              <a:buChar char="•"/>
            </a:pPr>
            <a:r>
              <a:rPr lang="en-US" dirty="0">
                <a:solidFill>
                  <a:schemeClr val="tx1"/>
                </a:solidFill>
              </a:rPr>
              <a:t>49.05</a:t>
            </a:r>
            <a:r>
              <a:rPr lang="en-US" sz="2600" dirty="0">
                <a:solidFill>
                  <a:schemeClr val="tx1"/>
                </a:solidFill>
              </a:rPr>
              <a:t> Explain why toe is the most critical tire wear factor of all the alignment angles.</a:t>
            </a:r>
            <a:endParaRPr lang="en-US">
              <a:solidFill>
                <a:schemeClr val="tx1"/>
              </a:solidFill>
            </a:endParaRPr>
          </a:p>
          <a:p>
            <a:pPr marL="360045" indent="-360045" algn="l">
              <a:buFont typeface="Arial" panose="020B0604020202020204" pitchFamily="34" charset="0"/>
              <a:buChar char="•"/>
            </a:pPr>
            <a:r>
              <a:rPr lang="en-US">
                <a:solidFill>
                  <a:schemeClr val="tx1"/>
                </a:solidFill>
              </a:rPr>
              <a:t>49.06</a:t>
            </a:r>
            <a:r>
              <a:rPr lang="en-US" sz="2600">
                <a:solidFill>
                  <a:schemeClr val="tx1"/>
                </a:solidFill>
              </a:rPr>
              <a:t> Identify the purposes of turning radius or toe-out in turns.</a:t>
            </a:r>
          </a:p>
          <a:p>
            <a:pPr marL="360045" indent="-360045" algn="l">
              <a:buFont typeface="Arial" panose="020B0604020202020204" pitchFamily="34" charset="0"/>
              <a:buChar char="•"/>
            </a:pPr>
            <a:r>
              <a:rPr lang="en-US">
                <a:solidFill>
                  <a:schemeClr val="tx1"/>
                </a:solidFill>
              </a:rPr>
              <a:t>49.07</a:t>
            </a:r>
            <a:r>
              <a:rPr lang="en-US" sz="2600">
                <a:solidFill>
                  <a:schemeClr val="tx1"/>
                </a:solidFill>
              </a:rPr>
              <a:t> Explain the conditions known as tracking and thrust angle.</a:t>
            </a:r>
          </a:p>
          <a:p>
            <a:pPr marL="360045" indent="-360045" algn="l">
              <a:buFont typeface="Arial" panose="020B0604020202020204" pitchFamily="34" charset="0"/>
              <a:buChar char="•"/>
            </a:pPr>
            <a:r>
              <a:rPr lang="en-US" dirty="0">
                <a:solidFill>
                  <a:schemeClr val="tx1"/>
                </a:solidFill>
              </a:rPr>
              <a:t>49.08</a:t>
            </a:r>
            <a:r>
              <a:rPr lang="en-US" sz="2600" dirty="0">
                <a:solidFill>
                  <a:schemeClr val="tx1"/>
                </a:solidFill>
              </a:rPr>
              <a:t> Perform a </a:t>
            </a:r>
            <a:r>
              <a:rPr lang="en-US" sz="2600" dirty="0" err="1">
                <a:solidFill>
                  <a:schemeClr val="tx1"/>
                </a:solidFill>
              </a:rPr>
              <a:t>prealignment</a:t>
            </a:r>
            <a:r>
              <a:rPr lang="en-US" sz="2600" dirty="0">
                <a:solidFill>
                  <a:schemeClr val="tx1"/>
                </a:solidFill>
              </a:rPr>
              <a:t> inspection</a:t>
            </a:r>
            <a:r>
              <a:rPr lang="en-US" sz="1800" dirty="0">
                <a:solidFill>
                  <a:schemeClr val="tx1"/>
                </a:solidFill>
              </a:rPr>
              <a:t>.</a:t>
            </a:r>
            <a:endParaRPr lang="en-US" dirty="0">
              <a:solidFill>
                <a:schemeClr val="tx1"/>
              </a:solidFill>
            </a:endParaRPr>
          </a:p>
        </p:txBody>
      </p:sp>
    </p:spTree>
    <p:extLst>
      <p:ext uri="{BB962C8B-B14F-4D97-AF65-F5344CB8AC3E}">
        <p14:creationId xmlns:p14="http://schemas.microsoft.com/office/powerpoint/2010/main" val="723453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8096F-D0EF-F5C8-2B00-D2BA450225DC}"/>
              </a:ext>
            </a:extLst>
          </p:cNvPr>
          <p:cNvSpPr>
            <a:spLocks noGrp="1"/>
          </p:cNvSpPr>
          <p:nvPr>
            <p:ph type="title"/>
          </p:nvPr>
        </p:nvSpPr>
        <p:spPr/>
        <p:txBody>
          <a:bodyPr/>
          <a:lstStyle/>
          <a:p>
            <a:r>
              <a:rPr lang="en-US" dirty="0"/>
              <a:t>Chapter Objectives  </a:t>
            </a:r>
          </a:p>
        </p:txBody>
      </p:sp>
      <p:sp>
        <p:nvSpPr>
          <p:cNvPr id="3" name="Content Placeholder 2">
            <a:extLst>
              <a:ext uri="{FF2B5EF4-FFF2-40B4-BE49-F238E27FC236}">
                <a16:creationId xmlns:a16="http://schemas.microsoft.com/office/drawing/2014/main" id="{AE95060B-9418-4259-76DB-796FEFB4955F}"/>
              </a:ext>
            </a:extLst>
          </p:cNvPr>
          <p:cNvSpPr>
            <a:spLocks noGrp="1"/>
          </p:cNvSpPr>
          <p:nvPr>
            <p:ph type="body" idx="1"/>
          </p:nvPr>
        </p:nvSpPr>
        <p:spPr/>
        <p:txBody>
          <a:bodyPr/>
          <a:lstStyle/>
          <a:p>
            <a:pPr marL="360045" indent="-360045" algn="l">
              <a:buFont typeface="Arial" panose="020B0604020202020204" pitchFamily="34" charset="0"/>
              <a:buChar char="•"/>
            </a:pPr>
            <a:r>
              <a:rPr lang="en-US" dirty="0">
                <a:solidFill>
                  <a:schemeClr val="tx1"/>
                </a:solidFill>
              </a:rPr>
              <a:t>49.09</a:t>
            </a:r>
            <a:r>
              <a:rPr lang="en-US" sz="2600" dirty="0">
                <a:solidFill>
                  <a:schemeClr val="tx1"/>
                </a:solidFill>
              </a:rPr>
              <a:t> Explain how to use wheel alignment tools and equipment.</a:t>
            </a:r>
            <a:endParaRPr lang="en-US" dirty="0">
              <a:solidFill>
                <a:schemeClr val="tx1"/>
              </a:solidFill>
            </a:endParaRPr>
          </a:p>
          <a:p>
            <a:pPr marL="360045" indent="-360045" algn="l">
              <a:buFont typeface="Arial" panose="020B0604020202020204" pitchFamily="34" charset="0"/>
              <a:buChar char="•"/>
            </a:pPr>
            <a:r>
              <a:rPr lang="en-US">
                <a:solidFill>
                  <a:schemeClr val="tx1"/>
                </a:solidFill>
              </a:rPr>
              <a:t>49.10</a:t>
            </a:r>
            <a:r>
              <a:rPr lang="en-US" sz="2600">
                <a:solidFill>
                  <a:schemeClr val="tx1"/>
                </a:solidFill>
              </a:rPr>
              <a:t> Describe how alignment angles can be changed on a </a:t>
            </a:r>
            <a:r>
              <a:rPr lang="en-US" sz="2600" dirty="0">
                <a:solidFill>
                  <a:schemeClr val="tx1"/>
                </a:solidFill>
              </a:rPr>
              <a:t>vehicle.</a:t>
            </a:r>
          </a:p>
          <a:p>
            <a:pPr marL="360045" indent="-360045" algn="l">
              <a:buFont typeface="Arial" panose="020B0604020202020204" pitchFamily="34" charset="0"/>
              <a:buChar char="•"/>
            </a:pPr>
            <a:r>
              <a:rPr lang="en-US" dirty="0">
                <a:solidFill>
                  <a:schemeClr val="tx1"/>
                </a:solidFill>
              </a:rPr>
              <a:t>49.11</a:t>
            </a:r>
            <a:r>
              <a:rPr lang="en-US" sz="2600" dirty="0">
                <a:solidFill>
                  <a:schemeClr val="tx1"/>
                </a:solidFill>
              </a:rPr>
              <a:t> Understand the importance of rear-wheel alignment.</a:t>
            </a:r>
          </a:p>
          <a:p>
            <a:pPr marL="360045" indent="-360045" algn="l">
              <a:buFont typeface="Arial" panose="020B0604020202020204" pitchFamily="34" charset="0"/>
              <a:buChar char="•"/>
            </a:pPr>
            <a:r>
              <a:rPr lang="en-US" dirty="0">
                <a:solidFill>
                  <a:schemeClr val="tx1"/>
                </a:solidFill>
              </a:rPr>
              <a:t>49.12</a:t>
            </a:r>
            <a:r>
              <a:rPr lang="en-US" sz="2600" dirty="0">
                <a:solidFill>
                  <a:schemeClr val="tx1"/>
                </a:solidFill>
              </a:rPr>
              <a:t> Identify and understand steering sensor calibration requirements.</a:t>
            </a:r>
          </a:p>
        </p:txBody>
      </p:sp>
    </p:spTree>
    <p:extLst>
      <p:ext uri="{BB962C8B-B14F-4D97-AF65-F5344CB8AC3E}">
        <p14:creationId xmlns:p14="http://schemas.microsoft.com/office/powerpoint/2010/main" val="1967873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5"/>
          <p:cNvSpPr>
            <a:spLocks noGrp="1"/>
          </p:cNvSpPr>
          <p:nvPr>
            <p:ph type="title"/>
          </p:nvPr>
        </p:nvSpPr>
        <p:spPr/>
        <p:txBody>
          <a:bodyPr/>
          <a:lstStyle/>
          <a:p>
            <a:r>
              <a:rPr lang="en-US" dirty="0"/>
              <a:t>Wheel Alignment</a:t>
            </a:r>
          </a:p>
        </p:txBody>
      </p:sp>
      <p:sp>
        <p:nvSpPr>
          <p:cNvPr id="3075" name="Content Placeholder 6"/>
          <p:cNvSpPr>
            <a:spLocks noGrp="1"/>
          </p:cNvSpPr>
          <p:nvPr>
            <p:ph type="body" idx="1"/>
          </p:nvPr>
        </p:nvSpPr>
        <p:spPr/>
        <p:txBody>
          <a:bodyPr/>
          <a:lstStyle/>
          <a:p>
            <a:pPr marL="0" indent="0">
              <a:buNone/>
            </a:pPr>
            <a:r>
              <a:rPr lang="en-US" b="1" dirty="0">
                <a:solidFill>
                  <a:schemeClr val="tx1"/>
                </a:solidFill>
                <a:latin typeface="Work Sans" pitchFamily="2" charset="0"/>
              </a:rPr>
              <a:t>49-02 Explain the importance of correct wheel alignment angles.</a:t>
            </a:r>
            <a:endParaRPr lang="en-US" dirty="0">
              <a:solidFill>
                <a:schemeClr val="tx1"/>
              </a:solidFill>
            </a:endParaRPr>
          </a:p>
          <a:p>
            <a:r>
              <a:rPr lang="en-US" sz="2600" dirty="0">
                <a:solidFill>
                  <a:schemeClr val="tx1"/>
                </a:solidFill>
              </a:rPr>
              <a:t>Correct alignment allows the wheels to roll without scuffing, dragging, or slipping.</a:t>
            </a:r>
          </a:p>
          <a:p>
            <a:r>
              <a:rPr lang="en-US" sz="2600" dirty="0">
                <a:solidFill>
                  <a:schemeClr val="tx1"/>
                </a:solidFill>
              </a:rPr>
              <a:t>This ensures greater safety, easier steering, and longer tire life.</a:t>
            </a:r>
          </a:p>
          <a:p>
            <a:r>
              <a:rPr lang="en-US" sz="2600" dirty="0">
                <a:solidFill>
                  <a:schemeClr val="tx1"/>
                </a:solidFill>
              </a:rPr>
              <a:t>The alignment should be checked when new tires are installed, or when the tires are wearing abnormally.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
          <p:cNvSpPr>
            <a:spLocks noGrp="1"/>
          </p:cNvSpPr>
          <p:nvPr>
            <p:ph type="title"/>
          </p:nvPr>
        </p:nvSpPr>
        <p:spPr/>
        <p:txBody>
          <a:bodyPr/>
          <a:lstStyle/>
          <a:p>
            <a:r>
              <a:rPr lang="en-US" dirty="0"/>
              <a:t>Types of Wheel Alignment</a:t>
            </a:r>
          </a:p>
        </p:txBody>
      </p:sp>
      <p:sp>
        <p:nvSpPr>
          <p:cNvPr id="5123" name="Content Placeholder 6"/>
          <p:cNvSpPr>
            <a:spLocks noGrp="1"/>
          </p:cNvSpPr>
          <p:nvPr>
            <p:ph type="body" idx="1"/>
          </p:nvPr>
        </p:nvSpPr>
        <p:spPr/>
        <p:txBody>
          <a:bodyPr/>
          <a:lstStyle/>
          <a:p>
            <a:pPr marL="0" indent="0" algn="ctr">
              <a:buNone/>
            </a:pPr>
            <a:r>
              <a:rPr lang="en-US" b="1" dirty="0">
                <a:solidFill>
                  <a:schemeClr val="tx1"/>
                </a:solidFill>
                <a:latin typeface="Work Sans" pitchFamily="2" charset="0"/>
              </a:rPr>
              <a:t>49-01 Explain the types of wheel alignment.</a:t>
            </a:r>
            <a:endParaRPr lang="en-US" dirty="0">
              <a:solidFill>
                <a:schemeClr val="tx1"/>
              </a:solidFill>
            </a:endParaRPr>
          </a:p>
          <a:p>
            <a:r>
              <a:rPr lang="en-US" sz="2600" dirty="0">
                <a:solidFill>
                  <a:schemeClr val="tx1"/>
                </a:solidFill>
              </a:rPr>
              <a:t>Two-Wheel</a:t>
            </a:r>
          </a:p>
          <a:p>
            <a:pPr lvl="1"/>
            <a:r>
              <a:rPr lang="en-US" dirty="0">
                <a:solidFill>
                  <a:schemeClr val="tx1"/>
                </a:solidFill>
              </a:rPr>
              <a:t>Only the angles of the front wheels are measured and adjusted.</a:t>
            </a:r>
          </a:p>
          <a:p>
            <a:r>
              <a:rPr lang="en-US" sz="2600" dirty="0">
                <a:solidFill>
                  <a:schemeClr val="tx1"/>
                </a:solidFill>
              </a:rPr>
              <a:t>Four-Wheel</a:t>
            </a:r>
          </a:p>
          <a:p>
            <a:pPr lvl="1"/>
            <a:r>
              <a:rPr lang="en-US" dirty="0">
                <a:solidFill>
                  <a:schemeClr val="tx1"/>
                </a:solidFill>
              </a:rPr>
              <a:t>Angles measured at all four wheels even if only the front are adjusted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610F-BEF6-9603-07EE-D6FACCC70199}"/>
              </a:ext>
            </a:extLst>
          </p:cNvPr>
          <p:cNvSpPr>
            <a:spLocks noGrp="1"/>
          </p:cNvSpPr>
          <p:nvPr>
            <p:ph type="title"/>
          </p:nvPr>
        </p:nvSpPr>
        <p:spPr/>
        <p:txBody>
          <a:bodyPr/>
          <a:lstStyle/>
          <a:p>
            <a:r>
              <a:rPr lang="en-US" dirty="0"/>
              <a:t>Alignment Readings</a:t>
            </a:r>
          </a:p>
        </p:txBody>
      </p:sp>
      <p:pic>
        <p:nvPicPr>
          <p:cNvPr id="9" name="Picture Placeholder 8" descr="A screenshot depicts an example of alignment readings headed, B M W 2007-13 E 70 X 5 1 Axle Air 20 inches Wheel. The four steps in wheel alignment is at the left with an expanded view of the four wheels of the car in the middle explaining the camber, caster, toe, and thrust angle details. A list of icons is displayed at the right end. The text at the bottom reads, Press K 4 to continue the procedure or select a printout. Four other tabs at the bottommost part of the screen read, ExpressAlign registered trademark symbol Preferences, Print symptom report, Print analysis and adjust front toe, in order form left to right, of which adjust front toe is selected.">
            <a:extLst>
              <a:ext uri="{FF2B5EF4-FFF2-40B4-BE49-F238E27FC236}">
                <a16:creationId xmlns:a16="http://schemas.microsoft.com/office/drawing/2014/main" id="{9BF1B781-755D-C3E7-FCB3-DE44E63E8605}"/>
              </a:ext>
            </a:extLst>
          </p:cNvPr>
          <p:cNvPicPr>
            <a:picLocks noGrp="1" noChangeAspect="1"/>
          </p:cNvPicPr>
          <p:nvPr>
            <p:ph type="pic" sz="quarter" idx="11"/>
          </p:nvPr>
        </p:nvPicPr>
        <p:blipFill>
          <a:blip r:embed="rId2"/>
          <a:srcRect b="5403"/>
          <a:stretch/>
        </p:blipFill>
        <p:spPr>
          <a:xfrm>
            <a:off x="2144422" y="1608357"/>
            <a:ext cx="7903156" cy="40994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tx1"/>
                </a:solidFill>
              </a:rPr>
              <a:t>Alignment Geometry—Caster</a:t>
            </a:r>
          </a:p>
        </p:txBody>
      </p:sp>
      <p:sp>
        <p:nvSpPr>
          <p:cNvPr id="6147" name="Rectangle 3"/>
          <p:cNvSpPr>
            <a:spLocks noGrp="1" noChangeArrowheads="1"/>
          </p:cNvSpPr>
          <p:nvPr>
            <p:ph type="body" idx="1"/>
          </p:nvPr>
        </p:nvSpPr>
        <p:spPr/>
        <p:txBody>
          <a:bodyPr/>
          <a:lstStyle/>
          <a:p>
            <a:pPr marL="0" indent="0" algn="ctr">
              <a:buNone/>
            </a:pPr>
            <a:r>
              <a:rPr lang="en-US" sz="2400" b="1" i="0" u="none" strike="noStrike" baseline="0" dirty="0">
                <a:solidFill>
                  <a:schemeClr val="accent1"/>
                </a:solidFill>
                <a:latin typeface="Work Sans" pitchFamily="2" charset="0"/>
              </a:rPr>
              <a:t>49-03 Describe the different functions of camber and caster with regard to the vehicle’s suspension.</a:t>
            </a:r>
          </a:p>
          <a:p>
            <a:r>
              <a:rPr lang="en-US" sz="2600" dirty="0">
                <a:solidFill>
                  <a:schemeClr val="tx1"/>
                </a:solidFill>
              </a:rPr>
              <a:t>Caster</a:t>
            </a:r>
          </a:p>
          <a:p>
            <a:pPr lvl="1"/>
            <a:r>
              <a:rPr lang="en-US" dirty="0">
                <a:solidFill>
                  <a:schemeClr val="tx1"/>
                </a:solidFill>
              </a:rPr>
              <a:t>The angle of the steering axis of a wheel from the vertical, as viewed from the side of the vehicle</a:t>
            </a:r>
          </a:p>
          <a:p>
            <a:pPr lvl="1"/>
            <a:r>
              <a:rPr lang="en-US" dirty="0">
                <a:solidFill>
                  <a:schemeClr val="tx1"/>
                </a:solidFill>
              </a:rPr>
              <a:t>Provides steering stability</a:t>
            </a:r>
          </a:p>
          <a:p>
            <a:pPr lvl="1"/>
            <a:r>
              <a:rPr lang="en-US" dirty="0">
                <a:solidFill>
                  <a:schemeClr val="tx1"/>
                </a:solidFill>
              </a:rPr>
              <a:t>Not related to tire wear</a:t>
            </a:r>
          </a:p>
          <a:p>
            <a:pPr lvl="1"/>
            <a:r>
              <a:rPr lang="en-US" dirty="0">
                <a:solidFill>
                  <a:schemeClr val="tx1"/>
                </a:solidFill>
              </a:rPr>
              <a:t>Affected by worn ball joints, strut rods, and control arm bushings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Caster</a:t>
            </a:r>
          </a:p>
        </p:txBody>
      </p:sp>
      <p:pic>
        <p:nvPicPr>
          <p:cNvPr id="9" name="Picture Placeholder 8" descr="Two illustrations labeled (A), and (B) depict three types of casters. Illustration (A). Three different positions of a caster on a strut suspension. A vertical dashed line is along the center of the wheel. When the axis is tilted forward, with a left arrow depicting the tilting position, then it is called a negative caster. When the axis is along the vertical dashed line, it has zero caster. When the axis is tilted backward, with a right arrow depicting the tilting position, then it is called a positive caster. A left arrow labeled Front is at the start of the three positions. Illustration (B). Caster illustrated on an S L A suspension. Three positions are labeled zero, positive, and negative. A vertical dashed line is along the wheel in all the positions. The first position labeled zero, has a vertical dashed line. The second position labeled positive, has a tilt of a slanting dashed line to the right of the vertical dashed line. The third position labeled negative, has a tilt of a slanting dashed line to the left of the vertical dashed line. The vertical dashed lines in the second and third positions are labeled true vertical.">
            <a:extLst>
              <a:ext uri="{FF2B5EF4-FFF2-40B4-BE49-F238E27FC236}">
                <a16:creationId xmlns:a16="http://schemas.microsoft.com/office/drawing/2014/main" id="{1DA710BA-0E29-529D-EFEC-62CD89E3A668}"/>
              </a:ext>
            </a:extLst>
          </p:cNvPr>
          <p:cNvPicPr>
            <a:picLocks noGrp="1" noChangeAspect="1"/>
          </p:cNvPicPr>
          <p:nvPr>
            <p:ph type="pic" sz="quarter" idx="11"/>
          </p:nvPr>
        </p:nvPicPr>
        <p:blipFill>
          <a:blip r:embed="rId3"/>
          <a:srcRect b="5858"/>
          <a:stretch/>
        </p:blipFill>
        <p:spPr>
          <a:xfrm>
            <a:off x="3655249" y="1360859"/>
            <a:ext cx="4881503" cy="461850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p:cNvSpPr>
            <a:spLocks noGrp="1"/>
          </p:cNvSpPr>
          <p:nvPr>
            <p:ph type="title"/>
          </p:nvPr>
        </p:nvSpPr>
        <p:spPr/>
        <p:txBody>
          <a:bodyPr/>
          <a:lstStyle/>
          <a:p>
            <a:r>
              <a:rPr lang="en-US" dirty="0">
                <a:solidFill>
                  <a:schemeClr val="tx1"/>
                </a:solidFill>
              </a:rPr>
              <a:t>Alignment Geometry—Camber</a:t>
            </a:r>
          </a:p>
        </p:txBody>
      </p:sp>
      <p:sp>
        <p:nvSpPr>
          <p:cNvPr id="8195" name="Content Placeholder 6"/>
          <p:cNvSpPr>
            <a:spLocks noGrp="1"/>
          </p:cNvSpPr>
          <p:nvPr>
            <p:ph type="body" idx="1"/>
          </p:nvPr>
        </p:nvSpPr>
        <p:spPr/>
        <p:txBody>
          <a:bodyPr/>
          <a:lstStyle/>
          <a:p>
            <a:r>
              <a:rPr lang="en-US" sz="2600" dirty="0">
                <a:solidFill>
                  <a:schemeClr val="tx1"/>
                </a:solidFill>
              </a:rPr>
              <a:t>Camber</a:t>
            </a:r>
          </a:p>
          <a:p>
            <a:pPr lvl="1"/>
            <a:r>
              <a:rPr lang="en-US" dirty="0">
                <a:solidFill>
                  <a:schemeClr val="tx1"/>
                </a:solidFill>
              </a:rPr>
              <a:t>The angle represented by the tilt of either the front or rear wheels inward or outward from the vertical, as viewed from the front of the car</a:t>
            </a:r>
          </a:p>
          <a:p>
            <a:pPr lvl="1"/>
            <a:r>
              <a:rPr lang="en-US" dirty="0">
                <a:solidFill>
                  <a:schemeClr val="tx1"/>
                </a:solidFill>
              </a:rPr>
              <a:t>Can cause tire wear and pull to the most positive side</a:t>
            </a:r>
          </a:p>
          <a:p>
            <a:pPr lvl="1"/>
            <a:r>
              <a:rPr lang="en-US" dirty="0">
                <a:solidFill>
                  <a:schemeClr val="tx1"/>
                </a:solidFill>
              </a:rPr>
              <a:t>Affected by springs, ball joints, control arm bushings, and wheel bearings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Camber</a:t>
            </a:r>
          </a:p>
        </p:txBody>
      </p:sp>
      <p:pic>
        <p:nvPicPr>
          <p:cNvPr id="9" name="Picture Placeholder 8" descr="Three illustrations depict three different camber angles of vehicles when the tire contacts the road. The illustration at the top left depicts the front view of a wheel and suspension with a negative camber. The wheel's center line is tilted inward to the vertical reference. The illustration at the top right depicts the front view of a wheel and suspension with a positive camber. The wheel's center line is tilted outward to the vertical reference. The illustration at the bottom center depicts the front view of a wheel and suspension with zero-degree camber. The wheel's center line is aligned in line with the vertical reference.">
            <a:extLst>
              <a:ext uri="{FF2B5EF4-FFF2-40B4-BE49-F238E27FC236}">
                <a16:creationId xmlns:a16="http://schemas.microsoft.com/office/drawing/2014/main" id="{385CCACA-0977-73A5-608D-5C7A6529FABF}"/>
              </a:ext>
            </a:extLst>
          </p:cNvPr>
          <p:cNvPicPr>
            <a:picLocks noGrp="1" noChangeAspect="1"/>
          </p:cNvPicPr>
          <p:nvPr>
            <p:ph type="pic" sz="quarter" idx="11"/>
          </p:nvPr>
        </p:nvPicPr>
        <p:blipFill>
          <a:blip r:embed="rId3"/>
          <a:srcRect b="3458"/>
          <a:stretch/>
        </p:blipFill>
        <p:spPr>
          <a:xfrm>
            <a:off x="4426325" y="1683328"/>
            <a:ext cx="3339351" cy="38955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tx1"/>
                </a:solidFill>
              </a:rPr>
              <a:t>Alignment Geometry—Toe </a:t>
            </a:r>
          </a:p>
        </p:txBody>
      </p:sp>
      <p:sp>
        <p:nvSpPr>
          <p:cNvPr id="10243" name="Rectangle 3"/>
          <p:cNvSpPr>
            <a:spLocks noGrp="1" noChangeArrowheads="1"/>
          </p:cNvSpPr>
          <p:nvPr>
            <p:ph type="body" idx="1"/>
          </p:nvPr>
        </p:nvSpPr>
        <p:spPr/>
        <p:txBody>
          <a:bodyPr/>
          <a:lstStyle/>
          <a:p>
            <a:pPr marL="85725" indent="0">
              <a:buNone/>
            </a:pPr>
            <a:r>
              <a:rPr lang="en-US" b="1" dirty="0">
                <a:solidFill>
                  <a:schemeClr val="tx1"/>
                </a:solidFill>
                <a:latin typeface="Work Sans" pitchFamily="2" charset="0"/>
              </a:rPr>
              <a:t>49-05 Explain why toe is the most critical tire wear factor of all the alignment angles.</a:t>
            </a:r>
            <a:endParaRPr lang="en-US" dirty="0">
              <a:solidFill>
                <a:schemeClr val="tx1"/>
              </a:solidFill>
            </a:endParaRPr>
          </a:p>
          <a:p>
            <a:r>
              <a:rPr lang="en-US" sz="2600" dirty="0">
                <a:solidFill>
                  <a:schemeClr val="tx1"/>
                </a:solidFill>
              </a:rPr>
              <a:t>Toe</a:t>
            </a:r>
          </a:p>
          <a:p>
            <a:pPr lvl="1">
              <a:buClr>
                <a:schemeClr val="tx1"/>
              </a:buClr>
            </a:pPr>
            <a:r>
              <a:rPr lang="en-US" dirty="0">
                <a:solidFill>
                  <a:schemeClr val="tx1"/>
                </a:solidFill>
              </a:rPr>
              <a:t>The distance comparison between the leading edge and trailing edge of the front tires</a:t>
            </a:r>
          </a:p>
          <a:p>
            <a:pPr lvl="1">
              <a:buClr>
                <a:schemeClr val="tx1"/>
              </a:buClr>
            </a:pPr>
            <a:r>
              <a:rPr lang="en-US" dirty="0">
                <a:solidFill>
                  <a:schemeClr val="tx1"/>
                </a:solidFill>
              </a:rPr>
              <a:t>Most critical tire wear angle</a:t>
            </a:r>
          </a:p>
          <a:p>
            <a:pPr lvl="1">
              <a:buClr>
                <a:schemeClr val="tx1"/>
              </a:buClr>
            </a:pPr>
            <a:r>
              <a:rPr lang="en-US" dirty="0">
                <a:solidFill>
                  <a:schemeClr val="tx1"/>
                </a:solidFill>
              </a:rPr>
              <a:t>Must be adjusted evenly on each side</a:t>
            </a:r>
          </a:p>
          <a:p>
            <a:pPr lvl="1">
              <a:buClr>
                <a:schemeClr val="tx1"/>
              </a:buClr>
            </a:pPr>
            <a:r>
              <a:rPr lang="en-US" dirty="0">
                <a:solidFill>
                  <a:schemeClr val="tx1"/>
                </a:solidFill>
              </a:rPr>
              <a:t>Incorrect toe can cause the steering wheel to be off-center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a:t>Toe</a:t>
            </a:r>
          </a:p>
        </p:txBody>
      </p:sp>
      <p:pic>
        <p:nvPicPr>
          <p:cNvPr id="8" name="Picture Placeholder 7" descr="The top view of a vehicle depicts the toe-out and toe-in distances. The top of the vehicle with the label Front has an arrow pointing down. Both the wheels of the vehicle are tilted away from the vehicle. Two parallel vertical lines extend from the ends of the wheels towards the body of the vehicle. The horizontal distance between the two vertical lines is labeled Toe-out. The outline of the wheels, depicted in another color and both tilted toward the vehicle, includes two other parallel vertical lines in the same color, extending from the ends of the wheels toward the body of the vehicle. The horizontal distance between the two vertical lines is labeled Toe-in.">
            <a:extLst>
              <a:ext uri="{FF2B5EF4-FFF2-40B4-BE49-F238E27FC236}">
                <a16:creationId xmlns:a16="http://schemas.microsoft.com/office/drawing/2014/main" id="{6B926586-1DAA-A633-570B-2760B8A9DA1D}"/>
              </a:ext>
            </a:extLst>
          </p:cNvPr>
          <p:cNvPicPr>
            <a:picLocks noGrp="1" noChangeAspect="1"/>
          </p:cNvPicPr>
          <p:nvPr>
            <p:ph type="pic" sz="quarter" idx="11"/>
          </p:nvPr>
        </p:nvPicPr>
        <p:blipFill>
          <a:blip r:embed="rId3"/>
          <a:srcRect b="5246"/>
          <a:stretch/>
        </p:blipFill>
        <p:spPr>
          <a:xfrm>
            <a:off x="3809902" y="1556496"/>
            <a:ext cx="4572197" cy="444068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5"/>
          <p:cNvSpPr>
            <a:spLocks noGrp="1"/>
          </p:cNvSpPr>
          <p:nvPr>
            <p:ph type="title"/>
          </p:nvPr>
        </p:nvSpPr>
        <p:spPr/>
        <p:txBody>
          <a:bodyPr/>
          <a:lstStyle/>
          <a:p>
            <a:r>
              <a:rPr lang="en-US" dirty="0"/>
              <a:t>Thrust Line Alignment (1 of 2)</a:t>
            </a:r>
          </a:p>
        </p:txBody>
      </p:sp>
      <p:sp>
        <p:nvSpPr>
          <p:cNvPr id="12291" name="Content Placeholder 6"/>
          <p:cNvSpPr>
            <a:spLocks noGrp="1"/>
          </p:cNvSpPr>
          <p:nvPr>
            <p:ph type="body" idx="1"/>
          </p:nvPr>
        </p:nvSpPr>
        <p:spPr/>
        <p:txBody>
          <a:bodyPr/>
          <a:lstStyle/>
          <a:p>
            <a:pPr marL="0" indent="0">
              <a:buNone/>
            </a:pPr>
            <a:r>
              <a:rPr lang="en-US" b="1" dirty="0">
                <a:solidFill>
                  <a:schemeClr val="tx1"/>
                </a:solidFill>
                <a:latin typeface="Work Sans" pitchFamily="2" charset="0"/>
              </a:rPr>
              <a:t>49-07 Explain the conditions known as tracking and thrust angle.</a:t>
            </a:r>
            <a:endParaRPr lang="en-US" dirty="0">
              <a:solidFill>
                <a:schemeClr val="tx1"/>
              </a:solidFill>
            </a:endParaRPr>
          </a:p>
          <a:p>
            <a:r>
              <a:rPr lang="en-US" sz="2600" dirty="0">
                <a:solidFill>
                  <a:schemeClr val="tx1"/>
                </a:solidFill>
              </a:rPr>
              <a:t>The rear of the vehicle should track directly behind the front tires.</a:t>
            </a:r>
          </a:p>
          <a:p>
            <a:r>
              <a:rPr lang="en-US" sz="2600" dirty="0">
                <a:solidFill>
                  <a:schemeClr val="tx1"/>
                </a:solidFill>
              </a:rPr>
              <a:t>If rear toe is not parallel to the vehicle centerline, a thrust direction to the left or right is created.</a:t>
            </a:r>
          </a:p>
          <a:p>
            <a:r>
              <a:rPr lang="en-US" sz="2600" dirty="0">
                <a:solidFill>
                  <a:schemeClr val="tx1"/>
                </a:solidFill>
              </a:rPr>
              <a:t>The difference of rear toe from the centerline is called the thrust angle.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F474-5B5D-1530-6584-779FD04C1749}"/>
              </a:ext>
            </a:extLst>
          </p:cNvPr>
          <p:cNvSpPr>
            <a:spLocks noGrp="1"/>
          </p:cNvSpPr>
          <p:nvPr>
            <p:ph type="title"/>
          </p:nvPr>
        </p:nvSpPr>
        <p:spPr/>
        <p:txBody>
          <a:bodyPr/>
          <a:lstStyle/>
          <a:p>
            <a:r>
              <a:rPr lang="en-US" dirty="0"/>
              <a:t>Thrust Line Alignment (2 of 2)</a:t>
            </a:r>
            <a:endParaRPr lang="en-IN" dirty="0"/>
          </a:p>
        </p:txBody>
      </p:sp>
      <p:pic>
        <p:nvPicPr>
          <p:cNvPr id="9" name="Picture Placeholder 8" descr="The thrust line depicts the driving direction of the rear wheel. The top view of the outline of a vehicle where the front end of the vehicle is on the left. A dashed horizontal line labeled Geometric centerline passes through the center throughout the entire length of the vehicle dividing it into two equal halves. An upward arrow slopes to the left from the center point of the line joining the rear wheels and is labeled, Thrust line. The difference of the rear toe from the geometric centerline is called the thrust angle.">
            <a:extLst>
              <a:ext uri="{FF2B5EF4-FFF2-40B4-BE49-F238E27FC236}">
                <a16:creationId xmlns:a16="http://schemas.microsoft.com/office/drawing/2014/main" id="{F7E9545A-DACF-01A6-DE89-4BFEAF6D4BEC}"/>
              </a:ext>
            </a:extLst>
          </p:cNvPr>
          <p:cNvPicPr>
            <a:picLocks noGrp="1" noChangeAspect="1"/>
          </p:cNvPicPr>
          <p:nvPr>
            <p:ph type="pic" sz="quarter" idx="11"/>
          </p:nvPr>
        </p:nvPicPr>
        <p:blipFill>
          <a:blip r:embed="rId3"/>
          <a:srcRect b="17921"/>
          <a:stretch/>
        </p:blipFill>
        <p:spPr>
          <a:xfrm>
            <a:off x="2292668" y="1930312"/>
            <a:ext cx="7606665" cy="33402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tx1"/>
                </a:solidFill>
              </a:rPr>
              <a:t>Alignment Angles—SAI </a:t>
            </a:r>
          </a:p>
        </p:txBody>
      </p:sp>
      <p:sp>
        <p:nvSpPr>
          <p:cNvPr id="14339" name="Rectangle 3"/>
          <p:cNvSpPr>
            <a:spLocks noGrp="1" noChangeArrowheads="1"/>
          </p:cNvSpPr>
          <p:nvPr>
            <p:ph type="body" idx="1"/>
          </p:nvPr>
        </p:nvSpPr>
        <p:spPr/>
        <p:txBody>
          <a:bodyPr/>
          <a:lstStyle/>
          <a:p>
            <a:pPr marL="0" indent="0">
              <a:buNone/>
            </a:pPr>
            <a:r>
              <a:rPr lang="en-US" sz="2600" b="1" dirty="0">
                <a:solidFill>
                  <a:schemeClr val="tx1"/>
                </a:solidFill>
                <a:latin typeface="Work Sans" pitchFamily="2" charset="0"/>
              </a:rPr>
              <a:t>49-04 Identify the purposes of steering axis inclination.</a:t>
            </a:r>
            <a:endParaRPr lang="en-US" sz="2600" dirty="0">
              <a:solidFill>
                <a:schemeClr val="tx1"/>
              </a:solidFill>
            </a:endParaRPr>
          </a:p>
          <a:p>
            <a:r>
              <a:rPr lang="en-US" sz="2600" dirty="0">
                <a:solidFill>
                  <a:schemeClr val="tx1"/>
                </a:solidFill>
              </a:rPr>
              <a:t>Steering Axis Inclination (SAI)</a:t>
            </a:r>
          </a:p>
          <a:p>
            <a:pPr lvl="1"/>
            <a:r>
              <a:rPr lang="en-US" dirty="0">
                <a:solidFill>
                  <a:schemeClr val="tx1"/>
                </a:solidFill>
              </a:rPr>
              <a:t>The angle between true vertical and a line drawn between the steering pivots</a:t>
            </a:r>
          </a:p>
          <a:p>
            <a:pPr lvl="1"/>
            <a:r>
              <a:rPr lang="en-US" dirty="0">
                <a:solidFill>
                  <a:schemeClr val="tx1"/>
                </a:solidFill>
              </a:rPr>
              <a:t>FWD usually have high SAI (12 to 18 degrees).</a:t>
            </a:r>
          </a:p>
          <a:p>
            <a:r>
              <a:rPr lang="en-US" sz="2600" dirty="0">
                <a:solidFill>
                  <a:schemeClr val="tx1"/>
                </a:solidFill>
              </a:rPr>
              <a:t>Included Angle</a:t>
            </a:r>
          </a:p>
          <a:p>
            <a:pPr lvl="1"/>
            <a:r>
              <a:rPr lang="en-US" dirty="0">
                <a:solidFill>
                  <a:schemeClr val="tx1"/>
                </a:solidFill>
              </a:rPr>
              <a:t>The sum of the SAI and the camber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1B79F9-6B4E-F5BE-5CFC-BFB22C6A448D}"/>
              </a:ext>
            </a:extLst>
          </p:cNvPr>
          <p:cNvSpPr>
            <a:spLocks noGrp="1"/>
          </p:cNvSpPr>
          <p:nvPr>
            <p:ph type="title"/>
          </p:nvPr>
        </p:nvSpPr>
        <p:spPr/>
        <p:txBody>
          <a:bodyPr/>
          <a:lstStyle/>
          <a:p>
            <a:r>
              <a:rPr lang="en-US" dirty="0">
                <a:solidFill>
                  <a:schemeClr val="tx1"/>
                </a:solidFill>
                <a:latin typeface="Work Sans" pitchFamily="2" charset="0"/>
              </a:rPr>
              <a:t>SAI and Included Angle </a:t>
            </a:r>
            <a:endParaRPr lang="en-IN" dirty="0"/>
          </a:p>
        </p:txBody>
      </p:sp>
      <p:pic>
        <p:nvPicPr>
          <p:cNvPr id="10" name="Picture Placeholder 9" descr="Two illustrations labeled (A) and (B). The first illustration (A) labeled, Steering Axis inclination (S A I) depicts a slightly tilted strut’s upper mount with a vertical line, along its center. The true center is represented through a dashed vertical line starting from the base and is labeled Vertical reference. The steering axis is inclined to the left. The angle between the vertical reference and the steering axis is labeled Steering Axis Inclination (S A I). The second illustration (B) labeled Included angle (I A) depicts a slightly tilted strut’s upper mount with a vertical line labeled Camber line, along its center. The true center is represented through a dashed vertical line starting from the base and is labeled, Vertical reference. The steering axis inclination, S A I is inclined to the left. The angle between the vertical reference line and the Steering Axis Inclination (S A I) is marked. The angle between S A I and the camber line is labeled, Included angle.">
            <a:extLst>
              <a:ext uri="{FF2B5EF4-FFF2-40B4-BE49-F238E27FC236}">
                <a16:creationId xmlns:a16="http://schemas.microsoft.com/office/drawing/2014/main" id="{32371AC7-E954-8E90-B13E-6AC3243BE01B}"/>
              </a:ext>
            </a:extLst>
          </p:cNvPr>
          <p:cNvPicPr>
            <a:picLocks noGrp="1" noChangeAspect="1"/>
          </p:cNvPicPr>
          <p:nvPr>
            <p:ph type="pic" sz="quarter" idx="11"/>
          </p:nvPr>
        </p:nvPicPr>
        <p:blipFill>
          <a:blip r:embed="rId3"/>
          <a:srcRect b="4103"/>
          <a:stretch/>
        </p:blipFill>
        <p:spPr>
          <a:xfrm>
            <a:off x="3349999" y="1746158"/>
            <a:ext cx="5492003" cy="391490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solidFill>
                  <a:schemeClr val="tx1"/>
                </a:solidFill>
              </a:rPr>
              <a:t>Alignment Angles—Scrub Radius </a:t>
            </a:r>
          </a:p>
        </p:txBody>
      </p:sp>
      <p:sp>
        <p:nvSpPr>
          <p:cNvPr id="16387" name="Content Placeholder 2"/>
          <p:cNvSpPr>
            <a:spLocks noGrp="1"/>
          </p:cNvSpPr>
          <p:nvPr>
            <p:ph type="body" idx="1"/>
          </p:nvPr>
        </p:nvSpPr>
        <p:spPr>
          <a:xfrm>
            <a:off x="476845" y="1563626"/>
            <a:ext cx="6294658" cy="4145196"/>
          </a:xfrm>
        </p:spPr>
        <p:txBody>
          <a:bodyPr/>
          <a:lstStyle/>
          <a:p>
            <a:r>
              <a:rPr lang="en-US" dirty="0">
                <a:solidFill>
                  <a:schemeClr val="tx1"/>
                </a:solidFill>
              </a:rPr>
              <a:t>Scrub Radius</a:t>
            </a:r>
          </a:p>
          <a:p>
            <a:pPr lvl="1"/>
            <a:r>
              <a:rPr lang="en-US" dirty="0">
                <a:solidFill>
                  <a:schemeClr val="tx1"/>
                </a:solidFill>
              </a:rPr>
              <a:t>The distance between the center of the tire and where SAI intersects the ground</a:t>
            </a:r>
          </a:p>
          <a:p>
            <a:pPr lvl="1"/>
            <a:r>
              <a:rPr lang="en-US" dirty="0">
                <a:solidFill>
                  <a:schemeClr val="tx1"/>
                </a:solidFill>
              </a:rPr>
              <a:t>Must be equal on both sides</a:t>
            </a:r>
          </a:p>
          <a:p>
            <a:pPr lvl="1"/>
            <a:r>
              <a:rPr lang="en-US" dirty="0">
                <a:solidFill>
                  <a:schemeClr val="tx1"/>
                </a:solidFill>
              </a:rPr>
              <a:t>Most FWD vehicles have a negative radius to reduce torque steer</a:t>
            </a:r>
          </a:p>
        </p:txBody>
      </p:sp>
      <p:pic>
        <p:nvPicPr>
          <p:cNvPr id="7" name="Picture Placeholder 6" descr="The included angle of a titled tire is the sum of the camber and S A I angles. A vertical dashed line labeled camber angle extends vertically from the base. A true vertical dashed line labeled Vertical goes from the base to the left of the camber angle. A third slanting line labeled, Steering axis inclination, starts from the point to the left of the other two lines and slopes upward to the left. The starting point of this slanting line is labeled Point of load. The horizontal distance between the beginning of this line and the other two lines at the base is labeled, scrub radius. The strip between the camber angle and the vertical is shaded. The strip between the vertical and the steering axis inclination is shaded in another color. Two bidirectional arrows at the top of the strips are labeled, Included angle.">
            <a:extLst>
              <a:ext uri="{FF2B5EF4-FFF2-40B4-BE49-F238E27FC236}">
                <a16:creationId xmlns:a16="http://schemas.microsoft.com/office/drawing/2014/main" id="{1B3E4EAB-8A12-5946-E4B9-C73EC5E3B01C}"/>
              </a:ext>
            </a:extLst>
          </p:cNvPr>
          <p:cNvPicPr>
            <a:picLocks noGrp="1" noChangeAspect="1"/>
          </p:cNvPicPr>
          <p:nvPr>
            <p:ph type="pic" sz="quarter" idx="11"/>
          </p:nvPr>
        </p:nvPicPr>
        <p:blipFill>
          <a:blip r:embed="rId3"/>
          <a:srcRect b="7935"/>
          <a:stretch/>
        </p:blipFill>
        <p:spPr>
          <a:xfrm>
            <a:off x="7408404" y="1625420"/>
            <a:ext cx="3921781" cy="428457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2"/>
          <p:cNvSpPr>
            <a:spLocks noGrp="1"/>
          </p:cNvSpPr>
          <p:nvPr>
            <p:ph type="title"/>
          </p:nvPr>
        </p:nvSpPr>
        <p:spPr/>
        <p:txBody>
          <a:bodyPr/>
          <a:lstStyle/>
          <a:p>
            <a:r>
              <a:rPr lang="en-US" dirty="0"/>
              <a:t>Turning Radius </a:t>
            </a:r>
          </a:p>
        </p:txBody>
      </p:sp>
      <p:sp>
        <p:nvSpPr>
          <p:cNvPr id="18435" name="Content Placeholder 3"/>
          <p:cNvSpPr>
            <a:spLocks noGrp="1"/>
          </p:cNvSpPr>
          <p:nvPr>
            <p:ph type="body" idx="1"/>
          </p:nvPr>
        </p:nvSpPr>
        <p:spPr/>
        <p:txBody>
          <a:bodyPr/>
          <a:lstStyle/>
          <a:p>
            <a:pPr marL="85725" indent="0">
              <a:spcBef>
                <a:spcPts val="624"/>
              </a:spcBef>
              <a:spcAft>
                <a:spcPts val="600"/>
              </a:spcAft>
              <a:buNone/>
            </a:pPr>
            <a:r>
              <a:rPr lang="en-US" sz="2600" b="1" dirty="0">
                <a:solidFill>
                  <a:schemeClr val="tx1"/>
                </a:solidFill>
                <a:latin typeface="Work Sans" pitchFamily="2" charset="0"/>
              </a:rPr>
              <a:t>49-06 Identify the purposes of turning radius or toe-out in turns.</a:t>
            </a:r>
            <a:endParaRPr lang="en-US" sz="2600" dirty="0">
              <a:solidFill>
                <a:schemeClr val="tx1"/>
              </a:solidFill>
            </a:endParaRPr>
          </a:p>
          <a:p>
            <a:pPr marL="355600" indent="-355600">
              <a:spcBef>
                <a:spcPts val="624"/>
              </a:spcBef>
              <a:spcAft>
                <a:spcPts val="600"/>
              </a:spcAft>
              <a:buClr>
                <a:schemeClr val="tx1"/>
              </a:buClr>
              <a:buSzPct val="100000"/>
            </a:pPr>
            <a:r>
              <a:rPr lang="en-US" sz="2600" dirty="0">
                <a:solidFill>
                  <a:schemeClr val="tx1"/>
                </a:solidFill>
              </a:rPr>
              <a:t>The amount of toe-out present in turns</a:t>
            </a:r>
          </a:p>
          <a:p>
            <a:pPr marL="355600" indent="-355600">
              <a:spcBef>
                <a:spcPts val="624"/>
              </a:spcBef>
              <a:spcAft>
                <a:spcPts val="600"/>
              </a:spcAft>
              <a:buClr>
                <a:schemeClr val="tx1"/>
              </a:buClr>
              <a:buSzPct val="100000"/>
            </a:pPr>
            <a:r>
              <a:rPr lang="en-US" sz="2600" dirty="0">
                <a:solidFill>
                  <a:schemeClr val="tx1"/>
                </a:solidFill>
              </a:rPr>
              <a:t>Also called toe-out on turns or turning angle</a:t>
            </a:r>
          </a:p>
          <a:p>
            <a:pPr marL="355600" indent="-355600">
              <a:spcBef>
                <a:spcPts val="624"/>
              </a:spcBef>
              <a:spcAft>
                <a:spcPts val="600"/>
              </a:spcAft>
              <a:buClr>
                <a:schemeClr val="tx1"/>
              </a:buClr>
              <a:buSzPct val="100000"/>
            </a:pPr>
            <a:r>
              <a:rPr lang="en-US" sz="2600" dirty="0">
                <a:solidFill>
                  <a:schemeClr val="tx1"/>
                </a:solidFill>
              </a:rPr>
              <a:t>Eliminates tire scrubbing while cornering</a:t>
            </a:r>
          </a:p>
          <a:p>
            <a:pPr marL="355600" indent="-355600">
              <a:spcBef>
                <a:spcPts val="624"/>
              </a:spcBef>
              <a:spcAft>
                <a:spcPts val="600"/>
              </a:spcAft>
              <a:buClr>
                <a:schemeClr val="tx1"/>
              </a:buClr>
              <a:buSzPct val="100000"/>
            </a:pPr>
            <a:r>
              <a:rPr lang="en-US" sz="2600" dirty="0">
                <a:solidFill>
                  <a:schemeClr val="tx1"/>
                </a:solidFill>
              </a:rPr>
              <a:t>Built into steering geometry</a:t>
            </a:r>
          </a:p>
          <a:p>
            <a:pPr marL="355600" indent="-355600">
              <a:spcBef>
                <a:spcPts val="624"/>
              </a:spcBef>
              <a:spcAft>
                <a:spcPts val="600"/>
              </a:spcAft>
              <a:buClr>
                <a:schemeClr val="tx1"/>
              </a:buClr>
              <a:buSzPct val="100000"/>
            </a:pPr>
            <a:r>
              <a:rPr lang="en-US" sz="2600" dirty="0">
                <a:solidFill>
                  <a:schemeClr val="tx1"/>
                </a:solidFill>
              </a:rPr>
              <a:t>Not adjustable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Toe-Out On Turns (1 of 2)</a:t>
            </a:r>
          </a:p>
        </p:txBody>
      </p:sp>
      <p:sp>
        <p:nvSpPr>
          <p:cNvPr id="3" name="Content Placeholder 2"/>
          <p:cNvSpPr>
            <a:spLocks noGrp="1"/>
          </p:cNvSpPr>
          <p:nvPr>
            <p:ph type="body" idx="1"/>
          </p:nvPr>
        </p:nvSpPr>
        <p:spPr/>
        <p:txBody>
          <a:bodyPr/>
          <a:lstStyle/>
          <a:p>
            <a:r>
              <a:rPr lang="en-US" sz="2600" dirty="0">
                <a:solidFill>
                  <a:schemeClr val="tx1"/>
                </a:solidFill>
              </a:rPr>
              <a:t>Also called turning angle</a:t>
            </a:r>
          </a:p>
          <a:p>
            <a:r>
              <a:rPr lang="en-US" sz="2600" dirty="0">
                <a:solidFill>
                  <a:schemeClr val="tx1"/>
                </a:solidFill>
              </a:rPr>
              <a:t>Designed by placement of the steering arms and linkage</a:t>
            </a:r>
          </a:p>
          <a:p>
            <a:r>
              <a:rPr lang="en-US" sz="2600" dirty="0">
                <a:solidFill>
                  <a:schemeClr val="tx1"/>
                </a:solidFill>
              </a:rPr>
              <a:t>Reduces tire scrubbing while cornering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Toe-Out On Turns (2 of 2) </a:t>
            </a:r>
          </a:p>
        </p:txBody>
      </p:sp>
      <p:pic>
        <p:nvPicPr>
          <p:cNvPr id="9" name="Picture Placeholder 8" descr="An outline of a car in the horizontal direction. The front of the car is on the left. The front wheels are tilted down to the left. Two parallel colored lines numbered 0 are along the front axle. Two dashed lines slant down and to the left along the direction of the front wheels. The dashed lines makes an angle with horizontal colored line and is labeled 18 degrees at front right wheel and 20 degrees at front left wheel. The angle at the front left wheel, is 2 degrees more toe-out.">
            <a:extLst>
              <a:ext uri="{FF2B5EF4-FFF2-40B4-BE49-F238E27FC236}">
                <a16:creationId xmlns:a16="http://schemas.microsoft.com/office/drawing/2014/main" id="{0B41AC9A-A2B2-EE0D-507F-6D1888CA6A6C}"/>
              </a:ext>
            </a:extLst>
          </p:cNvPr>
          <p:cNvPicPr>
            <a:picLocks noGrp="1" noChangeAspect="1"/>
          </p:cNvPicPr>
          <p:nvPr>
            <p:ph type="pic" sz="quarter" idx="11"/>
          </p:nvPr>
        </p:nvPicPr>
        <p:blipFill>
          <a:blip r:embed="rId2"/>
          <a:srcRect b="9230"/>
          <a:stretch/>
        </p:blipFill>
        <p:spPr>
          <a:xfrm>
            <a:off x="2431451" y="1739335"/>
            <a:ext cx="7329099" cy="34593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 (1 of 2)</a:t>
            </a:r>
          </a:p>
        </p:txBody>
      </p:sp>
      <p:sp>
        <p:nvSpPr>
          <p:cNvPr id="6" name="Content Placeholder 5"/>
          <p:cNvSpPr>
            <a:spLocks noGrp="1"/>
          </p:cNvSpPr>
          <p:nvPr>
            <p:ph type="body" idx="1"/>
          </p:nvPr>
        </p:nvSpPr>
        <p:spPr/>
        <p:txBody>
          <a:bodyPr/>
          <a:lstStyle/>
          <a:p>
            <a:pPr marL="85725" indent="0">
              <a:buNone/>
            </a:pPr>
            <a:r>
              <a:rPr lang="en-US" dirty="0">
                <a:solidFill>
                  <a:schemeClr val="tx1"/>
                </a:solidFill>
              </a:rPr>
              <a:t>Which three alignment angles are typically adjusted during a wheel alignment?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 Answer (1 of 2)</a:t>
            </a:r>
          </a:p>
        </p:txBody>
      </p:sp>
      <p:sp>
        <p:nvSpPr>
          <p:cNvPr id="6" name="Content Placeholder 5"/>
          <p:cNvSpPr>
            <a:spLocks noGrp="1"/>
          </p:cNvSpPr>
          <p:nvPr>
            <p:ph type="body" idx="1"/>
          </p:nvPr>
        </p:nvSpPr>
        <p:spPr/>
        <p:txBody>
          <a:bodyPr/>
          <a:lstStyle/>
          <a:p>
            <a:pPr>
              <a:spcAft>
                <a:spcPts val="2400"/>
              </a:spcAft>
            </a:pPr>
            <a:r>
              <a:rPr lang="en-US" dirty="0"/>
              <a:t>Which three alignment angles are typically adjusted during a wheel alignment?</a:t>
            </a:r>
          </a:p>
          <a:p>
            <a:pPr marL="1435100" indent="0">
              <a:buNone/>
            </a:pPr>
            <a:r>
              <a:rPr lang="en-US" dirty="0"/>
              <a:t>Answer: Caster, Camber, and Toe</a:t>
            </a:r>
          </a:p>
        </p:txBody>
      </p:sp>
    </p:spTree>
    <p:extLst>
      <p:ext uri="{BB962C8B-B14F-4D97-AF65-F5344CB8AC3E}">
        <p14:creationId xmlns:p14="http://schemas.microsoft.com/office/powerpoint/2010/main" val="4214136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Load Distribution</a:t>
            </a:r>
          </a:p>
        </p:txBody>
      </p:sp>
      <p:sp>
        <p:nvSpPr>
          <p:cNvPr id="22531" name="Content Placeholder 2"/>
          <p:cNvSpPr>
            <a:spLocks noGrp="1"/>
          </p:cNvSpPr>
          <p:nvPr>
            <p:ph type="body" idx="1"/>
          </p:nvPr>
        </p:nvSpPr>
        <p:spPr/>
        <p:txBody>
          <a:bodyPr/>
          <a:lstStyle/>
          <a:p>
            <a:r>
              <a:rPr lang="en-US" sz="2600" dirty="0">
                <a:solidFill>
                  <a:schemeClr val="tx1"/>
                </a:solidFill>
              </a:rPr>
              <a:t>The load placed on each wheel</a:t>
            </a:r>
          </a:p>
          <a:p>
            <a:r>
              <a:rPr lang="en-US" sz="2600" dirty="0">
                <a:solidFill>
                  <a:schemeClr val="tx1"/>
                </a:solidFill>
              </a:rPr>
              <a:t>Each wheel must carry the correct amount of weight at its designed ride or trim height.</a:t>
            </a:r>
          </a:p>
          <a:p>
            <a:r>
              <a:rPr lang="en-US" sz="2600" dirty="0">
                <a:solidFill>
                  <a:schemeClr val="tx1"/>
                </a:solidFill>
              </a:rPr>
              <a:t>Excessive loading changes ride height, vehicle balance, and steering geometry.</a:t>
            </a:r>
          </a:p>
          <a:p>
            <a:r>
              <a:rPr lang="en-US" sz="2600" dirty="0">
                <a:solidFill>
                  <a:schemeClr val="tx1"/>
                </a:solidFill>
              </a:rPr>
              <a:t>Weak springs and bent suspension parts can affect this condition.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solidFill>
                  <a:schemeClr val="tx1"/>
                </a:solidFill>
              </a:rPr>
              <a:t>Prealignment Inspection</a:t>
            </a:r>
          </a:p>
        </p:txBody>
      </p:sp>
      <p:sp>
        <p:nvSpPr>
          <p:cNvPr id="23555" name="Content Placeholder 2"/>
          <p:cNvSpPr>
            <a:spLocks noGrp="1"/>
          </p:cNvSpPr>
          <p:nvPr>
            <p:ph type="body" idx="1"/>
          </p:nvPr>
        </p:nvSpPr>
        <p:spPr/>
        <p:txBody>
          <a:bodyPr/>
          <a:lstStyle/>
          <a:p>
            <a:pPr marL="85725" indent="0">
              <a:buNone/>
            </a:pPr>
            <a:r>
              <a:rPr lang="en-US" sz="2800" b="1" dirty="0">
                <a:solidFill>
                  <a:schemeClr val="tx1"/>
                </a:solidFill>
                <a:latin typeface="Work Sans" pitchFamily="2" charset="0"/>
              </a:rPr>
              <a:t>49-08 Perform a </a:t>
            </a:r>
            <a:r>
              <a:rPr lang="en-US" sz="2800" b="1" dirty="0" err="1">
                <a:solidFill>
                  <a:schemeClr val="tx1"/>
                </a:solidFill>
                <a:latin typeface="Work Sans" pitchFamily="2" charset="0"/>
              </a:rPr>
              <a:t>prealignment</a:t>
            </a:r>
            <a:r>
              <a:rPr lang="en-US" sz="2800" b="1" dirty="0">
                <a:solidFill>
                  <a:schemeClr val="tx1"/>
                </a:solidFill>
                <a:latin typeface="Work Sans" pitchFamily="2" charset="0"/>
              </a:rPr>
              <a:t> inspection.</a:t>
            </a:r>
            <a:endParaRPr lang="en-US" sz="2600" dirty="0">
              <a:solidFill>
                <a:schemeClr val="tx1"/>
              </a:solidFill>
            </a:endParaRPr>
          </a:p>
          <a:p>
            <a:r>
              <a:rPr lang="en-US" sz="2600" dirty="0">
                <a:solidFill>
                  <a:schemeClr val="tx1"/>
                </a:solidFill>
              </a:rPr>
              <a:t>Know why the vehicle needs aligned or why an alignment is requested</a:t>
            </a:r>
          </a:p>
          <a:p>
            <a:r>
              <a:rPr lang="en-US" sz="2600" dirty="0">
                <a:solidFill>
                  <a:schemeClr val="tx1"/>
                </a:solidFill>
              </a:rPr>
              <a:t>Follow the customer interview with a test drive</a:t>
            </a:r>
          </a:p>
          <a:p>
            <a:r>
              <a:rPr lang="en-US" sz="2600" dirty="0">
                <a:solidFill>
                  <a:schemeClr val="tx1"/>
                </a:solidFill>
              </a:rPr>
              <a:t>Note vibrations, pulling, hard steering, tire squeal, or noises</a:t>
            </a:r>
          </a:p>
          <a:p>
            <a:pPr algn="l"/>
            <a:r>
              <a:rPr lang="en-US" sz="2600" dirty="0">
                <a:solidFill>
                  <a:schemeClr val="tx1"/>
                </a:solidFill>
                <a:latin typeface="Work Sans" pitchFamily="2" charset="0"/>
              </a:rPr>
              <a:t>If any parts are found to be defective, they should be replaced before proceeding with the alignment.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Ride Height</a:t>
            </a:r>
          </a:p>
        </p:txBody>
      </p:sp>
      <p:sp>
        <p:nvSpPr>
          <p:cNvPr id="24579" name="Content Placeholder 5"/>
          <p:cNvSpPr>
            <a:spLocks noGrp="1"/>
          </p:cNvSpPr>
          <p:nvPr>
            <p:ph type="body" idx="1"/>
          </p:nvPr>
        </p:nvSpPr>
        <p:spPr/>
        <p:txBody>
          <a:bodyPr/>
          <a:lstStyle/>
          <a:p>
            <a:r>
              <a:rPr lang="en-US" sz="2600" dirty="0">
                <a:solidFill>
                  <a:schemeClr val="tx1"/>
                </a:solidFill>
              </a:rPr>
              <a:t>Check vehicle ride height against the specifications</a:t>
            </a:r>
          </a:p>
          <a:p>
            <a:r>
              <a:rPr lang="en-US" sz="2600" dirty="0">
                <a:solidFill>
                  <a:schemeClr val="tx1"/>
                </a:solidFill>
              </a:rPr>
              <a:t>Proper alignment is not possible if ride height is incorrect.</a:t>
            </a:r>
          </a:p>
          <a:p>
            <a:r>
              <a:rPr lang="en-US" sz="2600" dirty="0">
                <a:solidFill>
                  <a:schemeClr val="tx1"/>
                </a:solidFill>
              </a:rPr>
              <a:t>Ride height is discussed in detail in Chapter 16.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of Poor Alignment</a:t>
            </a:r>
          </a:p>
        </p:txBody>
      </p:sp>
      <p:sp>
        <p:nvSpPr>
          <p:cNvPr id="4" name="Content Placeholder 3"/>
          <p:cNvSpPr>
            <a:spLocks noGrp="1"/>
          </p:cNvSpPr>
          <p:nvPr>
            <p:ph type="body" idx="1"/>
          </p:nvPr>
        </p:nvSpPr>
        <p:spPr>
          <a:xfrm>
            <a:off x="476845" y="1563626"/>
            <a:ext cx="5619156" cy="4075174"/>
          </a:xfrm>
        </p:spPr>
        <p:txBody>
          <a:bodyPr/>
          <a:lstStyle/>
          <a:p>
            <a:r>
              <a:rPr lang="en-US" dirty="0">
                <a:solidFill>
                  <a:schemeClr val="tx1"/>
                </a:solidFill>
              </a:rPr>
              <a:t>Often causes</a:t>
            </a:r>
          </a:p>
          <a:p>
            <a:pPr lvl="1"/>
            <a:r>
              <a:rPr lang="en-US" sz="2400" dirty="0">
                <a:solidFill>
                  <a:schemeClr val="tx1"/>
                </a:solidFill>
              </a:rPr>
              <a:t>Pulling</a:t>
            </a:r>
          </a:p>
          <a:p>
            <a:pPr lvl="1"/>
            <a:r>
              <a:rPr lang="en-US" sz="2400" dirty="0">
                <a:solidFill>
                  <a:schemeClr val="tx1"/>
                </a:solidFill>
              </a:rPr>
              <a:t>Accelerated tire wear</a:t>
            </a:r>
          </a:p>
          <a:p>
            <a:pPr lvl="1"/>
            <a:r>
              <a:rPr lang="en-US" sz="2400" dirty="0">
                <a:solidFill>
                  <a:schemeClr val="tx1"/>
                </a:solidFill>
              </a:rPr>
              <a:t>Wander</a:t>
            </a:r>
          </a:p>
          <a:p>
            <a:pPr lvl="1"/>
            <a:r>
              <a:rPr lang="en-US" sz="2400" dirty="0">
                <a:solidFill>
                  <a:schemeClr val="tx1"/>
                </a:solidFill>
              </a:rPr>
              <a:t>Instability</a:t>
            </a:r>
          </a:p>
          <a:p>
            <a:pPr lvl="1"/>
            <a:r>
              <a:rPr lang="en-US" sz="2400" dirty="0">
                <a:solidFill>
                  <a:schemeClr val="tx1"/>
                </a:solidFill>
              </a:rPr>
              <a:t>Poor steering return</a:t>
            </a:r>
          </a:p>
          <a:p>
            <a:pPr lvl="1"/>
            <a:r>
              <a:rPr lang="en-US" sz="2400" dirty="0">
                <a:solidFill>
                  <a:schemeClr val="tx1"/>
                </a:solidFill>
              </a:rPr>
              <a:t>Tire squealing</a:t>
            </a:r>
          </a:p>
        </p:txBody>
      </p:sp>
      <p:pic>
        <p:nvPicPr>
          <p:cNvPr id="9" name="Picture Placeholder 8" descr="Close up of a worn-out tire fixed to a vehicle.">
            <a:extLst>
              <a:ext uri="{FF2B5EF4-FFF2-40B4-BE49-F238E27FC236}">
                <a16:creationId xmlns:a16="http://schemas.microsoft.com/office/drawing/2014/main" id="{2349EBD2-4468-1360-615D-5F89B8C8DDCF}"/>
              </a:ext>
            </a:extLst>
          </p:cNvPr>
          <p:cNvPicPr>
            <a:picLocks noGrp="1" noChangeAspect="1"/>
          </p:cNvPicPr>
          <p:nvPr>
            <p:ph type="pic" sz="quarter" idx="11"/>
          </p:nvPr>
        </p:nvPicPr>
        <p:blipFill>
          <a:blip r:embed="rId2"/>
          <a:srcRect b="7081"/>
          <a:stretch/>
        </p:blipFill>
        <p:spPr>
          <a:xfrm>
            <a:off x="6725790" y="1840819"/>
            <a:ext cx="3054769" cy="407517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Effects of Incorrect Alignment (1 of 2)</a:t>
            </a:r>
          </a:p>
        </p:txBody>
      </p:sp>
      <p:sp>
        <p:nvSpPr>
          <p:cNvPr id="6" name="Content Placeholder 5"/>
          <p:cNvSpPr>
            <a:spLocks noGrp="1"/>
          </p:cNvSpPr>
          <p:nvPr>
            <p:ph type="body" idx="1"/>
          </p:nvPr>
        </p:nvSpPr>
        <p:spPr>
          <a:xfrm>
            <a:off x="476844" y="1474726"/>
            <a:ext cx="11241915" cy="4760974"/>
          </a:xfrm>
        </p:spPr>
        <p:txBody>
          <a:bodyPr>
            <a:noAutofit/>
          </a:bodyPr>
          <a:lstStyle/>
          <a:p>
            <a:pPr>
              <a:spcAft>
                <a:spcPts val="0"/>
              </a:spcAft>
            </a:pPr>
            <a:r>
              <a:rPr lang="en-US" sz="2200" dirty="0"/>
              <a:t>Incorrect camber setting</a:t>
            </a:r>
          </a:p>
          <a:p>
            <a:pPr lvl="1">
              <a:spcAft>
                <a:spcPts val="0"/>
              </a:spcAft>
            </a:pPr>
            <a:r>
              <a:rPr lang="en-US" sz="2000" dirty="0"/>
              <a:t>Tire wear</a:t>
            </a:r>
          </a:p>
          <a:p>
            <a:pPr lvl="1">
              <a:spcAft>
                <a:spcPts val="0"/>
              </a:spcAft>
            </a:pPr>
            <a:r>
              <a:rPr lang="en-US" sz="2000" dirty="0"/>
              <a:t>Ball joint/wheel bearing wear</a:t>
            </a:r>
          </a:p>
          <a:p>
            <a:pPr lvl="1">
              <a:spcAft>
                <a:spcPts val="0"/>
              </a:spcAft>
            </a:pPr>
            <a:r>
              <a:rPr lang="en-US" sz="2000" dirty="0"/>
              <a:t>Pull to side of most positive/least negative camber</a:t>
            </a:r>
          </a:p>
          <a:p>
            <a:pPr>
              <a:spcAft>
                <a:spcPts val="0"/>
              </a:spcAft>
            </a:pPr>
            <a:r>
              <a:rPr lang="en-US" sz="2200" dirty="0"/>
              <a:t>Too much positive caster</a:t>
            </a:r>
          </a:p>
          <a:p>
            <a:pPr lvl="1">
              <a:spcAft>
                <a:spcPts val="0"/>
              </a:spcAft>
            </a:pPr>
            <a:r>
              <a:rPr lang="en-US" sz="2000" dirty="0"/>
              <a:t>Hard steering</a:t>
            </a:r>
          </a:p>
          <a:p>
            <a:pPr lvl="1">
              <a:spcAft>
                <a:spcPts val="0"/>
              </a:spcAft>
            </a:pPr>
            <a:r>
              <a:rPr lang="en-US" sz="2000" dirty="0"/>
              <a:t>Excessive road shock</a:t>
            </a:r>
          </a:p>
          <a:p>
            <a:pPr lvl="1">
              <a:spcAft>
                <a:spcPts val="0"/>
              </a:spcAft>
            </a:pPr>
            <a:r>
              <a:rPr lang="en-US" sz="2000" dirty="0"/>
              <a:t>Wheel shimmy</a:t>
            </a:r>
          </a:p>
          <a:p>
            <a:pPr>
              <a:spcAft>
                <a:spcPts val="0"/>
              </a:spcAft>
            </a:pPr>
            <a:r>
              <a:rPr lang="en-US" sz="2200" dirty="0"/>
              <a:t>Too much negative caster</a:t>
            </a:r>
          </a:p>
          <a:p>
            <a:pPr lvl="1">
              <a:spcAft>
                <a:spcPts val="0"/>
              </a:spcAft>
            </a:pPr>
            <a:r>
              <a:rPr lang="en-US" sz="2000" dirty="0"/>
              <a:t>Wander</a:t>
            </a:r>
          </a:p>
          <a:p>
            <a:pPr lvl="1">
              <a:spcAft>
                <a:spcPts val="0"/>
              </a:spcAft>
            </a:pPr>
            <a:r>
              <a:rPr lang="en-US" sz="2000" dirty="0"/>
              <a:t>Weave</a:t>
            </a:r>
          </a:p>
          <a:p>
            <a:pPr lvl="1">
              <a:spcAft>
                <a:spcPts val="0"/>
              </a:spcAft>
            </a:pPr>
            <a:r>
              <a:rPr lang="en-US" sz="2000" dirty="0"/>
              <a:t>Instability at high speeds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Effects of Incorrect Alignment (2 of 2)</a:t>
            </a:r>
          </a:p>
        </p:txBody>
      </p:sp>
      <p:sp>
        <p:nvSpPr>
          <p:cNvPr id="3" name="Content Placeholder 2"/>
          <p:cNvSpPr>
            <a:spLocks noGrp="1"/>
          </p:cNvSpPr>
          <p:nvPr>
            <p:ph type="body" idx="1"/>
          </p:nvPr>
        </p:nvSpPr>
        <p:spPr/>
        <p:txBody>
          <a:bodyPr>
            <a:normAutofit fontScale="25000" lnSpcReduction="20000"/>
          </a:bodyPr>
          <a:lstStyle/>
          <a:p>
            <a:pPr>
              <a:spcAft>
                <a:spcPts val="400"/>
              </a:spcAft>
            </a:pPr>
            <a:r>
              <a:rPr lang="en-US" sz="8800" dirty="0"/>
              <a:t>Unequal caster</a:t>
            </a:r>
          </a:p>
          <a:p>
            <a:pPr lvl="1">
              <a:spcAft>
                <a:spcPts val="400"/>
              </a:spcAft>
            </a:pPr>
            <a:r>
              <a:rPr lang="en-US" sz="8000" dirty="0"/>
              <a:t>Pull to side most negative/ least positive caster</a:t>
            </a:r>
          </a:p>
          <a:p>
            <a:pPr>
              <a:spcAft>
                <a:spcPts val="400"/>
              </a:spcAft>
            </a:pPr>
            <a:r>
              <a:rPr lang="en-US" sz="8800" dirty="0"/>
              <a:t>Incorrect SAI</a:t>
            </a:r>
          </a:p>
          <a:p>
            <a:pPr marL="723900" lvl="1" indent="-365125">
              <a:spcAft>
                <a:spcPts val="400"/>
              </a:spcAft>
            </a:pPr>
            <a:r>
              <a:rPr lang="en-US" sz="8000" dirty="0"/>
              <a:t>Instability</a:t>
            </a:r>
          </a:p>
          <a:p>
            <a:pPr marL="723900" lvl="1" indent="-365125">
              <a:spcAft>
                <a:spcPts val="400"/>
              </a:spcAft>
            </a:pPr>
            <a:r>
              <a:rPr lang="en-US" sz="8000" dirty="0"/>
              <a:t>Poor return</a:t>
            </a:r>
          </a:p>
          <a:p>
            <a:pPr marL="723900" lvl="1" indent="-365125">
              <a:spcAft>
                <a:spcPts val="400"/>
              </a:spcAft>
            </a:pPr>
            <a:r>
              <a:rPr lang="en-US" sz="8000" dirty="0"/>
              <a:t>Pull to side of lesser inclination</a:t>
            </a:r>
          </a:p>
          <a:p>
            <a:pPr marL="723900" lvl="1" indent="-365125">
              <a:spcAft>
                <a:spcPts val="400"/>
              </a:spcAft>
            </a:pPr>
            <a:r>
              <a:rPr lang="en-US" sz="8000" dirty="0"/>
              <a:t>Hard steering</a:t>
            </a:r>
          </a:p>
          <a:p>
            <a:pPr>
              <a:spcAft>
                <a:spcPts val="400"/>
              </a:spcAft>
            </a:pPr>
            <a:r>
              <a:rPr lang="en-US" sz="8800" dirty="0"/>
              <a:t>Incorrect toe setting</a:t>
            </a:r>
          </a:p>
          <a:p>
            <a:pPr lvl="1">
              <a:spcAft>
                <a:spcPts val="400"/>
              </a:spcAft>
            </a:pPr>
            <a:r>
              <a:rPr lang="en-US" sz="8000" dirty="0"/>
              <a:t>Tire wear</a:t>
            </a:r>
          </a:p>
          <a:p>
            <a:pPr>
              <a:spcAft>
                <a:spcPts val="400"/>
              </a:spcAft>
            </a:pPr>
            <a:r>
              <a:rPr lang="en-US" sz="8800" dirty="0"/>
              <a:t>Incorrect turning radius</a:t>
            </a:r>
          </a:p>
          <a:p>
            <a:pPr lvl="1">
              <a:spcAft>
                <a:spcPts val="400"/>
              </a:spcAft>
            </a:pPr>
            <a:r>
              <a:rPr lang="en-US" sz="8000" dirty="0"/>
              <a:t>Tire wear</a:t>
            </a:r>
          </a:p>
          <a:p>
            <a:pPr lvl="1">
              <a:spcAft>
                <a:spcPts val="400"/>
              </a:spcAft>
            </a:pPr>
            <a:r>
              <a:rPr lang="en-US" sz="8000" dirty="0"/>
              <a:t>Squeal in turns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5"/>
          <p:cNvSpPr>
            <a:spLocks noGrp="1"/>
          </p:cNvSpPr>
          <p:nvPr>
            <p:ph type="title"/>
          </p:nvPr>
        </p:nvSpPr>
        <p:spPr/>
        <p:txBody>
          <a:bodyPr/>
          <a:lstStyle/>
          <a:p>
            <a:r>
              <a:rPr lang="en-US" dirty="0"/>
              <a:t>Wheel Alignment Equipment (1 of 3)</a:t>
            </a:r>
          </a:p>
        </p:txBody>
      </p:sp>
      <p:sp>
        <p:nvSpPr>
          <p:cNvPr id="25603" name="Content Placeholder 6"/>
          <p:cNvSpPr>
            <a:spLocks noGrp="1"/>
          </p:cNvSpPr>
          <p:nvPr>
            <p:ph type="body" idx="1"/>
          </p:nvPr>
        </p:nvSpPr>
        <p:spPr/>
        <p:txBody>
          <a:bodyPr>
            <a:normAutofit/>
          </a:bodyPr>
          <a:lstStyle/>
          <a:p>
            <a:r>
              <a:rPr lang="en-US" sz="2600" dirty="0">
                <a:solidFill>
                  <a:schemeClr val="tx1"/>
                </a:solidFill>
              </a:rPr>
              <a:t>Modern systems are computerized.</a:t>
            </a:r>
          </a:p>
          <a:p>
            <a:r>
              <a:rPr lang="en-US" sz="2600" dirty="0">
                <a:solidFill>
                  <a:schemeClr val="tx1"/>
                </a:solidFill>
              </a:rPr>
              <a:t>Many use LEDs and CCD cameras to determine wheel position.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12D81-70AD-8718-42AD-A40332C24B0D}"/>
              </a:ext>
            </a:extLst>
          </p:cNvPr>
          <p:cNvSpPr>
            <a:spLocks noGrp="1"/>
          </p:cNvSpPr>
          <p:nvPr>
            <p:ph type="title"/>
          </p:nvPr>
        </p:nvSpPr>
        <p:spPr/>
        <p:txBody>
          <a:bodyPr/>
          <a:lstStyle/>
          <a:p>
            <a:r>
              <a:rPr lang="en-US" dirty="0"/>
              <a:t>Wheel Alignment Equipment (2 of 3) </a:t>
            </a:r>
          </a:p>
        </p:txBody>
      </p:sp>
      <p:sp>
        <p:nvSpPr>
          <p:cNvPr id="3" name="Text Placeholder 2">
            <a:extLst>
              <a:ext uri="{FF2B5EF4-FFF2-40B4-BE49-F238E27FC236}">
                <a16:creationId xmlns:a16="http://schemas.microsoft.com/office/drawing/2014/main" id="{9915EEB4-D907-91BF-80AA-A1A4A842EC48}"/>
              </a:ext>
            </a:extLst>
          </p:cNvPr>
          <p:cNvSpPr>
            <a:spLocks noGrp="1"/>
          </p:cNvSpPr>
          <p:nvPr>
            <p:ph type="body" idx="1"/>
          </p:nvPr>
        </p:nvSpPr>
        <p:spPr/>
        <p:txBody>
          <a:bodyPr/>
          <a:lstStyle/>
          <a:p>
            <a:r>
              <a:rPr lang="en-US" dirty="0">
                <a:solidFill>
                  <a:schemeClr val="tx1"/>
                </a:solidFill>
              </a:rPr>
              <a:t>Alignment information is displayed on screen and can be printed for the customer.</a:t>
            </a:r>
          </a:p>
          <a:p>
            <a:r>
              <a:rPr lang="en-US" dirty="0">
                <a:solidFill>
                  <a:schemeClr val="tx1"/>
                </a:solidFill>
              </a:rPr>
              <a:t>Alignment equipment and racks need maintenance and care to provide reliable service.</a:t>
            </a:r>
          </a:p>
        </p:txBody>
      </p:sp>
    </p:spTree>
    <p:extLst>
      <p:ext uri="{BB962C8B-B14F-4D97-AF65-F5344CB8AC3E}">
        <p14:creationId xmlns:p14="http://schemas.microsoft.com/office/powerpoint/2010/main" val="4568493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Wheel Alignment Equipment (3 of 3)  </a:t>
            </a:r>
          </a:p>
        </p:txBody>
      </p:sp>
      <p:pic>
        <p:nvPicPr>
          <p:cNvPr id="10" name="Picture Placeholder 9" descr="A wheel-alignment application is displayed on the screen of a computer of a wheel alignment machine.">
            <a:extLst>
              <a:ext uri="{FF2B5EF4-FFF2-40B4-BE49-F238E27FC236}">
                <a16:creationId xmlns:a16="http://schemas.microsoft.com/office/drawing/2014/main" id="{ACE2FC5B-BB3F-5564-F556-08899FE1C395}"/>
              </a:ext>
            </a:extLst>
          </p:cNvPr>
          <p:cNvPicPr>
            <a:picLocks noGrp="1" noChangeAspect="1"/>
          </p:cNvPicPr>
          <p:nvPr>
            <p:ph type="pic" sz="quarter" idx="11"/>
          </p:nvPr>
        </p:nvPicPr>
        <p:blipFill>
          <a:blip r:embed="rId3"/>
          <a:srcRect b="6027"/>
          <a:stretch/>
        </p:blipFill>
        <p:spPr>
          <a:xfrm>
            <a:off x="2466983" y="1830229"/>
            <a:ext cx="2905111" cy="3913024"/>
          </a:xfrm>
          <a:prstGeom prst="rect">
            <a:avLst/>
          </a:prstGeom>
        </p:spPr>
      </p:pic>
      <p:pic>
        <p:nvPicPr>
          <p:cNvPr id="11" name="Picture Placeholder 10" descr="A vehicle is placed on top of a wheel alignment machine with high-imaging cameras fixed to the tires of the same side, and the wheel alignment machine gathers the measurements based on it's output.">
            <a:extLst>
              <a:ext uri="{FF2B5EF4-FFF2-40B4-BE49-F238E27FC236}">
                <a16:creationId xmlns:a16="http://schemas.microsoft.com/office/drawing/2014/main" id="{5115DF73-1E12-6C6E-2AAD-EBD92C179AB1}"/>
              </a:ext>
            </a:extLst>
          </p:cNvPr>
          <p:cNvPicPr>
            <a:picLocks noGrp="1" noChangeAspect="1"/>
          </p:cNvPicPr>
          <p:nvPr>
            <p:ph type="pic" sz="quarter" idx="12"/>
          </p:nvPr>
        </p:nvPicPr>
        <p:blipFill>
          <a:blip r:embed="rId4"/>
          <a:srcRect b="15126"/>
          <a:stretch/>
        </p:blipFill>
        <p:spPr>
          <a:xfrm>
            <a:off x="6148950" y="1976638"/>
            <a:ext cx="4034300" cy="304742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3"/>
          <p:cNvSpPr>
            <a:spLocks noGrp="1"/>
          </p:cNvSpPr>
          <p:nvPr>
            <p:ph type="title"/>
          </p:nvPr>
        </p:nvSpPr>
        <p:spPr/>
        <p:txBody>
          <a:bodyPr/>
          <a:lstStyle/>
          <a:p>
            <a:r>
              <a:rPr lang="en-US" dirty="0"/>
              <a:t>Alignment Machines</a:t>
            </a:r>
          </a:p>
        </p:txBody>
      </p:sp>
      <p:sp>
        <p:nvSpPr>
          <p:cNvPr id="28675" name="Content Placeholder 4"/>
          <p:cNvSpPr>
            <a:spLocks noGrp="1"/>
          </p:cNvSpPr>
          <p:nvPr>
            <p:ph type="body" idx="1"/>
          </p:nvPr>
        </p:nvSpPr>
        <p:spPr/>
        <p:txBody>
          <a:bodyPr/>
          <a:lstStyle/>
          <a:p>
            <a:r>
              <a:rPr lang="en-US" sz="2600" dirty="0">
                <a:solidFill>
                  <a:schemeClr val="tx1"/>
                </a:solidFill>
              </a:rPr>
              <a:t>Modern machines provide</a:t>
            </a:r>
          </a:p>
          <a:p>
            <a:pPr lvl="1"/>
            <a:r>
              <a:rPr lang="en-US" dirty="0">
                <a:solidFill>
                  <a:schemeClr val="tx1"/>
                </a:solidFill>
              </a:rPr>
              <a:t>Model-specific information and photos</a:t>
            </a:r>
          </a:p>
          <a:p>
            <a:pPr lvl="1"/>
            <a:r>
              <a:rPr lang="en-US" dirty="0">
                <a:solidFill>
                  <a:schemeClr val="tx1"/>
                </a:solidFill>
              </a:rPr>
              <a:t>Caster, camber, SAI, IA, setback, and toe readings</a:t>
            </a:r>
          </a:p>
          <a:p>
            <a:pPr lvl="1"/>
            <a:r>
              <a:rPr lang="en-US" dirty="0">
                <a:solidFill>
                  <a:schemeClr val="tx1"/>
                </a:solidFill>
              </a:rPr>
              <a:t>Printed analysis</a:t>
            </a:r>
          </a:p>
          <a:p>
            <a:pPr lvl="1"/>
            <a:r>
              <a:rPr lang="en-US" dirty="0">
                <a:solidFill>
                  <a:schemeClr val="tx1"/>
                </a:solidFill>
              </a:rPr>
              <a:t>Displays tools and parts for adjustments</a:t>
            </a:r>
          </a:p>
          <a:p>
            <a:pPr lvl="1"/>
            <a:r>
              <a:rPr lang="en-US" dirty="0">
                <a:solidFill>
                  <a:schemeClr val="tx1"/>
                </a:solidFill>
              </a:rPr>
              <a:t>Steps for shim placement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Screenshot from Alignment Machine</a:t>
            </a:r>
          </a:p>
        </p:txBody>
      </p:sp>
      <p:pic>
        <p:nvPicPr>
          <p:cNvPr id="10" name="Picture Placeholder 9" descr="A screenshot of ExpressAlign of an example of the screens available on the latest alignment machines. The header reads, Lincoln: Town Car:1988. A small vertical division below depicts four types of wheel alignment. The remaining part of the window on the right, depicts an outline of the front view of a car along with the front and rear axle and the four wheels. The rear wheels are tilted towards the body of the car. The front wheels are aligned in a straight line. The values for camber, caster, and toe angles for the left rear wheel are given as follows: negative 1.2 degrees, 4.3 degrees, and 0.06 degrees. The values for camber, caster, and toe angles for the right rear wheel are given as follows: negative 1.1 degrees, 3.5 degrees, and negative 0.07 degrees. The thrust angle at the center of the car is 0.32 degrees. The values for camber and toe for the left front wheels are given as follows: negative 1.4 degrees and negative 0.51 degrees. The values for camber and toe for the right front wheels are given as follows: negative 1.2 degrees and negative 1.15 degrees. The values of the toe angles of the right and left rear wheels and the camber angle for the left rear wheel are highlighted in a color while all the other values are highlighted in another color. The text at the bottom reads, Press K 4 to continue the procedure or select a printout. Four optional buttons at the bottom and are labeled as follows; ExpressAlign registered trademark Preferences, Print Symptom Report, Print analysis, and Adjust Camber and Caster, of which the last one is selected. A list of icons is displayed at the right end of the screen.">
            <a:extLst>
              <a:ext uri="{FF2B5EF4-FFF2-40B4-BE49-F238E27FC236}">
                <a16:creationId xmlns:a16="http://schemas.microsoft.com/office/drawing/2014/main" id="{D4414ACA-EF25-2973-AA3B-5527CDCE8FE8}"/>
              </a:ext>
            </a:extLst>
          </p:cNvPr>
          <p:cNvPicPr>
            <a:picLocks noGrp="1" noChangeAspect="1"/>
          </p:cNvPicPr>
          <p:nvPr>
            <p:ph type="pic" sz="quarter" idx="11"/>
          </p:nvPr>
        </p:nvPicPr>
        <p:blipFill>
          <a:blip r:embed="rId3"/>
          <a:srcRect b="4869"/>
          <a:stretch/>
        </p:blipFill>
        <p:spPr>
          <a:xfrm>
            <a:off x="2678009" y="1793385"/>
            <a:ext cx="6835983" cy="383685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(2 of 2)</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Technician A says incorrect caster will cause rapid tire wear. Technician B says incorrect toe can cause rapid tire wear. Who is correct?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(2 of 2)</a:t>
            </a:r>
          </a:p>
        </p:txBody>
      </p:sp>
      <p:sp>
        <p:nvSpPr>
          <p:cNvPr id="3" name="Content Placeholder 2"/>
          <p:cNvSpPr>
            <a:spLocks noGrp="1"/>
          </p:cNvSpPr>
          <p:nvPr>
            <p:ph type="body" idx="1"/>
          </p:nvPr>
        </p:nvSpPr>
        <p:spPr/>
        <p:txBody>
          <a:bodyPr/>
          <a:lstStyle/>
          <a:p>
            <a:pPr marL="85725" indent="0">
              <a:spcAft>
                <a:spcPts val="2400"/>
              </a:spcAft>
              <a:buNone/>
            </a:pPr>
            <a:r>
              <a:rPr lang="en-US" sz="2600" dirty="0">
                <a:solidFill>
                  <a:schemeClr val="tx1"/>
                </a:solidFill>
              </a:rPr>
              <a:t>Technician A says incorrect caster will cause rapid tire wear. Technician B says incorrect toe can cause rapid tire wear. Who is correct?</a:t>
            </a:r>
          </a:p>
          <a:p>
            <a:pPr marL="428625" lvl="1" indent="0">
              <a:buNone/>
            </a:pPr>
            <a:r>
              <a:rPr lang="en-US" sz="2600" dirty="0">
                <a:solidFill>
                  <a:schemeClr val="tx1"/>
                </a:solidFill>
              </a:rPr>
              <a:t>Answer: Technician B Only</a:t>
            </a:r>
          </a:p>
        </p:txBody>
      </p:sp>
    </p:spTree>
    <p:extLst>
      <p:ext uri="{BB962C8B-B14F-4D97-AF65-F5344CB8AC3E}">
        <p14:creationId xmlns:p14="http://schemas.microsoft.com/office/powerpoint/2010/main" val="2830896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Two-Wheel Alignment</a:t>
            </a:r>
          </a:p>
        </p:txBody>
      </p:sp>
      <p:sp>
        <p:nvSpPr>
          <p:cNvPr id="30723" name="Content Placeholder 2"/>
          <p:cNvSpPr>
            <a:spLocks noGrp="1"/>
          </p:cNvSpPr>
          <p:nvPr>
            <p:ph type="body" idx="1"/>
          </p:nvPr>
        </p:nvSpPr>
        <p:spPr/>
        <p:txBody>
          <a:bodyPr/>
          <a:lstStyle/>
          <a:p>
            <a:r>
              <a:rPr lang="en-US" sz="2600" dirty="0">
                <a:solidFill>
                  <a:schemeClr val="tx1"/>
                </a:solidFill>
              </a:rPr>
              <a:t>Aligns the front wheels to the geometric centerline</a:t>
            </a:r>
          </a:p>
          <a:p>
            <a:r>
              <a:rPr lang="en-US" sz="2600" dirty="0">
                <a:solidFill>
                  <a:schemeClr val="tx1"/>
                </a:solidFill>
              </a:rPr>
              <a:t>Assumes the rear wheels are square</a:t>
            </a:r>
          </a:p>
          <a:p>
            <a:r>
              <a:rPr lang="en-US" sz="2600" dirty="0">
                <a:solidFill>
                  <a:schemeClr val="tx1"/>
                </a:solidFill>
              </a:rPr>
              <a:t>Cannot set the front wheels parallel to the rear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Four-Wheel Alignment</a:t>
            </a:r>
          </a:p>
        </p:txBody>
      </p:sp>
      <p:sp>
        <p:nvSpPr>
          <p:cNvPr id="31747" name="Content Placeholder 2"/>
          <p:cNvSpPr>
            <a:spLocks noGrp="1"/>
          </p:cNvSpPr>
          <p:nvPr>
            <p:ph type="body" idx="1"/>
          </p:nvPr>
        </p:nvSpPr>
        <p:spPr/>
        <p:txBody>
          <a:bodyPr/>
          <a:lstStyle/>
          <a:p>
            <a:r>
              <a:rPr lang="en-US" sz="2600" dirty="0">
                <a:solidFill>
                  <a:schemeClr val="tx1"/>
                </a:solidFill>
              </a:rPr>
              <a:t>Sets all four wheels straight ahead with the steering wheel centered</a:t>
            </a:r>
          </a:p>
          <a:p>
            <a:r>
              <a:rPr lang="en-US" sz="2600" dirty="0">
                <a:solidFill>
                  <a:schemeClr val="tx1"/>
                </a:solidFill>
              </a:rPr>
              <a:t>Nearly, all new vehicles require all four wheels to be aligned.</a:t>
            </a:r>
          </a:p>
          <a:p>
            <a:r>
              <a:rPr lang="en-US" sz="2600" dirty="0">
                <a:solidFill>
                  <a:schemeClr val="tx1"/>
                </a:solidFill>
              </a:rPr>
              <a:t>Rear wheels are set first.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Performing an Alignment</a:t>
            </a:r>
          </a:p>
        </p:txBody>
      </p:sp>
      <p:sp>
        <p:nvSpPr>
          <p:cNvPr id="32771" name="Content Placeholder 2"/>
          <p:cNvSpPr>
            <a:spLocks noGrp="1"/>
          </p:cNvSpPr>
          <p:nvPr>
            <p:ph type="body" idx="1"/>
          </p:nvPr>
        </p:nvSpPr>
        <p:spPr/>
        <p:txBody>
          <a:bodyPr/>
          <a:lstStyle/>
          <a:p>
            <a:pPr marL="0" indent="0">
              <a:buNone/>
            </a:pPr>
            <a:r>
              <a:rPr lang="en-US" b="1" dirty="0">
                <a:solidFill>
                  <a:schemeClr val="tx1"/>
                </a:solidFill>
                <a:latin typeface="Work Sans" pitchFamily="2" charset="0"/>
              </a:rPr>
              <a:t>49-10 Describe how alignment angles can be changed on a vehicle.</a:t>
            </a:r>
            <a:endParaRPr lang="en-US" dirty="0">
              <a:solidFill>
                <a:schemeClr val="tx1"/>
              </a:solidFill>
            </a:endParaRPr>
          </a:p>
          <a:p>
            <a:r>
              <a:rPr lang="en-US" dirty="0">
                <a:solidFill>
                  <a:schemeClr val="tx1"/>
                </a:solidFill>
              </a:rPr>
              <a:t>All angles are interrelated.</a:t>
            </a:r>
          </a:p>
          <a:p>
            <a:r>
              <a:rPr lang="en-US" dirty="0">
                <a:solidFill>
                  <a:schemeClr val="tx1"/>
                </a:solidFill>
              </a:rPr>
              <a:t>Adjust in order—caster, camber, toe</a:t>
            </a:r>
          </a:p>
          <a:p>
            <a:r>
              <a:rPr lang="en-US" dirty="0">
                <a:solidFill>
                  <a:schemeClr val="tx1"/>
                </a:solidFill>
              </a:rPr>
              <a:t>Some alignment machines require wheel units (heads) to be compensated.</a:t>
            </a:r>
          </a:p>
          <a:p>
            <a:r>
              <a:rPr lang="en-US" dirty="0">
                <a:solidFill>
                  <a:schemeClr val="tx1"/>
                </a:solidFill>
              </a:rPr>
              <a:t>Set angles to manufacturers specifications</a:t>
            </a:r>
          </a:p>
          <a:p>
            <a:r>
              <a:rPr lang="en-US" dirty="0">
                <a:solidFill>
                  <a:schemeClr val="tx1"/>
                </a:solidFill>
              </a:rPr>
              <a:t>Usually, specs include a preferred setting and minimum/maximum allowances.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Methods Used to Adjust Caster and Camber</a:t>
            </a:r>
          </a:p>
        </p:txBody>
      </p:sp>
      <p:sp>
        <p:nvSpPr>
          <p:cNvPr id="33795" name="Rectangle 3"/>
          <p:cNvSpPr>
            <a:spLocks noGrp="1" noChangeArrowheads="1"/>
          </p:cNvSpPr>
          <p:nvPr>
            <p:ph type="body" idx="1"/>
          </p:nvPr>
        </p:nvSpPr>
        <p:spPr/>
        <p:txBody>
          <a:bodyPr/>
          <a:lstStyle/>
          <a:p>
            <a:r>
              <a:rPr lang="en-US" sz="2600" dirty="0">
                <a:solidFill>
                  <a:schemeClr val="tx1"/>
                </a:solidFill>
              </a:rPr>
              <a:t>Shims</a:t>
            </a:r>
          </a:p>
          <a:p>
            <a:r>
              <a:rPr lang="en-US" sz="2600" dirty="0">
                <a:solidFill>
                  <a:schemeClr val="tx1"/>
                </a:solidFill>
              </a:rPr>
              <a:t>Eccentrics and shims</a:t>
            </a:r>
          </a:p>
          <a:p>
            <a:r>
              <a:rPr lang="en-US" sz="2600" dirty="0">
                <a:solidFill>
                  <a:schemeClr val="tx1"/>
                </a:solidFill>
              </a:rPr>
              <a:t>Slotted frame</a:t>
            </a:r>
          </a:p>
          <a:p>
            <a:r>
              <a:rPr lang="en-US" sz="2600" dirty="0">
                <a:solidFill>
                  <a:schemeClr val="tx1"/>
                </a:solidFill>
              </a:rPr>
              <a:t>Rotating ball joint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Caster/Camber Adjustment (1 of 3)</a:t>
            </a:r>
          </a:p>
        </p:txBody>
      </p:sp>
      <p:pic>
        <p:nvPicPr>
          <p:cNvPr id="8" name="Picture Placeholder 7" descr="Two illustrations with the shims located between the control arm and the frame. In the first illustration, two shims labeled A and B are between the control shaft and the frame. The parts are labeled as follows: Frame, Upper control arm shaft, Nut, and Upper control arm. An up arrow labeled Front is at the top. A clockwise arrow facing down is on the Upper control arm. The text below reads; A, Subtract shims to increase positive caster, and B, Add shims to reduce positive caster. In the second illustration, two shims are both labeled C. A right arrow is on the upper control arm. The text below reads, C reads, Subtract shims equally to increase positive camber or add shims equally to reduce positive camber.">
            <a:extLst>
              <a:ext uri="{FF2B5EF4-FFF2-40B4-BE49-F238E27FC236}">
                <a16:creationId xmlns:a16="http://schemas.microsoft.com/office/drawing/2014/main" id="{7988A368-0465-7C08-1AF3-08D8651D2DE9}"/>
              </a:ext>
            </a:extLst>
          </p:cNvPr>
          <p:cNvPicPr>
            <a:picLocks noGrp="1" noChangeAspect="1"/>
          </p:cNvPicPr>
          <p:nvPr>
            <p:ph type="pic" sz="quarter" idx="11"/>
          </p:nvPr>
        </p:nvPicPr>
        <p:blipFill>
          <a:blip r:embed="rId3"/>
          <a:srcRect b="5971"/>
          <a:stretch/>
        </p:blipFill>
        <p:spPr>
          <a:xfrm>
            <a:off x="3334144" y="1565253"/>
            <a:ext cx="5523712" cy="41724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Caster/Camber Adjustment (2 of 3) </a:t>
            </a:r>
          </a:p>
        </p:txBody>
      </p:sp>
      <p:pic>
        <p:nvPicPr>
          <p:cNvPr id="8" name="Picture Placeholder 7" descr="A lower control arm is fixed with an adjustable camber and bolt.">
            <a:extLst>
              <a:ext uri="{FF2B5EF4-FFF2-40B4-BE49-F238E27FC236}">
                <a16:creationId xmlns:a16="http://schemas.microsoft.com/office/drawing/2014/main" id="{04E7E6B8-8CCA-4B93-BD59-941EC1274EE7}"/>
              </a:ext>
            </a:extLst>
          </p:cNvPr>
          <p:cNvPicPr>
            <a:picLocks noGrp="1" noChangeAspect="1"/>
          </p:cNvPicPr>
          <p:nvPr>
            <p:ph type="pic" sz="quarter" idx="11"/>
          </p:nvPr>
        </p:nvPicPr>
        <p:blipFill>
          <a:blip r:embed="rId3"/>
          <a:srcRect b="9703"/>
          <a:stretch/>
        </p:blipFill>
        <p:spPr>
          <a:xfrm>
            <a:off x="3730733" y="1756146"/>
            <a:ext cx="4730534" cy="3958256"/>
          </a:xfrm>
          <a:prstGeom prst="rect">
            <a:avLst/>
          </a:prstGeom>
        </p:spPr>
      </p:pic>
    </p:spTree>
    <p:extLst>
      <p:ext uri="{BB962C8B-B14F-4D97-AF65-F5344CB8AC3E}">
        <p14:creationId xmlns:p14="http://schemas.microsoft.com/office/powerpoint/2010/main" val="899001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Caster/Camber Adjustment (3 of 3) </a:t>
            </a:r>
          </a:p>
        </p:txBody>
      </p:sp>
      <p:pic>
        <p:nvPicPr>
          <p:cNvPr id="9" name="Picture Placeholder 8" descr="A cam bolt at the base of the strut assembly is used to adjust the camber. The base portion of the strut assembly has a bolt at the top right, labeled Adjust camber, with a curved double-sided U-shaped arrow below the bolt.">
            <a:extLst>
              <a:ext uri="{FF2B5EF4-FFF2-40B4-BE49-F238E27FC236}">
                <a16:creationId xmlns:a16="http://schemas.microsoft.com/office/drawing/2014/main" id="{49D37F1D-ED14-816E-AEE7-BD360B884525}"/>
              </a:ext>
            </a:extLst>
          </p:cNvPr>
          <p:cNvPicPr>
            <a:picLocks noGrp="1" noChangeAspect="1"/>
          </p:cNvPicPr>
          <p:nvPr>
            <p:ph type="pic" sz="quarter" idx="11"/>
          </p:nvPr>
        </p:nvPicPr>
        <p:blipFill>
          <a:blip r:embed="rId3"/>
          <a:srcRect b="16068"/>
          <a:stretch/>
        </p:blipFill>
        <p:spPr>
          <a:xfrm>
            <a:off x="2105484" y="1877893"/>
            <a:ext cx="4180541" cy="3134537"/>
          </a:xfrm>
          <a:prstGeom prst="rect">
            <a:avLst/>
          </a:prstGeom>
        </p:spPr>
      </p:pic>
      <p:pic>
        <p:nvPicPr>
          <p:cNvPr id="10" name="Picture Placeholder 9" descr="Three illustrations. The first illustration depicts the caster adjustment of locknuts. A vertical double-headed arrow is above the caster. A left arrow depicts the direction of the engine. The supporting text reads, Slide the upper plate toward the front or rear of the car until the desired caster reading is obtained. The second illustration depicts the camber adjustment of locknuts. A horizontal double-headed arrow is near the camber. A left arrow depicts the direction of the engine. The text below reads, Slide the large locknut toward or away from the engine until the desired camber reading is obtained. The third illustration depicts four layers of mounting plates with slots depicted vertically one above the other.">
            <a:extLst>
              <a:ext uri="{FF2B5EF4-FFF2-40B4-BE49-F238E27FC236}">
                <a16:creationId xmlns:a16="http://schemas.microsoft.com/office/drawing/2014/main" id="{5EDD2378-291B-3037-350A-E38A3CD044BC}"/>
              </a:ext>
            </a:extLst>
          </p:cNvPr>
          <p:cNvPicPr>
            <a:picLocks noGrp="1" noChangeAspect="1"/>
          </p:cNvPicPr>
          <p:nvPr>
            <p:ph type="pic" sz="quarter" idx="12"/>
          </p:nvPr>
        </p:nvPicPr>
        <p:blipFill>
          <a:blip r:embed="rId4"/>
          <a:srcRect b="2705"/>
          <a:stretch/>
        </p:blipFill>
        <p:spPr>
          <a:xfrm>
            <a:off x="7358411" y="1682687"/>
            <a:ext cx="2294828" cy="4204828"/>
          </a:xfrm>
          <a:prstGeom prst="rect">
            <a:avLst/>
          </a:prstGeom>
        </p:spPr>
      </p:pic>
    </p:spTree>
    <p:extLst>
      <p:ext uri="{BB962C8B-B14F-4D97-AF65-F5344CB8AC3E}">
        <p14:creationId xmlns:p14="http://schemas.microsoft.com/office/powerpoint/2010/main" val="2749971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dirty="0"/>
              <a:t>Toe Adjustments (1 of 2)</a:t>
            </a:r>
          </a:p>
        </p:txBody>
      </p:sp>
      <p:sp>
        <p:nvSpPr>
          <p:cNvPr id="37891" name="Content Placeholder 2"/>
          <p:cNvSpPr>
            <a:spLocks noGrp="1"/>
          </p:cNvSpPr>
          <p:nvPr>
            <p:ph type="body" idx="1"/>
          </p:nvPr>
        </p:nvSpPr>
        <p:spPr/>
        <p:txBody>
          <a:bodyPr/>
          <a:lstStyle/>
          <a:p>
            <a:r>
              <a:rPr lang="en-US" sz="2600" dirty="0">
                <a:solidFill>
                  <a:schemeClr val="tx1"/>
                </a:solidFill>
              </a:rPr>
              <a:t>The last adjustment to be set</a:t>
            </a:r>
          </a:p>
          <a:p>
            <a:r>
              <a:rPr lang="en-US" sz="2600" dirty="0">
                <a:solidFill>
                  <a:schemeClr val="tx1"/>
                </a:solidFill>
              </a:rPr>
              <a:t>Make sure the steering wheel is centered and locked in place.</a:t>
            </a:r>
          </a:p>
          <a:p>
            <a:r>
              <a:rPr lang="en-US" sz="2600" dirty="0">
                <a:solidFill>
                  <a:schemeClr val="tx1"/>
                </a:solidFill>
              </a:rPr>
              <a:t>Ideal toe is both tires perfectly straight ahead.</a:t>
            </a:r>
          </a:p>
          <a:p>
            <a:r>
              <a:rPr lang="en-US" sz="2600" dirty="0">
                <a:solidFill>
                  <a:schemeClr val="tx1"/>
                </a:solidFill>
              </a:rPr>
              <a:t>Rear toe is as critical as front wheel toe.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dirty="0"/>
              <a:t>Toe Adjustments (2 of 2) </a:t>
            </a:r>
          </a:p>
        </p:txBody>
      </p:sp>
      <p:pic>
        <p:nvPicPr>
          <p:cNvPr id="10" name="Picture Placeholder 9" descr="Two illustrations depict the adjusted toe, and the sleeve clamps on the tie-rod assembly loosened with the sleeve rotated. The first illustration has the parts labeled as follows: tie-rod sleeve and sleeve clamp. The second illustration has the parts labeled as follows: inner tie-rod end, sleeve clamp, Adjusting sleeve (internal threads), and outer tie-rod end.">
            <a:extLst>
              <a:ext uri="{FF2B5EF4-FFF2-40B4-BE49-F238E27FC236}">
                <a16:creationId xmlns:a16="http://schemas.microsoft.com/office/drawing/2014/main" id="{D59821D9-9A29-6D03-FC5F-69CACC6E3C20}"/>
              </a:ext>
            </a:extLst>
          </p:cNvPr>
          <p:cNvPicPr>
            <a:picLocks noGrp="1" noChangeAspect="1"/>
          </p:cNvPicPr>
          <p:nvPr>
            <p:ph type="pic" sz="quarter" idx="11"/>
          </p:nvPr>
        </p:nvPicPr>
        <p:blipFill>
          <a:blip r:embed="rId3"/>
          <a:srcRect b="7148"/>
          <a:stretch/>
        </p:blipFill>
        <p:spPr>
          <a:xfrm>
            <a:off x="4466073" y="1469745"/>
            <a:ext cx="3259854" cy="4489836"/>
          </a:xfrm>
          <a:prstGeom prst="rect">
            <a:avLst/>
          </a:prstGeom>
        </p:spPr>
      </p:pic>
    </p:spTree>
    <p:extLst>
      <p:ext uri="{BB962C8B-B14F-4D97-AF65-F5344CB8AC3E}">
        <p14:creationId xmlns:p14="http://schemas.microsoft.com/office/powerpoint/2010/main" val="22837377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a:t>Thrust Line</a:t>
            </a:r>
          </a:p>
        </p:txBody>
      </p:sp>
      <p:sp>
        <p:nvSpPr>
          <p:cNvPr id="40963" name="Content Placeholder 2"/>
          <p:cNvSpPr>
            <a:spLocks noGrp="1"/>
          </p:cNvSpPr>
          <p:nvPr>
            <p:ph type="body" idx="1"/>
          </p:nvPr>
        </p:nvSpPr>
        <p:spPr/>
        <p:txBody>
          <a:bodyPr/>
          <a:lstStyle/>
          <a:p>
            <a:pPr marL="0" indent="0">
              <a:buNone/>
            </a:pPr>
            <a:r>
              <a:rPr lang="en-US" b="1" dirty="0">
                <a:solidFill>
                  <a:schemeClr val="tx1"/>
                </a:solidFill>
                <a:latin typeface="Work Sans" pitchFamily="2" charset="0"/>
              </a:rPr>
              <a:t>49-11 Understand the importance of rear-wheel alignment.</a:t>
            </a:r>
            <a:endParaRPr lang="en-US" dirty="0">
              <a:solidFill>
                <a:schemeClr val="tx1"/>
              </a:solidFill>
            </a:endParaRPr>
          </a:p>
          <a:p>
            <a:r>
              <a:rPr lang="en-US" sz="2600" dirty="0">
                <a:solidFill>
                  <a:schemeClr val="tx1"/>
                </a:solidFill>
              </a:rPr>
              <a:t>If rear toe is incorrect or a wheel is set back, the thrust line will be off-center.</a:t>
            </a:r>
          </a:p>
          <a:p>
            <a:r>
              <a:rPr lang="en-US" sz="2600" dirty="0">
                <a:solidFill>
                  <a:schemeClr val="tx1"/>
                </a:solidFill>
              </a:rPr>
              <a:t>Setting rear toe should set thrust angle and steering wheel correctly.</a:t>
            </a:r>
          </a:p>
          <a:p>
            <a:r>
              <a:rPr lang="en-US" sz="2600" dirty="0">
                <a:solidFill>
                  <a:schemeClr val="tx1"/>
                </a:solidFill>
              </a:rPr>
              <a:t>If rear toe cannot be set, align the front wheels to the thrust line.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5"/>
          <p:cNvSpPr>
            <a:spLocks noGrp="1"/>
          </p:cNvSpPr>
          <p:nvPr>
            <p:ph type="title"/>
          </p:nvPr>
        </p:nvSpPr>
        <p:spPr/>
        <p:txBody>
          <a:bodyPr/>
          <a:lstStyle/>
          <a:p>
            <a:r>
              <a:rPr lang="en-US" dirty="0"/>
              <a:t>Setback</a:t>
            </a:r>
          </a:p>
        </p:txBody>
      </p:sp>
      <p:sp>
        <p:nvSpPr>
          <p:cNvPr id="41987" name="Content Placeholder 6"/>
          <p:cNvSpPr>
            <a:spLocks noGrp="1"/>
          </p:cNvSpPr>
          <p:nvPr>
            <p:ph type="body" idx="1"/>
          </p:nvPr>
        </p:nvSpPr>
        <p:spPr>
          <a:xfrm>
            <a:off x="476845" y="1563626"/>
            <a:ext cx="6279556" cy="3897374"/>
          </a:xfrm>
        </p:spPr>
        <p:txBody>
          <a:bodyPr/>
          <a:lstStyle/>
          <a:p>
            <a:r>
              <a:rPr lang="en-US" sz="2600" dirty="0">
                <a:solidFill>
                  <a:schemeClr val="tx1"/>
                </a:solidFill>
              </a:rPr>
              <a:t>Typically caused by a bent component or a misadjusted cradle</a:t>
            </a:r>
          </a:p>
          <a:p>
            <a:r>
              <a:rPr lang="en-US" sz="2600" dirty="0">
                <a:solidFill>
                  <a:schemeClr val="tx1"/>
                </a:solidFill>
              </a:rPr>
              <a:t>If slight, the difference can be compensated for during alignment.</a:t>
            </a:r>
          </a:p>
        </p:txBody>
      </p:sp>
      <p:pic>
        <p:nvPicPr>
          <p:cNvPr id="7" name="Picture Placeholder 6" descr="The top view of the position of the front wheels in a vehicle. A horizontal line which touch the surface of the first wheel and is slightly away from the surface of the second wheel goes between the wheels. A small horizontal line touches the surface of the second wheel. A small gap is between the two horizontal lines along the second wheel. A pointer facing both lines is labeled Setback.">
            <a:extLst>
              <a:ext uri="{FF2B5EF4-FFF2-40B4-BE49-F238E27FC236}">
                <a16:creationId xmlns:a16="http://schemas.microsoft.com/office/drawing/2014/main" id="{043DC9D9-270C-943F-24EA-E8F9F8DE6E50}"/>
              </a:ext>
            </a:extLst>
          </p:cNvPr>
          <p:cNvPicPr>
            <a:picLocks noGrp="1" noChangeAspect="1"/>
          </p:cNvPicPr>
          <p:nvPr>
            <p:ph type="pic" sz="quarter" idx="11"/>
          </p:nvPr>
        </p:nvPicPr>
        <p:blipFill>
          <a:blip r:embed="rId3"/>
          <a:srcRect b="11581"/>
          <a:stretch/>
        </p:blipFill>
        <p:spPr>
          <a:xfrm>
            <a:off x="6816608" y="1696638"/>
            <a:ext cx="4572197" cy="336216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dirty="0"/>
              <a:t>4WD Vehicle Alignment</a:t>
            </a:r>
          </a:p>
        </p:txBody>
      </p:sp>
      <p:sp>
        <p:nvSpPr>
          <p:cNvPr id="43011" name="Content Placeholder 2"/>
          <p:cNvSpPr>
            <a:spLocks noGrp="1"/>
          </p:cNvSpPr>
          <p:nvPr>
            <p:ph type="body" idx="1"/>
          </p:nvPr>
        </p:nvSpPr>
        <p:spPr/>
        <p:txBody>
          <a:bodyPr/>
          <a:lstStyle/>
          <a:p>
            <a:r>
              <a:rPr lang="en-US" sz="2600" dirty="0">
                <a:solidFill>
                  <a:schemeClr val="tx1"/>
                </a:solidFill>
              </a:rPr>
              <a:t>Most 4WD vehicles do not have an adjustable caster.</a:t>
            </a:r>
          </a:p>
          <a:p>
            <a:r>
              <a:rPr lang="en-US" sz="2600" dirty="0">
                <a:solidFill>
                  <a:schemeClr val="tx1"/>
                </a:solidFill>
              </a:rPr>
              <a:t>Aftermarket kits may be available to set caster.</a:t>
            </a:r>
          </a:p>
          <a:p>
            <a:r>
              <a:rPr lang="en-US" sz="2600" dirty="0">
                <a:solidFill>
                  <a:schemeClr val="tx1"/>
                </a:solidFill>
              </a:rPr>
              <a:t>Camber may be adjustable using shims between the steering knuckle and spindle.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Steering Angle Sensor Calibration (1 of 2)</a:t>
            </a:r>
          </a:p>
        </p:txBody>
      </p:sp>
      <p:sp>
        <p:nvSpPr>
          <p:cNvPr id="3" name="Content Placeholder 2"/>
          <p:cNvSpPr>
            <a:spLocks noGrp="1"/>
          </p:cNvSpPr>
          <p:nvPr>
            <p:ph type="body" idx="1"/>
          </p:nvPr>
        </p:nvSpPr>
        <p:spPr/>
        <p:txBody>
          <a:bodyPr/>
          <a:lstStyle/>
          <a:p>
            <a:pPr marL="0" indent="0">
              <a:spcAft>
                <a:spcPts val="0"/>
              </a:spcAft>
              <a:buNone/>
            </a:pPr>
            <a:r>
              <a:rPr lang="en-US" b="1" dirty="0">
                <a:solidFill>
                  <a:schemeClr val="tx1"/>
                </a:solidFill>
                <a:latin typeface="Work Sans" pitchFamily="2" charset="0"/>
              </a:rPr>
              <a:t>49-12 Identify and understand steering sensor calibration requirements.</a:t>
            </a:r>
            <a:endParaRPr lang="en-US" dirty="0">
              <a:solidFill>
                <a:schemeClr val="tx1"/>
              </a:solidFill>
            </a:endParaRPr>
          </a:p>
          <a:p>
            <a:r>
              <a:rPr lang="en-US" dirty="0">
                <a:solidFill>
                  <a:schemeClr val="tx1"/>
                </a:solidFill>
              </a:rPr>
              <a:t>Many late-model vehicles with electronic stability control require sensor calibration after steering/suspension service or wheel alignment.</a:t>
            </a:r>
          </a:p>
          <a:p>
            <a:r>
              <a:rPr lang="en-US" dirty="0">
                <a:solidFill>
                  <a:schemeClr val="tx1"/>
                </a:solidFill>
              </a:rPr>
              <a:t>The alignment machine may be able to calibrate or a scan tool may be necessary.</a:t>
            </a:r>
          </a:p>
          <a:p>
            <a:r>
              <a:rPr lang="en-US" dirty="0">
                <a:solidFill>
                  <a:schemeClr val="tx1"/>
                </a:solidFill>
              </a:rPr>
              <a:t>Failure to calibrate may case ESC problems.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Steering Angle Sensor Calibration (2 of 2) </a:t>
            </a:r>
          </a:p>
        </p:txBody>
      </p:sp>
      <p:pic>
        <p:nvPicPr>
          <p:cNvPr id="9" name="Picture Placeholder 8" descr="A typical setup connects the alignment computer to the vehicle for steering angle calibration. The alignment machine may also have the ability to recalibrate the sensor by connecting to the D L C. Some vehicles do not require connecting to the on-board computer system. If the sensor is not recalibrated after an alignment, steering pull, return, and inconsistent effort issues can result. A computer system is present and a sensor is connected to the vehicle steering alignment. The parts labeled are as follows: Steering angle sensor, vehicle O B D-II system.">
            <a:extLst>
              <a:ext uri="{FF2B5EF4-FFF2-40B4-BE49-F238E27FC236}">
                <a16:creationId xmlns:a16="http://schemas.microsoft.com/office/drawing/2014/main" id="{5D540E48-43EC-51A8-9321-F773112EB6CE}"/>
              </a:ext>
            </a:extLst>
          </p:cNvPr>
          <p:cNvPicPr>
            <a:picLocks noGrp="1" noChangeAspect="1"/>
          </p:cNvPicPr>
          <p:nvPr>
            <p:ph type="pic" sz="quarter" idx="11"/>
          </p:nvPr>
        </p:nvPicPr>
        <p:blipFill>
          <a:blip r:embed="rId2"/>
          <a:srcRect b="10235"/>
          <a:stretch/>
        </p:blipFill>
        <p:spPr>
          <a:xfrm>
            <a:off x="3595728" y="1702386"/>
            <a:ext cx="5000545" cy="4137156"/>
          </a:xfrm>
          <a:prstGeom prst="rect">
            <a:avLst/>
          </a:prstGeom>
        </p:spPr>
      </p:pic>
    </p:spTree>
    <p:extLst>
      <p:ext uri="{BB962C8B-B14F-4D97-AF65-F5344CB8AC3E}">
        <p14:creationId xmlns:p14="http://schemas.microsoft.com/office/powerpoint/2010/main" val="3338504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5600" indent="-355600">
              <a:spcBef>
                <a:spcPts val="0"/>
              </a:spcBef>
            </a:pPr>
            <a:r>
              <a:rPr lang="en-US" sz="2600" dirty="0">
                <a:solidFill>
                  <a:schemeClr val="tx1"/>
                </a:solidFill>
                <a:latin typeface="Work Sans" pitchFamily="2" charset="0"/>
              </a:rPr>
              <a:t>Write down a concept from this chapter that challenged you. Describe what made the concept difficult for you and the steps you took to improve your understanding</a:t>
            </a:r>
            <a:r>
              <a:rPr lang="en-US" sz="2600" dirty="0">
                <a:solidFill>
                  <a:schemeClr val="tx1"/>
                </a:solidFill>
              </a:rPr>
              <a:t>.</a:t>
            </a:r>
            <a:endParaRPr lang="en-US" sz="2600" dirty="0">
              <a:solidFill>
                <a:schemeClr val="tx1"/>
              </a:solidFill>
              <a:latin typeface="Work Sans" pitchFamily="2" charset="0"/>
            </a:endParaRPr>
          </a:p>
          <a:p>
            <a:pPr marL="355600" indent="-355600">
              <a:spcBef>
                <a:spcPts val="0"/>
              </a:spcBef>
              <a:spcAft>
                <a:spcPts val="24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4" id="{40E4D3FE-3426-4A24-AA80-2DC6CAAF459E}" vid="{EAF78BCE-2181-4980-9812-B67A8D3BA7E9}"/>
    </a:ext>
  </a:extLst>
</a:theme>
</file>

<file path=ppt/theme/theme3.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4.xml><?xml version="1.0" encoding="utf-8"?>
<a:theme xmlns:a="http://schemas.openxmlformats.org/drawingml/2006/main" name="2_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5.xml><?xml version="1.0" encoding="utf-8"?>
<a:theme xmlns:a="http://schemas.openxmlformats.org/drawingml/2006/main" name="1_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1614</TotalTime>
  <Words>1668</Words>
  <Application>Microsoft Office PowerPoint</Application>
  <PresentationFormat>Widescreen</PresentationFormat>
  <Paragraphs>215</Paragraphs>
  <Slides>51</Slides>
  <Notes>38</Notes>
  <HiddenSlides>0</HiddenSlides>
  <MMClips>0</MMClips>
  <ScaleCrop>false</ScaleCrop>
  <HeadingPairs>
    <vt:vector size="4" baseType="variant">
      <vt:variant>
        <vt:lpstr>Theme</vt:lpstr>
      </vt:variant>
      <vt:variant>
        <vt:i4>5</vt:i4>
      </vt:variant>
      <vt:variant>
        <vt:lpstr>Slide Titles</vt:lpstr>
      </vt:variant>
      <vt:variant>
        <vt:i4>51</vt:i4>
      </vt:variant>
    </vt:vector>
  </HeadingPairs>
  <TitlesOfParts>
    <vt:vector size="56" baseType="lpstr">
      <vt:lpstr>Custom Design</vt:lpstr>
      <vt:lpstr>Theme4</vt:lpstr>
      <vt:lpstr>Theme3</vt:lpstr>
      <vt:lpstr>2_Theme3</vt:lpstr>
      <vt:lpstr>1_Theme3</vt:lpstr>
      <vt:lpstr>Automotive Technology: A Systems Approach, 8e</vt:lpstr>
      <vt:lpstr>Chapter Objectives</vt:lpstr>
      <vt:lpstr>Chapter Objectives </vt:lpstr>
      <vt:lpstr>Chapter Objectives  </vt:lpstr>
      <vt:lpstr>Wheel Alignment</vt:lpstr>
      <vt:lpstr>Types of Wheel Alignment</vt:lpstr>
      <vt:lpstr>Alignment Readings</vt:lpstr>
      <vt:lpstr>Alignment Geometry—Caster</vt:lpstr>
      <vt:lpstr>Caster</vt:lpstr>
      <vt:lpstr>Alignment Geometry—Camber</vt:lpstr>
      <vt:lpstr>Camber</vt:lpstr>
      <vt:lpstr>Alignment Geometry—Toe </vt:lpstr>
      <vt:lpstr>Toe</vt:lpstr>
      <vt:lpstr>Thrust Line Alignment (1 of 2)</vt:lpstr>
      <vt:lpstr>Thrust Line Alignment (2 of 2)</vt:lpstr>
      <vt:lpstr>Alignment Angles—SAI </vt:lpstr>
      <vt:lpstr>SAI and Included Angle </vt:lpstr>
      <vt:lpstr>Alignment Angles—Scrub Radius </vt:lpstr>
      <vt:lpstr>Turning Radius </vt:lpstr>
      <vt:lpstr>Toe-Out On Turns (1 of 2)</vt:lpstr>
      <vt:lpstr>Toe-Out On Turns (2 of 2) </vt:lpstr>
      <vt:lpstr>Knowledge Check (1 of 2)</vt:lpstr>
      <vt:lpstr>Knowledge Check Answer (1 of 2)</vt:lpstr>
      <vt:lpstr>Load Distribution</vt:lpstr>
      <vt:lpstr>Prealignment Inspection</vt:lpstr>
      <vt:lpstr>Ride Height</vt:lpstr>
      <vt:lpstr>Results of Poor Alignment</vt:lpstr>
      <vt:lpstr>Effects of Incorrect Alignment (1 of 2)</vt:lpstr>
      <vt:lpstr>Effects of Incorrect Alignment (2 of 2)</vt:lpstr>
      <vt:lpstr>Wheel Alignment Equipment (1 of 3)</vt:lpstr>
      <vt:lpstr>Wheel Alignment Equipment (2 of 3) </vt:lpstr>
      <vt:lpstr>Wheel Alignment Equipment (3 of 3)  </vt:lpstr>
      <vt:lpstr>Alignment Machines</vt:lpstr>
      <vt:lpstr>Screenshot from Alignment Machine</vt:lpstr>
      <vt:lpstr>Knowledge Check (2 of 2)</vt:lpstr>
      <vt:lpstr>Knowledge Check Answer (2 of 2)</vt:lpstr>
      <vt:lpstr>Two-Wheel Alignment</vt:lpstr>
      <vt:lpstr>Four-Wheel Alignment</vt:lpstr>
      <vt:lpstr>Performing an Alignment</vt:lpstr>
      <vt:lpstr>Methods Used to Adjust Caster and Camber</vt:lpstr>
      <vt:lpstr>Caster/Camber Adjustment (1 of 3)</vt:lpstr>
      <vt:lpstr>Caster/Camber Adjustment (2 of 3) </vt:lpstr>
      <vt:lpstr>Caster/Camber Adjustment (3 of 3) </vt:lpstr>
      <vt:lpstr>Toe Adjustments (1 of 2)</vt:lpstr>
      <vt:lpstr>Toe Adjustments (2 of 2) </vt:lpstr>
      <vt:lpstr>Thrust Line</vt:lpstr>
      <vt:lpstr>Setback</vt:lpstr>
      <vt:lpstr>4WD Vehicle Alignment</vt:lpstr>
      <vt:lpstr>Steering Angle Sensor Calibration (1 of 2)</vt:lpstr>
      <vt:lpstr>Steering Angle Sensor Calibration (2 of 2) </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 Admin</dc:creator>
  <cp:lastModifiedBy>DiCaterino, Kara</cp:lastModifiedBy>
  <cp:revision>131</cp:revision>
  <dcterms:created xsi:type="dcterms:W3CDTF">2012-09-04T13:49:02Z</dcterms:created>
  <dcterms:modified xsi:type="dcterms:W3CDTF">2024-11-22T17:05:51Z</dcterms:modified>
</cp:coreProperties>
</file>