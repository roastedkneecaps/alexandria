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3"/>
  </p:notesMasterIdLst>
  <p:sldIdLst>
    <p:sldId id="403"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Lst>
  <p:sldSz cx="12192000" cy="6858000"/>
  <p:notesSz cx="6858000" cy="9144000"/>
  <p:embeddedFontLst>
    <p:embeddedFont>
      <p:font typeface="Work Sans"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88360" autoAdjust="0"/>
  </p:normalViewPr>
  <p:slideViewPr>
    <p:cSldViewPr snapToGrid="0">
      <p:cViewPr varScale="1">
        <p:scale>
          <a:sx n="95" d="100"/>
          <a:sy n="95" d="100"/>
        </p:scale>
        <p:origin x="1044"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13692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00551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39109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2443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15134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79203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245361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31013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22248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35592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99513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6423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855411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8788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57913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871593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649132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90692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5430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28908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922842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54219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07898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723060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580756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864873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99399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651689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634027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359325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672090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705246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2615334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40687334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0485126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2175631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711136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2148EB78-DD90-5297-570D-CABD494107C2}"/>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49847271"/>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6AC1F40D-F486-C05C-31B6-436BB8BDF2CA}"/>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a:t>
            </a:r>
            <a:r>
              <a:rPr lang="en-US" sz="1200">
                <a:solidFill>
                  <a:schemeClr val="bg1"/>
                </a:solidFill>
                <a:latin typeface="Work Sans" pitchFamily="2" charset="0"/>
                <a:cs typeface="Arial" panose="020B0604020202020204" pitchFamily="34" charset="0"/>
              </a:rPr>
              <a:t>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19: Charging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19.01 Explain the purpose of the charging system.</a:t>
            </a:r>
          </a:p>
          <a:p>
            <a:pPr>
              <a:spcAft>
                <a:spcPts val="600"/>
              </a:spcAft>
            </a:pPr>
            <a:r>
              <a:rPr lang="en-US" dirty="0"/>
              <a:t>19.02 Identify the major components of the charging system.</a:t>
            </a:r>
          </a:p>
          <a:p>
            <a:pPr>
              <a:spcAft>
                <a:spcPts val="600"/>
              </a:spcAft>
            </a:pPr>
            <a:r>
              <a:rPr lang="en-US" dirty="0"/>
              <a:t>19.03 Explain the purposes of the major parts of an AC generator.</a:t>
            </a:r>
          </a:p>
          <a:p>
            <a:pPr>
              <a:spcAft>
                <a:spcPts val="600"/>
              </a:spcAft>
            </a:pPr>
            <a:r>
              <a:rPr lang="en-US" dirty="0"/>
              <a:t>19.04 Explain half- and full-wave rectification and how they relate to AC generator operation.</a:t>
            </a:r>
          </a:p>
          <a:p>
            <a:pPr>
              <a:spcAft>
                <a:spcPts val="600"/>
              </a:spcAft>
            </a:pPr>
            <a:r>
              <a:rPr lang="en-US" dirty="0"/>
              <a:t>19.05 Identify the different types of AC voltage regulators.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19.06 Describe the two types of stator windings.</a:t>
            </a:r>
          </a:p>
          <a:p>
            <a:pPr>
              <a:spcAft>
                <a:spcPts val="600"/>
              </a:spcAft>
            </a:pPr>
            <a:r>
              <a:rPr lang="en-US" dirty="0"/>
              <a:t>19.07 Explain the features enabled by the use of a starter/generator unit.</a:t>
            </a:r>
          </a:p>
          <a:p>
            <a:pPr>
              <a:spcAft>
                <a:spcPts val="600"/>
              </a:spcAft>
            </a:pPr>
            <a:r>
              <a:rPr lang="en-US" dirty="0"/>
              <a:t>19.08 Perform charging system inspection and testing procedures using electrical test equipment.</a:t>
            </a:r>
          </a:p>
          <a:p>
            <a:pPr>
              <a:spcAft>
                <a:spcPts val="600"/>
              </a:spcAft>
            </a:pPr>
            <a:r>
              <a:rPr lang="en-US" dirty="0"/>
              <a:t>19.09 Explain how to replace an AC generator.</a:t>
            </a:r>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Charging Systems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384765"/>
            <a:ext cx="11241915" cy="4709617"/>
          </a:xfrm>
        </p:spPr>
        <p:txBody>
          <a:bodyPr/>
          <a:lstStyle/>
          <a:p>
            <a:r>
              <a:rPr lang="en-US" sz="1800" b="1" dirty="0"/>
              <a:t>19.01 Explain the purpose of the charging system.</a:t>
            </a:r>
          </a:p>
          <a:p>
            <a:r>
              <a:rPr lang="en-US" sz="1800" dirty="0"/>
              <a:t>During cranking, the battery supplies all of the vehicle’s electrical power.</a:t>
            </a:r>
          </a:p>
          <a:p>
            <a:r>
              <a:rPr lang="en-US" sz="1800" dirty="0"/>
              <a:t>However, once the engine is running, the charging system is responsible for producing enough energy to meet the demands of the loads in the electrical system while also recharging the battery.</a:t>
            </a:r>
          </a:p>
          <a:p>
            <a:r>
              <a:rPr lang="en-US" sz="1800" dirty="0"/>
              <a:t>Several decades ago, the charging system depended on a DC generator.</a:t>
            </a:r>
          </a:p>
          <a:p>
            <a:r>
              <a:rPr lang="en-US" sz="1800" dirty="0"/>
              <a:t>The DC generator provided direct current (DC) and was similar to an electric motor in construction. </a:t>
            </a:r>
          </a:p>
          <a:p>
            <a:r>
              <a:rPr lang="en-US" sz="1800" dirty="0"/>
              <a:t>The biggest difference between a generator and a motor is the wiring to the armature. In a motor, the armature receives current from the battery.</a:t>
            </a:r>
          </a:p>
          <a:p>
            <a:r>
              <a:rPr lang="en-US" sz="1800" dirty="0"/>
              <a:t>This creates the magnetic field that opposes the magnetic fields in the motor’s coils, which causes the armature to rotate.</a:t>
            </a:r>
          </a:p>
          <a:p>
            <a:r>
              <a:rPr lang="en-US" sz="1800" dirty="0"/>
              <a:t>The armature in a DC generator is driven by the engine. It is not magnetized, and the windings simply rotate through the stationary magnetic field of the field windings, inducing a voltage in the conductors inside the armature.</a:t>
            </a:r>
          </a:p>
        </p:txBody>
      </p:sp>
    </p:spTree>
    <p:extLst>
      <p:ext uri="{BB962C8B-B14F-4D97-AF65-F5344CB8AC3E}">
        <p14:creationId xmlns:p14="http://schemas.microsoft.com/office/powerpoint/2010/main" val="14459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17C81DB5-B0C6-57A7-C737-9ADBA7F04D26}"/>
              </a:ext>
            </a:extLst>
          </p:cNvPr>
          <p:cNvSpPr>
            <a:spLocks noGrp="1"/>
          </p:cNvSpPr>
          <p:nvPr>
            <p:ph type="title"/>
          </p:nvPr>
        </p:nvSpPr>
        <p:spPr/>
        <p:txBody>
          <a:bodyPr/>
          <a:lstStyle/>
          <a:p>
            <a:r>
              <a:rPr lang="en-US" dirty="0"/>
              <a:t>Charging Systems (2 of 2)</a:t>
            </a:r>
          </a:p>
        </p:txBody>
      </p:sp>
      <p:sp>
        <p:nvSpPr>
          <p:cNvPr id="3" name="Text Placeholder 2">
            <a:extLst>
              <a:ext uri="{FF2B5EF4-FFF2-40B4-BE49-F238E27FC236}">
                <a16:creationId xmlns:a16="http://schemas.microsoft.com/office/drawing/2014/main" id="{B8436FDA-2A06-4A79-F6B9-654AAA207488}"/>
              </a:ext>
            </a:extLst>
          </p:cNvPr>
          <p:cNvSpPr>
            <a:spLocks noGrp="1"/>
          </p:cNvSpPr>
          <p:nvPr>
            <p:ph type="body" idx="1"/>
          </p:nvPr>
        </p:nvSpPr>
        <p:spPr>
          <a:xfrm>
            <a:off x="476843" y="1471264"/>
            <a:ext cx="7735304" cy="4636928"/>
          </a:xfrm>
        </p:spPr>
        <p:txBody>
          <a:bodyPr/>
          <a:lstStyle/>
          <a:p>
            <a:r>
              <a:rPr lang="en-US" sz="1800" dirty="0"/>
              <a:t>A motor can become a generator by allowing current to flow from the armature instead of to it.</a:t>
            </a:r>
          </a:p>
          <a:p>
            <a:r>
              <a:rPr lang="en-US" sz="1800" dirty="0"/>
              <a:t>In a DC generator, the placement of the brushes on the commutator changes the induced AC voltage to a DC voltage output.</a:t>
            </a:r>
          </a:p>
          <a:p>
            <a:r>
              <a:rPr lang="en-US" sz="1800" dirty="0"/>
              <a:t>DC generators had a very limited current output, especially at low speeds, and were replaced by AC generators.</a:t>
            </a:r>
          </a:p>
          <a:p>
            <a:r>
              <a:rPr lang="en-US" sz="1800" dirty="0"/>
              <a:t>AC generators are capable of providing high current output even at low engine speeds.</a:t>
            </a:r>
          </a:p>
          <a:p>
            <a:r>
              <a:rPr lang="en-US" sz="1800" dirty="0"/>
              <a:t>In an AC generator, a spinning magnetic field (called the rotor) rotates inside an assembly of stationary conductors (called the stator).</a:t>
            </a:r>
          </a:p>
          <a:p>
            <a:r>
              <a:rPr lang="en-US" sz="1800" dirty="0"/>
              <a:t>As the spinning north and south poles of the magnetic field pass the conductors, they induce a voltage that first flows in one direction and then in the opposite direction (AC voltage).</a:t>
            </a:r>
          </a:p>
        </p:txBody>
      </p:sp>
      <p:pic>
        <p:nvPicPr>
          <p:cNvPr id="6" name="Picture Placeholder 5" descr="An A C generator with the parts labeled as follows: stator, diodes, voltage regulator, and rotor and pole pieces.">
            <a:extLst>
              <a:ext uri="{FF2B5EF4-FFF2-40B4-BE49-F238E27FC236}">
                <a16:creationId xmlns:a16="http://schemas.microsoft.com/office/drawing/2014/main" id="{95195698-6B11-6006-8F8A-BC5D8E786EB5}"/>
              </a:ext>
            </a:extLst>
          </p:cNvPr>
          <p:cNvPicPr>
            <a:picLocks noGrp="1" noChangeAspect="1"/>
          </p:cNvPicPr>
          <p:nvPr>
            <p:ph type="pic" sz="quarter" idx="10"/>
          </p:nvPr>
        </p:nvPicPr>
        <p:blipFill rotWithShape="1">
          <a:blip r:embed="rId3"/>
          <a:srcRect b="13350"/>
          <a:stretch/>
        </p:blipFill>
        <p:spPr>
          <a:xfrm>
            <a:off x="8384810" y="2266687"/>
            <a:ext cx="3453292" cy="2559190"/>
          </a:xfrm>
          <a:prstGeom prst="rect">
            <a:avLst/>
          </a:prstGeom>
        </p:spPr>
      </p:pic>
    </p:spTree>
    <p:extLst>
      <p:ext uri="{BB962C8B-B14F-4D97-AF65-F5344CB8AC3E}">
        <p14:creationId xmlns:p14="http://schemas.microsoft.com/office/powerpoint/2010/main" val="260650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2A5FF72A-8124-3AEA-FDCF-0A78EFC400F9}"/>
              </a:ext>
            </a:extLst>
          </p:cNvPr>
          <p:cNvSpPr>
            <a:spLocks noGrp="1"/>
          </p:cNvSpPr>
          <p:nvPr>
            <p:ph type="title"/>
          </p:nvPr>
        </p:nvSpPr>
        <p:spPr/>
        <p:txBody>
          <a:bodyPr/>
          <a:lstStyle/>
          <a:p>
            <a:r>
              <a:rPr lang="en-US" sz="3600" dirty="0"/>
              <a:t>Alternating Current Charging Systems (1 of 5)</a:t>
            </a:r>
          </a:p>
        </p:txBody>
      </p:sp>
      <p:sp>
        <p:nvSpPr>
          <p:cNvPr id="3" name="Text Placeholder 2">
            <a:extLst>
              <a:ext uri="{FF2B5EF4-FFF2-40B4-BE49-F238E27FC236}">
                <a16:creationId xmlns:a16="http://schemas.microsoft.com/office/drawing/2014/main" id="{CCD90F21-B485-3A14-7EDD-C894D1466F58}"/>
              </a:ext>
            </a:extLst>
          </p:cNvPr>
          <p:cNvSpPr>
            <a:spLocks noGrp="1"/>
          </p:cNvSpPr>
          <p:nvPr>
            <p:ph type="body" idx="1"/>
          </p:nvPr>
        </p:nvSpPr>
        <p:spPr>
          <a:xfrm>
            <a:off x="476844" y="1471264"/>
            <a:ext cx="7369698" cy="4697888"/>
          </a:xfrm>
        </p:spPr>
        <p:txBody>
          <a:bodyPr/>
          <a:lstStyle/>
          <a:p>
            <a:r>
              <a:rPr lang="en-US" sz="1600" dirty="0"/>
              <a:t>AC Generator Construction Rotor has the rotor assembly is a shaft with a coil and two pole pieces.</a:t>
            </a:r>
          </a:p>
          <a:p>
            <a:r>
              <a:rPr lang="en-US" sz="1600" dirty="0"/>
              <a:t>A pulley mounted on one end of the shaft allows the rotor to be spun by a belt driven by the engine.</a:t>
            </a:r>
          </a:p>
          <a:p>
            <a:r>
              <a:rPr lang="en-US" sz="1600" dirty="0"/>
              <a:t>The </a:t>
            </a:r>
            <a:r>
              <a:rPr lang="en-US" sz="1600" b="1" dirty="0"/>
              <a:t>rotor</a:t>
            </a:r>
            <a:r>
              <a:rPr lang="en-US" sz="1600" dirty="0"/>
              <a:t> is a rotating magnetic field inside the alternator.</a:t>
            </a:r>
          </a:p>
          <a:p>
            <a:r>
              <a:rPr lang="en-US" sz="1600" dirty="0"/>
              <a:t>The field coil is simply a long length of insulated wire wrapped around an iron core.</a:t>
            </a:r>
          </a:p>
          <a:p>
            <a:r>
              <a:rPr lang="en-US" sz="1600" dirty="0"/>
              <a:t>The core is located between the two sets of pole pieces.</a:t>
            </a:r>
          </a:p>
          <a:p>
            <a:r>
              <a:rPr lang="en-US" sz="1600" dirty="0"/>
              <a:t>As current flows through the coil, the core is magnetized and the pole pieces assume the magnetic polarity of the end of the core that they touch. Thus, one pole piece has a north polarity and the other has a south polarity.</a:t>
            </a:r>
          </a:p>
          <a:p>
            <a:r>
              <a:rPr lang="en-US" sz="1600" dirty="0"/>
              <a:t>The extensions of the pole pieces, known as fingers, form the actual magnetic poles.</a:t>
            </a:r>
          </a:p>
          <a:p>
            <a:r>
              <a:rPr lang="en-US" sz="1600" dirty="0"/>
              <a:t>A typical rotor has 14 poles, seven north and seven south.</a:t>
            </a:r>
          </a:p>
        </p:txBody>
      </p:sp>
      <p:pic>
        <p:nvPicPr>
          <p:cNvPr id="6" name="Picture Placeholder 5" descr="A rotor assembly is a shaft with a coil and two pole pieces. The parts labeled are as follows; Front fan, rear fan, slip rings, field coil, pole pieces, and front bearing.">
            <a:extLst>
              <a:ext uri="{FF2B5EF4-FFF2-40B4-BE49-F238E27FC236}">
                <a16:creationId xmlns:a16="http://schemas.microsoft.com/office/drawing/2014/main" id="{228AA5C9-776E-0C5A-BCC6-29F4ADDF3120}"/>
              </a:ext>
            </a:extLst>
          </p:cNvPr>
          <p:cNvPicPr>
            <a:picLocks noGrp="1" noChangeAspect="1"/>
          </p:cNvPicPr>
          <p:nvPr>
            <p:ph type="pic" sz="quarter" idx="10"/>
          </p:nvPr>
        </p:nvPicPr>
        <p:blipFill>
          <a:blip r:embed="rId3"/>
          <a:srcRect b="11864"/>
          <a:stretch/>
        </p:blipFill>
        <p:spPr>
          <a:xfrm>
            <a:off x="7906443" y="2214703"/>
            <a:ext cx="3955955" cy="2694828"/>
          </a:xfrm>
          <a:prstGeom prst="rect">
            <a:avLst/>
          </a:prstGeom>
        </p:spPr>
      </p:pic>
    </p:spTree>
    <p:extLst>
      <p:ext uri="{BB962C8B-B14F-4D97-AF65-F5344CB8AC3E}">
        <p14:creationId xmlns:p14="http://schemas.microsoft.com/office/powerpoint/2010/main" val="19225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sz="3600" dirty="0"/>
              <a:t>Alternating Current Charging Systems (2 of 5)</a:t>
            </a:r>
            <a:endParaRPr sz="3600"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21836"/>
            <a:ext cx="11241915" cy="4613339"/>
          </a:xfrm>
        </p:spPr>
        <p:txBody>
          <a:bodyPr/>
          <a:lstStyle/>
          <a:p>
            <a:r>
              <a:rPr lang="en-US" sz="1800" dirty="0"/>
              <a:t>Many late-model vehicles have generators equipped with an overrunning clutch pulley.</a:t>
            </a:r>
          </a:p>
          <a:p>
            <a:r>
              <a:rPr lang="en-US" sz="1800" dirty="0"/>
              <a:t>Overrunning alternator pulleys (OAPs), also called overrunning clutch pulleys, were developed to reduce the noise and vibrations caused by the conventional belt and pulley drive system for a generator (alternator).</a:t>
            </a:r>
          </a:p>
          <a:p>
            <a:r>
              <a:rPr lang="en-US" sz="1800" dirty="0"/>
              <a:t>With solid drive pulleys, changes in engine speed are absorbed by the drive belt and tensioning pulley.</a:t>
            </a:r>
          </a:p>
          <a:p>
            <a:r>
              <a:rPr lang="en-US" sz="1800" dirty="0"/>
              <a:t>This causes increased wear on both the belt and tensioner and causes excessive vibration in the belt drive system.</a:t>
            </a:r>
          </a:p>
          <a:p>
            <a:r>
              <a:rPr lang="en-US" sz="1800" dirty="0"/>
              <a:t>The use of an OAP allows the alternator to be driven normally and to coast when engine speed decreases.</a:t>
            </a:r>
          </a:p>
          <a:p>
            <a:r>
              <a:rPr lang="en-US" sz="1800" dirty="0"/>
              <a:t>This reduces the load on the drive belt and tensioner. Decoupling pulleys, also called alternator decoupler pulleys or overrunning alternator decoupler (OAD) pulleys, have an additional spring in addition to using a one-way clutch.</a:t>
            </a:r>
          </a:p>
          <a:p>
            <a:r>
              <a:rPr lang="en-US" sz="1800" dirty="0"/>
              <a:t>The spring allows the pulley to absorb torsional vibrations in the pulley and does not affect the speed of the driveshaft in the alternator.</a:t>
            </a:r>
          </a:p>
        </p:txBody>
      </p:sp>
    </p:spTree>
    <p:extLst>
      <p:ext uri="{BB962C8B-B14F-4D97-AF65-F5344CB8AC3E}">
        <p14:creationId xmlns:p14="http://schemas.microsoft.com/office/powerpoint/2010/main" val="156261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sz="3600" dirty="0"/>
              <a:t>Alternating Current Charging Systems (3 of 5)</a:t>
            </a:r>
            <a:endParaRPr sz="3600" dirty="0"/>
          </a:p>
        </p:txBody>
      </p:sp>
      <p:sp>
        <p:nvSpPr>
          <p:cNvPr id="2" name="Text Placeholder 1">
            <a:extLst>
              <a:ext uri="{FF2B5EF4-FFF2-40B4-BE49-F238E27FC236}">
                <a16:creationId xmlns:a16="http://schemas.microsoft.com/office/drawing/2014/main" id="{67693FE0-58A7-53B1-D00C-CD4B75A010DA}"/>
              </a:ext>
            </a:extLst>
          </p:cNvPr>
          <p:cNvSpPr>
            <a:spLocks noGrp="1"/>
          </p:cNvSpPr>
          <p:nvPr>
            <p:ph type="body" idx="1"/>
          </p:nvPr>
        </p:nvSpPr>
        <p:spPr>
          <a:xfrm>
            <a:off x="476844" y="1471264"/>
            <a:ext cx="6986638" cy="4649120"/>
          </a:xfrm>
        </p:spPr>
        <p:txBody>
          <a:bodyPr/>
          <a:lstStyle/>
          <a:p>
            <a:r>
              <a:rPr lang="en-US" dirty="0"/>
              <a:t>Slip Rings and Brushes</a:t>
            </a:r>
          </a:p>
          <a:p>
            <a:pPr lvl="1"/>
            <a:r>
              <a:rPr lang="en-US" dirty="0"/>
              <a:t>The </a:t>
            </a:r>
            <a:r>
              <a:rPr lang="en-US" b="1" dirty="0"/>
              <a:t>slip rings </a:t>
            </a:r>
            <a:r>
              <a:rPr lang="en-US" dirty="0"/>
              <a:t>and brushes conduct current to the spinning rotor.</a:t>
            </a:r>
          </a:p>
          <a:p>
            <a:pPr lvl="1"/>
            <a:r>
              <a:rPr lang="en-US" dirty="0"/>
              <a:t>Most AC generators have two slip rings mounted directly on the rotor shaft.</a:t>
            </a:r>
          </a:p>
          <a:p>
            <a:pPr lvl="1"/>
            <a:r>
              <a:rPr lang="en-US" dirty="0"/>
              <a:t>They are insulated from the shaft and each other.</a:t>
            </a:r>
          </a:p>
          <a:p>
            <a:pPr lvl="1"/>
            <a:r>
              <a:rPr lang="en-US" dirty="0"/>
              <a:t>Each end of the field coil connects to one of the slip rings.</a:t>
            </a:r>
          </a:p>
          <a:p>
            <a:pPr lvl="1"/>
            <a:r>
              <a:rPr lang="en-US" dirty="0"/>
              <a:t>A carbon brush located on each slip ring carries the current to the </a:t>
            </a:r>
            <a:r>
              <a:rPr lang="en-US" b="1" dirty="0"/>
              <a:t>field coil</a:t>
            </a:r>
            <a:r>
              <a:rPr lang="en-US" dirty="0"/>
              <a:t>.</a:t>
            </a:r>
          </a:p>
        </p:txBody>
      </p:sp>
      <p:pic>
        <p:nvPicPr>
          <p:cNvPr id="5" name="Picture Placeholder 4" descr="A battery with one terminal grounded and the current from the ground flows to the terminal. The other terminal of the battery carries current to the carbon brush of the slip ring through a switch. The carbon brush on the other slip ring carries the current to the field coil of the rotor. The connection from the brush of the second slip ring is grounded.">
            <a:extLst>
              <a:ext uri="{FF2B5EF4-FFF2-40B4-BE49-F238E27FC236}">
                <a16:creationId xmlns:a16="http://schemas.microsoft.com/office/drawing/2014/main" id="{476C3BDD-4E96-1BC2-BB88-C15B4885EAC4}"/>
              </a:ext>
            </a:extLst>
          </p:cNvPr>
          <p:cNvPicPr>
            <a:picLocks noGrp="1" noChangeAspect="1"/>
          </p:cNvPicPr>
          <p:nvPr>
            <p:ph type="pic" sz="quarter" idx="10"/>
          </p:nvPr>
        </p:nvPicPr>
        <p:blipFill>
          <a:blip r:embed="rId3"/>
          <a:srcRect b="14515"/>
          <a:stretch/>
        </p:blipFill>
        <p:spPr>
          <a:xfrm>
            <a:off x="7597832" y="2173029"/>
            <a:ext cx="4385742" cy="2971728"/>
          </a:xfrm>
          <a:prstGeom prst="rect">
            <a:avLst/>
          </a:prstGeom>
        </p:spPr>
      </p:pic>
    </p:spTree>
    <p:extLst>
      <p:ext uri="{BB962C8B-B14F-4D97-AF65-F5344CB8AC3E}">
        <p14:creationId xmlns:p14="http://schemas.microsoft.com/office/powerpoint/2010/main" val="37132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sz="3600" dirty="0"/>
              <a:t>Alternating Current Charging Systems (4 of 5)</a:t>
            </a:r>
            <a:endParaRPr sz="3600" dirty="0"/>
          </a:p>
        </p:txBody>
      </p:sp>
      <p:sp>
        <p:nvSpPr>
          <p:cNvPr id="2" name="Text Placeholder 1">
            <a:extLst>
              <a:ext uri="{FF2B5EF4-FFF2-40B4-BE49-F238E27FC236}">
                <a16:creationId xmlns:a16="http://schemas.microsoft.com/office/drawing/2014/main" id="{15B577CB-F894-FCE9-32B0-C01850BCB37D}"/>
              </a:ext>
            </a:extLst>
          </p:cNvPr>
          <p:cNvSpPr>
            <a:spLocks noGrp="1"/>
          </p:cNvSpPr>
          <p:nvPr>
            <p:ph type="body" idx="1"/>
          </p:nvPr>
        </p:nvSpPr>
        <p:spPr>
          <a:xfrm>
            <a:off x="476843" y="1421836"/>
            <a:ext cx="7764949" cy="4697888"/>
          </a:xfrm>
        </p:spPr>
        <p:txBody>
          <a:bodyPr/>
          <a:lstStyle/>
          <a:p>
            <a:pPr marL="0" indent="0">
              <a:buNone/>
            </a:pPr>
            <a:r>
              <a:rPr lang="en-US" sz="1800" b="1" dirty="0"/>
              <a:t>19.06 Describe the two types of stator windings.</a:t>
            </a:r>
          </a:p>
          <a:p>
            <a:r>
              <a:rPr lang="en-US" sz="1800" dirty="0"/>
              <a:t>The stator is the stationary member of the generator and is made up of a number of conductors, or wires, into which the voltage is induced.</a:t>
            </a:r>
          </a:p>
          <a:p>
            <a:r>
              <a:rPr lang="en-US" sz="1800" dirty="0"/>
              <a:t>Most AC generators use three windings to generate the required amperage output.</a:t>
            </a:r>
          </a:p>
          <a:p>
            <a:r>
              <a:rPr lang="en-US" sz="1800" dirty="0"/>
              <a:t>Each stator winding acts as an individual generator and produces one-third of the total generator output.</a:t>
            </a:r>
          </a:p>
          <a:p>
            <a:r>
              <a:rPr lang="en-US" sz="1800" dirty="0"/>
              <a:t>They can be arranged in either a delta configuration or a wye configuration (Figure 19–10).</a:t>
            </a:r>
          </a:p>
          <a:p>
            <a:r>
              <a:rPr lang="en-US" sz="1800" b="1" dirty="0"/>
              <a:t>Delta winding </a:t>
            </a:r>
            <a:r>
              <a:rPr lang="en-US" sz="1800" dirty="0"/>
              <a:t>(Figure 19–11) received its name because its shape resembles the Greek letter delta, ∆.</a:t>
            </a:r>
          </a:p>
          <a:p>
            <a:r>
              <a:rPr lang="en-US" sz="1800" dirty="0"/>
              <a:t>The wye winding resembles the letter Y. Normally, a </a:t>
            </a:r>
            <a:r>
              <a:rPr lang="en-US" sz="1800" b="1" dirty="0"/>
              <a:t>wye winding</a:t>
            </a:r>
            <a:r>
              <a:rPr lang="en-US" sz="1800" dirty="0"/>
              <a:t> is used in applications in which high charging voltage at low engine speeds is required.</a:t>
            </a:r>
          </a:p>
        </p:txBody>
      </p:sp>
      <p:pic>
        <p:nvPicPr>
          <p:cNvPr id="5" name="Picture Placeholder 4" descr="A side and top view of a stator winding depicting the numerous conductors or wires in a twisted manner.">
            <a:extLst>
              <a:ext uri="{FF2B5EF4-FFF2-40B4-BE49-F238E27FC236}">
                <a16:creationId xmlns:a16="http://schemas.microsoft.com/office/drawing/2014/main" id="{F7D2B169-607C-CF0F-6E07-69A457646B0F}"/>
              </a:ext>
            </a:extLst>
          </p:cNvPr>
          <p:cNvPicPr>
            <a:picLocks noGrp="1" noChangeAspect="1"/>
          </p:cNvPicPr>
          <p:nvPr>
            <p:ph type="pic" sz="quarter" idx="10"/>
          </p:nvPr>
        </p:nvPicPr>
        <p:blipFill>
          <a:blip r:embed="rId3"/>
          <a:srcRect b="12190"/>
          <a:stretch/>
        </p:blipFill>
        <p:spPr>
          <a:xfrm>
            <a:off x="8004717" y="2267369"/>
            <a:ext cx="4030764" cy="2405115"/>
          </a:xfrm>
          <a:prstGeom prst="rect">
            <a:avLst/>
          </a:prstGeom>
        </p:spPr>
      </p:pic>
    </p:spTree>
    <p:extLst>
      <p:ext uri="{BB962C8B-B14F-4D97-AF65-F5344CB8AC3E}">
        <p14:creationId xmlns:p14="http://schemas.microsoft.com/office/powerpoint/2010/main" val="340170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55E6CF4B-E2F4-D062-15D3-65235549D418}"/>
              </a:ext>
            </a:extLst>
          </p:cNvPr>
          <p:cNvSpPr>
            <a:spLocks noGrp="1"/>
          </p:cNvSpPr>
          <p:nvPr>
            <p:ph type="title"/>
          </p:nvPr>
        </p:nvSpPr>
        <p:spPr/>
        <p:txBody>
          <a:bodyPr/>
          <a:lstStyle/>
          <a:p>
            <a:r>
              <a:rPr lang="en-US" sz="3600" dirty="0"/>
              <a:t>Alternating Current Charging Systems (5 of 5)</a:t>
            </a:r>
          </a:p>
        </p:txBody>
      </p:sp>
      <p:sp>
        <p:nvSpPr>
          <p:cNvPr id="3" name="Text Placeholder 2">
            <a:extLst>
              <a:ext uri="{FF2B5EF4-FFF2-40B4-BE49-F238E27FC236}">
                <a16:creationId xmlns:a16="http://schemas.microsoft.com/office/drawing/2014/main" id="{94827B24-9E3E-E39D-1875-E0E2099BF041}"/>
              </a:ext>
            </a:extLst>
          </p:cNvPr>
          <p:cNvSpPr>
            <a:spLocks noGrp="1"/>
          </p:cNvSpPr>
          <p:nvPr>
            <p:ph type="body" idx="1"/>
          </p:nvPr>
        </p:nvSpPr>
        <p:spPr>
          <a:xfrm>
            <a:off x="476843" y="1471264"/>
            <a:ext cx="8033173" cy="4624736"/>
          </a:xfrm>
        </p:spPr>
        <p:txBody>
          <a:bodyPr/>
          <a:lstStyle/>
          <a:p>
            <a:r>
              <a:rPr lang="en-US" sz="2000" dirty="0"/>
              <a:t>The end frame assembly, or housing, contains the bearings for the rotor shaft.</a:t>
            </a:r>
          </a:p>
          <a:p>
            <a:r>
              <a:rPr lang="en-US" sz="2000" dirty="0"/>
              <a:t>Each end frame also has built-in ducts so the air from the rotor shaft fan can pass through the AC generator.</a:t>
            </a:r>
          </a:p>
          <a:p>
            <a:r>
              <a:rPr lang="en-US" sz="2000" dirty="0"/>
              <a:t>Normally, a heat sink containing three positive rectifier diodes is attached to the rear end frame.</a:t>
            </a:r>
          </a:p>
          <a:p>
            <a:r>
              <a:rPr lang="en-US" sz="2000" dirty="0"/>
              <a:t>Heat can pass easily from these diodes to the moving air. </a:t>
            </a:r>
          </a:p>
          <a:p>
            <a:r>
              <a:rPr lang="en-US" sz="2000" dirty="0"/>
              <a:t>The housing may also contain the voltage regulator.</a:t>
            </a:r>
          </a:p>
          <a:p>
            <a:r>
              <a:rPr lang="en-US" sz="2000" dirty="0"/>
              <a:t>The end frames are bolted together and then bolted directly to the engine; therefore, the end frame assembly is part of the ground.</a:t>
            </a:r>
          </a:p>
          <a:p>
            <a:r>
              <a:rPr lang="en-US" sz="2000" dirty="0"/>
              <a:t>This means that anything connected to the housing that is not insulated from the housing is grounded.</a:t>
            </a:r>
          </a:p>
        </p:txBody>
      </p:sp>
      <p:pic>
        <p:nvPicPr>
          <p:cNvPr id="6" name="Picture Placeholder 5" descr="An end frame with built-in ducts, and a bridge rectifier diode attached to the rear end frame.">
            <a:extLst>
              <a:ext uri="{FF2B5EF4-FFF2-40B4-BE49-F238E27FC236}">
                <a16:creationId xmlns:a16="http://schemas.microsoft.com/office/drawing/2014/main" id="{BA2A8553-FD49-B827-DA63-1A811ABD6CD8}"/>
              </a:ext>
            </a:extLst>
          </p:cNvPr>
          <p:cNvPicPr>
            <a:picLocks noGrp="1" noChangeAspect="1"/>
          </p:cNvPicPr>
          <p:nvPr>
            <p:ph type="pic" sz="quarter" idx="10"/>
          </p:nvPr>
        </p:nvPicPr>
        <p:blipFill>
          <a:blip r:embed="rId3"/>
          <a:srcRect b="5916"/>
          <a:stretch/>
        </p:blipFill>
        <p:spPr>
          <a:xfrm>
            <a:off x="8552826" y="2272166"/>
            <a:ext cx="3337929" cy="3113750"/>
          </a:xfrm>
          <a:prstGeom prst="rect">
            <a:avLst/>
          </a:prstGeom>
        </p:spPr>
      </p:pic>
    </p:spTree>
    <p:extLst>
      <p:ext uri="{BB962C8B-B14F-4D97-AF65-F5344CB8AC3E}">
        <p14:creationId xmlns:p14="http://schemas.microsoft.com/office/powerpoint/2010/main" val="292228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Cooling Fans</a:t>
            </a:r>
            <a:endParaRPr dirty="0"/>
          </a:p>
        </p:txBody>
      </p:sp>
      <p:sp>
        <p:nvSpPr>
          <p:cNvPr id="2" name="Text Placeholder 1">
            <a:extLst>
              <a:ext uri="{FF2B5EF4-FFF2-40B4-BE49-F238E27FC236}">
                <a16:creationId xmlns:a16="http://schemas.microsoft.com/office/drawing/2014/main" id="{43EED9D6-9F51-E187-6995-03677CA1C2FC}"/>
              </a:ext>
            </a:extLst>
          </p:cNvPr>
          <p:cNvSpPr>
            <a:spLocks noGrp="1"/>
          </p:cNvSpPr>
          <p:nvPr>
            <p:ph type="body" idx="1"/>
          </p:nvPr>
        </p:nvSpPr>
        <p:spPr>
          <a:xfrm>
            <a:off x="476843" y="1348508"/>
            <a:ext cx="7643029" cy="4796260"/>
          </a:xfrm>
        </p:spPr>
        <p:txBody>
          <a:bodyPr/>
          <a:lstStyle/>
          <a:p>
            <a:r>
              <a:rPr lang="en-US" sz="1800" dirty="0"/>
              <a:t>Behind the drive pulley on most AC generators is a cooling fan that rotates with the rotor.</a:t>
            </a:r>
          </a:p>
          <a:p>
            <a:r>
              <a:rPr lang="en-US" sz="1800" dirty="0"/>
              <a:t>This cooling fan draws air into the housing through the openings at the rear of the housing.</a:t>
            </a:r>
          </a:p>
          <a:p>
            <a:r>
              <a:rPr lang="en-US" sz="1800" dirty="0"/>
              <a:t>The air leaves through openings behind the cooling fan.</a:t>
            </a:r>
          </a:p>
          <a:p>
            <a:r>
              <a:rPr lang="en-US" sz="1800" dirty="0"/>
              <a:t>The moving air pulls heat from the diodes and their heat decreases.</a:t>
            </a:r>
          </a:p>
          <a:p>
            <a:r>
              <a:rPr lang="en-US" sz="1800" dirty="0"/>
              <a:t>Cooling the diodes is important for the efficiency and durability of an AC generator.</a:t>
            </a:r>
          </a:p>
          <a:p>
            <a:r>
              <a:rPr lang="en-US" sz="1800" dirty="0"/>
              <a:t>Several generator designs have been introduced recently that increase the cooling efficiency of a generator.</a:t>
            </a:r>
          </a:p>
          <a:p>
            <a:r>
              <a:rPr lang="en-US" sz="1800" dirty="0"/>
              <a:t>One of these is the AD-series generator from General Motors. The “A” stands for air cooled, and the “D” means dual fans.</a:t>
            </a:r>
          </a:p>
          <a:p>
            <a:r>
              <a:rPr lang="en-US" sz="1800" dirty="0"/>
              <a:t>This series is lighter than most other generators but capable of very high outputs.</a:t>
            </a:r>
          </a:p>
        </p:txBody>
      </p:sp>
      <p:pic>
        <p:nvPicPr>
          <p:cNvPr id="5" name="Picture Placeholder 4" descr="A cooling fan at the rear of a generator.">
            <a:extLst>
              <a:ext uri="{FF2B5EF4-FFF2-40B4-BE49-F238E27FC236}">
                <a16:creationId xmlns:a16="http://schemas.microsoft.com/office/drawing/2014/main" id="{D938827F-4345-79B9-CD66-914918D9A851}"/>
              </a:ext>
            </a:extLst>
          </p:cNvPr>
          <p:cNvPicPr>
            <a:picLocks noGrp="1" noChangeAspect="1"/>
          </p:cNvPicPr>
          <p:nvPr>
            <p:ph type="pic" sz="quarter" idx="10"/>
          </p:nvPr>
        </p:nvPicPr>
        <p:blipFill>
          <a:blip r:embed="rId3"/>
          <a:srcRect b="9237"/>
          <a:stretch/>
        </p:blipFill>
        <p:spPr>
          <a:xfrm>
            <a:off x="8230431" y="1854078"/>
            <a:ext cx="3273551" cy="3652420"/>
          </a:xfrm>
          <a:prstGeom prst="rect">
            <a:avLst/>
          </a:prstGeom>
        </p:spPr>
      </p:pic>
    </p:spTree>
    <p:extLst>
      <p:ext uri="{BB962C8B-B14F-4D97-AF65-F5344CB8AC3E}">
        <p14:creationId xmlns:p14="http://schemas.microsoft.com/office/powerpoint/2010/main" val="254626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Liquid-Cooled Generators</a:t>
            </a:r>
            <a:endParaRPr dirty="0"/>
          </a:p>
        </p:txBody>
      </p:sp>
      <p:sp>
        <p:nvSpPr>
          <p:cNvPr id="2" name="Text Placeholder 1">
            <a:extLst>
              <a:ext uri="{FF2B5EF4-FFF2-40B4-BE49-F238E27FC236}">
                <a16:creationId xmlns:a16="http://schemas.microsoft.com/office/drawing/2014/main" id="{5C576ED0-A673-1FC7-7FF7-E6BF57423A0A}"/>
              </a:ext>
            </a:extLst>
          </p:cNvPr>
          <p:cNvSpPr>
            <a:spLocks noGrp="1"/>
          </p:cNvSpPr>
          <p:nvPr>
            <p:ph type="body" idx="1"/>
          </p:nvPr>
        </p:nvSpPr>
        <p:spPr>
          <a:xfrm>
            <a:off x="476843" y="1471264"/>
            <a:ext cx="7740565" cy="4697888"/>
          </a:xfrm>
        </p:spPr>
        <p:txBody>
          <a:bodyPr/>
          <a:lstStyle/>
          <a:p>
            <a:pPr>
              <a:spcAft>
                <a:spcPts val="600"/>
              </a:spcAft>
            </a:pPr>
            <a:r>
              <a:rPr lang="en-US" sz="1800" dirty="0"/>
              <a:t>Liquid-cool generators use water or coolant to cool a generator which is a very efficient way to keep the temperatures of the generator and its sensitive electronics down.</a:t>
            </a:r>
          </a:p>
          <a:p>
            <a:pPr>
              <a:spcAft>
                <a:spcPts val="600"/>
              </a:spcAft>
            </a:pPr>
            <a:r>
              <a:rPr lang="en-US" sz="1800" dirty="0"/>
              <a:t>The primary reason for eliminating the fan and using liquid to cool the generator is to reduce noise. The rotating fan is a source of </a:t>
            </a:r>
            <a:r>
              <a:rPr lang="en-US" sz="1800" dirty="0" err="1"/>
              <a:t>underhood</a:t>
            </a:r>
            <a:r>
              <a:rPr lang="en-US" sz="1800" dirty="0"/>
              <a:t> noise that some automobile manufacturers want to eliminate.</a:t>
            </a:r>
          </a:p>
          <a:p>
            <a:pPr>
              <a:spcAft>
                <a:spcPts val="600"/>
              </a:spcAft>
            </a:pPr>
            <a:r>
              <a:rPr lang="en-US" sz="1800" dirty="0"/>
              <a:t>Also at higher outputs, the rotating fan is a load on the engine as it moves the surrounding air.</a:t>
            </a:r>
          </a:p>
          <a:p>
            <a:pPr>
              <a:spcAft>
                <a:spcPts val="600"/>
              </a:spcAft>
            </a:pPr>
            <a:r>
              <a:rPr lang="en-US" sz="1800" dirty="0"/>
              <a:t>These generators have water jackets cast into the housing. Hoses connect the housing to the engine’s cooling system.</a:t>
            </a:r>
          </a:p>
          <a:p>
            <a:pPr>
              <a:spcAft>
                <a:spcPts val="600"/>
              </a:spcAft>
            </a:pPr>
            <a:r>
              <a:rPr lang="en-US" sz="1800" dirty="0"/>
              <a:t>Not only do these generators make less noise, they have higher power output and should last longer in the high-temperature environment of the engine compartment.</a:t>
            </a:r>
          </a:p>
        </p:txBody>
      </p:sp>
      <p:pic>
        <p:nvPicPr>
          <p:cNvPr id="5" name="Picture Placeholder 4" descr="A water cooled generator with water jackets cast into the housing.">
            <a:extLst>
              <a:ext uri="{FF2B5EF4-FFF2-40B4-BE49-F238E27FC236}">
                <a16:creationId xmlns:a16="http://schemas.microsoft.com/office/drawing/2014/main" id="{11AF8179-EBD7-4B32-7284-469E43639860}"/>
              </a:ext>
            </a:extLst>
          </p:cNvPr>
          <p:cNvPicPr>
            <a:picLocks noGrp="1" noChangeAspect="1"/>
          </p:cNvPicPr>
          <p:nvPr>
            <p:ph type="pic" sz="quarter" idx="10"/>
          </p:nvPr>
        </p:nvPicPr>
        <p:blipFill>
          <a:blip r:embed="rId3"/>
          <a:srcRect b="9438"/>
          <a:stretch/>
        </p:blipFill>
        <p:spPr>
          <a:xfrm>
            <a:off x="8272902" y="2006191"/>
            <a:ext cx="3688439" cy="2666293"/>
          </a:xfrm>
          <a:prstGeom prst="rect">
            <a:avLst/>
          </a:prstGeom>
        </p:spPr>
      </p:pic>
    </p:spTree>
    <p:extLst>
      <p:ext uri="{BB962C8B-B14F-4D97-AF65-F5344CB8AC3E}">
        <p14:creationId xmlns:p14="http://schemas.microsoft.com/office/powerpoint/2010/main" val="1868389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AC Generator Operation (1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AC generators produce alternating current that must be converted, or rectified, to DC. This is accomplished by passing the AC through diodes.</a:t>
            </a:r>
          </a:p>
          <a:p>
            <a:r>
              <a:rPr lang="en-US" sz="2000" dirty="0"/>
              <a:t>A </a:t>
            </a:r>
            <a:r>
              <a:rPr lang="en-US" sz="2000" b="1" dirty="0"/>
              <a:t>diode</a:t>
            </a:r>
            <a:r>
              <a:rPr lang="en-US" sz="2000" dirty="0"/>
              <a:t> allows current to flow in one direction but not in the opposite direction.</a:t>
            </a:r>
          </a:p>
          <a:p>
            <a:r>
              <a:rPr lang="en-US" sz="2000" dirty="0"/>
              <a:t>Current flow is in the direction indicated by the triangle in its schematical drawing.</a:t>
            </a:r>
          </a:p>
          <a:p>
            <a:r>
              <a:rPr lang="en-US" sz="2000" dirty="0"/>
              <a:t>Therefore, it can function as a switch, acting as either conductor or insulator, depending on the direction of current flow.</a:t>
            </a:r>
          </a:p>
          <a:p>
            <a:r>
              <a:rPr lang="en-US" sz="2000" dirty="0"/>
              <a:t>In an AC generator, current is rectified (changed from AC to DC) through the use of diodes.</a:t>
            </a:r>
          </a:p>
          <a:p>
            <a:r>
              <a:rPr lang="en-US" sz="2000" dirty="0"/>
              <a:t>The diodes are arranged so that current can leave the generator in one direction only (as DC). A variation of the diode is the Zener diode.</a:t>
            </a:r>
          </a:p>
          <a:p>
            <a:r>
              <a:rPr lang="en-US" sz="2000" dirty="0"/>
              <a:t>This device functions like a standard diode until a certain voltage is reached.</a:t>
            </a:r>
          </a:p>
          <a:p>
            <a:r>
              <a:rPr lang="en-US" sz="2000" dirty="0"/>
              <a:t>When the voltage level reaches this point, the Zener diode allows current to flow in the reverse direction. Zener diodes are often used in electronic voltage regulators.</a:t>
            </a:r>
          </a:p>
        </p:txBody>
      </p:sp>
    </p:spTree>
    <p:extLst>
      <p:ext uri="{BB962C8B-B14F-4D97-AF65-F5344CB8AC3E}">
        <p14:creationId xmlns:p14="http://schemas.microsoft.com/office/powerpoint/2010/main" val="4204144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C0CC8B0F-BA18-B2DD-BD90-3E8D0197AB54}"/>
              </a:ext>
            </a:extLst>
          </p:cNvPr>
          <p:cNvSpPr>
            <a:spLocks noGrp="1"/>
          </p:cNvSpPr>
          <p:nvPr>
            <p:ph type="title"/>
          </p:nvPr>
        </p:nvSpPr>
        <p:spPr/>
        <p:txBody>
          <a:bodyPr/>
          <a:lstStyle/>
          <a:p>
            <a:r>
              <a:rPr lang="en-US" dirty="0"/>
              <a:t>AC Generator Operation (2 of 3)</a:t>
            </a:r>
          </a:p>
        </p:txBody>
      </p:sp>
      <p:sp>
        <p:nvSpPr>
          <p:cNvPr id="3" name="Text Placeholder 2">
            <a:extLst>
              <a:ext uri="{FF2B5EF4-FFF2-40B4-BE49-F238E27FC236}">
                <a16:creationId xmlns:a16="http://schemas.microsoft.com/office/drawing/2014/main" id="{45AB6C22-C0EE-9C45-FCC7-8D1666BBB71B}"/>
              </a:ext>
            </a:extLst>
          </p:cNvPr>
          <p:cNvSpPr>
            <a:spLocks noGrp="1"/>
          </p:cNvSpPr>
          <p:nvPr>
            <p:ph type="body" idx="1"/>
          </p:nvPr>
        </p:nvSpPr>
        <p:spPr>
          <a:xfrm>
            <a:off x="476843" y="1471264"/>
            <a:ext cx="6996853" cy="4588160"/>
          </a:xfrm>
        </p:spPr>
        <p:txBody>
          <a:bodyPr/>
          <a:lstStyle/>
          <a:p>
            <a:pPr marL="0" indent="0">
              <a:buNone/>
            </a:pPr>
            <a:r>
              <a:rPr lang="en-US" sz="1800" b="1" dirty="0"/>
              <a:t>19.04 Explain half- and full-wave rectification and how they relate to AC generator operation.</a:t>
            </a:r>
          </a:p>
          <a:p>
            <a:r>
              <a:rPr lang="en-US" sz="1800" dirty="0"/>
              <a:t>DC rectification in the figure shows that when AC passes through a diode, the negative pulses are blocked off to produce the scope pattern shown.</a:t>
            </a:r>
          </a:p>
          <a:p>
            <a:r>
              <a:rPr lang="en-US" sz="1800" dirty="0"/>
              <a:t>Because it is wired so that the positive side of the diode is connected to the positive side of the load, the negative AC pulses are blocked.</a:t>
            </a:r>
          </a:p>
          <a:p>
            <a:r>
              <a:rPr lang="en-US" sz="1800" dirty="0"/>
              <a:t>If the diode is reversed, it blocks off current during the positive pulse and allows the negative pulse to flow.</a:t>
            </a:r>
          </a:p>
          <a:p>
            <a:r>
              <a:rPr lang="en-US" sz="1800" dirty="0"/>
              <a:t>Because only half of the AC current pulses (either the positive or the negative) is able to pass, this is called </a:t>
            </a:r>
            <a:r>
              <a:rPr lang="en-US" sz="1800" b="1" dirty="0"/>
              <a:t>half-wave rectification</a:t>
            </a:r>
            <a:r>
              <a:rPr lang="en-US" sz="1800" dirty="0"/>
              <a:t>.</a:t>
            </a:r>
          </a:p>
          <a:p>
            <a:r>
              <a:rPr lang="en-US" sz="1800" dirty="0"/>
              <a:t>By adding more diodes to the circuit, more of the AC is rectified.</a:t>
            </a:r>
          </a:p>
        </p:txBody>
      </p:sp>
      <p:pic>
        <p:nvPicPr>
          <p:cNvPr id="6" name="Picture Placeholder 5" descr="An inductor, diode, and resistor are connected in series. The waveforms in the circuit are as follows: sine wave, positively biased diode, and positive half cycle waves of sine wave.">
            <a:extLst>
              <a:ext uri="{FF2B5EF4-FFF2-40B4-BE49-F238E27FC236}">
                <a16:creationId xmlns:a16="http://schemas.microsoft.com/office/drawing/2014/main" id="{6614FB3C-DF21-AB42-68FF-7181ECA0AA74}"/>
              </a:ext>
            </a:extLst>
          </p:cNvPr>
          <p:cNvPicPr>
            <a:picLocks noGrp="1" noChangeAspect="1"/>
          </p:cNvPicPr>
          <p:nvPr>
            <p:ph type="pic" sz="quarter" idx="10"/>
          </p:nvPr>
        </p:nvPicPr>
        <p:blipFill>
          <a:blip r:embed="rId3"/>
          <a:srcRect b="25691"/>
          <a:stretch/>
        </p:blipFill>
        <p:spPr>
          <a:xfrm>
            <a:off x="7736984" y="2557497"/>
            <a:ext cx="4286140" cy="1672859"/>
          </a:xfrm>
          <a:prstGeom prst="rect">
            <a:avLst/>
          </a:prstGeom>
        </p:spPr>
      </p:pic>
    </p:spTree>
    <p:extLst>
      <p:ext uri="{BB962C8B-B14F-4D97-AF65-F5344CB8AC3E}">
        <p14:creationId xmlns:p14="http://schemas.microsoft.com/office/powerpoint/2010/main" val="306882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AC Generator Operation (3 of 3)</a:t>
            </a:r>
            <a:endParaRPr dirty="0"/>
          </a:p>
        </p:txBody>
      </p:sp>
      <p:sp>
        <p:nvSpPr>
          <p:cNvPr id="2" name="Text Placeholder 1">
            <a:extLst>
              <a:ext uri="{FF2B5EF4-FFF2-40B4-BE49-F238E27FC236}">
                <a16:creationId xmlns:a16="http://schemas.microsoft.com/office/drawing/2014/main" id="{DF8DC1F2-895C-A84C-187B-D2440054EC5D}"/>
              </a:ext>
            </a:extLst>
          </p:cNvPr>
          <p:cNvSpPr>
            <a:spLocks noGrp="1"/>
          </p:cNvSpPr>
          <p:nvPr>
            <p:ph type="body" idx="1"/>
          </p:nvPr>
        </p:nvSpPr>
        <p:spPr>
          <a:xfrm>
            <a:off x="476844" y="1471264"/>
            <a:ext cx="6838356" cy="4649120"/>
          </a:xfrm>
        </p:spPr>
        <p:txBody>
          <a:bodyPr/>
          <a:lstStyle/>
          <a:p>
            <a:r>
              <a:rPr lang="en-US" sz="1600" dirty="0"/>
              <a:t>When all of the AC is rectified, </a:t>
            </a:r>
            <a:r>
              <a:rPr lang="en-US" sz="1600" b="1" dirty="0"/>
              <a:t>full-wave rectification </a:t>
            </a:r>
            <a:r>
              <a:rPr lang="en-US" sz="1600" dirty="0"/>
              <a:t>occurs.</a:t>
            </a:r>
          </a:p>
          <a:p>
            <a:r>
              <a:rPr lang="en-US" sz="1600" dirty="0"/>
              <a:t>Full-wave rectification requires another circuit with similar characteristics.</a:t>
            </a:r>
          </a:p>
          <a:p>
            <a:r>
              <a:rPr lang="en-US" sz="1600" dirty="0"/>
              <a:t>The figure shows a wye stator with two diodes attached to each winding.</a:t>
            </a:r>
          </a:p>
          <a:p>
            <a:r>
              <a:rPr lang="en-US" sz="1600" dirty="0"/>
              <a:t>One diode is insulated, or positive, and the other is grounded, or negative.</a:t>
            </a:r>
          </a:p>
          <a:p>
            <a:r>
              <a:rPr lang="en-US" sz="1600" dirty="0"/>
              <a:t>The center of the Y contains a common point for all windings.</a:t>
            </a:r>
          </a:p>
          <a:p>
            <a:r>
              <a:rPr lang="en-US" sz="1600" dirty="0"/>
              <a:t>It can have a connection attached to it. It is called the stator neutral junction.</a:t>
            </a:r>
          </a:p>
          <a:p>
            <a:r>
              <a:rPr lang="en-US" sz="1600" dirty="0"/>
              <a:t>At any time during the rotor movement, two windings are in series and the third coil is neutral and inactive.</a:t>
            </a:r>
          </a:p>
          <a:p>
            <a:r>
              <a:rPr lang="en-US" sz="1600" dirty="0"/>
              <a:t>As the rotor revolves, it energizes the different sets of windings in different directions.</a:t>
            </a:r>
          </a:p>
          <a:p>
            <a:r>
              <a:rPr lang="en-US" sz="1600" dirty="0"/>
              <a:t>The diode action does not change when the stator and diodes are wired in a delta pattern.</a:t>
            </a:r>
          </a:p>
        </p:txBody>
      </p:sp>
      <p:pic>
        <p:nvPicPr>
          <p:cNvPr id="5" name="Picture Placeholder 4" descr="A delta stator wired to six diodes. Battery is connected to six diodes in series which is further grounded. Three motor leads are connected in the form of a triangle. The connecting points between the motor leads are connected between the diodes: the center of the first and second diodes; the center of third and fourth diodes; and the center of the fifth and sixth diodes. The current flows from the diode toward the stator, and then further flow towards other diodes.">
            <a:extLst>
              <a:ext uri="{FF2B5EF4-FFF2-40B4-BE49-F238E27FC236}">
                <a16:creationId xmlns:a16="http://schemas.microsoft.com/office/drawing/2014/main" id="{049BE8E9-129F-B8D6-E41B-BEA4D1B53C78}"/>
              </a:ext>
            </a:extLst>
          </p:cNvPr>
          <p:cNvPicPr>
            <a:picLocks noGrp="1" noChangeAspect="1"/>
          </p:cNvPicPr>
          <p:nvPr>
            <p:ph type="pic" sz="quarter" idx="10"/>
          </p:nvPr>
        </p:nvPicPr>
        <p:blipFill>
          <a:blip r:embed="rId3"/>
          <a:srcRect b="7336"/>
          <a:stretch/>
        </p:blipFill>
        <p:spPr>
          <a:xfrm>
            <a:off x="7315200" y="2088291"/>
            <a:ext cx="4691847" cy="3056465"/>
          </a:xfrm>
          <a:prstGeom prst="rect">
            <a:avLst/>
          </a:prstGeom>
        </p:spPr>
      </p:pic>
    </p:spTree>
    <p:extLst>
      <p:ext uri="{BB962C8B-B14F-4D97-AF65-F5344CB8AC3E}">
        <p14:creationId xmlns:p14="http://schemas.microsoft.com/office/powerpoint/2010/main" val="227341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Voltage Regulation (1 of 4)</a:t>
            </a:r>
            <a:endParaRPr dirty="0"/>
          </a:p>
        </p:txBody>
      </p:sp>
      <p:sp>
        <p:nvSpPr>
          <p:cNvPr id="2" name="Text Placeholder 1">
            <a:extLst>
              <a:ext uri="{FF2B5EF4-FFF2-40B4-BE49-F238E27FC236}">
                <a16:creationId xmlns:a16="http://schemas.microsoft.com/office/drawing/2014/main" id="{D2333BB2-C734-C32B-0A38-8A33568BF711}"/>
              </a:ext>
            </a:extLst>
          </p:cNvPr>
          <p:cNvSpPr>
            <a:spLocks noGrp="1"/>
          </p:cNvSpPr>
          <p:nvPr>
            <p:ph type="body" idx="1"/>
          </p:nvPr>
        </p:nvSpPr>
        <p:spPr>
          <a:xfrm>
            <a:off x="476843" y="1471264"/>
            <a:ext cx="8301397" cy="4502816"/>
          </a:xfrm>
        </p:spPr>
        <p:txBody>
          <a:bodyPr/>
          <a:lstStyle/>
          <a:p>
            <a:pPr marL="0" indent="0">
              <a:buNone/>
            </a:pPr>
            <a:r>
              <a:rPr lang="en-US" sz="2000" b="1" dirty="0"/>
              <a:t>19.05 Identify the different types of AC voltage regulators.</a:t>
            </a:r>
          </a:p>
          <a:p>
            <a:r>
              <a:rPr lang="en-US" sz="2000" dirty="0"/>
              <a:t>Current is passed through the AC generator’s voltage regulator before it is applied to the winding.</a:t>
            </a:r>
          </a:p>
          <a:p>
            <a:r>
              <a:rPr lang="en-US" sz="2000" dirty="0"/>
              <a:t>The </a:t>
            </a:r>
            <a:r>
              <a:rPr lang="en-US" sz="2000" b="1" dirty="0"/>
              <a:t>voltage regulator</a:t>
            </a:r>
            <a:r>
              <a:rPr lang="en-US" sz="2000" dirty="0"/>
              <a:t> varies the amount of current supplied. </a:t>
            </a:r>
          </a:p>
          <a:p>
            <a:r>
              <a:rPr lang="en-US" sz="2000" dirty="0"/>
              <a:t>By controlling the amount of resistance in series with the field coil, control of the field current and voltage output is obtained.</a:t>
            </a:r>
          </a:p>
          <a:p>
            <a:r>
              <a:rPr lang="en-US" sz="2000" dirty="0"/>
              <a:t>Increasing field current through the rotor winding increases the strength of the magnetic field which increases AC generator voltage output.</a:t>
            </a:r>
          </a:p>
          <a:p>
            <a:r>
              <a:rPr lang="en-US" sz="2000" dirty="0"/>
              <a:t>The battery and the electrical system must be protected from this excessive voltage; therefore, charging systems use a voltage regulator to control the generator’s output.</a:t>
            </a:r>
          </a:p>
        </p:txBody>
      </p:sp>
      <p:pic>
        <p:nvPicPr>
          <p:cNvPr id="5" name="Picture Placeholder 4" descr="A sensing circuit. The positive terminal of a battery is connected to a relay and an A C generator, and the negative terminal of the battery is grounded. The relay is connected to an ignition switch and sensing circuit. The ignition switch is further connected to an indicator light, which is further connected to the A C generator. The sensing circuit is connected to the A C generator which is further grounded. The output signal flows from the A C generator towards relay, and then towards the ignition switch. This signal then flows towards the indicator light, which further flows back toward the A C generator.">
            <a:extLst>
              <a:ext uri="{FF2B5EF4-FFF2-40B4-BE49-F238E27FC236}">
                <a16:creationId xmlns:a16="http://schemas.microsoft.com/office/drawing/2014/main" id="{D3F7027B-8ADF-7C0E-AB0B-09B197400D84}"/>
              </a:ext>
            </a:extLst>
          </p:cNvPr>
          <p:cNvPicPr>
            <a:picLocks noGrp="1" noChangeAspect="1"/>
          </p:cNvPicPr>
          <p:nvPr>
            <p:ph type="pic" sz="quarter" idx="10"/>
          </p:nvPr>
        </p:nvPicPr>
        <p:blipFill>
          <a:blip r:embed="rId3"/>
          <a:srcRect b="9996"/>
          <a:stretch/>
        </p:blipFill>
        <p:spPr>
          <a:xfrm>
            <a:off x="8744284" y="1935609"/>
            <a:ext cx="3179986" cy="2716778"/>
          </a:xfrm>
          <a:prstGeom prst="rect">
            <a:avLst/>
          </a:prstGeom>
        </p:spPr>
      </p:pic>
    </p:spTree>
    <p:extLst>
      <p:ext uri="{BB962C8B-B14F-4D97-AF65-F5344CB8AC3E}">
        <p14:creationId xmlns:p14="http://schemas.microsoft.com/office/powerpoint/2010/main" val="246360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Voltage Regulation (2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A regulator controls field current and is connected in one of three ways to the rotor. These are called field circuits.</a:t>
            </a:r>
          </a:p>
          <a:p>
            <a:r>
              <a:rPr lang="en-US" sz="2000" dirty="0"/>
              <a:t>The A-circuit has the regulator on the ground side of the field coil.</a:t>
            </a:r>
          </a:p>
          <a:p>
            <a:pPr lvl="1"/>
            <a:r>
              <a:rPr lang="en-US" sz="1800" dirty="0"/>
              <a:t>The battery feed (B+) for the field coil is picked up inside the AC generator. By placing the regulator on the ground side of the field coil, the regulator controls field current by varying the current flow to ground.</a:t>
            </a:r>
          </a:p>
          <a:p>
            <a:r>
              <a:rPr lang="en-US" sz="2000" dirty="0"/>
              <a:t>The second type of field circuit is the B-circuit.</a:t>
            </a:r>
          </a:p>
          <a:p>
            <a:pPr lvl="1"/>
            <a:r>
              <a:rPr lang="en-US" sz="1800" dirty="0"/>
              <a:t>The voltage regulator controls the power side of the field circuit. The field coil is grounded inside the AC generator. Normally, the B-circuit regulator is mounted outside the generator.</a:t>
            </a:r>
          </a:p>
          <a:p>
            <a:r>
              <a:rPr lang="en-US" sz="2000" dirty="0"/>
              <a:t>The third type of field circuit is called the isolated field.</a:t>
            </a:r>
          </a:p>
          <a:p>
            <a:pPr lvl="1"/>
            <a:r>
              <a:rPr lang="en-US" sz="1800" dirty="0"/>
              <a:t>This generator has two field wires attached to the outside of the case. One wire is the ground; the other is the B+. The voltage regulator can be placed on the ground or the B+ side of the circuit.</a:t>
            </a:r>
          </a:p>
        </p:txBody>
      </p:sp>
    </p:spTree>
    <p:extLst>
      <p:ext uri="{BB962C8B-B14F-4D97-AF65-F5344CB8AC3E}">
        <p14:creationId xmlns:p14="http://schemas.microsoft.com/office/powerpoint/2010/main" val="1382492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59DB8C20-31AD-DA63-3284-7D9D27528ED0}"/>
              </a:ext>
            </a:extLst>
          </p:cNvPr>
          <p:cNvSpPr>
            <a:spLocks noGrp="1"/>
          </p:cNvSpPr>
          <p:nvPr>
            <p:ph type="title"/>
          </p:nvPr>
        </p:nvSpPr>
        <p:spPr/>
        <p:txBody>
          <a:bodyPr/>
          <a:lstStyle/>
          <a:p>
            <a:r>
              <a:rPr lang="en-US" dirty="0"/>
              <a:t>Voltage Regulation (3 of 4)</a:t>
            </a:r>
          </a:p>
        </p:txBody>
      </p:sp>
      <p:sp>
        <p:nvSpPr>
          <p:cNvPr id="3" name="Text Placeholder 2">
            <a:extLst>
              <a:ext uri="{FF2B5EF4-FFF2-40B4-BE49-F238E27FC236}">
                <a16:creationId xmlns:a16="http://schemas.microsoft.com/office/drawing/2014/main" id="{F90AEFEA-A304-F9DB-3A39-04B99707A2A4}"/>
              </a:ext>
            </a:extLst>
          </p:cNvPr>
          <p:cNvSpPr>
            <a:spLocks noGrp="1"/>
          </p:cNvSpPr>
          <p:nvPr>
            <p:ph type="body" idx="1"/>
          </p:nvPr>
        </p:nvSpPr>
        <p:spPr>
          <a:xfrm>
            <a:off x="476843" y="1434193"/>
            <a:ext cx="7923445" cy="4685696"/>
          </a:xfrm>
        </p:spPr>
        <p:txBody>
          <a:bodyPr/>
          <a:lstStyle/>
          <a:p>
            <a:r>
              <a:rPr lang="en-US" sz="1800" dirty="0"/>
              <a:t>Electronic regulators can be mounted outside the generator or be an integral part of the AC generator.</a:t>
            </a:r>
          </a:p>
          <a:p>
            <a:r>
              <a:rPr lang="en-US" sz="1800" dirty="0"/>
              <a:t>Voltage output is controlled through the ground side of the field circuit (A-circuit control).</a:t>
            </a:r>
          </a:p>
          <a:p>
            <a:r>
              <a:rPr lang="en-US" sz="1800" dirty="0"/>
              <a:t>Most electronic regulators have a </a:t>
            </a:r>
            <a:r>
              <a:rPr lang="en-US" sz="1800" dirty="0" err="1"/>
              <a:t>zener</a:t>
            </a:r>
            <a:r>
              <a:rPr lang="en-US" sz="1800" dirty="0"/>
              <a:t> diode that blocks current flow until a specific voltage is obtained, at which point it allows the current to flow.</a:t>
            </a:r>
          </a:p>
          <a:p>
            <a:r>
              <a:rPr lang="en-US" sz="1800" dirty="0"/>
              <a:t>The schematic for an electronic voltage regulator with a </a:t>
            </a:r>
            <a:r>
              <a:rPr lang="en-US" sz="1800" dirty="0" err="1"/>
              <a:t>zener</a:t>
            </a:r>
            <a:r>
              <a:rPr lang="en-US" sz="1800" dirty="0"/>
              <a:t> diode is shown in Figure 19–25.</a:t>
            </a:r>
          </a:p>
          <a:p>
            <a:r>
              <a:rPr lang="en-US" sz="1800" dirty="0"/>
              <a:t>The generator’s output is controlled by pulse width modulation.</a:t>
            </a:r>
          </a:p>
          <a:p>
            <a:r>
              <a:rPr lang="en-US" sz="1800" dirty="0"/>
              <a:t>This varies the amount of time the field coil is energized in response to the vehicle’s needs.</a:t>
            </a:r>
          </a:p>
          <a:p>
            <a:r>
              <a:rPr lang="en-US" sz="1800" b="1" dirty="0"/>
              <a:t>Integrated circuit voltage regulators </a:t>
            </a:r>
            <a:r>
              <a:rPr lang="en-US" sz="1800" dirty="0"/>
              <a:t>are used in many vehicles. These compact units are mounted either inside or on the back of the AC generator.</a:t>
            </a:r>
          </a:p>
        </p:txBody>
      </p:sp>
      <p:pic>
        <p:nvPicPr>
          <p:cNvPr id="6" name="Picture Placeholder 5" descr="An integrated electronic voltage regulator with a Zener diode.">
            <a:extLst>
              <a:ext uri="{FF2B5EF4-FFF2-40B4-BE49-F238E27FC236}">
                <a16:creationId xmlns:a16="http://schemas.microsoft.com/office/drawing/2014/main" id="{F28B4024-3C64-23C6-78C3-8DDC8DD2F1F7}"/>
              </a:ext>
            </a:extLst>
          </p:cNvPr>
          <p:cNvPicPr>
            <a:picLocks noGrp="1" noChangeAspect="1"/>
          </p:cNvPicPr>
          <p:nvPr>
            <p:ph type="pic" sz="quarter" idx="10"/>
          </p:nvPr>
        </p:nvPicPr>
        <p:blipFill>
          <a:blip r:embed="rId3"/>
          <a:srcRect b="8509"/>
          <a:stretch/>
        </p:blipFill>
        <p:spPr>
          <a:xfrm>
            <a:off x="8509653" y="1543042"/>
            <a:ext cx="3377547" cy="3450989"/>
          </a:xfrm>
          <a:prstGeom prst="rect">
            <a:avLst/>
          </a:prstGeom>
        </p:spPr>
      </p:pic>
    </p:spTree>
    <p:extLst>
      <p:ext uri="{BB962C8B-B14F-4D97-AF65-F5344CB8AC3E}">
        <p14:creationId xmlns:p14="http://schemas.microsoft.com/office/powerpoint/2010/main" val="356037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Voltage Regulation (4 of 4)</a:t>
            </a:r>
            <a:endParaRPr dirty="0"/>
          </a:p>
        </p:txBody>
      </p:sp>
      <p:sp>
        <p:nvSpPr>
          <p:cNvPr id="2" name="Text Placeholder 1">
            <a:extLst>
              <a:ext uri="{FF2B5EF4-FFF2-40B4-BE49-F238E27FC236}">
                <a16:creationId xmlns:a16="http://schemas.microsoft.com/office/drawing/2014/main" id="{1250C54F-C727-6FA3-3D26-5E075A55A1CA}"/>
              </a:ext>
            </a:extLst>
          </p:cNvPr>
          <p:cNvSpPr>
            <a:spLocks noGrp="1"/>
          </p:cNvSpPr>
          <p:nvPr>
            <p:ph type="body" idx="1"/>
          </p:nvPr>
        </p:nvSpPr>
        <p:spPr>
          <a:xfrm>
            <a:off x="476842" y="1471264"/>
            <a:ext cx="7960021" cy="4624736"/>
          </a:xfrm>
        </p:spPr>
        <p:txBody>
          <a:bodyPr/>
          <a:lstStyle/>
          <a:p>
            <a:r>
              <a:rPr lang="en-US" sz="1800" dirty="0"/>
              <a:t>Computer Regulation: Some late-model vehicles do not have a separate voltage regulator.</a:t>
            </a:r>
          </a:p>
          <a:p>
            <a:r>
              <a:rPr lang="en-US" sz="1800" dirty="0"/>
              <a:t>Instead, voltage regulation is one of the many functions of the vehicle’s PCM.</a:t>
            </a:r>
          </a:p>
          <a:p>
            <a:r>
              <a:rPr lang="en-US" sz="1800" dirty="0"/>
              <a:t>The computer is used to control current to the field windings in the rotor.</a:t>
            </a:r>
          </a:p>
          <a:p>
            <a:r>
              <a:rPr lang="en-US" sz="1800" dirty="0"/>
              <a:t>The PCM looks at the input from several sensors in order to provide the correct charging output.</a:t>
            </a:r>
          </a:p>
          <a:p>
            <a:r>
              <a:rPr lang="en-US" sz="1800" dirty="0"/>
              <a:t>A significant feature of this system is its ability to vary the amount of voltage according to vehicle requirements and ambient temperatures.</a:t>
            </a:r>
          </a:p>
          <a:p>
            <a:r>
              <a:rPr lang="en-US" sz="1800" dirty="0"/>
              <a:t>This precise control allows the use of smaller, lighter storage batteries.</a:t>
            </a:r>
          </a:p>
          <a:p>
            <a:r>
              <a:rPr lang="en-US" sz="1800" dirty="0"/>
              <a:t>It also reduces the magnetic drag of the AC generator, increasing engine output by several horsepower.</a:t>
            </a:r>
          </a:p>
        </p:txBody>
      </p:sp>
      <p:pic>
        <p:nvPicPr>
          <p:cNvPr id="5" name="Picture Placeholder 4" descr="A P C M regulating the output of an A C generator. The air conditioning signal, brake switch signal, coolant temperature sensor, intake air temperature sensor, speed sensor, starter switch signal, T D C/Crank sensor, and Throttle angle sensor are together connected to P C M, which is further connected to an A C generator.">
            <a:extLst>
              <a:ext uri="{FF2B5EF4-FFF2-40B4-BE49-F238E27FC236}">
                <a16:creationId xmlns:a16="http://schemas.microsoft.com/office/drawing/2014/main" id="{975544FF-E2EE-CFF7-7FDF-5330ED5641CD}"/>
              </a:ext>
            </a:extLst>
          </p:cNvPr>
          <p:cNvPicPr>
            <a:picLocks noGrp="1" noChangeAspect="1"/>
          </p:cNvPicPr>
          <p:nvPr>
            <p:ph type="pic" sz="quarter" idx="10"/>
          </p:nvPr>
        </p:nvPicPr>
        <p:blipFill>
          <a:blip r:embed="rId3"/>
          <a:srcRect b="14927"/>
          <a:stretch/>
        </p:blipFill>
        <p:spPr>
          <a:xfrm>
            <a:off x="8490136" y="2600154"/>
            <a:ext cx="3520631" cy="1821121"/>
          </a:xfrm>
          <a:prstGeom prst="rect">
            <a:avLst/>
          </a:prstGeom>
        </p:spPr>
      </p:pic>
    </p:spTree>
    <p:extLst>
      <p:ext uri="{BB962C8B-B14F-4D97-AF65-F5344CB8AC3E}">
        <p14:creationId xmlns:p14="http://schemas.microsoft.com/office/powerpoint/2010/main" val="210127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You have learned about charging systems beginning with DC generator and all the way through computer regulated AC generator designs.</a:t>
            </a:r>
          </a:p>
          <a:p>
            <a:pPr>
              <a:spcAft>
                <a:spcPts val="600"/>
              </a:spcAft>
            </a:pPr>
            <a:r>
              <a:rPr lang="en-US" dirty="0"/>
              <a:t>Have a class discussion about the changes in the charging system over the years and why you suspect it has been evolving and redeveloping to the computer regulated AC generator. Do you see the trend? What do you think the driving forces are for this change over time?</a:t>
            </a:r>
          </a:p>
        </p:txBody>
      </p:sp>
    </p:spTree>
    <p:extLst>
      <p:ext uri="{BB962C8B-B14F-4D97-AF65-F5344CB8AC3E}">
        <p14:creationId xmlns:p14="http://schemas.microsoft.com/office/powerpoint/2010/main" val="228190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Current Trends (1 of 3)</a:t>
            </a:r>
            <a:endParaRPr dirty="0"/>
          </a:p>
        </p:txBody>
      </p:sp>
      <p:sp>
        <p:nvSpPr>
          <p:cNvPr id="2" name="Text Placeholder 1">
            <a:extLst>
              <a:ext uri="{FF2B5EF4-FFF2-40B4-BE49-F238E27FC236}">
                <a16:creationId xmlns:a16="http://schemas.microsoft.com/office/drawing/2014/main" id="{69B4F8BF-1F89-862D-ADAB-08B3F3F89A8D}"/>
              </a:ext>
            </a:extLst>
          </p:cNvPr>
          <p:cNvSpPr>
            <a:spLocks noGrp="1"/>
          </p:cNvSpPr>
          <p:nvPr>
            <p:ph type="body" idx="1"/>
          </p:nvPr>
        </p:nvSpPr>
        <p:spPr>
          <a:xfrm>
            <a:off x="476843" y="1471264"/>
            <a:ext cx="6863071" cy="4722272"/>
          </a:xfrm>
        </p:spPr>
        <p:txBody>
          <a:bodyPr/>
          <a:lstStyle/>
          <a:p>
            <a:r>
              <a:rPr lang="en-US" sz="1600" dirty="0"/>
              <a:t>Motor/Generators: Keep in mind that the main difference between a generator and a motor is that a motor has two magnetic fields that oppose each other, whereas a generator has one magnetic field and wires are moved through that field.</a:t>
            </a:r>
          </a:p>
          <a:p>
            <a:r>
              <a:rPr lang="en-US" sz="1600" dirty="0"/>
              <a:t>Using electronics to control the current to and from the battery, a generator can also work as a motor.</a:t>
            </a:r>
          </a:p>
          <a:p>
            <a:r>
              <a:rPr lang="en-US" sz="1600" dirty="0"/>
              <a:t>These units are called starter/generators or motor/generators.</a:t>
            </a:r>
          </a:p>
          <a:p>
            <a:r>
              <a:rPr lang="en-US" sz="1600" dirty="0"/>
              <a:t>A motor/generator can be mounted externally to the engine and connected to the crankshaft by a drive belt.</a:t>
            </a:r>
          </a:p>
          <a:p>
            <a:r>
              <a:rPr lang="en-US" sz="1600" dirty="0"/>
              <a:t>Motor/generators can also be directly mounted to the crankshaft between the engine and transmission or integrated into the flywheel.</a:t>
            </a:r>
          </a:p>
          <a:p>
            <a:r>
              <a:rPr lang="en-US" sz="1600" dirty="0"/>
              <a:t>The most common hybrid vehicles have two motor/generators: one that serves as the engine starting motor and a generator and the other as a traction motor and generator.</a:t>
            </a:r>
          </a:p>
        </p:txBody>
      </p:sp>
      <p:pic>
        <p:nvPicPr>
          <p:cNvPr id="5" name="Picture Placeholder 4" descr="A switched reluctance motor or generator with a specialized rotor design that can be externally mounted to the engine and connected to the crankshaft by a drive belt.">
            <a:extLst>
              <a:ext uri="{FF2B5EF4-FFF2-40B4-BE49-F238E27FC236}">
                <a16:creationId xmlns:a16="http://schemas.microsoft.com/office/drawing/2014/main" id="{4F793035-8560-D59C-BFEB-E1B57A28292A}"/>
              </a:ext>
            </a:extLst>
          </p:cNvPr>
          <p:cNvPicPr>
            <a:picLocks noGrp="1" noChangeAspect="1"/>
          </p:cNvPicPr>
          <p:nvPr>
            <p:ph type="pic" sz="quarter" idx="10"/>
          </p:nvPr>
        </p:nvPicPr>
        <p:blipFill rotWithShape="1">
          <a:blip r:embed="rId3"/>
          <a:srcRect b="13640"/>
          <a:stretch/>
        </p:blipFill>
        <p:spPr>
          <a:xfrm>
            <a:off x="7497102" y="2000309"/>
            <a:ext cx="4501309" cy="2762610"/>
          </a:xfrm>
          <a:prstGeom prst="rect">
            <a:avLst/>
          </a:prstGeom>
        </p:spPr>
      </p:pic>
    </p:spTree>
    <p:extLst>
      <p:ext uri="{BB962C8B-B14F-4D97-AF65-F5344CB8AC3E}">
        <p14:creationId xmlns:p14="http://schemas.microsoft.com/office/powerpoint/2010/main" val="987743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Current Trends (2 of 3)</a:t>
            </a:r>
            <a:endParaRPr dirty="0"/>
          </a:p>
        </p:txBody>
      </p:sp>
      <p:sp>
        <p:nvSpPr>
          <p:cNvPr id="2" name="Text Placeholder 1">
            <a:extLst>
              <a:ext uri="{FF2B5EF4-FFF2-40B4-BE49-F238E27FC236}">
                <a16:creationId xmlns:a16="http://schemas.microsoft.com/office/drawing/2014/main" id="{CF13F2A8-6C8C-890B-0A4F-8E9111C8B25A}"/>
              </a:ext>
            </a:extLst>
          </p:cNvPr>
          <p:cNvSpPr>
            <a:spLocks noGrp="1"/>
          </p:cNvSpPr>
          <p:nvPr>
            <p:ph type="body" idx="1"/>
          </p:nvPr>
        </p:nvSpPr>
        <p:spPr>
          <a:xfrm>
            <a:off x="476844" y="1310624"/>
            <a:ext cx="6702432" cy="4649120"/>
          </a:xfrm>
        </p:spPr>
        <p:txBody>
          <a:bodyPr/>
          <a:lstStyle/>
          <a:p>
            <a:r>
              <a:rPr lang="en-US" sz="1800" dirty="0"/>
              <a:t>Regenerative Braking: When the brakes are applied in a conventional vehicle, friction at the wheel brakes converts the vehicle’s kinetic energy into heat.</a:t>
            </a:r>
          </a:p>
          <a:p>
            <a:r>
              <a:rPr lang="en-US" sz="1800" dirty="0"/>
              <a:t>With regenerative braking, that energy is used to recharge the batteries. The vehicle’s kinetic energy is changed to electrical energy until the vehicle is stopped.</a:t>
            </a:r>
          </a:p>
          <a:p>
            <a:r>
              <a:rPr lang="en-US" sz="1800" dirty="0"/>
              <a:t>At that point, there is no kinetic energy. Through electronic controls, the motor/ generator functions as a generator.</a:t>
            </a:r>
          </a:p>
          <a:p>
            <a:r>
              <a:rPr lang="en-US" sz="1800" dirty="0"/>
              <a:t>The rotor is driven by the engine, which is driven by the vehicle’s wheels, as the vehicle is slowing down.</a:t>
            </a:r>
          </a:p>
          <a:p>
            <a:r>
              <a:rPr lang="en-US" sz="1800" dirty="0"/>
              <a:t>The amount of energy captured by regenerative braking depends on many things, such as the SOC of the battery and the speed at which the generator’s rotor is spinning.</a:t>
            </a:r>
          </a:p>
        </p:txBody>
      </p:sp>
      <p:pic>
        <p:nvPicPr>
          <p:cNvPr id="5" name="Picture Placeholder 4" descr="Three parts. The first part depicts the bottom view of a car with the parts labeled as follows: H V battery, inverter assembly, M G 1, M G 2, combustion engine, and driver axle. The second and the third parts depict two graphs that depict the deceleration or braking. In the first graph, the horizontal axis represents time and the vertical axis represents speed. The curve starts at the origin, goes up and to the right, unevenly up to a certain time, and then speed gradually increases. Then the speed gradually decreases to reach the horizontal axis. In the second graph, two vertical dashed lines, one at M G 1 and, the other at M G 2, are present on either side of a vertical line at the center, labeled engine. An upward-sloping line starts at M G 1 below the origin, on the vertical axis, then crosses the horizontal axis where it intersects the dashed vertical line, and then reaches M G 2 above the origin.">
            <a:extLst>
              <a:ext uri="{FF2B5EF4-FFF2-40B4-BE49-F238E27FC236}">
                <a16:creationId xmlns:a16="http://schemas.microsoft.com/office/drawing/2014/main" id="{3B88ADBB-05E8-7A10-488B-81DED8654CA3}"/>
              </a:ext>
            </a:extLst>
          </p:cNvPr>
          <p:cNvPicPr>
            <a:picLocks noGrp="1" noChangeAspect="1"/>
          </p:cNvPicPr>
          <p:nvPr>
            <p:ph type="pic" sz="quarter" idx="10"/>
          </p:nvPr>
        </p:nvPicPr>
        <p:blipFill>
          <a:blip r:embed="rId3"/>
          <a:srcRect b="8469"/>
          <a:stretch/>
        </p:blipFill>
        <p:spPr>
          <a:xfrm>
            <a:off x="7367286" y="2964101"/>
            <a:ext cx="4618768" cy="1839012"/>
          </a:xfrm>
          <a:prstGeom prst="rect">
            <a:avLst/>
          </a:prstGeom>
        </p:spPr>
      </p:pic>
    </p:spTree>
    <p:extLst>
      <p:ext uri="{BB962C8B-B14F-4D97-AF65-F5344CB8AC3E}">
        <p14:creationId xmlns:p14="http://schemas.microsoft.com/office/powerpoint/2010/main" val="395972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Current Trends (3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6984661" cy="4600352"/>
          </a:xfrm>
        </p:spPr>
        <p:txBody>
          <a:bodyPr/>
          <a:lstStyle/>
          <a:p>
            <a:r>
              <a:rPr lang="en-US" sz="1800" dirty="0"/>
              <a:t>Charging an electric vehicle (EV) or a plug-in hybrid electric vehicle (PHEV) requires a charging station. </a:t>
            </a:r>
          </a:p>
          <a:p>
            <a:r>
              <a:rPr lang="en-US" sz="1800" dirty="0"/>
              <a:t>As of early 2023, there are just under 50,000 listed public charging stations in the United States. Tesla currently owns and operates approximately 6,000 Supercharger stations across North America.</a:t>
            </a:r>
          </a:p>
          <a:p>
            <a:r>
              <a:rPr lang="en-US" sz="1800" dirty="0"/>
              <a:t>There are several types of charging in use, which are as follows:</a:t>
            </a:r>
          </a:p>
          <a:p>
            <a:pPr lvl="1"/>
            <a:r>
              <a:rPr lang="en-US" sz="1600" dirty="0"/>
              <a:t>Level 1 charging uses a standard 120-volt household wall outlet. To fully charge a battery, it may take 8 to 12 hours or more depending on battery capacity.</a:t>
            </a:r>
          </a:p>
          <a:p>
            <a:pPr lvl="1"/>
            <a:r>
              <a:rPr lang="en-US" sz="1600" dirty="0"/>
              <a:t>Level 2 charging requires 240-volt AC service. Charging may take 4 to 6 hours.</a:t>
            </a:r>
          </a:p>
          <a:p>
            <a:pPr lvl="1"/>
            <a:r>
              <a:rPr lang="en-US" sz="1600" dirty="0"/>
              <a:t>Level 3 DC fast charging uses 480-volt DC chargers that can provide an 80 percent charge in 30 minutes.</a:t>
            </a:r>
          </a:p>
        </p:txBody>
      </p:sp>
      <p:pic>
        <p:nvPicPr>
          <p:cNvPr id="3" name="Picture Placeholder 2" descr="An Electric Vehicle is getting charged in a charging station of a new car dealership's parking lot.">
            <a:extLst>
              <a:ext uri="{FF2B5EF4-FFF2-40B4-BE49-F238E27FC236}">
                <a16:creationId xmlns:a16="http://schemas.microsoft.com/office/drawing/2014/main" id="{DD8EC551-C16B-0CCE-D16E-5074D0D53ECE}"/>
              </a:ext>
            </a:extLst>
          </p:cNvPr>
          <p:cNvPicPr>
            <a:picLocks noGrp="1" noChangeAspect="1"/>
          </p:cNvPicPr>
          <p:nvPr>
            <p:ph type="pic" sz="quarter" idx="10"/>
          </p:nvPr>
        </p:nvPicPr>
        <p:blipFill>
          <a:blip r:embed="rId3"/>
          <a:srcRect b="17494"/>
          <a:stretch/>
        </p:blipFill>
        <p:spPr>
          <a:xfrm>
            <a:off x="7772850" y="2193481"/>
            <a:ext cx="4053517" cy="2471039"/>
          </a:xfrm>
          <a:prstGeom prst="rect">
            <a:avLst/>
          </a:prstGeom>
        </p:spPr>
      </p:pic>
    </p:spTree>
    <p:extLst>
      <p:ext uri="{BB962C8B-B14F-4D97-AF65-F5344CB8AC3E}">
        <p14:creationId xmlns:p14="http://schemas.microsoft.com/office/powerpoint/2010/main" val="1898729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Preliminary Checks (1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sz="2400" dirty="0"/>
              <a:t>Here are some of the following Safety Precautions:</a:t>
            </a:r>
          </a:p>
          <a:p>
            <a:pPr lvl="1">
              <a:spcAft>
                <a:spcPts val="600"/>
              </a:spcAft>
            </a:pPr>
            <a:r>
              <a:rPr lang="en-US" sz="2200" dirty="0"/>
              <a:t>Disconnect the battery ground cable before removing any leads from the system. Do not reconnect the battery ground cable until all wiring connections have been made.</a:t>
            </a:r>
          </a:p>
          <a:p>
            <a:pPr lvl="1">
              <a:spcAft>
                <a:spcPts val="600"/>
              </a:spcAft>
            </a:pPr>
            <a:r>
              <a:rPr lang="en-US" sz="2200" dirty="0"/>
              <a:t>Avoid contact with the AC generator output terminal. This terminal is hot (has voltage present) at all times when the battery cables are connected.</a:t>
            </a:r>
          </a:p>
          <a:p>
            <a:pPr lvl="1">
              <a:spcAft>
                <a:spcPts val="600"/>
              </a:spcAft>
            </a:pPr>
            <a:r>
              <a:rPr lang="en-US" sz="2200" dirty="0"/>
              <a:t>The AC generator is not made to withstand a lot of force. Only the front housing is relatively strong.</a:t>
            </a:r>
          </a:p>
          <a:p>
            <a:pPr lvl="1">
              <a:spcAft>
                <a:spcPts val="600"/>
              </a:spcAft>
            </a:pPr>
            <a:r>
              <a:rPr lang="en-US" sz="2200" dirty="0"/>
              <a:t>When adjusting belt tension, apply pressure only to the front housing to avoid damaging the stator and rectifier.</a:t>
            </a:r>
          </a:p>
          <a:p>
            <a:pPr lvl="1">
              <a:spcAft>
                <a:spcPts val="600"/>
              </a:spcAft>
            </a:pPr>
            <a:r>
              <a:rPr lang="en-US" sz="2200" dirty="0"/>
              <a:t>Make sure all hair, clothing, and jewelry are kept away from moving parts.</a:t>
            </a:r>
          </a:p>
        </p:txBody>
      </p:sp>
    </p:spTree>
    <p:extLst>
      <p:ext uri="{BB962C8B-B14F-4D97-AF65-F5344CB8AC3E}">
        <p14:creationId xmlns:p14="http://schemas.microsoft.com/office/powerpoint/2010/main" val="1905434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Preliminary Checks (2 of 5)</a:t>
            </a:r>
            <a:endParaRPr dirty="0"/>
          </a:p>
        </p:txBody>
      </p:sp>
      <p:sp>
        <p:nvSpPr>
          <p:cNvPr id="2" name="Text Placeholder 1">
            <a:extLst>
              <a:ext uri="{FF2B5EF4-FFF2-40B4-BE49-F238E27FC236}">
                <a16:creationId xmlns:a16="http://schemas.microsoft.com/office/drawing/2014/main" id="{2C254263-6E6A-E648-DE06-151ACBBDBA7B}"/>
              </a:ext>
            </a:extLst>
          </p:cNvPr>
          <p:cNvSpPr>
            <a:spLocks noGrp="1"/>
          </p:cNvSpPr>
          <p:nvPr>
            <p:ph type="body" idx="1"/>
          </p:nvPr>
        </p:nvSpPr>
        <p:spPr>
          <a:xfrm>
            <a:off x="476844" y="1471264"/>
            <a:ext cx="7221416" cy="4697888"/>
          </a:xfrm>
        </p:spPr>
        <p:txBody>
          <a:bodyPr/>
          <a:lstStyle/>
          <a:p>
            <a:pPr>
              <a:spcAft>
                <a:spcPts val="600"/>
              </a:spcAft>
            </a:pPr>
            <a:r>
              <a:rPr lang="en-US" sz="2400" dirty="0"/>
              <a:t>Part of all charging circuits is some sort of charging system warning device or indicator. </a:t>
            </a:r>
          </a:p>
          <a:p>
            <a:pPr>
              <a:spcAft>
                <a:spcPts val="600"/>
              </a:spcAft>
            </a:pPr>
            <a:r>
              <a:rPr lang="en-US" sz="2400" dirty="0"/>
              <a:t>The sole purpose of these is to alert the driver when there is a problem.</a:t>
            </a:r>
          </a:p>
          <a:p>
            <a:pPr>
              <a:spcAft>
                <a:spcPts val="600"/>
              </a:spcAft>
            </a:pPr>
            <a:r>
              <a:rPr lang="en-US" sz="2400" dirty="0"/>
              <a:t>They are also one of the first things to check when a charging system problem is suspected.</a:t>
            </a:r>
          </a:p>
          <a:p>
            <a:pPr>
              <a:spcAft>
                <a:spcPts val="600"/>
              </a:spcAft>
            </a:pPr>
            <a:r>
              <a:rPr lang="en-US" sz="2400" dirty="0"/>
              <a:t>Vehicles have an indicator light, an ammeter, a voltmeter, and/or a message center in the instrument panel that allows the driver to monitor the charging system.</a:t>
            </a:r>
          </a:p>
        </p:txBody>
      </p:sp>
      <p:pic>
        <p:nvPicPr>
          <p:cNvPr id="5" name="Picture Placeholder 4" descr="The charging warning indicator in the instrument panel is ON. The indicator resembles a battery with negative and positive terminals marked. The text beside the indicator reads, Service Engine Soon.">
            <a:extLst>
              <a:ext uri="{FF2B5EF4-FFF2-40B4-BE49-F238E27FC236}">
                <a16:creationId xmlns:a16="http://schemas.microsoft.com/office/drawing/2014/main" id="{5E63EBB1-4D6C-1916-B17D-0B8161501963}"/>
              </a:ext>
            </a:extLst>
          </p:cNvPr>
          <p:cNvPicPr>
            <a:picLocks noGrp="1" noChangeAspect="1"/>
          </p:cNvPicPr>
          <p:nvPr>
            <p:ph type="pic" sz="quarter" idx="10"/>
          </p:nvPr>
        </p:nvPicPr>
        <p:blipFill>
          <a:blip r:embed="rId3"/>
          <a:srcRect b="13187"/>
          <a:stretch/>
        </p:blipFill>
        <p:spPr>
          <a:xfrm>
            <a:off x="7892948" y="1892952"/>
            <a:ext cx="4093105" cy="3072096"/>
          </a:xfrm>
          <a:prstGeom prst="rect">
            <a:avLst/>
          </a:prstGeom>
        </p:spPr>
      </p:pic>
    </p:spTree>
    <p:extLst>
      <p:ext uri="{BB962C8B-B14F-4D97-AF65-F5344CB8AC3E}">
        <p14:creationId xmlns:p14="http://schemas.microsoft.com/office/powerpoint/2010/main" val="2286060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Preliminary Checks (3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Indicator Light: This is the simplest and most common method of monitoring charging system performance.</a:t>
            </a:r>
          </a:p>
          <a:p>
            <a:r>
              <a:rPr lang="en-US" sz="1800" dirty="0"/>
              <a:t>When the system fails to supply sufficient current, the light turns on.</a:t>
            </a:r>
          </a:p>
          <a:p>
            <a:r>
              <a:rPr lang="en-US" sz="1800" dirty="0"/>
              <a:t>However, when the ignition switch is first activated, the light also comes on.</a:t>
            </a:r>
          </a:p>
          <a:p>
            <a:r>
              <a:rPr lang="en-US" sz="1800" dirty="0"/>
              <a:t>This is due to the fact that the AC generator is not providing power to the battery and other electrical circuits.</a:t>
            </a:r>
          </a:p>
          <a:p>
            <a:r>
              <a:rPr lang="en-US" sz="1800" dirty="0"/>
              <a:t>Once enough power is provided, the lamp should turn off.</a:t>
            </a:r>
          </a:p>
          <a:p>
            <a:r>
              <a:rPr lang="en-US" sz="1800" dirty="0"/>
              <a:t>If, when the engine is running, the electrical load is greater than what can be handled by the charging system, the indicator light should turn on.</a:t>
            </a:r>
          </a:p>
          <a:p>
            <a:r>
              <a:rPr lang="en-US" sz="1800" dirty="0"/>
              <a:t>This occasionally happens when the engine is idling. If there are no problems, the light should go out as the engine speed is increased. If it does not, either the AC generator or regulator is not working properly.</a:t>
            </a:r>
          </a:p>
          <a:p>
            <a:r>
              <a:rPr lang="en-US" sz="1800" dirty="0"/>
              <a:t>If the lamp does not light when the ignition is placed in the on position, check the bulb and its circuitry.</a:t>
            </a:r>
          </a:p>
        </p:txBody>
      </p:sp>
    </p:spTree>
    <p:extLst>
      <p:ext uri="{BB962C8B-B14F-4D97-AF65-F5344CB8AC3E}">
        <p14:creationId xmlns:p14="http://schemas.microsoft.com/office/powerpoint/2010/main" val="170866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Preliminary Checks (4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400" dirty="0"/>
              <a:t>Meters: Some vehicles have an ammeter or voltmeter in their instrument cluster.</a:t>
            </a:r>
          </a:p>
          <a:p>
            <a:r>
              <a:rPr lang="en-US" sz="2400" dirty="0"/>
              <a:t>The voltmeter displays the voltage at the battery.</a:t>
            </a:r>
          </a:p>
          <a:p>
            <a:r>
              <a:rPr lang="en-US" sz="2400" dirty="0"/>
              <a:t>If the charging system is working fine, the voltmeter will read more than 12 volts. The ammeter monitors current flow in and out of the battery.</a:t>
            </a:r>
          </a:p>
          <a:p>
            <a:r>
              <a:rPr lang="en-US" sz="2400" dirty="0"/>
              <a:t>When the generator is delivering current to the battery, the ammeter shows a positive (+) indication.</a:t>
            </a:r>
          </a:p>
          <a:p>
            <a:r>
              <a:rPr lang="en-US" sz="2400" dirty="0"/>
              <a:t>When not enough current (or none at all) is being supplied, the result is a negative (−) indication.</a:t>
            </a:r>
          </a:p>
          <a:p>
            <a:r>
              <a:rPr lang="en-US" sz="2400" dirty="0"/>
              <a:t>The latter situation indicates a problem with the charging system.</a:t>
            </a:r>
          </a:p>
        </p:txBody>
      </p:sp>
    </p:spTree>
    <p:extLst>
      <p:ext uri="{BB962C8B-B14F-4D97-AF65-F5344CB8AC3E}">
        <p14:creationId xmlns:p14="http://schemas.microsoft.com/office/powerpoint/2010/main" val="393837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Preliminary Checks (5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11241915" cy="4722272"/>
          </a:xfrm>
        </p:spPr>
        <p:txBody>
          <a:bodyPr/>
          <a:lstStyle/>
          <a:p>
            <a:r>
              <a:rPr lang="en-US" sz="2000" dirty="0"/>
              <a:t>Warning messages are typically found on vehicles with a PCM-controlled charging system.</a:t>
            </a:r>
          </a:p>
          <a:p>
            <a:r>
              <a:rPr lang="en-US" sz="2000" dirty="0"/>
              <a:t>Like other warning lamp circuits, the lamp, along with a message, should be displayed when the ignition is first turned on, but it should also turn off or clear once the engine is running, normally about 3 seconds.</a:t>
            </a:r>
          </a:p>
          <a:p>
            <a:r>
              <a:rPr lang="en-US" sz="2000" dirty="0"/>
              <a:t>If the lamp and/or message remains on, the charging system needs to be diagnosed. If the lamp does not initially illuminate, that circuit needs to be diagnosed.</a:t>
            </a:r>
          </a:p>
          <a:p>
            <a:r>
              <a:rPr lang="en-US" sz="2000" dirty="0"/>
              <a:t>Normally, the message center will display one of two messages when there is a faulty charging system:</a:t>
            </a:r>
          </a:p>
          <a:p>
            <a:pPr lvl="1"/>
            <a:r>
              <a:rPr lang="en-US" sz="1800" dirty="0"/>
              <a:t>“Battery Not Charging Service Charging System.”</a:t>
            </a:r>
          </a:p>
          <a:p>
            <a:pPr lvl="1"/>
            <a:r>
              <a:rPr lang="en-US" sz="1800" dirty="0"/>
              <a:t>“Service Battery Charging System.”</a:t>
            </a:r>
          </a:p>
          <a:p>
            <a:r>
              <a:rPr lang="en-US" sz="2000" dirty="0"/>
              <a:t>Both of these messages will set a diagnostic trouble code that can be retrieved to help in diagnosis.</a:t>
            </a:r>
          </a:p>
        </p:txBody>
      </p:sp>
    </p:spTree>
    <p:extLst>
      <p:ext uri="{BB962C8B-B14F-4D97-AF65-F5344CB8AC3E}">
        <p14:creationId xmlns:p14="http://schemas.microsoft.com/office/powerpoint/2010/main" val="52929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F77577D6-84E0-5F00-A17E-61A99F3AE84C}"/>
              </a:ext>
            </a:extLst>
          </p:cNvPr>
          <p:cNvSpPr>
            <a:spLocks noGrp="1"/>
          </p:cNvSpPr>
          <p:nvPr>
            <p:ph type="title"/>
          </p:nvPr>
        </p:nvSpPr>
        <p:spPr/>
        <p:txBody>
          <a:bodyPr/>
          <a:lstStyle/>
          <a:p>
            <a:r>
              <a:rPr lang="en-US" dirty="0"/>
              <a:t>PCM-Controlled Systems</a:t>
            </a:r>
          </a:p>
        </p:txBody>
      </p:sp>
      <p:sp>
        <p:nvSpPr>
          <p:cNvPr id="3" name="Text Placeholder 2">
            <a:extLst>
              <a:ext uri="{FF2B5EF4-FFF2-40B4-BE49-F238E27FC236}">
                <a16:creationId xmlns:a16="http://schemas.microsoft.com/office/drawing/2014/main" id="{67DDD594-EFA7-3D1D-0B3E-0CBA0BE81266}"/>
              </a:ext>
            </a:extLst>
          </p:cNvPr>
          <p:cNvSpPr>
            <a:spLocks noGrp="1"/>
          </p:cNvSpPr>
          <p:nvPr>
            <p:ph type="body" idx="1"/>
          </p:nvPr>
        </p:nvSpPr>
        <p:spPr>
          <a:xfrm>
            <a:off x="476843" y="1471264"/>
            <a:ext cx="7984071" cy="4612544"/>
          </a:xfrm>
        </p:spPr>
        <p:txBody>
          <a:bodyPr/>
          <a:lstStyle/>
          <a:p>
            <a:r>
              <a:rPr lang="en-US" sz="1800" dirty="0"/>
              <a:t>With PCM-controlled systems, diagnosis should continue with a check for diagnostic trouble codes (DTCs).</a:t>
            </a:r>
          </a:p>
          <a:p>
            <a:r>
              <a:rPr lang="en-US" sz="1800" dirty="0"/>
              <a:t>There are two possible types of charging system DTCs:</a:t>
            </a:r>
          </a:p>
          <a:p>
            <a:pPr lvl="1"/>
            <a:r>
              <a:rPr lang="en-US" sz="1600" dirty="0"/>
              <a:t>generator related</a:t>
            </a:r>
          </a:p>
          <a:p>
            <a:pPr lvl="1"/>
            <a:r>
              <a:rPr lang="en-US" sz="1600" dirty="0"/>
              <a:t>battery current sensor related</a:t>
            </a:r>
          </a:p>
          <a:p>
            <a:r>
              <a:rPr lang="en-US" sz="1800" dirty="0"/>
              <a:t>Always refer to the manufacturer’s DTC charts and follow its prescribed diagnostic steps for those codes.</a:t>
            </a:r>
          </a:p>
          <a:p>
            <a:r>
              <a:rPr lang="en-US" sz="1800" dirty="0"/>
              <a:t>On most systems, the voltage output can be monitored with a scan tool.</a:t>
            </a:r>
          </a:p>
          <a:p>
            <a:r>
              <a:rPr lang="en-US" sz="1800" dirty="0"/>
              <a:t>If the voltage is not within the range specified by the manufacturer, check all connections before continuing with other tests.</a:t>
            </a:r>
          </a:p>
          <a:p>
            <a:r>
              <a:rPr lang="en-US" sz="1800" dirty="0"/>
              <a:t>In a typical PCM-controlled charging system, the PCM controls the generator by controlling the duty cycle of the field current.</a:t>
            </a:r>
          </a:p>
        </p:txBody>
      </p:sp>
      <p:pic>
        <p:nvPicPr>
          <p:cNvPr id="6" name="Picture Placeholder 5" descr="A P C M-controlled charging system with a battery, underhood fuse box, under dash fuse box, E C M/P C M, and generator connected in a circuit. The positive terminal of the battery is connected to the 100 A fuse, and the negative terminal is grounded. The 100 A fuse is further connected to the E L F unit and rectifier. In the E L F unit, contact F in A 1 is connected to fuse 18 15 A through a pair of contacts. contact F in A 2 is grounded. contact F in A 3 is connected to the under dash fuse box through a pair of contacts. Another pair of contacts from under dash fuse box is connected to contact M in E 15 of E C M/P C M. In E C M/P C M, contact F in E 11 (C A N high) and contact F in E 24 (C A N low) are connected to fast C A N transceiver. Contact F in B 18 (C signal) is connected to the regulator in the generator through contact F in 2. Contact F in B 13 (F A R signal) is connected to regulator in the generator through contact F in 4. Contact F in B 10 (L signal) is connected to regulator in the generator through contact F in 3. A resistor is between the connection circuit of E 11 and E 24. The Fast C A N transceiver is further connected to the 5 V stabilizer circuit (C A N controller), which is further connected to the warning driver circuit. The warning driver circuit is further connected to the light-emitting diode, which is further connected to a resistor. The resistor is further connected to Fuse 21 7.5A in the under dash fuse box through a pair of connections. The light from the light-emitting diode falls on the indicator. In the generator, the Regulator is further connected to a field winding, rectifiers, stator, and then grounded.">
            <a:extLst>
              <a:ext uri="{FF2B5EF4-FFF2-40B4-BE49-F238E27FC236}">
                <a16:creationId xmlns:a16="http://schemas.microsoft.com/office/drawing/2014/main" id="{8C50BDEC-FDEC-69F9-712D-71DF5D35D476}"/>
              </a:ext>
            </a:extLst>
          </p:cNvPr>
          <p:cNvPicPr>
            <a:picLocks noGrp="1" noChangeAspect="1"/>
          </p:cNvPicPr>
          <p:nvPr>
            <p:ph type="pic" sz="quarter" idx="10"/>
          </p:nvPr>
        </p:nvPicPr>
        <p:blipFill>
          <a:blip r:embed="rId3"/>
          <a:srcRect b="4183"/>
          <a:stretch/>
        </p:blipFill>
        <p:spPr>
          <a:xfrm>
            <a:off x="8460914" y="1737483"/>
            <a:ext cx="3488070" cy="4140803"/>
          </a:xfrm>
          <a:prstGeom prst="rect">
            <a:avLst/>
          </a:prstGeom>
        </p:spPr>
      </p:pic>
    </p:spTree>
    <p:extLst>
      <p:ext uri="{BB962C8B-B14F-4D97-AF65-F5344CB8AC3E}">
        <p14:creationId xmlns:p14="http://schemas.microsoft.com/office/powerpoint/2010/main" val="298126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On a PCM-controlled charging system, if there is a charging concern and message illuminated, how would a technician likely proceed with diagnosis after a visual inspection is performed?</a:t>
            </a:r>
          </a:p>
        </p:txBody>
      </p:sp>
    </p:spTree>
    <p:extLst>
      <p:ext uri="{BB962C8B-B14F-4D97-AF65-F5344CB8AC3E}">
        <p14:creationId xmlns:p14="http://schemas.microsoft.com/office/powerpoint/2010/main" val="3283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b="1" dirty="0"/>
              <a:t>Answer</a:t>
            </a:r>
            <a:r>
              <a:rPr lang="en-US" dirty="0"/>
              <a:t>: After the visual inspection the technician should refer to the manufacturer’s DTC charts and follow its prescribed diagnostic steps for those codes.</a:t>
            </a:r>
          </a:p>
          <a:p>
            <a:pPr marL="0" indent="0">
              <a:spcAft>
                <a:spcPts val="600"/>
              </a:spcAft>
              <a:buNone/>
            </a:pPr>
            <a:r>
              <a:rPr lang="en-US" dirty="0"/>
              <a:t>The DTC’s would be retrieved using a scan tool.</a:t>
            </a:r>
          </a:p>
        </p:txBody>
      </p:sp>
    </p:spTree>
    <p:extLst>
      <p:ext uri="{BB962C8B-B14F-4D97-AF65-F5344CB8AC3E}">
        <p14:creationId xmlns:p14="http://schemas.microsoft.com/office/powerpoint/2010/main" val="3855711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Noise Diagnosis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Often, a charging system concern is excessive noise.</a:t>
            </a:r>
          </a:p>
          <a:p>
            <a:r>
              <a:rPr lang="en-US" sz="1800" dirty="0"/>
              <a:t>The cause of this noise can be something mechanical or electrical.</a:t>
            </a:r>
          </a:p>
          <a:p>
            <a:r>
              <a:rPr lang="en-US" sz="1800" dirty="0"/>
              <a:t>Most often, electrical noise is normal and will vary with the load put on the charging system. However, a bad diode can cause an abnormal whirring noise.</a:t>
            </a:r>
          </a:p>
          <a:p>
            <a:r>
              <a:rPr lang="en-US" sz="1800" dirty="0"/>
              <a:t>Most noises are caused by belts, bad bearings, or something rubbing against a pulley or belt. </a:t>
            </a:r>
          </a:p>
          <a:p>
            <a:r>
              <a:rPr lang="en-US" sz="1800" dirty="0"/>
              <a:t>As with all problems, verify the noise and attempt to identify the area it is coming from.</a:t>
            </a:r>
          </a:p>
          <a:p>
            <a:r>
              <a:rPr lang="en-US" sz="1800" dirty="0"/>
              <a:t>If a drive belt does not have the proper tension, it might produce a loud squealing sound.</a:t>
            </a:r>
          </a:p>
          <a:p>
            <a:r>
              <a:rPr lang="en-US" sz="1800" dirty="0"/>
              <a:t>Though not as common, failed diodes can cause electrical noise or interference and a whine in the audio system.</a:t>
            </a:r>
          </a:p>
          <a:p>
            <a:r>
              <a:rPr lang="en-US" sz="1800" dirty="0"/>
              <a:t>Check the mounting of the generator, its wiring harness, and all heater hoses, A/C lines, and other items that may be misrouted and make contact with belts or pulleys.</a:t>
            </a:r>
          </a:p>
          <a:p>
            <a:r>
              <a:rPr lang="en-US" sz="1800" dirty="0"/>
              <a:t>If the cause of the noise is not identified, remove the drive belt. Spin the generator’s pulley, idler pulley, and tensioner.</a:t>
            </a:r>
          </a:p>
          <a:p>
            <a:r>
              <a:rPr lang="en-US" sz="1800" dirty="0"/>
              <a:t>If any of these do not spin freely, replace them.</a:t>
            </a:r>
          </a:p>
        </p:txBody>
      </p:sp>
    </p:spTree>
    <p:extLst>
      <p:ext uri="{BB962C8B-B14F-4D97-AF65-F5344CB8AC3E}">
        <p14:creationId xmlns:p14="http://schemas.microsoft.com/office/powerpoint/2010/main" val="3028416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General Testing Procedures (1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1200"/>
              </a:spcAft>
              <a:buNone/>
            </a:pPr>
            <a:r>
              <a:rPr lang="en-US" sz="2000" b="1" dirty="0"/>
              <a:t>19.08 Perform charging system inspection and testing procedures using electrical test equipment.</a:t>
            </a:r>
          </a:p>
          <a:p>
            <a:r>
              <a:rPr lang="en-US" sz="2000" dirty="0"/>
              <a:t>If the concern is excessive charge resulting in battery or component failure, the most likely cause is the voltage regulator.</a:t>
            </a:r>
          </a:p>
          <a:p>
            <a:r>
              <a:rPr lang="en-US" sz="2000" dirty="0"/>
              <a:t>Seldom does a bad regulator cause low output, but it can cause no output.</a:t>
            </a:r>
          </a:p>
          <a:p>
            <a:r>
              <a:rPr lang="en-US" sz="2000" dirty="0"/>
              <a:t>To determine if the regulator was the cause on older generators, the regulator was bypassed or full fielded. This is not done with today’s generators.</a:t>
            </a:r>
          </a:p>
          <a:p>
            <a:r>
              <a:rPr lang="en-US" sz="2000" dirty="0"/>
              <a:t>This requires knowledge of the type of field circuit the generator has.</a:t>
            </a:r>
          </a:p>
          <a:p>
            <a:r>
              <a:rPr lang="en-US" sz="2000" dirty="0"/>
              <a:t>Follow the manufacturer’s procedures for full-fielding a generator. On some vehicles, control of the charging system can be monitored and tested using a scan tool.</a:t>
            </a:r>
          </a:p>
          <a:p>
            <a:r>
              <a:rPr lang="en-US" sz="2000" dirty="0"/>
              <a:t>Generator field control may be available in the functional or active test menus.</a:t>
            </a:r>
          </a:p>
        </p:txBody>
      </p:sp>
    </p:spTree>
    <p:extLst>
      <p:ext uri="{BB962C8B-B14F-4D97-AF65-F5344CB8AC3E}">
        <p14:creationId xmlns:p14="http://schemas.microsoft.com/office/powerpoint/2010/main" val="4169592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General Testing Procedures (2 of 4)</a:t>
            </a:r>
            <a:endParaRPr dirty="0"/>
          </a:p>
        </p:txBody>
      </p:sp>
      <p:sp>
        <p:nvSpPr>
          <p:cNvPr id="2" name="Text Placeholder 1">
            <a:extLst>
              <a:ext uri="{FF2B5EF4-FFF2-40B4-BE49-F238E27FC236}">
                <a16:creationId xmlns:a16="http://schemas.microsoft.com/office/drawing/2014/main" id="{A54B24DD-1882-F820-06BD-B8D970BDEC9C}"/>
              </a:ext>
            </a:extLst>
          </p:cNvPr>
          <p:cNvSpPr>
            <a:spLocks noGrp="1"/>
          </p:cNvSpPr>
          <p:nvPr>
            <p:ph type="body" idx="1"/>
          </p:nvPr>
        </p:nvSpPr>
        <p:spPr>
          <a:xfrm>
            <a:off x="476843" y="1471264"/>
            <a:ext cx="7045621" cy="4685696"/>
          </a:xfrm>
        </p:spPr>
        <p:txBody>
          <a:bodyPr/>
          <a:lstStyle/>
          <a:p>
            <a:pPr>
              <a:spcAft>
                <a:spcPts val="600"/>
              </a:spcAft>
            </a:pPr>
            <a:r>
              <a:rPr lang="en-US" sz="2200" dirty="0"/>
              <a:t>The output (load) test looks at the current output of the system.</a:t>
            </a:r>
          </a:p>
          <a:p>
            <a:pPr>
              <a:spcAft>
                <a:spcPts val="600"/>
              </a:spcAft>
            </a:pPr>
            <a:r>
              <a:rPr lang="en-US" sz="2200" dirty="0"/>
              <a:t>A VAT can quickly check the amperage output. With the tester connected to the system, the engine is run at a moderate speed (2,500 rpm) and the carbon pile adjusted to obtain maximum current output.</a:t>
            </a:r>
          </a:p>
          <a:p>
            <a:pPr>
              <a:spcAft>
                <a:spcPts val="600"/>
              </a:spcAft>
            </a:pPr>
            <a:r>
              <a:rPr lang="en-US" sz="2200" dirty="0"/>
              <a:t>This reading is compared against the rated output. Normally, readings that are more than 10 amps out of specifications indicate a problem, and the generator should be repaired or replaced.</a:t>
            </a:r>
          </a:p>
        </p:txBody>
      </p:sp>
      <p:pic>
        <p:nvPicPr>
          <p:cNvPr id="5" name="Picture Placeholder 4" descr="An illustration depicts terminals of a battery connected to V A T. The parts labeled are as follows: voltmeter, ammeter, carbon pile, and inductive pickup.">
            <a:extLst>
              <a:ext uri="{FF2B5EF4-FFF2-40B4-BE49-F238E27FC236}">
                <a16:creationId xmlns:a16="http://schemas.microsoft.com/office/drawing/2014/main" id="{7986F3DD-FF77-968C-4BAE-666AFD165544}"/>
              </a:ext>
            </a:extLst>
          </p:cNvPr>
          <p:cNvPicPr>
            <a:picLocks noGrp="1" noChangeAspect="1"/>
          </p:cNvPicPr>
          <p:nvPr>
            <p:ph type="pic" sz="quarter" idx="10"/>
          </p:nvPr>
        </p:nvPicPr>
        <p:blipFill>
          <a:blip r:embed="rId3"/>
          <a:srcRect b="18984"/>
          <a:stretch/>
        </p:blipFill>
        <p:spPr>
          <a:xfrm>
            <a:off x="7602850" y="1943275"/>
            <a:ext cx="4333777" cy="2971451"/>
          </a:xfrm>
          <a:prstGeom prst="rect">
            <a:avLst/>
          </a:prstGeom>
        </p:spPr>
      </p:pic>
    </p:spTree>
    <p:extLst>
      <p:ext uri="{BB962C8B-B14F-4D97-AF65-F5344CB8AC3E}">
        <p14:creationId xmlns:p14="http://schemas.microsoft.com/office/powerpoint/2010/main" val="3864977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General Testing Procedures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397122"/>
            <a:ext cx="7703989" cy="4734464"/>
          </a:xfrm>
        </p:spPr>
        <p:txBody>
          <a:bodyPr/>
          <a:lstStyle/>
          <a:p>
            <a:pPr>
              <a:spcAft>
                <a:spcPts val="600"/>
              </a:spcAft>
            </a:pPr>
            <a:r>
              <a:rPr lang="en-US" sz="1800" dirty="0"/>
              <a:t>The output of a generator is highly dependent on the condition of the diodes.</a:t>
            </a:r>
          </a:p>
          <a:p>
            <a:pPr>
              <a:spcAft>
                <a:spcPts val="600"/>
              </a:spcAft>
            </a:pPr>
            <a:r>
              <a:rPr lang="en-US" sz="1800" dirty="0"/>
              <a:t>Not only do the diodes rectify AC voltage to DC, they also prevent AC voltage from being present in the output.</a:t>
            </a:r>
          </a:p>
          <a:p>
            <a:pPr>
              <a:spcAft>
                <a:spcPts val="600"/>
              </a:spcAft>
            </a:pPr>
            <a:r>
              <a:rPr lang="en-US" sz="1800" dirty="0"/>
              <a:t>Therefore, it is important to make sure that no AC is leaking into the charging system from the AC generator. Leakage typically occurs at a faulty diode.</a:t>
            </a:r>
          </a:p>
          <a:p>
            <a:pPr>
              <a:spcAft>
                <a:spcPts val="600"/>
              </a:spcAft>
            </a:pPr>
            <a:r>
              <a:rPr lang="en-US" sz="1800" dirty="0"/>
              <a:t>Bad diodes are indicated by the presence of more than 0.050 AC volts on the output wire.</a:t>
            </a:r>
          </a:p>
          <a:p>
            <a:pPr>
              <a:spcAft>
                <a:spcPts val="600"/>
              </a:spcAft>
            </a:pPr>
            <a:r>
              <a:rPr lang="en-US" sz="1800" dirty="0"/>
              <a:t>To check this, set the DMM to measure AC volts. Then connect the black meter lead to a good ground and the red lead to the generator’s battery terminal while the engine is running.</a:t>
            </a:r>
          </a:p>
          <a:p>
            <a:pPr>
              <a:spcAft>
                <a:spcPts val="600"/>
              </a:spcAft>
            </a:pPr>
            <a:r>
              <a:rPr lang="en-US" sz="1800" dirty="0"/>
              <a:t>There should be no more than 50 millivolts AC. If there is more, check the diodes and/or replace the generator.</a:t>
            </a:r>
          </a:p>
        </p:txBody>
      </p:sp>
      <p:pic>
        <p:nvPicPr>
          <p:cNvPr id="3" name="Picture Placeholder 2" descr="A digital multimeter setup depicts a testing procedure for A C leakage. The black meter lead is connected to a good ground and the red lead to the generator's battery terminal, while the engine runs. The display in the digital multimeter reads 0.075 units.">
            <a:extLst>
              <a:ext uri="{FF2B5EF4-FFF2-40B4-BE49-F238E27FC236}">
                <a16:creationId xmlns:a16="http://schemas.microsoft.com/office/drawing/2014/main" id="{8FC0CB92-7EA1-14E5-F9B8-7B968F09D779}"/>
              </a:ext>
            </a:extLst>
          </p:cNvPr>
          <p:cNvPicPr>
            <a:picLocks noGrp="1" noChangeAspect="1"/>
          </p:cNvPicPr>
          <p:nvPr>
            <p:ph type="pic" sz="quarter" idx="10"/>
          </p:nvPr>
        </p:nvPicPr>
        <p:blipFill rotWithShape="1">
          <a:blip r:embed="rId3"/>
          <a:srcRect b="9825"/>
          <a:stretch/>
        </p:blipFill>
        <p:spPr>
          <a:xfrm>
            <a:off x="8180832" y="2055137"/>
            <a:ext cx="3805222" cy="2747727"/>
          </a:xfrm>
          <a:prstGeom prst="rect">
            <a:avLst/>
          </a:prstGeom>
        </p:spPr>
      </p:pic>
    </p:spTree>
    <p:extLst>
      <p:ext uri="{BB962C8B-B14F-4D97-AF65-F5344CB8AC3E}">
        <p14:creationId xmlns:p14="http://schemas.microsoft.com/office/powerpoint/2010/main" val="1523349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General Testing Procedures (4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200" dirty="0"/>
              <a:t>If charging voltage is incorrect or the system is not charging at all, first verify the power and ground circuits for the generator.</a:t>
            </a:r>
          </a:p>
          <a:p>
            <a:r>
              <a:rPr lang="en-US" sz="2200" dirty="0"/>
              <a:t>If power is present at the generator and the ground circuit voltage drop is acceptable, the control circuit should be inspected.</a:t>
            </a:r>
          </a:p>
          <a:p>
            <a:r>
              <a:rPr lang="en-US" sz="2200" dirty="0"/>
              <a:t>For computer-controlled charging systems, a scan tool is often required.</a:t>
            </a:r>
          </a:p>
          <a:p>
            <a:r>
              <a:rPr lang="en-US" sz="2200" dirty="0"/>
              <a:t>Begin by checking for any stored DTCs. If DTCs are stored for the charging system, you will need to follow the manufacturer’s service information to diagnose the DTC.</a:t>
            </a:r>
          </a:p>
          <a:p>
            <a:r>
              <a:rPr lang="en-US" sz="2200" dirty="0"/>
              <a:t>Locate the charging system PIDs and note the generator output command.</a:t>
            </a:r>
          </a:p>
          <a:p>
            <a:r>
              <a:rPr lang="en-US" sz="2200" dirty="0"/>
              <a:t>Increase the electrical load and engine rpm and note the commanded output and actual generator output.</a:t>
            </a:r>
          </a:p>
          <a:p>
            <a:r>
              <a:rPr lang="en-US" sz="2200" dirty="0"/>
              <a:t>Both should increase as electrical load increases.</a:t>
            </a:r>
          </a:p>
        </p:txBody>
      </p:sp>
    </p:spTree>
    <p:extLst>
      <p:ext uri="{BB962C8B-B14F-4D97-AF65-F5344CB8AC3E}">
        <p14:creationId xmlns:p14="http://schemas.microsoft.com/office/powerpoint/2010/main" val="2563160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Clutch Pulley Inspection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To check the pulley bearing, run the engine at 2,000 rpm and shut the engine off while at the increased speed.</a:t>
            </a:r>
          </a:p>
          <a:p>
            <a:r>
              <a:rPr lang="en-US" sz="2000" dirty="0"/>
              <a:t>A worn alternator drive pulley bearing will make noise for 5 to 10 seconds after the engine is shut down.</a:t>
            </a:r>
          </a:p>
          <a:p>
            <a:r>
              <a:rPr lang="en-US" sz="2000" dirty="0"/>
              <a:t>Special tools are sometimes required to check clutch-type pulleys.</a:t>
            </a:r>
          </a:p>
          <a:p>
            <a:r>
              <a:rPr lang="en-US" sz="2000" dirty="0"/>
              <a:t>To check the action of the overrunning clutch, rotate the pulley’s outer ring while keeping the center stationary.</a:t>
            </a:r>
          </a:p>
          <a:p>
            <a:r>
              <a:rPr lang="en-US" sz="2000" dirty="0"/>
              <a:t>The ring should rotate freely in the counterclockwise direction, and not rotate in the clockwise direction. If the pulley fails this check, replace it.</a:t>
            </a:r>
          </a:p>
          <a:p>
            <a:r>
              <a:rPr lang="en-US" sz="2000" dirty="0"/>
              <a:t>A torque wrench may be required to check the amount of force necessary to turn the pulley.</a:t>
            </a:r>
          </a:p>
          <a:p>
            <a:r>
              <a:rPr lang="en-US" sz="2000" dirty="0"/>
              <a:t>Refer to the manufacturer’s service information for testing procedures for the specific vehicle.</a:t>
            </a:r>
          </a:p>
        </p:txBody>
      </p:sp>
    </p:spTree>
    <p:extLst>
      <p:ext uri="{BB962C8B-B14F-4D97-AF65-F5344CB8AC3E}">
        <p14:creationId xmlns:p14="http://schemas.microsoft.com/office/powerpoint/2010/main" val="350428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AC Generator Service</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sz="1800" b="1" dirty="0"/>
              <a:t>19.09 Explain how to replace an AC generator.</a:t>
            </a:r>
          </a:p>
          <a:p>
            <a:pPr>
              <a:spcAft>
                <a:spcPts val="600"/>
              </a:spcAft>
            </a:pPr>
            <a:r>
              <a:rPr lang="en-US" sz="1800" dirty="0"/>
              <a:t>When the cause of charging system failure is the AC generator, it should be removed and replaced, or rebuilt.</a:t>
            </a:r>
          </a:p>
          <a:p>
            <a:pPr>
              <a:spcAft>
                <a:spcPts val="600"/>
              </a:spcAft>
            </a:pPr>
            <a:r>
              <a:rPr lang="en-US" sz="1800" dirty="0"/>
              <a:t>Most late-model AC generators are not rebuilt. They are traded in as a core toward the purchase of a new or remanufactured unit.</a:t>
            </a:r>
          </a:p>
          <a:p>
            <a:pPr>
              <a:spcAft>
                <a:spcPts val="600"/>
              </a:spcAft>
            </a:pPr>
            <a:r>
              <a:rPr lang="en-US" sz="1800" dirty="0"/>
              <a:t>When replacing a generator, ensure that you identify the correct replacement. Many vehicles have multiple generator options based on the engine and options installed.</a:t>
            </a:r>
          </a:p>
          <a:p>
            <a:pPr>
              <a:spcAft>
                <a:spcPts val="600"/>
              </a:spcAft>
            </a:pPr>
            <a:r>
              <a:rPr lang="en-US" sz="1800" dirty="0"/>
              <a:t>Remember, improper connections to an AC generator can destroy it.</a:t>
            </a:r>
          </a:p>
          <a:p>
            <a:pPr>
              <a:spcAft>
                <a:spcPts val="600"/>
              </a:spcAft>
            </a:pPr>
            <a:r>
              <a:rPr lang="en-US" sz="1800" dirty="0"/>
              <a:t>Some of the typical steps for removal:</a:t>
            </a:r>
          </a:p>
          <a:p>
            <a:pPr lvl="1">
              <a:spcAft>
                <a:spcPts val="600"/>
              </a:spcAft>
            </a:pPr>
            <a:r>
              <a:rPr lang="en-US" sz="1600" dirty="0"/>
              <a:t>Begin by disconnecting the battery negative connection.</a:t>
            </a:r>
          </a:p>
          <a:p>
            <a:pPr lvl="1">
              <a:spcAft>
                <a:spcPts val="600"/>
              </a:spcAft>
            </a:pPr>
            <a:r>
              <a:rPr lang="en-US" sz="1600" dirty="0"/>
              <a:t>Next, disconnect the wiring at the generator.</a:t>
            </a:r>
          </a:p>
          <a:p>
            <a:pPr lvl="1">
              <a:spcAft>
                <a:spcPts val="600"/>
              </a:spcAft>
            </a:pPr>
            <a:r>
              <a:rPr lang="en-US" sz="1600" dirty="0"/>
              <a:t>Release the tension from the drive belt and remove the belt from the pulley.</a:t>
            </a:r>
          </a:p>
        </p:txBody>
      </p:sp>
    </p:spTree>
    <p:extLst>
      <p:ext uri="{BB962C8B-B14F-4D97-AF65-F5344CB8AC3E}">
        <p14:creationId xmlns:p14="http://schemas.microsoft.com/office/powerpoint/2010/main" val="50366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 </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List some of the typical steps for removing an AC generator.</a:t>
            </a:r>
          </a:p>
        </p:txBody>
      </p:sp>
    </p:spTree>
    <p:extLst>
      <p:ext uri="{BB962C8B-B14F-4D97-AF65-F5344CB8AC3E}">
        <p14:creationId xmlns:p14="http://schemas.microsoft.com/office/powerpoint/2010/main" val="3327312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Typical steps:</a:t>
            </a:r>
          </a:p>
          <a:p>
            <a:pPr lvl="1">
              <a:spcAft>
                <a:spcPts val="600"/>
              </a:spcAft>
            </a:pPr>
            <a:r>
              <a:rPr lang="en-US" dirty="0"/>
              <a:t>Begin by disconnecting the battery negative connection.</a:t>
            </a:r>
          </a:p>
          <a:p>
            <a:pPr lvl="1">
              <a:spcAft>
                <a:spcPts val="600"/>
              </a:spcAft>
            </a:pPr>
            <a:r>
              <a:rPr lang="en-US" dirty="0"/>
              <a:t>Next, disconnect the wiring at the generator.</a:t>
            </a:r>
          </a:p>
          <a:p>
            <a:pPr lvl="1">
              <a:spcAft>
                <a:spcPts val="600"/>
              </a:spcAft>
            </a:pPr>
            <a:r>
              <a:rPr lang="en-US" dirty="0"/>
              <a:t>Release the tension from the drive belt and remove the belt from the pulley.</a:t>
            </a:r>
          </a:p>
        </p:txBody>
      </p:sp>
    </p:spTree>
    <p:extLst>
      <p:ext uri="{BB962C8B-B14F-4D97-AF65-F5344CB8AC3E}">
        <p14:creationId xmlns:p14="http://schemas.microsoft.com/office/powerpoint/2010/main" val="1587912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Please take a moment to compare your understanding of the charging system before and after you studied this chapter. Then respond to the following questions in one or two paragraphs. Use 150–200 words in your reflection.</a:t>
            </a:r>
          </a:p>
          <a:p>
            <a:pPr>
              <a:spcAft>
                <a:spcPts val="600"/>
              </a:spcAft>
            </a:pPr>
            <a:r>
              <a:rPr lang="en-US" dirty="0"/>
              <a:t>Did you struggle to understand any aspects of the charging system theory and operation? What will you do to better understand these aspects?</a:t>
            </a:r>
          </a:p>
          <a:p>
            <a:pPr>
              <a:spcAft>
                <a:spcPts val="600"/>
              </a:spcAft>
            </a:pPr>
            <a:r>
              <a:rPr lang="en-US" dirty="0"/>
              <a:t>Considering all you have learned, do you feel you are able to perform charging system service in a shop environment? What can you do to be more prepared?</a:t>
            </a:r>
          </a:p>
        </p:txBody>
      </p:sp>
    </p:spTree>
    <p:extLst>
      <p:ext uri="{BB962C8B-B14F-4D97-AF65-F5344CB8AC3E}">
        <p14:creationId xmlns:p14="http://schemas.microsoft.com/office/powerpoint/2010/main" val="26371041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4928</TotalTime>
  <Words>5101</Words>
  <Application>Microsoft Office PowerPoint</Application>
  <PresentationFormat>Widescreen</PresentationFormat>
  <Paragraphs>323</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Work Sans</vt:lpstr>
      <vt:lpstr>Calibri</vt:lpstr>
      <vt:lpstr>Optimized Template Master</vt:lpstr>
      <vt:lpstr>Automotive Technology:  A Systems Approach, 8e</vt:lpstr>
      <vt:lpstr>Chapter Objectives (1 of 2)</vt:lpstr>
      <vt:lpstr>Chapter Objectives (2 of 2)</vt:lpstr>
      <vt:lpstr>Charging Systems (1 of 2)</vt:lpstr>
      <vt:lpstr>Charging Systems (2 of 2)</vt:lpstr>
      <vt:lpstr>Alternating Current Charging Systems (1 of 5)</vt:lpstr>
      <vt:lpstr>Alternating Current Charging Systems (2 of 5)</vt:lpstr>
      <vt:lpstr>Alternating Current Charging Systems (3 of 5)</vt:lpstr>
      <vt:lpstr>Alternating Current Charging Systems (4 of 5)</vt:lpstr>
      <vt:lpstr>Alternating Current Charging Systems (5 of 5)</vt:lpstr>
      <vt:lpstr>Cooling Fans</vt:lpstr>
      <vt:lpstr>Liquid-Cooled Generators</vt:lpstr>
      <vt:lpstr>AC Generator Operation (1 of 3)</vt:lpstr>
      <vt:lpstr>AC Generator Operation (2 of 3)</vt:lpstr>
      <vt:lpstr>AC Generator Operation (3 of 3)</vt:lpstr>
      <vt:lpstr>Voltage Regulation (1 of 4)</vt:lpstr>
      <vt:lpstr>Voltage Regulation (2 of 4)</vt:lpstr>
      <vt:lpstr>Voltage Regulation (3 of 4)</vt:lpstr>
      <vt:lpstr>Voltage Regulation (4 of 4)</vt:lpstr>
      <vt:lpstr>Discussion</vt:lpstr>
      <vt:lpstr>Current Trends (1 of 3)</vt:lpstr>
      <vt:lpstr>Current Trends (2 of 3)</vt:lpstr>
      <vt:lpstr>Current Trends (3 of 3)</vt:lpstr>
      <vt:lpstr>Preliminary Checks (1 of 5)</vt:lpstr>
      <vt:lpstr>Preliminary Checks (2 of 5)</vt:lpstr>
      <vt:lpstr>Preliminary Checks (3 of 5)</vt:lpstr>
      <vt:lpstr>Preliminary Checks (4 of 5)</vt:lpstr>
      <vt:lpstr>Preliminary Checks (5 of 5)</vt:lpstr>
      <vt:lpstr>PCM-Controlled Systems</vt:lpstr>
      <vt:lpstr>Knowledge Check (1 of 2)</vt:lpstr>
      <vt:lpstr>Knowledge Check Answer (1 of 2)</vt:lpstr>
      <vt:lpstr>Noise Diagnosis</vt:lpstr>
      <vt:lpstr>General Testing Procedures (1 of 4)</vt:lpstr>
      <vt:lpstr>General Testing Procedures (2 of 4)</vt:lpstr>
      <vt:lpstr>General Testing Procedures (3 of 4)</vt:lpstr>
      <vt:lpstr>General Testing Procedures (4 of 4)</vt:lpstr>
      <vt:lpstr>Clutch Pulley Inspection</vt:lpstr>
      <vt:lpstr>AC Generator Service</vt:lpstr>
      <vt:lpstr>Knowledge Check (2 of 2) </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224</cp:revision>
  <dcterms:created xsi:type="dcterms:W3CDTF">2021-12-10T16:21:02Z</dcterms:created>
  <dcterms:modified xsi:type="dcterms:W3CDTF">2024-10-18T15:20:19Z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