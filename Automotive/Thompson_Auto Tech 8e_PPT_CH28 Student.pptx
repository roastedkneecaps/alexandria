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350" r:id="rId2"/>
    <p:sldId id="257" r:id="rId3"/>
    <p:sldId id="486" r:id="rId4"/>
    <p:sldId id="461" r:id="rId5"/>
    <p:sldId id="515" r:id="rId6"/>
    <p:sldId id="548" r:id="rId7"/>
    <p:sldId id="516" r:id="rId8"/>
    <p:sldId id="517" r:id="rId9"/>
    <p:sldId id="518" r:id="rId10"/>
    <p:sldId id="519" r:id="rId11"/>
    <p:sldId id="520" r:id="rId12"/>
    <p:sldId id="521" r:id="rId13"/>
    <p:sldId id="522" r:id="rId14"/>
    <p:sldId id="524" r:id="rId15"/>
    <p:sldId id="525" r:id="rId16"/>
    <p:sldId id="526" r:id="rId17"/>
    <p:sldId id="527" r:id="rId18"/>
    <p:sldId id="529" r:id="rId19"/>
    <p:sldId id="528" r:id="rId20"/>
    <p:sldId id="284" r:id="rId21"/>
    <p:sldId id="285" r:id="rId22"/>
    <p:sldId id="530" r:id="rId23"/>
    <p:sldId id="531" r:id="rId24"/>
    <p:sldId id="532" r:id="rId25"/>
    <p:sldId id="533" r:id="rId26"/>
    <p:sldId id="534" r:id="rId27"/>
    <p:sldId id="535" r:id="rId28"/>
    <p:sldId id="536" r:id="rId29"/>
    <p:sldId id="537" r:id="rId30"/>
    <p:sldId id="538" r:id="rId31"/>
    <p:sldId id="276" r:id="rId32"/>
    <p:sldId id="539" r:id="rId33"/>
    <p:sldId id="540" r:id="rId34"/>
    <p:sldId id="542" r:id="rId35"/>
    <p:sldId id="543" r:id="rId36"/>
    <p:sldId id="544" r:id="rId37"/>
    <p:sldId id="545" r:id="rId38"/>
    <p:sldId id="546" r:id="rId39"/>
    <p:sldId id="547" r:id="rId40"/>
    <p:sldId id="293" r:id="rId41"/>
    <p:sldId id="294" r:id="rId42"/>
    <p:sldId id="301" r:id="rId43"/>
  </p:sldIdLst>
  <p:sldSz cx="12192000" cy="6858000"/>
  <p:notesSz cx="6858000" cy="9144000"/>
  <p:embeddedFontLst>
    <p:embeddedFont>
      <p:font typeface="Work Sans"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 id="3" name="CE" initials="CE" lastIdx="1" clrIdx="3">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85732" autoAdjust="0"/>
  </p:normalViewPr>
  <p:slideViewPr>
    <p:cSldViewPr snapToGrid="0">
      <p:cViewPr varScale="1">
        <p:scale>
          <a:sx n="63" d="100"/>
          <a:sy n="63" d="100"/>
        </p:scale>
        <p:origin x="612" y="60"/>
      </p:cViewPr>
      <p:guideLst>
        <p:guide orient="horz" pos="2160"/>
        <p:guide pos="3840"/>
      </p:guideLst>
    </p:cSldViewPr>
  </p:slideViewPr>
  <p:outlineViewPr>
    <p:cViewPr>
      <p:scale>
        <a:sx n="33" d="100"/>
        <a:sy n="33" d="100"/>
      </p:scale>
      <p:origin x="0" y="-419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12798983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086437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833260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1250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6166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8721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8963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5376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5713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2786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1930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2256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2901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2064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16719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0508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86085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30935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62601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67588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0846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8121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6149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3139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0206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17166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75547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43126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92850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579179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33798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0838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88339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55465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47351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41628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2697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51499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38754423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5023214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2192389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5042" y="1471260"/>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Char char="−"/>
              <a:defRPr sz="2400" b="0"/>
            </a:lvl2pPr>
            <a:lvl3pPr marL="1081088" lvl="2" indent="-360363" algn="l">
              <a:lnSpc>
                <a:spcPct val="100000"/>
              </a:lnSpc>
              <a:spcBef>
                <a:spcPts val="624"/>
              </a:spcBef>
              <a:spcAft>
                <a:spcPts val="60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5042" y="1471261"/>
            <a:ext cx="11241915" cy="2038558"/>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Char char="−"/>
              <a:defRPr sz="2400" b="0"/>
            </a:lvl2pPr>
            <a:lvl3pPr marL="1081088" lvl="2" indent="-360363" algn="l">
              <a:lnSpc>
                <a:spcPct val="100000"/>
              </a:lnSpc>
              <a:spcBef>
                <a:spcPts val="624"/>
              </a:spcBef>
              <a:spcAft>
                <a:spcPts val="60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768A4F5C-355F-9B28-D517-CB01B57DF3CE}"/>
              </a:ext>
            </a:extLst>
          </p:cNvPr>
          <p:cNvSpPr>
            <a:spLocks noGrp="1"/>
          </p:cNvSpPr>
          <p:nvPr>
            <p:ph sz="quarter" idx="10"/>
          </p:nvPr>
        </p:nvSpPr>
        <p:spPr>
          <a:xfrm>
            <a:off x="701675" y="3906838"/>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D8F946CB-75DC-6B70-A1BA-D03367ACDE3F}"/>
              </a:ext>
            </a:extLst>
          </p:cNvPr>
          <p:cNvSpPr>
            <a:spLocks noGrp="1"/>
          </p:cNvSpPr>
          <p:nvPr>
            <p:ph type="pic" sz="quarter" idx="11"/>
          </p:nvPr>
        </p:nvSpPr>
        <p:spPr>
          <a:xfrm>
            <a:off x="3149600" y="3906838"/>
            <a:ext cx="914400" cy="914400"/>
          </a:xfrm>
        </p:spPr>
        <p:txBody>
          <a:bodyPr/>
          <a:lstStyle/>
          <a:p>
            <a:endParaRPr lang="en-IN"/>
          </a:p>
        </p:txBody>
      </p:sp>
      <p:sp>
        <p:nvSpPr>
          <p:cNvPr id="7" name="Content Placeholder 6">
            <a:extLst>
              <a:ext uri="{FF2B5EF4-FFF2-40B4-BE49-F238E27FC236}">
                <a16:creationId xmlns:a16="http://schemas.microsoft.com/office/drawing/2014/main" id="{17628008-8C0D-60B1-6A0B-7C22A9C755A8}"/>
              </a:ext>
            </a:extLst>
          </p:cNvPr>
          <p:cNvSpPr>
            <a:spLocks noGrp="1"/>
          </p:cNvSpPr>
          <p:nvPr>
            <p:ph sz="quarter" idx="12"/>
          </p:nvPr>
        </p:nvSpPr>
        <p:spPr>
          <a:xfrm>
            <a:off x="2068513" y="3906838"/>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a:extLst>
              <a:ext uri="{FF2B5EF4-FFF2-40B4-BE49-F238E27FC236}">
                <a16:creationId xmlns:a16="http://schemas.microsoft.com/office/drawing/2014/main" id="{8959C39E-1CD1-BA3C-1EAD-E142EDA69B6C}"/>
              </a:ext>
            </a:extLst>
          </p:cNvPr>
          <p:cNvSpPr>
            <a:spLocks noGrp="1"/>
          </p:cNvSpPr>
          <p:nvPr>
            <p:ph type="pic" sz="quarter" idx="13"/>
          </p:nvPr>
        </p:nvSpPr>
        <p:spPr>
          <a:xfrm>
            <a:off x="4700588" y="3906838"/>
            <a:ext cx="914400" cy="914400"/>
          </a:xfrm>
        </p:spPr>
        <p:txBody>
          <a:bodyPr/>
          <a:lstStyle/>
          <a:p>
            <a:endParaRPr lang="en-IN"/>
          </a:p>
        </p:txBody>
      </p:sp>
      <p:sp>
        <p:nvSpPr>
          <p:cNvPr id="11" name="Table Placeholder 10">
            <a:extLst>
              <a:ext uri="{FF2B5EF4-FFF2-40B4-BE49-F238E27FC236}">
                <a16:creationId xmlns:a16="http://schemas.microsoft.com/office/drawing/2014/main" id="{BA3420C1-7AF7-82CA-2723-898AB7657535}"/>
              </a:ext>
            </a:extLst>
          </p:cNvPr>
          <p:cNvSpPr>
            <a:spLocks noGrp="1"/>
          </p:cNvSpPr>
          <p:nvPr>
            <p:ph type="tbl" sz="quarter" idx="14"/>
          </p:nvPr>
        </p:nvSpPr>
        <p:spPr>
          <a:xfrm>
            <a:off x="6251576" y="3925456"/>
            <a:ext cx="914400" cy="914400"/>
          </a:xfrm>
        </p:spPr>
        <p:txBody>
          <a:bodyPr/>
          <a:lstStyle/>
          <a:p>
            <a:endParaRPr lang="en-IN"/>
          </a:p>
        </p:txBody>
      </p:sp>
    </p:spTree>
    <p:extLst>
      <p:ext uri="{BB962C8B-B14F-4D97-AF65-F5344CB8AC3E}">
        <p14:creationId xmlns:p14="http://schemas.microsoft.com/office/powerpoint/2010/main" val="1490721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61567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8B743731-7BCD-BAC1-2173-DE0D5FEC4D6C}"/>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28: Gasoline, Diesel, and Other Fuels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28.01 Describe the uses of crude oil and how it is refined.</a:t>
            </a:r>
          </a:p>
          <a:p>
            <a:pPr marL="357188" marR="0" lvl="0" indent="-357188" algn="l" rtl="0">
              <a:buChar char="•"/>
            </a:pPr>
            <a:r>
              <a:rPr lang="en-US" dirty="0"/>
              <a:t>28.02 Describe the basic composition of gasoline.</a:t>
            </a:r>
          </a:p>
          <a:p>
            <a:pPr marL="357188" marR="0" lvl="0" indent="-357188" algn="l" rtl="0">
              <a:buChar char="•"/>
            </a:pPr>
            <a:r>
              <a:rPr lang="en-US" dirty="0"/>
              <a:t>28.03 Explain why materials are added to gasoline to make it more efficient.</a:t>
            </a:r>
          </a:p>
          <a:p>
            <a:pPr marL="357188" marR="0" lvl="0" indent="-357188" algn="l" rtl="0">
              <a:buChar char="•"/>
            </a:pPr>
            <a:r>
              <a:rPr lang="en-US" dirty="0"/>
              <a:t>28.04 Name the common substances used as oxygenates in gasoline and explain what they do.</a:t>
            </a:r>
          </a:p>
          <a:p>
            <a:pPr marL="357188" marR="0" lvl="0" indent="-357188" algn="l" rtl="0">
              <a:buChar char="•"/>
            </a:pPr>
            <a:r>
              <a:rPr lang="en-US" dirty="0"/>
              <a:t>28.05 Describe how the quality of a fuel can be tested.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ts val="2800"/>
              <a:buChar char="•"/>
            </a:pPr>
            <a:r>
              <a:rPr lang="en-US" dirty="0"/>
              <a:t>28.06 Explain the advantages and disadvantages of the various alternative fuels.</a:t>
            </a:r>
          </a:p>
          <a:p>
            <a:pPr marL="357188" marR="0" lvl="0" indent="-357188" algn="l" rtl="0">
              <a:buSzPts val="2800"/>
              <a:buChar char="•"/>
            </a:pPr>
            <a:r>
              <a:rPr lang="en-US" dirty="0"/>
              <a:t>28.07 Explain the differences between diesel fuel and gasoline.</a:t>
            </a:r>
          </a:p>
          <a:p>
            <a:pPr marL="357188" marR="0" lvl="0" indent="-357188" algn="l" rtl="0">
              <a:buSzPts val="2800"/>
              <a:buChar char="•"/>
            </a:pPr>
            <a:r>
              <a:rPr lang="en-US" dirty="0"/>
              <a:t>28.08 Describe the common types of fuel injection used on today’s diesel engines.</a:t>
            </a:r>
          </a:p>
          <a:p>
            <a:pPr marL="357188" marR="0" lvl="0" indent="-357188" algn="l" rtl="0">
              <a:buSzPts val="2800"/>
              <a:buChar char="•"/>
            </a:pPr>
            <a:r>
              <a:rPr lang="en-US" dirty="0"/>
              <a:t>28.09 Describe the various techniques used to allow current diesel engines to meet emission standards.</a:t>
            </a:r>
          </a:p>
          <a:p>
            <a:pPr marL="357188" marR="0" lvl="0" indent="-357188" algn="l" rtl="0">
              <a:buSzPts val="2800"/>
              <a:buChar char="•"/>
            </a:pPr>
            <a:r>
              <a:rPr lang="en-US" dirty="0"/>
              <a:t>28.10 Describe how to diagnose diesel fuel system concerns.</a:t>
            </a:r>
          </a:p>
        </p:txBody>
      </p:sp>
    </p:spTree>
    <p:extLst>
      <p:ext uri="{BB962C8B-B14F-4D97-AF65-F5344CB8AC3E}">
        <p14:creationId xmlns:p14="http://schemas.microsoft.com/office/powerpoint/2010/main" val="371054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Crude Oil</a:t>
            </a:r>
            <a:endParaRPr sz="3600" dirty="0"/>
          </a:p>
        </p:txBody>
      </p:sp>
      <p:sp>
        <p:nvSpPr>
          <p:cNvPr id="145" name="Google Shape;145;p4"/>
          <p:cNvSpPr txBox="1">
            <a:spLocks noGrp="1"/>
          </p:cNvSpPr>
          <p:nvPr>
            <p:ph type="body" idx="1"/>
          </p:nvPr>
        </p:nvSpPr>
        <p:spPr>
          <a:xfrm>
            <a:off x="475042" y="1376218"/>
            <a:ext cx="11241915" cy="4820187"/>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2000" b="1" dirty="0">
                <a:solidFill>
                  <a:schemeClr val="tx1"/>
                </a:solidFill>
              </a:rPr>
              <a:t>28.01 Describe the uses of crude oil and how it is refined.</a:t>
            </a:r>
          </a:p>
          <a:p>
            <a:pPr marL="355600" indent="-355600">
              <a:spcAft>
                <a:spcPts val="400"/>
              </a:spcAft>
            </a:pPr>
            <a:r>
              <a:rPr lang="en-US" sz="2000" dirty="0">
                <a:solidFill>
                  <a:schemeClr val="tx1"/>
                </a:solidFill>
              </a:rPr>
              <a:t>Crude oil is also called </a:t>
            </a:r>
            <a:r>
              <a:rPr lang="en-US" sz="2000" b="1" dirty="0">
                <a:solidFill>
                  <a:schemeClr val="tx1"/>
                </a:solidFill>
              </a:rPr>
              <a:t>petroleum</a:t>
            </a:r>
            <a:r>
              <a:rPr lang="en-US" sz="2000" dirty="0">
                <a:solidFill>
                  <a:schemeClr val="tx1"/>
                </a:solidFill>
              </a:rPr>
              <a:t>, which means oil from the earth.</a:t>
            </a:r>
          </a:p>
          <a:p>
            <a:pPr marL="355600" indent="-355600">
              <a:spcAft>
                <a:spcPts val="400"/>
              </a:spcAft>
            </a:pPr>
            <a:r>
              <a:rPr lang="en-US" sz="2000" dirty="0">
                <a:solidFill>
                  <a:schemeClr val="tx1"/>
                </a:solidFill>
              </a:rPr>
              <a:t>The oil extracted from the earth is called crude because it has yet to be processed or refined.</a:t>
            </a:r>
          </a:p>
          <a:p>
            <a:pPr marL="355600" indent="-355600">
              <a:spcAft>
                <a:spcPts val="400"/>
              </a:spcAft>
            </a:pPr>
            <a:r>
              <a:rPr lang="en-US" sz="2000" dirty="0">
                <a:solidFill>
                  <a:schemeClr val="tx1"/>
                </a:solidFill>
              </a:rPr>
              <a:t>Crude oil is commonly referred to as a fossil fuel because it is naturally produced by the decaying of plants and animals that lived a long time ago and were covered by dirt for many years.</a:t>
            </a:r>
          </a:p>
          <a:p>
            <a:pPr marL="355600" indent="-355600">
              <a:spcAft>
                <a:spcPts val="400"/>
              </a:spcAft>
            </a:pPr>
            <a:r>
              <a:rPr lang="en-US" sz="2000" dirty="0">
                <a:solidFill>
                  <a:schemeClr val="tx1"/>
                </a:solidFill>
              </a:rPr>
              <a:t>Crude oil is a liquid that varies in appearance.</a:t>
            </a:r>
          </a:p>
          <a:p>
            <a:pPr marL="355600" indent="-355600">
              <a:spcAft>
                <a:spcPts val="400"/>
              </a:spcAft>
            </a:pPr>
            <a:r>
              <a:rPr lang="en-US" sz="2000" dirty="0">
                <a:solidFill>
                  <a:schemeClr val="tx1"/>
                </a:solidFill>
              </a:rPr>
              <a:t>Although the composition of crude oil varies, it typically is:</a:t>
            </a:r>
          </a:p>
          <a:p>
            <a:pPr lvl="1" indent="-365125">
              <a:spcAft>
                <a:spcPts val="400"/>
              </a:spcAft>
            </a:pPr>
            <a:r>
              <a:rPr lang="en-US" sz="1800" dirty="0">
                <a:solidFill>
                  <a:schemeClr val="tx1"/>
                </a:solidFill>
              </a:rPr>
              <a:t>84 percent carbon, 14 percent hydrogen, 1 percent to 3 percent sulfur, less than 1 percent nitrogen, less than 1 percent oxygen, less than 1 percent metals, normally nickel, iron, vanadium, copper, and arsenic, and less than 1 percent salts, in the form of sodium chloride, magnesium chloride, and calcium chloride.</a:t>
            </a:r>
          </a:p>
        </p:txBody>
      </p:sp>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Petroleum Products </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342900">
              <a:buSzPts val="2800"/>
            </a:pPr>
            <a:r>
              <a:rPr lang="en-US" dirty="0"/>
              <a:t>Most of the petroleum extracted from the earth is processed into hydrocarbon products, such as:</a:t>
            </a:r>
          </a:p>
          <a:p>
            <a:pPr lvl="1" indent="-365125">
              <a:buFont typeface="Arial" panose="020B0604020202020204" pitchFamily="34" charset="0"/>
              <a:buChar char="–"/>
            </a:pPr>
            <a:r>
              <a:rPr lang="en-US" dirty="0"/>
              <a:t>Asphalt, wax, gasoline, diesel fuel, kerosene jet fuel, heating and other fuel oils, lubricating oils and greases, liquefied petroleum gas, and natural gas.</a:t>
            </a:r>
          </a:p>
          <a:p>
            <a:pPr marL="342900" indent="-342900">
              <a:buSzPts val="2800"/>
            </a:pPr>
            <a:r>
              <a:rPr lang="en-US" dirty="0"/>
              <a:t>About 16 percent of the crude oil is processed to make a variety of products, such as polymers, plastics, detergents, deodorants, and medicines.</a:t>
            </a:r>
          </a:p>
        </p:txBody>
      </p:sp>
    </p:spTree>
    <p:extLst>
      <p:ext uri="{BB962C8B-B14F-4D97-AF65-F5344CB8AC3E}">
        <p14:creationId xmlns:p14="http://schemas.microsoft.com/office/powerpoint/2010/main" val="3148458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Hydrocarbons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5600" indent="-355600"/>
            <a:r>
              <a:rPr lang="en-US" sz="2000" dirty="0">
                <a:solidFill>
                  <a:schemeClr val="tx1"/>
                </a:solidFill>
              </a:rPr>
              <a:t>Hydrocarbons (HCs) in crude oil have many different lengths and structures.</a:t>
            </a:r>
          </a:p>
          <a:p>
            <a:pPr marL="355600" indent="-355600"/>
            <a:r>
              <a:rPr lang="en-US" sz="2000" dirty="0">
                <a:solidFill>
                  <a:schemeClr val="tx1"/>
                </a:solidFill>
              </a:rPr>
              <a:t>Therefore, the only thing the different hydrocarbons have in common is that they contain carbon and hydrogen.</a:t>
            </a:r>
          </a:p>
          <a:p>
            <a:pPr marL="355600" indent="-355600"/>
            <a:r>
              <a:rPr lang="en-US" sz="2000" dirty="0">
                <a:solidFill>
                  <a:schemeClr val="tx1"/>
                </a:solidFill>
              </a:rPr>
              <a:t>The number of carbon atoms in an HC molecule defines its length.</a:t>
            </a:r>
          </a:p>
          <a:p>
            <a:pPr marL="355600" indent="-355600"/>
            <a:r>
              <a:rPr lang="en-US" sz="2000" dirty="0">
                <a:solidFill>
                  <a:schemeClr val="tx1"/>
                </a:solidFill>
              </a:rPr>
              <a:t>Sometimes that number, when combined with the number of hydrogen atoms, is called a chain.</a:t>
            </a:r>
          </a:p>
          <a:p>
            <a:pPr marL="355600" indent="-355600"/>
            <a:r>
              <a:rPr lang="en-US" sz="2000" dirty="0">
                <a:solidFill>
                  <a:schemeClr val="tx1"/>
                </a:solidFill>
              </a:rPr>
              <a:t>The HC with the shortest chain is methane (CH</a:t>
            </a:r>
            <a:r>
              <a:rPr lang="en-US" sz="2000" baseline="-25000" dirty="0">
                <a:solidFill>
                  <a:schemeClr val="tx1"/>
                </a:solidFill>
              </a:rPr>
              <a:t>4</a:t>
            </a:r>
            <a:r>
              <a:rPr lang="en-US" sz="2000" dirty="0">
                <a:solidFill>
                  <a:schemeClr val="tx1"/>
                </a:solidFill>
              </a:rPr>
              <a:t>), which is a very light gas.</a:t>
            </a:r>
          </a:p>
          <a:p>
            <a:pPr marL="355600" indent="-355600"/>
            <a:r>
              <a:rPr lang="en-US" sz="2000" dirty="0">
                <a:solidFill>
                  <a:schemeClr val="tx1"/>
                </a:solidFill>
              </a:rPr>
              <a:t>Longer chains with five or more carbons are liquids or solids.</a:t>
            </a:r>
          </a:p>
          <a:p>
            <a:pPr marL="355600" indent="-355600"/>
            <a:r>
              <a:rPr lang="en-US" sz="2000" dirty="0">
                <a:solidFill>
                  <a:schemeClr val="tx1"/>
                </a:solidFill>
              </a:rPr>
              <a:t>Asphalt has 35 or more carbon atoms.</a:t>
            </a:r>
          </a:p>
          <a:p>
            <a:pPr marL="355600" indent="-355600"/>
            <a:r>
              <a:rPr lang="en-US" sz="2000" dirty="0">
                <a:solidFill>
                  <a:schemeClr val="tx1"/>
                </a:solidFill>
              </a:rPr>
              <a:t>HCs contain a great amount of energy, which is why they have been used as a source of energy for many years.</a:t>
            </a:r>
          </a:p>
        </p:txBody>
      </p:sp>
    </p:spTree>
    <p:extLst>
      <p:ext uri="{BB962C8B-B14F-4D97-AF65-F5344CB8AC3E}">
        <p14:creationId xmlns:p14="http://schemas.microsoft.com/office/powerpoint/2010/main" val="1853769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Refining</a:t>
            </a:r>
            <a:endParaRPr sz="3600" dirty="0"/>
          </a:p>
        </p:txBody>
      </p:sp>
      <p:sp>
        <p:nvSpPr>
          <p:cNvPr id="145" name="Google Shape;145;p4"/>
          <p:cNvSpPr txBox="1">
            <a:spLocks noGrp="1"/>
          </p:cNvSpPr>
          <p:nvPr>
            <p:ph type="body" idx="1"/>
          </p:nvPr>
        </p:nvSpPr>
        <p:spPr>
          <a:xfrm>
            <a:off x="475044" y="1376218"/>
            <a:ext cx="6314063" cy="4774061"/>
          </a:xfrm>
          <a:prstGeom prst="rect">
            <a:avLst/>
          </a:prstGeom>
          <a:noFill/>
          <a:ln>
            <a:noFill/>
          </a:ln>
        </p:spPr>
        <p:txBody>
          <a:bodyPr spcFirstLastPara="1" wrap="square" lIns="91425" tIns="45700" rIns="91425" bIns="45700" anchor="t" anchorCtr="0">
            <a:noAutofit/>
          </a:bodyPr>
          <a:lstStyle/>
          <a:p>
            <a:pPr marL="342900" indent="-342900"/>
            <a:r>
              <a:rPr lang="en-US" sz="2000" dirty="0"/>
              <a:t>A refinery is the place where the separation occurs.</a:t>
            </a:r>
          </a:p>
          <a:p>
            <a:pPr marL="357188" indent="-357188"/>
            <a:r>
              <a:rPr lang="en-US" sz="2000" dirty="0"/>
              <a:t>The easiest and most common way to separate the various HCs (called fractions) is through a process called </a:t>
            </a:r>
            <a:r>
              <a:rPr lang="en-US" sz="2000" b="1" dirty="0"/>
              <a:t>fractional distillation.</a:t>
            </a:r>
          </a:p>
          <a:p>
            <a:pPr marL="357188" indent="-357188"/>
            <a:r>
              <a:rPr lang="en-US" sz="2000" dirty="0"/>
              <a:t>The basis of this method is simply that the different HC compounds have progressively higher boiling points.</a:t>
            </a:r>
          </a:p>
          <a:p>
            <a:pPr marL="357188" indent="-357188"/>
            <a:r>
              <a:rPr lang="en-US" sz="2000" dirty="0"/>
              <a:t>Here are some examples:</a:t>
            </a:r>
          </a:p>
          <a:p>
            <a:pPr lvl="1" indent="-365125"/>
            <a:r>
              <a:rPr lang="en-US" sz="1800" dirty="0"/>
              <a:t>Propane will boil at less than 104 °F (40 °C).</a:t>
            </a:r>
          </a:p>
          <a:p>
            <a:pPr lvl="1" indent="-365125"/>
            <a:r>
              <a:rPr lang="en-US" sz="1800" dirty="0"/>
              <a:t>Gasoline will boil at 104 °F to 401 °F (40 °C to 205 °C).</a:t>
            </a:r>
          </a:p>
        </p:txBody>
      </p:sp>
      <p:pic>
        <p:nvPicPr>
          <p:cNvPr id="8" name="Picture Placeholder 7" descr="A refining process for crude oil. The crude oil is filled into the fractionating tower. The crude oil from the fractionating tower undergoes distillation and chemical processing treatment and it is used for various purposes as follows: Oil from the tower undergoes vapor recovery and alkylation and additional processing and finally provides gasoline; Oil from the tower undergoes additional processing and provides Jet fuel and kerosene; Oil from the tower undergoes ultraforming and additional processing to provide heating and diesel fuels; Oil from the tower undergoes catalytic cracking, vapor recovery and ultraforming provides gas for fuel and chemicals; Oil from the tower undergoes catalytic cracking to provide industrial fuel oil; Oil from the tower undergoes extraction process to provide waxes; Oil from the tower undergoes extraction, dewaxing and treating and blending process to provide lubricating oil; Oil from the tower undergoes extraction and grease manufacturing to provide greases; Oil from the tower undergoes cooking process to provide petroleum coke; Oil from the tower directly is used for asphalts.">
            <a:extLst>
              <a:ext uri="{FF2B5EF4-FFF2-40B4-BE49-F238E27FC236}">
                <a16:creationId xmlns:a16="http://schemas.microsoft.com/office/drawing/2014/main" id="{15D64430-B25C-966D-1FA4-46BEA354B680}"/>
              </a:ext>
            </a:extLst>
          </p:cNvPr>
          <p:cNvPicPr>
            <a:picLocks noGrp="1" noChangeAspect="1"/>
          </p:cNvPicPr>
          <p:nvPr>
            <p:ph type="pic" sz="quarter" idx="13"/>
          </p:nvPr>
        </p:nvPicPr>
        <p:blipFill>
          <a:blip r:embed="rId3"/>
          <a:srcRect b="3948"/>
          <a:stretch/>
        </p:blipFill>
        <p:spPr>
          <a:xfrm>
            <a:off x="6789107" y="1605620"/>
            <a:ext cx="5153923" cy="3813325"/>
          </a:xfrm>
          <a:prstGeom prst="rect">
            <a:avLst/>
          </a:prstGeom>
        </p:spPr>
      </p:pic>
    </p:spTree>
    <p:extLst>
      <p:ext uri="{BB962C8B-B14F-4D97-AF65-F5344CB8AC3E}">
        <p14:creationId xmlns:p14="http://schemas.microsoft.com/office/powerpoint/2010/main" val="424529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Gasoline</a:t>
            </a:r>
            <a:endParaRPr sz="3600" dirty="0"/>
          </a:p>
        </p:txBody>
      </p:sp>
      <p:sp>
        <p:nvSpPr>
          <p:cNvPr id="145" name="Google Shape;145;p4"/>
          <p:cNvSpPr txBox="1">
            <a:spLocks noGrp="1"/>
          </p:cNvSpPr>
          <p:nvPr>
            <p:ph type="body" idx="1"/>
          </p:nvPr>
        </p:nvSpPr>
        <p:spPr>
          <a:xfrm>
            <a:off x="475043" y="1471261"/>
            <a:ext cx="6176278" cy="4583550"/>
          </a:xfrm>
          <a:prstGeom prst="rect">
            <a:avLst/>
          </a:prstGeom>
          <a:noFill/>
          <a:ln>
            <a:noFill/>
          </a:ln>
        </p:spPr>
        <p:txBody>
          <a:bodyPr spcFirstLastPara="1" wrap="square" lIns="91425" tIns="45700" rIns="91425" bIns="45700" anchor="t" anchorCtr="0">
            <a:noAutofit/>
          </a:bodyPr>
          <a:lstStyle/>
          <a:p>
            <a:pPr marL="358775" indent="-358775"/>
            <a:r>
              <a:rPr lang="en-US" sz="2200" dirty="0"/>
              <a:t>Gasoline is a complex mixture of approximately 300 various ingredients, mainly HCs.</a:t>
            </a:r>
          </a:p>
          <a:p>
            <a:pPr marL="358775" indent="-358775"/>
            <a:r>
              <a:rPr lang="en-US" sz="2200" dirty="0"/>
              <a:t>The chemical symbol for this liquid is C8 H15.</a:t>
            </a:r>
          </a:p>
          <a:p>
            <a:pPr marL="358775" indent="-358775"/>
            <a:r>
              <a:rPr lang="en-US" sz="2200" dirty="0"/>
              <a:t>Oil refiners must meet gasoline standards set by the American Society for Testing and Materials (ASTM), the EPA, some state requirements, and their own company standards.</a:t>
            </a:r>
          </a:p>
          <a:p>
            <a:pPr marL="358775" indent="-358775"/>
            <a:r>
              <a:rPr lang="en-US" sz="2200" dirty="0"/>
              <a:t>Many additives are blended into gasoline before it is available to the public.</a:t>
            </a:r>
          </a:p>
        </p:txBody>
      </p:sp>
      <p:graphicFrame>
        <p:nvGraphicFramePr>
          <p:cNvPr id="4" name="Picture Placeholder 3">
            <a:extLst>
              <a:ext uri="{FF2B5EF4-FFF2-40B4-BE49-F238E27FC236}">
                <a16:creationId xmlns:a16="http://schemas.microsoft.com/office/drawing/2014/main" id="{1661DA40-5459-496C-3CBB-2B5A8E1FCEC6}"/>
              </a:ext>
            </a:extLst>
          </p:cNvPr>
          <p:cNvGraphicFramePr>
            <a:graphicFrameLocks noGrp="1"/>
          </p:cNvGraphicFramePr>
          <p:nvPr>
            <p:ph type="pic" sz="quarter" idx="13"/>
            <p:extLst>
              <p:ext uri="{D42A27DB-BD31-4B8C-83A1-F6EECF244321}">
                <p14:modId xmlns:p14="http://schemas.microsoft.com/office/powerpoint/2010/main" val="4012037623"/>
              </p:ext>
            </p:extLst>
          </p:nvPr>
        </p:nvGraphicFramePr>
        <p:xfrm>
          <a:off x="6855064" y="1410996"/>
          <a:ext cx="5222926" cy="4704080"/>
        </p:xfrm>
        <a:graphic>
          <a:graphicData uri="http://schemas.openxmlformats.org/drawingml/2006/table">
            <a:tbl>
              <a:tblPr firstRow="1" bandRow="1">
                <a:tableStyleId>{69012ECD-51FC-41F1-AA8D-1B2483CD663E}</a:tableStyleId>
              </a:tblPr>
              <a:tblGrid>
                <a:gridCol w="1876743">
                  <a:extLst>
                    <a:ext uri="{9D8B030D-6E8A-4147-A177-3AD203B41FA5}">
                      <a16:colId xmlns:a16="http://schemas.microsoft.com/office/drawing/2014/main" val="3348290942"/>
                    </a:ext>
                  </a:extLst>
                </a:gridCol>
                <a:gridCol w="3346183">
                  <a:extLst>
                    <a:ext uri="{9D8B030D-6E8A-4147-A177-3AD203B41FA5}">
                      <a16:colId xmlns:a16="http://schemas.microsoft.com/office/drawing/2014/main" val="3241801050"/>
                    </a:ext>
                  </a:extLst>
                </a:gridCol>
              </a:tblGrid>
              <a:tr h="0">
                <a:tc>
                  <a:txBody>
                    <a:bodyPr/>
                    <a:lstStyle/>
                    <a:p>
                      <a:r>
                        <a:rPr lang="en-IN" dirty="0"/>
                        <a:t>Purpose</a:t>
                      </a:r>
                    </a:p>
                  </a:txBody>
                  <a:tcPr/>
                </a:tc>
                <a:tc>
                  <a:txBody>
                    <a:bodyPr/>
                    <a:lstStyle/>
                    <a:p>
                      <a:r>
                        <a:rPr lang="en-IN" dirty="0"/>
                        <a:t>Additive</a:t>
                      </a:r>
                    </a:p>
                  </a:txBody>
                  <a:tcPr/>
                </a:tc>
                <a:extLst>
                  <a:ext uri="{0D108BD9-81ED-4DB2-BD59-A6C34878D82A}">
                    <a16:rowId xmlns:a16="http://schemas.microsoft.com/office/drawing/2014/main" val="4093560223"/>
                  </a:ext>
                </a:extLst>
              </a:tr>
              <a:tr h="370840">
                <a:tc>
                  <a:txBody>
                    <a:bodyPr/>
                    <a:lstStyle/>
                    <a:p>
                      <a:r>
                        <a:rPr lang="en-IN" dirty="0"/>
                        <a:t>Octane enhancer </a:t>
                      </a:r>
                    </a:p>
                  </a:txBody>
                  <a:tcPr/>
                </a:tc>
                <a:tc>
                  <a:txBody>
                    <a:bodyPr/>
                    <a:lstStyle/>
                    <a:p>
                      <a:r>
                        <a:rPr lang="en-IN" dirty="0"/>
                        <a:t>Methyl </a:t>
                      </a:r>
                      <a:r>
                        <a:rPr lang="en-IN" i="1" dirty="0"/>
                        <a:t>t</a:t>
                      </a:r>
                      <a:r>
                        <a:rPr lang="en-IN" dirty="0"/>
                        <a:t>-butyl ether (MTBE)</a:t>
                      </a:r>
                    </a:p>
                    <a:p>
                      <a:r>
                        <a:rPr lang="en-IN" i="1" dirty="0"/>
                        <a:t>t</a:t>
                      </a:r>
                      <a:r>
                        <a:rPr lang="en-IN" dirty="0"/>
                        <a:t>-butyl alcohol (TBA)</a:t>
                      </a:r>
                    </a:p>
                    <a:p>
                      <a:r>
                        <a:rPr lang="en-IN" dirty="0"/>
                        <a:t>Ethanol</a:t>
                      </a:r>
                    </a:p>
                    <a:p>
                      <a:r>
                        <a:rPr lang="en-IN" dirty="0"/>
                        <a:t>Methanol</a:t>
                      </a:r>
                    </a:p>
                  </a:txBody>
                  <a:tcPr/>
                </a:tc>
                <a:extLst>
                  <a:ext uri="{0D108BD9-81ED-4DB2-BD59-A6C34878D82A}">
                    <a16:rowId xmlns:a16="http://schemas.microsoft.com/office/drawing/2014/main" val="81499116"/>
                  </a:ext>
                </a:extLst>
              </a:tr>
              <a:tr h="370840">
                <a:tc>
                  <a:txBody>
                    <a:bodyPr/>
                    <a:lstStyle/>
                    <a:p>
                      <a:r>
                        <a:rPr lang="en-IN" dirty="0"/>
                        <a:t>Antioxidant</a:t>
                      </a:r>
                    </a:p>
                  </a:txBody>
                  <a:tcPr/>
                </a:tc>
                <a:tc>
                  <a:txBody>
                    <a:bodyPr/>
                    <a:lstStyle/>
                    <a:p>
                      <a:r>
                        <a:rPr lang="en-US" dirty="0"/>
                        <a:t>Butylated methyl, ethyl and dimethyl phenols</a:t>
                      </a:r>
                    </a:p>
                    <a:p>
                      <a:r>
                        <a:rPr lang="en-US" dirty="0"/>
                        <a:t>Various other phenols and amines</a:t>
                      </a:r>
                      <a:endParaRPr lang="en-IN" dirty="0"/>
                    </a:p>
                  </a:txBody>
                  <a:tcPr/>
                </a:tc>
                <a:extLst>
                  <a:ext uri="{0D108BD9-81ED-4DB2-BD59-A6C34878D82A}">
                    <a16:rowId xmlns:a16="http://schemas.microsoft.com/office/drawing/2014/main" val="2420377927"/>
                  </a:ext>
                </a:extLst>
              </a:tr>
              <a:tr h="370840">
                <a:tc>
                  <a:txBody>
                    <a:bodyPr/>
                    <a:lstStyle/>
                    <a:p>
                      <a:r>
                        <a:rPr lang="en-IN" dirty="0"/>
                        <a:t>Metal deactivator</a:t>
                      </a:r>
                    </a:p>
                  </a:txBody>
                  <a:tcPr/>
                </a:tc>
                <a:tc>
                  <a:txBody>
                    <a:bodyPr/>
                    <a:lstStyle/>
                    <a:p>
                      <a:r>
                        <a:rPr lang="en-IN" dirty="0" err="1"/>
                        <a:t>Disalicylidene</a:t>
                      </a:r>
                      <a:r>
                        <a:rPr lang="en-IN" dirty="0"/>
                        <a:t>-</a:t>
                      </a:r>
                      <a:r>
                        <a:rPr lang="en-IN" i="1" dirty="0"/>
                        <a:t>N</a:t>
                      </a:r>
                      <a:r>
                        <a:rPr lang="en-IN" dirty="0"/>
                        <a:t>-</a:t>
                      </a:r>
                      <a:r>
                        <a:rPr lang="en-IN" dirty="0" err="1"/>
                        <a:t>methyldipropylene</a:t>
                      </a:r>
                      <a:r>
                        <a:rPr lang="en-IN" dirty="0"/>
                        <a:t>-triamine</a:t>
                      </a:r>
                    </a:p>
                    <a:p>
                      <a:r>
                        <a:rPr lang="en-IN" i="1" dirty="0"/>
                        <a:t>N</a:t>
                      </a:r>
                      <a:r>
                        <a:rPr lang="en-IN" dirty="0"/>
                        <a:t>,</a:t>
                      </a:r>
                      <a:r>
                        <a:rPr lang="en-IN" i="1" dirty="0"/>
                        <a:t>N</a:t>
                      </a:r>
                      <a:r>
                        <a:rPr lang="en-IN" dirty="0"/>
                        <a:t>'-disalicylidene-1,2-Ethanediamine</a:t>
                      </a:r>
                    </a:p>
                    <a:p>
                      <a:r>
                        <a:rPr lang="en-IN" dirty="0"/>
                        <a:t>Other related amines</a:t>
                      </a:r>
                    </a:p>
                  </a:txBody>
                  <a:tcPr/>
                </a:tc>
                <a:extLst>
                  <a:ext uri="{0D108BD9-81ED-4DB2-BD59-A6C34878D82A}">
                    <a16:rowId xmlns:a16="http://schemas.microsoft.com/office/drawing/2014/main" val="890229905"/>
                  </a:ext>
                </a:extLst>
              </a:tr>
              <a:tr h="370840">
                <a:tc>
                  <a:txBody>
                    <a:bodyPr/>
                    <a:lstStyle/>
                    <a:p>
                      <a:r>
                        <a:rPr lang="en-IN" dirty="0"/>
                        <a:t>Ignition controller</a:t>
                      </a:r>
                    </a:p>
                  </a:txBody>
                  <a:tcPr/>
                </a:tc>
                <a:tc>
                  <a:txBody>
                    <a:bodyPr/>
                    <a:lstStyle/>
                    <a:p>
                      <a:r>
                        <a:rPr lang="en-IN" dirty="0"/>
                        <a:t>Tri-o-</a:t>
                      </a:r>
                      <a:r>
                        <a:rPr lang="en-IN" dirty="0" err="1"/>
                        <a:t>cresylphosphate</a:t>
                      </a:r>
                      <a:r>
                        <a:rPr lang="en-IN" dirty="0"/>
                        <a:t> (TOCP)</a:t>
                      </a:r>
                    </a:p>
                  </a:txBody>
                  <a:tcPr/>
                </a:tc>
                <a:extLst>
                  <a:ext uri="{0D108BD9-81ED-4DB2-BD59-A6C34878D82A}">
                    <a16:rowId xmlns:a16="http://schemas.microsoft.com/office/drawing/2014/main" val="602416303"/>
                  </a:ext>
                </a:extLst>
              </a:tr>
              <a:tr h="370840">
                <a:tc>
                  <a:txBody>
                    <a:bodyPr/>
                    <a:lstStyle/>
                    <a:p>
                      <a:r>
                        <a:rPr lang="en-IN" dirty="0"/>
                        <a:t>Icing inhibitor</a:t>
                      </a:r>
                    </a:p>
                  </a:txBody>
                  <a:tcPr/>
                </a:tc>
                <a:tc>
                  <a:txBody>
                    <a:bodyPr/>
                    <a:lstStyle/>
                    <a:p>
                      <a:r>
                        <a:rPr lang="en-IN" dirty="0"/>
                        <a:t>Isopropyl alcohol</a:t>
                      </a:r>
                    </a:p>
                  </a:txBody>
                  <a:tcPr/>
                </a:tc>
                <a:extLst>
                  <a:ext uri="{0D108BD9-81ED-4DB2-BD59-A6C34878D82A}">
                    <a16:rowId xmlns:a16="http://schemas.microsoft.com/office/drawing/2014/main" val="1543266693"/>
                  </a:ext>
                </a:extLst>
              </a:tr>
              <a:tr h="370840">
                <a:tc>
                  <a:txBody>
                    <a:bodyPr/>
                    <a:lstStyle/>
                    <a:p>
                      <a:r>
                        <a:rPr lang="en-IN" dirty="0"/>
                        <a:t>Detergent/dispersant</a:t>
                      </a:r>
                    </a:p>
                  </a:txBody>
                  <a:tcPr/>
                </a:tc>
                <a:tc>
                  <a:txBody>
                    <a:bodyPr/>
                    <a:lstStyle/>
                    <a:p>
                      <a:r>
                        <a:rPr lang="en-US" dirty="0"/>
                        <a:t>Various phosphates, amines, phenols, alcohols, and carboxylic acids</a:t>
                      </a:r>
                      <a:endParaRPr lang="en-IN" dirty="0"/>
                    </a:p>
                  </a:txBody>
                  <a:tcPr/>
                </a:tc>
                <a:extLst>
                  <a:ext uri="{0D108BD9-81ED-4DB2-BD59-A6C34878D82A}">
                    <a16:rowId xmlns:a16="http://schemas.microsoft.com/office/drawing/2014/main" val="1671909570"/>
                  </a:ext>
                </a:extLst>
              </a:tr>
              <a:tr h="370840">
                <a:tc>
                  <a:txBody>
                    <a:bodyPr/>
                    <a:lstStyle/>
                    <a:p>
                      <a:r>
                        <a:rPr lang="en-IN" dirty="0"/>
                        <a:t>Corrosion inhibitor</a:t>
                      </a:r>
                    </a:p>
                  </a:txBody>
                  <a:tcPr/>
                </a:tc>
                <a:tc>
                  <a:txBody>
                    <a:bodyPr/>
                    <a:lstStyle/>
                    <a:p>
                      <a:r>
                        <a:rPr lang="en-US" dirty="0"/>
                        <a:t>Carboxylic, phosphoric, and sulfonic acids</a:t>
                      </a:r>
                      <a:endParaRPr lang="en-IN" dirty="0"/>
                    </a:p>
                  </a:txBody>
                  <a:tcPr/>
                </a:tc>
                <a:extLst>
                  <a:ext uri="{0D108BD9-81ED-4DB2-BD59-A6C34878D82A}">
                    <a16:rowId xmlns:a16="http://schemas.microsoft.com/office/drawing/2014/main" val="1990295005"/>
                  </a:ext>
                </a:extLst>
              </a:tr>
            </a:tbl>
          </a:graphicData>
        </a:graphic>
      </p:graphicFrame>
    </p:spTree>
    <p:extLst>
      <p:ext uri="{BB962C8B-B14F-4D97-AF65-F5344CB8AC3E}">
        <p14:creationId xmlns:p14="http://schemas.microsoft.com/office/powerpoint/2010/main" val="869865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Antiknock Quality</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342900">
              <a:spcAft>
                <a:spcPts val="0"/>
              </a:spcAft>
            </a:pPr>
            <a:r>
              <a:rPr lang="en-US" sz="1800" dirty="0">
                <a:solidFill>
                  <a:schemeClr val="accent1"/>
                </a:solidFill>
              </a:rPr>
              <a:t>An </a:t>
            </a:r>
            <a:r>
              <a:rPr lang="en-US" sz="1800" b="1" dirty="0">
                <a:solidFill>
                  <a:schemeClr val="accent1"/>
                </a:solidFill>
              </a:rPr>
              <a:t>octane </a:t>
            </a:r>
            <a:r>
              <a:rPr lang="en-US" sz="1800" dirty="0">
                <a:solidFill>
                  <a:schemeClr val="accent1"/>
                </a:solidFill>
              </a:rPr>
              <a:t>number or rating was developed by the petroleum industry so the antiknock quality of a gasoline could be rated.</a:t>
            </a:r>
          </a:p>
          <a:p>
            <a:pPr marL="342900" indent="-342900">
              <a:spcAft>
                <a:spcPts val="0"/>
              </a:spcAft>
            </a:pPr>
            <a:r>
              <a:rPr lang="en-US" sz="1800" dirty="0">
                <a:solidFill>
                  <a:schemeClr val="accent1"/>
                </a:solidFill>
              </a:rPr>
              <a:t>The octane number is a measure of the fuel’s tendency not to experience detonation in the engine.</a:t>
            </a:r>
          </a:p>
          <a:p>
            <a:pPr marL="342900" indent="-342900">
              <a:spcAft>
                <a:spcPts val="0"/>
              </a:spcAft>
            </a:pPr>
            <a:r>
              <a:rPr lang="en-US" sz="1800" dirty="0">
                <a:solidFill>
                  <a:schemeClr val="accent1"/>
                </a:solidFill>
              </a:rPr>
              <a:t>The higher the octane rating, the less the engine will have a tendency to knock.</a:t>
            </a:r>
          </a:p>
          <a:p>
            <a:pPr marL="342900" indent="-342900">
              <a:spcAft>
                <a:spcPts val="0"/>
              </a:spcAft>
            </a:pPr>
            <a:r>
              <a:rPr lang="en-US" sz="1800" dirty="0">
                <a:solidFill>
                  <a:schemeClr val="accent1"/>
                </a:solidFill>
              </a:rPr>
              <a:t>Two methods are used for determining the octane number of gasoline: the motor octane number (MON) method and the research octane number (RON) method.</a:t>
            </a:r>
          </a:p>
          <a:p>
            <a:pPr marL="342900" indent="-342900">
              <a:spcAft>
                <a:spcPts val="0"/>
              </a:spcAft>
            </a:pPr>
            <a:r>
              <a:rPr lang="en-US" sz="1800" dirty="0">
                <a:solidFill>
                  <a:schemeClr val="accent1"/>
                </a:solidFill>
              </a:rPr>
              <a:t>Both use a laboratory single-cylinder engine equipped with a variable head and knock meter to measure knock intensity.</a:t>
            </a:r>
          </a:p>
          <a:p>
            <a:pPr marL="342900" indent="-342900">
              <a:spcAft>
                <a:spcPts val="0"/>
              </a:spcAft>
            </a:pPr>
            <a:r>
              <a:rPr lang="en-US" sz="1800" dirty="0">
                <a:solidFill>
                  <a:schemeClr val="accent1"/>
                </a:solidFill>
              </a:rPr>
              <a:t>A test sample of the fuel is used in the engine as the engine’s compression ratio and air–fuel mixture are adjusted to develop specific knock intensity.</a:t>
            </a:r>
          </a:p>
          <a:p>
            <a:pPr marL="342900" indent="-342900">
              <a:spcAft>
                <a:spcPts val="0"/>
              </a:spcAft>
            </a:pPr>
            <a:r>
              <a:rPr lang="en-US" sz="1800" dirty="0">
                <a:solidFill>
                  <a:schemeClr val="accent1"/>
                </a:solidFill>
              </a:rPr>
              <a:t>There are two primary standard reference fuels: </a:t>
            </a:r>
            <a:r>
              <a:rPr lang="en-US" sz="1800" b="1" dirty="0">
                <a:solidFill>
                  <a:schemeClr val="accent1"/>
                </a:solidFill>
              </a:rPr>
              <a:t>isooctane</a:t>
            </a:r>
            <a:r>
              <a:rPr lang="en-US" sz="1800" dirty="0">
                <a:solidFill>
                  <a:schemeClr val="accent1"/>
                </a:solidFill>
              </a:rPr>
              <a:t> and </a:t>
            </a:r>
            <a:r>
              <a:rPr lang="en-US" sz="1800" b="1" dirty="0">
                <a:solidFill>
                  <a:schemeClr val="accent1"/>
                </a:solidFill>
              </a:rPr>
              <a:t>heptane</a:t>
            </a:r>
            <a:r>
              <a:rPr lang="en-US" sz="1800" dirty="0">
                <a:solidFill>
                  <a:schemeClr val="accent1"/>
                </a:solidFill>
              </a:rPr>
              <a:t>.</a:t>
            </a:r>
          </a:p>
          <a:p>
            <a:pPr marL="342900" indent="-342900">
              <a:spcAft>
                <a:spcPts val="0"/>
              </a:spcAft>
            </a:pPr>
            <a:r>
              <a:rPr lang="en-US" sz="1800" dirty="0">
                <a:solidFill>
                  <a:schemeClr val="accent1"/>
                </a:solidFill>
              </a:rPr>
              <a:t>Isooctane does not knock in an engine but is not used in gasoline because of its expense.</a:t>
            </a:r>
          </a:p>
          <a:p>
            <a:pPr marL="342900" indent="-342900">
              <a:spcAft>
                <a:spcPts val="0"/>
              </a:spcAft>
            </a:pPr>
            <a:r>
              <a:rPr lang="en-US" sz="1800" dirty="0">
                <a:solidFill>
                  <a:schemeClr val="accent1"/>
                </a:solidFill>
              </a:rPr>
              <a:t>Heptane knocks severely in an engine.</a:t>
            </a:r>
            <a:endParaRPr lang="en-US" sz="1400" dirty="0">
              <a:solidFill>
                <a:schemeClr val="accent1"/>
              </a:solidFill>
            </a:endParaRPr>
          </a:p>
        </p:txBody>
      </p:sp>
    </p:spTree>
    <p:extLst>
      <p:ext uri="{BB962C8B-B14F-4D97-AF65-F5344CB8AC3E}">
        <p14:creationId xmlns:p14="http://schemas.microsoft.com/office/powerpoint/2010/main" val="292402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Volatility</a:t>
            </a:r>
            <a:endParaRPr sz="3600" dirty="0"/>
          </a:p>
        </p:txBody>
      </p:sp>
      <p:sp>
        <p:nvSpPr>
          <p:cNvPr id="145" name="Google Shape;145;p4"/>
          <p:cNvSpPr txBox="1">
            <a:spLocks noGrp="1"/>
          </p:cNvSpPr>
          <p:nvPr>
            <p:ph type="body" idx="1"/>
          </p:nvPr>
        </p:nvSpPr>
        <p:spPr>
          <a:xfrm>
            <a:off x="475042" y="1471260"/>
            <a:ext cx="11241915" cy="4744189"/>
          </a:xfrm>
          <a:prstGeom prst="rect">
            <a:avLst/>
          </a:prstGeom>
          <a:noFill/>
          <a:ln>
            <a:noFill/>
          </a:ln>
        </p:spPr>
        <p:txBody>
          <a:bodyPr spcFirstLastPara="1" wrap="square" lIns="91425" tIns="45700" rIns="91425" bIns="45700" anchor="t" anchorCtr="0">
            <a:noAutofit/>
          </a:bodyPr>
          <a:lstStyle/>
          <a:p>
            <a:pPr marL="342900" indent="-342900"/>
            <a:r>
              <a:rPr lang="en-US" sz="1800" dirty="0"/>
              <a:t>Gasoline is very volatile.</a:t>
            </a:r>
          </a:p>
          <a:p>
            <a:pPr marL="342900" indent="-342900"/>
            <a:r>
              <a:rPr lang="en-US" sz="1800" dirty="0"/>
              <a:t>It readily evaporates, so it readily mixes with air for combustion.</a:t>
            </a:r>
          </a:p>
          <a:p>
            <a:pPr marL="342900" indent="-342900"/>
            <a:r>
              <a:rPr lang="en-US" sz="1800" dirty="0"/>
              <a:t>The volatility of gasoline affects the following performance characteristics or driving conditions:</a:t>
            </a:r>
          </a:p>
          <a:p>
            <a:pPr marL="715963" lvl="1" indent="-357188">
              <a:spcAft>
                <a:spcPts val="0"/>
              </a:spcAft>
              <a:buFont typeface="Arial" panose="020B0604020202020204" pitchFamily="34" charset="0"/>
              <a:buChar char="–"/>
            </a:pPr>
            <a:r>
              <a:rPr lang="en-US" sz="1600" dirty="0"/>
              <a:t>Cold Starting and Warm-up, Altitude, and Crankcase Oil Dilution.</a:t>
            </a:r>
            <a:endParaRPr lang="en-US" sz="1800" dirty="0"/>
          </a:p>
          <a:p>
            <a:pPr marL="342900" indent="-342900"/>
            <a:r>
              <a:rPr lang="en-US" sz="1800" dirty="0"/>
              <a:t>There are three methods of measuring the volatility of a fuel.</a:t>
            </a:r>
          </a:p>
          <a:p>
            <a:pPr marL="342900" indent="-342900"/>
            <a:r>
              <a:rPr lang="en-US" sz="1800" dirty="0"/>
              <a:t>The most common is the </a:t>
            </a:r>
            <a:r>
              <a:rPr lang="en-US" sz="1800" b="1" dirty="0"/>
              <a:t>Reid vapor pressure (RVP) test</a:t>
            </a:r>
            <a:r>
              <a:rPr lang="en-US" sz="1800" dirty="0"/>
              <a:t>. </a:t>
            </a:r>
          </a:p>
          <a:p>
            <a:pPr marL="715963" lvl="1" indent="-357188">
              <a:spcAft>
                <a:spcPts val="0"/>
              </a:spcAft>
              <a:buFont typeface="Arial" panose="020B0604020202020204" pitchFamily="34" charset="0"/>
              <a:buChar char="–"/>
            </a:pPr>
            <a:r>
              <a:rPr lang="en-US" sz="1600" dirty="0"/>
              <a:t>The RVP test is performed by placing a sample of gasoline into a sealed metal container that has a pressure measuring device attached to it.</a:t>
            </a:r>
          </a:p>
          <a:p>
            <a:pPr marL="715963" lvl="1" indent="-357188">
              <a:spcAft>
                <a:spcPts val="0"/>
              </a:spcAft>
              <a:buFont typeface="Arial" panose="020B0604020202020204" pitchFamily="34" charset="0"/>
              <a:buChar char="–"/>
            </a:pPr>
            <a:r>
              <a:rPr lang="en-US" sz="1600" dirty="0"/>
              <a:t>The container is submerged in heated (100 °F or 38 °C) water.</a:t>
            </a:r>
          </a:p>
          <a:p>
            <a:pPr marL="715963" lvl="1" indent="-357188">
              <a:spcAft>
                <a:spcPts val="0"/>
              </a:spcAft>
              <a:buFont typeface="Arial" panose="020B0604020202020204" pitchFamily="34" charset="0"/>
              <a:buChar char="–"/>
            </a:pPr>
            <a:r>
              <a:rPr lang="en-US" sz="1600" dirty="0"/>
              <a:t>As the fuel is heated, it vaporizes.</a:t>
            </a:r>
          </a:p>
          <a:p>
            <a:pPr marL="715963" lvl="1" indent="-357188">
              <a:spcAft>
                <a:spcPts val="0"/>
              </a:spcAft>
              <a:buFont typeface="Arial" panose="020B0604020202020204" pitchFamily="34" charset="0"/>
              <a:buChar char="–"/>
            </a:pPr>
            <a:r>
              <a:rPr lang="en-US" sz="1600" dirty="0"/>
              <a:t>As fuel vaporizes, it creates vapor pressure within the container.</a:t>
            </a:r>
          </a:p>
          <a:p>
            <a:pPr marL="715963" lvl="1" indent="-357188">
              <a:spcAft>
                <a:spcPts val="0"/>
              </a:spcAft>
              <a:buFont typeface="Arial" panose="020B0604020202020204" pitchFamily="34" charset="0"/>
              <a:buChar char="–"/>
            </a:pPr>
            <a:r>
              <a:rPr lang="en-US" sz="1600" dirty="0"/>
              <a:t>Vapor pressure is measured in psi.</a:t>
            </a:r>
          </a:p>
        </p:txBody>
      </p:sp>
    </p:spTree>
    <p:extLst>
      <p:ext uri="{BB962C8B-B14F-4D97-AF65-F5344CB8AC3E}">
        <p14:creationId xmlns:p14="http://schemas.microsoft.com/office/powerpoint/2010/main" val="1757400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Basic Gasoline Additives</a:t>
            </a:r>
            <a:endParaRPr sz="3600" dirty="0"/>
          </a:p>
        </p:txBody>
      </p:sp>
      <p:sp>
        <p:nvSpPr>
          <p:cNvPr id="145" name="Google Shape;145;p4"/>
          <p:cNvSpPr txBox="1">
            <a:spLocks noGrp="1"/>
          </p:cNvSpPr>
          <p:nvPr>
            <p:ph type="body" idx="1"/>
          </p:nvPr>
        </p:nvSpPr>
        <p:spPr>
          <a:xfrm>
            <a:off x="475042" y="1471260"/>
            <a:ext cx="11241915" cy="4793616"/>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1800" dirty="0"/>
              <a:t>Anti-Icing or Deicer Isopropyl alcohol</a:t>
            </a:r>
          </a:p>
          <a:p>
            <a:pPr marL="715963" lvl="1" indent="-357188">
              <a:spcAft>
                <a:spcPts val="0"/>
              </a:spcAft>
            </a:pPr>
            <a:r>
              <a:rPr lang="en-US" sz="1600" dirty="0"/>
              <a:t>These are added seasonally to gasoline as an anti-icing agent to prevent fuel line freeze-up in cold weather.</a:t>
            </a:r>
          </a:p>
          <a:p>
            <a:pPr marL="357188" indent="-357188">
              <a:spcAft>
                <a:spcPts val="0"/>
              </a:spcAft>
            </a:pPr>
            <a:r>
              <a:rPr lang="en-US" sz="1800" dirty="0"/>
              <a:t>Metal Deactivators and Rust Inhibitors</a:t>
            </a:r>
          </a:p>
          <a:p>
            <a:pPr marL="715963" lvl="1" indent="-357188">
              <a:spcAft>
                <a:spcPts val="0"/>
              </a:spcAft>
            </a:pPr>
            <a:r>
              <a:rPr lang="en-US" sz="1600" dirty="0"/>
              <a:t>These additives are used to inhibit reactions between the fuel and the metals in the fuel system that can form abrasive and filter-plugging substances.</a:t>
            </a:r>
            <a:endParaRPr lang="en-US" sz="1800" dirty="0"/>
          </a:p>
          <a:p>
            <a:pPr marL="357188" indent="-357188">
              <a:spcAft>
                <a:spcPts val="0"/>
              </a:spcAft>
            </a:pPr>
            <a:r>
              <a:rPr lang="en-US" sz="1800" dirty="0"/>
              <a:t>Gum or Oxidation Inhibitors</a:t>
            </a:r>
          </a:p>
          <a:p>
            <a:pPr marL="715963" lvl="1" indent="-357188">
              <a:spcAft>
                <a:spcPts val="0"/>
              </a:spcAft>
            </a:pPr>
            <a:r>
              <a:rPr lang="en-US" sz="1600" dirty="0"/>
              <a:t>Some gasoline contains aromatic amines and phenols to prevent the formation of gum and varnish. </a:t>
            </a:r>
          </a:p>
          <a:p>
            <a:pPr marL="715963" lvl="1" indent="-357188">
              <a:spcAft>
                <a:spcPts val="0"/>
              </a:spcAft>
            </a:pPr>
            <a:r>
              <a:rPr lang="en-US" sz="1600" dirty="0"/>
              <a:t>During storage, harmful gum deposits can form due to the reaction between some gasoline molecules with each other and with oxygen.</a:t>
            </a:r>
            <a:endParaRPr lang="en-US" sz="1800" dirty="0"/>
          </a:p>
          <a:p>
            <a:pPr marL="357188" indent="-357188">
              <a:spcAft>
                <a:spcPts val="0"/>
              </a:spcAft>
            </a:pPr>
            <a:r>
              <a:rPr lang="en-US" sz="1800" dirty="0"/>
              <a:t>Oxidation inhibitors</a:t>
            </a:r>
          </a:p>
          <a:p>
            <a:pPr marL="715963" lvl="1" indent="-357188">
              <a:spcAft>
                <a:spcPts val="0"/>
              </a:spcAft>
            </a:pPr>
            <a:r>
              <a:rPr lang="en-US" sz="1600" dirty="0"/>
              <a:t>These are added to promote gasoline stability.</a:t>
            </a:r>
          </a:p>
          <a:p>
            <a:pPr marL="357188" indent="-357188">
              <a:spcAft>
                <a:spcPts val="0"/>
              </a:spcAft>
            </a:pPr>
            <a:r>
              <a:rPr lang="en-US" sz="1800" dirty="0"/>
              <a:t>Detergents</a:t>
            </a:r>
          </a:p>
          <a:p>
            <a:pPr marL="715963" lvl="1" indent="-357188">
              <a:spcAft>
                <a:spcPts val="0"/>
              </a:spcAft>
            </a:pPr>
            <a:r>
              <a:rPr lang="en-US" sz="1600" dirty="0"/>
              <a:t>Detergent additives clean certain critical parts inside the engine.</a:t>
            </a:r>
          </a:p>
        </p:txBody>
      </p:sp>
    </p:spTree>
    <p:extLst>
      <p:ext uri="{BB962C8B-B14F-4D97-AF65-F5344CB8AC3E}">
        <p14:creationId xmlns:p14="http://schemas.microsoft.com/office/powerpoint/2010/main" val="85949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Oxygenates (1 of 2)</a:t>
            </a:r>
            <a:endParaRPr sz="3600" dirty="0"/>
          </a:p>
        </p:txBody>
      </p:sp>
      <p:sp>
        <p:nvSpPr>
          <p:cNvPr id="145" name="Google Shape;145;p4"/>
          <p:cNvSpPr txBox="1">
            <a:spLocks noGrp="1"/>
          </p:cNvSpPr>
          <p:nvPr>
            <p:ph type="body" idx="1"/>
          </p:nvPr>
        </p:nvSpPr>
        <p:spPr>
          <a:xfrm>
            <a:off x="475042" y="1376218"/>
            <a:ext cx="11241915" cy="4777447"/>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28.04 Name the common substances used as oxygenates in gasoline and explain what they do. </a:t>
            </a:r>
          </a:p>
          <a:p>
            <a:pPr marL="358775" indent="-358775"/>
            <a:r>
              <a:rPr lang="en-US" sz="1800" b="1" dirty="0"/>
              <a:t>Oxygenates</a:t>
            </a:r>
            <a:r>
              <a:rPr lang="en-US" sz="1800" dirty="0"/>
              <a:t> are compounds, such as alcohols and ethers, that contain oxygen.</a:t>
            </a:r>
          </a:p>
          <a:p>
            <a:pPr marL="358775" indent="-358775"/>
            <a:r>
              <a:rPr lang="en-US" sz="1800" dirty="0"/>
              <a:t>By carrying oxygen, the fuel tends to lean the mixture.</a:t>
            </a:r>
          </a:p>
          <a:p>
            <a:pPr marL="358775" indent="-358775"/>
            <a:r>
              <a:rPr lang="en-US" sz="1800" dirty="0"/>
              <a:t>Oxygenates improve combustion efficiency, thereby reducing emissions.</a:t>
            </a:r>
          </a:p>
          <a:p>
            <a:pPr marL="358775" indent="-358775"/>
            <a:r>
              <a:rPr lang="en-US" sz="1800" dirty="0"/>
              <a:t>Many oxygenates also serve as excellent octane enhancers when blended in gasoline.</a:t>
            </a:r>
          </a:p>
          <a:p>
            <a:pPr marL="358775" indent="-358775"/>
            <a:r>
              <a:rPr lang="en-US" sz="1800" dirty="0"/>
              <a:t>Oxygenated fuels tend to have lower CO emissions.</a:t>
            </a:r>
          </a:p>
          <a:p>
            <a:pPr marL="358775" indent="-358775"/>
            <a:r>
              <a:rPr lang="en-US" sz="1800" dirty="0"/>
              <a:t>It should be noted that the use of oxygenated gasoline may cause a slight decrease in fuel economy in late-model vehicles.</a:t>
            </a:r>
          </a:p>
          <a:p>
            <a:pPr marL="358775" indent="-358775"/>
            <a:r>
              <a:rPr lang="en-US" sz="1800" dirty="0"/>
              <a:t>Oxygenates added to gasoline produce what is referred to as </a:t>
            </a:r>
            <a:r>
              <a:rPr lang="en-US" sz="1800" b="1" dirty="0"/>
              <a:t>reformulated gasoline (RFG).</a:t>
            </a:r>
          </a:p>
          <a:p>
            <a:pPr marL="358775" indent="-358775"/>
            <a:r>
              <a:rPr lang="en-US" sz="1800" dirty="0"/>
              <a:t>RFG is also called “cleaner-burning” gasoline and costs slightly more than normal gasoline.</a:t>
            </a:r>
          </a:p>
          <a:p>
            <a:pPr marL="358775" indent="-358775"/>
            <a:r>
              <a:rPr lang="en-US" sz="1800" dirty="0"/>
              <a:t>RFG can be used in most engines with no modifications. RFG was formulated to reduce exhaust emissions.</a:t>
            </a:r>
          </a:p>
        </p:txBody>
      </p:sp>
    </p:spTree>
    <p:extLst>
      <p:ext uri="{BB962C8B-B14F-4D97-AF65-F5344CB8AC3E}">
        <p14:creationId xmlns:p14="http://schemas.microsoft.com/office/powerpoint/2010/main" val="4035698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Oxygenates (2 of 2)</a:t>
            </a:r>
            <a:endParaRPr lang="en-US" sz="3600" dirty="0"/>
          </a:p>
        </p:txBody>
      </p:sp>
      <p:sp>
        <p:nvSpPr>
          <p:cNvPr id="145" name="Google Shape;145;p4"/>
          <p:cNvSpPr txBox="1">
            <a:spLocks noGrp="1"/>
          </p:cNvSpPr>
          <p:nvPr>
            <p:ph type="body" idx="1"/>
          </p:nvPr>
        </p:nvSpPr>
        <p:spPr>
          <a:xfrm>
            <a:off x="475042" y="1421156"/>
            <a:ext cx="11241915" cy="4744189"/>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dirty="0">
                <a:solidFill>
                  <a:schemeClr val="tx1"/>
                </a:solidFill>
              </a:rPr>
              <a:t>Ethanol</a:t>
            </a:r>
          </a:p>
          <a:p>
            <a:pPr marL="715963" lvl="1" indent="-357188">
              <a:spcAft>
                <a:spcPts val="0"/>
              </a:spcAft>
            </a:pPr>
            <a:r>
              <a:rPr lang="en-US" sz="1800" dirty="0">
                <a:solidFill>
                  <a:schemeClr val="tx1"/>
                </a:solidFill>
              </a:rPr>
              <a:t>By far the most widely used gasoline oxygenate additive is ethanol (ethyl alcohol).</a:t>
            </a:r>
          </a:p>
          <a:p>
            <a:pPr marL="715963" lvl="1" indent="-357188">
              <a:spcAft>
                <a:spcPts val="0"/>
              </a:spcAft>
            </a:pPr>
            <a:r>
              <a:rPr lang="en-US" sz="1800" dirty="0">
                <a:solidFill>
                  <a:schemeClr val="tx1"/>
                </a:solidFill>
              </a:rPr>
              <a:t>Ethanol is a noncorrosive and relatively nontoxic alcohol made from renewable biological sources.</a:t>
            </a:r>
          </a:p>
          <a:p>
            <a:pPr marL="715963" lvl="1" indent="-357188">
              <a:spcAft>
                <a:spcPts val="0"/>
              </a:spcAft>
            </a:pPr>
            <a:r>
              <a:rPr lang="en-US" sz="1800" dirty="0">
                <a:solidFill>
                  <a:schemeClr val="tx1"/>
                </a:solidFill>
              </a:rPr>
              <a:t>Ethanol decreases CO emissions due to the higher oxygen content of the fuel.</a:t>
            </a:r>
          </a:p>
          <a:p>
            <a:pPr marL="357188" indent="-357188">
              <a:spcAft>
                <a:spcPts val="0"/>
              </a:spcAft>
            </a:pPr>
            <a:r>
              <a:rPr lang="en-US" sz="2000" dirty="0">
                <a:solidFill>
                  <a:schemeClr val="tx1"/>
                </a:solidFill>
              </a:rPr>
              <a:t>Methanol</a:t>
            </a:r>
          </a:p>
          <a:p>
            <a:pPr marL="715963" lvl="1" indent="-357188">
              <a:spcAft>
                <a:spcPts val="0"/>
              </a:spcAft>
            </a:pPr>
            <a:r>
              <a:rPr lang="en-US" sz="1800" dirty="0">
                <a:solidFill>
                  <a:schemeClr val="tx1"/>
                </a:solidFill>
              </a:rPr>
              <a:t>It is the lightest and simplest of the alcohols and is also known as wood alcohol.</a:t>
            </a:r>
          </a:p>
          <a:p>
            <a:pPr marL="715963" lvl="1" indent="-357188">
              <a:spcAft>
                <a:spcPts val="0"/>
              </a:spcAft>
            </a:pPr>
            <a:r>
              <a:rPr lang="en-US" sz="1800" dirty="0">
                <a:solidFill>
                  <a:schemeClr val="tx1"/>
                </a:solidFill>
              </a:rPr>
              <a:t>It is far more corrosive to fuel system components than ethanol, and it is this corrosion that has automakers concerned.</a:t>
            </a:r>
          </a:p>
          <a:p>
            <a:pPr marL="715963" lvl="1" indent="-357188">
              <a:spcAft>
                <a:spcPts val="0"/>
              </a:spcAft>
            </a:pPr>
            <a:r>
              <a:rPr lang="en-US" sz="1800" dirty="0">
                <a:solidFill>
                  <a:schemeClr val="tx1"/>
                </a:solidFill>
              </a:rPr>
              <a:t>Methanol is also highly toxic, and there are safety concerns with ingestion, eye or skin contact, and inhalation.</a:t>
            </a:r>
            <a:endParaRPr lang="en-US" sz="2000" dirty="0">
              <a:solidFill>
                <a:schemeClr val="tx1"/>
              </a:solidFill>
            </a:endParaRPr>
          </a:p>
          <a:p>
            <a:pPr marL="357188" indent="-357188">
              <a:spcAft>
                <a:spcPts val="0"/>
              </a:spcAft>
            </a:pPr>
            <a:r>
              <a:rPr lang="en-US" sz="2000" dirty="0">
                <a:solidFill>
                  <a:schemeClr val="tx1"/>
                </a:solidFill>
              </a:rPr>
              <a:t>Aromatic Hydrocarbons</a:t>
            </a:r>
          </a:p>
          <a:p>
            <a:pPr marL="715963" lvl="1" indent="-357188">
              <a:spcAft>
                <a:spcPts val="0"/>
              </a:spcAft>
            </a:pPr>
            <a:r>
              <a:rPr lang="en-US" sz="1800" dirty="0">
                <a:solidFill>
                  <a:schemeClr val="tx1"/>
                </a:solidFill>
              </a:rPr>
              <a:t>These are petroleum-derived compounds, including benzene, xylene, and toluene, that are being used as octane boosters.</a:t>
            </a:r>
          </a:p>
        </p:txBody>
      </p:sp>
    </p:spTree>
    <p:extLst>
      <p:ext uri="{BB962C8B-B14F-4D97-AF65-F5344CB8AC3E}">
        <p14:creationId xmlns:p14="http://schemas.microsoft.com/office/powerpoint/2010/main" val="249141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Gasoline Quality Testing</a:t>
            </a:r>
            <a:endParaRPr sz="3600" dirty="0"/>
          </a:p>
        </p:txBody>
      </p:sp>
      <p:sp>
        <p:nvSpPr>
          <p:cNvPr id="145" name="Google Shape;145;p4"/>
          <p:cNvSpPr txBox="1">
            <a:spLocks noGrp="1"/>
          </p:cNvSpPr>
          <p:nvPr>
            <p:ph type="body" idx="1"/>
          </p:nvPr>
        </p:nvSpPr>
        <p:spPr>
          <a:xfrm>
            <a:off x="475042" y="1471260"/>
            <a:ext cx="11412158" cy="4653967"/>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solidFill>
                  <a:schemeClr val="accent1"/>
                </a:solidFill>
              </a:rPr>
              <a:t>28.05 Describe how the quality of a fuel can be tested.</a:t>
            </a:r>
            <a:endParaRPr lang="en-US" sz="2000" dirty="0">
              <a:solidFill>
                <a:schemeClr val="accent1"/>
              </a:solidFill>
            </a:endParaRPr>
          </a:p>
          <a:p>
            <a:pPr marL="357188" indent="-357188">
              <a:spcAft>
                <a:spcPts val="0"/>
              </a:spcAft>
            </a:pPr>
            <a:r>
              <a:rPr lang="en-US" sz="2000" dirty="0">
                <a:solidFill>
                  <a:schemeClr val="accent1"/>
                </a:solidFill>
              </a:rPr>
              <a:t>Two tests can be done to test the quality of gasoline: the Reid vapor pressure test and the alcohol content test.</a:t>
            </a:r>
          </a:p>
          <a:p>
            <a:pPr marL="357188" indent="-357188">
              <a:spcAft>
                <a:spcPts val="0"/>
              </a:spcAft>
            </a:pPr>
            <a:r>
              <a:rPr lang="en-US" sz="2000" dirty="0">
                <a:solidFill>
                  <a:schemeClr val="accent1"/>
                </a:solidFill>
              </a:rPr>
              <a:t>Testing the RVP of Gasoline</a:t>
            </a:r>
          </a:p>
          <a:p>
            <a:pPr marL="715963" lvl="1" indent="-357188">
              <a:spcAft>
                <a:spcPts val="0"/>
              </a:spcAft>
            </a:pPr>
            <a:r>
              <a:rPr lang="en-US" sz="1800" dirty="0">
                <a:solidFill>
                  <a:schemeClr val="accent1"/>
                </a:solidFill>
              </a:rPr>
              <a:t>RVP is a measure of the volatility of gasoline.</a:t>
            </a:r>
          </a:p>
          <a:p>
            <a:pPr marL="715963" lvl="1" indent="-357188">
              <a:spcAft>
                <a:spcPts val="0"/>
              </a:spcAft>
            </a:pPr>
            <a:r>
              <a:rPr lang="en-US" sz="1800" dirty="0">
                <a:solidFill>
                  <a:schemeClr val="accent1"/>
                </a:solidFill>
              </a:rPr>
              <a:t>A special fuel vapor pressure tester is needed to test the RVP of gasoline.</a:t>
            </a:r>
          </a:p>
          <a:p>
            <a:pPr marL="715963" lvl="1" indent="-357188">
              <a:spcAft>
                <a:spcPts val="0"/>
              </a:spcAft>
            </a:pPr>
            <a:r>
              <a:rPr lang="en-US" sz="1800" dirty="0">
                <a:solidFill>
                  <a:schemeClr val="accent1"/>
                </a:solidFill>
              </a:rPr>
              <a:t>Make sure the gasoline that is being tested is cool.</a:t>
            </a:r>
          </a:p>
          <a:p>
            <a:pPr marL="357188" indent="-357188">
              <a:spcAft>
                <a:spcPts val="0"/>
              </a:spcAft>
            </a:pPr>
            <a:r>
              <a:rPr lang="en-US" sz="2000" dirty="0">
                <a:solidFill>
                  <a:schemeClr val="accent1"/>
                </a:solidFill>
              </a:rPr>
              <a:t>Alcohol in Fuel Test</a:t>
            </a:r>
          </a:p>
          <a:p>
            <a:pPr marL="715963" lvl="1" indent="-357188">
              <a:spcAft>
                <a:spcPts val="0"/>
              </a:spcAft>
            </a:pPr>
            <a:r>
              <a:rPr lang="en-US" sz="1800" dirty="0">
                <a:solidFill>
                  <a:schemeClr val="accent1"/>
                </a:solidFill>
              </a:rPr>
              <a:t>Pump gasoline may contain a small amount of alcohol, normally up to 10 percent.</a:t>
            </a:r>
          </a:p>
          <a:p>
            <a:pPr marL="715963" lvl="1" indent="-357188">
              <a:spcAft>
                <a:spcPts val="0"/>
              </a:spcAft>
            </a:pPr>
            <a:r>
              <a:rPr lang="en-US" sz="1800" dirty="0">
                <a:solidFill>
                  <a:schemeClr val="accent1"/>
                </a:solidFill>
              </a:rPr>
              <a:t>If the amount is greater than that, problems may result, such as fuel system corrosion, fuel filter plugging, deterioration of rubber fuel system components, and a lean air–fuel ratio.</a:t>
            </a:r>
          </a:p>
          <a:p>
            <a:pPr marL="715963" lvl="1" indent="-357188">
              <a:spcAft>
                <a:spcPts val="0"/>
              </a:spcAft>
            </a:pPr>
            <a:r>
              <a:rPr lang="en-US" sz="1800" dirty="0">
                <a:solidFill>
                  <a:schemeClr val="accent1"/>
                </a:solidFill>
              </a:rPr>
              <a:t>There are many different ways to check the percentage of alcohol in gasoline.</a:t>
            </a:r>
          </a:p>
          <a:p>
            <a:pPr marL="715963" lvl="1" indent="-357188">
              <a:spcAft>
                <a:spcPts val="0"/>
              </a:spcAft>
            </a:pPr>
            <a:r>
              <a:rPr lang="en-US" sz="1800" dirty="0">
                <a:solidFill>
                  <a:schemeClr val="accent1"/>
                </a:solidFill>
              </a:rPr>
              <a:t>Some are more exact than others, and some require complex instruments.</a:t>
            </a:r>
          </a:p>
        </p:txBody>
      </p:sp>
    </p:spTree>
    <p:extLst>
      <p:ext uri="{BB962C8B-B14F-4D97-AF65-F5344CB8AC3E}">
        <p14:creationId xmlns:p14="http://schemas.microsoft.com/office/powerpoint/2010/main" val="3962303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Alternatives to Gasoline</a:t>
            </a:r>
            <a:endParaRPr sz="3600" dirty="0"/>
          </a:p>
        </p:txBody>
      </p:sp>
      <p:sp>
        <p:nvSpPr>
          <p:cNvPr id="145" name="Google Shape;145;p4"/>
          <p:cNvSpPr txBox="1">
            <a:spLocks noGrp="1"/>
          </p:cNvSpPr>
          <p:nvPr>
            <p:ph type="body" idx="1"/>
          </p:nvPr>
        </p:nvSpPr>
        <p:spPr>
          <a:xfrm>
            <a:off x="475043" y="1396104"/>
            <a:ext cx="7618634" cy="4645335"/>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dirty="0">
                <a:solidFill>
                  <a:schemeClr val="tx1"/>
                </a:solidFill>
              </a:rPr>
              <a:t>The actual cost of using gasoline in engines is not limited to the price per gallon or liter.</a:t>
            </a:r>
          </a:p>
          <a:p>
            <a:pPr marL="357188" indent="-357188">
              <a:spcAft>
                <a:spcPts val="0"/>
              </a:spcAft>
            </a:pPr>
            <a:r>
              <a:rPr lang="en-US" sz="2000" dirty="0">
                <a:solidFill>
                  <a:schemeClr val="tx1"/>
                </a:solidFill>
              </a:rPr>
              <a:t>There are other factors, or costs, that need to be considered: our environment, our dependence on foreign oil supplies, and the depletion of future oil supplies.</a:t>
            </a:r>
          </a:p>
          <a:p>
            <a:pPr marL="357188" indent="-357188">
              <a:spcAft>
                <a:spcPts val="0"/>
              </a:spcAft>
            </a:pPr>
            <a:r>
              <a:rPr lang="en-US" sz="2000" dirty="0">
                <a:solidFill>
                  <a:schemeClr val="tx1"/>
                </a:solidFill>
              </a:rPr>
              <a:t>Any reduction in the use of fossil fuels will have benefits for generations to come.</a:t>
            </a:r>
          </a:p>
          <a:p>
            <a:pPr marL="357188" indent="-357188">
              <a:spcAft>
                <a:spcPts val="0"/>
              </a:spcAft>
            </a:pPr>
            <a:r>
              <a:rPr lang="en-US" sz="2000" dirty="0">
                <a:solidFill>
                  <a:schemeClr val="tx1"/>
                </a:solidFill>
              </a:rPr>
              <a:t>Here are a few simple facts:</a:t>
            </a:r>
          </a:p>
          <a:p>
            <a:pPr marL="715963" lvl="1" indent="-357188">
              <a:spcAft>
                <a:spcPts val="0"/>
              </a:spcAft>
              <a:buFont typeface="Arial" panose="020B0604020202020204" pitchFamily="34" charset="0"/>
              <a:buChar char="–"/>
            </a:pPr>
            <a:r>
              <a:rPr lang="en-US" sz="1800" dirty="0">
                <a:solidFill>
                  <a:schemeClr val="tx1"/>
                </a:solidFill>
              </a:rPr>
              <a:t>There are well over 280 million registered vehicles on the road as of 2021 in the United States.</a:t>
            </a:r>
          </a:p>
          <a:p>
            <a:pPr marL="357188" indent="-357188">
              <a:spcAft>
                <a:spcPts val="0"/>
              </a:spcAft>
            </a:pPr>
            <a:r>
              <a:rPr lang="en-US" sz="2000" dirty="0">
                <a:solidFill>
                  <a:schemeClr val="tx1"/>
                </a:solidFill>
              </a:rPr>
              <a:t>Automobiles and gasoline contribute to environmental damage.</a:t>
            </a:r>
          </a:p>
          <a:p>
            <a:pPr marL="715963" lvl="1" indent="-357188">
              <a:spcAft>
                <a:spcPts val="0"/>
              </a:spcAft>
              <a:buFont typeface="Arial" panose="020B0604020202020204" pitchFamily="34" charset="0"/>
              <a:buChar char="–"/>
            </a:pPr>
            <a:r>
              <a:rPr lang="en-US" sz="1800" dirty="0">
                <a:solidFill>
                  <a:schemeClr val="tx1"/>
                </a:solidFill>
              </a:rPr>
              <a:t>Automobiles emit pollutants.</a:t>
            </a:r>
          </a:p>
        </p:txBody>
      </p:sp>
      <p:pic>
        <p:nvPicPr>
          <p:cNvPr id="8" name="Picture Placeholder 7" descr="A photo shows the configuration of a car with three callouts each representing pollutants level. The first callout points toward a bonnet and a coil springs that denotes: evaporated fuel (H C) 20 percent. The second callout points toward an engine cradle that denotes: blowby gas (H C) 20 percent. The third callout points toward the exhaust system that reads: exhaust gas (C O, H C, N O_x) 60 percent.">
            <a:extLst>
              <a:ext uri="{FF2B5EF4-FFF2-40B4-BE49-F238E27FC236}">
                <a16:creationId xmlns:a16="http://schemas.microsoft.com/office/drawing/2014/main" id="{CBA0B46D-9D16-AA09-7C80-6C1CFFF81CFD}"/>
              </a:ext>
            </a:extLst>
          </p:cNvPr>
          <p:cNvPicPr>
            <a:picLocks noGrp="1" noChangeAspect="1"/>
          </p:cNvPicPr>
          <p:nvPr>
            <p:ph type="pic" sz="quarter" idx="13"/>
          </p:nvPr>
        </p:nvPicPr>
        <p:blipFill rotWithShape="1">
          <a:blip r:embed="rId3"/>
          <a:srcRect b="9993"/>
          <a:stretch/>
        </p:blipFill>
        <p:spPr>
          <a:xfrm>
            <a:off x="8093677" y="1871947"/>
            <a:ext cx="3809315" cy="3125937"/>
          </a:xfrm>
          <a:prstGeom prst="rect">
            <a:avLst/>
          </a:prstGeom>
        </p:spPr>
      </p:pic>
    </p:spTree>
    <p:extLst>
      <p:ext uri="{BB962C8B-B14F-4D97-AF65-F5344CB8AC3E}">
        <p14:creationId xmlns:p14="http://schemas.microsoft.com/office/powerpoint/2010/main" val="3487105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Alternative Fuels</a:t>
            </a:r>
            <a:endParaRPr sz="3600" dirty="0"/>
          </a:p>
        </p:txBody>
      </p:sp>
      <p:sp>
        <p:nvSpPr>
          <p:cNvPr id="145" name="Google Shape;145;p4"/>
          <p:cNvSpPr txBox="1">
            <a:spLocks noGrp="1"/>
          </p:cNvSpPr>
          <p:nvPr>
            <p:ph type="body" idx="1"/>
          </p:nvPr>
        </p:nvSpPr>
        <p:spPr>
          <a:xfrm>
            <a:off x="475042" y="1471260"/>
            <a:ext cx="11241915" cy="4744189"/>
          </a:xfrm>
          <a:prstGeom prst="rect">
            <a:avLst/>
          </a:prstGeom>
          <a:noFill/>
          <a:ln>
            <a:noFill/>
          </a:ln>
        </p:spPr>
        <p:txBody>
          <a:bodyPr spcFirstLastPara="1" wrap="square" lIns="91425" tIns="45700" rIns="91425" bIns="45700" anchor="t" anchorCtr="0">
            <a:noAutofit/>
          </a:bodyPr>
          <a:lstStyle/>
          <a:p>
            <a:pPr marL="357188" indent="-357188"/>
            <a:r>
              <a:rPr lang="en-US" sz="1800" dirty="0"/>
              <a:t>The concerns of burning fossil fuels and the decline of their reserves have led to a comprehensive search for alternative fuels.</a:t>
            </a:r>
          </a:p>
          <a:p>
            <a:pPr marL="357188" indent="-357188"/>
            <a:r>
              <a:rPr lang="en-US" sz="1800" dirty="0"/>
              <a:t>While looking at the viability of an alternative fuel, many things are considered, including emissions, cost, availability, energy density, safety, engine life, fueling facilities, weight and space requirements for fuel tanks, and the operating range of a fully fueled vehicle.</a:t>
            </a:r>
          </a:p>
          <a:p>
            <a:pPr marL="357188" indent="-357188"/>
            <a:r>
              <a:rPr lang="en-US" sz="1800" dirty="0"/>
              <a:t>By using alternative fuels, we not only can reduce our reliance on petroleum, but we can reduce emissions and the effects an automobile’s exhaust has on global warming.</a:t>
            </a:r>
          </a:p>
          <a:p>
            <a:pPr marL="357188" indent="-357188"/>
            <a:r>
              <a:rPr lang="en-US" sz="1800" dirty="0"/>
              <a:t>Many of these fuels are also being considered as the fuel of choice for fuel cell electric vehicles.</a:t>
            </a:r>
          </a:p>
          <a:p>
            <a:pPr marL="357188" indent="-357188"/>
            <a:r>
              <a:rPr lang="en-US" sz="1800" dirty="0"/>
              <a:t>Much attention has been paid to renewable fuel sources.</a:t>
            </a:r>
          </a:p>
          <a:p>
            <a:pPr marL="357188" indent="-357188"/>
            <a:r>
              <a:rPr lang="en-US" sz="1800" dirty="0"/>
              <a:t>Renewable fuels are those derived from </a:t>
            </a:r>
            <a:r>
              <a:rPr lang="en-US" sz="1800" dirty="0" err="1"/>
              <a:t>nonfossil</a:t>
            </a:r>
            <a:r>
              <a:rPr lang="en-US" sz="1800" dirty="0"/>
              <a:t> sources and produced from plant or animal products or wastes (biomass).</a:t>
            </a:r>
          </a:p>
        </p:txBody>
      </p:sp>
    </p:spTree>
    <p:extLst>
      <p:ext uri="{BB962C8B-B14F-4D97-AF65-F5344CB8AC3E}">
        <p14:creationId xmlns:p14="http://schemas.microsoft.com/office/powerpoint/2010/main" val="4262125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Ethanol</a:t>
            </a:r>
            <a:endParaRPr sz="3600" dirty="0"/>
          </a:p>
        </p:txBody>
      </p:sp>
      <p:sp>
        <p:nvSpPr>
          <p:cNvPr id="145" name="Google Shape;145;p4"/>
          <p:cNvSpPr txBox="1">
            <a:spLocks noGrp="1"/>
          </p:cNvSpPr>
          <p:nvPr>
            <p:ph type="body" idx="1"/>
          </p:nvPr>
        </p:nvSpPr>
        <p:spPr>
          <a:xfrm>
            <a:off x="475043" y="1471260"/>
            <a:ext cx="7272643" cy="4447625"/>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2000" dirty="0"/>
              <a:t>Ethanol is a high-quality, low-cost, high-octane fuel (rated at 115) that burns cleaner than gasoline.</a:t>
            </a:r>
          </a:p>
          <a:p>
            <a:pPr marL="357188" indent="-357188">
              <a:lnSpc>
                <a:spcPct val="107000"/>
              </a:lnSpc>
              <a:spcBef>
                <a:spcPts val="0"/>
              </a:spcBef>
            </a:pPr>
            <a:r>
              <a:rPr lang="en-US" sz="2000" dirty="0"/>
              <a:t>Ford’s Model T was designed to run on ethyl alcohol (ethanol).</a:t>
            </a:r>
          </a:p>
          <a:p>
            <a:pPr marL="357188" indent="-357188">
              <a:lnSpc>
                <a:spcPct val="107000"/>
              </a:lnSpc>
              <a:spcBef>
                <a:spcPts val="0"/>
              </a:spcBef>
            </a:pPr>
            <a:r>
              <a:rPr lang="en-US" sz="2000" dirty="0"/>
              <a:t>Ethanol (</a:t>
            </a:r>
            <a:r>
              <a:rPr lang="en-US" sz="2000" dirty="0" err="1"/>
              <a:t>CH</a:t>
            </a:r>
            <a:r>
              <a:rPr lang="en-US" sz="2000" baseline="-25000" dirty="0" err="1"/>
              <a:t>3</a:t>
            </a:r>
            <a:r>
              <a:rPr lang="en-US" sz="2000" dirty="0" err="1"/>
              <a:t>CH</a:t>
            </a:r>
            <a:r>
              <a:rPr lang="en-US" sz="2000" baseline="-25000" dirty="0" err="1"/>
              <a:t>2</a:t>
            </a:r>
            <a:r>
              <a:rPr lang="en-US" sz="2000" dirty="0" err="1"/>
              <a:t>OH</a:t>
            </a:r>
            <a:r>
              <a:rPr lang="en-US" sz="2000" dirty="0"/>
              <a:t>), commonly called grain alcohol, is a renewable fuel made from nearly anything that contains carbon.</a:t>
            </a:r>
          </a:p>
          <a:p>
            <a:pPr marL="357188" indent="-357188">
              <a:lnSpc>
                <a:spcPct val="107000"/>
              </a:lnSpc>
              <a:spcBef>
                <a:spcPts val="0"/>
              </a:spcBef>
            </a:pPr>
            <a:r>
              <a:rPr lang="en-US" sz="2000" dirty="0"/>
              <a:t>Ethanol can be used as a high-octane fuel in vehicles and is often mixed with gasoline to boost its octane rating.</a:t>
            </a:r>
          </a:p>
          <a:p>
            <a:pPr marL="357188" indent="-357188">
              <a:lnSpc>
                <a:spcPct val="107000"/>
              </a:lnSpc>
              <a:spcBef>
                <a:spcPts val="0"/>
              </a:spcBef>
            </a:pPr>
            <a:r>
              <a:rPr lang="en-US" sz="2000" dirty="0"/>
              <a:t>For automotive use, ethanol is blended with gasoline. </a:t>
            </a:r>
          </a:p>
          <a:p>
            <a:pPr marL="357188" indent="-357188">
              <a:lnSpc>
                <a:spcPct val="107000"/>
              </a:lnSpc>
              <a:spcBef>
                <a:spcPts val="0"/>
              </a:spcBef>
            </a:pPr>
            <a:r>
              <a:rPr lang="en-US" sz="2000" dirty="0"/>
              <a:t>The common blends are an E10 blend, E15, and E85.</a:t>
            </a:r>
            <a:endParaRPr lang="en-US" sz="1500" dirty="0"/>
          </a:p>
        </p:txBody>
      </p:sp>
      <p:pic>
        <p:nvPicPr>
          <p:cNvPr id="8" name="Picture Placeholder 7" descr="A carbon cycle of ethanol. Crops like corn are finely ground and their component sugars are separated. The sugars are distilled to make ethanol, which can be used as an alternative fuel for a vehicle. The original crop reabsorbs the carbon dioxide released during its use.">
            <a:extLst>
              <a:ext uri="{FF2B5EF4-FFF2-40B4-BE49-F238E27FC236}">
                <a16:creationId xmlns:a16="http://schemas.microsoft.com/office/drawing/2014/main" id="{3D8F5ED8-D470-A115-9E9C-31FD0516A8A3}"/>
              </a:ext>
            </a:extLst>
          </p:cNvPr>
          <p:cNvPicPr>
            <a:picLocks noGrp="1" noChangeAspect="1"/>
          </p:cNvPicPr>
          <p:nvPr>
            <p:ph type="pic" sz="quarter" idx="13"/>
          </p:nvPr>
        </p:nvPicPr>
        <p:blipFill rotWithShape="1">
          <a:blip r:embed="rId3"/>
          <a:srcRect b="7822"/>
          <a:stretch/>
        </p:blipFill>
        <p:spPr>
          <a:xfrm>
            <a:off x="7872750" y="2405550"/>
            <a:ext cx="4056547" cy="2003612"/>
          </a:xfrm>
          <a:prstGeom prst="rect">
            <a:avLst/>
          </a:prstGeom>
        </p:spPr>
      </p:pic>
    </p:spTree>
    <p:extLst>
      <p:ext uri="{BB962C8B-B14F-4D97-AF65-F5344CB8AC3E}">
        <p14:creationId xmlns:p14="http://schemas.microsoft.com/office/powerpoint/2010/main" val="229079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Hydrogen</a:t>
            </a:r>
            <a:endParaRPr sz="3600" dirty="0"/>
          </a:p>
        </p:txBody>
      </p:sp>
      <p:pic>
        <p:nvPicPr>
          <p:cNvPr id="8" name="Picture Placeholder 7" descr="An oval hydrogen atom with a proton at the center of the atom and an electron at the outer layer of the atom. Proton is represented by + and electron is represented by minus.">
            <a:extLst>
              <a:ext uri="{FF2B5EF4-FFF2-40B4-BE49-F238E27FC236}">
                <a16:creationId xmlns:a16="http://schemas.microsoft.com/office/drawing/2014/main" id="{483D2FEC-2CA3-D41E-63E3-E7CEDE6AF651}"/>
              </a:ext>
            </a:extLst>
          </p:cNvPr>
          <p:cNvPicPr>
            <a:picLocks noGrp="1" noChangeAspect="1"/>
          </p:cNvPicPr>
          <p:nvPr>
            <p:ph type="pic" sz="quarter" idx="11"/>
          </p:nvPr>
        </p:nvPicPr>
        <p:blipFill rotWithShape="1">
          <a:blip r:embed="rId3"/>
          <a:srcRect l="13540" b="17492"/>
          <a:stretch/>
        </p:blipFill>
        <p:spPr>
          <a:xfrm>
            <a:off x="612828" y="1845368"/>
            <a:ext cx="4471812" cy="2939574"/>
          </a:xfrm>
          <a:prstGeom prst="rect">
            <a:avLst/>
          </a:prstGeom>
        </p:spPr>
      </p:pic>
      <p:sp>
        <p:nvSpPr>
          <p:cNvPr id="145" name="Google Shape;145;p4"/>
          <p:cNvSpPr txBox="1">
            <a:spLocks noGrp="1"/>
          </p:cNvSpPr>
          <p:nvPr>
            <p:ph type="body" idx="1"/>
          </p:nvPr>
        </p:nvSpPr>
        <p:spPr>
          <a:xfrm>
            <a:off x="5448822" y="1371053"/>
            <a:ext cx="6268135" cy="4657690"/>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b="1" dirty="0"/>
              <a:t>Hydrogen</a:t>
            </a:r>
            <a:r>
              <a:rPr lang="en-US" sz="2000" dirty="0"/>
              <a:t> is cited by some as the fuel of the future because it is full of energy due to its atomic structure and abundance.</a:t>
            </a:r>
          </a:p>
          <a:p>
            <a:pPr marL="357188" indent="-357188">
              <a:spcAft>
                <a:spcPts val="0"/>
              </a:spcAft>
            </a:pPr>
            <a:r>
              <a:rPr lang="en-US" sz="2000" dirty="0"/>
              <a:t>It is the simplest and lightest of all elements and has one proton and one electron.</a:t>
            </a:r>
          </a:p>
          <a:p>
            <a:pPr marL="357188" indent="-357188">
              <a:spcAft>
                <a:spcPts val="0"/>
              </a:spcAft>
            </a:pPr>
            <a:r>
              <a:rPr lang="en-US" sz="2000" dirty="0"/>
              <a:t>Hydrogen is a colorless and odorless gas.</a:t>
            </a:r>
          </a:p>
          <a:p>
            <a:pPr marL="357188" indent="-357188">
              <a:spcAft>
                <a:spcPts val="0"/>
              </a:spcAft>
            </a:pPr>
            <a:r>
              <a:rPr lang="en-US" sz="2000" dirty="0"/>
              <a:t>Hydrogen is commonly extracted from water, fossil fuels, coal, and biomass.</a:t>
            </a:r>
          </a:p>
          <a:p>
            <a:pPr marL="357188" indent="-357188">
              <a:spcAft>
                <a:spcPts val="0"/>
              </a:spcAft>
            </a:pPr>
            <a:r>
              <a:rPr lang="en-US" sz="2000" dirty="0"/>
              <a:t>The two most common ways that hydrogen is produced are steam reforming and electrolysis.</a:t>
            </a:r>
          </a:p>
          <a:p>
            <a:pPr marL="357188" indent="-357188">
              <a:spcAft>
                <a:spcPts val="0"/>
              </a:spcAft>
            </a:pPr>
            <a:r>
              <a:rPr lang="en-US" sz="2000" dirty="0"/>
              <a:t>Currently, it costs much more to produce hydrogen than it does to produce other fuels such as gasoline.</a:t>
            </a:r>
          </a:p>
        </p:txBody>
      </p:sp>
    </p:spTree>
    <p:extLst>
      <p:ext uri="{BB962C8B-B14F-4D97-AF65-F5344CB8AC3E}">
        <p14:creationId xmlns:p14="http://schemas.microsoft.com/office/powerpoint/2010/main" val="2116452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Flex Fuel Vehicles</a:t>
            </a:r>
            <a:endParaRPr sz="3600" dirty="0"/>
          </a:p>
        </p:txBody>
      </p:sp>
      <p:pic>
        <p:nvPicPr>
          <p:cNvPr id="8" name="Picture Placeholder 7" descr="An illustration depicts a flexible fuel vehicle. The bonnet of the car includes gasoline- and alcohol-compatible fuel injectors and engine components. The fuel tank includes gasoline- and alcohol-compatible plastic fuel tank. The flex fuel sensor is connected to engine components that are connected to fuel tank through line. The line denotes gasoline and alcohol-compatible fuel lines.">
            <a:extLst>
              <a:ext uri="{FF2B5EF4-FFF2-40B4-BE49-F238E27FC236}">
                <a16:creationId xmlns:a16="http://schemas.microsoft.com/office/drawing/2014/main" id="{65E6D7BB-7B9E-F122-FC38-506FEBDA9038}"/>
              </a:ext>
            </a:extLst>
          </p:cNvPr>
          <p:cNvPicPr>
            <a:picLocks noGrp="1" noChangeAspect="1"/>
          </p:cNvPicPr>
          <p:nvPr>
            <p:ph type="pic" sz="quarter" idx="13"/>
          </p:nvPr>
        </p:nvPicPr>
        <p:blipFill rotWithShape="1">
          <a:blip r:embed="rId3"/>
          <a:srcRect b="10468"/>
          <a:stretch/>
        </p:blipFill>
        <p:spPr>
          <a:xfrm>
            <a:off x="703354" y="2355995"/>
            <a:ext cx="5171354" cy="2430297"/>
          </a:xfrm>
          <a:prstGeom prst="rect">
            <a:avLst/>
          </a:prstGeom>
        </p:spPr>
      </p:pic>
      <p:sp>
        <p:nvSpPr>
          <p:cNvPr id="145" name="Google Shape;145;p4"/>
          <p:cNvSpPr txBox="1">
            <a:spLocks noGrp="1"/>
          </p:cNvSpPr>
          <p:nvPr>
            <p:ph type="body" idx="1"/>
          </p:nvPr>
        </p:nvSpPr>
        <p:spPr>
          <a:xfrm>
            <a:off x="6200384" y="1471261"/>
            <a:ext cx="5516572" cy="4595908"/>
          </a:xfrm>
          <a:prstGeom prst="rect">
            <a:avLst/>
          </a:prstGeom>
          <a:noFill/>
          <a:ln>
            <a:noFill/>
          </a:ln>
        </p:spPr>
        <p:txBody>
          <a:bodyPr spcFirstLastPara="1" wrap="square" lIns="91425" tIns="45700" rIns="91425" bIns="45700" anchor="t" anchorCtr="0">
            <a:noAutofit/>
          </a:bodyPr>
          <a:lstStyle/>
          <a:p>
            <a:pPr marL="357188" indent="-357188"/>
            <a:r>
              <a:rPr lang="en-US" sz="1800" b="1" dirty="0"/>
              <a:t>Flexible fuel vehicles (FFV) </a:t>
            </a:r>
            <a:r>
              <a:rPr lang="en-US" sz="1800" dirty="0"/>
              <a:t>can run on ethanol or gasoline, or a mixture of the two.</a:t>
            </a:r>
          </a:p>
          <a:p>
            <a:pPr marL="357188" indent="-357188"/>
            <a:r>
              <a:rPr lang="en-US" sz="1800" dirty="0"/>
              <a:t>The alcohol fuel and gasoline are stored in the same tank.</a:t>
            </a:r>
          </a:p>
          <a:p>
            <a:pPr marL="357188" indent="-357188"/>
            <a:r>
              <a:rPr lang="en-US" sz="1800" dirty="0"/>
              <a:t>This gives the driver flexibility and convenience when refilling the fuel tank.</a:t>
            </a:r>
          </a:p>
          <a:p>
            <a:pPr marL="357188" indent="-357188"/>
            <a:r>
              <a:rPr lang="en-US" sz="1800" dirty="0"/>
              <a:t>Many vehicles are fitted with systems that allow the use of multiple fuels.</a:t>
            </a:r>
          </a:p>
          <a:p>
            <a:pPr marL="357188" indent="-357188"/>
            <a:r>
              <a:rPr lang="en-US" sz="1800" dirty="0"/>
              <a:t>These include vehicles from Chrysler, Ford Motor Co., General Motors, and Nissan.</a:t>
            </a:r>
          </a:p>
          <a:p>
            <a:pPr marL="357188" indent="-357188"/>
            <a:r>
              <a:rPr lang="en-US" sz="1800" dirty="0"/>
              <a:t>Flex fuel vehicles may have a clover leaf symbol (internally or externally) that shows they can use multiple fuels.</a:t>
            </a:r>
            <a:endParaRPr lang="en-US" sz="1200" dirty="0"/>
          </a:p>
        </p:txBody>
      </p:sp>
    </p:spTree>
    <p:extLst>
      <p:ext uri="{BB962C8B-B14F-4D97-AF65-F5344CB8AC3E}">
        <p14:creationId xmlns:p14="http://schemas.microsoft.com/office/powerpoint/2010/main" val="4290220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What is the definition of a renewable fuel?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DFA11C66-6E1B-4BE4-D8B0-D2E3DC132882}"/>
              </a:ext>
            </a:extLst>
          </p:cNvPr>
          <p:cNvSpPr>
            <a:spLocks noGrp="1"/>
          </p:cNvSpPr>
          <p:nvPr>
            <p:ph type="body" idx="1"/>
          </p:nvPr>
        </p:nvSpPr>
        <p:spPr/>
        <p:txBody>
          <a:bodyPr/>
          <a:lstStyle/>
          <a:p>
            <a:pPr marL="360362" lvl="1" indent="0">
              <a:buNone/>
            </a:pPr>
            <a:r>
              <a:rPr lang="en-US" sz="2600" b="1" dirty="0"/>
              <a:t>Answer</a:t>
            </a:r>
            <a:r>
              <a:rPr lang="en-US" sz="2600" dirty="0"/>
              <a:t>: Renewable fuels are those derived from </a:t>
            </a:r>
            <a:r>
              <a:rPr lang="en-US" sz="2600" dirty="0" err="1"/>
              <a:t>nonfossil</a:t>
            </a:r>
            <a:r>
              <a:rPr lang="en-US" sz="2600" dirty="0"/>
              <a:t> sources and produced from plant or animal products or wastes (biomass).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Fuel (1 of 3)</a:t>
            </a:r>
            <a:endParaRPr sz="3600" dirty="0"/>
          </a:p>
        </p:txBody>
      </p:sp>
      <p:sp>
        <p:nvSpPr>
          <p:cNvPr id="145" name="Google Shape;145;p4"/>
          <p:cNvSpPr txBox="1">
            <a:spLocks noGrp="1"/>
          </p:cNvSpPr>
          <p:nvPr>
            <p:ph type="body" idx="1"/>
          </p:nvPr>
        </p:nvSpPr>
        <p:spPr>
          <a:xfrm>
            <a:off x="475042" y="1471261"/>
            <a:ext cx="7025509" cy="4583550"/>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28.07 Explain the differences between diesel fuel and gasoline.</a:t>
            </a:r>
            <a:endParaRPr lang="en-US" sz="1800" dirty="0"/>
          </a:p>
          <a:p>
            <a:pPr marL="357188" indent="-357188"/>
            <a:r>
              <a:rPr lang="en-US" sz="1800" dirty="0"/>
              <a:t>Diesel fuel is designed to be used by diesel engines and is therefore not an alternative fuel for gasoline engines.</a:t>
            </a:r>
          </a:p>
          <a:p>
            <a:pPr marL="357188" indent="-357188"/>
            <a:r>
              <a:rPr lang="en-US" sz="1800" dirty="0"/>
              <a:t>Diesel fuel is a fossil fuel, but it has different properties and characteristics than gasoline.</a:t>
            </a:r>
          </a:p>
          <a:p>
            <a:pPr marL="357188" indent="-357188"/>
            <a:r>
              <a:rPr lang="en-US" sz="1800" dirty="0"/>
              <a:t>Diesel fuel also evaporates much more slowly than gasoline—its boiling point is actually higher than the boiling point of water.</a:t>
            </a:r>
          </a:p>
          <a:p>
            <a:pPr marL="357188" indent="-357188"/>
            <a:r>
              <a:rPr lang="en-US" sz="1800" dirty="0"/>
              <a:t>The downside of diesel fuel is that it costs more per gallon than gasoline.</a:t>
            </a:r>
          </a:p>
          <a:p>
            <a:pPr marL="357188" indent="-357188"/>
            <a:r>
              <a:rPr lang="en-US" sz="1800" dirty="0"/>
              <a:t>Diesel fuel is used to power a wide variety of vehicles and other equipment.</a:t>
            </a:r>
          </a:p>
        </p:txBody>
      </p:sp>
      <p:pic>
        <p:nvPicPr>
          <p:cNvPr id="8" name="Picture Placeholder 7" descr="A photo depicts a digital L E D display Info board with the sign that reads: Certified R E G 3.89 to the ninth power DIESEL 4.19 to the ninth power Carlyle’s Cup.">
            <a:extLst>
              <a:ext uri="{FF2B5EF4-FFF2-40B4-BE49-F238E27FC236}">
                <a16:creationId xmlns:a16="http://schemas.microsoft.com/office/drawing/2014/main" id="{B4ADEF68-61F8-CC16-1C2D-E6057D711609}"/>
              </a:ext>
            </a:extLst>
          </p:cNvPr>
          <p:cNvPicPr>
            <a:picLocks noGrp="1" noChangeAspect="1"/>
          </p:cNvPicPr>
          <p:nvPr>
            <p:ph type="pic" sz="quarter" idx="13"/>
          </p:nvPr>
        </p:nvPicPr>
        <p:blipFill rotWithShape="1">
          <a:blip r:embed="rId3"/>
          <a:srcRect b="12895"/>
          <a:stretch/>
        </p:blipFill>
        <p:spPr>
          <a:xfrm>
            <a:off x="7550994" y="2016690"/>
            <a:ext cx="4363989" cy="3309073"/>
          </a:xfrm>
          <a:prstGeom prst="rect">
            <a:avLst/>
          </a:prstGeom>
        </p:spPr>
      </p:pic>
    </p:spTree>
    <p:extLst>
      <p:ext uri="{BB962C8B-B14F-4D97-AF65-F5344CB8AC3E}">
        <p14:creationId xmlns:p14="http://schemas.microsoft.com/office/powerpoint/2010/main" val="2964219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Fuel (2 of 3)</a:t>
            </a:r>
            <a:endParaRPr sz="3600" dirty="0"/>
          </a:p>
        </p:txBody>
      </p:sp>
      <p:sp>
        <p:nvSpPr>
          <p:cNvPr id="145" name="Google Shape;145;p4"/>
          <p:cNvSpPr txBox="1">
            <a:spLocks noGrp="1"/>
          </p:cNvSpPr>
          <p:nvPr>
            <p:ph type="body" idx="1"/>
          </p:nvPr>
        </p:nvSpPr>
        <p:spPr>
          <a:xfrm>
            <a:off x="475043" y="1471260"/>
            <a:ext cx="7037866" cy="4670047"/>
          </a:xfrm>
          <a:prstGeom prst="rect">
            <a:avLst/>
          </a:prstGeom>
          <a:noFill/>
          <a:ln>
            <a:noFill/>
          </a:ln>
        </p:spPr>
        <p:txBody>
          <a:bodyPr spcFirstLastPara="1" wrap="square" lIns="91425" tIns="45700" rIns="91425" bIns="45700" anchor="t" anchorCtr="0">
            <a:noAutofit/>
          </a:bodyPr>
          <a:lstStyle/>
          <a:p>
            <a:pPr marL="357188" indent="-357188"/>
            <a:r>
              <a:rPr lang="en-US" sz="2000" dirty="0"/>
              <a:t>Cetane Ratings</a:t>
            </a:r>
          </a:p>
          <a:p>
            <a:pPr marL="814388" lvl="1" indent="-357188"/>
            <a:r>
              <a:rPr lang="en-US" sz="1800" dirty="0"/>
              <a:t>Diesel fuel should ignite almost instantaneously when it is injected into a cylinder.</a:t>
            </a:r>
          </a:p>
          <a:p>
            <a:pPr marL="814388" lvl="1" indent="-357188"/>
            <a:r>
              <a:rPr lang="en-US" sz="1800" dirty="0"/>
              <a:t>The fuel’s ignition quality is expressed by a </a:t>
            </a:r>
            <a:r>
              <a:rPr lang="en-US" sz="1800" b="1" dirty="0"/>
              <a:t>cetane rating (CN).</a:t>
            </a:r>
          </a:p>
          <a:p>
            <a:pPr marL="814388" lvl="1" indent="-357188"/>
            <a:r>
              <a:rPr lang="en-US" sz="1800" dirty="0"/>
              <a:t>The cetane rating of diesel fuel is a measure of the ease with which the fuel can be ignited.</a:t>
            </a:r>
          </a:p>
          <a:p>
            <a:pPr marL="814388" lvl="1" indent="-357188"/>
            <a:r>
              <a:rPr lang="en-US" sz="1800" dirty="0"/>
              <a:t>Because diesel fuel ignites with compression instead of a spark, it is most efficient when it ignites as quickly as possible.</a:t>
            </a:r>
          </a:p>
          <a:p>
            <a:pPr marL="814388" lvl="1" indent="-357188"/>
            <a:r>
              <a:rPr lang="en-US" sz="1800" dirty="0"/>
              <a:t>The cetane rating of the fuel is based on a test that uses a single-cylinder test engine with a variable compression ratio.</a:t>
            </a:r>
            <a:endParaRPr lang="en-US" sz="1200" dirty="0"/>
          </a:p>
        </p:txBody>
      </p:sp>
      <p:pic>
        <p:nvPicPr>
          <p:cNvPr id="8" name="Picture Placeholder 7" descr="The comparison of cetane and octane with octane placed above cetane. The cetane represents a triangle with readings from top to bottom as follows: 30, 40, and 50. The octane represents an inverse triangle with readings from top to bottom as follows: 100, 90, 80, and 70. A double-headed arrow on the right represents slow burning at the top and fast burning at the bottom.">
            <a:extLst>
              <a:ext uri="{FF2B5EF4-FFF2-40B4-BE49-F238E27FC236}">
                <a16:creationId xmlns:a16="http://schemas.microsoft.com/office/drawing/2014/main" id="{12232D4C-7998-856F-91E0-8261942B47A6}"/>
              </a:ext>
            </a:extLst>
          </p:cNvPr>
          <p:cNvPicPr>
            <a:picLocks noGrp="1" noChangeAspect="1"/>
          </p:cNvPicPr>
          <p:nvPr>
            <p:ph type="pic" sz="quarter" idx="13"/>
          </p:nvPr>
        </p:nvPicPr>
        <p:blipFill rotWithShape="1">
          <a:blip r:embed="rId3"/>
          <a:srcRect l="14308" b="8944"/>
          <a:stretch/>
        </p:blipFill>
        <p:spPr>
          <a:xfrm>
            <a:off x="8166969" y="1806037"/>
            <a:ext cx="3762646" cy="3630259"/>
          </a:xfrm>
          <a:prstGeom prst="rect">
            <a:avLst/>
          </a:prstGeom>
        </p:spPr>
      </p:pic>
    </p:spTree>
    <p:extLst>
      <p:ext uri="{BB962C8B-B14F-4D97-AF65-F5344CB8AC3E}">
        <p14:creationId xmlns:p14="http://schemas.microsoft.com/office/powerpoint/2010/main" val="2432006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Fuel (3 of 3)</a:t>
            </a:r>
            <a:endParaRPr sz="3600" dirty="0"/>
          </a:p>
        </p:txBody>
      </p:sp>
      <p:sp>
        <p:nvSpPr>
          <p:cNvPr id="145" name="Google Shape;145;p4"/>
          <p:cNvSpPr txBox="1">
            <a:spLocks noGrp="1"/>
          </p:cNvSpPr>
          <p:nvPr>
            <p:ph type="body" idx="1"/>
          </p:nvPr>
        </p:nvSpPr>
        <p:spPr>
          <a:xfrm>
            <a:off x="475042" y="1471260"/>
            <a:ext cx="11241915" cy="4694762"/>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dirty="0"/>
              <a:t>Biodiesel Fuels</a:t>
            </a:r>
          </a:p>
          <a:p>
            <a:pPr marL="715963" lvl="1" indent="-357188">
              <a:spcAft>
                <a:spcPts val="0"/>
              </a:spcAft>
              <a:buFont typeface="Arial" panose="020B0604020202020204" pitchFamily="34" charset="0"/>
              <a:buChar char="–"/>
              <a:tabLst>
                <a:tab pos="444500" algn="l"/>
              </a:tabLst>
            </a:pPr>
            <a:r>
              <a:rPr lang="en-US" sz="1800" dirty="0"/>
              <a:t>Biodiesel is an alternative fuel for diesel engines.</a:t>
            </a:r>
          </a:p>
          <a:p>
            <a:pPr marL="715963" lvl="1" indent="-357188">
              <a:spcAft>
                <a:spcPts val="0"/>
              </a:spcAft>
              <a:buFont typeface="Arial" panose="020B0604020202020204" pitchFamily="34" charset="0"/>
              <a:buChar char="–"/>
              <a:tabLst>
                <a:tab pos="444500" algn="l"/>
              </a:tabLst>
            </a:pPr>
            <a:r>
              <a:rPr lang="en-US" sz="1800" b="1" dirty="0"/>
              <a:t>Biodiesel fuel </a:t>
            </a:r>
            <a:r>
              <a:rPr lang="en-US" sz="1800" dirty="0"/>
              <a:t>is not made from petroleum, rather it is made from renewable biological sources.</a:t>
            </a:r>
          </a:p>
          <a:p>
            <a:pPr marL="715963" lvl="1" indent="-357188">
              <a:spcAft>
                <a:spcPts val="0"/>
              </a:spcAft>
              <a:buFont typeface="Arial" panose="020B0604020202020204" pitchFamily="34" charset="0"/>
              <a:buChar char="–"/>
              <a:tabLst>
                <a:tab pos="444500" algn="l"/>
              </a:tabLst>
            </a:pPr>
            <a:r>
              <a:rPr lang="en-US" sz="1800" dirty="0"/>
              <a:t>Most commercially available biodiesel fuel is made from soybean oil.</a:t>
            </a:r>
          </a:p>
          <a:p>
            <a:pPr marL="715963" lvl="1" indent="-357188">
              <a:spcAft>
                <a:spcPts val="0"/>
              </a:spcAft>
              <a:buFont typeface="Arial" panose="020B0604020202020204" pitchFamily="34" charset="0"/>
              <a:buChar char="–"/>
              <a:tabLst>
                <a:tab pos="444500" algn="l"/>
              </a:tabLst>
            </a:pPr>
            <a:r>
              <a:rPr lang="en-US" sz="1800" dirty="0"/>
              <a:t>However, it is also produced from animal fats, recycled cooking oil, canola oil, corn, and sunflowers.</a:t>
            </a:r>
          </a:p>
          <a:p>
            <a:pPr marL="715963" lvl="1" indent="-357188">
              <a:spcAft>
                <a:spcPts val="0"/>
              </a:spcAft>
              <a:buFont typeface="Arial" panose="020B0604020202020204" pitchFamily="34" charset="0"/>
              <a:buChar char="–"/>
              <a:tabLst>
                <a:tab pos="444500" algn="l"/>
              </a:tabLst>
            </a:pPr>
            <a:r>
              <a:rPr lang="en-US" sz="1800" dirty="0"/>
              <a:t>Biodiesel is considered a renewable fuel.</a:t>
            </a:r>
          </a:p>
          <a:p>
            <a:pPr marL="715963" lvl="1" indent="-357188">
              <a:spcAft>
                <a:spcPts val="0"/>
              </a:spcAft>
              <a:buFont typeface="Arial" panose="020B0604020202020204" pitchFamily="34" charset="0"/>
              <a:buChar char="–"/>
              <a:tabLst>
                <a:tab pos="444500" algn="l"/>
              </a:tabLst>
            </a:pPr>
            <a:r>
              <a:rPr lang="en-US" sz="1800" dirty="0"/>
              <a:t>Biodiesel can be used in diesel engines with little or no modifications to the engine.</a:t>
            </a:r>
          </a:p>
          <a:p>
            <a:pPr marL="715963" lvl="1" indent="-357188">
              <a:spcAft>
                <a:spcPts val="0"/>
              </a:spcAft>
              <a:buFont typeface="Arial" panose="020B0604020202020204" pitchFamily="34" charset="0"/>
              <a:buChar char="–"/>
              <a:tabLst>
                <a:tab pos="444500" algn="l"/>
              </a:tabLst>
            </a:pPr>
            <a:r>
              <a:rPr lang="en-US" sz="1800" dirty="0"/>
              <a:t>Pure biodiesel is biodegradable, nontoxic, and free of sulfur and aromatics.</a:t>
            </a:r>
          </a:p>
          <a:p>
            <a:pPr marL="715963" lvl="1" indent="-357188">
              <a:spcAft>
                <a:spcPts val="0"/>
              </a:spcAft>
              <a:buFont typeface="Arial" panose="020B0604020202020204" pitchFamily="34" charset="0"/>
              <a:buChar char="–"/>
              <a:tabLst>
                <a:tab pos="444500" algn="l"/>
              </a:tabLst>
            </a:pPr>
            <a:r>
              <a:rPr lang="en-US" sz="1800" dirty="0"/>
              <a:t>It can be used by itself or blended with petroleum-based diesel fuel.</a:t>
            </a:r>
          </a:p>
          <a:p>
            <a:pPr marL="715963" lvl="1" indent="-357188">
              <a:spcAft>
                <a:spcPts val="0"/>
              </a:spcAft>
              <a:buFont typeface="Arial" panose="020B0604020202020204" pitchFamily="34" charset="0"/>
              <a:buChar char="–"/>
              <a:tabLst>
                <a:tab pos="444500" algn="l"/>
              </a:tabLst>
            </a:pPr>
            <a:r>
              <a:rPr lang="en-US" sz="1800" dirty="0"/>
              <a:t>The two most common blends are B5, which is 95 percent petroleum-based fuel and 5 percent biodiesel fuel, and B20, which contains 20 percent biodiesel blended into regular diesel fuel.</a:t>
            </a:r>
            <a:endParaRPr lang="en-US" sz="1200" dirty="0"/>
          </a:p>
        </p:txBody>
      </p:sp>
    </p:spTree>
    <p:extLst>
      <p:ext uri="{BB962C8B-B14F-4D97-AF65-F5344CB8AC3E}">
        <p14:creationId xmlns:p14="http://schemas.microsoft.com/office/powerpoint/2010/main" val="1441998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Engines</a:t>
            </a:r>
            <a:endParaRPr sz="3600" dirty="0"/>
          </a:p>
        </p:txBody>
      </p:sp>
      <p:pic>
        <p:nvPicPr>
          <p:cNvPr id="8" name="Picture Placeholder 7" descr="A line graph represents the relationship between engine speed (r p m) and torque (l b-f t). The horizontal axis represents engine speed ranging from 1000 to 3,800 in intervals of 400. The vertical axis to the left represents torque ranging from 100 to 800 in intervals of 100. The vertical axis to the right represents power (b h p) ranging from 100 to 400 in intervals of 100. The Torque line starts at 270 l b-f t. increases rapidly to 735 l b-f t. with the speed of 1650 r p m and 2820 r p m and remains constant. The line gradually decreases to 0 with a speed of 3800 r p m. The Power line starts at 38 b h p and increases rapidly with the speed of 2820 r p m and it reaches 390 b h p. The line then gradually decreases to 0 with the speed of 3800 r p m. All values are estimated.">
            <a:extLst>
              <a:ext uri="{FF2B5EF4-FFF2-40B4-BE49-F238E27FC236}">
                <a16:creationId xmlns:a16="http://schemas.microsoft.com/office/drawing/2014/main" id="{7130C2D0-6880-9A5B-CBC7-69F5787E6807}"/>
              </a:ext>
            </a:extLst>
          </p:cNvPr>
          <p:cNvPicPr>
            <a:picLocks noGrp="1" noChangeAspect="1"/>
          </p:cNvPicPr>
          <p:nvPr>
            <p:ph type="pic" sz="quarter" idx="13"/>
          </p:nvPr>
        </p:nvPicPr>
        <p:blipFill rotWithShape="1">
          <a:blip r:embed="rId3"/>
          <a:srcRect b="6868"/>
          <a:stretch/>
        </p:blipFill>
        <p:spPr>
          <a:xfrm>
            <a:off x="476843" y="2237562"/>
            <a:ext cx="4942061" cy="2830137"/>
          </a:xfrm>
          <a:prstGeom prst="rect">
            <a:avLst/>
          </a:prstGeom>
        </p:spPr>
      </p:pic>
      <p:sp>
        <p:nvSpPr>
          <p:cNvPr id="145" name="Google Shape;145;p4"/>
          <p:cNvSpPr txBox="1">
            <a:spLocks noGrp="1"/>
          </p:cNvSpPr>
          <p:nvPr>
            <p:ph type="body" idx="1"/>
          </p:nvPr>
        </p:nvSpPr>
        <p:spPr>
          <a:xfrm>
            <a:off x="5599133" y="1471260"/>
            <a:ext cx="6363223" cy="4521767"/>
          </a:xfrm>
          <a:prstGeom prst="rect">
            <a:avLst/>
          </a:prstGeom>
          <a:noFill/>
          <a:ln>
            <a:noFill/>
          </a:ln>
        </p:spPr>
        <p:txBody>
          <a:bodyPr spcFirstLastPara="1" wrap="square" lIns="91425" tIns="45700" rIns="91425" bIns="45700" anchor="t" anchorCtr="0">
            <a:noAutofit/>
          </a:bodyPr>
          <a:lstStyle/>
          <a:p>
            <a:pPr marL="357188" indent="-357188"/>
            <a:r>
              <a:rPr lang="en-US" sz="1800" dirty="0"/>
              <a:t>Diesel engine use in cars and SUVs is not as common as in light duty trucks.</a:t>
            </a:r>
          </a:p>
          <a:p>
            <a:pPr marL="357188" indent="-357188"/>
            <a:r>
              <a:rPr lang="en-US" sz="1800" dirty="0"/>
              <a:t>One advantage diesel-powered cars have over gasoline vehicles is increased fuel economy.</a:t>
            </a:r>
          </a:p>
          <a:p>
            <a:pPr marL="357188" indent="-357188"/>
            <a:r>
              <a:rPr lang="en-US" sz="1800" dirty="0"/>
              <a:t>This advantage often disappears when compared to a hybrid vehicle.</a:t>
            </a:r>
          </a:p>
          <a:p>
            <a:pPr marL="357188" indent="-357188"/>
            <a:r>
              <a:rPr lang="en-US" sz="1800" dirty="0"/>
              <a:t>Diesel engines provide more torque than a gasoline engine of the same size and consume less fuel per mile, making them popular in light duty trucks.</a:t>
            </a:r>
          </a:p>
          <a:p>
            <a:pPr marL="357188" indent="-357188"/>
            <a:r>
              <a:rPr lang="en-US" sz="1800" dirty="0"/>
              <a:t>The fuel injected into a diesel engine is ignited by the heat of compression.</a:t>
            </a:r>
          </a:p>
          <a:p>
            <a:pPr marL="357188" indent="-357188"/>
            <a:r>
              <a:rPr lang="en-US" sz="1800" dirty="0"/>
              <a:t>A diesel engine needs a compression ratio of at least 16:1.</a:t>
            </a:r>
            <a:endParaRPr lang="en-US" sz="1200" dirty="0"/>
          </a:p>
        </p:txBody>
      </p:sp>
    </p:spTree>
    <p:extLst>
      <p:ext uri="{BB962C8B-B14F-4D97-AF65-F5344CB8AC3E}">
        <p14:creationId xmlns:p14="http://schemas.microsoft.com/office/powerpoint/2010/main" val="1672866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Fuel Injection</a:t>
            </a:r>
            <a:endParaRPr sz="3600" dirty="0"/>
          </a:p>
        </p:txBody>
      </p:sp>
      <p:pic>
        <p:nvPicPr>
          <p:cNvPr id="8" name="Picture Placeholder 7" descr="The diesel engine with depression at the top of the pistons, where initial combustion takes place.">
            <a:extLst>
              <a:ext uri="{FF2B5EF4-FFF2-40B4-BE49-F238E27FC236}">
                <a16:creationId xmlns:a16="http://schemas.microsoft.com/office/drawing/2014/main" id="{2DB12177-28E5-40DE-FED4-11A3CD773A2B}"/>
              </a:ext>
            </a:extLst>
          </p:cNvPr>
          <p:cNvPicPr>
            <a:picLocks noGrp="1" noChangeAspect="1"/>
          </p:cNvPicPr>
          <p:nvPr>
            <p:ph type="pic" sz="quarter" idx="11"/>
          </p:nvPr>
        </p:nvPicPr>
        <p:blipFill rotWithShape="1">
          <a:blip r:embed="rId3"/>
          <a:srcRect b="12781"/>
          <a:stretch/>
        </p:blipFill>
        <p:spPr>
          <a:xfrm>
            <a:off x="633054" y="1934735"/>
            <a:ext cx="4224600" cy="3564191"/>
          </a:xfrm>
          <a:prstGeom prst="rect">
            <a:avLst/>
          </a:prstGeom>
        </p:spPr>
      </p:pic>
      <p:sp>
        <p:nvSpPr>
          <p:cNvPr id="145" name="Google Shape;145;p4"/>
          <p:cNvSpPr txBox="1">
            <a:spLocks noGrp="1"/>
          </p:cNvSpPr>
          <p:nvPr>
            <p:ph type="body" idx="1"/>
          </p:nvPr>
        </p:nvSpPr>
        <p:spPr>
          <a:xfrm>
            <a:off x="5047988" y="1578279"/>
            <a:ext cx="6914367" cy="4315894"/>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b="1" dirty="0"/>
              <a:t>28.08 Describe the common types of fuel injection used on today’s diesel engines.</a:t>
            </a:r>
          </a:p>
          <a:p>
            <a:pPr marL="358775" indent="-358775">
              <a:spcAft>
                <a:spcPts val="0"/>
              </a:spcAft>
            </a:pPr>
            <a:r>
              <a:rPr lang="en-US" sz="1800" dirty="0"/>
              <a:t>Most of today’s diesel engines use direct fuel injection, in which fuel is injected directly into the cylinder.</a:t>
            </a:r>
          </a:p>
          <a:p>
            <a:pPr marL="358775" indent="-358775">
              <a:spcAft>
                <a:spcPts val="0"/>
              </a:spcAft>
            </a:pPr>
            <a:r>
              <a:rPr lang="en-US" sz="1800" dirty="0"/>
              <a:t>In an indirect injection (IDI) diesel engine, fuel is injected into a small prechamber, which is connected to the combustion chamber by a small opening.</a:t>
            </a:r>
          </a:p>
          <a:p>
            <a:pPr marL="358775" indent="-358775">
              <a:spcAft>
                <a:spcPts val="0"/>
              </a:spcAft>
            </a:pPr>
            <a:r>
              <a:rPr lang="en-US" sz="1800" dirty="0"/>
              <a:t>Many IDI systems were mechanically operated and the fuel pump not only supplied fuel system pressure, but also controlled the timing of the injectors.</a:t>
            </a:r>
          </a:p>
          <a:p>
            <a:pPr marL="358775" indent="-358775">
              <a:spcAft>
                <a:spcPts val="0"/>
              </a:spcAft>
            </a:pPr>
            <a:r>
              <a:rPr lang="en-US" sz="1800" dirty="0"/>
              <a:t>With direct injection (DI), the pistons have a depression where initial combustion takes place.</a:t>
            </a:r>
            <a:endParaRPr lang="en-US" sz="1400" dirty="0"/>
          </a:p>
        </p:txBody>
      </p:sp>
    </p:spTree>
    <p:extLst>
      <p:ext uri="{BB962C8B-B14F-4D97-AF65-F5344CB8AC3E}">
        <p14:creationId xmlns:p14="http://schemas.microsoft.com/office/powerpoint/2010/main" val="2104400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Electronic Unit Injection (EUI)</a:t>
            </a:r>
            <a:endParaRPr sz="3600" dirty="0"/>
          </a:p>
        </p:txBody>
      </p:sp>
      <p:sp>
        <p:nvSpPr>
          <p:cNvPr id="145" name="Google Shape;145;p4"/>
          <p:cNvSpPr txBox="1">
            <a:spLocks noGrp="1"/>
          </p:cNvSpPr>
          <p:nvPr>
            <p:ph type="body" idx="1"/>
          </p:nvPr>
        </p:nvSpPr>
        <p:spPr>
          <a:xfrm>
            <a:off x="475042" y="1421157"/>
            <a:ext cx="7099650" cy="4744188"/>
          </a:xfrm>
          <a:prstGeom prst="rect">
            <a:avLst/>
          </a:prstGeom>
          <a:noFill/>
          <a:ln>
            <a:noFill/>
          </a:ln>
        </p:spPr>
        <p:txBody>
          <a:bodyPr spcFirstLastPara="1" wrap="square" lIns="91425" tIns="45700" rIns="91425" bIns="45700" anchor="t" anchorCtr="0">
            <a:noAutofit/>
          </a:bodyPr>
          <a:lstStyle/>
          <a:p>
            <a:pPr marL="357188" indent="-357188"/>
            <a:r>
              <a:rPr lang="en-US" sz="2000" dirty="0"/>
              <a:t>Electronic unit injector (EUI) systems have been used since the 1980s but primarily in heavy-duty trucks.</a:t>
            </a:r>
          </a:p>
          <a:p>
            <a:pPr marL="357188" indent="-357188"/>
            <a:r>
              <a:rPr lang="en-US" sz="2000" dirty="0"/>
              <a:t>Volkswagen used EUIs in their TDI engines until 2010.</a:t>
            </a:r>
          </a:p>
          <a:p>
            <a:pPr marL="357188" indent="-357188"/>
            <a:r>
              <a:rPr lang="en-US" sz="2000" dirty="0"/>
              <a:t>In these systems, the injector’s pressure is the result of a camshaft-driven high-pressure pump.</a:t>
            </a:r>
          </a:p>
          <a:p>
            <a:pPr marL="357188" indent="-357188"/>
            <a:r>
              <a:rPr lang="en-US" sz="2000" dirty="0"/>
              <a:t>However, the engine’s PCM controls the amount of fuel sprayed into the cylinders and the timing of the spray.</a:t>
            </a:r>
          </a:p>
          <a:p>
            <a:pPr marL="357188" indent="-357188"/>
            <a:r>
              <a:rPr lang="en-US" sz="2000" dirty="0"/>
              <a:t>Although effective, EUIs did not allow for the precise control of injection needed to meet today’s driving needs and emission standards.</a:t>
            </a:r>
          </a:p>
        </p:txBody>
      </p:sp>
      <p:pic>
        <p:nvPicPr>
          <p:cNvPr id="8" name="Picture Placeholder 7" descr="A pre-2010 V W T D I E U I fuel system with the parts labeled as follows: fuel return pressure limiter, fuel temperature sensor, fuel cooler, fuel tank, electric pump (transfer pump), fuel filter, fuel pump (high pressure), E U I charging gallery, injector, fuel rail, and fuel return pressure limiter. The fuel from the fuel tank enters into an electric pump (transfer pump) through a fuel filter which further flows to the fuel pump (high pressure) and fuel cooler. The fuel from the fuel pump flows towards E U I then further flows to injectors, and is further fed to the fuel return pressure limiter through the fuel rail. The fuel return pressure limiter flows to the fuel filter through the fuel temperature sensor that senses the fuel.">
            <a:extLst>
              <a:ext uri="{FF2B5EF4-FFF2-40B4-BE49-F238E27FC236}">
                <a16:creationId xmlns:a16="http://schemas.microsoft.com/office/drawing/2014/main" id="{45ADB7CD-0C6E-083C-21C5-BF3AC8AA700D}"/>
              </a:ext>
            </a:extLst>
          </p:cNvPr>
          <p:cNvPicPr>
            <a:picLocks noGrp="1" noChangeAspect="1"/>
          </p:cNvPicPr>
          <p:nvPr>
            <p:ph type="pic" sz="quarter" idx="13"/>
          </p:nvPr>
        </p:nvPicPr>
        <p:blipFill rotWithShape="1">
          <a:blip r:embed="rId3"/>
          <a:srcRect b="6773"/>
          <a:stretch/>
        </p:blipFill>
        <p:spPr>
          <a:xfrm>
            <a:off x="7737064" y="2042474"/>
            <a:ext cx="4180545" cy="3318665"/>
          </a:xfrm>
          <a:prstGeom prst="rect">
            <a:avLst/>
          </a:prstGeom>
        </p:spPr>
      </p:pic>
    </p:spTree>
    <p:extLst>
      <p:ext uri="{BB962C8B-B14F-4D97-AF65-F5344CB8AC3E}">
        <p14:creationId xmlns:p14="http://schemas.microsoft.com/office/powerpoint/2010/main" val="4149174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Hydraulic Electronic Unit Injection (HEUI)</a:t>
            </a:r>
            <a:endParaRPr dirty="0"/>
          </a:p>
        </p:txBody>
      </p:sp>
      <p:sp>
        <p:nvSpPr>
          <p:cNvPr id="145" name="Google Shape;145;p4"/>
          <p:cNvSpPr txBox="1">
            <a:spLocks noGrp="1"/>
          </p:cNvSpPr>
          <p:nvPr>
            <p:ph type="body" idx="1"/>
          </p:nvPr>
        </p:nvSpPr>
        <p:spPr>
          <a:xfrm>
            <a:off x="475042" y="1471260"/>
            <a:ext cx="7247931" cy="4719475"/>
          </a:xfrm>
          <a:prstGeom prst="rect">
            <a:avLst/>
          </a:prstGeom>
          <a:noFill/>
          <a:ln>
            <a:noFill/>
          </a:ln>
        </p:spPr>
        <p:txBody>
          <a:bodyPr spcFirstLastPara="1" wrap="square" lIns="91425" tIns="45700" rIns="91425" bIns="45700" anchor="t" anchorCtr="0">
            <a:noAutofit/>
          </a:bodyPr>
          <a:lstStyle/>
          <a:p>
            <a:pPr marL="357188" indent="-357188"/>
            <a:r>
              <a:rPr lang="en-US" sz="2000" dirty="0"/>
              <a:t>Hydraulic Electronic Unit Injection (HEUI) relies on engine oil pressure to control the operation of the individual injectors.</a:t>
            </a:r>
          </a:p>
          <a:p>
            <a:pPr marL="357188" indent="-357188"/>
            <a:r>
              <a:rPr lang="en-US" sz="2000" dirty="0"/>
              <a:t>The engine oil opens the injector by pressing down on a diaphragm inside each injector.</a:t>
            </a:r>
          </a:p>
          <a:p>
            <a:pPr marL="357188" indent="-357188"/>
            <a:r>
              <a:rPr lang="en-US" sz="2000" dirty="0"/>
              <a:t>In turn, the diaphragm pushes on the fuel inside the injector and pressurizes it from 3,000 to 21,000 psi.</a:t>
            </a:r>
          </a:p>
          <a:p>
            <a:pPr marL="357188" indent="-357188"/>
            <a:r>
              <a:rPr lang="en-US" sz="2000" dirty="0"/>
              <a:t>Fuel under that pressure is directly injected into the cylinders.</a:t>
            </a:r>
          </a:p>
          <a:p>
            <a:pPr marL="357188" indent="-357188"/>
            <a:r>
              <a:rPr lang="en-US" sz="2000" dirty="0"/>
              <a:t>Since the injectors in this system pressurize the fuel for delivery into the cylinders, there is no need for an expensive and difficult to control high-pressure fuel pump.</a:t>
            </a:r>
            <a:endParaRPr lang="en-US" sz="1500" dirty="0"/>
          </a:p>
        </p:txBody>
      </p:sp>
      <p:pic>
        <p:nvPicPr>
          <p:cNvPr id="9" name="Picture Placeholder 8" descr="A hydraulic electronic unit injection (H U E I) with the parts labeled as follows: injection control pressure sensor, from the main gallery, oil line, oil reservoir, high-pressure oil pump, injection pressure regulator, oil manifold, and drilled supply passage. Oil from the reservoir flows toward the oil line and oil manifold, which further flows into the H E U I through the drilled supply passage.">
            <a:extLst>
              <a:ext uri="{FF2B5EF4-FFF2-40B4-BE49-F238E27FC236}">
                <a16:creationId xmlns:a16="http://schemas.microsoft.com/office/drawing/2014/main" id="{FB4A8400-BBA8-576D-BB5D-7A951CF370B8}"/>
              </a:ext>
            </a:extLst>
          </p:cNvPr>
          <p:cNvPicPr>
            <a:picLocks noGrp="1" noChangeAspect="1"/>
          </p:cNvPicPr>
          <p:nvPr>
            <p:ph type="pic" sz="quarter" idx="13"/>
          </p:nvPr>
        </p:nvPicPr>
        <p:blipFill>
          <a:blip r:embed="rId3"/>
          <a:srcRect b="10415"/>
          <a:stretch/>
        </p:blipFill>
        <p:spPr>
          <a:xfrm>
            <a:off x="7722973" y="1937081"/>
            <a:ext cx="4082620" cy="3874995"/>
          </a:xfrm>
          <a:prstGeom prst="rect">
            <a:avLst/>
          </a:prstGeom>
        </p:spPr>
      </p:pic>
    </p:spTree>
    <p:extLst>
      <p:ext uri="{BB962C8B-B14F-4D97-AF65-F5344CB8AC3E}">
        <p14:creationId xmlns:p14="http://schemas.microsoft.com/office/powerpoint/2010/main" val="3922790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Common Rail Injection</a:t>
            </a:r>
            <a:endParaRPr sz="3600" dirty="0"/>
          </a:p>
        </p:txBody>
      </p:sp>
      <p:sp>
        <p:nvSpPr>
          <p:cNvPr id="145" name="Google Shape;145;p4"/>
          <p:cNvSpPr txBox="1">
            <a:spLocks noGrp="1"/>
          </p:cNvSpPr>
          <p:nvPr>
            <p:ph type="body" idx="1"/>
          </p:nvPr>
        </p:nvSpPr>
        <p:spPr>
          <a:xfrm>
            <a:off x="475042" y="1471261"/>
            <a:ext cx="7428881" cy="4620620"/>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1600" dirty="0"/>
              <a:t>A </a:t>
            </a:r>
            <a:r>
              <a:rPr lang="en-US" sz="1600" b="1" dirty="0"/>
              <a:t>common rail (CR) fuel system </a:t>
            </a:r>
            <a:r>
              <a:rPr lang="en-US" sz="1600" dirty="0"/>
              <a:t>is one that has a fuel rail that carries high-pressure fuel to the individual injectors.</a:t>
            </a:r>
          </a:p>
          <a:p>
            <a:pPr marL="357188" indent="-357188">
              <a:lnSpc>
                <a:spcPct val="107000"/>
              </a:lnSpc>
              <a:spcBef>
                <a:spcPts val="0"/>
              </a:spcBef>
            </a:pPr>
            <a:r>
              <a:rPr lang="en-US" sz="1600" dirty="0"/>
              <a:t>Since the injectors are electronically controlled, the pressurized fuel is immediately available at each injector. </a:t>
            </a:r>
          </a:p>
          <a:p>
            <a:pPr marL="357188" indent="-357188">
              <a:lnSpc>
                <a:spcPct val="107000"/>
              </a:lnSpc>
              <a:spcBef>
                <a:spcPts val="0"/>
              </a:spcBef>
            </a:pPr>
            <a:r>
              <a:rPr lang="en-US" sz="1600" dirty="0"/>
              <a:t>Each electrohydraulic injector (EHI) is switched open and closed by the PCM. </a:t>
            </a:r>
          </a:p>
          <a:p>
            <a:pPr marL="357188" indent="-357188">
              <a:lnSpc>
                <a:spcPct val="107000"/>
              </a:lnSpc>
              <a:spcBef>
                <a:spcPts val="0"/>
              </a:spcBef>
            </a:pPr>
            <a:r>
              <a:rPr lang="en-US" sz="1600" dirty="0"/>
              <a:t>Each fuel injector is positioned directly above the piston and is connected to the fuel rail by steel lines. </a:t>
            </a:r>
          </a:p>
          <a:p>
            <a:pPr marL="357188" indent="-357188">
              <a:lnSpc>
                <a:spcPct val="107000"/>
              </a:lnSpc>
              <a:spcBef>
                <a:spcPts val="0"/>
              </a:spcBef>
            </a:pPr>
            <a:r>
              <a:rPr lang="en-US" sz="1600" dirty="0"/>
              <a:t>Since 2010, nearly all “on the highway” diesel engines use CR fuel injection systems. </a:t>
            </a:r>
          </a:p>
          <a:p>
            <a:pPr marL="357188" indent="-357188">
              <a:lnSpc>
                <a:spcPct val="107000"/>
              </a:lnSpc>
              <a:spcBef>
                <a:spcPts val="0"/>
              </a:spcBef>
            </a:pPr>
            <a:r>
              <a:rPr lang="en-US" sz="1600" dirty="0"/>
              <a:t>The use of CR allows the engines to meet diesel emissions standards and fuel economy expectations. They also provide for: ● Lower engine noise levels ● Balanced engine cylinder pressures ● High injection pressures independent of engine speed ● The injectors can be switched on and off at high speeds and allow for as many as seven injection ‘‘events’’ during a single power stroke.</a:t>
            </a:r>
          </a:p>
        </p:txBody>
      </p:sp>
      <p:pic>
        <p:nvPicPr>
          <p:cNvPr id="8" name="Picture Placeholder 7" descr="A rail system for a four-cylinder engine with parts labeled from 1 to 9 as follows: 1.M A F sensor. 2. P C M. 3. High-pressure pump. 4. Common rail. 5. Injectors. 6. Crankshaft-speed sensor. 7. Coolant-temperature sensor. 8. Fuel filter. 9. Accelerator-pedal sensor.">
            <a:extLst>
              <a:ext uri="{FF2B5EF4-FFF2-40B4-BE49-F238E27FC236}">
                <a16:creationId xmlns:a16="http://schemas.microsoft.com/office/drawing/2014/main" id="{AE21FC0A-F960-64E7-E636-85652E6526F7}"/>
              </a:ext>
            </a:extLst>
          </p:cNvPr>
          <p:cNvPicPr>
            <a:picLocks noGrp="1" noChangeAspect="1"/>
          </p:cNvPicPr>
          <p:nvPr>
            <p:ph type="pic" sz="quarter" idx="13"/>
          </p:nvPr>
        </p:nvPicPr>
        <p:blipFill rotWithShape="1">
          <a:blip r:embed="rId3"/>
          <a:srcRect b="9330"/>
          <a:stretch/>
        </p:blipFill>
        <p:spPr>
          <a:xfrm>
            <a:off x="8026134" y="1817590"/>
            <a:ext cx="4011299" cy="3718914"/>
          </a:xfrm>
          <a:prstGeom prst="rect">
            <a:avLst/>
          </a:prstGeom>
        </p:spPr>
      </p:pic>
    </p:spTree>
    <p:extLst>
      <p:ext uri="{BB962C8B-B14F-4D97-AF65-F5344CB8AC3E}">
        <p14:creationId xmlns:p14="http://schemas.microsoft.com/office/powerpoint/2010/main" val="663879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Piezoelectric Injectors</a:t>
            </a:r>
            <a:endParaRPr sz="3600" dirty="0"/>
          </a:p>
        </p:txBody>
      </p:sp>
      <p:pic>
        <p:nvPicPr>
          <p:cNvPr id="8" name="Picture Placeholder 7" descr="A piezoelectric injector with its functions depicted as follows: Nozzle - The nozzle-determines the direction and quality of the fuel spray; Pintle - The pintle is the valve that opens and closes to control fuel delivery; Piezo Stack - When the electricity applied to the piezo stack cuts off, a spring closes the pintle; Piezoelectric Slice - The long stack of piezoelectric slices activates the injector; Passage near Piezoelectric Slice - This passage directs fuel to the injector pintle; Fuel Inlet - The fuel inlet is connected to the engine’s fuel rail.">
            <a:extLst>
              <a:ext uri="{FF2B5EF4-FFF2-40B4-BE49-F238E27FC236}">
                <a16:creationId xmlns:a16="http://schemas.microsoft.com/office/drawing/2014/main" id="{BA9E1FCA-EB2C-3A78-C4FD-D7DC2D86E358}"/>
              </a:ext>
            </a:extLst>
          </p:cNvPr>
          <p:cNvPicPr>
            <a:picLocks noGrp="1" noChangeAspect="1"/>
          </p:cNvPicPr>
          <p:nvPr>
            <p:ph type="pic" sz="quarter" idx="13"/>
          </p:nvPr>
        </p:nvPicPr>
        <p:blipFill rotWithShape="1">
          <a:blip r:embed="rId3"/>
          <a:srcRect b="5477"/>
          <a:stretch/>
        </p:blipFill>
        <p:spPr>
          <a:xfrm>
            <a:off x="980613" y="1706581"/>
            <a:ext cx="3228131" cy="4117837"/>
          </a:xfrm>
          <a:prstGeom prst="rect">
            <a:avLst/>
          </a:prstGeom>
        </p:spPr>
      </p:pic>
      <p:sp>
        <p:nvSpPr>
          <p:cNvPr id="145" name="Google Shape;145;p4"/>
          <p:cNvSpPr txBox="1">
            <a:spLocks noGrp="1"/>
          </p:cNvSpPr>
          <p:nvPr>
            <p:ph type="body" idx="1"/>
          </p:nvPr>
        </p:nvSpPr>
        <p:spPr>
          <a:xfrm>
            <a:off x="4922729" y="1471260"/>
            <a:ext cx="6794228" cy="4645335"/>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1800" b="1" dirty="0"/>
              <a:t>Piezoelectric injectors </a:t>
            </a:r>
            <a:r>
              <a:rPr lang="en-US" sz="1800" dirty="0"/>
              <a:t>operate in much the same way as solenoid injectors, except they do not rely on an electrical winding or coil.</a:t>
            </a:r>
          </a:p>
          <a:p>
            <a:pPr marL="357188" indent="-357188">
              <a:spcAft>
                <a:spcPts val="0"/>
              </a:spcAft>
            </a:pPr>
            <a:r>
              <a:rPr lang="en-US" sz="1800" dirty="0"/>
              <a:t>The injectors have no moving parts.</a:t>
            </a:r>
          </a:p>
          <a:p>
            <a:pPr marL="357188" indent="-357188">
              <a:spcAft>
                <a:spcPts val="0"/>
              </a:spcAft>
            </a:pPr>
            <a:r>
              <a:rPr lang="en-US" sz="1800" dirty="0"/>
              <a:t>Rather a piezo injector relies on many, very thin layers of piezoelectric crystal material stacked on each other at the orifice of the injector’s nozzle.</a:t>
            </a:r>
          </a:p>
          <a:p>
            <a:pPr marL="357188" indent="-357188">
              <a:spcAft>
                <a:spcPts val="0"/>
              </a:spcAft>
            </a:pPr>
            <a:r>
              <a:rPr lang="en-US" sz="1800" dirty="0"/>
              <a:t>When electricity is applied to the stack, it expands slightly (approximately 0.004 inches).</a:t>
            </a:r>
          </a:p>
          <a:p>
            <a:pPr marL="357188" indent="-357188">
              <a:spcAft>
                <a:spcPts val="0"/>
              </a:spcAft>
            </a:pPr>
            <a:r>
              <a:rPr lang="en-US" sz="1800" dirty="0"/>
              <a:t>The expansion, however, is enough to allow fuel to spray out of the nozzle.</a:t>
            </a:r>
          </a:p>
          <a:p>
            <a:pPr marL="357188" indent="-357188">
              <a:spcAft>
                <a:spcPts val="0"/>
              </a:spcAft>
            </a:pPr>
            <a:r>
              <a:rPr lang="en-US" sz="1800" dirty="0"/>
              <a:t>When no electricity is applied to the stack, fuel cannot leave the nozzle because the piezo layers are tightly jammed against each other and the pintle closes by the force of a return spring.</a:t>
            </a:r>
            <a:endParaRPr lang="en-US" sz="1400" dirty="0"/>
          </a:p>
        </p:txBody>
      </p:sp>
    </p:spTree>
    <p:extLst>
      <p:ext uri="{BB962C8B-B14F-4D97-AF65-F5344CB8AC3E}">
        <p14:creationId xmlns:p14="http://schemas.microsoft.com/office/powerpoint/2010/main" val="2273544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spcBef>
                <a:spcPts val="0"/>
              </a:spcBef>
              <a:spcAft>
                <a:spcPts val="0"/>
              </a:spcAft>
              <a:buChar char="•"/>
            </a:pPr>
            <a:r>
              <a:rPr lang="en-US" dirty="0"/>
              <a:t>Diesel fuel injection systems have changed a lot over the years coming from IDI and currently common rail with piezoelectric injectors.</a:t>
            </a:r>
            <a:endParaRPr dirty="0"/>
          </a:p>
          <a:p>
            <a:pPr marL="358775" lvl="0" indent="-358775" algn="l" rtl="0">
              <a:lnSpc>
                <a:spcPct val="100000"/>
              </a:lnSpc>
              <a:spcBef>
                <a:spcPts val="1800"/>
              </a:spcBef>
              <a:spcAft>
                <a:spcPts val="0"/>
              </a:spcAft>
              <a:buChar char="•"/>
            </a:pPr>
            <a:r>
              <a:rPr lang="en-US" dirty="0"/>
              <a:t>Have a class discussion about what changes have occurred and why you suspect they have occurred. What is the driving force?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Delivery</a:t>
            </a:r>
            <a:endParaRPr sz="3600" dirty="0"/>
          </a:p>
        </p:txBody>
      </p:sp>
      <p:sp>
        <p:nvSpPr>
          <p:cNvPr id="145" name="Google Shape;145;p4"/>
          <p:cNvSpPr txBox="1">
            <a:spLocks noGrp="1"/>
          </p:cNvSpPr>
          <p:nvPr>
            <p:ph type="body" idx="1"/>
          </p:nvPr>
        </p:nvSpPr>
        <p:spPr>
          <a:xfrm>
            <a:off x="475042" y="1471260"/>
            <a:ext cx="7359142" cy="4632977"/>
          </a:xfrm>
          <a:prstGeom prst="rect">
            <a:avLst/>
          </a:prstGeom>
          <a:noFill/>
          <a:ln>
            <a:noFill/>
          </a:ln>
        </p:spPr>
        <p:txBody>
          <a:bodyPr spcFirstLastPara="1" wrap="square" lIns="91425" tIns="45700" rIns="91425" bIns="45700" anchor="t" anchorCtr="0">
            <a:noAutofit/>
          </a:bodyPr>
          <a:lstStyle/>
          <a:p>
            <a:pPr marL="357188" indent="-357188"/>
            <a:r>
              <a:rPr lang="en-US" sz="1800" dirty="0"/>
              <a:t>The fuel tank for a diesel engine has a larger filler neck than those found on gasoline vehicles.</a:t>
            </a:r>
          </a:p>
          <a:p>
            <a:pPr marL="357188" indent="-357188"/>
            <a:r>
              <a:rPr lang="en-US" sz="1800" dirty="0"/>
              <a:t>This is one reason some consumers make the mistake of putting gasoline in their diesel tank.</a:t>
            </a:r>
          </a:p>
          <a:p>
            <a:pPr marL="357188" indent="-357188"/>
            <a:r>
              <a:rPr lang="en-US" sz="1800" dirty="0"/>
              <a:t>Also since diesel fuel is not as volatile as gasoline; the fuel tank is not fitted with evaporative emission control devices.</a:t>
            </a:r>
          </a:p>
          <a:p>
            <a:pPr marL="357188" indent="-357188"/>
            <a:r>
              <a:rPr lang="en-US" sz="1800" dirty="0"/>
              <a:t>The fuel in the tank is drawn out by an in-tank transfer pump.</a:t>
            </a:r>
          </a:p>
          <a:p>
            <a:pPr marL="357188" indent="-357188"/>
            <a:r>
              <a:rPr lang="en-US" sz="1800" dirty="0"/>
              <a:t>This pump is normally an electrically driven, low-pressure, high-volume pump.</a:t>
            </a:r>
          </a:p>
          <a:p>
            <a:pPr marL="357188" indent="-357188"/>
            <a:r>
              <a:rPr lang="en-US" sz="1800" dirty="0"/>
              <a:t>The pump may run continuously or cycled by the PCM.</a:t>
            </a:r>
          </a:p>
          <a:p>
            <a:pPr marL="357188" indent="-357188"/>
            <a:r>
              <a:rPr lang="en-US" sz="1800" dirty="0"/>
              <a:t>The purpose of the pump is to supply fuel to the injection pump.</a:t>
            </a:r>
            <a:endParaRPr lang="en-US" sz="1400" dirty="0"/>
          </a:p>
        </p:txBody>
      </p:sp>
      <p:pic>
        <p:nvPicPr>
          <p:cNvPr id="8" name="Picture Placeholder 7" descr="A fuel system for a V 8 diesel engine. The fuel system consists of two compartments labeled, engine compartment and vehicle components. In the vehicle component, the fuel filter is connected to the fuel delivery pressure sensor and pressure control valve and is further connected to high-pressure pump. There are five pressure control valves on the left and seven pressure control valves on the right of the pump. Four valves on either side are connected to injectors. The one valve on the left is connected to one valve on the right through the fuel pressure sensor. The two valves on the right are further connected to a high-pressure pump. A note below reads: High-pressure fuel system operating mode: 1. The high-pressure fuel system runs in P C V mode at start-up until a calibrated time and temperature have been met. 2. The thermal recirculation valve is fully open up to between 75–80 degrees Fahrenheit (24–27 degrees Celsius) and fully closed at 100 degrees Fahrenheit (38 degrees Celsius) when all fuel goes back to the tank.">
            <a:extLst>
              <a:ext uri="{FF2B5EF4-FFF2-40B4-BE49-F238E27FC236}">
                <a16:creationId xmlns:a16="http://schemas.microsoft.com/office/drawing/2014/main" id="{093AA629-F00C-F6CE-E916-B99BD014B4F9}"/>
              </a:ext>
            </a:extLst>
          </p:cNvPr>
          <p:cNvPicPr>
            <a:picLocks noGrp="1" noChangeAspect="1"/>
          </p:cNvPicPr>
          <p:nvPr>
            <p:ph type="pic" sz="quarter" idx="13"/>
          </p:nvPr>
        </p:nvPicPr>
        <p:blipFill rotWithShape="1">
          <a:blip r:embed="rId3"/>
          <a:srcRect b="3678"/>
          <a:stretch/>
        </p:blipFill>
        <p:spPr>
          <a:xfrm>
            <a:off x="8408728" y="1546652"/>
            <a:ext cx="2877224" cy="4440845"/>
          </a:xfrm>
          <a:prstGeom prst="rect">
            <a:avLst/>
          </a:prstGeom>
        </p:spPr>
      </p:pic>
    </p:spTree>
    <p:extLst>
      <p:ext uri="{BB962C8B-B14F-4D97-AF65-F5344CB8AC3E}">
        <p14:creationId xmlns:p14="http://schemas.microsoft.com/office/powerpoint/2010/main" val="4286890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Emission Controls</a:t>
            </a:r>
            <a:endParaRPr sz="3600" dirty="0"/>
          </a:p>
        </p:txBody>
      </p:sp>
      <p:sp>
        <p:nvSpPr>
          <p:cNvPr id="145" name="Google Shape;145;p4"/>
          <p:cNvSpPr txBox="1">
            <a:spLocks noGrp="1"/>
          </p:cNvSpPr>
          <p:nvPr>
            <p:ph type="body" idx="1"/>
          </p:nvPr>
        </p:nvSpPr>
        <p:spPr>
          <a:xfrm>
            <a:off x="475042" y="1471261"/>
            <a:ext cx="7680417" cy="4645334"/>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2000" b="1" dirty="0"/>
              <a:t>28.09 Describe the various techniques used to allow current diesel engines to meet emission standards.</a:t>
            </a:r>
            <a:endParaRPr lang="en-US" sz="2000" dirty="0"/>
          </a:p>
          <a:p>
            <a:pPr marL="357188" indent="-357188">
              <a:spcAft>
                <a:spcPts val="400"/>
              </a:spcAft>
            </a:pPr>
            <a:r>
              <a:rPr lang="en-US" sz="2000" dirty="0"/>
              <a:t>With new technologies (such as CR systems) and cleaner fuels, their emissions levels can be comparable to the best of gasoline engines.</a:t>
            </a:r>
          </a:p>
          <a:p>
            <a:pPr marL="357188" indent="-357188">
              <a:spcAft>
                <a:spcPts val="400"/>
              </a:spcAft>
            </a:pPr>
            <a:r>
              <a:rPr lang="en-US" sz="2000" dirty="0"/>
              <a:t>Today’s diesel engines must meet the same emissions standards as a gasoline engine.</a:t>
            </a:r>
          </a:p>
          <a:p>
            <a:pPr marL="357188" indent="-357188">
              <a:spcAft>
                <a:spcPts val="400"/>
              </a:spcAft>
            </a:pPr>
            <a:r>
              <a:rPr lang="en-US" sz="2000" dirty="0"/>
              <a:t>Diesel engines naturally emit high amounts of (PM) particulate matter (soot) and NOx emissions.</a:t>
            </a:r>
          </a:p>
          <a:p>
            <a:pPr marL="357188" indent="-357188">
              <a:spcAft>
                <a:spcPts val="400"/>
              </a:spcAft>
            </a:pPr>
            <a:r>
              <a:rPr lang="en-US" sz="2000" dirty="0"/>
              <a:t>To decrease these emissions, many new diesel vehicles have an assortment of catalysts and an EGR system to clean the exhaust before it leaves the tailpipe; others use Selective Catalytic Reduction (SCR) systems.</a:t>
            </a:r>
          </a:p>
        </p:txBody>
      </p:sp>
      <p:pic>
        <p:nvPicPr>
          <p:cNvPr id="8" name="Picture Placeholder 7" descr="A flow diagram depicts the flow of intake and exhaust gases for a diesel engine. Ambient air undergoing precleaner leads to the air filter that leads to the air management module, which in turn further leads to the impeller. The air from the impeller leads to charge air after the cooler which further leads to the E G R mixer and is finally fed to the intake manifold. The exhaust manifold connected to the turbine leads to a catalytic converter, diesel particulate filter, S C R, and Muffler. The muffler releases clean exhaust gas. E G R cooler is connected to E G R mixer that further leads to the intake manifold. The impeller and turbine are connected through a turbocharger that further leads to P C M which in turn further leads to the air management module, E G R cooler, air filter, diesel particulate filter, and S C R. D E F is directly connected to S C R.">
            <a:extLst>
              <a:ext uri="{FF2B5EF4-FFF2-40B4-BE49-F238E27FC236}">
                <a16:creationId xmlns:a16="http://schemas.microsoft.com/office/drawing/2014/main" id="{9B820EE0-7A30-2675-315C-5F3688D473F0}"/>
              </a:ext>
            </a:extLst>
          </p:cNvPr>
          <p:cNvPicPr>
            <a:picLocks noGrp="1" noChangeAspect="1"/>
          </p:cNvPicPr>
          <p:nvPr>
            <p:ph type="pic" sz="quarter" idx="13"/>
          </p:nvPr>
        </p:nvPicPr>
        <p:blipFill rotWithShape="1">
          <a:blip r:embed="rId3"/>
          <a:srcRect b="4346"/>
          <a:stretch/>
        </p:blipFill>
        <p:spPr>
          <a:xfrm>
            <a:off x="8294114" y="1803216"/>
            <a:ext cx="3422843" cy="3955046"/>
          </a:xfrm>
          <a:prstGeom prst="rect">
            <a:avLst/>
          </a:prstGeom>
        </p:spPr>
      </p:pic>
    </p:spTree>
    <p:extLst>
      <p:ext uri="{BB962C8B-B14F-4D97-AF65-F5344CB8AC3E}">
        <p14:creationId xmlns:p14="http://schemas.microsoft.com/office/powerpoint/2010/main" val="3586902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Exhaust Particulate Filter </a:t>
            </a:r>
            <a:endParaRPr sz="3600" dirty="0"/>
          </a:p>
        </p:txBody>
      </p:sp>
      <p:sp>
        <p:nvSpPr>
          <p:cNvPr id="145" name="Google Shape;145;p4"/>
          <p:cNvSpPr txBox="1">
            <a:spLocks noGrp="1"/>
          </p:cNvSpPr>
          <p:nvPr>
            <p:ph type="body" idx="1"/>
          </p:nvPr>
        </p:nvSpPr>
        <p:spPr>
          <a:xfrm>
            <a:off x="475043" y="1471260"/>
            <a:ext cx="7618634" cy="4719475"/>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1800" dirty="0">
                <a:solidFill>
                  <a:schemeClr val="tx1"/>
                </a:solidFill>
              </a:rPr>
              <a:t>The DPF needs to be periodically purged of particulates; known as regeneration.</a:t>
            </a:r>
          </a:p>
          <a:p>
            <a:pPr marL="357188" indent="-357188">
              <a:spcAft>
                <a:spcPts val="0"/>
              </a:spcAft>
            </a:pPr>
            <a:r>
              <a:rPr lang="en-US" sz="1800" dirty="0">
                <a:solidFill>
                  <a:schemeClr val="tx1"/>
                </a:solidFill>
              </a:rPr>
              <a:t>To do this, the PCM allows a measured amount of raw fuel to enter the filter which causes the temperature to increase.</a:t>
            </a:r>
          </a:p>
          <a:p>
            <a:pPr marL="357188" indent="-357188">
              <a:spcAft>
                <a:spcPts val="0"/>
              </a:spcAft>
            </a:pPr>
            <a:r>
              <a:rPr lang="en-US" sz="1800" dirty="0">
                <a:solidFill>
                  <a:schemeClr val="tx1"/>
                </a:solidFill>
              </a:rPr>
              <a:t>The heat then burns the trapped soot and the filter is regenerated.</a:t>
            </a:r>
          </a:p>
          <a:p>
            <a:pPr marL="357188" indent="-357188">
              <a:spcAft>
                <a:spcPts val="0"/>
              </a:spcAft>
            </a:pPr>
            <a:r>
              <a:rPr lang="en-US" sz="1800" dirty="0">
                <a:solidFill>
                  <a:schemeClr val="tx1"/>
                </a:solidFill>
              </a:rPr>
              <a:t>There are three types of regeneration (regen): passive, active, and manual.</a:t>
            </a:r>
          </a:p>
          <a:p>
            <a:pPr marL="357188" indent="-357188">
              <a:spcAft>
                <a:spcPts val="0"/>
              </a:spcAft>
            </a:pPr>
            <a:r>
              <a:rPr lang="en-US" sz="1800" dirty="0">
                <a:solidFill>
                  <a:schemeClr val="tx1"/>
                </a:solidFill>
              </a:rPr>
              <a:t>Passive regeneration takes place under normal operating conditions.</a:t>
            </a:r>
          </a:p>
          <a:p>
            <a:pPr marL="357188" indent="-357188">
              <a:spcAft>
                <a:spcPts val="0"/>
              </a:spcAft>
            </a:pPr>
            <a:r>
              <a:rPr lang="en-US" sz="1800" dirty="0">
                <a:solidFill>
                  <a:schemeClr val="tx1"/>
                </a:solidFill>
              </a:rPr>
              <a:t>Active regeneration occurs when the pressure sensors determine the DPF is restricted to the point of needing cleaned.</a:t>
            </a:r>
          </a:p>
          <a:p>
            <a:pPr marL="357188" indent="-357188">
              <a:spcAft>
                <a:spcPts val="0"/>
              </a:spcAft>
            </a:pPr>
            <a:r>
              <a:rPr lang="en-US" sz="1800" dirty="0">
                <a:solidFill>
                  <a:schemeClr val="tx1"/>
                </a:solidFill>
              </a:rPr>
              <a:t>A REGEN light will often illuminate on the instrument panel when this takes place.</a:t>
            </a:r>
          </a:p>
        </p:txBody>
      </p:sp>
      <p:pic>
        <p:nvPicPr>
          <p:cNvPr id="8" name="Picture Placeholder 7" descr="A regeneration warning light illuminates on the instrument panel display.">
            <a:extLst>
              <a:ext uri="{FF2B5EF4-FFF2-40B4-BE49-F238E27FC236}">
                <a16:creationId xmlns:a16="http://schemas.microsoft.com/office/drawing/2014/main" id="{11206695-B7C1-5518-3442-6D2E344840CC}"/>
              </a:ext>
            </a:extLst>
          </p:cNvPr>
          <p:cNvPicPr>
            <a:picLocks noGrp="1" noChangeAspect="1"/>
          </p:cNvPicPr>
          <p:nvPr>
            <p:ph type="pic" sz="quarter" idx="13"/>
          </p:nvPr>
        </p:nvPicPr>
        <p:blipFill rotWithShape="1">
          <a:blip r:embed="rId3"/>
          <a:srcRect b="11512"/>
          <a:stretch/>
        </p:blipFill>
        <p:spPr>
          <a:xfrm>
            <a:off x="8192472" y="2625103"/>
            <a:ext cx="3729037" cy="2410360"/>
          </a:xfrm>
          <a:prstGeom prst="rect">
            <a:avLst/>
          </a:prstGeom>
        </p:spPr>
      </p:pic>
    </p:spTree>
    <p:extLst>
      <p:ext uri="{BB962C8B-B14F-4D97-AF65-F5344CB8AC3E}">
        <p14:creationId xmlns:p14="http://schemas.microsoft.com/office/powerpoint/2010/main" val="760545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Selective Catalytic Reduction Systems</a:t>
            </a:r>
            <a:endParaRPr sz="3600" dirty="0"/>
          </a:p>
        </p:txBody>
      </p:sp>
      <p:sp>
        <p:nvSpPr>
          <p:cNvPr id="145" name="Google Shape;145;p4"/>
          <p:cNvSpPr txBox="1">
            <a:spLocks noGrp="1"/>
          </p:cNvSpPr>
          <p:nvPr>
            <p:ph type="body" idx="1"/>
          </p:nvPr>
        </p:nvSpPr>
        <p:spPr>
          <a:xfrm>
            <a:off x="475043" y="1471261"/>
            <a:ext cx="6965417" cy="4657690"/>
          </a:xfrm>
          <a:prstGeom prst="rect">
            <a:avLst/>
          </a:prstGeom>
          <a:noFill/>
          <a:ln>
            <a:noFill/>
          </a:ln>
        </p:spPr>
        <p:txBody>
          <a:bodyPr spcFirstLastPara="1" wrap="square" lIns="91425" tIns="45700" rIns="91425" bIns="45700" anchor="t" anchorCtr="0">
            <a:noAutofit/>
          </a:bodyPr>
          <a:lstStyle/>
          <a:p>
            <a:pPr marL="342900" indent="-342900">
              <a:spcAft>
                <a:spcPts val="0"/>
              </a:spcAft>
            </a:pPr>
            <a:r>
              <a:rPr lang="en-US" sz="1800" dirty="0"/>
              <a:t>The </a:t>
            </a:r>
            <a:r>
              <a:rPr lang="en-US" sz="1800" b="1" dirty="0"/>
              <a:t>selective catalytic reduction (SCR) </a:t>
            </a:r>
            <a:r>
              <a:rPr lang="en-US" sz="1800" dirty="0"/>
              <a:t>unit fits in the exhaust between the DOC and DPF.</a:t>
            </a:r>
          </a:p>
          <a:p>
            <a:pPr marL="342900" indent="-342900">
              <a:spcAft>
                <a:spcPts val="0"/>
              </a:spcAft>
            </a:pPr>
            <a:r>
              <a:rPr lang="en-US" sz="1800" dirty="0"/>
              <a:t>It reduces NOx emissions when a reductant is injected over the SCR catalyst.</a:t>
            </a:r>
          </a:p>
          <a:p>
            <a:pPr marL="357188" indent="-357188">
              <a:spcAft>
                <a:spcPts val="0"/>
              </a:spcAft>
            </a:pPr>
            <a:r>
              <a:rPr lang="en-US" sz="1800" dirty="0"/>
              <a:t>The use of an SCR breaks down NOx into water vapor and nitrogen (N2), thereby reducing the amount of EGR needed to greatly decrease NOx .</a:t>
            </a:r>
          </a:p>
          <a:p>
            <a:pPr marL="357188" indent="-357188">
              <a:spcAft>
                <a:spcPts val="0"/>
              </a:spcAft>
            </a:pPr>
            <a:r>
              <a:rPr lang="en-US" sz="1800" dirty="0"/>
              <a:t>In some cases, an SCR equipped engine does not need an EGR valve to meet emission standards.</a:t>
            </a:r>
          </a:p>
          <a:p>
            <a:pPr marL="357188" indent="-357188">
              <a:spcAft>
                <a:spcPts val="0"/>
              </a:spcAft>
            </a:pPr>
            <a:r>
              <a:rPr lang="en-US" sz="1800" dirty="0"/>
              <a:t>A </a:t>
            </a:r>
            <a:r>
              <a:rPr lang="en-US" sz="1800" b="1" dirty="0"/>
              <a:t>reductant</a:t>
            </a:r>
            <a:r>
              <a:rPr lang="en-US" sz="1800" dirty="0"/>
              <a:t>, also called a reducing agent, is a material that donates an electron to another material during the redox process.</a:t>
            </a:r>
          </a:p>
          <a:p>
            <a:pPr marL="357188" indent="-357188">
              <a:spcAft>
                <a:spcPts val="0"/>
              </a:spcAft>
            </a:pPr>
            <a:r>
              <a:rPr lang="en-US" sz="1800" dirty="0"/>
              <a:t>The common reductants used in SCR systems are ammonia and urea water solutions.</a:t>
            </a:r>
            <a:endParaRPr lang="en-US" sz="1100" dirty="0"/>
          </a:p>
        </p:txBody>
      </p:sp>
      <p:pic>
        <p:nvPicPr>
          <p:cNvPr id="8" name="Picture Placeholder 7" descr="A diesel engine with a dosing injector for after treatment system.">
            <a:extLst>
              <a:ext uri="{FF2B5EF4-FFF2-40B4-BE49-F238E27FC236}">
                <a16:creationId xmlns:a16="http://schemas.microsoft.com/office/drawing/2014/main" id="{E23CD16D-9F77-1173-B92D-0960406E9309}"/>
              </a:ext>
            </a:extLst>
          </p:cNvPr>
          <p:cNvPicPr>
            <a:picLocks noGrp="1" noChangeAspect="1"/>
          </p:cNvPicPr>
          <p:nvPr>
            <p:ph type="pic" sz="quarter" idx="11"/>
          </p:nvPr>
        </p:nvPicPr>
        <p:blipFill rotWithShape="1">
          <a:blip r:embed="rId3"/>
          <a:srcRect b="14181"/>
          <a:stretch/>
        </p:blipFill>
        <p:spPr>
          <a:xfrm>
            <a:off x="7440460" y="2302398"/>
            <a:ext cx="4497678" cy="2758118"/>
          </a:xfrm>
          <a:prstGeom prst="rect">
            <a:avLst/>
          </a:prstGeom>
        </p:spPr>
      </p:pic>
    </p:spTree>
    <p:extLst>
      <p:ext uri="{BB962C8B-B14F-4D97-AF65-F5344CB8AC3E}">
        <p14:creationId xmlns:p14="http://schemas.microsoft.com/office/powerpoint/2010/main" val="3425411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TDI Engines</a:t>
            </a:r>
            <a:endParaRPr sz="3600" dirty="0"/>
          </a:p>
        </p:txBody>
      </p:sp>
      <p:pic>
        <p:nvPicPr>
          <p:cNvPr id="8" name="Picture Placeholder 7" descr="Top view of a typical turbocharged direct injection engine made by Volkswagen.">
            <a:extLst>
              <a:ext uri="{FF2B5EF4-FFF2-40B4-BE49-F238E27FC236}">
                <a16:creationId xmlns:a16="http://schemas.microsoft.com/office/drawing/2014/main" id="{192A91C2-E0E3-522B-B14D-3EA011733D9B}"/>
              </a:ext>
            </a:extLst>
          </p:cNvPr>
          <p:cNvPicPr>
            <a:picLocks noGrp="1" noChangeAspect="1"/>
          </p:cNvPicPr>
          <p:nvPr>
            <p:ph type="pic" sz="quarter" idx="11"/>
          </p:nvPr>
        </p:nvPicPr>
        <p:blipFill rotWithShape="1">
          <a:blip r:embed="rId3"/>
          <a:srcRect b="11493"/>
          <a:stretch/>
        </p:blipFill>
        <p:spPr>
          <a:xfrm>
            <a:off x="475043" y="1836713"/>
            <a:ext cx="4380010" cy="3198750"/>
          </a:xfrm>
          <a:prstGeom prst="rect">
            <a:avLst/>
          </a:prstGeom>
        </p:spPr>
      </p:pic>
      <p:sp>
        <p:nvSpPr>
          <p:cNvPr id="145" name="Google Shape;145;p4"/>
          <p:cNvSpPr txBox="1">
            <a:spLocks noGrp="1"/>
          </p:cNvSpPr>
          <p:nvPr>
            <p:ph type="body" idx="1"/>
          </p:nvPr>
        </p:nvSpPr>
        <p:spPr>
          <a:xfrm>
            <a:off x="5135671" y="1471260"/>
            <a:ext cx="6581286" cy="4534123"/>
          </a:xfrm>
          <a:prstGeom prst="rect">
            <a:avLst/>
          </a:prstGeom>
          <a:noFill/>
          <a:ln>
            <a:noFill/>
          </a:ln>
        </p:spPr>
        <p:txBody>
          <a:bodyPr spcFirstLastPara="1" wrap="square" lIns="91425" tIns="45700" rIns="91425" bIns="45700" anchor="t" anchorCtr="0">
            <a:noAutofit/>
          </a:bodyPr>
          <a:lstStyle/>
          <a:p>
            <a:pPr marL="342900" indent="-342900"/>
            <a:r>
              <a:rPr lang="en-US" sz="2200" dirty="0"/>
              <a:t>Perhaps, the most common “clean” diesels are the </a:t>
            </a:r>
            <a:r>
              <a:rPr lang="en-US" sz="2200" b="1" dirty="0"/>
              <a:t>TDI</a:t>
            </a:r>
            <a:r>
              <a:rPr lang="en-US" sz="2200" dirty="0"/>
              <a:t> engines made by Audi and Volkswagen. </a:t>
            </a:r>
          </a:p>
          <a:p>
            <a:pPr marL="342900" indent="-342900"/>
            <a:r>
              <a:rPr lang="en-US" sz="2200" dirty="0"/>
              <a:t>There are other manufacturers, but Audi and VW seem to be the current dominant ones in North America.</a:t>
            </a:r>
          </a:p>
          <a:p>
            <a:pPr marL="342900" indent="-342900"/>
            <a:r>
              <a:rPr lang="en-US" sz="2200" dirty="0"/>
              <a:t>Both manufacturers (although they really are from the same corporation) use the same technologies.</a:t>
            </a:r>
          </a:p>
          <a:p>
            <a:pPr marL="342900" indent="-342900"/>
            <a:r>
              <a:rPr lang="en-US" sz="2200" dirty="0"/>
              <a:t>TDI (Turbocharged Direct Injection) is a design of diesel engines, which features turbocharging and direct fuel injection.</a:t>
            </a:r>
          </a:p>
        </p:txBody>
      </p:sp>
    </p:spTree>
    <p:extLst>
      <p:ext uri="{BB962C8B-B14F-4D97-AF65-F5344CB8AC3E}">
        <p14:creationId xmlns:p14="http://schemas.microsoft.com/office/powerpoint/2010/main" val="18383143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Diagnostics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1800" b="1" dirty="0"/>
              <a:t>28.10 Describe how to diagnose diesel fuel system concerns.</a:t>
            </a:r>
          </a:p>
          <a:p>
            <a:pPr marL="358775" indent="-358775">
              <a:spcAft>
                <a:spcPts val="0"/>
              </a:spcAft>
            </a:pPr>
            <a:r>
              <a:rPr lang="en-US" sz="1800" dirty="0"/>
              <a:t>In most cases, diesel engines can be diagnosed with a scan tool, as outputs; therefore, the data a scan tool retrieves is similar for both types of engines.</a:t>
            </a:r>
          </a:p>
          <a:p>
            <a:pPr marL="358775" indent="-358775">
              <a:spcAft>
                <a:spcPts val="0"/>
              </a:spcAft>
            </a:pPr>
            <a:r>
              <a:rPr lang="en-US" sz="1800" dirty="0"/>
              <a:t>The scan tool will also display the DTCs recorded by the system.</a:t>
            </a:r>
          </a:p>
          <a:p>
            <a:pPr marL="358775" indent="-358775">
              <a:spcAft>
                <a:spcPts val="0"/>
              </a:spcAft>
            </a:pPr>
            <a:r>
              <a:rPr lang="en-US" sz="1800" dirty="0"/>
              <a:t>Diagnostics for diesel control systems vary with the manufacturer.</a:t>
            </a:r>
          </a:p>
          <a:p>
            <a:pPr marL="358775" indent="-358775">
              <a:spcAft>
                <a:spcPts val="0"/>
              </a:spcAft>
            </a:pPr>
            <a:r>
              <a:rPr lang="en-US" sz="1800" dirty="0"/>
              <a:t>These checks are universal regardless of the manufacturer:</a:t>
            </a:r>
          </a:p>
          <a:p>
            <a:pPr marL="715963" lvl="1" indent="-357188">
              <a:spcAft>
                <a:spcPts val="0"/>
              </a:spcAft>
              <a:buFont typeface="Arial" panose="020B0604020202020204" pitchFamily="34" charset="0"/>
              <a:buChar char="–"/>
            </a:pPr>
            <a:r>
              <a:rPr lang="en-US" sz="1600" dirty="0"/>
              <a:t>Action of the solenoid and injectors</a:t>
            </a:r>
          </a:p>
          <a:p>
            <a:pPr marL="715963" lvl="1" indent="-357188">
              <a:spcAft>
                <a:spcPts val="0"/>
              </a:spcAft>
              <a:buFont typeface="Arial" panose="020B0604020202020204" pitchFamily="34" charset="0"/>
              <a:buChar char="–"/>
            </a:pPr>
            <a:r>
              <a:rPr lang="en-US" sz="1600" dirty="0"/>
              <a:t>The injection actuation pressure</a:t>
            </a:r>
          </a:p>
          <a:p>
            <a:pPr marL="715963" lvl="1" indent="-357188">
              <a:spcAft>
                <a:spcPts val="0"/>
              </a:spcAft>
              <a:buFont typeface="Arial" panose="020B0604020202020204" pitchFamily="34" charset="0"/>
              <a:buChar char="–"/>
            </a:pPr>
            <a:r>
              <a:rPr lang="en-US" sz="1600" dirty="0"/>
              <a:t>Active faults in the system</a:t>
            </a:r>
          </a:p>
          <a:p>
            <a:pPr marL="715963" lvl="1" indent="-357188">
              <a:spcAft>
                <a:spcPts val="0"/>
              </a:spcAft>
              <a:buFont typeface="Arial" panose="020B0604020202020204" pitchFamily="34" charset="0"/>
              <a:buChar char="–"/>
            </a:pPr>
            <a:r>
              <a:rPr lang="en-US" sz="1600" dirty="0"/>
              <a:t>Previous faults held in memory</a:t>
            </a:r>
          </a:p>
          <a:p>
            <a:pPr marL="358775" indent="-358775">
              <a:spcAft>
                <a:spcPts val="0"/>
              </a:spcAft>
            </a:pPr>
            <a:r>
              <a:rPr lang="en-US" sz="1800" dirty="0"/>
              <a:t>Common faults include hard starting, no-start, extended cranking before starting, and low power.</a:t>
            </a:r>
          </a:p>
          <a:p>
            <a:pPr marL="358775" indent="-358775">
              <a:spcAft>
                <a:spcPts val="0"/>
              </a:spcAft>
            </a:pPr>
            <a:r>
              <a:rPr lang="en-US" sz="1800" dirty="0"/>
              <a:t>Using a scan tool, check the sensor values to help pin down the source of the problem.</a:t>
            </a:r>
          </a:p>
        </p:txBody>
      </p:sp>
    </p:spTree>
    <p:extLst>
      <p:ext uri="{BB962C8B-B14F-4D97-AF65-F5344CB8AC3E}">
        <p14:creationId xmlns:p14="http://schemas.microsoft.com/office/powerpoint/2010/main" val="2058822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Diesel Exhaust Smoke Diagnosis</a:t>
            </a:r>
            <a:endParaRPr sz="3600" dirty="0"/>
          </a:p>
        </p:txBody>
      </p:sp>
      <p:sp>
        <p:nvSpPr>
          <p:cNvPr id="145" name="Google Shape;145;p4"/>
          <p:cNvSpPr txBox="1">
            <a:spLocks noGrp="1"/>
          </p:cNvSpPr>
          <p:nvPr>
            <p:ph type="body" idx="1"/>
          </p:nvPr>
        </p:nvSpPr>
        <p:spPr>
          <a:xfrm>
            <a:off x="475042" y="1446208"/>
            <a:ext cx="11241915" cy="4613339"/>
          </a:xfrm>
          <a:prstGeom prst="rect">
            <a:avLst/>
          </a:prstGeom>
          <a:noFill/>
          <a:ln>
            <a:noFill/>
          </a:ln>
        </p:spPr>
        <p:txBody>
          <a:bodyPr spcFirstLastPara="1" wrap="square" lIns="91425" tIns="45700" rIns="91425" bIns="45700" anchor="t" anchorCtr="0">
            <a:noAutofit/>
          </a:bodyPr>
          <a:lstStyle/>
          <a:p>
            <a:pPr marL="342900" indent="-342900">
              <a:spcAft>
                <a:spcPts val="0"/>
              </a:spcAft>
            </a:pPr>
            <a:r>
              <a:rPr lang="en-US" sz="2000" dirty="0"/>
              <a:t>Although some exhaust smoke is considered normal operation for most diesel engines, especially older ones, the cause of high emissions, visible emissions, and excessive smoke should be diagnosed and repaired.</a:t>
            </a:r>
          </a:p>
          <a:p>
            <a:pPr marL="357188" indent="-357188">
              <a:spcAft>
                <a:spcPts val="0"/>
              </a:spcAft>
            </a:pPr>
            <a:r>
              <a:rPr lang="en-US" sz="2000" dirty="0"/>
              <a:t>Basically, the exhaust emissions from a diesel engine can be described as a gas, liquid, or solid.</a:t>
            </a:r>
          </a:p>
          <a:p>
            <a:pPr marL="715963" lvl="1" indent="-357188">
              <a:spcAft>
                <a:spcPts val="0"/>
              </a:spcAft>
              <a:buFont typeface="Arial" panose="020B0604020202020204" pitchFamily="34" charset="0"/>
              <a:buChar char="–"/>
            </a:pPr>
            <a:r>
              <a:rPr lang="en-US" sz="1800" dirty="0"/>
              <a:t>Gaseous Emissions</a:t>
            </a:r>
          </a:p>
          <a:p>
            <a:pPr marL="1074738" lvl="2" indent="-358775">
              <a:spcAft>
                <a:spcPts val="0"/>
              </a:spcAft>
              <a:buSzPct val="100000"/>
            </a:pPr>
            <a:r>
              <a:rPr lang="en-US" sz="1600" dirty="0"/>
              <a:t>From the outside, a gaseous emission cannot be seen. However, it may contain many different undesirable elements, such as NOx , CO, and HC.</a:t>
            </a:r>
          </a:p>
          <a:p>
            <a:pPr marL="715963" lvl="1" indent="-357188">
              <a:spcAft>
                <a:spcPts val="0"/>
              </a:spcAft>
              <a:buFont typeface="Arial" panose="020B0604020202020204" pitchFamily="34" charset="0"/>
              <a:buChar char="–"/>
            </a:pPr>
            <a:r>
              <a:rPr lang="en-US" sz="1800" dirty="0"/>
              <a:t>Liquid Emissions</a:t>
            </a:r>
          </a:p>
          <a:p>
            <a:pPr marL="1074738" lvl="2" indent="-358775">
              <a:spcAft>
                <a:spcPts val="0"/>
              </a:spcAft>
              <a:buSzPct val="100000"/>
            </a:pPr>
            <a:r>
              <a:rPr lang="en-US" sz="1600" dirty="0"/>
              <a:t>Again, according to the eye, liquid emissions may only appear as a white to gray smoke. Gray or blue smoke is normally due to oil burning caused by worn piston rings, scored cylinder walls, or bad valve stem seals.</a:t>
            </a:r>
          </a:p>
          <a:p>
            <a:pPr marL="715963" lvl="1" indent="-357188">
              <a:spcAft>
                <a:spcPts val="0"/>
              </a:spcAft>
              <a:buFont typeface="Arial" panose="020B0604020202020204" pitchFamily="34" charset="0"/>
              <a:buChar char="–"/>
            </a:pPr>
            <a:r>
              <a:rPr lang="en-US" sz="1800" dirty="0"/>
              <a:t>Solid Emissions</a:t>
            </a:r>
          </a:p>
          <a:p>
            <a:pPr marL="1074738" lvl="2" indent="-358775">
              <a:spcAft>
                <a:spcPts val="0"/>
              </a:spcAft>
              <a:buSzPct val="100000"/>
            </a:pPr>
            <a:r>
              <a:rPr lang="en-US" sz="1600" dirty="0"/>
              <a:t>Normally, solid emissions appear as black soot, which is caused by incomplete combustion due to a lack of air or a fault in the injection system.</a:t>
            </a:r>
          </a:p>
        </p:txBody>
      </p:sp>
    </p:spTree>
    <p:extLst>
      <p:ext uri="{BB962C8B-B14F-4D97-AF65-F5344CB8AC3E}">
        <p14:creationId xmlns:p14="http://schemas.microsoft.com/office/powerpoint/2010/main" val="543901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Cylinder Balance Test</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400" dirty="0"/>
              <a:t>One way to conduct a cylinder balance test on early (non-computer-controlled) diesel engines is to measure the resistance of the glow plugs after the engine has run for a while.</a:t>
            </a:r>
          </a:p>
          <a:p>
            <a:pPr marL="358775" indent="-358775"/>
            <a:r>
              <a:rPr lang="en-US" sz="2400" dirty="0"/>
              <a:t>Remember that the heating element of the glow plugs increases in resistance as their temperature increases.</a:t>
            </a:r>
          </a:p>
          <a:p>
            <a:pPr marL="358775" indent="-358775"/>
            <a:r>
              <a:rPr lang="en-US" sz="2400" dirty="0"/>
              <a:t>Therefore, all glow plugs should have about the same amount of resistance when checked with an ohmmeter before the engine has been started and after the engine has been started and ran.</a:t>
            </a:r>
          </a:p>
          <a:p>
            <a:pPr marL="358775" indent="-358775"/>
            <a:r>
              <a:rPr lang="en-US" sz="2400" dirty="0"/>
              <a:t>By looking at the resistance of the glow plugs, you may be able to identify a weak cylinder.</a:t>
            </a:r>
          </a:p>
        </p:txBody>
      </p:sp>
    </p:spTree>
    <p:extLst>
      <p:ext uri="{BB962C8B-B14F-4D97-AF65-F5344CB8AC3E}">
        <p14:creationId xmlns:p14="http://schemas.microsoft.com/office/powerpoint/2010/main" val="2965316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A vehicle that is emitting blue/gray smoke would indicate what condition?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A0F5AD3C-B82F-C4C7-C3C5-B2AB00B220F6}"/>
              </a:ext>
            </a:extLst>
          </p:cNvPr>
          <p:cNvSpPr>
            <a:spLocks noGrp="1"/>
          </p:cNvSpPr>
          <p:nvPr>
            <p:ph type="body" idx="1"/>
          </p:nvPr>
        </p:nvSpPr>
        <p:spPr/>
        <p:txBody>
          <a:bodyPr/>
          <a:lstStyle/>
          <a:p>
            <a:r>
              <a:rPr lang="en-US" dirty="0"/>
              <a:t>Gray or blue smoke is normally due to oil burning caused by worn piston rings, scored cylinder walls, or bad valve stem seals.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compare your understanding of gasoline, diesel, and other fuels. Then respond to the following questions in one or two paragraphs. Use 150–200 words in your reflection.</a:t>
            </a:r>
            <a:endParaRPr dirty="0"/>
          </a:p>
          <a:p>
            <a:pPr marL="360363" lvl="0" indent="-360363" algn="l" rtl="0">
              <a:lnSpc>
                <a:spcPct val="100000"/>
              </a:lnSpc>
              <a:buFont typeface="Arial"/>
              <a:buChar char="•"/>
            </a:pPr>
            <a:r>
              <a:rPr lang="en-US" dirty="0"/>
              <a:t>Was there any difficult to understand concepts in this chapter? What will you do to gain a better understanding of these concepts?</a:t>
            </a:r>
            <a:endParaRPr dirty="0"/>
          </a:p>
          <a:p>
            <a:pPr marL="360363" lvl="0" indent="-360363" algn="l" rtl="0">
              <a:lnSpc>
                <a:spcPct val="100000"/>
              </a:lnSpc>
              <a:buFont typeface="Arial"/>
              <a:buChar char="•"/>
            </a:pPr>
            <a:r>
              <a:rPr lang="en-US" dirty="0"/>
              <a:t>Considering all you have learned, do you feel you are prepared to perform basic diagnosis of the fuel systems as described in this chapter? How can you become more prepared?</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10884</TotalTime>
  <Words>4537</Words>
  <Application>Microsoft Office PowerPoint</Application>
  <PresentationFormat>Widescreen</PresentationFormat>
  <Paragraphs>322</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Calibri</vt:lpstr>
      <vt:lpstr>Work Sans</vt:lpstr>
      <vt:lpstr>Arial</vt:lpstr>
      <vt:lpstr>Optimized Template Master</vt:lpstr>
      <vt:lpstr>Automotive Technology: A Systems Approach, 8e</vt:lpstr>
      <vt:lpstr>Chapter Objectives (1 of 2)  </vt:lpstr>
      <vt:lpstr>Chapter Objectives (2 of 2)  </vt:lpstr>
      <vt:lpstr>Crude Oil</vt:lpstr>
      <vt:lpstr>Petroleum Products </vt:lpstr>
      <vt:lpstr>Hydrocarbons</vt:lpstr>
      <vt:lpstr>Refining</vt:lpstr>
      <vt:lpstr>Gasoline</vt:lpstr>
      <vt:lpstr>Antiknock Quality</vt:lpstr>
      <vt:lpstr>Volatility</vt:lpstr>
      <vt:lpstr>Basic Gasoline Additives</vt:lpstr>
      <vt:lpstr>Oxygenates (1 of 2)</vt:lpstr>
      <vt:lpstr>Oxygenates (2 of 2)</vt:lpstr>
      <vt:lpstr>Gasoline Quality Testing</vt:lpstr>
      <vt:lpstr>Alternatives to Gasoline</vt:lpstr>
      <vt:lpstr>Alternative Fuels</vt:lpstr>
      <vt:lpstr>Ethanol</vt:lpstr>
      <vt:lpstr>Hydrogen</vt:lpstr>
      <vt:lpstr>Flex Fuel Vehicles</vt:lpstr>
      <vt:lpstr>Knowledge Check (1 of 2)</vt:lpstr>
      <vt:lpstr>Knowledge Check Answer (1 of 2)</vt:lpstr>
      <vt:lpstr>Diesel Fuel (1 of 3)</vt:lpstr>
      <vt:lpstr>Diesel Fuel (2 of 3)</vt:lpstr>
      <vt:lpstr>Diesel Fuel (3 of 3)</vt:lpstr>
      <vt:lpstr>Diesel Engines</vt:lpstr>
      <vt:lpstr>Diesel Fuel Injection</vt:lpstr>
      <vt:lpstr>Electronic Unit Injection (EUI)</vt:lpstr>
      <vt:lpstr>Hydraulic Electronic Unit Injection (HEUI)</vt:lpstr>
      <vt:lpstr>Common Rail Injection</vt:lpstr>
      <vt:lpstr>Piezoelectric Injectors</vt:lpstr>
      <vt:lpstr>Discussion</vt:lpstr>
      <vt:lpstr>Fuel Delivery</vt:lpstr>
      <vt:lpstr>Diesel Emission Controls</vt:lpstr>
      <vt:lpstr>Diesel Exhaust Particulate Filter </vt:lpstr>
      <vt:lpstr>Selective Catalytic Reduction Systems</vt:lpstr>
      <vt:lpstr>TDI Engines</vt:lpstr>
      <vt:lpstr>Diagnostics</vt:lpstr>
      <vt:lpstr>Diesel Exhaust Smoke Diagnosis</vt:lpstr>
      <vt:lpstr>Cylinder Balance Test</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DiCaterino, Kara</cp:lastModifiedBy>
  <cp:revision>241</cp:revision>
  <dcterms:created xsi:type="dcterms:W3CDTF">2021-12-10T16:21:02Z</dcterms:created>
  <dcterms:modified xsi:type="dcterms:W3CDTF">2024-11-21T15:42:39Z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