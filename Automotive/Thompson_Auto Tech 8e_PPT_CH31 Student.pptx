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350" r:id="rId2"/>
    <p:sldId id="257" r:id="rId3"/>
    <p:sldId id="461" r:id="rId4"/>
    <p:sldId id="462" r:id="rId5"/>
    <p:sldId id="463" r:id="rId6"/>
    <p:sldId id="465" r:id="rId7"/>
    <p:sldId id="466" r:id="rId8"/>
    <p:sldId id="467" r:id="rId9"/>
    <p:sldId id="468" r:id="rId10"/>
    <p:sldId id="470" r:id="rId11"/>
    <p:sldId id="469" r:id="rId12"/>
    <p:sldId id="471" r:id="rId13"/>
    <p:sldId id="472" r:id="rId14"/>
    <p:sldId id="284" r:id="rId15"/>
    <p:sldId id="285" r:id="rId16"/>
    <p:sldId id="473" r:id="rId17"/>
    <p:sldId id="475" r:id="rId18"/>
    <p:sldId id="474" r:id="rId19"/>
    <p:sldId id="476" r:id="rId20"/>
    <p:sldId id="477" r:id="rId21"/>
    <p:sldId id="478" r:id="rId22"/>
    <p:sldId id="276" r:id="rId23"/>
    <p:sldId id="479" r:id="rId24"/>
    <p:sldId id="480" r:id="rId25"/>
    <p:sldId id="481" r:id="rId26"/>
    <p:sldId id="482" r:id="rId27"/>
    <p:sldId id="483" r:id="rId28"/>
    <p:sldId id="484" r:id="rId29"/>
    <p:sldId id="486" r:id="rId30"/>
    <p:sldId id="293" r:id="rId31"/>
    <p:sldId id="294" r:id="rId32"/>
    <p:sldId id="301" r:id="rId33"/>
  </p:sldIdLst>
  <p:sldSz cx="12192000" cy="6858000"/>
  <p:notesSz cx="6858000" cy="9144000"/>
  <p:embeddedFontLst>
    <p:embeddedFont>
      <p:font typeface="Work Sans"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81101" autoAdjust="0"/>
  </p:normalViewPr>
  <p:slideViewPr>
    <p:cSldViewPr snapToGrid="0">
      <p:cViewPr varScale="1">
        <p:scale>
          <a:sx n="48" d="100"/>
          <a:sy n="48" d="100"/>
        </p:scale>
        <p:origin x="332" y="32"/>
      </p:cViewPr>
      <p:guideLst>
        <p:guide orient="horz" pos="2160"/>
        <p:guide pos="3840"/>
      </p:guideLst>
    </p:cSldViewPr>
  </p:slideViewPr>
  <p:outlineViewPr>
    <p:cViewPr>
      <p:scale>
        <a:sx n="33" d="100"/>
        <a:sy n="33" d="100"/>
      </p:scale>
      <p:origin x="0" y="-3038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412554501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1983897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201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9501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28895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84522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3496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4841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2688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74156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3977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11700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dirty="0"/>
          </a:p>
        </p:txBody>
      </p:sp>
    </p:spTree>
    <p:extLst>
      <p:ext uri="{BB962C8B-B14F-4D97-AF65-F5344CB8AC3E}">
        <p14:creationId xmlns:p14="http://schemas.microsoft.com/office/powerpoint/2010/main" val="3927243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dirty="0"/>
          </a:p>
        </p:txBody>
      </p:sp>
    </p:spTree>
    <p:extLst>
      <p:ext uri="{BB962C8B-B14F-4D97-AF65-F5344CB8AC3E}">
        <p14:creationId xmlns:p14="http://schemas.microsoft.com/office/powerpoint/2010/main" val="1580789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81233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58013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9749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41901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28027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807848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dirty="0"/>
          </a:p>
        </p:txBody>
      </p:sp>
    </p:spTree>
    <p:extLst>
      <p:ext uri="{BB962C8B-B14F-4D97-AF65-F5344CB8AC3E}">
        <p14:creationId xmlns:p14="http://schemas.microsoft.com/office/powerpoint/2010/main" val="3798170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5990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6698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3035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4103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07258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46144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9164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dirty="0"/>
          </a:p>
        </p:txBody>
      </p:sp>
    </p:spTree>
    <p:extLst>
      <p:ext uri="{BB962C8B-B14F-4D97-AF65-F5344CB8AC3E}">
        <p14:creationId xmlns:p14="http://schemas.microsoft.com/office/powerpoint/2010/main" val="34719330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dirty="0"/>
          </a:p>
        </p:txBody>
      </p:sp>
    </p:spTree>
    <p:extLst>
      <p:ext uri="{BB962C8B-B14F-4D97-AF65-F5344CB8AC3E}">
        <p14:creationId xmlns:p14="http://schemas.microsoft.com/office/powerpoint/2010/main" val="3838587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dirty="0"/>
          </a:p>
        </p:txBody>
      </p:sp>
    </p:spTree>
    <p:extLst>
      <p:ext uri="{BB962C8B-B14F-4D97-AF65-F5344CB8AC3E}">
        <p14:creationId xmlns:p14="http://schemas.microsoft.com/office/powerpoint/2010/main" val="3560480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697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5"/>
            <a:ext cx="11241915" cy="4589526"/>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ts val="2800"/>
              <a:buChar char="•"/>
              <a:defRPr sz="2600"/>
            </a:lvl1pPr>
            <a:lvl2pPr marL="714375" lvl="1" indent="-352425" algn="l">
              <a:lnSpc>
                <a:spcPct val="100000"/>
              </a:lnSpc>
              <a:spcBef>
                <a:spcPts val="624"/>
              </a:spcBef>
              <a:spcAft>
                <a:spcPts val="600"/>
              </a:spcAft>
              <a:buSzPts val="2600"/>
              <a:buFont typeface="Arial" panose="020B0604020202020204" pitchFamily="34" charset="0"/>
              <a:buChar char="–"/>
              <a:defRPr sz="2600" b="0"/>
            </a:lvl2pPr>
            <a:lvl3pPr marL="1076325" lvl="2" indent="-361950"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697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5"/>
            <a:ext cx="11241915" cy="2617850"/>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ts val="2800"/>
              <a:buChar char="•"/>
              <a:defRPr sz="2600"/>
            </a:lvl1pPr>
            <a:lvl2pPr marL="714375" lvl="1" indent="-352425" algn="l">
              <a:lnSpc>
                <a:spcPct val="100000"/>
              </a:lnSpc>
              <a:spcBef>
                <a:spcPts val="624"/>
              </a:spcBef>
              <a:spcAft>
                <a:spcPts val="600"/>
              </a:spcAft>
              <a:buSzPts val="2600"/>
              <a:buFont typeface="Arial" panose="020B0604020202020204" pitchFamily="34" charset="0"/>
              <a:buChar char="–"/>
              <a:defRPr sz="2600" b="0"/>
            </a:lvl2pPr>
            <a:lvl3pPr marL="1076325" lvl="2" indent="-361950"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dirty="0"/>
          </a:p>
          <a:p>
            <a:pPr lvl="1"/>
            <a:endParaRPr lang="en-IN" dirty="0"/>
          </a:p>
          <a:p>
            <a:pPr lvl="2"/>
            <a:endParaRPr dirty="0"/>
          </a:p>
        </p:txBody>
      </p:sp>
      <p:sp>
        <p:nvSpPr>
          <p:cNvPr id="3" name="Content Placeholder 2">
            <a:extLst>
              <a:ext uri="{FF2B5EF4-FFF2-40B4-BE49-F238E27FC236}">
                <a16:creationId xmlns:a16="http://schemas.microsoft.com/office/drawing/2014/main" id="{2062ED6F-E9D3-5211-F5BA-B25F7D96652D}"/>
              </a:ext>
            </a:extLst>
          </p:cNvPr>
          <p:cNvSpPr>
            <a:spLocks noGrp="1"/>
          </p:cNvSpPr>
          <p:nvPr>
            <p:ph sz="quarter" idx="10"/>
          </p:nvPr>
        </p:nvSpPr>
        <p:spPr>
          <a:xfrm>
            <a:off x="971550" y="469582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5F2E58C4-7DA2-BC1E-DF74-0E33FF33434D}"/>
              </a:ext>
            </a:extLst>
          </p:cNvPr>
          <p:cNvSpPr>
            <a:spLocks noGrp="1"/>
          </p:cNvSpPr>
          <p:nvPr>
            <p:ph sz="quarter" idx="11"/>
          </p:nvPr>
        </p:nvSpPr>
        <p:spPr>
          <a:xfrm>
            <a:off x="2609850" y="45720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49D7E436-550E-363B-7252-1293D733DA00}"/>
              </a:ext>
            </a:extLst>
          </p:cNvPr>
          <p:cNvSpPr>
            <a:spLocks noGrp="1"/>
          </p:cNvSpPr>
          <p:nvPr>
            <p:ph type="pic" sz="quarter" idx="12"/>
          </p:nvPr>
        </p:nvSpPr>
        <p:spPr>
          <a:xfrm>
            <a:off x="4314825" y="4581525"/>
            <a:ext cx="914400" cy="914400"/>
          </a:xfrm>
        </p:spPr>
        <p:txBody>
          <a:bodyPr/>
          <a:lstStyle/>
          <a:p>
            <a:endParaRPr lang="en-IN"/>
          </a:p>
        </p:txBody>
      </p:sp>
      <p:sp>
        <p:nvSpPr>
          <p:cNvPr id="11" name="Picture Placeholder 10">
            <a:extLst>
              <a:ext uri="{FF2B5EF4-FFF2-40B4-BE49-F238E27FC236}">
                <a16:creationId xmlns:a16="http://schemas.microsoft.com/office/drawing/2014/main" id="{8C5652D9-21B8-6CF0-3F9A-7D43EFC46429}"/>
              </a:ext>
            </a:extLst>
          </p:cNvPr>
          <p:cNvSpPr>
            <a:spLocks noGrp="1"/>
          </p:cNvSpPr>
          <p:nvPr>
            <p:ph type="pic" sz="quarter" idx="13"/>
          </p:nvPr>
        </p:nvSpPr>
        <p:spPr>
          <a:xfrm>
            <a:off x="5695950" y="4581525"/>
            <a:ext cx="914400" cy="914400"/>
          </a:xfrm>
        </p:spPr>
        <p:txBody>
          <a:bodyPr/>
          <a:lstStyle/>
          <a:p>
            <a:endParaRPr lang="en-IN"/>
          </a:p>
        </p:txBody>
      </p:sp>
      <p:sp>
        <p:nvSpPr>
          <p:cNvPr id="13" name="Table Placeholder 12">
            <a:extLst>
              <a:ext uri="{FF2B5EF4-FFF2-40B4-BE49-F238E27FC236}">
                <a16:creationId xmlns:a16="http://schemas.microsoft.com/office/drawing/2014/main" id="{9A967D21-8EAC-BA67-FB49-95841586A8CD}"/>
              </a:ext>
            </a:extLst>
          </p:cNvPr>
          <p:cNvSpPr>
            <a:spLocks noGrp="1"/>
          </p:cNvSpPr>
          <p:nvPr>
            <p:ph type="tbl" sz="quarter" idx="14"/>
          </p:nvPr>
        </p:nvSpPr>
        <p:spPr>
          <a:xfrm>
            <a:off x="7553325" y="4572000"/>
            <a:ext cx="914400" cy="914400"/>
          </a:xfrm>
        </p:spPr>
        <p:txBody>
          <a:bodyPr/>
          <a:lstStyle/>
          <a:p>
            <a:endParaRPr lang="en-IN"/>
          </a:p>
        </p:txBody>
      </p:sp>
    </p:spTree>
    <p:extLst>
      <p:ext uri="{BB962C8B-B14F-4D97-AF65-F5344CB8AC3E}">
        <p14:creationId xmlns:p14="http://schemas.microsoft.com/office/powerpoint/2010/main" val="4071530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433078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DF26F903-7612-B5E4-9242-7EAEAC06AB40}"/>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31: Fuel Injection System Diagnosis and Service </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dirty="0"/>
              <a:t>31.01 Perform a preliminary inspection on a fuel injection system.</a:t>
            </a:r>
          </a:p>
          <a:p>
            <a:pPr marL="357188" marR="0" lvl="0" indent="-357188" algn="l" rtl="0">
              <a:buSzPct val="100000"/>
              <a:buChar char="•"/>
            </a:pPr>
            <a:r>
              <a:rPr lang="en-US" dirty="0"/>
              <a:t>31.02 Perform checks of the fuel injection system and related components.</a:t>
            </a:r>
          </a:p>
          <a:p>
            <a:pPr marL="357188" marR="0" lvl="0" indent="-357188" algn="l" rtl="0">
              <a:buSzPct val="100000"/>
              <a:buChar char="•"/>
            </a:pPr>
            <a:r>
              <a:rPr lang="en-US" dirty="0"/>
              <a:t>31.03 Service the fuel injection system.</a:t>
            </a:r>
          </a:p>
          <a:p>
            <a:pPr marL="357188" marR="0" lvl="0" indent="-357188" algn="l" rtl="0">
              <a:buSzPct val="100000"/>
              <a:buChar char="•"/>
            </a:pPr>
            <a:r>
              <a:rPr lang="en-US" dirty="0"/>
              <a:t>31.04 Inspect and service fuel rails, injectors, and regulators.</a:t>
            </a:r>
          </a:p>
          <a:p>
            <a:pPr marL="357188" marR="0" lvl="0" indent="-357188" algn="l" rtl="0">
              <a:buSzPct val="100000"/>
              <a:buChar char="•"/>
            </a:pPr>
            <a:r>
              <a:rPr lang="en-US" dirty="0"/>
              <a:t>31.05 Inspect and service electronic throttle body assemblies.</a:t>
            </a:r>
          </a:p>
          <a:p>
            <a:pPr marL="357188" marR="0" lvl="0" indent="-357188" algn="l" rtl="0">
              <a:buSzPct val="100000"/>
              <a:buChar char="•"/>
            </a:pPr>
            <a:r>
              <a:rPr lang="en-US" dirty="0"/>
              <a:t>31.06 Diagnose causes of improper idle speed on vehicles with fuel injection.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Preliminary Checks </a:t>
            </a:r>
            <a:endParaRPr sz="3600" dirty="0"/>
          </a:p>
        </p:txBody>
      </p:sp>
      <p:sp>
        <p:nvSpPr>
          <p:cNvPr id="145" name="Google Shape;145;p4"/>
          <p:cNvSpPr txBox="1">
            <a:spLocks noGrp="1"/>
          </p:cNvSpPr>
          <p:nvPr>
            <p:ph type="body" idx="1"/>
          </p:nvPr>
        </p:nvSpPr>
        <p:spPr>
          <a:xfrm>
            <a:off x="476844" y="1563624"/>
            <a:ext cx="7369697" cy="4602397"/>
          </a:xfrm>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t>31.01 Perform a preliminary inspection on a fuel injection system.</a:t>
            </a:r>
          </a:p>
          <a:p>
            <a:pPr marL="358775" indent="-358775">
              <a:spcAft>
                <a:spcPts val="0"/>
              </a:spcAft>
              <a:buSzPct val="100000"/>
            </a:pPr>
            <a:r>
              <a:rPr lang="en-US" sz="2000" dirty="0"/>
              <a:t>Before conducting any tests on the injection and engine control systems, be certain of the following:</a:t>
            </a:r>
          </a:p>
          <a:p>
            <a:pPr marL="715963" lvl="1" indent="-357188">
              <a:spcAft>
                <a:spcPts val="0"/>
              </a:spcAft>
              <a:buSzPct val="100000"/>
            </a:pPr>
            <a:r>
              <a:rPr lang="en-US" sz="1800" dirty="0"/>
              <a:t>The battery is fully charged, with clean terminals and connections.</a:t>
            </a:r>
          </a:p>
          <a:p>
            <a:pPr marL="715963" lvl="1" indent="-357188">
              <a:spcAft>
                <a:spcPts val="0"/>
              </a:spcAft>
              <a:buSzPct val="100000"/>
            </a:pPr>
            <a:r>
              <a:rPr lang="en-US" sz="1800" dirty="0"/>
              <a:t>The charging and starting systems are operating properly.</a:t>
            </a:r>
          </a:p>
          <a:p>
            <a:pPr marL="715963" lvl="1" indent="-357188">
              <a:spcAft>
                <a:spcPts val="0"/>
              </a:spcAft>
              <a:buSzPct val="100000"/>
            </a:pPr>
            <a:r>
              <a:rPr lang="en-US" sz="1800" dirty="0"/>
              <a:t>All fuses and fusible links are intact.</a:t>
            </a:r>
          </a:p>
          <a:p>
            <a:pPr marL="715963" lvl="1" indent="-357188">
              <a:spcAft>
                <a:spcPts val="0"/>
              </a:spcAft>
              <a:buSzPct val="100000"/>
            </a:pPr>
            <a:r>
              <a:rPr lang="en-US" sz="1800" dirty="0"/>
              <a:t>All electrical harnesses are routed properly and their connectors and terminals are free of corrosion and tight.</a:t>
            </a:r>
          </a:p>
          <a:p>
            <a:pPr marL="715963" lvl="1" indent="-357188">
              <a:spcAft>
                <a:spcPts val="0"/>
              </a:spcAft>
              <a:buSzPct val="100000"/>
            </a:pPr>
            <a:r>
              <a:rPr lang="en-US" sz="1800" dirty="0"/>
              <a:t>The MIL is working properly.</a:t>
            </a:r>
          </a:p>
          <a:p>
            <a:pPr marL="715963" lvl="1" indent="-357188">
              <a:spcAft>
                <a:spcPts val="0"/>
              </a:spcAft>
              <a:buSzPct val="100000"/>
            </a:pPr>
            <a:r>
              <a:rPr lang="en-US" sz="1800" dirty="0"/>
              <a:t>All vacuum lines are in good condition, properly routed, and attached.</a:t>
            </a:r>
            <a:endParaRPr lang="en-US" sz="1400" dirty="0"/>
          </a:p>
        </p:txBody>
      </p:sp>
      <p:pic>
        <p:nvPicPr>
          <p:cNvPr id="8" name="Picture Placeholder 7" descr="A technician carefully inspects the under-hood wiring of an engine control system.">
            <a:extLst>
              <a:ext uri="{FF2B5EF4-FFF2-40B4-BE49-F238E27FC236}">
                <a16:creationId xmlns:a16="http://schemas.microsoft.com/office/drawing/2014/main" id="{35C065C2-D296-7494-A605-BFC0AE69B329}"/>
              </a:ext>
            </a:extLst>
          </p:cNvPr>
          <p:cNvPicPr>
            <a:picLocks noGrp="1" noChangeAspect="1"/>
          </p:cNvPicPr>
          <p:nvPr>
            <p:ph type="pic" sz="quarter" idx="13"/>
          </p:nvPr>
        </p:nvPicPr>
        <p:blipFill rotWithShape="1">
          <a:blip r:embed="rId3"/>
          <a:srcRect l="11331" b="11132"/>
          <a:stretch/>
        </p:blipFill>
        <p:spPr>
          <a:xfrm>
            <a:off x="8163339" y="1928668"/>
            <a:ext cx="3806820" cy="3902289"/>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Basic EFI System Checks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1600" b="1" dirty="0"/>
              <a:t>31.02 Perform checks of the fuel injection system and related components.</a:t>
            </a:r>
            <a:endParaRPr lang="en-US" sz="1600" dirty="0"/>
          </a:p>
          <a:p>
            <a:pPr marL="357188" indent="-357188">
              <a:buSzPct val="100000"/>
            </a:pPr>
            <a:r>
              <a:rPr lang="en-US" sz="1600" dirty="0"/>
              <a:t>Diagnosis should begin with a check of the MIL; if it stays on or is flashing, the PCM has detected a problem and has set a DTC.</a:t>
            </a:r>
          </a:p>
          <a:p>
            <a:pPr marL="357188" indent="-357188">
              <a:buSzPct val="100000"/>
            </a:pPr>
            <a:r>
              <a:rPr lang="en-US" sz="1600" dirty="0"/>
              <a:t>A flashing MIL indicates a catalyst-damaging misfire is occurring.</a:t>
            </a:r>
          </a:p>
          <a:p>
            <a:pPr marL="357188" indent="-357188">
              <a:buSzPct val="100000"/>
            </a:pPr>
            <a:r>
              <a:rPr lang="en-US" sz="1600" dirty="0"/>
              <a:t>The absence of a DTC does not mean that the system is operating normally.</a:t>
            </a:r>
          </a:p>
          <a:p>
            <a:pPr marL="357188" indent="-357188">
              <a:buSzPct val="100000"/>
            </a:pPr>
            <a:r>
              <a:rPr lang="en-US" sz="1600" dirty="0"/>
              <a:t>A DTC is set only when the PCM sees values that are outside a range or would affect emissions.</a:t>
            </a:r>
          </a:p>
          <a:p>
            <a:pPr marL="357188" indent="-357188">
              <a:buSzPct val="100000"/>
            </a:pPr>
            <a:r>
              <a:rPr lang="en-US" sz="1600" dirty="0"/>
              <a:t>Connect a scan tool to the vehicle and retrieve any DTCs.</a:t>
            </a:r>
          </a:p>
          <a:p>
            <a:pPr marL="357188" indent="-357188">
              <a:buSzPct val="100000"/>
            </a:pPr>
            <a:r>
              <a:rPr lang="en-US" sz="1600" dirty="0"/>
              <a:t>You should also check the conditions of the OBD II monitors.</a:t>
            </a:r>
          </a:p>
          <a:p>
            <a:pPr marL="357188" indent="-357188">
              <a:buSzPct val="100000"/>
            </a:pPr>
            <a:r>
              <a:rPr lang="en-US" sz="1600" dirty="0"/>
              <a:t>Monitors that have not run or did not pass can provide clues to solving the concern.</a:t>
            </a:r>
          </a:p>
          <a:p>
            <a:pPr marL="357188" indent="-357188">
              <a:buSzPct val="100000"/>
            </a:pPr>
            <a:r>
              <a:rPr lang="en-US" sz="1600" dirty="0"/>
              <a:t>Use the manufacturer’s recommended test sequences for identifying the cause of the DTC Many fuel injection problems set a fuel trim-related DTC.</a:t>
            </a:r>
          </a:p>
          <a:p>
            <a:pPr marL="357188" indent="-357188">
              <a:buSzPct val="100000"/>
            </a:pPr>
            <a:r>
              <a:rPr lang="en-US" sz="1600" dirty="0"/>
              <a:t>Fuel trim should be observed whether or not a DTC was set.</a:t>
            </a:r>
          </a:p>
        </p:txBody>
      </p:sp>
    </p:spTree>
    <p:extLst>
      <p:ext uri="{BB962C8B-B14F-4D97-AF65-F5344CB8AC3E}">
        <p14:creationId xmlns:p14="http://schemas.microsoft.com/office/powerpoint/2010/main" val="2819163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Trim</a:t>
            </a:r>
            <a:endParaRPr sz="3600" dirty="0"/>
          </a:p>
        </p:txBody>
      </p:sp>
      <p:sp>
        <p:nvSpPr>
          <p:cNvPr id="145" name="Google Shape;145;p4"/>
          <p:cNvSpPr txBox="1">
            <a:spLocks noGrp="1"/>
          </p:cNvSpPr>
          <p:nvPr>
            <p:ph type="body" idx="1"/>
          </p:nvPr>
        </p:nvSpPr>
        <p:spPr>
          <a:xfrm>
            <a:off x="476843" y="1563625"/>
            <a:ext cx="6714789" cy="4367618"/>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2000" dirty="0">
                <a:solidFill>
                  <a:schemeClr val="accent1"/>
                </a:solidFill>
              </a:rPr>
              <a:t>The fuel injection system can provide limited corrections for changes in conditions.</a:t>
            </a:r>
          </a:p>
          <a:p>
            <a:pPr marL="357188" indent="-357188">
              <a:buSzPct val="100000"/>
            </a:pPr>
            <a:r>
              <a:rPr lang="en-US" sz="2000" dirty="0">
                <a:solidFill>
                  <a:schemeClr val="accent1"/>
                </a:solidFill>
              </a:rPr>
              <a:t>The fuel system monitor tracks the amount of these corrections.</a:t>
            </a:r>
          </a:p>
          <a:p>
            <a:pPr marL="357188" indent="-357188">
              <a:buSzPct val="100000"/>
            </a:pPr>
            <a:r>
              <a:rPr lang="en-US" sz="2000" dirty="0">
                <a:solidFill>
                  <a:schemeClr val="accent1"/>
                </a:solidFill>
              </a:rPr>
              <a:t>The corrections to base or programmed injection pulse width and timing are called short-term fuel trim (STFT) and long-term fuel trim (LTFT).</a:t>
            </a:r>
          </a:p>
          <a:p>
            <a:pPr marL="357188" indent="-357188">
              <a:buSzPct val="100000"/>
            </a:pPr>
            <a:r>
              <a:rPr lang="en-US" sz="2000" dirty="0">
                <a:solidFill>
                  <a:schemeClr val="accent1"/>
                </a:solidFill>
              </a:rPr>
              <a:t>Fuel trim may also be displayed as equivalency ration (EQ RAT) or as lambda.</a:t>
            </a:r>
          </a:p>
          <a:p>
            <a:pPr marL="357188" indent="-357188">
              <a:buSzPct val="100000"/>
            </a:pPr>
            <a:r>
              <a:rPr lang="en-US" sz="2000" dirty="0">
                <a:solidFill>
                  <a:schemeClr val="accent1"/>
                </a:solidFill>
              </a:rPr>
              <a:t>The fuel trim monitor is a continuous monitor that looks at the sum of the STFT and LTFT to assess its ability to control the air–fuel ratio.</a:t>
            </a:r>
          </a:p>
        </p:txBody>
      </p:sp>
      <p:pic>
        <p:nvPicPr>
          <p:cNvPr id="8" name="Picture Placeholder 7" descr="A screenshot depicts the lists of Fuel trim and other D T C s for Chevrolet 1981- 2010. The list is as follows: Line 1. P 1174 blank space Fuel Trim Cylinder Balance B 1 (Symptom 00); Line 2. P 1400 blank space Cold start emission reduction control system ( system 00); Line 3. P 2270 blank space B 1 S 2 Sensor Lean/ Rich Switch Signal Malfunction ( symptom 00); Line 4. P 2271 blank space B 1 S 1 Sensor Rich/ Lean Switch Signal Malfunction (Symptom 00); Line 5. P 2 A 00 blank space H O 2 S Ckt Closed Loop Perf B 1 S 1 (symptom 00); Line 6. U 0 121 blank space No C A N B u s C O M with A B S/ T C/ E S P/C C (Symptom 00). The last line is highlighted. Four blank check boxes 1, 2, 3, and 4 are at the bottom.">
            <a:extLst>
              <a:ext uri="{FF2B5EF4-FFF2-40B4-BE49-F238E27FC236}">
                <a16:creationId xmlns:a16="http://schemas.microsoft.com/office/drawing/2014/main" id="{116EF001-EE55-CF6C-392D-C7F5B2BD7624}"/>
              </a:ext>
            </a:extLst>
          </p:cNvPr>
          <p:cNvPicPr>
            <a:picLocks noGrp="1" noChangeAspect="1"/>
          </p:cNvPicPr>
          <p:nvPr>
            <p:ph type="pic" sz="quarter" idx="13"/>
          </p:nvPr>
        </p:nvPicPr>
        <p:blipFill rotWithShape="1">
          <a:blip r:embed="rId3"/>
          <a:srcRect b="9121"/>
          <a:stretch/>
        </p:blipFill>
        <p:spPr>
          <a:xfrm>
            <a:off x="7450400" y="2070470"/>
            <a:ext cx="4297249" cy="3164139"/>
          </a:xfrm>
          <a:prstGeom prst="rect">
            <a:avLst/>
          </a:prstGeom>
        </p:spPr>
      </p:pic>
    </p:spTree>
    <p:extLst>
      <p:ext uri="{BB962C8B-B14F-4D97-AF65-F5344CB8AC3E}">
        <p14:creationId xmlns:p14="http://schemas.microsoft.com/office/powerpoint/2010/main" val="264526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Oxygen Sensor Diagnosis</a:t>
            </a:r>
            <a:endParaRPr sz="3600" dirty="0"/>
          </a:p>
        </p:txBody>
      </p:sp>
      <p:sp>
        <p:nvSpPr>
          <p:cNvPr id="145" name="Google Shape;145;p4"/>
          <p:cNvSpPr txBox="1">
            <a:spLocks noGrp="1"/>
          </p:cNvSpPr>
          <p:nvPr>
            <p:ph type="body" idx="1"/>
          </p:nvPr>
        </p:nvSpPr>
        <p:spPr>
          <a:xfrm>
            <a:off x="476844" y="1563625"/>
            <a:ext cx="6863070" cy="4491186"/>
          </a:xfrm>
          <a:prstGeom prst="rect">
            <a:avLst/>
          </a:prstGeom>
          <a:noFill/>
          <a:ln>
            <a:noFill/>
          </a:ln>
        </p:spPr>
        <p:txBody>
          <a:bodyPr spcFirstLastPara="1" wrap="square" lIns="91425" tIns="45700" rIns="91425" bIns="45700" anchor="t" anchorCtr="0">
            <a:noAutofit/>
          </a:bodyPr>
          <a:lstStyle/>
          <a:p>
            <a:pPr marL="358775" indent="-358775">
              <a:buSzPct val="100000"/>
            </a:pPr>
            <a:r>
              <a:rPr lang="en-US" sz="1800" dirty="0"/>
              <a:t>The activity of an O</a:t>
            </a:r>
            <a:r>
              <a:rPr lang="en-US" sz="1800" baseline="-25000" dirty="0"/>
              <a:t>2</a:t>
            </a:r>
            <a:r>
              <a:rPr lang="en-US" sz="1800" dirty="0"/>
              <a:t> sensor can be monitored with a lab scope.</a:t>
            </a:r>
          </a:p>
          <a:p>
            <a:pPr marL="358775" indent="-358775">
              <a:buSzPct val="100000"/>
            </a:pPr>
            <a:r>
              <a:rPr lang="en-US" sz="1800" dirty="0"/>
              <a:t>The scope is connected to the sensor in the same way as a voltmeter.</a:t>
            </a:r>
          </a:p>
          <a:p>
            <a:pPr marL="358775" indent="-358775">
              <a:buSzPct val="100000"/>
            </a:pPr>
            <a:r>
              <a:rPr lang="en-US" sz="1800" dirty="0"/>
              <a:t>The switching of the sensor should be seen as the sensor signal goes to lean to rich to lean continuously.</a:t>
            </a:r>
          </a:p>
          <a:p>
            <a:pPr marL="358775" indent="-358775">
              <a:buSzPct val="100000"/>
            </a:pPr>
            <a:r>
              <a:rPr lang="en-US" sz="1800" dirty="0"/>
              <a:t>If the pattern toggles at high voltages, there is a rich condition.</a:t>
            </a:r>
          </a:p>
          <a:p>
            <a:pPr marL="358775" indent="-358775">
              <a:buSzPct val="100000"/>
            </a:pPr>
            <a:r>
              <a:rPr lang="en-US" sz="1800" dirty="0"/>
              <a:t>With a lean mixture, the pattern will toggle at low voltages.</a:t>
            </a:r>
          </a:p>
          <a:p>
            <a:pPr marL="358775" indent="-358775">
              <a:buSzPct val="100000"/>
            </a:pPr>
            <a:r>
              <a:rPr lang="en-US" sz="1800" dirty="0"/>
              <a:t>The activity of the sensor can typically be monitored on a scan tool.</a:t>
            </a:r>
          </a:p>
        </p:txBody>
      </p:sp>
      <p:pic>
        <p:nvPicPr>
          <p:cNvPr id="8" name="Picture Placeholder 7" descr="A screenshot depicts the lists of Fuel trim and O_2 Sensor data for Chevrolet 1981- 2010. The list is as follows: Line 1. S T TRIM (%) blank space 0; Line 2. L T TRIM (%) blank space 1; Line 3. FUEL TRIM LEARN blank space ENABLED; Line 4. F T CELL blank space 6; Line 5. F T SYSTEM TEST STATE blank space MONITORING; Line 6. S T F T T S T A V G blank space 1.02; Line 7. L T F T T S T A V G blank space 1.01; Line 8. L T F T T S T A V G w/ o PURGE blank space 1.03; Line 9. LOOP STATUS blank space CLOSED; Line 10. H O_2 S 1 (m V) blank space 795; Line 11. H O_2 S 2 (m V) blank space 785. Four blank check boxes 1, 2, 3, and 4, are at the bottom.">
            <a:extLst>
              <a:ext uri="{FF2B5EF4-FFF2-40B4-BE49-F238E27FC236}">
                <a16:creationId xmlns:a16="http://schemas.microsoft.com/office/drawing/2014/main" id="{4C915DC0-23E2-FE4A-1800-487AE745E846}"/>
              </a:ext>
            </a:extLst>
          </p:cNvPr>
          <p:cNvPicPr>
            <a:picLocks noGrp="1" noChangeAspect="1"/>
          </p:cNvPicPr>
          <p:nvPr>
            <p:ph type="pic" sz="quarter" idx="13"/>
          </p:nvPr>
        </p:nvPicPr>
        <p:blipFill rotWithShape="1">
          <a:blip r:embed="rId3"/>
          <a:srcRect b="6611"/>
          <a:stretch/>
        </p:blipFill>
        <p:spPr>
          <a:xfrm>
            <a:off x="7529466" y="2218237"/>
            <a:ext cx="4185689" cy="3056369"/>
          </a:xfrm>
          <a:prstGeom prst="rect">
            <a:avLst/>
          </a:prstGeom>
        </p:spPr>
      </p:pic>
    </p:spTree>
    <p:extLst>
      <p:ext uri="{BB962C8B-B14F-4D97-AF65-F5344CB8AC3E}">
        <p14:creationId xmlns:p14="http://schemas.microsoft.com/office/powerpoint/2010/main" val="2370455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A/F Sensors</a:t>
            </a:r>
            <a:endParaRPr sz="3600" dirty="0"/>
          </a:p>
        </p:txBody>
      </p:sp>
      <p:pic>
        <p:nvPicPr>
          <p:cNvPr id="8" name="Picture Placeholder 7" descr="A screenshot depicts the list of data from air-fuel ratio sensors for Honda/ Acura 1983- 2012. The Emission Data list is as follows: Line 1. A F F B C M D B 1 blank space 0.99; Line 2. A F F B C M D B 2 blank space 0.99; Line 3. A F Sensor B 1 Impedance (Ohm) blank space 74.0; Line 4. A F Sensor B 1 Mode blank space Active mode; Line 5. A F Sensor B 1 Pump Cell blank space 3.30; Line 6. A F Sensor B 1 Voltage Supply blank space 3.50; Line 7. A F Sensor B 1 V S Sell Signal blank space 4.00; Line 8. A F Sensor B 1 (m A) blank space 0.12; Line 9. A F Sensor B 2 Impedance blank space 74.0; Line 10. A F Sensor B 2 Mode blank space Active Mode; Line 11. A F Sensor B 2 Pump Cell blank space 3.50; Four blank check boxes 1, 2, 3, and 4, are at the bottom.">
            <a:extLst>
              <a:ext uri="{FF2B5EF4-FFF2-40B4-BE49-F238E27FC236}">
                <a16:creationId xmlns:a16="http://schemas.microsoft.com/office/drawing/2014/main" id="{B5D7E4A2-BCEB-6067-4365-8910071AB287}"/>
              </a:ext>
            </a:extLst>
          </p:cNvPr>
          <p:cNvPicPr>
            <a:picLocks noGrp="1" noChangeAspect="1"/>
          </p:cNvPicPr>
          <p:nvPr>
            <p:ph type="pic" sz="quarter" idx="13"/>
          </p:nvPr>
        </p:nvPicPr>
        <p:blipFill rotWithShape="1">
          <a:blip r:embed="rId3"/>
          <a:srcRect b="10570"/>
          <a:stretch/>
        </p:blipFill>
        <p:spPr>
          <a:xfrm>
            <a:off x="473242" y="1911459"/>
            <a:ext cx="4714488" cy="3442420"/>
          </a:xfrm>
          <a:prstGeom prst="rect">
            <a:avLst/>
          </a:prstGeom>
        </p:spPr>
      </p:pic>
      <p:sp>
        <p:nvSpPr>
          <p:cNvPr id="145" name="Google Shape;145;p4"/>
          <p:cNvSpPr txBox="1">
            <a:spLocks noGrp="1"/>
          </p:cNvSpPr>
          <p:nvPr>
            <p:ph type="body" idx="1"/>
          </p:nvPr>
        </p:nvSpPr>
        <p:spPr>
          <a:xfrm>
            <a:off x="5486400" y="1563625"/>
            <a:ext cx="6232358" cy="4429402"/>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1800" dirty="0">
                <a:solidFill>
                  <a:schemeClr val="tx1"/>
                </a:solidFill>
              </a:rPr>
              <a:t>The signals from air–fuel ratio sensors are different from those of a conventional O</a:t>
            </a:r>
            <a:r>
              <a:rPr lang="en-US" sz="1800" baseline="-25000" dirty="0">
                <a:solidFill>
                  <a:schemeClr val="tx1"/>
                </a:solidFill>
              </a:rPr>
              <a:t>2</a:t>
            </a:r>
            <a:r>
              <a:rPr lang="en-US" sz="1800" dirty="0">
                <a:solidFill>
                  <a:schemeClr val="tx1"/>
                </a:solidFill>
              </a:rPr>
              <a:t> sensor.</a:t>
            </a:r>
          </a:p>
          <a:p>
            <a:pPr marL="342900" indent="-342900">
              <a:buSzPct val="100000"/>
            </a:pPr>
            <a:r>
              <a:rPr lang="en-US" sz="1800" dirty="0">
                <a:solidFill>
                  <a:schemeClr val="tx1"/>
                </a:solidFill>
              </a:rPr>
              <a:t>This is because A/F sensors produce a current that is interpreted by the PCM.</a:t>
            </a:r>
          </a:p>
          <a:p>
            <a:pPr marL="342900" indent="-342900">
              <a:buSzPct val="100000"/>
            </a:pPr>
            <a:r>
              <a:rPr lang="en-US" sz="1800" dirty="0">
                <a:solidFill>
                  <a:schemeClr val="tx1"/>
                </a:solidFill>
              </a:rPr>
              <a:t>Reading A/F sensor data may be possible using generic OBD II data or you may need to use EOBD data depending on the scan tool being used.</a:t>
            </a:r>
          </a:p>
          <a:p>
            <a:pPr marL="342900" indent="-342900">
              <a:buSzPct val="100000"/>
            </a:pPr>
            <a:r>
              <a:rPr lang="en-US" sz="1800" dirty="0">
                <a:solidFill>
                  <a:schemeClr val="tx1"/>
                </a:solidFill>
              </a:rPr>
              <a:t>When some of these sensors are looked at with an OBD II generic scan tool, the voltage range will appear the same as a conventional O</a:t>
            </a:r>
            <a:r>
              <a:rPr lang="en-US" sz="1800" baseline="-25000" dirty="0">
                <a:solidFill>
                  <a:schemeClr val="tx1"/>
                </a:solidFill>
              </a:rPr>
              <a:t>2</a:t>
            </a:r>
            <a:r>
              <a:rPr lang="en-US" sz="1800" dirty="0">
                <a:solidFill>
                  <a:schemeClr val="tx1"/>
                </a:solidFill>
              </a:rPr>
              <a:t> sensor, 0 to 1 volt.</a:t>
            </a:r>
          </a:p>
          <a:p>
            <a:pPr marL="342900" indent="-342900">
              <a:buSzPct val="100000"/>
            </a:pPr>
            <a:r>
              <a:rPr lang="en-US" sz="1800" dirty="0">
                <a:solidFill>
                  <a:schemeClr val="tx1"/>
                </a:solidFill>
              </a:rPr>
              <a:t>Because an A/F sensor operates differently, the normal toggling of the voltage does not appear.</a:t>
            </a:r>
            <a:endParaRPr lang="en-US" sz="1400" dirty="0">
              <a:solidFill>
                <a:schemeClr val="tx1"/>
              </a:solidFill>
            </a:endParaRPr>
          </a:p>
        </p:txBody>
      </p:sp>
    </p:spTree>
    <p:extLst>
      <p:ext uri="{BB962C8B-B14F-4D97-AF65-F5344CB8AC3E}">
        <p14:creationId xmlns:p14="http://schemas.microsoft.com/office/powerpoint/2010/main" val="816751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Air Induction System Checks</a:t>
            </a:r>
            <a:endParaRPr sz="3600" dirty="0"/>
          </a:p>
        </p:txBody>
      </p:sp>
      <p:sp>
        <p:nvSpPr>
          <p:cNvPr id="145" name="Google Shape;145;p4"/>
          <p:cNvSpPr txBox="1">
            <a:spLocks noGrp="1"/>
          </p:cNvSpPr>
          <p:nvPr>
            <p:ph type="body" idx="1"/>
          </p:nvPr>
        </p:nvSpPr>
        <p:spPr>
          <a:xfrm>
            <a:off x="476844" y="1563625"/>
            <a:ext cx="7053298" cy="4478830"/>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1800" dirty="0"/>
              <a:t>In a fuel injection system (particularly designs that rely on airflow meters or mass airflow sensors), all the air entering the engine must be accounted for by the air measuring device.</a:t>
            </a:r>
          </a:p>
          <a:p>
            <a:pPr marL="342900" indent="-342900">
              <a:buSzPct val="100000"/>
            </a:pPr>
            <a:r>
              <a:rPr lang="en-US" sz="1800" dirty="0"/>
              <a:t>If it is not, the air–fuel ratio becomes overly lean.</a:t>
            </a:r>
          </a:p>
          <a:p>
            <a:pPr marL="342900" indent="-342900">
              <a:buSzPct val="100000"/>
            </a:pPr>
            <a:r>
              <a:rPr lang="en-US" sz="1800" dirty="0"/>
              <a:t>During a visual inspection of the air control system, pay close attention to these areas, looking for cracked or deteriorated ductwork.</a:t>
            </a:r>
          </a:p>
          <a:p>
            <a:pPr marL="342900" indent="-342900">
              <a:buSzPct val="100000"/>
            </a:pPr>
            <a:r>
              <a:rPr lang="en-US" sz="1800" dirty="0"/>
              <a:t>Check in between the ribs of induction hoses for cracks.</a:t>
            </a:r>
          </a:p>
          <a:p>
            <a:pPr marL="342900" indent="-342900">
              <a:buSzPct val="100000"/>
            </a:pPr>
            <a:r>
              <a:rPr lang="en-US" sz="1800" dirty="0"/>
              <a:t>Small cracks in these areas may only cause a problem as the engine moves during operation.</a:t>
            </a:r>
          </a:p>
          <a:p>
            <a:pPr marL="342900" indent="-342900">
              <a:buSzPct val="100000"/>
            </a:pPr>
            <a:r>
              <a:rPr lang="en-US" sz="1800" dirty="0"/>
              <a:t>Also make sure that all induction hose clamps are tight and properly sealed.</a:t>
            </a:r>
          </a:p>
        </p:txBody>
      </p:sp>
      <p:pic>
        <p:nvPicPr>
          <p:cNvPr id="8" name="Picture Placeholder 7" descr="Close up view of a crack in between the ribs of the induction hose of an air induction system.">
            <a:extLst>
              <a:ext uri="{FF2B5EF4-FFF2-40B4-BE49-F238E27FC236}">
                <a16:creationId xmlns:a16="http://schemas.microsoft.com/office/drawing/2014/main" id="{20685ECF-234D-808C-3E99-F477628D0409}"/>
              </a:ext>
            </a:extLst>
          </p:cNvPr>
          <p:cNvPicPr>
            <a:picLocks noGrp="1" noChangeAspect="1"/>
          </p:cNvPicPr>
          <p:nvPr>
            <p:ph type="pic" sz="quarter" idx="13"/>
          </p:nvPr>
        </p:nvPicPr>
        <p:blipFill rotWithShape="1">
          <a:blip r:embed="rId3"/>
          <a:srcRect l="8391" b="14605"/>
          <a:stretch/>
        </p:blipFill>
        <p:spPr>
          <a:xfrm>
            <a:off x="7832034" y="2082496"/>
            <a:ext cx="3988077" cy="2979835"/>
          </a:xfrm>
          <a:prstGeom prst="rect">
            <a:avLst/>
          </a:prstGeom>
        </p:spPr>
      </p:pic>
    </p:spTree>
    <p:extLst>
      <p:ext uri="{BB962C8B-B14F-4D97-AF65-F5344CB8AC3E}">
        <p14:creationId xmlns:p14="http://schemas.microsoft.com/office/powerpoint/2010/main" val="10993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Airflow Sensors</a:t>
            </a:r>
            <a:endParaRPr sz="3600" dirty="0"/>
          </a:p>
        </p:txBody>
      </p:sp>
      <p:sp>
        <p:nvSpPr>
          <p:cNvPr id="145" name="Google Shape;145;p4"/>
          <p:cNvSpPr txBox="1">
            <a:spLocks noGrp="1"/>
          </p:cNvSpPr>
          <p:nvPr>
            <p:ph type="body" idx="1"/>
          </p:nvPr>
        </p:nvSpPr>
        <p:spPr>
          <a:xfrm>
            <a:off x="476845" y="1563624"/>
            <a:ext cx="6937209" cy="4305835"/>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2000" dirty="0"/>
              <a:t>Mass Airflow Sensors</a:t>
            </a:r>
          </a:p>
          <a:p>
            <a:pPr marL="715963" lvl="1" indent="-357188">
              <a:buSzPct val="100000"/>
            </a:pPr>
            <a:r>
              <a:rPr lang="en-US" sz="1800" dirty="0"/>
              <a:t>MAF sensors measure intake air before it reaches the throttle plate.</a:t>
            </a:r>
          </a:p>
          <a:p>
            <a:pPr marL="715963" lvl="1" indent="-357188">
              <a:buSzPct val="100000"/>
            </a:pPr>
            <a:r>
              <a:rPr lang="en-US" sz="1800" dirty="0"/>
              <a:t>If any air bypasses the sensor and enters the combustion chambers without being measured, the engine will run lean.</a:t>
            </a:r>
          </a:p>
          <a:p>
            <a:pPr marL="715963" lvl="1" indent="-357188">
              <a:buSzPct val="100000"/>
            </a:pPr>
            <a:r>
              <a:rPr lang="en-US" sz="1800" dirty="0"/>
              <a:t>A vacuum leak or a leak between the MAF and throttle plate will also reduce fuel delivery.</a:t>
            </a:r>
          </a:p>
          <a:p>
            <a:pPr marL="715963" lvl="1" indent="-357188">
              <a:buSzPct val="100000"/>
            </a:pPr>
            <a:r>
              <a:rPr lang="en-US" sz="1800" dirty="0"/>
              <a:t>The resulting lean mixture will cause the PCM to store DTCs indicating excessive fuel corrections and/or lean misfires.</a:t>
            </a:r>
          </a:p>
          <a:p>
            <a:pPr marL="715963" lvl="1" indent="-357188">
              <a:buSzPct val="100000"/>
            </a:pPr>
            <a:r>
              <a:rPr lang="en-US" sz="1800" dirty="0"/>
              <a:t>The action of a MAF can be observed on a lab scope.</a:t>
            </a:r>
          </a:p>
        </p:txBody>
      </p:sp>
      <p:pic>
        <p:nvPicPr>
          <p:cNvPr id="8" name="Picture Placeholder 7" descr="A screenshot depicts data graphs of the A/ F ratio sensor, r p m, and M A F sensors depicting how they simultaneously change acceleration and deceleration. Four curves representing B 1 S 1 Wide Band O 2 Sensor 2 Current of negative 0.75, Engine R P M of 744.00, B 2 S 1 Wide Band O 2 Sensor 2 Current of negative 0.59, and Air flow rate mass air flow sensor of 0.75 are graphed on a coordinate plane. The vertical axis represents m A and ranges from negative 130 to 130. The horizontal axis ranges from 0 to 100, in increments of 5. The first two curves go adjacently horizontal and rightward with a few zig-zag patterns of a graph. The third curve starts from the marking negative 110, goes rightward, goes up and rightward, and then goes down and rightward, and exits the right of the graph. The fourth curve starts from the bottom left of the graph, goes rightward up and down to the right, and exits the right of the graph.">
            <a:extLst>
              <a:ext uri="{FF2B5EF4-FFF2-40B4-BE49-F238E27FC236}">
                <a16:creationId xmlns:a16="http://schemas.microsoft.com/office/drawing/2014/main" id="{E3B427AD-8677-5016-9A74-FD7D826A2947}"/>
              </a:ext>
            </a:extLst>
          </p:cNvPr>
          <p:cNvPicPr>
            <a:picLocks noGrp="1" noChangeAspect="1"/>
          </p:cNvPicPr>
          <p:nvPr>
            <p:ph type="pic" sz="quarter" idx="13"/>
          </p:nvPr>
        </p:nvPicPr>
        <p:blipFill rotWithShape="1">
          <a:blip r:embed="rId3"/>
          <a:srcRect b="8897"/>
          <a:stretch/>
        </p:blipFill>
        <p:spPr>
          <a:xfrm>
            <a:off x="7522017" y="2295832"/>
            <a:ext cx="4340185" cy="2620724"/>
          </a:xfrm>
          <a:prstGeom prst="rect">
            <a:avLst/>
          </a:prstGeom>
        </p:spPr>
      </p:pic>
    </p:spTree>
    <p:extLst>
      <p:ext uri="{BB962C8B-B14F-4D97-AF65-F5344CB8AC3E}">
        <p14:creationId xmlns:p14="http://schemas.microsoft.com/office/powerpoint/2010/main" val="187038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Throttle Body</a:t>
            </a:r>
            <a:endParaRPr sz="3600" dirty="0"/>
          </a:p>
        </p:txBody>
      </p:sp>
      <p:pic>
        <p:nvPicPr>
          <p:cNvPr id="8" name="Picture Placeholder 7" descr="A typical electronic throttle body on a V 8 engine, depicts its components.">
            <a:extLst>
              <a:ext uri="{FF2B5EF4-FFF2-40B4-BE49-F238E27FC236}">
                <a16:creationId xmlns:a16="http://schemas.microsoft.com/office/drawing/2014/main" id="{5A616ECD-11B1-3482-BE79-69E44AE769D4}"/>
              </a:ext>
            </a:extLst>
          </p:cNvPr>
          <p:cNvPicPr>
            <a:picLocks noGrp="1" noChangeAspect="1"/>
          </p:cNvPicPr>
          <p:nvPr>
            <p:ph type="pic" sz="quarter" idx="12"/>
          </p:nvPr>
        </p:nvPicPr>
        <p:blipFill rotWithShape="1">
          <a:blip r:embed="rId3"/>
          <a:srcRect b="8073"/>
          <a:stretch/>
        </p:blipFill>
        <p:spPr>
          <a:xfrm>
            <a:off x="286888" y="1875642"/>
            <a:ext cx="3863223" cy="2821855"/>
          </a:xfrm>
          <a:prstGeom prst="rect">
            <a:avLst/>
          </a:prstGeom>
        </p:spPr>
      </p:pic>
      <p:sp>
        <p:nvSpPr>
          <p:cNvPr id="145" name="Google Shape;145;p4"/>
          <p:cNvSpPr txBox="1">
            <a:spLocks noGrp="1"/>
          </p:cNvSpPr>
          <p:nvPr>
            <p:ph type="body" idx="1"/>
          </p:nvPr>
        </p:nvSpPr>
        <p:spPr>
          <a:xfrm>
            <a:off x="4399490" y="1563625"/>
            <a:ext cx="7505622" cy="4429402"/>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31.05 Inspect and service electronic throttle body assemblies.</a:t>
            </a:r>
          </a:p>
          <a:p>
            <a:pPr marL="342900" indent="-342900">
              <a:buSzPct val="100000"/>
            </a:pPr>
            <a:r>
              <a:rPr lang="en-US" sz="1800" dirty="0"/>
              <a:t>The throttle body allows the driver to control the amount of air that enters the engine, thereby controlling the speed of the engine.</a:t>
            </a:r>
          </a:p>
          <a:p>
            <a:pPr marL="342900" indent="-342900">
              <a:buSzPct val="100000"/>
            </a:pPr>
            <a:r>
              <a:rPr lang="en-US" sz="1800" dirty="0"/>
              <a:t>Each type of throttle body assembly is designed to allow a certain amount of air to pass through it at a particular amount of throttle opening.</a:t>
            </a:r>
          </a:p>
          <a:p>
            <a:pPr marL="342900" indent="-342900">
              <a:buSzPct val="100000"/>
            </a:pPr>
            <a:r>
              <a:rPr lang="en-US" sz="1800" dirty="0"/>
              <a:t>If anything accumulates on the throttle plates or in the throttle bore, the amount of air that can pass through is reduced.</a:t>
            </a:r>
          </a:p>
          <a:p>
            <a:pPr marL="342900" indent="-342900">
              <a:buSzPct val="100000"/>
            </a:pPr>
            <a:r>
              <a:rPr lang="en-US" sz="1800" dirty="0"/>
              <a:t>This normally causes an idle problem.</a:t>
            </a:r>
          </a:p>
          <a:p>
            <a:pPr marL="342900" indent="-342900">
              <a:buSzPct val="100000"/>
            </a:pPr>
            <a:r>
              <a:rPr lang="en-US" sz="1800" dirty="0"/>
              <a:t>These deposits can be cleaned off the throttle assembly and the airflow through them restored.</a:t>
            </a:r>
            <a:endParaRPr lang="en-US" sz="1400" dirty="0"/>
          </a:p>
        </p:txBody>
      </p:sp>
    </p:spTree>
    <p:extLst>
      <p:ext uri="{BB962C8B-B14F-4D97-AF65-F5344CB8AC3E}">
        <p14:creationId xmlns:p14="http://schemas.microsoft.com/office/powerpoint/2010/main" val="3807461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Throttle Body Removal and Cleaning</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85750" indent="-285750">
              <a:buSzPct val="100000"/>
            </a:pPr>
            <a:r>
              <a:rPr lang="en-US" sz="1800" dirty="0"/>
              <a:t>Whenever it is necessary to remove the throttle body assembly for replacement or cleaning, make sure you follow the procedures outlined by the manufacturer.</a:t>
            </a:r>
          </a:p>
          <a:p>
            <a:pPr marL="285750" indent="-285750">
              <a:buSzPct val="100000"/>
            </a:pPr>
            <a:r>
              <a:rPr lang="en-US" sz="1800" dirty="0"/>
              <a:t>Throttle bodies often have coolant circulating through them so it may be necessary to drain coolant from the radiator before removing the throttle body.</a:t>
            </a:r>
          </a:p>
          <a:p>
            <a:pPr marL="285750" indent="-285750">
              <a:buSzPct val="100000"/>
            </a:pPr>
            <a:r>
              <a:rPr lang="en-US" sz="1800" dirty="0"/>
              <a:t>Once the assembly has been removed, remove all nonmetallic parts such as the TP sensor, IAC valve, throttle opener, and the throttle body gasket from the throttle body.</a:t>
            </a:r>
          </a:p>
          <a:p>
            <a:pPr marL="285750" indent="-285750">
              <a:buSzPct val="100000"/>
            </a:pPr>
            <a:r>
              <a:rPr lang="en-US" sz="1800" dirty="0"/>
              <a:t>Now it is safe to clean the throttle body assembly in the recommended throttle body cleaner and blow dry with compressed air.</a:t>
            </a:r>
          </a:p>
          <a:p>
            <a:pPr marL="285750" indent="-285750">
              <a:buSzPct val="100000"/>
            </a:pPr>
            <a:r>
              <a:rPr lang="en-US" sz="1800" dirty="0"/>
              <a:t>Blow out all passages in the throttle body assembly.</a:t>
            </a:r>
          </a:p>
          <a:p>
            <a:pPr marL="285750" indent="-285750">
              <a:buSzPct val="100000"/>
            </a:pPr>
            <a:r>
              <a:rPr lang="en-US" sz="1800" dirty="0"/>
              <a:t>Before reinstalling the throttle body assembly, make sure all metal mating surfaces are clean and free from metal burrs and scratches.</a:t>
            </a:r>
          </a:p>
          <a:p>
            <a:pPr marL="285750" indent="-285750">
              <a:buSzPct val="100000"/>
            </a:pPr>
            <a:r>
              <a:rPr lang="en-US" sz="1800" dirty="0"/>
              <a:t>Make sure you have new gaskets and seals for all sealing surfaces before you begin to reinstall the assembly.</a:t>
            </a:r>
          </a:p>
        </p:txBody>
      </p:sp>
    </p:spTree>
    <p:extLst>
      <p:ext uri="{BB962C8B-B14F-4D97-AF65-F5344CB8AC3E}">
        <p14:creationId xmlns:p14="http://schemas.microsoft.com/office/powerpoint/2010/main" val="2446927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System Checks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sz="1600" dirty="0"/>
              <a:t>Remove the air cleaner, crank the engine, and the injector should be spraying some fuel. It is impossible to visually check the spray pattern and volume of port system injectors.</a:t>
            </a:r>
          </a:p>
          <a:p>
            <a:pPr marL="357188" indent="-357188">
              <a:buSzPct val="100000"/>
            </a:pPr>
            <a:r>
              <a:rPr lang="en-US" sz="1600" dirty="0"/>
              <a:t>However, performing simple fuel pressure and fuel volume tests will give an accurate evaluation of the fuel delivery system.</a:t>
            </a:r>
          </a:p>
          <a:p>
            <a:pPr marL="357188" indent="-357188">
              <a:buSzPct val="100000"/>
            </a:pPr>
            <a:r>
              <a:rPr lang="en-US" sz="1600" dirty="0"/>
              <a:t>Keep in mind that fuel pressure affects the output of a fuel injector: If an injector has the same pulse rate but receives low pressure there is less fuel; if the pressure is high, the amount of fuel increased. </a:t>
            </a:r>
          </a:p>
          <a:p>
            <a:pPr marL="357188" indent="-357188">
              <a:buSzPct val="100000"/>
            </a:pPr>
            <a:r>
              <a:rPr lang="en-US" sz="1600" dirty="0"/>
              <a:t>If fuel pressure is now within specifications, the fuel return line is blocked.</a:t>
            </a:r>
          </a:p>
          <a:p>
            <a:pPr marL="357188" indent="-357188">
              <a:buSzPct val="100000"/>
            </a:pPr>
            <a:r>
              <a:rPr lang="en-US" sz="1600" dirty="0"/>
              <a:t>If pressure is still high, the pressure regulator is faulty.</a:t>
            </a:r>
          </a:p>
          <a:p>
            <a:pPr marL="357188" indent="-357188">
              <a:buSzPct val="100000"/>
            </a:pPr>
            <a:r>
              <a:rPr lang="en-US" sz="1600" dirty="0"/>
              <a:t>If fuel pressure is within specs but the pressure bleeds down, there may be a leak in the fuel pressure regulator, the fuel pump check valve, or the injectors themselves.</a:t>
            </a:r>
          </a:p>
          <a:p>
            <a:pPr marL="357188" indent="-357188">
              <a:buSzPct val="100000"/>
            </a:pPr>
            <a:r>
              <a:rPr lang="en-US" sz="1600" dirty="0"/>
              <a:t>Hard starting is a common symptom of internal system leaks.</a:t>
            </a:r>
          </a:p>
          <a:p>
            <a:pPr marL="357188" indent="-357188">
              <a:buSzPct val="100000"/>
            </a:pPr>
            <a:r>
              <a:rPr lang="en-US" sz="1600" dirty="0"/>
              <a:t>Also, fuel starvation and lean conditions can occur when the injectors drain the fuel rail faster than the fuel pump can fill it.</a:t>
            </a:r>
          </a:p>
        </p:txBody>
      </p:sp>
    </p:spTree>
    <p:extLst>
      <p:ext uri="{BB962C8B-B14F-4D97-AF65-F5344CB8AC3E}">
        <p14:creationId xmlns:p14="http://schemas.microsoft.com/office/powerpoint/2010/main" val="3068580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Injector Checks</a:t>
            </a:r>
            <a:endParaRPr sz="3600" dirty="0"/>
          </a:p>
        </p:txBody>
      </p:sp>
      <p:pic>
        <p:nvPicPr>
          <p:cNvPr id="8" name="Picture Placeholder 7" descr="A fuel pressure regulator injector with a vacuum line entering it.">
            <a:extLst>
              <a:ext uri="{FF2B5EF4-FFF2-40B4-BE49-F238E27FC236}">
                <a16:creationId xmlns:a16="http://schemas.microsoft.com/office/drawing/2014/main" id="{568C716B-6CF6-B716-E776-47D91314DBAE}"/>
              </a:ext>
            </a:extLst>
          </p:cNvPr>
          <p:cNvPicPr>
            <a:picLocks noGrp="1" noChangeAspect="1"/>
          </p:cNvPicPr>
          <p:nvPr>
            <p:ph type="pic" sz="quarter" idx="12"/>
          </p:nvPr>
        </p:nvPicPr>
        <p:blipFill rotWithShape="1">
          <a:blip r:embed="rId3"/>
          <a:srcRect b="8249"/>
          <a:stretch/>
        </p:blipFill>
        <p:spPr>
          <a:xfrm>
            <a:off x="304800" y="1975100"/>
            <a:ext cx="4338519" cy="3166743"/>
          </a:xfrm>
          <a:prstGeom prst="rect">
            <a:avLst/>
          </a:prstGeom>
        </p:spPr>
      </p:pic>
      <p:sp>
        <p:nvSpPr>
          <p:cNvPr id="145" name="Google Shape;145;p4"/>
          <p:cNvSpPr txBox="1">
            <a:spLocks noGrp="1"/>
          </p:cNvSpPr>
          <p:nvPr>
            <p:ph type="body" idx="1"/>
          </p:nvPr>
        </p:nvSpPr>
        <p:spPr>
          <a:xfrm>
            <a:off x="4969564" y="1563624"/>
            <a:ext cx="6917636" cy="4540614"/>
          </a:xfrm>
          <a:prstGeom prst="rect">
            <a:avLst/>
          </a:prstGeom>
          <a:noFill/>
          <a:ln>
            <a:noFill/>
          </a:ln>
        </p:spPr>
        <p:txBody>
          <a:bodyPr spcFirstLastPara="1" wrap="square" lIns="91425" tIns="45700" rIns="91425" bIns="45700" anchor="t" anchorCtr="0">
            <a:noAutofit/>
          </a:bodyPr>
          <a:lstStyle/>
          <a:p>
            <a:pPr>
              <a:buSzPct val="100000"/>
            </a:pPr>
            <a:r>
              <a:rPr lang="en-US" sz="1800" dirty="0"/>
              <a:t>A cause of a rich mixture is a leaking fuel pressure regulator.</a:t>
            </a:r>
          </a:p>
          <a:p>
            <a:pPr>
              <a:buSzPct val="100000"/>
            </a:pPr>
            <a:r>
              <a:rPr lang="en-US" sz="1800" dirty="0"/>
              <a:t>If the diaphragm of the regulator is ruptured, fuel will move into the intake manifold through the diaphragm, causing a rich mixture.</a:t>
            </a:r>
          </a:p>
          <a:p>
            <a:pPr>
              <a:buSzPct val="100000"/>
            </a:pPr>
            <a:r>
              <a:rPr lang="en-US" sz="1800" dirty="0"/>
              <a:t>The regulator can be checked by using two simple tests.</a:t>
            </a:r>
          </a:p>
          <a:p>
            <a:pPr>
              <a:buSzPct val="100000"/>
            </a:pPr>
            <a:r>
              <a:rPr lang="en-US" sz="1800" dirty="0"/>
              <a:t>After the engine has been run, disconnect the vacuum line to the fuel pressure regulator.</a:t>
            </a:r>
          </a:p>
          <a:p>
            <a:pPr>
              <a:buSzPct val="100000"/>
            </a:pPr>
            <a:r>
              <a:rPr lang="en-US" sz="1800" dirty="0"/>
              <a:t>If there are signs of fuel inside the hose or if fuel comes out of the hose, the regulator’s diaphragm is leaking and it should be replaced.</a:t>
            </a:r>
          </a:p>
          <a:p>
            <a:pPr>
              <a:buSzPct val="100000"/>
            </a:pPr>
            <a:r>
              <a:rPr lang="en-US" sz="1800" dirty="0"/>
              <a:t>The regulator can also be tested with a hand-operated vacuum pump.</a:t>
            </a:r>
          </a:p>
        </p:txBody>
      </p:sp>
    </p:spTree>
    <p:extLst>
      <p:ext uri="{BB962C8B-B14F-4D97-AF65-F5344CB8AC3E}">
        <p14:creationId xmlns:p14="http://schemas.microsoft.com/office/powerpoint/2010/main" val="1872520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dirty="0"/>
              <a:t>When inspecting a fuel pressure regulator, if there are signs of fuel inside the hose or if fuel comes out of the hose when disconnected, what should be done?</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28CD1F5F-E8A9-9B84-9F27-F1AF3E069050}"/>
              </a:ext>
            </a:extLst>
          </p:cNvPr>
          <p:cNvSpPr>
            <a:spLocks noGrp="1"/>
          </p:cNvSpPr>
          <p:nvPr>
            <p:ph type="body" idx="1"/>
          </p:nvPr>
        </p:nvSpPr>
        <p:spPr/>
        <p:txBody>
          <a:bodyPr/>
          <a:lstStyle/>
          <a:p>
            <a:pPr marL="0" lvl="1" indent="0">
              <a:buNone/>
            </a:pPr>
            <a:r>
              <a:rPr lang="en-US" b="1" dirty="0"/>
              <a:t>Answer: </a:t>
            </a:r>
            <a:r>
              <a:rPr lang="en-US" dirty="0"/>
              <a:t>If there are signs of fuel inside the hose or if fuel comes out of the hose, the regulator’s diaphragm is leaking and it should be replaced.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Injector Balance Test</a:t>
            </a:r>
            <a:endParaRPr sz="3600" dirty="0"/>
          </a:p>
        </p:txBody>
      </p:sp>
      <p:pic>
        <p:nvPicPr>
          <p:cNvPr id="9" name="Picture Placeholder 8" descr="A screenshot depicts the injector tests using a scan tool, listing six tools as follows: Fan Duty Cycle (%), Fuel Pump (highlighted), Injector 1, Injector 2, Injector 3, and Injector 4, with a scroll tab at the right end.">
            <a:extLst>
              <a:ext uri="{FF2B5EF4-FFF2-40B4-BE49-F238E27FC236}">
                <a16:creationId xmlns:a16="http://schemas.microsoft.com/office/drawing/2014/main" id="{18C19DB2-A289-CF1A-835A-D14B6E3179C1}"/>
              </a:ext>
            </a:extLst>
          </p:cNvPr>
          <p:cNvPicPr>
            <a:picLocks noGrp="1" noChangeAspect="1"/>
          </p:cNvPicPr>
          <p:nvPr>
            <p:ph type="pic" sz="quarter" idx="13"/>
          </p:nvPr>
        </p:nvPicPr>
        <p:blipFill rotWithShape="1">
          <a:blip r:embed="rId3"/>
          <a:srcRect b="8213"/>
          <a:stretch/>
        </p:blipFill>
        <p:spPr>
          <a:xfrm>
            <a:off x="473243" y="1846204"/>
            <a:ext cx="4510307" cy="2752300"/>
          </a:xfrm>
          <a:prstGeom prst="rect">
            <a:avLst/>
          </a:prstGeom>
        </p:spPr>
      </p:pic>
      <p:sp>
        <p:nvSpPr>
          <p:cNvPr id="145" name="Google Shape;145;p4"/>
          <p:cNvSpPr txBox="1">
            <a:spLocks noGrp="1"/>
          </p:cNvSpPr>
          <p:nvPr>
            <p:ph type="body" idx="1"/>
          </p:nvPr>
        </p:nvSpPr>
        <p:spPr>
          <a:xfrm>
            <a:off x="5287617" y="1563625"/>
            <a:ext cx="6431140" cy="4488354"/>
          </a:xfrm>
          <a:prstGeom prst="rect">
            <a:avLst/>
          </a:prstGeom>
          <a:noFill/>
          <a:ln>
            <a:noFill/>
          </a:ln>
        </p:spPr>
        <p:txBody>
          <a:bodyPr spcFirstLastPara="1" wrap="square" lIns="91425" tIns="45700" rIns="91425" bIns="45700" anchor="t" anchorCtr="0">
            <a:noAutofit/>
          </a:bodyPr>
          <a:lstStyle/>
          <a:p>
            <a:pPr marL="358775" indent="-358775">
              <a:buSzPct val="100000"/>
            </a:pPr>
            <a:r>
              <a:rPr lang="en-US" sz="1800" dirty="0"/>
              <a:t>If the injectors are electrically sound, perform an injector pressure balance test.</a:t>
            </a:r>
          </a:p>
          <a:p>
            <a:pPr marL="358775" indent="-358775">
              <a:buSzPct val="100000"/>
            </a:pPr>
            <a:r>
              <a:rPr lang="en-US" sz="1800" dirty="0"/>
              <a:t>This test will help isolate a clogged or dirty injector.</a:t>
            </a:r>
          </a:p>
          <a:p>
            <a:pPr marL="358775" indent="-358775">
              <a:buSzPct val="100000"/>
            </a:pPr>
            <a:r>
              <a:rPr lang="en-US" sz="1800" dirty="0"/>
              <a:t>With most vehicles, the on-board computer system has an injector test mode accessible through a scan tool.</a:t>
            </a:r>
          </a:p>
          <a:p>
            <a:pPr marL="358775" indent="-358775">
              <a:buSzPct val="100000"/>
            </a:pPr>
            <a:r>
              <a:rPr lang="en-US" sz="1800" dirty="0"/>
              <a:t>If the vehicle does not have an injector test mode, an electronic injector pulse tester is used for this test.</a:t>
            </a:r>
          </a:p>
          <a:p>
            <a:pPr marL="358775" indent="-358775">
              <a:buSzPct val="100000"/>
            </a:pPr>
            <a:r>
              <a:rPr lang="en-US" sz="1800" dirty="0"/>
              <a:t>As each injector is energized, a fuel pressure gauge is observed to monitor the drop in fuel pressure.</a:t>
            </a:r>
          </a:p>
          <a:p>
            <a:pPr marL="358775" indent="-358775">
              <a:buSzPct val="100000"/>
            </a:pPr>
            <a:r>
              <a:rPr lang="en-US" sz="1800" dirty="0"/>
              <a:t>The tester is designed to safely pulse each injector for a controlled length of time.</a:t>
            </a:r>
            <a:endParaRPr lang="en-US" sz="1400" dirty="0"/>
          </a:p>
        </p:txBody>
      </p:sp>
    </p:spTree>
    <p:extLst>
      <p:ext uri="{BB962C8B-B14F-4D97-AF65-F5344CB8AC3E}">
        <p14:creationId xmlns:p14="http://schemas.microsoft.com/office/powerpoint/2010/main" val="3774361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Oscilloscope Checks (1 of 2)</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buSzPct val="100000"/>
            </a:pPr>
            <a:r>
              <a:rPr lang="en-US" sz="1600" dirty="0"/>
              <a:t>An oscilloscope can be used to monitor the injector’s pulse width and duty cycle when an injector-related problem is suspected.</a:t>
            </a:r>
          </a:p>
          <a:p>
            <a:pPr marL="358775" indent="-358775">
              <a:buSzPct val="100000"/>
            </a:pPr>
            <a:r>
              <a:rPr lang="en-US" sz="1600" dirty="0"/>
              <a:t>The pulse width is the time in milliseconds that the injector is energized.</a:t>
            </a:r>
          </a:p>
          <a:p>
            <a:pPr marL="358775" indent="-358775">
              <a:buSzPct val="100000"/>
            </a:pPr>
            <a:r>
              <a:rPr lang="en-US" sz="1600" dirty="0"/>
              <a:t>The duty cycle is the percentage of on-time to total cycle time.</a:t>
            </a:r>
          </a:p>
          <a:p>
            <a:pPr marL="358775" indent="-358775">
              <a:buSzPct val="100000"/>
            </a:pPr>
            <a:r>
              <a:rPr lang="en-US" sz="1600" dirty="0"/>
              <a:t>To check the injector’s firing voltage on the scope, a typical hookup involves connecting the scope’s positive lead to the injector supply wire and the scope’s negative lead to an engine ground.</a:t>
            </a:r>
          </a:p>
          <a:p>
            <a:pPr marL="358775" indent="-358775">
              <a:buSzPct val="100000"/>
            </a:pPr>
            <a:r>
              <a:rPr lang="en-US" sz="1600" dirty="0"/>
              <a:t> Fuel injection signals vary in frequency and pulse width.</a:t>
            </a:r>
          </a:p>
          <a:p>
            <a:pPr marL="358775" indent="-358775">
              <a:buSzPct val="100000"/>
            </a:pPr>
            <a:r>
              <a:rPr lang="en-US" sz="1600" dirty="0"/>
              <a:t>The pulse width is controlled by the PCM, which varies it to control the air–fuel ratio. The frequency varies depending on engine speed.</a:t>
            </a:r>
          </a:p>
          <a:p>
            <a:pPr marL="358775" indent="-358775">
              <a:buSzPct val="100000"/>
            </a:pPr>
            <a:r>
              <a:rPr lang="en-US" sz="1600" dirty="0"/>
              <a:t>The higher the speed, the more pulses per second there are.</a:t>
            </a:r>
          </a:p>
          <a:p>
            <a:pPr marL="358775" indent="-358775">
              <a:buSzPct val="100000"/>
            </a:pPr>
            <a:r>
              <a:rPr lang="en-US" sz="1600" dirty="0"/>
              <a:t>Most often the injector’s ground circuit is completed by a driver circuit in the PCM.</a:t>
            </a:r>
          </a:p>
          <a:p>
            <a:pPr marL="358775" indent="-358775">
              <a:buSzPct val="100000"/>
            </a:pPr>
            <a:r>
              <a:rPr lang="en-US" sz="1600" dirty="0"/>
              <a:t>All of these factors are important to remember when setting a lab scope to look at fuel injector activity.</a:t>
            </a:r>
            <a:endParaRPr lang="en-US" sz="1050" dirty="0"/>
          </a:p>
        </p:txBody>
      </p:sp>
    </p:spTree>
    <p:extLst>
      <p:ext uri="{BB962C8B-B14F-4D97-AF65-F5344CB8AC3E}">
        <p14:creationId xmlns:p14="http://schemas.microsoft.com/office/powerpoint/2010/main" val="2840910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Oscilloscope Checks (2 of 2)</a:t>
            </a:r>
            <a:endParaRPr sz="3600" dirty="0"/>
          </a:p>
        </p:txBody>
      </p:sp>
      <p:sp>
        <p:nvSpPr>
          <p:cNvPr id="145" name="Google Shape;145;p4"/>
          <p:cNvSpPr txBox="1">
            <a:spLocks noGrp="1"/>
          </p:cNvSpPr>
          <p:nvPr>
            <p:ph type="body" idx="1"/>
          </p:nvPr>
        </p:nvSpPr>
        <p:spPr>
          <a:xfrm>
            <a:off x="476845" y="1563625"/>
            <a:ext cx="6705834" cy="4466114"/>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2200" dirty="0"/>
              <a:t>A </a:t>
            </a:r>
            <a:r>
              <a:rPr lang="en-US" sz="2200" b="1" dirty="0"/>
              <a:t>pulse-modulated injector circuit </a:t>
            </a:r>
            <a:r>
              <a:rPr lang="en-US" sz="2200" dirty="0"/>
              <a:t>uses high current to open the injector. </a:t>
            </a:r>
          </a:p>
          <a:p>
            <a:pPr marL="342900" indent="-342900">
              <a:buSzPct val="100000"/>
            </a:pPr>
            <a:r>
              <a:rPr lang="en-US" sz="2200" dirty="0"/>
              <a:t>This allows for quick injector firing. </a:t>
            </a:r>
          </a:p>
          <a:p>
            <a:pPr marL="342900" indent="-342900">
              <a:buSzPct val="100000"/>
            </a:pPr>
            <a:r>
              <a:rPr lang="en-US" sz="2200" dirty="0"/>
              <a:t>Once the injector is open, the circuit ground is pulsed on and off to allow for a long on-time without allowing high current flow through the circuit. </a:t>
            </a:r>
          </a:p>
          <a:p>
            <a:pPr marL="342900" indent="-342900">
              <a:buSzPct val="100000"/>
            </a:pPr>
            <a:r>
              <a:rPr lang="en-US" sz="2200" dirty="0"/>
              <a:t>To measure the pulse width of this type of injector, measure from the drop on the left to the beginning of the large voltage spike, which should be at the end of the pulses.</a:t>
            </a:r>
          </a:p>
        </p:txBody>
      </p:sp>
      <p:pic>
        <p:nvPicPr>
          <p:cNvPr id="8" name="Picture Placeholder 7" descr="A screenshot depicts a waveform for a pulse-modulated fuel injector driver circuit. The information above the screenshot is as follows: A 10 V D C 1:1 Probe B 500 m V off 1:1 probe 500 m S / DIV TRIG: A - 201 V. Markings for the horizontal axis are at the top. No specific numbers are depicted for the markings on both horizontal and vertical axes. A wave starting from a little above 0,0 moves steadily parallel to the horizontal axis and takes a small dip. A vertical line labeled Start is above the point at which the wave dips. It then continues parallel to the horizontal axis for a short distance before a couple of sharp waves and reaches its peak. Another vertical line labeled End is above the peak. The peak then dips sharply and progresses parallel to the horizontal axis. The labels Cursor Data, Function, Mark on A, and None are the labels displayed at the bottom of the screenshot.">
            <a:extLst>
              <a:ext uri="{FF2B5EF4-FFF2-40B4-BE49-F238E27FC236}">
                <a16:creationId xmlns:a16="http://schemas.microsoft.com/office/drawing/2014/main" id="{EB51A7B0-1FBC-E795-1737-42BC7A5F0949}"/>
              </a:ext>
            </a:extLst>
          </p:cNvPr>
          <p:cNvPicPr>
            <a:picLocks noGrp="1" noChangeAspect="1"/>
          </p:cNvPicPr>
          <p:nvPr>
            <p:ph type="pic" sz="quarter" idx="13"/>
          </p:nvPr>
        </p:nvPicPr>
        <p:blipFill rotWithShape="1">
          <a:blip r:embed="rId3"/>
          <a:srcRect l="17624" r="8000" b="10231"/>
          <a:stretch/>
        </p:blipFill>
        <p:spPr>
          <a:xfrm>
            <a:off x="7484139" y="1761078"/>
            <a:ext cx="4231016" cy="4109635"/>
          </a:xfrm>
          <a:prstGeom prst="rect">
            <a:avLst/>
          </a:prstGeom>
        </p:spPr>
      </p:pic>
    </p:spTree>
    <p:extLst>
      <p:ext uri="{BB962C8B-B14F-4D97-AF65-F5344CB8AC3E}">
        <p14:creationId xmlns:p14="http://schemas.microsoft.com/office/powerpoint/2010/main" val="3733570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Injector Service</a:t>
            </a:r>
            <a:endParaRPr sz="3600" dirty="0"/>
          </a:p>
        </p:txBody>
      </p:sp>
      <p:sp>
        <p:nvSpPr>
          <p:cNvPr id="145" name="Google Shape;145;p4"/>
          <p:cNvSpPr txBox="1">
            <a:spLocks noGrp="1"/>
          </p:cNvSpPr>
          <p:nvPr>
            <p:ph type="body" idx="1"/>
          </p:nvPr>
        </p:nvSpPr>
        <p:spPr>
          <a:xfrm>
            <a:off x="476843" y="1563625"/>
            <a:ext cx="7978043" cy="4565326"/>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31.03 Service the fuel injection system.</a:t>
            </a:r>
          </a:p>
          <a:p>
            <a:pPr marL="357188" indent="-357188">
              <a:buSzPct val="100000"/>
            </a:pPr>
            <a:r>
              <a:rPr lang="en-US" sz="1800" dirty="0"/>
              <a:t>Injector Cleaning</a:t>
            </a:r>
          </a:p>
          <a:p>
            <a:pPr marL="715963" lvl="1" indent="-357188">
              <a:buSzPct val="100000"/>
            </a:pPr>
            <a:r>
              <a:rPr lang="en-US" sz="1600" dirty="0"/>
              <a:t>A chemical solution is placed in a holding container and pressurized by hand pump or shop air to a specified operating pressure.</a:t>
            </a:r>
          </a:p>
          <a:p>
            <a:pPr marL="715963" lvl="1" indent="-357188">
              <a:buSzPct val="100000"/>
            </a:pPr>
            <a:r>
              <a:rPr lang="en-US" sz="1600" dirty="0"/>
              <a:t>The injector cleaning solution is poured into a canister on some injector cleaners and shop air supply is used to pressurize the canister to the specified pressure.</a:t>
            </a:r>
          </a:p>
          <a:p>
            <a:pPr marL="715963" lvl="1" indent="-357188">
              <a:buSzPct val="100000"/>
            </a:pPr>
            <a:r>
              <a:rPr lang="en-US" sz="1600" dirty="0"/>
              <a:t>The injector cleaning solution contains unleaded fuel mixed with injector cleaner.</a:t>
            </a:r>
          </a:p>
          <a:p>
            <a:pPr marL="715963" lvl="1" indent="-357188">
              <a:buSzPct val="100000"/>
            </a:pPr>
            <a:r>
              <a:rPr lang="en-US" sz="1600" dirty="0"/>
              <a:t>The container hose is connected to the Schrader valve on the fuel rail.</a:t>
            </a:r>
          </a:p>
          <a:p>
            <a:pPr marL="715963" lvl="1" indent="-357188">
              <a:buSzPct val="100000"/>
            </a:pPr>
            <a:r>
              <a:rPr lang="en-US" sz="1600" dirty="0"/>
              <a:t>Disable the fuel pump according to the car manufacturer’s instructions.</a:t>
            </a:r>
            <a:endParaRPr lang="en-US" sz="1050" dirty="0"/>
          </a:p>
        </p:txBody>
      </p:sp>
      <p:pic>
        <p:nvPicPr>
          <p:cNvPr id="8" name="Picture Placeholder 7" descr="A set up depicts an injector cleaner connected to the Schrader valve on the fuel rail.">
            <a:extLst>
              <a:ext uri="{FF2B5EF4-FFF2-40B4-BE49-F238E27FC236}">
                <a16:creationId xmlns:a16="http://schemas.microsoft.com/office/drawing/2014/main" id="{C340E81F-9DD7-94A9-58D0-7EBCEE8E84C2}"/>
              </a:ext>
            </a:extLst>
          </p:cNvPr>
          <p:cNvPicPr>
            <a:picLocks noGrp="1" noChangeAspect="1"/>
          </p:cNvPicPr>
          <p:nvPr>
            <p:ph type="pic" sz="quarter" idx="13"/>
          </p:nvPr>
        </p:nvPicPr>
        <p:blipFill rotWithShape="1">
          <a:blip r:embed="rId3"/>
          <a:srcRect b="3802"/>
          <a:stretch/>
        </p:blipFill>
        <p:spPr>
          <a:xfrm>
            <a:off x="8949426" y="1821035"/>
            <a:ext cx="2569964" cy="4050506"/>
          </a:xfrm>
          <a:prstGeom prst="rect">
            <a:avLst/>
          </a:prstGeom>
        </p:spPr>
      </p:pic>
    </p:spTree>
    <p:extLst>
      <p:ext uri="{BB962C8B-B14F-4D97-AF65-F5344CB8AC3E}">
        <p14:creationId xmlns:p14="http://schemas.microsoft.com/office/powerpoint/2010/main" val="551006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Fuel Rail, Injector, and Pressure Regulator Removal</a:t>
            </a:r>
            <a:endParaRPr dirty="0"/>
          </a:p>
        </p:txBody>
      </p:sp>
      <p:sp>
        <p:nvSpPr>
          <p:cNvPr id="145" name="Google Shape;145;p4"/>
          <p:cNvSpPr txBox="1">
            <a:spLocks noGrp="1"/>
          </p:cNvSpPr>
          <p:nvPr>
            <p:ph type="body" idx="1"/>
          </p:nvPr>
        </p:nvSpPr>
        <p:spPr>
          <a:xfrm>
            <a:off x="476845" y="1563625"/>
            <a:ext cx="6998994" cy="4645150"/>
          </a:xfrm>
          <a:prstGeom prst="rect">
            <a:avLst/>
          </a:prstGeom>
          <a:noFill/>
          <a:ln>
            <a:noFill/>
          </a:ln>
        </p:spPr>
        <p:txBody>
          <a:bodyPr spcFirstLastPara="1" wrap="square" lIns="91425" tIns="45700" rIns="91425" bIns="45700" anchor="t" anchorCtr="0">
            <a:noAutofit/>
          </a:bodyPr>
          <a:lstStyle/>
          <a:p>
            <a:pPr marL="0" marR="0" lvl="0" indent="0" algn="l" rtl="0">
              <a:buSzPts val="2800"/>
              <a:buNone/>
            </a:pPr>
            <a:r>
              <a:rPr lang="en-US" sz="1800" b="1" dirty="0"/>
              <a:t>31.04 Inspect and service fuel rails, injectors, and regulators.</a:t>
            </a:r>
          </a:p>
          <a:p>
            <a:pPr marL="357188" indent="-357188">
              <a:buSzPct val="100000"/>
            </a:pPr>
            <a:r>
              <a:rPr lang="en-US" sz="1800" dirty="0"/>
              <a:t>The system must be relieved of all pressure before the fuel lines are opened to remove any of the components.</a:t>
            </a:r>
          </a:p>
          <a:p>
            <a:pPr marL="357188" indent="-357188">
              <a:buSzPct val="100000"/>
            </a:pPr>
            <a:r>
              <a:rPr lang="en-US" sz="1800" dirty="0"/>
              <a:t>Before removing the fuel rail, use compressed air to blow dirt and debris from around where the injectors pass through the intake and wipe off any dirt from the fuel rail with a shop towel.</a:t>
            </a:r>
          </a:p>
          <a:p>
            <a:pPr marL="357188" indent="-357188">
              <a:buSzPct val="100000"/>
            </a:pPr>
            <a:r>
              <a:rPr lang="en-US" sz="1800" dirty="0"/>
              <a:t>Then loosen the fuel line clamps on the fuel rail, if so equipped.</a:t>
            </a:r>
          </a:p>
          <a:p>
            <a:pPr marL="357188" indent="-357188">
              <a:buSzPct val="100000"/>
            </a:pPr>
            <a:r>
              <a:rPr lang="en-US" sz="1800" dirty="0"/>
              <a:t>If these lines have quick-disconnect fittings, grasp the larger collar on the connector and twist in either direction while pulling on the line to remove the fuel supply and return lines.</a:t>
            </a:r>
            <a:endParaRPr lang="en-US" sz="1200" b="1" dirty="0"/>
          </a:p>
        </p:txBody>
      </p:sp>
      <p:pic>
        <p:nvPicPr>
          <p:cNvPr id="8" name="Picture Placeholder 7" descr="An illustration depicts a fuel supply line and a return line. The following components are labeled in the fuel supply line: Fuel rail, Fuel pressure regulator, Vacuum hose, and Quick coupler.">
            <a:extLst>
              <a:ext uri="{FF2B5EF4-FFF2-40B4-BE49-F238E27FC236}">
                <a16:creationId xmlns:a16="http://schemas.microsoft.com/office/drawing/2014/main" id="{11587335-BE9C-35D2-BE6B-E8EC18B0D88B}"/>
              </a:ext>
            </a:extLst>
          </p:cNvPr>
          <p:cNvPicPr>
            <a:picLocks noGrp="1" noChangeAspect="1"/>
          </p:cNvPicPr>
          <p:nvPr>
            <p:ph type="pic" sz="quarter" idx="12"/>
          </p:nvPr>
        </p:nvPicPr>
        <p:blipFill rotWithShape="1">
          <a:blip r:embed="rId3"/>
          <a:srcRect b="10786"/>
          <a:stretch/>
        </p:blipFill>
        <p:spPr>
          <a:xfrm>
            <a:off x="7716975" y="2371204"/>
            <a:ext cx="3998179" cy="3209515"/>
          </a:xfrm>
          <a:prstGeom prst="rect">
            <a:avLst/>
          </a:prstGeom>
        </p:spPr>
      </p:pic>
    </p:spTree>
    <p:extLst>
      <p:ext uri="{BB962C8B-B14F-4D97-AF65-F5344CB8AC3E}">
        <p14:creationId xmlns:p14="http://schemas.microsoft.com/office/powerpoint/2010/main" val="51808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Special GDI Checks</a:t>
            </a:r>
            <a:endParaRPr sz="3600" dirty="0"/>
          </a:p>
        </p:txBody>
      </p:sp>
      <p:sp>
        <p:nvSpPr>
          <p:cNvPr id="145" name="Google Shape;145;p4"/>
          <p:cNvSpPr txBox="1">
            <a:spLocks noGrp="1"/>
          </p:cNvSpPr>
          <p:nvPr>
            <p:ph type="body" idx="1"/>
          </p:nvPr>
        </p:nvSpPr>
        <p:spPr>
          <a:xfrm>
            <a:off x="476844" y="1563624"/>
            <a:ext cx="7270842" cy="4515899"/>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1800" dirty="0">
                <a:solidFill>
                  <a:schemeClr val="accent1"/>
                </a:solidFill>
              </a:rPr>
              <a:t>The injectors in a GDI system are best checked with an ohmmeter.</a:t>
            </a:r>
          </a:p>
          <a:p>
            <a:pPr marL="342900" indent="-342900">
              <a:buSzPct val="100000"/>
            </a:pPr>
            <a:r>
              <a:rPr lang="en-US" sz="1800" dirty="0">
                <a:solidFill>
                  <a:schemeClr val="accent1"/>
                </a:solidFill>
              </a:rPr>
              <a:t>Resistance checks can identify if the injector has an open or a short.</a:t>
            </a:r>
          </a:p>
          <a:p>
            <a:pPr marL="342900" indent="-342900">
              <a:buSzPct val="100000"/>
            </a:pPr>
            <a:r>
              <a:rPr lang="en-US" sz="1800" dirty="0">
                <a:solidFill>
                  <a:schemeClr val="accent1"/>
                </a:solidFill>
              </a:rPr>
              <a:t>If an injector does not have the specified resistance, it should be replaced.</a:t>
            </a:r>
          </a:p>
          <a:p>
            <a:pPr marL="342900" indent="-342900">
              <a:buSzPct val="100000"/>
            </a:pPr>
            <a:r>
              <a:rPr lang="en-US" sz="1800" dirty="0">
                <a:solidFill>
                  <a:schemeClr val="accent1"/>
                </a:solidFill>
              </a:rPr>
              <a:t>There are also designated DTCs that may lead you to suspect a problem with an injector.</a:t>
            </a:r>
          </a:p>
          <a:p>
            <a:pPr marL="342900" indent="-342900">
              <a:buSzPct val="100000"/>
            </a:pPr>
            <a:r>
              <a:rPr lang="en-US" sz="1800" dirty="0">
                <a:solidFill>
                  <a:schemeClr val="accent1"/>
                </a:solidFill>
              </a:rPr>
              <a:t>Those DTCs are related to particular injectors, unless the malfunction is something that affects many of them.</a:t>
            </a:r>
          </a:p>
          <a:p>
            <a:pPr marL="342900" indent="-342900">
              <a:buSzPct val="100000"/>
            </a:pPr>
            <a:r>
              <a:rPr lang="en-US" sz="1800" dirty="0">
                <a:solidFill>
                  <a:schemeClr val="accent1"/>
                </a:solidFill>
              </a:rPr>
              <a:t>Because GDI operates under very high pressures, a typical fuel volume check on the high-pressure pump should not be done.</a:t>
            </a:r>
            <a:endParaRPr lang="en-US" sz="1200" b="1" dirty="0">
              <a:solidFill>
                <a:schemeClr val="accent1"/>
              </a:solidFill>
            </a:endParaRPr>
          </a:p>
        </p:txBody>
      </p:sp>
      <p:pic>
        <p:nvPicPr>
          <p:cNvPr id="8" name="Picture Placeholder 7" descr="A setup depicts an ohmmeter connected to a G D I injector for resistance check.">
            <a:extLst>
              <a:ext uri="{FF2B5EF4-FFF2-40B4-BE49-F238E27FC236}">
                <a16:creationId xmlns:a16="http://schemas.microsoft.com/office/drawing/2014/main" id="{6665801B-560A-A967-25D4-6883674D38FE}"/>
              </a:ext>
            </a:extLst>
          </p:cNvPr>
          <p:cNvPicPr>
            <a:picLocks noGrp="1" noChangeAspect="1"/>
          </p:cNvPicPr>
          <p:nvPr>
            <p:ph type="pic" sz="quarter" idx="13"/>
          </p:nvPr>
        </p:nvPicPr>
        <p:blipFill rotWithShape="1">
          <a:blip r:embed="rId3"/>
          <a:srcRect b="9935"/>
          <a:stretch/>
        </p:blipFill>
        <p:spPr>
          <a:xfrm>
            <a:off x="8167735" y="1878850"/>
            <a:ext cx="3579836" cy="3779827"/>
          </a:xfrm>
          <a:prstGeom prst="rect">
            <a:avLst/>
          </a:prstGeom>
        </p:spPr>
      </p:pic>
    </p:spTree>
    <p:extLst>
      <p:ext uri="{BB962C8B-B14F-4D97-AF65-F5344CB8AC3E}">
        <p14:creationId xmlns:p14="http://schemas.microsoft.com/office/powerpoint/2010/main" val="1078771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SzPts val="2400"/>
              <a:buChar char="•"/>
            </a:pPr>
            <a:r>
              <a:rPr lang="en-US" dirty="0"/>
              <a:t>Fuel injector tests vary from leak checks, to balance tests, to oscilloscope testing.</a:t>
            </a:r>
            <a:endParaRPr dirty="0"/>
          </a:p>
          <a:p>
            <a:pPr marL="358775" lvl="0" indent="-358775" algn="l" rtl="0">
              <a:lnSpc>
                <a:spcPct val="100000"/>
              </a:lnSpc>
              <a:buSzPts val="2400"/>
              <a:buChar char="•"/>
            </a:pPr>
            <a:r>
              <a:rPr lang="en-US" dirty="0"/>
              <a:t>Have a class discussion while providing several examples of how you would select which test to use based on a particular symptom and why.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Electronic Throttle Controls</a:t>
            </a:r>
            <a:endParaRPr sz="3600" dirty="0"/>
          </a:p>
        </p:txBody>
      </p:sp>
      <p:pic>
        <p:nvPicPr>
          <p:cNvPr id="8" name="Picture Placeholder 7" descr="An electronic throttle control module with a throttle actuator or motor, TP sensors, accelerator pedal position (A P P) sensors, an electronic throttle control module, and a relay.">
            <a:extLst>
              <a:ext uri="{FF2B5EF4-FFF2-40B4-BE49-F238E27FC236}">
                <a16:creationId xmlns:a16="http://schemas.microsoft.com/office/drawing/2014/main" id="{8C7ADFE8-6D71-C9CB-8730-648B601A0D78}"/>
              </a:ext>
            </a:extLst>
          </p:cNvPr>
          <p:cNvPicPr>
            <a:picLocks noGrp="1" noChangeAspect="1"/>
          </p:cNvPicPr>
          <p:nvPr>
            <p:ph type="pic" sz="quarter" idx="12"/>
          </p:nvPr>
        </p:nvPicPr>
        <p:blipFill rotWithShape="1">
          <a:blip r:embed="rId3"/>
          <a:srcRect b="10210"/>
          <a:stretch/>
        </p:blipFill>
        <p:spPr>
          <a:xfrm>
            <a:off x="473242" y="1794707"/>
            <a:ext cx="4053127" cy="3294128"/>
          </a:xfrm>
          <a:prstGeom prst="rect">
            <a:avLst/>
          </a:prstGeom>
        </p:spPr>
      </p:pic>
      <p:sp>
        <p:nvSpPr>
          <p:cNvPr id="145" name="Google Shape;145;p4"/>
          <p:cNvSpPr txBox="1">
            <a:spLocks noGrp="1"/>
          </p:cNvSpPr>
          <p:nvPr>
            <p:ph type="body" idx="1"/>
          </p:nvPr>
        </p:nvSpPr>
        <p:spPr>
          <a:xfrm>
            <a:off x="4757351" y="1563624"/>
            <a:ext cx="6961407" cy="4540613"/>
          </a:xfrm>
          <a:prstGeom prst="rect">
            <a:avLst/>
          </a:prstGeom>
          <a:noFill/>
          <a:ln>
            <a:noFill/>
          </a:ln>
        </p:spPr>
        <p:txBody>
          <a:bodyPr spcFirstLastPara="1" wrap="square" lIns="91425" tIns="45700" rIns="91425" bIns="45700" anchor="t" anchorCtr="0">
            <a:noAutofit/>
          </a:bodyPr>
          <a:lstStyle/>
          <a:p>
            <a:pPr marL="358775" indent="-358775">
              <a:buSzPct val="100000"/>
            </a:pPr>
            <a:r>
              <a:rPr lang="en-US" sz="1800" dirty="0"/>
              <a:t>An electronic throttle control (ETC) system normally includes a throttle actuator or motor, TP sensors, accelerator pedal position (APP) sensors, an electronic throttle control module, and a relay.</a:t>
            </a:r>
          </a:p>
          <a:p>
            <a:pPr marL="358775" marR="0" lvl="0" indent="-358775" algn="l" rtl="0">
              <a:buSzPct val="100000"/>
              <a:buChar char="•"/>
            </a:pPr>
            <a:r>
              <a:rPr lang="en-US" sz="1800" dirty="0"/>
              <a:t>The control module may be part of the PCM or may be a separate unit.</a:t>
            </a:r>
          </a:p>
          <a:p>
            <a:pPr marL="358775" marR="0" lvl="0" indent="-358775" algn="l" rtl="0">
              <a:buSzPct val="100000"/>
              <a:buChar char="•"/>
            </a:pPr>
            <a:r>
              <a:rPr lang="en-US" sz="1800" dirty="0"/>
              <a:t>The actuator responds to commands from the PCM.</a:t>
            </a:r>
          </a:p>
          <a:p>
            <a:pPr marL="358775" marR="0" lvl="0" indent="-358775" algn="l" rtl="0">
              <a:buSzPct val="100000"/>
              <a:buChar char="•"/>
            </a:pPr>
            <a:r>
              <a:rPr lang="en-US" sz="1800" dirty="0"/>
              <a:t>The ETC system relies on redundant inputs and processors.</a:t>
            </a:r>
          </a:p>
          <a:p>
            <a:pPr marL="358775" marR="0" lvl="0" indent="-358775" algn="l" rtl="0">
              <a:buSzPct val="100000"/>
              <a:buChar char="•"/>
            </a:pPr>
            <a:r>
              <a:rPr lang="en-US" sz="1800" dirty="0"/>
              <a:t>Two accelerator pedal position signals are sent to the PCM, each having a different voltage range.</a:t>
            </a:r>
          </a:p>
          <a:p>
            <a:pPr marL="358775" marR="0" lvl="0" indent="-358775" algn="l" rtl="0">
              <a:buSzPct val="100000"/>
              <a:buChar char="•"/>
            </a:pPr>
            <a:r>
              <a:rPr lang="en-US" sz="1800" dirty="0"/>
              <a:t>The PCM processes these signals along with other inputs to set the throttle plate at the required position.</a:t>
            </a:r>
          </a:p>
        </p:txBody>
      </p:sp>
    </p:spTree>
    <p:extLst>
      <p:ext uri="{BB962C8B-B14F-4D97-AF65-F5344CB8AC3E}">
        <p14:creationId xmlns:p14="http://schemas.microsoft.com/office/powerpoint/2010/main" val="1173372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Diagnostic Monitors</a:t>
            </a:r>
            <a:endParaRPr sz="3600" dirty="0"/>
          </a:p>
        </p:txBody>
      </p:sp>
      <p:pic>
        <p:nvPicPr>
          <p:cNvPr id="8" name="Picture Placeholder 7" descr="A screenshot depicts an example of A P P sensor data on a scan tool, depicting the Relay/ Switches/ Charging/ A C Data- Actual Intake Variable Valve Timing Control- Advance Arr. The table lists seven different parameters and their corresponding values in rows as follows; Row 1. Accelerator Pedal Position (%), 0.00; Row 2. Accelerator Pedal Position 1 (V), 0.76; Row 3. Accelerator Pedal Position 2 (V), 0.38; Row 4. Actual Exhaust Variable Valve Timing Control- Retard Amount from Max Advance Position (degrees), 0.00; Row 5. Actual Intake Variable Valve Timing Control- Advance Amount from Maximum Retard Position (degrees), 19.50 (highlighted); Row 6. Air Bypass Valve Oil Pressure, On; Row 7. Air Conditioning Compressor Cycling Switch, Off.">
            <a:extLst>
              <a:ext uri="{FF2B5EF4-FFF2-40B4-BE49-F238E27FC236}">
                <a16:creationId xmlns:a16="http://schemas.microsoft.com/office/drawing/2014/main" id="{D68FCBCA-F506-BF98-8CF9-2A8F92363D06}"/>
              </a:ext>
            </a:extLst>
          </p:cNvPr>
          <p:cNvPicPr>
            <a:picLocks noGrp="1" noChangeAspect="1"/>
          </p:cNvPicPr>
          <p:nvPr>
            <p:ph type="pic" sz="quarter" idx="12"/>
          </p:nvPr>
        </p:nvPicPr>
        <p:blipFill rotWithShape="1">
          <a:blip r:embed="rId3"/>
          <a:srcRect b="11584"/>
          <a:stretch/>
        </p:blipFill>
        <p:spPr>
          <a:xfrm>
            <a:off x="208283" y="2165775"/>
            <a:ext cx="4032413" cy="2154941"/>
          </a:xfrm>
          <a:prstGeom prst="rect">
            <a:avLst/>
          </a:prstGeom>
        </p:spPr>
      </p:pic>
      <p:sp>
        <p:nvSpPr>
          <p:cNvPr id="145" name="Google Shape;145;p4"/>
          <p:cNvSpPr txBox="1">
            <a:spLocks noGrp="1"/>
          </p:cNvSpPr>
          <p:nvPr>
            <p:ph type="body" idx="1"/>
          </p:nvPr>
        </p:nvSpPr>
        <p:spPr>
          <a:xfrm>
            <a:off x="4522573" y="1563625"/>
            <a:ext cx="7196185" cy="4491186"/>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2000" dirty="0"/>
              <a:t>The PCM monitors the voltage levels of the APP sensors, TP sensors, and the throttle motor circuit.</a:t>
            </a:r>
          </a:p>
          <a:p>
            <a:pPr marL="342900" indent="-342900">
              <a:buSzPct val="100000"/>
            </a:pPr>
            <a:r>
              <a:rPr lang="en-US" sz="2000" dirty="0"/>
              <a:t>It also monitors the return rate of the two return springs. The APP sensors are potentiometers mounted at the accelerator pedal.</a:t>
            </a:r>
          </a:p>
          <a:p>
            <a:pPr marL="342900" indent="-342900">
              <a:buSzPct val="100000"/>
            </a:pPr>
            <a:r>
              <a:rPr lang="en-US" sz="2000" dirty="0"/>
              <a:t>Depending on the vehicle, there can be two separate APP sensors or one sensor capable of sending two separate signals.</a:t>
            </a:r>
          </a:p>
          <a:p>
            <a:pPr marL="342900" indent="-342900">
              <a:buSzPct val="100000"/>
            </a:pPr>
            <a:r>
              <a:rPr lang="en-US" sz="2000" dirty="0"/>
              <a:t>One signal is used to define the position of the pedal. The signal varies between 0 and 5 volts according to the pedal’s position.</a:t>
            </a:r>
          </a:p>
          <a:p>
            <a:pPr marL="342900" indent="-342900">
              <a:buSzPct val="100000"/>
            </a:pPr>
            <a:r>
              <a:rPr lang="en-US" sz="2000" dirty="0"/>
              <a:t>The other signal is used to monitor the sensor itself.</a:t>
            </a:r>
            <a:endParaRPr lang="en-US" sz="1400" b="1" dirty="0"/>
          </a:p>
        </p:txBody>
      </p:sp>
    </p:spTree>
    <p:extLst>
      <p:ext uri="{BB962C8B-B14F-4D97-AF65-F5344CB8AC3E}">
        <p14:creationId xmlns:p14="http://schemas.microsoft.com/office/powerpoint/2010/main" val="3317793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Idle Speed</a:t>
            </a:r>
            <a:endParaRPr sz="3600" dirty="0"/>
          </a:p>
        </p:txBody>
      </p:sp>
      <p:sp>
        <p:nvSpPr>
          <p:cNvPr id="145" name="Google Shape;145;p4"/>
          <p:cNvSpPr txBox="1">
            <a:spLocks noGrp="1"/>
          </p:cNvSpPr>
          <p:nvPr>
            <p:ph type="body" idx="1"/>
          </p:nvPr>
        </p:nvSpPr>
        <p:spPr>
          <a:xfrm>
            <a:off x="476843" y="1563625"/>
            <a:ext cx="7222669" cy="4590040"/>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The best way to monitor idle speed is with a scan tool.</a:t>
            </a:r>
          </a:p>
          <a:p>
            <a:pPr marL="357188" indent="-357188">
              <a:buSzPct val="100000"/>
            </a:pPr>
            <a:r>
              <a:rPr lang="en-US" sz="1800" dirty="0"/>
              <a:t>Connect the scan tool to the DLC and make sure there is communication between the tool and the vehicle.</a:t>
            </a:r>
          </a:p>
          <a:p>
            <a:pPr marL="357188" indent="-357188">
              <a:buSzPct val="100000"/>
            </a:pPr>
            <a:r>
              <a:rPr lang="en-US" sz="1800" dirty="0"/>
              <a:t>Start the engine and make sure  accessories are off.</a:t>
            </a:r>
          </a:p>
          <a:p>
            <a:pPr marL="357188" indent="-357188">
              <a:buSzPct val="100000"/>
            </a:pPr>
            <a:r>
              <a:rPr lang="en-US" sz="1800" dirty="0"/>
              <a:t>Increase the speed to about 3,000 rpm and hold it there until the cooling fan turns on.</a:t>
            </a:r>
          </a:p>
          <a:p>
            <a:pPr marL="357188" indent="-357188">
              <a:buSzPct val="100000"/>
            </a:pPr>
            <a:r>
              <a:rPr lang="en-US" sz="1800" dirty="0"/>
              <a:t>Allow the engine to idle; check the idle speed and compare it to specs.</a:t>
            </a:r>
          </a:p>
          <a:p>
            <a:pPr marL="357188" indent="-357188">
              <a:buSzPct val="100000"/>
            </a:pPr>
            <a:r>
              <a:rPr lang="en-US" sz="1800" dirty="0"/>
              <a:t>Then turn on some heavy load accessories, such as MAX air conditioning with the blower on high and the high-beam headlights.</a:t>
            </a:r>
          </a:p>
          <a:p>
            <a:pPr marL="357188" indent="-357188">
              <a:buSzPct val="100000"/>
            </a:pPr>
            <a:r>
              <a:rPr lang="en-US" sz="1800" dirty="0"/>
              <a:t>Check the idle speed and ETC.</a:t>
            </a:r>
            <a:endParaRPr lang="en-US" sz="1200" b="1" dirty="0"/>
          </a:p>
        </p:txBody>
      </p:sp>
      <p:pic>
        <p:nvPicPr>
          <p:cNvPr id="8" name="Picture Placeholder 7" descr="A screenshot depicts the lists of E T C data and commanded throttle opening for Chevrolet 1981- 2010. The subheading reads: T A C data. The list is as follows: Line 1. T A C MOTOR blank space ENABLED; Line 2. T A C ENG S/ DOWN blank space NO; Line 3. T A C MOTOR C M M D (%) blank space 16; Line 4. CRUISE CONTROL ACTIVE blank space NO; Line 5. B P P CIRCUIT SIGNAL blank space APPLIED; Line 6. B P P SIGNAL blank space APPLIED; Line 7. E X T TRAVEL B P P SIGNAL blank space RELEASED; Line 8. C P P SWITCH (IF EQUIPPED) blank space RELEASED; Line 9. ENGINE SPEED blank space 674; Line 10. DESIRED IDLE blank space 672; Line 11. COOLANT (DEGREES CELSIUS) blank space 91. Four blank check boxes 1, 2, 3, and 4, are at the bottom.">
            <a:extLst>
              <a:ext uri="{FF2B5EF4-FFF2-40B4-BE49-F238E27FC236}">
                <a16:creationId xmlns:a16="http://schemas.microsoft.com/office/drawing/2014/main" id="{078FE85C-A3A0-A4B6-3545-8DDF12421A2C}"/>
              </a:ext>
            </a:extLst>
          </p:cNvPr>
          <p:cNvPicPr>
            <a:picLocks noGrp="1" noChangeAspect="1"/>
          </p:cNvPicPr>
          <p:nvPr>
            <p:ph type="pic" sz="quarter" idx="13"/>
          </p:nvPr>
        </p:nvPicPr>
        <p:blipFill rotWithShape="1">
          <a:blip r:embed="rId3"/>
          <a:srcRect b="9680"/>
          <a:stretch/>
        </p:blipFill>
        <p:spPr>
          <a:xfrm>
            <a:off x="7976846" y="1999721"/>
            <a:ext cx="3912881" cy="2858557"/>
          </a:xfrm>
          <a:prstGeom prst="rect">
            <a:avLst/>
          </a:prstGeom>
        </p:spPr>
      </p:pic>
    </p:spTree>
    <p:extLst>
      <p:ext uri="{BB962C8B-B14F-4D97-AF65-F5344CB8AC3E}">
        <p14:creationId xmlns:p14="http://schemas.microsoft.com/office/powerpoint/2010/main" val="1492683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t>General Diagnostics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400"/>
              </a:spcAft>
              <a:buSzPct val="100000"/>
            </a:pPr>
            <a:r>
              <a:rPr lang="en-US" sz="1600" dirty="0"/>
              <a:t>There are several DTCs assigned to problems with the ETC system.</a:t>
            </a:r>
          </a:p>
          <a:p>
            <a:pPr marL="358775" indent="-358775">
              <a:spcAft>
                <a:spcPts val="400"/>
              </a:spcAft>
              <a:buSzPct val="100000"/>
            </a:pPr>
            <a:r>
              <a:rPr lang="en-US" sz="1600" dirty="0"/>
              <a:t>All of the major components have several DTCs assigned to them.</a:t>
            </a:r>
          </a:p>
          <a:p>
            <a:pPr marL="358775" indent="-358775">
              <a:spcAft>
                <a:spcPts val="400"/>
              </a:spcAft>
              <a:buSzPct val="100000"/>
            </a:pPr>
            <a:r>
              <a:rPr lang="en-US" sz="1600" dirty="0"/>
              <a:t>There are also pinpoint tests for each component.</a:t>
            </a:r>
          </a:p>
          <a:p>
            <a:pPr marL="358775" indent="-358775">
              <a:spcAft>
                <a:spcPts val="400"/>
              </a:spcAft>
              <a:buSzPct val="100000"/>
            </a:pPr>
            <a:r>
              <a:rPr lang="en-US" sz="1600" dirty="0"/>
              <a:t>Most of the components can be checked with a voltmeter, ohmmeter, scan tool, or scope.</a:t>
            </a:r>
          </a:p>
          <a:p>
            <a:pPr marL="358775" indent="-358775">
              <a:spcAft>
                <a:spcPts val="400"/>
              </a:spcAft>
              <a:buSzPct val="100000"/>
            </a:pPr>
            <a:r>
              <a:rPr lang="en-US" sz="1600" dirty="0"/>
              <a:t>The parts should be inspected prior to testing.</a:t>
            </a:r>
          </a:p>
          <a:p>
            <a:pPr marL="358775" indent="-358775">
              <a:spcAft>
                <a:spcPts val="400"/>
              </a:spcAft>
              <a:buSzPct val="100000"/>
            </a:pPr>
            <a:r>
              <a:rPr lang="en-US" sz="1600" dirty="0"/>
              <a:t>This is especially true of the throttle body assembly.</a:t>
            </a:r>
          </a:p>
          <a:p>
            <a:pPr marL="358775" indent="-358775">
              <a:spcAft>
                <a:spcPts val="400"/>
              </a:spcAft>
              <a:buSzPct val="100000"/>
            </a:pPr>
            <a:r>
              <a:rPr lang="en-US" sz="1600" dirty="0"/>
              <a:t>It should be checked for any buildup of dirt on the plate and in the bores. If needed, clean the assembly. </a:t>
            </a:r>
          </a:p>
          <a:p>
            <a:pPr marL="358775" indent="-358775">
              <a:spcAft>
                <a:spcPts val="400"/>
              </a:spcAft>
              <a:buSzPct val="100000"/>
            </a:pPr>
            <a:r>
              <a:rPr lang="en-US" sz="1600" dirty="0"/>
              <a:t>Also make sure that the plate moves freely in the bore.</a:t>
            </a:r>
          </a:p>
          <a:p>
            <a:pPr marL="358775" indent="-358775">
              <a:spcAft>
                <a:spcPts val="400"/>
              </a:spcAft>
              <a:buSzPct val="100000"/>
            </a:pPr>
            <a:r>
              <a:rPr lang="en-US" sz="1600" dirty="0"/>
              <a:t>Ohmmeter checks are made across specific terminals at the throttle body.</a:t>
            </a:r>
          </a:p>
          <a:p>
            <a:pPr marL="358775" indent="-358775">
              <a:spcAft>
                <a:spcPts val="400"/>
              </a:spcAft>
              <a:buSzPct val="100000"/>
            </a:pPr>
            <a:r>
              <a:rPr lang="en-US" sz="1600" dirty="0"/>
              <a:t>On most units, the connection is made across the positive (M+) feed to the motor and the negative (M−) terminals.</a:t>
            </a:r>
          </a:p>
          <a:p>
            <a:pPr marL="358775" indent="-358775">
              <a:spcAft>
                <a:spcPts val="400"/>
              </a:spcAft>
              <a:buSzPct val="100000"/>
            </a:pPr>
            <a:r>
              <a:rPr lang="en-US" sz="1600" dirty="0"/>
              <a:t>This setup measures the resistance of the windings in the actuator’s motor.</a:t>
            </a:r>
            <a:endParaRPr lang="en-US" sz="1600" b="1" dirty="0"/>
          </a:p>
        </p:txBody>
      </p:sp>
    </p:spTree>
    <p:extLst>
      <p:ext uri="{BB962C8B-B14F-4D97-AF65-F5344CB8AC3E}">
        <p14:creationId xmlns:p14="http://schemas.microsoft.com/office/powerpoint/2010/main" val="3127875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Idle Speed Checks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marR="0" lvl="0" indent="0" algn="l" rtl="0">
              <a:spcAft>
                <a:spcPts val="400"/>
              </a:spcAft>
              <a:buSzPts val="2800"/>
              <a:buNone/>
            </a:pPr>
            <a:r>
              <a:rPr lang="en-US" sz="2000" b="1" dirty="0"/>
              <a:t>31.06 Diagnose causes of improper idle speed on vehicles with fuel injection.</a:t>
            </a:r>
          </a:p>
          <a:p>
            <a:pPr marL="357188" marR="0" lvl="0" indent="-357188" algn="l" rtl="0">
              <a:spcAft>
                <a:spcPts val="400"/>
              </a:spcAft>
              <a:buSzPct val="100000"/>
              <a:buChar char="•"/>
            </a:pPr>
            <a:r>
              <a:rPr lang="en-US" sz="2000" dirty="0"/>
              <a:t>The idle speed of fuel-injected engines without an electronic throttle is regulated by controlling the amount of air that bypasses the airflow sensor or throttle plates.</a:t>
            </a:r>
          </a:p>
          <a:p>
            <a:pPr marL="357188" marR="0" lvl="0" indent="-357188" algn="l" rtl="0">
              <a:spcAft>
                <a:spcPts val="400"/>
              </a:spcAft>
              <a:buSzPct val="100000"/>
              <a:buChar char="•"/>
            </a:pPr>
            <a:r>
              <a:rPr lang="en-US" sz="2000" dirty="0"/>
              <a:t>When one of these vehicles has an idling problem, check the linkage and vacuum lines before going any further with your diagnosis.</a:t>
            </a:r>
          </a:p>
          <a:p>
            <a:pPr marL="357188" marR="0" lvl="0" indent="-357188" algn="l" rtl="0">
              <a:spcAft>
                <a:spcPts val="400"/>
              </a:spcAft>
              <a:buSzPct val="100000"/>
              <a:buChar char="•"/>
            </a:pPr>
            <a:r>
              <a:rPr lang="en-US" sz="2000" dirty="0"/>
              <a:t>Although idle speed is not typically adjustable, some engines do have provisions for setting the speed.</a:t>
            </a:r>
          </a:p>
          <a:p>
            <a:pPr marL="357188" marR="0" lvl="0" indent="-357188" algn="l" rtl="0">
              <a:spcAft>
                <a:spcPts val="400"/>
              </a:spcAft>
              <a:buSzPct val="100000"/>
              <a:buChar char="•"/>
            </a:pPr>
            <a:r>
              <a:rPr lang="en-US" sz="2000" dirty="0"/>
              <a:t>Always refer to the decal in the engine compartment to identify the conditions that must be present before adjusting the speed.</a:t>
            </a:r>
          </a:p>
          <a:p>
            <a:pPr marL="357188" marR="0" lvl="0" indent="-357188" algn="l" rtl="0">
              <a:spcAft>
                <a:spcPts val="400"/>
              </a:spcAft>
              <a:buSzPct val="100000"/>
              <a:buChar char="•"/>
            </a:pPr>
            <a:r>
              <a:rPr lang="en-US" sz="2000" dirty="0"/>
              <a:t>Also, refer to the service information before making any adjustments.</a:t>
            </a:r>
          </a:p>
          <a:p>
            <a:pPr marL="357188" marR="0" lvl="0" indent="-357188" algn="l" rtl="0">
              <a:spcAft>
                <a:spcPts val="400"/>
              </a:spcAft>
              <a:buSzPct val="100000"/>
              <a:buChar char="•"/>
            </a:pPr>
            <a:r>
              <a:rPr lang="en-US" sz="2000" dirty="0"/>
              <a:t>The idle speed and quality for most engines are controlled by the PCM through the IAC.</a:t>
            </a:r>
            <a:endParaRPr lang="en-US" sz="2000" b="1" dirty="0"/>
          </a:p>
        </p:txBody>
      </p:sp>
    </p:spTree>
    <p:extLst>
      <p:ext uri="{BB962C8B-B14F-4D97-AF65-F5344CB8AC3E}">
        <p14:creationId xmlns:p14="http://schemas.microsoft.com/office/powerpoint/2010/main" val="4256163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IAC Checks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85750" indent="-285750">
              <a:buSzPct val="100000"/>
            </a:pPr>
            <a:r>
              <a:rPr lang="en-US" sz="1800" dirty="0">
                <a:solidFill>
                  <a:schemeClr val="tx1"/>
                </a:solidFill>
              </a:rPr>
              <a:t>If the idle speed is not within specifications, look at the system with a scan tool.</a:t>
            </a:r>
          </a:p>
          <a:p>
            <a:pPr marL="285750" indent="-285750">
              <a:buSzPct val="100000"/>
            </a:pPr>
            <a:r>
              <a:rPr lang="en-US" sz="1800" dirty="0">
                <a:solidFill>
                  <a:schemeClr val="tx1"/>
                </a:solidFill>
              </a:rPr>
              <a:t>Make sure there is proper communications between the scan tool and the vehicle.</a:t>
            </a:r>
          </a:p>
          <a:p>
            <a:pPr marL="285750" indent="-285750">
              <a:buSzPct val="100000"/>
            </a:pPr>
            <a:r>
              <a:rPr lang="en-US" sz="1800" dirty="0">
                <a:solidFill>
                  <a:schemeClr val="tx1"/>
                </a:solidFill>
              </a:rPr>
              <a:t>Make sure that all CAN communications are good.</a:t>
            </a:r>
          </a:p>
          <a:p>
            <a:pPr marL="285750" indent="-285750">
              <a:buSzPct val="100000"/>
            </a:pPr>
            <a:r>
              <a:rPr lang="en-US" sz="1800" dirty="0">
                <a:solidFill>
                  <a:schemeClr val="tx1"/>
                </a:solidFill>
              </a:rPr>
              <a:t>Many different inputs will affect the performance of the IAC as well as cause other </a:t>
            </a:r>
            <a:r>
              <a:rPr lang="en-US" sz="1800" dirty="0" err="1">
                <a:solidFill>
                  <a:schemeClr val="tx1"/>
                </a:solidFill>
              </a:rPr>
              <a:t>driveability</a:t>
            </a:r>
            <a:r>
              <a:rPr lang="en-US" sz="1800" dirty="0">
                <a:solidFill>
                  <a:schemeClr val="tx1"/>
                </a:solidFill>
              </a:rPr>
              <a:t> problems.</a:t>
            </a:r>
          </a:p>
          <a:p>
            <a:pPr marL="285750" indent="-285750">
              <a:buSzPct val="100000"/>
            </a:pPr>
            <a:r>
              <a:rPr lang="en-US" sz="1800" dirty="0">
                <a:solidFill>
                  <a:schemeClr val="tx1"/>
                </a:solidFill>
              </a:rPr>
              <a:t>Following are examples:</a:t>
            </a:r>
          </a:p>
          <a:p>
            <a:pPr marL="715963" lvl="1" indent="-357188">
              <a:buSzPct val="100000"/>
            </a:pPr>
            <a:r>
              <a:rPr lang="en-US" sz="1600" dirty="0">
                <a:solidFill>
                  <a:schemeClr val="tx1"/>
                </a:solidFill>
              </a:rPr>
              <a:t>With higher-than-normal TP signals at idle, the PCM interprets this as the throttle being opened and will close the IAC to decrease idle speed.</a:t>
            </a:r>
          </a:p>
          <a:p>
            <a:pPr marL="715963" lvl="1" indent="-357188">
              <a:buSzPct val="100000"/>
            </a:pPr>
            <a:r>
              <a:rPr lang="en-US" sz="1600" dirty="0">
                <a:solidFill>
                  <a:schemeClr val="tx1"/>
                </a:solidFill>
              </a:rPr>
              <a:t>If the resistance of the ECT is too high, a higher-than-normal voltage signal is sent to the PCM, which interprets this as a cold engine. The PCM will then open the IAC to increase speed.</a:t>
            </a:r>
          </a:p>
          <a:p>
            <a:pPr marL="715963" lvl="1" indent="-357188">
              <a:buSzPct val="100000"/>
            </a:pPr>
            <a:r>
              <a:rPr lang="en-US" sz="1600" dirty="0">
                <a:solidFill>
                  <a:schemeClr val="tx1"/>
                </a:solidFill>
              </a:rPr>
              <a:t>If the resistance of the ECT is too low, a lower-than-normal voltage signal is sent to the PCM, which interprets this as a hot engine. The PCM will then open the IAC to increase speed.</a:t>
            </a:r>
            <a:endParaRPr lang="en-US" sz="1100" b="1" dirty="0">
              <a:solidFill>
                <a:schemeClr val="tx1"/>
              </a:solidFill>
            </a:endParaRPr>
          </a:p>
        </p:txBody>
      </p:sp>
    </p:spTree>
    <p:extLst>
      <p:ext uri="{BB962C8B-B14F-4D97-AF65-F5344CB8AC3E}">
        <p14:creationId xmlns:p14="http://schemas.microsoft.com/office/powerpoint/2010/main" val="1000364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Servicing the IAC Motor</a:t>
            </a:r>
            <a:endParaRPr sz="3600" dirty="0"/>
          </a:p>
        </p:txBody>
      </p:sp>
      <p:pic>
        <p:nvPicPr>
          <p:cNvPr id="8" name="Picture Placeholder 7" descr="An illustration depicts 2 structures. The first structure depicts a pintle. The second structure depicts the side view of the pintle. The horizontal distance between the end of the pintle and the shoulder of the motor casting is labeled Installed pintle length.">
            <a:extLst>
              <a:ext uri="{FF2B5EF4-FFF2-40B4-BE49-F238E27FC236}">
                <a16:creationId xmlns:a16="http://schemas.microsoft.com/office/drawing/2014/main" id="{08D36647-9DBA-8082-0DD3-5122629B413D}"/>
              </a:ext>
            </a:extLst>
          </p:cNvPr>
          <p:cNvPicPr>
            <a:picLocks noGrp="1" noChangeAspect="1"/>
          </p:cNvPicPr>
          <p:nvPr>
            <p:ph type="pic" sz="quarter" idx="12"/>
          </p:nvPr>
        </p:nvPicPr>
        <p:blipFill rotWithShape="1">
          <a:blip r:embed="rId3"/>
          <a:srcRect l="12729" r="10251" b="13072"/>
          <a:stretch/>
        </p:blipFill>
        <p:spPr>
          <a:xfrm>
            <a:off x="702365" y="1828667"/>
            <a:ext cx="3474421" cy="3750498"/>
          </a:xfrm>
          <a:prstGeom prst="rect">
            <a:avLst/>
          </a:prstGeom>
        </p:spPr>
      </p:pic>
      <p:sp>
        <p:nvSpPr>
          <p:cNvPr id="145" name="Google Shape;145;p4"/>
          <p:cNvSpPr txBox="1">
            <a:spLocks noGrp="1"/>
          </p:cNvSpPr>
          <p:nvPr>
            <p:ph type="body" idx="1"/>
          </p:nvPr>
        </p:nvSpPr>
        <p:spPr>
          <a:xfrm>
            <a:off x="4359964" y="1563624"/>
            <a:ext cx="7540487" cy="4515899"/>
          </a:xfrm>
          <a:prstGeom prst="rect">
            <a:avLst/>
          </a:prstGeom>
          <a:noFill/>
          <a:ln>
            <a:noFill/>
          </a:ln>
        </p:spPr>
        <p:txBody>
          <a:bodyPr spcFirstLastPara="1" wrap="square" lIns="91425" tIns="45700" rIns="91425" bIns="45700" anchor="t" anchorCtr="0">
            <a:noAutofit/>
          </a:bodyPr>
          <a:lstStyle/>
          <a:p>
            <a:pPr marL="342900" indent="-342900">
              <a:buSzPct val="100000"/>
            </a:pPr>
            <a:r>
              <a:rPr lang="en-US" sz="2000" dirty="0"/>
              <a:t>Remove the motor from the throttle body, and inspect the throttle body air passage for carbon deposits.</a:t>
            </a:r>
          </a:p>
          <a:p>
            <a:pPr marL="342900" indent="-342900">
              <a:buSzPct val="100000"/>
            </a:pPr>
            <a:r>
              <a:rPr lang="en-US" sz="2000" dirty="0"/>
              <a:t>If there are heavy carbon deposits, remove the complete throttle body for cleaning.</a:t>
            </a:r>
          </a:p>
          <a:p>
            <a:pPr marL="342900" indent="-342900">
              <a:buSzPct val="100000"/>
            </a:pPr>
            <a:r>
              <a:rPr lang="en-US" sz="2000" dirty="0"/>
              <a:t>Clean the IAC air passage, motor sealing surface, pintle valve, and pintle seat with throttle body cleaner replace the motor.</a:t>
            </a:r>
          </a:p>
          <a:p>
            <a:pPr marL="342900" indent="-342900">
              <a:buSzPct val="100000"/>
            </a:pPr>
            <a:r>
              <a:rPr lang="en-US" sz="2000" dirty="0"/>
              <a:t>If a new IAC motor is installed, make sure that the part number, pintle shape, and diameter are the same as those on the original motor.</a:t>
            </a:r>
          </a:p>
          <a:p>
            <a:pPr marL="342900" indent="-342900">
              <a:buSzPct val="100000"/>
            </a:pPr>
            <a:r>
              <a:rPr lang="en-US" sz="2000" dirty="0"/>
              <a:t>Measure the distance from the end of the pintle to the shoulder of the motor casting.</a:t>
            </a:r>
            <a:endParaRPr lang="en-US" sz="1300" b="1" dirty="0"/>
          </a:p>
        </p:txBody>
      </p:sp>
    </p:spTree>
    <p:extLst>
      <p:ext uri="{BB962C8B-B14F-4D97-AF65-F5344CB8AC3E}">
        <p14:creationId xmlns:p14="http://schemas.microsoft.com/office/powerpoint/2010/main" val="1866462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dirty="0"/>
              <a:t>What is the best tool for checking idle speed?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26001849-D5AB-A535-4B52-0337185F0461}"/>
              </a:ext>
            </a:extLst>
          </p:cNvPr>
          <p:cNvSpPr>
            <a:spLocks noGrp="1"/>
          </p:cNvSpPr>
          <p:nvPr>
            <p:ph type="body" idx="1"/>
          </p:nvPr>
        </p:nvSpPr>
        <p:spPr/>
        <p:txBody>
          <a:bodyPr/>
          <a:lstStyle/>
          <a:p>
            <a:pPr marL="457200" lvl="0" indent="-381000">
              <a:buClr>
                <a:srgbClr val="282F7C"/>
              </a:buClr>
              <a:buSzPts val="2400"/>
              <a:defRPr/>
            </a:pPr>
            <a:r>
              <a:rPr lang="en-US" b="1" dirty="0"/>
              <a:t>Answer: </a:t>
            </a:r>
            <a:r>
              <a:rPr lang="en-US" dirty="0"/>
              <a:t>The best way to monitor idle speed is with a scan tool.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review what you have learned about EFI diagnosis and service. Then respond to the following questions in one or two paragraphs. Use 150–200 words in your reflection.</a:t>
            </a:r>
            <a:endParaRPr dirty="0"/>
          </a:p>
          <a:p>
            <a:pPr marL="360363" lvl="0" indent="-360363" algn="l" rtl="0">
              <a:lnSpc>
                <a:spcPct val="100000"/>
              </a:lnSpc>
              <a:buSzPct val="100000"/>
              <a:buFont typeface="Arial"/>
              <a:buChar char="•"/>
            </a:pPr>
            <a:r>
              <a:rPr lang="en-US" dirty="0"/>
              <a:t>What did you struggle to understand most about testing and service of the EFI system? What will you do to better understand these concepts?</a:t>
            </a:r>
            <a:endParaRPr dirty="0"/>
          </a:p>
          <a:p>
            <a:pPr marL="360363" lvl="0" indent="-360363" algn="l" rtl="0">
              <a:lnSpc>
                <a:spcPct val="100000"/>
              </a:lnSpc>
              <a:buSzPct val="100000"/>
              <a:buFont typeface="Arial"/>
              <a:buChar char="•"/>
            </a:pPr>
            <a:r>
              <a:rPr lang="en-US" dirty="0"/>
              <a:t>Considering all you have learned about EFI service and diagnosis, do you feel prepared to perform the diagnosis and service in a shop or lab setting? How can you better prepare?</a:t>
            </a: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12138</TotalTime>
  <Words>3369</Words>
  <Application>Microsoft Office PowerPoint</Application>
  <PresentationFormat>Widescreen</PresentationFormat>
  <Paragraphs>216</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Work Sans</vt:lpstr>
      <vt:lpstr>Optimized Template Master</vt:lpstr>
      <vt:lpstr>Automotive Technology: A Systems Approach, 8e</vt:lpstr>
      <vt:lpstr>Chapter Objectives </vt:lpstr>
      <vt:lpstr>Preliminary Checks </vt:lpstr>
      <vt:lpstr>Basic EFI System Checks</vt:lpstr>
      <vt:lpstr>Fuel Trim</vt:lpstr>
      <vt:lpstr>Oxygen Sensor Diagnosis</vt:lpstr>
      <vt:lpstr>A/F Sensors</vt:lpstr>
      <vt:lpstr>Air Induction System Checks</vt:lpstr>
      <vt:lpstr>Airflow Sensors</vt:lpstr>
      <vt:lpstr>Throttle Body</vt:lpstr>
      <vt:lpstr>Throttle Body Removal and Cleaning</vt:lpstr>
      <vt:lpstr>Fuel System Checks</vt:lpstr>
      <vt:lpstr>Injector Checks</vt:lpstr>
      <vt:lpstr>Knowledge Check (1 of 2)</vt:lpstr>
      <vt:lpstr>Knowledge Check Answer (1 of 2)</vt:lpstr>
      <vt:lpstr>Injector Balance Test</vt:lpstr>
      <vt:lpstr>Oscilloscope Checks (1 of 2)</vt:lpstr>
      <vt:lpstr>Oscilloscope Checks (2 of 2)</vt:lpstr>
      <vt:lpstr>Injector Service</vt:lpstr>
      <vt:lpstr>Fuel Rail, Injector, and Pressure Regulator Removal</vt:lpstr>
      <vt:lpstr>Special GDI Checks</vt:lpstr>
      <vt:lpstr>Discussion</vt:lpstr>
      <vt:lpstr>Electronic Throttle Controls</vt:lpstr>
      <vt:lpstr>Diagnostic Monitors</vt:lpstr>
      <vt:lpstr>Idle Speed</vt:lpstr>
      <vt:lpstr>General Diagnostics</vt:lpstr>
      <vt:lpstr>Idle Speed Checks</vt:lpstr>
      <vt:lpstr>IAC Checks</vt:lpstr>
      <vt:lpstr>Servicing the IAC Motor</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256</cp:revision>
  <dcterms:created xsi:type="dcterms:W3CDTF">2021-12-10T16:21:02Z</dcterms:created>
  <dcterms:modified xsi:type="dcterms:W3CDTF">2024-11-20T13:14:55Z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