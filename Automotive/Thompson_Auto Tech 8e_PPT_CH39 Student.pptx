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4" r:id="rId2"/>
    <p:sldMasterId id="2147483718" r:id="rId3"/>
    <p:sldMasterId id="2147483736" r:id="rId4"/>
  </p:sldMasterIdLst>
  <p:notesMasterIdLst>
    <p:notesMasterId r:id="rId48"/>
  </p:notesMasterIdLst>
  <p:sldIdLst>
    <p:sldId id="386" r:id="rId5"/>
    <p:sldId id="363" r:id="rId6"/>
    <p:sldId id="378" r:id="rId7"/>
    <p:sldId id="258" r:id="rId8"/>
    <p:sldId id="260" r:id="rId9"/>
    <p:sldId id="261" r:id="rId10"/>
    <p:sldId id="262" r:id="rId11"/>
    <p:sldId id="263" r:id="rId12"/>
    <p:sldId id="264" r:id="rId13"/>
    <p:sldId id="265" r:id="rId14"/>
    <p:sldId id="266" r:id="rId15"/>
    <p:sldId id="267" r:id="rId16"/>
    <p:sldId id="268" r:id="rId17"/>
    <p:sldId id="269" r:id="rId18"/>
    <p:sldId id="380" r:id="rId19"/>
    <p:sldId id="270" r:id="rId20"/>
    <p:sldId id="379" r:id="rId21"/>
    <p:sldId id="271" r:id="rId22"/>
    <p:sldId id="272" r:id="rId23"/>
    <p:sldId id="273" r:id="rId24"/>
    <p:sldId id="274" r:id="rId25"/>
    <p:sldId id="275" r:id="rId26"/>
    <p:sldId id="276" r:id="rId27"/>
    <p:sldId id="277" r:id="rId28"/>
    <p:sldId id="278" r:id="rId29"/>
    <p:sldId id="279" r:id="rId30"/>
    <p:sldId id="281" r:id="rId31"/>
    <p:sldId id="381" r:id="rId32"/>
    <p:sldId id="280" r:id="rId33"/>
    <p:sldId id="382" r:id="rId34"/>
    <p:sldId id="383" r:id="rId35"/>
    <p:sldId id="282" r:id="rId36"/>
    <p:sldId id="283" r:id="rId37"/>
    <p:sldId id="284" r:id="rId38"/>
    <p:sldId id="285" r:id="rId39"/>
    <p:sldId id="286" r:id="rId40"/>
    <p:sldId id="287" r:id="rId41"/>
    <p:sldId id="384" r:id="rId42"/>
    <p:sldId id="385" r:id="rId43"/>
    <p:sldId id="288" r:id="rId44"/>
    <p:sldId id="289" r:id="rId45"/>
    <p:sldId id="290" r:id="rId46"/>
    <p:sldId id="377"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6"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7607" autoAdjust="0"/>
  </p:normalViewPr>
  <p:slideViewPr>
    <p:cSldViewPr snapToGrid="0" snapToObjects="1" showGuides="1">
      <p:cViewPr varScale="1">
        <p:scale>
          <a:sx n="65" d="100"/>
          <a:sy n="65" d="100"/>
        </p:scale>
        <p:origin x="700" y="44"/>
      </p:cViewPr>
      <p:guideLst>
        <p:guide orient="horz" pos="168"/>
        <p:guide pos="3876"/>
      </p:guideLst>
    </p:cSldViewPr>
  </p:slideViewPr>
  <p:outlineViewPr>
    <p:cViewPr>
      <p:scale>
        <a:sx n="33" d="100"/>
        <a:sy n="33" d="100"/>
      </p:scale>
      <p:origin x="0" y="-32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381000" y="685800"/>
            <a:ext cx="6096000" cy="3429000"/>
          </a:xfrm>
          <a:ln/>
        </p:spPr>
      </p:sp>
      <p:sp>
        <p:nvSpPr>
          <p:cNvPr id="337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780383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381000" y="685800"/>
            <a:ext cx="6096000" cy="3429000"/>
          </a:xfrm>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1740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381000" y="685800"/>
            <a:ext cx="6096000" cy="3429000"/>
          </a:xfrm>
          <a:ln/>
        </p:spPr>
      </p:sp>
      <p:sp>
        <p:nvSpPr>
          <p:cNvPr id="3686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604646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381000" y="685800"/>
            <a:ext cx="6096000" cy="3429000"/>
          </a:xfrm>
          <a:ln/>
        </p:spPr>
      </p:sp>
      <p:sp>
        <p:nvSpPr>
          <p:cNvPr id="3789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97239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862D8006-7B0F-4192-A7F6-027A19920D67}" type="slidenum">
              <a:rPr lang="en-US" smtClean="0"/>
              <a:pPr/>
              <a:t>9</a:t>
            </a:fld>
            <a:endParaRPr lang="en-US" dirty="0"/>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997397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81000" y="685800"/>
            <a:ext cx="6096000" cy="3429000"/>
          </a:xfrm>
          <a:ln/>
        </p:spPr>
      </p:sp>
      <p:sp>
        <p:nvSpPr>
          <p:cNvPr id="3993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50792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381000" y="685800"/>
            <a:ext cx="6096000" cy="3429000"/>
          </a:xfrm>
          <a:ln/>
        </p:spPr>
      </p:sp>
      <p:sp>
        <p:nvSpPr>
          <p:cNvPr id="4096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54874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381000" y="685800"/>
            <a:ext cx="6096000" cy="3429000"/>
          </a:xfrm>
          <a:ln/>
        </p:spPr>
      </p:sp>
      <p:sp>
        <p:nvSpPr>
          <p:cNvPr id="4198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282555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381000" y="685800"/>
            <a:ext cx="6096000" cy="3429000"/>
          </a:xfrm>
          <a:ln/>
        </p:spPr>
      </p:sp>
      <p:sp>
        <p:nvSpPr>
          <p:cNvPr id="4301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823015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0B8F795-B29A-41A6-AB53-F08BAB7B9C6B}" type="slidenum">
              <a:rPr lang="en-US" smtClean="0"/>
              <a:pPr/>
              <a:t>16</a:t>
            </a:fld>
            <a:endParaRPr lang="en-US" dirty="0"/>
          </a:p>
        </p:txBody>
      </p:sp>
    </p:spTree>
    <p:extLst>
      <p:ext uri="{BB962C8B-B14F-4D97-AF65-F5344CB8AC3E}">
        <p14:creationId xmlns:p14="http://schemas.microsoft.com/office/powerpoint/2010/main" val="717943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0B8F795-B29A-41A6-AB53-F08BAB7B9C6B}" type="slidenum">
              <a:rPr lang="en-US" smtClean="0"/>
              <a:pPr/>
              <a:t>17</a:t>
            </a:fld>
            <a:endParaRPr lang="en-US" dirty="0"/>
          </a:p>
        </p:txBody>
      </p:sp>
    </p:spTree>
    <p:extLst>
      <p:ext uri="{BB962C8B-B14F-4D97-AF65-F5344CB8AC3E}">
        <p14:creationId xmlns:p14="http://schemas.microsoft.com/office/powerpoint/2010/main" val="342598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381000" y="685800"/>
            <a:ext cx="6096000" cy="3429000"/>
          </a:xfrm>
          <a:ln/>
        </p:spPr>
      </p:sp>
      <p:sp>
        <p:nvSpPr>
          <p:cNvPr id="4403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728088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381000" y="685800"/>
            <a:ext cx="6096000" cy="3429000"/>
          </a:xfrm>
          <a:ln/>
        </p:spPr>
      </p:sp>
      <p:sp>
        <p:nvSpPr>
          <p:cNvPr id="4505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998558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381000" y="685800"/>
            <a:ext cx="6096000" cy="3429000"/>
          </a:xfrm>
          <a:ln/>
        </p:spPr>
      </p:sp>
      <p:sp>
        <p:nvSpPr>
          <p:cNvPr id="4608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57894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381000" y="685800"/>
            <a:ext cx="6096000" cy="3429000"/>
          </a:xfrm>
          <a:ln/>
        </p:spPr>
      </p:sp>
      <p:sp>
        <p:nvSpPr>
          <p:cNvPr id="471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09881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381000" y="685800"/>
            <a:ext cx="6096000" cy="3429000"/>
          </a:xfrm>
          <a:ln/>
        </p:spPr>
      </p:sp>
      <p:sp>
        <p:nvSpPr>
          <p:cNvPr id="4813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6205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a:ln/>
        </p:spPr>
      </p:sp>
      <p:sp>
        <p:nvSpPr>
          <p:cNvPr id="4915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96665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381000" y="685800"/>
            <a:ext cx="6096000" cy="3429000"/>
          </a:xfrm>
          <a:ln/>
        </p:spPr>
      </p:sp>
      <p:sp>
        <p:nvSpPr>
          <p:cNvPr id="501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904885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381000" y="685800"/>
            <a:ext cx="6096000" cy="3429000"/>
          </a:xfrm>
          <a:ln/>
        </p:spPr>
      </p:sp>
      <p:sp>
        <p:nvSpPr>
          <p:cNvPr id="5120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186799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0B8F795-B29A-41A6-AB53-F08BAB7B9C6B}" type="slidenum">
              <a:rPr lang="en-US" smtClean="0"/>
              <a:pPr/>
              <a:t>27</a:t>
            </a:fld>
            <a:endParaRPr lang="en-US" dirty="0"/>
          </a:p>
        </p:txBody>
      </p:sp>
    </p:spTree>
    <p:extLst>
      <p:ext uri="{BB962C8B-B14F-4D97-AF65-F5344CB8AC3E}">
        <p14:creationId xmlns:p14="http://schemas.microsoft.com/office/powerpoint/2010/main" val="2879325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0B8F795-B29A-41A6-AB53-F08BAB7B9C6B}" type="slidenum">
              <a:rPr lang="en-US" smtClean="0"/>
              <a:pPr/>
              <a:t>28</a:t>
            </a:fld>
            <a:endParaRPr lang="en-US" dirty="0"/>
          </a:p>
        </p:txBody>
      </p:sp>
    </p:spTree>
    <p:extLst>
      <p:ext uri="{BB962C8B-B14F-4D97-AF65-F5344CB8AC3E}">
        <p14:creationId xmlns:p14="http://schemas.microsoft.com/office/powerpoint/2010/main" val="25299882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381000" y="685800"/>
            <a:ext cx="6096000" cy="3429000"/>
          </a:xfrm>
          <a:ln/>
        </p:spPr>
      </p:sp>
      <p:sp>
        <p:nvSpPr>
          <p:cNvPr id="5222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770412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381000" y="685800"/>
            <a:ext cx="6096000" cy="3429000"/>
          </a:xfrm>
          <a:ln/>
        </p:spPr>
      </p:sp>
      <p:sp>
        <p:nvSpPr>
          <p:cNvPr id="5325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56833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381000" y="685800"/>
            <a:ext cx="6096000" cy="3429000"/>
          </a:xfrm>
          <a:ln/>
        </p:spPr>
      </p:sp>
      <p:sp>
        <p:nvSpPr>
          <p:cNvPr id="542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827076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381000" y="685800"/>
            <a:ext cx="6096000" cy="3429000"/>
          </a:xfrm>
          <a:ln/>
        </p:spPr>
      </p:sp>
      <p:sp>
        <p:nvSpPr>
          <p:cNvPr id="552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466537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095124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381000" y="685800"/>
            <a:ext cx="6096000" cy="3429000"/>
          </a:xfrm>
          <a:ln/>
        </p:spPr>
      </p:sp>
      <p:sp>
        <p:nvSpPr>
          <p:cNvPr id="5734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441492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1000" y="685800"/>
            <a:ext cx="6096000" cy="3429000"/>
          </a:xfrm>
          <a:ln/>
        </p:spPr>
      </p:sp>
      <p:sp>
        <p:nvSpPr>
          <p:cNvPr id="5837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325018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381000" y="685800"/>
            <a:ext cx="6096000" cy="3429000"/>
          </a:xfrm>
          <a:ln/>
        </p:spPr>
      </p:sp>
      <p:sp>
        <p:nvSpPr>
          <p:cNvPr id="593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263406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381000" y="685800"/>
            <a:ext cx="6096000" cy="3429000"/>
          </a:xfrm>
          <a:ln/>
        </p:spPr>
      </p:sp>
      <p:sp>
        <p:nvSpPr>
          <p:cNvPr id="604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80436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381000" y="685800"/>
            <a:ext cx="6096000" cy="3429000"/>
          </a:xfrm>
          <a:ln/>
        </p:spPr>
      </p:sp>
      <p:sp>
        <p:nvSpPr>
          <p:cNvPr id="614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02599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3633890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14295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582301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783675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102752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44898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8669148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220000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4220762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323619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225686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608917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9509681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40208065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02824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8692357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50573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613877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9662208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0919645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0504407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1996924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426265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856897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0161349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693362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701499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726637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312279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157787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4949095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71264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496481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944800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827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5507764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8437846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111873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1985201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409874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246591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690623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298585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167217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230507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527860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732716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2373613"/>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7104733"/>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5726914"/>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2600145"/>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5855851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1123434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683231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r>
              <a:rPr lang="en-US" dirty="0"/>
              <a:t> </a:t>
            </a:r>
          </a:p>
          <a:p>
            <a:pPr lvl="2"/>
            <a:r>
              <a:rPr lang="en-US" dirty="0"/>
              <a:t> </a:t>
            </a:r>
          </a:p>
        </p:txBody>
      </p:sp>
    </p:spTree>
    <p:extLst>
      <p:ext uri="{BB962C8B-B14F-4D97-AF65-F5344CB8AC3E}">
        <p14:creationId xmlns:p14="http://schemas.microsoft.com/office/powerpoint/2010/main" val="38712100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324883"/>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r>
              <a:rPr lang="en-US" dirty="0"/>
              <a:t> </a:t>
            </a:r>
          </a:p>
          <a:p>
            <a:pPr lvl="2"/>
            <a:r>
              <a:rPr lang="en-US" dirty="0"/>
              <a:t> </a:t>
            </a:r>
          </a:p>
        </p:txBody>
      </p:sp>
      <p:sp>
        <p:nvSpPr>
          <p:cNvPr id="3" name="Picture Placeholder 2">
            <a:extLst>
              <a:ext uri="{FF2B5EF4-FFF2-40B4-BE49-F238E27FC236}">
                <a16:creationId xmlns:a16="http://schemas.microsoft.com/office/drawing/2014/main" id="{4798831A-20D4-C2C5-1AD1-C7769ED6F4EB}"/>
              </a:ext>
            </a:extLst>
          </p:cNvPr>
          <p:cNvSpPr>
            <a:spLocks noGrp="1"/>
          </p:cNvSpPr>
          <p:nvPr>
            <p:ph type="pic" sz="quarter" idx="10"/>
          </p:nvPr>
        </p:nvSpPr>
        <p:spPr>
          <a:xfrm>
            <a:off x="476250" y="4119563"/>
            <a:ext cx="914400" cy="914400"/>
          </a:xfrm>
        </p:spPr>
        <p:txBody>
          <a:bodyPr/>
          <a:lstStyle/>
          <a:p>
            <a:endParaRPr lang="en-IN"/>
          </a:p>
        </p:txBody>
      </p:sp>
      <p:sp>
        <p:nvSpPr>
          <p:cNvPr id="5" name="Table Placeholder 4">
            <a:extLst>
              <a:ext uri="{FF2B5EF4-FFF2-40B4-BE49-F238E27FC236}">
                <a16:creationId xmlns:a16="http://schemas.microsoft.com/office/drawing/2014/main" id="{8607B735-A66C-5AF0-CDD4-AAD209D0B675}"/>
              </a:ext>
            </a:extLst>
          </p:cNvPr>
          <p:cNvSpPr>
            <a:spLocks noGrp="1"/>
          </p:cNvSpPr>
          <p:nvPr>
            <p:ph type="tbl" sz="quarter" idx="11"/>
          </p:nvPr>
        </p:nvSpPr>
        <p:spPr>
          <a:xfrm>
            <a:off x="3556200" y="4225925"/>
            <a:ext cx="914400" cy="914400"/>
          </a:xfrm>
        </p:spPr>
        <p:txBody>
          <a:bodyPr/>
          <a:lstStyle/>
          <a:p>
            <a:endParaRPr lang="en-IN" dirty="0"/>
          </a:p>
        </p:txBody>
      </p:sp>
      <p:sp>
        <p:nvSpPr>
          <p:cNvPr id="7" name="Picture Placeholder 6">
            <a:extLst>
              <a:ext uri="{FF2B5EF4-FFF2-40B4-BE49-F238E27FC236}">
                <a16:creationId xmlns:a16="http://schemas.microsoft.com/office/drawing/2014/main" id="{B2D64073-5A3E-634A-E329-2CF3153666FB}"/>
              </a:ext>
            </a:extLst>
          </p:cNvPr>
          <p:cNvSpPr>
            <a:spLocks noGrp="1"/>
          </p:cNvSpPr>
          <p:nvPr>
            <p:ph type="pic" sz="quarter" idx="12"/>
          </p:nvPr>
        </p:nvSpPr>
        <p:spPr>
          <a:xfrm>
            <a:off x="2155825" y="4225925"/>
            <a:ext cx="914400" cy="914400"/>
          </a:xfrm>
        </p:spPr>
        <p:txBody>
          <a:bodyPr/>
          <a:lstStyle/>
          <a:p>
            <a:endParaRPr lang="en-IN"/>
          </a:p>
        </p:txBody>
      </p:sp>
    </p:spTree>
    <p:extLst>
      <p:ext uri="{BB962C8B-B14F-4D97-AF65-F5344CB8AC3E}">
        <p14:creationId xmlns:p14="http://schemas.microsoft.com/office/powerpoint/2010/main" val="293530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image" Target="../media/image3.png"/><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image" Target="../media/image3.png"/><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theme" Target="../theme/theme4.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56" r:id="rId12"/>
    <p:sldLayoutId id="2147483757"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
        <p:nvSpPr>
          <p:cNvPr id="7" name="Rectangle 3">
            <a:extLst>
              <a:ext uri="{FF2B5EF4-FFF2-40B4-BE49-F238E27FC236}">
                <a16:creationId xmlns:a16="http://schemas.microsoft.com/office/drawing/2014/main" id="{E7602D55-2144-C155-94ED-84A57558C404}"/>
              </a:ext>
            </a:extLst>
          </p:cNvPr>
          <p:cNvSpPr>
            <a:spLocks noChangeArrowheads="1"/>
          </p:cNvSpPr>
          <p:nvPr userDrawn="1"/>
        </p:nvSpPr>
        <p:spPr bwMode="auto">
          <a:xfrm>
            <a:off x="4247444" y="6424082"/>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36FB42AF-EFAE-0B11-EE81-E5B5BBFEC7C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C1C7B148-611C-105F-8A42-F82DC2446934}"/>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48495981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9">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A002C2D4-4FB3-D299-D24D-1E661BBC5B84}"/>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4084346"/>
      </p:ext>
    </p:extLst>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6">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72248BE1-727D-F3F4-12E3-9D22437B331D}"/>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1837426360"/>
      </p:ext>
    </p:extLst>
  </p:cSld>
  <p:clrMap bg1="lt1" tx1="dk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8" r:id="rId20"/>
    <p:sldLayoutId id="2147483759" r:id="rId21"/>
    <p:sldLayoutId id="2147483760" r:id="rId22"/>
    <p:sldLayoutId id="2147483761" r:id="rId23"/>
    <p:sldLayoutId id="2147483762" r:id="rId2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6.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6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6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6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7.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67.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6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6.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6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39: Manual Transmission/Transaxle Service</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98F-B967-5850-7799-93AF5C60FCA0}"/>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CAADC278-64B6-4196-E6A2-49AFEA228A95}"/>
              </a:ext>
            </a:extLst>
          </p:cNvPr>
          <p:cNvSpPr>
            <a:spLocks noGrp="1"/>
          </p:cNvSpPr>
          <p:nvPr>
            <p:ph type="body" idx="1"/>
          </p:nvPr>
        </p:nvSpPr>
        <p:spPr/>
        <p:txBody>
          <a:bodyPr/>
          <a:lstStyle/>
          <a:p>
            <a:r>
              <a:rPr lang="en-US" sz="2600" dirty="0">
                <a:solidFill>
                  <a:schemeClr val="tx1"/>
                </a:solidFill>
                <a:latin typeface="Work Sans" pitchFamily="2" charset="0"/>
              </a:rPr>
              <a:t>39.01 Check transmission oil level correctly, detect signs of contaminated oil, and change oil as needed.</a:t>
            </a:r>
          </a:p>
          <a:p>
            <a:r>
              <a:rPr lang="en-US" sz="2600" dirty="0">
                <a:solidFill>
                  <a:schemeClr val="tx1"/>
                </a:solidFill>
                <a:latin typeface="Work Sans" pitchFamily="2" charset="0"/>
              </a:rPr>
              <a:t>39.02 Describe common in-vehicle transmission/ transaxle services.</a:t>
            </a:r>
          </a:p>
          <a:p>
            <a:r>
              <a:rPr lang="en-US" sz="2600" dirty="0">
                <a:solidFill>
                  <a:schemeClr val="tx1"/>
                </a:solidFill>
                <a:latin typeface="Work Sans" pitchFamily="2" charset="0"/>
              </a:rPr>
              <a:t>39.03 Identify common transmission problems and their probable causes and solutions.</a:t>
            </a:r>
          </a:p>
        </p:txBody>
      </p:sp>
    </p:spTree>
    <p:extLst>
      <p:ext uri="{BB962C8B-B14F-4D97-AF65-F5344CB8AC3E}">
        <p14:creationId xmlns:p14="http://schemas.microsoft.com/office/powerpoint/2010/main" val="2856882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98F-B967-5850-7799-93AF5C60FCA0}"/>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CAADC278-64B6-4196-E6A2-49AFEA228A95}"/>
              </a:ext>
            </a:extLst>
          </p:cNvPr>
          <p:cNvSpPr>
            <a:spLocks noGrp="1"/>
          </p:cNvSpPr>
          <p:nvPr>
            <p:ph type="body" idx="1"/>
          </p:nvPr>
        </p:nvSpPr>
        <p:spPr/>
        <p:txBody>
          <a:bodyPr/>
          <a:lstStyle/>
          <a:p>
            <a:r>
              <a:rPr lang="en-US" sz="2600" dirty="0">
                <a:solidFill>
                  <a:schemeClr val="tx1"/>
                </a:solidFill>
                <a:latin typeface="Work Sans" pitchFamily="2" charset="0"/>
              </a:rPr>
              <a:t>39.04 Describe the steps taken to remove and install transmissions/transaxles, including the equipment and safety precautions used.</a:t>
            </a:r>
          </a:p>
          <a:p>
            <a:r>
              <a:rPr lang="en-US" sz="2600" dirty="0">
                <a:solidFill>
                  <a:schemeClr val="tx1"/>
                </a:solidFill>
                <a:latin typeface="Work Sans" pitchFamily="2" charset="0"/>
              </a:rPr>
              <a:t>39.05 Perform a visual inspection of transmission/ transaxle components for signs of damage or wear.</a:t>
            </a:r>
          </a:p>
          <a:p>
            <a:r>
              <a:rPr lang="en-US" sz="2600" dirty="0">
                <a:solidFill>
                  <a:schemeClr val="tx1"/>
                </a:solidFill>
                <a:latin typeface="Work Sans" pitchFamily="2" charset="0"/>
              </a:rPr>
              <a:t>39.06 Describe the basic steps and precautions taken during transmission/transaxle disassembly, cleaning, inspection, and reassembly procedures.</a:t>
            </a:r>
          </a:p>
        </p:txBody>
      </p:sp>
    </p:spTree>
    <p:extLst>
      <p:ext uri="{BB962C8B-B14F-4D97-AF65-F5344CB8AC3E}">
        <p14:creationId xmlns:p14="http://schemas.microsoft.com/office/powerpoint/2010/main" val="1936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Transmission Identification</a:t>
            </a:r>
          </a:p>
        </p:txBody>
      </p:sp>
      <p:sp>
        <p:nvSpPr>
          <p:cNvPr id="3075" name="Rectangle 3"/>
          <p:cNvSpPr>
            <a:spLocks noGrp="1" noChangeArrowheads="1"/>
          </p:cNvSpPr>
          <p:nvPr>
            <p:ph type="body" idx="1"/>
          </p:nvPr>
        </p:nvSpPr>
        <p:spPr/>
        <p:txBody>
          <a:bodyPr/>
          <a:lstStyle/>
          <a:p>
            <a:pPr>
              <a:buClr>
                <a:schemeClr val="bg2"/>
              </a:buClr>
              <a:buSzPct val="100000"/>
            </a:pPr>
            <a:r>
              <a:rPr lang="en-US" sz="2600" dirty="0">
                <a:solidFill>
                  <a:schemeClr val="tx1"/>
                </a:solidFill>
              </a:rPr>
              <a:t>A transmission cannot accurately be identified by the way it looks.</a:t>
            </a:r>
          </a:p>
          <a:p>
            <a:pPr>
              <a:buClr>
                <a:schemeClr val="bg2"/>
              </a:buClr>
              <a:buSzPct val="100000"/>
            </a:pPr>
            <a:r>
              <a:rPr lang="en-US" sz="2600" dirty="0">
                <a:solidFill>
                  <a:schemeClr val="tx1"/>
                </a:solidFill>
              </a:rPr>
              <a:t>Always use the identification numbers found stamped on the case or on a metal tag.</a:t>
            </a:r>
          </a:p>
          <a:p>
            <a:pPr>
              <a:buClr>
                <a:schemeClr val="bg2"/>
              </a:buClr>
              <a:buSzPct val="100000"/>
            </a:pPr>
            <a:r>
              <a:rPr lang="en-US" sz="2600" dirty="0">
                <a:solidFill>
                  <a:schemeClr val="tx1"/>
                </a:solidFill>
              </a:rPr>
              <a:t>Use the service manual for further identification.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GM Transmission I.D.</a:t>
            </a:r>
          </a:p>
        </p:txBody>
      </p:sp>
      <p:pic>
        <p:nvPicPr>
          <p:cNvPr id="7" name="Picture Placeholder 6" descr="Three illustrations. The first illustration depicts the O E M (Original Equipment Manufacturer) tag. Arrows point toward various values included in the O E M tag and reads as follows: Calendar, year, Model year, Transmission type, Model number, and Serial number. The arrow pointing to a small line above the O E M tag reads Julian date. The second illustration depicts a transaxle. The third illustration depicts a S R T A tag. Arrows point toward various values in the S R T A tag and reads as follows: Model code, Model year, Year, Julian code, Serial number, Control number, and Transmission type.">
            <a:extLst>
              <a:ext uri="{FF2B5EF4-FFF2-40B4-BE49-F238E27FC236}">
                <a16:creationId xmlns:a16="http://schemas.microsoft.com/office/drawing/2014/main" id="{A8739493-7DE7-9AB6-5F24-54BA747959CE}"/>
              </a:ext>
            </a:extLst>
          </p:cNvPr>
          <p:cNvPicPr>
            <a:picLocks noGrp="1" noChangeAspect="1"/>
          </p:cNvPicPr>
          <p:nvPr>
            <p:ph type="pic" sz="quarter" idx="10"/>
          </p:nvPr>
        </p:nvPicPr>
        <p:blipFill>
          <a:blip r:embed="rId2"/>
          <a:srcRect b="5192"/>
          <a:stretch/>
        </p:blipFill>
        <p:spPr>
          <a:xfrm>
            <a:off x="2292668" y="1638768"/>
            <a:ext cx="7606665" cy="3858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dirty="0"/>
              <a:t>Lubricant Check</a:t>
            </a:r>
          </a:p>
        </p:txBody>
      </p:sp>
      <p:sp>
        <p:nvSpPr>
          <p:cNvPr id="5123" name="Content Placeholder 6"/>
          <p:cNvSpPr>
            <a:spLocks noGrp="1"/>
          </p:cNvSpPr>
          <p:nvPr>
            <p:ph type="body" idx="1"/>
          </p:nvPr>
        </p:nvSpPr>
        <p:spPr/>
        <p:txBody>
          <a:bodyPr/>
          <a:lstStyle/>
          <a:p>
            <a:pPr marL="0" indent="0">
              <a:buNone/>
            </a:pPr>
            <a:r>
              <a:rPr lang="en-US" sz="2600" b="1" dirty="0">
                <a:solidFill>
                  <a:schemeClr val="tx1"/>
                </a:solidFill>
              </a:rPr>
              <a:t>39.01 Check transmission oil level correctly, detect signs of contaminated oil, and change oil as needed.</a:t>
            </a:r>
          </a:p>
          <a:p>
            <a:r>
              <a:rPr lang="en-US" sz="2600" dirty="0">
                <a:solidFill>
                  <a:schemeClr val="tx1"/>
                </a:solidFill>
              </a:rPr>
              <a:t>Should be checked at regular maintenance intervals.</a:t>
            </a:r>
          </a:p>
          <a:p>
            <a:r>
              <a:rPr lang="en-US" sz="2600" dirty="0">
                <a:solidFill>
                  <a:schemeClr val="tx1"/>
                </a:solidFill>
              </a:rPr>
              <a:t>Check oil with the engine off.</a:t>
            </a:r>
          </a:p>
          <a:p>
            <a:r>
              <a:rPr lang="en-US" sz="2600" dirty="0">
                <a:solidFill>
                  <a:schemeClr val="tx1"/>
                </a:solidFill>
              </a:rPr>
              <a:t>May have a dipstick or a check/fill plug.</a:t>
            </a:r>
          </a:p>
          <a:p>
            <a:r>
              <a:rPr lang="en-US" sz="2600" dirty="0">
                <a:solidFill>
                  <a:schemeClr val="tx1"/>
                </a:solidFill>
              </a:rPr>
              <a:t>Lubricants in use today include single and multi-viscosity oils, engine oil, special hydraulic fluids, and ATF.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86DF-11BF-4ACB-D9A4-32160B0C0894}"/>
              </a:ext>
            </a:extLst>
          </p:cNvPr>
          <p:cNvSpPr>
            <a:spLocks noGrp="1"/>
          </p:cNvSpPr>
          <p:nvPr>
            <p:ph type="title"/>
          </p:nvPr>
        </p:nvSpPr>
        <p:spPr>
          <a:xfrm>
            <a:off x="476844" y="117769"/>
            <a:ext cx="11241915" cy="1632397"/>
          </a:xfrm>
        </p:spPr>
        <p:txBody>
          <a:bodyPr/>
          <a:lstStyle/>
          <a:p>
            <a:r>
              <a:rPr lang="en-IN" dirty="0"/>
              <a:t>A) Typical transmission/transaxle gear</a:t>
            </a:r>
            <a:br>
              <a:rPr lang="en-IN" dirty="0"/>
            </a:br>
            <a:r>
              <a:rPr lang="en-IN" dirty="0"/>
              <a:t>B) Examples of Modern Manual Transmission</a:t>
            </a:r>
          </a:p>
        </p:txBody>
      </p:sp>
      <p:pic>
        <p:nvPicPr>
          <p:cNvPr id="7" name="Picture Placeholder 6" descr="An illustration labeled (A) and a table labeled (B). (A). The illustration in a table form depicts the classification of transmission gear oil and viscosity range. The row header reads A P I classification, and S A E viscosity number and applicable temperature. The value of the A P I classification reads G L-4 and G L-5. Temperature is given in the S A E viscosity number and applicable temperature column. The temperature in Fahrenheit ranges from negative 30 to plus 90 in intervals of 30. The temperature in Celsius ranges as follows: negative 34, negative 18, 0, 10, and 20. The viscosity range of S A E in Fahrenheit and Celsius with its extended limits are as follows: viscosity range 90 starts from Fahrenheit 30 and centigrade 0 and it extends toward the right; viscosity range 85 W starts from Fahrenheit negative 30 and Celsius negative 34 and it is extended toward the right; viscosity range 80 W starts from Fahrenheit 90 and Celsius 20 and it is extended toward left; viscosity range 75 W - 90 starts and extends on both sides. (B). The second table lists vehicles with recommended fluids as follows: Camaro Aisin A Y 6 8-speed, S A E 75 W–90 G L–5; Camaro Tremec 6-speed, Manual Transmission Fluid (Dex III A T F); Mustang, Motorcraft Full-Synthetic Manual Transmission Fluid; Honda, Honda Manual Transmission Fluid (M T F) or S A E 10 W - 30 or 10 W - 40 as a temporary replacement; Mazda, S A E 75 W - 90 G L 4/5; Nissan, S A E 75 W - 90 G L 4/5; Subaru, S A E 75 W - 90 G L 4/5.">
            <a:extLst>
              <a:ext uri="{FF2B5EF4-FFF2-40B4-BE49-F238E27FC236}">
                <a16:creationId xmlns:a16="http://schemas.microsoft.com/office/drawing/2014/main" id="{62B392E0-C4C4-B034-CED7-039690C63610}"/>
              </a:ext>
            </a:extLst>
          </p:cNvPr>
          <p:cNvPicPr>
            <a:picLocks noGrp="1" noChangeAspect="1"/>
          </p:cNvPicPr>
          <p:nvPr>
            <p:ph type="pic" sz="quarter" idx="10"/>
          </p:nvPr>
        </p:nvPicPr>
        <p:blipFill>
          <a:blip r:embed="rId3"/>
          <a:srcRect b="6477"/>
          <a:stretch/>
        </p:blipFill>
        <p:spPr>
          <a:xfrm>
            <a:off x="3967806" y="1812305"/>
            <a:ext cx="4256388" cy="41996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Lubricant Leak Causes (1 of 2)</a:t>
            </a:r>
          </a:p>
        </p:txBody>
      </p:sp>
      <p:sp>
        <p:nvSpPr>
          <p:cNvPr id="7171" name="Rectangle 3"/>
          <p:cNvSpPr>
            <a:spLocks noGrp="1" noChangeArrowheads="1"/>
          </p:cNvSpPr>
          <p:nvPr>
            <p:ph type="body" idx="1"/>
          </p:nvPr>
        </p:nvSpPr>
        <p:spPr/>
        <p:txBody>
          <a:bodyPr/>
          <a:lstStyle/>
          <a:p>
            <a:r>
              <a:rPr lang="en-US" sz="2600" dirty="0">
                <a:solidFill>
                  <a:schemeClr val="tx1"/>
                </a:solidFill>
              </a:rPr>
              <a:t>Too much lubricant in the unit.</a:t>
            </a:r>
          </a:p>
          <a:p>
            <a:r>
              <a:rPr lang="en-US" sz="2600" dirty="0">
                <a:solidFill>
                  <a:schemeClr val="tx1"/>
                </a:solidFill>
              </a:rPr>
              <a:t>Gear oil foaming, because the wrong type is being used.</a:t>
            </a:r>
          </a:p>
          <a:p>
            <a:r>
              <a:rPr lang="en-US" sz="2600" dirty="0">
                <a:solidFill>
                  <a:schemeClr val="tx1"/>
                </a:solidFill>
              </a:rPr>
              <a:t>Broken input shaft bearing retainer.</a:t>
            </a:r>
          </a:p>
          <a:p>
            <a:r>
              <a:rPr lang="en-US" sz="2600" dirty="0">
                <a:solidFill>
                  <a:schemeClr val="tx1"/>
                </a:solidFill>
              </a:rPr>
              <a:t>Loose or missing case bolts.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Lubricant Leak Causes (2 of 2)</a:t>
            </a:r>
          </a:p>
        </p:txBody>
      </p:sp>
      <p:sp>
        <p:nvSpPr>
          <p:cNvPr id="8195" name="Rectangle 3"/>
          <p:cNvSpPr>
            <a:spLocks noGrp="1" noChangeArrowheads="1"/>
          </p:cNvSpPr>
          <p:nvPr>
            <p:ph type="body" idx="1"/>
          </p:nvPr>
        </p:nvSpPr>
        <p:spPr/>
        <p:txBody>
          <a:bodyPr/>
          <a:lstStyle/>
          <a:p>
            <a:pPr>
              <a:lnSpc>
                <a:spcPct val="90000"/>
              </a:lnSpc>
            </a:pPr>
            <a:r>
              <a:rPr lang="en-US" sz="2600" dirty="0">
                <a:solidFill>
                  <a:schemeClr val="tx1"/>
                </a:solidFill>
              </a:rPr>
              <a:t>Cracked or porous case.</a:t>
            </a:r>
          </a:p>
          <a:p>
            <a:pPr>
              <a:lnSpc>
                <a:spcPct val="90000"/>
              </a:lnSpc>
            </a:pPr>
            <a:r>
              <a:rPr lang="en-US" sz="2600" dirty="0">
                <a:solidFill>
                  <a:schemeClr val="tx1"/>
                </a:solidFill>
              </a:rPr>
              <a:t>Shift lever seal leak.</a:t>
            </a:r>
          </a:p>
          <a:p>
            <a:pPr>
              <a:lnSpc>
                <a:spcPct val="90000"/>
              </a:lnSpc>
            </a:pPr>
            <a:r>
              <a:rPr lang="en-US" sz="2600" dirty="0">
                <a:solidFill>
                  <a:schemeClr val="tx1"/>
                </a:solidFill>
              </a:rPr>
              <a:t>Gaskets or seals damaged or broken.</a:t>
            </a:r>
          </a:p>
          <a:p>
            <a:pPr>
              <a:lnSpc>
                <a:spcPct val="90000"/>
              </a:lnSpc>
            </a:pPr>
            <a:r>
              <a:rPr lang="en-US" sz="2600" dirty="0">
                <a:solidFill>
                  <a:schemeClr val="tx1"/>
                </a:solidFill>
              </a:rPr>
              <a:t>Loose drain plug.</a:t>
            </a:r>
          </a:p>
          <a:p>
            <a:pPr>
              <a:lnSpc>
                <a:spcPct val="90000"/>
              </a:lnSpc>
            </a:pPr>
            <a:r>
              <a:rPr lang="en-US" sz="2600" dirty="0">
                <a:solidFill>
                  <a:schemeClr val="tx1"/>
                </a:solidFill>
              </a:rPr>
              <a:t>Poor extension housing mounting.</a:t>
            </a:r>
          </a:p>
          <a:p>
            <a:pPr>
              <a:lnSpc>
                <a:spcPct val="90000"/>
              </a:lnSpc>
            </a:pPr>
            <a:r>
              <a:rPr lang="en-US" sz="2600" dirty="0">
                <a:solidFill>
                  <a:schemeClr val="tx1"/>
                </a:solidFill>
              </a:rPr>
              <a:t>Worn rear bushing and/or seal.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7"/>
          <p:cNvSpPr>
            <a:spLocks noGrp="1"/>
          </p:cNvSpPr>
          <p:nvPr>
            <p:ph type="title"/>
          </p:nvPr>
        </p:nvSpPr>
        <p:spPr/>
        <p:txBody>
          <a:bodyPr/>
          <a:lstStyle/>
          <a:p>
            <a:r>
              <a:rPr lang="en-US" dirty="0"/>
              <a:t>Possible Sources of Fluid Leaks</a:t>
            </a:r>
          </a:p>
        </p:txBody>
      </p:sp>
      <p:pic>
        <p:nvPicPr>
          <p:cNvPr id="6" name="Picture Placeholder 5" descr="The causes for fluid leakage in an engine. The labeled parts are as follows: Input speed sensor, Output speed sensor, Chain cover, Oil pan, and Axle shaft seal.">
            <a:extLst>
              <a:ext uri="{FF2B5EF4-FFF2-40B4-BE49-F238E27FC236}">
                <a16:creationId xmlns:a16="http://schemas.microsoft.com/office/drawing/2014/main" id="{34F6FD72-3851-A59C-5EAE-F06B00839212}"/>
              </a:ext>
            </a:extLst>
          </p:cNvPr>
          <p:cNvPicPr>
            <a:picLocks noGrp="1" noChangeAspect="1"/>
          </p:cNvPicPr>
          <p:nvPr>
            <p:ph type="pic" sz="quarter" idx="10"/>
          </p:nvPr>
        </p:nvPicPr>
        <p:blipFill>
          <a:blip r:embed="rId3"/>
          <a:srcRect b="5783"/>
          <a:stretch/>
        </p:blipFill>
        <p:spPr>
          <a:xfrm>
            <a:off x="3610081" y="1682553"/>
            <a:ext cx="4971838" cy="40440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5"/>
          <p:cNvSpPr>
            <a:spLocks noGrp="1"/>
          </p:cNvSpPr>
          <p:nvPr>
            <p:ph type="title"/>
          </p:nvPr>
        </p:nvSpPr>
        <p:spPr/>
        <p:txBody>
          <a:bodyPr/>
          <a:lstStyle/>
          <a:p>
            <a:r>
              <a:rPr lang="en-US" dirty="0"/>
              <a:t>Fluid Changes</a:t>
            </a:r>
          </a:p>
        </p:txBody>
      </p:sp>
      <p:sp>
        <p:nvSpPr>
          <p:cNvPr id="10243" name="Content Placeholder 6"/>
          <p:cNvSpPr>
            <a:spLocks noGrp="1"/>
          </p:cNvSpPr>
          <p:nvPr>
            <p:ph type="body" idx="1"/>
          </p:nvPr>
        </p:nvSpPr>
        <p:spPr/>
        <p:txBody>
          <a:bodyPr/>
          <a:lstStyle/>
          <a:p>
            <a:r>
              <a:rPr lang="en-US" sz="2600" dirty="0">
                <a:solidFill>
                  <a:schemeClr val="tx1"/>
                </a:solidFill>
              </a:rPr>
              <a:t>Refer to manufacturers recommendations.</a:t>
            </a:r>
          </a:p>
          <a:p>
            <a:r>
              <a:rPr lang="en-US" sz="2600" dirty="0">
                <a:solidFill>
                  <a:schemeClr val="tx1"/>
                </a:solidFill>
              </a:rPr>
              <a:t>Inspect drained fluid for brass and other metallic particles.</a:t>
            </a:r>
          </a:p>
          <a:p>
            <a:r>
              <a:rPr lang="en-US" sz="2600" dirty="0">
                <a:solidFill>
                  <a:schemeClr val="tx1"/>
                </a:solidFill>
              </a:rPr>
              <a:t>Insert and sweep a small magnet inside of the drain hole.</a:t>
            </a:r>
          </a:p>
          <a:p>
            <a:r>
              <a:rPr lang="en-US" sz="2600" dirty="0">
                <a:solidFill>
                  <a:schemeClr val="tx1"/>
                </a:solidFill>
              </a:rPr>
              <a:t>Refill with correct fluid until the fluid begins to run out of the filler hole.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5"/>
          <p:cNvSpPr>
            <a:spLocks noGrp="1"/>
          </p:cNvSpPr>
          <p:nvPr>
            <p:ph type="title"/>
          </p:nvPr>
        </p:nvSpPr>
        <p:spPr/>
        <p:txBody>
          <a:bodyPr/>
          <a:lstStyle/>
          <a:p>
            <a:r>
              <a:rPr lang="en-US" dirty="0"/>
              <a:t>In-Vehicle Service</a:t>
            </a:r>
          </a:p>
        </p:txBody>
      </p:sp>
      <p:sp>
        <p:nvSpPr>
          <p:cNvPr id="11267" name="Content Placeholder 6"/>
          <p:cNvSpPr>
            <a:spLocks noGrp="1"/>
          </p:cNvSpPr>
          <p:nvPr>
            <p:ph type="body" idx="1"/>
          </p:nvPr>
        </p:nvSpPr>
        <p:spPr/>
        <p:txBody>
          <a:bodyPr/>
          <a:lstStyle/>
          <a:p>
            <a:pPr marL="0" indent="0">
              <a:buNone/>
            </a:pPr>
            <a:r>
              <a:rPr lang="en-US" sz="2600" b="1" dirty="0">
                <a:solidFill>
                  <a:schemeClr val="tx1"/>
                </a:solidFill>
              </a:rPr>
              <a:t>39-02 Describe common in-vehicle transmission/ transaxle services.</a:t>
            </a:r>
          </a:p>
          <a:p>
            <a:r>
              <a:rPr lang="en-US" sz="2600" dirty="0">
                <a:solidFill>
                  <a:schemeClr val="tx1"/>
                </a:solidFill>
              </a:rPr>
              <a:t>Much service and maintenance work can be performed in-vehicle.</a:t>
            </a:r>
          </a:p>
          <a:p>
            <a:r>
              <a:rPr lang="en-US" sz="2600" dirty="0">
                <a:solidFill>
                  <a:schemeClr val="tx1"/>
                </a:solidFill>
              </a:rPr>
              <a:t>Rear oil seal and bushing replacement.</a:t>
            </a:r>
          </a:p>
          <a:p>
            <a:r>
              <a:rPr lang="en-US" sz="2600" dirty="0">
                <a:solidFill>
                  <a:schemeClr val="tx1"/>
                </a:solidFill>
              </a:rPr>
              <a:t>Linkage adjustment.</a:t>
            </a:r>
          </a:p>
          <a:p>
            <a:r>
              <a:rPr lang="en-US" sz="2600" dirty="0">
                <a:solidFill>
                  <a:schemeClr val="tx1"/>
                </a:solidFill>
              </a:rPr>
              <a:t>Backup light switch service.</a:t>
            </a:r>
          </a:p>
          <a:p>
            <a:r>
              <a:rPr lang="en-US" sz="2600" dirty="0">
                <a:solidFill>
                  <a:schemeClr val="tx1"/>
                </a:solidFill>
              </a:rPr>
              <a:t>Speedometer drive gear service.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E387667-D8A2-5744-103B-FC935D769DB6}"/>
              </a:ext>
            </a:extLst>
          </p:cNvPr>
          <p:cNvSpPr>
            <a:spLocks noGrp="1"/>
          </p:cNvSpPr>
          <p:nvPr>
            <p:ph type="title"/>
          </p:nvPr>
        </p:nvSpPr>
        <p:spPr/>
        <p:txBody>
          <a:bodyPr/>
          <a:lstStyle/>
          <a:p>
            <a:r>
              <a:rPr lang="en-US" sz="4000" b="1" dirty="0">
                <a:latin typeface="Work Sans" pitchFamily="2" charset="0"/>
              </a:rPr>
              <a:t>Replacing an Extension Housing Seal</a:t>
            </a:r>
            <a:endParaRPr lang="en-IN" dirty="0"/>
          </a:p>
        </p:txBody>
      </p:sp>
      <p:pic>
        <p:nvPicPr>
          <p:cNvPr id="14" name="Picture Placeholder 13" descr="The process of removing the drive shaft with parts labeled as follows: Extension housing seal, Extension housing bushing, and Impact slide hammer.">
            <a:extLst>
              <a:ext uri="{FF2B5EF4-FFF2-40B4-BE49-F238E27FC236}">
                <a16:creationId xmlns:a16="http://schemas.microsoft.com/office/drawing/2014/main" id="{FC88AB2B-5D05-78E1-D019-C2454D58DC99}"/>
              </a:ext>
            </a:extLst>
          </p:cNvPr>
          <p:cNvPicPr>
            <a:picLocks noGrp="1" noChangeAspect="1"/>
          </p:cNvPicPr>
          <p:nvPr>
            <p:ph type="pic" sz="quarter" idx="10"/>
          </p:nvPr>
        </p:nvPicPr>
        <p:blipFill>
          <a:blip r:embed="rId3"/>
          <a:srcRect b="10012"/>
          <a:stretch/>
        </p:blipFill>
        <p:spPr>
          <a:xfrm>
            <a:off x="1992817" y="2059623"/>
            <a:ext cx="3876882" cy="3075903"/>
          </a:xfrm>
          <a:prstGeom prst="rect">
            <a:avLst/>
          </a:prstGeom>
        </p:spPr>
      </p:pic>
      <p:pic>
        <p:nvPicPr>
          <p:cNvPr id="15" name="Picture Placeholder 14" descr="A technician installs an extension housing seal using a seal replacer and a hammer.">
            <a:extLst>
              <a:ext uri="{FF2B5EF4-FFF2-40B4-BE49-F238E27FC236}">
                <a16:creationId xmlns:a16="http://schemas.microsoft.com/office/drawing/2014/main" id="{F9E54338-B701-2A30-90C6-4369BFB3DDEB}"/>
              </a:ext>
            </a:extLst>
          </p:cNvPr>
          <p:cNvPicPr>
            <a:picLocks noGrp="1" noChangeAspect="1"/>
          </p:cNvPicPr>
          <p:nvPr>
            <p:ph type="pic" sz="quarter" idx="12"/>
          </p:nvPr>
        </p:nvPicPr>
        <p:blipFill>
          <a:blip r:embed="rId4"/>
          <a:srcRect b="8604"/>
          <a:stretch/>
        </p:blipFill>
        <p:spPr>
          <a:xfrm>
            <a:off x="7362756" y="1783377"/>
            <a:ext cx="3339351" cy="33521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Linkage Adjustment</a:t>
            </a:r>
          </a:p>
        </p:txBody>
      </p:sp>
      <p:sp>
        <p:nvSpPr>
          <p:cNvPr id="3" name="Content Placeholder 2"/>
          <p:cNvSpPr>
            <a:spLocks noGrp="1"/>
          </p:cNvSpPr>
          <p:nvPr>
            <p:ph type="body" idx="1"/>
          </p:nvPr>
        </p:nvSpPr>
        <p:spPr/>
        <p:txBody>
          <a:bodyPr>
            <a:normAutofit/>
          </a:bodyPr>
          <a:lstStyle/>
          <a:p>
            <a:r>
              <a:rPr lang="en-US" sz="2600" dirty="0">
                <a:solidFill>
                  <a:schemeClr val="tx1"/>
                </a:solidFill>
              </a:rPr>
              <a:t>Some external linkages provide adjustment.</a:t>
            </a:r>
          </a:p>
          <a:p>
            <a:r>
              <a:rPr lang="en-US" sz="2600" dirty="0">
                <a:solidFill>
                  <a:schemeClr val="tx1"/>
                </a:solidFill>
              </a:rPr>
              <a:t>May need adjusting for wear.</a:t>
            </a:r>
          </a:p>
          <a:p>
            <a:r>
              <a:rPr lang="en-US" sz="2600" dirty="0">
                <a:solidFill>
                  <a:schemeClr val="tx1"/>
                </a:solidFill>
              </a:rPr>
              <a:t>May need adjusting after transmission has been removed.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 Light Switch</a:t>
            </a:r>
          </a:p>
        </p:txBody>
      </p:sp>
      <p:sp>
        <p:nvSpPr>
          <p:cNvPr id="3" name="Content Placeholder 2"/>
          <p:cNvSpPr>
            <a:spLocks noGrp="1"/>
          </p:cNvSpPr>
          <p:nvPr>
            <p:ph type="body" idx="1"/>
          </p:nvPr>
        </p:nvSpPr>
        <p:spPr/>
        <p:txBody>
          <a:bodyPr>
            <a:normAutofit/>
          </a:bodyPr>
          <a:lstStyle/>
          <a:p>
            <a:r>
              <a:rPr lang="en-US" sz="2600" dirty="0">
                <a:solidFill>
                  <a:schemeClr val="tx1"/>
                </a:solidFill>
                <a:latin typeface="Work Sans" pitchFamily="2" charset="0"/>
              </a:rPr>
              <a:t>Disconnect the electrical lead to the switch, put the transmission into reverse gear, and remove the switch.</a:t>
            </a:r>
          </a:p>
          <a:p>
            <a:pPr algn="l"/>
            <a:r>
              <a:rPr lang="en-US" sz="2600" dirty="0">
                <a:solidFill>
                  <a:schemeClr val="tx1"/>
                </a:solidFill>
                <a:latin typeface="Work Sans" pitchFamily="2" charset="0"/>
              </a:rPr>
              <a:t>To prevent fluid leaks, wrap the threads of a new back-up light switch with Teflon tape in a clockwise direction before installing it.</a:t>
            </a:r>
          </a:p>
        </p:txBody>
      </p:sp>
    </p:spTree>
    <p:extLst>
      <p:ext uri="{BB962C8B-B14F-4D97-AF65-F5344CB8AC3E}">
        <p14:creationId xmlns:p14="http://schemas.microsoft.com/office/powerpoint/2010/main" val="138834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(1 of 3)</a:t>
            </a:r>
          </a:p>
        </p:txBody>
      </p:sp>
      <p:sp>
        <p:nvSpPr>
          <p:cNvPr id="6" name="Content Placeholder 5"/>
          <p:cNvSpPr>
            <a:spLocks noGrp="1"/>
          </p:cNvSpPr>
          <p:nvPr>
            <p:ph type="body" idx="1"/>
          </p:nvPr>
        </p:nvSpPr>
        <p:spPr/>
        <p:txBody>
          <a:bodyPr/>
          <a:lstStyle/>
          <a:p>
            <a:r>
              <a:rPr lang="en-US" sz="2600" dirty="0">
                <a:solidFill>
                  <a:schemeClr val="tx1"/>
                </a:solidFill>
              </a:rPr>
              <a:t>When draining a manual transmission, brass particles are found in the fluid. </a:t>
            </a:r>
          </a:p>
          <a:p>
            <a:pPr marL="85725" indent="0">
              <a:spcAft>
                <a:spcPts val="2400"/>
              </a:spcAft>
              <a:buNone/>
            </a:pPr>
            <a:r>
              <a:rPr lang="en-US" sz="2600" dirty="0">
                <a:solidFill>
                  <a:schemeClr val="tx1"/>
                </a:solidFill>
              </a:rPr>
              <a:t>Technician A says this indicates worn bearings. Technician B says this indicates damaged gear teeth.</a:t>
            </a:r>
          </a:p>
          <a:p>
            <a:pPr marL="85725" indent="0">
              <a:buNone/>
            </a:pPr>
            <a:r>
              <a:rPr lang="en-US" sz="2600" dirty="0">
                <a:solidFill>
                  <a:schemeClr val="tx1"/>
                </a:solidFill>
              </a:rPr>
              <a:t>Who is correct?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Answer (1 of 3)</a:t>
            </a:r>
          </a:p>
        </p:txBody>
      </p:sp>
      <p:sp>
        <p:nvSpPr>
          <p:cNvPr id="6" name="Content Placeholder 5"/>
          <p:cNvSpPr>
            <a:spLocks noGrp="1"/>
          </p:cNvSpPr>
          <p:nvPr>
            <p:ph type="body" idx="1"/>
          </p:nvPr>
        </p:nvSpPr>
        <p:spPr/>
        <p:txBody>
          <a:bodyPr/>
          <a:lstStyle/>
          <a:p>
            <a:r>
              <a:rPr lang="en-US" sz="2600" dirty="0">
                <a:solidFill>
                  <a:schemeClr val="tx1"/>
                </a:solidFill>
              </a:rPr>
              <a:t>When draining a manual transmission, brass particles are found in the fluid. </a:t>
            </a:r>
          </a:p>
          <a:p>
            <a:pPr marL="85725" indent="0">
              <a:spcAft>
                <a:spcPts val="2400"/>
              </a:spcAft>
              <a:buNone/>
            </a:pPr>
            <a:r>
              <a:rPr lang="en-US" sz="2600" dirty="0">
                <a:solidFill>
                  <a:schemeClr val="tx1"/>
                </a:solidFill>
              </a:rPr>
              <a:t>Technician A says this indicates worn bearings. Technician B says this indicates damaged gear teeth. </a:t>
            </a:r>
          </a:p>
          <a:p>
            <a:pPr marL="85725" indent="0">
              <a:spcAft>
                <a:spcPts val="2400"/>
              </a:spcAft>
              <a:buNone/>
            </a:pPr>
            <a:r>
              <a:rPr lang="en-US" sz="2600" dirty="0">
                <a:solidFill>
                  <a:schemeClr val="tx1"/>
                </a:solidFill>
              </a:rPr>
              <a:t>Who is correct?</a:t>
            </a:r>
          </a:p>
          <a:p>
            <a:pPr marL="428625" lvl="1" indent="0">
              <a:buNone/>
            </a:pPr>
            <a:r>
              <a:rPr lang="en-US" sz="2600" b="1" dirty="0">
                <a:solidFill>
                  <a:schemeClr val="tx1"/>
                </a:solidFill>
              </a:rPr>
              <a:t>Answer: </a:t>
            </a:r>
            <a:r>
              <a:rPr lang="en-US" sz="2600" dirty="0">
                <a:solidFill>
                  <a:schemeClr val="tx1"/>
                </a:solidFill>
              </a:rPr>
              <a:t>Neither Technician A nor B</a:t>
            </a:r>
          </a:p>
        </p:txBody>
      </p:sp>
    </p:spTree>
    <p:extLst>
      <p:ext uri="{BB962C8B-B14F-4D97-AF65-F5344CB8AC3E}">
        <p14:creationId xmlns:p14="http://schemas.microsoft.com/office/powerpoint/2010/main" val="447187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en-US" dirty="0"/>
              <a:t>Diagnosing Problems</a:t>
            </a:r>
          </a:p>
        </p:txBody>
      </p:sp>
      <p:sp>
        <p:nvSpPr>
          <p:cNvPr id="13315" name="Content Placeholder 6"/>
          <p:cNvSpPr>
            <a:spLocks noGrp="1"/>
          </p:cNvSpPr>
          <p:nvPr>
            <p:ph type="body" idx="1"/>
          </p:nvPr>
        </p:nvSpPr>
        <p:spPr/>
        <p:txBody>
          <a:bodyPr/>
          <a:lstStyle/>
          <a:p>
            <a:pPr marL="0" indent="0">
              <a:buNone/>
            </a:pPr>
            <a:r>
              <a:rPr lang="en-US" b="1" dirty="0">
                <a:solidFill>
                  <a:schemeClr val="tx1"/>
                </a:solidFill>
                <a:latin typeface="Work Sans" pitchFamily="2" charset="0"/>
              </a:rPr>
              <a:t>39-03 Identify common transmission problems and their probable causes and solutions.</a:t>
            </a:r>
            <a:endParaRPr lang="en-US" dirty="0">
              <a:solidFill>
                <a:schemeClr val="tx1"/>
              </a:solidFill>
            </a:endParaRPr>
          </a:p>
          <a:p>
            <a:r>
              <a:rPr lang="en-US" dirty="0">
                <a:solidFill>
                  <a:schemeClr val="tx1"/>
                </a:solidFill>
              </a:rPr>
              <a:t>Always consult the service information as it often lists common problems</a:t>
            </a:r>
          </a:p>
          <a:p>
            <a:r>
              <a:rPr lang="en-US" dirty="0">
                <a:solidFill>
                  <a:schemeClr val="tx1"/>
                </a:solidFill>
              </a:rPr>
              <a:t>Proper diagnosis involves locating the exact source of the problem.</a:t>
            </a:r>
          </a:p>
          <a:p>
            <a:r>
              <a:rPr lang="en-US" dirty="0">
                <a:solidFill>
                  <a:schemeClr val="tx1"/>
                </a:solidFill>
              </a:rPr>
              <a:t>Many problems are actually caused by the clutch or differential.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Visual Inspection</a:t>
            </a:r>
          </a:p>
        </p:txBody>
      </p:sp>
      <p:sp>
        <p:nvSpPr>
          <p:cNvPr id="14339" name="Rectangle 3"/>
          <p:cNvSpPr>
            <a:spLocks noGrp="1" noChangeArrowheads="1"/>
          </p:cNvSpPr>
          <p:nvPr>
            <p:ph type="body" idx="1"/>
          </p:nvPr>
        </p:nvSpPr>
        <p:spPr/>
        <p:txBody>
          <a:bodyPr>
            <a:normAutofit/>
          </a:bodyPr>
          <a:lstStyle/>
          <a:p>
            <a:r>
              <a:rPr lang="en-US" sz="2600" dirty="0">
                <a:solidFill>
                  <a:schemeClr val="tx1"/>
                </a:solidFill>
              </a:rPr>
              <a:t>Check for lubricant leaks.</a:t>
            </a:r>
          </a:p>
          <a:p>
            <a:r>
              <a:rPr lang="en-US" sz="2600" dirty="0">
                <a:solidFill>
                  <a:schemeClr val="tx1"/>
                </a:solidFill>
              </a:rPr>
              <a:t>Check for loose or broken mounts.</a:t>
            </a:r>
          </a:p>
          <a:p>
            <a:r>
              <a:rPr lang="en-US" sz="2600" dirty="0">
                <a:solidFill>
                  <a:schemeClr val="tx1"/>
                </a:solidFill>
              </a:rPr>
              <a:t>Check the shift linkage.</a:t>
            </a:r>
          </a:p>
          <a:p>
            <a:r>
              <a:rPr lang="en-US" sz="2600" dirty="0">
                <a:solidFill>
                  <a:schemeClr val="tx1"/>
                </a:solidFill>
              </a:rPr>
              <a:t>Check for loose bolts.</a:t>
            </a:r>
          </a:p>
          <a:p>
            <a:r>
              <a:rPr lang="en-US" sz="2600" dirty="0">
                <a:solidFill>
                  <a:schemeClr val="tx1"/>
                </a:solidFill>
              </a:rPr>
              <a:t>Check axle boots for cracks or damage.</a:t>
            </a:r>
          </a:p>
          <a:p>
            <a:r>
              <a:rPr lang="en-US" sz="2600" dirty="0">
                <a:solidFill>
                  <a:schemeClr val="tx1"/>
                </a:solidFill>
              </a:rPr>
              <a:t>Inspect CV joints.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Leak Inspection</a:t>
            </a:r>
          </a:p>
        </p:txBody>
      </p:sp>
      <p:pic>
        <p:nvPicPr>
          <p:cNvPr id="8" name="Picture Placeholder 7" descr="A close up of a loose bolt resulting in oil leaks at the speed sensor.">
            <a:extLst>
              <a:ext uri="{FF2B5EF4-FFF2-40B4-BE49-F238E27FC236}">
                <a16:creationId xmlns:a16="http://schemas.microsoft.com/office/drawing/2014/main" id="{6BC0F15B-FAC1-5FE2-FEC5-48C29DCDA325}"/>
              </a:ext>
            </a:extLst>
          </p:cNvPr>
          <p:cNvPicPr>
            <a:picLocks noGrp="1" noChangeAspect="1"/>
          </p:cNvPicPr>
          <p:nvPr>
            <p:ph type="pic" sz="quarter" idx="12"/>
          </p:nvPr>
        </p:nvPicPr>
        <p:blipFill>
          <a:blip r:embed="rId2"/>
          <a:srcRect b="9292"/>
          <a:stretch/>
        </p:blipFill>
        <p:spPr>
          <a:xfrm>
            <a:off x="3700946" y="1489988"/>
            <a:ext cx="4790108" cy="44536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Noise Diagnosis (1 of 2)</a:t>
            </a:r>
          </a:p>
        </p:txBody>
      </p:sp>
      <p:sp>
        <p:nvSpPr>
          <p:cNvPr id="15363" name="Rectangle 3"/>
          <p:cNvSpPr>
            <a:spLocks noGrp="1" noChangeArrowheads="1"/>
          </p:cNvSpPr>
          <p:nvPr>
            <p:ph type="body" idx="1"/>
          </p:nvPr>
        </p:nvSpPr>
        <p:spPr/>
        <p:txBody>
          <a:bodyPr/>
          <a:lstStyle/>
          <a:p>
            <a:r>
              <a:rPr lang="en-US" sz="2600" dirty="0">
                <a:solidFill>
                  <a:schemeClr val="tx1"/>
                </a:solidFill>
              </a:rPr>
              <a:t>Noise is heard when the clutch is engaged and the transmission is in neutral.</a:t>
            </a:r>
          </a:p>
          <a:p>
            <a:pPr lvl="1"/>
            <a:r>
              <a:rPr lang="en-US" dirty="0">
                <a:solidFill>
                  <a:schemeClr val="tx1"/>
                </a:solidFill>
              </a:rPr>
              <a:t>It is usually caused by clutch or internal transmission problems.</a:t>
            </a:r>
          </a:p>
          <a:p>
            <a:r>
              <a:rPr lang="en-US" sz="2600" dirty="0">
                <a:solidFill>
                  <a:schemeClr val="tx1"/>
                </a:solidFill>
              </a:rPr>
              <a:t>Noise is heard only with the transmission in gear.</a:t>
            </a:r>
          </a:p>
          <a:p>
            <a:pPr lvl="1"/>
            <a:r>
              <a:rPr lang="en-US" dirty="0">
                <a:solidFill>
                  <a:schemeClr val="tx1"/>
                </a:solidFill>
              </a:rPr>
              <a:t>It is usually caused by defective shaft bearings.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Noise Diagnosis (2 of 2) </a:t>
            </a:r>
          </a:p>
        </p:txBody>
      </p:sp>
      <p:sp>
        <p:nvSpPr>
          <p:cNvPr id="16387" name="Rectangle 3"/>
          <p:cNvSpPr>
            <a:spLocks noGrp="1" noChangeArrowheads="1"/>
          </p:cNvSpPr>
          <p:nvPr>
            <p:ph type="body" idx="1"/>
          </p:nvPr>
        </p:nvSpPr>
        <p:spPr/>
        <p:txBody>
          <a:bodyPr>
            <a:noAutofit/>
          </a:bodyPr>
          <a:lstStyle/>
          <a:p>
            <a:r>
              <a:rPr lang="en-US" sz="2600" dirty="0">
                <a:solidFill>
                  <a:schemeClr val="tx1"/>
                </a:solidFill>
              </a:rPr>
              <a:t>Noise only occurs when the transmission is in a particular gear.</a:t>
            </a:r>
          </a:p>
          <a:p>
            <a:pPr marL="712788" lvl="1" indent="-350838"/>
            <a:r>
              <a:rPr lang="en-US" dirty="0">
                <a:solidFill>
                  <a:schemeClr val="tx1"/>
                </a:solidFill>
              </a:rPr>
              <a:t>Check only those components that have been engaged by selecting that gear</a:t>
            </a:r>
            <a:r>
              <a:rPr lang="en-US" sz="2600" dirty="0">
                <a:solidFill>
                  <a:schemeClr val="tx1"/>
                </a:solidFill>
              </a:rPr>
              <a:t>.</a:t>
            </a:r>
          </a:p>
          <a:p>
            <a:r>
              <a:rPr lang="en-US" sz="2600" dirty="0">
                <a:solidFill>
                  <a:schemeClr val="tx1"/>
                </a:solidFill>
              </a:rPr>
              <a:t>Noise occurs when the engine is running with vehicle stopped.</a:t>
            </a:r>
          </a:p>
          <a:p>
            <a:pPr marL="712788" lvl="1" indent="-350838"/>
            <a:r>
              <a:rPr lang="en-US" sz="2600" dirty="0">
                <a:solidFill>
                  <a:schemeClr val="tx1"/>
                </a:solidFill>
              </a:rPr>
              <a:t>It can be related to engine, transmission, or exhaust.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Gear Clash</a:t>
            </a:r>
          </a:p>
        </p:txBody>
      </p:sp>
      <p:sp>
        <p:nvSpPr>
          <p:cNvPr id="17411" name="Content Placeholder 2"/>
          <p:cNvSpPr>
            <a:spLocks noGrp="1"/>
          </p:cNvSpPr>
          <p:nvPr>
            <p:ph type="body" idx="1"/>
          </p:nvPr>
        </p:nvSpPr>
        <p:spPr/>
        <p:txBody>
          <a:bodyPr/>
          <a:lstStyle/>
          <a:p>
            <a:r>
              <a:rPr lang="en-US" sz="2600" dirty="0">
                <a:solidFill>
                  <a:schemeClr val="tx1"/>
                </a:solidFill>
              </a:rPr>
              <a:t>Indicated by a grinding noise during shifting.</a:t>
            </a:r>
          </a:p>
          <a:p>
            <a:r>
              <a:rPr lang="en-US" sz="2600" dirty="0">
                <a:solidFill>
                  <a:schemeClr val="tx1"/>
                </a:solidFill>
              </a:rPr>
              <a:t>Results from one gearset remaining partly engaged.</a:t>
            </a:r>
          </a:p>
          <a:p>
            <a:r>
              <a:rPr lang="en-US" sz="2600" dirty="0">
                <a:solidFill>
                  <a:schemeClr val="tx1"/>
                </a:solidFill>
              </a:rPr>
              <a:t>Can be caused by clutch adjustment or binding linkages.</a:t>
            </a:r>
          </a:p>
          <a:p>
            <a:r>
              <a:rPr lang="en-US" sz="2600" dirty="0">
                <a:solidFill>
                  <a:schemeClr val="tx1"/>
                </a:solidFill>
              </a:rPr>
              <a:t>Damaged, worn, or defective synchronizer blocking rings.</a:t>
            </a:r>
          </a:p>
          <a:p>
            <a:r>
              <a:rPr lang="en-US" sz="2600" dirty="0">
                <a:solidFill>
                  <a:schemeClr val="tx1"/>
                </a:solidFill>
              </a:rPr>
              <a:t>Improper lubricant.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Hard Shifting</a:t>
            </a:r>
          </a:p>
        </p:txBody>
      </p:sp>
      <p:sp>
        <p:nvSpPr>
          <p:cNvPr id="18435" name="Rectangle 3"/>
          <p:cNvSpPr>
            <a:spLocks noGrp="1" noChangeArrowheads="1"/>
          </p:cNvSpPr>
          <p:nvPr>
            <p:ph type="body" idx="1"/>
          </p:nvPr>
        </p:nvSpPr>
        <p:spPr/>
        <p:txBody>
          <a:bodyPr/>
          <a:lstStyle/>
          <a:p>
            <a:r>
              <a:rPr lang="en-US" sz="2600" dirty="0">
                <a:solidFill>
                  <a:schemeClr val="tx1"/>
                </a:solidFill>
              </a:rPr>
              <a:t>Difficult to move from one gear to another.</a:t>
            </a:r>
          </a:p>
          <a:p>
            <a:r>
              <a:rPr lang="en-US" sz="2600" dirty="0">
                <a:solidFill>
                  <a:schemeClr val="tx1"/>
                </a:solidFill>
              </a:rPr>
              <a:t>Check clutch linkage adjustment.</a:t>
            </a:r>
          </a:p>
          <a:p>
            <a:r>
              <a:rPr lang="en-US" sz="2600" dirty="0">
                <a:solidFill>
                  <a:schemeClr val="tx1"/>
                </a:solidFill>
              </a:rPr>
              <a:t>Shift linkage problems.</a:t>
            </a:r>
          </a:p>
          <a:p>
            <a:r>
              <a:rPr lang="en-US" sz="2600" dirty="0">
                <a:solidFill>
                  <a:schemeClr val="tx1"/>
                </a:solidFill>
              </a:rPr>
              <a:t>Improper lubricant.</a:t>
            </a:r>
          </a:p>
          <a:p>
            <a:r>
              <a:rPr lang="en-US" sz="2600" dirty="0">
                <a:solidFill>
                  <a:schemeClr val="tx1"/>
                </a:solidFill>
              </a:rPr>
              <a:t>Worn bearings, damaged clutch gears, control rods, shift rails, shift forks, and synchronizers.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Jumping Out of Gear</a:t>
            </a:r>
          </a:p>
        </p:txBody>
      </p:sp>
      <p:sp>
        <p:nvSpPr>
          <p:cNvPr id="19459" name="Rectangle 3"/>
          <p:cNvSpPr>
            <a:spLocks noGrp="1" noChangeArrowheads="1"/>
          </p:cNvSpPr>
          <p:nvPr>
            <p:ph type="body" idx="1"/>
          </p:nvPr>
        </p:nvSpPr>
        <p:spPr/>
        <p:txBody>
          <a:bodyPr/>
          <a:lstStyle/>
          <a:p>
            <a:r>
              <a:rPr lang="en-US" sz="2600" dirty="0">
                <a:solidFill>
                  <a:schemeClr val="tx1"/>
                </a:solidFill>
              </a:rPr>
              <a:t>Check shift lever and for worn or poorly adjusted shift linkage.</a:t>
            </a:r>
          </a:p>
          <a:p>
            <a:r>
              <a:rPr lang="en-US" sz="2600" dirty="0">
                <a:solidFill>
                  <a:schemeClr val="tx1"/>
                </a:solidFill>
              </a:rPr>
              <a:t>Excessive clearance between gears.</a:t>
            </a:r>
          </a:p>
          <a:p>
            <a:r>
              <a:rPr lang="en-US" sz="2600" dirty="0">
                <a:solidFill>
                  <a:schemeClr val="tx1"/>
                </a:solidFill>
              </a:rPr>
              <a:t>Badly worn bearings.</a:t>
            </a:r>
          </a:p>
          <a:p>
            <a:r>
              <a:rPr lang="en-US" sz="2600" dirty="0">
                <a:solidFill>
                  <a:schemeClr val="tx1"/>
                </a:solidFill>
              </a:rPr>
              <a:t>Inspect clutch pilot bearing, gear teeth, shift forks, shift rails, springs, and detents.</a:t>
            </a:r>
          </a:p>
          <a:p>
            <a:r>
              <a:rPr lang="en-US" sz="2600" dirty="0">
                <a:solidFill>
                  <a:schemeClr val="tx1"/>
                </a:solidFill>
              </a:rPr>
              <a:t>Misaligned drivetrain mounts.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Locked in Gear</a:t>
            </a:r>
          </a:p>
        </p:txBody>
      </p:sp>
      <p:sp>
        <p:nvSpPr>
          <p:cNvPr id="20483" name="Content Placeholder 2"/>
          <p:cNvSpPr>
            <a:spLocks noGrp="1"/>
          </p:cNvSpPr>
          <p:nvPr>
            <p:ph type="body" idx="1"/>
          </p:nvPr>
        </p:nvSpPr>
        <p:spPr/>
        <p:txBody>
          <a:bodyPr/>
          <a:lstStyle/>
          <a:p>
            <a:r>
              <a:rPr lang="en-US" sz="2600" dirty="0">
                <a:solidFill>
                  <a:schemeClr val="tx1"/>
                </a:solidFill>
              </a:rPr>
              <a:t>Check gearshift linkage and shifter boots.</a:t>
            </a:r>
          </a:p>
          <a:p>
            <a:r>
              <a:rPr lang="en-US" sz="2600" dirty="0">
                <a:solidFill>
                  <a:schemeClr val="tx1"/>
                </a:solidFill>
              </a:rPr>
              <a:t>Inspect drivetrain mounts.</a:t>
            </a:r>
          </a:p>
          <a:p>
            <a:r>
              <a:rPr lang="en-US" sz="2600" dirty="0">
                <a:solidFill>
                  <a:schemeClr val="tx1"/>
                </a:solidFill>
              </a:rPr>
              <a:t>Low lubricant level can cause damage to needle bearings, gears, and synchronizers.</a:t>
            </a:r>
          </a:p>
          <a:p>
            <a:r>
              <a:rPr lang="en-US" sz="2600" dirty="0">
                <a:solidFill>
                  <a:schemeClr val="tx1"/>
                </a:solidFill>
              </a:rPr>
              <a:t>Inspect internal countergear, clutch shaft, reverse idler, shift rails, shift forks, springs, and detents for damage.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3)</a:t>
            </a:r>
          </a:p>
        </p:txBody>
      </p:sp>
      <p:sp>
        <p:nvSpPr>
          <p:cNvPr id="3" name="Content Placeholder 2"/>
          <p:cNvSpPr>
            <a:spLocks noGrp="1"/>
          </p:cNvSpPr>
          <p:nvPr>
            <p:ph type="body" idx="1"/>
          </p:nvPr>
        </p:nvSpPr>
        <p:spPr/>
        <p:txBody>
          <a:bodyPr/>
          <a:lstStyle/>
          <a:p>
            <a:pPr>
              <a:spcAft>
                <a:spcPts val="2400"/>
              </a:spcAft>
            </a:pPr>
            <a:r>
              <a:rPr lang="en-US" sz="2600" dirty="0">
                <a:solidFill>
                  <a:schemeClr val="tx1"/>
                </a:solidFill>
              </a:rPr>
              <a:t>Technician A says damaged powertrain mounts can cause jumping out of gear. Technician B says worn powertrain mounts can cause a transmission to stay locked in a gear.</a:t>
            </a:r>
          </a:p>
          <a:p>
            <a:pPr marL="85725" indent="0">
              <a:buNone/>
            </a:pPr>
            <a:r>
              <a:rPr lang="en-US" sz="2600" dirty="0">
                <a:solidFill>
                  <a:schemeClr val="tx1"/>
                </a:solidFill>
              </a:rPr>
              <a:t>Who is correct?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3)</a:t>
            </a:r>
          </a:p>
        </p:txBody>
      </p:sp>
      <p:sp>
        <p:nvSpPr>
          <p:cNvPr id="3" name="Content Placeholder 2"/>
          <p:cNvSpPr>
            <a:spLocks noGrp="1"/>
          </p:cNvSpPr>
          <p:nvPr>
            <p:ph type="body" idx="1"/>
          </p:nvPr>
        </p:nvSpPr>
        <p:spPr/>
        <p:txBody>
          <a:bodyPr/>
          <a:lstStyle/>
          <a:p>
            <a:pPr>
              <a:spcAft>
                <a:spcPts val="2400"/>
              </a:spcAft>
            </a:pPr>
            <a:r>
              <a:rPr lang="en-US" sz="2600" dirty="0">
                <a:solidFill>
                  <a:schemeClr val="tx1"/>
                </a:solidFill>
              </a:rPr>
              <a:t>Technician A says damaged powertrain mounts can cause jumping out of gear. Technician B says worn powertrain mounts can cause a transmission to stay locked in a gear. </a:t>
            </a:r>
          </a:p>
          <a:p>
            <a:pPr marL="85725" indent="0">
              <a:spcAft>
                <a:spcPts val="3000"/>
              </a:spcAft>
              <a:buNone/>
            </a:pPr>
            <a:r>
              <a:rPr lang="en-US" sz="2600" dirty="0">
                <a:solidFill>
                  <a:schemeClr val="tx1"/>
                </a:solidFill>
              </a:rPr>
              <a:t>Who is correct?</a:t>
            </a:r>
          </a:p>
          <a:p>
            <a:pPr marL="428625" lvl="1" indent="0">
              <a:buNone/>
            </a:pPr>
            <a:r>
              <a:rPr lang="en-US" sz="2600" b="1" dirty="0">
                <a:solidFill>
                  <a:schemeClr val="tx1"/>
                </a:solidFill>
              </a:rPr>
              <a:t>Answer: </a:t>
            </a:r>
            <a:r>
              <a:rPr lang="en-US" sz="2600" dirty="0">
                <a:solidFill>
                  <a:schemeClr val="tx1"/>
                </a:solidFill>
              </a:rPr>
              <a:t>Both Technicians A and B</a:t>
            </a:r>
          </a:p>
        </p:txBody>
      </p:sp>
    </p:spTree>
    <p:extLst>
      <p:ext uri="{BB962C8B-B14F-4D97-AF65-F5344CB8AC3E}">
        <p14:creationId xmlns:p14="http://schemas.microsoft.com/office/powerpoint/2010/main" val="2218056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Transmission Removal Tips</a:t>
            </a:r>
          </a:p>
        </p:txBody>
      </p:sp>
      <p:sp>
        <p:nvSpPr>
          <p:cNvPr id="21507" name="Rectangle 3"/>
          <p:cNvSpPr>
            <a:spLocks noGrp="1" noChangeArrowheads="1"/>
          </p:cNvSpPr>
          <p:nvPr>
            <p:ph type="body" idx="1"/>
          </p:nvPr>
        </p:nvSpPr>
        <p:spPr/>
        <p:txBody>
          <a:bodyPr/>
          <a:lstStyle/>
          <a:p>
            <a:pPr marL="0" indent="0">
              <a:buNone/>
            </a:pPr>
            <a:r>
              <a:rPr lang="en-US" sz="2400" b="1" dirty="0">
                <a:solidFill>
                  <a:schemeClr val="tx1"/>
                </a:solidFill>
              </a:rPr>
              <a:t>39.04 Describe the steps taken to remove and install transmissions/transaxles, including the equipment and safety precautions used.</a:t>
            </a:r>
          </a:p>
          <a:p>
            <a:r>
              <a:rPr lang="en-US" sz="2400" dirty="0">
                <a:solidFill>
                  <a:schemeClr val="tx1"/>
                </a:solidFill>
              </a:rPr>
              <a:t>Always refer to the service information before beginning the removal</a:t>
            </a:r>
          </a:p>
          <a:p>
            <a:r>
              <a:rPr lang="en-US" sz="2400" dirty="0">
                <a:solidFill>
                  <a:schemeClr val="tx1"/>
                </a:solidFill>
              </a:rPr>
              <a:t>Always disconnect the battery before removing the transmission</a:t>
            </a:r>
          </a:p>
          <a:p>
            <a:r>
              <a:rPr lang="en-US" sz="2400" dirty="0">
                <a:solidFill>
                  <a:schemeClr val="tx1"/>
                </a:solidFill>
              </a:rPr>
              <a:t>Drain the fluid before removal</a:t>
            </a:r>
          </a:p>
          <a:p>
            <a:r>
              <a:rPr lang="en-US" sz="2400" dirty="0">
                <a:solidFill>
                  <a:schemeClr val="tx1"/>
                </a:solidFill>
              </a:rPr>
              <a:t>Use a transmission jack to support the transmission while removing it</a:t>
            </a:r>
          </a:p>
          <a:p>
            <a:pPr algn="l"/>
            <a:r>
              <a:rPr lang="en-US" sz="2400" dirty="0">
                <a:solidFill>
                  <a:schemeClr val="tx1"/>
                </a:solidFill>
                <a:latin typeface="Work Sans" pitchFamily="2" charset="0"/>
              </a:rPr>
              <a:t>On some cars, the engine and transmission must be removed as a unit.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D94F0-62AE-680B-1E96-727C09869F7E}"/>
              </a:ext>
            </a:extLst>
          </p:cNvPr>
          <p:cNvSpPr>
            <a:spLocks noGrp="1"/>
          </p:cNvSpPr>
          <p:nvPr>
            <p:ph type="title"/>
          </p:nvPr>
        </p:nvSpPr>
        <p:spPr/>
        <p:txBody>
          <a:bodyPr/>
          <a:lstStyle/>
          <a:p>
            <a:r>
              <a:rPr lang="en-US" dirty="0"/>
              <a:t>Rear Wheel Drive Removal</a:t>
            </a:r>
          </a:p>
        </p:txBody>
      </p:sp>
      <p:pic>
        <p:nvPicPr>
          <p:cNvPr id="8" name="Picture Placeholder 7" descr="A transmission of a vehicle with parts labeled as follows: rear flange, drive shaft, and marks.">
            <a:extLst>
              <a:ext uri="{FF2B5EF4-FFF2-40B4-BE49-F238E27FC236}">
                <a16:creationId xmlns:a16="http://schemas.microsoft.com/office/drawing/2014/main" id="{06527DBC-A907-EEBE-B0BB-B8902A4D4319}"/>
              </a:ext>
            </a:extLst>
          </p:cNvPr>
          <p:cNvPicPr>
            <a:picLocks noGrp="1" noChangeAspect="1"/>
          </p:cNvPicPr>
          <p:nvPr>
            <p:ph type="pic" sz="quarter" idx="12"/>
          </p:nvPr>
        </p:nvPicPr>
        <p:blipFill>
          <a:blip r:embed="rId2"/>
          <a:srcRect b="15221"/>
          <a:stretch/>
        </p:blipFill>
        <p:spPr>
          <a:xfrm>
            <a:off x="3560114" y="1726420"/>
            <a:ext cx="5071772" cy="3805307"/>
          </a:xfrm>
          <a:prstGeom prst="rect">
            <a:avLst/>
          </a:prstGeom>
        </p:spPr>
      </p:pic>
    </p:spTree>
    <p:extLst>
      <p:ext uri="{BB962C8B-B14F-4D97-AF65-F5344CB8AC3E}">
        <p14:creationId xmlns:p14="http://schemas.microsoft.com/office/powerpoint/2010/main" val="4182808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F1A7-08FA-8BC2-C80B-71EA062BFE7D}"/>
              </a:ext>
            </a:extLst>
          </p:cNvPr>
          <p:cNvSpPr>
            <a:spLocks noGrp="1"/>
          </p:cNvSpPr>
          <p:nvPr>
            <p:ph type="title"/>
          </p:nvPr>
        </p:nvSpPr>
        <p:spPr/>
        <p:txBody>
          <a:bodyPr/>
          <a:lstStyle/>
          <a:p>
            <a:r>
              <a:rPr lang="en-US" dirty="0"/>
              <a:t>Front Wheel Drive Removal</a:t>
            </a:r>
          </a:p>
        </p:txBody>
      </p:sp>
      <p:pic>
        <p:nvPicPr>
          <p:cNvPr id="8" name="Picture Placeholder 7" descr="A transaxle with the parts labeled as follows: Transaxle assembly, Axle shaft, and Slide puller.">
            <a:extLst>
              <a:ext uri="{FF2B5EF4-FFF2-40B4-BE49-F238E27FC236}">
                <a16:creationId xmlns:a16="http://schemas.microsoft.com/office/drawing/2014/main" id="{9ED0F6D3-8410-F9EA-6865-203528ED2AAD}"/>
              </a:ext>
            </a:extLst>
          </p:cNvPr>
          <p:cNvPicPr>
            <a:picLocks noGrp="1" noChangeAspect="1"/>
          </p:cNvPicPr>
          <p:nvPr>
            <p:ph type="pic" sz="quarter" idx="12"/>
          </p:nvPr>
        </p:nvPicPr>
        <p:blipFill>
          <a:blip r:embed="rId2"/>
          <a:srcRect b="11631"/>
          <a:stretch/>
        </p:blipFill>
        <p:spPr>
          <a:xfrm>
            <a:off x="3122474" y="1833877"/>
            <a:ext cx="5947053" cy="3696245"/>
          </a:xfrm>
          <a:prstGeom prst="rect">
            <a:avLst/>
          </a:prstGeom>
        </p:spPr>
      </p:pic>
    </p:spTree>
    <p:extLst>
      <p:ext uri="{BB962C8B-B14F-4D97-AF65-F5344CB8AC3E}">
        <p14:creationId xmlns:p14="http://schemas.microsoft.com/office/powerpoint/2010/main" val="3538171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Cleaning and Inspection</a:t>
            </a:r>
          </a:p>
        </p:txBody>
      </p:sp>
      <p:sp>
        <p:nvSpPr>
          <p:cNvPr id="22531" name="Content Placeholder 2"/>
          <p:cNvSpPr>
            <a:spLocks noGrp="1"/>
          </p:cNvSpPr>
          <p:nvPr>
            <p:ph type="body" idx="1"/>
          </p:nvPr>
        </p:nvSpPr>
        <p:spPr>
          <a:xfrm>
            <a:off x="476844" y="1563626"/>
            <a:ext cx="7393527" cy="4443769"/>
          </a:xfrm>
        </p:spPr>
        <p:txBody>
          <a:bodyPr/>
          <a:lstStyle/>
          <a:p>
            <a:pPr marL="0" indent="0">
              <a:buNone/>
            </a:pPr>
            <a:r>
              <a:rPr lang="en-US" b="1" dirty="0">
                <a:solidFill>
                  <a:schemeClr val="tx1"/>
                </a:solidFill>
              </a:rPr>
              <a:t>39.05 Perform a visual inspection of transmission/transaxle components for signs of damage or wear.</a:t>
            </a:r>
          </a:p>
          <a:p>
            <a:r>
              <a:rPr lang="en-US" dirty="0">
                <a:solidFill>
                  <a:schemeClr val="tx1"/>
                </a:solidFill>
              </a:rPr>
              <a:t>Thoroughly clean the transmission/transaxle.</a:t>
            </a:r>
          </a:p>
          <a:p>
            <a:r>
              <a:rPr lang="en-US" dirty="0">
                <a:solidFill>
                  <a:schemeClr val="tx1"/>
                </a:solidFill>
              </a:rPr>
              <a:t>Disassembly and overhaul procedures can vary greatly between manufacturers.</a:t>
            </a:r>
          </a:p>
          <a:p>
            <a:pPr lvl="1"/>
            <a:r>
              <a:rPr lang="en-US" dirty="0">
                <a:solidFill>
                  <a:schemeClr val="tx1"/>
                </a:solidFill>
              </a:rPr>
              <a:t>Pay close attention to part condition during removal.</a:t>
            </a:r>
          </a:p>
        </p:txBody>
      </p:sp>
      <p:pic>
        <p:nvPicPr>
          <p:cNvPr id="7" name="Picture Placeholder 6" descr="A technician uses the dial indicator to measure the end play of the shaft.">
            <a:extLst>
              <a:ext uri="{FF2B5EF4-FFF2-40B4-BE49-F238E27FC236}">
                <a16:creationId xmlns:a16="http://schemas.microsoft.com/office/drawing/2014/main" id="{BF8719D3-F08E-0E47-C4E4-DCE01EC45639}"/>
              </a:ext>
            </a:extLst>
          </p:cNvPr>
          <p:cNvPicPr>
            <a:picLocks noGrp="1" noChangeAspect="1"/>
          </p:cNvPicPr>
          <p:nvPr>
            <p:ph type="pic" sz="quarter" idx="12"/>
          </p:nvPr>
        </p:nvPicPr>
        <p:blipFill>
          <a:blip r:embed="rId3"/>
          <a:srcRect b="11366"/>
          <a:stretch/>
        </p:blipFill>
        <p:spPr>
          <a:xfrm>
            <a:off x="7776053" y="2325001"/>
            <a:ext cx="4163050" cy="286579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C67102-707E-F0B4-37DC-1817EE96AACC}"/>
              </a:ext>
            </a:extLst>
          </p:cNvPr>
          <p:cNvSpPr>
            <a:spLocks noGrp="1"/>
          </p:cNvSpPr>
          <p:nvPr>
            <p:ph type="title"/>
          </p:nvPr>
        </p:nvSpPr>
        <p:spPr/>
        <p:txBody>
          <a:bodyPr/>
          <a:lstStyle/>
          <a:p>
            <a:r>
              <a:rPr lang="en-IN" dirty="0"/>
              <a:t>Counter Gear Inspection</a:t>
            </a:r>
          </a:p>
        </p:txBody>
      </p:sp>
      <p:pic>
        <p:nvPicPr>
          <p:cNvPr id="9" name="Picture Placeholder 8" descr="The counter gear assembly has six counter drive gears and a countershaft reverse gear. Arrows pointing toward four counter drive gears from the rear end depict, inspect for chips, cracks, or, pitting. Arrows pointing to the first counter drive gear and to the countershaft reverse gear depict, bearing bores should be smooth.">
            <a:extLst>
              <a:ext uri="{FF2B5EF4-FFF2-40B4-BE49-F238E27FC236}">
                <a16:creationId xmlns:a16="http://schemas.microsoft.com/office/drawing/2014/main" id="{B3E2FCC6-1BD3-33FA-7081-F3D58DECA105}"/>
              </a:ext>
            </a:extLst>
          </p:cNvPr>
          <p:cNvPicPr>
            <a:picLocks noGrp="1" noChangeAspect="1"/>
          </p:cNvPicPr>
          <p:nvPr>
            <p:ph type="pic" sz="quarter" idx="12"/>
          </p:nvPr>
        </p:nvPicPr>
        <p:blipFill>
          <a:blip r:embed="rId3"/>
          <a:srcRect b="7703"/>
          <a:stretch/>
        </p:blipFill>
        <p:spPr>
          <a:xfrm>
            <a:off x="2726010" y="1781449"/>
            <a:ext cx="6739981" cy="381544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BAC31A-E3D1-CFDF-A3E8-0251C9E75637}"/>
              </a:ext>
            </a:extLst>
          </p:cNvPr>
          <p:cNvSpPr>
            <a:spLocks noGrp="1"/>
          </p:cNvSpPr>
          <p:nvPr>
            <p:ph type="title"/>
          </p:nvPr>
        </p:nvSpPr>
        <p:spPr/>
        <p:txBody>
          <a:bodyPr/>
          <a:lstStyle/>
          <a:p>
            <a:r>
              <a:rPr lang="en-US" sz="4000" b="1" dirty="0">
                <a:solidFill>
                  <a:schemeClr val="tx1"/>
                </a:solidFill>
                <a:latin typeface="Work Sans" pitchFamily="2" charset="0"/>
              </a:rPr>
              <a:t>Input Shaft Inspection</a:t>
            </a:r>
            <a:endParaRPr lang="en-IN" dirty="0">
              <a:solidFill>
                <a:schemeClr val="tx1"/>
              </a:solidFill>
            </a:endParaRPr>
          </a:p>
        </p:txBody>
      </p:sp>
      <p:pic>
        <p:nvPicPr>
          <p:cNvPr id="9" name="Picture Placeholder 8" descr="An input shaft should be Inspected the following while assembling: the surface must be smooth; clutch teeth not damaged; inspect for cracks, chips, or pitting in input gear; ball bearing must rotate smoothly; the sealing area should be smooth, with no nicks or scratches; inspect for worn chips in clutch disc; pilots into crankshaft must be smooth.">
            <a:extLst>
              <a:ext uri="{FF2B5EF4-FFF2-40B4-BE49-F238E27FC236}">
                <a16:creationId xmlns:a16="http://schemas.microsoft.com/office/drawing/2014/main" id="{3D967B70-BD7C-E685-7E98-5DAF04A8633C}"/>
              </a:ext>
            </a:extLst>
          </p:cNvPr>
          <p:cNvPicPr>
            <a:picLocks noGrp="1" noChangeAspect="1"/>
          </p:cNvPicPr>
          <p:nvPr>
            <p:ph type="pic" sz="quarter" idx="12"/>
          </p:nvPr>
        </p:nvPicPr>
        <p:blipFill>
          <a:blip r:embed="rId3"/>
          <a:srcRect b="6352"/>
          <a:stretch/>
        </p:blipFill>
        <p:spPr>
          <a:xfrm>
            <a:off x="2759376" y="1741703"/>
            <a:ext cx="6673248" cy="380169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642542-5E2D-3E0F-F6F2-0CFEF9478EC8}"/>
              </a:ext>
            </a:extLst>
          </p:cNvPr>
          <p:cNvSpPr>
            <a:spLocks noGrp="1"/>
          </p:cNvSpPr>
          <p:nvPr>
            <p:ph type="title"/>
          </p:nvPr>
        </p:nvSpPr>
        <p:spPr/>
        <p:txBody>
          <a:bodyPr/>
          <a:lstStyle/>
          <a:p>
            <a:r>
              <a:rPr lang="en-US" sz="4000" b="1" dirty="0">
                <a:solidFill>
                  <a:schemeClr val="tx1"/>
                </a:solidFill>
                <a:latin typeface="Work Sans" pitchFamily="2" charset="0"/>
              </a:rPr>
              <a:t>Gear and Synchronizer Inspection</a:t>
            </a:r>
            <a:endParaRPr lang="en-IN" dirty="0">
              <a:solidFill>
                <a:schemeClr val="tx1"/>
              </a:solidFill>
            </a:endParaRPr>
          </a:p>
        </p:txBody>
      </p:sp>
      <p:pic>
        <p:nvPicPr>
          <p:cNvPr id="10" name="Picture Placeholder 9" descr="All the damaged speed gears must be replaced. The following should be inspected while assembling speed gear: Inspect clutch teeth; Teeth must not be pitted, cracked, chipped, or broken; Tapered area must be smooth and Bore must be smooth.">
            <a:extLst>
              <a:ext uri="{FF2B5EF4-FFF2-40B4-BE49-F238E27FC236}">
                <a16:creationId xmlns:a16="http://schemas.microsoft.com/office/drawing/2014/main" id="{9A467925-6194-DB7E-DF43-3AE413F2EC62}"/>
              </a:ext>
            </a:extLst>
          </p:cNvPr>
          <p:cNvPicPr>
            <a:picLocks noGrp="1" noChangeAspect="1"/>
          </p:cNvPicPr>
          <p:nvPr>
            <p:ph type="pic" sz="quarter" idx="10"/>
          </p:nvPr>
        </p:nvPicPr>
        <p:blipFill>
          <a:blip r:embed="rId3"/>
          <a:srcRect b="4431"/>
          <a:stretch/>
        </p:blipFill>
        <p:spPr>
          <a:xfrm>
            <a:off x="2653975" y="1680203"/>
            <a:ext cx="3145819" cy="3753034"/>
          </a:xfrm>
          <a:prstGeom prst="rect">
            <a:avLst/>
          </a:prstGeom>
        </p:spPr>
      </p:pic>
      <p:pic>
        <p:nvPicPr>
          <p:cNvPr id="11" name="Picture Placeholder 10" descr="Two illustrations of grooves are depicted. The first illustration depicts the internal surface of the groove. An enlarged view depicts a sharp groove with sharp edges. The second illustration depicts the internal surface of the groove. An enlarged view depicts dulled grooves with bent edges.">
            <a:extLst>
              <a:ext uri="{FF2B5EF4-FFF2-40B4-BE49-F238E27FC236}">
                <a16:creationId xmlns:a16="http://schemas.microsoft.com/office/drawing/2014/main" id="{216E8E83-ADAD-AA9F-B38F-4FAEF41ECB2A}"/>
              </a:ext>
            </a:extLst>
          </p:cNvPr>
          <p:cNvPicPr>
            <a:picLocks noGrp="1" noChangeAspect="1"/>
          </p:cNvPicPr>
          <p:nvPr>
            <p:ph type="pic" sz="quarter" idx="12"/>
          </p:nvPr>
        </p:nvPicPr>
        <p:blipFill>
          <a:blip r:embed="rId4"/>
          <a:srcRect b="8376"/>
          <a:stretch/>
        </p:blipFill>
        <p:spPr>
          <a:xfrm>
            <a:off x="6798160" y="1737921"/>
            <a:ext cx="3915651" cy="359962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ABAA0B-24F4-6A1B-2ABD-8BD5FAB073EF}"/>
              </a:ext>
            </a:extLst>
          </p:cNvPr>
          <p:cNvSpPr>
            <a:spLocks noGrp="1"/>
          </p:cNvSpPr>
          <p:nvPr>
            <p:ph type="title"/>
          </p:nvPr>
        </p:nvSpPr>
        <p:spPr/>
        <p:txBody>
          <a:bodyPr/>
          <a:lstStyle/>
          <a:p>
            <a:r>
              <a:rPr lang="en-US" sz="4000" b="1" dirty="0">
                <a:latin typeface="Work Sans" pitchFamily="2" charset="0"/>
              </a:rPr>
              <a:t>Synchronizer Clearance</a:t>
            </a:r>
            <a:endParaRPr lang="en-IN" dirty="0"/>
          </a:p>
        </p:txBody>
      </p:sp>
      <p:pic>
        <p:nvPicPr>
          <p:cNvPr id="9" name="Picture Placeholder 8" descr="A synchronize blocker ring and a gear clutch. The arrows indicate that the blocker ring and clutching teeth are properly aligned.">
            <a:extLst>
              <a:ext uri="{FF2B5EF4-FFF2-40B4-BE49-F238E27FC236}">
                <a16:creationId xmlns:a16="http://schemas.microsoft.com/office/drawing/2014/main" id="{76610424-0B1C-1BF7-2F61-11F26F9D1142}"/>
              </a:ext>
            </a:extLst>
          </p:cNvPr>
          <p:cNvPicPr>
            <a:picLocks noGrp="1" noChangeAspect="1"/>
          </p:cNvPicPr>
          <p:nvPr>
            <p:ph type="pic" sz="quarter" idx="12"/>
          </p:nvPr>
        </p:nvPicPr>
        <p:blipFill>
          <a:blip r:embed="rId3"/>
          <a:srcRect b="23593"/>
          <a:stretch/>
        </p:blipFill>
        <p:spPr>
          <a:xfrm>
            <a:off x="2778531" y="1897313"/>
            <a:ext cx="6634938" cy="307551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p:txBody>
          <a:bodyPr/>
          <a:lstStyle/>
          <a:p>
            <a:r>
              <a:rPr lang="en-US" dirty="0"/>
              <a:t>Typical Endplay Measurement</a:t>
            </a:r>
          </a:p>
        </p:txBody>
      </p:sp>
      <p:pic>
        <p:nvPicPr>
          <p:cNvPr id="7" name="Picture Placeholder 6" descr="A countershaft end play includes a dial indicator and cluster gear assembly.">
            <a:extLst>
              <a:ext uri="{FF2B5EF4-FFF2-40B4-BE49-F238E27FC236}">
                <a16:creationId xmlns:a16="http://schemas.microsoft.com/office/drawing/2014/main" id="{30C623FA-51F3-CB86-DAF9-DF6C75743F4B}"/>
              </a:ext>
            </a:extLst>
          </p:cNvPr>
          <p:cNvPicPr>
            <a:picLocks noGrp="1" noChangeAspect="1"/>
          </p:cNvPicPr>
          <p:nvPr>
            <p:ph type="pic" sz="quarter" idx="12"/>
          </p:nvPr>
        </p:nvPicPr>
        <p:blipFill>
          <a:blip r:embed="rId3"/>
          <a:srcRect b="11092"/>
          <a:stretch/>
        </p:blipFill>
        <p:spPr>
          <a:xfrm>
            <a:off x="3468189" y="1658065"/>
            <a:ext cx="5255623" cy="414312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3D9E0-8019-3AAE-522A-AB459F17D6C5}"/>
              </a:ext>
            </a:extLst>
          </p:cNvPr>
          <p:cNvSpPr>
            <a:spLocks noGrp="1"/>
          </p:cNvSpPr>
          <p:nvPr>
            <p:ph type="title"/>
          </p:nvPr>
        </p:nvSpPr>
        <p:spPr/>
        <p:txBody>
          <a:bodyPr/>
          <a:lstStyle/>
          <a:p>
            <a:r>
              <a:rPr lang="en-US" dirty="0"/>
              <a:t>Knowledge Check (3 of 3)</a:t>
            </a:r>
          </a:p>
        </p:txBody>
      </p:sp>
      <p:sp>
        <p:nvSpPr>
          <p:cNvPr id="3" name="Text Placeholder 2">
            <a:extLst>
              <a:ext uri="{FF2B5EF4-FFF2-40B4-BE49-F238E27FC236}">
                <a16:creationId xmlns:a16="http://schemas.microsoft.com/office/drawing/2014/main" id="{698F0DA0-885E-297B-39DF-72BB13AF9775}"/>
              </a:ext>
            </a:extLst>
          </p:cNvPr>
          <p:cNvSpPr>
            <a:spLocks noGrp="1"/>
          </p:cNvSpPr>
          <p:nvPr>
            <p:ph type="body" idx="1"/>
          </p:nvPr>
        </p:nvSpPr>
        <p:spPr/>
        <p:txBody>
          <a:bodyPr/>
          <a:lstStyle/>
          <a:p>
            <a:pPr marL="0" indent="0" algn="l">
              <a:spcAft>
                <a:spcPts val="1800"/>
              </a:spcAft>
              <a:buNone/>
            </a:pPr>
            <a:r>
              <a:rPr lang="en-US" sz="2600" dirty="0">
                <a:solidFill>
                  <a:schemeClr val="tx1"/>
                </a:solidFill>
                <a:latin typeface="Work Sans" pitchFamily="2" charset="0"/>
              </a:rPr>
              <a:t>While inspecting the synchronizers of a transaxle: Technician A says that if the clutch teeth of the synchronizer are rounded, the synchronizer assembly must be replaced. Technician B says that the movement of the synchronizer sleeve on the shaft should be checked.</a:t>
            </a:r>
          </a:p>
          <a:p>
            <a:pPr marL="0" indent="0" algn="l">
              <a:buNone/>
            </a:pPr>
            <a:r>
              <a:rPr lang="en-US" sz="2600" dirty="0">
                <a:solidFill>
                  <a:schemeClr val="tx1"/>
                </a:solidFill>
                <a:latin typeface="Work Sans" pitchFamily="2" charset="0"/>
              </a:rPr>
              <a:t>Who is correct?</a:t>
            </a:r>
          </a:p>
        </p:txBody>
      </p:sp>
    </p:spTree>
    <p:extLst>
      <p:ext uri="{BB962C8B-B14F-4D97-AF65-F5344CB8AC3E}">
        <p14:creationId xmlns:p14="http://schemas.microsoft.com/office/powerpoint/2010/main" val="1376986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3D9E0-8019-3AAE-522A-AB459F17D6C5}"/>
              </a:ext>
            </a:extLst>
          </p:cNvPr>
          <p:cNvSpPr>
            <a:spLocks noGrp="1"/>
          </p:cNvSpPr>
          <p:nvPr>
            <p:ph type="title"/>
          </p:nvPr>
        </p:nvSpPr>
        <p:spPr/>
        <p:txBody>
          <a:bodyPr/>
          <a:lstStyle/>
          <a:p>
            <a:r>
              <a:rPr lang="en-US" dirty="0"/>
              <a:t>Knowledge Check Answer (3 of 3)</a:t>
            </a:r>
          </a:p>
        </p:txBody>
      </p:sp>
      <p:sp>
        <p:nvSpPr>
          <p:cNvPr id="3" name="Text Placeholder 2">
            <a:extLst>
              <a:ext uri="{FF2B5EF4-FFF2-40B4-BE49-F238E27FC236}">
                <a16:creationId xmlns:a16="http://schemas.microsoft.com/office/drawing/2014/main" id="{87BE3128-260B-24D6-6D5E-443BB647B5EA}"/>
              </a:ext>
            </a:extLst>
          </p:cNvPr>
          <p:cNvSpPr>
            <a:spLocks noGrp="1"/>
          </p:cNvSpPr>
          <p:nvPr>
            <p:ph type="body" idx="1"/>
          </p:nvPr>
        </p:nvSpPr>
        <p:spPr/>
        <p:txBody>
          <a:bodyPr/>
          <a:lstStyle/>
          <a:p>
            <a:pPr marL="0" indent="0" algn="l">
              <a:spcAft>
                <a:spcPts val="1200"/>
              </a:spcAft>
              <a:buNone/>
            </a:pPr>
            <a:r>
              <a:rPr lang="en-US" sz="2600" dirty="0">
                <a:solidFill>
                  <a:schemeClr val="tx1"/>
                </a:solidFill>
                <a:latin typeface="Work Sans" pitchFamily="2" charset="0"/>
              </a:rPr>
              <a:t>While inspecting the synchronizers of a transaxle: Technician A says that if the clutch teeth of the synchronizer are rounded, the synchronizer assembly must be replaced. Technician B says that the movement of the synchronizer sleeve on the shaft should be checked.</a:t>
            </a:r>
          </a:p>
          <a:p>
            <a:pPr marL="0" indent="0" algn="l">
              <a:spcAft>
                <a:spcPts val="2400"/>
              </a:spcAft>
              <a:buNone/>
            </a:pPr>
            <a:r>
              <a:rPr lang="en-US" sz="2600" dirty="0">
                <a:solidFill>
                  <a:schemeClr val="tx1"/>
                </a:solidFill>
                <a:latin typeface="Work Sans" pitchFamily="2" charset="0"/>
              </a:rPr>
              <a:t>Who is correct?</a:t>
            </a:r>
          </a:p>
          <a:p>
            <a:pPr marL="361950" indent="0" algn="l">
              <a:buNone/>
            </a:pPr>
            <a:r>
              <a:rPr lang="en-US" sz="2600" b="1" dirty="0">
                <a:solidFill>
                  <a:schemeClr val="tx1"/>
                </a:solidFill>
                <a:latin typeface="Work Sans" pitchFamily="2" charset="0"/>
              </a:rPr>
              <a:t>Answer: </a:t>
            </a:r>
            <a:r>
              <a:rPr lang="en-US" sz="2600" dirty="0">
                <a:solidFill>
                  <a:schemeClr val="tx1"/>
                </a:solidFill>
                <a:latin typeface="Work Sans" pitchFamily="2" charset="0"/>
              </a:rPr>
              <a:t>Both technician A and B</a:t>
            </a:r>
          </a:p>
        </p:txBody>
      </p:sp>
    </p:spTree>
    <p:extLst>
      <p:ext uri="{BB962C8B-B14F-4D97-AF65-F5344CB8AC3E}">
        <p14:creationId xmlns:p14="http://schemas.microsoft.com/office/powerpoint/2010/main" val="3456496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Differential Case Disassembly</a:t>
            </a:r>
          </a:p>
        </p:txBody>
      </p:sp>
      <p:sp>
        <p:nvSpPr>
          <p:cNvPr id="28675"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39.06 Describe the basic steps and precautions taken during transmission/transaxle disassembly, cleaning, inspection, and reassembly procedures.</a:t>
            </a:r>
            <a:endParaRPr lang="en-US" dirty="0">
              <a:solidFill>
                <a:schemeClr val="tx1"/>
              </a:solidFill>
            </a:endParaRPr>
          </a:p>
          <a:p>
            <a:r>
              <a:rPr lang="en-US" dirty="0">
                <a:solidFill>
                  <a:schemeClr val="tx1"/>
                </a:solidFill>
              </a:rPr>
              <a:t>The differential is often kept together when repairing a transaxle.</a:t>
            </a:r>
          </a:p>
          <a:p>
            <a:r>
              <a:rPr lang="en-US" dirty="0">
                <a:solidFill>
                  <a:schemeClr val="tx1"/>
                </a:solidFill>
              </a:rPr>
              <a:t>Separate the ring gear from the case.</a:t>
            </a:r>
          </a:p>
          <a:p>
            <a:r>
              <a:rPr lang="en-US" dirty="0">
                <a:solidFill>
                  <a:schemeClr val="tx1"/>
                </a:solidFill>
              </a:rPr>
              <a:t>Clean and inspect all parts.</a:t>
            </a:r>
          </a:p>
          <a:p>
            <a:r>
              <a:rPr lang="en-US" dirty="0">
                <a:solidFill>
                  <a:schemeClr val="tx1"/>
                </a:solidFill>
              </a:rPr>
              <a:t>Keep all shims and bearing races together and identified.</a:t>
            </a:r>
          </a:p>
          <a:p>
            <a:r>
              <a:rPr lang="en-US" dirty="0">
                <a:solidFill>
                  <a:schemeClr val="tx1"/>
                </a:solidFill>
              </a:rPr>
              <a:t>Discard the original shim if a service shim is used.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5"/>
          <p:cNvSpPr>
            <a:spLocks noGrp="1"/>
          </p:cNvSpPr>
          <p:nvPr>
            <p:ph type="title"/>
          </p:nvPr>
        </p:nvSpPr>
        <p:spPr/>
        <p:txBody>
          <a:bodyPr/>
          <a:lstStyle/>
          <a:p>
            <a:r>
              <a:rPr lang="en-US" dirty="0"/>
              <a:t>Differential Case Reassembly</a:t>
            </a:r>
          </a:p>
        </p:txBody>
      </p:sp>
      <p:sp>
        <p:nvSpPr>
          <p:cNvPr id="29699" name="Content Placeholder 6"/>
          <p:cNvSpPr>
            <a:spLocks noGrp="1"/>
          </p:cNvSpPr>
          <p:nvPr>
            <p:ph type="body" idx="1"/>
          </p:nvPr>
        </p:nvSpPr>
        <p:spPr>
          <a:xfrm>
            <a:off x="476844" y="1563626"/>
            <a:ext cx="6642413" cy="4314660"/>
          </a:xfrm>
        </p:spPr>
        <p:txBody>
          <a:bodyPr/>
          <a:lstStyle/>
          <a:p>
            <a:r>
              <a:rPr lang="en-US" dirty="0">
                <a:solidFill>
                  <a:schemeClr val="tx1"/>
                </a:solidFill>
              </a:rPr>
              <a:t>Refer to service manual for procedures.</a:t>
            </a:r>
          </a:p>
          <a:p>
            <a:r>
              <a:rPr lang="en-US" dirty="0">
                <a:solidFill>
                  <a:schemeClr val="tx1"/>
                </a:solidFill>
              </a:rPr>
              <a:t>Press serviceable gears onto main shaft.</a:t>
            </a:r>
          </a:p>
          <a:p>
            <a:r>
              <a:rPr lang="en-US" dirty="0">
                <a:solidFill>
                  <a:schemeClr val="tx1"/>
                </a:solidFill>
              </a:rPr>
              <a:t>Use petroleum jelly to hold needle bearings.</a:t>
            </a:r>
          </a:p>
          <a:p>
            <a:r>
              <a:rPr lang="en-US" dirty="0">
                <a:solidFill>
                  <a:schemeClr val="tx1"/>
                </a:solidFill>
              </a:rPr>
              <a:t>Adjust endplay with shims, spacers, or snap rings of different thicknesses.</a:t>
            </a:r>
          </a:p>
        </p:txBody>
      </p:sp>
      <p:pic>
        <p:nvPicPr>
          <p:cNvPr id="6" name="Picture Placeholder 5" descr="The technician holds shims from the end of the engine shaft during the differential case reassembly.">
            <a:extLst>
              <a:ext uri="{FF2B5EF4-FFF2-40B4-BE49-F238E27FC236}">
                <a16:creationId xmlns:a16="http://schemas.microsoft.com/office/drawing/2014/main" id="{3E1C404C-AA18-5B7D-950D-2D5DC961DCAD}"/>
              </a:ext>
            </a:extLst>
          </p:cNvPr>
          <p:cNvPicPr>
            <a:picLocks noGrp="1" noChangeAspect="1"/>
          </p:cNvPicPr>
          <p:nvPr>
            <p:ph type="pic" sz="quarter" idx="12"/>
          </p:nvPr>
        </p:nvPicPr>
        <p:blipFill>
          <a:blip r:embed="rId3"/>
          <a:srcRect b="7337"/>
          <a:stretch/>
        </p:blipFill>
        <p:spPr>
          <a:xfrm>
            <a:off x="7459760" y="1769196"/>
            <a:ext cx="4074643" cy="34232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i="0" u="none" strike="noStrike" baseline="0" dirty="0">
                <a:solidFill>
                  <a:schemeClr val="tx1"/>
                </a:solidFill>
                <a:latin typeface="Work Sans" pitchFamily="2" charset="0"/>
              </a:rPr>
              <a:t>Installing the Transmission/</a:t>
            </a:r>
            <a:r>
              <a:rPr lang="en-US" dirty="0">
                <a:solidFill>
                  <a:schemeClr val="tx1"/>
                </a:solidFill>
                <a:latin typeface="Work Sans" pitchFamily="2" charset="0"/>
              </a:rPr>
              <a:t>T</a:t>
            </a:r>
            <a:r>
              <a:rPr lang="en-US" i="0" u="none" strike="noStrike" baseline="0" dirty="0">
                <a:solidFill>
                  <a:schemeClr val="tx1"/>
                </a:solidFill>
                <a:latin typeface="Work Sans" pitchFamily="2" charset="0"/>
              </a:rPr>
              <a:t>ransaxle</a:t>
            </a:r>
            <a:endParaRPr lang="en-US" dirty="0">
              <a:solidFill>
                <a:schemeClr val="tx1"/>
              </a:solidFill>
              <a:latin typeface="Work Sans" pitchFamily="2" charset="0"/>
            </a:endParaRPr>
          </a:p>
        </p:txBody>
      </p:sp>
      <p:sp>
        <p:nvSpPr>
          <p:cNvPr id="30723" name="Content Placeholder 2"/>
          <p:cNvSpPr>
            <a:spLocks noGrp="1"/>
          </p:cNvSpPr>
          <p:nvPr>
            <p:ph type="body" idx="1"/>
          </p:nvPr>
        </p:nvSpPr>
        <p:spPr/>
        <p:txBody>
          <a:bodyPr/>
          <a:lstStyle/>
          <a:p>
            <a:r>
              <a:rPr lang="en-US" dirty="0">
                <a:solidFill>
                  <a:schemeClr val="tx1"/>
                </a:solidFill>
                <a:latin typeface="Work Sans" pitchFamily="2" charset="0"/>
              </a:rPr>
              <a:t>Install the clutch assembly and new release bearing.</a:t>
            </a:r>
          </a:p>
          <a:p>
            <a:r>
              <a:rPr lang="en-US" dirty="0">
                <a:solidFill>
                  <a:schemeClr val="tx1"/>
                </a:solidFill>
                <a:latin typeface="Work Sans" pitchFamily="2" charset="0"/>
              </a:rPr>
              <a:t>Do not let transmission hang by the input shaft.</a:t>
            </a:r>
          </a:p>
          <a:p>
            <a:r>
              <a:rPr lang="en-US" dirty="0">
                <a:solidFill>
                  <a:schemeClr val="tx1"/>
                </a:solidFill>
                <a:latin typeface="Work Sans" pitchFamily="2" charset="0"/>
              </a:rPr>
              <a:t>Lightly coat the input shaft with lubricant</a:t>
            </a:r>
          </a:p>
          <a:p>
            <a:pPr lvl="1"/>
            <a:r>
              <a:rPr lang="en-US" b="0" i="0" u="none" strike="noStrike" baseline="0" dirty="0">
                <a:solidFill>
                  <a:schemeClr val="tx1"/>
                </a:solidFill>
                <a:latin typeface="Work Sans" pitchFamily="2" charset="0"/>
              </a:rPr>
              <a:t>Avoid putting too much grease on the shaft.</a:t>
            </a:r>
            <a:endParaRPr lang="en-US" dirty="0">
              <a:solidFill>
                <a:schemeClr val="tx1"/>
              </a:solidFill>
              <a:latin typeface="Work Sans" pitchFamily="2" charset="0"/>
            </a:endParaRPr>
          </a:p>
          <a:p>
            <a:r>
              <a:rPr lang="en-US" dirty="0">
                <a:solidFill>
                  <a:schemeClr val="tx1"/>
                </a:solidFill>
                <a:latin typeface="Work Sans" pitchFamily="2" charset="0"/>
              </a:rPr>
              <a:t>Tighten bell housing bolts evenly.</a:t>
            </a:r>
          </a:p>
          <a:p>
            <a:pPr algn="l"/>
            <a:r>
              <a:rPr lang="en-US" b="0" i="0" u="none" strike="noStrike" baseline="0" dirty="0">
                <a:solidFill>
                  <a:schemeClr val="tx1"/>
                </a:solidFill>
                <a:latin typeface="Work Sans" pitchFamily="2" charset="0"/>
              </a:rPr>
              <a:t>If the transmission/transaxle does not fit snugly against the engine block or if you cannot move the transmission into place, do not force it.</a:t>
            </a:r>
            <a:endParaRPr lang="en-US" dirty="0">
              <a:solidFill>
                <a:schemeClr val="tx1"/>
              </a:solidFill>
              <a:latin typeface="Work Sans" pitchFamily="2"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a:spcBef>
                <a:spcPts val="0"/>
              </a:spcBef>
            </a:pPr>
            <a:r>
              <a:rPr lang="en-US" sz="2600" dirty="0">
                <a:solidFill>
                  <a:schemeClr val="tx1"/>
                </a:solidFill>
                <a:latin typeface="Work Sans" pitchFamily="2" charset="0"/>
              </a:rPr>
              <a:t>Describe a concept from this chapter that challenged you the most. Describe what made the concept difficult for you and the steps you took to improve your understanding</a:t>
            </a:r>
            <a:r>
              <a:rPr lang="en-US" dirty="0">
                <a:solidFill>
                  <a:schemeClr val="tx1"/>
                </a:solidFill>
                <a:latin typeface="Work Sans" pitchFamily="2" charset="0"/>
              </a:rPr>
              <a:t>.</a:t>
            </a:r>
            <a:endParaRPr lang="en-US" sz="2600" dirty="0">
              <a:solidFill>
                <a:schemeClr val="tx1"/>
              </a:solidFill>
              <a:latin typeface="Work Sans" pitchFamily="2" charset="0"/>
            </a:endParaRPr>
          </a:p>
          <a:p>
            <a:pPr marL="457200">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3D131005-E0D0-4CE1-A589-094C50A290C7}" vid="{F2384AB8-E206-4835-9F32-18C2B45E4BC4}"/>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1784</TotalTime>
  <Words>1615</Words>
  <Application>Microsoft Office PowerPoint</Application>
  <PresentationFormat>Widescreen</PresentationFormat>
  <Paragraphs>173</Paragraphs>
  <Slides>43</Slides>
  <Notes>32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43</vt:i4>
      </vt:variant>
    </vt:vector>
  </HeadingPairs>
  <TitlesOfParts>
    <vt:vector size="50" baseType="lpstr">
      <vt:lpstr>Arial</vt:lpstr>
      <vt:lpstr>Calibri</vt:lpstr>
      <vt:lpstr>Work Sans</vt:lpstr>
      <vt:lpstr>Custom Design</vt:lpstr>
      <vt:lpstr>Theme2</vt:lpstr>
      <vt:lpstr>Theme3</vt:lpstr>
      <vt:lpstr>1_Theme3</vt:lpstr>
      <vt:lpstr>Automotive Technology: A Systems Approach, 8e</vt:lpstr>
      <vt:lpstr>Chapter Objectives (1 of 2)</vt:lpstr>
      <vt:lpstr>Chapter Objectives (2 of 2)</vt:lpstr>
      <vt:lpstr>Transmission Identification</vt:lpstr>
      <vt:lpstr>GM Transmission I.D.</vt:lpstr>
      <vt:lpstr>Lubricant Check</vt:lpstr>
      <vt:lpstr>A) Typical transmission/transaxle gear B) Examples of Modern Manual Transmission</vt:lpstr>
      <vt:lpstr>Lubricant Leak Causes (1 of 2)</vt:lpstr>
      <vt:lpstr>Lubricant Leak Causes (2 of 2)</vt:lpstr>
      <vt:lpstr>Possible Sources of Fluid Leaks</vt:lpstr>
      <vt:lpstr>Fluid Changes</vt:lpstr>
      <vt:lpstr>In-Vehicle Service</vt:lpstr>
      <vt:lpstr>Replacing an Extension Housing Seal</vt:lpstr>
      <vt:lpstr>Linkage Adjustment</vt:lpstr>
      <vt:lpstr>Back-Up Light Switch</vt:lpstr>
      <vt:lpstr>Knowledge Check (1 of 3)</vt:lpstr>
      <vt:lpstr>Knowledge Check Answer (1 of 3)</vt:lpstr>
      <vt:lpstr>Diagnosing Problems</vt:lpstr>
      <vt:lpstr>Visual Inspection</vt:lpstr>
      <vt:lpstr>Leak Inspection</vt:lpstr>
      <vt:lpstr>Noise Diagnosis (1 of 2)</vt:lpstr>
      <vt:lpstr>Noise Diagnosis (2 of 2) </vt:lpstr>
      <vt:lpstr>Gear Clash</vt:lpstr>
      <vt:lpstr>Hard Shifting</vt:lpstr>
      <vt:lpstr>Jumping Out of Gear</vt:lpstr>
      <vt:lpstr>Locked in Gear</vt:lpstr>
      <vt:lpstr>Knowledge Check (2 of 3)</vt:lpstr>
      <vt:lpstr>Knowledge Check Answer (2 of 3)</vt:lpstr>
      <vt:lpstr>Transmission Removal Tips</vt:lpstr>
      <vt:lpstr>Rear Wheel Drive Removal</vt:lpstr>
      <vt:lpstr>Front Wheel Drive Removal</vt:lpstr>
      <vt:lpstr>Cleaning and Inspection</vt:lpstr>
      <vt:lpstr>Counter Gear Inspection</vt:lpstr>
      <vt:lpstr>Input Shaft Inspection</vt:lpstr>
      <vt:lpstr>Gear and Synchronizer Inspection</vt:lpstr>
      <vt:lpstr>Synchronizer Clearance</vt:lpstr>
      <vt:lpstr>Typical Endplay Measurement</vt:lpstr>
      <vt:lpstr>Knowledge Check (3 of 3)</vt:lpstr>
      <vt:lpstr>Knowledge Check Answer (3 of 3)</vt:lpstr>
      <vt:lpstr>Differential Case Disassembly</vt:lpstr>
      <vt:lpstr>Differential Case Reassembly</vt:lpstr>
      <vt:lpstr>Installing the Transmission/Transaxle</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80</cp:revision>
  <dcterms:created xsi:type="dcterms:W3CDTF">2012-09-04T13:49:02Z</dcterms:created>
  <dcterms:modified xsi:type="dcterms:W3CDTF">2024-12-04T16:14:46Z</dcterms:modified>
</cp:coreProperties>
</file>