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4"/>
  </p:notesMasterIdLst>
  <p:sldIdLst>
    <p:sldId id="403" r:id="rId2"/>
    <p:sldId id="301" r:id="rId3"/>
    <p:sldId id="302" r:id="rId4"/>
    <p:sldId id="303" r:id="rId5"/>
    <p:sldId id="304" r:id="rId6"/>
    <p:sldId id="305" r:id="rId7"/>
    <p:sldId id="306" r:id="rId8"/>
    <p:sldId id="307" r:id="rId9"/>
    <p:sldId id="308" r:id="rId10"/>
    <p:sldId id="309" r:id="rId11"/>
    <p:sldId id="310" r:id="rId12"/>
    <p:sldId id="311" r:id="rId13"/>
    <p:sldId id="312" r:id="rId14"/>
    <p:sldId id="313" r:id="rId15"/>
    <p:sldId id="314" r:id="rId16"/>
    <p:sldId id="315" r:id="rId17"/>
    <p:sldId id="316" r:id="rId18"/>
    <p:sldId id="317" r:id="rId19"/>
    <p:sldId id="318" r:id="rId20"/>
    <p:sldId id="319" r:id="rId21"/>
    <p:sldId id="320" r:id="rId22"/>
    <p:sldId id="321" r:id="rId23"/>
    <p:sldId id="345" r:id="rId24"/>
    <p:sldId id="322" r:id="rId25"/>
    <p:sldId id="323" r:id="rId26"/>
    <p:sldId id="324" r:id="rId27"/>
    <p:sldId id="325" r:id="rId28"/>
    <p:sldId id="326" r:id="rId29"/>
    <p:sldId id="327" r:id="rId30"/>
    <p:sldId id="328" r:id="rId31"/>
    <p:sldId id="329" r:id="rId32"/>
    <p:sldId id="330" r:id="rId33"/>
    <p:sldId id="331" r:id="rId34"/>
    <p:sldId id="332" r:id="rId35"/>
    <p:sldId id="333" r:id="rId36"/>
    <p:sldId id="334" r:id="rId37"/>
    <p:sldId id="335" r:id="rId38"/>
    <p:sldId id="336" r:id="rId39"/>
    <p:sldId id="337" r:id="rId40"/>
    <p:sldId id="338" r:id="rId41"/>
    <p:sldId id="339" r:id="rId42"/>
    <p:sldId id="340" r:id="rId43"/>
  </p:sldIdLst>
  <p:sldSz cx="12192000" cy="6858000"/>
  <p:notesSz cx="6858000" cy="9144000"/>
  <p:embeddedFontLst>
    <p:embeddedFont>
      <p:font typeface="Work Sans" pitchFamily="2" charset="0"/>
      <p:regular r:id="rId45"/>
      <p:bold r:id="rId46"/>
      <p:italic r:id="rId47"/>
      <p:boldItalic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6" roundtripDataSignature="AMtx7mj3xgFaiDJKW1tPvMRhpjjHehVoOw=="/>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Paul Kelley" initials="" lastIdx="1" clrIdx="0"/>
  <p:cmAuthor id="1" name="Paul Kelley" initials="PK" lastIdx="31" clrIdx="1">
    <p:extLst>
      <p:ext uri="{19B8F6BF-5375-455C-9EA6-DF929625EA0E}">
        <p15:presenceInfo xmlns:p15="http://schemas.microsoft.com/office/powerpoint/2012/main" userId="6637e9e8b0383d0f"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608" autoAdjust="0"/>
    <p:restoredTop sz="86375" autoAdjust="0"/>
  </p:normalViewPr>
  <p:slideViewPr>
    <p:cSldViewPr snapToGrid="0">
      <p:cViewPr varScale="1">
        <p:scale>
          <a:sx n="93" d="100"/>
          <a:sy n="93" d="100"/>
        </p:scale>
        <p:origin x="390" y="78"/>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3.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1.fntdata"/><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4.fntdata"/><Relationship Id="rId56" Type="http://customschemas.google.com/relationships/presentationmetadata" Target="meta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2.fntdata"/><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57"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685800" y="630237"/>
            <a:ext cx="3778647" cy="2125489"/>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 name="Google Shape;4;n"/>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304800" algn="l" rtl="0">
              <a:spcBef>
                <a:spcPts val="36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spcBef>
                <a:spcPts val="36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spcBef>
                <a:spcPts val="360"/>
              </a:spcBef>
              <a:spcAft>
                <a:spcPts val="0"/>
              </a:spcAft>
              <a:buClr>
                <a:schemeClr val="dk1"/>
              </a:buClr>
              <a:buSzPts val="1200"/>
              <a:buFont typeface="Noto Sans Symbols"/>
              <a:buChar char="▪"/>
              <a:defRPr sz="1200" b="0" i="0" u="none" strike="noStrike" cap="none">
                <a:solidFill>
                  <a:schemeClr val="dk1"/>
                </a:solidFill>
                <a:latin typeface="Arial"/>
                <a:ea typeface="Arial"/>
                <a:cs typeface="Arial"/>
                <a:sym typeface="Arial"/>
              </a:defRPr>
            </a:lvl4pPr>
            <a:lvl5pPr marL="2286000" marR="0" lvl="4" indent="-304800" algn="l" rtl="0">
              <a:spcBef>
                <a:spcPts val="360"/>
              </a:spcBef>
              <a:spcAft>
                <a:spcPts val="0"/>
              </a:spcAft>
              <a:buClr>
                <a:schemeClr val="dk1"/>
              </a:buClr>
              <a:buSzPts val="1200"/>
              <a:buFont typeface="Courier New"/>
              <a:buChar char="o"/>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5" name="Google Shape;5;n"/>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000" b="0" i="0" u="none" strike="noStrike" cap="none">
                <a:solidFill>
                  <a:srgbClr val="7F7F7F"/>
                </a:solidFill>
                <a:latin typeface="Arial"/>
                <a:ea typeface="Arial"/>
                <a:cs typeface="Arial"/>
                <a:sym typeface="Arial"/>
              </a:rPr>
              <a:t>‹#›</a:t>
            </a:fld>
            <a:endParaRPr sz="1000" b="0" i="0" u="none" strike="noStrike" cap="none">
              <a:solidFill>
                <a:srgbClr val="7F7F7F"/>
              </a:solidFill>
              <a:latin typeface="Arial"/>
              <a:ea typeface="Arial"/>
              <a:cs typeface="Arial"/>
              <a:sym typeface="Arial"/>
            </a:endParaRPr>
          </a:p>
        </p:txBody>
      </p:sp>
      <p:pic>
        <p:nvPicPr>
          <p:cNvPr id="6" name="Google Shape;6;n"/>
          <p:cNvPicPr preferRelativeResize="0"/>
          <p:nvPr/>
        </p:nvPicPr>
        <p:blipFill rotWithShape="1">
          <a:blip r:embed="rId2">
            <a:alphaModFix/>
          </a:blip>
          <a:srcRect/>
          <a:stretch/>
        </p:blipFill>
        <p:spPr>
          <a:xfrm>
            <a:off x="5274311" y="155512"/>
            <a:ext cx="1262321" cy="282913"/>
          </a:xfrm>
          <a:prstGeom prst="rect">
            <a:avLst/>
          </a:prstGeom>
          <a:noFill/>
          <a:ln>
            <a:noFill/>
          </a:ln>
        </p:spPr>
      </p:pic>
      <p:sp>
        <p:nvSpPr>
          <p:cNvPr id="7" name="Google Shape;7;n"/>
          <p:cNvSpPr txBox="1"/>
          <p:nvPr/>
        </p:nvSpPr>
        <p:spPr>
          <a:xfrm>
            <a:off x="135896" y="8922557"/>
            <a:ext cx="6262949" cy="20005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700" b="0" i="0" u="none" strike="noStrike" cap="none">
                <a:solidFill>
                  <a:srgbClr val="7F7F7F"/>
                </a:solidFill>
                <a:latin typeface="Arial"/>
                <a:ea typeface="Arial"/>
                <a:cs typeface="Arial"/>
                <a:sym typeface="Arial"/>
              </a:rPr>
              <a:t>©2019 Cengage Learning. All Rights Reserved. May not be scanned, copied or duplicated, or posted to a publicly accessible website, in whole or in part.</a:t>
            </a:r>
            <a:endParaRPr/>
          </a:p>
        </p:txBody>
      </p:sp>
    </p:spTree>
    <p:extLst>
      <p:ext uri="{BB962C8B-B14F-4D97-AF65-F5344CB8AC3E}">
        <p14:creationId xmlns:p14="http://schemas.microsoft.com/office/powerpoint/2010/main" val="213876494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a:t>
            </a:fld>
            <a:endParaRPr lang="en-US" dirty="0"/>
          </a:p>
        </p:txBody>
      </p:sp>
    </p:spTree>
    <p:extLst>
      <p:ext uri="{BB962C8B-B14F-4D97-AF65-F5344CB8AC3E}">
        <p14:creationId xmlns:p14="http://schemas.microsoft.com/office/powerpoint/2010/main" val="10758626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extLst>
      <p:ext uri="{BB962C8B-B14F-4D97-AF65-F5344CB8AC3E}">
        <p14:creationId xmlns:p14="http://schemas.microsoft.com/office/powerpoint/2010/main" val="12775896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extLst>
      <p:ext uri="{BB962C8B-B14F-4D97-AF65-F5344CB8AC3E}">
        <p14:creationId xmlns:p14="http://schemas.microsoft.com/office/powerpoint/2010/main" val="39167964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14136922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extLst>
      <p:ext uri="{BB962C8B-B14F-4D97-AF65-F5344CB8AC3E}">
        <p14:creationId xmlns:p14="http://schemas.microsoft.com/office/powerpoint/2010/main" val="40055175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6391091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14244318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extLst>
      <p:ext uri="{BB962C8B-B14F-4D97-AF65-F5344CB8AC3E}">
        <p14:creationId xmlns:p14="http://schemas.microsoft.com/office/powerpoint/2010/main" val="28151342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extLst>
      <p:ext uri="{BB962C8B-B14F-4D97-AF65-F5344CB8AC3E}">
        <p14:creationId xmlns:p14="http://schemas.microsoft.com/office/powerpoint/2010/main" val="9792034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extLst>
      <p:ext uri="{BB962C8B-B14F-4D97-AF65-F5344CB8AC3E}">
        <p14:creationId xmlns:p14="http://schemas.microsoft.com/office/powerpoint/2010/main" val="22453610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38310136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16222484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2355923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38995131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28642365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8554117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18788837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35791304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387159390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16491323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extLst>
      <p:ext uri="{BB962C8B-B14F-4D97-AF65-F5344CB8AC3E}">
        <p14:creationId xmlns:p14="http://schemas.microsoft.com/office/powerpoint/2010/main" val="39906922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154880840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extLst>
      <p:ext uri="{BB962C8B-B14F-4D97-AF65-F5344CB8AC3E}">
        <p14:creationId xmlns:p14="http://schemas.microsoft.com/office/powerpoint/2010/main" val="8543046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extLst>
      <p:ext uri="{BB962C8B-B14F-4D97-AF65-F5344CB8AC3E}">
        <p14:creationId xmlns:p14="http://schemas.microsoft.com/office/powerpoint/2010/main" val="428908581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extLst>
      <p:ext uri="{BB962C8B-B14F-4D97-AF65-F5344CB8AC3E}">
        <p14:creationId xmlns:p14="http://schemas.microsoft.com/office/powerpoint/2010/main" val="292284272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extLst>
      <p:ext uri="{BB962C8B-B14F-4D97-AF65-F5344CB8AC3E}">
        <p14:creationId xmlns:p14="http://schemas.microsoft.com/office/powerpoint/2010/main" val="75421938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Tree>
    <p:extLst>
      <p:ext uri="{BB962C8B-B14F-4D97-AF65-F5344CB8AC3E}">
        <p14:creationId xmlns:p14="http://schemas.microsoft.com/office/powerpoint/2010/main" val="40789810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a:p>
        </p:txBody>
      </p:sp>
    </p:spTree>
    <p:extLst>
      <p:ext uri="{BB962C8B-B14F-4D97-AF65-F5344CB8AC3E}">
        <p14:creationId xmlns:p14="http://schemas.microsoft.com/office/powerpoint/2010/main" val="272306057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30</a:t>
            </a:fld>
            <a:endParaRPr/>
          </a:p>
        </p:txBody>
      </p:sp>
    </p:spTree>
    <p:extLst>
      <p:ext uri="{BB962C8B-B14F-4D97-AF65-F5344CB8AC3E}">
        <p14:creationId xmlns:p14="http://schemas.microsoft.com/office/powerpoint/2010/main" val="58075667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31</a:t>
            </a:fld>
            <a:endParaRPr/>
          </a:p>
        </p:txBody>
      </p:sp>
    </p:spTree>
    <p:extLst>
      <p:ext uri="{BB962C8B-B14F-4D97-AF65-F5344CB8AC3E}">
        <p14:creationId xmlns:p14="http://schemas.microsoft.com/office/powerpoint/2010/main" val="186487394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32</a:t>
            </a:fld>
            <a:endParaRPr/>
          </a:p>
        </p:txBody>
      </p:sp>
    </p:spTree>
    <p:extLst>
      <p:ext uri="{BB962C8B-B14F-4D97-AF65-F5344CB8AC3E}">
        <p14:creationId xmlns:p14="http://schemas.microsoft.com/office/powerpoint/2010/main" val="39939921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33</a:t>
            </a:fld>
            <a:endParaRPr/>
          </a:p>
        </p:txBody>
      </p:sp>
    </p:spTree>
    <p:extLst>
      <p:ext uri="{BB962C8B-B14F-4D97-AF65-F5344CB8AC3E}">
        <p14:creationId xmlns:p14="http://schemas.microsoft.com/office/powerpoint/2010/main" val="265168961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34</a:t>
            </a:fld>
            <a:endParaRPr/>
          </a:p>
        </p:txBody>
      </p:sp>
    </p:spTree>
    <p:extLst>
      <p:ext uri="{BB962C8B-B14F-4D97-AF65-F5344CB8AC3E}">
        <p14:creationId xmlns:p14="http://schemas.microsoft.com/office/powerpoint/2010/main" val="263402798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35</a:t>
            </a:fld>
            <a:endParaRPr/>
          </a:p>
        </p:txBody>
      </p:sp>
    </p:spTree>
    <p:extLst>
      <p:ext uri="{BB962C8B-B14F-4D97-AF65-F5344CB8AC3E}">
        <p14:creationId xmlns:p14="http://schemas.microsoft.com/office/powerpoint/2010/main" val="335932548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36</a:t>
            </a:fld>
            <a:endParaRPr/>
          </a:p>
        </p:txBody>
      </p:sp>
    </p:spTree>
    <p:extLst>
      <p:ext uri="{BB962C8B-B14F-4D97-AF65-F5344CB8AC3E}">
        <p14:creationId xmlns:p14="http://schemas.microsoft.com/office/powerpoint/2010/main" val="267209025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37</a:t>
            </a:fld>
            <a:endParaRPr/>
          </a:p>
        </p:txBody>
      </p:sp>
    </p:spTree>
    <p:extLst>
      <p:ext uri="{BB962C8B-B14F-4D97-AF65-F5344CB8AC3E}">
        <p14:creationId xmlns:p14="http://schemas.microsoft.com/office/powerpoint/2010/main" val="70524665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38</a:t>
            </a:fld>
            <a:endParaRPr/>
          </a:p>
        </p:txBody>
      </p:sp>
    </p:spTree>
    <p:extLst>
      <p:ext uri="{BB962C8B-B14F-4D97-AF65-F5344CB8AC3E}">
        <p14:creationId xmlns:p14="http://schemas.microsoft.com/office/powerpoint/2010/main" val="261533443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39</a:t>
            </a:fld>
            <a:endParaRPr/>
          </a:p>
        </p:txBody>
      </p:sp>
    </p:spTree>
    <p:extLst>
      <p:ext uri="{BB962C8B-B14F-4D97-AF65-F5344CB8AC3E}">
        <p14:creationId xmlns:p14="http://schemas.microsoft.com/office/powerpoint/2010/main" val="406873347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40</a:t>
            </a:fld>
            <a:endParaRPr/>
          </a:p>
        </p:txBody>
      </p:sp>
    </p:spTree>
    <p:extLst>
      <p:ext uri="{BB962C8B-B14F-4D97-AF65-F5344CB8AC3E}">
        <p14:creationId xmlns:p14="http://schemas.microsoft.com/office/powerpoint/2010/main" val="204851267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41</a:t>
            </a:fld>
            <a:endParaRPr/>
          </a:p>
        </p:txBody>
      </p:sp>
    </p:spTree>
    <p:extLst>
      <p:ext uri="{BB962C8B-B14F-4D97-AF65-F5344CB8AC3E}">
        <p14:creationId xmlns:p14="http://schemas.microsoft.com/office/powerpoint/2010/main" val="221756315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42</a:t>
            </a:fld>
            <a:endParaRPr/>
          </a:p>
        </p:txBody>
      </p:sp>
    </p:spTree>
    <p:extLst>
      <p:ext uri="{BB962C8B-B14F-4D97-AF65-F5344CB8AC3E}">
        <p14:creationId xmlns:p14="http://schemas.microsoft.com/office/powerpoint/2010/main" val="27111365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xml"/><Relationship Id="rId4"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Content">
  <p:cSld name="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3" y="473245"/>
            <a:ext cx="11241915" cy="87526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5" name="Google Shape;25;p49"/>
          <p:cNvSpPr txBox="1">
            <a:spLocks noGrp="1"/>
          </p:cNvSpPr>
          <p:nvPr>
            <p:ph type="body" idx="1" hasCustomPrompt="1"/>
          </p:nvPr>
        </p:nvSpPr>
        <p:spPr>
          <a:xfrm>
            <a:off x="476843" y="1471264"/>
            <a:ext cx="11241915" cy="4613339"/>
          </a:xfrm>
          <a:prstGeom prst="rect">
            <a:avLst/>
          </a:prstGeom>
          <a:noFill/>
          <a:ln>
            <a:noFill/>
          </a:ln>
        </p:spPr>
        <p:txBody>
          <a:bodyPr spcFirstLastPara="1" wrap="square" lIns="91425" tIns="45700" rIns="91425" bIns="45700" anchor="t" anchorCtr="0">
            <a:noAutofit/>
          </a:bodyPr>
          <a:lstStyle>
            <a:lvl1pPr marL="360363" lvl="0" indent="-360363" algn="l">
              <a:lnSpc>
                <a:spcPct val="100000"/>
              </a:lnSpc>
              <a:spcBef>
                <a:spcPts val="624"/>
              </a:spcBef>
              <a:spcAft>
                <a:spcPts val="0"/>
              </a:spcAft>
              <a:buSzPct val="100000"/>
              <a:buChar char="•"/>
              <a:defRPr sz="2600"/>
            </a:lvl1pPr>
            <a:lvl2pPr marL="720725" lvl="1" indent="-360363" algn="l">
              <a:lnSpc>
                <a:spcPct val="100000"/>
              </a:lnSpc>
              <a:spcBef>
                <a:spcPts val="624"/>
              </a:spcBef>
              <a:spcAft>
                <a:spcPts val="0"/>
              </a:spcAft>
              <a:buSzPct val="100000"/>
              <a:buFont typeface="Arial" panose="020B0604020202020204" pitchFamily="34" charset="0"/>
              <a:buChar char="–"/>
              <a:defRPr sz="2400" b="0"/>
            </a:lvl2pPr>
            <a:lvl3pPr marL="1081088" lvl="2" indent="-360363" algn="l">
              <a:lnSpc>
                <a:spcPct val="100000"/>
              </a:lnSpc>
              <a:spcBef>
                <a:spcPts val="624"/>
              </a:spcBef>
              <a:spcAft>
                <a:spcPts val="0"/>
              </a:spcAft>
              <a:buSzPts val="1920"/>
              <a:buChar char="▪"/>
              <a:defRPr sz="22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US" sz="2600" dirty="0"/>
              <a:t> </a:t>
            </a:r>
          </a:p>
          <a:p>
            <a:pPr lvl="1"/>
            <a:endParaRPr lang="en-US" dirty="0"/>
          </a:p>
          <a:p>
            <a:pPr lvl="2"/>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Content" preserve="1" userDrawn="1">
  <p:cSld name="2_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3" y="473245"/>
            <a:ext cx="11241915" cy="87526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5" name="Google Shape;25;p49"/>
          <p:cNvSpPr txBox="1">
            <a:spLocks noGrp="1"/>
          </p:cNvSpPr>
          <p:nvPr>
            <p:ph type="body" idx="1"/>
          </p:nvPr>
        </p:nvSpPr>
        <p:spPr>
          <a:xfrm>
            <a:off x="476843" y="1471264"/>
            <a:ext cx="7503375" cy="4218335"/>
          </a:xfrm>
          <a:prstGeom prst="rect">
            <a:avLst/>
          </a:prstGeom>
          <a:noFill/>
          <a:ln>
            <a:noFill/>
          </a:ln>
        </p:spPr>
        <p:txBody>
          <a:bodyPr spcFirstLastPara="1" wrap="square" lIns="91425" tIns="45700" rIns="91425" bIns="45700" anchor="t" anchorCtr="0">
            <a:noAutofit/>
          </a:bodyPr>
          <a:lstStyle>
            <a:lvl1pPr marL="360363" lvl="0" indent="-360363" algn="l">
              <a:lnSpc>
                <a:spcPct val="100000"/>
              </a:lnSpc>
              <a:spcBef>
                <a:spcPts val="624"/>
              </a:spcBef>
              <a:spcAft>
                <a:spcPts val="0"/>
              </a:spcAft>
              <a:buSzPct val="100000"/>
              <a:buChar char="•"/>
              <a:defRPr sz="2600"/>
            </a:lvl1pPr>
            <a:lvl2pPr marL="720725" lvl="1" indent="-360363" algn="l">
              <a:lnSpc>
                <a:spcPct val="100000"/>
              </a:lnSpc>
              <a:spcBef>
                <a:spcPts val="624"/>
              </a:spcBef>
              <a:spcAft>
                <a:spcPts val="0"/>
              </a:spcAft>
              <a:buSzPct val="100000"/>
              <a:buFont typeface="Arial" panose="020B0604020202020204" pitchFamily="34" charset="0"/>
              <a:buChar char="–"/>
              <a:defRPr sz="2400" b="0"/>
            </a:lvl2pPr>
            <a:lvl3pPr marL="1081088" lvl="2" indent="-360363" algn="l">
              <a:lnSpc>
                <a:spcPct val="100000"/>
              </a:lnSpc>
              <a:spcBef>
                <a:spcPts val="624"/>
              </a:spcBef>
              <a:spcAft>
                <a:spcPts val="0"/>
              </a:spcAft>
              <a:buSzPts val="1920"/>
              <a:buChar char="▪"/>
              <a:defRPr sz="22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lang="en-US" sz="2600" dirty="0"/>
          </a:p>
          <a:p>
            <a:pPr lvl="1"/>
            <a:endParaRPr lang="en-US" dirty="0"/>
          </a:p>
          <a:p>
            <a:pPr lvl="2"/>
            <a:endParaRPr dirty="0"/>
          </a:p>
        </p:txBody>
      </p:sp>
      <p:sp>
        <p:nvSpPr>
          <p:cNvPr id="3" name="Picture Placeholder 2">
            <a:extLst>
              <a:ext uri="{FF2B5EF4-FFF2-40B4-BE49-F238E27FC236}">
                <a16:creationId xmlns:a16="http://schemas.microsoft.com/office/drawing/2014/main" id="{7A651A29-A324-27F5-067E-88E708444CD9}"/>
              </a:ext>
            </a:extLst>
          </p:cNvPr>
          <p:cNvSpPr>
            <a:spLocks noGrp="1"/>
          </p:cNvSpPr>
          <p:nvPr>
            <p:ph type="pic" sz="quarter" idx="10"/>
          </p:nvPr>
        </p:nvSpPr>
        <p:spPr>
          <a:xfrm>
            <a:off x="8220075" y="4230688"/>
            <a:ext cx="914400" cy="914400"/>
          </a:xfrm>
        </p:spPr>
        <p:txBody>
          <a:bodyPr/>
          <a:lstStyle/>
          <a:p>
            <a:endParaRPr lang="en-US"/>
          </a:p>
        </p:txBody>
      </p:sp>
    </p:spTree>
    <p:extLst>
      <p:ext uri="{BB962C8B-B14F-4D97-AF65-F5344CB8AC3E}">
        <p14:creationId xmlns:p14="http://schemas.microsoft.com/office/powerpoint/2010/main" val="41843532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Divider">
  <p:cSld name="Section Divider">
    <p:spTree>
      <p:nvGrpSpPr>
        <p:cNvPr id="1" name="Shape 36"/>
        <p:cNvGrpSpPr/>
        <p:nvPr/>
      </p:nvGrpSpPr>
      <p:grpSpPr>
        <a:xfrm>
          <a:off x="0" y="0"/>
          <a:ext cx="0" cy="0"/>
          <a:chOff x="0" y="0"/>
          <a:chExt cx="0" cy="0"/>
        </a:xfrm>
      </p:grpSpPr>
      <p:pic>
        <p:nvPicPr>
          <p:cNvPr id="37" name="Google Shape;37;p52"/>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38" name="Google Shape;38;p52"/>
          <p:cNvSpPr txBox="1">
            <a:spLocks noGrp="1"/>
          </p:cNvSpPr>
          <p:nvPr>
            <p:ph type="ctrTitle"/>
          </p:nvPr>
        </p:nvSpPr>
        <p:spPr>
          <a:xfrm>
            <a:off x="914400" y="1153123"/>
            <a:ext cx="1042416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lt1"/>
              </a:buClr>
              <a:buSzPts val="5400"/>
              <a:buFont typeface="Work Sans"/>
              <a:buNone/>
              <a:defRPr sz="54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52"/>
          <p:cNvSpPr txBox="1">
            <a:spLocks noGrp="1"/>
          </p:cNvSpPr>
          <p:nvPr>
            <p:ph type="subTitle" idx="1"/>
          </p:nvPr>
        </p:nvSpPr>
        <p:spPr>
          <a:xfrm>
            <a:off x="914400" y="3809720"/>
            <a:ext cx="10424160" cy="142493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1000"/>
              </a:spcBef>
              <a:spcAft>
                <a:spcPts val="0"/>
              </a:spcAft>
              <a:buSzPts val="3600"/>
              <a:buNone/>
              <a:defRPr sz="3600">
                <a:solidFill>
                  <a:schemeClr val="lt1"/>
                </a:solidFill>
              </a:defRPr>
            </a:lvl1pPr>
            <a:lvl2pPr lvl="1" algn="ctr">
              <a:lnSpc>
                <a:spcPct val="100000"/>
              </a:lnSpc>
              <a:spcBef>
                <a:spcPts val="800"/>
              </a:spcBef>
              <a:spcAft>
                <a:spcPts val="0"/>
              </a:spcAft>
              <a:buSzPts val="2000"/>
              <a:buNone/>
              <a:defRPr sz="2000"/>
            </a:lvl2pPr>
            <a:lvl3pPr lvl="2" algn="ctr">
              <a:lnSpc>
                <a:spcPct val="100000"/>
              </a:lnSpc>
              <a:spcBef>
                <a:spcPts val="800"/>
              </a:spcBef>
              <a:spcAft>
                <a:spcPts val="0"/>
              </a:spcAft>
              <a:buSzPts val="1440"/>
              <a:buNone/>
              <a:defRPr sz="1800"/>
            </a:lvl3pPr>
            <a:lvl4pPr lvl="3" algn="ctr">
              <a:lnSpc>
                <a:spcPct val="90000"/>
              </a:lnSpc>
              <a:spcBef>
                <a:spcPts val="800"/>
              </a:spcBef>
              <a:spcAft>
                <a:spcPts val="0"/>
              </a:spcAft>
              <a:buSzPts val="1600"/>
              <a:buNone/>
              <a:defRPr sz="1600"/>
            </a:lvl4pPr>
            <a:lvl5pPr lvl="4" algn="ctr">
              <a:lnSpc>
                <a:spcPct val="90000"/>
              </a:lnSpc>
              <a:spcBef>
                <a:spcPts val="500"/>
              </a:spcBef>
              <a:spcAft>
                <a:spcPts val="0"/>
              </a:spcAft>
              <a:buClr>
                <a:schemeClr val="accent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40" name="Google Shape;40;p52"/>
          <p:cNvPicPr preferRelativeResize="0"/>
          <p:nvPr/>
        </p:nvPicPr>
        <p:blipFill rotWithShape="1">
          <a:blip r:embed="rId3">
            <a:alphaModFix/>
          </a:blip>
          <a:srcRect/>
          <a:stretch/>
        </p:blipFill>
        <p:spPr>
          <a:xfrm>
            <a:off x="183087" y="6223885"/>
            <a:ext cx="1820281" cy="610675"/>
          </a:xfrm>
          <a:prstGeom prst="rect">
            <a:avLst/>
          </a:prstGeom>
          <a:noFill/>
          <a:ln>
            <a:noFill/>
          </a:ln>
        </p:spPr>
      </p:pic>
      <p:sp>
        <p:nvSpPr>
          <p:cNvPr id="41" name="Google Shape;41;p52"/>
          <p:cNvSpPr txBox="1"/>
          <p:nvPr/>
        </p:nvSpPr>
        <p:spPr>
          <a:xfrm>
            <a:off x="11082189" y="6449054"/>
            <a:ext cx="734291" cy="36576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sp>
        <p:nvSpPr>
          <p:cNvPr id="42" name="Google Shape;42;p52"/>
          <p:cNvSpPr txBox="1"/>
          <p:nvPr/>
        </p:nvSpPr>
        <p:spPr>
          <a:xfrm>
            <a:off x="2322513" y="6393561"/>
            <a:ext cx="8677275" cy="461665"/>
          </a:xfrm>
          <a:prstGeom prst="rect">
            <a:avLst/>
          </a:prstGeom>
          <a:noFill/>
          <a:ln>
            <a:noFill/>
          </a:ln>
        </p:spPr>
        <p:txBody>
          <a:bodyPr spcFirstLastPara="1" wrap="square" lIns="91425" tIns="45700" rIns="91425" bIns="45700" anchor="t" anchorCtr="0">
            <a:spAutoFit/>
          </a:bodyPr>
          <a:lstStyle/>
          <a:p>
            <a:pPr marL="0" indent="0">
              <a:spcBef>
                <a:spcPts val="0"/>
              </a:spcBef>
              <a:buNone/>
            </a:pPr>
            <a:r>
              <a:rPr lang="en-US" sz="1200" kern="1200" dirty="0">
                <a:solidFill>
                  <a:schemeClr val="bg1"/>
                </a:solidFill>
                <a:cs typeface="Arial" panose="020B0604020202020204" pitchFamily="34" charset="0"/>
              </a:rPr>
              <a:t>Rob Thompson and Jack Erjavec, Automotive Technology: A Systems Approach, </a:t>
            </a:r>
            <a:r>
              <a:rPr lang="en-US" sz="1200" dirty="0">
                <a:solidFill>
                  <a:schemeClr val="bg1"/>
                </a:solidFill>
                <a:cs typeface="Arial" panose="020B0604020202020204" pitchFamily="34" charset="0"/>
              </a:rPr>
              <a:t>8</a:t>
            </a:r>
            <a:r>
              <a:rPr lang="en-US" sz="1200" kern="1200" baseline="30000" dirty="0">
                <a:solidFill>
                  <a:schemeClr val="bg1"/>
                </a:solidFill>
                <a:cs typeface="Arial" panose="020B0604020202020204" pitchFamily="34" charset="0"/>
              </a:rPr>
              <a:t>th</a:t>
            </a:r>
            <a:r>
              <a:rPr lang="en-US" sz="1200" kern="1200" dirty="0">
                <a:solidFill>
                  <a:schemeClr val="bg1"/>
                </a:solidFill>
                <a:cs typeface="Arial" panose="020B0604020202020204" pitchFamily="34" charset="0"/>
              </a:rPr>
              <a:t> Edition. © 2025 Cengage. All Rights Reserved. May not be scanned, copied or duplicated, or posted to a publicly accessible website, in whole or in part.</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_Title Content">
  <p:cSld name="1_Title Content">
    <p:spTree>
      <p:nvGrpSpPr>
        <p:cNvPr id="1" name="Shape 43"/>
        <p:cNvGrpSpPr/>
        <p:nvPr/>
      </p:nvGrpSpPr>
      <p:grpSpPr>
        <a:xfrm>
          <a:off x="0" y="0"/>
          <a:ext cx="0" cy="0"/>
          <a:chOff x="0" y="0"/>
          <a:chExt cx="0" cy="0"/>
        </a:xfrm>
      </p:grpSpPr>
      <p:sp>
        <p:nvSpPr>
          <p:cNvPr id="44" name="Google Shape;44;p53"/>
          <p:cNvSpPr txBox="1">
            <a:spLocks noGrp="1"/>
          </p:cNvSpPr>
          <p:nvPr>
            <p:ph type="title"/>
          </p:nvPr>
        </p:nvSpPr>
        <p:spPr>
          <a:xfrm>
            <a:off x="476843"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53"/>
          <p:cNvSpPr txBox="1">
            <a:spLocks noGrp="1"/>
          </p:cNvSpPr>
          <p:nvPr>
            <p:ph type="body" idx="1"/>
          </p:nvPr>
        </p:nvSpPr>
        <p:spPr>
          <a:xfrm>
            <a:off x="476843" y="1508125"/>
            <a:ext cx="8429413" cy="1920876"/>
          </a:xfrm>
          <a:prstGeom prst="rect">
            <a:avLst/>
          </a:prstGeom>
          <a:noFill/>
          <a:ln>
            <a:noFill/>
          </a:ln>
        </p:spPr>
        <p:txBody>
          <a:bodyPr spcFirstLastPara="1" wrap="square" lIns="91425" tIns="45700" rIns="91425" bIns="45700" anchor="t" anchorCtr="0">
            <a:noAutofit/>
          </a:bodyPr>
          <a:lstStyle>
            <a:lvl1pPr marL="457200" lvl="0" indent="-406400" algn="l">
              <a:lnSpc>
                <a:spcPct val="100000"/>
              </a:lnSpc>
              <a:spcBef>
                <a:spcPts val="624"/>
              </a:spcBef>
              <a:spcAft>
                <a:spcPts val="0"/>
              </a:spcAft>
              <a:buSzPts val="2800"/>
              <a:buChar char="•"/>
              <a:defRPr sz="2800"/>
            </a:lvl1pPr>
            <a:lvl2pPr marL="914400" lvl="1" indent="-393700" algn="l">
              <a:lnSpc>
                <a:spcPct val="100000"/>
              </a:lnSpc>
              <a:spcBef>
                <a:spcPts val="624"/>
              </a:spcBef>
              <a:spcAft>
                <a:spcPts val="0"/>
              </a:spcAft>
              <a:buSzPts val="2600"/>
              <a:buChar char="−"/>
              <a:defRPr sz="2600" b="0"/>
            </a:lvl2pPr>
            <a:lvl3pPr marL="1371600" lvl="2" indent="-350519" algn="l">
              <a:lnSpc>
                <a:spcPct val="100000"/>
              </a:lnSpc>
              <a:spcBef>
                <a:spcPts val="624"/>
              </a:spcBef>
              <a:spcAft>
                <a:spcPts val="0"/>
              </a:spcAft>
              <a:buSzPts val="1920"/>
              <a:buChar char="▪"/>
              <a:defRPr sz="24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53"/>
          <p:cNvSpPr>
            <a:spLocks noGrp="1"/>
          </p:cNvSpPr>
          <p:nvPr>
            <p:ph type="pic" idx="2"/>
          </p:nvPr>
        </p:nvSpPr>
        <p:spPr>
          <a:xfrm>
            <a:off x="712788" y="3713163"/>
            <a:ext cx="3640137" cy="1636712"/>
          </a:xfrm>
          <a:prstGeom prst="rect">
            <a:avLst/>
          </a:prstGeom>
          <a:noFill/>
          <a:ln>
            <a:noFill/>
          </a:ln>
        </p:spPr>
      </p:sp>
      <p:sp>
        <p:nvSpPr>
          <p:cNvPr id="47" name="Google Shape;47;p53"/>
          <p:cNvSpPr>
            <a:spLocks noGrp="1"/>
          </p:cNvSpPr>
          <p:nvPr>
            <p:ph type="pic" idx="3"/>
          </p:nvPr>
        </p:nvSpPr>
        <p:spPr>
          <a:xfrm>
            <a:off x="5157788" y="3713163"/>
            <a:ext cx="3062287" cy="1343025"/>
          </a:xfrm>
          <a:prstGeom prst="rect">
            <a:avLst/>
          </a:prstGeom>
          <a:noFill/>
          <a:ln>
            <a:noFill/>
          </a:ln>
        </p:spPr>
      </p:sp>
      <p:sp>
        <p:nvSpPr>
          <p:cNvPr id="48" name="Google Shape;48;p53"/>
          <p:cNvSpPr txBox="1">
            <a:spLocks noGrp="1"/>
          </p:cNvSpPr>
          <p:nvPr>
            <p:ph type="body" idx="4"/>
          </p:nvPr>
        </p:nvSpPr>
        <p:spPr>
          <a:xfrm>
            <a:off x="7839075" y="2259013"/>
            <a:ext cx="3408363" cy="14541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53"/>
          <p:cNvSpPr txBox="1">
            <a:spLocks noGrp="1"/>
          </p:cNvSpPr>
          <p:nvPr>
            <p:ph type="body" idx="5"/>
          </p:nvPr>
        </p:nvSpPr>
        <p:spPr>
          <a:xfrm>
            <a:off x="8494713" y="4856163"/>
            <a:ext cx="914400" cy="9144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1_Title Content and image caption">
  <p:cSld name="1_Title Content and image caption">
    <p:spTree>
      <p:nvGrpSpPr>
        <p:cNvPr id="1" name="Shape 50"/>
        <p:cNvGrpSpPr/>
        <p:nvPr/>
      </p:nvGrpSpPr>
      <p:grpSpPr>
        <a:xfrm>
          <a:off x="0" y="0"/>
          <a:ext cx="0" cy="0"/>
          <a:chOff x="0" y="0"/>
          <a:chExt cx="0" cy="0"/>
        </a:xfrm>
      </p:grpSpPr>
      <p:sp>
        <p:nvSpPr>
          <p:cNvPr id="51" name="Google Shape;51;p54"/>
          <p:cNvSpPr txBox="1">
            <a:spLocks noGrp="1"/>
          </p:cNvSpPr>
          <p:nvPr>
            <p:ph type="title"/>
          </p:nvPr>
        </p:nvSpPr>
        <p:spPr>
          <a:xfrm>
            <a:off x="476843"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54"/>
          <p:cNvSpPr txBox="1">
            <a:spLocks noGrp="1"/>
          </p:cNvSpPr>
          <p:nvPr>
            <p:ph type="body" idx="1"/>
          </p:nvPr>
        </p:nvSpPr>
        <p:spPr>
          <a:xfrm>
            <a:off x="476843" y="1280161"/>
            <a:ext cx="11241915" cy="1775012"/>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54"/>
          <p:cNvSpPr txBox="1">
            <a:spLocks noGrp="1"/>
          </p:cNvSpPr>
          <p:nvPr>
            <p:ph type="body" idx="2"/>
          </p:nvPr>
        </p:nvSpPr>
        <p:spPr>
          <a:xfrm>
            <a:off x="476250" y="3184525"/>
            <a:ext cx="4525963" cy="61277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54"/>
          <p:cNvSpPr txBox="1">
            <a:spLocks noGrp="1"/>
          </p:cNvSpPr>
          <p:nvPr>
            <p:ph type="body" idx="3"/>
          </p:nvPr>
        </p:nvSpPr>
        <p:spPr>
          <a:xfrm>
            <a:off x="476250" y="3925888"/>
            <a:ext cx="4525963" cy="61277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54"/>
          <p:cNvSpPr>
            <a:spLocks noGrp="1"/>
          </p:cNvSpPr>
          <p:nvPr>
            <p:ph type="pic" idx="4"/>
          </p:nvPr>
        </p:nvSpPr>
        <p:spPr>
          <a:xfrm>
            <a:off x="5745163" y="3313113"/>
            <a:ext cx="2484437" cy="1054100"/>
          </a:xfrm>
          <a:prstGeom prst="rect">
            <a:avLst/>
          </a:prstGeom>
          <a:noFill/>
          <a:ln>
            <a:noFill/>
          </a:ln>
        </p:spPr>
      </p:sp>
      <p:sp>
        <p:nvSpPr>
          <p:cNvPr id="56" name="Google Shape;56;p54"/>
          <p:cNvSpPr>
            <a:spLocks noGrp="1"/>
          </p:cNvSpPr>
          <p:nvPr>
            <p:ph type="pic" idx="5"/>
          </p:nvPr>
        </p:nvSpPr>
        <p:spPr>
          <a:xfrm>
            <a:off x="5948363" y="4538663"/>
            <a:ext cx="2033587" cy="754062"/>
          </a:xfrm>
          <a:prstGeom prst="rect">
            <a:avLst/>
          </a:prstGeom>
          <a:no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hree Content">
  <p:cSld name="Three Content">
    <p:spTree>
      <p:nvGrpSpPr>
        <p:cNvPr id="1" name="Shape 57"/>
        <p:cNvGrpSpPr/>
        <p:nvPr/>
      </p:nvGrpSpPr>
      <p:grpSpPr>
        <a:xfrm>
          <a:off x="0" y="0"/>
          <a:ext cx="0" cy="0"/>
          <a:chOff x="0" y="0"/>
          <a:chExt cx="0" cy="0"/>
        </a:xfrm>
      </p:grpSpPr>
      <p:sp>
        <p:nvSpPr>
          <p:cNvPr id="58" name="Google Shape;58;p55"/>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9" name="Google Shape;59;p55"/>
          <p:cNvSpPr txBox="1">
            <a:spLocks noGrp="1"/>
          </p:cNvSpPr>
          <p:nvPr>
            <p:ph type="body" idx="1"/>
          </p:nvPr>
        </p:nvSpPr>
        <p:spPr>
          <a:xfrm>
            <a:off x="476844" y="1825625"/>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0" name="Google Shape;60;p55"/>
          <p:cNvSpPr txBox="1">
            <a:spLocks noGrp="1"/>
          </p:cNvSpPr>
          <p:nvPr>
            <p:ph type="body" idx="2"/>
          </p:nvPr>
        </p:nvSpPr>
        <p:spPr>
          <a:xfrm>
            <a:off x="4423735" y="1829037"/>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55"/>
          <p:cNvSpPr txBox="1">
            <a:spLocks noGrp="1"/>
          </p:cNvSpPr>
          <p:nvPr>
            <p:ph type="body" idx="3"/>
          </p:nvPr>
        </p:nvSpPr>
        <p:spPr>
          <a:xfrm>
            <a:off x="8370626" y="1825625"/>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Subtitle">
  <p:cSld name="Title/Subtitle">
    <p:spTree>
      <p:nvGrpSpPr>
        <p:cNvPr id="1" name="Shape 62"/>
        <p:cNvGrpSpPr/>
        <p:nvPr/>
      </p:nvGrpSpPr>
      <p:grpSpPr>
        <a:xfrm>
          <a:off x="0" y="0"/>
          <a:ext cx="0" cy="0"/>
          <a:chOff x="0" y="0"/>
          <a:chExt cx="0" cy="0"/>
        </a:xfrm>
      </p:grpSpPr>
      <p:sp>
        <p:nvSpPr>
          <p:cNvPr id="63" name="Google Shape;63;p56"/>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56"/>
          <p:cNvSpPr txBox="1">
            <a:spLocks noGrp="1"/>
          </p:cNvSpPr>
          <p:nvPr>
            <p:ph type="body" idx="1"/>
          </p:nvPr>
        </p:nvSpPr>
        <p:spPr>
          <a:xfrm>
            <a:off x="476843" y="1887674"/>
            <a:ext cx="11241915" cy="69114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800"/>
              <a:buNone/>
              <a:defRPr sz="2800" b="1"/>
            </a:lvl1pPr>
            <a:lvl2pPr marL="914400" lvl="1" indent="-406400" algn="l">
              <a:lnSpc>
                <a:spcPct val="100000"/>
              </a:lnSpc>
              <a:spcBef>
                <a:spcPts val="800"/>
              </a:spcBef>
              <a:spcAft>
                <a:spcPts val="0"/>
              </a:spcAft>
              <a:buSzPts val="2800"/>
              <a:buChar char="−"/>
              <a:defRPr sz="28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56"/>
          <p:cNvSpPr txBox="1">
            <a:spLocks noGrp="1"/>
          </p:cNvSpPr>
          <p:nvPr>
            <p:ph type="body" idx="2"/>
          </p:nvPr>
        </p:nvSpPr>
        <p:spPr>
          <a:xfrm>
            <a:off x="476843" y="2677888"/>
            <a:ext cx="11241915" cy="2621900"/>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6" name="Google Shape;66;p56"/>
          <p:cNvSpPr txBox="1">
            <a:spLocks noGrp="1"/>
          </p:cNvSpPr>
          <p:nvPr>
            <p:ph type="body" idx="3"/>
          </p:nvPr>
        </p:nvSpPr>
        <p:spPr>
          <a:xfrm>
            <a:off x="476844" y="5395327"/>
            <a:ext cx="11241914" cy="951787"/>
          </a:xfrm>
          <a:prstGeom prst="rect">
            <a:avLst/>
          </a:prstGeom>
          <a:noFill/>
          <a:ln>
            <a:noFill/>
          </a:ln>
        </p:spPr>
        <p:txBody>
          <a:bodyPr spcFirstLastPara="1" wrap="square" lIns="91425" tIns="45700" rIns="91425" bIns="45700" anchor="t" anchorCtr="0">
            <a:noAutofit/>
          </a:bodyPr>
          <a:lstStyle>
            <a:lvl1pPr marL="457200" lvl="0" indent="-285750" algn="l">
              <a:lnSpc>
                <a:spcPct val="100000"/>
              </a:lnSpc>
              <a:spcBef>
                <a:spcPts val="1000"/>
              </a:spcBef>
              <a:spcAft>
                <a:spcPts val="0"/>
              </a:spcAft>
              <a:buSzPts val="900"/>
              <a:buChar char="•"/>
              <a:defRPr sz="900" b="0"/>
            </a:lvl1pPr>
            <a:lvl2pPr marL="914400" lvl="1" indent="-285750" algn="l">
              <a:lnSpc>
                <a:spcPct val="100000"/>
              </a:lnSpc>
              <a:spcBef>
                <a:spcPts val="800"/>
              </a:spcBef>
              <a:spcAft>
                <a:spcPts val="0"/>
              </a:spcAft>
              <a:buSzPts val="900"/>
              <a:buChar char="−"/>
              <a:defRPr sz="900" b="0"/>
            </a:lvl2pPr>
            <a:lvl3pPr marL="1371600" lvl="2" indent="-274319" algn="l">
              <a:lnSpc>
                <a:spcPct val="100000"/>
              </a:lnSpc>
              <a:spcBef>
                <a:spcPts val="800"/>
              </a:spcBef>
              <a:spcAft>
                <a:spcPts val="0"/>
              </a:spcAft>
              <a:buSzPts val="720"/>
              <a:buChar char="▪"/>
              <a:defRPr sz="900" b="0"/>
            </a:lvl3pPr>
            <a:lvl4pPr marL="1828800" lvl="3" indent="-285750" algn="l">
              <a:lnSpc>
                <a:spcPct val="90000"/>
              </a:lnSpc>
              <a:spcBef>
                <a:spcPts val="800"/>
              </a:spcBef>
              <a:spcAft>
                <a:spcPts val="0"/>
              </a:spcAft>
              <a:buSzPts val="900"/>
              <a:buChar char="•"/>
              <a:defRPr sz="900" b="0"/>
            </a:lvl4pPr>
            <a:lvl5pPr marL="2286000" lvl="4" indent="-285750" algn="l">
              <a:lnSpc>
                <a:spcPct val="90000"/>
              </a:lnSpc>
              <a:spcBef>
                <a:spcPts val="500"/>
              </a:spcBef>
              <a:spcAft>
                <a:spcPts val="0"/>
              </a:spcAft>
              <a:buClr>
                <a:schemeClr val="accent1"/>
              </a:buClr>
              <a:buSzPts val="900"/>
              <a:buChar char="•"/>
              <a:defRPr sz="900" b="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Subtitle/Images">
  <p:cSld name="Title/Subtitle/Images">
    <p:spTree>
      <p:nvGrpSpPr>
        <p:cNvPr id="1" name="Shape 67"/>
        <p:cNvGrpSpPr/>
        <p:nvPr/>
      </p:nvGrpSpPr>
      <p:grpSpPr>
        <a:xfrm>
          <a:off x="0" y="0"/>
          <a:ext cx="0" cy="0"/>
          <a:chOff x="0" y="0"/>
          <a:chExt cx="0" cy="0"/>
        </a:xfrm>
      </p:grpSpPr>
      <p:sp>
        <p:nvSpPr>
          <p:cNvPr id="68" name="Google Shape;68;p57"/>
          <p:cNvSpPr txBox="1">
            <a:spLocks noGrp="1"/>
          </p:cNvSpPr>
          <p:nvPr>
            <p:ph type="title"/>
          </p:nvPr>
        </p:nvSpPr>
        <p:spPr>
          <a:xfrm>
            <a:off x="476843" y="475488"/>
            <a:ext cx="11241915" cy="1071533"/>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57"/>
          <p:cNvSpPr txBox="1">
            <a:spLocks noGrp="1"/>
          </p:cNvSpPr>
          <p:nvPr>
            <p:ph type="body" idx="1"/>
          </p:nvPr>
        </p:nvSpPr>
        <p:spPr>
          <a:xfrm>
            <a:off x="476843" y="1857694"/>
            <a:ext cx="11241915" cy="69114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800"/>
              <a:buNone/>
              <a:defRPr sz="2800" b="1"/>
            </a:lvl1pPr>
            <a:lvl2pPr marL="914400" lvl="1" indent="-406400" algn="l">
              <a:lnSpc>
                <a:spcPct val="100000"/>
              </a:lnSpc>
              <a:spcBef>
                <a:spcPts val="800"/>
              </a:spcBef>
              <a:spcAft>
                <a:spcPts val="0"/>
              </a:spcAft>
              <a:buSzPts val="2800"/>
              <a:buChar char="−"/>
              <a:defRPr sz="28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0" name="Google Shape;70;p57"/>
          <p:cNvSpPr txBox="1">
            <a:spLocks noGrp="1"/>
          </p:cNvSpPr>
          <p:nvPr>
            <p:ph type="body" idx="2"/>
          </p:nvPr>
        </p:nvSpPr>
        <p:spPr>
          <a:xfrm>
            <a:off x="476843" y="2677888"/>
            <a:ext cx="11241915" cy="1505492"/>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57"/>
          <p:cNvSpPr txBox="1">
            <a:spLocks noGrp="1"/>
          </p:cNvSpPr>
          <p:nvPr>
            <p:ph type="body" idx="3"/>
          </p:nvPr>
        </p:nvSpPr>
        <p:spPr>
          <a:xfrm>
            <a:off x="476844" y="43103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2" name="Google Shape;72;p57"/>
          <p:cNvSpPr txBox="1">
            <a:spLocks noGrp="1"/>
          </p:cNvSpPr>
          <p:nvPr>
            <p:ph type="body" idx="4"/>
          </p:nvPr>
        </p:nvSpPr>
        <p:spPr>
          <a:xfrm>
            <a:off x="3382488" y="43103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3" name="Google Shape;73;p57"/>
          <p:cNvSpPr txBox="1">
            <a:spLocks noGrp="1"/>
          </p:cNvSpPr>
          <p:nvPr>
            <p:ph type="body" idx="5"/>
          </p:nvPr>
        </p:nvSpPr>
        <p:spPr>
          <a:xfrm>
            <a:off x="6281896" y="4319291"/>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4" name="Google Shape;74;p57"/>
          <p:cNvSpPr txBox="1">
            <a:spLocks noGrp="1"/>
          </p:cNvSpPr>
          <p:nvPr>
            <p:ph type="body" idx="6"/>
          </p:nvPr>
        </p:nvSpPr>
        <p:spPr>
          <a:xfrm>
            <a:off x="9151916" y="4319291"/>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ulti Image/Content">
  <p:cSld name="Multi Image/Content">
    <p:spTree>
      <p:nvGrpSpPr>
        <p:cNvPr id="1" name="Shape 75"/>
        <p:cNvGrpSpPr/>
        <p:nvPr/>
      </p:nvGrpSpPr>
      <p:grpSpPr>
        <a:xfrm>
          <a:off x="0" y="0"/>
          <a:ext cx="0" cy="0"/>
          <a:chOff x="0" y="0"/>
          <a:chExt cx="0" cy="0"/>
        </a:xfrm>
      </p:grpSpPr>
      <p:sp>
        <p:nvSpPr>
          <p:cNvPr id="76" name="Google Shape;76;p58"/>
          <p:cNvSpPr txBox="1">
            <a:spLocks noGrp="1"/>
          </p:cNvSpPr>
          <p:nvPr>
            <p:ph type="title"/>
          </p:nvPr>
        </p:nvSpPr>
        <p:spPr>
          <a:xfrm>
            <a:off x="476843" y="473245"/>
            <a:ext cx="11241915" cy="51430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3200"/>
              <a:buFont typeface="Arial"/>
              <a:buNone/>
              <a:defRPr sz="32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7" name="Google Shape;77;p58"/>
          <p:cNvSpPr txBox="1">
            <a:spLocks noGrp="1"/>
          </p:cNvSpPr>
          <p:nvPr>
            <p:ph type="body" idx="1"/>
          </p:nvPr>
        </p:nvSpPr>
        <p:spPr>
          <a:xfrm>
            <a:off x="480446" y="1176279"/>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8" name="Google Shape;78;p58"/>
          <p:cNvSpPr txBox="1">
            <a:spLocks noGrp="1"/>
          </p:cNvSpPr>
          <p:nvPr>
            <p:ph type="body" idx="2"/>
          </p:nvPr>
        </p:nvSpPr>
        <p:spPr>
          <a:xfrm>
            <a:off x="3386090" y="1176279"/>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9" name="Google Shape;79;p58"/>
          <p:cNvSpPr txBox="1">
            <a:spLocks noGrp="1"/>
          </p:cNvSpPr>
          <p:nvPr>
            <p:ph type="body" idx="3"/>
          </p:nvPr>
        </p:nvSpPr>
        <p:spPr>
          <a:xfrm>
            <a:off x="6285498" y="11851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p58"/>
          <p:cNvSpPr txBox="1">
            <a:spLocks noGrp="1"/>
          </p:cNvSpPr>
          <p:nvPr>
            <p:ph type="body" idx="4"/>
          </p:nvPr>
        </p:nvSpPr>
        <p:spPr>
          <a:xfrm>
            <a:off x="9155518" y="11851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58"/>
          <p:cNvSpPr txBox="1">
            <a:spLocks noGrp="1"/>
          </p:cNvSpPr>
          <p:nvPr>
            <p:ph type="body" idx="5"/>
          </p:nvPr>
        </p:nvSpPr>
        <p:spPr>
          <a:xfrm>
            <a:off x="480445" y="3359963"/>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58"/>
          <p:cNvSpPr txBox="1">
            <a:spLocks noGrp="1"/>
          </p:cNvSpPr>
          <p:nvPr>
            <p:ph type="body" idx="6"/>
          </p:nvPr>
        </p:nvSpPr>
        <p:spPr>
          <a:xfrm>
            <a:off x="3386089" y="3359963"/>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58"/>
          <p:cNvSpPr txBox="1">
            <a:spLocks noGrp="1"/>
          </p:cNvSpPr>
          <p:nvPr>
            <p:ph type="body" idx="7"/>
          </p:nvPr>
        </p:nvSpPr>
        <p:spPr>
          <a:xfrm>
            <a:off x="6285497" y="3368869"/>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58"/>
          <p:cNvSpPr txBox="1">
            <a:spLocks noGrp="1"/>
          </p:cNvSpPr>
          <p:nvPr>
            <p:ph type="body" idx="8"/>
          </p:nvPr>
        </p:nvSpPr>
        <p:spPr>
          <a:xfrm>
            <a:off x="9155517" y="3368869"/>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5" name="Google Shape;85;p58"/>
          <p:cNvSpPr txBox="1">
            <a:spLocks noGrp="1"/>
          </p:cNvSpPr>
          <p:nvPr>
            <p:ph type="body" idx="9"/>
          </p:nvPr>
        </p:nvSpPr>
        <p:spPr>
          <a:xfrm>
            <a:off x="741363" y="5549900"/>
            <a:ext cx="1909762" cy="43021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6" name="Google Shape;86;p58"/>
          <p:cNvSpPr txBox="1">
            <a:spLocks noGrp="1"/>
          </p:cNvSpPr>
          <p:nvPr>
            <p:ph type="body" idx="13"/>
          </p:nvPr>
        </p:nvSpPr>
        <p:spPr>
          <a:xfrm>
            <a:off x="3305175" y="5549900"/>
            <a:ext cx="2562225" cy="43021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58"/>
          <p:cNvSpPr txBox="1">
            <a:spLocks noGrp="1"/>
          </p:cNvSpPr>
          <p:nvPr>
            <p:ph type="body" idx="14"/>
          </p:nvPr>
        </p:nvSpPr>
        <p:spPr>
          <a:xfrm>
            <a:off x="6181725" y="5543550"/>
            <a:ext cx="2562225" cy="51435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8" name="Google Shape;88;p58"/>
          <p:cNvSpPr txBox="1">
            <a:spLocks noGrp="1"/>
          </p:cNvSpPr>
          <p:nvPr>
            <p:ph type="body" idx="15"/>
          </p:nvPr>
        </p:nvSpPr>
        <p:spPr>
          <a:xfrm>
            <a:off x="9156533" y="5549900"/>
            <a:ext cx="2562225" cy="51435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wo Image/One Content">
  <p:cSld name="Two Image/One Content">
    <p:spTree>
      <p:nvGrpSpPr>
        <p:cNvPr id="1" name="Shape 89"/>
        <p:cNvGrpSpPr/>
        <p:nvPr/>
      </p:nvGrpSpPr>
      <p:grpSpPr>
        <a:xfrm>
          <a:off x="0" y="0"/>
          <a:ext cx="0" cy="0"/>
          <a:chOff x="0" y="0"/>
          <a:chExt cx="0" cy="0"/>
        </a:xfrm>
      </p:grpSpPr>
      <p:sp>
        <p:nvSpPr>
          <p:cNvPr id="90" name="Google Shape;90;p59"/>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1" name="Google Shape;91;p59"/>
          <p:cNvSpPr txBox="1">
            <a:spLocks noGrp="1"/>
          </p:cNvSpPr>
          <p:nvPr>
            <p:ph type="body" idx="1"/>
          </p:nvPr>
        </p:nvSpPr>
        <p:spPr>
          <a:xfrm>
            <a:off x="476843" y="1825628"/>
            <a:ext cx="2875957" cy="204572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2" name="Google Shape;92;p59"/>
          <p:cNvSpPr txBox="1">
            <a:spLocks noGrp="1"/>
          </p:cNvSpPr>
          <p:nvPr>
            <p:ph type="body" idx="2"/>
          </p:nvPr>
        </p:nvSpPr>
        <p:spPr>
          <a:xfrm>
            <a:off x="476843" y="4132558"/>
            <a:ext cx="2875957" cy="204572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3" name="Google Shape;93;p59"/>
          <p:cNvSpPr txBox="1">
            <a:spLocks noGrp="1"/>
          </p:cNvSpPr>
          <p:nvPr>
            <p:ph type="body" idx="3"/>
          </p:nvPr>
        </p:nvSpPr>
        <p:spPr>
          <a:xfrm>
            <a:off x="3624200" y="1825625"/>
            <a:ext cx="8090957"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wo Image/Two Content">
  <p:cSld name="Two Image/Two Content">
    <p:spTree>
      <p:nvGrpSpPr>
        <p:cNvPr id="1" name="Shape 94"/>
        <p:cNvGrpSpPr/>
        <p:nvPr/>
      </p:nvGrpSpPr>
      <p:grpSpPr>
        <a:xfrm>
          <a:off x="0" y="0"/>
          <a:ext cx="0" cy="0"/>
          <a:chOff x="0" y="0"/>
          <a:chExt cx="0" cy="0"/>
        </a:xfrm>
      </p:grpSpPr>
      <p:sp>
        <p:nvSpPr>
          <p:cNvPr id="95" name="Google Shape;95;p60"/>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6" name="Google Shape;96;p60"/>
          <p:cNvSpPr txBox="1">
            <a:spLocks noGrp="1"/>
          </p:cNvSpPr>
          <p:nvPr>
            <p:ph type="body" idx="1"/>
          </p:nvPr>
        </p:nvSpPr>
        <p:spPr>
          <a:xfrm>
            <a:off x="476843" y="1825628"/>
            <a:ext cx="2875957" cy="204572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7" name="Google Shape;97;p60"/>
          <p:cNvSpPr txBox="1">
            <a:spLocks noGrp="1"/>
          </p:cNvSpPr>
          <p:nvPr>
            <p:ph type="body" idx="2"/>
          </p:nvPr>
        </p:nvSpPr>
        <p:spPr>
          <a:xfrm>
            <a:off x="3624200" y="1825625"/>
            <a:ext cx="8090957" cy="204572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8" name="Google Shape;98;p60"/>
          <p:cNvSpPr txBox="1">
            <a:spLocks noGrp="1"/>
          </p:cNvSpPr>
          <p:nvPr>
            <p:ph type="body" idx="3"/>
          </p:nvPr>
        </p:nvSpPr>
        <p:spPr>
          <a:xfrm>
            <a:off x="476843" y="4132558"/>
            <a:ext cx="2875957" cy="204572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9" name="Google Shape;99;p60"/>
          <p:cNvSpPr txBox="1">
            <a:spLocks noGrp="1"/>
          </p:cNvSpPr>
          <p:nvPr>
            <p:ph type="body" idx="4"/>
          </p:nvPr>
        </p:nvSpPr>
        <p:spPr>
          <a:xfrm>
            <a:off x="3624199" y="4136860"/>
            <a:ext cx="8090957" cy="204572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hree Image/Three Content">
  <p:cSld name="Three Image/Three Content">
    <p:spTree>
      <p:nvGrpSpPr>
        <p:cNvPr id="1" name="Shape 100"/>
        <p:cNvGrpSpPr/>
        <p:nvPr/>
      </p:nvGrpSpPr>
      <p:grpSpPr>
        <a:xfrm>
          <a:off x="0" y="0"/>
          <a:ext cx="0" cy="0"/>
          <a:chOff x="0" y="0"/>
          <a:chExt cx="0" cy="0"/>
        </a:xfrm>
      </p:grpSpPr>
      <p:sp>
        <p:nvSpPr>
          <p:cNvPr id="101" name="Google Shape;101;p61"/>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61"/>
          <p:cNvSpPr txBox="1">
            <a:spLocks noGrp="1"/>
          </p:cNvSpPr>
          <p:nvPr>
            <p:ph type="body" idx="1"/>
          </p:nvPr>
        </p:nvSpPr>
        <p:spPr>
          <a:xfrm>
            <a:off x="476843" y="1825628"/>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3" name="Google Shape;103;p61"/>
          <p:cNvSpPr txBox="1">
            <a:spLocks noGrp="1"/>
          </p:cNvSpPr>
          <p:nvPr>
            <p:ph type="body" idx="2"/>
          </p:nvPr>
        </p:nvSpPr>
        <p:spPr>
          <a:xfrm>
            <a:off x="3624200" y="1825625"/>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4" name="Google Shape;104;p61"/>
          <p:cNvSpPr txBox="1">
            <a:spLocks noGrp="1"/>
          </p:cNvSpPr>
          <p:nvPr>
            <p:ph type="body" idx="3"/>
          </p:nvPr>
        </p:nvSpPr>
        <p:spPr>
          <a:xfrm>
            <a:off x="479343" y="3207219"/>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5" name="Google Shape;105;p61"/>
          <p:cNvSpPr txBox="1">
            <a:spLocks noGrp="1"/>
          </p:cNvSpPr>
          <p:nvPr>
            <p:ph type="body" idx="4"/>
          </p:nvPr>
        </p:nvSpPr>
        <p:spPr>
          <a:xfrm>
            <a:off x="3626700" y="3207216"/>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6" name="Google Shape;106;p61"/>
          <p:cNvSpPr txBox="1">
            <a:spLocks noGrp="1"/>
          </p:cNvSpPr>
          <p:nvPr>
            <p:ph type="body" idx="5"/>
          </p:nvPr>
        </p:nvSpPr>
        <p:spPr>
          <a:xfrm>
            <a:off x="479343" y="4631282"/>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7" name="Google Shape;107;p61"/>
          <p:cNvSpPr txBox="1">
            <a:spLocks noGrp="1"/>
          </p:cNvSpPr>
          <p:nvPr>
            <p:ph type="body" idx="6"/>
          </p:nvPr>
        </p:nvSpPr>
        <p:spPr>
          <a:xfrm>
            <a:off x="3626700" y="4631279"/>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Four Image/Four Content">
  <p:cSld name="Four Image/Four Content">
    <p:spTree>
      <p:nvGrpSpPr>
        <p:cNvPr id="1" name="Shape 108"/>
        <p:cNvGrpSpPr/>
        <p:nvPr/>
      </p:nvGrpSpPr>
      <p:grpSpPr>
        <a:xfrm>
          <a:off x="0" y="0"/>
          <a:ext cx="0" cy="0"/>
          <a:chOff x="0" y="0"/>
          <a:chExt cx="0" cy="0"/>
        </a:xfrm>
      </p:grpSpPr>
      <p:sp>
        <p:nvSpPr>
          <p:cNvPr id="109" name="Google Shape;109;p62"/>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0" name="Google Shape;110;p62"/>
          <p:cNvSpPr txBox="1">
            <a:spLocks noGrp="1"/>
          </p:cNvSpPr>
          <p:nvPr>
            <p:ph type="body" idx="1"/>
          </p:nvPr>
        </p:nvSpPr>
        <p:spPr>
          <a:xfrm>
            <a:off x="476843" y="1825628"/>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1" name="Google Shape;111;p62"/>
          <p:cNvSpPr txBox="1">
            <a:spLocks noGrp="1"/>
          </p:cNvSpPr>
          <p:nvPr>
            <p:ph type="body" idx="2"/>
          </p:nvPr>
        </p:nvSpPr>
        <p:spPr>
          <a:xfrm>
            <a:off x="3624200" y="1825625"/>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2" name="Google Shape;112;p62"/>
          <p:cNvSpPr txBox="1">
            <a:spLocks noGrp="1"/>
          </p:cNvSpPr>
          <p:nvPr>
            <p:ph type="body" idx="3"/>
          </p:nvPr>
        </p:nvSpPr>
        <p:spPr>
          <a:xfrm>
            <a:off x="476843" y="2941438"/>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3" name="Google Shape;113;p62"/>
          <p:cNvSpPr txBox="1">
            <a:spLocks noGrp="1"/>
          </p:cNvSpPr>
          <p:nvPr>
            <p:ph type="body" idx="4"/>
          </p:nvPr>
        </p:nvSpPr>
        <p:spPr>
          <a:xfrm>
            <a:off x="3624200" y="2941435"/>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4" name="Google Shape;114;p62"/>
          <p:cNvSpPr txBox="1">
            <a:spLocks noGrp="1"/>
          </p:cNvSpPr>
          <p:nvPr>
            <p:ph type="body" idx="5"/>
          </p:nvPr>
        </p:nvSpPr>
        <p:spPr>
          <a:xfrm>
            <a:off x="480444" y="4065961"/>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5" name="Google Shape;115;p62"/>
          <p:cNvSpPr txBox="1">
            <a:spLocks noGrp="1"/>
          </p:cNvSpPr>
          <p:nvPr>
            <p:ph type="body" idx="6"/>
          </p:nvPr>
        </p:nvSpPr>
        <p:spPr>
          <a:xfrm>
            <a:off x="3627801" y="4065958"/>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6" name="Google Shape;116;p62"/>
          <p:cNvSpPr txBox="1">
            <a:spLocks noGrp="1"/>
          </p:cNvSpPr>
          <p:nvPr>
            <p:ph type="body" idx="7"/>
          </p:nvPr>
        </p:nvSpPr>
        <p:spPr>
          <a:xfrm>
            <a:off x="480444" y="5181771"/>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7" name="Google Shape;117;p62"/>
          <p:cNvSpPr txBox="1">
            <a:spLocks noGrp="1"/>
          </p:cNvSpPr>
          <p:nvPr>
            <p:ph type="body" idx="8"/>
          </p:nvPr>
        </p:nvSpPr>
        <p:spPr>
          <a:xfrm>
            <a:off x="3627801" y="5181768"/>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Title (First Slide)">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5D23111E-2710-4C1A-A7DB-CE3FE7C03336}"/>
              </a:ext>
              <a:ext uri="{C183D7F6-B498-43B3-948B-1728B52AA6E4}">
                <adec:decorative xmlns:adec="http://schemas.microsoft.com/office/drawing/2017/decorative" val="1"/>
              </a:ext>
            </a:extLst>
          </p:cNvPr>
          <p:cNvPicPr>
            <a:picLocks noChangeAspect="1"/>
          </p:cNvPicPr>
          <p:nvPr userDrawn="1"/>
        </p:nvPicPr>
        <p:blipFill>
          <a:blip r:embed="rId3"/>
          <a:srcRect/>
          <a:stretch/>
        </p:blipFill>
        <p:spPr>
          <a:xfrm>
            <a:off x="0" y="0"/>
            <a:ext cx="12192000" cy="6858000"/>
          </a:xfrm>
          <a:prstGeom prst="rect">
            <a:avLst/>
          </a:prstGeom>
        </p:spPr>
      </p:pic>
      <p:sp>
        <p:nvSpPr>
          <p:cNvPr id="2" name="Title"/>
          <p:cNvSpPr>
            <a:spLocks noGrp="1"/>
          </p:cNvSpPr>
          <p:nvPr>
            <p:ph type="ctrTitle" hasCustomPrompt="1"/>
          </p:nvPr>
        </p:nvSpPr>
        <p:spPr>
          <a:xfrm>
            <a:off x="5646420" y="1168663"/>
            <a:ext cx="6104302" cy="2387600"/>
          </a:xfrm>
        </p:spPr>
        <p:txBody>
          <a:bodyPr anchor="b"/>
          <a:lstStyle>
            <a:lvl1pPr algn="l">
              <a:defRPr sz="4800" baseline="0">
                <a:solidFill>
                  <a:schemeClr val="bg1"/>
                </a:solidFill>
              </a:defRPr>
            </a:lvl1pPr>
          </a:lstStyle>
          <a:p>
            <a:r>
              <a:rPr lang="en-US" dirty="0"/>
              <a:t>Chapter Number</a:t>
            </a:r>
          </a:p>
        </p:txBody>
      </p:sp>
      <p:sp>
        <p:nvSpPr>
          <p:cNvPr id="3" name="Subtitle 2"/>
          <p:cNvSpPr>
            <a:spLocks noGrp="1"/>
          </p:cNvSpPr>
          <p:nvPr>
            <p:ph type="subTitle" idx="1" hasCustomPrompt="1"/>
          </p:nvPr>
        </p:nvSpPr>
        <p:spPr>
          <a:xfrm>
            <a:off x="5646420" y="3809720"/>
            <a:ext cx="6104302" cy="1424930"/>
          </a:xfrm>
          <a:noFill/>
        </p:spPr>
        <p:txBody>
          <a:bodyPr anchor="t"/>
          <a:lstStyle>
            <a:lvl1pPr marL="0" indent="0" algn="l">
              <a:lnSpc>
                <a:spcPct val="100000"/>
              </a:lnSpc>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Chapter Name</a:t>
            </a:r>
          </a:p>
        </p:txBody>
      </p:sp>
      <p:sp>
        <p:nvSpPr>
          <p:cNvPr id="12" name="Picture Placeholder 11">
            <a:extLst>
              <a:ext uri="{FF2B5EF4-FFF2-40B4-BE49-F238E27FC236}">
                <a16:creationId xmlns:a16="http://schemas.microsoft.com/office/drawing/2014/main" id="{7BF6BBBC-452C-48FA-A1E1-E851567E5383}"/>
              </a:ext>
            </a:extLst>
          </p:cNvPr>
          <p:cNvSpPr>
            <a:spLocks noGrp="1"/>
          </p:cNvSpPr>
          <p:nvPr>
            <p:ph type="pic" sz="quarter" idx="11" hasCustomPrompt="1"/>
          </p:nvPr>
        </p:nvSpPr>
        <p:spPr>
          <a:xfrm>
            <a:off x="475250" y="808037"/>
            <a:ext cx="4713288" cy="5241925"/>
          </a:xfrm>
        </p:spPr>
        <p:txBody>
          <a:bodyPr/>
          <a:lstStyle>
            <a:lvl1pPr marL="0" indent="0">
              <a:buNone/>
              <a:defRPr b="0">
                <a:solidFill>
                  <a:schemeClr val="bg1"/>
                </a:solidFill>
              </a:defRPr>
            </a:lvl1pPr>
          </a:lstStyle>
          <a:p>
            <a:r>
              <a:rPr lang="en-US" dirty="0"/>
              <a:t>Add Image Here</a:t>
            </a:r>
          </a:p>
        </p:txBody>
      </p:sp>
      <p:sp>
        <p:nvSpPr>
          <p:cNvPr id="9" name="Slide Number Placeholder 5">
            <a:extLst>
              <a:ext uri="{FF2B5EF4-FFF2-40B4-BE49-F238E27FC236}">
                <a16:creationId xmlns:a16="http://schemas.microsoft.com/office/drawing/2014/main" id="{6B326DFF-C872-4426-8563-39BC58624663}"/>
              </a:ext>
            </a:extLst>
          </p:cNvPr>
          <p:cNvSpPr txBox="1">
            <a:spLocks/>
          </p:cNvSpPr>
          <p:nvPr userDrawn="1"/>
        </p:nvSpPr>
        <p:spPr>
          <a:xfrm>
            <a:off x="11082189" y="6449054"/>
            <a:ext cx="734291" cy="365760"/>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a:lstStyle>
          <a:p>
            <a:fld id="{963FCBED-9BC8-44C8-B578-C394BC67F972}" type="slidenum">
              <a:rPr lang="en-US" sz="1100" smtClean="0">
                <a:solidFill>
                  <a:schemeClr val="bg1"/>
                </a:solidFill>
                <a:latin typeface="+mn-lt"/>
              </a:rPr>
              <a:pPr/>
              <a:t>‹#›</a:t>
            </a:fld>
            <a:endParaRPr lang="en-US" sz="1100" dirty="0">
              <a:solidFill>
                <a:schemeClr val="bg1"/>
              </a:solidFill>
              <a:latin typeface="+mn-lt"/>
            </a:endParaRPr>
          </a:p>
        </p:txBody>
      </p:sp>
      <p:pic>
        <p:nvPicPr>
          <p:cNvPr id="21" name="Picture 20">
            <a:extLst>
              <a:ext uri="{FF2B5EF4-FFF2-40B4-BE49-F238E27FC236}">
                <a16:creationId xmlns:a16="http://schemas.microsoft.com/office/drawing/2014/main" id="{FDE6C580-026E-426D-A0EE-BDE15B891A0A}"/>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183087" y="6223885"/>
            <a:ext cx="1820281" cy="610675"/>
          </a:xfrm>
          <a:prstGeom prst="rect">
            <a:avLst/>
          </a:prstGeom>
        </p:spPr>
      </p:pic>
      <p:sp>
        <p:nvSpPr>
          <p:cNvPr id="5" name="Content Placeholder 4">
            <a:extLst>
              <a:ext uri="{FF2B5EF4-FFF2-40B4-BE49-F238E27FC236}">
                <a16:creationId xmlns:a16="http://schemas.microsoft.com/office/drawing/2014/main" id="{D13D6583-B40C-2D1D-24F2-84CA0411EB21}"/>
              </a:ext>
            </a:extLst>
          </p:cNvPr>
          <p:cNvSpPr>
            <a:spLocks noGrp="1"/>
          </p:cNvSpPr>
          <p:nvPr>
            <p:ph sz="quarter" idx="12"/>
          </p:nvPr>
        </p:nvSpPr>
        <p:spPr>
          <a:xfrm>
            <a:off x="2146300" y="6303963"/>
            <a:ext cx="8739188" cy="26987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custDataLst>
      <p:tags r:id="rId1"/>
    </p:custDataLst>
    <p:extLst>
      <p:ext uri="{BB962C8B-B14F-4D97-AF65-F5344CB8AC3E}">
        <p14:creationId xmlns:p14="http://schemas.microsoft.com/office/powerpoint/2010/main" val="2763712384"/>
      </p:ext>
    </p:extLst>
  </p:cSld>
  <p:clrMapOvr>
    <a:masterClrMapping/>
  </p:clrMapOvr>
  <p:hf sldNum="0"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
        <p:cNvGrpSpPr/>
        <p:nvPr/>
      </p:nvGrpSpPr>
      <p:grpSpPr>
        <a:xfrm>
          <a:off x="0" y="0"/>
          <a:ext cx="0" cy="0"/>
          <a:chOff x="0" y="0"/>
          <a:chExt cx="0" cy="0"/>
        </a:xfrm>
      </p:grpSpPr>
      <p:sp>
        <p:nvSpPr>
          <p:cNvPr id="9" name="Google Shape;9;p47"/>
          <p:cNvSpPr/>
          <p:nvPr/>
        </p:nvSpPr>
        <p:spPr>
          <a:xfrm>
            <a:off x="0" y="6176964"/>
            <a:ext cx="12192000" cy="681036"/>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 name="Google Shape;10;p47"/>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chemeClr val="dk1"/>
              </a:buClr>
              <a:buSzPts val="4000"/>
              <a:buFont typeface="Work Sans"/>
              <a:buNone/>
              <a:defRPr sz="4000" b="1" i="0" u="none" strike="noStrike" cap="none">
                <a:solidFill>
                  <a:schemeClr val="dk1"/>
                </a:solidFill>
                <a:latin typeface="Work Sans"/>
                <a:ea typeface="Work Sans"/>
                <a:cs typeface="Work Sans"/>
                <a:sym typeface="Work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7"/>
          <p:cNvSpPr txBox="1">
            <a:spLocks noGrp="1"/>
          </p:cNvSpPr>
          <p:nvPr>
            <p:ph type="body" idx="1"/>
          </p:nvPr>
        </p:nvSpPr>
        <p:spPr>
          <a:xfrm>
            <a:off x="476843" y="1825625"/>
            <a:ext cx="11241915" cy="4351338"/>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10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1pPr>
            <a:lvl2pPr marL="914400" marR="0" lvl="1" indent="-381000" algn="l" rtl="0">
              <a:lnSpc>
                <a:spcPct val="10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2pPr>
            <a:lvl3pPr marL="1371600" marR="0" lvl="2" indent="-350519" algn="l" rtl="0">
              <a:lnSpc>
                <a:spcPct val="100000"/>
              </a:lnSpc>
              <a:spcBef>
                <a:spcPts val="800"/>
              </a:spcBef>
              <a:spcAft>
                <a:spcPts val="0"/>
              </a:spcAft>
              <a:buClr>
                <a:schemeClr val="dk1"/>
              </a:buClr>
              <a:buSzPts val="1920"/>
              <a:buFont typeface="Noto Sans Symbols"/>
              <a:buChar char="▪"/>
              <a:defRPr sz="2400" b="0" i="0" u="none" strike="noStrike" cap="none">
                <a:solidFill>
                  <a:schemeClr val="dk1"/>
                </a:solidFill>
                <a:latin typeface="Work Sans"/>
                <a:ea typeface="Work Sans"/>
                <a:cs typeface="Work Sans"/>
                <a:sym typeface="Work Sans"/>
              </a:defRPr>
            </a:lvl3pPr>
            <a:lvl4pPr marL="1828800" marR="0" lvl="3" indent="-381000" algn="l" rtl="0">
              <a:lnSpc>
                <a:spcPct val="9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4pPr>
            <a:lvl5pPr marL="2286000" marR="0" lvl="4" indent="-431800" algn="l" rtl="0">
              <a:lnSpc>
                <a:spcPct val="90000"/>
              </a:lnSpc>
              <a:spcBef>
                <a:spcPts val="500"/>
              </a:spcBef>
              <a:spcAft>
                <a:spcPts val="0"/>
              </a:spcAft>
              <a:buClr>
                <a:schemeClr val="accent1"/>
              </a:buClr>
              <a:buSzPts val="3200"/>
              <a:buFont typeface="Arial"/>
              <a:buChar char="•"/>
              <a:defRPr sz="3200" b="1" i="0" u="none" strike="noStrike" cap="none">
                <a:solidFill>
                  <a:schemeClr val="accent1"/>
                </a:solidFill>
                <a:latin typeface="Work Sans"/>
                <a:ea typeface="Work Sans"/>
                <a:cs typeface="Work Sans"/>
                <a:sym typeface="Work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9pPr>
          </a:lstStyle>
          <a:p>
            <a:endParaRPr/>
          </a:p>
        </p:txBody>
      </p:sp>
      <p:pic>
        <p:nvPicPr>
          <p:cNvPr id="12" name="Google Shape;12;p47"/>
          <p:cNvPicPr preferRelativeResize="0"/>
          <p:nvPr/>
        </p:nvPicPr>
        <p:blipFill rotWithShape="1">
          <a:blip r:embed="rId16">
            <a:alphaModFix/>
          </a:blip>
          <a:srcRect/>
          <a:stretch/>
        </p:blipFill>
        <p:spPr>
          <a:xfrm>
            <a:off x="183087" y="6223885"/>
            <a:ext cx="1820281" cy="610675"/>
          </a:xfrm>
          <a:prstGeom prst="rect">
            <a:avLst/>
          </a:prstGeom>
          <a:noFill/>
          <a:ln>
            <a:noFill/>
          </a:ln>
        </p:spPr>
      </p:pic>
      <p:sp>
        <p:nvSpPr>
          <p:cNvPr id="13" name="Google Shape;13;p47"/>
          <p:cNvSpPr txBox="1"/>
          <p:nvPr/>
        </p:nvSpPr>
        <p:spPr>
          <a:xfrm>
            <a:off x="11082189" y="6449054"/>
            <a:ext cx="734291" cy="36576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100" b="0" i="0" u="none" strike="noStrike" cap="none">
                <a:solidFill>
                  <a:schemeClr val="lt1"/>
                </a:solidFill>
                <a:latin typeface="Work Sans"/>
                <a:ea typeface="Work Sans"/>
                <a:cs typeface="Work Sans"/>
                <a:sym typeface="Work Sans"/>
              </a:rPr>
              <a:t>‹#›</a:t>
            </a:fld>
            <a:endParaRPr sz="1100" b="0" i="0" u="none" strike="noStrike" cap="none">
              <a:solidFill>
                <a:schemeClr val="lt1"/>
              </a:solidFill>
              <a:latin typeface="Work Sans"/>
              <a:ea typeface="Work Sans"/>
              <a:cs typeface="Work Sans"/>
              <a:sym typeface="Work Sans"/>
            </a:endParaRPr>
          </a:p>
        </p:txBody>
      </p:sp>
      <p:sp>
        <p:nvSpPr>
          <p:cNvPr id="2" name="Content Placeholder 4">
            <a:extLst>
              <a:ext uri="{FF2B5EF4-FFF2-40B4-BE49-F238E27FC236}">
                <a16:creationId xmlns:a16="http://schemas.microsoft.com/office/drawing/2014/main" id="{DE551EFF-FF9E-5FEA-9B88-B9A5F8144E2D}"/>
              </a:ext>
            </a:extLst>
          </p:cNvPr>
          <p:cNvSpPr txBox="1">
            <a:spLocks/>
          </p:cNvSpPr>
          <p:nvPr userDrawn="1"/>
        </p:nvSpPr>
        <p:spPr>
          <a:xfrm>
            <a:off x="2019935" y="6327949"/>
            <a:ext cx="9345472" cy="461665"/>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200" kern="1200">
                <a:solidFill>
                  <a:schemeClr val="bg1"/>
                </a:solidFill>
                <a:latin typeface="Work Sans" pitchFamily="2" charset="0"/>
                <a:cs typeface="Arial" panose="020B0604020202020204" pitchFamily="34" charset="0"/>
              </a:rPr>
              <a:t>Rob Thompson and Jack Erjavec, Automotive Technology: A Systems Approach, 8</a:t>
            </a:r>
            <a:r>
              <a:rPr lang="en-US" sz="1200" kern="1200" baseline="30000">
                <a:solidFill>
                  <a:schemeClr val="bg1"/>
                </a:solidFill>
                <a:latin typeface="Work Sans" pitchFamily="2" charset="0"/>
                <a:cs typeface="Arial" panose="020B0604020202020204" pitchFamily="34" charset="0"/>
              </a:rPr>
              <a:t>th</a:t>
            </a:r>
            <a:r>
              <a:rPr lang="en-US" sz="1200" kern="1200">
                <a:solidFill>
                  <a:schemeClr val="bg1"/>
                </a:solidFill>
                <a:latin typeface="Work Sans" pitchFamily="2" charset="0"/>
                <a:cs typeface="Arial" panose="020B0604020202020204" pitchFamily="34" charset="0"/>
              </a:rPr>
              <a:t> Edition. © 2025 Cengage. All Rights Reserved. May not be scanned, copied or duplicated, or posted to a publicly accessible website, in whole or in part.</a:t>
            </a:r>
            <a:endParaRPr lang="en-US" sz="1200" kern="1200" dirty="0">
              <a:solidFill>
                <a:schemeClr val="bg1"/>
              </a:solidFill>
              <a:latin typeface="Work Sans" pitchFamily="2" charset="0"/>
              <a:cs typeface="Arial" panose="020B0604020202020204" pitchFamily="34" charset="0"/>
            </a:endParaRPr>
          </a:p>
        </p:txBody>
      </p:sp>
    </p:spTree>
  </p:cSld>
  <p:clrMap bg1="lt1" tx1="dk1" bg2="dk2" tx2="lt2" accent1="accent1" accent2="accent2" accent3="accent3" accent4="accent4" accent5="accent5" accent6="accent6" hlink="hlink" folHlink="folHlink"/>
  <p:sldLayoutIdLst>
    <p:sldLayoutId id="2147483650" r:id="rId1"/>
    <p:sldLayoutId id="2147483664"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5"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4.xml"/><Relationship Id="rId1" Type="http://schemas.openxmlformats.org/officeDocument/2006/relationships/tags" Target="../tags/tag2.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F5FCE66-4DFC-4C59-A36E-7A4DE8D188A2}"/>
              </a:ext>
            </a:extLst>
          </p:cNvPr>
          <p:cNvSpPr>
            <a:spLocks noGrp="1"/>
          </p:cNvSpPr>
          <p:nvPr>
            <p:ph type="ctrTitle"/>
          </p:nvPr>
        </p:nvSpPr>
        <p:spPr/>
        <p:txBody>
          <a:bodyPr/>
          <a:lstStyle/>
          <a:p>
            <a:r>
              <a:rPr lang="en-US" sz="4000" dirty="0">
                <a:cs typeface="Arial" panose="020B0604020202020204" pitchFamily="34" charset="0"/>
              </a:rPr>
              <a:t>Automotive Technology: </a:t>
            </a:r>
            <a:br>
              <a:rPr lang="en-US" sz="4000" dirty="0">
                <a:cs typeface="Arial" panose="020B0604020202020204" pitchFamily="34" charset="0"/>
              </a:rPr>
            </a:br>
            <a:r>
              <a:rPr lang="en-US" sz="4000" dirty="0">
                <a:cs typeface="Arial" panose="020B0604020202020204" pitchFamily="34" charset="0"/>
              </a:rPr>
              <a:t>A Systems Approach,</a:t>
            </a:r>
            <a:r>
              <a:rPr lang="en-IN" sz="4000" dirty="0">
                <a:cs typeface="Arial" panose="020B0604020202020204" pitchFamily="34" charset="0"/>
              </a:rPr>
              <a:t> 8e</a:t>
            </a:r>
          </a:p>
        </p:txBody>
      </p:sp>
      <p:sp>
        <p:nvSpPr>
          <p:cNvPr id="9" name="Subtitle 8">
            <a:extLst>
              <a:ext uri="{FF2B5EF4-FFF2-40B4-BE49-F238E27FC236}">
                <a16:creationId xmlns:a16="http://schemas.microsoft.com/office/drawing/2014/main" id="{750BCB8A-256D-4B8C-A91A-98C6C9437858}"/>
              </a:ext>
            </a:extLst>
          </p:cNvPr>
          <p:cNvSpPr>
            <a:spLocks noGrp="1"/>
          </p:cNvSpPr>
          <p:nvPr>
            <p:ph type="subTitle" idx="1"/>
          </p:nvPr>
        </p:nvSpPr>
        <p:spPr/>
        <p:txBody>
          <a:bodyPr/>
          <a:lstStyle/>
          <a:p>
            <a:r>
              <a:rPr lang="en-US" dirty="0">
                <a:cs typeface="Arial" panose="020B0604020202020204" pitchFamily="34" charset="0"/>
              </a:rPr>
              <a:t>Chapter 17: Batteries: Theory, Diagnosis, and Service</a:t>
            </a:r>
          </a:p>
        </p:txBody>
      </p:sp>
      <p:pic>
        <p:nvPicPr>
          <p:cNvPr id="2" name="Picture Placeholder 1" descr="The front cover reads, Automotive Technology, A Systems Approach, 8 e edition by Rob Thompson, and Jack Erjavec. The logo at the top left reads, Cengage.">
            <a:extLst>
              <a:ext uri="{FF2B5EF4-FFF2-40B4-BE49-F238E27FC236}">
                <a16:creationId xmlns:a16="http://schemas.microsoft.com/office/drawing/2014/main" id="{A722895C-D5F5-D069-5D50-81B26D9F16AA}"/>
              </a:ext>
            </a:extLst>
          </p:cNvPr>
          <p:cNvPicPr>
            <a:picLocks noGrp="1" noChangeAspect="1"/>
          </p:cNvPicPr>
          <p:nvPr>
            <p:ph type="pic" sz="quarter" idx="11"/>
          </p:nvPr>
        </p:nvPicPr>
        <p:blipFill rotWithShape="1">
          <a:blip r:embed="rId4"/>
          <a:stretch/>
        </p:blipFill>
        <p:spPr>
          <a:xfrm>
            <a:off x="653972" y="640706"/>
            <a:ext cx="4319966" cy="5532289"/>
          </a:xfrm>
          <a:prstGeom prst="rect">
            <a:avLst/>
          </a:prstGeom>
        </p:spPr>
      </p:pic>
      <p:sp>
        <p:nvSpPr>
          <p:cNvPr id="5" name="Content Placeholder 4">
            <a:extLst>
              <a:ext uri="{FF2B5EF4-FFF2-40B4-BE49-F238E27FC236}">
                <a16:creationId xmlns:a16="http://schemas.microsoft.com/office/drawing/2014/main" id="{A4B5BA96-46CA-D50E-020A-74C2CBDC89A6}"/>
              </a:ext>
            </a:extLst>
          </p:cNvPr>
          <p:cNvSpPr txBox="1">
            <a:spLocks noGrp="1"/>
          </p:cNvSpPr>
          <p:nvPr>
            <p:ph sz="quarter" idx="12"/>
          </p:nvPr>
        </p:nvSpPr>
        <p:spPr>
          <a:xfrm>
            <a:off x="2019935" y="6327949"/>
            <a:ext cx="9345472" cy="461665"/>
          </a:xfrm>
          <a:prstGeom prst="rect">
            <a:avLst/>
          </a:prstGeom>
          <a:noFill/>
        </p:spPr>
        <p:txBody>
          <a:bodyPr wrap="square" rtlCol="0">
            <a:spAutoFit/>
          </a:bodyPr>
          <a:lstStyle/>
          <a:p>
            <a:pPr marL="0" indent="0">
              <a:spcBef>
                <a:spcPts val="0"/>
              </a:spcBef>
              <a:buNone/>
            </a:pPr>
            <a:r>
              <a:rPr lang="en-US" sz="1200" kern="1200">
                <a:solidFill>
                  <a:schemeClr val="bg1"/>
                </a:solidFill>
                <a:cs typeface="Arial" panose="020B0604020202020204" pitchFamily="34" charset="0"/>
              </a:rPr>
              <a:t>Rob Thompson and Jack Erjavec, Automotive Technology: A Systems Approach, 8</a:t>
            </a:r>
            <a:r>
              <a:rPr lang="en-US" sz="1200" kern="1200" baseline="30000">
                <a:solidFill>
                  <a:schemeClr val="bg1"/>
                </a:solidFill>
                <a:cs typeface="Arial" panose="020B0604020202020204" pitchFamily="34" charset="0"/>
              </a:rPr>
              <a:t>th</a:t>
            </a:r>
            <a:r>
              <a:rPr lang="en-US" sz="1200" kern="1200">
                <a:solidFill>
                  <a:schemeClr val="bg1"/>
                </a:solidFill>
                <a:cs typeface="Arial" panose="020B0604020202020204" pitchFamily="34" charset="0"/>
              </a:rPr>
              <a:t> Edition. © 2025 Cengage. All Rights Reserved. May not be scanned, copied or duplicated, or posted to a publicly accessible website, in whole or in part.</a:t>
            </a:r>
            <a:endParaRPr lang="en-US" sz="1200" kern="1200" dirty="0">
              <a:solidFill>
                <a:schemeClr val="bg1"/>
              </a:solidFill>
              <a:cs typeface="Arial" panose="020B0604020202020204" pitchFamily="34" charset="0"/>
            </a:endParaRPr>
          </a:p>
        </p:txBody>
      </p:sp>
    </p:spTree>
    <p:custDataLst>
      <p:tags r:id="rId1"/>
    </p:custDataLst>
    <p:extLst>
      <p:ext uri="{BB962C8B-B14F-4D97-AF65-F5344CB8AC3E}">
        <p14:creationId xmlns:p14="http://schemas.microsoft.com/office/powerpoint/2010/main" val="11058439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Chapter Objectives (1 of 2) 	</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p:txBody>
          <a:bodyPr/>
          <a:lstStyle/>
          <a:p>
            <a:pPr>
              <a:spcAft>
                <a:spcPts val="600"/>
              </a:spcAft>
            </a:pPr>
            <a:r>
              <a:rPr lang="en-US" dirty="0"/>
              <a:t>17.01 Describe how a battery works.</a:t>
            </a:r>
          </a:p>
          <a:p>
            <a:pPr>
              <a:spcAft>
                <a:spcPts val="600"/>
              </a:spcAft>
            </a:pPr>
            <a:r>
              <a:rPr lang="en-US" dirty="0"/>
              <a:t>17.02 Identify battery hardware such as cables, </a:t>
            </a:r>
            <a:r>
              <a:rPr lang="en-US" dirty="0" err="1"/>
              <a:t>holddowns</a:t>
            </a:r>
            <a:r>
              <a:rPr lang="en-US" dirty="0"/>
              <a:t>, and cooling systems.</a:t>
            </a:r>
          </a:p>
          <a:p>
            <a:pPr>
              <a:spcAft>
                <a:spcPts val="600"/>
              </a:spcAft>
            </a:pPr>
            <a:r>
              <a:rPr lang="en-US" dirty="0"/>
              <a:t>17.03 List the precautions that must be followed when working with or around batteries.</a:t>
            </a:r>
          </a:p>
          <a:p>
            <a:pPr>
              <a:spcAft>
                <a:spcPts val="600"/>
              </a:spcAft>
            </a:pPr>
            <a:r>
              <a:rPr lang="en-US" dirty="0"/>
              <a:t>17.04 List and describe the various ways a battery may be rated.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Chapter Objectives (2 of 2)</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p:txBody>
          <a:bodyPr/>
          <a:lstStyle/>
          <a:p>
            <a:pPr>
              <a:spcAft>
                <a:spcPts val="600"/>
              </a:spcAft>
            </a:pPr>
            <a:r>
              <a:rPr lang="en-US" dirty="0"/>
              <a:t>17.05 Describe the commonly used types of batteries in automotive applications.</a:t>
            </a:r>
          </a:p>
          <a:p>
            <a:pPr>
              <a:spcAft>
                <a:spcPts val="600"/>
              </a:spcAft>
            </a:pPr>
            <a:r>
              <a:rPr lang="en-US" dirty="0"/>
              <a:t>17.06 Explain common battery services and testing methods.</a:t>
            </a:r>
          </a:p>
          <a:p>
            <a:pPr>
              <a:spcAft>
                <a:spcPts val="600"/>
              </a:spcAft>
            </a:pPr>
            <a:r>
              <a:rPr lang="en-US" dirty="0"/>
              <a:t>17.07 Describe how to jump-start a battery safely.</a:t>
            </a:r>
          </a:p>
        </p:txBody>
      </p:sp>
    </p:spTree>
    <p:extLst>
      <p:ext uri="{BB962C8B-B14F-4D97-AF65-F5344CB8AC3E}">
        <p14:creationId xmlns:p14="http://schemas.microsoft.com/office/powerpoint/2010/main" val="240316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2" name="Title 1">
            <a:extLst>
              <a:ext uri="{FF2B5EF4-FFF2-40B4-BE49-F238E27FC236}">
                <a16:creationId xmlns:a16="http://schemas.microsoft.com/office/drawing/2014/main" id="{A880EF46-C239-A475-635A-67FD89553CB5}"/>
              </a:ext>
            </a:extLst>
          </p:cNvPr>
          <p:cNvSpPr>
            <a:spLocks noGrp="1"/>
          </p:cNvSpPr>
          <p:nvPr>
            <p:ph type="title"/>
          </p:nvPr>
        </p:nvSpPr>
        <p:spPr/>
        <p:txBody>
          <a:bodyPr/>
          <a:lstStyle/>
          <a:p>
            <a:r>
              <a:rPr lang="en-US" dirty="0"/>
              <a:t>Basic Battery Theory (1 of 3)</a:t>
            </a:r>
          </a:p>
        </p:txBody>
      </p:sp>
      <p:sp>
        <p:nvSpPr>
          <p:cNvPr id="3" name="Text Placeholder 2">
            <a:extLst>
              <a:ext uri="{FF2B5EF4-FFF2-40B4-BE49-F238E27FC236}">
                <a16:creationId xmlns:a16="http://schemas.microsoft.com/office/drawing/2014/main" id="{81DA093A-2346-B21A-D850-99E0B6A858AF}"/>
              </a:ext>
            </a:extLst>
          </p:cNvPr>
          <p:cNvSpPr>
            <a:spLocks noGrp="1"/>
          </p:cNvSpPr>
          <p:nvPr>
            <p:ph type="body" idx="1"/>
          </p:nvPr>
        </p:nvSpPr>
        <p:spPr>
          <a:xfrm>
            <a:off x="476843" y="1391752"/>
            <a:ext cx="7580479" cy="4661312"/>
          </a:xfrm>
        </p:spPr>
        <p:txBody>
          <a:bodyPr/>
          <a:lstStyle/>
          <a:p>
            <a:pPr marL="0" indent="0">
              <a:spcAft>
                <a:spcPts val="400"/>
              </a:spcAft>
              <a:buNone/>
            </a:pPr>
            <a:r>
              <a:rPr lang="en-US" sz="1800" b="1" dirty="0"/>
              <a:t>17.01 Describe how a battery works.</a:t>
            </a:r>
          </a:p>
          <a:p>
            <a:pPr>
              <a:spcAft>
                <a:spcPts val="400"/>
              </a:spcAft>
            </a:pPr>
            <a:r>
              <a:rPr lang="en-US" sz="1800" dirty="0"/>
              <a:t>Batteries convert chemical energy into electrical energy.</a:t>
            </a:r>
          </a:p>
          <a:p>
            <a:pPr>
              <a:spcAft>
                <a:spcPts val="400"/>
              </a:spcAft>
            </a:pPr>
            <a:r>
              <a:rPr lang="en-US" sz="1800" dirty="0"/>
              <a:t>Chemical reactions that produce electrons are called </a:t>
            </a:r>
            <a:r>
              <a:rPr lang="en-US" sz="1800" b="1" dirty="0"/>
              <a:t>electrochemical reaction</a:t>
            </a:r>
            <a:r>
              <a:rPr lang="en-US" sz="1800" dirty="0"/>
              <a:t>.</a:t>
            </a:r>
          </a:p>
          <a:p>
            <a:pPr>
              <a:spcAft>
                <a:spcPts val="400"/>
              </a:spcAft>
            </a:pPr>
            <a:r>
              <a:rPr lang="en-US" sz="1800" dirty="0"/>
              <a:t>A battery stores DC voltage and releases it when it is connected to a closed circuit.</a:t>
            </a:r>
          </a:p>
          <a:p>
            <a:pPr>
              <a:spcAft>
                <a:spcPts val="400"/>
              </a:spcAft>
            </a:pPr>
            <a:r>
              <a:rPr lang="en-US" sz="1800" dirty="0"/>
              <a:t>Inside the battery are two </a:t>
            </a:r>
            <a:r>
              <a:rPr lang="en-US" sz="1800" b="1" dirty="0"/>
              <a:t>electrodes</a:t>
            </a:r>
            <a:r>
              <a:rPr lang="en-US" sz="1800" dirty="0"/>
              <a:t> or </a:t>
            </a:r>
            <a:r>
              <a:rPr lang="en-US" sz="1800" b="1" dirty="0"/>
              <a:t>plates</a:t>
            </a:r>
            <a:r>
              <a:rPr lang="en-US" sz="1800" dirty="0"/>
              <a:t> surrounded by an electrolyte.</a:t>
            </a:r>
          </a:p>
          <a:p>
            <a:pPr>
              <a:spcAft>
                <a:spcPts val="400"/>
              </a:spcAft>
            </a:pPr>
            <a:r>
              <a:rPr lang="en-US" sz="1800" dirty="0"/>
              <a:t>Batteries are normally made up of electrochemical cells connected together. One of the plates has an abundance of electrons (negative plate or anode) and the other has a lack of electrons (positive plate or cathode).</a:t>
            </a:r>
          </a:p>
          <a:p>
            <a:pPr>
              <a:spcAft>
                <a:spcPts val="400"/>
              </a:spcAft>
            </a:pPr>
            <a:r>
              <a:rPr lang="en-US" sz="1800" dirty="0"/>
              <a:t>The electrons want to move to the positive plate and do so when a circuit connects the two plates.</a:t>
            </a:r>
          </a:p>
        </p:txBody>
      </p:sp>
      <p:pic>
        <p:nvPicPr>
          <p:cNvPr id="6" name="Picture Placeholder 5" descr="An illustration depicts the representation of a simple electrochemical cell with the following labels: Positive plate, Load, Electrons, Negative plate, and Electrolyte. The positive plate and negative plate are dipped in electrolytes.">
            <a:extLst>
              <a:ext uri="{FF2B5EF4-FFF2-40B4-BE49-F238E27FC236}">
                <a16:creationId xmlns:a16="http://schemas.microsoft.com/office/drawing/2014/main" id="{4E790ABF-F024-89B9-D9E1-5E07D39F0315}"/>
              </a:ext>
            </a:extLst>
          </p:cNvPr>
          <p:cNvPicPr>
            <a:picLocks noGrp="1" noChangeAspect="1"/>
          </p:cNvPicPr>
          <p:nvPr>
            <p:ph type="pic" sz="quarter" idx="10"/>
          </p:nvPr>
        </p:nvPicPr>
        <p:blipFill>
          <a:blip r:embed="rId3"/>
          <a:srcRect b="13051"/>
          <a:stretch/>
        </p:blipFill>
        <p:spPr>
          <a:xfrm>
            <a:off x="8200613" y="2447465"/>
            <a:ext cx="3716537" cy="2541966"/>
          </a:xfrm>
          <a:prstGeom prst="rect">
            <a:avLst/>
          </a:prstGeom>
        </p:spPr>
      </p:pic>
    </p:spTree>
    <p:extLst>
      <p:ext uri="{BB962C8B-B14F-4D97-AF65-F5344CB8AC3E}">
        <p14:creationId xmlns:p14="http://schemas.microsoft.com/office/powerpoint/2010/main" val="14459859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Basic Battery Theory (2 of 3)</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p:txBody>
          <a:bodyPr/>
          <a:lstStyle/>
          <a:p>
            <a:r>
              <a:rPr lang="en-US" dirty="0"/>
              <a:t>Charging</a:t>
            </a:r>
          </a:p>
          <a:p>
            <a:pPr lvl="1"/>
            <a:r>
              <a:rPr lang="en-US" dirty="0"/>
              <a:t>Charging a battery restores the chemical nature of the cells.</a:t>
            </a:r>
          </a:p>
          <a:p>
            <a:pPr lvl="1"/>
            <a:r>
              <a:rPr lang="en-US" dirty="0"/>
              <a:t>To do this, a chemical reaction takes place, causing current flow within the cells.</a:t>
            </a:r>
          </a:p>
          <a:p>
            <a:pPr lvl="1"/>
            <a:r>
              <a:rPr lang="en-US" dirty="0"/>
              <a:t>Discharging allows for current flow outside the cell.</a:t>
            </a:r>
          </a:p>
          <a:p>
            <a:pPr lvl="1"/>
            <a:r>
              <a:rPr lang="en-US" dirty="0"/>
              <a:t>To understand the charging process, remember that current flows from a higher potential (voltage) to a lower potential.</a:t>
            </a:r>
          </a:p>
          <a:p>
            <a:pPr lvl="1"/>
            <a:r>
              <a:rPr lang="en-US" dirty="0"/>
              <a:t>If the voltage applied by an outside source to the battery is higher than the voltage of the battery, current will flow into the battery.</a:t>
            </a:r>
          </a:p>
          <a:p>
            <a:pPr lvl="1"/>
            <a:r>
              <a:rPr lang="en-US" dirty="0"/>
              <a:t>This means the charging voltage must be higher than the battery’s voltage in order to charge it.</a:t>
            </a:r>
          </a:p>
        </p:txBody>
      </p:sp>
    </p:spTree>
    <p:extLst>
      <p:ext uri="{BB962C8B-B14F-4D97-AF65-F5344CB8AC3E}">
        <p14:creationId xmlns:p14="http://schemas.microsoft.com/office/powerpoint/2010/main" val="26065050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Basic Battery Theory (3 of 3)</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p:txBody>
          <a:bodyPr/>
          <a:lstStyle/>
          <a:p>
            <a:r>
              <a:rPr lang="en-US" dirty="0"/>
              <a:t>Cell and Battery Arrangements</a:t>
            </a:r>
          </a:p>
          <a:p>
            <a:pPr lvl="1"/>
            <a:r>
              <a:rPr lang="en-US" dirty="0"/>
              <a:t>The voltage produced by an individual battery cell varies with the chemicals and materials used to construct the cell.</a:t>
            </a:r>
          </a:p>
          <a:p>
            <a:pPr lvl="2"/>
            <a:r>
              <a:rPr lang="en-US" dirty="0"/>
              <a:t>Most cells produce between 1.2 and 4 volts.</a:t>
            </a:r>
          </a:p>
          <a:p>
            <a:pPr lvl="1"/>
            <a:r>
              <a:rPr lang="en-US" dirty="0"/>
              <a:t>Likewise, there is a limited amount of current available from an individual cell.</a:t>
            </a:r>
          </a:p>
          <a:p>
            <a:pPr lvl="1"/>
            <a:r>
              <a:rPr lang="en-US" dirty="0"/>
              <a:t>To provide higher battery voltages and increase available current, cells are connected together.</a:t>
            </a:r>
          </a:p>
          <a:p>
            <a:pPr lvl="1"/>
            <a:r>
              <a:rPr lang="en-US" dirty="0"/>
              <a:t>Cells can be connected in series or in parallel, or both.</a:t>
            </a:r>
          </a:p>
          <a:p>
            <a:pPr lvl="1"/>
            <a:r>
              <a:rPr lang="en-US" dirty="0"/>
              <a:t>Batteries and battery modules also can be connected in series, parallel, or series-parallel depending on the need.</a:t>
            </a:r>
          </a:p>
        </p:txBody>
      </p:sp>
    </p:spTree>
    <p:extLst>
      <p:ext uri="{BB962C8B-B14F-4D97-AF65-F5344CB8AC3E}">
        <p14:creationId xmlns:p14="http://schemas.microsoft.com/office/powerpoint/2010/main" val="1922502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Battery Hardware (1 of 2)</a:t>
            </a:r>
            <a:endParaRPr dirty="0"/>
          </a:p>
        </p:txBody>
      </p:sp>
      <p:sp>
        <p:nvSpPr>
          <p:cNvPr id="2" name="Text Placeholder 1">
            <a:extLst>
              <a:ext uri="{FF2B5EF4-FFF2-40B4-BE49-F238E27FC236}">
                <a16:creationId xmlns:a16="http://schemas.microsoft.com/office/drawing/2014/main" id="{17F5759B-2A1B-4C25-5B88-34D129C8B0AB}"/>
              </a:ext>
            </a:extLst>
          </p:cNvPr>
          <p:cNvSpPr>
            <a:spLocks noGrp="1"/>
          </p:cNvSpPr>
          <p:nvPr>
            <p:ph type="body" idx="1"/>
          </p:nvPr>
        </p:nvSpPr>
        <p:spPr>
          <a:xfrm>
            <a:off x="476844" y="1471264"/>
            <a:ext cx="7514218" cy="4612544"/>
          </a:xfrm>
        </p:spPr>
        <p:txBody>
          <a:bodyPr/>
          <a:lstStyle/>
          <a:p>
            <a:pPr marL="0" indent="0">
              <a:buNone/>
            </a:pPr>
            <a:r>
              <a:rPr lang="en-US" sz="1800" b="1" dirty="0"/>
              <a:t>17.02 Identify battery hardware such as cables, </a:t>
            </a:r>
            <a:r>
              <a:rPr lang="en-US" sz="1800" b="1" dirty="0" err="1"/>
              <a:t>holddowns</a:t>
            </a:r>
            <a:r>
              <a:rPr lang="en-US" sz="1800" b="1" dirty="0"/>
              <a:t>, and cooling systems.</a:t>
            </a:r>
          </a:p>
          <a:p>
            <a:r>
              <a:rPr lang="en-US" sz="1800" dirty="0"/>
              <a:t>Battery cables connect the battery to the vehicle’s electrical system.</a:t>
            </a:r>
          </a:p>
          <a:p>
            <a:r>
              <a:rPr lang="en-US" sz="1800" dirty="0"/>
              <a:t>They are large diameter wires because they must be able to carry the required current to operate the starter motor.</a:t>
            </a:r>
          </a:p>
          <a:p>
            <a:r>
              <a:rPr lang="en-US" sz="1800" dirty="0"/>
              <a:t>The positive cable is normally red, and the negative cable is black.</a:t>
            </a:r>
          </a:p>
          <a:p>
            <a:r>
              <a:rPr lang="en-US" sz="1800" dirty="0"/>
              <a:t>Various forms of clamps and terminals are used to ensure a good electrical connection at each end of the cable.</a:t>
            </a:r>
          </a:p>
          <a:p>
            <a:r>
              <a:rPr lang="en-US" sz="1800" dirty="0"/>
              <a:t>Connections must be clean and tight to prevent arcing and corrosion.</a:t>
            </a:r>
          </a:p>
          <a:p>
            <a:r>
              <a:rPr lang="en-US" sz="1800" dirty="0"/>
              <a:t>The high-voltage cables in nearly all hybrid and electric vehicles are colored orange and have markings on them.</a:t>
            </a:r>
          </a:p>
        </p:txBody>
      </p:sp>
      <p:pic>
        <p:nvPicPr>
          <p:cNvPr id="5" name="Picture Placeholder 4" descr="A photo of a close-up view of 3 electrical cables. Two of the cables are in red and the third one is in black. All the cables have a clamp at their ends.">
            <a:extLst>
              <a:ext uri="{FF2B5EF4-FFF2-40B4-BE49-F238E27FC236}">
                <a16:creationId xmlns:a16="http://schemas.microsoft.com/office/drawing/2014/main" id="{F25A8208-FDC5-67FE-9B0A-593963450537}"/>
              </a:ext>
            </a:extLst>
          </p:cNvPr>
          <p:cNvPicPr>
            <a:picLocks noGrp="1" noChangeAspect="1"/>
          </p:cNvPicPr>
          <p:nvPr>
            <p:ph type="pic" sz="quarter" idx="10"/>
          </p:nvPr>
        </p:nvPicPr>
        <p:blipFill>
          <a:blip r:embed="rId3"/>
          <a:srcRect b="21926"/>
          <a:stretch/>
        </p:blipFill>
        <p:spPr>
          <a:xfrm>
            <a:off x="8087282" y="2189996"/>
            <a:ext cx="3792152" cy="2478008"/>
          </a:xfrm>
          <a:prstGeom prst="rect">
            <a:avLst/>
          </a:prstGeom>
        </p:spPr>
      </p:pic>
    </p:spTree>
    <p:extLst>
      <p:ext uri="{BB962C8B-B14F-4D97-AF65-F5344CB8AC3E}">
        <p14:creationId xmlns:p14="http://schemas.microsoft.com/office/powerpoint/2010/main" val="15626137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Battery Hardware (2 of 2)</a:t>
            </a:r>
            <a:endParaRPr dirty="0"/>
          </a:p>
        </p:txBody>
      </p:sp>
      <p:sp>
        <p:nvSpPr>
          <p:cNvPr id="2" name="Text Placeholder 1">
            <a:extLst>
              <a:ext uri="{FF2B5EF4-FFF2-40B4-BE49-F238E27FC236}">
                <a16:creationId xmlns:a16="http://schemas.microsoft.com/office/drawing/2014/main" id="{C089BEC5-B9A3-71CE-B269-E5FDE9A88827}"/>
              </a:ext>
            </a:extLst>
          </p:cNvPr>
          <p:cNvSpPr>
            <a:spLocks noGrp="1"/>
          </p:cNvSpPr>
          <p:nvPr>
            <p:ph type="body" idx="1"/>
          </p:nvPr>
        </p:nvSpPr>
        <p:spPr>
          <a:xfrm>
            <a:off x="476843" y="1471264"/>
            <a:ext cx="6716437" cy="4218335"/>
          </a:xfrm>
        </p:spPr>
        <p:txBody>
          <a:bodyPr/>
          <a:lstStyle/>
          <a:p>
            <a:pPr>
              <a:spcAft>
                <a:spcPts val="600"/>
              </a:spcAft>
            </a:pPr>
            <a:r>
              <a:rPr lang="en-US" dirty="0"/>
              <a:t>Battery </a:t>
            </a:r>
            <a:r>
              <a:rPr lang="en-US" dirty="0" err="1"/>
              <a:t>Holddowns</a:t>
            </a:r>
            <a:endParaRPr lang="en-US" dirty="0"/>
          </a:p>
          <a:p>
            <a:pPr lvl="1">
              <a:spcAft>
                <a:spcPts val="600"/>
              </a:spcAft>
            </a:pPr>
            <a:r>
              <a:rPr lang="en-US" dirty="0"/>
              <a:t>All batteries must be held securely in the vehicle to prevent damage to the battery and to prevent the terminals from shorting to the vehicle.</a:t>
            </a:r>
          </a:p>
          <a:p>
            <a:pPr lvl="1">
              <a:spcAft>
                <a:spcPts val="600"/>
              </a:spcAft>
            </a:pPr>
            <a:r>
              <a:rPr lang="en-US" dirty="0"/>
              <a:t>Battery </a:t>
            </a:r>
            <a:r>
              <a:rPr lang="en-US" dirty="0" err="1"/>
              <a:t>holddowns</a:t>
            </a:r>
            <a:r>
              <a:rPr lang="en-US" dirty="0"/>
              <a:t> are made of metal or plastic.</a:t>
            </a:r>
          </a:p>
        </p:txBody>
      </p:sp>
      <p:pic>
        <p:nvPicPr>
          <p:cNvPr id="5" name="Picture Placeholder 4" descr="A photo of a close-up view of a battery held by a metallic holddown.">
            <a:extLst>
              <a:ext uri="{FF2B5EF4-FFF2-40B4-BE49-F238E27FC236}">
                <a16:creationId xmlns:a16="http://schemas.microsoft.com/office/drawing/2014/main" id="{4686DDBB-02E0-22DC-6780-548FF63DE6CA}"/>
              </a:ext>
            </a:extLst>
          </p:cNvPr>
          <p:cNvPicPr>
            <a:picLocks noGrp="1" noChangeAspect="1"/>
          </p:cNvPicPr>
          <p:nvPr>
            <p:ph type="pic" sz="quarter" idx="10"/>
          </p:nvPr>
        </p:nvPicPr>
        <p:blipFill>
          <a:blip r:embed="rId3"/>
          <a:srcRect b="11108"/>
          <a:stretch/>
        </p:blipFill>
        <p:spPr>
          <a:xfrm>
            <a:off x="7226378" y="1809231"/>
            <a:ext cx="4247782" cy="3019623"/>
          </a:xfrm>
          <a:prstGeom prst="rect">
            <a:avLst/>
          </a:prstGeom>
        </p:spPr>
      </p:pic>
    </p:spTree>
    <p:extLst>
      <p:ext uri="{BB962C8B-B14F-4D97-AF65-F5344CB8AC3E}">
        <p14:creationId xmlns:p14="http://schemas.microsoft.com/office/powerpoint/2010/main" val="3713289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Battery Recycling</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p:txBody>
          <a:bodyPr/>
          <a:lstStyle/>
          <a:p>
            <a:r>
              <a:rPr lang="en-US" sz="1600" dirty="0"/>
              <a:t>The materials used to make a lead-acid battery can be successfully recycled.</a:t>
            </a:r>
          </a:p>
          <a:p>
            <a:r>
              <a:rPr lang="en-US" sz="1600" dirty="0"/>
              <a:t>Batteries should not be discarded with regular trash because they contain metals and chemicals that are hazardous to the environment.</a:t>
            </a:r>
          </a:p>
          <a:p>
            <a:r>
              <a:rPr lang="en-US" sz="1600" dirty="0"/>
              <a:t>In 1994, the Rechargeable Battery Recycling Corporation (RBRC) was established to promote recycling of rechargeable batteries in North America.</a:t>
            </a:r>
          </a:p>
          <a:p>
            <a:r>
              <a:rPr lang="en-US" sz="1600" dirty="0"/>
              <a:t>RBRC is a nonprofit organization that collects batteries from consumers and businesses and sends them to recycling companies.</a:t>
            </a:r>
          </a:p>
          <a:p>
            <a:r>
              <a:rPr lang="en-US" sz="1600" dirty="0"/>
              <a:t>Collected batteries are sorted by their chemical makeup. Then they are broken apart and their elements separated.</a:t>
            </a:r>
          </a:p>
          <a:p>
            <a:r>
              <a:rPr lang="en-US" sz="1600" dirty="0"/>
              <a:t>The chemicals or materials are further separated and then collected. The majority of all used lead-acid batteries are recycled. During the recycling process, the lead, plastic, and acids are separated.</a:t>
            </a:r>
          </a:p>
          <a:p>
            <a:r>
              <a:rPr lang="en-US" sz="1600" dirty="0"/>
              <a:t>The electrolyte (sulfuric acid) can be reused or is discarded after it has been neutralized.</a:t>
            </a:r>
          </a:p>
          <a:p>
            <a:r>
              <a:rPr lang="en-US" sz="1600" dirty="0"/>
              <a:t>The plastic casing is cut into small pieces, scrubbed, and melted to make new battery cases and other parts.</a:t>
            </a:r>
          </a:p>
          <a:p>
            <a:r>
              <a:rPr lang="en-US" sz="1600" dirty="0"/>
              <a:t>The lead is also melted and poured into ingots to be used in new batteries.</a:t>
            </a:r>
          </a:p>
        </p:txBody>
      </p:sp>
    </p:spTree>
    <p:extLst>
      <p:ext uri="{BB962C8B-B14F-4D97-AF65-F5344CB8AC3E}">
        <p14:creationId xmlns:p14="http://schemas.microsoft.com/office/powerpoint/2010/main" val="34017087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Battery Ratings (1 of 4)</a:t>
            </a:r>
            <a:endParaRPr dirty="0"/>
          </a:p>
        </p:txBody>
      </p:sp>
      <p:sp>
        <p:nvSpPr>
          <p:cNvPr id="2" name="Text Placeholder 1">
            <a:extLst>
              <a:ext uri="{FF2B5EF4-FFF2-40B4-BE49-F238E27FC236}">
                <a16:creationId xmlns:a16="http://schemas.microsoft.com/office/drawing/2014/main" id="{EC69D543-975C-9949-DBBD-748E2E3655CB}"/>
              </a:ext>
            </a:extLst>
          </p:cNvPr>
          <p:cNvSpPr>
            <a:spLocks noGrp="1"/>
          </p:cNvSpPr>
          <p:nvPr>
            <p:ph type="body" idx="1"/>
          </p:nvPr>
        </p:nvSpPr>
        <p:spPr>
          <a:xfrm>
            <a:off x="476843" y="1471264"/>
            <a:ext cx="7886869" cy="4697888"/>
          </a:xfrm>
        </p:spPr>
        <p:txBody>
          <a:bodyPr/>
          <a:lstStyle/>
          <a:p>
            <a:pPr marL="0" indent="0">
              <a:buNone/>
            </a:pPr>
            <a:r>
              <a:rPr lang="en-US" sz="2000" b="1" dirty="0"/>
              <a:t>17.04 List and describe the various ways a battery may be rated.</a:t>
            </a:r>
          </a:p>
          <a:p>
            <a:r>
              <a:rPr lang="en-US" sz="2000" dirty="0"/>
              <a:t>Open circuit voltage is the voltage measured across the battery when there is no load on the battery.</a:t>
            </a:r>
          </a:p>
          <a:p>
            <a:r>
              <a:rPr lang="en-US" sz="2000" dirty="0"/>
              <a:t>Operating voltage is the voltage measured across the battery when it is under a load.</a:t>
            </a:r>
          </a:p>
          <a:p>
            <a:r>
              <a:rPr lang="en-US" sz="2000" dirty="0"/>
              <a:t>The available current from a battery is expressed as the battery’s capacity to provide a certain amount of current for a certain amount of time and at a certain temperature. Basically, a capacity rating expresses how much electrical energy a battery can store.</a:t>
            </a:r>
          </a:p>
          <a:p>
            <a:r>
              <a:rPr lang="en-US" sz="2000" dirty="0"/>
              <a:t>The sticker on some batteries will not reference all possible ratings. However, most will give the BCI group number, CCA, and CA.</a:t>
            </a:r>
          </a:p>
        </p:txBody>
      </p:sp>
      <p:pic>
        <p:nvPicPr>
          <p:cNvPr id="5" name="Picture Placeholder 4" descr="A photo of the sticker on a battery is depicted. The information given on the sticker reads, ‘CMF60L-DIN 60Ah(20 HR) 92RC 12V 550CCA(SAE) 440A (EN) 15.2 Kg.’">
            <a:extLst>
              <a:ext uri="{FF2B5EF4-FFF2-40B4-BE49-F238E27FC236}">
                <a16:creationId xmlns:a16="http://schemas.microsoft.com/office/drawing/2014/main" id="{FA6614EE-0C96-5824-7539-34E3DCB0DFD3}"/>
              </a:ext>
            </a:extLst>
          </p:cNvPr>
          <p:cNvPicPr>
            <a:picLocks noGrp="1" noChangeAspect="1"/>
          </p:cNvPicPr>
          <p:nvPr>
            <p:ph type="pic" sz="quarter" idx="10"/>
          </p:nvPr>
        </p:nvPicPr>
        <p:blipFill>
          <a:blip r:embed="rId3"/>
          <a:srcRect b="13838"/>
          <a:stretch/>
        </p:blipFill>
        <p:spPr>
          <a:xfrm>
            <a:off x="8244899" y="2050882"/>
            <a:ext cx="3690382" cy="2685506"/>
          </a:xfrm>
          <a:prstGeom prst="rect">
            <a:avLst/>
          </a:prstGeom>
        </p:spPr>
      </p:pic>
    </p:spTree>
    <p:extLst>
      <p:ext uri="{BB962C8B-B14F-4D97-AF65-F5344CB8AC3E}">
        <p14:creationId xmlns:p14="http://schemas.microsoft.com/office/powerpoint/2010/main" val="29222812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Battery Ratings (2 of 4)</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p:txBody>
          <a:bodyPr/>
          <a:lstStyle/>
          <a:p>
            <a:r>
              <a:rPr lang="en-US" dirty="0"/>
              <a:t>BCI Groups</a:t>
            </a:r>
          </a:p>
          <a:p>
            <a:pPr lvl="1"/>
            <a:r>
              <a:rPr lang="en-US" dirty="0"/>
              <a:t>The BCI or Battery Council International group number defines the physical qualities of a battery.</a:t>
            </a:r>
          </a:p>
          <a:p>
            <a:pPr lvl="1"/>
            <a:r>
              <a:rPr lang="en-US" dirty="0"/>
              <a:t>This is a standardized system that ensures that a battery in a specific group will have similar physical characteristics.</a:t>
            </a:r>
          </a:p>
          <a:p>
            <a:r>
              <a:rPr lang="en-US" dirty="0"/>
              <a:t>Cold Cranking Amps</a:t>
            </a:r>
          </a:p>
          <a:p>
            <a:pPr lvl="1"/>
            <a:r>
              <a:rPr lang="en-US" dirty="0"/>
              <a:t>The </a:t>
            </a:r>
            <a:r>
              <a:rPr lang="en-US" b="1" dirty="0"/>
              <a:t>cold cranking amps (CCA) rating </a:t>
            </a:r>
            <a:r>
              <a:rPr lang="en-US" dirty="0"/>
              <a:t>is the common method of rating starting batteries.</a:t>
            </a:r>
          </a:p>
          <a:p>
            <a:pPr lvl="1"/>
            <a:r>
              <a:rPr lang="en-US" dirty="0"/>
              <a:t>It expresses the amount of amperage a battery can deliver for 30 seconds at 0 °F (−17.7 °C) without its voltage dropping below a predetermined level.</a:t>
            </a:r>
          </a:p>
        </p:txBody>
      </p:sp>
    </p:spTree>
    <p:extLst>
      <p:ext uri="{BB962C8B-B14F-4D97-AF65-F5344CB8AC3E}">
        <p14:creationId xmlns:p14="http://schemas.microsoft.com/office/powerpoint/2010/main" val="25462680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Battery Ratings (3 of 4)</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p:txBody>
          <a:bodyPr/>
          <a:lstStyle/>
          <a:p>
            <a:r>
              <a:rPr lang="en-US" sz="2400" dirty="0"/>
              <a:t>Cranking Amps</a:t>
            </a:r>
          </a:p>
          <a:p>
            <a:pPr lvl="1"/>
            <a:r>
              <a:rPr lang="en-US" sz="2200" dirty="0"/>
              <a:t>The</a:t>
            </a:r>
            <a:r>
              <a:rPr lang="en-US" sz="2200" b="1" dirty="0"/>
              <a:t> cranking amps (CA) rating</a:t>
            </a:r>
            <a:r>
              <a:rPr lang="en-US" sz="2200" dirty="0"/>
              <a:t> is similar to CCA and expresses the amount of current a battery can deliver at 32 °F (0 °C) for 30 seconds and maintain voltage at a predetermined level.</a:t>
            </a:r>
          </a:p>
          <a:p>
            <a:r>
              <a:rPr lang="en-US" sz="2400" dirty="0"/>
              <a:t>Reserve Capacity</a:t>
            </a:r>
          </a:p>
          <a:p>
            <a:pPr lvl="1"/>
            <a:r>
              <a:rPr lang="en-US" sz="2200" dirty="0"/>
              <a:t>The</a:t>
            </a:r>
            <a:r>
              <a:rPr lang="en-US" sz="2200" b="1" dirty="0"/>
              <a:t> reserve capacity (RC) rating </a:t>
            </a:r>
            <a:r>
              <a:rPr lang="en-US" sz="2200" dirty="0"/>
              <a:t>represents the number of minutes that a fully charged battery can be discharged at 25 amperes before battery voltage drops below 10.5 volts.</a:t>
            </a:r>
          </a:p>
          <a:p>
            <a:r>
              <a:rPr lang="en-US" sz="2400" dirty="0"/>
              <a:t>Ampere-Hour</a:t>
            </a:r>
          </a:p>
          <a:p>
            <a:pPr lvl="1"/>
            <a:r>
              <a:rPr lang="en-US" sz="2200" dirty="0"/>
              <a:t>The</a:t>
            </a:r>
            <a:r>
              <a:rPr lang="en-US" sz="2200" b="1" dirty="0"/>
              <a:t> ampere-hour (AH) rating </a:t>
            </a:r>
            <a:r>
              <a:rPr lang="en-US" sz="2200" dirty="0"/>
              <a:t>represents the amount of steady current a fully charged battery can supply for 20 hours at 80 °F (26.7 °C) without the cell’s voltage dropping below a predetermined level.</a:t>
            </a:r>
          </a:p>
        </p:txBody>
      </p:sp>
    </p:spTree>
    <p:extLst>
      <p:ext uri="{BB962C8B-B14F-4D97-AF65-F5344CB8AC3E}">
        <p14:creationId xmlns:p14="http://schemas.microsoft.com/office/powerpoint/2010/main" val="18683898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Battery Ratings (4 of 4)</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a:xfrm>
            <a:off x="476843" y="1431509"/>
            <a:ext cx="11241915" cy="4710080"/>
          </a:xfrm>
        </p:spPr>
        <p:txBody>
          <a:bodyPr/>
          <a:lstStyle/>
          <a:p>
            <a:pPr>
              <a:spcAft>
                <a:spcPts val="600"/>
              </a:spcAft>
            </a:pPr>
            <a:r>
              <a:rPr lang="en-US" sz="1800" dirty="0"/>
              <a:t>Some battery manufacturers rate their batteries in watt-hours, which is determined at 0 °F (−17.7 °C) because the battery’s capacity changes with temperature.</a:t>
            </a:r>
          </a:p>
          <a:p>
            <a:pPr>
              <a:spcAft>
                <a:spcPts val="600"/>
              </a:spcAft>
            </a:pPr>
            <a:r>
              <a:rPr lang="en-US" sz="1800" dirty="0"/>
              <a:t>The kilowatt rating indicates how much power can flow into or out of a battery at any given instant of time. Kilowatt hours represent the power a battery can deliver or absorb over time. </a:t>
            </a:r>
          </a:p>
          <a:p>
            <a:pPr>
              <a:spcAft>
                <a:spcPts val="600"/>
              </a:spcAft>
            </a:pPr>
            <a:r>
              <a:rPr lang="en-US" sz="1800" dirty="0"/>
              <a:t>A 12-volt battery rated at 100-amp hours (20 amps × 5 hours) is rated at 1,200 watt hours or 1.2 kilowatt hours. The HV batteries used in hybrid and electric vehicles are rated in kWh as well.</a:t>
            </a:r>
          </a:p>
          <a:p>
            <a:pPr>
              <a:spcAft>
                <a:spcPts val="600"/>
              </a:spcAft>
            </a:pPr>
            <a:r>
              <a:rPr lang="en-US" sz="1800" dirty="0"/>
              <a:t>This rating provides an indication of the range and power available for a particular vehicle and its battery pack.</a:t>
            </a:r>
          </a:p>
          <a:p>
            <a:pPr>
              <a:spcAft>
                <a:spcPts val="600"/>
              </a:spcAft>
            </a:pPr>
            <a:r>
              <a:rPr lang="en-US" sz="1800" dirty="0"/>
              <a:t>For example, two vehicles may have batteries of comparable size, such as a Ford Mach-E GT Extended Range (ER) and a Tesla Model S Long Range (LR). Both have approximately 100 kWh battery packs.</a:t>
            </a:r>
          </a:p>
          <a:p>
            <a:pPr>
              <a:spcAft>
                <a:spcPts val="600"/>
              </a:spcAft>
            </a:pPr>
            <a:r>
              <a:rPr lang="en-US" sz="1800" dirty="0"/>
              <a:t>However, the range and performance specs for these two vehicles are not the same due to how each vehicle uses the available energy from the pack for propulsion.</a:t>
            </a:r>
          </a:p>
        </p:txBody>
      </p:sp>
    </p:spTree>
    <p:extLst>
      <p:ext uri="{BB962C8B-B14F-4D97-AF65-F5344CB8AC3E}">
        <p14:creationId xmlns:p14="http://schemas.microsoft.com/office/powerpoint/2010/main" val="42041449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Discussion</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p:txBody>
          <a:bodyPr/>
          <a:lstStyle/>
          <a:p>
            <a:pPr>
              <a:spcAft>
                <a:spcPts val="600"/>
              </a:spcAft>
            </a:pPr>
            <a:r>
              <a:rPr lang="en-US" dirty="0"/>
              <a:t>Consider the various battery ratings:</a:t>
            </a:r>
          </a:p>
          <a:p>
            <a:pPr lvl="1">
              <a:spcAft>
                <a:spcPts val="600"/>
              </a:spcAft>
            </a:pPr>
            <a:r>
              <a:rPr lang="en-US" dirty="0"/>
              <a:t>Cold cranking amps (CCA)</a:t>
            </a:r>
          </a:p>
          <a:p>
            <a:pPr lvl="1">
              <a:spcAft>
                <a:spcPts val="600"/>
              </a:spcAft>
            </a:pPr>
            <a:r>
              <a:rPr lang="en-US" dirty="0"/>
              <a:t>Reserve capacity (RC)</a:t>
            </a:r>
          </a:p>
          <a:p>
            <a:pPr lvl="1">
              <a:spcAft>
                <a:spcPts val="600"/>
              </a:spcAft>
            </a:pPr>
            <a:r>
              <a:rPr lang="en-US" dirty="0"/>
              <a:t>Ampere-hour rating (AH)</a:t>
            </a:r>
          </a:p>
          <a:p>
            <a:pPr marL="354013" indent="0">
              <a:spcAft>
                <a:spcPts val="600"/>
              </a:spcAft>
              <a:buNone/>
            </a:pPr>
            <a:r>
              <a:rPr lang="en-US" dirty="0"/>
              <a:t>Have a class discussion about how each of these are measured or determined and that would relate to selecting a battery for a particular application.</a:t>
            </a:r>
          </a:p>
        </p:txBody>
      </p:sp>
    </p:spTree>
    <p:extLst>
      <p:ext uri="{BB962C8B-B14F-4D97-AF65-F5344CB8AC3E}">
        <p14:creationId xmlns:p14="http://schemas.microsoft.com/office/powerpoint/2010/main" val="30688221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Common Types of Batteries</a:t>
            </a:r>
            <a:endParaRPr dirty="0"/>
          </a:p>
        </p:txBody>
      </p:sp>
      <p:pic>
        <p:nvPicPr>
          <p:cNvPr id="5" name="Picture Placeholder 4" descr="Two bar graphs comparing the efficiency of different battery types. In the first bar graph, the x axis is labeled Cost per kWh, starting from $0 to $600 in increments of $200. The y axis represents $kWH with markings Lead-acid, NiCad, NiMH, and Li-Poly. Three horizontal bars in yellow and orange are depicted for the first 3 markings and one orange bar depicts for Li-Poly. The yellow bar for NiCad is the maximum touching $600 on the x axis. The yellow bar is longer than the orange bar for all the 3 markings. In the second bar graph, the x axis is labeled Specific energy starting from 0 to 200 in intervals of 100. The y axis labeled Wh/Kg with markings Lead-acid, NiCad, NiMH, and Li-Poly. Three horizontal bars in yellow and orange are for the first 3 markings and one long orange bar is for Li-Poly. The orange bar is longer than the yellow bar for all the 3 markings, and the one for Li-Poly is the longest, crossing the 200 mark on the x axis. The legend depicts yellow bar as Now and orange bar as Potential.">
            <a:extLst>
              <a:ext uri="{FF2B5EF4-FFF2-40B4-BE49-F238E27FC236}">
                <a16:creationId xmlns:a16="http://schemas.microsoft.com/office/drawing/2014/main" id="{E1D7F7C6-FB31-682F-3F5B-4D2393042ECB}"/>
              </a:ext>
            </a:extLst>
          </p:cNvPr>
          <p:cNvPicPr>
            <a:picLocks noGrp="1" noChangeAspect="1"/>
          </p:cNvPicPr>
          <p:nvPr>
            <p:ph type="pic" sz="quarter" idx="10"/>
          </p:nvPr>
        </p:nvPicPr>
        <p:blipFill>
          <a:blip r:embed="rId3"/>
          <a:srcRect b="14134"/>
          <a:stretch/>
        </p:blipFill>
        <p:spPr>
          <a:xfrm>
            <a:off x="442820" y="2465562"/>
            <a:ext cx="3960656" cy="1757118"/>
          </a:xfrm>
          <a:prstGeom prst="rect">
            <a:avLst/>
          </a:prstGeom>
        </p:spPr>
      </p:pic>
      <p:sp>
        <p:nvSpPr>
          <p:cNvPr id="2" name="Text Placeholder 1">
            <a:extLst>
              <a:ext uri="{FF2B5EF4-FFF2-40B4-BE49-F238E27FC236}">
                <a16:creationId xmlns:a16="http://schemas.microsoft.com/office/drawing/2014/main" id="{2F205BDC-F81A-3220-D0D4-CDC3ADBF35F3}"/>
              </a:ext>
            </a:extLst>
          </p:cNvPr>
          <p:cNvSpPr>
            <a:spLocks noGrp="1"/>
          </p:cNvSpPr>
          <p:nvPr>
            <p:ph type="body" idx="1"/>
          </p:nvPr>
        </p:nvSpPr>
        <p:spPr>
          <a:xfrm>
            <a:off x="4596384" y="1434688"/>
            <a:ext cx="7152796" cy="4722272"/>
          </a:xfrm>
        </p:spPr>
        <p:txBody>
          <a:bodyPr/>
          <a:lstStyle/>
          <a:p>
            <a:pPr marL="0" indent="0">
              <a:buNone/>
            </a:pPr>
            <a:r>
              <a:rPr lang="en-US" sz="2200" b="1" dirty="0"/>
              <a:t>17.05 Describe the commonly used types of batteries in automotive applications.</a:t>
            </a:r>
          </a:p>
          <a:p>
            <a:r>
              <a:rPr lang="en-US" sz="2200" dirty="0"/>
              <a:t>There are different types and designs of batteries available.</a:t>
            </a:r>
          </a:p>
          <a:p>
            <a:r>
              <a:rPr lang="en-US" sz="2200" dirty="0"/>
              <a:t>They have different ratings and service lives. </a:t>
            </a:r>
          </a:p>
          <a:p>
            <a:r>
              <a:rPr lang="en-US" sz="2200" dirty="0"/>
              <a:t>The primary difference between batteries is the chemicals used in the cells.</a:t>
            </a:r>
          </a:p>
          <a:p>
            <a:r>
              <a:rPr lang="en-US" sz="2200" dirty="0"/>
              <a:t>The following battery designs are currently in use or are being considered for automotive use in the future:</a:t>
            </a:r>
          </a:p>
          <a:p>
            <a:pPr lvl="1"/>
            <a:r>
              <a:rPr lang="en-US" sz="2000" dirty="0"/>
              <a:t>Lead-Acid, Nickel-Metal Hydride (NiMH), Lithium-Ion (Li-Ion), and Lithium-Polymer (Li-Poly).</a:t>
            </a:r>
          </a:p>
        </p:txBody>
      </p:sp>
    </p:spTree>
    <p:extLst>
      <p:ext uri="{BB962C8B-B14F-4D97-AF65-F5344CB8AC3E}">
        <p14:creationId xmlns:p14="http://schemas.microsoft.com/office/powerpoint/2010/main" val="22734153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Lead-Acid Batteries (1 of 2)</a:t>
            </a:r>
            <a:endParaRPr dirty="0"/>
          </a:p>
        </p:txBody>
      </p:sp>
      <p:sp>
        <p:nvSpPr>
          <p:cNvPr id="2" name="Text Placeholder 1">
            <a:extLst>
              <a:ext uri="{FF2B5EF4-FFF2-40B4-BE49-F238E27FC236}">
                <a16:creationId xmlns:a16="http://schemas.microsoft.com/office/drawing/2014/main" id="{B5909C78-9F3E-A230-4B2E-52B66E6B4E0A}"/>
              </a:ext>
            </a:extLst>
          </p:cNvPr>
          <p:cNvSpPr>
            <a:spLocks noGrp="1"/>
          </p:cNvSpPr>
          <p:nvPr>
            <p:ph type="body" idx="1"/>
          </p:nvPr>
        </p:nvSpPr>
        <p:spPr>
          <a:xfrm>
            <a:off x="476843" y="1471264"/>
            <a:ext cx="8335853" cy="4722272"/>
          </a:xfrm>
        </p:spPr>
        <p:txBody>
          <a:bodyPr/>
          <a:lstStyle/>
          <a:p>
            <a:r>
              <a:rPr lang="en-US" sz="1800" dirty="0"/>
              <a:t>A lead-acid battery consists of grids, positive plates, negative plates, separators, elements, electrolyte, a container, cell covers, vent plugs, and cell containers.</a:t>
            </a:r>
          </a:p>
          <a:p>
            <a:r>
              <a:rPr lang="en-US" sz="1800" dirty="0"/>
              <a:t>Plates are typically flat, rectangular components that are either positive or negative, depending on the active material.</a:t>
            </a:r>
          </a:p>
          <a:p>
            <a:r>
              <a:rPr lang="en-US" sz="1800" dirty="0"/>
              <a:t>The material pasted onto the grids of the negative plates is </a:t>
            </a:r>
            <a:r>
              <a:rPr lang="en-US" sz="1800" b="1" dirty="0"/>
              <a:t>sponge lead (Pb).</a:t>
            </a:r>
          </a:p>
          <a:p>
            <a:r>
              <a:rPr lang="en-US" sz="1800" dirty="0"/>
              <a:t>Both plates are very porous and allow the liquid electrolyte to penetrate freely.</a:t>
            </a:r>
          </a:p>
          <a:p>
            <a:r>
              <a:rPr lang="en-US" sz="1800" dirty="0"/>
              <a:t>An </a:t>
            </a:r>
            <a:r>
              <a:rPr lang="en-US" sz="1800" b="1" dirty="0"/>
              <a:t>element</a:t>
            </a:r>
            <a:r>
              <a:rPr lang="en-US" sz="1800" dirty="0"/>
              <a:t> is a group of positive and negative plates. The plates are formed into a plate group, which holds a number of plates of the same polarity.</a:t>
            </a:r>
          </a:p>
          <a:p>
            <a:r>
              <a:rPr lang="en-US" sz="1800" dirty="0"/>
              <a:t>The like-charged plates are welded to a </a:t>
            </a:r>
            <a:r>
              <a:rPr lang="en-US" sz="1800" b="1" dirty="0"/>
              <a:t>plate strap</a:t>
            </a:r>
            <a:r>
              <a:rPr lang="en-US" sz="1800" dirty="0"/>
              <a:t>.</a:t>
            </a:r>
          </a:p>
          <a:p>
            <a:r>
              <a:rPr lang="en-US" sz="1800" b="1" dirty="0"/>
              <a:t>Separators</a:t>
            </a:r>
            <a:r>
              <a:rPr lang="en-US" sz="1800" dirty="0"/>
              <a:t> are porous plastic sheets that allow for a transfer of ions between plates.</a:t>
            </a:r>
          </a:p>
        </p:txBody>
      </p:sp>
      <p:pic>
        <p:nvPicPr>
          <p:cNvPr id="5" name="Picture Placeholder 4" descr="The structure of a lead-acid storage battery with the following labels: Vent caps, Case, Terminal post, Post strap, Negative plate (sponge lead), Cell rest, Sediment chamber, Separator, Positive plate (Lead peroxide), and Connector. The parts Terminal post, Post strap, Negative plate (sponge lead), Cell rest, Sediment chamber, Separator, Positive plate (Lead peroxide), and Connector are encircled.">
            <a:extLst>
              <a:ext uri="{FF2B5EF4-FFF2-40B4-BE49-F238E27FC236}">
                <a16:creationId xmlns:a16="http://schemas.microsoft.com/office/drawing/2014/main" id="{0D92EA94-F1E5-F1D2-67B1-AAA5644C5901}"/>
              </a:ext>
            </a:extLst>
          </p:cNvPr>
          <p:cNvPicPr>
            <a:picLocks noGrp="1" noChangeAspect="1"/>
          </p:cNvPicPr>
          <p:nvPr>
            <p:ph type="pic" sz="quarter" idx="10"/>
          </p:nvPr>
        </p:nvPicPr>
        <p:blipFill>
          <a:blip r:embed="rId3"/>
          <a:srcRect b="5611"/>
          <a:stretch/>
        </p:blipFill>
        <p:spPr>
          <a:xfrm>
            <a:off x="8750336" y="2224150"/>
            <a:ext cx="3245029" cy="3087589"/>
          </a:xfrm>
          <a:prstGeom prst="rect">
            <a:avLst/>
          </a:prstGeom>
        </p:spPr>
      </p:pic>
    </p:spTree>
    <p:extLst>
      <p:ext uri="{BB962C8B-B14F-4D97-AF65-F5344CB8AC3E}">
        <p14:creationId xmlns:p14="http://schemas.microsoft.com/office/powerpoint/2010/main" val="24636020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2" name="Title 1">
            <a:extLst>
              <a:ext uri="{FF2B5EF4-FFF2-40B4-BE49-F238E27FC236}">
                <a16:creationId xmlns:a16="http://schemas.microsoft.com/office/drawing/2014/main" id="{2E39F431-2F17-C942-FB32-5B06D7D50498}"/>
              </a:ext>
            </a:extLst>
          </p:cNvPr>
          <p:cNvSpPr>
            <a:spLocks noGrp="1"/>
          </p:cNvSpPr>
          <p:nvPr>
            <p:ph type="title"/>
          </p:nvPr>
        </p:nvSpPr>
        <p:spPr/>
        <p:txBody>
          <a:bodyPr/>
          <a:lstStyle/>
          <a:p>
            <a:r>
              <a:rPr lang="en-US" dirty="0"/>
              <a:t>Lead-Acid Batteries (2 of 2)</a:t>
            </a:r>
          </a:p>
        </p:txBody>
      </p:sp>
      <p:sp>
        <p:nvSpPr>
          <p:cNvPr id="3" name="Text Placeholder 2">
            <a:extLst>
              <a:ext uri="{FF2B5EF4-FFF2-40B4-BE49-F238E27FC236}">
                <a16:creationId xmlns:a16="http://schemas.microsoft.com/office/drawing/2014/main" id="{519A2306-D710-B5E2-BF8F-D5DD54F0FDEC}"/>
              </a:ext>
            </a:extLst>
          </p:cNvPr>
          <p:cNvSpPr>
            <a:spLocks noGrp="1"/>
          </p:cNvSpPr>
          <p:nvPr>
            <p:ph type="body" idx="1"/>
          </p:nvPr>
        </p:nvSpPr>
        <p:spPr>
          <a:xfrm>
            <a:off x="476843" y="1471264"/>
            <a:ext cx="7557685" cy="4600352"/>
          </a:xfrm>
        </p:spPr>
        <p:txBody>
          <a:bodyPr/>
          <a:lstStyle/>
          <a:p>
            <a:pPr>
              <a:spcAft>
                <a:spcPts val="400"/>
              </a:spcAft>
            </a:pPr>
            <a:r>
              <a:rPr lang="en-US" sz="1800" dirty="0"/>
              <a:t>When a battery discharges, lead in the lead peroxide of the positive plate combines with the sulfate radical (SO</a:t>
            </a:r>
            <a:r>
              <a:rPr lang="en-US" sz="1800" baseline="-25000" dirty="0"/>
              <a:t>4</a:t>
            </a:r>
            <a:r>
              <a:rPr lang="en-US" sz="1800" dirty="0"/>
              <a:t>) to form lead sulfate (PbSO</a:t>
            </a:r>
            <a:r>
              <a:rPr lang="en-US" sz="1800" baseline="-25000" dirty="0"/>
              <a:t>4</a:t>
            </a:r>
            <a:r>
              <a:rPr lang="en-US" sz="1800" dirty="0"/>
              <a:t>).</a:t>
            </a:r>
          </a:p>
          <a:p>
            <a:pPr>
              <a:spcAft>
                <a:spcPts val="400"/>
              </a:spcAft>
            </a:pPr>
            <a:r>
              <a:rPr lang="en-US" sz="1800" dirty="0"/>
              <a:t>A similar reaction takes place at the negative plate. The lead (Pb) of the negative plate combines with the SO</a:t>
            </a:r>
            <a:r>
              <a:rPr lang="en-US" sz="1800" baseline="-25000" dirty="0"/>
              <a:t>4</a:t>
            </a:r>
            <a:r>
              <a:rPr lang="en-US" sz="1800" dirty="0"/>
              <a:t> to also form lead sulfate (PbSO</a:t>
            </a:r>
            <a:r>
              <a:rPr lang="en-US" sz="1800" baseline="-25000" dirty="0"/>
              <a:t>4</a:t>
            </a:r>
            <a:r>
              <a:rPr lang="en-US" sz="1800" dirty="0"/>
              <a:t>), a neutral and inactive material.</a:t>
            </a:r>
          </a:p>
          <a:p>
            <a:pPr>
              <a:spcAft>
                <a:spcPts val="400"/>
              </a:spcAft>
            </a:pPr>
            <a:r>
              <a:rPr lang="en-US" sz="1800" dirty="0"/>
              <a:t>During this chemical reaction, the extra oxygen from the lead peroxide and the hydrogen from the sulfuric acid combine to form water (H</a:t>
            </a:r>
            <a:r>
              <a:rPr lang="en-US" sz="1800" baseline="-25000" dirty="0"/>
              <a:t>2</a:t>
            </a:r>
            <a:r>
              <a:rPr lang="en-US" sz="1800" dirty="0"/>
              <a:t>O).</a:t>
            </a:r>
          </a:p>
          <a:p>
            <a:pPr>
              <a:spcAft>
                <a:spcPts val="400"/>
              </a:spcAft>
            </a:pPr>
            <a:r>
              <a:rPr lang="en-US" sz="1800" dirty="0"/>
              <a:t>The recharging process is the reverse of discharging.</a:t>
            </a:r>
          </a:p>
          <a:p>
            <a:pPr>
              <a:spcAft>
                <a:spcPts val="400"/>
              </a:spcAft>
            </a:pPr>
            <a:r>
              <a:rPr lang="en-US" sz="1800" dirty="0"/>
              <a:t>Electricity from an outside source, such as the generator or a battery recharger, is forced into the battery.</a:t>
            </a:r>
          </a:p>
          <a:p>
            <a:pPr>
              <a:spcAft>
                <a:spcPts val="400"/>
              </a:spcAft>
            </a:pPr>
            <a:r>
              <a:rPr lang="en-US" sz="1800" dirty="0"/>
              <a:t>As the sulfate (SO4) leaves both plates, it combines with hydrogen in the electrolyte to form sulfuric acid (H</a:t>
            </a:r>
            <a:r>
              <a:rPr lang="en-US" sz="1800" baseline="-25000" dirty="0"/>
              <a:t>2</a:t>
            </a:r>
            <a:r>
              <a:rPr lang="en-US" sz="1800" dirty="0"/>
              <a:t>SO</a:t>
            </a:r>
            <a:r>
              <a:rPr lang="en-US" sz="1800" baseline="-25000" dirty="0"/>
              <a:t>4</a:t>
            </a:r>
            <a:r>
              <a:rPr lang="en-US" sz="1800" dirty="0"/>
              <a:t>).</a:t>
            </a:r>
          </a:p>
        </p:txBody>
      </p:sp>
      <p:pic>
        <p:nvPicPr>
          <p:cNvPr id="6" name="Picture Placeholder 5" descr="The chemical action inside a battery during the discharge cycle. The positive and the negative terminals of a battery are marked. The positive terminal of the battery has Pb and O_2. The negative terminal has Pb. Two H_2 atoms and two SO_4 atoms are depicted in between the positive and negative terminals. Two arrows extend from the O_2 of the positive side to each of the H_2, in between the terminals. A curved arrow extends from one of the SO_4 to the Pb on the positive side. Another curved arrow extends from the other SO_4 to the Pb on the negative side. A glowing bulb is above the battery. A colored wire goes from the positive terminal to the bulb while a second colored wire goes from the negative terminal to the bulb.">
            <a:extLst>
              <a:ext uri="{FF2B5EF4-FFF2-40B4-BE49-F238E27FC236}">
                <a16:creationId xmlns:a16="http://schemas.microsoft.com/office/drawing/2014/main" id="{0EC24CD7-56EA-D87F-BBA7-0F9B0CD39B06}"/>
              </a:ext>
            </a:extLst>
          </p:cNvPr>
          <p:cNvPicPr>
            <a:picLocks noGrp="1" noChangeAspect="1"/>
          </p:cNvPicPr>
          <p:nvPr>
            <p:ph type="pic" sz="quarter" idx="10"/>
          </p:nvPr>
        </p:nvPicPr>
        <p:blipFill>
          <a:blip r:embed="rId3"/>
          <a:srcRect b="7997"/>
          <a:stretch/>
        </p:blipFill>
        <p:spPr>
          <a:xfrm>
            <a:off x="8220678" y="3186660"/>
            <a:ext cx="3405105" cy="1734661"/>
          </a:xfrm>
          <a:prstGeom prst="rect">
            <a:avLst/>
          </a:prstGeom>
        </p:spPr>
      </p:pic>
    </p:spTree>
    <p:extLst>
      <p:ext uri="{BB962C8B-B14F-4D97-AF65-F5344CB8AC3E}">
        <p14:creationId xmlns:p14="http://schemas.microsoft.com/office/powerpoint/2010/main" val="13824929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Lead-Acid Battery Uses</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p:txBody>
          <a:bodyPr/>
          <a:lstStyle/>
          <a:p>
            <a:r>
              <a:rPr lang="en-US" sz="1800" dirty="0"/>
              <a:t>Hybrids and EVs have a 12-volt auxiliary battery to power the 12-volt system and to bring the HV system online. These batteries are not intended to be used to power starter motors and tend to have low-capacity ratings.</a:t>
            </a:r>
          </a:p>
          <a:p>
            <a:r>
              <a:rPr lang="en-US" sz="1800" dirty="0"/>
              <a:t>Some vehicles with automatic stop/start systems and some luxury vehicles have two batteries. The primary is the starting battery, and the second auxiliary battery is used to help handle increased electrical loads during engine shut down.</a:t>
            </a:r>
          </a:p>
          <a:p>
            <a:r>
              <a:rPr lang="en-US" sz="1800" dirty="0"/>
              <a:t>Deep cycle batteries are designed to go through many charge and discharge cycles. They are not used as the primary batteries in automotive applications but are used extensively in campers, recreational vehicles, and some marine applications.</a:t>
            </a:r>
          </a:p>
          <a:p>
            <a:r>
              <a:rPr lang="en-US" sz="1800" dirty="0"/>
              <a:t>A low-maintenance battery is a heavy-duty version of a normal lead-acid battery. Many of the parts are thicker and made with different, more durable materials. Low-maintenance batteries have vent holes and caps, which allow water to be added to the cells.</a:t>
            </a:r>
          </a:p>
          <a:p>
            <a:r>
              <a:rPr lang="en-US" sz="1800" b="1" dirty="0"/>
              <a:t>Maintenance-free batteries </a:t>
            </a:r>
            <a:r>
              <a:rPr lang="en-US" sz="1800" dirty="0"/>
              <a:t>are similar in construction but made with different plate materials. This type of battery experiences little gassing during discharge and charge cycles, therefore, maintenance-free batteries do not have external holes or caps.</a:t>
            </a:r>
          </a:p>
        </p:txBody>
      </p:sp>
    </p:spTree>
    <p:extLst>
      <p:ext uri="{BB962C8B-B14F-4D97-AF65-F5344CB8AC3E}">
        <p14:creationId xmlns:p14="http://schemas.microsoft.com/office/powerpoint/2010/main" val="35603778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Recombination Batteries </a:t>
            </a:r>
            <a:endParaRPr dirty="0"/>
          </a:p>
        </p:txBody>
      </p:sp>
      <p:sp>
        <p:nvSpPr>
          <p:cNvPr id="2" name="Text Placeholder 1">
            <a:extLst>
              <a:ext uri="{FF2B5EF4-FFF2-40B4-BE49-F238E27FC236}">
                <a16:creationId xmlns:a16="http://schemas.microsoft.com/office/drawing/2014/main" id="{D5216B0C-2980-E1DB-BCCD-ED5BCCAA2C09}"/>
              </a:ext>
            </a:extLst>
          </p:cNvPr>
          <p:cNvSpPr>
            <a:spLocks noGrp="1"/>
          </p:cNvSpPr>
          <p:nvPr>
            <p:ph type="body" idx="1"/>
          </p:nvPr>
        </p:nvSpPr>
        <p:spPr>
          <a:xfrm>
            <a:off x="476843" y="1471264"/>
            <a:ext cx="8301397" cy="4588160"/>
          </a:xfrm>
        </p:spPr>
        <p:txBody>
          <a:bodyPr/>
          <a:lstStyle/>
          <a:p>
            <a:pPr>
              <a:spcAft>
                <a:spcPts val="600"/>
              </a:spcAft>
            </a:pPr>
            <a:r>
              <a:rPr lang="en-US" sz="1800" dirty="0"/>
              <a:t>A recombination or </a:t>
            </a:r>
            <a:r>
              <a:rPr lang="en-US" sz="1800" b="1" dirty="0"/>
              <a:t>recombinant battery </a:t>
            </a:r>
            <a:r>
              <a:rPr lang="en-US" sz="1800" dirty="0"/>
              <a:t>(gel battery) is a completely sealed maintenance-free battery that uses a gel-type electrolyte.</a:t>
            </a:r>
          </a:p>
          <a:p>
            <a:pPr>
              <a:spcAft>
                <a:spcPts val="600"/>
              </a:spcAft>
            </a:pPr>
            <a:r>
              <a:rPr lang="en-US" sz="1800" dirty="0"/>
              <a:t>Gassing is minimized, and vents are not needed.</a:t>
            </a:r>
          </a:p>
          <a:p>
            <a:pPr>
              <a:spcAft>
                <a:spcPts val="600"/>
              </a:spcAft>
            </a:pPr>
            <a:r>
              <a:rPr lang="en-US" sz="1800" dirty="0"/>
              <a:t>During normal use, hydrogen and oxygen within the battery are captured and recombined to form water within the electrolyte. This eliminates the need to ever add water to the battery.</a:t>
            </a:r>
          </a:p>
          <a:p>
            <a:pPr>
              <a:spcAft>
                <a:spcPts val="600"/>
              </a:spcAft>
            </a:pPr>
            <a:r>
              <a:rPr lang="en-US" sz="1800" dirty="0"/>
              <a:t>An </a:t>
            </a:r>
            <a:r>
              <a:rPr lang="en-US" sz="1800" b="1" dirty="0"/>
              <a:t>absorbed glass mat (AGM) battery </a:t>
            </a:r>
            <a:r>
              <a:rPr lang="en-US" sz="1800" dirty="0"/>
              <a:t>is a common example of a recombinant battery. The electrolyte in AGM batteries is held in moistened fiberglass matting. The matting is sandwiched between the battery’s plates, where it doubles as a vibration dampener. Rolls of high-purity lead plates are tightly compressed into six cells.</a:t>
            </a:r>
          </a:p>
          <a:p>
            <a:pPr>
              <a:spcAft>
                <a:spcPts val="600"/>
              </a:spcAft>
            </a:pPr>
            <a:r>
              <a:rPr lang="en-US" sz="1800" dirty="0"/>
              <a:t>Another recombinant battery is the </a:t>
            </a:r>
            <a:r>
              <a:rPr lang="en-US" sz="1800" b="1" dirty="0"/>
              <a:t>valve-regulated lead-acid (VRLA) battery.</a:t>
            </a:r>
          </a:p>
        </p:txBody>
      </p:sp>
      <p:pic>
        <p:nvPicPr>
          <p:cNvPr id="5" name="Picture Placeholder 4" descr="A photo depicts the construction of an A G M battery. The lid of the battery is open and two knobs in red and black are at both ends of the lid.">
            <a:extLst>
              <a:ext uri="{FF2B5EF4-FFF2-40B4-BE49-F238E27FC236}">
                <a16:creationId xmlns:a16="http://schemas.microsoft.com/office/drawing/2014/main" id="{17EA7ED3-C082-90AD-F1B2-681FCF9E2442}"/>
              </a:ext>
            </a:extLst>
          </p:cNvPr>
          <p:cNvPicPr>
            <a:picLocks noGrp="1" noChangeAspect="1"/>
          </p:cNvPicPr>
          <p:nvPr>
            <p:ph type="pic" sz="quarter" idx="10"/>
          </p:nvPr>
        </p:nvPicPr>
        <p:blipFill>
          <a:blip r:embed="rId3"/>
          <a:srcRect b="4943"/>
          <a:stretch/>
        </p:blipFill>
        <p:spPr>
          <a:xfrm>
            <a:off x="8926046" y="1901949"/>
            <a:ext cx="2660187" cy="3337871"/>
          </a:xfrm>
          <a:prstGeom prst="rect">
            <a:avLst/>
          </a:prstGeom>
        </p:spPr>
      </p:pic>
    </p:spTree>
    <p:extLst>
      <p:ext uri="{BB962C8B-B14F-4D97-AF65-F5344CB8AC3E}">
        <p14:creationId xmlns:p14="http://schemas.microsoft.com/office/powerpoint/2010/main" val="21012727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Lithium-Ion Batteries</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p:txBody>
          <a:bodyPr/>
          <a:lstStyle/>
          <a:p>
            <a:r>
              <a:rPr lang="en-US" sz="2000" dirty="0"/>
              <a:t>Drop-in replacement lithium-ion (LI) batteries are now available from the aftermarket.</a:t>
            </a:r>
          </a:p>
          <a:p>
            <a:r>
              <a:rPr lang="en-US" sz="2000" dirty="0"/>
              <a:t>These are dry cell batteries that use a powdered electrolyte, which removes the danger of acid spills and makes them safer to handle.</a:t>
            </a:r>
          </a:p>
          <a:p>
            <a:r>
              <a:rPr lang="en-US" sz="2000" dirty="0"/>
              <a:t>There are several other advantages to installing a lithium-ion battery, including: </a:t>
            </a:r>
          </a:p>
          <a:p>
            <a:pPr lvl="1"/>
            <a:r>
              <a:rPr lang="en-US" sz="1800" dirty="0"/>
              <a:t>Weight savings. Most replacement LI batteries weigh up to 70 percent less than the lead-acid batteries they replace.</a:t>
            </a:r>
          </a:p>
          <a:p>
            <a:pPr lvl="1"/>
            <a:r>
              <a:rPr lang="en-US" sz="1800" dirty="0"/>
              <a:t>Longer life spans. LI batteries are rated for 5,000 to 7,000 cycles, or approximately three times the life span of a lead-acid battery.</a:t>
            </a:r>
          </a:p>
          <a:p>
            <a:pPr lvl="1"/>
            <a:r>
              <a:rPr lang="en-US" sz="1800" dirty="0"/>
              <a:t>Built-in jump starting. If the battery does go dead, LI batteries have internal battery energy management systems (BEMs) that maintain a power reserve to start the engine.</a:t>
            </a:r>
          </a:p>
          <a:p>
            <a:pPr lvl="1"/>
            <a:r>
              <a:rPr lang="en-US" sz="1800" dirty="0"/>
              <a:t>Increased power. Because LI battery cells have a greater energy density compared to lead-acid cells, cold cranking ratings range from 1,500 to 2,000 amps. LI batteries can deliver current for longer periods of time compared to similar lead-acid batteries.</a:t>
            </a:r>
          </a:p>
        </p:txBody>
      </p:sp>
    </p:spTree>
    <p:extLst>
      <p:ext uri="{BB962C8B-B14F-4D97-AF65-F5344CB8AC3E}">
        <p14:creationId xmlns:p14="http://schemas.microsoft.com/office/powerpoint/2010/main" val="22819029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Factors Affecting Battery Life</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p:txBody>
          <a:bodyPr/>
          <a:lstStyle/>
          <a:p>
            <a:r>
              <a:rPr lang="en-US" sz="1800" dirty="0"/>
              <a:t>All storage batteries have a limited service life; lead-acid batteries are typically good for 3 to 7 years. However, many conditions can shorten this time.</a:t>
            </a:r>
          </a:p>
          <a:p>
            <a:r>
              <a:rPr lang="en-US" sz="1800" dirty="0"/>
              <a:t>The water in the electrolyte is lost due to evaporation during hot weather and gassing during charging.</a:t>
            </a:r>
          </a:p>
          <a:p>
            <a:r>
              <a:rPr lang="en-US" sz="1800" dirty="0"/>
              <a:t>The battery freezing when it is very cold and its charge is low will ruin a battery.</a:t>
            </a:r>
          </a:p>
          <a:p>
            <a:r>
              <a:rPr lang="en-US" sz="1800" dirty="0"/>
              <a:t>When the battery is allowed to get too hot, the water in the electrolyte can evaporate. Batteries used in hot climates tend to have shorter service lives and should have their electrolyte level checked very frequently if possible.</a:t>
            </a:r>
          </a:p>
          <a:p>
            <a:r>
              <a:rPr lang="en-US" sz="1800" dirty="0"/>
              <a:t>Battery corrosion is commonly caused by spilled electrolyte or electrolyte condensation from gassing.</a:t>
            </a:r>
          </a:p>
          <a:p>
            <a:r>
              <a:rPr lang="en-US" sz="1800" dirty="0"/>
              <a:t>Overcharging can also cause excessive heat, which can oxidize the positive plate grid material and even buckle the plates, resulting in a loss of cell capacity and early failure.</a:t>
            </a:r>
          </a:p>
          <a:p>
            <a:r>
              <a:rPr lang="en-US" sz="1800" dirty="0"/>
              <a:t>The charging system might not fully recharge the battery due to a fault in the system. This causes the battery to operate in a partially discharged condition which results in sulfation of the plates and ruining the battery.</a:t>
            </a:r>
          </a:p>
        </p:txBody>
      </p:sp>
    </p:spTree>
    <p:extLst>
      <p:ext uri="{BB962C8B-B14F-4D97-AF65-F5344CB8AC3E}">
        <p14:creationId xmlns:p14="http://schemas.microsoft.com/office/powerpoint/2010/main" val="9877439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2" name="Title 1">
            <a:extLst>
              <a:ext uri="{FF2B5EF4-FFF2-40B4-BE49-F238E27FC236}">
                <a16:creationId xmlns:a16="http://schemas.microsoft.com/office/drawing/2014/main" id="{E235E7AB-3D19-853F-5610-A606AB0C0984}"/>
              </a:ext>
            </a:extLst>
          </p:cNvPr>
          <p:cNvSpPr>
            <a:spLocks noGrp="1"/>
          </p:cNvSpPr>
          <p:nvPr>
            <p:ph type="title"/>
          </p:nvPr>
        </p:nvSpPr>
        <p:spPr/>
        <p:txBody>
          <a:bodyPr/>
          <a:lstStyle/>
          <a:p>
            <a:r>
              <a:rPr lang="en-US" dirty="0"/>
              <a:t>Inspection</a:t>
            </a:r>
          </a:p>
        </p:txBody>
      </p:sp>
      <p:pic>
        <p:nvPicPr>
          <p:cNvPr id="6" name="Picture Placeholder 5" descr="The transparent view of a battery. The battery is filled up to half with an electrolyte. A small, curved line goes from the base of the battery along its side for a short height. The top of the battery has six openings covered with lids. Two red cables and one blue cable are at the top of the battery. One corner of the top of the battery appears grainy. The parts labeled are as follows; Check cables, Electrolyte fill holes, Check holddown, Check cable connections, Check terminal corrosion, Check electrolyte level, and Check case.">
            <a:extLst>
              <a:ext uri="{FF2B5EF4-FFF2-40B4-BE49-F238E27FC236}">
                <a16:creationId xmlns:a16="http://schemas.microsoft.com/office/drawing/2014/main" id="{730FFBBE-5FC2-C339-93AA-748AA3ED371B}"/>
              </a:ext>
            </a:extLst>
          </p:cNvPr>
          <p:cNvPicPr>
            <a:picLocks noGrp="1" noChangeAspect="1"/>
          </p:cNvPicPr>
          <p:nvPr>
            <p:ph type="pic" sz="quarter" idx="10"/>
          </p:nvPr>
        </p:nvPicPr>
        <p:blipFill>
          <a:blip r:embed="rId3"/>
          <a:srcRect b="8574"/>
          <a:stretch/>
        </p:blipFill>
        <p:spPr>
          <a:xfrm>
            <a:off x="1224058" y="1564584"/>
            <a:ext cx="3921442" cy="4117025"/>
          </a:xfrm>
          <a:prstGeom prst="rect">
            <a:avLst/>
          </a:prstGeom>
        </p:spPr>
      </p:pic>
      <p:sp>
        <p:nvSpPr>
          <p:cNvPr id="3" name="Text Placeholder 2">
            <a:extLst>
              <a:ext uri="{FF2B5EF4-FFF2-40B4-BE49-F238E27FC236}">
                <a16:creationId xmlns:a16="http://schemas.microsoft.com/office/drawing/2014/main" id="{558B489D-24E4-D069-A5DB-EDF86FD6E2F4}"/>
              </a:ext>
            </a:extLst>
          </p:cNvPr>
          <p:cNvSpPr>
            <a:spLocks noGrp="1"/>
          </p:cNvSpPr>
          <p:nvPr>
            <p:ph type="body" idx="1"/>
          </p:nvPr>
        </p:nvSpPr>
        <p:spPr>
          <a:xfrm>
            <a:off x="5266943" y="1471264"/>
            <a:ext cx="6673265" cy="4746656"/>
          </a:xfrm>
        </p:spPr>
        <p:txBody>
          <a:bodyPr/>
          <a:lstStyle/>
          <a:p>
            <a:pPr>
              <a:spcAft>
                <a:spcPts val="600"/>
              </a:spcAft>
            </a:pPr>
            <a:r>
              <a:rPr lang="en-US" dirty="0"/>
              <a:t>Testing a lead-acid battery should begin with a thorough inspection of the battery and its terminals.</a:t>
            </a:r>
          </a:p>
          <a:p>
            <a:pPr>
              <a:spcAft>
                <a:spcPts val="600"/>
              </a:spcAft>
            </a:pPr>
            <a:r>
              <a:rPr lang="en-US" dirty="0"/>
              <a:t>The following items should be checked:</a:t>
            </a:r>
          </a:p>
          <a:p>
            <a:pPr marL="817562" lvl="1" indent="-457200">
              <a:spcAft>
                <a:spcPts val="600"/>
              </a:spcAft>
              <a:buFont typeface="+mj-lt"/>
              <a:buAutoNum type="arabicPeriod"/>
            </a:pPr>
            <a:r>
              <a:rPr lang="en-US" dirty="0"/>
              <a:t>Check the age of the battery by looking at the date code on the battery.</a:t>
            </a:r>
          </a:p>
          <a:p>
            <a:pPr marL="817562" lvl="1" indent="-457200">
              <a:spcAft>
                <a:spcPts val="600"/>
              </a:spcAft>
              <a:buFont typeface="+mj-lt"/>
              <a:buAutoNum type="arabicPeriod"/>
            </a:pPr>
            <a:r>
              <a:rPr lang="en-US" dirty="0"/>
              <a:t>Check the condition of the case. A damaged battery should be replaced.</a:t>
            </a:r>
          </a:p>
        </p:txBody>
      </p:sp>
    </p:spTree>
    <p:extLst>
      <p:ext uri="{BB962C8B-B14F-4D97-AF65-F5344CB8AC3E}">
        <p14:creationId xmlns:p14="http://schemas.microsoft.com/office/powerpoint/2010/main" val="39597283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2" name="Title 1">
            <a:extLst>
              <a:ext uri="{FF2B5EF4-FFF2-40B4-BE49-F238E27FC236}">
                <a16:creationId xmlns:a16="http://schemas.microsoft.com/office/drawing/2014/main" id="{E235E7AB-3D19-853F-5610-A606AB0C0984}"/>
              </a:ext>
            </a:extLst>
          </p:cNvPr>
          <p:cNvSpPr>
            <a:spLocks noGrp="1"/>
          </p:cNvSpPr>
          <p:nvPr>
            <p:ph type="title"/>
          </p:nvPr>
        </p:nvSpPr>
        <p:spPr/>
        <p:txBody>
          <a:bodyPr/>
          <a:lstStyle/>
          <a:p>
            <a:r>
              <a:rPr lang="en-US" dirty="0"/>
              <a:t>Servicing and Testing Batteries (1 of 4)</a:t>
            </a:r>
          </a:p>
        </p:txBody>
      </p:sp>
      <p:pic>
        <p:nvPicPr>
          <p:cNvPr id="11" name="Picture Placeholder 10" descr="A photo depicts a voltmeter placed on a battery. The technician is holding a black lead from the voltmeter on the surface of the battery. The red cable from the voltmeter is connected to the battery.">
            <a:extLst>
              <a:ext uri="{FF2B5EF4-FFF2-40B4-BE49-F238E27FC236}">
                <a16:creationId xmlns:a16="http://schemas.microsoft.com/office/drawing/2014/main" id="{DB20A0D7-8DE5-CDF6-8CB6-188177E322DB}"/>
              </a:ext>
            </a:extLst>
          </p:cNvPr>
          <p:cNvPicPr>
            <a:picLocks noGrp="1" noChangeAspect="1"/>
          </p:cNvPicPr>
          <p:nvPr>
            <p:ph type="pic" sz="quarter" idx="10"/>
          </p:nvPr>
        </p:nvPicPr>
        <p:blipFill>
          <a:blip r:embed="rId3"/>
          <a:srcRect b="10942"/>
          <a:stretch/>
        </p:blipFill>
        <p:spPr>
          <a:xfrm>
            <a:off x="448768" y="1820361"/>
            <a:ext cx="4451490" cy="3378364"/>
          </a:xfrm>
          <a:prstGeom prst="rect">
            <a:avLst/>
          </a:prstGeom>
        </p:spPr>
      </p:pic>
      <p:sp>
        <p:nvSpPr>
          <p:cNvPr id="3" name="Text Placeholder 2">
            <a:extLst>
              <a:ext uri="{FF2B5EF4-FFF2-40B4-BE49-F238E27FC236}">
                <a16:creationId xmlns:a16="http://schemas.microsoft.com/office/drawing/2014/main" id="{558B489D-24E4-D069-A5DB-EDF86FD6E2F4}"/>
              </a:ext>
            </a:extLst>
          </p:cNvPr>
          <p:cNvSpPr>
            <a:spLocks noGrp="1"/>
          </p:cNvSpPr>
          <p:nvPr>
            <p:ph type="body" idx="1"/>
          </p:nvPr>
        </p:nvSpPr>
        <p:spPr>
          <a:xfrm>
            <a:off x="5010912" y="1471264"/>
            <a:ext cx="6614714" cy="4661312"/>
          </a:xfrm>
        </p:spPr>
        <p:txBody>
          <a:bodyPr/>
          <a:lstStyle/>
          <a:p>
            <a:pPr marL="0" indent="0">
              <a:spcAft>
                <a:spcPts val="600"/>
              </a:spcAft>
              <a:buNone/>
            </a:pPr>
            <a:r>
              <a:rPr lang="en-US" sz="2400" b="1" dirty="0"/>
              <a:t>17.06 Explain common battery services and testing methods.</a:t>
            </a:r>
          </a:p>
          <a:p>
            <a:pPr>
              <a:spcAft>
                <a:spcPts val="600"/>
              </a:spcAft>
            </a:pPr>
            <a:r>
              <a:rPr lang="en-US" sz="2400" dirty="0"/>
              <a:t>Battery Leakage Test</a:t>
            </a:r>
          </a:p>
          <a:p>
            <a:pPr lvl="1">
              <a:spcAft>
                <a:spcPts val="600"/>
              </a:spcAft>
            </a:pPr>
            <a:r>
              <a:rPr lang="en-US" sz="2200" dirty="0"/>
              <a:t>To perform a battery leakage test, set a voltmeter to a low DC volt range.</a:t>
            </a:r>
          </a:p>
          <a:p>
            <a:pPr lvl="1">
              <a:spcAft>
                <a:spcPts val="600"/>
              </a:spcAft>
            </a:pPr>
            <a:r>
              <a:rPr lang="en-US" sz="2200" dirty="0"/>
              <a:t>Connect the negative lead to the negative post.</a:t>
            </a:r>
          </a:p>
          <a:p>
            <a:pPr lvl="1">
              <a:spcAft>
                <a:spcPts val="600"/>
              </a:spcAft>
            </a:pPr>
            <a:r>
              <a:rPr lang="en-US" sz="2200" dirty="0"/>
              <a:t>Then move the meter’s positive lead across the top and sides of the case.</a:t>
            </a:r>
          </a:p>
          <a:p>
            <a:pPr lvl="1">
              <a:spcAft>
                <a:spcPts val="600"/>
              </a:spcAft>
            </a:pPr>
            <a:r>
              <a:rPr lang="en-US" sz="2200" dirty="0"/>
              <a:t>If some voltage is read, current is leaking from the battery.</a:t>
            </a:r>
          </a:p>
        </p:txBody>
      </p:sp>
    </p:spTree>
    <p:extLst>
      <p:ext uri="{BB962C8B-B14F-4D97-AF65-F5344CB8AC3E}">
        <p14:creationId xmlns:p14="http://schemas.microsoft.com/office/powerpoint/2010/main" val="24284790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2" name="Title 1">
            <a:extLst>
              <a:ext uri="{FF2B5EF4-FFF2-40B4-BE49-F238E27FC236}">
                <a16:creationId xmlns:a16="http://schemas.microsoft.com/office/drawing/2014/main" id="{D9DE660C-656D-CB34-7275-5BDE367AAFB4}"/>
              </a:ext>
            </a:extLst>
          </p:cNvPr>
          <p:cNvSpPr>
            <a:spLocks noGrp="1"/>
          </p:cNvSpPr>
          <p:nvPr>
            <p:ph type="title"/>
          </p:nvPr>
        </p:nvSpPr>
        <p:spPr/>
        <p:txBody>
          <a:bodyPr/>
          <a:lstStyle/>
          <a:p>
            <a:r>
              <a:rPr lang="en-US" dirty="0"/>
              <a:t>Servicing and Testing Batteries (2 of 4)</a:t>
            </a:r>
          </a:p>
        </p:txBody>
      </p:sp>
      <p:sp>
        <p:nvSpPr>
          <p:cNvPr id="3" name="Text Placeholder 2">
            <a:extLst>
              <a:ext uri="{FF2B5EF4-FFF2-40B4-BE49-F238E27FC236}">
                <a16:creationId xmlns:a16="http://schemas.microsoft.com/office/drawing/2014/main" id="{784439B5-6AD6-87F2-A1C8-DF8243490EE0}"/>
              </a:ext>
            </a:extLst>
          </p:cNvPr>
          <p:cNvSpPr>
            <a:spLocks noGrp="1"/>
          </p:cNvSpPr>
          <p:nvPr>
            <p:ph type="body" idx="1"/>
          </p:nvPr>
        </p:nvSpPr>
        <p:spPr>
          <a:xfrm>
            <a:off x="476843" y="1405004"/>
            <a:ext cx="7972213" cy="4673504"/>
          </a:xfrm>
        </p:spPr>
        <p:txBody>
          <a:bodyPr/>
          <a:lstStyle/>
          <a:p>
            <a:pPr>
              <a:spcAft>
                <a:spcPts val="400"/>
              </a:spcAft>
            </a:pPr>
            <a:r>
              <a:rPr lang="en-US" sz="1800" dirty="0"/>
              <a:t>Before removing the battery terminals or the battery, always neutralize any accumulated corrosion on the terminals and other metal parts. Apply a solution of baking soda and water or ammonia and water.</a:t>
            </a:r>
          </a:p>
          <a:p>
            <a:pPr>
              <a:spcAft>
                <a:spcPts val="400"/>
              </a:spcAft>
            </a:pPr>
            <a:r>
              <a:rPr lang="en-US" sz="1800" dirty="0"/>
              <a:t>Do not splash the solution or corrosion onto the vehicle’s paint, metal, or rubber parts, or onto your hands and face.</a:t>
            </a:r>
          </a:p>
          <a:p>
            <a:pPr>
              <a:spcAft>
                <a:spcPts val="400"/>
              </a:spcAft>
            </a:pPr>
            <a:r>
              <a:rPr lang="en-US" sz="1800" dirty="0"/>
              <a:t>Make sure the solution cannot enter the battery’s cells.</a:t>
            </a:r>
          </a:p>
          <a:p>
            <a:pPr>
              <a:spcAft>
                <a:spcPts val="400"/>
              </a:spcAft>
            </a:pPr>
            <a:r>
              <a:rPr lang="en-US" sz="1800" dirty="0"/>
              <a:t>A stiff-bristle brush is ideal for removing heavy buildup.</a:t>
            </a:r>
          </a:p>
          <a:p>
            <a:pPr>
              <a:spcAft>
                <a:spcPts val="400"/>
              </a:spcAft>
            </a:pPr>
            <a:r>
              <a:rPr lang="en-US" sz="1800" dirty="0"/>
              <a:t>Dirt and accumulated grease can be removed with a detergent solution or solvent. After cleaning, rinse the battery and terminals with clean water.</a:t>
            </a:r>
          </a:p>
          <a:p>
            <a:pPr>
              <a:spcAft>
                <a:spcPts val="400"/>
              </a:spcAft>
            </a:pPr>
            <a:r>
              <a:rPr lang="en-US" sz="1800" dirty="0"/>
              <a:t>Dry everything with a rag or low-pressure compressed air.</a:t>
            </a:r>
          </a:p>
          <a:p>
            <a:pPr>
              <a:spcAft>
                <a:spcPts val="400"/>
              </a:spcAft>
            </a:pPr>
            <a:r>
              <a:rPr lang="en-US" sz="1800" dirty="0"/>
              <a:t>To clean the inside surfaces of the battery terminals, remove the cables. Always begin with removing the ground cable first.</a:t>
            </a:r>
          </a:p>
        </p:txBody>
      </p:sp>
      <p:pic>
        <p:nvPicPr>
          <p:cNvPr id="6" name="Picture Placeholder 5" descr="A photo depicts a close-up view of a technician holding a brush dipped in a cleaning solution and rubbing it on the surface of the battery.">
            <a:extLst>
              <a:ext uri="{FF2B5EF4-FFF2-40B4-BE49-F238E27FC236}">
                <a16:creationId xmlns:a16="http://schemas.microsoft.com/office/drawing/2014/main" id="{A68AD3D4-F2D4-4FFC-BCEE-0EBD2F5D2521}"/>
              </a:ext>
            </a:extLst>
          </p:cNvPr>
          <p:cNvPicPr>
            <a:picLocks noGrp="1" noChangeAspect="1"/>
          </p:cNvPicPr>
          <p:nvPr>
            <p:ph type="pic" sz="quarter" idx="10"/>
          </p:nvPr>
        </p:nvPicPr>
        <p:blipFill>
          <a:blip r:embed="rId3"/>
          <a:srcRect b="10316"/>
          <a:stretch/>
        </p:blipFill>
        <p:spPr>
          <a:xfrm>
            <a:off x="8351331" y="2180395"/>
            <a:ext cx="3546353" cy="3069699"/>
          </a:xfrm>
          <a:prstGeom prst="rect">
            <a:avLst/>
          </a:prstGeom>
        </p:spPr>
      </p:pic>
    </p:spTree>
    <p:extLst>
      <p:ext uri="{BB962C8B-B14F-4D97-AF65-F5344CB8AC3E}">
        <p14:creationId xmlns:p14="http://schemas.microsoft.com/office/powerpoint/2010/main" val="18987290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Servicing and Testing Batteries (3 of 4)</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p:txBody>
          <a:bodyPr/>
          <a:lstStyle/>
          <a:p>
            <a:pPr>
              <a:spcAft>
                <a:spcPts val="600"/>
              </a:spcAft>
            </a:pPr>
            <a:r>
              <a:rPr lang="en-US" sz="1800" dirty="0"/>
              <a:t>While not as common with modern starting batteries, batteries with removable vent caps should have the specific gravity of the electrolyte checked using a hydrometer.</a:t>
            </a:r>
          </a:p>
          <a:p>
            <a:pPr>
              <a:spcAft>
                <a:spcPts val="600"/>
              </a:spcAft>
            </a:pPr>
            <a:r>
              <a:rPr lang="en-US" sz="1800" dirty="0"/>
              <a:t>The electrolyte of a fully charged battery is usually about 64 percent water and 36 percent sulfuric acid.</a:t>
            </a:r>
          </a:p>
          <a:p>
            <a:pPr>
              <a:spcAft>
                <a:spcPts val="600"/>
              </a:spcAft>
            </a:pPr>
            <a:r>
              <a:rPr lang="en-US" sz="1800" dirty="0"/>
              <a:t>This corresponds to a specific gravity of 1.270. Pure water has a specific gravity of 1.000, whereas battery electrolyte should have a specific gravity of 1.260 to 1.280 at 80 °F (26.7 °C).</a:t>
            </a:r>
          </a:p>
          <a:p>
            <a:pPr>
              <a:spcAft>
                <a:spcPts val="600"/>
              </a:spcAft>
            </a:pPr>
            <a:r>
              <a:rPr lang="en-US" sz="1800" dirty="0"/>
              <a:t>The specific gravity of the electrolyte decreases as the battery discharges. This is why measuring the specific gravity of the electrolyte can be a good indicator of how much charge a battery has lost.</a:t>
            </a:r>
          </a:p>
          <a:p>
            <a:pPr>
              <a:spcAft>
                <a:spcPts val="600"/>
              </a:spcAft>
            </a:pPr>
            <a:r>
              <a:rPr lang="en-US" sz="1800" dirty="0"/>
              <a:t>The electrolyte’s specific gravity can be measured with a battery hydrometer that uses a glass float in a glass tube to measure the electrolyte’s specific gravity. When filled with the electrolyte, the float bobs in the electrolyte. The depth at which the float sinks indicates the electrolyte’s relative weight compared to water.</a:t>
            </a:r>
          </a:p>
        </p:txBody>
      </p:sp>
    </p:spTree>
    <p:extLst>
      <p:ext uri="{BB962C8B-B14F-4D97-AF65-F5344CB8AC3E}">
        <p14:creationId xmlns:p14="http://schemas.microsoft.com/office/powerpoint/2010/main" val="19054347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2" name="Title 1">
            <a:extLst>
              <a:ext uri="{FF2B5EF4-FFF2-40B4-BE49-F238E27FC236}">
                <a16:creationId xmlns:a16="http://schemas.microsoft.com/office/drawing/2014/main" id="{278417F9-C503-9D90-0B6C-5BAB28EDEBB3}"/>
              </a:ext>
            </a:extLst>
          </p:cNvPr>
          <p:cNvSpPr>
            <a:spLocks noGrp="1"/>
          </p:cNvSpPr>
          <p:nvPr>
            <p:ph type="title"/>
          </p:nvPr>
        </p:nvSpPr>
        <p:spPr/>
        <p:txBody>
          <a:bodyPr/>
          <a:lstStyle/>
          <a:p>
            <a:r>
              <a:rPr lang="en-US" dirty="0"/>
              <a:t>Servicing and Testing Batteries (4 of 4)</a:t>
            </a:r>
          </a:p>
        </p:txBody>
      </p:sp>
      <p:sp>
        <p:nvSpPr>
          <p:cNvPr id="3" name="Text Placeholder 2">
            <a:extLst>
              <a:ext uri="{FF2B5EF4-FFF2-40B4-BE49-F238E27FC236}">
                <a16:creationId xmlns:a16="http://schemas.microsoft.com/office/drawing/2014/main" id="{0D66718A-6F40-FC03-4455-4F74C70284EF}"/>
              </a:ext>
            </a:extLst>
          </p:cNvPr>
          <p:cNvSpPr>
            <a:spLocks noGrp="1"/>
          </p:cNvSpPr>
          <p:nvPr>
            <p:ph type="body" idx="1"/>
          </p:nvPr>
        </p:nvSpPr>
        <p:spPr>
          <a:xfrm>
            <a:off x="476844" y="1471264"/>
            <a:ext cx="7567226" cy="4734464"/>
          </a:xfrm>
        </p:spPr>
        <p:txBody>
          <a:bodyPr/>
          <a:lstStyle/>
          <a:p>
            <a:r>
              <a:rPr lang="en-US" sz="2000" dirty="0"/>
              <a:t>Battery capacitance testing is the more common method of testing currently.</a:t>
            </a:r>
          </a:p>
          <a:p>
            <a:r>
              <a:rPr lang="en-US" sz="2000" dirty="0"/>
              <a:t>The conductance test can be used to detect cell defects, shorts, normal aging, and open circuits, which can cause the battery to fail.</a:t>
            </a:r>
          </a:p>
          <a:p>
            <a:r>
              <a:rPr lang="en-US" sz="2000" dirty="0"/>
              <a:t>The tester measures the battery’s ability to conduct current which provides a reliable indication of a battery’s condition and is correlated to battery capacity.</a:t>
            </a:r>
          </a:p>
          <a:p>
            <a:r>
              <a:rPr lang="en-US" sz="2000" dirty="0"/>
              <a:t>A </a:t>
            </a:r>
            <a:r>
              <a:rPr lang="en-US" sz="2000" b="1" dirty="0"/>
              <a:t>capacitance</a:t>
            </a:r>
            <a:r>
              <a:rPr lang="en-US" sz="2000" dirty="0"/>
              <a:t> </a:t>
            </a:r>
            <a:r>
              <a:rPr lang="en-US" sz="2000" b="1" dirty="0"/>
              <a:t>test</a:t>
            </a:r>
            <a:r>
              <a:rPr lang="en-US" sz="2000" dirty="0"/>
              <a:t> is the only test that will yield accurate measurements of a battery with low SOC.</a:t>
            </a:r>
          </a:p>
          <a:p>
            <a:r>
              <a:rPr lang="en-US" sz="2000" dirty="0"/>
              <a:t>The tester creates a small signal that is sent through the battery and measures a portion of the AC response.</a:t>
            </a:r>
          </a:p>
        </p:txBody>
      </p:sp>
      <p:pic>
        <p:nvPicPr>
          <p:cNvPr id="6" name="Picture Placeholder 5" descr="A photo depicts a close-up view of a technician using a conductance battery tester to test the car battery.">
            <a:extLst>
              <a:ext uri="{FF2B5EF4-FFF2-40B4-BE49-F238E27FC236}">
                <a16:creationId xmlns:a16="http://schemas.microsoft.com/office/drawing/2014/main" id="{A755075D-FF7F-C4A1-7116-6CAC8BFDDE6A}"/>
              </a:ext>
            </a:extLst>
          </p:cNvPr>
          <p:cNvPicPr>
            <a:picLocks noGrp="1" noChangeAspect="1"/>
          </p:cNvPicPr>
          <p:nvPr>
            <p:ph type="pic" sz="quarter" idx="10"/>
          </p:nvPr>
        </p:nvPicPr>
        <p:blipFill>
          <a:blip r:embed="rId3"/>
          <a:srcRect b="8352"/>
          <a:stretch/>
        </p:blipFill>
        <p:spPr>
          <a:xfrm>
            <a:off x="7947719" y="2043554"/>
            <a:ext cx="4002371" cy="2713382"/>
          </a:xfrm>
          <a:prstGeom prst="rect">
            <a:avLst/>
          </a:prstGeom>
        </p:spPr>
      </p:pic>
    </p:spTree>
    <p:extLst>
      <p:ext uri="{BB962C8B-B14F-4D97-AF65-F5344CB8AC3E}">
        <p14:creationId xmlns:p14="http://schemas.microsoft.com/office/powerpoint/2010/main" val="22860603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2" name="Title 1">
            <a:extLst>
              <a:ext uri="{FF2B5EF4-FFF2-40B4-BE49-F238E27FC236}">
                <a16:creationId xmlns:a16="http://schemas.microsoft.com/office/drawing/2014/main" id="{AAD65928-B3CD-18A0-6060-234651825B8D}"/>
              </a:ext>
            </a:extLst>
          </p:cNvPr>
          <p:cNvSpPr>
            <a:spLocks noGrp="1"/>
          </p:cNvSpPr>
          <p:nvPr>
            <p:ph type="title"/>
          </p:nvPr>
        </p:nvSpPr>
        <p:spPr/>
        <p:txBody>
          <a:bodyPr/>
          <a:lstStyle/>
          <a:p>
            <a:r>
              <a:rPr lang="en-US" dirty="0"/>
              <a:t>Open Circuit Voltage Test</a:t>
            </a:r>
          </a:p>
        </p:txBody>
      </p:sp>
      <p:sp>
        <p:nvSpPr>
          <p:cNvPr id="3" name="Text Placeholder 2">
            <a:extLst>
              <a:ext uri="{FF2B5EF4-FFF2-40B4-BE49-F238E27FC236}">
                <a16:creationId xmlns:a16="http://schemas.microsoft.com/office/drawing/2014/main" id="{E6CD2E62-9721-52B9-AF9D-4F57E5512A41}"/>
              </a:ext>
            </a:extLst>
          </p:cNvPr>
          <p:cNvSpPr>
            <a:spLocks noGrp="1"/>
          </p:cNvSpPr>
          <p:nvPr>
            <p:ph type="body" idx="1"/>
          </p:nvPr>
        </p:nvSpPr>
        <p:spPr>
          <a:xfrm>
            <a:off x="476843" y="1471264"/>
            <a:ext cx="6996853" cy="4624736"/>
          </a:xfrm>
        </p:spPr>
        <p:txBody>
          <a:bodyPr/>
          <a:lstStyle/>
          <a:p>
            <a:r>
              <a:rPr lang="en-US" sz="1800" dirty="0"/>
              <a:t>An open circuit voltage check measures the voltage output of a battery without a load.</a:t>
            </a:r>
          </a:p>
          <a:p>
            <a:r>
              <a:rPr lang="en-US" sz="1800" dirty="0"/>
              <a:t>As the battery is charged or discharged, slight changes occur in the battery’s voltage.</a:t>
            </a:r>
          </a:p>
          <a:p>
            <a:r>
              <a:rPr lang="en-US" sz="1800" dirty="0"/>
              <a:t>Therefore, battery voltage with no load can give an indication of the SOC.</a:t>
            </a:r>
          </a:p>
          <a:p>
            <a:r>
              <a:rPr lang="en-US" sz="1800" dirty="0"/>
              <a:t>To check a battery’s open voltage, the temperature should be between 60 °F and 100 °F (15.6 °C and 37.8 °C).</a:t>
            </a:r>
          </a:p>
          <a:p>
            <a:r>
              <a:rPr lang="en-US" sz="1800" dirty="0"/>
              <a:t>A fully charged 12-volt battery should have a terminal voltage of 12.6 volts. However, sealed AGM and other gel cell batteries may have a slightly higher voltage.</a:t>
            </a:r>
          </a:p>
          <a:p>
            <a:r>
              <a:rPr lang="en-US" sz="1800" dirty="0"/>
              <a:t>If the test indicates an SOC below 75 percent, recharge the battery and perform the capacity test to determine battery condition.</a:t>
            </a:r>
          </a:p>
        </p:txBody>
      </p:sp>
      <p:pic>
        <p:nvPicPr>
          <p:cNvPr id="6" name="Picture Placeholder 5" descr="A photo depicts a voltmeter connected to a battery. The red and black leads of the voltmeter are connected to the corresponding charge in the battery. The reading in the voltmeter shows 12.42.">
            <a:extLst>
              <a:ext uri="{FF2B5EF4-FFF2-40B4-BE49-F238E27FC236}">
                <a16:creationId xmlns:a16="http://schemas.microsoft.com/office/drawing/2014/main" id="{D071DF93-FD84-0CCB-ED8B-8AB532CE33EF}"/>
              </a:ext>
            </a:extLst>
          </p:cNvPr>
          <p:cNvPicPr>
            <a:picLocks noGrp="1" noChangeAspect="1"/>
          </p:cNvPicPr>
          <p:nvPr>
            <p:ph type="pic" sz="quarter" idx="10"/>
          </p:nvPr>
        </p:nvPicPr>
        <p:blipFill>
          <a:blip r:embed="rId3"/>
          <a:srcRect b="13386"/>
          <a:stretch/>
        </p:blipFill>
        <p:spPr>
          <a:xfrm>
            <a:off x="7474964" y="2050583"/>
            <a:ext cx="4360392" cy="2798819"/>
          </a:xfrm>
          <a:prstGeom prst="rect">
            <a:avLst/>
          </a:prstGeom>
        </p:spPr>
      </p:pic>
    </p:spTree>
    <p:extLst>
      <p:ext uri="{BB962C8B-B14F-4D97-AF65-F5344CB8AC3E}">
        <p14:creationId xmlns:p14="http://schemas.microsoft.com/office/powerpoint/2010/main" val="17086601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Battery Load Test</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a:xfrm>
            <a:off x="476843" y="1471264"/>
            <a:ext cx="7582069" cy="4673504"/>
          </a:xfrm>
        </p:spPr>
        <p:txBody>
          <a:bodyPr/>
          <a:lstStyle/>
          <a:p>
            <a:r>
              <a:rPr lang="en-US" sz="2000" dirty="0"/>
              <a:t>The capacity or </a:t>
            </a:r>
            <a:r>
              <a:rPr lang="en-US" sz="2000" b="1" dirty="0"/>
              <a:t>load test </a:t>
            </a:r>
            <a:r>
              <a:rPr lang="en-US" sz="2000" dirty="0"/>
              <a:t>determines how well a battery will perform under a load.</a:t>
            </a:r>
          </a:p>
          <a:p>
            <a:r>
              <a:rPr lang="en-US" sz="2000" dirty="0"/>
              <a:t>A battery load tester or a volt/ampere tester (VAT) is used for this test.</a:t>
            </a:r>
          </a:p>
          <a:p>
            <a:r>
              <a:rPr lang="en-US" sz="2000" dirty="0"/>
              <a:t>A VAT can be used to test batteries, starting systems, and charging systems. These testers have a voltmeter, an ammeter, and a carbon pile.</a:t>
            </a:r>
          </a:p>
          <a:p>
            <a:r>
              <a:rPr lang="en-US" sz="2000" dirty="0"/>
              <a:t>The carbon pile is a variable resistor. When the tester is attached to the battery and operated, the carbon pile draws current from the battery. The ammeter reads the amount of current draw. The maximum current draw from the battery, with acceptable voltage, is compared to the rating of the battery. Some battery load testers and VATs automatically adjust the load or carbon pile.</a:t>
            </a:r>
          </a:p>
        </p:txBody>
      </p:sp>
      <p:pic>
        <p:nvPicPr>
          <p:cNvPr id="3" name="Picture Placeholder 2" descr="A battery load tester with a display for voltmeter, ammeter, and carbon pile readings with negative and positive terminals connected.">
            <a:extLst>
              <a:ext uri="{FF2B5EF4-FFF2-40B4-BE49-F238E27FC236}">
                <a16:creationId xmlns:a16="http://schemas.microsoft.com/office/drawing/2014/main" id="{42C3D788-BABE-3B93-EB00-77CD47D4472D}"/>
              </a:ext>
            </a:extLst>
          </p:cNvPr>
          <p:cNvPicPr>
            <a:picLocks noGrp="1" noChangeAspect="1"/>
          </p:cNvPicPr>
          <p:nvPr>
            <p:ph type="pic" sz="quarter" idx="10"/>
          </p:nvPr>
        </p:nvPicPr>
        <p:blipFill>
          <a:blip r:embed="rId3"/>
          <a:srcRect b="5820"/>
          <a:stretch/>
        </p:blipFill>
        <p:spPr>
          <a:xfrm>
            <a:off x="8296684" y="1524273"/>
            <a:ext cx="3435835" cy="4105966"/>
          </a:xfrm>
          <a:prstGeom prst="rect">
            <a:avLst/>
          </a:prstGeom>
        </p:spPr>
      </p:pic>
    </p:spTree>
    <p:extLst>
      <p:ext uri="{BB962C8B-B14F-4D97-AF65-F5344CB8AC3E}">
        <p14:creationId xmlns:p14="http://schemas.microsoft.com/office/powerpoint/2010/main" val="3938371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Three-Minute Charge Test</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p:txBody>
          <a:bodyPr/>
          <a:lstStyle/>
          <a:p>
            <a:r>
              <a:rPr lang="en-US" sz="1800" dirty="0"/>
              <a:t>The 3-minute charge test, also called a battery sulfation test, is used to determine if a traditional lead-acid battery has sulfated plates.</a:t>
            </a:r>
          </a:p>
          <a:p>
            <a:r>
              <a:rPr lang="en-US" sz="1800" dirty="0"/>
              <a:t>Do not use the 3-minute charge test on AGM batteries as the voltage and current supplied can damage or destroy the batteries.</a:t>
            </a:r>
          </a:p>
          <a:p>
            <a:r>
              <a:rPr lang="en-US" sz="1800" dirty="0"/>
              <a:t>Sulfation interferes with the battery’s ability to accept a charge and to deliver current.</a:t>
            </a:r>
          </a:p>
          <a:p>
            <a:r>
              <a:rPr lang="en-US" sz="1800" dirty="0"/>
              <a:t>This may be due to a generator problem, excessive voltage drop in the charging circuit or battery cables, or insufficient generator belt tension.</a:t>
            </a:r>
          </a:p>
          <a:p>
            <a:r>
              <a:rPr lang="en-US" sz="1800" dirty="0"/>
              <a:t>A parasitic draw that discharges the battery can also be battery sulfation.</a:t>
            </a:r>
          </a:p>
          <a:p>
            <a:r>
              <a:rPr lang="en-US" sz="1800" dirty="0"/>
              <a:t>To perform this test:</a:t>
            </a:r>
          </a:p>
          <a:p>
            <a:pPr lvl="1"/>
            <a:r>
              <a:rPr lang="en-US" sz="1600" dirty="0"/>
              <a:t>Disconnect the negative battery cable if the battery is installed in the vehicle.</a:t>
            </a:r>
          </a:p>
          <a:p>
            <a:pPr lvl="1"/>
            <a:r>
              <a:rPr lang="en-US" sz="1600" dirty="0"/>
              <a:t>Connect a battery charger and set the charging rate of 30 to 40 amps.</a:t>
            </a:r>
          </a:p>
          <a:p>
            <a:pPr lvl="1"/>
            <a:r>
              <a:rPr lang="en-US" sz="1600" dirty="0"/>
              <a:t>Use a voltmeter to monitor battery voltage during the charge.</a:t>
            </a:r>
          </a:p>
          <a:p>
            <a:pPr lvl="1"/>
            <a:r>
              <a:rPr lang="en-US" sz="1600" dirty="0"/>
              <a:t>At the end of the 3 minutes, with the charger still set on 30 to 40 amps, note the battery voltage.</a:t>
            </a:r>
          </a:p>
          <a:p>
            <a:pPr lvl="1"/>
            <a:r>
              <a:rPr lang="en-US" sz="1600" dirty="0"/>
              <a:t>Voltage should not exceed 15.5 volts.</a:t>
            </a:r>
          </a:p>
        </p:txBody>
      </p:sp>
    </p:spTree>
    <p:extLst>
      <p:ext uri="{BB962C8B-B14F-4D97-AF65-F5344CB8AC3E}">
        <p14:creationId xmlns:p14="http://schemas.microsoft.com/office/powerpoint/2010/main" val="5292952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2" name="Title 1">
            <a:extLst>
              <a:ext uri="{FF2B5EF4-FFF2-40B4-BE49-F238E27FC236}">
                <a16:creationId xmlns:a16="http://schemas.microsoft.com/office/drawing/2014/main" id="{EFD1FE9D-8F3C-BAAD-B417-AEE3976E0A1C}"/>
              </a:ext>
            </a:extLst>
          </p:cNvPr>
          <p:cNvSpPr>
            <a:spLocks noGrp="1"/>
          </p:cNvSpPr>
          <p:nvPr>
            <p:ph type="title"/>
          </p:nvPr>
        </p:nvSpPr>
        <p:spPr/>
        <p:txBody>
          <a:bodyPr/>
          <a:lstStyle/>
          <a:p>
            <a:r>
              <a:rPr lang="en-US" dirty="0"/>
              <a:t>Battery Capacitance Test</a:t>
            </a:r>
          </a:p>
        </p:txBody>
      </p:sp>
      <p:sp>
        <p:nvSpPr>
          <p:cNvPr id="3" name="Text Placeholder 2">
            <a:extLst>
              <a:ext uri="{FF2B5EF4-FFF2-40B4-BE49-F238E27FC236}">
                <a16:creationId xmlns:a16="http://schemas.microsoft.com/office/drawing/2014/main" id="{4FD11ACA-3525-0A00-1B66-6B8F7A5432B0}"/>
              </a:ext>
            </a:extLst>
          </p:cNvPr>
          <p:cNvSpPr>
            <a:spLocks noGrp="1"/>
          </p:cNvSpPr>
          <p:nvPr>
            <p:ph type="body" idx="1"/>
          </p:nvPr>
        </p:nvSpPr>
        <p:spPr>
          <a:xfrm>
            <a:off x="476843" y="1471264"/>
            <a:ext cx="7691797" cy="4685696"/>
          </a:xfrm>
        </p:spPr>
        <p:txBody>
          <a:bodyPr/>
          <a:lstStyle/>
          <a:p>
            <a:pPr>
              <a:spcAft>
                <a:spcPts val="600"/>
              </a:spcAft>
            </a:pPr>
            <a:r>
              <a:rPr lang="en-US" sz="1800" dirty="0"/>
              <a:t>A fully charged new battery will have a high conductance reading anywhere from 110 percent to 140 percent of its CCA rating.</a:t>
            </a:r>
          </a:p>
          <a:p>
            <a:pPr>
              <a:spcAft>
                <a:spcPts val="600"/>
              </a:spcAft>
            </a:pPr>
            <a:r>
              <a:rPr lang="en-US" sz="1800" dirty="0"/>
              <a:t>As a battery ages, the plate surface can sulfate or shed active material, which will lower its capacity and conductance.</a:t>
            </a:r>
          </a:p>
          <a:p>
            <a:pPr>
              <a:spcAft>
                <a:spcPts val="600"/>
              </a:spcAft>
            </a:pPr>
            <a:r>
              <a:rPr lang="en-US" sz="1800" dirty="0"/>
              <a:t>When a battery has lost a significant percentage of its cranking ability, the conductance reading will fall well below its rating and indicate that the battery should be replaced.</a:t>
            </a:r>
          </a:p>
          <a:p>
            <a:pPr>
              <a:spcAft>
                <a:spcPts val="600"/>
              </a:spcAft>
            </a:pPr>
            <a:r>
              <a:rPr lang="en-US" sz="1800" dirty="0"/>
              <a:t>Many conductance testers display a code when the test is completed. Identify what the code indicates before taking any action in response to the results.</a:t>
            </a:r>
          </a:p>
          <a:p>
            <a:pPr>
              <a:spcAft>
                <a:spcPts val="600"/>
              </a:spcAft>
            </a:pPr>
            <a:r>
              <a:rPr lang="en-US" sz="1800" dirty="0"/>
              <a:t>If the battery being tested is under warranty, the tester may produce a unique battery test code which is used for completing the warranty claim.</a:t>
            </a:r>
          </a:p>
        </p:txBody>
      </p:sp>
      <p:pic>
        <p:nvPicPr>
          <p:cNvPr id="6" name="Picture Placeholder 5" descr="A photo depicts a close-up view of a technician using a conductance battery tester to test the car battery.">
            <a:extLst>
              <a:ext uri="{FF2B5EF4-FFF2-40B4-BE49-F238E27FC236}">
                <a16:creationId xmlns:a16="http://schemas.microsoft.com/office/drawing/2014/main" id="{90D6A85E-8736-5605-FD08-15FF3EE8B25D}"/>
              </a:ext>
            </a:extLst>
          </p:cNvPr>
          <p:cNvPicPr>
            <a:picLocks noGrp="1" noChangeAspect="1"/>
          </p:cNvPicPr>
          <p:nvPr>
            <p:ph type="pic" sz="quarter" idx="10"/>
          </p:nvPr>
        </p:nvPicPr>
        <p:blipFill>
          <a:blip r:embed="rId3"/>
          <a:srcRect b="10417"/>
          <a:stretch/>
        </p:blipFill>
        <p:spPr>
          <a:xfrm>
            <a:off x="8253301" y="2312674"/>
            <a:ext cx="3727474" cy="2475083"/>
          </a:xfrm>
          <a:prstGeom prst="rect">
            <a:avLst/>
          </a:prstGeom>
        </p:spPr>
      </p:pic>
    </p:spTree>
    <p:extLst>
      <p:ext uri="{BB962C8B-B14F-4D97-AF65-F5344CB8AC3E}">
        <p14:creationId xmlns:p14="http://schemas.microsoft.com/office/powerpoint/2010/main" val="29812653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a:t>Knowledge Check (1 of 2)</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p:txBody>
          <a:bodyPr/>
          <a:lstStyle/>
          <a:p>
            <a:pPr marL="0" indent="0">
              <a:buNone/>
            </a:pPr>
            <a:r>
              <a:rPr lang="en-US" dirty="0"/>
              <a:t>What type of battery test and battery tester tests a battery under load?</a:t>
            </a:r>
          </a:p>
        </p:txBody>
      </p:sp>
    </p:spTree>
    <p:extLst>
      <p:ext uri="{BB962C8B-B14F-4D97-AF65-F5344CB8AC3E}">
        <p14:creationId xmlns:p14="http://schemas.microsoft.com/office/powerpoint/2010/main" val="328391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Knowledge </a:t>
            </a:r>
            <a:r>
              <a:rPr lang="en-US"/>
              <a:t>Check Answer (1 of 2)</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p:txBody>
          <a:bodyPr/>
          <a:lstStyle/>
          <a:p>
            <a:pPr>
              <a:spcAft>
                <a:spcPts val="600"/>
              </a:spcAft>
            </a:pPr>
            <a:r>
              <a:rPr lang="en-US" b="1" dirty="0"/>
              <a:t>Answer:</a:t>
            </a:r>
          </a:p>
          <a:p>
            <a:pPr>
              <a:spcAft>
                <a:spcPts val="600"/>
              </a:spcAft>
            </a:pPr>
            <a:r>
              <a:rPr lang="en-US" dirty="0"/>
              <a:t>A load test determines how well a battery will perform under a load.</a:t>
            </a:r>
          </a:p>
          <a:p>
            <a:pPr>
              <a:spcAft>
                <a:spcPts val="600"/>
              </a:spcAft>
            </a:pPr>
            <a:r>
              <a:rPr lang="en-US" dirty="0"/>
              <a:t>A battery load tester or a volt/ampere tester (VAT) is used for this test.</a:t>
            </a:r>
          </a:p>
        </p:txBody>
      </p:sp>
    </p:spTree>
    <p:extLst>
      <p:ext uri="{BB962C8B-B14F-4D97-AF65-F5344CB8AC3E}">
        <p14:creationId xmlns:p14="http://schemas.microsoft.com/office/powerpoint/2010/main" val="38557111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2" name="Title 1">
            <a:extLst>
              <a:ext uri="{FF2B5EF4-FFF2-40B4-BE49-F238E27FC236}">
                <a16:creationId xmlns:a16="http://schemas.microsoft.com/office/drawing/2014/main" id="{7B8EA168-4882-57BC-0587-7CBCEBD49C6D}"/>
              </a:ext>
            </a:extLst>
          </p:cNvPr>
          <p:cNvSpPr>
            <a:spLocks noGrp="1"/>
          </p:cNvSpPr>
          <p:nvPr>
            <p:ph type="title"/>
          </p:nvPr>
        </p:nvSpPr>
        <p:spPr/>
        <p:txBody>
          <a:bodyPr/>
          <a:lstStyle/>
          <a:p>
            <a:r>
              <a:rPr lang="en-US" dirty="0"/>
              <a:t>Battery Drains</a:t>
            </a:r>
          </a:p>
        </p:txBody>
      </p:sp>
      <p:sp>
        <p:nvSpPr>
          <p:cNvPr id="3" name="Text Placeholder 2">
            <a:extLst>
              <a:ext uri="{FF2B5EF4-FFF2-40B4-BE49-F238E27FC236}">
                <a16:creationId xmlns:a16="http://schemas.microsoft.com/office/drawing/2014/main" id="{572AC1A2-EFD3-268A-E9EB-785F529F7CCE}"/>
              </a:ext>
            </a:extLst>
          </p:cNvPr>
          <p:cNvSpPr>
            <a:spLocks noGrp="1"/>
          </p:cNvSpPr>
          <p:nvPr>
            <p:ph type="body" idx="1"/>
          </p:nvPr>
        </p:nvSpPr>
        <p:spPr>
          <a:xfrm>
            <a:off x="476843" y="1471264"/>
            <a:ext cx="8020981" cy="4600352"/>
          </a:xfrm>
        </p:spPr>
        <p:txBody>
          <a:bodyPr/>
          <a:lstStyle/>
          <a:p>
            <a:pPr>
              <a:spcAft>
                <a:spcPts val="600"/>
              </a:spcAft>
            </a:pPr>
            <a:r>
              <a:rPr lang="en-US" sz="1800" dirty="0"/>
              <a:t>Many of today’s vehicles have parasitic loads.</a:t>
            </a:r>
          </a:p>
          <a:p>
            <a:pPr>
              <a:spcAft>
                <a:spcPts val="600"/>
              </a:spcAft>
            </a:pPr>
            <a:r>
              <a:rPr lang="en-US" sz="1800" dirty="0"/>
              <a:t>Parasitic loads are current drains that exist when the key is off. </a:t>
            </a:r>
          </a:p>
          <a:p>
            <a:pPr>
              <a:spcAft>
                <a:spcPts val="600"/>
              </a:spcAft>
            </a:pPr>
            <a:r>
              <a:rPr lang="en-US" sz="1800" dirty="0"/>
              <a:t>This drain is caused by systems that operate when the engine is not running.</a:t>
            </a:r>
          </a:p>
          <a:p>
            <a:pPr>
              <a:spcAft>
                <a:spcPts val="600"/>
              </a:spcAft>
            </a:pPr>
            <a:r>
              <a:rPr lang="en-US" sz="1800" dirty="0"/>
              <a:t>A parasitic load is normal unless it exceeds specifications.</a:t>
            </a:r>
          </a:p>
          <a:p>
            <a:pPr>
              <a:spcAft>
                <a:spcPts val="600"/>
              </a:spcAft>
            </a:pPr>
            <a:r>
              <a:rPr lang="en-US" sz="1800" dirty="0"/>
              <a:t>These drains can cause a battery to lose its charge overnight or after a few days.</a:t>
            </a:r>
          </a:p>
          <a:p>
            <a:pPr>
              <a:spcAft>
                <a:spcPts val="600"/>
              </a:spcAft>
            </a:pPr>
            <a:r>
              <a:rPr lang="en-US" sz="1800" dirty="0"/>
              <a:t>The drains can also deplete the battery and cause various </a:t>
            </a:r>
            <a:r>
              <a:rPr lang="en-US" sz="1800" dirty="0" err="1"/>
              <a:t>driveability</a:t>
            </a:r>
            <a:r>
              <a:rPr lang="en-US" sz="1800" dirty="0"/>
              <a:t> problems.</a:t>
            </a:r>
          </a:p>
          <a:p>
            <a:pPr>
              <a:spcAft>
                <a:spcPts val="600"/>
              </a:spcAft>
            </a:pPr>
            <a:r>
              <a:rPr lang="en-US" sz="1800" dirty="0"/>
              <a:t>A constantly low battery will also have a shortened service life. </a:t>
            </a:r>
          </a:p>
          <a:p>
            <a:pPr>
              <a:spcAft>
                <a:spcPts val="600"/>
              </a:spcAft>
            </a:pPr>
            <a:r>
              <a:rPr lang="en-US" sz="1800" dirty="0"/>
              <a:t>A drain of 30 mA is normal for most. Excessive current drains are caused by problems, and they will run down a battery.</a:t>
            </a:r>
          </a:p>
        </p:txBody>
      </p:sp>
      <p:pic>
        <p:nvPicPr>
          <p:cNvPr id="6" name="Picture Placeholder 5" descr="An illustration depicts the leads of a voltmeter plugged into a terminal. The enlarged view of the terminal depicts a mini-fuse.">
            <a:extLst>
              <a:ext uri="{FF2B5EF4-FFF2-40B4-BE49-F238E27FC236}">
                <a16:creationId xmlns:a16="http://schemas.microsoft.com/office/drawing/2014/main" id="{965A2647-E734-59FD-E7C9-DFB399BC6126}"/>
              </a:ext>
            </a:extLst>
          </p:cNvPr>
          <p:cNvPicPr>
            <a:picLocks noGrp="1" noChangeAspect="1"/>
          </p:cNvPicPr>
          <p:nvPr>
            <p:ph type="pic" sz="quarter" idx="10"/>
          </p:nvPr>
        </p:nvPicPr>
        <p:blipFill>
          <a:blip r:embed="rId3"/>
          <a:srcRect b="6542"/>
          <a:stretch/>
        </p:blipFill>
        <p:spPr>
          <a:xfrm>
            <a:off x="8927023" y="1802499"/>
            <a:ext cx="2633849" cy="3786643"/>
          </a:xfrm>
          <a:prstGeom prst="rect">
            <a:avLst/>
          </a:prstGeom>
        </p:spPr>
      </p:pic>
    </p:spTree>
    <p:extLst>
      <p:ext uri="{BB962C8B-B14F-4D97-AF65-F5344CB8AC3E}">
        <p14:creationId xmlns:p14="http://schemas.microsoft.com/office/powerpoint/2010/main" val="30284167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HEV and EV 12-Volt Auxiliary Battery Testing</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p:txBody>
          <a:bodyPr/>
          <a:lstStyle/>
          <a:p>
            <a:pPr>
              <a:spcAft>
                <a:spcPts val="600"/>
              </a:spcAft>
            </a:pPr>
            <a:r>
              <a:rPr lang="en-US" dirty="0"/>
              <a:t>All HEVs and EVs still use a low-voltage (12 V to 16 V) battery to power up the electrical system.</a:t>
            </a:r>
          </a:p>
          <a:p>
            <a:pPr>
              <a:spcAft>
                <a:spcPts val="600"/>
              </a:spcAft>
            </a:pPr>
            <a:r>
              <a:rPr lang="en-US" dirty="0"/>
              <a:t>These batteries tend to be of smaller capacity, 300–400 CCAs, since they are not used to crank the engine.</a:t>
            </a:r>
          </a:p>
          <a:p>
            <a:pPr>
              <a:spcAft>
                <a:spcPts val="600"/>
              </a:spcAft>
            </a:pPr>
            <a:r>
              <a:rPr lang="en-US" dirty="0"/>
              <a:t>Most manufacturers recommend using a conductance tester on the auxiliary battery.</a:t>
            </a:r>
          </a:p>
          <a:p>
            <a:pPr>
              <a:spcAft>
                <a:spcPts val="600"/>
              </a:spcAft>
            </a:pPr>
            <a:r>
              <a:rPr lang="en-US" dirty="0"/>
              <a:t>Simply program the tester for the battery type, rating, and test.</a:t>
            </a:r>
          </a:p>
          <a:p>
            <a:pPr>
              <a:spcAft>
                <a:spcPts val="600"/>
              </a:spcAft>
            </a:pPr>
            <a:r>
              <a:rPr lang="en-US" dirty="0"/>
              <a:t>Replace the battery if it cannot supply the necessary voltage and current.</a:t>
            </a:r>
          </a:p>
        </p:txBody>
      </p:sp>
    </p:spTree>
    <p:extLst>
      <p:ext uri="{BB962C8B-B14F-4D97-AF65-F5344CB8AC3E}">
        <p14:creationId xmlns:p14="http://schemas.microsoft.com/office/powerpoint/2010/main" val="41695929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2" name="Title 1">
            <a:extLst>
              <a:ext uri="{FF2B5EF4-FFF2-40B4-BE49-F238E27FC236}">
                <a16:creationId xmlns:a16="http://schemas.microsoft.com/office/drawing/2014/main" id="{7CEFB976-7805-AFD6-C0B6-929C59135DC9}"/>
              </a:ext>
            </a:extLst>
          </p:cNvPr>
          <p:cNvSpPr>
            <a:spLocks noGrp="1"/>
          </p:cNvSpPr>
          <p:nvPr>
            <p:ph type="title"/>
          </p:nvPr>
        </p:nvSpPr>
        <p:spPr/>
        <p:txBody>
          <a:bodyPr/>
          <a:lstStyle/>
          <a:p>
            <a:r>
              <a:rPr lang="en-US" dirty="0"/>
              <a:t>Battery Cables</a:t>
            </a:r>
          </a:p>
        </p:txBody>
      </p:sp>
      <p:sp>
        <p:nvSpPr>
          <p:cNvPr id="3" name="Text Placeholder 2">
            <a:extLst>
              <a:ext uri="{FF2B5EF4-FFF2-40B4-BE49-F238E27FC236}">
                <a16:creationId xmlns:a16="http://schemas.microsoft.com/office/drawing/2014/main" id="{87D338E8-8126-12C7-1DB6-65BCF1462DAA}"/>
              </a:ext>
            </a:extLst>
          </p:cNvPr>
          <p:cNvSpPr>
            <a:spLocks noGrp="1"/>
          </p:cNvSpPr>
          <p:nvPr>
            <p:ph type="body" idx="1"/>
          </p:nvPr>
        </p:nvSpPr>
        <p:spPr>
          <a:xfrm>
            <a:off x="476843" y="1471264"/>
            <a:ext cx="7411381" cy="4600352"/>
          </a:xfrm>
        </p:spPr>
        <p:txBody>
          <a:bodyPr/>
          <a:lstStyle/>
          <a:p>
            <a:r>
              <a:rPr lang="en-US" sz="2000" dirty="0"/>
              <a:t>A battery’s performance is affected by its cables.</a:t>
            </a:r>
          </a:p>
          <a:p>
            <a:r>
              <a:rPr lang="en-US" sz="2000" dirty="0"/>
              <a:t>Poor connections and corrosion at the terminals and cable ends will cause voltage drops, which will reduce the available voltage at all of the vehicle’s systems.</a:t>
            </a:r>
          </a:p>
          <a:p>
            <a:r>
              <a:rPr lang="en-US" sz="2000" dirty="0"/>
              <a:t>The terminals may also be out of shape, loose, or damaged; these will cause excessive resistance.</a:t>
            </a:r>
          </a:p>
          <a:p>
            <a:r>
              <a:rPr lang="en-US" sz="2000" dirty="0"/>
              <a:t>All battery cables should be inspected and tested for excessive voltage drops.</a:t>
            </a:r>
          </a:p>
          <a:p>
            <a:r>
              <a:rPr lang="en-US" sz="2000" dirty="0"/>
              <a:t>During the inspection, heavily corroded terminals will be obvious, but corrosion can form a nearly invisible barrier between the battery terminals and cables.</a:t>
            </a:r>
          </a:p>
          <a:p>
            <a:r>
              <a:rPr lang="en-US" sz="2000" dirty="0"/>
              <a:t>This is why conducting a voltage drop test is preferred.</a:t>
            </a:r>
          </a:p>
        </p:txBody>
      </p:sp>
      <p:pic>
        <p:nvPicPr>
          <p:cNvPr id="6" name="Picture Placeholder 5" descr="A cable is connected to a heavily corroded battery terminal of the battery.">
            <a:extLst>
              <a:ext uri="{FF2B5EF4-FFF2-40B4-BE49-F238E27FC236}">
                <a16:creationId xmlns:a16="http://schemas.microsoft.com/office/drawing/2014/main" id="{88B3FDBB-CD4D-056C-3DD3-E64D752BC56A}"/>
              </a:ext>
            </a:extLst>
          </p:cNvPr>
          <p:cNvPicPr>
            <a:picLocks noGrp="1" noChangeAspect="1"/>
          </p:cNvPicPr>
          <p:nvPr>
            <p:ph type="pic" sz="quarter" idx="10"/>
          </p:nvPr>
        </p:nvPicPr>
        <p:blipFill>
          <a:blip r:embed="rId3"/>
          <a:srcRect b="15893"/>
          <a:stretch/>
        </p:blipFill>
        <p:spPr>
          <a:xfrm>
            <a:off x="7976723" y="1995550"/>
            <a:ext cx="4094253" cy="2771659"/>
          </a:xfrm>
          <a:prstGeom prst="rect">
            <a:avLst/>
          </a:prstGeom>
        </p:spPr>
      </p:pic>
    </p:spTree>
    <p:extLst>
      <p:ext uri="{BB962C8B-B14F-4D97-AF65-F5344CB8AC3E}">
        <p14:creationId xmlns:p14="http://schemas.microsoft.com/office/powerpoint/2010/main" val="386497798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Battery Chargers (1 of 2)</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p:txBody>
          <a:bodyPr/>
          <a:lstStyle/>
          <a:p>
            <a:pPr>
              <a:spcAft>
                <a:spcPts val="600"/>
              </a:spcAft>
            </a:pPr>
            <a:r>
              <a:rPr lang="en-US" sz="1800" dirty="0"/>
              <a:t>Constant voltage chargers provide a specific amount of voltage to the battery.</a:t>
            </a:r>
          </a:p>
          <a:p>
            <a:pPr>
              <a:spcAft>
                <a:spcPts val="600"/>
              </a:spcAft>
            </a:pPr>
            <a:r>
              <a:rPr lang="en-US" sz="1800" dirty="0"/>
              <a:t>The current varies with the voltage of the battery. When the potential difference between the charger’s voltage and the battery’s voltage is great, the current is high.</a:t>
            </a:r>
          </a:p>
          <a:p>
            <a:pPr>
              <a:spcAft>
                <a:spcPts val="600"/>
              </a:spcAft>
            </a:pPr>
            <a:r>
              <a:rPr lang="en-US" sz="1800" dirty="0"/>
              <a:t>As the battery charges, the charging current drops off. A constant current charger varies the voltage applied to the battery in order to maintain a constant current.</a:t>
            </a:r>
          </a:p>
          <a:p>
            <a:pPr>
              <a:spcAft>
                <a:spcPts val="600"/>
              </a:spcAft>
            </a:pPr>
            <a:r>
              <a:rPr lang="en-US" sz="1800" dirty="0"/>
              <a:t>There are many “smart” or “intelligent” battery chargers available which are designed to charge a battery in three basic steps: bulk, absorption, and float.</a:t>
            </a:r>
          </a:p>
          <a:p>
            <a:pPr lvl="1">
              <a:spcAft>
                <a:spcPts val="600"/>
              </a:spcAft>
            </a:pPr>
            <a:r>
              <a:rPr lang="en-US" sz="1600" dirty="0"/>
              <a:t>During bulk charging, current is sent to the battery at a maximum safe rate until the voltage reaches approximately 80 percent of its capacity.</a:t>
            </a:r>
          </a:p>
          <a:p>
            <a:pPr lvl="1">
              <a:spcAft>
                <a:spcPts val="600"/>
              </a:spcAft>
            </a:pPr>
            <a:r>
              <a:rPr lang="en-US" sz="1600" dirty="0"/>
              <a:t>Once the voltage reaches that level, the charger begins the absorption step. During this time, charging voltage is held constant while the current changes according to the battery’s voltage.</a:t>
            </a:r>
          </a:p>
          <a:p>
            <a:pPr lvl="1">
              <a:spcAft>
                <a:spcPts val="600"/>
              </a:spcAft>
            </a:pPr>
            <a:r>
              <a:rPr lang="en-US" sz="1600" dirty="0"/>
              <a:t>Once the battery is fully charged, the charger switches to the float step. During this step, the charger supplies a constant voltage that is slightly more than the battery’s voltage. This is a maintenance charge and is intended to keep a battery charged.</a:t>
            </a:r>
          </a:p>
        </p:txBody>
      </p:sp>
    </p:spTree>
    <p:extLst>
      <p:ext uri="{BB962C8B-B14F-4D97-AF65-F5344CB8AC3E}">
        <p14:creationId xmlns:p14="http://schemas.microsoft.com/office/powerpoint/2010/main" val="15233492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Battery Chargers (2 of 2)</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p:txBody>
          <a:bodyPr/>
          <a:lstStyle/>
          <a:p>
            <a:r>
              <a:rPr lang="en-US" sz="2000" b="1" dirty="0"/>
              <a:t>Fast charging </a:t>
            </a:r>
            <a:r>
              <a:rPr lang="en-US" sz="2000" dirty="0"/>
              <a:t>quickly charges a battery by supplying large amounts of voltage and current. Although the battery is charged quickly, it can also overheat and even explode it if it is not closely monitored.</a:t>
            </a:r>
          </a:p>
          <a:p>
            <a:pPr lvl="1"/>
            <a:r>
              <a:rPr lang="en-US" sz="1800" dirty="0"/>
              <a:t>Batteries must be in good condition to accept a fast charge. Sulfation of the battery’s plates can lead to excessive gassing, boiling, and heat buildup during fast charging.</a:t>
            </a:r>
          </a:p>
          <a:p>
            <a:r>
              <a:rPr lang="en-US" sz="2000" dirty="0"/>
              <a:t>Slow or </a:t>
            </a:r>
            <a:r>
              <a:rPr lang="en-US" sz="2000" b="1" dirty="0"/>
              <a:t>trickle charging </a:t>
            </a:r>
            <a:r>
              <a:rPr lang="en-US" sz="2000" dirty="0"/>
              <a:t>applies low current to the battery.</a:t>
            </a:r>
          </a:p>
          <a:p>
            <a:pPr lvl="1"/>
            <a:r>
              <a:rPr lang="en-US" sz="1800" dirty="0"/>
              <a:t>Slow charging is slow and takes quite some time to fully charge a battery.</a:t>
            </a:r>
          </a:p>
          <a:p>
            <a:pPr lvl="1"/>
            <a:r>
              <a:rPr lang="en-US" sz="1800" dirty="0"/>
              <a:t>However, since low current is applied to the battery, it is unlikely that the battery will overheat.</a:t>
            </a:r>
          </a:p>
          <a:p>
            <a:pPr lvl="1"/>
            <a:r>
              <a:rPr lang="en-US" sz="1800" dirty="0"/>
              <a:t>Slow charging is the only safe way to charge sulfated batteries. The type of battery should always be considered before fast charging or slow charging a battery.</a:t>
            </a:r>
          </a:p>
          <a:p>
            <a:pPr lvl="1"/>
            <a:r>
              <a:rPr lang="en-US" sz="1800" dirty="0"/>
              <a:t>Always charge a battery in a well-ventilated area away from sparks and open flames.</a:t>
            </a:r>
          </a:p>
          <a:p>
            <a:pPr lvl="1"/>
            <a:r>
              <a:rPr lang="en-US" sz="1800" dirty="0"/>
              <a:t>The charger should be turned off before connecting or disconnecting the leads to the battery.</a:t>
            </a:r>
          </a:p>
        </p:txBody>
      </p:sp>
    </p:spTree>
    <p:extLst>
      <p:ext uri="{BB962C8B-B14F-4D97-AF65-F5344CB8AC3E}">
        <p14:creationId xmlns:p14="http://schemas.microsoft.com/office/powerpoint/2010/main" val="256316080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2" name="Title 1">
            <a:extLst>
              <a:ext uri="{FF2B5EF4-FFF2-40B4-BE49-F238E27FC236}">
                <a16:creationId xmlns:a16="http://schemas.microsoft.com/office/drawing/2014/main" id="{1D6849C3-427A-52C5-2422-10420A2B3816}"/>
              </a:ext>
            </a:extLst>
          </p:cNvPr>
          <p:cNvSpPr>
            <a:spLocks noGrp="1"/>
          </p:cNvSpPr>
          <p:nvPr>
            <p:ph type="title"/>
          </p:nvPr>
        </p:nvSpPr>
        <p:spPr/>
        <p:txBody>
          <a:bodyPr/>
          <a:lstStyle/>
          <a:p>
            <a:r>
              <a:rPr lang="en-US" dirty="0"/>
              <a:t>Jump-Starting</a:t>
            </a:r>
          </a:p>
        </p:txBody>
      </p:sp>
      <p:sp>
        <p:nvSpPr>
          <p:cNvPr id="3" name="Text Placeholder 2">
            <a:extLst>
              <a:ext uri="{FF2B5EF4-FFF2-40B4-BE49-F238E27FC236}">
                <a16:creationId xmlns:a16="http://schemas.microsoft.com/office/drawing/2014/main" id="{330724E6-E293-87CB-B2B0-07C6484F56EF}"/>
              </a:ext>
            </a:extLst>
          </p:cNvPr>
          <p:cNvSpPr>
            <a:spLocks noGrp="1"/>
          </p:cNvSpPr>
          <p:nvPr>
            <p:ph type="body" idx="1"/>
          </p:nvPr>
        </p:nvSpPr>
        <p:spPr>
          <a:xfrm>
            <a:off x="476843" y="1471264"/>
            <a:ext cx="7777141" cy="4673504"/>
          </a:xfrm>
        </p:spPr>
        <p:txBody>
          <a:bodyPr/>
          <a:lstStyle/>
          <a:p>
            <a:r>
              <a:rPr lang="en-US" sz="2000" dirty="0"/>
              <a:t>If the vehicle will not start, several things can be the cause. If the engine does not crank over, the battery may be discharged or dead.</a:t>
            </a:r>
          </a:p>
          <a:p>
            <a:r>
              <a:rPr lang="en-US" sz="2000" dirty="0"/>
              <a:t>If the dash or headlights dim severely or go out when trying to crank the engine, suspect the battery is discharged. If the lights do not come on at all, the battery may be completely dead or there may be a very poor battery connection.</a:t>
            </a:r>
          </a:p>
          <a:p>
            <a:r>
              <a:rPr lang="en-US" sz="2000" dirty="0"/>
              <a:t>Before attempting to jumpstart a vehicle, inspect the battery connections and if possible, measure battery voltage.</a:t>
            </a:r>
          </a:p>
          <a:p>
            <a:r>
              <a:rPr lang="en-US" sz="2000" dirty="0"/>
              <a:t>A discharged battery should be recharged with a battery charger instead of jump-started. It is not recommended that a vehicle be jump-started.</a:t>
            </a:r>
          </a:p>
        </p:txBody>
      </p:sp>
      <p:pic>
        <p:nvPicPr>
          <p:cNvPr id="6" name="Picture Placeholder 5" descr="A proper jumper cable connections and sequence for jump-starting a vehicle. The following parts are labeled along with sequence: Red positive -1; Weak battery - 2; Black (negative) - 3; Make last connection, 4, away from the battery. Two other labels Good battery and Weak battery are depicted in the illustration. Top-terminal batteries have with the following labels: Negative - smaller and positive - larger.">
            <a:extLst>
              <a:ext uri="{FF2B5EF4-FFF2-40B4-BE49-F238E27FC236}">
                <a16:creationId xmlns:a16="http://schemas.microsoft.com/office/drawing/2014/main" id="{47816441-3E42-3447-127A-4CE9713FAFAC}"/>
              </a:ext>
            </a:extLst>
          </p:cNvPr>
          <p:cNvPicPr>
            <a:picLocks noGrp="1" noChangeAspect="1"/>
          </p:cNvPicPr>
          <p:nvPr>
            <p:ph type="pic" sz="quarter" idx="10"/>
          </p:nvPr>
        </p:nvPicPr>
        <p:blipFill>
          <a:blip r:embed="rId3"/>
          <a:srcRect b="10124"/>
          <a:stretch/>
        </p:blipFill>
        <p:spPr>
          <a:xfrm>
            <a:off x="8334865" y="1753066"/>
            <a:ext cx="3711362" cy="3497028"/>
          </a:xfrm>
          <a:prstGeom prst="rect">
            <a:avLst/>
          </a:prstGeom>
        </p:spPr>
      </p:pic>
    </p:spTree>
    <p:extLst>
      <p:ext uri="{BB962C8B-B14F-4D97-AF65-F5344CB8AC3E}">
        <p14:creationId xmlns:p14="http://schemas.microsoft.com/office/powerpoint/2010/main" val="35042810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Replacing an HV Battery</a:t>
            </a:r>
            <a:endParaRPr dirty="0"/>
          </a:p>
        </p:txBody>
      </p:sp>
      <p:sp>
        <p:nvSpPr>
          <p:cNvPr id="2" name="Text Placeholder 1">
            <a:extLst>
              <a:ext uri="{FF2B5EF4-FFF2-40B4-BE49-F238E27FC236}">
                <a16:creationId xmlns:a16="http://schemas.microsoft.com/office/drawing/2014/main" id="{2D9E8B88-313E-B8D4-929D-CF8CD07726AA}"/>
              </a:ext>
            </a:extLst>
          </p:cNvPr>
          <p:cNvSpPr>
            <a:spLocks noGrp="1"/>
          </p:cNvSpPr>
          <p:nvPr>
            <p:ph type="body" idx="1"/>
          </p:nvPr>
        </p:nvSpPr>
        <p:spPr>
          <a:xfrm>
            <a:off x="476843" y="1126710"/>
            <a:ext cx="7129905" cy="4685696"/>
          </a:xfrm>
        </p:spPr>
        <p:txBody>
          <a:bodyPr/>
          <a:lstStyle/>
          <a:p>
            <a:r>
              <a:rPr lang="en-US" sz="2000" dirty="0"/>
              <a:t>Replacing HV battery pack should only be performed by a shop with the tools and equipment to safely and correctly perform the repair.</a:t>
            </a:r>
          </a:p>
          <a:p>
            <a:r>
              <a:rPr lang="en-US" sz="2000" dirty="0"/>
              <a:t>You should never attempt to service or replace high-voltage components without the proper training and equipment.</a:t>
            </a:r>
          </a:p>
          <a:p>
            <a:r>
              <a:rPr lang="en-US" sz="2000" dirty="0"/>
              <a:t>For HEVs such as the Prius, removing the HV battery pack requires disassembly of much of the rear interior space.</a:t>
            </a:r>
          </a:p>
          <a:p>
            <a:r>
              <a:rPr lang="en-US" sz="2000" dirty="0"/>
              <a:t>For most EVs, removing the battery requires special lifting equipment designed to safely support the weight and bulk of the battery pack.</a:t>
            </a:r>
          </a:p>
          <a:p>
            <a:r>
              <a:rPr lang="en-US" sz="2000" dirty="0"/>
              <a:t>Removing the pack will likely involve draining the battery cooling system and possibly discharging the A/C system.</a:t>
            </a:r>
          </a:p>
        </p:txBody>
      </p:sp>
      <p:pic>
        <p:nvPicPr>
          <p:cNvPr id="5" name="Picture Placeholder 4" descr="The rear interior space of a Prius H E V is disassembled to remove the High Voltage or H V battery pack.">
            <a:extLst>
              <a:ext uri="{FF2B5EF4-FFF2-40B4-BE49-F238E27FC236}">
                <a16:creationId xmlns:a16="http://schemas.microsoft.com/office/drawing/2014/main" id="{2558D3B4-7056-A216-DB80-E24D5B1C343C}"/>
              </a:ext>
            </a:extLst>
          </p:cNvPr>
          <p:cNvPicPr>
            <a:picLocks noGrp="1" noChangeAspect="1"/>
          </p:cNvPicPr>
          <p:nvPr>
            <p:ph type="pic" sz="quarter" idx="10"/>
          </p:nvPr>
        </p:nvPicPr>
        <p:blipFill>
          <a:blip r:embed="rId3"/>
          <a:srcRect b="12242"/>
          <a:stretch/>
        </p:blipFill>
        <p:spPr>
          <a:xfrm>
            <a:off x="7771083" y="1804739"/>
            <a:ext cx="4200068" cy="2972744"/>
          </a:xfrm>
          <a:prstGeom prst="rect">
            <a:avLst/>
          </a:prstGeom>
        </p:spPr>
      </p:pic>
    </p:spTree>
    <p:extLst>
      <p:ext uri="{BB962C8B-B14F-4D97-AF65-F5344CB8AC3E}">
        <p14:creationId xmlns:p14="http://schemas.microsoft.com/office/powerpoint/2010/main" val="5036690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Knowledge </a:t>
            </a:r>
            <a:r>
              <a:rPr lang="en-US"/>
              <a:t>Check (2 of 2)</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p:txBody>
          <a:bodyPr/>
          <a:lstStyle/>
          <a:p>
            <a:pPr>
              <a:spcAft>
                <a:spcPts val="600"/>
              </a:spcAft>
            </a:pPr>
            <a:r>
              <a:rPr lang="en-US" dirty="0"/>
              <a:t>Replacing HV battery pack should only be performed by a shop with the tools and equipment to safely and correctly perform the repair. Which two systems may need to be drained or emptied to perform an HV battery pack replacement?</a:t>
            </a:r>
          </a:p>
        </p:txBody>
      </p:sp>
    </p:spTree>
    <p:extLst>
      <p:ext uri="{BB962C8B-B14F-4D97-AF65-F5344CB8AC3E}">
        <p14:creationId xmlns:p14="http://schemas.microsoft.com/office/powerpoint/2010/main" val="33273128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Knowledge Check </a:t>
            </a:r>
            <a:r>
              <a:rPr lang="en-US"/>
              <a:t>Answer (2 of 2)</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p:txBody>
          <a:bodyPr/>
          <a:lstStyle/>
          <a:p>
            <a:pPr>
              <a:spcAft>
                <a:spcPts val="600"/>
              </a:spcAft>
            </a:pPr>
            <a:r>
              <a:rPr lang="en-US" dirty="0"/>
              <a:t>Removing the pack will likely involve draining the battery cooling system and possibly discharging the A/C system.</a:t>
            </a:r>
          </a:p>
        </p:txBody>
      </p:sp>
    </p:spTree>
    <p:extLst>
      <p:ext uri="{BB962C8B-B14F-4D97-AF65-F5344CB8AC3E}">
        <p14:creationId xmlns:p14="http://schemas.microsoft.com/office/powerpoint/2010/main" val="158791223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Chapter Reflection</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p:txBody>
          <a:bodyPr/>
          <a:lstStyle/>
          <a:p>
            <a:pPr marL="0" indent="0">
              <a:spcAft>
                <a:spcPts val="600"/>
              </a:spcAft>
              <a:buNone/>
            </a:pPr>
            <a:r>
              <a:rPr lang="en-US" dirty="0"/>
              <a:t>Please take a moment consider battery theory, diagnosis, and service. Then respond to the following questions in one or two paragraphs. Use 150–200 words in your reflection.</a:t>
            </a:r>
          </a:p>
          <a:p>
            <a:pPr>
              <a:spcAft>
                <a:spcPts val="600"/>
              </a:spcAft>
            </a:pPr>
            <a:r>
              <a:rPr lang="en-US" dirty="0"/>
              <a:t>Did anything in this chapter come at a complete surprise regarding batteries? Describe something new that you learned.</a:t>
            </a:r>
          </a:p>
          <a:p>
            <a:pPr>
              <a:spcAft>
                <a:spcPts val="600"/>
              </a:spcAft>
            </a:pPr>
            <a:r>
              <a:rPr lang="en-US" dirty="0"/>
              <a:t>Considering all you have learned, do you feel you are prepared to perform battery diagnosis and service in the shop environment? How can you better prepare?</a:t>
            </a:r>
          </a:p>
        </p:txBody>
      </p:sp>
    </p:spTree>
    <p:extLst>
      <p:ext uri="{BB962C8B-B14F-4D97-AF65-F5344CB8AC3E}">
        <p14:creationId xmlns:p14="http://schemas.microsoft.com/office/powerpoint/2010/main" val="263710415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ptimized Template Master">
  <a:themeElements>
    <a:clrScheme name="Cengage New">
      <a:dk1>
        <a:srgbClr val="282F7C"/>
      </a:dk1>
      <a:lt1>
        <a:srgbClr val="FFFFFF"/>
      </a:lt1>
      <a:dk2>
        <a:srgbClr val="3841B0"/>
      </a:dk2>
      <a:lt2>
        <a:srgbClr val="F5F5F5"/>
      </a:lt2>
      <a:accent1>
        <a:srgbClr val="282F7C"/>
      </a:accent1>
      <a:accent2>
        <a:srgbClr val="FEE349"/>
      </a:accent2>
      <a:accent3>
        <a:srgbClr val="CDDEFF"/>
      </a:accent3>
      <a:accent4>
        <a:srgbClr val="F5F5F5"/>
      </a:accent4>
      <a:accent5>
        <a:srgbClr val="A3A1A3"/>
      </a:accent5>
      <a:accent6>
        <a:srgbClr val="454545"/>
      </a:accent6>
      <a:hlink>
        <a:srgbClr val="3841B0"/>
      </a:hlink>
      <a:folHlink>
        <a:srgbClr val="6900B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5010</TotalTime>
  <Words>4933</Words>
  <Application>Microsoft Office PowerPoint</Application>
  <PresentationFormat>Widescreen</PresentationFormat>
  <Paragraphs>309</Paragraphs>
  <Slides>42</Slides>
  <Notes>42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42</vt:i4>
      </vt:variant>
    </vt:vector>
  </HeadingPairs>
  <TitlesOfParts>
    <vt:vector size="46" baseType="lpstr">
      <vt:lpstr>Work Sans</vt:lpstr>
      <vt:lpstr>Arial</vt:lpstr>
      <vt:lpstr>Calibri</vt:lpstr>
      <vt:lpstr>Optimized Template Master</vt:lpstr>
      <vt:lpstr>Automotive Technology:  A Systems Approach, 8e</vt:lpstr>
      <vt:lpstr>Chapter Objectives (1 of 2)  </vt:lpstr>
      <vt:lpstr>Chapter Objectives (2 of 2)</vt:lpstr>
      <vt:lpstr>Basic Battery Theory (1 of 3)</vt:lpstr>
      <vt:lpstr>Basic Battery Theory (2 of 3)</vt:lpstr>
      <vt:lpstr>Basic Battery Theory (3 of 3)</vt:lpstr>
      <vt:lpstr>Battery Hardware (1 of 2)</vt:lpstr>
      <vt:lpstr>Battery Hardware (2 of 2)</vt:lpstr>
      <vt:lpstr>Battery Recycling</vt:lpstr>
      <vt:lpstr>Battery Ratings (1 of 4)</vt:lpstr>
      <vt:lpstr>Battery Ratings (2 of 4)</vt:lpstr>
      <vt:lpstr>Battery Ratings (3 of 4)</vt:lpstr>
      <vt:lpstr>Battery Ratings (4 of 4)</vt:lpstr>
      <vt:lpstr>Discussion</vt:lpstr>
      <vt:lpstr>Common Types of Batteries</vt:lpstr>
      <vt:lpstr>Lead-Acid Batteries (1 of 2)</vt:lpstr>
      <vt:lpstr>Lead-Acid Batteries (2 of 2)</vt:lpstr>
      <vt:lpstr>Lead-Acid Battery Uses</vt:lpstr>
      <vt:lpstr>Recombination Batteries </vt:lpstr>
      <vt:lpstr>Lithium-Ion Batteries</vt:lpstr>
      <vt:lpstr>Factors Affecting Battery Life</vt:lpstr>
      <vt:lpstr>Inspection</vt:lpstr>
      <vt:lpstr>Servicing and Testing Batteries (1 of 4)</vt:lpstr>
      <vt:lpstr>Servicing and Testing Batteries (2 of 4)</vt:lpstr>
      <vt:lpstr>Servicing and Testing Batteries (3 of 4)</vt:lpstr>
      <vt:lpstr>Servicing and Testing Batteries (4 of 4)</vt:lpstr>
      <vt:lpstr>Open Circuit Voltage Test</vt:lpstr>
      <vt:lpstr>Battery Load Test</vt:lpstr>
      <vt:lpstr>Three-Minute Charge Test</vt:lpstr>
      <vt:lpstr>Battery Capacitance Test</vt:lpstr>
      <vt:lpstr>Knowledge Check (1 of 2)</vt:lpstr>
      <vt:lpstr>Knowledge Check Answer (1 of 2)</vt:lpstr>
      <vt:lpstr>Battery Drains</vt:lpstr>
      <vt:lpstr>HEV and EV 12-Volt Auxiliary Battery Testing</vt:lpstr>
      <vt:lpstr>Battery Cables</vt:lpstr>
      <vt:lpstr>Battery Chargers (1 of 2)</vt:lpstr>
      <vt:lpstr>Battery Chargers (2 of 2)</vt:lpstr>
      <vt:lpstr>Jump-Starting</vt:lpstr>
      <vt:lpstr>Replacing an HV Battery</vt:lpstr>
      <vt:lpstr>Knowledge Check (2 of 2)</vt:lpstr>
      <vt:lpstr>Knowledge Check Answer (2 of 2)</vt:lpstr>
      <vt:lpstr>Chapter Reflection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Automotive Technology:  A Systems Approach, 8e </dc:title>
  <dc:creator>Owner</dc:creator>
  <cp:lastModifiedBy>Muthukrishnan, Keerthi -</cp:lastModifiedBy>
  <cp:revision>219</cp:revision>
  <dcterms:created xsi:type="dcterms:W3CDTF">2021-12-10T16:21:02Z</dcterms:created>
  <dcterms:modified xsi:type="dcterms:W3CDTF">2024-10-18T15:12:17Z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0x010100DA72290BDFA7C44CB3A669C535D7775C</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y fmtid="{D5CDD505-2E9C-101B-9397-08002B2CF9AE}" pid="12" name="ArticulateGUID">
    <vt:lpwstr>DA3FD099-5DDC-49B7-BC70-6C2871AE2813</vt:lpwstr>
  </property>
  <property fmtid="{D5CDD505-2E9C-101B-9397-08002B2CF9AE}" pid="13" name="ArticulatePath">
    <vt:lpwstr>Presentation3</vt:lpwstr>
  </property>
  <property fmtid="{D5CDD505-2E9C-101B-9397-08002B2CF9AE}" pid="14" name="_ExtendedDescription">
    <vt:lpwstr/>
  </property>
  <property fmtid="{D5CDD505-2E9C-101B-9397-08002B2CF9AE}" pid="15" name="TriggerFlowInfo">
    <vt:lpwstr/>
  </property>
  <property fmtid="{D5CDD505-2E9C-101B-9397-08002B2CF9AE}" pid="16" name="Notes">
    <vt:lpwstr>Manage access: Not shared</vt:lpwstr>
  </property>
  <property fmtid="{D5CDD505-2E9C-101B-9397-08002B2CF9AE}" pid="17" name="Status">
    <vt:lpwstr>1. In development</vt:lpwstr>
  </property>
</Properties>
</file>