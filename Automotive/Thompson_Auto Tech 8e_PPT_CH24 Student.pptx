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350" r:id="rId2"/>
    <p:sldId id="257" r:id="rId3"/>
    <p:sldId id="551" r:id="rId4"/>
    <p:sldId id="668" r:id="rId5"/>
    <p:sldId id="461" r:id="rId6"/>
    <p:sldId id="669" r:id="rId7"/>
    <p:sldId id="670" r:id="rId8"/>
    <p:sldId id="671" r:id="rId9"/>
    <p:sldId id="673" r:id="rId10"/>
    <p:sldId id="672" r:id="rId11"/>
    <p:sldId id="674" r:id="rId12"/>
    <p:sldId id="675" r:id="rId13"/>
    <p:sldId id="676" r:id="rId14"/>
    <p:sldId id="677" r:id="rId15"/>
    <p:sldId id="678" r:id="rId16"/>
    <p:sldId id="680" r:id="rId17"/>
    <p:sldId id="679" r:id="rId18"/>
    <p:sldId id="681" r:id="rId19"/>
    <p:sldId id="683" r:id="rId20"/>
    <p:sldId id="284" r:id="rId21"/>
    <p:sldId id="285" r:id="rId22"/>
    <p:sldId id="682" r:id="rId23"/>
    <p:sldId id="684" r:id="rId24"/>
    <p:sldId id="687" r:id="rId25"/>
    <p:sldId id="686" r:id="rId26"/>
    <p:sldId id="688" r:id="rId27"/>
    <p:sldId id="276" r:id="rId28"/>
    <p:sldId id="690" r:id="rId29"/>
    <p:sldId id="691" r:id="rId30"/>
    <p:sldId id="692" r:id="rId31"/>
    <p:sldId id="693" r:id="rId32"/>
    <p:sldId id="694" r:id="rId33"/>
    <p:sldId id="695" r:id="rId34"/>
    <p:sldId id="697" r:id="rId35"/>
    <p:sldId id="698" r:id="rId36"/>
    <p:sldId id="700" r:id="rId37"/>
    <p:sldId id="699" r:id="rId38"/>
    <p:sldId id="293" r:id="rId39"/>
    <p:sldId id="294" r:id="rId40"/>
    <p:sldId id="301" r:id="rId41"/>
  </p:sldIdLst>
  <p:sldSz cx="12192000" cy="6858000"/>
  <p:notesSz cx="6858000" cy="9144000"/>
  <p:embeddedFontLst>
    <p:embeddedFont>
      <p:font typeface="Work Sans"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1" autoAdjust="0"/>
    <p:restoredTop sz="86364" autoAdjust="0"/>
  </p:normalViewPr>
  <p:slideViewPr>
    <p:cSldViewPr snapToGrid="0">
      <p:cViewPr varScale="1">
        <p:scale>
          <a:sx n="51" d="100"/>
          <a:sy n="51" d="100"/>
        </p:scale>
        <p:origin x="360" y="48"/>
      </p:cViewPr>
      <p:guideLst>
        <p:guide orient="horz" pos="2160"/>
        <p:guide pos="3840"/>
      </p:guideLst>
    </p:cSldViewPr>
  </p:slideViewPr>
  <p:outlineViewPr>
    <p:cViewPr>
      <p:scale>
        <a:sx n="33" d="100"/>
        <a:sy n="33" d="100"/>
      </p:scale>
      <p:origin x="0" y="-2746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4443579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3446199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1108048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dirty="0"/>
          </a:p>
        </p:txBody>
      </p:sp>
    </p:spTree>
    <p:extLst>
      <p:ext uri="{BB962C8B-B14F-4D97-AF65-F5344CB8AC3E}">
        <p14:creationId xmlns:p14="http://schemas.microsoft.com/office/powerpoint/2010/main" val="3508393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5394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174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3833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1300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1573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201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53491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9248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5237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3882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5121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3014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9080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1987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dirty="0"/>
          </a:p>
        </p:txBody>
      </p:sp>
    </p:spTree>
    <p:extLst>
      <p:ext uri="{BB962C8B-B14F-4D97-AF65-F5344CB8AC3E}">
        <p14:creationId xmlns:p14="http://schemas.microsoft.com/office/powerpoint/2010/main" val="954934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dirty="0"/>
          </a:p>
        </p:txBody>
      </p:sp>
    </p:spTree>
    <p:extLst>
      <p:ext uri="{BB962C8B-B14F-4D97-AF65-F5344CB8AC3E}">
        <p14:creationId xmlns:p14="http://schemas.microsoft.com/office/powerpoint/2010/main" val="2228497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9287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530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6915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6517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6810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dirty="0"/>
          </a:p>
        </p:txBody>
      </p:sp>
    </p:spTree>
    <p:extLst>
      <p:ext uri="{BB962C8B-B14F-4D97-AF65-F5344CB8AC3E}">
        <p14:creationId xmlns:p14="http://schemas.microsoft.com/office/powerpoint/2010/main" val="3401693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6211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1426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17438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93107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31174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73433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05609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3125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44335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14298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dirty="0"/>
          </a:p>
        </p:txBody>
      </p:sp>
    </p:spTree>
    <p:extLst>
      <p:ext uri="{BB962C8B-B14F-4D97-AF65-F5344CB8AC3E}">
        <p14:creationId xmlns:p14="http://schemas.microsoft.com/office/powerpoint/2010/main" val="5321813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extLst>
      <p:ext uri="{BB962C8B-B14F-4D97-AF65-F5344CB8AC3E}">
        <p14:creationId xmlns:p14="http://schemas.microsoft.com/office/powerpoint/2010/main" val="24332374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dirty="0"/>
          </a:p>
        </p:txBody>
      </p:sp>
    </p:spTree>
    <p:extLst>
      <p:ext uri="{BB962C8B-B14F-4D97-AF65-F5344CB8AC3E}">
        <p14:creationId xmlns:p14="http://schemas.microsoft.com/office/powerpoint/2010/main" val="185638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1740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1740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5"/>
            <a:ext cx="11241915" cy="253212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CE847103-D86E-1290-4E45-6077DB505EA0}"/>
              </a:ext>
            </a:extLst>
          </p:cNvPr>
          <p:cNvSpPr>
            <a:spLocks noGrp="1"/>
          </p:cNvSpPr>
          <p:nvPr>
            <p:ph sz="quarter" idx="10"/>
          </p:nvPr>
        </p:nvSpPr>
        <p:spPr>
          <a:xfrm>
            <a:off x="895350" y="44958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FF7F2F27-F881-8240-C862-3130D15CAE30}"/>
              </a:ext>
            </a:extLst>
          </p:cNvPr>
          <p:cNvSpPr>
            <a:spLocks noGrp="1"/>
          </p:cNvSpPr>
          <p:nvPr>
            <p:ph sz="quarter" idx="11"/>
          </p:nvPr>
        </p:nvSpPr>
        <p:spPr>
          <a:xfrm>
            <a:off x="2447925" y="44577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26CFEBD5-920C-74D8-67E6-03972BA68B3C}"/>
              </a:ext>
            </a:extLst>
          </p:cNvPr>
          <p:cNvSpPr>
            <a:spLocks noGrp="1"/>
          </p:cNvSpPr>
          <p:nvPr>
            <p:ph type="pic" sz="quarter" idx="12"/>
          </p:nvPr>
        </p:nvSpPr>
        <p:spPr>
          <a:xfrm>
            <a:off x="4352925" y="4381500"/>
            <a:ext cx="914400" cy="914400"/>
          </a:xfrm>
        </p:spPr>
        <p:txBody>
          <a:bodyPr/>
          <a:lstStyle/>
          <a:p>
            <a:endParaRPr lang="en-IN"/>
          </a:p>
        </p:txBody>
      </p:sp>
      <p:sp>
        <p:nvSpPr>
          <p:cNvPr id="9" name="Picture Placeholder 8">
            <a:extLst>
              <a:ext uri="{FF2B5EF4-FFF2-40B4-BE49-F238E27FC236}">
                <a16:creationId xmlns:a16="http://schemas.microsoft.com/office/drawing/2014/main" id="{DF2520E2-2F9C-93E1-8961-3733A4C01663}"/>
              </a:ext>
            </a:extLst>
          </p:cNvPr>
          <p:cNvSpPr>
            <a:spLocks noGrp="1"/>
          </p:cNvSpPr>
          <p:nvPr>
            <p:ph type="pic" sz="quarter" idx="13"/>
          </p:nvPr>
        </p:nvSpPr>
        <p:spPr>
          <a:xfrm>
            <a:off x="6162675" y="4495800"/>
            <a:ext cx="914400" cy="914400"/>
          </a:xfrm>
        </p:spPr>
        <p:txBody>
          <a:bodyPr/>
          <a:lstStyle/>
          <a:p>
            <a:endParaRPr lang="en-IN"/>
          </a:p>
        </p:txBody>
      </p:sp>
      <p:sp>
        <p:nvSpPr>
          <p:cNvPr id="11" name="Table Placeholder 10">
            <a:extLst>
              <a:ext uri="{FF2B5EF4-FFF2-40B4-BE49-F238E27FC236}">
                <a16:creationId xmlns:a16="http://schemas.microsoft.com/office/drawing/2014/main" id="{FBD2450F-F8B7-6A4F-F48F-3CE349D28758}"/>
              </a:ext>
            </a:extLst>
          </p:cNvPr>
          <p:cNvSpPr>
            <a:spLocks noGrp="1"/>
          </p:cNvSpPr>
          <p:nvPr>
            <p:ph type="tbl" sz="quarter" idx="14"/>
          </p:nvPr>
        </p:nvSpPr>
        <p:spPr>
          <a:xfrm>
            <a:off x="7810500" y="4495800"/>
            <a:ext cx="914400" cy="914400"/>
          </a:xfrm>
        </p:spPr>
        <p:txBody>
          <a:bodyPr/>
          <a:lstStyle/>
          <a:p>
            <a:endParaRPr lang="en-IN"/>
          </a:p>
        </p:txBody>
      </p:sp>
    </p:spTree>
    <p:extLst>
      <p:ext uri="{BB962C8B-B14F-4D97-AF65-F5344CB8AC3E}">
        <p14:creationId xmlns:p14="http://schemas.microsoft.com/office/powerpoint/2010/main" val="4198480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9119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FAD10596-3D8E-D7DD-04B0-D3330DCDED3B}"/>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24: Engine Performance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3)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dirty="0"/>
              <a:t>24.01 State the purpose of the major engine performance systems/components.</a:t>
            </a:r>
          </a:p>
          <a:p>
            <a:pPr marL="357188" marR="0" lvl="0" indent="-357188" algn="l" rtl="0">
              <a:buSzPts val="2800"/>
              <a:buChar char="•"/>
            </a:pPr>
            <a:r>
              <a:rPr lang="en-US" dirty="0"/>
              <a:t>24.02 Describe the purpose and operation of the ignition system. Explain how fuel injection systems operate. Describe the components and operation of the air induction system.</a:t>
            </a:r>
          </a:p>
          <a:p>
            <a:pPr marL="357188" marR="0" lvl="0" indent="-357188" algn="l" rtl="0">
              <a:buSzPts val="2800"/>
              <a:buChar char="•"/>
            </a:pPr>
            <a:r>
              <a:rPr lang="en-US" dirty="0"/>
              <a:t>24.03 Explain the purpose of the emission control system.</a:t>
            </a:r>
          </a:p>
          <a:p>
            <a:pPr marL="357188" marR="0" lvl="0" indent="-357188" algn="l" rtl="0">
              <a:buSzPts val="2800"/>
              <a:buChar char="•"/>
            </a:pPr>
            <a:r>
              <a:rPr lang="en-US" dirty="0"/>
              <a:t>24.04 Describe how computer systems use inputs and outputs for engine control.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3)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dirty="0"/>
              <a:t>24.05 Describe how the computer system is used to control non-engine-related functions.</a:t>
            </a:r>
          </a:p>
          <a:p>
            <a:pPr marL="357188" marR="0" lvl="0" indent="-357188" algn="l" rtl="0">
              <a:buSzPts val="2800"/>
              <a:buChar char="•"/>
            </a:pPr>
            <a:r>
              <a:rPr lang="en-US" dirty="0"/>
              <a:t>24.06 Explain the purpose of Onboard Diagnostic Systems.</a:t>
            </a:r>
          </a:p>
          <a:p>
            <a:pPr marL="357188" marR="0" lvl="0" indent="-357188" algn="l" rtl="0">
              <a:buSzPts val="2800"/>
              <a:buChar char="•"/>
            </a:pPr>
            <a:r>
              <a:rPr lang="en-US" dirty="0"/>
              <a:t>24.07 Describe OBD II operation.</a:t>
            </a:r>
          </a:p>
          <a:p>
            <a:pPr marL="357188" marR="0" lvl="0" indent="-357188" algn="l" rtl="0">
              <a:buSzPts val="2800"/>
              <a:buChar char="•"/>
            </a:pPr>
            <a:r>
              <a:rPr lang="en-US" dirty="0"/>
              <a:t>24.08 Briefly describe the monitored systems in an OBD II system.</a:t>
            </a:r>
          </a:p>
        </p:txBody>
      </p:sp>
    </p:spTree>
    <p:extLst>
      <p:ext uri="{BB962C8B-B14F-4D97-AF65-F5344CB8AC3E}">
        <p14:creationId xmlns:p14="http://schemas.microsoft.com/office/powerpoint/2010/main" val="3858929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(3 of 3)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dirty="0"/>
              <a:t>24.09 Describe the self-diagnostic capabilities of OBD II. Define the MIL and what types of data are available. Diagnose the causes of emissions or driveability concerns resulting from malfunctions in the computerized engine control system with stored diagnostic trouble codes.</a:t>
            </a:r>
          </a:p>
          <a:p>
            <a:pPr marL="357188" marR="0" lvl="0" indent="-357188" algn="l" rtl="0">
              <a:buSzPts val="2800"/>
              <a:buChar char="•"/>
            </a:pPr>
            <a:r>
              <a:rPr lang="en-US" dirty="0"/>
              <a:t>24.10 Obtain and interpret scan tool data.</a:t>
            </a:r>
          </a:p>
        </p:txBody>
      </p:sp>
    </p:spTree>
    <p:extLst>
      <p:ext uri="{BB962C8B-B14F-4D97-AF65-F5344CB8AC3E}">
        <p14:creationId xmlns:p14="http://schemas.microsoft.com/office/powerpoint/2010/main" val="1770636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Ignition Systems (1 of 2)</a:t>
            </a:r>
            <a:endParaRPr dirty="0"/>
          </a:p>
        </p:txBody>
      </p:sp>
      <p:sp>
        <p:nvSpPr>
          <p:cNvPr id="145" name="Google Shape;145;p4"/>
          <p:cNvSpPr txBox="1">
            <a:spLocks noGrp="1"/>
          </p:cNvSpPr>
          <p:nvPr>
            <p:ph type="body" idx="1"/>
          </p:nvPr>
        </p:nvSpPr>
        <p:spPr>
          <a:xfrm>
            <a:off x="476844" y="1563625"/>
            <a:ext cx="7671734" cy="4501509"/>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1800"/>
              </a:spcAft>
              <a:buSzPts val="2800"/>
              <a:buNone/>
            </a:pPr>
            <a:r>
              <a:rPr lang="en-US" sz="2200" b="1" dirty="0"/>
              <a:t>24.01 State the purpose of the major engine performance systems/components.</a:t>
            </a:r>
            <a:endParaRPr lang="en-US" sz="2200" dirty="0"/>
          </a:p>
          <a:p>
            <a:pPr marL="357188" indent="-357188">
              <a:lnSpc>
                <a:spcPct val="107000"/>
              </a:lnSpc>
              <a:spcBef>
                <a:spcPts val="0"/>
              </a:spcBef>
            </a:pPr>
            <a:r>
              <a:rPr lang="en-US" sz="2200" dirty="0"/>
              <a:t>For complete combustion, the ignition system must supply properly timed, high-voltage surges across the spark plug electrodes at the proper time under all engine operating conditions.</a:t>
            </a:r>
          </a:p>
          <a:p>
            <a:pPr marL="357188" indent="-357188">
              <a:lnSpc>
                <a:spcPct val="107000"/>
              </a:lnSpc>
              <a:spcBef>
                <a:spcPts val="0"/>
              </a:spcBef>
            </a:pPr>
            <a:r>
              <a:rPr lang="en-US" sz="2200" dirty="0"/>
              <a:t>These plug firings must also occur at the correct time and generate the correct amount of heat. </a:t>
            </a:r>
          </a:p>
          <a:p>
            <a:pPr marL="357188" indent="-357188">
              <a:lnSpc>
                <a:spcPct val="107000"/>
              </a:lnSpc>
              <a:spcBef>
                <a:spcPts val="0"/>
              </a:spcBef>
            </a:pPr>
            <a:r>
              <a:rPr lang="en-US" sz="2200" dirty="0"/>
              <a:t>There are basically two types of ignition systems: distributor ignition (DI) and </a:t>
            </a:r>
            <a:r>
              <a:rPr lang="en-US" sz="2200" b="1" dirty="0"/>
              <a:t>electronic ignition (EI) </a:t>
            </a:r>
            <a:r>
              <a:rPr lang="en-US" sz="2200" dirty="0"/>
              <a:t>or distributorless ignition systems (DIS).</a:t>
            </a:r>
          </a:p>
        </p:txBody>
      </p:sp>
      <p:pic>
        <p:nvPicPr>
          <p:cNvPr id="8" name="Picture Placeholder 7" descr="An ignition system while operating produces a spark for the combustion process.">
            <a:extLst>
              <a:ext uri="{FF2B5EF4-FFF2-40B4-BE49-F238E27FC236}">
                <a16:creationId xmlns:a16="http://schemas.microsoft.com/office/drawing/2014/main" id="{B2FD0156-11A9-6573-7FF7-EBBD84E8216D}"/>
              </a:ext>
            </a:extLst>
          </p:cNvPr>
          <p:cNvPicPr>
            <a:picLocks noGrp="1" noChangeAspect="1"/>
          </p:cNvPicPr>
          <p:nvPr>
            <p:ph type="pic" sz="quarter" idx="13"/>
          </p:nvPr>
        </p:nvPicPr>
        <p:blipFill rotWithShape="1">
          <a:blip r:embed="rId3"/>
          <a:srcRect b="11464"/>
          <a:stretch/>
        </p:blipFill>
        <p:spPr>
          <a:xfrm>
            <a:off x="8235196" y="2217927"/>
            <a:ext cx="3308261" cy="2848343"/>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Ignition Systems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solidFill>
                  <a:schemeClr val="tx1"/>
                </a:solidFill>
              </a:rPr>
              <a:t>Purpose of the Ignition System for each cylinder, the ignition system has three primary jobs:</a:t>
            </a:r>
          </a:p>
          <a:p>
            <a:pPr marL="715963" lvl="1" indent="-357188"/>
            <a:r>
              <a:rPr lang="en-US" dirty="0">
                <a:solidFill>
                  <a:schemeClr val="tx1"/>
                </a:solidFill>
              </a:rPr>
              <a:t>It must generate an electrical spark with enough heat to ignite the air–fuel mixture in the combustion chamber.</a:t>
            </a:r>
          </a:p>
          <a:p>
            <a:pPr marL="715963" lvl="1" indent="-357188"/>
            <a:r>
              <a:rPr lang="en-US" dirty="0">
                <a:solidFill>
                  <a:schemeClr val="tx1"/>
                </a:solidFill>
              </a:rPr>
              <a:t>It must maintain that spark long enough to allow total combustion of the fuel in the chamber.</a:t>
            </a:r>
          </a:p>
          <a:p>
            <a:pPr marL="715963" lvl="1" indent="-357188"/>
            <a:r>
              <a:rPr lang="en-US" dirty="0">
                <a:solidFill>
                  <a:schemeClr val="tx1"/>
                </a:solidFill>
              </a:rPr>
              <a:t>It must deliver the spark to each cylinder to allow combustion to begin at the right time during the compression stroke.</a:t>
            </a:r>
          </a:p>
        </p:txBody>
      </p:sp>
    </p:spTree>
    <p:extLst>
      <p:ext uri="{BB962C8B-B14F-4D97-AF65-F5344CB8AC3E}">
        <p14:creationId xmlns:p14="http://schemas.microsoft.com/office/powerpoint/2010/main" val="1676324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Ignition Timing</a:t>
            </a:r>
            <a:endParaRPr dirty="0"/>
          </a:p>
        </p:txBody>
      </p:sp>
      <p:sp>
        <p:nvSpPr>
          <p:cNvPr id="145" name="Google Shape;145;p4"/>
          <p:cNvSpPr txBox="1">
            <a:spLocks noGrp="1"/>
          </p:cNvSpPr>
          <p:nvPr>
            <p:ph type="body" idx="1"/>
          </p:nvPr>
        </p:nvSpPr>
        <p:spPr>
          <a:xfrm>
            <a:off x="476843" y="1563625"/>
            <a:ext cx="7419125" cy="4590040"/>
          </a:xfrm>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sz="2000" b="1" dirty="0"/>
              <a:t>Ignition timing </a:t>
            </a:r>
            <a:r>
              <a:rPr lang="en-US" sz="2000" dirty="0"/>
              <a:t>refers to the precise time spark occurs and is specified by referring to the position of the number 1 piston in relation to crankshaft rotation.</a:t>
            </a:r>
          </a:p>
          <a:p>
            <a:pPr marL="357188" marR="0" lvl="0" indent="-357188" algn="l" rtl="0">
              <a:buSzPts val="2800"/>
              <a:buChar char="•"/>
            </a:pPr>
            <a:r>
              <a:rPr lang="en-US" sz="2000" dirty="0"/>
              <a:t>Engines with distributor ignition systems have ignition timing reference marks located on a pulley or flywheel to indicate the position of the number 1 piston at TDC on the compression stroke.</a:t>
            </a:r>
          </a:p>
          <a:p>
            <a:pPr marL="357188" marR="0" lvl="0" indent="-357188" algn="l" rtl="0">
              <a:buSzPts val="2800"/>
              <a:buChar char="•"/>
            </a:pPr>
            <a:r>
              <a:rPr lang="en-US" sz="2000" dirty="0"/>
              <a:t>This reference is used to set initial ignition timing. For those engines, the manufacturers typically list an initial or </a:t>
            </a:r>
            <a:r>
              <a:rPr lang="en-US" sz="2000" b="1" dirty="0"/>
              <a:t>base ignition timing </a:t>
            </a:r>
            <a:r>
              <a:rPr lang="en-US" sz="2000" dirty="0"/>
              <a:t>specification.</a:t>
            </a:r>
          </a:p>
          <a:p>
            <a:pPr marL="357188" marR="0" lvl="0" indent="-357188" algn="l" rtl="0">
              <a:buSzPts val="2800"/>
              <a:buChar char="•"/>
            </a:pPr>
            <a:r>
              <a:rPr lang="en-US" sz="2000" dirty="0"/>
              <a:t>Timing may be advanced, meaning that the process to generate the spark occurs sooner as engine speed increases.</a:t>
            </a:r>
            <a:endParaRPr lang="en-US" sz="2300" dirty="0"/>
          </a:p>
        </p:txBody>
      </p:sp>
      <p:pic>
        <p:nvPicPr>
          <p:cNvPr id="8" name="Picture Placeholder 7" descr="A series of two illustrations represents the speed of ignition. In the first illustration, the engine speed is around 1200 rpm with a 41 degrees travel, the spark occurs at 18 degrees B T D C and the combustion ends at 23 degrees A T D C. In the second illustration, the engine speed is around 3,600 rpm, with a 63 degrees travel, the spark occurs at 40 degrees B T D C and the combustion ends at a distance of 23 degrees A T D C.">
            <a:extLst>
              <a:ext uri="{FF2B5EF4-FFF2-40B4-BE49-F238E27FC236}">
                <a16:creationId xmlns:a16="http://schemas.microsoft.com/office/drawing/2014/main" id="{9F5811C9-361D-441E-C28F-80649795C67A}"/>
              </a:ext>
            </a:extLst>
          </p:cNvPr>
          <p:cNvPicPr>
            <a:picLocks noGrp="1" noChangeAspect="1"/>
          </p:cNvPicPr>
          <p:nvPr>
            <p:ph type="pic" sz="quarter" idx="13"/>
          </p:nvPr>
        </p:nvPicPr>
        <p:blipFill rotWithShape="1">
          <a:blip r:embed="rId3"/>
          <a:srcRect b="10347"/>
          <a:stretch/>
        </p:blipFill>
        <p:spPr>
          <a:xfrm>
            <a:off x="8068961" y="2543946"/>
            <a:ext cx="3855817" cy="2275190"/>
          </a:xfrm>
          <a:prstGeom prst="rect">
            <a:avLst/>
          </a:prstGeom>
        </p:spPr>
      </p:pic>
    </p:spTree>
    <p:extLst>
      <p:ext uri="{BB962C8B-B14F-4D97-AF65-F5344CB8AC3E}">
        <p14:creationId xmlns:p14="http://schemas.microsoft.com/office/powerpoint/2010/main" val="4257034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Firing Order</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1800" dirty="0">
                <a:solidFill>
                  <a:schemeClr val="tx1"/>
                </a:solidFill>
              </a:rPr>
              <a:t>The spark for all cylinders must be delivered at the right time.</a:t>
            </a:r>
          </a:p>
          <a:p>
            <a:pPr marL="357188" marR="0" lvl="0" indent="-357188" algn="l" rtl="0">
              <a:buChar char="•"/>
            </a:pPr>
            <a:r>
              <a:rPr lang="en-US" sz="1800" dirty="0">
                <a:solidFill>
                  <a:schemeClr val="tx1"/>
                </a:solidFill>
              </a:rPr>
              <a:t>How the ignition system does this depends on the design of the system.</a:t>
            </a:r>
          </a:p>
          <a:p>
            <a:pPr marL="357188" lvl="0" indent="-357188"/>
            <a:r>
              <a:rPr lang="en-US" sz="1800" dirty="0">
                <a:solidFill>
                  <a:schemeClr val="tx1"/>
                </a:solidFill>
              </a:rPr>
              <a:t>The firing order is the sequence in which each spark plug ignites the air–fuel mixture in the cylinders.</a:t>
            </a:r>
          </a:p>
          <a:p>
            <a:pPr marL="357188" marR="0" lvl="0" indent="-357188" algn="l" rtl="0">
              <a:buChar char="•"/>
            </a:pPr>
            <a:r>
              <a:rPr lang="en-US" sz="1800" dirty="0">
                <a:solidFill>
                  <a:schemeClr val="tx1"/>
                </a:solidFill>
              </a:rPr>
              <a:t>Each engine has a mechanical sequence of valves opening and closing as the pistons move up and down.</a:t>
            </a:r>
          </a:p>
          <a:p>
            <a:pPr marL="357188" marR="0" lvl="0" indent="-357188" algn="l" rtl="0">
              <a:buChar char="•"/>
            </a:pPr>
            <a:r>
              <a:rPr lang="en-US" sz="1800" dirty="0">
                <a:solidFill>
                  <a:schemeClr val="tx1"/>
                </a:solidFill>
              </a:rPr>
              <a:t>The sequence defines when each cylinder produces power.</a:t>
            </a:r>
          </a:p>
          <a:p>
            <a:pPr marL="357188" marR="0" lvl="0" indent="-357188" algn="l" rtl="0">
              <a:buChar char="•"/>
            </a:pPr>
            <a:r>
              <a:rPr lang="en-US" sz="1800" dirty="0">
                <a:solidFill>
                  <a:schemeClr val="tx1"/>
                </a:solidFill>
              </a:rPr>
              <a:t>The firing order corresponds to each cylinder as it moves through the compression stroke.</a:t>
            </a:r>
          </a:p>
          <a:p>
            <a:pPr marL="357188" marR="0" lvl="0" indent="-357188" algn="l" rtl="0">
              <a:buChar char="•"/>
            </a:pPr>
            <a:r>
              <a:rPr lang="en-US" sz="1800" dirty="0">
                <a:solidFill>
                  <a:schemeClr val="tx1"/>
                </a:solidFill>
              </a:rPr>
              <a:t>If the spark occurs at any time other than during the end of the compression stroke, performance will be affected.</a:t>
            </a:r>
          </a:p>
          <a:p>
            <a:pPr marL="357188" marR="0" lvl="0" indent="-357188" algn="l" rtl="0">
              <a:buChar char="•"/>
            </a:pPr>
            <a:r>
              <a:rPr lang="en-US" sz="1800" dirty="0">
                <a:solidFill>
                  <a:schemeClr val="tx1"/>
                </a:solidFill>
              </a:rPr>
              <a:t>With a distributor system, the firing order follows the placement of the ignition wires along the distributor cap.</a:t>
            </a:r>
          </a:p>
        </p:txBody>
      </p:sp>
    </p:spTree>
    <p:extLst>
      <p:ext uri="{BB962C8B-B14F-4D97-AF65-F5344CB8AC3E}">
        <p14:creationId xmlns:p14="http://schemas.microsoft.com/office/powerpoint/2010/main" val="1991422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Fuel Injection</a:t>
            </a:r>
            <a:endParaRPr sz="3600" dirty="0"/>
          </a:p>
        </p:txBody>
      </p:sp>
      <p:sp>
        <p:nvSpPr>
          <p:cNvPr id="145" name="Google Shape;145;p4"/>
          <p:cNvSpPr txBox="1">
            <a:spLocks noGrp="1"/>
          </p:cNvSpPr>
          <p:nvPr>
            <p:ph type="body" idx="1"/>
          </p:nvPr>
        </p:nvSpPr>
        <p:spPr>
          <a:xfrm>
            <a:off x="476843" y="1563624"/>
            <a:ext cx="7665399" cy="4417045"/>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b="1" dirty="0">
                <a:solidFill>
                  <a:schemeClr val="tx1"/>
                </a:solidFill>
              </a:rPr>
              <a:t>Electronic fuel injection (EFI) </a:t>
            </a:r>
            <a:r>
              <a:rPr lang="en-US" sz="2000" dirty="0">
                <a:solidFill>
                  <a:schemeClr val="tx1"/>
                </a:solidFill>
              </a:rPr>
              <a:t>has proven to be the most precise, reliable, and cost-effective method of delivering fuel to the combustion chambers of today’s engines.</a:t>
            </a:r>
          </a:p>
          <a:p>
            <a:pPr marL="357188" lvl="0" indent="-357188"/>
            <a:r>
              <a:rPr lang="en-US" sz="2000" dirty="0">
                <a:solidFill>
                  <a:schemeClr val="tx1"/>
                </a:solidFill>
              </a:rPr>
              <a:t>EFI systems are computer controlled and designed to provide the correct air–fuel ratio for all engine loads, speeds, and temperature conditions.</a:t>
            </a:r>
          </a:p>
          <a:p>
            <a:pPr marL="357188" marR="0" lvl="0" indent="-357188" algn="l" rtl="0">
              <a:buChar char="•"/>
            </a:pPr>
            <a:r>
              <a:rPr lang="en-US" sz="2000" dirty="0">
                <a:solidFill>
                  <a:schemeClr val="tx1"/>
                </a:solidFill>
              </a:rPr>
              <a:t>Most engines are now equipped with </a:t>
            </a:r>
            <a:r>
              <a:rPr lang="en-US" sz="2000" b="1" dirty="0">
                <a:solidFill>
                  <a:schemeClr val="tx1"/>
                </a:solidFill>
              </a:rPr>
              <a:t>gasoline direct-injection (GDI).</a:t>
            </a:r>
          </a:p>
          <a:p>
            <a:pPr marL="357188" marR="0" lvl="0" indent="-357188" algn="l" rtl="0">
              <a:buChar char="•"/>
            </a:pPr>
            <a:r>
              <a:rPr lang="en-US" sz="2000" dirty="0">
                <a:solidFill>
                  <a:schemeClr val="tx1"/>
                </a:solidFill>
              </a:rPr>
              <a:t>In these systems, the fuel is injected directly into the cylinders.</a:t>
            </a:r>
          </a:p>
          <a:p>
            <a:pPr marL="357188" marR="0" lvl="0" indent="-357188" algn="l" rtl="0">
              <a:buChar char="•"/>
            </a:pPr>
            <a:r>
              <a:rPr lang="en-US" sz="2000" dirty="0">
                <a:solidFill>
                  <a:schemeClr val="tx1"/>
                </a:solidFill>
              </a:rPr>
              <a:t>Most EFI systems only inject fuel during the engine’s intake cycle.</a:t>
            </a:r>
            <a:endParaRPr lang="en-US" sz="1300" dirty="0">
              <a:solidFill>
                <a:schemeClr val="tx1"/>
              </a:solidFill>
            </a:endParaRPr>
          </a:p>
        </p:txBody>
      </p:sp>
      <p:pic>
        <p:nvPicPr>
          <p:cNvPr id="8" name="Picture Placeholder 7" descr="An illustration of a gasoline direct injection engine depicts a fuel is sent into the engine through an injector. The injector is connected with the spark plug, inlet valve and exhaust valve.">
            <a:extLst>
              <a:ext uri="{FF2B5EF4-FFF2-40B4-BE49-F238E27FC236}">
                <a16:creationId xmlns:a16="http://schemas.microsoft.com/office/drawing/2014/main" id="{9751B7D2-EDF6-7137-0BFE-078459B6D1F0}"/>
              </a:ext>
            </a:extLst>
          </p:cNvPr>
          <p:cNvPicPr>
            <a:picLocks noGrp="1" noChangeAspect="1"/>
          </p:cNvPicPr>
          <p:nvPr>
            <p:ph type="pic" sz="quarter" idx="13"/>
          </p:nvPr>
        </p:nvPicPr>
        <p:blipFill rotWithShape="1">
          <a:blip r:embed="rId3"/>
          <a:srcRect l="24040" b="13169"/>
          <a:stretch/>
        </p:blipFill>
        <p:spPr>
          <a:xfrm>
            <a:off x="8453623" y="2028904"/>
            <a:ext cx="3335983" cy="3486485"/>
          </a:xfrm>
          <a:prstGeom prst="rect">
            <a:avLst/>
          </a:prstGeom>
        </p:spPr>
      </p:pic>
    </p:spTree>
    <p:extLst>
      <p:ext uri="{BB962C8B-B14F-4D97-AF65-F5344CB8AC3E}">
        <p14:creationId xmlns:p14="http://schemas.microsoft.com/office/powerpoint/2010/main" val="80283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 Induction System</a:t>
            </a:r>
            <a:endParaRPr sz="3600" dirty="0"/>
          </a:p>
        </p:txBody>
      </p:sp>
      <p:sp>
        <p:nvSpPr>
          <p:cNvPr id="145" name="Google Shape;145;p4"/>
          <p:cNvSpPr txBox="1">
            <a:spLocks noGrp="1"/>
          </p:cNvSpPr>
          <p:nvPr>
            <p:ph type="body" idx="1"/>
          </p:nvPr>
        </p:nvSpPr>
        <p:spPr>
          <a:xfrm>
            <a:off x="476843" y="1563624"/>
            <a:ext cx="7357341" cy="4404690"/>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2000" dirty="0"/>
              <a:t>An internal combustion engine needs air to run.</a:t>
            </a:r>
          </a:p>
          <a:p>
            <a:pPr marL="357188" marR="0" lvl="0" indent="-357188" algn="l" rtl="0">
              <a:spcAft>
                <a:spcPts val="400"/>
              </a:spcAft>
              <a:buChar char="•"/>
            </a:pPr>
            <a:r>
              <a:rPr lang="en-US" sz="2000" dirty="0"/>
              <a:t>This air supply is drawn into the engine by the vacuum created during the pistons’ intake stroke.</a:t>
            </a:r>
          </a:p>
          <a:p>
            <a:pPr marL="357188" marR="0" lvl="0" indent="-357188" algn="l" rtl="0">
              <a:spcAft>
                <a:spcPts val="400"/>
              </a:spcAft>
              <a:buChar char="•"/>
            </a:pPr>
            <a:r>
              <a:rPr lang="en-US" sz="2000" dirty="0"/>
              <a:t>Controlling the flow of air is the job of the </a:t>
            </a:r>
            <a:r>
              <a:rPr lang="en-US" sz="2000" b="1" dirty="0"/>
              <a:t>air induction system</a:t>
            </a:r>
            <a:r>
              <a:rPr lang="en-US" sz="2000" dirty="0"/>
              <a:t>.</a:t>
            </a:r>
          </a:p>
          <a:p>
            <a:pPr marL="357188" marR="0" lvl="0" indent="-357188" algn="l" rtl="0">
              <a:spcAft>
                <a:spcPts val="400"/>
              </a:spcAft>
              <a:buChar char="•"/>
            </a:pPr>
            <a:r>
              <a:rPr lang="en-US" sz="2000" dirty="0"/>
              <a:t>The introduction of emission standards and fuel economy standards encouraged the development of intake air temperature controls.</a:t>
            </a:r>
          </a:p>
          <a:p>
            <a:pPr marL="357188" marR="0" lvl="0" indent="-357188" algn="l" rtl="0">
              <a:spcAft>
                <a:spcPts val="400"/>
              </a:spcAft>
              <a:buChar char="•"/>
            </a:pPr>
            <a:r>
              <a:rPr lang="en-US" sz="2000" dirty="0"/>
              <a:t>The air intake system on a modern fuel-injected engine is complicated.</a:t>
            </a:r>
          </a:p>
          <a:p>
            <a:pPr marL="357188" marR="0" lvl="0" indent="-357188" algn="l" rtl="0">
              <a:spcAft>
                <a:spcPts val="400"/>
              </a:spcAft>
              <a:buChar char="•"/>
            </a:pPr>
            <a:r>
              <a:rPr lang="en-US" sz="2000" dirty="0"/>
              <a:t>Ducts channel cool air from outside the engine compartment to the throttle plate assembly.</a:t>
            </a:r>
          </a:p>
        </p:txBody>
      </p:sp>
      <p:pic>
        <p:nvPicPr>
          <p:cNvPr id="8" name="Picture Placeholder 7" descr="An air intake system of an internal combustion engine in a late-model vehicle.">
            <a:extLst>
              <a:ext uri="{FF2B5EF4-FFF2-40B4-BE49-F238E27FC236}">
                <a16:creationId xmlns:a16="http://schemas.microsoft.com/office/drawing/2014/main" id="{96F73A44-3204-1B66-5CC4-E5FF281656EE}"/>
              </a:ext>
            </a:extLst>
          </p:cNvPr>
          <p:cNvPicPr>
            <a:picLocks noGrp="1" noChangeAspect="1"/>
          </p:cNvPicPr>
          <p:nvPr>
            <p:ph type="pic" sz="quarter" idx="13"/>
          </p:nvPr>
        </p:nvPicPr>
        <p:blipFill>
          <a:blip r:embed="rId3"/>
          <a:srcRect b="13136"/>
          <a:stretch/>
        </p:blipFill>
        <p:spPr>
          <a:xfrm>
            <a:off x="7747917" y="2893247"/>
            <a:ext cx="3974879" cy="2073634"/>
          </a:xfrm>
          <a:prstGeom prst="rect">
            <a:avLst/>
          </a:prstGeom>
        </p:spPr>
      </p:pic>
    </p:spTree>
    <p:extLst>
      <p:ext uri="{BB962C8B-B14F-4D97-AF65-F5344CB8AC3E}">
        <p14:creationId xmlns:p14="http://schemas.microsoft.com/office/powerpoint/2010/main" val="288556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Emission Control Systems</a:t>
            </a:r>
            <a:endParaRPr sz="3600" dirty="0"/>
          </a:p>
        </p:txBody>
      </p:sp>
      <p:sp>
        <p:nvSpPr>
          <p:cNvPr id="145" name="Google Shape;145;p4"/>
          <p:cNvSpPr txBox="1">
            <a:spLocks noGrp="1"/>
          </p:cNvSpPr>
          <p:nvPr>
            <p:ph type="body" idx="1"/>
          </p:nvPr>
        </p:nvSpPr>
        <p:spPr>
          <a:xfrm>
            <a:off x="476844" y="1477125"/>
            <a:ext cx="7456194" cy="4688897"/>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2000" b="1" dirty="0"/>
              <a:t>24.03 Explain the purpose of the emission control system.</a:t>
            </a:r>
            <a:endParaRPr lang="en-US" sz="2000" dirty="0"/>
          </a:p>
          <a:p>
            <a:pPr marL="357188" marR="0" lvl="0" indent="-357188" algn="l" rtl="0">
              <a:spcAft>
                <a:spcPts val="400"/>
              </a:spcAft>
              <a:buSzPts val="2800"/>
              <a:buChar char="•"/>
            </a:pPr>
            <a:r>
              <a:rPr lang="en-US" sz="2000" dirty="0"/>
              <a:t>Emission controls have one purpose and that is to reduce the amount of pollutants and environmentally damaging substances released by vehicles.</a:t>
            </a:r>
          </a:p>
          <a:p>
            <a:pPr marL="357188" marR="0" lvl="0" indent="-357188" algn="l" rtl="0">
              <a:spcAft>
                <a:spcPts val="400"/>
              </a:spcAft>
              <a:buSzPts val="2800"/>
              <a:buChar char="•"/>
            </a:pPr>
            <a:r>
              <a:rPr lang="en-US" sz="2000" dirty="0"/>
              <a:t>The consequences of the pollutants are grievous.</a:t>
            </a:r>
          </a:p>
          <a:p>
            <a:pPr marL="357188" marR="0" lvl="0" indent="-357188" algn="l" rtl="0">
              <a:spcAft>
                <a:spcPts val="400"/>
              </a:spcAft>
              <a:buSzPts val="2800"/>
              <a:buChar char="•"/>
            </a:pPr>
            <a:r>
              <a:rPr lang="en-US" sz="2000" dirty="0"/>
              <a:t>The air we breathe and water we drink have become contaminated with chemicals that adversely affect our health</a:t>
            </a:r>
          </a:p>
          <a:p>
            <a:pPr marL="357188" marR="0" lvl="0" indent="-357188" algn="l" rtl="0">
              <a:spcAft>
                <a:spcPts val="400"/>
              </a:spcAft>
              <a:buSzPts val="2800"/>
              <a:buChar char="•"/>
            </a:pPr>
            <a:r>
              <a:rPr lang="en-US" sz="2000" dirty="0"/>
              <a:t>There are three main automotive pollutants: HC, carbon monoxide (CO), and NOx .</a:t>
            </a:r>
          </a:p>
          <a:p>
            <a:pPr marL="357188" marR="0" lvl="0" indent="-357188" algn="l" rtl="0">
              <a:spcAft>
                <a:spcPts val="400"/>
              </a:spcAft>
              <a:buSzPts val="2800"/>
              <a:buChar char="•"/>
            </a:pPr>
            <a:r>
              <a:rPr lang="en-US" sz="2000" dirty="0"/>
              <a:t>Particulate (soot) emissions are also present in diesel engine exhaust.</a:t>
            </a:r>
          </a:p>
        </p:txBody>
      </p:sp>
      <p:pic>
        <p:nvPicPr>
          <p:cNvPr id="8" name="Picture Placeholder 7" descr="The rear side of a car depicts the emission of harmful pollutants released from the car into the environment.">
            <a:extLst>
              <a:ext uri="{FF2B5EF4-FFF2-40B4-BE49-F238E27FC236}">
                <a16:creationId xmlns:a16="http://schemas.microsoft.com/office/drawing/2014/main" id="{69A07720-920F-9CC7-A773-43B8A4488521}"/>
              </a:ext>
            </a:extLst>
          </p:cNvPr>
          <p:cNvPicPr>
            <a:picLocks noGrp="1" noChangeAspect="1"/>
          </p:cNvPicPr>
          <p:nvPr>
            <p:ph type="pic" sz="quarter" idx="13"/>
          </p:nvPr>
        </p:nvPicPr>
        <p:blipFill rotWithShape="1">
          <a:blip r:embed="rId3"/>
          <a:srcRect b="7495"/>
          <a:stretch/>
        </p:blipFill>
        <p:spPr>
          <a:xfrm>
            <a:off x="8075063" y="2206157"/>
            <a:ext cx="3518566" cy="2958967"/>
          </a:xfrm>
          <a:prstGeom prst="rect">
            <a:avLst/>
          </a:prstGeom>
        </p:spPr>
      </p:pic>
    </p:spTree>
    <p:extLst>
      <p:ext uri="{BB962C8B-B14F-4D97-AF65-F5344CB8AC3E}">
        <p14:creationId xmlns:p14="http://schemas.microsoft.com/office/powerpoint/2010/main" val="103434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Control Systems</a:t>
            </a:r>
            <a:endParaRPr dirty="0"/>
          </a:p>
        </p:txBody>
      </p:sp>
      <p:sp>
        <p:nvSpPr>
          <p:cNvPr id="145" name="Google Shape;145;p4"/>
          <p:cNvSpPr txBox="1">
            <a:spLocks noGrp="1"/>
          </p:cNvSpPr>
          <p:nvPr>
            <p:ph type="body" idx="1"/>
          </p:nvPr>
        </p:nvSpPr>
        <p:spPr>
          <a:xfrm>
            <a:off x="476844" y="1489483"/>
            <a:ext cx="7517978" cy="4614753"/>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000" b="1" dirty="0"/>
              <a:t>24.04 Describe how computer systems use inputs and outputs for engine control.</a:t>
            </a:r>
            <a:endParaRPr lang="en-US" sz="2000" dirty="0"/>
          </a:p>
          <a:p>
            <a:pPr marL="357188" marR="0" lvl="0" indent="-357188" algn="l" rtl="0">
              <a:lnSpc>
                <a:spcPct val="107000"/>
              </a:lnSpc>
              <a:spcBef>
                <a:spcPts val="0"/>
              </a:spcBef>
              <a:spcAft>
                <a:spcPts val="0"/>
              </a:spcAft>
              <a:buChar char="•"/>
            </a:pPr>
            <a:r>
              <a:rPr lang="en-US" sz="2000" dirty="0"/>
              <a:t>The computer is an engine control system that functions like other computers.</a:t>
            </a:r>
          </a:p>
          <a:p>
            <a:pPr marL="357188" marR="0" lvl="0" indent="-357188" algn="l" rtl="0">
              <a:lnSpc>
                <a:spcPct val="107000"/>
              </a:lnSpc>
              <a:spcBef>
                <a:spcPts val="0"/>
              </a:spcBef>
              <a:spcAft>
                <a:spcPts val="0"/>
              </a:spcAft>
              <a:buChar char="•"/>
            </a:pPr>
            <a:r>
              <a:rPr lang="en-US" sz="2000" dirty="0"/>
              <a:t>It receives inputs, processes information, and commands an output.</a:t>
            </a:r>
          </a:p>
          <a:p>
            <a:pPr marL="357188" marR="0" lvl="0" indent="-357188" algn="l" rtl="0">
              <a:lnSpc>
                <a:spcPct val="107000"/>
              </a:lnSpc>
              <a:spcBef>
                <a:spcPts val="0"/>
              </a:spcBef>
              <a:spcAft>
                <a:spcPts val="0"/>
              </a:spcAft>
              <a:buChar char="•"/>
            </a:pPr>
            <a:r>
              <a:rPr lang="en-US" sz="2000" dirty="0"/>
              <a:t>The primary computer in an engine control system is the </a:t>
            </a:r>
            <a:r>
              <a:rPr lang="en-US" sz="2000" b="1" dirty="0"/>
              <a:t>engine control module (ECM) </a:t>
            </a:r>
            <a:r>
              <a:rPr lang="en-US" sz="2000" dirty="0"/>
              <a:t>or the powertrain control module (PCM).</a:t>
            </a:r>
          </a:p>
          <a:p>
            <a:pPr marL="357188" marR="0" lvl="0" indent="-357188" algn="l" rtl="0">
              <a:lnSpc>
                <a:spcPct val="107000"/>
              </a:lnSpc>
              <a:spcBef>
                <a:spcPts val="0"/>
              </a:spcBef>
              <a:spcAft>
                <a:spcPts val="0"/>
              </a:spcAft>
              <a:buChar char="•"/>
            </a:pPr>
            <a:r>
              <a:rPr lang="en-US" sz="2000" dirty="0"/>
              <a:t>The engine control system relies on sensors that convert engine operating conditions such as temperature, engine and vehicle speeds, throttle position, and other conditions into electrical signals that are constantly monitored by the </a:t>
            </a:r>
            <a:r>
              <a:rPr lang="en-US" sz="2000" dirty="0" err="1"/>
              <a:t>PCM</a:t>
            </a:r>
            <a:r>
              <a:rPr lang="en-US" sz="2000" dirty="0"/>
              <a:t>.</a:t>
            </a:r>
          </a:p>
        </p:txBody>
      </p:sp>
      <p:pic>
        <p:nvPicPr>
          <p:cNvPr id="8" name="Picture Placeholder 7" descr="A primitive look of an engine control system. The P C M (pulse code modulation) unit has several inputs on the left and outputs on the right. The inputs are as follows: Engine coolant sensor; Mass airflow sensor; Intake air temperature, M A P sensor; Crankshaft position; Camshaft position; Vehicle speed; O 2 or A/ F ratio; Park/ neutral switch; Throttle position; Knock sensor; E V A P pressure and Power-steering pressure. The outputs are as follows: Fuel injectors; Ignition coil(s); O 2 or A/ F heater control; Fuel pump; Idle air control; E G R vacuum valve; E V A P vacuum valve; M I L; E F I relay; D L C. The P C M unit is connected to the battery source.">
            <a:extLst>
              <a:ext uri="{FF2B5EF4-FFF2-40B4-BE49-F238E27FC236}">
                <a16:creationId xmlns:a16="http://schemas.microsoft.com/office/drawing/2014/main" id="{4EF414F7-C818-652C-FBAB-FBAB68651E9A}"/>
              </a:ext>
            </a:extLst>
          </p:cNvPr>
          <p:cNvPicPr>
            <a:picLocks noGrp="1" noChangeAspect="1"/>
          </p:cNvPicPr>
          <p:nvPr>
            <p:ph type="pic" sz="quarter" idx="13"/>
          </p:nvPr>
        </p:nvPicPr>
        <p:blipFill rotWithShape="1">
          <a:blip r:embed="rId3"/>
          <a:srcRect b="6704"/>
          <a:stretch/>
        </p:blipFill>
        <p:spPr>
          <a:xfrm>
            <a:off x="7994821" y="1973848"/>
            <a:ext cx="3820641" cy="3788125"/>
          </a:xfrm>
          <a:prstGeom prst="rect">
            <a:avLst/>
          </a:prstGeom>
        </p:spPr>
      </p:pic>
    </p:spTree>
    <p:extLst>
      <p:ext uri="{BB962C8B-B14F-4D97-AF65-F5344CB8AC3E}">
        <p14:creationId xmlns:p14="http://schemas.microsoft.com/office/powerpoint/2010/main" val="298456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System Components</a:t>
            </a:r>
            <a:endParaRPr sz="3600" dirty="0"/>
          </a:p>
        </p:txBody>
      </p:sp>
      <p:sp>
        <p:nvSpPr>
          <p:cNvPr id="145" name="Google Shape;145;p4"/>
          <p:cNvSpPr txBox="1">
            <a:spLocks noGrp="1"/>
          </p:cNvSpPr>
          <p:nvPr>
            <p:ph type="body" idx="1"/>
          </p:nvPr>
        </p:nvSpPr>
        <p:spPr>
          <a:xfrm>
            <a:off x="476843" y="1563625"/>
            <a:ext cx="7036065" cy="4552970"/>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1800" dirty="0"/>
              <a:t>The sensors, actuators, and computer communicate by electronic and multiplexed circuits.</a:t>
            </a:r>
          </a:p>
          <a:p>
            <a:pPr marL="357188" indent="-357188">
              <a:lnSpc>
                <a:spcPct val="107000"/>
              </a:lnSpc>
              <a:spcBef>
                <a:spcPts val="0"/>
              </a:spcBef>
            </a:pPr>
            <a:r>
              <a:rPr lang="en-US" sz="1800" dirty="0"/>
              <a:t>In a PCM, RAM is used to store data collected by the sensors, the results of calculations, and other information that is constantly changing during engine operation.</a:t>
            </a:r>
          </a:p>
          <a:p>
            <a:pPr marL="357188" indent="-357188">
              <a:lnSpc>
                <a:spcPct val="107000"/>
              </a:lnSpc>
              <a:spcBef>
                <a:spcPts val="0"/>
              </a:spcBef>
            </a:pPr>
            <a:r>
              <a:rPr lang="en-US" sz="1800" dirty="0"/>
              <a:t>Information in volatile RAM is erased when the ignition is turned off or when the power is disconnected.</a:t>
            </a:r>
          </a:p>
          <a:p>
            <a:pPr marL="357188" indent="-357188">
              <a:lnSpc>
                <a:spcPct val="107000"/>
              </a:lnSpc>
              <a:spcBef>
                <a:spcPts val="0"/>
              </a:spcBef>
            </a:pPr>
            <a:r>
              <a:rPr lang="en-US" sz="1800" dirty="0"/>
              <a:t>Nonvolatile RAM does not lose its data if its power source is disconnected.</a:t>
            </a:r>
          </a:p>
          <a:p>
            <a:pPr marL="357188" indent="-357188">
              <a:lnSpc>
                <a:spcPct val="107000"/>
              </a:lnSpc>
              <a:spcBef>
                <a:spcPts val="0"/>
              </a:spcBef>
            </a:pPr>
            <a:r>
              <a:rPr lang="en-US" sz="1800" dirty="0"/>
              <a:t>The computer’s permanent memory is stored in ROM or PROM and is not erased when the power source is disconnected.</a:t>
            </a:r>
            <a:endParaRPr lang="en-US" sz="1100" dirty="0"/>
          </a:p>
        </p:txBody>
      </p:sp>
      <p:pic>
        <p:nvPicPr>
          <p:cNvPr id="8" name="Picture Placeholder 7" descr="The top view of the cutaway of the power train control module depicts its various components.">
            <a:extLst>
              <a:ext uri="{FF2B5EF4-FFF2-40B4-BE49-F238E27FC236}">
                <a16:creationId xmlns:a16="http://schemas.microsoft.com/office/drawing/2014/main" id="{A1D252C9-D61A-D665-036F-68A73E2C6783}"/>
              </a:ext>
            </a:extLst>
          </p:cNvPr>
          <p:cNvPicPr>
            <a:picLocks noGrp="1" noChangeAspect="1"/>
          </p:cNvPicPr>
          <p:nvPr>
            <p:ph type="pic" sz="quarter" idx="13"/>
          </p:nvPr>
        </p:nvPicPr>
        <p:blipFill rotWithShape="1">
          <a:blip r:embed="rId3"/>
          <a:srcRect b="14291"/>
          <a:stretch/>
        </p:blipFill>
        <p:spPr>
          <a:xfrm>
            <a:off x="7682275" y="1966627"/>
            <a:ext cx="4206494" cy="3006206"/>
          </a:xfrm>
          <a:prstGeom prst="rect">
            <a:avLst/>
          </a:prstGeom>
        </p:spPr>
      </p:pic>
    </p:spTree>
    <p:extLst>
      <p:ext uri="{BB962C8B-B14F-4D97-AF65-F5344CB8AC3E}">
        <p14:creationId xmlns:p14="http://schemas.microsoft.com/office/powerpoint/2010/main" val="4557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Control of Non-Engine Functions</a:t>
            </a:r>
            <a:endParaRPr sz="3600" dirty="0"/>
          </a:p>
        </p:txBody>
      </p:sp>
      <p:sp>
        <p:nvSpPr>
          <p:cNvPr id="145" name="Google Shape;145;p4"/>
          <p:cNvSpPr txBox="1">
            <a:spLocks noGrp="1"/>
          </p:cNvSpPr>
          <p:nvPr>
            <p:ph type="body" idx="1"/>
          </p:nvPr>
        </p:nvSpPr>
        <p:spPr>
          <a:xfrm>
            <a:off x="476843" y="1475942"/>
            <a:ext cx="11241915" cy="4614754"/>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200" b="1" dirty="0"/>
              <a:t>24.05 Describe how the computer system is used to control non-engine-related functions.</a:t>
            </a:r>
            <a:endParaRPr lang="en-US" sz="2200" dirty="0"/>
          </a:p>
          <a:p>
            <a:pPr marL="357188" indent="-357188">
              <a:lnSpc>
                <a:spcPct val="107000"/>
              </a:lnSpc>
              <a:spcBef>
                <a:spcPts val="0"/>
              </a:spcBef>
            </a:pPr>
            <a:r>
              <a:rPr lang="en-US" sz="2200" dirty="0"/>
              <a:t>Some devices that are not directly connected to the engine are also controlled by the PCM to ensure maximum efficiency.</a:t>
            </a:r>
          </a:p>
          <a:p>
            <a:pPr marL="357188" indent="-357188">
              <a:lnSpc>
                <a:spcPct val="107000"/>
              </a:lnSpc>
              <a:spcBef>
                <a:spcPts val="0"/>
              </a:spcBef>
            </a:pPr>
            <a:r>
              <a:rPr lang="en-US" sz="2200" dirty="0"/>
              <a:t>On some vehicles, the torque converter lock-up clutch is applied and released by a signal from the computer.</a:t>
            </a:r>
          </a:p>
          <a:p>
            <a:pPr marL="357188" indent="-357188">
              <a:lnSpc>
                <a:spcPct val="107000"/>
              </a:lnSpc>
              <a:spcBef>
                <a:spcPts val="0"/>
              </a:spcBef>
            </a:pPr>
            <a:r>
              <a:rPr lang="en-US" sz="2200" dirty="0"/>
              <a:t>The clutch is applied by transmission hydraulic pressure, which is controlled by electrical solenoids that are in turn controlled by the computer.</a:t>
            </a:r>
          </a:p>
          <a:p>
            <a:pPr marL="357188" indent="-357188">
              <a:lnSpc>
                <a:spcPct val="107000"/>
              </a:lnSpc>
              <a:spcBef>
                <a:spcPts val="0"/>
              </a:spcBef>
            </a:pPr>
            <a:r>
              <a:rPr lang="en-US" sz="2200" dirty="0"/>
              <a:t>In most cases, the </a:t>
            </a:r>
            <a:r>
              <a:rPr lang="en-US" sz="2200" dirty="0" err="1"/>
              <a:t>PCM</a:t>
            </a:r>
            <a:r>
              <a:rPr lang="en-US" sz="2200" dirty="0"/>
              <a:t> works with other control modules to control a system.</a:t>
            </a:r>
          </a:p>
          <a:p>
            <a:pPr marL="715963" lvl="1" indent="-357188">
              <a:lnSpc>
                <a:spcPct val="107000"/>
              </a:lnSpc>
              <a:spcBef>
                <a:spcPts val="0"/>
              </a:spcBef>
            </a:pPr>
            <a:r>
              <a:rPr lang="en-US" sz="2000" dirty="0"/>
              <a:t>Examples of these are antilock brake systems, traction and stability control systems, and other accessories.</a:t>
            </a:r>
          </a:p>
        </p:txBody>
      </p:sp>
    </p:spTree>
    <p:extLst>
      <p:ext uri="{BB962C8B-B14F-4D97-AF65-F5344CB8AC3E}">
        <p14:creationId xmlns:p14="http://schemas.microsoft.com/office/powerpoint/2010/main" val="1859869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On-Board Diagnostic Systems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1800" b="1" dirty="0"/>
              <a:t>24.06 Explain the purpose of Onboard Diagnostic Systems.</a:t>
            </a:r>
          </a:p>
          <a:p>
            <a:pPr marL="357188" marR="0" lvl="0" indent="-357188" algn="l" rtl="0">
              <a:spcAft>
                <a:spcPts val="400"/>
              </a:spcAft>
              <a:buChar char="•"/>
            </a:pPr>
            <a:r>
              <a:rPr lang="en-US" sz="1800" b="1" dirty="0"/>
              <a:t>24.07 Describe OBD II operation.</a:t>
            </a:r>
          </a:p>
          <a:p>
            <a:pPr marL="357188" marR="0" lvl="0" indent="-357188" algn="l" rtl="0">
              <a:spcAft>
                <a:spcPts val="400"/>
              </a:spcAft>
              <a:buChar char="•"/>
            </a:pPr>
            <a:r>
              <a:rPr lang="en-US" sz="1800" b="1" dirty="0"/>
              <a:t>24.08 Briefly describe the monitored systems in an OBD II system.</a:t>
            </a:r>
          </a:p>
          <a:p>
            <a:pPr marL="357188" indent="-357188">
              <a:spcAft>
                <a:spcPts val="400"/>
              </a:spcAft>
            </a:pPr>
            <a:r>
              <a:rPr lang="en-US" sz="1800" dirty="0"/>
              <a:t>Because all manufacturers have continually updated, expanded, and improved their computerized control systems, there are hundreds of different domestic and import systems on the road.</a:t>
            </a:r>
          </a:p>
          <a:p>
            <a:pPr marL="357188" indent="-357188">
              <a:spcAft>
                <a:spcPts val="400"/>
              </a:spcAft>
            </a:pPr>
            <a:r>
              <a:rPr lang="en-US" sz="1800" dirty="0"/>
              <a:t>OBD II called for all vehicles to use the same terms, acronyms, and definitions to describe their components.</a:t>
            </a:r>
          </a:p>
          <a:p>
            <a:pPr marL="357188" indent="-357188">
              <a:spcAft>
                <a:spcPts val="400"/>
              </a:spcAft>
            </a:pPr>
            <a:r>
              <a:rPr lang="en-US" sz="1800" dirty="0"/>
              <a:t>They also have the same type of diagnostic connector, the same basic test sequences, and display the same trouble codes.</a:t>
            </a:r>
          </a:p>
          <a:p>
            <a:pPr marL="357188" indent="-357188">
              <a:spcAft>
                <a:spcPts val="400"/>
              </a:spcAft>
            </a:pPr>
            <a:r>
              <a:rPr lang="en-US" sz="1800" dirty="0"/>
              <a:t>OBD II has been on all vehicles sold in North America since 1997.</a:t>
            </a:r>
          </a:p>
          <a:p>
            <a:pPr marL="357188" indent="-357188">
              <a:spcAft>
                <a:spcPts val="400"/>
              </a:spcAft>
            </a:pPr>
            <a:r>
              <a:rPr lang="en-US" sz="1800" dirty="0"/>
              <a:t>The primary goal of OBD systems is to reduce vehicle emissions and reduce the possibility of future emission increases by detecting and reporting system malfunctions.</a:t>
            </a:r>
          </a:p>
        </p:txBody>
      </p:sp>
    </p:spTree>
    <p:extLst>
      <p:ext uri="{BB962C8B-B14F-4D97-AF65-F5344CB8AC3E}">
        <p14:creationId xmlns:p14="http://schemas.microsoft.com/office/powerpoint/2010/main" val="442913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 (Generation 1)</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0"/>
              </a:spcAft>
              <a:buSzPts val="2800"/>
              <a:buNone/>
            </a:pPr>
            <a:r>
              <a:rPr lang="en-US" sz="1600" b="1" dirty="0"/>
              <a:t>24.08 Briefly describe the monitored systems in an OBD II system.</a:t>
            </a:r>
          </a:p>
          <a:p>
            <a:pPr marL="0" indent="0">
              <a:buSzPts val="2800"/>
              <a:buNone/>
            </a:pPr>
            <a:r>
              <a:rPr lang="en-US" sz="1600" b="1" dirty="0"/>
              <a:t>24.09 Describe the self-diagnostic capabilities of OBD II. Define the MIL and what types of data are available. Diagnose the causes of emissions or driveability concerns resulting from malfunctions in the computerized engine control system with stored diagnostic trouble codes. </a:t>
            </a:r>
            <a:endParaRPr lang="en-US" sz="1600" dirty="0"/>
          </a:p>
          <a:p>
            <a:pPr marL="357188" indent="-357188"/>
            <a:r>
              <a:rPr lang="en-US" sz="1600" dirty="0"/>
              <a:t>OBD I systems were first used in 1988.</a:t>
            </a:r>
          </a:p>
          <a:p>
            <a:pPr marL="357188" indent="-357188"/>
            <a:r>
              <a:rPr lang="en-US" sz="1600" dirty="0"/>
              <a:t>The ECM was capable of monitoring critical emission-related parts and systems and illuminating a malfunction indicator if a defect was found.</a:t>
            </a:r>
          </a:p>
          <a:p>
            <a:pPr marL="357188" indent="-357188"/>
            <a:r>
              <a:rPr lang="en-US" sz="1600" dirty="0"/>
              <a:t>The </a:t>
            </a:r>
            <a:r>
              <a:rPr lang="en-US" sz="1600" b="1" dirty="0"/>
              <a:t>malfunction indicator lamp (MIL) </a:t>
            </a:r>
            <a:r>
              <a:rPr lang="en-US" sz="1600" dirty="0"/>
              <a:t>was in the instrument panel.</a:t>
            </a:r>
          </a:p>
          <a:p>
            <a:pPr marL="357188" indent="-357188"/>
            <a:r>
              <a:rPr lang="en-US" sz="1600" dirty="0"/>
              <a:t>Most OBD I systems used flash codes to display DTCs.</a:t>
            </a:r>
          </a:p>
          <a:p>
            <a:pPr marL="357188" indent="-357188"/>
            <a:r>
              <a:rPr lang="en-US" sz="1600" dirty="0"/>
              <a:t>The codes were displayed with the MIL.</a:t>
            </a:r>
          </a:p>
          <a:p>
            <a:pPr marL="357188" indent="-357188"/>
            <a:r>
              <a:rPr lang="en-US" sz="1600" dirty="0"/>
              <a:t>Often, the codes were displayed by jumping across terminals at a diagnostic data link connector (DLC).</a:t>
            </a:r>
          </a:p>
          <a:p>
            <a:pPr marL="357188" indent="-357188"/>
            <a:r>
              <a:rPr lang="en-US" sz="1600" dirty="0"/>
              <a:t>Manufacturers provided lists of what the codes represented, along with step-by-step diagnostic procedures for identifying the exact fault. </a:t>
            </a:r>
          </a:p>
        </p:txBody>
      </p:sp>
    </p:spTree>
    <p:extLst>
      <p:ext uri="{BB962C8B-B14F-4D97-AF65-F5344CB8AC3E}">
        <p14:creationId xmlns:p14="http://schemas.microsoft.com/office/powerpoint/2010/main" val="3671255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(Generation 2)</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1800" dirty="0">
                <a:solidFill>
                  <a:schemeClr val="tx1"/>
                </a:solidFill>
              </a:rPr>
              <a:t>OBD II was established to overcome some of the weaknesses of OBD I.</a:t>
            </a:r>
          </a:p>
          <a:p>
            <a:pPr marL="357188" marR="0" lvl="0" indent="-357188" algn="l" rtl="0">
              <a:spcAft>
                <a:spcPts val="0"/>
              </a:spcAft>
              <a:buChar char="•"/>
            </a:pPr>
            <a:r>
              <a:rPr lang="en-US" sz="1800" dirty="0">
                <a:solidFill>
                  <a:schemeClr val="tx1"/>
                </a:solidFill>
              </a:rPr>
              <a:t>OBD I systems monitored only a few emission-related parts and were not set to maintain a specific level of emissions.</a:t>
            </a:r>
          </a:p>
          <a:p>
            <a:pPr marL="357188" marR="0" lvl="0" indent="-357188" algn="l" rtl="0">
              <a:spcAft>
                <a:spcPts val="0"/>
              </a:spcAft>
              <a:buChar char="•"/>
            </a:pPr>
            <a:r>
              <a:rPr lang="en-US" sz="1800" dirty="0">
                <a:solidFill>
                  <a:schemeClr val="tx1"/>
                </a:solidFill>
              </a:rPr>
              <a:t>OBD II was developed to be a more comprehensive monitoring system and to allow more accurate diagnosis by technicians.</a:t>
            </a:r>
          </a:p>
          <a:p>
            <a:pPr marL="357188" marR="0" lvl="0" indent="-357188" algn="l" rtl="0">
              <a:spcAft>
                <a:spcPts val="0"/>
              </a:spcAft>
              <a:buChar char="•"/>
            </a:pPr>
            <a:r>
              <a:rPr lang="en-US" sz="1800" dirty="0">
                <a:solidFill>
                  <a:schemeClr val="tx1"/>
                </a:solidFill>
              </a:rPr>
              <a:t>OBD II systems are designed to ensure that vehicles remain as clean as possible over their entire life.</a:t>
            </a:r>
          </a:p>
          <a:p>
            <a:pPr marL="357188" marR="0" lvl="0" indent="-357188" algn="l" rtl="0">
              <a:spcAft>
                <a:spcPts val="0"/>
              </a:spcAft>
              <a:buChar char="•"/>
            </a:pPr>
            <a:r>
              <a:rPr lang="en-US" sz="1800" dirty="0">
                <a:solidFill>
                  <a:schemeClr val="tx1"/>
                </a:solidFill>
              </a:rPr>
              <a:t>During an emissions or “smog” check, an inspection computer can be plugged into the DLC of the vehicle and read the data from the vehicle’s computer.</a:t>
            </a:r>
          </a:p>
          <a:p>
            <a:pPr marL="357188" marR="0" lvl="0" indent="-357188" algn="l" rtl="0">
              <a:spcAft>
                <a:spcPts val="0"/>
              </a:spcAft>
              <a:buChar char="•"/>
            </a:pPr>
            <a:r>
              <a:rPr lang="en-US" sz="1800" dirty="0">
                <a:solidFill>
                  <a:schemeClr val="tx1"/>
                </a:solidFill>
              </a:rPr>
              <a:t>OBD II added monitor functions for such things as catalyst efficiency, engine misfire detection, evaporative system, secondary air system, and EGR system flow rate.</a:t>
            </a:r>
          </a:p>
          <a:p>
            <a:pPr marL="715963" lvl="1" indent="-357188">
              <a:spcAft>
                <a:spcPts val="0"/>
              </a:spcAft>
            </a:pPr>
            <a:r>
              <a:rPr lang="en-US" sz="1600" dirty="0">
                <a:solidFill>
                  <a:schemeClr val="tx1"/>
                </a:solidFill>
              </a:rPr>
              <a:t>These monitors detect problems that would affect emissions levels.</a:t>
            </a:r>
          </a:p>
          <a:p>
            <a:pPr marL="357188" marR="0" lvl="0" indent="-357188" algn="l" rtl="0">
              <a:spcAft>
                <a:spcPts val="400"/>
              </a:spcAft>
              <a:buChar char="•"/>
            </a:pPr>
            <a:r>
              <a:rPr lang="en-US" sz="1800" dirty="0">
                <a:solidFill>
                  <a:schemeClr val="tx1"/>
                </a:solidFill>
              </a:rPr>
              <a:t>Also, a serial data stream of 20 basic data parameters and common DTCs was adopted.</a:t>
            </a:r>
          </a:p>
        </p:txBody>
      </p:sp>
    </p:spTree>
    <p:extLst>
      <p:ext uri="{BB962C8B-B14F-4D97-AF65-F5344CB8AC3E}">
        <p14:creationId xmlns:p14="http://schemas.microsoft.com/office/powerpoint/2010/main" val="4128933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III (Generation 3)</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1800" dirty="0"/>
              <a:t>The main goal of OBD III is to minimize the delay between the detection of an emissions failure by the OBD II system and the actual repair of the vehicle.</a:t>
            </a:r>
          </a:p>
          <a:p>
            <a:pPr marL="357188" marR="0" lvl="0" indent="-357188" algn="l" rtl="0">
              <a:spcAft>
                <a:spcPts val="400"/>
              </a:spcAft>
              <a:buChar char="•"/>
            </a:pPr>
            <a:r>
              <a:rPr lang="en-US" sz="1800" dirty="0"/>
              <a:t>It has been said that the check engine light is a poor motivator for prompt repair, and many repairs to the emissions-related parts of vehicles are being delayed until the mandatory emissions inspection is approaching.</a:t>
            </a:r>
          </a:p>
          <a:p>
            <a:pPr marL="357188" marR="0" lvl="0" indent="-357188" algn="l" rtl="0">
              <a:spcAft>
                <a:spcPts val="400"/>
              </a:spcAft>
              <a:buChar char="•"/>
            </a:pPr>
            <a:r>
              <a:rPr lang="en-US" sz="1800" dirty="0"/>
              <a:t>Once the vehicle’s emission data is collected, the vehicle’s owner will be notified about the results.</a:t>
            </a:r>
          </a:p>
          <a:p>
            <a:pPr marL="357188" marR="0" lvl="0" indent="-357188" algn="l" rtl="0">
              <a:spcAft>
                <a:spcPts val="400"/>
              </a:spcAft>
              <a:buChar char="•"/>
            </a:pPr>
            <a:r>
              <a:rPr lang="en-US" sz="1800" dirty="0"/>
              <a:t>If a fault is present that increases emission, the owner will be given a certain amount of time to have the problem corrected and the vehicle retested.</a:t>
            </a:r>
          </a:p>
          <a:p>
            <a:pPr marL="357188" marR="0" lvl="0" indent="-357188" algn="l" rtl="0">
              <a:spcAft>
                <a:spcPts val="400"/>
              </a:spcAft>
              <a:buChar char="•"/>
            </a:pPr>
            <a:r>
              <a:rPr lang="en-US" sz="1800" dirty="0"/>
              <a:t>This type of vehicle monitoring has raised some fear in car owners.</a:t>
            </a:r>
          </a:p>
          <a:p>
            <a:pPr marL="357188" marR="0" lvl="0" indent="-357188" algn="l" rtl="0">
              <a:spcAft>
                <a:spcPts val="400"/>
              </a:spcAft>
              <a:buChar char="•"/>
            </a:pPr>
            <a:r>
              <a:rPr lang="en-US" sz="1800" dirty="0"/>
              <a:t>They feel that the government will be able to know too much and want their privacy protected.</a:t>
            </a:r>
          </a:p>
          <a:p>
            <a:pPr marL="357188" marR="0" lvl="0" indent="-357188" algn="l" rtl="0">
              <a:spcAft>
                <a:spcPts val="400"/>
              </a:spcAft>
              <a:buChar char="•"/>
            </a:pPr>
            <a:r>
              <a:rPr lang="en-US" sz="1800" dirty="0"/>
              <a:t>For this reason, the final design and method for OBD III have not been decided.</a:t>
            </a:r>
          </a:p>
        </p:txBody>
      </p:sp>
    </p:spTree>
    <p:extLst>
      <p:ext uri="{BB962C8B-B14F-4D97-AF65-F5344CB8AC3E}">
        <p14:creationId xmlns:p14="http://schemas.microsoft.com/office/powerpoint/2010/main" val="272548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System Operation</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2000" dirty="0">
                <a:solidFill>
                  <a:schemeClr val="tx1"/>
                </a:solidFill>
              </a:rPr>
              <a:t>Open-Loop Mode</a:t>
            </a:r>
          </a:p>
          <a:p>
            <a:pPr marL="715963" lvl="1" indent="-357188"/>
            <a:r>
              <a:rPr lang="en-US" sz="1800" dirty="0">
                <a:solidFill>
                  <a:schemeClr val="tx1"/>
                </a:solidFill>
              </a:rPr>
              <a:t>When the engine, oxygen sensors, and catalytic converter are cold, most electronic engine controls go into </a:t>
            </a:r>
            <a:r>
              <a:rPr lang="en-US" sz="1800" b="1" dirty="0">
                <a:solidFill>
                  <a:schemeClr val="tx1"/>
                </a:solidFill>
              </a:rPr>
              <a:t>open-loop mode</a:t>
            </a:r>
            <a:r>
              <a:rPr lang="en-US" sz="1800" dirty="0">
                <a:solidFill>
                  <a:schemeClr val="tx1"/>
                </a:solidFill>
              </a:rPr>
              <a:t>.</a:t>
            </a:r>
          </a:p>
          <a:p>
            <a:pPr marL="715963" lvl="1" indent="-357188"/>
            <a:r>
              <a:rPr lang="en-US" sz="1800" dirty="0">
                <a:solidFill>
                  <a:schemeClr val="tx1"/>
                </a:solidFill>
              </a:rPr>
              <a:t>In this mode, the control loop is not a complete cycle and the computer does not react to feedback information from the oxygen sensors. Instead, the computer makes decisions based on preprogrammed information that allows it to make basic ignition or air–fuel settings based on coolant temperature, throttle position, and other inputs.</a:t>
            </a:r>
            <a:endParaRPr lang="en-US" sz="2000" dirty="0">
              <a:solidFill>
                <a:schemeClr val="tx1"/>
              </a:solidFill>
            </a:endParaRPr>
          </a:p>
          <a:p>
            <a:pPr marL="357188" marR="0" lvl="0" indent="-357188" algn="l" rtl="0">
              <a:spcAft>
                <a:spcPts val="0"/>
              </a:spcAft>
              <a:buChar char="•"/>
            </a:pPr>
            <a:r>
              <a:rPr lang="en-US" sz="2000" dirty="0">
                <a:solidFill>
                  <a:schemeClr val="tx1"/>
                </a:solidFill>
              </a:rPr>
              <a:t>Closed-Loop Mode</a:t>
            </a:r>
          </a:p>
          <a:p>
            <a:pPr marL="715963" lvl="1" indent="-357188"/>
            <a:r>
              <a:rPr lang="en-US" sz="1800" dirty="0">
                <a:solidFill>
                  <a:schemeClr val="tx1"/>
                </a:solidFill>
              </a:rPr>
              <a:t>During the </a:t>
            </a:r>
            <a:r>
              <a:rPr lang="en-US" sz="1800" b="1" dirty="0">
                <a:solidFill>
                  <a:schemeClr val="tx1"/>
                </a:solidFill>
              </a:rPr>
              <a:t>closed-loop mode</a:t>
            </a:r>
            <a:r>
              <a:rPr lang="en-US" sz="1800" dirty="0">
                <a:solidFill>
                  <a:schemeClr val="tx1"/>
                </a:solidFill>
              </a:rPr>
              <a:t>, the </a:t>
            </a:r>
            <a:r>
              <a:rPr lang="en-US" sz="1800" dirty="0" err="1">
                <a:solidFill>
                  <a:schemeClr val="tx1"/>
                </a:solidFill>
              </a:rPr>
              <a:t>PCM</a:t>
            </a:r>
            <a:r>
              <a:rPr lang="en-US" sz="1800" dirty="0">
                <a:solidFill>
                  <a:schemeClr val="tx1"/>
                </a:solidFill>
              </a:rPr>
              <a:t> receives and processes all information available. Sensor inputs are sent to the PCM; the PCM compares those values to its programs, and then sends commands to the output devices.</a:t>
            </a:r>
          </a:p>
          <a:p>
            <a:pPr marL="715963" lvl="1" indent="-357188"/>
            <a:r>
              <a:rPr lang="en-US" sz="1800" dirty="0">
                <a:solidFill>
                  <a:schemeClr val="tx1"/>
                </a:solidFill>
              </a:rPr>
              <a:t>The output devices adjust ignition timing, air–fuel ratio, and emission control operation. The resulting engine operation will result from the new inputs from the sensors.</a:t>
            </a:r>
          </a:p>
        </p:txBody>
      </p:sp>
    </p:spTree>
    <p:extLst>
      <p:ext uri="{BB962C8B-B14F-4D97-AF65-F5344CB8AC3E}">
        <p14:creationId xmlns:p14="http://schemas.microsoft.com/office/powerpoint/2010/main" val="837253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What sensor(s) is ignored during open loop, but included in the PCM calculation during closed loop?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E73A6DF3-F110-61F1-AFB9-C3DAA210F489}"/>
              </a:ext>
            </a:extLst>
          </p:cNvPr>
          <p:cNvSpPr>
            <a:spLocks noGrp="1"/>
          </p:cNvSpPr>
          <p:nvPr>
            <p:ph type="body" idx="1"/>
          </p:nvPr>
        </p:nvSpPr>
        <p:spPr/>
        <p:txBody>
          <a:bodyPr/>
          <a:lstStyle/>
          <a:p>
            <a:pPr marL="1433513" lvl="1" indent="0">
              <a:buNone/>
            </a:pPr>
            <a:r>
              <a:rPr lang="en-US" sz="2600" b="1" dirty="0"/>
              <a:t>Answer</a:t>
            </a:r>
            <a:r>
              <a:rPr lang="en-US" sz="2600" dirty="0"/>
              <a:t>: The oxygen sensors.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Monitoring Capabilities</a:t>
            </a:r>
            <a:endParaRPr sz="3600" dirty="0"/>
          </a:p>
        </p:txBody>
      </p:sp>
      <p:pic>
        <p:nvPicPr>
          <p:cNvPr id="8" name="Picture Placeholder 7" descr="A screenshot of a report from a scan tool noting which monitor has been completed. The header reads, Honda/ Acura 1983-2010. The text below reads as follows; Line 1. Readiness Monitors in the middle between asterisk. Line 2. E C U I D: $ 09; Line 3. Misfire, Test Complete; Line 4. Fuel System, Test Complete; Line 5. Components, Test Complete; Line 6. Catalyst, Not Complete; Line 7. Heated Catalyst, Not Supported; Line 8. Evaporative System, Test Complete; Line 9. Sec. Air System, Not Supported; Line 10. A/ C System Refrigerator, Not Supported; Line 11. 02 Sensor, Not Complete; Line 12. 02 Sensor Heater, Test Complete. Four blank check boxes are at bottom numbered 1, 2, 3, and 4.">
            <a:extLst>
              <a:ext uri="{FF2B5EF4-FFF2-40B4-BE49-F238E27FC236}">
                <a16:creationId xmlns:a16="http://schemas.microsoft.com/office/drawing/2014/main" id="{FCF563E1-6900-C4A0-E3C9-EAFBA6A63A4B}"/>
              </a:ext>
            </a:extLst>
          </p:cNvPr>
          <p:cNvPicPr>
            <a:picLocks noGrp="1" noChangeAspect="1"/>
          </p:cNvPicPr>
          <p:nvPr>
            <p:ph type="pic" sz="quarter" idx="12"/>
          </p:nvPr>
        </p:nvPicPr>
        <p:blipFill rotWithShape="1">
          <a:blip r:embed="rId3"/>
          <a:srcRect b="14847"/>
          <a:stretch/>
        </p:blipFill>
        <p:spPr>
          <a:xfrm>
            <a:off x="347981" y="1887187"/>
            <a:ext cx="4097543" cy="3083625"/>
          </a:xfrm>
          <a:prstGeom prst="rect">
            <a:avLst/>
          </a:prstGeom>
        </p:spPr>
      </p:pic>
      <p:sp>
        <p:nvSpPr>
          <p:cNvPr id="145" name="Google Shape;145;p4"/>
          <p:cNvSpPr txBox="1">
            <a:spLocks noGrp="1"/>
          </p:cNvSpPr>
          <p:nvPr>
            <p:ph type="body" idx="1"/>
          </p:nvPr>
        </p:nvSpPr>
        <p:spPr>
          <a:xfrm>
            <a:off x="4695568" y="1513520"/>
            <a:ext cx="7023190" cy="4639467"/>
          </a:xfrm>
          <a:prstGeom prst="rect">
            <a:avLst/>
          </a:prstGeom>
          <a:noFill/>
          <a:ln>
            <a:noFill/>
          </a:ln>
        </p:spPr>
        <p:txBody>
          <a:bodyPr spcFirstLastPara="1" wrap="square" lIns="91425" tIns="45700" rIns="91425" bIns="45700" anchor="t" anchorCtr="0">
            <a:noAutofit/>
          </a:bodyPr>
          <a:lstStyle/>
          <a:p>
            <a:pPr marL="342900" marR="0" lvl="0" indent="-342900" algn="l" rtl="0">
              <a:spcAft>
                <a:spcPts val="400"/>
              </a:spcAft>
              <a:buFont typeface="Arial" panose="020B0604020202020204" pitchFamily="34" charset="0"/>
              <a:buChar char="•"/>
            </a:pPr>
            <a:r>
              <a:rPr lang="en-US" sz="1800" dirty="0"/>
              <a:t>OBD II monitors the performance of emission and other related systems.</a:t>
            </a:r>
          </a:p>
          <a:p>
            <a:pPr marL="357188" marR="0" lvl="0" indent="-357188" algn="l" rtl="0">
              <a:spcAft>
                <a:spcPts val="400"/>
              </a:spcAft>
              <a:buChar char="•"/>
            </a:pPr>
            <a:r>
              <a:rPr lang="en-US" sz="1800" dirty="0"/>
              <a:t>The purpose of these monitors is to detect failing systems and not wait until they fail before illuminating the MIL.</a:t>
            </a:r>
          </a:p>
          <a:p>
            <a:pPr marL="357188" marR="0" lvl="0" indent="-357188" algn="l" rtl="0">
              <a:spcAft>
                <a:spcPts val="400"/>
              </a:spcAft>
              <a:buChar char="•"/>
            </a:pPr>
            <a:r>
              <a:rPr lang="en-US" sz="1800" dirty="0"/>
              <a:t>OBD II systems will perform certain tests on various subsystems of the engine management system.</a:t>
            </a:r>
          </a:p>
          <a:p>
            <a:pPr marL="357188" marR="0" lvl="0" indent="-357188" algn="l" rtl="0">
              <a:spcAft>
                <a:spcPts val="400"/>
              </a:spcAft>
              <a:buChar char="•"/>
            </a:pPr>
            <a:r>
              <a:rPr lang="en-US" sz="1800" dirty="0"/>
              <a:t>If one or more monitored systems are found to have a malfunction, the MIL will illuminate to alert the driver of a problem.</a:t>
            </a:r>
          </a:p>
          <a:p>
            <a:pPr marL="357188" marR="0" lvl="0" indent="-357188" algn="l" rtl="0">
              <a:spcAft>
                <a:spcPts val="400"/>
              </a:spcAft>
              <a:buChar char="•"/>
            </a:pPr>
            <a:r>
              <a:rPr lang="en-US" sz="1800" dirty="0"/>
              <a:t>Some monitors run continuously, whereas others will run only when certain operating conditions are present during the drive cycle.</a:t>
            </a:r>
          </a:p>
          <a:p>
            <a:pPr marL="357188" marR="0" lvl="0" indent="-357188" algn="l" rtl="0">
              <a:spcAft>
                <a:spcPts val="400"/>
              </a:spcAft>
              <a:buChar char="•"/>
            </a:pPr>
            <a:r>
              <a:rPr lang="en-US" sz="1800" dirty="0"/>
              <a:t>These conditions are called the enable criteria.</a:t>
            </a:r>
          </a:p>
        </p:txBody>
      </p:sp>
    </p:spTree>
    <p:extLst>
      <p:ext uri="{BB962C8B-B14F-4D97-AF65-F5344CB8AC3E}">
        <p14:creationId xmlns:p14="http://schemas.microsoft.com/office/powerpoint/2010/main" val="3333982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Catalyst Efficiency Monitor</a:t>
            </a:r>
            <a:endParaRPr sz="3600" dirty="0"/>
          </a:p>
        </p:txBody>
      </p:sp>
      <p:pic>
        <p:nvPicPr>
          <p:cNvPr id="8" name="Picture Placeholder 7" descr="An illustration depicts the heating of pre-catalysts and post-catalysts. The catalytic converter is in middle, the rear side of catalytic converter “Pre-catalyst heated O2” is took placed followed by “post-catalyst heated O 2” mounted near the downstream.">
            <a:extLst>
              <a:ext uri="{FF2B5EF4-FFF2-40B4-BE49-F238E27FC236}">
                <a16:creationId xmlns:a16="http://schemas.microsoft.com/office/drawing/2014/main" id="{F884B8E3-DFF6-3CBC-634E-CA02D7B44096}"/>
              </a:ext>
            </a:extLst>
          </p:cNvPr>
          <p:cNvPicPr>
            <a:picLocks noGrp="1" noChangeAspect="1"/>
          </p:cNvPicPr>
          <p:nvPr>
            <p:ph type="pic" sz="quarter" idx="12"/>
          </p:nvPr>
        </p:nvPicPr>
        <p:blipFill rotWithShape="1">
          <a:blip r:embed="rId3"/>
          <a:srcRect l="11029" b="13801"/>
          <a:stretch/>
        </p:blipFill>
        <p:spPr>
          <a:xfrm>
            <a:off x="457282" y="2063085"/>
            <a:ext cx="3442864" cy="3380284"/>
          </a:xfrm>
          <a:prstGeom prst="rect">
            <a:avLst/>
          </a:prstGeom>
        </p:spPr>
      </p:pic>
      <p:sp>
        <p:nvSpPr>
          <p:cNvPr id="145" name="Google Shape;145;p4"/>
          <p:cNvSpPr txBox="1">
            <a:spLocks noGrp="1"/>
          </p:cNvSpPr>
          <p:nvPr>
            <p:ph type="body" idx="1"/>
          </p:nvPr>
        </p:nvSpPr>
        <p:spPr>
          <a:xfrm>
            <a:off x="4127157" y="1563625"/>
            <a:ext cx="7591601" cy="4590040"/>
          </a:xfrm>
          <a:prstGeom prst="rect">
            <a:avLst/>
          </a:prstGeom>
          <a:noFill/>
          <a:ln>
            <a:noFill/>
          </a:ln>
        </p:spPr>
        <p:txBody>
          <a:bodyPr spcFirstLastPara="1" wrap="square" lIns="91425" tIns="45700" rIns="91425" bIns="45700" anchor="t" anchorCtr="0">
            <a:noAutofit/>
          </a:bodyPr>
          <a:lstStyle/>
          <a:p>
            <a:pPr marR="0" lvl="0" algn="l" rtl="0">
              <a:spcAft>
                <a:spcPts val="400"/>
              </a:spcAft>
              <a:buFont typeface="Work Sans" pitchFamily="2" charset="0"/>
              <a:buChar char="•"/>
            </a:pPr>
            <a:r>
              <a:rPr lang="en-US" sz="2000" dirty="0">
                <a:solidFill>
                  <a:schemeClr val="tx1"/>
                </a:solidFill>
              </a:rPr>
              <a:t>OBD II vehicles use a minimum of two oxygen sensors.</a:t>
            </a:r>
          </a:p>
          <a:p>
            <a:pPr marR="0" lvl="0" algn="l" rtl="0">
              <a:spcAft>
                <a:spcPts val="400"/>
              </a:spcAft>
              <a:buFont typeface="Work Sans" pitchFamily="2" charset="0"/>
              <a:buChar char="•"/>
            </a:pPr>
            <a:r>
              <a:rPr lang="en-US" sz="2000" dirty="0">
                <a:solidFill>
                  <a:schemeClr val="tx1"/>
                </a:solidFill>
              </a:rPr>
              <a:t>One of these is used for feedback to the PCM for fuel control, and the other, located at the rear of the catalytic converter, gives an indication of the efficiency of the converter and may also be used for fuel control.</a:t>
            </a:r>
          </a:p>
          <a:p>
            <a:pPr marR="0" lvl="0" algn="l" rtl="0">
              <a:spcAft>
                <a:spcPts val="400"/>
              </a:spcAft>
              <a:buFont typeface="Work Sans" pitchFamily="2" charset="0"/>
              <a:buChar char="•"/>
            </a:pPr>
            <a:r>
              <a:rPr lang="en-US" sz="2000" dirty="0">
                <a:solidFill>
                  <a:schemeClr val="tx1"/>
                </a:solidFill>
              </a:rPr>
              <a:t>The downstream O</a:t>
            </a:r>
            <a:r>
              <a:rPr lang="en-US" sz="2000" baseline="-25000" dirty="0">
                <a:solidFill>
                  <a:schemeClr val="tx1"/>
                </a:solidFill>
              </a:rPr>
              <a:t>2</a:t>
            </a:r>
            <a:r>
              <a:rPr lang="en-US" sz="2000" dirty="0">
                <a:solidFill>
                  <a:schemeClr val="tx1"/>
                </a:solidFill>
              </a:rPr>
              <a:t> sensor is sometimes called the “catalyst monitor sensor” (CMS).</a:t>
            </a:r>
          </a:p>
          <a:p>
            <a:pPr marR="0" lvl="0" algn="l" rtl="0">
              <a:spcAft>
                <a:spcPts val="400"/>
              </a:spcAft>
              <a:buFont typeface="Work Sans" pitchFamily="2" charset="0"/>
              <a:buChar char="•"/>
            </a:pPr>
            <a:r>
              <a:rPr lang="en-US" sz="2000" dirty="0">
                <a:solidFill>
                  <a:schemeClr val="tx1"/>
                </a:solidFill>
              </a:rPr>
              <a:t>The catalyst efficiency monitor compares the signals between the two O</a:t>
            </a:r>
            <a:r>
              <a:rPr lang="en-US" sz="2000" baseline="-25000" dirty="0">
                <a:solidFill>
                  <a:schemeClr val="tx1"/>
                </a:solidFill>
              </a:rPr>
              <a:t>2</a:t>
            </a:r>
            <a:r>
              <a:rPr lang="en-US" sz="2000" dirty="0">
                <a:solidFill>
                  <a:schemeClr val="tx1"/>
                </a:solidFill>
              </a:rPr>
              <a:t> sensors to determine how well the catalyst is working.</a:t>
            </a:r>
          </a:p>
          <a:p>
            <a:pPr marR="0" lvl="0" algn="l" rtl="0">
              <a:spcAft>
                <a:spcPts val="400"/>
              </a:spcAft>
              <a:buFont typeface="Work Sans" pitchFamily="2" charset="0"/>
              <a:buChar char="•"/>
            </a:pPr>
            <a:r>
              <a:rPr lang="en-US" sz="2000" dirty="0">
                <a:solidFill>
                  <a:schemeClr val="tx1"/>
                </a:solidFill>
              </a:rPr>
              <a:t>One heated O</a:t>
            </a:r>
            <a:r>
              <a:rPr lang="en-US" sz="2000" baseline="-25000" dirty="0">
                <a:solidFill>
                  <a:schemeClr val="tx1"/>
                </a:solidFill>
              </a:rPr>
              <a:t>2</a:t>
            </a:r>
            <a:r>
              <a:rPr lang="en-US" sz="2000" dirty="0">
                <a:solidFill>
                  <a:schemeClr val="tx1"/>
                </a:solidFill>
              </a:rPr>
              <a:t> sensor (</a:t>
            </a:r>
            <a:r>
              <a:rPr lang="en-US" sz="2000" dirty="0" err="1">
                <a:solidFill>
                  <a:schemeClr val="tx1"/>
                </a:solidFill>
              </a:rPr>
              <a:t>HO</a:t>
            </a:r>
            <a:r>
              <a:rPr lang="en-US" sz="2000" baseline="-25000" dirty="0" err="1">
                <a:solidFill>
                  <a:schemeClr val="tx1"/>
                </a:solidFill>
              </a:rPr>
              <a:t>2</a:t>
            </a:r>
            <a:r>
              <a:rPr lang="en-US" sz="2000" dirty="0" err="1">
                <a:solidFill>
                  <a:schemeClr val="tx1"/>
                </a:solidFill>
              </a:rPr>
              <a:t>S</a:t>
            </a:r>
            <a:r>
              <a:rPr lang="en-US" sz="2000" dirty="0">
                <a:solidFill>
                  <a:schemeClr val="tx1"/>
                </a:solidFill>
              </a:rPr>
              <a:t>) is mounted near the exhaust manifold, and the additional </a:t>
            </a:r>
            <a:r>
              <a:rPr lang="en-US" sz="2000" dirty="0" err="1">
                <a:solidFill>
                  <a:schemeClr val="tx1"/>
                </a:solidFill>
              </a:rPr>
              <a:t>HO</a:t>
            </a:r>
            <a:r>
              <a:rPr lang="en-US" sz="2000" baseline="-25000" dirty="0" err="1">
                <a:solidFill>
                  <a:schemeClr val="tx1"/>
                </a:solidFill>
              </a:rPr>
              <a:t>2</a:t>
            </a:r>
            <a:r>
              <a:rPr lang="en-US" sz="2000" dirty="0" err="1">
                <a:solidFill>
                  <a:schemeClr val="tx1"/>
                </a:solidFill>
              </a:rPr>
              <a:t>S</a:t>
            </a:r>
            <a:r>
              <a:rPr lang="en-US" sz="2000" dirty="0">
                <a:solidFill>
                  <a:schemeClr val="tx1"/>
                </a:solidFill>
              </a:rPr>
              <a:t> is mounted downstream from the catalytic</a:t>
            </a:r>
            <a:endParaRPr lang="en-US" sz="1300" dirty="0">
              <a:solidFill>
                <a:schemeClr val="tx1"/>
              </a:solidFill>
            </a:endParaRPr>
          </a:p>
        </p:txBody>
      </p:sp>
    </p:spTree>
    <p:extLst>
      <p:ext uri="{BB962C8B-B14F-4D97-AF65-F5344CB8AC3E}">
        <p14:creationId xmlns:p14="http://schemas.microsoft.com/office/powerpoint/2010/main" val="2595986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EGR System Monitoring</a:t>
            </a:r>
            <a:endParaRPr dirty="0"/>
          </a:p>
        </p:txBody>
      </p:sp>
      <p:sp>
        <p:nvSpPr>
          <p:cNvPr id="145" name="Google Shape;145;p4"/>
          <p:cNvSpPr txBox="1">
            <a:spLocks noGrp="1"/>
          </p:cNvSpPr>
          <p:nvPr>
            <p:ph type="body" idx="1"/>
          </p:nvPr>
        </p:nvSpPr>
        <p:spPr>
          <a:xfrm>
            <a:off x="476843" y="1563624"/>
            <a:ext cx="7640023" cy="4515899"/>
          </a:xfrm>
          <a:prstGeom prst="rect">
            <a:avLst/>
          </a:prstGeom>
          <a:noFill/>
          <a:ln>
            <a:noFill/>
          </a:ln>
        </p:spPr>
        <p:txBody>
          <a:bodyPr spcFirstLastPara="1" wrap="square" lIns="91425" tIns="45700" rIns="91425" bIns="45700" anchor="t" anchorCtr="0">
            <a:noAutofit/>
          </a:bodyPr>
          <a:lstStyle/>
          <a:p>
            <a:pPr marR="0" lvl="0" algn="l" rtl="0">
              <a:spcAft>
                <a:spcPts val="400"/>
              </a:spcAft>
              <a:buFont typeface="Work Sans" pitchFamily="2" charset="0"/>
              <a:buChar char="•"/>
            </a:pPr>
            <a:r>
              <a:rPr lang="en-US" sz="2000" dirty="0"/>
              <a:t>The EGR monitors use different strategies to determine if the system is operating properly.</a:t>
            </a:r>
          </a:p>
          <a:p>
            <a:pPr marR="0" lvl="0" algn="l" rtl="0">
              <a:spcAft>
                <a:spcPts val="400"/>
              </a:spcAft>
              <a:buFont typeface="Work Sans" pitchFamily="2" charset="0"/>
              <a:buChar char="•"/>
            </a:pPr>
            <a:r>
              <a:rPr lang="en-US" sz="2000" dirty="0"/>
              <a:t>Some monitor the temperature within the EGR passages.</a:t>
            </a:r>
          </a:p>
          <a:p>
            <a:pPr marR="0" lvl="0" algn="l" rtl="0">
              <a:spcAft>
                <a:spcPts val="400"/>
              </a:spcAft>
              <a:buFont typeface="Work Sans" pitchFamily="2" charset="0"/>
              <a:buChar char="•"/>
            </a:pPr>
            <a:r>
              <a:rPr lang="en-US" sz="2000" dirty="0"/>
              <a:t>Other systems look at the MAP signal, energize the EGR valve, and look for corresponding change in vacuum levels. </a:t>
            </a:r>
          </a:p>
          <a:p>
            <a:pPr marR="0" lvl="0" algn="l" rtl="0">
              <a:spcAft>
                <a:spcPts val="400"/>
              </a:spcAft>
              <a:buFont typeface="Work Sans" pitchFamily="2" charset="0"/>
              <a:buChar char="•"/>
            </a:pPr>
            <a:r>
              <a:rPr lang="en-US" sz="2000" dirty="0"/>
              <a:t>Some systems open the EGR during coast down and monitor the change in STFT.</a:t>
            </a:r>
          </a:p>
          <a:p>
            <a:pPr marR="0" lvl="0" algn="l" rtl="0">
              <a:spcAft>
                <a:spcPts val="400"/>
              </a:spcAft>
              <a:buFont typeface="Work Sans" pitchFamily="2" charset="0"/>
              <a:buChar char="•"/>
            </a:pPr>
            <a:r>
              <a:rPr lang="en-US" sz="2000" dirty="0"/>
              <a:t>There are many different EGR systems used today.</a:t>
            </a:r>
          </a:p>
          <a:p>
            <a:pPr marR="0" lvl="0" algn="l" rtl="0">
              <a:spcAft>
                <a:spcPts val="400"/>
              </a:spcAft>
              <a:buFont typeface="Work Sans" pitchFamily="2" charset="0"/>
              <a:buChar char="•"/>
            </a:pPr>
            <a:r>
              <a:rPr lang="en-US" sz="2000" dirty="0"/>
              <a:t>The pressure feedback EGR, linear EGR, and delta pressure feedback EGR systems are the most common.</a:t>
            </a:r>
            <a:endParaRPr lang="en-US" sz="1300" dirty="0"/>
          </a:p>
        </p:txBody>
      </p:sp>
      <p:pic>
        <p:nvPicPr>
          <p:cNvPr id="8" name="Picture Placeholder 7" descr="Two illustrations. The first illustration has E G R pipe and calibrated orifice connected to differential pressure feedback sensor. The second illustration has E G R system with parts labeled as follows: Duty cycle output, P C M, pressure signal input, differential pressure transducer, upstream hose, exhaust gas, metering orifice, downstream hose, intake vacuum, E G R valve, and E V R.">
            <a:extLst>
              <a:ext uri="{FF2B5EF4-FFF2-40B4-BE49-F238E27FC236}">
                <a16:creationId xmlns:a16="http://schemas.microsoft.com/office/drawing/2014/main" id="{5640EA93-C9F9-FB98-EBEA-CFFC14E0A7B8}"/>
              </a:ext>
            </a:extLst>
          </p:cNvPr>
          <p:cNvPicPr>
            <a:picLocks noGrp="1" noChangeAspect="1"/>
          </p:cNvPicPr>
          <p:nvPr>
            <p:ph type="pic" sz="quarter" idx="13"/>
          </p:nvPr>
        </p:nvPicPr>
        <p:blipFill>
          <a:blip r:embed="rId3"/>
          <a:srcRect b="4626"/>
          <a:stretch/>
        </p:blipFill>
        <p:spPr>
          <a:xfrm>
            <a:off x="8012684" y="2555310"/>
            <a:ext cx="3887042" cy="2292264"/>
          </a:xfrm>
          <a:prstGeom prst="rect">
            <a:avLst/>
          </a:prstGeom>
        </p:spPr>
      </p:pic>
    </p:spTree>
    <p:extLst>
      <p:ext uri="{BB962C8B-B14F-4D97-AF65-F5344CB8AC3E}">
        <p14:creationId xmlns:p14="http://schemas.microsoft.com/office/powerpoint/2010/main" val="1946456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Secondary Air Injection (AIR) System Monitor</a:t>
            </a:r>
            <a:endParaRPr dirty="0"/>
          </a:p>
        </p:txBody>
      </p:sp>
      <p:sp>
        <p:nvSpPr>
          <p:cNvPr id="145" name="Google Shape;145;p4"/>
          <p:cNvSpPr txBox="1">
            <a:spLocks noGrp="1"/>
          </p:cNvSpPr>
          <p:nvPr>
            <p:ph type="body" idx="1"/>
          </p:nvPr>
        </p:nvSpPr>
        <p:spPr>
          <a:xfrm>
            <a:off x="476843" y="1563625"/>
            <a:ext cx="8148173" cy="4614754"/>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1800" dirty="0"/>
              <a:t>The AIR system operation can be verified by turning the system on to inject air upstream of the O</a:t>
            </a:r>
            <a:r>
              <a:rPr lang="en-US" sz="1800" baseline="-25000" dirty="0"/>
              <a:t>2</a:t>
            </a:r>
            <a:r>
              <a:rPr lang="en-US" sz="1800" dirty="0"/>
              <a:t> sensor while monitoring its signal. </a:t>
            </a:r>
          </a:p>
          <a:p>
            <a:pPr marL="357188" marR="0" lvl="0" indent="-357188" algn="l" rtl="0">
              <a:spcAft>
                <a:spcPts val="400"/>
              </a:spcAft>
              <a:buChar char="•"/>
            </a:pPr>
            <a:r>
              <a:rPr lang="en-US" sz="1800" dirty="0"/>
              <a:t>On some vehicles, the AIR system is monitored with passive and active tests.</a:t>
            </a:r>
          </a:p>
          <a:p>
            <a:pPr marL="357188" marR="0" lvl="0" indent="-357188" algn="l" rtl="0">
              <a:spcAft>
                <a:spcPts val="400"/>
              </a:spcAft>
              <a:buChar char="•"/>
            </a:pPr>
            <a:r>
              <a:rPr lang="en-US" sz="1800" dirty="0"/>
              <a:t>If the AIR system fails the passive test or if the test is inconclusive, the AIR monitor in the PCM proceeds with the active test.</a:t>
            </a:r>
          </a:p>
          <a:p>
            <a:pPr marL="357188" marR="0" lvl="0" indent="-357188" algn="l" rtl="0">
              <a:spcAft>
                <a:spcPts val="400"/>
              </a:spcAft>
              <a:buChar char="•"/>
            </a:pPr>
            <a:r>
              <a:rPr lang="en-US" sz="1800" dirty="0"/>
              <a:t>The secondary AIR system monitor illuminates the MIL and stores a DTC in the PCM’s memory if the AIR system fails the active test on two consecutive trips.</a:t>
            </a:r>
          </a:p>
          <a:p>
            <a:pPr marL="357188" marR="0" lvl="0" indent="-357188" algn="l" rtl="0">
              <a:spcAft>
                <a:spcPts val="400"/>
              </a:spcAft>
              <a:buChar char="•"/>
            </a:pPr>
            <a:r>
              <a:rPr lang="en-US" sz="1800" dirty="0"/>
              <a:t>Some vehicles have an electric air pump system.</a:t>
            </a:r>
          </a:p>
          <a:p>
            <a:pPr marL="357188" marR="0" lvl="0" indent="-357188" algn="l" rtl="0">
              <a:spcAft>
                <a:spcPts val="400"/>
              </a:spcAft>
              <a:buChar char="•"/>
            </a:pPr>
            <a:r>
              <a:rPr lang="en-US" sz="1800" dirty="0"/>
              <a:t>In this system, the air pump is controlled by a solid-state relay.</a:t>
            </a:r>
          </a:p>
          <a:p>
            <a:pPr marL="357188" marR="0" lvl="0" indent="-357188" algn="l" rtl="0">
              <a:spcAft>
                <a:spcPts val="400"/>
              </a:spcAft>
              <a:buChar char="•"/>
            </a:pPr>
            <a:r>
              <a:rPr lang="en-US" sz="1800" dirty="0"/>
              <a:t>The relay is operated by a signal from the PCM.</a:t>
            </a:r>
            <a:endParaRPr lang="en-US" sz="1200" dirty="0"/>
          </a:p>
        </p:txBody>
      </p:sp>
      <p:pic>
        <p:nvPicPr>
          <p:cNvPr id="8" name="Picture Placeholder 7" descr="An illustration of an electric air pump system. The following parts are labeled: L H exhaust manifold (at top), R H catalytic converter (at bottom), Air divert Valves (A I R D), Electric air pump, L H catalytic converter, Air pump, L H exhaust manifold, Vacuum source, Air-injection bypass solenoid, B positive, and Solid-state relay. In the following illustration the connection is given as: vacuum source is supplied to air-injection bypass solenoid and it is further grounded. The other end of the air-injection bypass solenoid is connected to two air divert valves (A I R D). Positive B signal is supplied to solid-state relay. One port of air-injection bypass solenoid is connected to the solid-state relay. The third port of the solid-state solenoid is connected to an electric pump, which is further grounded. The three terminals of L H exhaust manifold are connected to air divert valves (A I R D), which is connected to electric air pump and further grounded. The three terminals of the R H exhaust manifold is connected to air divert valves, which is further connected to another air divert valves and electric pump that is further grounded.">
            <a:extLst>
              <a:ext uri="{FF2B5EF4-FFF2-40B4-BE49-F238E27FC236}">
                <a16:creationId xmlns:a16="http://schemas.microsoft.com/office/drawing/2014/main" id="{E6E6FED8-FBA8-985A-ADC8-3BABDAF059E3}"/>
              </a:ext>
            </a:extLst>
          </p:cNvPr>
          <p:cNvPicPr>
            <a:picLocks noGrp="1" noChangeAspect="1"/>
          </p:cNvPicPr>
          <p:nvPr>
            <p:ph type="pic" sz="quarter" idx="13"/>
          </p:nvPr>
        </p:nvPicPr>
        <p:blipFill rotWithShape="1">
          <a:blip r:embed="rId3"/>
          <a:srcRect b="7295"/>
          <a:stretch/>
        </p:blipFill>
        <p:spPr>
          <a:xfrm>
            <a:off x="8785415" y="2467628"/>
            <a:ext cx="3097030" cy="2190870"/>
          </a:xfrm>
          <a:prstGeom prst="rect">
            <a:avLst/>
          </a:prstGeom>
        </p:spPr>
      </p:pic>
    </p:spTree>
    <p:extLst>
      <p:ext uri="{BB962C8B-B14F-4D97-AF65-F5344CB8AC3E}">
        <p14:creationId xmlns:p14="http://schemas.microsoft.com/office/powerpoint/2010/main" val="3507687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Variable Cam Timing System Monitor </a:t>
            </a:r>
            <a:endParaRPr sz="3600" dirty="0"/>
          </a:p>
        </p:txBody>
      </p:sp>
      <p:pic>
        <p:nvPicPr>
          <p:cNvPr id="8" name="Picture Placeholder 7" descr="Camshaft sensors positioned in late model vehicles that check and monitor the system operation.">
            <a:extLst>
              <a:ext uri="{FF2B5EF4-FFF2-40B4-BE49-F238E27FC236}">
                <a16:creationId xmlns:a16="http://schemas.microsoft.com/office/drawing/2014/main" id="{B376D5F3-72D6-30E7-1E13-7879160E62E8}"/>
              </a:ext>
            </a:extLst>
          </p:cNvPr>
          <p:cNvPicPr>
            <a:picLocks noGrp="1" noChangeAspect="1"/>
          </p:cNvPicPr>
          <p:nvPr>
            <p:ph type="pic" sz="quarter" idx="12"/>
          </p:nvPr>
        </p:nvPicPr>
        <p:blipFill rotWithShape="1">
          <a:blip r:embed="rId3"/>
          <a:srcRect b="8676"/>
          <a:stretch/>
        </p:blipFill>
        <p:spPr>
          <a:xfrm>
            <a:off x="869939" y="1970898"/>
            <a:ext cx="4372585" cy="3218940"/>
          </a:xfrm>
          <a:prstGeom prst="rect">
            <a:avLst/>
          </a:prstGeom>
        </p:spPr>
      </p:pic>
      <p:sp>
        <p:nvSpPr>
          <p:cNvPr id="145" name="Google Shape;145;p4"/>
          <p:cNvSpPr txBox="1">
            <a:spLocks noGrp="1"/>
          </p:cNvSpPr>
          <p:nvPr>
            <p:ph type="body" idx="1"/>
          </p:nvPr>
        </p:nvSpPr>
        <p:spPr>
          <a:xfrm>
            <a:off x="5399903" y="1563624"/>
            <a:ext cx="6318855" cy="4379976"/>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Late-model vehicles equipped with variable valve timing (VVT) use a monitor that checks system operation.</a:t>
            </a:r>
          </a:p>
          <a:p>
            <a:pPr marL="357188" marR="0" lvl="0" indent="-357188" algn="l" rtl="0">
              <a:buChar char="•"/>
            </a:pPr>
            <a:r>
              <a:rPr lang="en-US" sz="2000" dirty="0"/>
              <a:t>Because VVT systems are often used for EGR purposes, the operation of the VVT can directly affect exhaust emissions.</a:t>
            </a:r>
          </a:p>
          <a:p>
            <a:pPr marL="357188" marR="0" lvl="0" indent="-357188" algn="l" rtl="0">
              <a:buChar char="•"/>
            </a:pPr>
            <a:r>
              <a:rPr lang="en-US" sz="2000" dirty="0"/>
              <a:t>The monitor examines the response time for the camshaft position to change based on VVT command and camshaft position measured by the CMP sensor.</a:t>
            </a:r>
          </a:p>
          <a:p>
            <a:pPr marL="357188" marR="0" lvl="0" indent="-357188" algn="l" rtl="0">
              <a:buChar char="•"/>
            </a:pPr>
            <a:r>
              <a:rPr lang="en-US" sz="2000" dirty="0"/>
              <a:t>If the response rate is slow, a DTC will set for VVT performance.</a:t>
            </a:r>
          </a:p>
        </p:txBody>
      </p:sp>
    </p:spTree>
    <p:extLst>
      <p:ext uri="{BB962C8B-B14F-4D97-AF65-F5344CB8AC3E}">
        <p14:creationId xmlns:p14="http://schemas.microsoft.com/office/powerpoint/2010/main" val="3536452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r>
              <a:rPr lang="en-US" dirty="0"/>
              <a:t>OBD II monitors the performance of emission and other related systems.</a:t>
            </a:r>
          </a:p>
          <a:p>
            <a:pPr marL="358775" lvl="0" indent="-358775" algn="l" rtl="0">
              <a:lnSpc>
                <a:spcPct val="100000"/>
              </a:lnSpc>
              <a:buChar char="•"/>
            </a:pPr>
            <a:r>
              <a:rPr lang="en-US" dirty="0"/>
              <a:t>Have a class discussion while providing several examples of emissions systems and an overall view of how each of these systems of devices is monitored.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Self-Diagnostics (1 of 3)</a:t>
            </a:r>
            <a:endParaRPr dirty="0"/>
          </a:p>
        </p:txBody>
      </p:sp>
      <p:sp>
        <p:nvSpPr>
          <p:cNvPr id="145" name="Google Shape;145;p4"/>
          <p:cNvSpPr txBox="1">
            <a:spLocks noGrp="1"/>
          </p:cNvSpPr>
          <p:nvPr>
            <p:ph type="body" idx="1"/>
          </p:nvPr>
        </p:nvSpPr>
        <p:spPr>
          <a:xfrm>
            <a:off x="568411" y="1489484"/>
            <a:ext cx="11150347" cy="4701251"/>
          </a:xfrm>
          <a:prstGeom prst="rect">
            <a:avLst/>
          </a:prstGeom>
          <a:noFill/>
          <a:ln>
            <a:noFill/>
          </a:ln>
        </p:spPr>
        <p:txBody>
          <a:bodyPr spcFirstLastPara="1" wrap="square" lIns="91425" tIns="45700" rIns="91425" bIns="45700" anchor="t" anchorCtr="0">
            <a:noAutofit/>
          </a:bodyPr>
          <a:lstStyle/>
          <a:p>
            <a:pPr marL="357188" marR="0" lvl="0" indent="-357188" algn="l" rtl="0">
              <a:lnSpc>
                <a:spcPct val="107000"/>
              </a:lnSpc>
              <a:spcBef>
                <a:spcPts val="0"/>
              </a:spcBef>
              <a:spcAft>
                <a:spcPts val="0"/>
              </a:spcAft>
              <a:buChar char="•"/>
            </a:pPr>
            <a:r>
              <a:rPr lang="en-US" sz="2000" dirty="0"/>
              <a:t>MIL</a:t>
            </a:r>
          </a:p>
          <a:p>
            <a:pPr marL="715963" lvl="1" indent="-357188">
              <a:spcAft>
                <a:spcPts val="400"/>
              </a:spcAft>
            </a:pPr>
            <a:r>
              <a:rPr lang="en-US" sz="1800" dirty="0"/>
              <a:t>According to OBD II regulations, the PCM must illuminate the MIL when it detects a problem that affects emissions.</a:t>
            </a:r>
          </a:p>
          <a:p>
            <a:pPr marL="715963" lvl="1" indent="-357188">
              <a:spcAft>
                <a:spcPts val="400"/>
              </a:spcAft>
            </a:pPr>
            <a:r>
              <a:rPr lang="en-US" sz="1800" dirty="0"/>
              <a:t>Also, when a malfunction is detected, a DTC must be set.</a:t>
            </a:r>
          </a:p>
          <a:p>
            <a:pPr marL="715963" lvl="1" indent="-357188">
              <a:spcAft>
                <a:spcPts val="400"/>
              </a:spcAft>
            </a:pPr>
            <a:r>
              <a:rPr lang="en-US" sz="1800" dirty="0"/>
              <a:t>Depending on the problem, the MIL will either light and stay on or it will blink.</a:t>
            </a:r>
          </a:p>
          <a:p>
            <a:pPr marL="715963" lvl="1" indent="-357188">
              <a:spcAft>
                <a:spcPts val="400"/>
              </a:spcAft>
            </a:pPr>
            <a:r>
              <a:rPr lang="en-US" sz="1800" dirty="0"/>
              <a:t>The action of the MIL depends on the monitor and the problem.</a:t>
            </a:r>
          </a:p>
          <a:p>
            <a:pPr marL="715963" lvl="1" indent="-357188">
              <a:spcAft>
                <a:spcPts val="400"/>
              </a:spcAft>
            </a:pPr>
            <a:r>
              <a:rPr lang="en-US" sz="1800" dirty="0"/>
              <a:t>For example, a misfire that would allow emissions to exceed regulations but not damage the catalyst will light the MIL.</a:t>
            </a:r>
          </a:p>
          <a:p>
            <a:pPr marL="715963" lvl="1" indent="-357188">
              <a:spcAft>
                <a:spcPts val="400"/>
              </a:spcAft>
            </a:pPr>
            <a:r>
              <a:rPr lang="en-US" sz="1800" dirty="0"/>
              <a:t>If the misfire will raise the catalytic converter’s temperature enough to destroy it, the MIL will blink.</a:t>
            </a:r>
          </a:p>
          <a:p>
            <a:pPr marL="715963" lvl="1" indent="-357188">
              <a:spcAft>
                <a:spcPts val="400"/>
              </a:spcAft>
            </a:pPr>
            <a:r>
              <a:rPr lang="en-US" sz="1800" dirty="0"/>
              <a:t>The MIL will be turned off if the misfire did not occur during three consecutive drive cycles.</a:t>
            </a:r>
          </a:p>
          <a:p>
            <a:pPr marL="715963" lvl="1" indent="-357188">
              <a:spcAft>
                <a:spcPts val="400"/>
              </a:spcAft>
            </a:pPr>
            <a:r>
              <a:rPr lang="en-US" sz="1800" dirty="0"/>
              <a:t>This requirement is true for most monitors.</a:t>
            </a:r>
            <a:endParaRPr lang="en-US" sz="2100" dirty="0"/>
          </a:p>
        </p:txBody>
      </p:sp>
    </p:spTree>
    <p:extLst>
      <p:ext uri="{BB962C8B-B14F-4D97-AF65-F5344CB8AC3E}">
        <p14:creationId xmlns:p14="http://schemas.microsoft.com/office/powerpoint/2010/main" val="3517180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Self-Diagnostics (2 of 3)</a:t>
            </a:r>
            <a:endParaRPr sz="3600" dirty="0"/>
          </a:p>
        </p:txBody>
      </p:sp>
      <p:sp>
        <p:nvSpPr>
          <p:cNvPr id="145" name="Google Shape;145;p4"/>
          <p:cNvSpPr txBox="1">
            <a:spLocks noGrp="1"/>
          </p:cNvSpPr>
          <p:nvPr>
            <p:ph type="body" idx="1"/>
          </p:nvPr>
        </p:nvSpPr>
        <p:spPr>
          <a:xfrm>
            <a:off x="476844" y="1526047"/>
            <a:ext cx="7703330" cy="4577683"/>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Diagnostic Trouble Codes </a:t>
            </a:r>
          </a:p>
          <a:p>
            <a:pPr marL="715963" lvl="1" indent="-357188"/>
            <a:r>
              <a:rPr lang="en-US" sz="1800" dirty="0"/>
              <a:t>Generic OBD II codes are standardized, which means that most DTCs mean the same thing regardless of the vehicle. </a:t>
            </a:r>
          </a:p>
          <a:p>
            <a:pPr marL="715963" lvl="1" indent="-357188"/>
            <a:r>
              <a:rPr lang="en-US" sz="1800" dirty="0"/>
              <a:t>DTCs are designed to indicate the circuit and the system where a fault has been detected.</a:t>
            </a:r>
          </a:p>
          <a:p>
            <a:pPr marL="715963" lvl="1" indent="-357188"/>
            <a:r>
              <a:rPr lang="en-US" sz="1800" dirty="0"/>
              <a:t>An OBD II DTC is a five-character code with both letters and numbers.</a:t>
            </a:r>
          </a:p>
          <a:p>
            <a:pPr marL="715963" lvl="1" indent="-357188"/>
            <a:r>
              <a:rPr lang="en-US" sz="1800" dirty="0"/>
              <a:t>This is called the alphanumeric system.</a:t>
            </a:r>
          </a:p>
          <a:p>
            <a:pPr marL="715963" lvl="1" indent="-357188"/>
            <a:r>
              <a:rPr lang="en-US" sz="1800" dirty="0"/>
              <a:t>The first character of the code is a letter.</a:t>
            </a:r>
          </a:p>
          <a:p>
            <a:pPr marL="715963" lvl="1" indent="-357188"/>
            <a:r>
              <a:rPr lang="en-US" sz="1800" dirty="0"/>
              <a:t>This defines the system where the code was set. Currently there are four possible first character codes: “B” for body, “C” for chassis, “P” for powertrain, and “U” originally for undefined. </a:t>
            </a:r>
            <a:endParaRPr lang="en-US" sz="1200" dirty="0"/>
          </a:p>
        </p:txBody>
      </p:sp>
      <p:pic>
        <p:nvPicPr>
          <p:cNvPr id="8" name="Picture Placeholder 7" descr="A table depicts O B D 2 D T C codes of five characters. The table has four rows. The row-wise details are as follows: (row 1) First digit - Letter indicates component group area. P = Powertrain, B = Body, C = Chassis, U = Network communications. (row 2) Second digit. 0 = S A E or O B D mandated, 1 = manufacturer specific. (row 3) Third digit - Subgroup, powertrain subgroups: 0 = total system, 1 = fuel and air metering, 3 = Ignition system or misfire, 4 = auxiliary emission controls, 5 = Idle speed control, 6 = P C M and auxiliary inputs, 7 = Transmission, 8 = Transmission. (row 4) Fourth and fifth digits - define the area or component and basic problem.">
            <a:extLst>
              <a:ext uri="{FF2B5EF4-FFF2-40B4-BE49-F238E27FC236}">
                <a16:creationId xmlns:a16="http://schemas.microsoft.com/office/drawing/2014/main" id="{2C7EFCAA-A7B8-3FC4-2ECB-37CD9D9FC388}"/>
              </a:ext>
            </a:extLst>
          </p:cNvPr>
          <p:cNvPicPr>
            <a:picLocks noGrp="1" noChangeAspect="1"/>
          </p:cNvPicPr>
          <p:nvPr>
            <p:ph type="pic" sz="quarter" idx="13"/>
          </p:nvPr>
        </p:nvPicPr>
        <p:blipFill rotWithShape="1">
          <a:blip r:embed="rId3"/>
          <a:srcRect b="5564"/>
          <a:stretch/>
        </p:blipFill>
        <p:spPr>
          <a:xfrm>
            <a:off x="8394693" y="1695812"/>
            <a:ext cx="3514674" cy="4116265"/>
          </a:xfrm>
          <a:prstGeom prst="rect">
            <a:avLst/>
          </a:prstGeom>
        </p:spPr>
      </p:pic>
    </p:spTree>
    <p:extLst>
      <p:ext uri="{BB962C8B-B14F-4D97-AF65-F5344CB8AC3E}">
        <p14:creationId xmlns:p14="http://schemas.microsoft.com/office/powerpoint/2010/main" val="1012079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OBD II Self-Diagnostics (3 of 3)</a:t>
            </a:r>
            <a:endParaRPr sz="3600" dirty="0"/>
          </a:p>
        </p:txBody>
      </p:sp>
      <p:sp>
        <p:nvSpPr>
          <p:cNvPr id="145" name="Google Shape;145;p4"/>
          <p:cNvSpPr txBox="1">
            <a:spLocks noGrp="1"/>
          </p:cNvSpPr>
          <p:nvPr>
            <p:ph type="body" idx="1"/>
          </p:nvPr>
        </p:nvSpPr>
        <p:spPr>
          <a:xfrm>
            <a:off x="476844" y="1563624"/>
            <a:ext cx="7239189" cy="4614753"/>
          </a:xfrm>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2000" dirty="0">
                <a:solidFill>
                  <a:schemeClr val="tx1"/>
                </a:solidFill>
              </a:rPr>
              <a:t>Freeze Frame Data</a:t>
            </a:r>
          </a:p>
          <a:p>
            <a:pPr marL="715963" lvl="1" indent="-357188">
              <a:spcAft>
                <a:spcPts val="0"/>
              </a:spcAft>
            </a:pPr>
            <a:r>
              <a:rPr lang="en-US" sz="1800" dirty="0">
                <a:solidFill>
                  <a:schemeClr val="tx1"/>
                </a:solidFill>
              </a:rPr>
              <a:t>One of the mandated capabilities of OBD II is the “freeze frame” or snapshot feature.</a:t>
            </a:r>
          </a:p>
          <a:p>
            <a:pPr marL="715963" lvl="1" indent="-357188">
              <a:spcAft>
                <a:spcPts val="0"/>
              </a:spcAft>
            </a:pPr>
            <a:r>
              <a:rPr lang="en-US" sz="1800" dirty="0">
                <a:solidFill>
                  <a:schemeClr val="tx1"/>
                </a:solidFill>
              </a:rPr>
              <a:t>With this feature, the PCM takes a snapshot of the activity of the various inputs and outputs at the time the PCM illuminated the MIL.</a:t>
            </a:r>
          </a:p>
          <a:p>
            <a:pPr marL="715963" lvl="1" indent="-357188">
              <a:spcAft>
                <a:spcPts val="0"/>
              </a:spcAft>
            </a:pPr>
            <a:r>
              <a:rPr lang="en-US" sz="1800" dirty="0">
                <a:solidFill>
                  <a:schemeClr val="tx1"/>
                </a:solidFill>
              </a:rPr>
              <a:t>The PCM uses this data for identification and comparison of similar operating conditions if the same problem occurs in the future.</a:t>
            </a:r>
          </a:p>
          <a:p>
            <a:pPr marL="715963" lvl="1" indent="-357188">
              <a:spcAft>
                <a:spcPts val="0"/>
              </a:spcAft>
            </a:pPr>
            <a:r>
              <a:rPr lang="en-US" sz="1800" dirty="0">
                <a:solidFill>
                  <a:schemeClr val="tx1"/>
                </a:solidFill>
              </a:rPr>
              <a:t>This feature is also valuable to technicians, especially when trying to identify the cause of an intermittent problem.</a:t>
            </a:r>
          </a:p>
          <a:p>
            <a:pPr marL="715963" lvl="1" indent="-357188">
              <a:spcAft>
                <a:spcPts val="0"/>
              </a:spcAft>
            </a:pPr>
            <a:r>
              <a:rPr lang="en-US" sz="1800" dirty="0">
                <a:solidFill>
                  <a:schemeClr val="tx1"/>
                </a:solidFill>
              </a:rPr>
              <a:t>The action of sensors and actuators when the code was set can be reviewed.</a:t>
            </a:r>
          </a:p>
        </p:txBody>
      </p:sp>
      <p:pic>
        <p:nvPicPr>
          <p:cNvPr id="8" name="Picture Placeholder 7" descr="A screenshot of an example of the data captured in a freeze frame for a D T C. The header reads, Global OBDIT. The text below reads as follows; Line 1. Freeze Frame Data is in the middle between the asterisk. Line 2. COMMANDED EQUIVALENCE RATIO, 0.739; Line 3. FUEL SYSTEM 1, OPEN LOOP; Line 4. FUEL SYSTEM 2, NOT USED; Line 5. INTAKE AIR TEMPERATURE (degrees Fahrenheit), 16052; Line 6. ENGINE COOLANT TEMPERATURE (degrees Fahrenheit), 23972; Line 7. INTAKE MAP ( Hg), 3.0; line 8. BAROMETRIC PRESSURE ( Hg), 3.0; Line 9. IGNITION TIMING ADVANCE (degrees), 0.0; Line 10. SHORT TERM FUEL TRIM BANK 1 (%), 0.0; Line 11. LONG TERM FUEL TRIM BANK 1 (%), 10.9; Line 12. COMMANDER E G R (%), 0.0. Four blank check boxes are at bottom numbered 1, 2, 3, and 4.">
            <a:extLst>
              <a:ext uri="{FF2B5EF4-FFF2-40B4-BE49-F238E27FC236}">
                <a16:creationId xmlns:a16="http://schemas.microsoft.com/office/drawing/2014/main" id="{8D30C17B-A4A0-7BA2-0F6E-441538C83C96}"/>
              </a:ext>
            </a:extLst>
          </p:cNvPr>
          <p:cNvPicPr>
            <a:picLocks noGrp="1" noChangeAspect="1"/>
          </p:cNvPicPr>
          <p:nvPr>
            <p:ph type="pic" sz="quarter" idx="13"/>
          </p:nvPr>
        </p:nvPicPr>
        <p:blipFill rotWithShape="1">
          <a:blip r:embed="rId3"/>
          <a:srcRect b="13432"/>
          <a:stretch/>
        </p:blipFill>
        <p:spPr>
          <a:xfrm>
            <a:off x="7894789" y="2030227"/>
            <a:ext cx="4138152" cy="2942606"/>
          </a:xfrm>
          <a:prstGeom prst="rect">
            <a:avLst/>
          </a:prstGeom>
        </p:spPr>
      </p:pic>
    </p:spTree>
    <p:extLst>
      <p:ext uri="{BB962C8B-B14F-4D97-AF65-F5344CB8AC3E}">
        <p14:creationId xmlns:p14="http://schemas.microsoft.com/office/powerpoint/2010/main" val="1713793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Basic Diagnosis of Electronic Engine Control Systems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2200" dirty="0"/>
              <a:t>Logical Diagnosis</a:t>
            </a:r>
          </a:p>
          <a:p>
            <a:pPr marL="715963" lvl="1" indent="-357188">
              <a:spcAft>
                <a:spcPts val="400"/>
              </a:spcAft>
            </a:pPr>
            <a:r>
              <a:rPr lang="en-US" sz="2000" dirty="0"/>
              <a:t>When faced with an abnormal engine condition, the best automotive technicians compare clues (such as scan tool data, meter readings) with their knowledge of proper conditions and discover a logical reason for the way the engine is performing.</a:t>
            </a:r>
          </a:p>
          <a:p>
            <a:pPr marL="715963" lvl="1" indent="-357188">
              <a:spcAft>
                <a:spcPts val="400"/>
              </a:spcAft>
            </a:pPr>
            <a:r>
              <a:rPr lang="en-US" sz="2000" dirty="0"/>
              <a:t>Logical diagnosis means following a simple basic procedure.</a:t>
            </a:r>
          </a:p>
          <a:p>
            <a:pPr marL="715963" lvl="1" indent="-357188">
              <a:spcAft>
                <a:spcPts val="400"/>
              </a:spcAft>
            </a:pPr>
            <a:r>
              <a:rPr lang="en-US" sz="2000" dirty="0"/>
              <a:t>Start with the most likely cause and work to the most unlikely.</a:t>
            </a:r>
          </a:p>
          <a:p>
            <a:pPr marL="715963" lvl="1" indent="-357188">
              <a:spcAft>
                <a:spcPts val="400"/>
              </a:spcAft>
            </a:pPr>
            <a:r>
              <a:rPr lang="en-US" sz="2000" dirty="0"/>
              <a:t>Do not guess at the problem before considering all the factors.</a:t>
            </a:r>
          </a:p>
          <a:p>
            <a:pPr marL="715963" lvl="1" indent="-357188">
              <a:spcAft>
                <a:spcPts val="400"/>
              </a:spcAft>
            </a:pPr>
            <a:r>
              <a:rPr lang="en-US" sz="2000" dirty="0"/>
              <a:t>The logical approach has a special application to troubleshooting electronic engine controls.</a:t>
            </a:r>
          </a:p>
          <a:p>
            <a:pPr marL="715963" lvl="1" indent="-357188">
              <a:spcAft>
                <a:spcPts val="400"/>
              </a:spcAft>
            </a:pPr>
            <a:r>
              <a:rPr lang="en-US" sz="2000" dirty="0"/>
              <a:t>Always check all traditional nonelectronic engine control possibilities before attempting to diagnose the electronic engine control system.</a:t>
            </a:r>
          </a:p>
        </p:txBody>
      </p:sp>
    </p:spTree>
    <p:extLst>
      <p:ext uri="{BB962C8B-B14F-4D97-AF65-F5344CB8AC3E}">
        <p14:creationId xmlns:p14="http://schemas.microsoft.com/office/powerpoint/2010/main" val="3208581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Basic Diagnosis of Electronic Engine Control Systems (2 of 2)</a:t>
            </a:r>
            <a:endParaRPr dirty="0"/>
          </a:p>
        </p:txBody>
      </p:sp>
      <p:sp>
        <p:nvSpPr>
          <p:cNvPr id="145" name="Google Shape;145;p4"/>
          <p:cNvSpPr txBox="1">
            <a:spLocks noGrp="1"/>
          </p:cNvSpPr>
          <p:nvPr>
            <p:ph type="body" idx="1"/>
          </p:nvPr>
        </p:nvSpPr>
        <p:spPr>
          <a:xfrm>
            <a:off x="476843" y="1563624"/>
            <a:ext cx="11241915" cy="4528257"/>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Repair Information</a:t>
            </a:r>
          </a:p>
          <a:p>
            <a:pPr marL="715963" lvl="1" indent="-357188"/>
            <a:r>
              <a:rPr lang="en-US" sz="1800" dirty="0"/>
              <a:t>All late-model engine controls have self-diagnosis capabilities.</a:t>
            </a:r>
          </a:p>
          <a:p>
            <a:pPr marL="715963" lvl="1" indent="-357188"/>
            <a:r>
              <a:rPr lang="en-US" sz="1800" dirty="0"/>
              <a:t>A malfunction in any sensor, output device, or in the computer itself is stored as a DTC.</a:t>
            </a:r>
          </a:p>
          <a:p>
            <a:pPr marL="715963" lvl="1" indent="-357188"/>
            <a:r>
              <a:rPr lang="en-US" sz="1800" dirty="0"/>
              <a:t>DTCs are retrieved and the indicated problem areas checked further.</a:t>
            </a:r>
          </a:p>
          <a:p>
            <a:pPr marL="715963" lvl="1" indent="-357188"/>
            <a:r>
              <a:rPr lang="en-US" sz="1800" dirty="0"/>
              <a:t>Correct diagnosis depends on correctly interpreting all data collected and performing all subsequent tests properly.</a:t>
            </a:r>
          </a:p>
          <a:p>
            <a:pPr marL="715963" lvl="1" indent="-357188"/>
            <a:r>
              <a:rPr lang="en-US" sz="1800" dirty="0"/>
              <a:t>The following are a few of the service information that will help:</a:t>
            </a:r>
          </a:p>
          <a:p>
            <a:pPr marL="1257300" lvl="2" indent="-342900"/>
            <a:r>
              <a:rPr lang="en-US" sz="1600" dirty="0"/>
              <a:t>Instructions for retrieving DTCs and obtaining freeze frames</a:t>
            </a:r>
          </a:p>
          <a:p>
            <a:pPr marL="1257300" lvl="2" indent="-342900"/>
            <a:r>
              <a:rPr lang="en-US" sz="1600" dirty="0"/>
              <a:t>Instructions for diagnosing a no communication problem between the system and the scan tool</a:t>
            </a:r>
          </a:p>
          <a:p>
            <a:pPr marL="1257300" lvl="2" indent="-342900"/>
            <a:r>
              <a:rPr lang="en-US" sz="1600" dirty="0"/>
              <a:t>Current technical bulletins for the vehicle</a:t>
            </a:r>
          </a:p>
        </p:txBody>
      </p:sp>
    </p:spTree>
    <p:extLst>
      <p:ext uri="{BB962C8B-B14F-4D97-AF65-F5344CB8AC3E}">
        <p14:creationId xmlns:p14="http://schemas.microsoft.com/office/powerpoint/2010/main" val="967794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Diagnosing OBD II Systems</a:t>
            </a:r>
            <a:endParaRPr sz="3600" dirty="0"/>
          </a:p>
        </p:txBody>
      </p:sp>
      <p:sp>
        <p:nvSpPr>
          <p:cNvPr id="145" name="Google Shape;145;p4"/>
          <p:cNvSpPr txBox="1">
            <a:spLocks noGrp="1"/>
          </p:cNvSpPr>
          <p:nvPr>
            <p:ph type="body" idx="1"/>
          </p:nvPr>
        </p:nvSpPr>
        <p:spPr>
          <a:xfrm>
            <a:off x="476844" y="1563624"/>
            <a:ext cx="7394410" cy="4417045"/>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All OBD II scan tools include a readiness function that shows all of the monitoring sequences and the status of each: complete or incomplete.</a:t>
            </a:r>
          </a:p>
          <a:p>
            <a:pPr marL="357188" marR="0" lvl="0" indent="-357188" algn="l" rtl="0">
              <a:buChar char="•"/>
            </a:pPr>
            <a:r>
              <a:rPr lang="en-US" sz="2000" dirty="0"/>
              <a:t>Some systems may show the monitors as ready or not-ready.</a:t>
            </a:r>
          </a:p>
          <a:p>
            <a:pPr marL="357188" marR="0" lvl="0" indent="-357188" algn="l" rtl="0">
              <a:buChar char="•"/>
            </a:pPr>
            <a:r>
              <a:rPr lang="en-US" sz="2000" dirty="0"/>
              <a:t>Incomplete can mean the monitor did not complete, judgment is withheld pending further testing, the monitor did not operate, or the monitor operated and recorded a failure.</a:t>
            </a:r>
          </a:p>
          <a:p>
            <a:pPr marL="357188" marR="0" lvl="0" indent="-357188" algn="l" rtl="0">
              <a:buChar char="•"/>
            </a:pPr>
            <a:r>
              <a:rPr lang="en-US" sz="2000" dirty="0"/>
              <a:t>The “Readiness Test” and “Monitor Status” screens on most scan tools contain identical information.</a:t>
            </a:r>
          </a:p>
          <a:p>
            <a:pPr marL="357188" marR="0" lvl="0" indent="-357188" algn="l" rtl="0">
              <a:buChar char="•"/>
            </a:pPr>
            <a:r>
              <a:rPr lang="en-US" sz="2000" dirty="0"/>
              <a:t>Readiness monitor tools are available.</a:t>
            </a:r>
          </a:p>
        </p:txBody>
      </p:sp>
      <p:pic>
        <p:nvPicPr>
          <p:cNvPr id="8" name="Picture Placeholder 7" descr="A screenshot of a report from a scan tool depicts the monitor to be completed. The header reads, Honda/ Acura 1983-2010. The text below reads as follows; Line 1. Readiness Monitors, in the middle between asterisk. Line 2. E C U I D: $ 09; Line 3. Misfire, Test Complete; Line 4. Fuel System, Test Complete; Line 5. Components, Test Complete; Line 6. Catalyst, Not Complete; Line 7. Heated Catalyst, Not Supported; Line 8. Evaporative System, Test Complete; Line 9. Sec. Air System, Not Supported; Line 10. A/ C System Refrigerator, Not Supported; Line 11. 02 Sensor, Not Complete; Line 12. 02 Sensor Heater, Test Complete. Four blank check boxes are at the bottom numbered 1, 2, 3, and 4.">
            <a:extLst>
              <a:ext uri="{FF2B5EF4-FFF2-40B4-BE49-F238E27FC236}">
                <a16:creationId xmlns:a16="http://schemas.microsoft.com/office/drawing/2014/main" id="{48E9685A-A2B4-A2B1-18AB-42B8DF899863}"/>
              </a:ext>
            </a:extLst>
          </p:cNvPr>
          <p:cNvPicPr>
            <a:picLocks noGrp="1" noChangeAspect="1"/>
          </p:cNvPicPr>
          <p:nvPr>
            <p:ph type="pic" sz="quarter" idx="13"/>
          </p:nvPr>
        </p:nvPicPr>
        <p:blipFill>
          <a:blip r:embed="rId3"/>
          <a:srcRect b="17739"/>
          <a:stretch/>
        </p:blipFill>
        <p:spPr>
          <a:xfrm>
            <a:off x="8021692" y="1878905"/>
            <a:ext cx="3995562" cy="2830882"/>
          </a:xfrm>
          <a:prstGeom prst="rect">
            <a:avLst/>
          </a:prstGeom>
        </p:spPr>
      </p:pic>
    </p:spTree>
    <p:extLst>
      <p:ext uri="{BB962C8B-B14F-4D97-AF65-F5344CB8AC3E}">
        <p14:creationId xmlns:p14="http://schemas.microsoft.com/office/powerpoint/2010/main" val="3714397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Parameter Identifications</a:t>
            </a:r>
            <a:endParaRPr sz="3600" dirty="0"/>
          </a:p>
        </p:txBody>
      </p:sp>
      <p:sp>
        <p:nvSpPr>
          <p:cNvPr id="145" name="Google Shape;145;p4"/>
          <p:cNvSpPr txBox="1">
            <a:spLocks noGrp="1"/>
          </p:cNvSpPr>
          <p:nvPr>
            <p:ph type="body" idx="1"/>
          </p:nvPr>
        </p:nvSpPr>
        <p:spPr>
          <a:xfrm>
            <a:off x="476843" y="1427697"/>
            <a:ext cx="11241915" cy="4750681"/>
          </a:xfrm>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1800" dirty="0"/>
              <a:t>Parameter identification codes, usually called PIDs, identify which pieces of data the scan tool is requesting.</a:t>
            </a:r>
          </a:p>
          <a:p>
            <a:pPr marL="357188" marR="0" lvl="0" indent="-357188" algn="l" rtl="0">
              <a:spcAft>
                <a:spcPts val="0"/>
              </a:spcAft>
              <a:buChar char="•"/>
            </a:pPr>
            <a:r>
              <a:rPr lang="en-US" sz="1800" dirty="0"/>
              <a:t>When a scan tool is connected to the DLC and serial data is displayed, the scan tool is asking the computer to see sensor data that is categorized by the parameter ID.</a:t>
            </a:r>
          </a:p>
          <a:p>
            <a:pPr marL="357188" marR="0" lvl="0" indent="-357188" algn="l" rtl="0">
              <a:spcAft>
                <a:spcPts val="0"/>
              </a:spcAft>
              <a:buChar char="•"/>
            </a:pPr>
            <a:r>
              <a:rPr lang="en-US" sz="1800" dirty="0"/>
              <a:t>For example, when you use the scan tool to observe engine coolant temperature sensor data, the scan tool requests data from Mode $01 PID 5.</a:t>
            </a:r>
          </a:p>
          <a:p>
            <a:pPr marL="357188" marR="0" lvl="0" indent="-357188" algn="l" rtl="0">
              <a:spcAft>
                <a:spcPts val="0"/>
              </a:spcAft>
              <a:buChar char="•"/>
            </a:pPr>
            <a:r>
              <a:rPr lang="en-US" sz="1800" dirty="0"/>
              <a:t>Regardless of what scan tool is used on an OBD II equipped vehicle, requesting generic data from Mode $01 PID 5 will show ECT data.</a:t>
            </a:r>
          </a:p>
          <a:p>
            <a:pPr marL="357188" marR="0" lvl="0" indent="-357188" algn="l" rtl="0">
              <a:spcAft>
                <a:spcPts val="0"/>
              </a:spcAft>
              <a:buChar char="•"/>
            </a:pPr>
            <a:r>
              <a:rPr lang="en-US" sz="1800" dirty="0"/>
              <a:t>The list of PIDs is standardized and has been updated since the introduction of OBD II.</a:t>
            </a:r>
          </a:p>
          <a:p>
            <a:pPr marL="357188" marR="0" lvl="0" indent="-357188" algn="l" rtl="0">
              <a:spcAft>
                <a:spcPts val="0"/>
              </a:spcAft>
              <a:buChar char="•"/>
            </a:pPr>
            <a:r>
              <a:rPr lang="en-US" sz="1800" dirty="0"/>
              <a:t>Generic PIDs can be accessed by any type of scan tool or code reader with generic functions. </a:t>
            </a:r>
          </a:p>
          <a:p>
            <a:pPr marL="357188" marR="0" lvl="0" indent="-357188" algn="l" rtl="0">
              <a:spcAft>
                <a:spcPts val="0"/>
              </a:spcAft>
              <a:buChar char="•"/>
            </a:pPr>
            <a:r>
              <a:rPr lang="en-US" sz="1800" dirty="0"/>
              <a:t>To access enhanced or manufacturer PIDs requires using either an enhanced or manufacturer’s scan tool.</a:t>
            </a:r>
          </a:p>
          <a:p>
            <a:pPr marL="357188" marR="0" lvl="0" indent="-357188" algn="l" rtl="0">
              <a:spcAft>
                <a:spcPts val="0"/>
              </a:spcAft>
              <a:buChar char="•"/>
            </a:pPr>
            <a:r>
              <a:rPr lang="en-US" sz="1800" dirty="0"/>
              <a:t>Because of these two separate sets of PIDs, not all data is available on a generic scan tool using Mode $01.</a:t>
            </a:r>
          </a:p>
        </p:txBody>
      </p:sp>
    </p:spTree>
    <p:extLst>
      <p:ext uri="{BB962C8B-B14F-4D97-AF65-F5344CB8AC3E}">
        <p14:creationId xmlns:p14="http://schemas.microsoft.com/office/powerpoint/2010/main" val="23953506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Serial Data</a:t>
            </a:r>
            <a:endParaRPr sz="3600" dirty="0"/>
          </a:p>
        </p:txBody>
      </p:sp>
      <p:sp>
        <p:nvSpPr>
          <p:cNvPr id="145" name="Google Shape;145;p4"/>
          <p:cNvSpPr txBox="1">
            <a:spLocks noGrp="1"/>
          </p:cNvSpPr>
          <p:nvPr>
            <p:ph type="body" idx="1"/>
          </p:nvPr>
        </p:nvSpPr>
        <p:spPr>
          <a:xfrm>
            <a:off x="476844" y="1390650"/>
            <a:ext cx="6524847" cy="4713587"/>
          </a:xfrm>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2000" dirty="0"/>
              <a:t>PIDs are codes used to request data from a PCM.</a:t>
            </a:r>
          </a:p>
          <a:p>
            <a:pPr marL="357188" marR="0" lvl="0" indent="-357188" algn="l" rtl="0">
              <a:spcAft>
                <a:spcPts val="0"/>
              </a:spcAft>
              <a:buChar char="•"/>
            </a:pPr>
            <a:r>
              <a:rPr lang="en-US" sz="2000" dirty="0"/>
              <a:t>A scan tool is used for the request and receipt of the serial data.</a:t>
            </a:r>
          </a:p>
          <a:p>
            <a:pPr marL="357188" marR="0" lvl="0" indent="-357188" algn="l" rtl="0">
              <a:spcAft>
                <a:spcPts val="0"/>
              </a:spcAft>
              <a:buChar char="•"/>
            </a:pPr>
            <a:r>
              <a:rPr lang="en-US" sz="2000" dirty="0"/>
              <a:t>To do this, the desired PID is requested by the scan tool.</a:t>
            </a:r>
          </a:p>
          <a:p>
            <a:pPr marL="357188" marR="0" lvl="0" indent="-357188" algn="l" rtl="0">
              <a:spcAft>
                <a:spcPts val="0"/>
              </a:spcAft>
              <a:buChar char="•"/>
            </a:pPr>
            <a:r>
              <a:rPr lang="en-US" sz="2000" dirty="0"/>
              <a:t>The device connected to the CAN bus that is responsible for this PID reports the value for that PID back to the bus and is read on the scan tool.</a:t>
            </a:r>
          </a:p>
          <a:p>
            <a:pPr marL="357188" marR="0" lvl="0" indent="-357188" algn="l" rtl="0">
              <a:spcAft>
                <a:spcPts val="0"/>
              </a:spcAft>
              <a:buChar char="•"/>
            </a:pPr>
            <a:r>
              <a:rPr lang="en-US" sz="2000" dirty="0"/>
              <a:t>Many PIDs are standard for all OBD II systems.</a:t>
            </a:r>
          </a:p>
          <a:p>
            <a:pPr marL="715963" lvl="1" indent="-357188">
              <a:spcAft>
                <a:spcPts val="0"/>
              </a:spcAft>
            </a:pPr>
            <a:r>
              <a:rPr lang="en-US" sz="1800" dirty="0"/>
              <a:t>However, not all vehicles will support all PIDs, and there are manufacturer defined PIDs that are not part of the OBD II standard.</a:t>
            </a:r>
          </a:p>
        </p:txBody>
      </p:sp>
      <p:pic>
        <p:nvPicPr>
          <p:cNvPr id="8" name="Picture Placeholder 7" descr="A screenshot of a sample list of O E available P I D s, depicts a list of parameters, the corresponding values, and units. The parameters listed are; Knoch Feedback Value, Knock Correct Learn Value, Catalyst Temp B1 S1, Catalyst Temp B1 S1, Closed Throttle Position S W, Engine Oil Pressure S W, # Codes (Include History), M I L O N Run distance, Running Time from M I L ON, Time after D T C Cleared, Warmup Cycle Cleared D T C, T C and T E 1, Ignition Trig. Count, Cylinder # 1 Misfire Count, Cylinder # 2 Misfire Count, Cylinder # 3 Misfire Count, Cylinder # 4 Misfire Count, All Cylinders Misfire Count, Misfire R P M, Misfire Load, Misfire Margin, Electric Fan Motor, Idle Fuel Cut, F C T A U, Request Engine Torque, H V Target Engine Speed, Actual Engine Torque, Estimated Engine Torque, Engine Run Time, Requested Engine Run Time, Judge Time Engine Ignition, Judge time Engine Output, Estimated Intake Port Temp, Fuel Level, I S C Learning, F/ C for engine stop request, Engine independent, racing operation, request warm up, Engine independent control, Tank Outlet water temperature, Water flow valve, I S C Learning Valve, Direction Valve 1, Direction valve 2. Several icons are at bottom with a drop down box has a selected option, Primary, and Sort A to Z, with a blank checkbox at bottom. List of tabs at the left with title 2008 Prius 1 N Z- F X E reads, J T D K B 20 U: Trouble Codes, Data list (highlighted), Active test, monitor, Utility, Dual data list, T I S Keyword, Print, and Close, at the bottom.">
            <a:extLst>
              <a:ext uri="{FF2B5EF4-FFF2-40B4-BE49-F238E27FC236}">
                <a16:creationId xmlns:a16="http://schemas.microsoft.com/office/drawing/2014/main" id="{BB09E854-DD1C-5745-B5AD-F21CE5786B46}"/>
              </a:ext>
            </a:extLst>
          </p:cNvPr>
          <p:cNvPicPr>
            <a:picLocks noGrp="1" noChangeAspect="1"/>
          </p:cNvPicPr>
          <p:nvPr>
            <p:ph type="pic" sz="quarter" idx="13"/>
          </p:nvPr>
        </p:nvPicPr>
        <p:blipFill>
          <a:blip r:embed="rId3"/>
          <a:srcRect b="6358"/>
          <a:stretch/>
        </p:blipFill>
        <p:spPr>
          <a:xfrm>
            <a:off x="7166081" y="2244112"/>
            <a:ext cx="4812741" cy="2563058"/>
          </a:xfrm>
          <a:prstGeom prst="rect">
            <a:avLst/>
          </a:prstGeom>
        </p:spPr>
      </p:pic>
    </p:spTree>
    <p:extLst>
      <p:ext uri="{BB962C8B-B14F-4D97-AF65-F5344CB8AC3E}">
        <p14:creationId xmlns:p14="http://schemas.microsoft.com/office/powerpoint/2010/main" val="29978719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Using Mode 6</a:t>
            </a:r>
            <a:endParaRPr sz="3600" dirty="0"/>
          </a:p>
        </p:txBody>
      </p:sp>
      <p:sp>
        <p:nvSpPr>
          <p:cNvPr id="145" name="Google Shape;145;p4"/>
          <p:cNvSpPr txBox="1">
            <a:spLocks noGrp="1"/>
          </p:cNvSpPr>
          <p:nvPr>
            <p:ph type="body" idx="1"/>
          </p:nvPr>
        </p:nvSpPr>
        <p:spPr>
          <a:xfrm>
            <a:off x="476843" y="1563624"/>
            <a:ext cx="7468551" cy="4379975"/>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Mode 6 allows access to the results of various monitor diagnostic tests.</a:t>
            </a:r>
          </a:p>
          <a:p>
            <a:pPr marL="357188" marR="0" lvl="0" indent="-357188" algn="l" rtl="0">
              <a:buChar char="•"/>
            </a:pPr>
            <a:r>
              <a:rPr lang="en-US" sz="2000" dirty="0"/>
              <a:t>The test values are stored at the time each monitor is completed.</a:t>
            </a:r>
          </a:p>
          <a:p>
            <a:pPr marL="357188" marR="0" lvl="0" indent="-357188" algn="l" rtl="0">
              <a:buChar char="•"/>
            </a:pPr>
            <a:r>
              <a:rPr lang="en-US" sz="2000" dirty="0"/>
              <a:t>The information available in Mode 6 can be extremely helpful, but it also can be very difficult to decipher.</a:t>
            </a:r>
          </a:p>
          <a:p>
            <a:pPr marL="357188" marR="0" lvl="0" indent="-357188" algn="l" rtl="0">
              <a:buChar char="•"/>
            </a:pPr>
            <a:r>
              <a:rPr lang="en-US" sz="2000" dirty="0"/>
              <a:t>Mode 6 data is given with $ signs, test IDs (TIDs), and content IDs (CIDs) and a mixture of letters and numbers. Most of this has no face value because it is given in “hexadecimals,” which is foreign language.</a:t>
            </a:r>
          </a:p>
          <a:p>
            <a:pPr marL="357188" marR="0" lvl="0" indent="-357188" algn="l" rtl="0">
              <a:buChar char="•"/>
            </a:pPr>
            <a:r>
              <a:rPr lang="en-US" sz="2000" dirty="0"/>
              <a:t>The way to observe Mode 6 data on a scan tool varies with the make and model of the tool.</a:t>
            </a:r>
          </a:p>
        </p:txBody>
      </p:sp>
      <p:pic>
        <p:nvPicPr>
          <p:cNvPr id="8" name="Picture Placeholder 7" descr="A screenshot of an example of how mode 6 data may be displayed. The header reads, Non-Continued Monitoring Test Results lists the data in seven lines as follows; Line 1. Misfire mon. cycle enabled: Yes; Line 2. Misfire mon. cycle completed: Yes; Line 3. blank; Line 4. Average Misfires Last 10 Drive Cycles; Line 5. E C U I D: $ E 8 O B D M D: $ A 2; Line 6. Test I D: $ 0 B (counts) Value: 0; Line 7. Minimum: 0; Maximum: 65535, and Line 8. Result: Passed. A return tab crossed at the left is at the bottom.">
            <a:extLst>
              <a:ext uri="{FF2B5EF4-FFF2-40B4-BE49-F238E27FC236}">
                <a16:creationId xmlns:a16="http://schemas.microsoft.com/office/drawing/2014/main" id="{6C00AF64-9C9E-E25C-A03D-410A9A5A45A5}"/>
              </a:ext>
            </a:extLst>
          </p:cNvPr>
          <p:cNvPicPr>
            <a:picLocks noGrp="1" noChangeAspect="1"/>
          </p:cNvPicPr>
          <p:nvPr>
            <p:ph type="pic" sz="quarter" idx="13"/>
          </p:nvPr>
        </p:nvPicPr>
        <p:blipFill rotWithShape="1">
          <a:blip r:embed="rId3"/>
          <a:srcRect b="16765"/>
          <a:stretch/>
        </p:blipFill>
        <p:spPr>
          <a:xfrm>
            <a:off x="8087221" y="2534900"/>
            <a:ext cx="3762401" cy="2021430"/>
          </a:xfrm>
          <a:prstGeom prst="rect">
            <a:avLst/>
          </a:prstGeom>
        </p:spPr>
      </p:pic>
    </p:spTree>
    <p:extLst>
      <p:ext uri="{BB962C8B-B14F-4D97-AF65-F5344CB8AC3E}">
        <p14:creationId xmlns:p14="http://schemas.microsoft.com/office/powerpoint/2010/main" val="2759318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Repairing the System</a:t>
            </a:r>
            <a:endParaRPr sz="3600" dirty="0"/>
          </a:p>
        </p:txBody>
      </p:sp>
      <p:sp>
        <p:nvSpPr>
          <p:cNvPr id="145" name="Google Shape;145;p4"/>
          <p:cNvSpPr txBox="1">
            <a:spLocks noGrp="1"/>
          </p:cNvSpPr>
          <p:nvPr>
            <p:ph type="body" idx="1"/>
          </p:nvPr>
        </p:nvSpPr>
        <p:spPr>
          <a:xfrm>
            <a:off x="476843" y="1438364"/>
            <a:ext cx="11241915" cy="4613339"/>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2400" dirty="0"/>
              <a:t>When servicing or repairing OBD II circuits, here are some of the following guidelines:</a:t>
            </a:r>
          </a:p>
          <a:p>
            <a:pPr marL="715963" lvl="1" indent="-357188">
              <a:spcAft>
                <a:spcPts val="400"/>
              </a:spcAft>
            </a:pPr>
            <a:r>
              <a:rPr lang="en-US" sz="2200" dirty="0"/>
              <a:t>Do not connect aftermarket accessories into an OBD II circuit or network.</a:t>
            </a:r>
          </a:p>
          <a:p>
            <a:pPr marL="715963" lvl="1" indent="-357188">
              <a:spcAft>
                <a:spcPts val="400"/>
              </a:spcAft>
            </a:pPr>
            <a:r>
              <a:rPr lang="en-US" sz="2200" dirty="0"/>
              <a:t>Do not move or alter grounds from their original locations.</a:t>
            </a:r>
          </a:p>
          <a:p>
            <a:pPr marL="715963" lvl="1" indent="-357188">
              <a:spcAft>
                <a:spcPts val="400"/>
              </a:spcAft>
            </a:pPr>
            <a:r>
              <a:rPr lang="en-US" sz="2200" dirty="0"/>
              <a:t>Always replace a relay with an exact replacement. Damaged relays should be thrown away, not repaired.</a:t>
            </a:r>
          </a:p>
          <a:p>
            <a:pPr marL="715963" lvl="1" indent="-357188">
              <a:spcAft>
                <a:spcPts val="400"/>
              </a:spcAft>
            </a:pPr>
            <a:r>
              <a:rPr lang="en-US" sz="2200" dirty="0"/>
              <a:t>Make sure all connector locks are in good condition and are in place.</a:t>
            </a:r>
          </a:p>
          <a:p>
            <a:pPr marL="357188" marR="0" lvl="0" indent="-357188" algn="l" rtl="0">
              <a:spcAft>
                <a:spcPts val="400"/>
              </a:spcAft>
              <a:buChar char="•"/>
            </a:pPr>
            <a:r>
              <a:rPr lang="en-US" sz="2400" dirty="0"/>
              <a:t>After repairs, the system should be rechecked to verify that the repair took care of the problem.</a:t>
            </a:r>
          </a:p>
          <a:p>
            <a:pPr marL="715963" lvl="1" indent="-357188">
              <a:spcAft>
                <a:spcPts val="400"/>
              </a:spcAft>
            </a:pPr>
            <a:r>
              <a:rPr lang="en-US" sz="2200" dirty="0"/>
              <a:t>This may involve road testing the vehicle to verify that the complaint has been resolved.</a:t>
            </a:r>
          </a:p>
        </p:txBody>
      </p:sp>
    </p:spTree>
    <p:extLst>
      <p:ext uri="{BB962C8B-B14F-4D97-AF65-F5344CB8AC3E}">
        <p14:creationId xmlns:p14="http://schemas.microsoft.com/office/powerpoint/2010/main" val="537690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If a technician wanted to view serial data, what menu option would be selected on the scan tool?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3649F980-AC58-6514-4055-A1F2D6047278}"/>
              </a:ext>
            </a:extLst>
          </p:cNvPr>
          <p:cNvSpPr>
            <a:spLocks noGrp="1"/>
          </p:cNvSpPr>
          <p:nvPr>
            <p:ph type="body" idx="1"/>
          </p:nvPr>
        </p:nvSpPr>
        <p:spPr/>
        <p:txBody>
          <a:bodyPr/>
          <a:lstStyle/>
          <a:p>
            <a:pPr marL="457200" lvl="0" indent="-381000">
              <a:spcBef>
                <a:spcPts val="1000"/>
              </a:spcBef>
              <a:spcAft>
                <a:spcPts val="0"/>
              </a:spcAft>
              <a:buClr>
                <a:srgbClr val="282F7C"/>
              </a:buClr>
              <a:buSzPts val="2400"/>
              <a:defRPr/>
            </a:pPr>
            <a:r>
              <a:rPr lang="en-US" dirty="0"/>
              <a:t>The serial data menu. Commonly called live data.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consider the engine performance concepts learned in this chapter. Then respond to the following questions in one or two paragraphs. Use 150–200 words in your reflection.</a:t>
            </a:r>
            <a:endParaRPr dirty="0"/>
          </a:p>
          <a:p>
            <a:pPr marL="360363" lvl="0" indent="-360363" algn="l" rtl="0">
              <a:lnSpc>
                <a:spcPct val="100000"/>
              </a:lnSpc>
              <a:buSzPts val="2800"/>
              <a:buFont typeface="Arial"/>
              <a:buChar char="•"/>
            </a:pPr>
            <a:r>
              <a:rPr lang="en-US" dirty="0"/>
              <a:t>Do you feel you understand all of the concepts described in this chapter? What actions can you take to better understand them.</a:t>
            </a:r>
            <a:endParaRPr dirty="0"/>
          </a:p>
          <a:p>
            <a:pPr marL="360363" lvl="0" indent="-360363" algn="l" rtl="0">
              <a:lnSpc>
                <a:spcPct val="100000"/>
              </a:lnSpc>
              <a:buSzPts val="2800"/>
              <a:buFont typeface="Arial"/>
              <a:buChar char="•"/>
            </a:pPr>
            <a:r>
              <a:rPr lang="en-US" dirty="0"/>
              <a:t>Considering all you have learned, do you feel you are prepared to perform engine performance system service in a shop or lab setting? How can you become more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10112</TotalTime>
  <Words>4060</Words>
  <Application>Microsoft Office PowerPoint</Application>
  <PresentationFormat>Widescreen</PresentationFormat>
  <Paragraphs>259</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Work Sans</vt:lpstr>
      <vt:lpstr>Optimized Template Master</vt:lpstr>
      <vt:lpstr>Automotive Technology: A Systems Approach, 8e</vt:lpstr>
      <vt:lpstr>Chapter Objectives (1 of 3)  </vt:lpstr>
      <vt:lpstr>Chapter Objectives (2 of 3)  </vt:lpstr>
      <vt:lpstr>Chapter Objectives (3 of 3)  </vt:lpstr>
      <vt:lpstr>Ignition Systems (1 of 2)</vt:lpstr>
      <vt:lpstr>Ignition Systems (2 of 2)</vt:lpstr>
      <vt:lpstr>Ignition Timing</vt:lpstr>
      <vt:lpstr>Firing Order</vt:lpstr>
      <vt:lpstr>Fuel Injection</vt:lpstr>
      <vt:lpstr>Air Induction System</vt:lpstr>
      <vt:lpstr>Emission Control Systems</vt:lpstr>
      <vt:lpstr>Engine Control Systems</vt:lpstr>
      <vt:lpstr>System Components</vt:lpstr>
      <vt:lpstr>Control of Non-Engine Functions</vt:lpstr>
      <vt:lpstr>On-Board Diagnostic Systems</vt:lpstr>
      <vt:lpstr>OBD I (Generation 1)</vt:lpstr>
      <vt:lpstr>OBD II (Generation 2)</vt:lpstr>
      <vt:lpstr>OBD III (Generation 3)</vt:lpstr>
      <vt:lpstr>System Operation</vt:lpstr>
      <vt:lpstr>Knowledge Check (1 of 2)</vt:lpstr>
      <vt:lpstr>Knowledge Check Answer (1 of 2)</vt:lpstr>
      <vt:lpstr>OBD II Monitoring Capabilities</vt:lpstr>
      <vt:lpstr>Catalyst Efficiency Monitor</vt:lpstr>
      <vt:lpstr>EGR System Monitoring</vt:lpstr>
      <vt:lpstr>Secondary Air Injection (AIR) System Monitor</vt:lpstr>
      <vt:lpstr>Variable Cam Timing System Monitor </vt:lpstr>
      <vt:lpstr>Discussion</vt:lpstr>
      <vt:lpstr>OBD II Self-Diagnostics (1 of 3)</vt:lpstr>
      <vt:lpstr>OBD II Self-Diagnostics (2 of 3)</vt:lpstr>
      <vt:lpstr>OBD II Self-Diagnostics (3 of 3)</vt:lpstr>
      <vt:lpstr>Basic Diagnosis of Electronic Engine Control Systems (1 of 2)</vt:lpstr>
      <vt:lpstr>Basic Diagnosis of Electronic Engine Control Systems (2 of 2)</vt:lpstr>
      <vt:lpstr>Diagnosing OBD II Systems</vt:lpstr>
      <vt:lpstr>Parameter Identifications</vt:lpstr>
      <vt:lpstr>Serial Data</vt:lpstr>
      <vt:lpstr>Using Mode 6</vt:lpstr>
      <vt:lpstr>Repairing the System</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215</cp:revision>
  <dcterms:created xsi:type="dcterms:W3CDTF">2021-12-10T16:21:02Z</dcterms:created>
  <dcterms:modified xsi:type="dcterms:W3CDTF">2024-11-20T05:32:58Z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