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5" r:id="rId2"/>
  </p:sldMasterIdLst>
  <p:notesMasterIdLst>
    <p:notesMasterId r:id="rId42"/>
  </p:notesMasterIdLst>
  <p:sldIdLst>
    <p:sldId id="350" r:id="rId3"/>
    <p:sldId id="257" r:id="rId4"/>
    <p:sldId id="527" r:id="rId5"/>
    <p:sldId id="461" r:id="rId6"/>
    <p:sldId id="528" r:id="rId7"/>
    <p:sldId id="462" r:id="rId8"/>
    <p:sldId id="490" r:id="rId9"/>
    <p:sldId id="491" r:id="rId10"/>
    <p:sldId id="492" r:id="rId11"/>
    <p:sldId id="493" r:id="rId12"/>
    <p:sldId id="494" r:id="rId13"/>
    <p:sldId id="550" r:id="rId14"/>
    <p:sldId id="551" r:id="rId15"/>
    <p:sldId id="495" r:id="rId16"/>
    <p:sldId id="529" r:id="rId17"/>
    <p:sldId id="530" r:id="rId18"/>
    <p:sldId id="531" r:id="rId19"/>
    <p:sldId id="532" r:id="rId20"/>
    <p:sldId id="538" r:id="rId21"/>
    <p:sldId id="533" r:id="rId22"/>
    <p:sldId id="534" r:id="rId23"/>
    <p:sldId id="539" r:id="rId24"/>
    <p:sldId id="535" r:id="rId25"/>
    <p:sldId id="552" r:id="rId26"/>
    <p:sldId id="536" r:id="rId27"/>
    <p:sldId id="537" r:id="rId28"/>
    <p:sldId id="540" r:id="rId29"/>
    <p:sldId id="541" r:id="rId30"/>
    <p:sldId id="542" r:id="rId31"/>
    <p:sldId id="543" r:id="rId32"/>
    <p:sldId id="544" r:id="rId33"/>
    <p:sldId id="545" r:id="rId34"/>
    <p:sldId id="546" r:id="rId35"/>
    <p:sldId id="547" r:id="rId36"/>
    <p:sldId id="548" r:id="rId37"/>
    <p:sldId id="549" r:id="rId38"/>
    <p:sldId id="293" r:id="rId39"/>
    <p:sldId id="294" r:id="rId40"/>
    <p:sldId id="301" r:id="rId41"/>
  </p:sldIdLst>
  <p:sldSz cx="12192000" cy="6858000"/>
  <p:notesSz cx="6858000" cy="9144000"/>
  <p:embeddedFontLst>
    <p:embeddedFont>
      <p:font typeface="Calibri" panose="020F0502020204030204" pitchFamily="34" charset="0"/>
      <p:regular r:id="rId43"/>
      <p:bold r:id="rId44"/>
      <p:italic r:id="rId45"/>
      <p:boldItalic r:id="rId46"/>
    </p:embeddedFont>
    <p:embeddedFont>
      <p:font typeface="Calibri Light" panose="020F0302020204030204" pitchFamily="34" charset="0"/>
      <p:regular r:id="rId47"/>
      <p:italic r:id="rId48"/>
    </p:embeddedFont>
    <p:embeddedFont>
      <p:font typeface="Work Sans" panose="020B060402020202020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 id="3" name="CE" initials="CE"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1" autoAdjust="0"/>
    <p:restoredTop sz="85176" autoAdjust="0"/>
  </p:normalViewPr>
  <p:slideViewPr>
    <p:cSldViewPr snapToGrid="0">
      <p:cViewPr varScale="1">
        <p:scale>
          <a:sx n="61" d="100"/>
          <a:sy n="61" d="100"/>
        </p:scale>
        <p:origin x="378" y="60"/>
      </p:cViewPr>
      <p:guideLst>
        <p:guide orient="horz" pos="2160"/>
        <p:guide pos="3840"/>
      </p:guideLst>
    </p:cSldViewPr>
  </p:slideViewPr>
  <p:outlineViewPr>
    <p:cViewPr>
      <p:scale>
        <a:sx n="33" d="100"/>
        <a:sy n="33" d="100"/>
      </p:scale>
      <p:origin x="0" y="-3061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customschemas.google.com/relationships/presentationmetadata" Target="metadata"/><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commentAuthors" Target="commentAuthor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dirty="0">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dirty="0">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dirty="0"/>
          </a:p>
        </p:txBody>
      </p:sp>
    </p:spTree>
    <p:extLst>
      <p:ext uri="{BB962C8B-B14F-4D97-AF65-F5344CB8AC3E}">
        <p14:creationId xmlns:p14="http://schemas.microsoft.com/office/powerpoint/2010/main" val="42306843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866934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BC943CD3-2B35-E266-F884-AF6DF3BA3858}"/>
            </a:ext>
          </a:extLst>
        </p:cNvPr>
        <p:cNvGrpSpPr/>
        <p:nvPr/>
      </p:nvGrpSpPr>
      <p:grpSpPr>
        <a:xfrm>
          <a:off x="0" y="0"/>
          <a:ext cx="0" cy="0"/>
          <a:chOff x="0" y="0"/>
          <a:chExt cx="0" cy="0"/>
        </a:xfrm>
      </p:grpSpPr>
      <p:sp>
        <p:nvSpPr>
          <p:cNvPr id="127" name="Google Shape;127;p2:notes">
            <a:extLst>
              <a:ext uri="{FF2B5EF4-FFF2-40B4-BE49-F238E27FC236}">
                <a16:creationId xmlns:a16="http://schemas.microsoft.com/office/drawing/2014/main" id="{A90BB59C-AB78-A858-3F57-FD9943A0EBA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a:extLst>
              <a:ext uri="{FF2B5EF4-FFF2-40B4-BE49-F238E27FC236}">
                <a16:creationId xmlns:a16="http://schemas.microsoft.com/office/drawing/2014/main" id="{12D75E30-8B8B-E15B-0BB2-BA52EA8600A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a:extLst>
              <a:ext uri="{FF2B5EF4-FFF2-40B4-BE49-F238E27FC236}">
                <a16:creationId xmlns:a16="http://schemas.microsoft.com/office/drawing/2014/main" id="{978D4BF1-A6F5-5124-2FF3-5F8AF3174FB0}"/>
              </a:ext>
            </a:extLst>
          </p:cNvPr>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1074209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A65EEB9-9B1B-1AB0-DF4B-F76B09E1878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AAA7447C-23E2-9F91-6454-53C85AA9FEF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5FD62302-14C2-94B8-6C71-E154C98A25E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6718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56007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A60A484-5CC5-A7D5-97C6-967B78090C6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9E42484-BC50-F05A-AD1B-FB2BA529E20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67F5DE3B-54AB-B729-E53A-753924C21092}"/>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0752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84D0DC5-0445-C401-84EC-AB7E1927EEE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2634916-08D3-6C06-EA96-D4579317CFFA}"/>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F85E50B-B85D-24ED-98D3-07E99A42869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25554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1E401F0-1663-224E-FDBC-F9333811083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51049CD-9348-B416-02D7-6AA805200E5D}"/>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4C7D76F-BFA0-1D12-8B8E-A61DCDDDEA6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194972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587FCEF-A3AD-F262-D165-FE40AF5A204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8883FAE-585A-0608-DD70-5ED20B71C46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AF19F34-A1DA-6C2C-956B-D9CA1AA4245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79169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15D2A9A9-5621-AFC7-3C05-3B07E292869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C813248-3FC8-208D-3904-D11F61BB2D7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7D53900-1BE0-24E8-CA55-C79926FEEB83}"/>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4859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dirty="0"/>
          </a:p>
        </p:txBody>
      </p:sp>
    </p:spTree>
    <p:extLst>
      <p:ext uri="{BB962C8B-B14F-4D97-AF65-F5344CB8AC3E}">
        <p14:creationId xmlns:p14="http://schemas.microsoft.com/office/powerpoint/2010/main" val="10076493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dirty="0"/>
          </a:p>
        </p:txBody>
      </p:sp>
    </p:spTree>
    <p:extLst>
      <p:ext uri="{BB962C8B-B14F-4D97-AF65-F5344CB8AC3E}">
        <p14:creationId xmlns:p14="http://schemas.microsoft.com/office/powerpoint/2010/main" val="1650018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34D1974-8D36-0DB0-09E2-B487F2E8E49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DF58FD2-5D65-C423-4C1A-179C0B4578F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97BD965-DA37-99F3-5636-34F90F09C59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047044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2349465-7F82-62C9-305A-77830F937088}"/>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22490AA8-ADC8-9317-9283-2744F215496B}"/>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663F06F-BFD9-9558-4748-02521BBAB64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86778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38A4DB8-6EFE-F2E6-5695-532A2F5F1FB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0A66152-A4CB-3851-EA55-114FDF1013A9}"/>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C75A068-1341-8E93-812B-98E7B32C848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6649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640A7E0-DA13-1F95-77B2-6F045F5CC917}"/>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E3E9CDE-05D6-B88E-A119-D0E612D2808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12655A1-EEDA-3A98-033B-D453BA0F311B}"/>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6229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F563DAB6-B2F4-DA0B-96B8-9E07A455215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B7765D0-A0CB-17FB-FDFC-4A20A9CED7D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DCC4FE5B-E4B1-E6E2-D092-C2616674F0DC}"/>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847127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24E564C-C882-2C03-D599-6FFC4E9A022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62A3BE0-024C-3362-5AC0-0D8E51AD034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D0228F52-7CE0-A689-6B9A-BB7ACF478600}"/>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4709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BAA487D7-C2C7-8CEE-35A5-720606DECD9C}"/>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4C9CC2B3-87E7-2E81-5E29-38916BD9848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D743A75-3EF5-981F-F26D-67B766A8738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2273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239C3CAD-5407-AD1F-DD15-D9994A23E5A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300E850-8C89-1251-D485-200FAC25B272}"/>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CD1BC01B-D527-97F2-6CF6-136AF742D21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6529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0F15E0B-C26D-9102-BAF0-D8D1BBD674B4}"/>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55FF42A0-0FB8-C856-504A-A46220A4C22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4B16546-4B72-D552-19DE-2EA0349C4567}"/>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73847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416CC67-EF0A-A634-616E-AE3C8D3A1553}"/>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91E719E-67AE-C855-0D54-877E9A64671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C6D5CF5-2412-9001-D38D-82880041617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811680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dirty="0"/>
          </a:p>
        </p:txBody>
      </p:sp>
    </p:spTree>
    <p:extLst>
      <p:ext uri="{BB962C8B-B14F-4D97-AF65-F5344CB8AC3E}">
        <p14:creationId xmlns:p14="http://schemas.microsoft.com/office/powerpoint/2010/main" val="3094672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A983B54D-8439-73BD-95EB-C222FA9AE12A}"/>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204D6938-E1DB-990E-4D27-0E09E5BA4B35}"/>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D3468BBF-AA53-A0DE-9BD9-4F48F0F8ED6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22987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10FD1D9-237E-0612-E3FE-4EB2EA4DF3B0}"/>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01240E62-6305-9BE6-C3B7-D09CEA8EDBD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C248FD97-A598-6484-A7EB-9D50C48D374F}"/>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94770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54F324D-C873-2C50-B827-B541373FD882}"/>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94AF2DD4-60FE-23F7-EA20-3F6ABFD0B69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B2B4A308-31DE-8503-A740-EC918A5157C6}"/>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79423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C712D11-523B-9541-B322-00A6F92DE17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87F7AF3E-B1A8-75BC-F3AB-FA9370A0E04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EEE4FEBA-9370-89E0-4B69-3043C1C23C8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354581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7DEF968-177F-C34F-2AAA-8E0696289F71}"/>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CBDCA7D0-3340-3A0A-48BD-37B44F84AD3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7023474E-6DFE-5658-30B2-0B68C25D700D}"/>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85450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891588F-37D2-FF3A-891E-D419A90F1189}"/>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B1AD87E-882A-4161-68AE-F16CB37BE994}"/>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F8B3ECF7-FB5B-85F6-8D10-45406A5F2AE9}"/>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58414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F33F296-8FD5-B779-F01B-BEAFB9D393C5}"/>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CCA4F6F-84EB-3195-631A-AE78E1A47277}"/>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1F5E2657-0E64-8453-EAB7-64C70803AB9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13489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64488DE-FBA4-0321-B0CA-0B1E2037740D}"/>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417C9111-6EAD-DD78-0F21-6F9A7FFF01F8}"/>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465C68A0-CF9C-B10D-B16B-744095CBCF51}"/>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641451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7516B587-BA8F-511A-4889-5004FE01984B}"/>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C0ED2977-5DA3-EEC4-6452-813C2ADE831C}"/>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3B0C5888-4FD0-F7D5-0C8B-702C04481DB5}"/>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046749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4CBF1DA8-0CAC-0B71-2838-3AA581B468CE}"/>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B82FBC71-CBE7-3B95-16CB-B4B55919A19E}"/>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594A99A4-4778-384F-08EC-8071B1BC7D54}"/>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22211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75ABCB9-E6ED-7F30-00B7-DB5879C1744F}"/>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C4E8C9C9-7B00-9E8D-9A5D-C5A7309B3D5F}"/>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00691D5F-3702-72AF-DF21-C1DCB359A37A}"/>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413114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CBBC55B-1CD8-49DE-0059-EBC2DD73C0C6}"/>
            </a:ext>
          </a:extLst>
        </p:cNvPr>
        <p:cNvGrpSpPr/>
        <p:nvPr/>
      </p:nvGrpSpPr>
      <p:grpSpPr>
        <a:xfrm>
          <a:off x="0" y="0"/>
          <a:ext cx="0" cy="0"/>
          <a:chOff x="0" y="0"/>
          <a:chExt cx="0" cy="0"/>
        </a:xfrm>
      </p:grpSpPr>
      <p:sp>
        <p:nvSpPr>
          <p:cNvPr id="141" name="Google Shape;141;p4:notes">
            <a:extLst>
              <a:ext uri="{FF2B5EF4-FFF2-40B4-BE49-F238E27FC236}">
                <a16:creationId xmlns:a16="http://schemas.microsoft.com/office/drawing/2014/main" id="{70C6B5F5-83C3-CE1B-A5A5-72EE28786880}"/>
              </a:ext>
            </a:extLst>
          </p:cNvPr>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a:extLst>
              <a:ext uri="{FF2B5EF4-FFF2-40B4-BE49-F238E27FC236}">
                <a16:creationId xmlns:a16="http://schemas.microsoft.com/office/drawing/2014/main" id="{8B49EF2D-483C-25BC-0DE6-2B36EEEBCC8E}"/>
              </a:ext>
            </a:extLst>
          </p:cNvPr>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48244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dirty="0"/>
          </a:p>
        </p:txBody>
      </p:sp>
    </p:spTree>
    <p:extLst>
      <p:ext uri="{BB962C8B-B14F-4D97-AF65-F5344CB8AC3E}">
        <p14:creationId xmlns:p14="http://schemas.microsoft.com/office/powerpoint/2010/main" val="23014208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dirty="0"/>
          </a:p>
        </p:txBody>
      </p:sp>
    </p:spTree>
    <p:extLst>
      <p:ext uri="{BB962C8B-B14F-4D97-AF65-F5344CB8AC3E}">
        <p14:creationId xmlns:p14="http://schemas.microsoft.com/office/powerpoint/2010/main" val="22508708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dirty="0"/>
          </a:p>
        </p:txBody>
      </p:sp>
    </p:spTree>
    <p:extLst>
      <p:ext uri="{BB962C8B-B14F-4D97-AF65-F5344CB8AC3E}">
        <p14:creationId xmlns:p14="http://schemas.microsoft.com/office/powerpoint/2010/main" val="2156191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dirty="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dirty="0">
                <a:solidFill>
                  <a:schemeClr val="lt1"/>
                </a:solidFill>
                <a:latin typeface="Arial"/>
                <a:ea typeface="Arial"/>
                <a:cs typeface="Arial"/>
                <a:sym typeface="Arial"/>
              </a:rPr>
              <a:t>Rob Thompson and Jack Erjavec, Automotive Technology: A Systems Approach, 8</a:t>
            </a:r>
            <a:r>
              <a:rPr lang="en-US" sz="1200" baseline="30000" dirty="0">
                <a:solidFill>
                  <a:schemeClr val="lt1"/>
                </a:solidFill>
                <a:latin typeface="Arial"/>
                <a:ea typeface="Arial"/>
                <a:cs typeface="Arial"/>
                <a:sym typeface="Arial"/>
              </a:rPr>
              <a:t>th</a:t>
            </a:r>
            <a:r>
              <a:rPr lang="en-US" sz="1200" dirty="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6887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14096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2692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15999"/>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dirty="0"/>
          </a:p>
          <a:p>
            <a:pPr lvl="1"/>
            <a:endParaRPr lang="en-IN" dirty="0"/>
          </a:p>
          <a:p>
            <a:pPr lvl="2"/>
            <a:endParaRPr dirty="0"/>
          </a:p>
        </p:txBody>
      </p:sp>
    </p:spTree>
    <p:extLst>
      <p:ext uri="{BB962C8B-B14F-4D97-AF65-F5344CB8AC3E}">
        <p14:creationId xmlns:p14="http://schemas.microsoft.com/office/powerpoint/2010/main" val="39885806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2692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15999"/>
            <a:ext cx="11241915" cy="1989201"/>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dirty="0"/>
          </a:p>
          <a:p>
            <a:pPr lvl="1"/>
            <a:endParaRPr lang="en-IN" dirty="0"/>
          </a:p>
          <a:p>
            <a:pPr lvl="2"/>
            <a:endParaRPr dirty="0"/>
          </a:p>
        </p:txBody>
      </p:sp>
      <p:sp>
        <p:nvSpPr>
          <p:cNvPr id="3" name="Content Placeholder 2">
            <a:extLst>
              <a:ext uri="{FF2B5EF4-FFF2-40B4-BE49-F238E27FC236}">
                <a16:creationId xmlns:a16="http://schemas.microsoft.com/office/drawing/2014/main" id="{50443352-0DA6-2450-AA03-427DF74317D2}"/>
              </a:ext>
            </a:extLst>
          </p:cNvPr>
          <p:cNvSpPr>
            <a:spLocks noGrp="1"/>
          </p:cNvSpPr>
          <p:nvPr>
            <p:ph sz="quarter" idx="10"/>
          </p:nvPr>
        </p:nvSpPr>
        <p:spPr>
          <a:xfrm>
            <a:off x="695325" y="41052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EE22FCF4-9182-1167-1EB1-E2F7D3726ECB}"/>
              </a:ext>
            </a:extLst>
          </p:cNvPr>
          <p:cNvSpPr>
            <a:spLocks noGrp="1"/>
          </p:cNvSpPr>
          <p:nvPr>
            <p:ph type="pic" sz="quarter" idx="11"/>
          </p:nvPr>
        </p:nvSpPr>
        <p:spPr>
          <a:xfrm>
            <a:off x="2476500" y="4133850"/>
            <a:ext cx="914400" cy="914400"/>
          </a:xfrm>
        </p:spPr>
        <p:txBody>
          <a:bodyPr/>
          <a:lstStyle/>
          <a:p>
            <a:endParaRPr lang="en-IN"/>
          </a:p>
        </p:txBody>
      </p:sp>
      <p:sp>
        <p:nvSpPr>
          <p:cNvPr id="7" name="Picture Placeholder 6">
            <a:extLst>
              <a:ext uri="{FF2B5EF4-FFF2-40B4-BE49-F238E27FC236}">
                <a16:creationId xmlns:a16="http://schemas.microsoft.com/office/drawing/2014/main" id="{C3999444-0571-67C9-AFE8-27A8EBF6885E}"/>
              </a:ext>
            </a:extLst>
          </p:cNvPr>
          <p:cNvSpPr>
            <a:spLocks noGrp="1"/>
          </p:cNvSpPr>
          <p:nvPr>
            <p:ph type="pic" sz="quarter" idx="12"/>
          </p:nvPr>
        </p:nvSpPr>
        <p:spPr>
          <a:xfrm>
            <a:off x="4495800" y="4105275"/>
            <a:ext cx="914400" cy="914400"/>
          </a:xfrm>
        </p:spPr>
        <p:txBody>
          <a:bodyPr/>
          <a:lstStyle/>
          <a:p>
            <a:endParaRPr lang="en-IN"/>
          </a:p>
        </p:txBody>
      </p:sp>
      <p:sp>
        <p:nvSpPr>
          <p:cNvPr id="9" name="Table Placeholder 8">
            <a:extLst>
              <a:ext uri="{FF2B5EF4-FFF2-40B4-BE49-F238E27FC236}">
                <a16:creationId xmlns:a16="http://schemas.microsoft.com/office/drawing/2014/main" id="{76AC9F10-16A2-1ED3-3358-E9860FFA9EA4}"/>
              </a:ext>
            </a:extLst>
          </p:cNvPr>
          <p:cNvSpPr>
            <a:spLocks noGrp="1"/>
          </p:cNvSpPr>
          <p:nvPr>
            <p:ph type="tbl" sz="quarter" idx="13"/>
          </p:nvPr>
        </p:nvSpPr>
        <p:spPr>
          <a:xfrm>
            <a:off x="6791325" y="4038600"/>
            <a:ext cx="914400" cy="914400"/>
          </a:xfrm>
        </p:spPr>
        <p:txBody>
          <a:bodyPr/>
          <a:lstStyle/>
          <a:p>
            <a:endParaRPr lang="en-IN"/>
          </a:p>
        </p:txBody>
      </p:sp>
    </p:spTree>
    <p:extLst>
      <p:ext uri="{BB962C8B-B14F-4D97-AF65-F5344CB8AC3E}">
        <p14:creationId xmlns:p14="http://schemas.microsoft.com/office/powerpoint/2010/main" val="2602439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3004908-646B-4EF7-B6D4-86CEB1454922}"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29151825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004908-646B-4EF7-B6D4-86CEB1454922}"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22289027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004908-646B-4EF7-B6D4-86CEB1454922}"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1186659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3004908-646B-4EF7-B6D4-86CEB1454922}" type="datetimeFigureOut">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18616725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3004908-646B-4EF7-B6D4-86CEB1454922}" type="datetimeFigureOut">
              <a:rPr lang="en-US" smtClean="0"/>
              <a:t>11/27/2024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3393473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004908-646B-4EF7-B6D4-86CEB1454922}" type="datetimeFigureOut">
              <a:rPr lang="en-US" smtClean="0"/>
              <a:t>11/27/2024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40557047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004908-646B-4EF7-B6D4-86CEB1454922}" type="datetimeFigureOut">
              <a:rPr lang="en-US" smtClean="0"/>
              <a:t>11/27/2024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39287933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004908-646B-4EF7-B6D4-86CEB1454922}" type="datetimeFigureOut">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6940669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004908-646B-4EF7-B6D4-86CEB1454922}" type="datetimeFigureOut">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11358110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004908-646B-4EF7-B6D4-86CEB1454922}"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21768257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004908-646B-4EF7-B6D4-86CEB1454922}" type="datetimeFigureOut">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CEAA1-AB53-46E8-9CE4-3DD062B302E0}" type="slidenum">
              <a:rPr lang="en-US" smtClean="0"/>
              <a:t>‹#›</a:t>
            </a:fld>
            <a:endParaRPr lang="en-US"/>
          </a:p>
        </p:txBody>
      </p:sp>
    </p:spTree>
    <p:extLst>
      <p:ext uri="{BB962C8B-B14F-4D97-AF65-F5344CB8AC3E}">
        <p14:creationId xmlns:p14="http://schemas.microsoft.com/office/powerpoint/2010/main" val="1247059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0">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DA1F20FA-C293-2BE1-819D-4141006FCA39}"/>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77" r:id="rId16"/>
    <p:sldLayoutId id="2147483678" r:id="rId17"/>
    <p:sldLayoutId id="2147483679"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004908-646B-4EF7-B6D4-86CEB1454922}" type="datetimeFigureOut">
              <a:rPr lang="en-US" smtClean="0"/>
              <a:t>11/27/2024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8CEAA1-AB53-46E8-9CE4-3DD062B302E0}" type="slidenum">
              <a:rPr lang="en-US" smtClean="0"/>
              <a:t>‹#›</a:t>
            </a:fld>
            <a:endParaRPr lang="en-US"/>
          </a:p>
        </p:txBody>
      </p:sp>
    </p:spTree>
    <p:extLst>
      <p:ext uri="{BB962C8B-B14F-4D97-AF65-F5344CB8AC3E}">
        <p14:creationId xmlns:p14="http://schemas.microsoft.com/office/powerpoint/2010/main" val="219743976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36: Electric Vehicles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36.01 Describe the history of electric vehicles.</a:t>
            </a:r>
          </a:p>
          <a:p>
            <a:pPr marL="357188" marR="0" lvl="0" indent="-357188" algn="l" rtl="0">
              <a:buChar char="•"/>
            </a:pPr>
            <a:r>
              <a:rPr lang="en-US" dirty="0"/>
              <a:t>36.02 Describe the major systems that make up an electric vehicle.</a:t>
            </a:r>
          </a:p>
          <a:p>
            <a:pPr marL="357188" marR="0" lvl="0" indent="-357188" algn="l" rtl="0">
              <a:buChar char="•"/>
            </a:pPr>
            <a:r>
              <a:rPr lang="en-US" dirty="0"/>
              <a:t>36.03 Describe the purpose and function of a battery control system.</a:t>
            </a:r>
          </a:p>
          <a:p>
            <a:pPr marL="357188" marR="0" lvl="0" indent="-357188" algn="l" rtl="0">
              <a:buChar char="•"/>
            </a:pPr>
            <a:r>
              <a:rPr lang="en-US" dirty="0"/>
              <a:t>36.04 Explain the differences between types of battery charging standards.</a:t>
            </a:r>
          </a:p>
          <a:p>
            <a:pPr marL="357188" marR="0" lvl="0" indent="-357188" algn="l" rtl="0">
              <a:buChar char="•"/>
            </a:pPr>
            <a:r>
              <a:rPr lang="en-US" dirty="0"/>
              <a:t>36.05 Describe some precautions that should be followed when troubleshooting and repairing an electric vehicle.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9D7EE80D-B575-FDB5-8AD7-F19E1F98881E}"/>
            </a:ext>
          </a:extLst>
        </p:cNvPr>
        <p:cNvGrpSpPr/>
        <p:nvPr/>
      </p:nvGrpSpPr>
      <p:grpSpPr>
        <a:xfrm>
          <a:off x="0" y="0"/>
          <a:ext cx="0" cy="0"/>
          <a:chOff x="0" y="0"/>
          <a:chExt cx="0" cy="0"/>
        </a:xfrm>
      </p:grpSpPr>
      <p:sp>
        <p:nvSpPr>
          <p:cNvPr id="131" name="Google Shape;131;p2">
            <a:extLst>
              <a:ext uri="{FF2B5EF4-FFF2-40B4-BE49-F238E27FC236}">
                <a16:creationId xmlns:a16="http://schemas.microsoft.com/office/drawing/2014/main" id="{71DCE5A9-D5AD-7AB9-DCAB-89C1A61C96B8}"/>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a:t>
            </a:r>
            <a:endParaRPr dirty="0"/>
          </a:p>
        </p:txBody>
      </p:sp>
      <p:sp>
        <p:nvSpPr>
          <p:cNvPr id="132" name="Google Shape;132;p2">
            <a:extLst>
              <a:ext uri="{FF2B5EF4-FFF2-40B4-BE49-F238E27FC236}">
                <a16:creationId xmlns:a16="http://schemas.microsoft.com/office/drawing/2014/main" id="{31D2C709-753B-E1A9-7ABF-76CFC1E03C9A}"/>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36.06 Describe common electric vehicle maintenance services.</a:t>
            </a:r>
          </a:p>
          <a:p>
            <a:pPr marL="357188" marR="0" lvl="0" indent="-357188" algn="l" rtl="0">
              <a:buChar char="•"/>
            </a:pPr>
            <a:r>
              <a:rPr lang="en-US" dirty="0"/>
              <a:t>36.07 Describe the basic configurations for the power train in a fuel cell vehicle.</a:t>
            </a:r>
          </a:p>
          <a:p>
            <a:pPr marL="357188" marR="0" lvl="0" indent="-357188" algn="l" rtl="0">
              <a:buChar char="•"/>
            </a:pPr>
            <a:r>
              <a:rPr lang="en-US" dirty="0"/>
              <a:t>36.08 Describe the major components of a fuel cell vehicle.</a:t>
            </a:r>
          </a:p>
        </p:txBody>
      </p:sp>
    </p:spTree>
    <p:extLst>
      <p:ext uri="{BB962C8B-B14F-4D97-AF65-F5344CB8AC3E}">
        <p14:creationId xmlns:p14="http://schemas.microsoft.com/office/powerpoint/2010/main" val="1863347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 Look at History (1 of 2)</a:t>
            </a:r>
            <a:endParaRPr sz="3600" dirty="0"/>
          </a:p>
        </p:txBody>
      </p:sp>
      <p:sp>
        <p:nvSpPr>
          <p:cNvPr id="145" name="Google Shape;145;p4"/>
          <p:cNvSpPr txBox="1">
            <a:spLocks noGrp="1"/>
          </p:cNvSpPr>
          <p:nvPr>
            <p:ph type="body" idx="1"/>
          </p:nvPr>
        </p:nvSpPr>
        <p:spPr>
          <a:xfrm>
            <a:off x="476843" y="1515999"/>
            <a:ext cx="7072819" cy="4404741"/>
          </a:xfrm>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1800" b="1" dirty="0"/>
              <a:t>36.01 Describe the history of electric vehicles</a:t>
            </a:r>
            <a:r>
              <a:rPr lang="en-US" sz="1800" dirty="0"/>
              <a:t>.</a:t>
            </a:r>
          </a:p>
          <a:p>
            <a:pPr marL="354013" indent="-354013"/>
            <a:r>
              <a:rPr lang="en-US" sz="1800" dirty="0"/>
              <a:t>Electric drive vehicles have been around for awhile.</a:t>
            </a:r>
          </a:p>
          <a:p>
            <a:pPr marL="354013" indent="-354013"/>
            <a:r>
              <a:rPr lang="en-US" sz="1800" dirty="0"/>
              <a:t>Early automobiles were mostly electric or steam-powered.</a:t>
            </a:r>
          </a:p>
          <a:p>
            <a:pPr marL="354013" indent="-354013"/>
            <a:r>
              <a:rPr lang="en-US" sz="1800" dirty="0"/>
              <a:t>“Steamers” were the most common until the late 1800s.</a:t>
            </a:r>
          </a:p>
          <a:p>
            <a:pPr marL="354013" indent="-354013"/>
            <a:r>
              <a:rPr lang="en-US" sz="1800" dirty="0"/>
              <a:t>In 1900, 38 percent of the cars sold were electrically powered; the others ran on steam or gasoline.</a:t>
            </a:r>
          </a:p>
          <a:p>
            <a:pPr marL="354013" indent="-354013"/>
            <a:r>
              <a:rPr lang="en-US" sz="1800" dirty="0"/>
              <a:t>Electric drive vehicles did not need to be manually cranked to get going and had no need for a transmission or change of gears.</a:t>
            </a:r>
          </a:p>
          <a:p>
            <a:pPr marL="354013" indent="-354013"/>
            <a:r>
              <a:rPr lang="en-US" sz="1800" dirty="0"/>
              <a:t>These were the primary reasons the public accepted electric vehicles over gasoline.</a:t>
            </a:r>
          </a:p>
        </p:txBody>
      </p:sp>
      <p:pic>
        <p:nvPicPr>
          <p:cNvPr id="7" name="Picture Placeholder 6" descr="A very early battery electric vehicle (B E V), is battery operated with an electric traction motor and a mechanical controller.">
            <a:extLst>
              <a:ext uri="{FF2B5EF4-FFF2-40B4-BE49-F238E27FC236}">
                <a16:creationId xmlns:a16="http://schemas.microsoft.com/office/drawing/2014/main" id="{1D19805E-2E2A-A3E3-FEC3-31FCA244EFE7}"/>
              </a:ext>
            </a:extLst>
          </p:cNvPr>
          <p:cNvPicPr>
            <a:picLocks noGrp="1" noChangeAspect="1"/>
          </p:cNvPicPr>
          <p:nvPr>
            <p:ph type="pic" sz="quarter" idx="12"/>
          </p:nvPr>
        </p:nvPicPr>
        <p:blipFill>
          <a:blip r:embed="rId3"/>
          <a:srcRect b="8632"/>
          <a:stretch/>
        </p:blipFill>
        <p:spPr>
          <a:xfrm>
            <a:off x="7539838" y="2031858"/>
            <a:ext cx="4388310" cy="3310143"/>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C33B9DD-72FC-4EB8-49E5-F984E1B482D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55F8D93B-23AF-596C-55B0-3F2EDC8859B7}"/>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 Look at History (2 of 2)</a:t>
            </a:r>
            <a:endParaRPr sz="3600" dirty="0"/>
          </a:p>
        </p:txBody>
      </p:sp>
      <p:sp>
        <p:nvSpPr>
          <p:cNvPr id="145" name="Google Shape;145;p4">
            <a:extLst>
              <a:ext uri="{FF2B5EF4-FFF2-40B4-BE49-F238E27FC236}">
                <a16:creationId xmlns:a16="http://schemas.microsoft.com/office/drawing/2014/main" id="{7F986478-C1D0-4EED-8F80-DB0F79BB3EA9}"/>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indent="-363538">
              <a:spcAft>
                <a:spcPts val="0"/>
              </a:spcAft>
            </a:pPr>
            <a:r>
              <a:rPr lang="en-US" sz="1800" dirty="0">
                <a:solidFill>
                  <a:schemeClr val="tx1"/>
                </a:solidFill>
              </a:rPr>
              <a:t>In 1865, the storage battery was invented and then further improved in 1881. </a:t>
            </a:r>
          </a:p>
          <a:p>
            <a:pPr marL="363538" indent="-363538">
              <a:spcAft>
                <a:spcPts val="0"/>
              </a:spcAft>
            </a:pPr>
            <a:r>
              <a:rPr lang="en-US" sz="1800" dirty="0">
                <a:solidFill>
                  <a:schemeClr val="tx1"/>
                </a:solidFill>
              </a:rPr>
              <a:t>More significantly, between the years 1890 and 1910, battery technology drastically improved with the development of the modern lead-acid battery by Henri Tudor in 1881. </a:t>
            </a:r>
          </a:p>
          <a:p>
            <a:pPr marL="363538" indent="-363538">
              <a:spcAft>
                <a:spcPts val="0"/>
              </a:spcAft>
            </a:pPr>
            <a:r>
              <a:rPr lang="en-US" sz="1800" dirty="0">
                <a:solidFill>
                  <a:schemeClr val="tx1"/>
                </a:solidFill>
              </a:rPr>
              <a:t>In 1909, Thomas Edison perfected his nickel-iron battery and marketed it to automakers, and electric vehicle popularity grew and reached its peak in 1912. </a:t>
            </a:r>
          </a:p>
          <a:p>
            <a:pPr marL="363538" indent="-363538">
              <a:spcAft>
                <a:spcPts val="0"/>
              </a:spcAft>
            </a:pPr>
            <a:r>
              <a:rPr lang="en-US" sz="1800" dirty="0">
                <a:solidFill>
                  <a:schemeClr val="tx1"/>
                </a:solidFill>
              </a:rPr>
              <a:t>For the most part, electric drive vehicles were a thing of the past from 1935 to 1965. The </a:t>
            </a:r>
          </a:p>
          <a:p>
            <a:pPr marL="363538" indent="-363538">
              <a:spcAft>
                <a:spcPts val="0"/>
              </a:spcAft>
            </a:pPr>
            <a:r>
              <a:rPr lang="en-US" sz="1800" dirty="0">
                <a:solidFill>
                  <a:schemeClr val="tx1"/>
                </a:solidFill>
              </a:rPr>
              <a:t>U.S. Congress introduced bills, in 1966, recommending the use of electric vehicles as a way to reduce air pollution. </a:t>
            </a:r>
          </a:p>
          <a:p>
            <a:pPr marL="363538" indent="-363538">
              <a:spcAft>
                <a:spcPts val="0"/>
              </a:spcAft>
            </a:pPr>
            <a:r>
              <a:rPr lang="en-US" sz="1800" dirty="0">
                <a:solidFill>
                  <a:schemeClr val="tx1"/>
                </a:solidFill>
              </a:rPr>
              <a:t>In 1973, the price of gasoline drastically increased as the result of an Arab oil embargo. The rising cost led to increased attention to the development of electric drive vehicles.</a:t>
            </a:r>
          </a:p>
          <a:p>
            <a:pPr marL="363538" indent="-363538">
              <a:spcAft>
                <a:spcPts val="0"/>
              </a:spcAft>
            </a:pPr>
            <a:r>
              <a:rPr lang="en-US" sz="1800" dirty="0">
                <a:solidFill>
                  <a:schemeClr val="tx1"/>
                </a:solidFill>
              </a:rPr>
              <a:t>In 1990, the California Air Resources Board (CARB) adopted a requirement that 10 percent of all new cars offered for sale in California in 2003 and beyond must be zero-emission vehicles (ZEVs).</a:t>
            </a:r>
          </a:p>
          <a:p>
            <a:pPr marL="363538" indent="-363538">
              <a:spcAft>
                <a:spcPts val="0"/>
              </a:spcAft>
            </a:pPr>
            <a:r>
              <a:rPr lang="en-US" sz="1800" dirty="0">
                <a:solidFill>
                  <a:schemeClr val="tx1"/>
                </a:solidFill>
              </a:rPr>
              <a:t>In 1996, GM began to lease its EV1, the first modern electric car.</a:t>
            </a:r>
          </a:p>
        </p:txBody>
      </p:sp>
    </p:spTree>
    <p:extLst>
      <p:ext uri="{BB962C8B-B14F-4D97-AF65-F5344CB8AC3E}">
        <p14:creationId xmlns:p14="http://schemas.microsoft.com/office/powerpoint/2010/main" val="3788314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Zero-Emissions Vehicles</a:t>
            </a:r>
            <a:endParaRPr dirty="0"/>
          </a:p>
        </p:txBody>
      </p:sp>
      <p:sp>
        <p:nvSpPr>
          <p:cNvPr id="145" name="Google Shape;145;p4"/>
          <p:cNvSpPr txBox="1">
            <a:spLocks noGrp="1"/>
          </p:cNvSpPr>
          <p:nvPr>
            <p:ph type="body" idx="1"/>
          </p:nvPr>
        </p:nvSpPr>
        <p:spPr>
          <a:xfrm>
            <a:off x="476844" y="1515999"/>
            <a:ext cx="6050956" cy="4564761"/>
          </a:xfrm>
          <a:prstGeom prst="rect">
            <a:avLst/>
          </a:prstGeom>
          <a:noFill/>
          <a:ln>
            <a:noFill/>
          </a:ln>
        </p:spPr>
        <p:txBody>
          <a:bodyPr spcFirstLastPara="1" wrap="square" lIns="91425" tIns="45700" rIns="91425" bIns="45700" anchor="t" anchorCtr="0">
            <a:noAutofit/>
          </a:bodyPr>
          <a:lstStyle/>
          <a:p>
            <a:pPr marL="358775" indent="-358775"/>
            <a:r>
              <a:rPr lang="en-US" sz="2200" dirty="0">
                <a:solidFill>
                  <a:schemeClr val="tx1"/>
                </a:solidFill>
              </a:rPr>
              <a:t>EVs use electrical energy stored in batteries to power the traction motors.</a:t>
            </a:r>
          </a:p>
          <a:p>
            <a:pPr marL="358775" indent="-358775"/>
            <a:r>
              <a:rPr lang="en-US" sz="2200" dirty="0">
                <a:solidFill>
                  <a:schemeClr val="tx1"/>
                </a:solidFill>
              </a:rPr>
              <a:t>EVs have zero vehicle emissions.</a:t>
            </a:r>
          </a:p>
          <a:p>
            <a:pPr marL="358775" indent="-358775"/>
            <a:r>
              <a:rPr lang="en-US" sz="2200" dirty="0">
                <a:solidFill>
                  <a:schemeClr val="tx1"/>
                </a:solidFill>
              </a:rPr>
              <a:t>The use of hydroelectric, wind, sunlight, or other renewable sources to generate electricity would eliminate all emissions associated with powering EVs.</a:t>
            </a:r>
          </a:p>
          <a:p>
            <a:pPr marL="358775" indent="-358775"/>
            <a:r>
              <a:rPr lang="en-US" sz="2200" b="1" dirty="0">
                <a:solidFill>
                  <a:schemeClr val="tx1"/>
                </a:solidFill>
              </a:rPr>
              <a:t>Fuel cell electric vehicles (FCEVs) </a:t>
            </a:r>
            <a:r>
              <a:rPr lang="en-US" sz="2200" dirty="0">
                <a:solidFill>
                  <a:schemeClr val="tx1"/>
                </a:solidFill>
              </a:rPr>
              <a:t>are also zero-emission electrically-powered vehicles, but they rely on hydrogen as the fuel.</a:t>
            </a:r>
          </a:p>
        </p:txBody>
      </p:sp>
      <p:pic>
        <p:nvPicPr>
          <p:cNvPr id="7" name="Picture Placeholder 6" descr="A flowchart of major components in B E V. The external power, onboard battery charger, battery pack, controller, traction motor, and single-speed transmission are connected in series with drive wheels. The battery pack is connected to a D C-D C converter and the converter is further connected to an auxiliary battery. The controller is connected to the accelerator pedal and brake pedal. This brake pedal is further connected to the hydraulic brake system. This hydraulic brake system is further connected to the drive wheels.">
            <a:extLst>
              <a:ext uri="{FF2B5EF4-FFF2-40B4-BE49-F238E27FC236}">
                <a16:creationId xmlns:a16="http://schemas.microsoft.com/office/drawing/2014/main" id="{21C55FB5-974C-1FB7-9AB8-F5672790253C}"/>
              </a:ext>
            </a:extLst>
          </p:cNvPr>
          <p:cNvPicPr>
            <a:picLocks noGrp="1" noChangeAspect="1"/>
          </p:cNvPicPr>
          <p:nvPr>
            <p:ph type="pic" sz="quarter" idx="12"/>
          </p:nvPr>
        </p:nvPicPr>
        <p:blipFill rotWithShape="1">
          <a:blip r:embed="rId3"/>
          <a:srcRect b="11309"/>
          <a:stretch/>
        </p:blipFill>
        <p:spPr>
          <a:xfrm>
            <a:off x="6861202" y="3147039"/>
            <a:ext cx="4755822" cy="1451093"/>
          </a:xfrm>
          <a:prstGeom prst="rect">
            <a:avLst/>
          </a:prstGeom>
        </p:spPr>
      </p:pic>
    </p:spTree>
    <p:extLst>
      <p:ext uri="{BB962C8B-B14F-4D97-AF65-F5344CB8AC3E}">
        <p14:creationId xmlns:p14="http://schemas.microsoft.com/office/powerpoint/2010/main" val="2880874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0CD2631-1EE4-6DC2-F893-B9C5CC7801C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22FBE3A-E975-B0BD-702B-2B80F1F06CD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Costs</a:t>
            </a:r>
            <a:endParaRPr dirty="0"/>
          </a:p>
        </p:txBody>
      </p:sp>
      <p:pic>
        <p:nvPicPr>
          <p:cNvPr id="7" name="Picture Placeholder 6" descr="A photo shows a level 2 charging station. Accompanied text reads: Ford Fast charging at home 240V home charging station easy to install. Easy to use. Easy to relocate. Smart onboard system charges ford electric vehicles up to twice as fast as others. fully charge the ford focus electric in 3-4 hours. “set it and forget it” convenience for overnight charging at off-peak discounted rates.">
            <a:extLst>
              <a:ext uri="{FF2B5EF4-FFF2-40B4-BE49-F238E27FC236}">
                <a16:creationId xmlns:a16="http://schemas.microsoft.com/office/drawing/2014/main" id="{8818594A-4931-7A00-E75A-64C853C1133A}"/>
              </a:ext>
            </a:extLst>
          </p:cNvPr>
          <p:cNvPicPr>
            <a:picLocks noGrp="1" noChangeAspect="1"/>
          </p:cNvPicPr>
          <p:nvPr>
            <p:ph type="pic" sz="quarter" idx="12"/>
          </p:nvPr>
        </p:nvPicPr>
        <p:blipFill rotWithShape="1">
          <a:blip r:embed="rId3"/>
          <a:srcRect b="5983"/>
          <a:stretch/>
        </p:blipFill>
        <p:spPr>
          <a:xfrm>
            <a:off x="961649" y="1580458"/>
            <a:ext cx="3076951" cy="4425397"/>
          </a:xfrm>
          <a:prstGeom prst="rect">
            <a:avLst/>
          </a:prstGeom>
        </p:spPr>
      </p:pic>
      <p:sp>
        <p:nvSpPr>
          <p:cNvPr id="145" name="Google Shape;145;p4">
            <a:extLst>
              <a:ext uri="{FF2B5EF4-FFF2-40B4-BE49-F238E27FC236}">
                <a16:creationId xmlns:a16="http://schemas.microsoft.com/office/drawing/2014/main" id="{B74B453F-FBF9-7F23-13B0-11C52EC1E380}"/>
              </a:ext>
            </a:extLst>
          </p:cNvPr>
          <p:cNvSpPr txBox="1">
            <a:spLocks noGrp="1"/>
          </p:cNvSpPr>
          <p:nvPr>
            <p:ph type="body" idx="1"/>
          </p:nvPr>
        </p:nvSpPr>
        <p:spPr>
          <a:xfrm>
            <a:off x="5041900" y="1401699"/>
            <a:ext cx="6676858" cy="4699450"/>
          </a:xfrm>
          <a:prstGeom prst="rect">
            <a:avLst/>
          </a:prstGeom>
          <a:noFill/>
          <a:ln>
            <a:noFill/>
          </a:ln>
        </p:spPr>
        <p:txBody>
          <a:bodyPr spcFirstLastPara="1" wrap="square" lIns="91425" tIns="45700" rIns="91425" bIns="45700" anchor="t" anchorCtr="0">
            <a:noAutofit/>
          </a:bodyPr>
          <a:lstStyle/>
          <a:p>
            <a:pPr marL="358775" indent="-358775">
              <a:buClr>
                <a:schemeClr val="tx1"/>
              </a:buClr>
            </a:pPr>
            <a:r>
              <a:rPr lang="en-US" sz="1800" dirty="0"/>
              <a:t>The initial cost of an EV tends to be higher than a conventional vehicle, even with tax incentives.</a:t>
            </a:r>
          </a:p>
          <a:p>
            <a:pPr marL="358775" indent="-358775">
              <a:buClr>
                <a:schemeClr val="tx1"/>
              </a:buClr>
            </a:pPr>
            <a:r>
              <a:rPr lang="en-US" sz="1800" dirty="0"/>
              <a:t>This is due in part to the cost of the batteries.</a:t>
            </a:r>
          </a:p>
          <a:p>
            <a:pPr marL="358775" indent="-358775">
              <a:buClr>
                <a:schemeClr val="tx1"/>
              </a:buClr>
            </a:pPr>
            <a:r>
              <a:rPr lang="en-US" sz="1800" dirty="0"/>
              <a:t>Current estimates put the cost of a typical new EV battery at $6,000 to $15,000.</a:t>
            </a:r>
          </a:p>
          <a:p>
            <a:pPr marL="358775" indent="-358775">
              <a:buClr>
                <a:schemeClr val="tx1"/>
              </a:buClr>
            </a:pPr>
            <a:r>
              <a:rPr lang="en-US" sz="1800" dirty="0"/>
              <a:t>In addition to the purchase of the vehicle, additional costs may be incurred to install an electrical outlet for charging.</a:t>
            </a:r>
          </a:p>
          <a:p>
            <a:pPr marL="358775" indent="-358775">
              <a:buClr>
                <a:schemeClr val="tx1"/>
              </a:buClr>
            </a:pPr>
            <a:r>
              <a:rPr lang="en-US" sz="1800" dirty="0"/>
              <a:t>Many early EVs came with a charging cord that used a standard 120-volt outlet.</a:t>
            </a:r>
          </a:p>
          <a:p>
            <a:pPr marL="358775" indent="-358775">
              <a:buClr>
                <a:schemeClr val="tx1"/>
              </a:buClr>
            </a:pPr>
            <a:r>
              <a:rPr lang="en-US" sz="1800" dirty="0"/>
              <a:t>While this added little or no cost for the owner to be able to plug in and charge, the low output of these chargers, between 1 and 2 kW, can make recharge times quite long.</a:t>
            </a:r>
          </a:p>
        </p:txBody>
      </p:sp>
    </p:spTree>
    <p:extLst>
      <p:ext uri="{BB962C8B-B14F-4D97-AF65-F5344CB8AC3E}">
        <p14:creationId xmlns:p14="http://schemas.microsoft.com/office/powerpoint/2010/main" val="2131324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A44E380-E1E8-8316-FF81-299E66167E59}"/>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F0A790B2-3589-723F-9F48-0D6A1EA4730E}"/>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Major Parts</a:t>
            </a:r>
            <a:endParaRPr dirty="0"/>
          </a:p>
        </p:txBody>
      </p:sp>
      <p:sp>
        <p:nvSpPr>
          <p:cNvPr id="145" name="Google Shape;145;p4">
            <a:extLst>
              <a:ext uri="{FF2B5EF4-FFF2-40B4-BE49-F238E27FC236}">
                <a16:creationId xmlns:a16="http://schemas.microsoft.com/office/drawing/2014/main" id="{9C4E56F9-5FF9-8E92-85EF-EE86FDEC5A81}"/>
              </a:ext>
            </a:extLst>
          </p:cNvPr>
          <p:cNvSpPr txBox="1">
            <a:spLocks noGrp="1"/>
          </p:cNvSpPr>
          <p:nvPr>
            <p:ph type="body" idx="1"/>
          </p:nvPr>
        </p:nvSpPr>
        <p:spPr>
          <a:xfrm>
            <a:off x="476843" y="1515999"/>
            <a:ext cx="7715687" cy="4526455"/>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36.02 Describe the major systems that make up an electric vehicle.</a:t>
            </a:r>
          </a:p>
          <a:p>
            <a:pPr marL="358775" indent="-358775"/>
            <a:r>
              <a:rPr lang="en-US" sz="2000" dirty="0"/>
              <a:t>The basic systems in an EV are a high-voltage battery pack, battery management system, the motor/generator(s) and supporting system, 12 or 16-volt (low voltage) system, converter and/or inverter, and the driver’s displays and controls.</a:t>
            </a:r>
          </a:p>
          <a:p>
            <a:pPr marL="358775" indent="-358775"/>
            <a:r>
              <a:rPr lang="en-US" sz="2000" dirty="0"/>
              <a:t>The propulsion system has a traction motor (or two or three) that provides the power to rotate the drive wheels and a controller to control the power output of the motor.</a:t>
            </a:r>
          </a:p>
          <a:p>
            <a:pPr marL="358775" indent="-358775"/>
            <a:r>
              <a:rPr lang="en-US" sz="2000" dirty="0"/>
              <a:t>The low-voltage system supplies the electrical power for the vehicle’s accessories, such as the radio and lights.</a:t>
            </a:r>
          </a:p>
        </p:txBody>
      </p:sp>
      <p:pic>
        <p:nvPicPr>
          <p:cNvPr id="8" name="Picture Placeholder 7" descr="A basic wiring diagram of an electric vehicle contains three blocks as follows: Charging system, propulsion system, and a 12-volt system. The charging system includes 120 V A C - external and battery charger. The propulsion system includes a 96 Volt motor, transmission, controller, pot box, accelerator, circuit breaker, ammeter, shunt, voltmeter, connector, and 96 Volt battery pack. The 12-Volt system includes a D C/D C converter, 12 Volt battery, charger interlock relay, 12 Volt accessory terminal strip, lights, wipers, horn, vacuum pump, and ignition switch. 120 V A C - external is connected to a battery charger and charger interlock relay. The battery charger is connected to the battery pack and circuit breaker. The circuit breaker is connected to the shunt and voltmeter, and the shunt is connected to the ammeter and connector. The 96 Volt motor with transmission is connected to the D C/D C converter and connector, and then the controller is connected to the connector. The controller is connected to the accelerator and pot box, and the other end is connected to the connector. The 96 V battery pack includes a 400 A main fuse, which is connected to the battery charger. The D C/D C converter is connected to the 12 Volt battery. From the battery, the connection is given to a 12 Volt accessory terminal strip. The 12 Volt accessory terminal strip is connected to the ignition switch, lights, wipers, horn, and vacuum pump.">
            <a:extLst>
              <a:ext uri="{FF2B5EF4-FFF2-40B4-BE49-F238E27FC236}">
                <a16:creationId xmlns:a16="http://schemas.microsoft.com/office/drawing/2014/main" id="{1BDB0BA2-A257-1CBC-C70C-3DA3EDDCDFC6}"/>
              </a:ext>
            </a:extLst>
          </p:cNvPr>
          <p:cNvPicPr>
            <a:picLocks noGrp="1" noChangeAspect="1"/>
          </p:cNvPicPr>
          <p:nvPr>
            <p:ph type="pic" sz="quarter" idx="12"/>
          </p:nvPr>
        </p:nvPicPr>
        <p:blipFill rotWithShape="1">
          <a:blip r:embed="rId3"/>
          <a:srcRect b="4274"/>
          <a:stretch/>
        </p:blipFill>
        <p:spPr>
          <a:xfrm>
            <a:off x="8415226" y="2141631"/>
            <a:ext cx="3484673" cy="3685912"/>
          </a:xfrm>
          <a:prstGeom prst="rect">
            <a:avLst/>
          </a:prstGeom>
        </p:spPr>
      </p:pic>
    </p:spTree>
    <p:extLst>
      <p:ext uri="{BB962C8B-B14F-4D97-AF65-F5344CB8AC3E}">
        <p14:creationId xmlns:p14="http://schemas.microsoft.com/office/powerpoint/2010/main" val="1724196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BC6996B-5718-1D34-C7F3-CEFAA9F1C97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B78BBAA-3F38-687D-0F5F-06AF656AD102}"/>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Electric Motor</a:t>
            </a:r>
            <a:endParaRPr dirty="0"/>
          </a:p>
        </p:txBody>
      </p:sp>
      <p:sp>
        <p:nvSpPr>
          <p:cNvPr id="145" name="Google Shape;145;p4">
            <a:extLst>
              <a:ext uri="{FF2B5EF4-FFF2-40B4-BE49-F238E27FC236}">
                <a16:creationId xmlns:a16="http://schemas.microsoft.com/office/drawing/2014/main" id="{6F05A33E-2C61-A609-866F-5AFC14EC3F16}"/>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t>In most EVs, there is no transmission because the rotary motion, or torque, of the motor can be applied directly to the axle drive gears.</a:t>
            </a:r>
          </a:p>
          <a:p>
            <a:pPr marL="358775" indent="-358775">
              <a:spcAft>
                <a:spcPts val="0"/>
              </a:spcAft>
            </a:pPr>
            <a:r>
              <a:rPr lang="en-US" sz="1800" dirty="0"/>
              <a:t>A motor is capable of providing enough torque throughout its speed range to move the vehicle without torque multiplication.</a:t>
            </a:r>
          </a:p>
          <a:p>
            <a:pPr marL="358775" indent="-358775">
              <a:spcAft>
                <a:spcPts val="0"/>
              </a:spcAft>
            </a:pPr>
            <a:r>
              <a:rPr lang="en-US" sz="1800" dirty="0"/>
              <a:t>With an electric motor, instant torque is available at any speed.</a:t>
            </a:r>
          </a:p>
          <a:p>
            <a:pPr marL="358775" indent="-358775">
              <a:spcAft>
                <a:spcPts val="0"/>
              </a:spcAft>
            </a:pPr>
            <a:r>
              <a:rPr lang="en-US" sz="1800" dirty="0"/>
              <a:t>The entire rotational force of a motor is available the instant the accelerator pedal is pressed. </a:t>
            </a:r>
          </a:p>
          <a:p>
            <a:pPr marL="358775" indent="-358775">
              <a:spcAft>
                <a:spcPts val="0"/>
              </a:spcAft>
            </a:pPr>
            <a:r>
              <a:rPr lang="en-US" sz="1800" dirty="0"/>
              <a:t>Peak torque stays nearly constant over the rpm range, and then it begins to slowly decrease.</a:t>
            </a:r>
          </a:p>
          <a:p>
            <a:pPr marL="358775" indent="-358775">
              <a:spcAft>
                <a:spcPts val="0"/>
              </a:spcAft>
            </a:pPr>
            <a:r>
              <a:rPr lang="en-US" sz="1800" dirty="0"/>
              <a:t>Currently, only one EV has a multispeed transmission, the Porsche </a:t>
            </a:r>
            <a:r>
              <a:rPr lang="en-US" sz="1800" dirty="0" err="1"/>
              <a:t>Taycan</a:t>
            </a:r>
            <a:r>
              <a:rPr lang="en-US" sz="1800" dirty="0"/>
              <a:t>.</a:t>
            </a:r>
          </a:p>
          <a:p>
            <a:pPr marL="358775" indent="-358775">
              <a:spcAft>
                <a:spcPts val="0"/>
              </a:spcAft>
            </a:pPr>
            <a:r>
              <a:rPr lang="en-US" sz="1800" dirty="0"/>
              <a:t>The Taycan has a two-speed transmission consisting of a planetary gearset and two clutches in the rear drive unit.</a:t>
            </a:r>
          </a:p>
          <a:p>
            <a:pPr marL="358775" indent="-358775">
              <a:spcAft>
                <a:spcPts val="0"/>
              </a:spcAft>
            </a:pPr>
            <a:r>
              <a:rPr lang="en-US" sz="1800" dirty="0"/>
              <a:t>The configuration allows for increased performance and range.</a:t>
            </a:r>
          </a:p>
          <a:p>
            <a:pPr marL="358775" indent="-358775">
              <a:spcAft>
                <a:spcPts val="0"/>
              </a:spcAft>
            </a:pPr>
            <a:r>
              <a:rPr lang="en-US" sz="1800" dirty="0"/>
              <a:t>The wide torque band eliminates the need for multi-speed transmissions.</a:t>
            </a:r>
          </a:p>
        </p:txBody>
      </p:sp>
    </p:spTree>
    <p:extLst>
      <p:ext uri="{BB962C8B-B14F-4D97-AF65-F5344CB8AC3E}">
        <p14:creationId xmlns:p14="http://schemas.microsoft.com/office/powerpoint/2010/main" val="179025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61D323B-3D40-058C-18BD-2E3F9706200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9F3BDEA-579A-720B-8799-C1DE1D34A88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Controller</a:t>
            </a:r>
            <a:endParaRPr dirty="0"/>
          </a:p>
        </p:txBody>
      </p:sp>
      <p:sp>
        <p:nvSpPr>
          <p:cNvPr id="145" name="Google Shape;145;p4">
            <a:extLst>
              <a:ext uri="{FF2B5EF4-FFF2-40B4-BE49-F238E27FC236}">
                <a16:creationId xmlns:a16="http://schemas.microsoft.com/office/drawing/2014/main" id="{8A076A60-6DBD-B2A6-F9B9-35FF75DCC5D9}"/>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1800" dirty="0">
                <a:solidFill>
                  <a:schemeClr val="tx1"/>
                </a:solidFill>
              </a:rPr>
              <a:t>The controller in an EV controls the voltage and current to the traction motor(s) in response to the driver’s input.</a:t>
            </a:r>
          </a:p>
          <a:p>
            <a:pPr marL="358775" indent="-358775">
              <a:spcAft>
                <a:spcPts val="0"/>
              </a:spcAft>
            </a:pPr>
            <a:r>
              <a:rPr lang="en-US" sz="1800" dirty="0">
                <a:solidFill>
                  <a:schemeClr val="tx1"/>
                </a:solidFill>
              </a:rPr>
              <a:t>The controller can reverse the current flow to the motor when reverse gear is selected.</a:t>
            </a:r>
          </a:p>
          <a:p>
            <a:pPr marL="358775" indent="-358775">
              <a:spcAft>
                <a:spcPts val="0"/>
              </a:spcAft>
            </a:pPr>
            <a:r>
              <a:rPr lang="en-US" sz="1800" dirty="0">
                <a:solidFill>
                  <a:schemeClr val="tx1"/>
                </a:solidFill>
              </a:rPr>
              <a:t>In electric vehicles with DC motors, a simple variable-resistor-type controller can be used to regulate the speed of the motor.</a:t>
            </a:r>
          </a:p>
          <a:p>
            <a:pPr marL="358775" indent="-358775">
              <a:spcAft>
                <a:spcPts val="0"/>
              </a:spcAft>
            </a:pPr>
            <a:r>
              <a:rPr lang="en-US" sz="1800" dirty="0">
                <a:solidFill>
                  <a:schemeClr val="tx1"/>
                </a:solidFill>
              </a:rPr>
              <a:t>With this type of controller, full current and power is always drawn from the battery.</a:t>
            </a:r>
          </a:p>
          <a:p>
            <a:pPr marL="358775" indent="-358775">
              <a:spcAft>
                <a:spcPts val="0"/>
              </a:spcAft>
            </a:pPr>
            <a:r>
              <a:rPr lang="en-US" sz="1800" dirty="0">
                <a:solidFill>
                  <a:schemeClr val="tx1"/>
                </a:solidFill>
              </a:rPr>
              <a:t>At slow speeds, when full power is not needed, a high resistance in the resistor reduces current flow to the motor.</a:t>
            </a:r>
          </a:p>
          <a:p>
            <a:pPr marL="358775" indent="-358775">
              <a:spcAft>
                <a:spcPts val="0"/>
              </a:spcAft>
            </a:pPr>
            <a:r>
              <a:rPr lang="en-US" sz="1800" dirty="0">
                <a:solidFill>
                  <a:schemeClr val="tx1"/>
                </a:solidFill>
              </a:rPr>
              <a:t>With this type of system, a large percentage of the energy from the battery is wasted as an energy loss (heat) at the resistor.</a:t>
            </a:r>
          </a:p>
          <a:p>
            <a:pPr marL="358775" indent="-358775">
              <a:spcAft>
                <a:spcPts val="0"/>
              </a:spcAft>
            </a:pPr>
            <a:r>
              <a:rPr lang="en-US" sz="1800" dirty="0">
                <a:solidFill>
                  <a:schemeClr val="tx1"/>
                </a:solidFill>
              </a:rPr>
              <a:t>High speeds are the only time all of the available power is used.</a:t>
            </a:r>
          </a:p>
          <a:p>
            <a:pPr marL="358775" indent="-358775">
              <a:spcAft>
                <a:spcPts val="0"/>
              </a:spcAft>
            </a:pPr>
            <a:r>
              <a:rPr lang="en-US" sz="1800" dirty="0">
                <a:solidFill>
                  <a:schemeClr val="tx1"/>
                </a:solidFill>
              </a:rPr>
              <a:t>Modern controllers for AC motors adjust motor speed through pulse width modulation (PWM). </a:t>
            </a:r>
          </a:p>
          <a:p>
            <a:pPr marL="358775" indent="-358775">
              <a:spcAft>
                <a:spcPts val="0"/>
              </a:spcAft>
            </a:pPr>
            <a:r>
              <a:rPr lang="en-US" sz="1800" dirty="0">
                <a:solidFill>
                  <a:schemeClr val="tx1"/>
                </a:solidFill>
              </a:rPr>
              <a:t>Pulse width is the length of time, in milliseconds, that a component is energized.</a:t>
            </a:r>
          </a:p>
        </p:txBody>
      </p:sp>
    </p:spTree>
    <p:extLst>
      <p:ext uri="{BB962C8B-B14F-4D97-AF65-F5344CB8AC3E}">
        <p14:creationId xmlns:p14="http://schemas.microsoft.com/office/powerpoint/2010/main" val="2192944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4A2787C-36F2-0F55-BCC3-8C880CD4BF2C}"/>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3C5D35BB-2BA9-3FD2-4D86-B165C8B6286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Inverter/Converter</a:t>
            </a:r>
            <a:endParaRPr dirty="0"/>
          </a:p>
        </p:txBody>
      </p:sp>
      <p:sp>
        <p:nvSpPr>
          <p:cNvPr id="145" name="Google Shape;145;p4">
            <a:extLst>
              <a:ext uri="{FF2B5EF4-FFF2-40B4-BE49-F238E27FC236}">
                <a16:creationId xmlns:a16="http://schemas.microsoft.com/office/drawing/2014/main" id="{4F1BEA74-9457-1097-DDC5-05F3A64B092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2000" dirty="0">
                <a:solidFill>
                  <a:schemeClr val="tx1"/>
                </a:solidFill>
              </a:rPr>
              <a:t>Remember, a storage battery holds only DC voltage.</a:t>
            </a:r>
          </a:p>
          <a:p>
            <a:pPr marL="358775" indent="-358775"/>
            <a:r>
              <a:rPr lang="en-US" sz="2000" dirty="0">
                <a:solidFill>
                  <a:schemeClr val="tx1"/>
                </a:solidFill>
              </a:rPr>
              <a:t>An AC power inverter converts the battery’s DC voltage into three-phase AC voltage to power the traction motor.</a:t>
            </a:r>
          </a:p>
          <a:p>
            <a:pPr marL="358775" indent="-358775"/>
            <a:r>
              <a:rPr lang="en-US" sz="2000" dirty="0">
                <a:solidFill>
                  <a:schemeClr val="tx1"/>
                </a:solidFill>
              </a:rPr>
              <a:t>The output voltage varies according to the demands of the driver and the vehicle.</a:t>
            </a:r>
          </a:p>
          <a:p>
            <a:pPr marL="358775" indent="-358775"/>
            <a:r>
              <a:rPr lang="en-US" sz="2000" dirty="0">
                <a:solidFill>
                  <a:schemeClr val="tx1"/>
                </a:solidFill>
              </a:rPr>
              <a:t>Normally, the inverter is controlled by an electronic control module.</a:t>
            </a:r>
          </a:p>
          <a:p>
            <a:pPr marL="358775" indent="-358775"/>
            <a:r>
              <a:rPr lang="en-US" sz="2000" dirty="0">
                <a:solidFill>
                  <a:schemeClr val="tx1"/>
                </a:solidFill>
              </a:rPr>
              <a:t>The output from a typical inverter is constantly being calculated using input signals from the accelerator pedal, the motor’s shaft speed sensor, the motor’s direction sensor, and the brake pedal.</a:t>
            </a:r>
          </a:p>
          <a:p>
            <a:pPr marL="358775" indent="-358775"/>
            <a:r>
              <a:rPr lang="en-US" sz="2000" dirty="0">
                <a:solidFill>
                  <a:schemeClr val="tx1"/>
                </a:solidFill>
              </a:rPr>
              <a:t>The inverter is liquid-cooled, and the heat from the inverter can be used to supplement the passenger compartment’s heater to save energy.</a:t>
            </a:r>
          </a:p>
          <a:p>
            <a:pPr marL="358775" indent="-358775"/>
            <a:r>
              <a:rPr lang="en-US" sz="2000" dirty="0">
                <a:solidFill>
                  <a:schemeClr val="tx1"/>
                </a:solidFill>
              </a:rPr>
              <a:t>This is done automatically whenever the controls are set for heat.</a:t>
            </a:r>
          </a:p>
        </p:txBody>
      </p:sp>
    </p:spTree>
    <p:extLst>
      <p:ext uri="{BB962C8B-B14F-4D97-AF65-F5344CB8AC3E}">
        <p14:creationId xmlns:p14="http://schemas.microsoft.com/office/powerpoint/2010/main" val="4176525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2" name="Text Placeholder 1">
            <a:extLst>
              <a:ext uri="{FF2B5EF4-FFF2-40B4-BE49-F238E27FC236}">
                <a16:creationId xmlns:a16="http://schemas.microsoft.com/office/drawing/2014/main" id="{E86506D2-5E32-D5FA-71D8-1C23A48D6ABF}"/>
              </a:ext>
            </a:extLst>
          </p:cNvPr>
          <p:cNvSpPr>
            <a:spLocks noGrp="1"/>
          </p:cNvSpPr>
          <p:nvPr>
            <p:ph type="body" idx="1"/>
          </p:nvPr>
        </p:nvSpPr>
        <p:spPr/>
        <p:txBody>
          <a:bodyPr/>
          <a:lstStyle/>
          <a:p>
            <a:r>
              <a:rPr lang="en-US" dirty="0"/>
              <a:t>How is the EV inverter cooled?</a:t>
            </a:r>
          </a:p>
        </p:txBody>
      </p:sp>
    </p:spTree>
    <p:extLst>
      <p:ext uri="{BB962C8B-B14F-4D97-AF65-F5344CB8AC3E}">
        <p14:creationId xmlns:p14="http://schemas.microsoft.com/office/powerpoint/2010/main" val="4201710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845090E9-6722-8F64-6D8E-86687B97B7D9}"/>
              </a:ext>
            </a:extLst>
          </p:cNvPr>
          <p:cNvSpPr>
            <a:spLocks noGrp="1"/>
          </p:cNvSpPr>
          <p:nvPr>
            <p:ph type="body" idx="1"/>
          </p:nvPr>
        </p:nvSpPr>
        <p:spPr/>
        <p:txBody>
          <a:bodyPr/>
          <a:lstStyle/>
          <a:p>
            <a:pPr marL="361950" lvl="1" indent="0">
              <a:buNone/>
            </a:pPr>
            <a:r>
              <a:rPr lang="en-US" sz="2600" b="1" dirty="0"/>
              <a:t>Answer</a:t>
            </a:r>
            <a:r>
              <a:rPr lang="en-US" sz="2600" dirty="0"/>
              <a:t>: The inverter is liquid-cooled.</a:t>
            </a:r>
          </a:p>
        </p:txBody>
      </p:sp>
    </p:spTree>
    <p:extLst>
      <p:ext uri="{BB962C8B-B14F-4D97-AF65-F5344CB8AC3E}">
        <p14:creationId xmlns:p14="http://schemas.microsoft.com/office/powerpoint/2010/main" val="217285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72F5B687-4E96-C654-1FCD-F9FDEF252A5D}"/>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E6E3D7B-DE16-CEC4-6CD0-14B264BDDD1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Charger to Vehicle Connectors</a:t>
            </a:r>
            <a:endParaRPr dirty="0"/>
          </a:p>
        </p:txBody>
      </p:sp>
      <p:pic>
        <p:nvPicPr>
          <p:cNvPr id="7" name="Picture Placeholder 6" descr="A close-up of a person’s hand holding an inductive charging connector also know as paddle.">
            <a:extLst>
              <a:ext uri="{FF2B5EF4-FFF2-40B4-BE49-F238E27FC236}">
                <a16:creationId xmlns:a16="http://schemas.microsoft.com/office/drawing/2014/main" id="{AFF0EB80-8EA8-7091-625F-E26162620FC1}"/>
              </a:ext>
            </a:extLst>
          </p:cNvPr>
          <p:cNvPicPr>
            <a:picLocks noGrp="1" noChangeAspect="1"/>
          </p:cNvPicPr>
          <p:nvPr>
            <p:ph type="pic" sz="quarter" idx="11"/>
          </p:nvPr>
        </p:nvPicPr>
        <p:blipFill rotWithShape="1">
          <a:blip r:embed="rId3"/>
          <a:srcRect b="7802"/>
          <a:stretch/>
        </p:blipFill>
        <p:spPr>
          <a:xfrm>
            <a:off x="720639" y="2052106"/>
            <a:ext cx="4357304" cy="3079359"/>
          </a:xfrm>
          <a:prstGeom prst="rect">
            <a:avLst/>
          </a:prstGeom>
        </p:spPr>
      </p:pic>
      <p:sp>
        <p:nvSpPr>
          <p:cNvPr id="145" name="Google Shape;145;p4">
            <a:extLst>
              <a:ext uri="{FF2B5EF4-FFF2-40B4-BE49-F238E27FC236}">
                <a16:creationId xmlns:a16="http://schemas.microsoft.com/office/drawing/2014/main" id="{3D4B3A18-2976-4CDE-FBE4-0807B3E3F2B5}"/>
              </a:ext>
            </a:extLst>
          </p:cNvPr>
          <p:cNvSpPr txBox="1">
            <a:spLocks noGrp="1"/>
          </p:cNvSpPr>
          <p:nvPr>
            <p:ph type="body" idx="1"/>
          </p:nvPr>
        </p:nvSpPr>
        <p:spPr>
          <a:xfrm>
            <a:off x="5375189" y="1515999"/>
            <a:ext cx="6343569" cy="4588239"/>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t>There are two ways an EV is connected to an external source of electricity for charging.</a:t>
            </a:r>
          </a:p>
          <a:p>
            <a:pPr marL="358775" indent="-358775">
              <a:spcAft>
                <a:spcPts val="400"/>
              </a:spcAft>
            </a:pPr>
            <a:r>
              <a:rPr lang="en-US" sz="1800" dirty="0"/>
              <a:t>One is called a conductive coupling.</a:t>
            </a:r>
          </a:p>
          <a:p>
            <a:pPr marL="358775" indent="-358775">
              <a:spcAft>
                <a:spcPts val="400"/>
              </a:spcAft>
            </a:pPr>
            <a:r>
              <a:rPr lang="en-US" sz="1800" dirty="0"/>
              <a:t>The coupling is plugged into a receptacle on the vehicle where it connects into the wiring for the batteries.</a:t>
            </a:r>
          </a:p>
          <a:p>
            <a:pPr marL="358775" indent="-358775">
              <a:spcAft>
                <a:spcPts val="400"/>
              </a:spcAft>
            </a:pPr>
            <a:r>
              <a:rPr lang="en-US" sz="1800" dirty="0"/>
              <a:t>The other is called inductive coupling.</a:t>
            </a:r>
          </a:p>
          <a:p>
            <a:pPr marL="358775" indent="-358775">
              <a:spcAft>
                <a:spcPts val="400"/>
              </a:spcAft>
            </a:pPr>
            <a:r>
              <a:rPr lang="en-US" sz="1800" dirty="0"/>
              <a:t>Small-scale inductive charging is available in many vehicles to charge cell phones.</a:t>
            </a:r>
          </a:p>
          <a:p>
            <a:pPr marL="358775" indent="-358775">
              <a:spcAft>
                <a:spcPts val="400"/>
              </a:spcAft>
            </a:pPr>
            <a:r>
              <a:rPr lang="en-US" sz="1800" dirty="0"/>
              <a:t>Inductive charging transfers electricity from a charger to the vehicle using magnetic principles.</a:t>
            </a:r>
          </a:p>
          <a:p>
            <a:pPr marL="358775" indent="-358775">
              <a:spcAft>
                <a:spcPts val="400"/>
              </a:spcAft>
            </a:pPr>
            <a:r>
              <a:rPr lang="en-US" sz="1800" dirty="0"/>
              <a:t>To charge the batteries, a weatherproof paddle is inserted into the vehicle’s charge port.</a:t>
            </a:r>
          </a:p>
        </p:txBody>
      </p:sp>
    </p:spTree>
    <p:extLst>
      <p:ext uri="{BB962C8B-B14F-4D97-AF65-F5344CB8AC3E}">
        <p14:creationId xmlns:p14="http://schemas.microsoft.com/office/powerpoint/2010/main" val="964932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9364B3E-1C54-72FC-80FD-DD256C3F41F6}"/>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8D0AF8B-FE72-F845-BDBC-F692DA11986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Recharging Standards and Regulations</a:t>
            </a:r>
            <a:endParaRPr dirty="0"/>
          </a:p>
        </p:txBody>
      </p:sp>
      <p:pic>
        <p:nvPicPr>
          <p:cNvPr id="7" name="Picture Placeholder 6" descr="A level 2 charging port within a vehicle follows the standard S A E surface vehicle recommended practice J - 1772, which specifies the S A E electric vehicle conductive charge coupler.">
            <a:extLst>
              <a:ext uri="{FF2B5EF4-FFF2-40B4-BE49-F238E27FC236}">
                <a16:creationId xmlns:a16="http://schemas.microsoft.com/office/drawing/2014/main" id="{E6A59B5D-CD16-15B4-3BFB-566D9286AE7E}"/>
              </a:ext>
            </a:extLst>
          </p:cNvPr>
          <p:cNvPicPr>
            <a:picLocks noGrp="1" noChangeAspect="1"/>
          </p:cNvPicPr>
          <p:nvPr>
            <p:ph type="pic" sz="quarter" idx="12"/>
          </p:nvPr>
        </p:nvPicPr>
        <p:blipFill rotWithShape="1">
          <a:blip r:embed="rId3"/>
          <a:srcRect b="10254"/>
          <a:stretch/>
        </p:blipFill>
        <p:spPr>
          <a:xfrm>
            <a:off x="668668" y="1993900"/>
            <a:ext cx="4629172" cy="3487025"/>
          </a:xfrm>
          <a:prstGeom prst="rect">
            <a:avLst/>
          </a:prstGeom>
        </p:spPr>
      </p:pic>
      <p:sp>
        <p:nvSpPr>
          <p:cNvPr id="145" name="Google Shape;145;p4">
            <a:extLst>
              <a:ext uri="{FF2B5EF4-FFF2-40B4-BE49-F238E27FC236}">
                <a16:creationId xmlns:a16="http://schemas.microsoft.com/office/drawing/2014/main" id="{927F28C5-BB66-45C7-F881-D99310EBF65C}"/>
              </a:ext>
            </a:extLst>
          </p:cNvPr>
          <p:cNvSpPr txBox="1">
            <a:spLocks noGrp="1"/>
          </p:cNvSpPr>
          <p:nvPr>
            <p:ph type="body" idx="1"/>
          </p:nvPr>
        </p:nvSpPr>
        <p:spPr>
          <a:xfrm>
            <a:off x="5461686" y="1515998"/>
            <a:ext cx="6257071" cy="4551169"/>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1800" dirty="0"/>
              <a:t>The most recognized standard is the North American standard for electrical connectors for electric vehicles as defined by the Society of Automotive Engineers (SAE).</a:t>
            </a:r>
          </a:p>
          <a:p>
            <a:pPr marL="358775" indent="-358775">
              <a:spcAft>
                <a:spcPts val="400"/>
              </a:spcAft>
            </a:pPr>
            <a:r>
              <a:rPr lang="en-US" sz="1800" dirty="0"/>
              <a:t>This standard is known as the “SAE Surface Vehicle Recommended Practice J-1772, SAE Electric Vehicle Conductive Charge Coupler.”</a:t>
            </a:r>
          </a:p>
          <a:p>
            <a:pPr marL="358775" indent="-358775">
              <a:spcAft>
                <a:spcPts val="400"/>
              </a:spcAft>
            </a:pPr>
            <a:r>
              <a:rPr lang="en-US" sz="1800" dirty="0"/>
              <a:t>Basically, this standard covers the physical, electrical, communication protocol, and performance requirements for an EV’s conductive charge system and coupler.</a:t>
            </a:r>
          </a:p>
          <a:p>
            <a:pPr marL="358775" indent="-358775">
              <a:spcAft>
                <a:spcPts val="400"/>
              </a:spcAft>
            </a:pPr>
            <a:r>
              <a:rPr lang="en-US" sz="1800" dirty="0"/>
              <a:t>The purpose of the standard is to ensure EVs from different manufacturers will not need special or unique chargers or charging connectors.</a:t>
            </a:r>
          </a:p>
        </p:txBody>
      </p:sp>
    </p:spTree>
    <p:extLst>
      <p:ext uri="{BB962C8B-B14F-4D97-AF65-F5344CB8AC3E}">
        <p14:creationId xmlns:p14="http://schemas.microsoft.com/office/powerpoint/2010/main" val="715757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4C36DA5-FECB-DF33-55DB-8FEB0ABE735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1875CF53-0C18-9DE3-0536-5635E390695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HVAC</a:t>
            </a:r>
            <a:endParaRPr dirty="0"/>
          </a:p>
        </p:txBody>
      </p:sp>
      <p:sp>
        <p:nvSpPr>
          <p:cNvPr id="145" name="Google Shape;145;p4">
            <a:extLst>
              <a:ext uri="{FF2B5EF4-FFF2-40B4-BE49-F238E27FC236}">
                <a16:creationId xmlns:a16="http://schemas.microsoft.com/office/drawing/2014/main" id="{A313402C-BEB4-DB0D-8E48-A42D553C35B4}"/>
              </a:ext>
            </a:extLst>
          </p:cNvPr>
          <p:cNvSpPr txBox="1">
            <a:spLocks noGrp="1"/>
          </p:cNvSpPr>
          <p:nvPr>
            <p:ph type="body" idx="1"/>
          </p:nvPr>
        </p:nvSpPr>
        <p:spPr>
          <a:xfrm>
            <a:off x="476844" y="1515999"/>
            <a:ext cx="8146456" cy="4612952"/>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200" dirty="0"/>
              <a:t>To meet federal safety standards, all vehicles must be equipped with passenger compartment heating and windshield defrosting systems.</a:t>
            </a:r>
          </a:p>
          <a:p>
            <a:pPr marL="357188" marR="0" lvl="0" indent="-357188" algn="l" rtl="0">
              <a:buChar char="•"/>
            </a:pPr>
            <a:r>
              <a:rPr lang="en-US" sz="2200" dirty="0"/>
              <a:t>Vehicles with an internal combustion engine use the heat of the engine’s coolant to warm the passenger compartment and the air conditioning system to cool the passenger compartment.</a:t>
            </a:r>
          </a:p>
          <a:p>
            <a:pPr marL="357188" marR="0" lvl="0" indent="-357188" algn="l" rtl="0">
              <a:buChar char="•"/>
            </a:pPr>
            <a:r>
              <a:rPr lang="en-US" sz="2200" dirty="0"/>
              <a:t>With EVs, the HVAC system is combined into a larger thermal management system. Common on EVs is an electric resistance heater with a fan, usually a positive temperature coefficient (PTC) heater.</a:t>
            </a:r>
          </a:p>
        </p:txBody>
      </p:sp>
      <p:pic>
        <p:nvPicPr>
          <p:cNvPr id="7" name="Picture Placeholder 6" descr="A positive temperature coefficient (P T C) heater assembly for a Tesla E V includes an electric resistance heater with a fan.">
            <a:extLst>
              <a:ext uri="{FF2B5EF4-FFF2-40B4-BE49-F238E27FC236}">
                <a16:creationId xmlns:a16="http://schemas.microsoft.com/office/drawing/2014/main" id="{7A653684-2E0E-C729-C8B6-718D748A5BBD}"/>
              </a:ext>
            </a:extLst>
          </p:cNvPr>
          <p:cNvPicPr>
            <a:picLocks noGrp="1" noChangeAspect="1"/>
          </p:cNvPicPr>
          <p:nvPr>
            <p:ph type="pic" sz="quarter" idx="12"/>
          </p:nvPr>
        </p:nvPicPr>
        <p:blipFill rotWithShape="1">
          <a:blip r:embed="rId3"/>
          <a:srcRect b="4469"/>
          <a:stretch/>
        </p:blipFill>
        <p:spPr>
          <a:xfrm>
            <a:off x="8910904" y="1486816"/>
            <a:ext cx="2607996" cy="4490404"/>
          </a:xfrm>
          <a:prstGeom prst="rect">
            <a:avLst/>
          </a:prstGeom>
        </p:spPr>
      </p:pic>
    </p:spTree>
    <p:extLst>
      <p:ext uri="{BB962C8B-B14F-4D97-AF65-F5344CB8AC3E}">
        <p14:creationId xmlns:p14="http://schemas.microsoft.com/office/powerpoint/2010/main" val="3034148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94BA06B-AE97-D04D-0C31-06CAA7420F6A}"/>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9DF41DD-8082-135D-1BF8-CAA37E226B4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Driving an EV</a:t>
            </a:r>
            <a:endParaRPr dirty="0"/>
          </a:p>
        </p:txBody>
      </p:sp>
      <p:sp>
        <p:nvSpPr>
          <p:cNvPr id="145" name="Google Shape;145;p4">
            <a:extLst>
              <a:ext uri="{FF2B5EF4-FFF2-40B4-BE49-F238E27FC236}">
                <a16:creationId xmlns:a16="http://schemas.microsoft.com/office/drawing/2014/main" id="{E0A41454-7B6B-9D91-B08F-F3EA72321472}"/>
              </a:ext>
            </a:extLst>
          </p:cNvPr>
          <p:cNvSpPr txBox="1">
            <a:spLocks noGrp="1"/>
          </p:cNvSpPr>
          <p:nvPr>
            <p:ph type="body" idx="1"/>
          </p:nvPr>
        </p:nvSpPr>
        <p:spPr>
          <a:xfrm>
            <a:off x="476844" y="1515999"/>
            <a:ext cx="7008976" cy="4612952"/>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solidFill>
                  <a:schemeClr val="tx1"/>
                </a:solidFill>
              </a:rPr>
              <a:t>Driving an EV is like driving any other vehicle but with some notable exceptions.</a:t>
            </a:r>
          </a:p>
          <a:p>
            <a:pPr marL="357188" marR="0" lvl="0" indent="-357188" algn="l" rtl="0">
              <a:buChar char="•"/>
            </a:pPr>
            <a:r>
              <a:rPr lang="en-US" sz="2000" dirty="0">
                <a:solidFill>
                  <a:schemeClr val="tx1"/>
                </a:solidFill>
              </a:rPr>
              <a:t>There is still a steering wheel, although wheel may not be the correct word for some vehicles, a brake pedal, and an accelerator pedal.</a:t>
            </a:r>
          </a:p>
          <a:p>
            <a:pPr marL="357188" marR="0" lvl="0" indent="-357188" algn="l" rtl="0">
              <a:buChar char="•"/>
            </a:pPr>
            <a:r>
              <a:rPr lang="en-US" sz="2000" dirty="0">
                <a:solidFill>
                  <a:schemeClr val="tx1"/>
                </a:solidFill>
              </a:rPr>
              <a:t>The biggest difference for the driver is that attention must be paid to the consumption of energy.</a:t>
            </a:r>
          </a:p>
          <a:p>
            <a:pPr marL="357188" marR="0" lvl="0" indent="-357188" algn="l" rtl="0">
              <a:buChar char="•"/>
            </a:pPr>
            <a:r>
              <a:rPr lang="en-US" sz="2000" dirty="0">
                <a:solidFill>
                  <a:schemeClr val="tx1"/>
                </a:solidFill>
              </a:rPr>
              <a:t>If the batteries are not charged, the vehicle will not move.</a:t>
            </a:r>
          </a:p>
          <a:p>
            <a:pPr marL="357188" marR="0" lvl="0" indent="-357188" algn="l" rtl="0">
              <a:buChar char="•"/>
            </a:pPr>
            <a:r>
              <a:rPr lang="en-US" sz="2000" dirty="0">
                <a:solidFill>
                  <a:schemeClr val="tx1"/>
                </a:solidFill>
              </a:rPr>
              <a:t>EVs run silently, and this has been a concern since pedestrians cannot hear an approaching EV.</a:t>
            </a:r>
          </a:p>
        </p:txBody>
      </p:sp>
      <p:pic>
        <p:nvPicPr>
          <p:cNvPr id="7" name="Picture Placeholder 6" descr="The steering wheel on a Lexus R Z 45 o e, is not the usual circular shape like a wheel but with a unique design.">
            <a:extLst>
              <a:ext uri="{FF2B5EF4-FFF2-40B4-BE49-F238E27FC236}">
                <a16:creationId xmlns:a16="http://schemas.microsoft.com/office/drawing/2014/main" id="{17E829B1-2C58-20BB-CC4E-333698AE2490}"/>
              </a:ext>
            </a:extLst>
          </p:cNvPr>
          <p:cNvPicPr>
            <a:picLocks noGrp="1" noChangeAspect="1"/>
          </p:cNvPicPr>
          <p:nvPr>
            <p:ph type="pic" sz="quarter" idx="12"/>
          </p:nvPr>
        </p:nvPicPr>
        <p:blipFill rotWithShape="1">
          <a:blip r:embed="rId3"/>
          <a:srcRect b="8460"/>
          <a:stretch/>
        </p:blipFill>
        <p:spPr>
          <a:xfrm>
            <a:off x="7485819" y="2125139"/>
            <a:ext cx="4305173" cy="3216861"/>
          </a:xfrm>
          <a:prstGeom prst="rect">
            <a:avLst/>
          </a:prstGeom>
        </p:spPr>
      </p:pic>
    </p:spTree>
    <p:extLst>
      <p:ext uri="{BB962C8B-B14F-4D97-AF65-F5344CB8AC3E}">
        <p14:creationId xmlns:p14="http://schemas.microsoft.com/office/powerpoint/2010/main" val="4127344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07C014B3-BDC7-A660-5CBA-F9D9BBF95B1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48557B0C-5C28-B758-4236-D12213334560}"/>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Precautions</a:t>
            </a:r>
            <a:endParaRPr dirty="0"/>
          </a:p>
        </p:txBody>
      </p:sp>
      <p:sp>
        <p:nvSpPr>
          <p:cNvPr id="145" name="Google Shape;145;p4">
            <a:extLst>
              <a:ext uri="{FF2B5EF4-FFF2-40B4-BE49-F238E27FC236}">
                <a16:creationId xmlns:a16="http://schemas.microsoft.com/office/drawing/2014/main" id="{0EB3B634-570E-03B8-055E-676140FDB2F7}"/>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200" b="1" dirty="0"/>
              <a:t>36.05 Describe some precautions that should be followed when troubleshooting and repairing an electric vehicle.</a:t>
            </a:r>
            <a:endParaRPr lang="en-US" sz="2200" dirty="0"/>
          </a:p>
          <a:p>
            <a:pPr marL="357188" marR="0" lvl="0" indent="-357188" algn="l" rtl="0">
              <a:buChar char="•"/>
            </a:pPr>
            <a:r>
              <a:rPr lang="en-US" sz="2200" dirty="0"/>
              <a:t>During diagnosis and repair of an EV, always keep in mind that the vehicle has very high voltage.</a:t>
            </a:r>
          </a:p>
          <a:p>
            <a:pPr marL="357188" marR="0" lvl="0" indent="-357188" algn="l" rtl="0">
              <a:buChar char="•"/>
            </a:pPr>
            <a:r>
              <a:rPr lang="en-US" sz="2200" dirty="0"/>
              <a:t>This voltage can kill you!</a:t>
            </a:r>
          </a:p>
          <a:p>
            <a:pPr marL="357188" marR="0" lvl="0" indent="-357188" algn="l" rtl="0">
              <a:buChar char="•"/>
            </a:pPr>
            <a:r>
              <a:rPr lang="en-US" sz="2200" dirty="0"/>
              <a:t>Therefore, always adhere to the safety guidelines given by the manufacturer. </a:t>
            </a:r>
          </a:p>
          <a:p>
            <a:pPr marL="357188" marR="0" lvl="0" indent="-357188" algn="l" rtl="0">
              <a:buChar char="•"/>
            </a:pPr>
            <a:r>
              <a:rPr lang="en-US" sz="2200" dirty="0"/>
              <a:t>Keep in mind the same concerns stated in the chapters dealing with any high-voltage system should be adhered to now.</a:t>
            </a:r>
          </a:p>
          <a:p>
            <a:pPr marL="357188" marR="0" lvl="0" indent="-357188" algn="l" rtl="0">
              <a:buChar char="•"/>
            </a:pPr>
            <a:r>
              <a:rPr lang="en-US" sz="2200" dirty="0"/>
              <a:t>Repairs to the high-voltage systems should only be performed by technicians trained and certified for working on these systems.</a:t>
            </a:r>
          </a:p>
        </p:txBody>
      </p:sp>
    </p:spTree>
    <p:extLst>
      <p:ext uri="{BB962C8B-B14F-4D97-AF65-F5344CB8AC3E}">
        <p14:creationId xmlns:p14="http://schemas.microsoft.com/office/powerpoint/2010/main" val="2095745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EF8A43C-3009-3B69-A8B4-EE490F4ECD4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D224AA1C-2AF9-256A-EC1B-33FB11CE58A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EV Maintenance and Repair</a:t>
            </a:r>
            <a:endParaRPr dirty="0"/>
          </a:p>
        </p:txBody>
      </p:sp>
      <p:sp>
        <p:nvSpPr>
          <p:cNvPr id="145" name="Google Shape;145;p4">
            <a:extLst>
              <a:ext uri="{FF2B5EF4-FFF2-40B4-BE49-F238E27FC236}">
                <a16:creationId xmlns:a16="http://schemas.microsoft.com/office/drawing/2014/main" id="{527647D6-BF2E-0B6B-9FBE-A70D2CA41B65}"/>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2000" b="1" dirty="0"/>
              <a:t>36.06 Describe common electric vehicle maintenance services.</a:t>
            </a:r>
          </a:p>
          <a:p>
            <a:pPr marL="357188" marR="0" lvl="0" indent="-357188" algn="l" rtl="0">
              <a:buChar char="•"/>
            </a:pPr>
            <a:r>
              <a:rPr lang="en-US" sz="2000" dirty="0"/>
              <a:t>As long as there are moving parts on our vehicles, there will be some type of maintenance and repair work to be performed.</a:t>
            </a:r>
          </a:p>
          <a:p>
            <a:pPr marL="357188" marR="0" lvl="0" indent="-357188" algn="l" rtl="0">
              <a:buChar char="•"/>
            </a:pPr>
            <a:r>
              <a:rPr lang="en-US" sz="2000" dirty="0"/>
              <a:t>And while EVs tend to have fewer maintenance items compared to ICE vehicles, they are not completely maintenance free yet.</a:t>
            </a:r>
          </a:p>
          <a:p>
            <a:pPr marL="357188" marR="0" lvl="0" indent="-357188" algn="l" rtl="0">
              <a:buChar char="•"/>
            </a:pPr>
            <a:r>
              <a:rPr lang="en-US" sz="2000" dirty="0"/>
              <a:t>Many current electric vehicles are based on standard ICE models, which reduces development and production costs.</a:t>
            </a:r>
          </a:p>
          <a:p>
            <a:pPr marL="357188" marR="0" lvl="0" indent="-357188" algn="l" rtl="0">
              <a:buChar char="•"/>
            </a:pPr>
            <a:r>
              <a:rPr lang="en-US" sz="2000" dirty="0"/>
              <a:t>As such, the EV and ICE models share many design features and components, making routine maintenance easier and mostly the same.</a:t>
            </a:r>
          </a:p>
          <a:p>
            <a:pPr marL="357188" marR="0" lvl="0" indent="-357188" algn="l" rtl="0">
              <a:buChar char="•"/>
            </a:pPr>
            <a:r>
              <a:rPr lang="en-US" sz="2000" dirty="0"/>
              <a:t>However, there can be important differences, which is why proper training and access to the manufacturers service information is critical when working on these vehicles.</a:t>
            </a:r>
          </a:p>
        </p:txBody>
      </p:sp>
    </p:spTree>
    <p:extLst>
      <p:ext uri="{BB962C8B-B14F-4D97-AF65-F5344CB8AC3E}">
        <p14:creationId xmlns:p14="http://schemas.microsoft.com/office/powerpoint/2010/main" val="424181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4D4D22D-F0F0-19EB-2ED4-EF98D8198BB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E7B07285-DC4B-83B7-3B74-BA9CFC14391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Lifting and Inspection</a:t>
            </a:r>
            <a:endParaRPr dirty="0"/>
          </a:p>
        </p:txBody>
      </p:sp>
      <p:pic>
        <p:nvPicPr>
          <p:cNvPr id="7" name="Picture Placeholder 6" descr="A Chevy Bolt electric vehicle is lifted by a hoist by precisely placing the lift contact points.">
            <a:extLst>
              <a:ext uri="{FF2B5EF4-FFF2-40B4-BE49-F238E27FC236}">
                <a16:creationId xmlns:a16="http://schemas.microsoft.com/office/drawing/2014/main" id="{F172A8F5-F4D0-F274-F92D-2DD0A9BE97F9}"/>
              </a:ext>
            </a:extLst>
          </p:cNvPr>
          <p:cNvPicPr>
            <a:picLocks noGrp="1" noChangeAspect="1"/>
          </p:cNvPicPr>
          <p:nvPr>
            <p:ph type="pic" sz="quarter" idx="11"/>
          </p:nvPr>
        </p:nvPicPr>
        <p:blipFill rotWithShape="1">
          <a:blip r:embed="rId3"/>
          <a:srcRect b="9702"/>
          <a:stretch/>
        </p:blipFill>
        <p:spPr>
          <a:xfrm>
            <a:off x="470785" y="1971871"/>
            <a:ext cx="4294766" cy="3217968"/>
          </a:xfrm>
          <a:prstGeom prst="rect">
            <a:avLst/>
          </a:prstGeom>
        </p:spPr>
      </p:pic>
      <p:sp>
        <p:nvSpPr>
          <p:cNvPr id="145" name="Google Shape;145;p4">
            <a:extLst>
              <a:ext uri="{FF2B5EF4-FFF2-40B4-BE49-F238E27FC236}">
                <a16:creationId xmlns:a16="http://schemas.microsoft.com/office/drawing/2014/main" id="{AD8BB96A-219A-50CA-C085-022079E8BE86}"/>
              </a:ext>
            </a:extLst>
          </p:cNvPr>
          <p:cNvSpPr txBox="1">
            <a:spLocks noGrp="1"/>
          </p:cNvSpPr>
          <p:nvPr>
            <p:ph type="body" idx="1"/>
          </p:nvPr>
        </p:nvSpPr>
        <p:spPr>
          <a:xfrm>
            <a:off x="5029200" y="1515999"/>
            <a:ext cx="6689558" cy="4662379"/>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36.05 Describe some precautions that should be followed when troubleshooting and repairing an electric vehicle. </a:t>
            </a:r>
            <a:endParaRPr lang="en-US" sz="2000" dirty="0"/>
          </a:p>
          <a:p>
            <a:pPr marL="357188" marR="0" lvl="0" indent="-357188" algn="l" rtl="0">
              <a:buChar char="•"/>
            </a:pPr>
            <a:r>
              <a:rPr lang="en-US" sz="2000" dirty="0"/>
              <a:t>Before attempting to lift an EV on a hoist, make sure you have the correct lifting information, and if necessary, proper adaptors to safely lift the vehicle. </a:t>
            </a:r>
          </a:p>
          <a:p>
            <a:pPr marL="357188" marR="0" lvl="0" indent="-357188" algn="l" rtl="0">
              <a:buChar char="•"/>
            </a:pPr>
            <a:r>
              <a:rPr lang="en-US" sz="2000" dirty="0"/>
              <a:t>Since most EVs house the battery packs along the bottom of the vehicle, lift contact points must be placed precisely to avoid damage to the battery. </a:t>
            </a:r>
          </a:p>
          <a:p>
            <a:pPr marL="357188" marR="0" lvl="0" indent="-357188" algn="l" rtl="0">
              <a:buChar char="•"/>
            </a:pPr>
            <a:r>
              <a:rPr lang="en-US" sz="2000" dirty="0"/>
              <a:t>When working on some Tesla models, raising the vehicle requires a special hoist contact adaptor. </a:t>
            </a:r>
          </a:p>
        </p:txBody>
      </p:sp>
    </p:spTree>
    <p:extLst>
      <p:ext uri="{BB962C8B-B14F-4D97-AF65-F5344CB8AC3E}">
        <p14:creationId xmlns:p14="http://schemas.microsoft.com/office/powerpoint/2010/main" val="4068851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73040B3-97C1-A97D-0305-09F3D1E48CA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9242907F-DB08-80E8-E181-D20D51FFC19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Cooling System Service</a:t>
            </a:r>
            <a:endParaRPr dirty="0"/>
          </a:p>
        </p:txBody>
      </p:sp>
      <p:pic>
        <p:nvPicPr>
          <p:cNvPr id="7" name="Picture Placeholder 6" descr="A warning note is located on the lid of the battery coolant reservoir of a Subaru Solterra E V.">
            <a:extLst>
              <a:ext uri="{FF2B5EF4-FFF2-40B4-BE49-F238E27FC236}">
                <a16:creationId xmlns:a16="http://schemas.microsoft.com/office/drawing/2014/main" id="{AF3188B4-EC33-BC00-6913-A83227D7C063}"/>
              </a:ext>
            </a:extLst>
          </p:cNvPr>
          <p:cNvPicPr>
            <a:picLocks noGrp="1" noChangeAspect="1"/>
          </p:cNvPicPr>
          <p:nvPr>
            <p:ph type="pic" sz="quarter" idx="11"/>
          </p:nvPr>
        </p:nvPicPr>
        <p:blipFill rotWithShape="1">
          <a:blip r:embed="rId3"/>
          <a:srcRect b="9996"/>
          <a:stretch/>
        </p:blipFill>
        <p:spPr>
          <a:xfrm>
            <a:off x="634845" y="1566798"/>
            <a:ext cx="4040488" cy="4262501"/>
          </a:xfrm>
          <a:prstGeom prst="rect">
            <a:avLst/>
          </a:prstGeom>
        </p:spPr>
      </p:pic>
      <p:sp>
        <p:nvSpPr>
          <p:cNvPr id="145" name="Google Shape;145;p4">
            <a:extLst>
              <a:ext uri="{FF2B5EF4-FFF2-40B4-BE49-F238E27FC236}">
                <a16:creationId xmlns:a16="http://schemas.microsoft.com/office/drawing/2014/main" id="{DAE4BD29-7316-A6DC-71F8-D4A0FD16AF6A}"/>
              </a:ext>
            </a:extLst>
          </p:cNvPr>
          <p:cNvSpPr txBox="1">
            <a:spLocks noGrp="1"/>
          </p:cNvSpPr>
          <p:nvPr>
            <p:ph type="body" idx="1"/>
          </p:nvPr>
        </p:nvSpPr>
        <p:spPr>
          <a:xfrm>
            <a:off x="4893276" y="1515999"/>
            <a:ext cx="6825482" cy="4575882"/>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t>Most manufacturers recommend replacing the coolant every 4 to 5 years.</a:t>
            </a:r>
          </a:p>
          <a:p>
            <a:pPr marL="357188" marR="0" lvl="0" indent="-357188" algn="l" rtl="0">
              <a:buChar char="•"/>
            </a:pPr>
            <a:r>
              <a:rPr lang="en-US" sz="2000" dirty="0"/>
              <a:t>Replacing the coolant on many EVs will require some special tools and procedures, a vacuum filling system, and a scan tool to properly refill and bleed all air from the system.</a:t>
            </a:r>
          </a:p>
          <a:p>
            <a:pPr marL="357188" marR="0" lvl="0" indent="-357188" algn="l" rtl="0">
              <a:buChar char="•"/>
            </a:pPr>
            <a:r>
              <a:rPr lang="en-US" sz="2000" dirty="0"/>
              <a:t>Air trapped in the system can lead to costly damage to the high-voltage batteries and inverters.</a:t>
            </a:r>
          </a:p>
          <a:p>
            <a:pPr marL="357188" marR="0" lvl="0" indent="-357188" algn="l" rtl="0">
              <a:buChar char="•"/>
            </a:pPr>
            <a:r>
              <a:rPr lang="en-US" sz="2000" dirty="0"/>
              <a:t>Attempting to service the cooling system on an EV without the correct tools, particularly a scan tool capable of performing the necessary functions, can result in serious damage.</a:t>
            </a:r>
          </a:p>
        </p:txBody>
      </p:sp>
    </p:spTree>
    <p:extLst>
      <p:ext uri="{BB962C8B-B14F-4D97-AF65-F5344CB8AC3E}">
        <p14:creationId xmlns:p14="http://schemas.microsoft.com/office/powerpoint/2010/main" val="976026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A02436A9-4E7E-043D-D86D-9D228B9FF73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1CA095E-80D5-7A34-81AC-20BF5D717E6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HVAC Maintenance</a:t>
            </a:r>
            <a:endParaRPr dirty="0"/>
          </a:p>
        </p:txBody>
      </p:sp>
      <p:sp>
        <p:nvSpPr>
          <p:cNvPr id="145" name="Google Shape;145;p4">
            <a:extLst>
              <a:ext uri="{FF2B5EF4-FFF2-40B4-BE49-F238E27FC236}">
                <a16:creationId xmlns:a16="http://schemas.microsoft.com/office/drawing/2014/main" id="{4FE5AC20-5EF3-F73D-3306-F4685F9ED759}"/>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1800" dirty="0">
                <a:solidFill>
                  <a:schemeClr val="tx1"/>
                </a:solidFill>
              </a:rPr>
              <a:t>In addition to cabin filter replacements, some EVs have replaceable A/C desiccant bags.</a:t>
            </a:r>
          </a:p>
          <a:p>
            <a:pPr marL="357188" marR="0" lvl="0" indent="-357188" algn="l" rtl="0">
              <a:spcAft>
                <a:spcPts val="0"/>
              </a:spcAft>
              <a:buChar char="•"/>
            </a:pPr>
            <a:r>
              <a:rPr lang="en-US" sz="1800" dirty="0">
                <a:solidFill>
                  <a:schemeClr val="tx1"/>
                </a:solidFill>
              </a:rPr>
              <a:t>Tesla recommends replacing the desiccant bag every 4 years on their vehicles.</a:t>
            </a:r>
          </a:p>
          <a:p>
            <a:pPr marL="357188" marR="0" lvl="0" indent="-357188" algn="l" rtl="0">
              <a:spcAft>
                <a:spcPts val="0"/>
              </a:spcAft>
              <a:buChar char="•"/>
            </a:pPr>
            <a:r>
              <a:rPr lang="en-US" sz="1800" dirty="0">
                <a:solidFill>
                  <a:schemeClr val="tx1"/>
                </a:solidFill>
              </a:rPr>
              <a:t>To replace the desiccant, discharge and evacuate the A/C system.</a:t>
            </a:r>
          </a:p>
          <a:p>
            <a:pPr marL="357188" marR="0" lvl="0" indent="-357188" algn="l" rtl="0">
              <a:spcAft>
                <a:spcPts val="0"/>
              </a:spcAft>
              <a:buChar char="•"/>
            </a:pPr>
            <a:r>
              <a:rPr lang="en-US" sz="1800" dirty="0">
                <a:solidFill>
                  <a:schemeClr val="tx1"/>
                </a:solidFill>
              </a:rPr>
              <a:t>Remove the cap from the accumulator and the snap ring retainer.</a:t>
            </a:r>
          </a:p>
          <a:p>
            <a:pPr marL="357188" marR="0" lvl="0" indent="-357188" algn="l" rtl="0">
              <a:spcAft>
                <a:spcPts val="0"/>
              </a:spcAft>
              <a:buChar char="•"/>
            </a:pPr>
            <a:r>
              <a:rPr lang="en-US" sz="1800" dirty="0">
                <a:solidFill>
                  <a:schemeClr val="tx1"/>
                </a:solidFill>
              </a:rPr>
              <a:t>Remove the desiccant bag and determine the amount of oil that needs to be replaced by weighing the used bag.</a:t>
            </a:r>
          </a:p>
          <a:p>
            <a:pPr marL="357188" marR="0" lvl="0" indent="-357188" algn="l" rtl="0">
              <a:spcAft>
                <a:spcPts val="0"/>
              </a:spcAft>
              <a:buChar char="•"/>
            </a:pPr>
            <a:r>
              <a:rPr lang="en-US" sz="1800" dirty="0">
                <a:solidFill>
                  <a:schemeClr val="tx1"/>
                </a:solidFill>
              </a:rPr>
              <a:t>Install the new bag, cover, and snap ring. Evacuate the system and perform a leak test.</a:t>
            </a:r>
          </a:p>
          <a:p>
            <a:pPr marL="357188" marR="0" lvl="0" indent="-357188" algn="l" rtl="0">
              <a:spcAft>
                <a:spcPts val="0"/>
              </a:spcAft>
              <a:buChar char="•"/>
            </a:pPr>
            <a:r>
              <a:rPr lang="en-US" sz="1800" dirty="0">
                <a:solidFill>
                  <a:schemeClr val="tx1"/>
                </a:solidFill>
              </a:rPr>
              <a:t>Once the leak test is complete, remove the low side hose from the super manifold.</a:t>
            </a:r>
          </a:p>
          <a:p>
            <a:pPr marL="357188" marR="0" lvl="0" indent="-357188" algn="l" rtl="0">
              <a:spcAft>
                <a:spcPts val="0"/>
              </a:spcAft>
              <a:buChar char="•"/>
            </a:pPr>
            <a:r>
              <a:rPr lang="en-US" sz="1800" dirty="0">
                <a:solidFill>
                  <a:schemeClr val="tx1"/>
                </a:solidFill>
              </a:rPr>
              <a:t>The super manifold is a multifunction heat exchanger between the A/C and cooling system on Tesla vehicles. Inject oil back into the system.</a:t>
            </a:r>
          </a:p>
          <a:p>
            <a:pPr marL="357188" marR="0" lvl="0" indent="-357188" algn="l" rtl="0">
              <a:spcAft>
                <a:spcPts val="0"/>
              </a:spcAft>
              <a:buChar char="•"/>
            </a:pPr>
            <a:r>
              <a:rPr lang="en-US" sz="1800" dirty="0">
                <a:solidFill>
                  <a:schemeClr val="tx1"/>
                </a:solidFill>
              </a:rPr>
              <a:t>The amount of oil is based on the weight of the old desiccant bag and the weight of the replacement bag. </a:t>
            </a:r>
          </a:p>
          <a:p>
            <a:pPr marL="357188" marR="0" lvl="0" indent="-357188" algn="l" rtl="0">
              <a:spcAft>
                <a:spcPts val="0"/>
              </a:spcAft>
              <a:buChar char="•"/>
            </a:pPr>
            <a:r>
              <a:rPr lang="en-US" sz="1800" dirty="0">
                <a:solidFill>
                  <a:schemeClr val="tx1"/>
                </a:solidFill>
              </a:rPr>
              <a:t>Recharge the A/C system and perform the Thermal Performance self-test.</a:t>
            </a:r>
          </a:p>
        </p:txBody>
      </p:sp>
    </p:spTree>
    <p:extLst>
      <p:ext uri="{BB962C8B-B14F-4D97-AF65-F5344CB8AC3E}">
        <p14:creationId xmlns:p14="http://schemas.microsoft.com/office/powerpoint/2010/main" val="31982788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FBFD9B0-51D6-B4D3-69C1-5110C906E7B8}"/>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1292FE1D-BACE-87F0-3D5F-7183B1637CDC}"/>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Drive System Service</a:t>
            </a:r>
            <a:endParaRPr dirty="0"/>
          </a:p>
        </p:txBody>
      </p:sp>
      <p:sp>
        <p:nvSpPr>
          <p:cNvPr id="145" name="Google Shape;145;p4">
            <a:extLst>
              <a:ext uri="{FF2B5EF4-FFF2-40B4-BE49-F238E27FC236}">
                <a16:creationId xmlns:a16="http://schemas.microsoft.com/office/drawing/2014/main" id="{02219E31-A237-7ED5-437D-5B4B409652A0}"/>
              </a:ext>
            </a:extLst>
          </p:cNvPr>
          <p:cNvSpPr txBox="1">
            <a:spLocks noGrp="1"/>
          </p:cNvSpPr>
          <p:nvPr>
            <p:ph type="body" idx="1"/>
          </p:nvPr>
        </p:nvSpPr>
        <p:spPr>
          <a:xfrm>
            <a:off x="476844" y="1515999"/>
            <a:ext cx="7295556" cy="4514098"/>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solidFill>
                  <a:schemeClr val="tx1"/>
                </a:solidFill>
              </a:rPr>
              <a:t>On-vehicle tests of the electric drive system are necessary when DTCs indicate faults with the high-voltage system or components.</a:t>
            </a:r>
          </a:p>
          <a:p>
            <a:pPr marL="357188" marR="0" lvl="0" indent="-357188" algn="l" rtl="0">
              <a:buChar char="•"/>
            </a:pPr>
            <a:r>
              <a:rPr lang="en-US" sz="2000" dirty="0">
                <a:solidFill>
                  <a:schemeClr val="tx1"/>
                </a:solidFill>
              </a:rPr>
              <a:t>These tests include performing high-voltage cable insulation tests and motor/generator winding checks.</a:t>
            </a:r>
          </a:p>
          <a:p>
            <a:pPr marL="357188" marR="0" lvl="0" indent="-357188" algn="l" rtl="0">
              <a:buChar char="•"/>
            </a:pPr>
            <a:r>
              <a:rPr lang="en-US" sz="2000" dirty="0">
                <a:solidFill>
                  <a:schemeClr val="tx1"/>
                </a:solidFill>
              </a:rPr>
              <a:t>Testing the high-voltage cables requires a resistance tester.</a:t>
            </a:r>
          </a:p>
          <a:p>
            <a:pPr marL="357188" marR="0" lvl="0" indent="-357188" algn="l" rtl="0">
              <a:buChar char="•"/>
            </a:pPr>
            <a:r>
              <a:rPr lang="en-US" sz="2000" dirty="0">
                <a:solidFill>
                  <a:schemeClr val="tx1"/>
                </a:solidFill>
              </a:rPr>
              <a:t>Any damage or breakdown of the insulating layers of these cables will result in high-voltage isolation codes.</a:t>
            </a:r>
          </a:p>
          <a:p>
            <a:pPr marL="357188" marR="0" lvl="0" indent="-357188" algn="l" rtl="0">
              <a:buChar char="•"/>
            </a:pPr>
            <a:r>
              <a:rPr lang="en-US" sz="2000" dirty="0">
                <a:solidFill>
                  <a:schemeClr val="tx1"/>
                </a:solidFill>
              </a:rPr>
              <a:t>The insulation tester generates a high-voltage pulse through the cable to check for leaks in the insulation.</a:t>
            </a:r>
          </a:p>
        </p:txBody>
      </p:sp>
      <p:pic>
        <p:nvPicPr>
          <p:cNvPr id="7" name="Picture Placeholder 6" descr="A megger meter is used to test the high-voltage cables on an electric vehicle, and the reading displays a value of 550.">
            <a:extLst>
              <a:ext uri="{FF2B5EF4-FFF2-40B4-BE49-F238E27FC236}">
                <a16:creationId xmlns:a16="http://schemas.microsoft.com/office/drawing/2014/main" id="{24A550C9-82AE-04F9-DBA0-2517CE57886D}"/>
              </a:ext>
            </a:extLst>
          </p:cNvPr>
          <p:cNvPicPr>
            <a:picLocks noGrp="1" noChangeAspect="1"/>
          </p:cNvPicPr>
          <p:nvPr>
            <p:ph type="pic" sz="quarter" idx="12"/>
          </p:nvPr>
        </p:nvPicPr>
        <p:blipFill>
          <a:blip r:embed="rId3"/>
          <a:srcRect t="9857" b="9857"/>
          <a:stretch>
            <a:fillRect/>
          </a:stretch>
        </p:blipFill>
        <p:spPr>
          <a:xfrm>
            <a:off x="7917095" y="1853438"/>
            <a:ext cx="3798061" cy="3798061"/>
          </a:xfrm>
          <a:prstGeom prst="rect">
            <a:avLst/>
          </a:prstGeom>
        </p:spPr>
      </p:pic>
    </p:spTree>
    <p:extLst>
      <p:ext uri="{BB962C8B-B14F-4D97-AF65-F5344CB8AC3E}">
        <p14:creationId xmlns:p14="http://schemas.microsoft.com/office/powerpoint/2010/main" val="1766615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r>
              <a:rPr lang="en-US" dirty="0"/>
              <a:t>And while EVs tend to have fewer maintenance items compared to ICE vehicles, they are not completely maintenance free yet.</a:t>
            </a:r>
          </a:p>
          <a:p>
            <a:pPr marL="358775" lvl="0" indent="-358775" algn="l" rtl="0">
              <a:buChar char="•"/>
            </a:pPr>
            <a:r>
              <a:rPr lang="en-US" dirty="0"/>
              <a:t>Have a class discussion about the maintenance items discussed and required on EV’s compared to ICE vehicles.</a:t>
            </a:r>
          </a:p>
        </p:txBody>
      </p:sp>
    </p:spTree>
    <p:extLst>
      <p:ext uri="{BB962C8B-B14F-4D97-AF65-F5344CB8AC3E}">
        <p14:creationId xmlns:p14="http://schemas.microsoft.com/office/powerpoint/2010/main" val="1988746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CE71D268-A517-7CB6-8446-1F9E13BAF598}"/>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7DFA048F-CD02-62C2-97C1-ACFAB2D3F81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Fuel Cell Vehicles</a:t>
            </a:r>
            <a:endParaRPr dirty="0"/>
          </a:p>
        </p:txBody>
      </p:sp>
      <p:sp>
        <p:nvSpPr>
          <p:cNvPr id="145" name="Google Shape;145;p4">
            <a:extLst>
              <a:ext uri="{FF2B5EF4-FFF2-40B4-BE49-F238E27FC236}">
                <a16:creationId xmlns:a16="http://schemas.microsoft.com/office/drawing/2014/main" id="{060007D1-B73A-8DB4-BC2D-C1B3253CE3C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1800" dirty="0">
                <a:solidFill>
                  <a:schemeClr val="tx1"/>
                </a:solidFill>
              </a:rPr>
              <a:t>Fuel cell electric vehicles (FCEV) are the result of many years of research and development on electric and hybrid vehicles.</a:t>
            </a:r>
          </a:p>
          <a:p>
            <a:pPr marL="357188" marR="0" lvl="0" indent="-357188" algn="l" rtl="0">
              <a:spcAft>
                <a:spcPts val="0"/>
              </a:spcAft>
              <a:buChar char="•"/>
            </a:pPr>
            <a:r>
              <a:rPr lang="en-US" sz="1800" dirty="0">
                <a:solidFill>
                  <a:schemeClr val="tx1"/>
                </a:solidFill>
              </a:rPr>
              <a:t>They share many of the same technologies but differ greatly in the source of energy used to power the electric motors that are used to move the vehicle.</a:t>
            </a:r>
          </a:p>
          <a:p>
            <a:pPr marL="357188" marR="0" lvl="0" indent="-357188" algn="l" rtl="0">
              <a:spcAft>
                <a:spcPts val="0"/>
              </a:spcAft>
              <a:buChar char="•"/>
            </a:pPr>
            <a:r>
              <a:rPr lang="en-US" sz="1800" dirty="0">
                <a:solidFill>
                  <a:schemeClr val="tx1"/>
                </a:solidFill>
              </a:rPr>
              <a:t>Although the U.S. Department of Energy has announced that it will no longer fund fuel cell research and development, the manufacturers who have been exploring the possibilities say they will continue.</a:t>
            </a:r>
          </a:p>
          <a:p>
            <a:pPr marL="357188" marR="0" lvl="0" indent="-357188" algn="l" rtl="0">
              <a:spcAft>
                <a:spcPts val="0"/>
              </a:spcAft>
              <a:buChar char="•"/>
            </a:pPr>
            <a:r>
              <a:rPr lang="en-US" sz="1800" dirty="0">
                <a:solidFill>
                  <a:schemeClr val="tx1"/>
                </a:solidFill>
              </a:rPr>
              <a:t>A fuel cell vehicle is much like a battery-operated electric vehicle.</a:t>
            </a:r>
          </a:p>
          <a:p>
            <a:pPr marL="357188" marR="0" lvl="0" indent="-357188" algn="l" rtl="0">
              <a:spcAft>
                <a:spcPts val="0"/>
              </a:spcAft>
              <a:buChar char="•"/>
            </a:pPr>
            <a:r>
              <a:rPr lang="en-US" sz="1800" dirty="0">
                <a:solidFill>
                  <a:schemeClr val="tx1"/>
                </a:solidFill>
              </a:rPr>
              <a:t>It operates like one and has many of the same characteristics: Electricity powers a motor to drive the vehicle, the vehicle operates very quietly, and the output of CO</a:t>
            </a:r>
            <a:r>
              <a:rPr lang="en-US" sz="1800" baseline="-25000" dirty="0">
                <a:solidFill>
                  <a:schemeClr val="tx1"/>
                </a:solidFill>
              </a:rPr>
              <a:t>2</a:t>
            </a:r>
            <a:r>
              <a:rPr lang="en-US" sz="1800" dirty="0">
                <a:solidFill>
                  <a:schemeClr val="tx1"/>
                </a:solidFill>
              </a:rPr>
              <a:t> and other harmful emissions is zero.</a:t>
            </a:r>
          </a:p>
          <a:p>
            <a:pPr marL="357188" marR="0" lvl="0" indent="-357188" algn="l" rtl="0">
              <a:spcAft>
                <a:spcPts val="0"/>
              </a:spcAft>
              <a:buChar char="•"/>
            </a:pPr>
            <a:r>
              <a:rPr lang="en-US" sz="1800" dirty="0">
                <a:solidFill>
                  <a:schemeClr val="tx1"/>
                </a:solidFill>
              </a:rPr>
              <a:t>FCEVs have electric motors, but the immediate energy source for those motors is not necessarily batteries.</a:t>
            </a:r>
          </a:p>
          <a:p>
            <a:pPr marL="357188" marR="0" lvl="0" indent="-357188" algn="l" rtl="0">
              <a:spcAft>
                <a:spcPts val="0"/>
              </a:spcAft>
              <a:buChar char="•"/>
            </a:pPr>
            <a:r>
              <a:rPr lang="en-US" sz="1800" dirty="0">
                <a:solidFill>
                  <a:schemeClr val="tx1"/>
                </a:solidFill>
              </a:rPr>
              <a:t>Some FCEVs use an ultra-capacitor in place of a battery pack.</a:t>
            </a:r>
          </a:p>
        </p:txBody>
      </p:sp>
    </p:spTree>
    <p:extLst>
      <p:ext uri="{BB962C8B-B14F-4D97-AF65-F5344CB8AC3E}">
        <p14:creationId xmlns:p14="http://schemas.microsoft.com/office/powerpoint/2010/main" val="833969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6705187B-55DD-86EA-0F1C-54CD1AC76CB0}"/>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31221E6-C7AF-655C-2F1E-C9472345BF3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Hydrogen</a:t>
            </a:r>
            <a:endParaRPr dirty="0"/>
          </a:p>
        </p:txBody>
      </p:sp>
      <p:sp>
        <p:nvSpPr>
          <p:cNvPr id="145" name="Google Shape;145;p4">
            <a:extLst>
              <a:ext uri="{FF2B5EF4-FFF2-40B4-BE49-F238E27FC236}">
                <a16:creationId xmlns:a16="http://schemas.microsoft.com/office/drawing/2014/main" id="{9B4C9940-B0D8-7977-CA13-F8CBC878FBAB}"/>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R="0" lvl="0" algn="l" rtl="0">
              <a:spcAft>
                <a:spcPts val="0"/>
              </a:spcAft>
              <a:buFont typeface="Work Sans" pitchFamily="2" charset="0"/>
              <a:buChar char="•"/>
            </a:pPr>
            <a:r>
              <a:rPr lang="en-US" sz="1800" dirty="0">
                <a:solidFill>
                  <a:schemeClr val="tx1"/>
                </a:solidFill>
              </a:rPr>
              <a:t>Fuel cell vehicles use hydrogen as their fuel or energy source. Hydrogen is only found in compound form, such as in water, which is a combination of hydrogen and oxygen.</a:t>
            </a:r>
          </a:p>
          <a:p>
            <a:pPr marR="0" lvl="0" algn="l" rtl="0">
              <a:spcAft>
                <a:spcPts val="0"/>
              </a:spcAft>
              <a:buFont typeface="Work Sans" pitchFamily="2" charset="0"/>
              <a:buChar char="•"/>
            </a:pPr>
            <a:r>
              <a:rPr lang="en-US" sz="1800" dirty="0">
                <a:solidFill>
                  <a:schemeClr val="tx1"/>
                </a:solidFill>
              </a:rPr>
              <a:t>Fossil fuels are combinations of carbon and hydrogen, which is why they are called hydrocarbons. Due to its atomic structure, hydrogen is full of energy and is used to make reformulated gasoline, ammonia for fertilizer, and many different food products.</a:t>
            </a:r>
          </a:p>
          <a:p>
            <a:pPr marR="0" lvl="0" algn="l" rtl="0">
              <a:spcAft>
                <a:spcPts val="0"/>
              </a:spcAft>
              <a:buFont typeface="Work Sans" pitchFamily="2" charset="0"/>
              <a:buChar char="•"/>
            </a:pPr>
            <a:r>
              <a:rPr lang="en-US" sz="1800" dirty="0">
                <a:solidFill>
                  <a:schemeClr val="tx1"/>
                </a:solidFill>
              </a:rPr>
              <a:t>Hydrogen contains more energy per weight than any other fuel, but contains much less energy by volume.</a:t>
            </a:r>
          </a:p>
          <a:p>
            <a:pPr marR="0" lvl="0" algn="l" rtl="0">
              <a:spcAft>
                <a:spcPts val="0"/>
              </a:spcAft>
              <a:buFont typeface="Work Sans" pitchFamily="2" charset="0"/>
              <a:buChar char="•"/>
            </a:pPr>
            <a:r>
              <a:rPr lang="en-US" sz="1800" dirty="0">
                <a:solidFill>
                  <a:schemeClr val="tx1"/>
                </a:solidFill>
              </a:rPr>
              <a:t>The auto industry has long used the energy released by separating hydrogen from a substance and recombining it with oxygen for many years.</a:t>
            </a:r>
          </a:p>
          <a:p>
            <a:pPr marR="0" lvl="0" algn="l" rtl="0">
              <a:spcAft>
                <a:spcPts val="0"/>
              </a:spcAft>
              <a:buFont typeface="Work Sans" pitchFamily="2" charset="0"/>
              <a:buChar char="•"/>
            </a:pPr>
            <a:r>
              <a:rPr lang="en-US" sz="1800" dirty="0">
                <a:solidFill>
                  <a:schemeClr val="tx1"/>
                </a:solidFill>
              </a:rPr>
              <a:t>In a gasoline-fueled engine, gasoline is forced (by heat) to combine with oxygen.</a:t>
            </a:r>
          </a:p>
          <a:p>
            <a:pPr marR="0" lvl="0" algn="l" rtl="0">
              <a:spcAft>
                <a:spcPts val="0"/>
              </a:spcAft>
              <a:buFont typeface="Work Sans" pitchFamily="2" charset="0"/>
              <a:buChar char="•"/>
            </a:pPr>
            <a:r>
              <a:rPr lang="en-US" sz="1800" dirty="0">
                <a:solidFill>
                  <a:schemeClr val="tx1"/>
                </a:solidFill>
              </a:rPr>
              <a:t>The result is combustion, which releases energy.</a:t>
            </a:r>
          </a:p>
          <a:p>
            <a:pPr marR="0" lvl="0" algn="l" rtl="0">
              <a:spcAft>
                <a:spcPts val="0"/>
              </a:spcAft>
              <a:buFont typeface="Work Sans" pitchFamily="2" charset="0"/>
              <a:buChar char="•"/>
            </a:pPr>
            <a:r>
              <a:rPr lang="en-US" sz="1800" dirty="0">
                <a:solidFill>
                  <a:schemeClr val="tx1"/>
                </a:solidFill>
              </a:rPr>
              <a:t>That energy is used as mechanical energy.</a:t>
            </a:r>
          </a:p>
          <a:p>
            <a:pPr marR="0" lvl="0" algn="l" rtl="0">
              <a:spcAft>
                <a:spcPts val="0"/>
              </a:spcAft>
              <a:buFont typeface="Work Sans" pitchFamily="2" charset="0"/>
              <a:buChar char="•"/>
            </a:pPr>
            <a:r>
              <a:rPr lang="en-US" sz="1800" dirty="0">
                <a:solidFill>
                  <a:schemeClr val="tx1"/>
                </a:solidFill>
              </a:rPr>
              <a:t>In a fuel cell, the same basic thing happens, but the chemical energy is released as electrical energy.</a:t>
            </a:r>
          </a:p>
        </p:txBody>
      </p:sp>
    </p:spTree>
    <p:extLst>
      <p:ext uri="{BB962C8B-B14F-4D97-AF65-F5344CB8AC3E}">
        <p14:creationId xmlns:p14="http://schemas.microsoft.com/office/powerpoint/2010/main" val="32888914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12CFFFB-94BA-A490-B827-FD230D58ECC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1C9D826B-2BE8-3267-0355-592035FDB94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Fuel Cells</a:t>
            </a:r>
            <a:endParaRPr dirty="0"/>
          </a:p>
        </p:txBody>
      </p:sp>
      <p:pic>
        <p:nvPicPr>
          <p:cNvPr id="7" name="Picture Placeholder 6" descr="A fuel cell chamber with cathode on the left and anode on the right. The positive terminal of the battery is connected to anode and negative terminal of the battery is connected to cathode. The hydrogen molecules enter through the cathode and the oxygen molecules enter through the anode. The positive hydrogen molecules flow from left to right. The water molecules are taken out as a result of electrolysis from the top. The battery depicts two clockwise arrows and the text beside reads energy out.">
            <a:extLst>
              <a:ext uri="{FF2B5EF4-FFF2-40B4-BE49-F238E27FC236}">
                <a16:creationId xmlns:a16="http://schemas.microsoft.com/office/drawing/2014/main" id="{8FB70A66-4516-005D-AF87-1BF4ED0B622B}"/>
              </a:ext>
            </a:extLst>
          </p:cNvPr>
          <p:cNvPicPr>
            <a:picLocks noGrp="1" noChangeAspect="1"/>
          </p:cNvPicPr>
          <p:nvPr>
            <p:ph type="pic" sz="quarter" idx="11"/>
          </p:nvPr>
        </p:nvPicPr>
        <p:blipFill rotWithShape="1">
          <a:blip r:embed="rId3"/>
          <a:srcRect l="19085" b="8083"/>
          <a:stretch/>
        </p:blipFill>
        <p:spPr>
          <a:xfrm>
            <a:off x="476842" y="1603374"/>
            <a:ext cx="3849493" cy="4175126"/>
          </a:xfrm>
          <a:prstGeom prst="rect">
            <a:avLst/>
          </a:prstGeom>
        </p:spPr>
      </p:pic>
      <p:sp>
        <p:nvSpPr>
          <p:cNvPr id="145" name="Google Shape;145;p4">
            <a:extLst>
              <a:ext uri="{FF2B5EF4-FFF2-40B4-BE49-F238E27FC236}">
                <a16:creationId xmlns:a16="http://schemas.microsoft.com/office/drawing/2014/main" id="{6F11926D-90D7-3710-9B3B-05629AC92F87}"/>
              </a:ext>
            </a:extLst>
          </p:cNvPr>
          <p:cNvSpPr txBox="1">
            <a:spLocks noGrp="1"/>
          </p:cNvSpPr>
          <p:nvPr>
            <p:ph type="body" idx="1"/>
          </p:nvPr>
        </p:nvSpPr>
        <p:spPr>
          <a:xfrm>
            <a:off x="4448432" y="1515999"/>
            <a:ext cx="7400667" cy="4575882"/>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1800" dirty="0"/>
              <a:t>A fuel cell produces electricity through an electrochemical reaction that combines hydrogen and oxygen to form water.</a:t>
            </a:r>
          </a:p>
          <a:p>
            <a:pPr marL="357188" marR="0" lvl="0" indent="-357188" algn="l" rtl="0">
              <a:buChar char="•"/>
            </a:pPr>
            <a:r>
              <a:rPr lang="en-US" sz="1800" dirty="0"/>
              <a:t>The basic principle of operation is the opposite of electrolysis.</a:t>
            </a:r>
          </a:p>
          <a:p>
            <a:pPr marL="357188" marR="0" lvl="0" indent="-357188" algn="l" rtl="0">
              <a:buChar char="•"/>
            </a:pPr>
            <a:r>
              <a:rPr lang="en-US" sz="1800" dirty="0"/>
              <a:t>In a fuel cell, catalysts are used to combine the fuel (hydrogen) with oxygen.</a:t>
            </a:r>
          </a:p>
          <a:p>
            <a:pPr marL="357188" marR="0" lvl="0" indent="-357188" algn="l" rtl="0">
              <a:buChar char="•"/>
            </a:pPr>
            <a:r>
              <a:rPr lang="en-US" sz="1800" dirty="0"/>
              <a:t>The reaction releases electrons.</a:t>
            </a:r>
          </a:p>
          <a:p>
            <a:pPr marL="357188" marR="0" lvl="0" indent="-357188" algn="l" rtl="0">
              <a:buChar char="•"/>
            </a:pPr>
            <a:r>
              <a:rPr lang="en-US" sz="1800" dirty="0"/>
              <a:t>A single fuel cell produces very low voltage, normally less than 1 volt.</a:t>
            </a:r>
          </a:p>
          <a:p>
            <a:pPr marL="357188" marR="0" lvl="0" indent="-357188" algn="l" rtl="0">
              <a:buChar char="•"/>
            </a:pPr>
            <a:r>
              <a:rPr lang="en-US" sz="1800" dirty="0"/>
              <a:t>To provide the amount of power needed to propel a vehicle, several hundred fuel cells are connected in series.</a:t>
            </a:r>
          </a:p>
          <a:p>
            <a:pPr marL="357188" marR="0" lvl="0" indent="-357188" algn="l" rtl="0">
              <a:buChar char="•"/>
            </a:pPr>
            <a:r>
              <a:rPr lang="en-US" sz="1800" dirty="0"/>
              <a:t>This assembly is the fuel cell stack.</a:t>
            </a:r>
          </a:p>
        </p:txBody>
      </p:sp>
    </p:spTree>
    <p:extLst>
      <p:ext uri="{BB962C8B-B14F-4D97-AF65-F5344CB8AC3E}">
        <p14:creationId xmlns:p14="http://schemas.microsoft.com/office/powerpoint/2010/main" val="1738900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6E050DD-DA83-75A0-3208-DBDA17F76D2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C7974C0D-3C1F-D181-7246-4BA931F7F6DD}"/>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FCEV Configurations</a:t>
            </a:r>
            <a:endParaRPr dirty="0"/>
          </a:p>
        </p:txBody>
      </p:sp>
      <p:sp>
        <p:nvSpPr>
          <p:cNvPr id="145" name="Google Shape;145;p4">
            <a:extLst>
              <a:ext uri="{FF2B5EF4-FFF2-40B4-BE49-F238E27FC236}">
                <a16:creationId xmlns:a16="http://schemas.microsoft.com/office/drawing/2014/main" id="{28CC716A-2E68-E7EC-1ACD-3B40C9EF4799}"/>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spcAft>
                <a:spcPts val="0"/>
              </a:spcAft>
              <a:buSzPts val="2800"/>
              <a:buNone/>
            </a:pPr>
            <a:r>
              <a:rPr lang="en-US" sz="1600" b="1" dirty="0"/>
              <a:t>36.07 Describe the basic configurations for the power train in a fuel cell vehicle.</a:t>
            </a:r>
          </a:p>
          <a:p>
            <a:pPr marL="357188" marR="0" lvl="0" indent="-357188" algn="l" rtl="0">
              <a:spcAft>
                <a:spcPts val="0"/>
              </a:spcAft>
              <a:buChar char="•"/>
            </a:pPr>
            <a:r>
              <a:rPr lang="en-US" sz="1600" dirty="0"/>
              <a:t>There are three basic configurations that describe the design of an FCEV powertrain.</a:t>
            </a:r>
          </a:p>
          <a:p>
            <a:pPr marL="357188" marR="0" lvl="0" indent="-357188" algn="l" rtl="0">
              <a:spcAft>
                <a:spcPts val="0"/>
              </a:spcAft>
              <a:buChar char="•"/>
            </a:pPr>
            <a:r>
              <a:rPr lang="en-US" sz="1600" dirty="0"/>
              <a:t>When the powertrain has a direct-supply system, the energy from the fuel cell is delivered directly to the electric traction motor(s).</a:t>
            </a:r>
          </a:p>
          <a:p>
            <a:pPr marL="357188" marR="0" lvl="0" indent="-357188" algn="l" rtl="0">
              <a:spcAft>
                <a:spcPts val="0"/>
              </a:spcAft>
              <a:buChar char="•"/>
            </a:pPr>
            <a:r>
              <a:rPr lang="en-US" sz="1600" dirty="0"/>
              <a:t>With this configuration, the FCEV cannot have regenerative braking and propulsion power depends entirely on the output of the fuel cell.</a:t>
            </a:r>
          </a:p>
          <a:p>
            <a:pPr marL="357188" marR="0" lvl="0" indent="-357188" algn="l" rtl="0">
              <a:spcAft>
                <a:spcPts val="0"/>
              </a:spcAft>
              <a:buChar char="•"/>
            </a:pPr>
            <a:r>
              <a:rPr lang="en-US" sz="1600" dirty="0"/>
              <a:t>In a battery hybrid powertrain system, the energy from the fuel cell is sent to the motor(s), the battery pack, or both.</a:t>
            </a:r>
          </a:p>
          <a:p>
            <a:pPr marL="357188" marR="0" lvl="0" indent="-357188" algn="l" rtl="0">
              <a:spcAft>
                <a:spcPts val="0"/>
              </a:spcAft>
              <a:buChar char="•"/>
            </a:pPr>
            <a:r>
              <a:rPr lang="en-US" sz="1600" dirty="0"/>
              <a:t>This configuration can use regenerative braking.</a:t>
            </a:r>
          </a:p>
          <a:p>
            <a:pPr marL="357188" marR="0" lvl="0" indent="-357188" algn="l" rtl="0">
              <a:spcAft>
                <a:spcPts val="0"/>
              </a:spcAft>
              <a:buChar char="•"/>
            </a:pPr>
            <a:r>
              <a:rPr lang="en-US" sz="1600" dirty="0"/>
              <a:t>The battery can also supplement the fuel cell’s energy to improve performance.</a:t>
            </a:r>
          </a:p>
          <a:p>
            <a:pPr marL="357188" marR="0" lvl="0" indent="-357188" algn="l" rtl="0">
              <a:spcAft>
                <a:spcPts val="0"/>
              </a:spcAft>
              <a:buChar char="•"/>
            </a:pPr>
            <a:r>
              <a:rPr lang="en-US" sz="1600" dirty="0"/>
              <a:t>This system requires more electronic controls than the direct-supply system.</a:t>
            </a:r>
          </a:p>
          <a:p>
            <a:pPr marL="357188" marR="0" lvl="0" indent="-357188" algn="l" rtl="0">
              <a:spcAft>
                <a:spcPts val="0"/>
              </a:spcAft>
              <a:buChar char="•"/>
            </a:pPr>
            <a:r>
              <a:rPr lang="en-US" sz="1600" dirty="0"/>
              <a:t>The third configuration uses ultra-capacitors rather than a battery.</a:t>
            </a:r>
          </a:p>
          <a:p>
            <a:pPr marL="357188" marR="0" lvl="0" indent="-357188" algn="l" rtl="0">
              <a:spcAft>
                <a:spcPts val="0"/>
              </a:spcAft>
              <a:buChar char="•"/>
            </a:pPr>
            <a:r>
              <a:rPr lang="en-US" sz="1600" dirty="0"/>
              <a:t>The ultra-capacitors are charged by the fuel cell and regenerative braking.</a:t>
            </a:r>
          </a:p>
          <a:p>
            <a:pPr marL="357188" marR="0" lvl="0" indent="-357188" algn="l" rtl="0">
              <a:spcAft>
                <a:spcPts val="0"/>
              </a:spcAft>
              <a:buChar char="•"/>
            </a:pPr>
            <a:r>
              <a:rPr lang="en-US" sz="1600" dirty="0"/>
              <a:t>Ultra-capacitors charge and discharge quickly, which allows the powertrain to respond quicker to changing conditions.</a:t>
            </a:r>
            <a:endParaRPr lang="en-US" sz="1600" b="1" dirty="0"/>
          </a:p>
        </p:txBody>
      </p:sp>
    </p:spTree>
    <p:extLst>
      <p:ext uri="{BB962C8B-B14F-4D97-AF65-F5344CB8AC3E}">
        <p14:creationId xmlns:p14="http://schemas.microsoft.com/office/powerpoint/2010/main" val="2496737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FEBE3CEA-E8EC-B173-144D-1E63E50ABA31}"/>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D4DE3CB-6D20-5006-6EEA-A26A0B9BC60B}"/>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Controls</a:t>
            </a:r>
            <a:endParaRPr dirty="0"/>
          </a:p>
        </p:txBody>
      </p:sp>
      <p:sp>
        <p:nvSpPr>
          <p:cNvPr id="145" name="Google Shape;145;p4">
            <a:extLst>
              <a:ext uri="{FF2B5EF4-FFF2-40B4-BE49-F238E27FC236}">
                <a16:creationId xmlns:a16="http://schemas.microsoft.com/office/drawing/2014/main" id="{7836E854-70F9-2CE7-12EC-D327FC3BC68B}"/>
              </a:ext>
            </a:extLst>
          </p:cNvPr>
          <p:cNvSpPr txBox="1">
            <a:spLocks noGrp="1"/>
          </p:cNvSpPr>
          <p:nvPr>
            <p:ph type="body" idx="1"/>
          </p:nvPr>
        </p:nvSpPr>
        <p:spPr>
          <a:xfrm>
            <a:off x="476843" y="1515999"/>
            <a:ext cx="7011351" cy="4588239"/>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Char char="•"/>
            </a:pPr>
            <a:r>
              <a:rPr lang="en-US" sz="2000" dirty="0">
                <a:solidFill>
                  <a:schemeClr val="accent1"/>
                </a:solidFill>
              </a:rPr>
              <a:t>To control the output of a fuel cell and therefore the speed of the vehicle, advanced electronics are necessary.</a:t>
            </a:r>
          </a:p>
          <a:p>
            <a:pPr marL="357188" marR="0" lvl="0" indent="-357188" algn="l" rtl="0">
              <a:spcAft>
                <a:spcPts val="400"/>
              </a:spcAft>
              <a:buChar char="•"/>
            </a:pPr>
            <a:r>
              <a:rPr lang="en-US" sz="2000" dirty="0">
                <a:solidFill>
                  <a:schemeClr val="accent1"/>
                </a:solidFill>
              </a:rPr>
              <a:t>FCEVs have high- and low-voltage systems, and electronic controls are necessary to allow the fuel cell to power both.</a:t>
            </a:r>
          </a:p>
          <a:p>
            <a:pPr marL="357188" marR="0" lvl="0" indent="-357188" algn="l" rtl="0">
              <a:spcAft>
                <a:spcPts val="400"/>
              </a:spcAft>
              <a:buChar char="•"/>
            </a:pPr>
            <a:r>
              <a:rPr lang="en-US" sz="2000" dirty="0">
                <a:solidFill>
                  <a:schemeClr val="accent1"/>
                </a:solidFill>
              </a:rPr>
              <a:t>This means that all FCEVs need a DC-DC converter to reduce the high-voltage from the fuel cell.</a:t>
            </a:r>
          </a:p>
          <a:p>
            <a:pPr marL="357188" marR="0" lvl="0" indent="-357188" algn="l" rtl="0">
              <a:spcAft>
                <a:spcPts val="400"/>
              </a:spcAft>
              <a:buChar char="•"/>
            </a:pPr>
            <a:r>
              <a:rPr lang="en-US" sz="2000" dirty="0">
                <a:solidFill>
                  <a:schemeClr val="accent1"/>
                </a:solidFill>
              </a:rPr>
              <a:t>These controls are in addition to the typical computer systems of other vehicle types.</a:t>
            </a:r>
          </a:p>
          <a:p>
            <a:pPr marL="357188" marR="0" lvl="0" indent="-357188" algn="l" rtl="0">
              <a:spcAft>
                <a:spcPts val="400"/>
              </a:spcAft>
              <a:buChar char="•"/>
            </a:pPr>
            <a:r>
              <a:rPr lang="en-US" sz="2000" dirty="0">
                <a:solidFill>
                  <a:schemeClr val="accent1"/>
                </a:solidFill>
              </a:rPr>
              <a:t>However, since a fuel cell generates DC voltage, an inverter is not needed unless the traction motors and the accessories require AC voltage.</a:t>
            </a:r>
            <a:endParaRPr lang="en-US" sz="2000" b="1" dirty="0">
              <a:solidFill>
                <a:schemeClr val="accent1"/>
              </a:solidFill>
            </a:endParaRPr>
          </a:p>
        </p:txBody>
      </p:sp>
      <p:pic>
        <p:nvPicPr>
          <p:cNvPr id="7" name="Picture Placeholder 6" descr="The circuit board of a Direct current to direct current (D C - D C) converter for a Fuel Cell Electric Vehicle.">
            <a:extLst>
              <a:ext uri="{FF2B5EF4-FFF2-40B4-BE49-F238E27FC236}">
                <a16:creationId xmlns:a16="http://schemas.microsoft.com/office/drawing/2014/main" id="{87291392-69A6-4923-07BA-FEC3632C91DD}"/>
              </a:ext>
            </a:extLst>
          </p:cNvPr>
          <p:cNvPicPr>
            <a:picLocks noGrp="1" noChangeAspect="1"/>
          </p:cNvPicPr>
          <p:nvPr>
            <p:ph type="pic" sz="quarter" idx="12"/>
          </p:nvPr>
        </p:nvPicPr>
        <p:blipFill rotWithShape="1">
          <a:blip r:embed="rId3"/>
          <a:srcRect b="5909"/>
          <a:stretch/>
        </p:blipFill>
        <p:spPr>
          <a:xfrm>
            <a:off x="8133486" y="1698238"/>
            <a:ext cx="3225125" cy="4223759"/>
          </a:xfrm>
          <a:prstGeom prst="rect">
            <a:avLst/>
          </a:prstGeom>
        </p:spPr>
      </p:pic>
    </p:spTree>
    <p:extLst>
      <p:ext uri="{BB962C8B-B14F-4D97-AF65-F5344CB8AC3E}">
        <p14:creationId xmlns:p14="http://schemas.microsoft.com/office/powerpoint/2010/main" val="65967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38FAD3A5-D574-5475-5E43-ABC1F142D94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E6B8529-BCF1-0A35-B593-272657CB2569}"/>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Fuel Cell Types</a:t>
            </a:r>
            <a:endParaRPr dirty="0"/>
          </a:p>
        </p:txBody>
      </p:sp>
      <p:sp>
        <p:nvSpPr>
          <p:cNvPr id="145" name="Google Shape;145;p4">
            <a:extLst>
              <a:ext uri="{FF2B5EF4-FFF2-40B4-BE49-F238E27FC236}">
                <a16:creationId xmlns:a16="http://schemas.microsoft.com/office/drawing/2014/main" id="{9CBF2E9F-ACF2-179E-6BD7-60C665581E80}"/>
              </a:ext>
            </a:extLst>
          </p:cNvPr>
          <p:cNvSpPr txBox="1">
            <a:spLocks noGrp="1"/>
          </p:cNvSpPr>
          <p:nvPr>
            <p:ph type="body" idx="1"/>
          </p:nvPr>
        </p:nvSpPr>
        <p:spPr>
          <a:xfrm>
            <a:off x="476844" y="1515999"/>
            <a:ext cx="7011351" cy="4588239"/>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36.08 Describe the major components of a fuel cell vehicle.</a:t>
            </a:r>
            <a:endParaRPr lang="en-US" sz="2000" dirty="0"/>
          </a:p>
          <a:p>
            <a:pPr marL="357188" marR="0" lvl="0" indent="-357188" algn="l" rtl="0">
              <a:buChar char="•"/>
            </a:pPr>
            <a:r>
              <a:rPr lang="en-US" sz="2000" dirty="0"/>
              <a:t>The different types of fuel cells vary by size, weight, fuel, cost, and operating temperature.</a:t>
            </a:r>
          </a:p>
          <a:p>
            <a:pPr marL="357188" marR="0" lvl="0" indent="-357188" algn="l" rtl="0">
              <a:buChar char="•"/>
            </a:pPr>
            <a:r>
              <a:rPr lang="en-US" sz="2000" dirty="0"/>
              <a:t>Regardless of design, all fuel cells have two electrodes coated with a catalyst.</a:t>
            </a:r>
          </a:p>
          <a:p>
            <a:pPr marL="357188" marR="0" lvl="0" indent="-357188" algn="l" rtl="0">
              <a:buChar char="•"/>
            </a:pPr>
            <a:r>
              <a:rPr lang="en-US" sz="2000" dirty="0"/>
              <a:t>The catalyst, normally platinum, on the electrodes causes the chemical reaction in the fuel cell.</a:t>
            </a:r>
          </a:p>
          <a:p>
            <a:pPr marL="357188" marR="0" lvl="0" indent="-357188" algn="l" rtl="0">
              <a:buChar char="•"/>
            </a:pPr>
            <a:r>
              <a:rPr lang="en-US" sz="2000" dirty="0"/>
              <a:t>One of the electrodes has a positive polarity, the anode, and the other is negative, the cathode.</a:t>
            </a:r>
          </a:p>
          <a:p>
            <a:pPr marL="357188" marR="0" lvl="0" indent="-357188" algn="l" rtl="0">
              <a:buChar char="•"/>
            </a:pPr>
            <a:r>
              <a:rPr lang="en-US" sz="2000" dirty="0"/>
              <a:t>The electrodes are separated from each other by an electrolyte and separators.</a:t>
            </a:r>
            <a:endParaRPr lang="en-US" sz="2000" b="1" dirty="0"/>
          </a:p>
        </p:txBody>
      </p:sp>
      <p:pic>
        <p:nvPicPr>
          <p:cNvPr id="7" name="Picture Placeholder 6" descr="An electrolysis process of a fuel cell that contains a negative electrode, positive electrode, and electrolyte. Hydrogen (H_2) from the fuel passes through the cathode and oxygen (O_2) from the air passes through the anode. On the cathode side, the hydrogen atoms in the diatomic hydrogen molecules move toward the anode side. At the cathode node, hydrogen molecules exit at the node. The transferred hydrogen atoms from left to right pass through a catalyst and then combine with diatomic oxygen molecules in the anode side producing water molecules that exit at the anode node as water (H_2 O). Both diatomic hydrogen molecules and water molecules create electric power on wheels. The excess hydrogen molecules released are reused.">
            <a:extLst>
              <a:ext uri="{FF2B5EF4-FFF2-40B4-BE49-F238E27FC236}">
                <a16:creationId xmlns:a16="http://schemas.microsoft.com/office/drawing/2014/main" id="{B297100B-B2FB-5687-4E93-FB4D3C7E7153}"/>
              </a:ext>
            </a:extLst>
          </p:cNvPr>
          <p:cNvPicPr>
            <a:picLocks noGrp="1" noChangeAspect="1"/>
          </p:cNvPicPr>
          <p:nvPr>
            <p:ph type="pic" sz="quarter" idx="12"/>
          </p:nvPr>
        </p:nvPicPr>
        <p:blipFill rotWithShape="1">
          <a:blip r:embed="rId3"/>
          <a:srcRect b="8253"/>
          <a:stretch/>
        </p:blipFill>
        <p:spPr>
          <a:xfrm>
            <a:off x="7488195" y="1924204"/>
            <a:ext cx="4445277" cy="3625696"/>
          </a:xfrm>
          <a:prstGeom prst="rect">
            <a:avLst/>
          </a:prstGeom>
        </p:spPr>
      </p:pic>
    </p:spTree>
    <p:extLst>
      <p:ext uri="{BB962C8B-B14F-4D97-AF65-F5344CB8AC3E}">
        <p14:creationId xmlns:p14="http://schemas.microsoft.com/office/powerpoint/2010/main" val="1513113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E538B02C-3D04-D6A9-973D-3A0F82D9AA93}"/>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E8555B5B-B029-5E87-E370-A024FF4CC2B3}"/>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Proton Exchange Membrane Fuel Cell</a:t>
            </a:r>
            <a:endParaRPr dirty="0"/>
          </a:p>
        </p:txBody>
      </p:sp>
      <p:pic>
        <p:nvPicPr>
          <p:cNvPr id="7" name="Picture Placeholder 6" descr="An operation of a single fuel cell that contains two electrodes and a membrane placed between electrodes. The forward arrow pointing to the rear-end layer of the single fuel cell near first electrode represents, Hydrogen (H_2) fuel flowing into one electrode. The electrode is coated with a catalyst that strips the hydrogen into electrons and protons. The movement of electrons generates electricity to power the motor. The proton passes through the proton exchange membrane to the other electrode. A backward arrow pointing at the front-most layer of the single fuel cell, near the second electrode, represents, Oxygen (O_2) flowing into the second electrode, where it combines with the hydrogen to produce water vapor, which is emitted from the vehicle.">
            <a:extLst>
              <a:ext uri="{FF2B5EF4-FFF2-40B4-BE49-F238E27FC236}">
                <a16:creationId xmlns:a16="http://schemas.microsoft.com/office/drawing/2014/main" id="{A3B616AF-AA5E-9607-1449-DE9A59ADB06B}"/>
              </a:ext>
            </a:extLst>
          </p:cNvPr>
          <p:cNvPicPr>
            <a:picLocks noGrp="1" noChangeAspect="1"/>
          </p:cNvPicPr>
          <p:nvPr>
            <p:ph type="pic" sz="quarter" idx="11"/>
          </p:nvPr>
        </p:nvPicPr>
        <p:blipFill rotWithShape="1">
          <a:blip r:embed="rId3"/>
          <a:srcRect b="5529"/>
          <a:stretch/>
        </p:blipFill>
        <p:spPr>
          <a:xfrm>
            <a:off x="473242" y="2222286"/>
            <a:ext cx="4654852" cy="2972013"/>
          </a:xfrm>
          <a:prstGeom prst="rect">
            <a:avLst/>
          </a:prstGeom>
        </p:spPr>
      </p:pic>
      <p:sp>
        <p:nvSpPr>
          <p:cNvPr id="145" name="Google Shape;145;p4">
            <a:extLst>
              <a:ext uri="{FF2B5EF4-FFF2-40B4-BE49-F238E27FC236}">
                <a16:creationId xmlns:a16="http://schemas.microsoft.com/office/drawing/2014/main" id="{66FB90DD-404D-FF14-7B5C-1545E11A4233}"/>
              </a:ext>
            </a:extLst>
          </p:cNvPr>
          <p:cNvSpPr txBox="1">
            <a:spLocks noGrp="1"/>
          </p:cNvSpPr>
          <p:nvPr>
            <p:ph type="body" idx="1"/>
          </p:nvPr>
        </p:nvSpPr>
        <p:spPr>
          <a:xfrm>
            <a:off x="5486400" y="1515999"/>
            <a:ext cx="6232358" cy="4452315"/>
          </a:xfrm>
          <a:prstGeom prst="rect">
            <a:avLst/>
          </a:prstGeom>
          <a:noFill/>
          <a:ln>
            <a:noFill/>
          </a:ln>
        </p:spPr>
        <p:txBody>
          <a:bodyPr spcFirstLastPara="1" wrap="square" lIns="91425" tIns="45700" rIns="91425" bIns="45700" anchor="t" anchorCtr="0">
            <a:noAutofit/>
          </a:bodyPr>
          <a:lstStyle/>
          <a:p>
            <a:pPr marL="357188" marR="0" lvl="0" indent="-357188" algn="l" rtl="0">
              <a:spcAft>
                <a:spcPts val="0"/>
              </a:spcAft>
              <a:buChar char="•"/>
            </a:pPr>
            <a:r>
              <a:rPr lang="en-US" sz="2000" dirty="0">
                <a:solidFill>
                  <a:schemeClr val="tx1"/>
                </a:solidFill>
              </a:rPr>
              <a:t>The </a:t>
            </a:r>
            <a:r>
              <a:rPr lang="en-US" sz="2000" b="1" dirty="0">
                <a:solidFill>
                  <a:schemeClr val="tx1"/>
                </a:solidFill>
              </a:rPr>
              <a:t>proton exchange membrane (PEM) fuel cell</a:t>
            </a:r>
            <a:r>
              <a:rPr lang="en-US" sz="2000" dirty="0">
                <a:solidFill>
                  <a:schemeClr val="tx1"/>
                </a:solidFill>
              </a:rPr>
              <a:t>, or derivatives of it, is a favored design for use in vehicles because it allows for adjustable outputs which are necessary for driving.</a:t>
            </a:r>
          </a:p>
          <a:p>
            <a:pPr marL="357188" marR="0" lvl="0" indent="-357188" algn="l" rtl="0">
              <a:spcAft>
                <a:spcPts val="0"/>
              </a:spcAft>
              <a:buChar char="•"/>
            </a:pPr>
            <a:r>
              <a:rPr lang="en-US" sz="2000" dirty="0">
                <a:solidFill>
                  <a:schemeClr val="tx1"/>
                </a:solidFill>
              </a:rPr>
              <a:t>The speed of the vehicle can be controlled by controlling the output of the fuel cell.</a:t>
            </a:r>
          </a:p>
          <a:p>
            <a:pPr marL="357188" marR="0" lvl="0" indent="-357188" algn="l" rtl="0">
              <a:spcAft>
                <a:spcPts val="0"/>
              </a:spcAft>
              <a:buChar char="•"/>
            </a:pPr>
            <a:r>
              <a:rPr lang="en-US" sz="2000" dirty="0">
                <a:solidFill>
                  <a:schemeClr val="tx1"/>
                </a:solidFill>
              </a:rPr>
              <a:t>Although it is quite compact, it is capable of providing high outputs.</a:t>
            </a:r>
          </a:p>
          <a:p>
            <a:pPr marL="357188" marR="0" lvl="0" indent="-357188" algn="l" rtl="0">
              <a:spcAft>
                <a:spcPts val="0"/>
              </a:spcAft>
              <a:buChar char="•"/>
            </a:pPr>
            <a:r>
              <a:rPr lang="en-US" sz="2000" dirty="0">
                <a:solidFill>
                  <a:schemeClr val="tx1"/>
                </a:solidFill>
              </a:rPr>
              <a:t>When compared to other fuel cell designs, it is most efficient at relatively low temperatures of 86–212 °F (30–100 °C).</a:t>
            </a:r>
          </a:p>
          <a:p>
            <a:pPr marL="357188" marR="0" lvl="0" indent="-357188" algn="l" rtl="0">
              <a:spcAft>
                <a:spcPts val="0"/>
              </a:spcAft>
              <a:buChar char="•"/>
            </a:pPr>
            <a:r>
              <a:rPr lang="en-US" sz="2000" dirty="0">
                <a:solidFill>
                  <a:schemeClr val="tx1"/>
                </a:solidFill>
              </a:rPr>
              <a:t>However, it is expensive to manufacture.</a:t>
            </a:r>
            <a:endParaRPr lang="en-US" sz="2000" b="1" dirty="0">
              <a:solidFill>
                <a:schemeClr val="tx1"/>
              </a:solidFill>
            </a:endParaRPr>
          </a:p>
        </p:txBody>
      </p:sp>
    </p:spTree>
    <p:extLst>
      <p:ext uri="{BB962C8B-B14F-4D97-AF65-F5344CB8AC3E}">
        <p14:creationId xmlns:p14="http://schemas.microsoft.com/office/powerpoint/2010/main" val="3495707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504734CA-B441-ECA9-A70E-0F0306131BCE}"/>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CABA6A8-DEED-7098-A273-CD77D62198FA}"/>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Hydrogen Fueling Infrastructure</a:t>
            </a:r>
            <a:endParaRPr dirty="0"/>
          </a:p>
        </p:txBody>
      </p:sp>
      <p:pic>
        <p:nvPicPr>
          <p:cNvPr id="7" name="Picture Placeholder 6" descr="A hydrogen fueling station with two pumps, with the brand label that reads, Blue hydrogen - clean energy solutions.">
            <a:extLst>
              <a:ext uri="{FF2B5EF4-FFF2-40B4-BE49-F238E27FC236}">
                <a16:creationId xmlns:a16="http://schemas.microsoft.com/office/drawing/2014/main" id="{4BF2A238-2759-7D2C-47D4-6DD80E856A71}"/>
              </a:ext>
            </a:extLst>
          </p:cNvPr>
          <p:cNvPicPr>
            <a:picLocks noGrp="1" noChangeAspect="1"/>
          </p:cNvPicPr>
          <p:nvPr>
            <p:ph type="pic" sz="quarter" idx="11"/>
          </p:nvPr>
        </p:nvPicPr>
        <p:blipFill rotWithShape="1">
          <a:blip r:embed="rId3"/>
          <a:srcRect b="4941"/>
          <a:stretch/>
        </p:blipFill>
        <p:spPr>
          <a:xfrm>
            <a:off x="1045536" y="1566798"/>
            <a:ext cx="3298990" cy="4287901"/>
          </a:xfrm>
          <a:prstGeom prst="rect">
            <a:avLst/>
          </a:prstGeom>
        </p:spPr>
      </p:pic>
      <p:sp>
        <p:nvSpPr>
          <p:cNvPr id="145" name="Google Shape;145;p4">
            <a:extLst>
              <a:ext uri="{FF2B5EF4-FFF2-40B4-BE49-F238E27FC236}">
                <a16:creationId xmlns:a16="http://schemas.microsoft.com/office/drawing/2014/main" id="{735F28DF-B743-B16D-763E-C05C70D32353}"/>
              </a:ext>
            </a:extLst>
          </p:cNvPr>
          <p:cNvSpPr txBox="1">
            <a:spLocks noGrp="1"/>
          </p:cNvSpPr>
          <p:nvPr>
            <p:ph type="body" idx="1"/>
          </p:nvPr>
        </p:nvSpPr>
        <p:spPr>
          <a:xfrm>
            <a:off x="4695568" y="1515999"/>
            <a:ext cx="7023190" cy="4143396"/>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000" dirty="0">
                <a:solidFill>
                  <a:schemeClr val="tx1"/>
                </a:solidFill>
              </a:rPr>
              <a:t>Until there is a well-established distribution system for hydrogen, FCEVs will not be a dominant source of transportation.</a:t>
            </a:r>
          </a:p>
          <a:p>
            <a:pPr marL="357188" marR="0" lvl="0" indent="-357188" algn="l" rtl="0">
              <a:buChar char="•"/>
            </a:pPr>
            <a:r>
              <a:rPr lang="en-US" sz="2000" dirty="0">
                <a:solidFill>
                  <a:schemeClr val="tx1"/>
                </a:solidFill>
              </a:rPr>
              <a:t>However, there are many companies trying to establish hydrogen fueling stations.</a:t>
            </a:r>
          </a:p>
          <a:p>
            <a:pPr marL="357188" marR="0" lvl="0" indent="-357188" algn="l" rtl="0">
              <a:buChar char="•"/>
            </a:pPr>
            <a:r>
              <a:rPr lang="en-US" sz="2000" dirty="0">
                <a:solidFill>
                  <a:schemeClr val="tx1"/>
                </a:solidFill>
              </a:rPr>
              <a:t>In the United States, there are more than 50 refueling stations available, and this is not enough to sustain the growth of fuel cell vehicles.</a:t>
            </a:r>
          </a:p>
          <a:p>
            <a:pPr marL="357188" marR="0" lvl="0" indent="-357188" algn="l" rtl="0">
              <a:buChar char="•"/>
            </a:pPr>
            <a:r>
              <a:rPr lang="en-US" sz="2000" dirty="0">
                <a:solidFill>
                  <a:schemeClr val="tx1"/>
                </a:solidFill>
              </a:rPr>
              <a:t>These stations will look like normal gas pumps; however, the car’s filler neck is very different as is the fuel nozzle.</a:t>
            </a:r>
            <a:endParaRPr lang="en-US" sz="2000" b="1" dirty="0">
              <a:solidFill>
                <a:schemeClr val="tx1"/>
              </a:solidFill>
            </a:endParaRPr>
          </a:p>
        </p:txBody>
      </p:sp>
    </p:spTree>
    <p:extLst>
      <p:ext uri="{BB962C8B-B14F-4D97-AF65-F5344CB8AC3E}">
        <p14:creationId xmlns:p14="http://schemas.microsoft.com/office/powerpoint/2010/main" val="1209168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71835D8-2426-4608-B307-34E11F709B47}"/>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6CE82198-B7B2-7736-BE67-716D3CA1695F}"/>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Current FCEVs</a:t>
            </a:r>
            <a:endParaRPr dirty="0"/>
          </a:p>
        </p:txBody>
      </p:sp>
      <p:sp>
        <p:nvSpPr>
          <p:cNvPr id="145" name="Google Shape;145;p4">
            <a:extLst>
              <a:ext uri="{FF2B5EF4-FFF2-40B4-BE49-F238E27FC236}">
                <a16:creationId xmlns:a16="http://schemas.microsoft.com/office/drawing/2014/main" id="{5F0190A3-2B96-10B4-1FB7-7CAD94FD4BE9}"/>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Mass market fuel cell vehicles for everyday use are still years away; however, there are nearly 15,000 FCEVs operating in select U.S. markets.</a:t>
            </a:r>
          </a:p>
          <a:p>
            <a:pPr marL="357188" marR="0" lvl="0" indent="-357188" algn="l" rtl="0">
              <a:buChar char="•"/>
            </a:pPr>
            <a:r>
              <a:rPr lang="en-US" dirty="0"/>
              <a:t>Three fuel cell-powered models, the Toyota Mirai, Honda Clarity FC, and Kia Nexo, have been available for lease or sale since 2015.</a:t>
            </a:r>
          </a:p>
          <a:p>
            <a:pPr marL="357188" marR="0" lvl="0" indent="-357188" algn="l" rtl="0">
              <a:buChar char="•"/>
            </a:pPr>
            <a:r>
              <a:rPr lang="en-US" dirty="0"/>
              <a:t>All of these are part of the ongoing research that is taking place.</a:t>
            </a:r>
          </a:p>
        </p:txBody>
      </p:sp>
    </p:spTree>
    <p:extLst>
      <p:ext uri="{BB962C8B-B14F-4D97-AF65-F5344CB8AC3E}">
        <p14:creationId xmlns:p14="http://schemas.microsoft.com/office/powerpoint/2010/main" val="4230291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B4A3515F-AA81-B7F5-35BA-6D6F4FFCE35F}"/>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2C5E8D91-3278-287C-A0BF-27E4080244D4}"/>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Toyota</a:t>
            </a:r>
            <a:endParaRPr dirty="0"/>
          </a:p>
        </p:txBody>
      </p:sp>
      <p:sp>
        <p:nvSpPr>
          <p:cNvPr id="145" name="Google Shape;145;p4">
            <a:extLst>
              <a:ext uri="{FF2B5EF4-FFF2-40B4-BE49-F238E27FC236}">
                <a16:creationId xmlns:a16="http://schemas.microsoft.com/office/drawing/2014/main" id="{7C5B7D61-385B-A277-11F0-661D73966329}"/>
              </a:ext>
            </a:extLst>
          </p:cNvPr>
          <p:cNvSpPr txBox="1">
            <a:spLocks noGrp="1"/>
          </p:cNvSpPr>
          <p:nvPr>
            <p:ph type="body" idx="1"/>
          </p:nvPr>
        </p:nvSpPr>
        <p:spPr>
          <a:xfrm>
            <a:off x="476844" y="1515999"/>
            <a:ext cx="6727146" cy="4341104"/>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2200" dirty="0"/>
              <a:t>To take a look at how hybrid technology and components are used in a fuel cell vehicle, consider one of their latest FCEV, the Mirai.</a:t>
            </a:r>
          </a:p>
          <a:p>
            <a:pPr marL="357188" marR="0" lvl="0" indent="-357188" algn="l" rtl="0">
              <a:buChar char="•"/>
            </a:pPr>
            <a:r>
              <a:rPr lang="en-US" sz="2200" dirty="0"/>
              <a:t>The vehicle is a battery hybrid FCEV and is propelled by 182 hp (135 kW) electric motors.</a:t>
            </a:r>
          </a:p>
          <a:p>
            <a:pPr marL="357188" marR="0" lvl="0" indent="-357188" algn="l" rtl="0">
              <a:buChar char="•"/>
            </a:pPr>
            <a:r>
              <a:rPr lang="en-US" sz="2200" dirty="0"/>
              <a:t>The compressed fuel is stored in four hydrogen fuel tanks at 10,000 psi (700 kg/cm).</a:t>
            </a:r>
          </a:p>
          <a:p>
            <a:pPr marL="357188" marR="0" lvl="0" indent="-357188" algn="l" rtl="0">
              <a:buChar char="•"/>
            </a:pPr>
            <a:r>
              <a:rPr lang="en-US" sz="2200" dirty="0"/>
              <a:t>The battery and associated electronics are also similar to those found in the Prius.</a:t>
            </a:r>
          </a:p>
        </p:txBody>
      </p:sp>
      <p:pic>
        <p:nvPicPr>
          <p:cNvPr id="7" name="Picture Placeholder 6" descr="The interior of the Toyota Mirai fuel cell electric vehicle displays its hybrid technology and various components, such as four hydrogen fuel tanks.">
            <a:extLst>
              <a:ext uri="{FF2B5EF4-FFF2-40B4-BE49-F238E27FC236}">
                <a16:creationId xmlns:a16="http://schemas.microsoft.com/office/drawing/2014/main" id="{ABF39274-D2D3-933C-330E-A4BCE02C6782}"/>
              </a:ext>
            </a:extLst>
          </p:cNvPr>
          <p:cNvPicPr>
            <a:picLocks noGrp="1" noChangeAspect="1"/>
          </p:cNvPicPr>
          <p:nvPr>
            <p:ph type="pic" sz="quarter" idx="12"/>
          </p:nvPr>
        </p:nvPicPr>
        <p:blipFill rotWithShape="1">
          <a:blip r:embed="rId3"/>
          <a:srcRect b="8319"/>
          <a:stretch/>
        </p:blipFill>
        <p:spPr>
          <a:xfrm>
            <a:off x="7318290" y="2039296"/>
            <a:ext cx="4523857" cy="3294509"/>
          </a:xfrm>
          <a:prstGeom prst="rect">
            <a:avLst/>
          </a:prstGeom>
        </p:spPr>
      </p:pic>
    </p:spTree>
    <p:extLst>
      <p:ext uri="{BB962C8B-B14F-4D97-AF65-F5344CB8AC3E}">
        <p14:creationId xmlns:p14="http://schemas.microsoft.com/office/powerpoint/2010/main" val="4197652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CD1FB9D-7EA9-11FD-9D96-8C9632AB37D0}"/>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029EA21A-0234-4637-7770-16798FBDA9F8}"/>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Honda</a:t>
            </a:r>
            <a:endParaRPr dirty="0"/>
          </a:p>
        </p:txBody>
      </p:sp>
      <p:sp>
        <p:nvSpPr>
          <p:cNvPr id="145" name="Google Shape;145;p4">
            <a:extLst>
              <a:ext uri="{FF2B5EF4-FFF2-40B4-BE49-F238E27FC236}">
                <a16:creationId xmlns:a16="http://schemas.microsoft.com/office/drawing/2014/main" id="{F8BAAC1E-2172-279B-C9BD-36784DC0218F}"/>
              </a:ext>
            </a:extLst>
          </p:cNvPr>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sz="1800" dirty="0"/>
              <a:t>Honda recently discontinued their fuel cell car, called the Clarity FCV, which was available for lease in select California locations.</a:t>
            </a:r>
          </a:p>
          <a:p>
            <a:pPr marL="357188" marR="0" lvl="0" indent="-357188" algn="l" rtl="0">
              <a:buChar char="•"/>
            </a:pPr>
            <a:r>
              <a:rPr lang="en-US" sz="1800" dirty="0"/>
              <a:t>Honda is planning to return to the FC market in 2024 with a CR-V FC vehicle codeveloped with General Motors.</a:t>
            </a:r>
          </a:p>
          <a:p>
            <a:pPr marL="357188" marR="0" lvl="0" indent="-357188" algn="l" rtl="0">
              <a:buChar char="•"/>
            </a:pPr>
            <a:r>
              <a:rPr lang="en-US" sz="1800" dirty="0"/>
              <a:t>The fuel cell of the Clarity is under the hood, and the voltage-control unit sits on top of the FC.</a:t>
            </a:r>
          </a:p>
          <a:p>
            <a:pPr marL="357188" marR="0" lvl="0" indent="-357188" algn="l" rtl="0">
              <a:buChar char="•"/>
            </a:pPr>
            <a:r>
              <a:rPr lang="en-US" sz="1800" dirty="0"/>
              <a:t>The control unit boosts and regulates the power produced by the FC.</a:t>
            </a:r>
          </a:p>
          <a:p>
            <a:pPr marL="357188" marR="0" lvl="0" indent="-357188" algn="l" rtl="0">
              <a:buChar char="•"/>
            </a:pPr>
            <a:r>
              <a:rPr lang="en-US" sz="1800" dirty="0"/>
              <a:t>An air compressor increases airflow into the stack, which also increase power output.</a:t>
            </a:r>
          </a:p>
          <a:p>
            <a:pPr marL="357188" marR="0" lvl="0" indent="-357188" algn="l" rtl="0">
              <a:buChar char="•"/>
            </a:pPr>
            <a:r>
              <a:rPr lang="en-US" sz="1800" dirty="0"/>
              <a:t>The AC synchronous electric motor is rated at 174 hp and is connected directly to a transmission.</a:t>
            </a:r>
          </a:p>
          <a:p>
            <a:pPr marL="357188" marR="0" lvl="0" indent="-357188" algn="l" rtl="0">
              <a:buChar char="•"/>
            </a:pPr>
            <a:r>
              <a:rPr lang="en-US" sz="1800" dirty="0"/>
              <a:t>A 1.7 kWh Li-ion battery pack is mounted below the front seats and acts as a buffer for the fuel cell and provides extra power during heavy loads.</a:t>
            </a:r>
          </a:p>
        </p:txBody>
      </p:sp>
    </p:spTree>
    <p:extLst>
      <p:ext uri="{BB962C8B-B14F-4D97-AF65-F5344CB8AC3E}">
        <p14:creationId xmlns:p14="http://schemas.microsoft.com/office/powerpoint/2010/main" val="38974231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D4F9E1E5-6B7A-8E04-510C-2B4CBBCB017B}"/>
            </a:ext>
          </a:extLst>
        </p:cNvPr>
        <p:cNvGrpSpPr/>
        <p:nvPr/>
      </p:nvGrpSpPr>
      <p:grpSpPr>
        <a:xfrm>
          <a:off x="0" y="0"/>
          <a:ext cx="0" cy="0"/>
          <a:chOff x="0" y="0"/>
          <a:chExt cx="0" cy="0"/>
        </a:xfrm>
      </p:grpSpPr>
      <p:sp>
        <p:nvSpPr>
          <p:cNvPr id="144" name="Google Shape;144;p4">
            <a:extLst>
              <a:ext uri="{FF2B5EF4-FFF2-40B4-BE49-F238E27FC236}">
                <a16:creationId xmlns:a16="http://schemas.microsoft.com/office/drawing/2014/main" id="{AF735055-CCF7-6982-13E7-62B635F6D7A5}"/>
              </a:ext>
            </a:extLst>
          </p:cNvPr>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4000" dirty="0"/>
              <a:t>Kia</a:t>
            </a:r>
            <a:endParaRPr dirty="0"/>
          </a:p>
        </p:txBody>
      </p:sp>
      <p:sp>
        <p:nvSpPr>
          <p:cNvPr id="145" name="Google Shape;145;p4">
            <a:extLst>
              <a:ext uri="{FF2B5EF4-FFF2-40B4-BE49-F238E27FC236}">
                <a16:creationId xmlns:a16="http://schemas.microsoft.com/office/drawing/2014/main" id="{F7F55D63-A754-BE14-BF1F-891D9C641DAB}"/>
              </a:ext>
            </a:extLst>
          </p:cNvPr>
          <p:cNvSpPr txBox="1">
            <a:spLocks noGrp="1"/>
          </p:cNvSpPr>
          <p:nvPr>
            <p:ph type="body" idx="1"/>
          </p:nvPr>
        </p:nvSpPr>
        <p:spPr>
          <a:xfrm>
            <a:off x="476843" y="1515999"/>
            <a:ext cx="11130957" cy="4613339"/>
          </a:xfrm>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solidFill>
                  <a:schemeClr val="tx1"/>
                </a:solidFill>
              </a:rPr>
              <a:t>Kia currently offers the Nexo fuel cell vehicle in select California markets.</a:t>
            </a:r>
          </a:p>
          <a:p>
            <a:pPr marL="357188" marR="0" lvl="0" indent="-357188" algn="l" rtl="0">
              <a:buChar char="•"/>
            </a:pPr>
            <a:r>
              <a:rPr lang="en-US" dirty="0">
                <a:solidFill>
                  <a:schemeClr val="tx1"/>
                </a:solidFill>
              </a:rPr>
              <a:t>The Nexo has a range of up to 380 miles using a 95-kWh fuel cell stack and a 40-kWh battery driving an electric motor rated at 161 hp.</a:t>
            </a:r>
          </a:p>
          <a:p>
            <a:pPr marL="357188" marR="0" lvl="0" indent="-357188" algn="l" rtl="0">
              <a:buChar char="•"/>
            </a:pPr>
            <a:r>
              <a:rPr lang="en-US" dirty="0">
                <a:solidFill>
                  <a:schemeClr val="tx1"/>
                </a:solidFill>
              </a:rPr>
              <a:t>A base price of $60,135 is offset by $15,000 in hydrogen fuel cards good for 6 six years after purchase or 3 years for a lease.</a:t>
            </a:r>
          </a:p>
        </p:txBody>
      </p:sp>
    </p:spTree>
    <p:extLst>
      <p:ext uri="{BB962C8B-B14F-4D97-AF65-F5344CB8AC3E}">
        <p14:creationId xmlns:p14="http://schemas.microsoft.com/office/powerpoint/2010/main" val="6552314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Most hydrogen fuel cell vehicles are only being offered for sale or lease in one U.S. state. Which state?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7BED89CD-FBAA-51B8-B753-77BC02E90A55}"/>
              </a:ext>
            </a:extLst>
          </p:cNvPr>
          <p:cNvSpPr>
            <a:spLocks noGrp="1"/>
          </p:cNvSpPr>
          <p:nvPr>
            <p:ph type="body" idx="1"/>
          </p:nvPr>
        </p:nvSpPr>
        <p:spPr/>
        <p:txBody>
          <a:bodyPr/>
          <a:lstStyle/>
          <a:p>
            <a:pPr marL="457200" lvl="0" indent="-381000">
              <a:buClr>
                <a:srgbClr val="282F7C"/>
              </a:buClr>
              <a:buSzPts val="2400"/>
              <a:defRPr/>
            </a:pPr>
            <a:r>
              <a:rPr lang="en-US" b="1" dirty="0"/>
              <a:t>Answer:</a:t>
            </a:r>
            <a:r>
              <a:rPr lang="en-US" dirty="0"/>
              <a:t> California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t>Please take a moment to compare your perception electric vehicles before and after you studied this chapter. Then respond to the following questions in one or two paragraphs. Use 150–200 words in your reflection.</a:t>
            </a:r>
            <a:endParaRPr dirty="0"/>
          </a:p>
          <a:p>
            <a:pPr marL="360363" lvl="0" indent="-360363" algn="l" rtl="0">
              <a:lnSpc>
                <a:spcPct val="100000"/>
              </a:lnSpc>
              <a:buFont typeface="Arial"/>
              <a:buChar char="•"/>
            </a:pPr>
            <a:r>
              <a:rPr lang="en-US" dirty="0"/>
              <a:t>Did anything in this chapter change your thinking about electric vehicles? Describe which parts or details of EV’s interest you most.</a:t>
            </a:r>
            <a:endParaRPr dirty="0"/>
          </a:p>
          <a:p>
            <a:pPr marL="360363" lvl="0" indent="-360363" algn="l" rtl="0">
              <a:lnSpc>
                <a:spcPct val="100000"/>
              </a:lnSpc>
              <a:buFont typeface="Arial"/>
              <a:buChar char="•"/>
            </a:pPr>
            <a:r>
              <a:rPr lang="en-US" dirty="0"/>
              <a:t>Considering all you have learned, do you prepared to perform service on an EV? How will you ensure you are prepared?</a:t>
            </a:r>
            <a:endParaRPr dirty="0"/>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15168</TotalTime>
  <Words>3909</Words>
  <Application>Microsoft Office PowerPoint</Application>
  <PresentationFormat>Widescreen</PresentationFormat>
  <Paragraphs>245</Paragraphs>
  <Slides>39</Slides>
  <Notes>39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39</vt:i4>
      </vt:variant>
    </vt:vector>
  </HeadingPairs>
  <TitlesOfParts>
    <vt:vector size="46" baseType="lpstr">
      <vt:lpstr>Calibri Light</vt:lpstr>
      <vt:lpstr>Noto Sans Symbols</vt:lpstr>
      <vt:lpstr>Arial</vt:lpstr>
      <vt:lpstr>Calibri</vt:lpstr>
      <vt:lpstr>Work Sans</vt:lpstr>
      <vt:lpstr>Optimized Template Master</vt:lpstr>
      <vt:lpstr>Custom Design</vt:lpstr>
      <vt:lpstr>Automotive Technology: A Systems Approach, 8e</vt:lpstr>
      <vt:lpstr>Chapter Objectives (1 of 2)</vt:lpstr>
      <vt:lpstr>Chapter Objectives (2 of 2)</vt:lpstr>
      <vt:lpstr>A Look at History (1 of 2)</vt:lpstr>
      <vt:lpstr>A Look at History (2 of 2)</vt:lpstr>
      <vt:lpstr>Zero-Emissions Vehicles</vt:lpstr>
      <vt:lpstr>Costs</vt:lpstr>
      <vt:lpstr>Major Parts</vt:lpstr>
      <vt:lpstr>Electric Motor</vt:lpstr>
      <vt:lpstr>Controller</vt:lpstr>
      <vt:lpstr>Inverter/Converter</vt:lpstr>
      <vt:lpstr>Knowledge Check (1 of 2)</vt:lpstr>
      <vt:lpstr>Knowledge Check Answer (1 of 2)</vt:lpstr>
      <vt:lpstr>Charger to Vehicle Connectors</vt:lpstr>
      <vt:lpstr>Recharging Standards and Regulations</vt:lpstr>
      <vt:lpstr>HVAC</vt:lpstr>
      <vt:lpstr>Driving an EV</vt:lpstr>
      <vt:lpstr>Precautions</vt:lpstr>
      <vt:lpstr>EV Maintenance and Repair</vt:lpstr>
      <vt:lpstr>Lifting and Inspection</vt:lpstr>
      <vt:lpstr>Cooling System Service</vt:lpstr>
      <vt:lpstr>HVAC Maintenance</vt:lpstr>
      <vt:lpstr>Drive System Service</vt:lpstr>
      <vt:lpstr>Discussion</vt:lpstr>
      <vt:lpstr>Fuel Cell Vehicles</vt:lpstr>
      <vt:lpstr>Hydrogen</vt:lpstr>
      <vt:lpstr>Fuel Cells</vt:lpstr>
      <vt:lpstr>FCEV Configurations</vt:lpstr>
      <vt:lpstr>Controls</vt:lpstr>
      <vt:lpstr>Fuel Cell Types</vt:lpstr>
      <vt:lpstr>Proton Exchange Membrane Fuel Cell</vt:lpstr>
      <vt:lpstr>Hydrogen Fueling Infrastructure</vt:lpstr>
      <vt:lpstr>Current FCEVs</vt:lpstr>
      <vt:lpstr>Toyota</vt:lpstr>
      <vt:lpstr>Honda</vt:lpstr>
      <vt:lpstr>Kia</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Venugopal Loganathan</cp:lastModifiedBy>
  <cp:revision>297</cp:revision>
  <dcterms:created xsi:type="dcterms:W3CDTF">2021-12-10T16:21:02Z</dcterms:created>
  <dcterms:modified xsi:type="dcterms:W3CDTF">2024-11-27T17:12:12Z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