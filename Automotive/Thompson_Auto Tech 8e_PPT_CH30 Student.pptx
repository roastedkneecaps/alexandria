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350" r:id="rId2"/>
    <p:sldId id="257" r:id="rId3"/>
    <p:sldId id="461" r:id="rId4"/>
    <p:sldId id="462" r:id="rId5"/>
    <p:sldId id="463" r:id="rId6"/>
    <p:sldId id="464" r:id="rId7"/>
    <p:sldId id="284" r:id="rId8"/>
    <p:sldId id="285" r:id="rId9"/>
    <p:sldId id="465" r:id="rId10"/>
    <p:sldId id="466" r:id="rId11"/>
    <p:sldId id="467" r:id="rId12"/>
    <p:sldId id="468" r:id="rId13"/>
    <p:sldId id="469" r:id="rId14"/>
    <p:sldId id="470" r:id="rId15"/>
    <p:sldId id="471" r:id="rId16"/>
    <p:sldId id="472" r:id="rId17"/>
    <p:sldId id="473" r:id="rId18"/>
    <p:sldId id="474" r:id="rId19"/>
    <p:sldId id="475" r:id="rId20"/>
    <p:sldId id="476" r:id="rId21"/>
    <p:sldId id="478" r:id="rId22"/>
    <p:sldId id="479" r:id="rId23"/>
    <p:sldId id="480" r:id="rId24"/>
    <p:sldId id="481" r:id="rId25"/>
    <p:sldId id="482" r:id="rId26"/>
    <p:sldId id="293" r:id="rId27"/>
    <p:sldId id="294" r:id="rId28"/>
    <p:sldId id="483" r:id="rId29"/>
    <p:sldId id="484" r:id="rId30"/>
    <p:sldId id="485" r:id="rId31"/>
    <p:sldId id="486" r:id="rId32"/>
    <p:sldId id="487" r:id="rId33"/>
    <p:sldId id="488" r:id="rId34"/>
    <p:sldId id="276" r:id="rId35"/>
    <p:sldId id="301" r:id="rId36"/>
  </p:sldIdLst>
  <p:sldSz cx="12192000" cy="6858000"/>
  <p:notesSz cx="6858000" cy="9144000"/>
  <p:embeddedFontLst>
    <p:embeddedFont>
      <p:font typeface="Work Sans"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88235" autoAdjust="0"/>
  </p:normalViewPr>
  <p:slideViewPr>
    <p:cSldViewPr snapToGrid="0">
      <p:cViewPr varScale="1">
        <p:scale>
          <a:sx n="52" d="100"/>
          <a:sy n="52" d="100"/>
        </p:scale>
        <p:origin x="200" y="60"/>
      </p:cViewPr>
      <p:guideLst>
        <p:guide orient="horz" pos="2160"/>
        <p:guide pos="3840"/>
      </p:guideLst>
    </p:cSldViewPr>
  </p:slideViewPr>
  <p:outlineViewPr>
    <p:cViewPr>
      <p:scale>
        <a:sx n="33" d="100"/>
        <a:sy n="33" d="100"/>
      </p:scale>
      <p:origin x="0" y="-2400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190849690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398505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2607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671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1457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14384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213645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6335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826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5015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4032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5138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6115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7593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6770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98428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13847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603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513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3183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3684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430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18081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5391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87454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866748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0510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00445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41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47930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52841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6410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14955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039896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1220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ts val="2800"/>
              <a:buChar char="•"/>
              <a:defRPr sz="2600"/>
            </a:lvl1pPr>
            <a:lvl2pPr marL="720725" lvl="1" indent="-360363" algn="l">
              <a:lnSpc>
                <a:spcPct val="100000"/>
              </a:lnSpc>
              <a:spcBef>
                <a:spcPts val="624"/>
              </a:spcBef>
              <a:spcAft>
                <a:spcPts val="600"/>
              </a:spcAft>
              <a:buSzPct val="100000"/>
              <a:buChar char="−"/>
              <a:defRPr sz="2400" b="0"/>
            </a:lvl2pPr>
            <a:lvl3pPr marL="1081088" lvl="2" indent="-360363"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1220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5"/>
            <a:ext cx="11241915" cy="2601976"/>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ts val="2800"/>
              <a:buChar char="•"/>
              <a:defRPr sz="2600"/>
            </a:lvl1pPr>
            <a:lvl2pPr marL="720725" lvl="1" indent="-360363" algn="l">
              <a:lnSpc>
                <a:spcPct val="100000"/>
              </a:lnSpc>
              <a:spcBef>
                <a:spcPts val="624"/>
              </a:spcBef>
              <a:spcAft>
                <a:spcPts val="600"/>
              </a:spcAft>
              <a:buSzPct val="100000"/>
              <a:buChar char="−"/>
              <a:defRPr sz="2400" b="0"/>
            </a:lvl2pPr>
            <a:lvl3pPr marL="1081088" lvl="2" indent="-360363"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7DD4F914-94B5-CEEB-8208-8F944340CEB0}"/>
              </a:ext>
            </a:extLst>
          </p:cNvPr>
          <p:cNvSpPr>
            <a:spLocks noGrp="1"/>
          </p:cNvSpPr>
          <p:nvPr>
            <p:ph sz="quarter" idx="10"/>
          </p:nvPr>
        </p:nvSpPr>
        <p:spPr>
          <a:xfrm>
            <a:off x="590550" y="4433888"/>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92130F86-C4E5-D011-0248-BBE79AC087FE}"/>
              </a:ext>
            </a:extLst>
          </p:cNvPr>
          <p:cNvSpPr>
            <a:spLocks noGrp="1"/>
          </p:cNvSpPr>
          <p:nvPr>
            <p:ph sz="quarter" idx="11"/>
          </p:nvPr>
        </p:nvSpPr>
        <p:spPr>
          <a:xfrm>
            <a:off x="2124075" y="43434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236C4F45-B96A-3838-6679-2514921AFEF6}"/>
              </a:ext>
            </a:extLst>
          </p:cNvPr>
          <p:cNvSpPr>
            <a:spLocks noGrp="1"/>
          </p:cNvSpPr>
          <p:nvPr>
            <p:ph type="pic" sz="quarter" idx="12"/>
          </p:nvPr>
        </p:nvSpPr>
        <p:spPr>
          <a:xfrm>
            <a:off x="3897313" y="4433888"/>
            <a:ext cx="914400" cy="914400"/>
          </a:xfrm>
        </p:spPr>
        <p:txBody>
          <a:bodyPr/>
          <a:lstStyle/>
          <a:p>
            <a:endParaRPr lang="en-IN"/>
          </a:p>
        </p:txBody>
      </p:sp>
      <p:sp>
        <p:nvSpPr>
          <p:cNvPr id="9" name="Picture Placeholder 8">
            <a:extLst>
              <a:ext uri="{FF2B5EF4-FFF2-40B4-BE49-F238E27FC236}">
                <a16:creationId xmlns:a16="http://schemas.microsoft.com/office/drawing/2014/main" id="{06723942-ACA7-0FE1-5121-A060A40F49B5}"/>
              </a:ext>
            </a:extLst>
          </p:cNvPr>
          <p:cNvSpPr>
            <a:spLocks noGrp="1"/>
          </p:cNvSpPr>
          <p:nvPr>
            <p:ph type="pic" sz="quarter" idx="13"/>
          </p:nvPr>
        </p:nvSpPr>
        <p:spPr>
          <a:xfrm>
            <a:off x="5384800" y="4506913"/>
            <a:ext cx="914400" cy="914400"/>
          </a:xfrm>
        </p:spPr>
        <p:txBody>
          <a:bodyPr/>
          <a:lstStyle/>
          <a:p>
            <a:endParaRPr lang="en-IN"/>
          </a:p>
        </p:txBody>
      </p:sp>
      <p:sp>
        <p:nvSpPr>
          <p:cNvPr id="11" name="Table Placeholder 10">
            <a:extLst>
              <a:ext uri="{FF2B5EF4-FFF2-40B4-BE49-F238E27FC236}">
                <a16:creationId xmlns:a16="http://schemas.microsoft.com/office/drawing/2014/main" id="{F336441A-FE92-7C85-B52B-49630DD285A6}"/>
              </a:ext>
            </a:extLst>
          </p:cNvPr>
          <p:cNvSpPr>
            <a:spLocks noGrp="1"/>
          </p:cNvSpPr>
          <p:nvPr>
            <p:ph type="tbl" sz="quarter" idx="14"/>
          </p:nvPr>
        </p:nvSpPr>
        <p:spPr>
          <a:xfrm>
            <a:off x="7380288" y="4637088"/>
            <a:ext cx="914400" cy="914400"/>
          </a:xfrm>
        </p:spPr>
        <p:txBody>
          <a:bodyPr/>
          <a:lstStyle/>
          <a:p>
            <a:endParaRPr lang="en-IN"/>
          </a:p>
        </p:txBody>
      </p:sp>
    </p:spTree>
    <p:extLst>
      <p:ext uri="{BB962C8B-B14F-4D97-AF65-F5344CB8AC3E}">
        <p14:creationId xmlns:p14="http://schemas.microsoft.com/office/powerpoint/2010/main" val="2782004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91933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002E725D-D38C-C529-22B6-84899E0ECE26}"/>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30: Electronic Fuel Injection</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dirty="0"/>
              <a:t>30.01 Describe the difference between different types of fuel injection systems.</a:t>
            </a:r>
          </a:p>
          <a:p>
            <a:pPr marL="357188" marR="0" lvl="0" indent="-357188" algn="l" rtl="0">
              <a:buSzPct val="100000"/>
              <a:buChar char="•"/>
            </a:pPr>
            <a:r>
              <a:rPr lang="en-US" dirty="0"/>
              <a:t>30.02 Explain the design and function of major EFI components.</a:t>
            </a:r>
          </a:p>
          <a:p>
            <a:pPr marL="357188" marR="0" lvl="0" indent="-357188" algn="l" rtl="0">
              <a:buSzPct val="100000"/>
              <a:buChar char="•"/>
            </a:pPr>
            <a:r>
              <a:rPr lang="en-US" dirty="0"/>
              <a:t>30.03 Describe the operation of the pressure regulator in a returnless EFI system.</a:t>
            </a:r>
          </a:p>
          <a:p>
            <a:pPr marL="357188" marR="0" lvl="0" indent="-357188" algn="l" rtl="0">
              <a:buSzPct val="100000"/>
              <a:buChar char="•"/>
            </a:pPr>
            <a:r>
              <a:rPr lang="en-US" dirty="0"/>
              <a:t>30.04 Describe the operation of direct gasoline injection systems.</a:t>
            </a:r>
          </a:p>
          <a:p>
            <a:pPr marL="357188" marR="0" lvl="0" indent="-357188" algn="l" rtl="0">
              <a:buSzPct val="100000"/>
              <a:buChar char="•"/>
            </a:pPr>
            <a:r>
              <a:rPr lang="en-US" dirty="0"/>
              <a:t>30.05 Describe the operation of the injection systems used in light- and medium-duty diesel engines.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Basic EFI</a:t>
            </a:r>
            <a:endParaRPr sz="3600" dirty="0"/>
          </a:p>
        </p:txBody>
      </p:sp>
      <p:sp>
        <p:nvSpPr>
          <p:cNvPr id="145" name="Google Shape;145;p4"/>
          <p:cNvSpPr txBox="1">
            <a:spLocks noGrp="1"/>
          </p:cNvSpPr>
          <p:nvPr>
            <p:ph type="body" idx="1"/>
          </p:nvPr>
        </p:nvSpPr>
        <p:spPr>
          <a:xfrm>
            <a:off x="476844" y="1563624"/>
            <a:ext cx="6900140" cy="4535961"/>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tx1"/>
                </a:solidFill>
              </a:rPr>
              <a:t>30.02 Explain the design and function of major EFI components.</a:t>
            </a:r>
            <a:endParaRPr lang="en-US" sz="2000" dirty="0">
              <a:solidFill>
                <a:schemeClr val="tx1"/>
              </a:solidFill>
            </a:endParaRPr>
          </a:p>
          <a:p>
            <a:pPr marL="357188" indent="-357188">
              <a:buSzPct val="100000"/>
            </a:pPr>
            <a:r>
              <a:rPr lang="en-US" sz="2000" dirty="0">
                <a:solidFill>
                  <a:schemeClr val="tx1"/>
                </a:solidFill>
              </a:rPr>
              <a:t>In an EFI system, the computer must know the amount of air entering the engine so it can supply the correct amount of fuel for that amount of air.</a:t>
            </a:r>
          </a:p>
          <a:p>
            <a:pPr marL="357188" indent="-357188">
              <a:buSzPct val="100000"/>
            </a:pPr>
            <a:r>
              <a:rPr lang="en-US" sz="2000" dirty="0">
                <a:solidFill>
                  <a:schemeClr val="tx1"/>
                </a:solidFill>
              </a:rPr>
              <a:t>In systems with a manifold absolute pressure (MAP) sensor, the computer calculates the amount of intake air based on MAP and rpm input signals.</a:t>
            </a:r>
          </a:p>
          <a:p>
            <a:pPr marL="357188" indent="-357188">
              <a:buSzPct val="100000"/>
            </a:pPr>
            <a:r>
              <a:rPr lang="en-US" sz="2000" dirty="0">
                <a:solidFill>
                  <a:schemeClr val="tx1"/>
                </a:solidFill>
              </a:rPr>
              <a:t>This type of EFI system is referred to as a </a:t>
            </a:r>
            <a:r>
              <a:rPr lang="en-US" sz="2000" b="1" dirty="0">
                <a:solidFill>
                  <a:schemeClr val="tx1"/>
                </a:solidFill>
              </a:rPr>
              <a:t>speed density </a:t>
            </a:r>
            <a:r>
              <a:rPr lang="en-US" sz="2000" dirty="0">
                <a:solidFill>
                  <a:schemeClr val="tx1"/>
                </a:solidFill>
              </a:rPr>
              <a:t>system, because the computer calculates the air intake flow according to engine speed and intake manifold vacuum.</a:t>
            </a:r>
            <a:endParaRPr lang="en-US" sz="1100" dirty="0">
              <a:solidFill>
                <a:schemeClr val="tx1"/>
              </a:solidFill>
            </a:endParaRPr>
          </a:p>
        </p:txBody>
      </p:sp>
      <p:pic>
        <p:nvPicPr>
          <p:cNvPr id="8" name="Picture Placeholder 7" descr="An internal view of an electronic fuel injection system. The magnified view of parts is labeled as follows from Left to right: Injectors, Camshaft position sensor (C M P), Engine coolant temperature (E C T) sensor hash1, Output shaft speed sensor, Powertrain control module (P C M), Crankshaft position sensor (C K P), Engine coolant temperature (E C T) sensor hash 2, Knock sensor, Ignition coils, Mass airflow sensor (M A F) and intake air temperature sensor (I A T).">
            <a:extLst>
              <a:ext uri="{FF2B5EF4-FFF2-40B4-BE49-F238E27FC236}">
                <a16:creationId xmlns:a16="http://schemas.microsoft.com/office/drawing/2014/main" id="{35EDCEED-4319-746E-D41C-EDABCB6CE883}"/>
              </a:ext>
            </a:extLst>
          </p:cNvPr>
          <p:cNvPicPr>
            <a:picLocks noGrp="1" noChangeAspect="1"/>
          </p:cNvPicPr>
          <p:nvPr>
            <p:ph type="pic" sz="quarter" idx="12"/>
          </p:nvPr>
        </p:nvPicPr>
        <p:blipFill rotWithShape="1">
          <a:blip r:embed="rId3"/>
          <a:srcRect b="5255"/>
          <a:stretch/>
        </p:blipFill>
        <p:spPr>
          <a:xfrm>
            <a:off x="7606236" y="2486878"/>
            <a:ext cx="4364370" cy="2628819"/>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Injectors</a:t>
            </a:r>
            <a:endParaRPr sz="3600" dirty="0"/>
          </a:p>
        </p:txBody>
      </p:sp>
      <p:sp>
        <p:nvSpPr>
          <p:cNvPr id="145" name="Google Shape;145;p4"/>
          <p:cNvSpPr txBox="1">
            <a:spLocks noGrp="1"/>
          </p:cNvSpPr>
          <p:nvPr>
            <p:ph type="body" idx="1"/>
          </p:nvPr>
        </p:nvSpPr>
        <p:spPr>
          <a:xfrm>
            <a:off x="476844" y="1563625"/>
            <a:ext cx="6690076" cy="4503544"/>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30.01 Describe the difference between different types of fuel injection systems.</a:t>
            </a:r>
            <a:endParaRPr lang="en-US" sz="1800" dirty="0"/>
          </a:p>
          <a:p>
            <a:pPr marL="357188" indent="-357188">
              <a:buSzPct val="100000"/>
            </a:pPr>
            <a:r>
              <a:rPr lang="en-US" sz="1800" dirty="0"/>
              <a:t>Fuel injectors are electromechanical devices that meter and atomize fuel so it can be sprayed into the intake manifold.</a:t>
            </a:r>
          </a:p>
          <a:p>
            <a:pPr marL="357188" indent="-357188">
              <a:buSzPct val="100000"/>
            </a:pPr>
            <a:r>
              <a:rPr lang="en-US" sz="1800" dirty="0"/>
              <a:t>Injectors used on gasoline direct injection systems are bolted to the cylinder head with the fuel rail and spray fuel directly into the combustion chamber.</a:t>
            </a:r>
          </a:p>
          <a:p>
            <a:pPr marL="357188" indent="-357188">
              <a:buSzPct val="100000"/>
            </a:pPr>
            <a:r>
              <a:rPr lang="en-US" sz="1800" dirty="0"/>
              <a:t>O-rings seal the injector at the intake manifold, throttle body, and/or fuel rail mounting positions.</a:t>
            </a:r>
          </a:p>
          <a:p>
            <a:pPr marL="357188" indent="-357188">
              <a:buSzPct val="100000"/>
            </a:pPr>
            <a:r>
              <a:rPr lang="en-US" sz="1800" dirty="0"/>
              <a:t>These O-rings provide thermal insulation to prevent the formation of vapor bubbles and promote good hot start characteristics.</a:t>
            </a:r>
          </a:p>
        </p:txBody>
      </p:sp>
      <p:pic>
        <p:nvPicPr>
          <p:cNvPr id="8" name="Picture Placeholder 7" descr="A series of two illustrations depicts an internal and external view of the fuel injector, which is used in multiport fuel injection systems. The internal parts are labeled from  top to bottom as follows: Upper O-ring, Filter, Electrical connection, Magnetic winding, Solenoid, Lower O-ring, Needle valve, and Nozzle. The external parts are labeled from top to bottom as follows: Distributor tube, Upper O-ring, Safety clip and Lower O-ring.">
            <a:extLst>
              <a:ext uri="{FF2B5EF4-FFF2-40B4-BE49-F238E27FC236}">
                <a16:creationId xmlns:a16="http://schemas.microsoft.com/office/drawing/2014/main" id="{99EDD9E1-CC2E-DC92-44D1-A39127A06069}"/>
              </a:ext>
            </a:extLst>
          </p:cNvPr>
          <p:cNvPicPr>
            <a:picLocks noGrp="1" noChangeAspect="1"/>
          </p:cNvPicPr>
          <p:nvPr>
            <p:ph type="pic" sz="quarter" idx="12"/>
          </p:nvPr>
        </p:nvPicPr>
        <p:blipFill rotWithShape="1">
          <a:blip r:embed="rId3"/>
          <a:srcRect b="11910"/>
          <a:stretch/>
        </p:blipFill>
        <p:spPr>
          <a:xfrm>
            <a:off x="7417898" y="2510136"/>
            <a:ext cx="4605728" cy="3075117"/>
          </a:xfrm>
          <a:prstGeom prst="rect">
            <a:avLst/>
          </a:prstGeom>
        </p:spPr>
      </p:pic>
    </p:spTree>
    <p:extLst>
      <p:ext uri="{BB962C8B-B14F-4D97-AF65-F5344CB8AC3E}">
        <p14:creationId xmlns:p14="http://schemas.microsoft.com/office/powerpoint/2010/main" val="1698264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Idle Speed Control </a:t>
            </a:r>
            <a:endParaRPr sz="3600" dirty="0"/>
          </a:p>
        </p:txBody>
      </p:sp>
      <p:pic>
        <p:nvPicPr>
          <p:cNvPr id="8" name="Picture Placeholder 7" descr="An illustration depicts idle air control system. The following parts are labeled as: Throttle plate, Exhaust, and Fuel injector. The following mechanism shows: Air flowing toward one end of the air control system, enters into the air filter element, and further moves to the I A C valve where the upper section of I A C valve is connected to P C M and further grounded. The various sensors are connected to P C M. The lower section of I A C valve is connected to the main relay. The air from the I A C valve passes to the exhaust through the fuel injector.">
            <a:extLst>
              <a:ext uri="{FF2B5EF4-FFF2-40B4-BE49-F238E27FC236}">
                <a16:creationId xmlns:a16="http://schemas.microsoft.com/office/drawing/2014/main" id="{458BBF9F-2DFD-AF4C-A5AB-2F36943A12BB}"/>
              </a:ext>
            </a:extLst>
          </p:cNvPr>
          <p:cNvPicPr>
            <a:picLocks noGrp="1" noChangeAspect="1"/>
          </p:cNvPicPr>
          <p:nvPr>
            <p:ph type="pic" sz="quarter" idx="12"/>
          </p:nvPr>
        </p:nvPicPr>
        <p:blipFill rotWithShape="1">
          <a:blip r:embed="rId3"/>
          <a:srcRect b="5409"/>
          <a:stretch/>
        </p:blipFill>
        <p:spPr>
          <a:xfrm>
            <a:off x="652132" y="2414015"/>
            <a:ext cx="4064447" cy="2152569"/>
          </a:xfrm>
          <a:prstGeom prst="rect">
            <a:avLst/>
          </a:prstGeom>
        </p:spPr>
      </p:pic>
      <p:sp>
        <p:nvSpPr>
          <p:cNvPr id="145" name="Google Shape;145;p4"/>
          <p:cNvSpPr txBox="1">
            <a:spLocks noGrp="1"/>
          </p:cNvSpPr>
          <p:nvPr>
            <p:ph type="body" idx="1"/>
          </p:nvPr>
        </p:nvSpPr>
        <p:spPr>
          <a:xfrm>
            <a:off x="5090984" y="1563625"/>
            <a:ext cx="6627774" cy="4614753"/>
          </a:xfrm>
          <a:prstGeom prst="rect">
            <a:avLst/>
          </a:prstGeom>
          <a:noFill/>
          <a:ln>
            <a:noFill/>
          </a:ln>
        </p:spPr>
        <p:txBody>
          <a:bodyPr spcFirstLastPara="1" wrap="square" lIns="91425" tIns="45700" rIns="91425" bIns="45700" anchor="t" anchorCtr="0">
            <a:noAutofit/>
          </a:bodyPr>
          <a:lstStyle/>
          <a:p>
            <a:pPr marL="358775" indent="-358775">
              <a:lnSpc>
                <a:spcPct val="107000"/>
              </a:lnSpc>
              <a:spcBef>
                <a:spcPts val="0"/>
              </a:spcBef>
              <a:buSzPct val="100000"/>
            </a:pPr>
            <a:r>
              <a:rPr lang="en-US" sz="1800" dirty="0"/>
              <a:t>Idle speed control is a function of the PCM. Based on operating conditions and inputs from various sensors, the PCM regulates the idle speed.</a:t>
            </a:r>
          </a:p>
          <a:p>
            <a:pPr marL="358775" indent="-358775">
              <a:lnSpc>
                <a:spcPct val="107000"/>
              </a:lnSpc>
              <a:spcBef>
                <a:spcPts val="0"/>
              </a:spcBef>
              <a:buSzPct val="100000"/>
            </a:pPr>
            <a:r>
              <a:rPr lang="en-US" sz="1800" dirty="0"/>
              <a:t>In throttle body and port EFI systems, engine idle speed is controlled by bypassing a certain amount of airflow past the throttle valve in the throttle body housing.</a:t>
            </a:r>
          </a:p>
          <a:p>
            <a:pPr marL="358775" indent="-358775">
              <a:lnSpc>
                <a:spcPct val="107000"/>
              </a:lnSpc>
              <a:spcBef>
                <a:spcPts val="0"/>
              </a:spcBef>
              <a:buSzPct val="100000"/>
            </a:pPr>
            <a:r>
              <a:rPr lang="en-US" sz="1800" dirty="0"/>
              <a:t>Two types of air by-pass systems are used: auxiliary air valves and idle air control (IAC) valves.</a:t>
            </a:r>
          </a:p>
          <a:p>
            <a:pPr marL="358775" indent="-358775">
              <a:lnSpc>
                <a:spcPct val="107000"/>
              </a:lnSpc>
              <a:spcBef>
                <a:spcPts val="0"/>
              </a:spcBef>
              <a:buSzPct val="100000"/>
            </a:pPr>
            <a:r>
              <a:rPr lang="en-US" sz="1800" dirty="0"/>
              <a:t>IAC valve systems are more common.</a:t>
            </a:r>
          </a:p>
          <a:p>
            <a:pPr marL="358775" indent="-358775">
              <a:lnSpc>
                <a:spcPct val="107000"/>
              </a:lnSpc>
              <a:spcBef>
                <a:spcPts val="0"/>
              </a:spcBef>
              <a:buSzPct val="100000"/>
            </a:pPr>
            <a:r>
              <a:rPr lang="en-US" sz="1800" dirty="0"/>
              <a:t>Engines that use electronic throttle control do not use an IAC valve.</a:t>
            </a:r>
          </a:p>
          <a:p>
            <a:pPr marL="715963" lvl="1" indent="-357188">
              <a:lnSpc>
                <a:spcPct val="107000"/>
              </a:lnSpc>
              <a:spcBef>
                <a:spcPts val="0"/>
              </a:spcBef>
            </a:pPr>
            <a:r>
              <a:rPr lang="en-US" sz="1600" dirty="0"/>
              <a:t>The PCM commands the throttle plates open a small amount, to allow airflow into the engine.</a:t>
            </a:r>
            <a:endParaRPr lang="en-US" sz="1050" dirty="0"/>
          </a:p>
        </p:txBody>
      </p:sp>
    </p:spTree>
    <p:extLst>
      <p:ext uri="{BB962C8B-B14F-4D97-AF65-F5344CB8AC3E}">
        <p14:creationId xmlns:p14="http://schemas.microsoft.com/office/powerpoint/2010/main" val="1803182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Inputs</a:t>
            </a:r>
            <a:endParaRPr dirty="0"/>
          </a:p>
        </p:txBody>
      </p:sp>
      <p:pic>
        <p:nvPicPr>
          <p:cNvPr id="8" name="Picture Placeholder 7" descr="A basic model of an electronic fuel injection system. Several inputs were given initially to P C M as follows: Coolant temperature, Engine speed, Intake air volume, Exhaust O_2 content, Throttle position, Crankshaft position, and Camshaft position. P C M Fuel injection volume control leads to fuel injectors. The fuel injector leads to the Pressure regulator that leads to the Fuel tank, Fuel pump, Fuel filter, and Pressure regulator, which further leads to Fuel injectors. The fuel injectors finally lead to Cylinders.">
            <a:extLst>
              <a:ext uri="{FF2B5EF4-FFF2-40B4-BE49-F238E27FC236}">
                <a16:creationId xmlns:a16="http://schemas.microsoft.com/office/drawing/2014/main" id="{7736ABFE-9AB4-12D9-7577-3BEB08E6AF3C}"/>
              </a:ext>
            </a:extLst>
          </p:cNvPr>
          <p:cNvPicPr>
            <a:picLocks noGrp="1" noChangeAspect="1"/>
          </p:cNvPicPr>
          <p:nvPr>
            <p:ph type="pic" sz="quarter" idx="12"/>
          </p:nvPr>
        </p:nvPicPr>
        <p:blipFill rotWithShape="1">
          <a:blip r:embed="rId3"/>
          <a:srcRect b="4780"/>
          <a:stretch/>
        </p:blipFill>
        <p:spPr>
          <a:xfrm>
            <a:off x="476843" y="1929049"/>
            <a:ext cx="4181654" cy="2467025"/>
          </a:xfrm>
          <a:prstGeom prst="rect">
            <a:avLst/>
          </a:prstGeom>
        </p:spPr>
      </p:pic>
      <p:sp>
        <p:nvSpPr>
          <p:cNvPr id="145" name="Google Shape;145;p4"/>
          <p:cNvSpPr txBox="1">
            <a:spLocks noGrp="1"/>
          </p:cNvSpPr>
          <p:nvPr>
            <p:ph type="body" idx="1"/>
          </p:nvPr>
        </p:nvSpPr>
        <p:spPr>
          <a:xfrm>
            <a:off x="4955058" y="1526553"/>
            <a:ext cx="7055709" cy="4491187"/>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2000" dirty="0">
                <a:solidFill>
                  <a:schemeClr val="accent1"/>
                </a:solidFill>
              </a:rPr>
              <a:t>The ability of the fuel injection system to control the air–fuel ratio depends on its ability to properly time the injector pulses with the compression stroke of each cylinder and its ability to vary the injector “on” time, according to changing engine demands.</a:t>
            </a:r>
          </a:p>
          <a:p>
            <a:pPr marL="357188" indent="-357188">
              <a:buSzPct val="100000"/>
            </a:pPr>
            <a:r>
              <a:rPr lang="en-US" sz="2000" dirty="0">
                <a:solidFill>
                  <a:schemeClr val="accent1"/>
                </a:solidFill>
              </a:rPr>
              <a:t>Both tasks require the use of sensors that monitor the operating conditions of the engine.</a:t>
            </a:r>
          </a:p>
          <a:p>
            <a:pPr marL="357188" indent="-357188">
              <a:buSzPct val="100000"/>
            </a:pPr>
            <a:r>
              <a:rPr lang="en-US" sz="2000" dirty="0">
                <a:solidFill>
                  <a:schemeClr val="accent1"/>
                </a:solidFill>
              </a:rPr>
              <a:t>The PCM receives these signals from the CAN bus and inputs sent directly to the computer.</a:t>
            </a:r>
          </a:p>
          <a:p>
            <a:pPr marL="357188" indent="-357188">
              <a:buSzPct val="100000"/>
            </a:pPr>
            <a:r>
              <a:rPr lang="en-US" sz="2000" dirty="0">
                <a:solidFill>
                  <a:schemeClr val="accent1"/>
                </a:solidFill>
              </a:rPr>
              <a:t>Here are a few typical inputs:</a:t>
            </a:r>
          </a:p>
          <a:p>
            <a:pPr marL="715963" lvl="1" indent="-357188">
              <a:buFont typeface="Arial" panose="020B0604020202020204" pitchFamily="34" charset="0"/>
              <a:buChar char="–"/>
            </a:pPr>
            <a:r>
              <a:rPr lang="en-US" sz="1800" dirty="0"/>
              <a:t>MAF sensors, MAP sensors, air–fuel ratio or oxygen sensors.</a:t>
            </a:r>
          </a:p>
        </p:txBody>
      </p:sp>
    </p:spTree>
    <p:extLst>
      <p:ext uri="{BB962C8B-B14F-4D97-AF65-F5344CB8AC3E}">
        <p14:creationId xmlns:p14="http://schemas.microsoft.com/office/powerpoint/2010/main" val="1500183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solidFill>
                  <a:schemeClr val="tx1"/>
                </a:solidFill>
              </a:rPr>
              <a:t>List three typical inputs to the EFI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57EFE5C8-C3FF-AB52-0D41-4D3E64E4D5C2}"/>
              </a:ext>
            </a:extLst>
          </p:cNvPr>
          <p:cNvSpPr>
            <a:spLocks noGrp="1"/>
          </p:cNvSpPr>
          <p:nvPr>
            <p:ph type="body" idx="1"/>
          </p:nvPr>
        </p:nvSpPr>
        <p:spPr/>
        <p:txBody>
          <a:bodyPr/>
          <a:lstStyle/>
          <a:p>
            <a:pPr marL="0" lvl="1" indent="0">
              <a:buNone/>
            </a:pPr>
            <a:r>
              <a:rPr lang="en-US" sz="2600" b="1" dirty="0">
                <a:solidFill>
                  <a:schemeClr val="accent1"/>
                </a:solidFill>
              </a:rPr>
              <a:t>Answer</a:t>
            </a:r>
            <a:r>
              <a:rPr lang="en-US" sz="2600" dirty="0">
                <a:solidFill>
                  <a:schemeClr val="accent1"/>
                </a:solidFill>
              </a:rPr>
              <a:t>: MAF sensors, MAP sensors, air–fuel ratio, or oxygen sensors.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Operational Modes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342900">
              <a:buSzPct val="100000"/>
            </a:pPr>
            <a:r>
              <a:rPr lang="en-US" dirty="0"/>
              <a:t>All fuel injection systems operate in response to inputs.</a:t>
            </a:r>
          </a:p>
          <a:p>
            <a:pPr marL="357188" indent="-357188">
              <a:buSzPct val="100000"/>
            </a:pPr>
            <a:r>
              <a:rPr lang="en-US" dirty="0"/>
              <a:t>However, the PCM’s programming allows it to define the conditions and establish a summary of those conditions.</a:t>
            </a:r>
          </a:p>
          <a:p>
            <a:pPr marL="357188" indent="-357188">
              <a:buSzPct val="100000"/>
            </a:pPr>
            <a:r>
              <a:rPr lang="en-US" dirty="0"/>
              <a:t>The PCM then controls the delivery of fuel according to that mode of operation.</a:t>
            </a:r>
          </a:p>
          <a:p>
            <a:pPr marL="357188" indent="-357188">
              <a:buSzPct val="100000"/>
            </a:pPr>
            <a:r>
              <a:rPr lang="en-US" dirty="0"/>
              <a:t>Different EFI systems have different operational modes, but most have starting, run, clear flood, acceleration, and deceleration.</a:t>
            </a:r>
          </a:p>
        </p:txBody>
      </p:sp>
    </p:spTree>
    <p:extLst>
      <p:ext uri="{BB962C8B-B14F-4D97-AF65-F5344CB8AC3E}">
        <p14:creationId xmlns:p14="http://schemas.microsoft.com/office/powerpoint/2010/main" val="4105309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Run Mode </a:t>
            </a:r>
            <a:endParaRPr sz="3600" dirty="0"/>
          </a:p>
        </p:txBody>
      </p:sp>
      <p:sp>
        <p:nvSpPr>
          <p:cNvPr id="145" name="Google Shape;145;p4"/>
          <p:cNvSpPr txBox="1">
            <a:spLocks noGrp="1"/>
          </p:cNvSpPr>
          <p:nvPr>
            <p:ph type="body" idx="1"/>
          </p:nvPr>
        </p:nvSpPr>
        <p:spPr>
          <a:xfrm>
            <a:off x="476844" y="1563625"/>
            <a:ext cx="7332626" cy="4466472"/>
          </a:xfrm>
          <a:prstGeom prst="rect">
            <a:avLst/>
          </a:prstGeom>
          <a:noFill/>
          <a:ln>
            <a:noFill/>
          </a:ln>
        </p:spPr>
        <p:txBody>
          <a:bodyPr spcFirstLastPara="1" wrap="square" lIns="91425" tIns="45700" rIns="91425" bIns="45700" anchor="t" anchorCtr="0">
            <a:noAutofit/>
          </a:bodyPr>
          <a:lstStyle/>
          <a:p>
            <a:pPr marL="342900" indent="-342900">
              <a:spcAft>
                <a:spcPts val="0"/>
              </a:spcAft>
              <a:buSzPct val="100000"/>
            </a:pPr>
            <a:r>
              <a:rPr lang="en-US" sz="2000" dirty="0"/>
              <a:t>Once the engine has started and is running above a predetermined speed, the system will operate in open loop. In open loop, the PCM sets injector pulse width according to MAP or MAF, IAT, ECT, and TP sensor signals.</a:t>
            </a:r>
          </a:p>
          <a:p>
            <a:pPr marL="342900" indent="-342900">
              <a:spcAft>
                <a:spcPts val="0"/>
              </a:spcAft>
              <a:buSzPct val="100000"/>
            </a:pPr>
            <a:r>
              <a:rPr lang="en-US" sz="2000" dirty="0"/>
              <a:t>The system stays in open loop until the PCM receives good signals from the HO</a:t>
            </a:r>
            <a:r>
              <a:rPr lang="en-US" sz="2000" baseline="-25000" dirty="0"/>
              <a:t>2</a:t>
            </a:r>
            <a:r>
              <a:rPr lang="en-US" sz="2000" dirty="0"/>
              <a:t>S, and a predetermined engine temperature has been reached.</a:t>
            </a:r>
          </a:p>
          <a:p>
            <a:pPr marL="342900" indent="-342900">
              <a:spcAft>
                <a:spcPts val="0"/>
              </a:spcAft>
              <a:buSzPct val="100000"/>
            </a:pPr>
            <a:r>
              <a:rPr lang="en-US" sz="2000" dirty="0"/>
              <a:t>Once these conditions have been met, the system moves into closed loop.</a:t>
            </a:r>
          </a:p>
          <a:p>
            <a:pPr marL="342900" indent="-342900">
              <a:spcAft>
                <a:spcPts val="0"/>
              </a:spcAft>
              <a:buSzPct val="100000"/>
            </a:pPr>
            <a:r>
              <a:rPr lang="en-US" sz="2000" dirty="0"/>
              <a:t>In closed loop, the PCM adjusts the pulse width according to inputs from a variety of sensors, but primarily the </a:t>
            </a:r>
            <a:r>
              <a:rPr lang="en-US" sz="2000" dirty="0" err="1"/>
              <a:t>HO</a:t>
            </a:r>
            <a:r>
              <a:rPr lang="en-US" sz="2000" baseline="-25000" dirty="0" err="1"/>
              <a:t>2</a:t>
            </a:r>
            <a:r>
              <a:rPr lang="en-US" sz="2000" dirty="0" err="1"/>
              <a:t>S</a:t>
            </a:r>
            <a:r>
              <a:rPr lang="en-US" sz="2000" dirty="0"/>
              <a:t> or A/F ratio sensors.</a:t>
            </a:r>
            <a:endParaRPr lang="en-US" sz="2400" dirty="0"/>
          </a:p>
        </p:txBody>
      </p:sp>
      <p:pic>
        <p:nvPicPr>
          <p:cNvPr id="8" name="Picture Placeholder 7" descr="A series of five illustrations depict a representation of pulse width calculation. The first illustration labeled 1 depicts a square wave with the shortest width representing, the Base pulse from C K P. The second illustration labeled 2 depicts a square wave with an average width that represents, Pulse based on load calculation from M A F or M A P. The third illustration labeled 3 depicts a square wave with average width, whereas one-fourth of the space is shaded and represents Temperature enrichment. The fourth illustration labeled 4 depicts a square wave with an average width distance, where its equal half-space is shaded and represents Acceleration enrichment. The fifth illustration labeled 5 depicts a square wave with an average width distance, one-fourth of space within the width and half-space outside the square wave highlighted with left and right arrows representing, Fuel trim adjustments based on oxygen sensor.">
            <a:extLst>
              <a:ext uri="{FF2B5EF4-FFF2-40B4-BE49-F238E27FC236}">
                <a16:creationId xmlns:a16="http://schemas.microsoft.com/office/drawing/2014/main" id="{28A575AC-6322-084F-5450-53E276D6FEDD}"/>
              </a:ext>
            </a:extLst>
          </p:cNvPr>
          <p:cNvPicPr>
            <a:picLocks noGrp="1" noChangeAspect="1"/>
          </p:cNvPicPr>
          <p:nvPr>
            <p:ph type="pic" sz="quarter" idx="13"/>
          </p:nvPr>
        </p:nvPicPr>
        <p:blipFill rotWithShape="1">
          <a:blip r:embed="rId3"/>
          <a:srcRect b="9348"/>
          <a:stretch/>
        </p:blipFill>
        <p:spPr>
          <a:xfrm>
            <a:off x="7947450" y="1870381"/>
            <a:ext cx="3870953" cy="3887868"/>
          </a:xfrm>
          <a:prstGeom prst="rect">
            <a:avLst/>
          </a:prstGeom>
        </p:spPr>
      </p:pic>
    </p:spTree>
    <p:extLst>
      <p:ext uri="{BB962C8B-B14F-4D97-AF65-F5344CB8AC3E}">
        <p14:creationId xmlns:p14="http://schemas.microsoft.com/office/powerpoint/2010/main" val="179277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Acceleration Mode</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dirty="0"/>
              <a:t>Based on signals from the TP and MAP or MAF sensors, the PCM can tell when the vehicle is being accelerated.</a:t>
            </a:r>
          </a:p>
          <a:p>
            <a:pPr marL="357188" indent="-357188">
              <a:buSzPct val="100000"/>
            </a:pPr>
            <a:r>
              <a:rPr lang="en-US" dirty="0"/>
              <a:t>To compensate for the sudden rush of intake air as the throttle is opened, the PCM increases the injectors’ pulse width.</a:t>
            </a:r>
          </a:p>
          <a:p>
            <a:pPr marL="357188" indent="-357188">
              <a:buSzPct val="100000"/>
            </a:pPr>
            <a:r>
              <a:rPr lang="en-US" dirty="0"/>
              <a:t>The pulse width change is calculated by the PCM according to inputs from the CKP, MAP, ECT, MAF, and TP sensors.</a:t>
            </a:r>
          </a:p>
          <a:p>
            <a:pPr marL="357188" indent="-357188">
              <a:buSzPct val="100000"/>
            </a:pPr>
            <a:r>
              <a:rPr lang="en-US" dirty="0"/>
              <a:t>Once the PCM determines that the vehicle is no longer accelerating, the EFI system is returned to the run mode.</a:t>
            </a:r>
          </a:p>
        </p:txBody>
      </p:sp>
    </p:spTree>
    <p:extLst>
      <p:ext uri="{BB962C8B-B14F-4D97-AF65-F5344CB8AC3E}">
        <p14:creationId xmlns:p14="http://schemas.microsoft.com/office/powerpoint/2010/main" val="3104458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Trim</a:t>
            </a:r>
            <a:endParaRPr sz="3600" dirty="0"/>
          </a:p>
        </p:txBody>
      </p:sp>
      <p:sp>
        <p:nvSpPr>
          <p:cNvPr id="145" name="Google Shape;145;p4"/>
          <p:cNvSpPr txBox="1">
            <a:spLocks noGrp="1"/>
          </p:cNvSpPr>
          <p:nvPr>
            <p:ph type="body" idx="1"/>
          </p:nvPr>
        </p:nvSpPr>
        <p:spPr>
          <a:xfrm>
            <a:off x="476843" y="1563624"/>
            <a:ext cx="6702433" cy="4614754"/>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The adjustment made to the base (programmed) pulse width for operating conditions is called fuel trim.</a:t>
            </a:r>
          </a:p>
          <a:p>
            <a:pPr marL="357188" indent="-357188">
              <a:buSzPct val="100000"/>
            </a:pPr>
            <a:r>
              <a:rPr lang="en-US" sz="1800" dirty="0"/>
              <a:t>Fuel trim can be monitored for diagnostic purposes and may be displayed as lambda.</a:t>
            </a:r>
          </a:p>
          <a:p>
            <a:pPr marL="357188" indent="-357188">
              <a:buSzPct val="100000"/>
            </a:pPr>
            <a:r>
              <a:rPr lang="en-US" sz="1800" dirty="0"/>
              <a:t>The base pulse width is given a value of 0 percent and all changes are expressed as a negative or positive value.</a:t>
            </a:r>
          </a:p>
          <a:p>
            <a:pPr marL="357188" indent="-357188">
              <a:buSzPct val="100000"/>
            </a:pPr>
            <a:r>
              <a:rPr lang="en-US" sz="1800" dirty="0"/>
              <a:t>A positive fuel trim value means the PCM detects a lean mixture and is increasing the pulse width to add more fuel to the mixture.</a:t>
            </a:r>
          </a:p>
          <a:p>
            <a:pPr marL="357188" indent="-357188">
              <a:buSzPct val="100000"/>
            </a:pPr>
            <a:r>
              <a:rPr lang="en-US" sz="1800" dirty="0"/>
              <a:t>A negative fuel trim value means the PCM is reducing the amount of fuel by decreasing the pulse width to compensate for a rich condition.</a:t>
            </a:r>
            <a:endParaRPr lang="en-US" sz="1200" dirty="0"/>
          </a:p>
        </p:txBody>
      </p:sp>
      <p:pic>
        <p:nvPicPr>
          <p:cNvPr id="8" name="Picture Placeholder 7" descr="A screenshot depicts a table of fuel system data for a G D I engine. The header reads, Engine Management Data - Equivalence Ratio (Lambda) Bank 1 Sensor 1. The table has eight rows and two columns. The row-wise data are as follows; Row 1. Equivalence ration (Lambda) - desired, 0.998; Row 2. Equivalence Ratio (Lambda) Bank 1 Sensor 1, 0.996; Row 3. Fuel Pulse Width (m S), 1.21; Row 4. Fuel System Status, closed-loop; Row 5. Fuel Trim - Long Term B 1 S 1 (%), 8.59; Row 6. Fuel Trim - Long Term B 1 S 2 (%), 0.78; Row 7. Fuel Cap Warning Light, Off; Row 8. Fuel Injection Amount (m g/cyl), 7. Row 2 is highlighted.">
            <a:extLst>
              <a:ext uri="{FF2B5EF4-FFF2-40B4-BE49-F238E27FC236}">
                <a16:creationId xmlns:a16="http://schemas.microsoft.com/office/drawing/2014/main" id="{7FFD292B-01A6-C658-0978-C1BF0DC3A609}"/>
              </a:ext>
            </a:extLst>
          </p:cNvPr>
          <p:cNvPicPr>
            <a:picLocks noGrp="1" noChangeAspect="1"/>
          </p:cNvPicPr>
          <p:nvPr>
            <p:ph type="pic" sz="quarter" idx="13"/>
          </p:nvPr>
        </p:nvPicPr>
        <p:blipFill rotWithShape="1">
          <a:blip r:embed="rId3"/>
          <a:srcRect b="10261"/>
          <a:stretch/>
        </p:blipFill>
        <p:spPr>
          <a:xfrm>
            <a:off x="7409289" y="2236573"/>
            <a:ext cx="4600533" cy="2792627"/>
          </a:xfrm>
          <a:prstGeom prst="rect">
            <a:avLst/>
          </a:prstGeom>
        </p:spPr>
      </p:pic>
    </p:spTree>
    <p:extLst>
      <p:ext uri="{BB962C8B-B14F-4D97-AF65-F5344CB8AC3E}">
        <p14:creationId xmlns:p14="http://schemas.microsoft.com/office/powerpoint/2010/main" val="1436246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Throttle Body Injection (TBI)</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For many auto manufacturers, TBI served as a stepping stone from carburetors to more advanced fuel injection systems.</a:t>
            </a:r>
          </a:p>
          <a:p>
            <a:pPr marL="357188" indent="-357188">
              <a:buSzPct val="100000"/>
            </a:pPr>
            <a:r>
              <a:rPr lang="en-US" sz="1800" dirty="0"/>
              <a:t>TBI units were used on many engines during the 1980s and 1990s.</a:t>
            </a:r>
          </a:p>
          <a:p>
            <a:pPr marL="357188" indent="-357188">
              <a:buSzPct val="100000"/>
            </a:pPr>
            <a:r>
              <a:rPr lang="en-US" sz="1800" dirty="0"/>
              <a:t>The throttle body unit is mounted directly to the intake manifold.</a:t>
            </a:r>
          </a:p>
          <a:p>
            <a:pPr marL="357188" indent="-357188">
              <a:buSzPct val="100000"/>
            </a:pPr>
            <a:r>
              <a:rPr lang="en-US" sz="1800" dirty="0"/>
              <a:t>The injector(s) spray fuel down into a throttle body chamber leading to the intake manifold. </a:t>
            </a:r>
          </a:p>
          <a:p>
            <a:pPr marL="357188" indent="-357188">
              <a:buSzPct val="100000"/>
            </a:pPr>
            <a:r>
              <a:rPr lang="en-US" sz="1800" dirty="0"/>
              <a:t>The intake manifold feeds the air–fuel mixture to all cylinders.</a:t>
            </a:r>
          </a:p>
          <a:p>
            <a:pPr marL="357188" indent="-357188">
              <a:buSzPct val="100000"/>
            </a:pPr>
            <a:r>
              <a:rPr lang="en-US" sz="1800" dirty="0"/>
              <a:t>Four-cylinder engines have a single throttle body assembly with one injector and throttle plate, whereas V6 and V8 engines are usually equipped with dual injectors and two throttle plates on a common throttle shaft.</a:t>
            </a:r>
          </a:p>
          <a:p>
            <a:pPr marL="357188" indent="-357188">
              <a:buSzPct val="100000"/>
            </a:pPr>
            <a:r>
              <a:rPr lang="en-US" sz="1800" dirty="0"/>
              <a:t>Throttle body systems are not as efficient as port injection systems.</a:t>
            </a:r>
          </a:p>
          <a:p>
            <a:pPr marL="357188" indent="-357188">
              <a:buSzPct val="100000"/>
            </a:pPr>
            <a:r>
              <a:rPr lang="en-US" sz="1800" dirty="0"/>
              <a:t>Fuel is not distributed equally to all cylinders, the air and fuel from the TBI unit pass through the intake manifold, and the length and shape of the manifold’s runners affect distribution.</a:t>
            </a:r>
          </a:p>
        </p:txBody>
      </p:sp>
    </p:spTree>
    <p:extLst>
      <p:ext uri="{BB962C8B-B14F-4D97-AF65-F5344CB8AC3E}">
        <p14:creationId xmlns:p14="http://schemas.microsoft.com/office/powerpoint/2010/main" val="259794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Port Fuel Injection (PFI)</a:t>
            </a:r>
            <a:endParaRPr sz="3600" dirty="0"/>
          </a:p>
        </p:txBody>
      </p:sp>
      <p:pic>
        <p:nvPicPr>
          <p:cNvPr id="8" name="Picture Placeholder 7" descr="An illustration depicts a port injection machine. The following parts are labeled as follows: Fuel rail, Port fuel injector, Intake manifold runner, and Throttle body. The mechanism depicts the port fuel injector injects the fuel through the intake port and flows all around.">
            <a:extLst>
              <a:ext uri="{FF2B5EF4-FFF2-40B4-BE49-F238E27FC236}">
                <a16:creationId xmlns:a16="http://schemas.microsoft.com/office/drawing/2014/main" id="{9067BC41-C22E-0E2D-FEDA-1A7A99EDB8FE}"/>
              </a:ext>
            </a:extLst>
          </p:cNvPr>
          <p:cNvPicPr>
            <a:picLocks noGrp="1" noChangeAspect="1"/>
          </p:cNvPicPr>
          <p:nvPr>
            <p:ph type="pic" sz="quarter" idx="12"/>
          </p:nvPr>
        </p:nvPicPr>
        <p:blipFill rotWithShape="1">
          <a:blip r:embed="rId3"/>
          <a:srcRect b="9677"/>
          <a:stretch/>
        </p:blipFill>
        <p:spPr>
          <a:xfrm>
            <a:off x="709643" y="2088502"/>
            <a:ext cx="3331241" cy="2915984"/>
          </a:xfrm>
          <a:prstGeom prst="rect">
            <a:avLst/>
          </a:prstGeom>
        </p:spPr>
      </p:pic>
      <p:sp>
        <p:nvSpPr>
          <p:cNvPr id="145" name="Google Shape;145;p4"/>
          <p:cNvSpPr txBox="1">
            <a:spLocks noGrp="1"/>
          </p:cNvSpPr>
          <p:nvPr>
            <p:ph type="body" idx="1"/>
          </p:nvPr>
        </p:nvSpPr>
        <p:spPr>
          <a:xfrm>
            <a:off x="4312509" y="1563624"/>
            <a:ext cx="7406250" cy="4503543"/>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t>PFI systems use at least one injector at each cylinder.</a:t>
            </a:r>
          </a:p>
          <a:p>
            <a:pPr marL="357188" indent="-357188">
              <a:buSzPct val="100000"/>
            </a:pPr>
            <a:r>
              <a:rPr lang="en-US" sz="2000" dirty="0"/>
              <a:t>They are mounted in the intake manifold near the cylinder head where they can inject a fine, atomized fuel mist as close as possible to the back of the intake valve.</a:t>
            </a:r>
          </a:p>
          <a:p>
            <a:pPr marL="357188" indent="-357188">
              <a:buSzPct val="100000"/>
            </a:pPr>
            <a:r>
              <a:rPr lang="en-US" sz="2000" dirty="0"/>
              <a:t>Delivering the fuel mist right outside the combustion chamber allows the fuel to break down and vaporize a little more before it enters the cylinder.</a:t>
            </a:r>
          </a:p>
          <a:p>
            <a:pPr marL="357188" indent="-357188">
              <a:buSzPct val="100000"/>
            </a:pPr>
            <a:r>
              <a:rPr lang="en-US" sz="2000" dirty="0"/>
              <a:t>PFI systems can be divided into two basic categories: multiport injection (MPI) systems and sequential fuel injection (SFI) systems; each is defined by injector control.</a:t>
            </a:r>
          </a:p>
        </p:txBody>
      </p:sp>
    </p:spTree>
    <p:extLst>
      <p:ext uri="{BB962C8B-B14F-4D97-AF65-F5344CB8AC3E}">
        <p14:creationId xmlns:p14="http://schemas.microsoft.com/office/powerpoint/2010/main" val="2942402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MPI Systems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400"/>
              </a:spcAft>
              <a:buSzPct val="100000"/>
            </a:pPr>
            <a:r>
              <a:rPr lang="en-US" sz="1800" dirty="0"/>
              <a:t>Due to OBD II regulations, MPI systems are no longer used.</a:t>
            </a:r>
          </a:p>
          <a:p>
            <a:pPr>
              <a:spcAft>
                <a:spcPts val="400"/>
              </a:spcAft>
              <a:buSzPct val="100000"/>
            </a:pPr>
            <a:r>
              <a:rPr lang="en-US" sz="1800" dirty="0"/>
              <a:t>In MPI systems, the injectors were grouped together and the injectors in each group or bank fired at the same time.</a:t>
            </a:r>
          </a:p>
          <a:p>
            <a:pPr>
              <a:spcAft>
                <a:spcPts val="400"/>
              </a:spcAft>
              <a:buSzPct val="100000"/>
            </a:pPr>
            <a:r>
              <a:rPr lang="en-US" sz="1800" dirty="0"/>
              <a:t>Some MPI systems fired all of the injectors simultaneously.</a:t>
            </a:r>
          </a:p>
          <a:p>
            <a:pPr>
              <a:spcAft>
                <a:spcPts val="400"/>
              </a:spcAft>
              <a:buSzPct val="100000"/>
            </a:pPr>
            <a:r>
              <a:rPr lang="en-US" sz="1800" dirty="0"/>
              <a:t>The injectors were connected in parallel so they shared one driver circuit and the PCM sent out one signal for all injectors.</a:t>
            </a:r>
          </a:p>
          <a:p>
            <a:pPr>
              <a:spcAft>
                <a:spcPts val="400"/>
              </a:spcAft>
              <a:buSzPct val="100000"/>
            </a:pPr>
            <a:r>
              <a:rPr lang="en-US" sz="1800" dirty="0"/>
              <a:t>The amount of fuel required for each four-stroke cycle was divided in half and delivered in two injections, one for every 360 degrees of crankshaft rotation.</a:t>
            </a:r>
          </a:p>
          <a:p>
            <a:pPr>
              <a:spcAft>
                <a:spcPts val="400"/>
              </a:spcAft>
              <a:buSzPct val="100000"/>
            </a:pPr>
            <a:r>
              <a:rPr lang="en-US" sz="1800" dirty="0"/>
              <a:t>The fact that the intake charge had to wait in the manifold for varying periods was the system’s major drawback.</a:t>
            </a:r>
          </a:p>
          <a:p>
            <a:pPr>
              <a:spcAft>
                <a:spcPts val="400"/>
              </a:spcAft>
              <a:buSzPct val="100000"/>
            </a:pPr>
            <a:r>
              <a:rPr lang="en-US" sz="1800" dirty="0"/>
              <a:t>In grouped systems, there is a power and ground circuit for each group.</a:t>
            </a:r>
          </a:p>
          <a:p>
            <a:pPr>
              <a:spcAft>
                <a:spcPts val="400"/>
              </a:spcAft>
              <a:buSzPct val="100000"/>
            </a:pPr>
            <a:r>
              <a:rPr lang="en-US" sz="1800" dirty="0"/>
              <a:t>When the injectors are split into two equal groups, the groups are fired alternatively, with one group firing each engine revolution.</a:t>
            </a:r>
          </a:p>
        </p:txBody>
      </p:sp>
    </p:spTree>
    <p:extLst>
      <p:ext uri="{BB962C8B-B14F-4D97-AF65-F5344CB8AC3E}">
        <p14:creationId xmlns:p14="http://schemas.microsoft.com/office/powerpoint/2010/main" val="1670016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Sequential Fuel Injection</a:t>
            </a:r>
            <a:endParaRPr sz="3600" dirty="0"/>
          </a:p>
        </p:txBody>
      </p:sp>
      <p:sp>
        <p:nvSpPr>
          <p:cNvPr id="145" name="Google Shape;145;p4"/>
          <p:cNvSpPr txBox="1">
            <a:spLocks noGrp="1"/>
          </p:cNvSpPr>
          <p:nvPr>
            <p:ph type="body" idx="1"/>
          </p:nvPr>
        </p:nvSpPr>
        <p:spPr>
          <a:xfrm>
            <a:off x="475042" y="1538911"/>
            <a:ext cx="11241915" cy="4613339"/>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SFI systems require a camshaft position sensor to determine when to fire the injectors in addition to a MAF or MAP sensor and other sensors.</a:t>
            </a:r>
          </a:p>
          <a:p>
            <a:pPr marL="357188" indent="-357188">
              <a:buSzPct val="100000"/>
            </a:pPr>
            <a:r>
              <a:rPr lang="en-US" sz="1800" dirty="0"/>
              <a:t>These systems control each injector separately so that it fires just before the intake valve opens.</a:t>
            </a:r>
          </a:p>
          <a:p>
            <a:pPr marL="357188" indent="-357188">
              <a:buSzPct val="100000"/>
            </a:pPr>
            <a:r>
              <a:rPr lang="en-US" sz="1800" dirty="0"/>
              <a:t>This means that the mixture is never static in the intake manifold, and adjustments to the mixture can be made instantaneously between the firing of one injector and the next.</a:t>
            </a:r>
          </a:p>
          <a:p>
            <a:pPr marL="357188" indent="-357188">
              <a:buSzPct val="100000"/>
            </a:pPr>
            <a:r>
              <a:rPr lang="en-US" sz="1800" dirty="0"/>
              <a:t>Sequential firing is the most accurate and desirable method of regulating port injection.</a:t>
            </a:r>
          </a:p>
          <a:p>
            <a:pPr marL="357188" indent="-357188">
              <a:buSzPct val="100000"/>
            </a:pPr>
            <a:r>
              <a:rPr lang="en-US" sz="1800" dirty="0"/>
              <a:t>To meet OBD II regulations, SFI systems are capable of turning off the injector at a misfiring cylinder.</a:t>
            </a:r>
          </a:p>
          <a:p>
            <a:pPr marL="357188" indent="-357188">
              <a:buSzPct val="100000"/>
            </a:pPr>
            <a:r>
              <a:rPr lang="en-US" sz="1800" dirty="0"/>
              <a:t>This also allows manufacturers to use cylinder deactivation technology to improve fuel economy under steady cruise and light load conditions.</a:t>
            </a:r>
          </a:p>
          <a:p>
            <a:pPr marL="357188" indent="-357188">
              <a:buSzPct val="100000"/>
            </a:pPr>
            <a:r>
              <a:rPr lang="en-US" sz="1800" dirty="0"/>
              <a:t>In SFI systems, each injector is connected individually to the computer, and the computer completes the ground for each injector one at a time.</a:t>
            </a:r>
          </a:p>
        </p:txBody>
      </p:sp>
    </p:spTree>
    <p:extLst>
      <p:ext uri="{BB962C8B-B14F-4D97-AF65-F5344CB8AC3E}">
        <p14:creationId xmlns:p14="http://schemas.microsoft.com/office/powerpoint/2010/main" val="923920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Throttle Body</a:t>
            </a:r>
            <a:endParaRPr sz="3600" dirty="0"/>
          </a:p>
        </p:txBody>
      </p:sp>
      <p:pic>
        <p:nvPicPr>
          <p:cNvPr id="8" name="Picture Placeholder 7" descr="A throttle body depicts a T-P sensor mounted on it.">
            <a:extLst>
              <a:ext uri="{FF2B5EF4-FFF2-40B4-BE49-F238E27FC236}">
                <a16:creationId xmlns:a16="http://schemas.microsoft.com/office/drawing/2014/main" id="{11440253-FE5A-853C-B517-D53E9ED254B8}"/>
              </a:ext>
            </a:extLst>
          </p:cNvPr>
          <p:cNvPicPr>
            <a:picLocks noGrp="1" noChangeAspect="1"/>
          </p:cNvPicPr>
          <p:nvPr>
            <p:ph type="pic" sz="quarter" idx="12"/>
          </p:nvPr>
        </p:nvPicPr>
        <p:blipFill rotWithShape="1">
          <a:blip r:embed="rId3"/>
          <a:srcRect b="6842"/>
          <a:stretch/>
        </p:blipFill>
        <p:spPr>
          <a:xfrm>
            <a:off x="757598" y="1762527"/>
            <a:ext cx="4458161" cy="4082218"/>
          </a:xfrm>
          <a:prstGeom prst="rect">
            <a:avLst/>
          </a:prstGeom>
        </p:spPr>
      </p:pic>
      <p:sp>
        <p:nvSpPr>
          <p:cNvPr id="145" name="Google Shape;145;p4"/>
          <p:cNvSpPr txBox="1">
            <a:spLocks noGrp="1"/>
          </p:cNvSpPr>
          <p:nvPr>
            <p:ph type="body" idx="1"/>
          </p:nvPr>
        </p:nvSpPr>
        <p:spPr>
          <a:xfrm>
            <a:off x="5461686" y="1563624"/>
            <a:ext cx="6257072" cy="4503543"/>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The throttle body in a PFI system controls the amount of air that enters the engine as well as the amount of vacuum in the intake manifold. On non-electronic throttle control systems, the throttle body assembly is comprised of an IAC valve assembly, an idle air orifice, single or double bores with throttle plates, and a TP sensor.</a:t>
            </a:r>
          </a:p>
          <a:p>
            <a:pPr marL="357188" indent="-357188">
              <a:buSzPct val="100000"/>
            </a:pPr>
            <a:r>
              <a:rPr lang="en-US" sz="1800" dirty="0"/>
              <a:t>The throttle body housing assembly is a single-piece aluminum or plastic casting.</a:t>
            </a:r>
          </a:p>
          <a:p>
            <a:pPr marL="357188" indent="-357188">
              <a:buSzPct val="100000"/>
            </a:pPr>
            <a:r>
              <a:rPr lang="en-US" sz="1800" dirty="0"/>
              <a:t>The throttle bore and throttle plates control the amount of intake air that enters the engine.</a:t>
            </a:r>
          </a:p>
          <a:p>
            <a:pPr marL="357188" indent="-357188">
              <a:buSzPct val="100000"/>
            </a:pPr>
            <a:r>
              <a:rPr lang="en-US" sz="1800" dirty="0"/>
              <a:t>The throttle shaft and plate(s) are controlled by the accelerator pedal, via a linkage comprised of a cam and cable.</a:t>
            </a:r>
            <a:endParaRPr lang="en-US" sz="1600" dirty="0"/>
          </a:p>
        </p:txBody>
      </p:sp>
    </p:spTree>
    <p:extLst>
      <p:ext uri="{BB962C8B-B14F-4D97-AF65-F5344CB8AC3E}">
        <p14:creationId xmlns:p14="http://schemas.microsoft.com/office/powerpoint/2010/main" val="2227273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Delivery</a:t>
            </a:r>
            <a:endParaRPr sz="3600" dirty="0"/>
          </a:p>
        </p:txBody>
      </p:sp>
      <p:sp>
        <p:nvSpPr>
          <p:cNvPr id="145" name="Google Shape;145;p4"/>
          <p:cNvSpPr txBox="1">
            <a:spLocks noGrp="1"/>
          </p:cNvSpPr>
          <p:nvPr>
            <p:ph type="body" idx="1"/>
          </p:nvPr>
        </p:nvSpPr>
        <p:spPr>
          <a:xfrm>
            <a:off x="476843" y="1563625"/>
            <a:ext cx="7073135" cy="4528256"/>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The fuel injectors are separately controlled and are mounted to the intake manifold and supply pressurized fuel through fuel lines.</a:t>
            </a:r>
          </a:p>
          <a:p>
            <a:pPr marL="357188" indent="-357188">
              <a:buSzPct val="100000"/>
            </a:pPr>
            <a:r>
              <a:rPr lang="en-US" sz="1800" dirty="0"/>
              <a:t>These fuel lines run to each cylinder from a fuel manifold, usually referred to as a </a:t>
            </a:r>
            <a:r>
              <a:rPr lang="en-US" sz="1800" b="1" dirty="0"/>
              <a:t>fuel rail.</a:t>
            </a:r>
          </a:p>
          <a:p>
            <a:pPr marL="357188" indent="-357188">
              <a:buSzPct val="100000"/>
            </a:pPr>
            <a:r>
              <a:rPr lang="en-US" sz="1800" dirty="0"/>
              <a:t>The fuel rail also has a fuel pressure test port, and on returnless fuel systems, a fuel rail pressure (FRP) sensor.</a:t>
            </a:r>
          </a:p>
          <a:p>
            <a:pPr marL="357188" indent="-357188">
              <a:buSzPct val="100000"/>
            </a:pPr>
            <a:r>
              <a:rPr lang="en-US" sz="1800" dirty="0"/>
              <a:t>The rail is supplied fuel by the fuel pump and distributes the same amount of fuel at the same pressure to each cylinder.</a:t>
            </a:r>
          </a:p>
          <a:p>
            <a:pPr marL="357188" indent="-357188">
              <a:buSzPct val="100000"/>
            </a:pPr>
            <a:r>
              <a:rPr lang="en-US" sz="1800" dirty="0"/>
              <a:t>Because the fuel is dispensed at each cylinder and not the intake manifold, there is little or no fuel to wet the manifold walls; therefore, there is no need for manifold heat or early fuel evaporation system.</a:t>
            </a:r>
            <a:endParaRPr lang="en-US" sz="1600" dirty="0"/>
          </a:p>
        </p:txBody>
      </p:sp>
      <p:pic>
        <p:nvPicPr>
          <p:cNvPr id="8" name="Picture Placeholder 7" descr="A typical fuel rail with the parts labeled as follows: Fuel pressure test point, Fuel rail, and Fuel injector.">
            <a:extLst>
              <a:ext uri="{FF2B5EF4-FFF2-40B4-BE49-F238E27FC236}">
                <a16:creationId xmlns:a16="http://schemas.microsoft.com/office/drawing/2014/main" id="{2E0927EF-8BF4-1681-4021-9CF8FD5988E7}"/>
              </a:ext>
            </a:extLst>
          </p:cNvPr>
          <p:cNvPicPr>
            <a:picLocks noGrp="1" noChangeAspect="1"/>
          </p:cNvPicPr>
          <p:nvPr>
            <p:ph type="pic" sz="quarter" idx="13"/>
          </p:nvPr>
        </p:nvPicPr>
        <p:blipFill rotWithShape="1">
          <a:blip r:embed="rId3"/>
          <a:srcRect b="8378"/>
          <a:stretch/>
        </p:blipFill>
        <p:spPr>
          <a:xfrm>
            <a:off x="7678483" y="2016594"/>
            <a:ext cx="4036674" cy="3420381"/>
          </a:xfrm>
          <a:prstGeom prst="rect">
            <a:avLst/>
          </a:prstGeom>
        </p:spPr>
      </p:pic>
    </p:spTree>
    <p:extLst>
      <p:ext uri="{BB962C8B-B14F-4D97-AF65-F5344CB8AC3E}">
        <p14:creationId xmlns:p14="http://schemas.microsoft.com/office/powerpoint/2010/main" val="4233786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Pressure Regulators</a:t>
            </a:r>
            <a:endParaRPr sz="3600" dirty="0"/>
          </a:p>
        </p:txBody>
      </p:sp>
      <p:sp>
        <p:nvSpPr>
          <p:cNvPr id="145" name="Google Shape;145;p4"/>
          <p:cNvSpPr txBox="1">
            <a:spLocks noGrp="1"/>
          </p:cNvSpPr>
          <p:nvPr>
            <p:ph type="body" idx="1"/>
          </p:nvPr>
        </p:nvSpPr>
        <p:spPr>
          <a:xfrm>
            <a:off x="476843" y="1563625"/>
            <a:ext cx="7789827" cy="4590040"/>
          </a:xfrm>
          <a:prstGeom prst="rect">
            <a:avLst/>
          </a:prstGeom>
          <a:noFill/>
          <a:ln>
            <a:noFill/>
          </a:ln>
        </p:spPr>
        <p:txBody>
          <a:bodyPr spcFirstLastPara="1" wrap="square" lIns="91425" tIns="45700" rIns="91425" bIns="45700" anchor="t" anchorCtr="0">
            <a:noAutofit/>
          </a:bodyPr>
          <a:lstStyle/>
          <a:p>
            <a:pPr marL="0" marR="0" lvl="0" indent="0" algn="l" rtl="0">
              <a:spcAft>
                <a:spcPts val="400"/>
              </a:spcAft>
              <a:buSzPts val="2800"/>
              <a:buNone/>
            </a:pPr>
            <a:r>
              <a:rPr lang="en-US" sz="1800" b="1" dirty="0"/>
              <a:t>30.03 Describe the operation of the pressure regulator in a returnless EFI system.</a:t>
            </a:r>
          </a:p>
          <a:p>
            <a:pPr marL="357188" marR="0" lvl="0" indent="-357188" algn="l" rtl="0">
              <a:spcAft>
                <a:spcPts val="400"/>
              </a:spcAft>
              <a:buSzPct val="100000"/>
              <a:buChar char="•"/>
            </a:pPr>
            <a:r>
              <a:rPr lang="en-US" sz="1800" dirty="0"/>
              <a:t>PFI systems require an additional control not required by TBI units.</a:t>
            </a:r>
          </a:p>
          <a:p>
            <a:pPr marL="357188" marR="0" lvl="0" indent="-357188" algn="l" rtl="0">
              <a:spcAft>
                <a:spcPts val="400"/>
              </a:spcAft>
              <a:buSzPct val="100000"/>
              <a:buChar char="•"/>
            </a:pPr>
            <a:r>
              <a:rPr lang="en-US" sz="1800" dirty="0"/>
              <a:t>In a TBI, the injectors are mounted above the throttle plates and are not affected by fluctuations in manifold vacuum; port injectors have their tips located in the manifold where constant changes in vacuum would affect the amount of fuel injected.</a:t>
            </a:r>
          </a:p>
          <a:p>
            <a:pPr marL="357188" marR="0" lvl="0" indent="-357188" algn="l" rtl="0">
              <a:spcAft>
                <a:spcPts val="400"/>
              </a:spcAft>
              <a:buSzPct val="100000"/>
              <a:buChar char="•"/>
            </a:pPr>
            <a:r>
              <a:rPr lang="en-US" sz="1800" dirty="0"/>
              <a:t>To compensate for these fluctuations, port injection systems have a fuel pressure regulator that senses manifold vacuum and continually adjusts the fuel pressure to maintain a constant pressure drop across the injector.</a:t>
            </a:r>
          </a:p>
          <a:p>
            <a:pPr marL="357188" marR="0" lvl="0" indent="-357188" algn="l" rtl="0">
              <a:spcAft>
                <a:spcPts val="400"/>
              </a:spcAft>
              <a:buSzPct val="100000"/>
              <a:buChar char="•"/>
            </a:pPr>
            <a:r>
              <a:rPr lang="en-US" sz="1800" dirty="0"/>
              <a:t>The pressure regulators respond to changes in manifold pressure due to engine load.</a:t>
            </a:r>
            <a:endParaRPr lang="en-US" sz="1200" b="1" dirty="0"/>
          </a:p>
        </p:txBody>
      </p:sp>
      <p:pic>
        <p:nvPicPr>
          <p:cNvPr id="8" name="Picture Placeholder 7" descr="A typical fuel pressure regulator, a component of a port injection system.">
            <a:extLst>
              <a:ext uri="{FF2B5EF4-FFF2-40B4-BE49-F238E27FC236}">
                <a16:creationId xmlns:a16="http://schemas.microsoft.com/office/drawing/2014/main" id="{E548EE83-54A7-CDC3-04A7-CF4B64E82A49}"/>
              </a:ext>
            </a:extLst>
          </p:cNvPr>
          <p:cNvPicPr>
            <a:picLocks noGrp="1" noChangeAspect="1"/>
          </p:cNvPicPr>
          <p:nvPr>
            <p:ph type="pic" sz="quarter" idx="12"/>
          </p:nvPr>
        </p:nvPicPr>
        <p:blipFill rotWithShape="1">
          <a:blip r:embed="rId3"/>
          <a:srcRect b="11608"/>
          <a:stretch/>
        </p:blipFill>
        <p:spPr>
          <a:xfrm>
            <a:off x="8434041" y="2395781"/>
            <a:ext cx="3502585" cy="2583993"/>
          </a:xfrm>
          <a:prstGeom prst="rect">
            <a:avLst/>
          </a:prstGeom>
        </p:spPr>
      </p:pic>
    </p:spTree>
    <p:extLst>
      <p:ext uri="{BB962C8B-B14F-4D97-AF65-F5344CB8AC3E}">
        <p14:creationId xmlns:p14="http://schemas.microsoft.com/office/powerpoint/2010/main" val="1965545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err="1"/>
              <a:t>Returnless</a:t>
            </a:r>
            <a:r>
              <a:rPr lang="en-US" dirty="0"/>
              <a:t> Systems</a:t>
            </a:r>
            <a:endParaRPr sz="3600" dirty="0"/>
          </a:p>
        </p:txBody>
      </p:sp>
      <p:pic>
        <p:nvPicPr>
          <p:cNvPr id="8" name="Picture Placeholder 7" descr="An illustration depicts a return less fuel system with parts labeled as follows: Pressure regulator (filter inside), Electric fuel pump module, Filter, and Fuel gauge sending unit.">
            <a:extLst>
              <a:ext uri="{FF2B5EF4-FFF2-40B4-BE49-F238E27FC236}">
                <a16:creationId xmlns:a16="http://schemas.microsoft.com/office/drawing/2014/main" id="{29C2C976-5C76-6D01-0C7D-49C5D580941D}"/>
              </a:ext>
            </a:extLst>
          </p:cNvPr>
          <p:cNvPicPr>
            <a:picLocks noGrp="1" noChangeAspect="1"/>
          </p:cNvPicPr>
          <p:nvPr>
            <p:ph type="pic" sz="quarter" idx="12"/>
          </p:nvPr>
        </p:nvPicPr>
        <p:blipFill rotWithShape="1">
          <a:blip r:embed="rId3"/>
          <a:srcRect b="14862"/>
          <a:stretch/>
        </p:blipFill>
        <p:spPr>
          <a:xfrm>
            <a:off x="753762" y="1947813"/>
            <a:ext cx="3948745" cy="3137419"/>
          </a:xfrm>
          <a:prstGeom prst="rect">
            <a:avLst/>
          </a:prstGeom>
        </p:spPr>
      </p:pic>
      <p:sp>
        <p:nvSpPr>
          <p:cNvPr id="145" name="Google Shape;145;p4"/>
          <p:cNvSpPr txBox="1">
            <a:spLocks noGrp="1"/>
          </p:cNvSpPr>
          <p:nvPr>
            <p:ph type="body" idx="1"/>
          </p:nvPr>
        </p:nvSpPr>
        <p:spPr>
          <a:xfrm>
            <a:off x="4917989" y="1563624"/>
            <a:ext cx="6800769" cy="4540613"/>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Nearly all late-model injection systems are returnless systems.</a:t>
            </a:r>
          </a:p>
          <a:p>
            <a:pPr marL="357188" marR="0" lvl="0" indent="-357188" algn="l" rtl="0">
              <a:buSzPct val="100000"/>
              <a:buChar char="•"/>
            </a:pPr>
            <a:r>
              <a:rPr lang="en-US" sz="2000" dirty="0"/>
              <a:t>Those systems that have a fuel pressure regulator as part of the fuel sender and pump assembly in the fuel tank and are called mechanical returnless systems.</a:t>
            </a:r>
          </a:p>
          <a:p>
            <a:pPr marL="357188" marR="0" lvl="0" indent="-357188" algn="l" rtl="0">
              <a:buSzPct val="100000"/>
              <a:buChar char="•"/>
            </a:pPr>
            <a:r>
              <a:rPr lang="en-US" sz="2000" dirty="0"/>
              <a:t>The term is applied because the regulator sits inside the fuel tank, and there is no designated return fuel line, and its action is not related to engine vacuum.</a:t>
            </a:r>
          </a:p>
          <a:p>
            <a:pPr marL="357188" marR="0" lvl="0" indent="-357188" algn="l" rtl="0">
              <a:buSzPct val="100000"/>
              <a:buChar char="•"/>
            </a:pPr>
            <a:r>
              <a:rPr lang="en-US" sz="2000" dirty="0"/>
              <a:t>With a returnless system, only the fuel needed by the engine is filtered, thus allowing the use of a smaller fuel filter.</a:t>
            </a:r>
            <a:endParaRPr lang="en-US" sz="1300" b="1" dirty="0"/>
          </a:p>
        </p:txBody>
      </p:sp>
    </p:spTree>
    <p:extLst>
      <p:ext uri="{BB962C8B-B14F-4D97-AF65-F5344CB8AC3E}">
        <p14:creationId xmlns:p14="http://schemas.microsoft.com/office/powerpoint/2010/main" val="2102757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Throttle-by-Wire Systems</a:t>
            </a:r>
            <a:endParaRPr sz="3600" dirty="0"/>
          </a:p>
        </p:txBody>
      </p:sp>
      <p:pic>
        <p:nvPicPr>
          <p:cNvPr id="8" name="Picture Placeholder 7" descr="An illustration depicts a throttle actuator control (T A C) system. The following parts are labeled: T A C module, P C M Throttle Position Sensor, A P P sensor, D C motor, and T P S. The P C M and A P P sensor are connected to the T A C module, which is further connected to T P S and D C motor.">
            <a:extLst>
              <a:ext uri="{FF2B5EF4-FFF2-40B4-BE49-F238E27FC236}">
                <a16:creationId xmlns:a16="http://schemas.microsoft.com/office/drawing/2014/main" id="{BD504613-3057-E56A-4F4C-C77B43A4B38A}"/>
              </a:ext>
            </a:extLst>
          </p:cNvPr>
          <p:cNvPicPr>
            <a:picLocks noGrp="1" noChangeAspect="1"/>
          </p:cNvPicPr>
          <p:nvPr>
            <p:ph type="pic" sz="quarter" idx="13"/>
          </p:nvPr>
        </p:nvPicPr>
        <p:blipFill rotWithShape="1">
          <a:blip r:embed="rId3"/>
          <a:srcRect b="11503"/>
          <a:stretch/>
        </p:blipFill>
        <p:spPr>
          <a:xfrm>
            <a:off x="633971" y="2079675"/>
            <a:ext cx="4218429" cy="2912454"/>
          </a:xfrm>
          <a:prstGeom prst="rect">
            <a:avLst/>
          </a:prstGeom>
        </p:spPr>
      </p:pic>
      <p:sp>
        <p:nvSpPr>
          <p:cNvPr id="145" name="Google Shape;145;p4"/>
          <p:cNvSpPr txBox="1">
            <a:spLocks noGrp="1"/>
          </p:cNvSpPr>
          <p:nvPr>
            <p:ph type="body" idx="1"/>
          </p:nvPr>
        </p:nvSpPr>
        <p:spPr>
          <a:xfrm>
            <a:off x="5029200" y="1563624"/>
            <a:ext cx="6689558" cy="4590041"/>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1800" dirty="0"/>
              <a:t>Throttle-by-wire systems eliminate the need for a throttle cable and linkage.</a:t>
            </a:r>
          </a:p>
          <a:p>
            <a:pPr marL="357188" marR="0" lvl="0" indent="-357188" algn="l" rtl="0">
              <a:buSzPct val="100000"/>
              <a:buChar char="•"/>
            </a:pPr>
            <a:r>
              <a:rPr lang="en-US" sz="1800" dirty="0"/>
              <a:t>They also provide many other benefits over traditional throttle controls, such as improved driveability, increased fuel efficiency, and decreased emissions.</a:t>
            </a:r>
          </a:p>
          <a:p>
            <a:pPr marL="357188" marR="0" lvl="0" indent="-357188" algn="l" rtl="0">
              <a:buSzPct val="100000"/>
              <a:buChar char="•"/>
            </a:pPr>
            <a:r>
              <a:rPr lang="en-US" sz="1800" dirty="0"/>
              <a:t>Throttle-by-wire systems are used by all manufacturers; each calls their system by a different name, the most common being electronic throttle body (ETB) and electronic throttle control (ETC).</a:t>
            </a:r>
          </a:p>
          <a:p>
            <a:pPr marL="357188" marR="0" lvl="0" indent="-357188" algn="l" rtl="0">
              <a:buSzPct val="100000"/>
              <a:buChar char="•"/>
            </a:pPr>
            <a:r>
              <a:rPr lang="en-US" sz="1800" dirty="0"/>
              <a:t>There are differences in the programming and hardware used.</a:t>
            </a:r>
          </a:p>
          <a:p>
            <a:pPr marL="357188" marR="0" lvl="0" indent="-357188" algn="l" rtl="0">
              <a:buSzPct val="100000"/>
              <a:buChar char="•"/>
            </a:pPr>
            <a:r>
              <a:rPr lang="en-US" sz="1800" dirty="0"/>
              <a:t>Based on inputs from accelerator pedal sensors and its programming, the PCM electronically controls the position of the throttle plate.</a:t>
            </a:r>
            <a:endParaRPr lang="en-US" sz="1200" b="1" dirty="0"/>
          </a:p>
        </p:txBody>
      </p:sp>
    </p:spTree>
    <p:extLst>
      <p:ext uri="{BB962C8B-B14F-4D97-AF65-F5344CB8AC3E}">
        <p14:creationId xmlns:p14="http://schemas.microsoft.com/office/powerpoint/2010/main" val="2425234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Central Port Injection (CPI) (1 of 2)</a:t>
            </a:r>
            <a:endParaRPr sz="3600" dirty="0"/>
          </a:p>
        </p:txBody>
      </p:sp>
      <p:sp>
        <p:nvSpPr>
          <p:cNvPr id="145" name="Google Shape;145;p4"/>
          <p:cNvSpPr txBox="1">
            <a:spLocks noGrp="1"/>
          </p:cNvSpPr>
          <p:nvPr>
            <p:ph type="body" idx="1"/>
          </p:nvPr>
        </p:nvSpPr>
        <p:spPr>
          <a:xfrm>
            <a:off x="476845" y="1563625"/>
            <a:ext cx="6974280" cy="4466472"/>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Found on certain older General Motor’s V6 and V8 engines, central port injection (CPI) or central multiport injection (CMFI) systems have a central injector assembly mounted in the lower half of the intake manifold.</a:t>
            </a:r>
          </a:p>
          <a:p>
            <a:pPr marL="357188" marR="0" lvl="0" indent="-357188" algn="l" rtl="0">
              <a:buSzPct val="100000"/>
              <a:buChar char="•"/>
            </a:pPr>
            <a:r>
              <a:rPr lang="en-US" sz="2000" dirty="0"/>
              <a:t>The CPI system uses one injector to control the fuel flow to individual poppet nozzles.</a:t>
            </a:r>
          </a:p>
          <a:p>
            <a:pPr marL="357188" marR="0" lvl="0" indent="-357188" algn="l" rtl="0">
              <a:buSzPct val="100000"/>
              <a:buChar char="•"/>
            </a:pPr>
            <a:r>
              <a:rPr lang="en-US" sz="2000" dirty="0"/>
              <a:t>The CPI injector assembly consists of a fuel metering body, a pressure regulator, one fuel injector, </a:t>
            </a:r>
            <a:r>
              <a:rPr lang="en-US" sz="2000" b="1" dirty="0"/>
              <a:t>poppet nozzles </a:t>
            </a:r>
            <a:r>
              <a:rPr lang="en-US" sz="2000" dirty="0"/>
              <a:t>with nylon fuel tubes, and a gasket seal.</a:t>
            </a:r>
          </a:p>
          <a:p>
            <a:pPr marL="357188" marR="0" lvl="0" indent="-357188" algn="l" rtl="0">
              <a:buSzPct val="100000"/>
              <a:buChar char="•"/>
            </a:pPr>
            <a:r>
              <a:rPr lang="en-US" sz="2000" dirty="0"/>
              <a:t>The injector distributes metered fuel through the lines connected to the nozzles.</a:t>
            </a:r>
          </a:p>
        </p:txBody>
      </p:sp>
      <p:pic>
        <p:nvPicPr>
          <p:cNvPr id="8" name="Picture Placeholder 7" descr="A central multiport fuel injection components in the lower half of the intake manifold with the following labeled parts: Poppet nozzle (6), Drain, Lower half intake manifold, E G R valve, Central port injection assembly (1 injector), Drain, Divider wall, Cylinder ports, Fuel inlet, and Fuel return.">
            <a:extLst>
              <a:ext uri="{FF2B5EF4-FFF2-40B4-BE49-F238E27FC236}">
                <a16:creationId xmlns:a16="http://schemas.microsoft.com/office/drawing/2014/main" id="{8672E651-4210-B0D3-5BD2-B392D45CCA31}"/>
              </a:ext>
            </a:extLst>
          </p:cNvPr>
          <p:cNvPicPr>
            <a:picLocks noGrp="1" noChangeAspect="1"/>
          </p:cNvPicPr>
          <p:nvPr>
            <p:ph type="pic" sz="quarter" idx="13"/>
          </p:nvPr>
        </p:nvPicPr>
        <p:blipFill rotWithShape="1">
          <a:blip r:embed="rId3"/>
          <a:srcRect b="8567"/>
          <a:stretch/>
        </p:blipFill>
        <p:spPr>
          <a:xfrm>
            <a:off x="7730940" y="1891220"/>
            <a:ext cx="3984215" cy="3928812"/>
          </a:xfrm>
          <a:prstGeom prst="rect">
            <a:avLst/>
          </a:prstGeom>
        </p:spPr>
      </p:pic>
    </p:spTree>
    <p:extLst>
      <p:ext uri="{BB962C8B-B14F-4D97-AF65-F5344CB8AC3E}">
        <p14:creationId xmlns:p14="http://schemas.microsoft.com/office/powerpoint/2010/main" val="1284553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Central Port Injection (CPI) (2 of 2)</a:t>
            </a:r>
            <a:endParaRPr sz="3600" dirty="0"/>
          </a:p>
        </p:txBody>
      </p:sp>
      <p:sp>
        <p:nvSpPr>
          <p:cNvPr id="145" name="Google Shape;145;p4"/>
          <p:cNvSpPr txBox="1">
            <a:spLocks noGrp="1"/>
          </p:cNvSpPr>
          <p:nvPr>
            <p:ph type="body" idx="1"/>
          </p:nvPr>
        </p:nvSpPr>
        <p:spPr>
          <a:xfrm>
            <a:off x="476844" y="1563624"/>
            <a:ext cx="6541794" cy="4417045"/>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200" dirty="0"/>
              <a:t>Poppet Nozzles</a:t>
            </a:r>
          </a:p>
          <a:p>
            <a:pPr marL="715963" lvl="1" indent="-357188">
              <a:buFont typeface="Arial" panose="020B0604020202020204" pitchFamily="34" charset="0"/>
              <a:buChar char="–"/>
            </a:pPr>
            <a:r>
              <a:rPr lang="en-US" sz="2000" dirty="0"/>
              <a:t>The poppet nozzles are snapped into openings in the lower half of the intake manifold, and the tip of each nozzle directs fuel into an individual intake port.</a:t>
            </a:r>
          </a:p>
          <a:p>
            <a:pPr marL="715963" lvl="1" indent="-357188">
              <a:buFont typeface="Arial" panose="020B0604020202020204" pitchFamily="34" charset="0"/>
              <a:buChar char="–"/>
            </a:pPr>
            <a:r>
              <a:rPr lang="en-US" sz="2000" dirty="0"/>
              <a:t>Each poppet nozzle contains a check ball and seat at the tip of the nozzle.</a:t>
            </a:r>
          </a:p>
          <a:p>
            <a:pPr marL="715963" lvl="1" indent="-357188">
              <a:buFont typeface="Arial" panose="020B0604020202020204" pitchFamily="34" charset="0"/>
              <a:buChar char="–"/>
            </a:pPr>
            <a:r>
              <a:rPr lang="en-US" sz="2000" dirty="0"/>
              <a:t>A spring holds the check ball in the closed position.</a:t>
            </a:r>
          </a:p>
          <a:p>
            <a:pPr marL="715963" lvl="1" indent="-357188">
              <a:buFont typeface="Arial" panose="020B0604020202020204" pitchFamily="34" charset="0"/>
              <a:buChar char="–"/>
            </a:pPr>
            <a:r>
              <a:rPr lang="en-US" sz="2000" dirty="0"/>
              <a:t>When fuel pressure is applied to the nozzles, the pressure forces the check ball to open against spring pressure.</a:t>
            </a:r>
            <a:endParaRPr lang="en-US" sz="2000" b="1" dirty="0"/>
          </a:p>
        </p:txBody>
      </p:sp>
      <p:pic>
        <p:nvPicPr>
          <p:cNvPr id="8" name="Picture Placeholder 7" descr="A series of two illustrations. The first illustration depicts the Poppet nozzle. The second illustration depicts the internal parts of the poppet nozzle labeled as follows: Spring, Seat-nozzle, Ball, and Nylon fuel line.">
            <a:extLst>
              <a:ext uri="{FF2B5EF4-FFF2-40B4-BE49-F238E27FC236}">
                <a16:creationId xmlns:a16="http://schemas.microsoft.com/office/drawing/2014/main" id="{804BA65B-A14C-B605-F709-765807B4664D}"/>
              </a:ext>
            </a:extLst>
          </p:cNvPr>
          <p:cNvPicPr>
            <a:picLocks noGrp="1" noChangeAspect="1"/>
          </p:cNvPicPr>
          <p:nvPr>
            <p:ph type="pic" sz="quarter" idx="12"/>
          </p:nvPr>
        </p:nvPicPr>
        <p:blipFill rotWithShape="1">
          <a:blip r:embed="rId3"/>
          <a:srcRect b="4992"/>
          <a:stretch/>
        </p:blipFill>
        <p:spPr>
          <a:xfrm>
            <a:off x="7671832" y="1721918"/>
            <a:ext cx="3866803" cy="4159898"/>
          </a:xfrm>
          <a:prstGeom prst="rect">
            <a:avLst/>
          </a:prstGeom>
        </p:spPr>
      </p:pic>
    </p:spTree>
    <p:extLst>
      <p:ext uri="{BB962C8B-B14F-4D97-AF65-F5344CB8AC3E}">
        <p14:creationId xmlns:p14="http://schemas.microsoft.com/office/powerpoint/2010/main" val="346625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Gasoline Direct-Injection Systems</a:t>
            </a:r>
            <a:endParaRPr sz="3600" dirty="0"/>
          </a:p>
        </p:txBody>
      </p:sp>
      <p:pic>
        <p:nvPicPr>
          <p:cNvPr id="8" name="Picture Placeholder 7" descr="A typical turbocharged gasoline direct injection equipped engine with several components.">
            <a:extLst>
              <a:ext uri="{FF2B5EF4-FFF2-40B4-BE49-F238E27FC236}">
                <a16:creationId xmlns:a16="http://schemas.microsoft.com/office/drawing/2014/main" id="{15CE7712-75E0-E240-D77F-AB9267293B1E}"/>
              </a:ext>
            </a:extLst>
          </p:cNvPr>
          <p:cNvPicPr>
            <a:picLocks noGrp="1" noChangeAspect="1"/>
          </p:cNvPicPr>
          <p:nvPr>
            <p:ph type="pic" sz="quarter" idx="13"/>
          </p:nvPr>
        </p:nvPicPr>
        <p:blipFill rotWithShape="1">
          <a:blip r:embed="rId3"/>
          <a:srcRect b="12988"/>
          <a:stretch/>
        </p:blipFill>
        <p:spPr>
          <a:xfrm>
            <a:off x="551624" y="2434132"/>
            <a:ext cx="3573605" cy="2644495"/>
          </a:xfrm>
          <a:prstGeom prst="rect">
            <a:avLst/>
          </a:prstGeom>
        </p:spPr>
      </p:pic>
      <p:sp>
        <p:nvSpPr>
          <p:cNvPr id="145" name="Google Shape;145;p4"/>
          <p:cNvSpPr txBox="1">
            <a:spLocks noGrp="1"/>
          </p:cNvSpPr>
          <p:nvPr>
            <p:ph type="body" idx="1"/>
          </p:nvPr>
        </p:nvSpPr>
        <p:spPr>
          <a:xfrm>
            <a:off x="4361935" y="1563624"/>
            <a:ext cx="7356823" cy="4441759"/>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solidFill>
                  <a:schemeClr val="tx1"/>
                </a:solidFill>
              </a:rPr>
              <a:t>30.04 Describe the operation of direct gasoline injection systems.</a:t>
            </a:r>
            <a:endParaRPr lang="en-US" sz="1800" dirty="0">
              <a:solidFill>
                <a:schemeClr val="tx1"/>
              </a:solidFill>
            </a:endParaRPr>
          </a:p>
          <a:p>
            <a:pPr marL="357188" marR="0" lvl="0" indent="-357188" algn="l" rtl="0">
              <a:buSzPct val="100000"/>
              <a:buChar char="•"/>
            </a:pPr>
            <a:r>
              <a:rPr lang="en-US" sz="1800" dirty="0">
                <a:solidFill>
                  <a:schemeClr val="tx1"/>
                </a:solidFill>
              </a:rPr>
              <a:t>With direct injection, highly pressurized fuel is sprayed directly into the cylinders.</a:t>
            </a:r>
          </a:p>
          <a:p>
            <a:pPr marL="357188" marR="0" lvl="0" indent="-357188" algn="l" rtl="0">
              <a:buSzPct val="100000"/>
              <a:buChar char="•"/>
            </a:pPr>
            <a:r>
              <a:rPr lang="en-US" sz="1800" dirty="0">
                <a:solidFill>
                  <a:schemeClr val="tx1"/>
                </a:solidFill>
              </a:rPr>
              <a:t>This type of injection is in use by all auto manufacturers and has many different names.</a:t>
            </a:r>
          </a:p>
          <a:p>
            <a:pPr marL="357188" marR="0" lvl="0" indent="-357188" algn="l" rtl="0">
              <a:buSzPct val="100000"/>
              <a:buChar char="•"/>
            </a:pPr>
            <a:r>
              <a:rPr lang="en-US" sz="1800" dirty="0">
                <a:solidFill>
                  <a:schemeClr val="tx1"/>
                </a:solidFill>
              </a:rPr>
              <a:t>The most commonly used is gasoline direct injection (GDI). </a:t>
            </a:r>
          </a:p>
          <a:p>
            <a:pPr marL="357188" marR="0" lvl="0" indent="-357188" algn="l" rtl="0">
              <a:buSzPct val="100000"/>
              <a:buChar char="•"/>
            </a:pPr>
            <a:r>
              <a:rPr lang="en-US" sz="1800" dirty="0">
                <a:solidFill>
                  <a:schemeClr val="tx1"/>
                </a:solidFill>
              </a:rPr>
              <a:t>This type of system is used by all manufacturers and may be called GDI, fuel stratified injection (FSI), high precision injection, direct injection (DI), or direct injection spark ignition (DISI).</a:t>
            </a:r>
          </a:p>
          <a:p>
            <a:pPr marL="357188" marR="0" lvl="0" indent="-357188" algn="l" rtl="0">
              <a:buSzPct val="100000"/>
              <a:buChar char="•"/>
            </a:pPr>
            <a:r>
              <a:rPr lang="en-US" sz="1800" dirty="0">
                <a:solidFill>
                  <a:schemeClr val="tx1"/>
                </a:solidFill>
              </a:rPr>
              <a:t>The fuel is highly pressurized when it is sprayed into the cylinders.</a:t>
            </a:r>
            <a:endParaRPr lang="en-US" sz="1800" b="1" dirty="0">
              <a:solidFill>
                <a:schemeClr val="tx1"/>
              </a:solidFill>
            </a:endParaRPr>
          </a:p>
        </p:txBody>
      </p:sp>
    </p:spTree>
    <p:extLst>
      <p:ext uri="{BB962C8B-B14F-4D97-AF65-F5344CB8AC3E}">
        <p14:creationId xmlns:p14="http://schemas.microsoft.com/office/powerpoint/2010/main" val="1197155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Injectors </a:t>
            </a:r>
            <a:endParaRPr sz="3600" dirty="0"/>
          </a:p>
        </p:txBody>
      </p:sp>
      <p:pic>
        <p:nvPicPr>
          <p:cNvPr id="8" name="Picture Placeholder 7" descr="A direct injector is placed into the combustion chamber, with the spray of fuel aimed at the spark plug. The labeled parts are spark plug and direct injector.">
            <a:extLst>
              <a:ext uri="{FF2B5EF4-FFF2-40B4-BE49-F238E27FC236}">
                <a16:creationId xmlns:a16="http://schemas.microsoft.com/office/drawing/2014/main" id="{5DE3E697-AE55-B64C-0C6D-5621C58C7988}"/>
              </a:ext>
            </a:extLst>
          </p:cNvPr>
          <p:cNvPicPr>
            <a:picLocks noGrp="1" noChangeAspect="1"/>
          </p:cNvPicPr>
          <p:nvPr>
            <p:ph type="pic" sz="quarter" idx="12"/>
          </p:nvPr>
        </p:nvPicPr>
        <p:blipFill rotWithShape="1">
          <a:blip r:embed="rId3"/>
          <a:srcRect b="12093"/>
          <a:stretch/>
        </p:blipFill>
        <p:spPr>
          <a:xfrm>
            <a:off x="648425" y="2415428"/>
            <a:ext cx="3947483" cy="2675556"/>
          </a:xfrm>
          <a:prstGeom prst="rect">
            <a:avLst/>
          </a:prstGeom>
        </p:spPr>
      </p:pic>
      <p:sp>
        <p:nvSpPr>
          <p:cNvPr id="145" name="Google Shape;145;p4"/>
          <p:cNvSpPr txBox="1">
            <a:spLocks noGrp="1"/>
          </p:cNvSpPr>
          <p:nvPr>
            <p:ph type="body" idx="1"/>
          </p:nvPr>
        </p:nvSpPr>
        <p:spPr>
          <a:xfrm>
            <a:off x="4707924" y="1563625"/>
            <a:ext cx="7010834" cy="4491186"/>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With gasoline direct injection, specially designed injectors deliver the fuel into the high pressures and temperatures in the cylinders.</a:t>
            </a:r>
          </a:p>
          <a:p>
            <a:pPr marL="357188" marR="0" lvl="0" indent="-357188" algn="l" rtl="0">
              <a:buSzPct val="100000"/>
              <a:buChar char="•"/>
            </a:pPr>
            <a:r>
              <a:rPr lang="en-US" sz="2000" dirty="0"/>
              <a:t>To prevent the heat from igniting the fuel in the injector, the injectors are designed to completely seal after the fuel is sprayed.</a:t>
            </a:r>
          </a:p>
          <a:p>
            <a:pPr marL="357188" marR="0" lvl="0" indent="-357188" algn="l" rtl="0">
              <a:buSzPct val="100000"/>
              <a:buChar char="•"/>
            </a:pPr>
            <a:r>
              <a:rPr lang="en-US" sz="2000" dirty="0"/>
              <a:t>The injectors must also be able to spray the fuel at a much higher pressure than what is in the cylinder.</a:t>
            </a:r>
          </a:p>
          <a:p>
            <a:pPr marL="357188" marR="0" lvl="0" indent="-357188" algn="l" rtl="0">
              <a:buSzPct val="100000"/>
              <a:buChar char="•"/>
            </a:pPr>
            <a:r>
              <a:rPr lang="en-US" sz="2000" dirty="0"/>
              <a:t>If this did not happen, the fuel would not enter the cylinder; instead, the cylinder’s pressure would enter the injector.</a:t>
            </a:r>
            <a:endParaRPr lang="en-US" sz="1400" b="1" dirty="0"/>
          </a:p>
        </p:txBody>
      </p:sp>
    </p:spTree>
    <p:extLst>
      <p:ext uri="{BB962C8B-B14F-4D97-AF65-F5344CB8AC3E}">
        <p14:creationId xmlns:p14="http://schemas.microsoft.com/office/powerpoint/2010/main" val="3395091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lvl="0">
              <a:buClr>
                <a:srgbClr val="282F7C"/>
              </a:buClr>
              <a:buSzPts val="2400"/>
              <a:defRPr/>
            </a:pPr>
            <a:r>
              <a:rPr lang="en-US" dirty="0"/>
              <a:t>Gasoline Direct-Injection is drastically different than previous EFI systems because the tips of the injectors are located in the _____ _____?</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D41560DB-CC3B-CB45-0A4E-E5B7E1308E48}"/>
              </a:ext>
            </a:extLst>
          </p:cNvPr>
          <p:cNvSpPr>
            <a:spLocks noGrp="1"/>
          </p:cNvSpPr>
          <p:nvPr>
            <p:ph type="body" idx="1"/>
          </p:nvPr>
        </p:nvSpPr>
        <p:spPr/>
        <p:txBody>
          <a:bodyPr/>
          <a:lstStyle/>
          <a:p>
            <a:pPr marL="457200" lvl="0" indent="-381000">
              <a:buClr>
                <a:srgbClr val="282F7C"/>
              </a:buClr>
              <a:buSzPts val="2400"/>
              <a:defRPr/>
            </a:pPr>
            <a:r>
              <a:rPr lang="en-US" dirty="0"/>
              <a:t>Gasoline Direct-Injection is drastically different than previous EFI systems because the tips of the injectors are located in the </a:t>
            </a:r>
            <a:r>
              <a:rPr lang="en-US" u="sng" dirty="0"/>
              <a:t>combustion chamber</a:t>
            </a:r>
            <a:r>
              <a:rPr lang="en-US"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High-Pressure Fuel Pump</a:t>
            </a:r>
            <a:endParaRPr sz="3600" dirty="0"/>
          </a:p>
        </p:txBody>
      </p:sp>
      <p:sp>
        <p:nvSpPr>
          <p:cNvPr id="145" name="Google Shape;145;p4"/>
          <p:cNvSpPr txBox="1">
            <a:spLocks noGrp="1"/>
          </p:cNvSpPr>
          <p:nvPr>
            <p:ph type="body" idx="1"/>
          </p:nvPr>
        </p:nvSpPr>
        <p:spPr>
          <a:xfrm>
            <a:off x="476844" y="1563624"/>
            <a:ext cx="7468551" cy="4552971"/>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Gasoline is moved from the fuel tank to the engine in a conventional way, which is by an in-tank electric pump.</a:t>
            </a:r>
          </a:p>
          <a:p>
            <a:pPr marL="357188" marR="0" lvl="0" indent="-357188" algn="l" rtl="0">
              <a:buSzPct val="100000"/>
              <a:buChar char="•"/>
            </a:pPr>
            <a:r>
              <a:rPr lang="en-US" sz="2000" dirty="0"/>
              <a:t>The fuel is delivered to a mechanical, high-pressure pump driven by an eccentric on the end of a camshaft.</a:t>
            </a:r>
          </a:p>
          <a:p>
            <a:pPr marL="357188" marR="0" lvl="0" indent="-357188" algn="l" rtl="0">
              <a:buSzPct val="100000"/>
              <a:buChar char="•"/>
            </a:pPr>
            <a:r>
              <a:rPr lang="en-US" sz="2000" dirty="0"/>
              <a:t>This pump supplies fuel to a variable-pressure fuel rail.</a:t>
            </a:r>
          </a:p>
          <a:p>
            <a:pPr marL="357188" marR="0" lvl="0" indent="-357188" algn="l" rtl="0">
              <a:buSzPct val="100000"/>
              <a:buChar char="•"/>
            </a:pPr>
            <a:r>
              <a:rPr lang="en-US" sz="2000" dirty="0"/>
              <a:t>The individual injectors are attached to the rail.</a:t>
            </a:r>
          </a:p>
          <a:p>
            <a:pPr marL="357188" marR="0" lvl="0" indent="-357188" algn="l" rtl="0">
              <a:buSzPct val="100000"/>
              <a:buChar char="•"/>
            </a:pPr>
            <a:r>
              <a:rPr lang="en-US" sz="2000" dirty="0"/>
              <a:t>The pump is a volume-controlled, high-pressure pump.</a:t>
            </a:r>
          </a:p>
          <a:p>
            <a:pPr marL="357188" marR="0" lvl="0" indent="-357188" algn="l" rtl="0">
              <a:buSzPct val="100000"/>
              <a:buChar char="•"/>
            </a:pPr>
            <a:r>
              <a:rPr lang="en-US" sz="2000" dirty="0"/>
              <a:t>It only moves the required amount of fuel to the injectors.</a:t>
            </a:r>
            <a:endParaRPr lang="en-US" sz="2000" b="1" dirty="0"/>
          </a:p>
        </p:txBody>
      </p:sp>
      <p:pic>
        <p:nvPicPr>
          <p:cNvPr id="8" name="Picture Placeholder 7" descr="A typical high-pressure fuel pump for a G D I system moves the fuel to the injectors.">
            <a:extLst>
              <a:ext uri="{FF2B5EF4-FFF2-40B4-BE49-F238E27FC236}">
                <a16:creationId xmlns:a16="http://schemas.microsoft.com/office/drawing/2014/main" id="{9D8EF6B7-5EC9-44AA-B530-71F5B0CAF263}"/>
              </a:ext>
            </a:extLst>
          </p:cNvPr>
          <p:cNvPicPr>
            <a:picLocks noGrp="1" noChangeAspect="1"/>
          </p:cNvPicPr>
          <p:nvPr>
            <p:ph type="pic" sz="quarter" idx="13"/>
          </p:nvPr>
        </p:nvPicPr>
        <p:blipFill rotWithShape="1">
          <a:blip r:embed="rId3"/>
          <a:srcRect b="9076"/>
          <a:stretch/>
        </p:blipFill>
        <p:spPr>
          <a:xfrm>
            <a:off x="8055791" y="2116298"/>
            <a:ext cx="3830333" cy="3703734"/>
          </a:xfrm>
          <a:prstGeom prst="rect">
            <a:avLst/>
          </a:prstGeom>
        </p:spPr>
      </p:pic>
    </p:spTree>
    <p:extLst>
      <p:ext uri="{BB962C8B-B14F-4D97-AF65-F5344CB8AC3E}">
        <p14:creationId xmlns:p14="http://schemas.microsoft.com/office/powerpoint/2010/main" val="1752737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Operational Modes </a:t>
            </a:r>
            <a:endParaRPr sz="3600" dirty="0"/>
          </a:p>
        </p:txBody>
      </p:sp>
      <p:sp>
        <p:nvSpPr>
          <p:cNvPr id="145" name="Google Shape;145;p4"/>
          <p:cNvSpPr txBox="1">
            <a:spLocks noGrp="1"/>
          </p:cNvSpPr>
          <p:nvPr>
            <p:ph type="body" idx="1"/>
          </p:nvPr>
        </p:nvSpPr>
        <p:spPr>
          <a:xfrm>
            <a:off x="476844" y="1563625"/>
            <a:ext cx="6294659" cy="4342906"/>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1800" dirty="0"/>
              <a:t>Most direct-injection systems can operate in three distinct modes: lean burn, stoichiometric, and full power.</a:t>
            </a:r>
          </a:p>
          <a:p>
            <a:pPr marL="357188" lvl="0" indent="-357188">
              <a:buSzPct val="100000"/>
            </a:pPr>
            <a:r>
              <a:rPr lang="en-US" sz="1800" dirty="0"/>
              <a:t>Each of these modes has different air–fuel ratios, injection timing, and pump pressures.</a:t>
            </a:r>
          </a:p>
          <a:p>
            <a:pPr marL="357188" marR="0" lvl="0" indent="-357188" algn="l" rtl="0">
              <a:buSzPct val="100000"/>
              <a:buChar char="•"/>
            </a:pPr>
            <a:r>
              <a:rPr lang="en-US" sz="1800" dirty="0"/>
              <a:t>The PCM chooses the mode based on operating conditions.</a:t>
            </a:r>
          </a:p>
          <a:p>
            <a:pPr marL="357188" marR="0" lvl="0" indent="-357188" algn="l" rtl="0">
              <a:buSzPct val="100000"/>
              <a:buChar char="•"/>
            </a:pPr>
            <a:r>
              <a:rPr lang="en-US" sz="1800" dirty="0"/>
              <a:t>The lean mode relies on a stratified charge for combustion, and the stoichiometric and full-power modes rely on a homogeneous mixture, which means that the air and fuel are well mixed.</a:t>
            </a:r>
          </a:p>
          <a:p>
            <a:pPr marL="357188" marR="0" lvl="0" indent="-357188" algn="l" rtl="0">
              <a:buSzPct val="100000"/>
              <a:buChar char="•"/>
            </a:pPr>
            <a:r>
              <a:rPr lang="en-US" sz="1800" dirty="0"/>
              <a:t>The systems also have a limp-home mode if the PCM detects a problem with the system.</a:t>
            </a:r>
            <a:endParaRPr lang="en-US" sz="1800" b="1" dirty="0"/>
          </a:p>
        </p:txBody>
      </p:sp>
      <p:pic>
        <p:nvPicPr>
          <p:cNvPr id="8" name="Picture Placeholder 7" descr="A panel of two illustrations. The first illustration depicts a G D I system in stratified mode. The second illustration depicts a G D I system in homogeneous mode.">
            <a:extLst>
              <a:ext uri="{FF2B5EF4-FFF2-40B4-BE49-F238E27FC236}">
                <a16:creationId xmlns:a16="http://schemas.microsoft.com/office/drawing/2014/main" id="{02FA82BC-71CF-BE38-7092-676A478D49EF}"/>
              </a:ext>
            </a:extLst>
          </p:cNvPr>
          <p:cNvPicPr>
            <a:picLocks noGrp="1" noChangeAspect="1"/>
          </p:cNvPicPr>
          <p:nvPr>
            <p:ph type="pic" sz="quarter" idx="13"/>
          </p:nvPr>
        </p:nvPicPr>
        <p:blipFill rotWithShape="1">
          <a:blip r:embed="rId3"/>
          <a:srcRect b="6509"/>
          <a:stretch/>
        </p:blipFill>
        <p:spPr>
          <a:xfrm>
            <a:off x="7183983" y="2236574"/>
            <a:ext cx="4687073" cy="2483708"/>
          </a:xfrm>
          <a:prstGeom prst="rect">
            <a:avLst/>
          </a:prstGeom>
        </p:spPr>
      </p:pic>
    </p:spTree>
    <p:extLst>
      <p:ext uri="{BB962C8B-B14F-4D97-AF65-F5344CB8AC3E}">
        <p14:creationId xmlns:p14="http://schemas.microsoft.com/office/powerpoint/2010/main" val="307822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Compression Ratios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buSzPct val="100000"/>
            </a:pPr>
            <a:r>
              <a:rPr lang="en-US" sz="1800" dirty="0"/>
              <a:t>The ability of a direct injection to change air–fuel ratios and injection timing over a wide range also allows it to eliminate most conditions that would cause engine knock.</a:t>
            </a:r>
          </a:p>
          <a:p>
            <a:pPr marL="357188" marR="0" lvl="0" indent="-357188" algn="l" rtl="0">
              <a:buSzPct val="100000"/>
              <a:buChar char="•"/>
            </a:pPr>
            <a:r>
              <a:rPr lang="en-US" sz="1800" dirty="0"/>
              <a:t>This means GDI engines can operate at higher compression ratios without requiring the use of high-octane gasoline.</a:t>
            </a:r>
          </a:p>
          <a:p>
            <a:pPr marL="357188" marR="0" lvl="0" indent="-357188" algn="l" rtl="0">
              <a:buSzPct val="100000"/>
              <a:buChar char="•"/>
            </a:pPr>
            <a:r>
              <a:rPr lang="en-US" sz="1800" dirty="0"/>
              <a:t>The benefit of high compression is simply higher compression extracts more energy from each droplet of fuel.</a:t>
            </a:r>
          </a:p>
          <a:p>
            <a:pPr marL="357188" marR="0" lvl="0" indent="-357188" algn="l" rtl="0">
              <a:buSzPct val="100000"/>
              <a:buChar char="•"/>
            </a:pPr>
            <a:r>
              <a:rPr lang="en-US" sz="1800" dirty="0"/>
              <a:t>Therefore, running higher compression ratios provides increased engine horsepower and torque without consuming more fuel.</a:t>
            </a:r>
          </a:p>
          <a:p>
            <a:pPr marL="357188" marR="0" lvl="0" indent="-357188" algn="l" rtl="0">
              <a:buSzPct val="100000"/>
              <a:buChar char="•"/>
            </a:pPr>
            <a:r>
              <a:rPr lang="en-US" sz="1800" dirty="0"/>
              <a:t>Higher compression ratios are also possible because the small droplets of fuel injected directly into the cylinder tend to cool the mixture in the cylinder.</a:t>
            </a:r>
          </a:p>
          <a:p>
            <a:pPr marL="357188" marR="0" lvl="0" indent="-357188" algn="l" rtl="0">
              <a:buSzPct val="100000"/>
              <a:buChar char="•"/>
            </a:pPr>
            <a:r>
              <a:rPr lang="en-US" sz="1800" dirty="0"/>
              <a:t>This cooling makes the mixture denser, means more power can be produced, and makes the mixture less likely to detonate.</a:t>
            </a:r>
            <a:endParaRPr lang="en-US" sz="1800" b="1" dirty="0"/>
          </a:p>
        </p:txBody>
      </p:sp>
    </p:spTree>
    <p:extLst>
      <p:ext uri="{BB962C8B-B14F-4D97-AF65-F5344CB8AC3E}">
        <p14:creationId xmlns:p14="http://schemas.microsoft.com/office/powerpoint/2010/main" val="1214294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Advantages of GDI</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200" dirty="0"/>
              <a:t>When compared to other injection systems, direct injection has the following advantages:</a:t>
            </a:r>
          </a:p>
          <a:p>
            <a:pPr marL="715963" lvl="1" indent="-357188">
              <a:buFont typeface="Arial" panose="020B0604020202020204" pitchFamily="34" charset="0"/>
              <a:buChar char="–"/>
            </a:pPr>
            <a:r>
              <a:rPr lang="en-US" sz="2000" dirty="0"/>
              <a:t>Increases fuel efficiency</a:t>
            </a:r>
          </a:p>
          <a:p>
            <a:pPr marL="715963" lvl="1" indent="-357188">
              <a:buFont typeface="Arial" panose="020B0604020202020204" pitchFamily="34" charset="0"/>
              <a:buChar char="–"/>
            </a:pPr>
            <a:r>
              <a:rPr lang="en-US" sz="2000" dirty="0"/>
              <a:t>Provides higher power output</a:t>
            </a:r>
          </a:p>
          <a:p>
            <a:pPr marL="715963" lvl="1" indent="-357188">
              <a:buFont typeface="Arial" panose="020B0604020202020204" pitchFamily="34" charset="0"/>
              <a:buChar char="–"/>
            </a:pPr>
            <a:r>
              <a:rPr lang="en-US" sz="2000" dirty="0"/>
              <a:t>Increases the engine’s volumetric efficiency</a:t>
            </a:r>
          </a:p>
          <a:p>
            <a:pPr marL="715963" lvl="1" indent="-357188">
              <a:buFont typeface="Arial" panose="020B0604020202020204" pitchFamily="34" charset="0"/>
              <a:buChar char="–"/>
            </a:pPr>
            <a:r>
              <a:rPr lang="en-US" sz="2000" dirty="0"/>
              <a:t>Lowers engine thermal losses</a:t>
            </a:r>
          </a:p>
          <a:p>
            <a:pPr marL="715963" lvl="1" indent="-357188">
              <a:buFont typeface="Arial" panose="020B0604020202020204" pitchFamily="34" charset="0"/>
              <a:buChar char="–"/>
            </a:pPr>
            <a:r>
              <a:rPr lang="en-US" sz="2000" dirty="0"/>
              <a:t>Decreases emissions (NOx may increase if combustion temperatures go too high.) </a:t>
            </a:r>
          </a:p>
          <a:p>
            <a:pPr marL="715963" lvl="1" indent="-357188">
              <a:buFont typeface="Arial" panose="020B0604020202020204" pitchFamily="34" charset="0"/>
              <a:buChar char="–"/>
            </a:pPr>
            <a:r>
              <a:rPr lang="en-US" sz="2000" dirty="0"/>
              <a:t>Allows the engine to have high compression without the need to use high-octane fuel</a:t>
            </a:r>
          </a:p>
          <a:p>
            <a:pPr marL="715963" lvl="1" indent="-357188">
              <a:buFont typeface="Arial" panose="020B0604020202020204" pitchFamily="34" charset="0"/>
              <a:buChar char="–"/>
            </a:pPr>
            <a:r>
              <a:rPr lang="en-US" sz="2000" dirty="0"/>
              <a:t>Reduces most of the turbo lag when used with a turbocharger</a:t>
            </a:r>
            <a:endParaRPr lang="en-US" sz="2000" b="1" dirty="0"/>
          </a:p>
        </p:txBody>
      </p:sp>
    </p:spTree>
    <p:extLst>
      <p:ext uri="{BB962C8B-B14F-4D97-AF65-F5344CB8AC3E}">
        <p14:creationId xmlns:p14="http://schemas.microsoft.com/office/powerpoint/2010/main" val="1757519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Disadvantages of GDI </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1800" dirty="0"/>
              <a:t>Several disadvantages of GDI systems are carbon build up on the intake valves and injectors and repair costs.</a:t>
            </a:r>
          </a:p>
          <a:p>
            <a:pPr marL="357188" marR="0" lvl="0" indent="-357188" algn="l" rtl="0">
              <a:spcAft>
                <a:spcPts val="400"/>
              </a:spcAft>
              <a:buSzPct val="100000"/>
              <a:buChar char="•"/>
            </a:pPr>
            <a:r>
              <a:rPr lang="en-US" sz="1800" dirty="0"/>
              <a:t>With traditional PFI systems, fuel from the injectors helps to keep the backside of the intake valves clean from carbon build up.</a:t>
            </a:r>
          </a:p>
          <a:p>
            <a:pPr marL="357188" marR="0" lvl="0" indent="-357188" algn="l" rtl="0">
              <a:spcAft>
                <a:spcPts val="400"/>
              </a:spcAft>
              <a:buSzPct val="100000"/>
              <a:buChar char="•"/>
            </a:pPr>
            <a:r>
              <a:rPr lang="en-US" sz="1800" dirty="0"/>
              <a:t>Because fuel does not flow past the intake valves on GDI systems, carbon begins to build up, which can lead to driveability concerns such as:</a:t>
            </a:r>
          </a:p>
          <a:p>
            <a:pPr marL="715963" lvl="1" indent="-357188">
              <a:spcAft>
                <a:spcPts val="400"/>
              </a:spcAft>
              <a:buFont typeface="Arial" panose="020B0604020202020204" pitchFamily="34" charset="0"/>
              <a:buChar char="–"/>
            </a:pPr>
            <a:r>
              <a:rPr lang="en-US" sz="1600" dirty="0"/>
              <a:t>Loss of power under acceleration and higher speeds</a:t>
            </a:r>
          </a:p>
          <a:p>
            <a:pPr marL="715963" lvl="1" indent="-357188">
              <a:spcAft>
                <a:spcPts val="400"/>
              </a:spcAft>
              <a:buFont typeface="Arial" panose="020B0604020202020204" pitchFamily="34" charset="0"/>
              <a:buChar char="–"/>
            </a:pPr>
            <a:r>
              <a:rPr lang="en-US" sz="1600" dirty="0"/>
              <a:t>Cold engine stalling</a:t>
            </a:r>
          </a:p>
          <a:p>
            <a:pPr marL="715963" lvl="1" indent="-357188">
              <a:spcAft>
                <a:spcPts val="400"/>
              </a:spcAft>
              <a:buFont typeface="Arial" panose="020B0604020202020204" pitchFamily="34" charset="0"/>
              <a:buChar char="–"/>
            </a:pPr>
            <a:r>
              <a:rPr lang="en-US" sz="1600" dirty="0"/>
              <a:t>Misfires and rough running</a:t>
            </a:r>
          </a:p>
          <a:p>
            <a:pPr marL="715963" lvl="1" indent="-357188">
              <a:spcAft>
                <a:spcPts val="400"/>
              </a:spcAft>
              <a:buFont typeface="Arial" panose="020B0604020202020204" pitchFamily="34" charset="0"/>
              <a:buChar char="–"/>
            </a:pPr>
            <a:r>
              <a:rPr lang="en-US" sz="1600" dirty="0"/>
              <a:t>Reduced fuel economy</a:t>
            </a:r>
          </a:p>
          <a:p>
            <a:pPr marL="357188" indent="-357188">
              <a:spcAft>
                <a:spcPts val="400"/>
              </a:spcAft>
              <a:buSzPct val="100000"/>
            </a:pPr>
            <a:r>
              <a:rPr lang="en-US" sz="1800" dirty="0"/>
              <a:t>When work needs to be performed on the high-pressure system, the steel lines that connect the injectors and pump to the fuel rail must be replaced when removed.</a:t>
            </a:r>
          </a:p>
          <a:p>
            <a:pPr marL="357188" indent="-357188">
              <a:spcAft>
                <a:spcPts val="400"/>
              </a:spcAft>
              <a:buSzPct val="100000"/>
            </a:pPr>
            <a:r>
              <a:rPr lang="en-US" sz="1800" dirty="0"/>
              <a:t>The fittings are designed for onetime use, and leaks can occur if reused.</a:t>
            </a:r>
            <a:endParaRPr lang="en-US" sz="1800" b="1" dirty="0"/>
          </a:p>
        </p:txBody>
      </p:sp>
    </p:spTree>
    <p:extLst>
      <p:ext uri="{BB962C8B-B14F-4D97-AF65-F5344CB8AC3E}">
        <p14:creationId xmlns:p14="http://schemas.microsoft.com/office/powerpoint/2010/main" val="1509195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GDI Plus SFI</a:t>
            </a:r>
            <a:endParaRPr sz="3600" dirty="0"/>
          </a:p>
        </p:txBody>
      </p:sp>
      <p:sp>
        <p:nvSpPr>
          <p:cNvPr id="145" name="Google Shape;145;p4"/>
          <p:cNvSpPr txBox="1">
            <a:spLocks noGrp="1"/>
          </p:cNvSpPr>
          <p:nvPr>
            <p:ph type="body" idx="1"/>
          </p:nvPr>
        </p:nvSpPr>
        <p:spPr>
          <a:xfrm>
            <a:off x="476843" y="1563625"/>
            <a:ext cx="7690973" cy="4466472"/>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1800" dirty="0"/>
              <a:t>Some engines use a combination of direct and indirect injection. Each cylinder has two injectors: one at the intake port and the other directly in the cylinder.</a:t>
            </a:r>
          </a:p>
          <a:p>
            <a:pPr marL="357188" marR="0" lvl="0" indent="-357188" algn="l" rtl="0">
              <a:buSzPct val="100000"/>
              <a:buChar char="•"/>
            </a:pPr>
            <a:r>
              <a:rPr lang="en-US" sz="1800" dirty="0"/>
              <a:t>Both sets of injectors work in the same way as they would in a normal setup.</a:t>
            </a:r>
          </a:p>
          <a:p>
            <a:pPr marL="357188" marR="0" lvl="0" indent="-357188" algn="l" rtl="0">
              <a:buSzPct val="100000"/>
              <a:buChar char="•"/>
            </a:pPr>
            <a:r>
              <a:rPr lang="en-US" sz="1800" dirty="0"/>
              <a:t>However, the PCM shuts down the port injection when it is not needed.</a:t>
            </a:r>
          </a:p>
          <a:p>
            <a:pPr marL="357188" marR="0" lvl="0" indent="-357188" algn="l" rtl="0">
              <a:buSzPct val="100000"/>
              <a:buChar char="•"/>
            </a:pPr>
            <a:r>
              <a:rPr lang="en-US" sz="1800" dirty="0"/>
              <a:t>When the engine is cold or running at low to middle speeds with a light load, both injection systems operate.</a:t>
            </a:r>
          </a:p>
          <a:p>
            <a:pPr marL="357188" marR="0" lvl="0" indent="-357188" algn="l" rtl="0">
              <a:buSzPct val="100000"/>
              <a:buChar char="•"/>
            </a:pPr>
            <a:r>
              <a:rPr lang="en-US" sz="1800" dirty="0"/>
              <a:t>During high engine speeds and heavy loads, only direct injection is used.</a:t>
            </a:r>
          </a:p>
          <a:p>
            <a:pPr marL="357188" marR="0" lvl="0" indent="-357188" algn="l" rtl="0">
              <a:buSzPct val="100000"/>
              <a:buChar char="•"/>
            </a:pPr>
            <a:r>
              <a:rPr lang="en-US" sz="1800" dirty="0"/>
              <a:t>During cold starts, the port and direct injectors work together to create a lean stratified.</a:t>
            </a:r>
            <a:endParaRPr lang="en-US" sz="1100" b="1" dirty="0"/>
          </a:p>
        </p:txBody>
      </p:sp>
      <p:pic>
        <p:nvPicPr>
          <p:cNvPr id="8" name="Picture Placeholder 7" descr="A Toyota’s dual system with the parts labeled as follows: Throttle body, Injector (for direct injection) with six ports, Injector (for port injection) with six ports, Solenoid spill valve, High-pressure side fuel pump, Camshaft, Fuel pump resistor, Fuel pump relay, Fuel pump, and Fuel tank. The connections for the dual system are depicted as follows: the throttle body is connected to the Injector (for direct injection) and Injector (for port injection). The ports in the Injector (for port injection) are connected to E C M and the ports in the Injector (for direct injection) are connected to the Injector driver (E D U) that is further connected to the solenoid spill valve in the High-pressure side fuel pump. The camshaft is connected below the high-pressure side fuel pump. The Injector driver (E D U) is connected to E C M and again the E C M is connected to the Injector driver (E D U). The E C M is also connected to the Fuel pump relay, which is further connected to one end of the Fuel pump resistor and positive charge in a battery. The Fuel pump resistor and Fuel pump relay combined are connected to the fuel pump in a fuel tank. The negative charge of the battery is connected to the ground connection.">
            <a:extLst>
              <a:ext uri="{FF2B5EF4-FFF2-40B4-BE49-F238E27FC236}">
                <a16:creationId xmlns:a16="http://schemas.microsoft.com/office/drawing/2014/main" id="{1451C50E-732D-8084-75A5-A87CBA740DC4}"/>
              </a:ext>
            </a:extLst>
          </p:cNvPr>
          <p:cNvPicPr>
            <a:picLocks noGrp="1" noChangeAspect="1"/>
          </p:cNvPicPr>
          <p:nvPr>
            <p:ph type="pic" sz="quarter" idx="13"/>
          </p:nvPr>
        </p:nvPicPr>
        <p:blipFill rotWithShape="1">
          <a:blip r:embed="rId3"/>
          <a:srcRect b="5628"/>
          <a:stretch/>
        </p:blipFill>
        <p:spPr>
          <a:xfrm>
            <a:off x="8454721" y="1779374"/>
            <a:ext cx="3503957" cy="3620530"/>
          </a:xfrm>
          <a:prstGeom prst="rect">
            <a:avLst/>
          </a:prstGeom>
        </p:spPr>
      </p:pic>
    </p:spTree>
    <p:extLst>
      <p:ext uri="{BB962C8B-B14F-4D97-AF65-F5344CB8AC3E}">
        <p14:creationId xmlns:p14="http://schemas.microsoft.com/office/powerpoint/2010/main" val="4238294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SzPts val="2400"/>
              <a:buChar char="•"/>
            </a:pPr>
            <a:r>
              <a:rPr lang="en-US" dirty="0"/>
              <a:t>You have learned much about GDI systems.</a:t>
            </a:r>
          </a:p>
          <a:p>
            <a:pPr marL="358775" lvl="0" indent="-358775" algn="l" rtl="0">
              <a:lnSpc>
                <a:spcPct val="100000"/>
              </a:lnSpc>
              <a:buSzPts val="2400"/>
              <a:buChar char="•"/>
            </a:pPr>
            <a:r>
              <a:rPr lang="en-US" dirty="0"/>
              <a:t>Have a class discussion about the advantages and disadvantages, and how GDI plus SFI has helped.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consider your understanding of EFI systems after this chapter. Then respond to the following questions in one or two paragraphs. Use 150</a:t>
            </a:r>
            <a:r>
              <a:rPr lang="en-US" dirty="0">
                <a:solidFill>
                  <a:srgbClr val="FF0000"/>
                </a:solidFill>
              </a:rPr>
              <a:t>–</a:t>
            </a:r>
            <a:r>
              <a:rPr lang="en-US" dirty="0"/>
              <a:t>200 words in your reflection.</a:t>
            </a:r>
            <a:endParaRPr dirty="0"/>
          </a:p>
          <a:p>
            <a:pPr marL="360363" lvl="0" indent="-360363" algn="l" rtl="0">
              <a:lnSpc>
                <a:spcPct val="100000"/>
              </a:lnSpc>
              <a:buSzPct val="100000"/>
              <a:buFont typeface="Arial"/>
              <a:buChar char="•"/>
            </a:pPr>
            <a:r>
              <a:rPr lang="en-US" dirty="0"/>
              <a:t>Were there any concepts about EFI that you found difficult to understand? What will you do to ensure you understand them?</a:t>
            </a:r>
            <a:endParaRPr dirty="0"/>
          </a:p>
          <a:p>
            <a:pPr marL="360363" lvl="0" indent="-360363" algn="l" rtl="0">
              <a:lnSpc>
                <a:spcPct val="100000"/>
              </a:lnSpc>
              <a:buSzPct val="100000"/>
              <a:buFont typeface="Arial"/>
              <a:buChar char="•"/>
            </a:pPr>
            <a:r>
              <a:rPr lang="en-US" dirty="0"/>
              <a:t>Considering all you have learned about EFI, do you feel prepared to perform diagnosis and service in a shop or lab setting? What will you do to be better prepared?</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11495</TotalTime>
  <Words>3389</Words>
  <Application>Microsoft Office PowerPoint</Application>
  <PresentationFormat>Widescreen</PresentationFormat>
  <Paragraphs>205</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Work Sans</vt:lpstr>
      <vt:lpstr>Optimized Template Master</vt:lpstr>
      <vt:lpstr>Automotive Technology: A Systems Approach, 8e</vt:lpstr>
      <vt:lpstr>Chapter Objectives </vt:lpstr>
      <vt:lpstr>Basic EFI</vt:lpstr>
      <vt:lpstr>Fuel Injectors</vt:lpstr>
      <vt:lpstr>Idle Speed Control </vt:lpstr>
      <vt:lpstr>Inputs</vt:lpstr>
      <vt:lpstr>Knowledge Check (1 of 2)</vt:lpstr>
      <vt:lpstr>Knowledge Check Answer (1 of 2)</vt:lpstr>
      <vt:lpstr>Operational Modes</vt:lpstr>
      <vt:lpstr>Run Mode </vt:lpstr>
      <vt:lpstr>Acceleration Mode</vt:lpstr>
      <vt:lpstr>Fuel Trim</vt:lpstr>
      <vt:lpstr>Throttle Body Injection (TBI)</vt:lpstr>
      <vt:lpstr>Port Fuel Injection (PFI)</vt:lpstr>
      <vt:lpstr>MPI Systems</vt:lpstr>
      <vt:lpstr>Sequential Fuel Injection</vt:lpstr>
      <vt:lpstr>Throttle Body</vt:lpstr>
      <vt:lpstr>Fuel Delivery</vt:lpstr>
      <vt:lpstr>Pressure Regulators</vt:lpstr>
      <vt:lpstr>Returnless Systems</vt:lpstr>
      <vt:lpstr>Throttle-by-Wire Systems</vt:lpstr>
      <vt:lpstr>Central Port Injection (CPI) (1 of 2)</vt:lpstr>
      <vt:lpstr>Central Port Injection (CPI) (2 of 2)</vt:lpstr>
      <vt:lpstr>Gasoline Direct-Injection Systems</vt:lpstr>
      <vt:lpstr>Injectors </vt:lpstr>
      <vt:lpstr>Knowledge Check (2 of 2)</vt:lpstr>
      <vt:lpstr>Knowledge Check Answer (2 of 2)</vt:lpstr>
      <vt:lpstr>High-Pressure Fuel Pump</vt:lpstr>
      <vt:lpstr>Operational Modes </vt:lpstr>
      <vt:lpstr>Compression Ratios</vt:lpstr>
      <vt:lpstr>Advantages of GDI</vt:lpstr>
      <vt:lpstr>Disadvantages of GDI </vt:lpstr>
      <vt:lpstr>GDI Plus SFI</vt:lpstr>
      <vt:lpstr>Discussion</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243</cp:revision>
  <dcterms:created xsi:type="dcterms:W3CDTF">2021-12-10T16:21:02Z</dcterms:created>
  <dcterms:modified xsi:type="dcterms:W3CDTF">2024-11-20T06:55:17Z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