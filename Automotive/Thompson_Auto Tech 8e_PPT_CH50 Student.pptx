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54"/>
  </p:notesMasterIdLst>
  <p:sldIdLst>
    <p:sldId id="341" r:id="rId3"/>
    <p:sldId id="342" r:id="rId4"/>
    <p:sldId id="343" r:id="rId5"/>
    <p:sldId id="258" r:id="rId6"/>
    <p:sldId id="259" r:id="rId7"/>
    <p:sldId id="261" r:id="rId8"/>
    <p:sldId id="264" r:id="rId9"/>
    <p:sldId id="266" r:id="rId10"/>
    <p:sldId id="268" r:id="rId11"/>
    <p:sldId id="269" r:id="rId12"/>
    <p:sldId id="270" r:id="rId13"/>
    <p:sldId id="271" r:id="rId14"/>
    <p:sldId id="273" r:id="rId15"/>
    <p:sldId id="276" r:id="rId16"/>
    <p:sldId id="344" r:id="rId17"/>
    <p:sldId id="278" r:id="rId18"/>
    <p:sldId id="280" r:id="rId19"/>
    <p:sldId id="281" r:id="rId20"/>
    <p:sldId id="282" r:id="rId21"/>
    <p:sldId id="284" r:id="rId22"/>
    <p:sldId id="286" r:id="rId23"/>
    <p:sldId id="287" r:id="rId24"/>
    <p:sldId id="289" r:id="rId25"/>
    <p:sldId id="291" r:id="rId26"/>
    <p:sldId id="293" r:id="rId27"/>
    <p:sldId id="294" r:id="rId28"/>
    <p:sldId id="297" r:id="rId29"/>
    <p:sldId id="299" r:id="rId30"/>
    <p:sldId id="300" r:id="rId31"/>
    <p:sldId id="306" r:id="rId32"/>
    <p:sldId id="308" r:id="rId33"/>
    <p:sldId id="345" r:id="rId34"/>
    <p:sldId id="309" r:id="rId35"/>
    <p:sldId id="311" r:id="rId36"/>
    <p:sldId id="314" r:id="rId37"/>
    <p:sldId id="315" r:id="rId38"/>
    <p:sldId id="316" r:id="rId39"/>
    <p:sldId id="346" r:id="rId40"/>
    <p:sldId id="317" r:id="rId41"/>
    <p:sldId id="319" r:id="rId42"/>
    <p:sldId id="320" r:id="rId43"/>
    <p:sldId id="321" r:id="rId44"/>
    <p:sldId id="324" r:id="rId45"/>
    <p:sldId id="327" r:id="rId46"/>
    <p:sldId id="328" r:id="rId47"/>
    <p:sldId id="330" r:id="rId48"/>
    <p:sldId id="332" r:id="rId49"/>
    <p:sldId id="333" r:id="rId50"/>
    <p:sldId id="336" r:id="rId51"/>
    <p:sldId id="347" r:id="rId52"/>
    <p:sldId id="334"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03CE61-6FFB-47A3-8618-8DB23E38C786}" v="12" dt="2024-11-22T17:03:35.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4" autoAdjust="0"/>
    <p:restoredTop sz="86331" autoAdjust="0"/>
  </p:normalViewPr>
  <p:slideViewPr>
    <p:cSldViewPr snapToGrid="0" snapToObjects="1" showGuides="1">
      <p:cViewPr varScale="1">
        <p:scale>
          <a:sx n="64" d="100"/>
          <a:sy n="64" d="100"/>
        </p:scale>
        <p:origin x="644" y="40"/>
      </p:cViewPr>
      <p:guideLst>
        <p:guide orient="horz" pos="168"/>
        <p:guide pos="38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2503CE61-6FFB-47A3-8618-8DB23E38C786}"/>
    <pc:docChg chg="modSld">
      <pc:chgData name="venugopal Loganathan" userId="EaSm3crqCl59iHUciktDee7zyU+rF3MDLbCEjhOn3WE=" providerId="None" clId="Web-{2503CE61-6FFB-47A3-8618-8DB23E38C786}" dt="2024-11-22T17:03:35.875" v="10" actId="20577"/>
      <pc:docMkLst>
        <pc:docMk/>
      </pc:docMkLst>
      <pc:sldChg chg="modSp">
        <pc:chgData name="venugopal Loganathan" userId="EaSm3crqCl59iHUciktDee7zyU+rF3MDLbCEjhOn3WE=" providerId="None" clId="Web-{2503CE61-6FFB-47A3-8618-8DB23E38C786}" dt="2024-11-22T17:03:28.094" v="5" actId="20577"/>
        <pc:sldMkLst>
          <pc:docMk/>
          <pc:sldMk cId="3074552647" sldId="342"/>
        </pc:sldMkLst>
        <pc:spChg chg="mod">
          <ac:chgData name="venugopal Loganathan" userId="EaSm3crqCl59iHUciktDee7zyU+rF3MDLbCEjhOn3WE=" providerId="None" clId="Web-{2503CE61-6FFB-47A3-8618-8DB23E38C786}" dt="2024-11-22T17:03:28.094" v="5" actId="20577"/>
          <ac:spMkLst>
            <pc:docMk/>
            <pc:sldMk cId="3074552647" sldId="342"/>
            <ac:spMk id="3" creationId="{15D4BBE1-7CA7-9290-F554-7491DA620046}"/>
          </ac:spMkLst>
        </pc:spChg>
      </pc:sldChg>
      <pc:sldChg chg="modSp">
        <pc:chgData name="venugopal Loganathan" userId="EaSm3crqCl59iHUciktDee7zyU+rF3MDLbCEjhOn3WE=" providerId="None" clId="Web-{2503CE61-6FFB-47A3-8618-8DB23E38C786}" dt="2024-11-22T17:03:35.875" v="10" actId="20577"/>
        <pc:sldMkLst>
          <pc:docMk/>
          <pc:sldMk cId="174425933" sldId="343"/>
        </pc:sldMkLst>
        <pc:spChg chg="mod">
          <ac:chgData name="venugopal Loganathan" userId="EaSm3crqCl59iHUciktDee7zyU+rF3MDLbCEjhOn3WE=" providerId="None" clId="Web-{2503CE61-6FFB-47A3-8618-8DB23E38C786}" dt="2024-11-22T17:03:35.875" v="10" actId="20577"/>
          <ac:spMkLst>
            <pc:docMk/>
            <pc:sldMk cId="174425933" sldId="343"/>
            <ac:spMk id="3" creationId="{15D4BBE1-7CA7-9290-F554-7491DA6200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381000" y="685800"/>
            <a:ext cx="6096000" cy="3429000"/>
          </a:xfrm>
          <a:ln/>
        </p:spPr>
      </p:sp>
      <p:sp>
        <p:nvSpPr>
          <p:cNvPr id="696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586004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20801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580944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42233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98706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45296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502060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29000"/>
          </a:xfrm>
          <a:ln/>
        </p:spPr>
      </p:sp>
      <p:sp>
        <p:nvSpPr>
          <p:cNvPr id="8192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56362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3167D0-1568-461A-976E-57125BAC8FE0}" type="slidenum">
              <a:rPr lang="en-US" smtClean="0"/>
              <a:pPr/>
              <a:t>14</a:t>
            </a:fld>
            <a:endParaRPr lang="en-US" dirty="0"/>
          </a:p>
        </p:txBody>
      </p:sp>
    </p:spTree>
    <p:extLst>
      <p:ext uri="{BB962C8B-B14F-4D97-AF65-F5344CB8AC3E}">
        <p14:creationId xmlns:p14="http://schemas.microsoft.com/office/powerpoint/2010/main" val="1565780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3167D0-1568-461A-976E-57125BAC8FE0}" type="slidenum">
              <a:rPr lang="en-US" smtClean="0"/>
              <a:pPr/>
              <a:t>15</a:t>
            </a:fld>
            <a:endParaRPr lang="en-US" dirty="0"/>
          </a:p>
        </p:txBody>
      </p:sp>
    </p:spTree>
    <p:extLst>
      <p:ext uri="{BB962C8B-B14F-4D97-AF65-F5344CB8AC3E}">
        <p14:creationId xmlns:p14="http://schemas.microsoft.com/office/powerpoint/2010/main" val="564770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93715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28110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p:spPr>
      </p:sp>
      <p:sp>
        <p:nvSpPr>
          <p:cNvPr id="880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36377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30039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381000" y="685800"/>
            <a:ext cx="6096000" cy="3429000"/>
          </a:xfrm>
          <a:ln/>
        </p:spPr>
      </p:sp>
      <p:sp>
        <p:nvSpPr>
          <p:cNvPr id="901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38275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51645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1000" y="685800"/>
            <a:ext cx="6096000" cy="3429000"/>
          </a:xfrm>
          <a:ln/>
        </p:spPr>
      </p:sp>
      <p:sp>
        <p:nvSpPr>
          <p:cNvPr id="931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9649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32011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2C733B-E0FA-F944-BF5E-20E178C2BBF6}" type="slidenum">
              <a:rPr lang="en-US" smtClean="0"/>
              <a:pPr/>
              <a:t>25</a:t>
            </a:fld>
            <a:endParaRPr lang="en-US" dirty="0"/>
          </a:p>
        </p:txBody>
      </p:sp>
    </p:spTree>
    <p:extLst>
      <p:ext uri="{BB962C8B-B14F-4D97-AF65-F5344CB8AC3E}">
        <p14:creationId xmlns:p14="http://schemas.microsoft.com/office/powerpoint/2010/main" val="2997863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45434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85582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44583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89906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81000" y="685800"/>
            <a:ext cx="6096000" cy="3429000"/>
          </a:xfrm>
          <a:ln/>
        </p:spPr>
      </p:sp>
      <p:sp>
        <p:nvSpPr>
          <p:cNvPr id="1064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880708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3167D0-1568-461A-976E-57125BAC8FE0}" type="slidenum">
              <a:rPr lang="en-US" smtClean="0"/>
              <a:pPr/>
              <a:t>31</a:t>
            </a:fld>
            <a:endParaRPr lang="en-US" dirty="0"/>
          </a:p>
        </p:txBody>
      </p:sp>
    </p:spTree>
    <p:extLst>
      <p:ext uri="{BB962C8B-B14F-4D97-AF65-F5344CB8AC3E}">
        <p14:creationId xmlns:p14="http://schemas.microsoft.com/office/powerpoint/2010/main" val="11482298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N</a:t>
            </a:r>
          </a:p>
        </p:txBody>
      </p:sp>
      <p:sp>
        <p:nvSpPr>
          <p:cNvPr id="4" name="Slide Number Placeholder 3"/>
          <p:cNvSpPr>
            <a:spLocks noGrp="1"/>
          </p:cNvSpPr>
          <p:nvPr>
            <p:ph type="sldNum" sz="quarter" idx="10"/>
          </p:nvPr>
        </p:nvSpPr>
        <p:spPr/>
        <p:txBody>
          <a:bodyPr/>
          <a:lstStyle/>
          <a:p>
            <a:fld id="{5B3167D0-1568-461A-976E-57125BAC8FE0}" type="slidenum">
              <a:rPr lang="en-US" smtClean="0"/>
              <a:pPr/>
              <a:t>32</a:t>
            </a:fld>
            <a:endParaRPr lang="en-US" dirty="0"/>
          </a:p>
        </p:txBody>
      </p:sp>
    </p:spTree>
    <p:extLst>
      <p:ext uri="{BB962C8B-B14F-4D97-AF65-F5344CB8AC3E}">
        <p14:creationId xmlns:p14="http://schemas.microsoft.com/office/powerpoint/2010/main" val="3200773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81000" y="685800"/>
            <a:ext cx="6096000" cy="3429000"/>
          </a:xfrm>
          <a:ln/>
        </p:spPr>
      </p:sp>
      <p:sp>
        <p:nvSpPr>
          <p:cNvPr id="1095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39585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381000" y="685800"/>
            <a:ext cx="6096000" cy="3429000"/>
          </a:xfrm>
          <a:ln/>
        </p:spPr>
      </p:sp>
      <p:sp>
        <p:nvSpPr>
          <p:cNvPr id="1105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452096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57228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31964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81000" y="685800"/>
            <a:ext cx="6096000" cy="3429000"/>
          </a:xfrm>
          <a:ln/>
        </p:spPr>
      </p:sp>
      <p:sp>
        <p:nvSpPr>
          <p:cNvPr id="1136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621640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81000" y="685800"/>
            <a:ext cx="6096000" cy="3429000"/>
          </a:xfrm>
          <a:ln/>
        </p:spPr>
      </p:sp>
      <p:sp>
        <p:nvSpPr>
          <p:cNvPr id="1146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328717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381000" y="685800"/>
            <a:ext cx="6096000" cy="3429000"/>
          </a:xfrm>
          <a:ln/>
        </p:spPr>
      </p:sp>
      <p:sp>
        <p:nvSpPr>
          <p:cNvPr id="1167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90356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xfrm>
            <a:off x="381000" y="685800"/>
            <a:ext cx="6096000" cy="3429000"/>
          </a:xfrm>
          <a:ln/>
        </p:spPr>
      </p:sp>
      <p:sp>
        <p:nvSpPr>
          <p:cNvPr id="1177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06557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381000" y="685800"/>
            <a:ext cx="6096000" cy="3429000"/>
          </a:xfrm>
          <a:ln/>
        </p:spPr>
      </p:sp>
      <p:sp>
        <p:nvSpPr>
          <p:cNvPr id="1208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972177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381000" y="685800"/>
            <a:ext cx="6096000" cy="3429000"/>
          </a:xfrm>
          <a:ln/>
        </p:spPr>
      </p:sp>
      <p:sp>
        <p:nvSpPr>
          <p:cNvPr id="1249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931915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381000" y="685800"/>
            <a:ext cx="6096000" cy="3429000"/>
          </a:xfrm>
          <a:ln/>
        </p:spPr>
      </p:sp>
      <p:sp>
        <p:nvSpPr>
          <p:cNvPr id="1259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2293624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381000" y="685800"/>
            <a:ext cx="6096000" cy="3429000"/>
          </a:xfrm>
          <a:ln/>
        </p:spPr>
      </p:sp>
      <p:sp>
        <p:nvSpPr>
          <p:cNvPr id="1290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58780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81000" y="685800"/>
            <a:ext cx="6096000" cy="3429000"/>
          </a:xfrm>
          <a:ln/>
        </p:spPr>
      </p:sp>
      <p:sp>
        <p:nvSpPr>
          <p:cNvPr id="1300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038227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3167D0-1568-461A-976E-57125BAC8FE0}" type="slidenum">
              <a:rPr lang="en-US" smtClean="0"/>
              <a:pPr/>
              <a:t>49</a:t>
            </a:fld>
            <a:endParaRPr lang="en-US" dirty="0"/>
          </a:p>
        </p:txBody>
      </p:sp>
    </p:spTree>
    <p:extLst>
      <p:ext uri="{BB962C8B-B14F-4D97-AF65-F5344CB8AC3E}">
        <p14:creationId xmlns:p14="http://schemas.microsoft.com/office/powerpoint/2010/main" val="13876276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True</a:t>
            </a:r>
          </a:p>
        </p:txBody>
      </p:sp>
      <p:sp>
        <p:nvSpPr>
          <p:cNvPr id="4" name="Slide Number Placeholder 3"/>
          <p:cNvSpPr>
            <a:spLocks noGrp="1"/>
          </p:cNvSpPr>
          <p:nvPr>
            <p:ph type="sldNum" sz="quarter" idx="10"/>
          </p:nvPr>
        </p:nvSpPr>
        <p:spPr/>
        <p:txBody>
          <a:bodyPr/>
          <a:lstStyle/>
          <a:p>
            <a:fld id="{5B3167D0-1568-461A-976E-57125BAC8FE0}" type="slidenum">
              <a:rPr lang="en-US" smtClean="0"/>
              <a:pPr/>
              <a:t>50</a:t>
            </a:fld>
            <a:endParaRPr lang="en-US" dirty="0"/>
          </a:p>
        </p:txBody>
      </p:sp>
    </p:spTree>
    <p:extLst>
      <p:ext uri="{BB962C8B-B14F-4D97-AF65-F5344CB8AC3E}">
        <p14:creationId xmlns:p14="http://schemas.microsoft.com/office/powerpoint/2010/main" val="222718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3736"/>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133567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3736"/>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28083"/>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A572445E-B4B7-2B4F-56DE-DD755DE86439}"/>
              </a:ext>
            </a:extLst>
          </p:cNvPr>
          <p:cNvSpPr>
            <a:spLocks noGrp="1"/>
          </p:cNvSpPr>
          <p:nvPr>
            <p:ph sz="quarter" idx="10"/>
          </p:nvPr>
        </p:nvSpPr>
        <p:spPr>
          <a:xfrm>
            <a:off x="868363" y="44513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ECE9A99E-4D9F-8C3E-31B5-0105A807FDDC}"/>
              </a:ext>
            </a:extLst>
          </p:cNvPr>
          <p:cNvSpPr>
            <a:spLocks noGrp="1"/>
          </p:cNvSpPr>
          <p:nvPr>
            <p:ph type="pic" sz="quarter" idx="11"/>
          </p:nvPr>
        </p:nvSpPr>
        <p:spPr>
          <a:xfrm>
            <a:off x="2955925" y="4535488"/>
            <a:ext cx="914400" cy="914400"/>
          </a:xfrm>
        </p:spPr>
        <p:txBody>
          <a:bodyPr/>
          <a:lstStyle/>
          <a:p>
            <a:endParaRPr lang="en-IN"/>
          </a:p>
        </p:txBody>
      </p:sp>
      <p:sp>
        <p:nvSpPr>
          <p:cNvPr id="7" name="Picture Placeholder 6">
            <a:extLst>
              <a:ext uri="{FF2B5EF4-FFF2-40B4-BE49-F238E27FC236}">
                <a16:creationId xmlns:a16="http://schemas.microsoft.com/office/drawing/2014/main" id="{FA286141-068D-3D61-FD56-AF1C4025373C}"/>
              </a:ext>
            </a:extLst>
          </p:cNvPr>
          <p:cNvSpPr>
            <a:spLocks noGrp="1"/>
          </p:cNvSpPr>
          <p:nvPr>
            <p:ph type="pic" sz="quarter" idx="12"/>
          </p:nvPr>
        </p:nvSpPr>
        <p:spPr>
          <a:xfrm>
            <a:off x="4913313" y="4535488"/>
            <a:ext cx="914400" cy="914400"/>
          </a:xfrm>
        </p:spPr>
        <p:txBody>
          <a:bodyPr/>
          <a:lstStyle/>
          <a:p>
            <a:endParaRPr lang="en-IN"/>
          </a:p>
        </p:txBody>
      </p:sp>
      <p:sp>
        <p:nvSpPr>
          <p:cNvPr id="9" name="Table Placeholder 8">
            <a:extLst>
              <a:ext uri="{FF2B5EF4-FFF2-40B4-BE49-F238E27FC236}">
                <a16:creationId xmlns:a16="http://schemas.microsoft.com/office/drawing/2014/main" id="{EFE10485-6C79-7E45-902E-006632B03E81}"/>
              </a:ext>
            </a:extLst>
          </p:cNvPr>
          <p:cNvSpPr>
            <a:spLocks noGrp="1"/>
          </p:cNvSpPr>
          <p:nvPr>
            <p:ph type="tbl" sz="quarter" idx="13"/>
          </p:nvPr>
        </p:nvSpPr>
        <p:spPr>
          <a:xfrm>
            <a:off x="7389813" y="4535488"/>
            <a:ext cx="914400" cy="914400"/>
          </a:xfrm>
        </p:spPr>
        <p:txBody>
          <a:bodyPr/>
          <a:lstStyle/>
          <a:p>
            <a:endParaRPr lang="en-IN"/>
          </a:p>
        </p:txBody>
      </p:sp>
    </p:spTree>
    <p:extLst>
      <p:ext uri="{BB962C8B-B14F-4D97-AF65-F5344CB8AC3E}">
        <p14:creationId xmlns:p14="http://schemas.microsoft.com/office/powerpoint/2010/main" val="1150649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84977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38269340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943119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1833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689097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273870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91292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206849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702521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50764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22701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84084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53554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3566582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
        <p:nvSpPr>
          <p:cNvPr id="7" name="Content Placeholder 6"/>
          <p:cNvSpPr>
            <a:spLocks noGrp="1"/>
          </p:cNvSpPr>
          <p:nvPr>
            <p:ph sz="quarter" idx="13"/>
          </p:nvPr>
        </p:nvSpPr>
        <p:spPr>
          <a:xfrm>
            <a:off x="609600" y="1639889"/>
            <a:ext cx="10972800" cy="73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909484" y="2905126"/>
            <a:ext cx="1648883" cy="1679575"/>
          </a:xfrm>
        </p:spPr>
        <p:txBody>
          <a:bodyPr/>
          <a:lstStyle/>
          <a:p>
            <a:endParaRPr lang="en-US"/>
          </a:p>
        </p:txBody>
      </p:sp>
      <p:sp>
        <p:nvSpPr>
          <p:cNvPr id="11" name="Picture Placeholder 10"/>
          <p:cNvSpPr>
            <a:spLocks noGrp="1"/>
          </p:cNvSpPr>
          <p:nvPr>
            <p:ph type="pic" sz="quarter" idx="15"/>
          </p:nvPr>
        </p:nvSpPr>
        <p:spPr>
          <a:xfrm>
            <a:off x="7315200" y="2905126"/>
            <a:ext cx="1559984" cy="1679575"/>
          </a:xfrm>
        </p:spPr>
        <p:txBody>
          <a:bodyPr/>
          <a:lstStyle/>
          <a:p>
            <a:endParaRPr lang="en-US"/>
          </a:p>
        </p:txBody>
      </p:sp>
      <p:sp>
        <p:nvSpPr>
          <p:cNvPr id="13" name="Content Placeholder 12"/>
          <p:cNvSpPr>
            <a:spLocks noGrp="1"/>
          </p:cNvSpPr>
          <p:nvPr>
            <p:ph sz="quarter" idx="16"/>
          </p:nvPr>
        </p:nvSpPr>
        <p:spPr>
          <a:xfrm>
            <a:off x="609600" y="4827589"/>
            <a:ext cx="10972800" cy="954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67461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145539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11/22/2024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0">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A77439DA-13D1-2973-5375-4CC911B5CC88}"/>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2632708509"/>
      </p:ext>
    </p:extLst>
  </p:cSld>
  <p:clrMap bg1="lt1" tx1="dk1" bg2="dk2" tx2="lt2" accent1="accent1" accent2="accent2" accent3="accent3" accent4="accent4" accent5="accent5" accent6="accent6" hlink="hlink" folHlink="folHlink"/>
  <p:sldLayoutIdLst>
    <p:sldLayoutId id="2147483686" r:id="rId1"/>
    <p:sldLayoutId id="2147483704"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2" r:id="rId17"/>
    <p:sldLayoutId id="2147483703" r:id="rId1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50: </a:t>
            </a:r>
            <a:r>
              <a:rPr lang="en-US" sz="3200" dirty="0">
                <a:solidFill>
                  <a:srgbClr val="FFFFFF"/>
                </a:solidFill>
                <a:latin typeface="Work Sans" pitchFamily="2" charset="0"/>
                <a:ea typeface="Arial"/>
                <a:cs typeface="Arial"/>
                <a:sym typeface="Arial"/>
              </a:rPr>
              <a:t>Brake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F928-BF39-A8E5-2DF4-5B5421CE8E1F}"/>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15D4BBE1-7CA7-9290-F554-7491DA620046}"/>
              </a:ext>
            </a:extLst>
          </p:cNvPr>
          <p:cNvSpPr>
            <a:spLocks noGrp="1"/>
          </p:cNvSpPr>
          <p:nvPr>
            <p:ph type="body" idx="1"/>
          </p:nvPr>
        </p:nvSpPr>
        <p:spPr/>
        <p:txBody>
          <a:bodyPr/>
          <a:lstStyle/>
          <a:p>
            <a:pPr marL="356870" indent="-356870">
              <a:buClr>
                <a:schemeClr val="bg2"/>
              </a:buClr>
            </a:pPr>
            <a:r>
              <a:rPr lang="en-US" dirty="0">
                <a:solidFill>
                  <a:schemeClr val="tx1"/>
                </a:solidFill>
              </a:rPr>
              <a:t>50.01</a:t>
            </a:r>
            <a:r>
              <a:rPr lang="en-US" sz="2600" dirty="0">
                <a:solidFill>
                  <a:schemeClr val="tx1"/>
                </a:solidFill>
              </a:rPr>
              <a:t> Explain the basic principles of braking, including kinetic and static friction, friction materials, application pressure, and heat dissipation.</a:t>
            </a:r>
            <a:endParaRPr lang="en-US">
              <a:solidFill>
                <a:schemeClr val="tx1"/>
              </a:solidFill>
            </a:endParaRPr>
          </a:p>
          <a:p>
            <a:pPr marL="356870" indent="-356870">
              <a:buClr>
                <a:schemeClr val="bg2"/>
              </a:buClr>
            </a:pPr>
            <a:r>
              <a:rPr lang="en-US" dirty="0">
                <a:solidFill>
                  <a:schemeClr val="tx1"/>
                </a:solidFill>
              </a:rPr>
              <a:t>50.02</a:t>
            </a:r>
            <a:r>
              <a:rPr lang="en-US" sz="2600" dirty="0">
                <a:solidFill>
                  <a:schemeClr val="tx1"/>
                </a:solidFill>
              </a:rPr>
              <a:t> Describe the components of a hydraulic brake system and their operation, including brake lines and hoses, master cylinders, system control valves, and safety switches.</a:t>
            </a:r>
          </a:p>
          <a:p>
            <a:pPr marL="356870" indent="-356870">
              <a:buClr>
                <a:schemeClr val="bg2"/>
              </a:buClr>
            </a:pPr>
            <a:r>
              <a:rPr lang="en-US" dirty="0">
                <a:solidFill>
                  <a:schemeClr val="tx1"/>
                </a:solidFill>
              </a:rPr>
              <a:t>50.03</a:t>
            </a:r>
            <a:r>
              <a:rPr lang="en-US" sz="2600" dirty="0">
                <a:solidFill>
                  <a:schemeClr val="tx1"/>
                </a:solidFill>
              </a:rPr>
              <a:t> Describe the operation of drum and disc brakes.</a:t>
            </a:r>
          </a:p>
        </p:txBody>
      </p:sp>
    </p:spTree>
    <p:extLst>
      <p:ext uri="{BB962C8B-B14F-4D97-AF65-F5344CB8AC3E}">
        <p14:creationId xmlns:p14="http://schemas.microsoft.com/office/powerpoint/2010/main" val="307455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F928-BF39-A8E5-2DF4-5B5421CE8E1F}"/>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15D4BBE1-7CA7-9290-F554-7491DA620046}"/>
              </a:ext>
            </a:extLst>
          </p:cNvPr>
          <p:cNvSpPr>
            <a:spLocks noGrp="1"/>
          </p:cNvSpPr>
          <p:nvPr>
            <p:ph type="body" idx="1"/>
          </p:nvPr>
        </p:nvSpPr>
        <p:spPr/>
        <p:txBody>
          <a:bodyPr/>
          <a:lstStyle/>
          <a:p>
            <a:pPr marL="356870" indent="-356870"/>
            <a:r>
              <a:rPr lang="en-US">
                <a:solidFill>
                  <a:schemeClr val="tx1"/>
                </a:solidFill>
              </a:rPr>
              <a:t>50.04</a:t>
            </a:r>
            <a:r>
              <a:rPr lang="en-US" sz="2600">
                <a:solidFill>
                  <a:schemeClr val="tx1"/>
                </a:solidFill>
              </a:rPr>
              <a:t> Perform both manual and pressure bleeding of the </a:t>
            </a:r>
            <a:r>
              <a:rPr lang="en-US" sz="2600" dirty="0">
                <a:solidFill>
                  <a:schemeClr val="tx1"/>
                </a:solidFill>
              </a:rPr>
              <a:t>hydraulic system.</a:t>
            </a:r>
            <a:endParaRPr lang="en-US">
              <a:solidFill>
                <a:schemeClr val="tx1"/>
              </a:solidFill>
            </a:endParaRPr>
          </a:p>
          <a:p>
            <a:pPr marL="356870" indent="-356870"/>
            <a:r>
              <a:rPr lang="en-US">
                <a:solidFill>
                  <a:schemeClr val="tx1"/>
                </a:solidFill>
              </a:rPr>
              <a:t>50.05</a:t>
            </a:r>
            <a:r>
              <a:rPr lang="en-US" sz="2600">
                <a:solidFill>
                  <a:schemeClr val="tx1"/>
                </a:solidFill>
              </a:rPr>
              <a:t> Inspect and service hydraulic system components.</a:t>
            </a:r>
          </a:p>
          <a:p>
            <a:pPr marL="356870" indent="-356870"/>
            <a:r>
              <a:rPr lang="en-US">
                <a:solidFill>
                  <a:schemeClr val="tx1"/>
                </a:solidFill>
              </a:rPr>
              <a:t>50.06</a:t>
            </a:r>
            <a:r>
              <a:rPr lang="en-US" sz="2600">
                <a:solidFill>
                  <a:schemeClr val="tx1"/>
                </a:solidFill>
              </a:rPr>
              <a:t> Describe the operation and components of power-assist </a:t>
            </a:r>
            <a:r>
              <a:rPr lang="en-US" sz="2600" dirty="0">
                <a:solidFill>
                  <a:schemeClr val="tx1"/>
                </a:solidFill>
              </a:rPr>
              <a:t>braking units.</a:t>
            </a:r>
          </a:p>
        </p:txBody>
      </p:sp>
    </p:spTree>
    <p:extLst>
      <p:ext uri="{BB962C8B-B14F-4D97-AF65-F5344CB8AC3E}">
        <p14:creationId xmlns:p14="http://schemas.microsoft.com/office/powerpoint/2010/main" val="174425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Friction (1 of 2)</a:t>
            </a:r>
          </a:p>
        </p:txBody>
      </p:sp>
      <p:sp>
        <p:nvSpPr>
          <p:cNvPr id="5123" name="Content Placeholder 3"/>
          <p:cNvSpPr>
            <a:spLocks noGrp="1" noChangeArrowheads="1"/>
          </p:cNvSpPr>
          <p:nvPr>
            <p:ph type="body" idx="1"/>
          </p:nvPr>
        </p:nvSpPr>
        <p:spPr/>
        <p:txBody>
          <a:bodyPr/>
          <a:lstStyle/>
          <a:p>
            <a:pPr marL="85725" indent="0">
              <a:buNone/>
            </a:pPr>
            <a:r>
              <a:rPr lang="en-US" b="1" dirty="0">
                <a:solidFill>
                  <a:schemeClr val="tx1"/>
                </a:solidFill>
                <a:latin typeface="Work Sans" pitchFamily="2" charset="0"/>
              </a:rPr>
              <a:t>50-01 Explain the basic principles of braking, including kinetic and static friction, friction materials, application pressure, and heat dissipation.</a:t>
            </a:r>
          </a:p>
          <a:p>
            <a:r>
              <a:rPr lang="en-US" sz="2600" dirty="0">
                <a:solidFill>
                  <a:schemeClr val="tx1"/>
                </a:solidFill>
              </a:rPr>
              <a:t>Kinetic Friction</a:t>
            </a:r>
          </a:p>
          <a:p>
            <a:pPr marL="720725" lvl="1" indent="-365125"/>
            <a:r>
              <a:rPr lang="en-US" dirty="0">
                <a:solidFill>
                  <a:schemeClr val="tx1"/>
                </a:solidFill>
              </a:rPr>
              <a:t>Is caused by rotating brake parts</a:t>
            </a:r>
          </a:p>
          <a:p>
            <a:pPr marL="720725" lvl="1" indent="-365125"/>
            <a:r>
              <a:rPr lang="en-US" dirty="0">
                <a:solidFill>
                  <a:schemeClr val="tx1"/>
                </a:solidFill>
              </a:rPr>
              <a:t>Changes kinetic energy into thermal energy (heat)</a:t>
            </a:r>
          </a:p>
          <a:p>
            <a:r>
              <a:rPr lang="en-US" sz="2600" dirty="0">
                <a:solidFill>
                  <a:schemeClr val="tx1"/>
                </a:solidFill>
              </a:rPr>
              <a:t>Static Friction</a:t>
            </a:r>
          </a:p>
          <a:p>
            <a:pPr marL="720725" lvl="1" indent="-365125"/>
            <a:r>
              <a:rPr lang="en-US" dirty="0">
                <a:solidFill>
                  <a:schemeClr val="tx1"/>
                </a:solidFill>
              </a:rPr>
              <a:t>Holds the car in place when stopped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Friction (2 of 2) </a:t>
            </a:r>
          </a:p>
        </p:txBody>
      </p:sp>
      <p:pic>
        <p:nvPicPr>
          <p:cNvPr id="9" name="Picture Placeholder 8" descr="The function of the brake system when applied to a moving car. An arrow pointing at the front wheel represents braking and tends to apply more weight on the front wheels. An arrow pointing to the rear wheel reads, Braking tends to lift the rear of the vehicle. The weight from the back wheel is transferred to the front wheel. Static and kinetic friction exists in both front and rear wheels. An arrow pointing from the back wheel to the front wheel represents the direction of travel.">
            <a:extLst>
              <a:ext uri="{FF2B5EF4-FFF2-40B4-BE49-F238E27FC236}">
                <a16:creationId xmlns:a16="http://schemas.microsoft.com/office/drawing/2014/main" id="{BE2656A0-DBE8-66FF-DF05-A8527BC5CD1C}"/>
              </a:ext>
            </a:extLst>
          </p:cNvPr>
          <p:cNvPicPr>
            <a:picLocks noGrp="1" noChangeAspect="1"/>
          </p:cNvPicPr>
          <p:nvPr>
            <p:ph type="pic" sz="quarter" idx="11"/>
          </p:nvPr>
        </p:nvPicPr>
        <p:blipFill>
          <a:blip r:embed="rId3"/>
          <a:srcRect b="19373"/>
          <a:stretch/>
        </p:blipFill>
        <p:spPr>
          <a:xfrm>
            <a:off x="2623896" y="1648909"/>
            <a:ext cx="6944209" cy="37605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2"/>
          <p:cNvSpPr>
            <a:spLocks noGrp="1"/>
          </p:cNvSpPr>
          <p:nvPr>
            <p:ph type="title"/>
          </p:nvPr>
        </p:nvSpPr>
        <p:spPr/>
        <p:txBody>
          <a:bodyPr/>
          <a:lstStyle/>
          <a:p>
            <a:r>
              <a:rPr lang="en-US" dirty="0"/>
              <a:t>Factors Governing Braking</a:t>
            </a:r>
          </a:p>
        </p:txBody>
      </p:sp>
      <p:sp>
        <p:nvSpPr>
          <p:cNvPr id="7171" name="Content Placeholder 3"/>
          <p:cNvSpPr>
            <a:spLocks noGrp="1"/>
          </p:cNvSpPr>
          <p:nvPr>
            <p:ph type="body" idx="1"/>
          </p:nvPr>
        </p:nvSpPr>
        <p:spPr/>
        <p:txBody>
          <a:bodyPr/>
          <a:lstStyle/>
          <a:p>
            <a:r>
              <a:rPr lang="en-US" dirty="0">
                <a:solidFill>
                  <a:schemeClr val="tx1"/>
                </a:solidFill>
              </a:rPr>
              <a:t>Four basic factors determine braking power.</a:t>
            </a:r>
          </a:p>
          <a:p>
            <a:r>
              <a:rPr lang="en-US" dirty="0">
                <a:solidFill>
                  <a:schemeClr val="tx1"/>
                </a:solidFill>
              </a:rPr>
              <a:t>Generation of friction</a:t>
            </a:r>
          </a:p>
          <a:p>
            <a:pPr lvl="1" indent="-322263"/>
            <a:r>
              <a:rPr lang="en-US" dirty="0">
                <a:solidFill>
                  <a:schemeClr val="tx1"/>
                </a:solidFill>
              </a:rPr>
              <a:t>Pressure</a:t>
            </a:r>
          </a:p>
          <a:p>
            <a:pPr lvl="1" indent="-322263"/>
            <a:r>
              <a:rPr lang="en-US" dirty="0">
                <a:solidFill>
                  <a:schemeClr val="tx1"/>
                </a:solidFill>
              </a:rPr>
              <a:t>Coefficient of friction</a:t>
            </a:r>
          </a:p>
          <a:p>
            <a:pPr lvl="1" indent="-322263"/>
            <a:r>
              <a:rPr lang="en-US" dirty="0">
                <a:solidFill>
                  <a:schemeClr val="tx1"/>
                </a:solidFill>
              </a:rPr>
              <a:t>Friction contact surface</a:t>
            </a:r>
          </a:p>
          <a:p>
            <a:r>
              <a:rPr lang="en-US" dirty="0">
                <a:solidFill>
                  <a:schemeClr val="tx1"/>
                </a:solidFill>
              </a:rPr>
              <a:t>Result of Friction</a:t>
            </a:r>
          </a:p>
          <a:p>
            <a:pPr lvl="1" indent="-322263"/>
            <a:r>
              <a:rPr lang="en-US" dirty="0">
                <a:solidFill>
                  <a:schemeClr val="tx1"/>
                </a:solidFill>
              </a:rPr>
              <a:t>Heat dissipation</a:t>
            </a:r>
          </a:p>
          <a:p>
            <a:r>
              <a:rPr lang="en-US" dirty="0">
                <a:solidFill>
                  <a:schemeClr val="tx1"/>
                </a:solidFill>
              </a:rPr>
              <a:t>Weight transfer also affects braking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p:txBody>
          <a:bodyPr/>
          <a:lstStyle/>
          <a:p>
            <a:r>
              <a:rPr lang="en-US" dirty="0"/>
              <a:t>Coefficient of Friction</a:t>
            </a:r>
          </a:p>
        </p:txBody>
      </p:sp>
      <p:pic>
        <p:nvPicPr>
          <p:cNvPr id="8" name="Content Placeholder 5" descr="Two illustrations depict the coefficient of Friction. The first illustration depicts a 100-pound (445 N) rubber block tied with a rope to a hanging scale. An arrow in the scale represents 100 pounds. An equation below reads, 100 divided by 100 = 1. The second illustration depicts a 100-pound (445 N) Ice block tied with a rope to a hanging scale. An arrow in the scale represents 2 pounds. An equation below reads 2 divided by 100 = 0.02.">
            <a:extLst>
              <a:ext uri="{FF2B5EF4-FFF2-40B4-BE49-F238E27FC236}">
                <a16:creationId xmlns:a16="http://schemas.microsoft.com/office/drawing/2014/main" id="{0E59C437-987C-66D0-AE29-9A1E7A1BB95C}"/>
              </a:ext>
            </a:extLst>
          </p:cNvPr>
          <p:cNvPicPr>
            <a:picLocks noGrp="1" noChangeAspect="1"/>
          </p:cNvPicPr>
          <p:nvPr>
            <p:ph type="pic" sz="quarter" idx="12"/>
          </p:nvPr>
        </p:nvPicPr>
        <p:blipFill>
          <a:blip r:embed="rId3"/>
          <a:srcRect b="8961"/>
          <a:stretch/>
        </p:blipFill>
        <p:spPr>
          <a:xfrm>
            <a:off x="3545472" y="1516222"/>
            <a:ext cx="5101056" cy="43265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5"/>
          <p:cNvSpPr>
            <a:spLocks noGrp="1"/>
          </p:cNvSpPr>
          <p:nvPr>
            <p:ph type="title"/>
          </p:nvPr>
        </p:nvSpPr>
        <p:spPr/>
        <p:txBody>
          <a:bodyPr/>
          <a:lstStyle/>
          <a:p>
            <a:r>
              <a:rPr lang="en-US" dirty="0"/>
              <a:t>Heat Dissipation</a:t>
            </a:r>
          </a:p>
        </p:txBody>
      </p:sp>
      <p:sp>
        <p:nvSpPr>
          <p:cNvPr id="11267" name="Content Placeholder 6"/>
          <p:cNvSpPr>
            <a:spLocks noGrp="1"/>
          </p:cNvSpPr>
          <p:nvPr>
            <p:ph sz="quarter" idx="10"/>
          </p:nvPr>
        </p:nvSpPr>
        <p:spPr>
          <a:xfrm>
            <a:off x="642551" y="1671079"/>
            <a:ext cx="6166021" cy="3827677"/>
          </a:xfrm>
        </p:spPr>
        <p:txBody>
          <a:bodyPr>
            <a:normAutofit/>
          </a:bodyPr>
          <a:lstStyle/>
          <a:p>
            <a:pPr>
              <a:spcBef>
                <a:spcPts val="624"/>
              </a:spcBef>
              <a:spcAft>
                <a:spcPts val="600"/>
              </a:spcAft>
            </a:pPr>
            <a:r>
              <a:rPr lang="en-US" sz="2600" dirty="0">
                <a:solidFill>
                  <a:schemeClr val="tx1"/>
                </a:solidFill>
              </a:rPr>
              <a:t>Heat must be conducted away from pads/rotor or shoes and drum.</a:t>
            </a:r>
          </a:p>
          <a:p>
            <a:pPr>
              <a:spcBef>
                <a:spcPts val="624"/>
              </a:spcBef>
              <a:spcAft>
                <a:spcPts val="600"/>
              </a:spcAft>
            </a:pPr>
            <a:r>
              <a:rPr lang="en-US" sz="2600" dirty="0">
                <a:solidFill>
                  <a:schemeClr val="tx1"/>
                </a:solidFill>
              </a:rPr>
              <a:t>Inadequate heat dissipation can cause brake fade.</a:t>
            </a:r>
          </a:p>
        </p:txBody>
      </p:sp>
      <p:pic>
        <p:nvPicPr>
          <p:cNvPr id="7" name="Picture Placeholder 6" descr="The heat generated during braking is dissipated as air moves through the rotor. The friction energy is applied between the caliper at top left and top right, and a rotor is at the bottom, while the heat dissipates through either side of the rotor.">
            <a:extLst>
              <a:ext uri="{FF2B5EF4-FFF2-40B4-BE49-F238E27FC236}">
                <a16:creationId xmlns:a16="http://schemas.microsoft.com/office/drawing/2014/main" id="{C71B78FE-ECA0-413F-ECB2-69F400BFF8B6}"/>
              </a:ext>
            </a:extLst>
          </p:cNvPr>
          <p:cNvPicPr>
            <a:picLocks noGrp="1" noChangeAspect="1"/>
          </p:cNvPicPr>
          <p:nvPr>
            <p:ph type="pic" sz="quarter" idx="11"/>
          </p:nvPr>
        </p:nvPicPr>
        <p:blipFill>
          <a:blip r:embed="rId3"/>
          <a:srcRect b="7213"/>
          <a:stretch/>
        </p:blipFill>
        <p:spPr>
          <a:xfrm>
            <a:off x="7778067" y="1392692"/>
            <a:ext cx="3283810" cy="46923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Brake Lining Friction Materials</a:t>
            </a:r>
          </a:p>
        </p:txBody>
      </p:sp>
      <p:sp>
        <p:nvSpPr>
          <p:cNvPr id="14339" name="Content Placeholder 3"/>
          <p:cNvSpPr>
            <a:spLocks noGrp="1" noChangeArrowheads="1"/>
          </p:cNvSpPr>
          <p:nvPr>
            <p:ph type="body" idx="1"/>
          </p:nvPr>
        </p:nvSpPr>
        <p:spPr/>
        <p:txBody>
          <a:bodyPr>
            <a:normAutofit/>
          </a:bodyPr>
          <a:lstStyle/>
          <a:p>
            <a:r>
              <a:rPr lang="en-US" sz="2600" dirty="0">
                <a:solidFill>
                  <a:schemeClr val="tx1"/>
                </a:solidFill>
              </a:rPr>
              <a:t>Non-asbestos organic (non-metallic)</a:t>
            </a:r>
          </a:p>
          <a:p>
            <a:pPr lvl="1"/>
            <a:r>
              <a:rPr lang="en-US" dirty="0">
                <a:solidFill>
                  <a:schemeClr val="tx1"/>
                </a:solidFill>
              </a:rPr>
              <a:t>Friction materials, graphite, nut shells, fillers</a:t>
            </a:r>
          </a:p>
          <a:p>
            <a:r>
              <a:rPr lang="en-US" sz="2600" dirty="0">
                <a:solidFill>
                  <a:schemeClr val="tx1"/>
                </a:solidFill>
              </a:rPr>
              <a:t>Fully metallic</a:t>
            </a:r>
          </a:p>
          <a:p>
            <a:pPr lvl="1"/>
            <a:r>
              <a:rPr lang="en-US" dirty="0">
                <a:solidFill>
                  <a:schemeClr val="tx1"/>
                </a:solidFill>
              </a:rPr>
              <a:t>Work poorly until fully warmed</a:t>
            </a:r>
            <a:endParaRPr lang="en-US" sz="2600" dirty="0">
              <a:solidFill>
                <a:schemeClr val="tx1"/>
              </a:solidFill>
            </a:endParaRPr>
          </a:p>
          <a:p>
            <a:r>
              <a:rPr lang="en-US" sz="2600" dirty="0">
                <a:solidFill>
                  <a:schemeClr val="tx1"/>
                </a:solidFill>
              </a:rPr>
              <a:t>Semi-metallic</a:t>
            </a:r>
          </a:p>
          <a:p>
            <a:r>
              <a:rPr lang="en-US" sz="2600" dirty="0">
                <a:solidFill>
                  <a:schemeClr val="tx1"/>
                </a:solidFill>
              </a:rPr>
              <a:t>Synthetic</a:t>
            </a:r>
          </a:p>
          <a:p>
            <a:r>
              <a:rPr lang="en-US" sz="2600" dirty="0">
                <a:solidFill>
                  <a:schemeClr val="tx1"/>
                </a:solidFill>
              </a:rPr>
              <a:t>Ceramic</a:t>
            </a:r>
          </a:p>
          <a:p>
            <a:r>
              <a:rPr lang="en-US" sz="2600" dirty="0">
                <a:solidFill>
                  <a:schemeClr val="tx1"/>
                </a:solidFill>
              </a:rPr>
              <a:t>Carbon-metallic/ceramic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Low-Copper Compliance Pads</a:t>
            </a:r>
          </a:p>
        </p:txBody>
      </p:sp>
      <p:sp>
        <p:nvSpPr>
          <p:cNvPr id="3" name="Content Placeholder 2"/>
          <p:cNvSpPr>
            <a:spLocks noGrp="1"/>
          </p:cNvSpPr>
          <p:nvPr>
            <p:ph type="body" idx="1"/>
          </p:nvPr>
        </p:nvSpPr>
        <p:spPr/>
        <p:txBody>
          <a:bodyPr>
            <a:normAutofit/>
          </a:bodyPr>
          <a:lstStyle/>
          <a:p>
            <a:r>
              <a:rPr lang="en-US" sz="2600" dirty="0">
                <a:solidFill>
                  <a:schemeClr val="tx1"/>
                </a:solidFill>
              </a:rPr>
              <a:t>Required by Washington state and California</a:t>
            </a:r>
          </a:p>
          <a:p>
            <a:r>
              <a:rPr lang="en-US" sz="2600" dirty="0">
                <a:solidFill>
                  <a:schemeClr val="tx1"/>
                </a:solidFill>
              </a:rPr>
              <a:t>Three levels</a:t>
            </a:r>
          </a:p>
          <a:p>
            <a:pPr marL="715963" lvl="1" indent="-357188"/>
            <a:r>
              <a:rPr lang="en-US" sz="2600" b="1" dirty="0">
                <a:solidFill>
                  <a:schemeClr val="tx1"/>
                </a:solidFill>
              </a:rPr>
              <a:t>Level A pads </a:t>
            </a:r>
            <a:r>
              <a:rPr lang="en-US" sz="2600" dirty="0">
                <a:solidFill>
                  <a:schemeClr val="tx1"/>
                </a:solidFill>
              </a:rPr>
              <a:t>comply with requirements for cadmium, chromium, lead, mercury, and asbestos.</a:t>
            </a:r>
          </a:p>
          <a:p>
            <a:pPr marL="715963" lvl="1" indent="-357188"/>
            <a:r>
              <a:rPr lang="en-US" sz="2600" b="1" dirty="0">
                <a:solidFill>
                  <a:schemeClr val="tx1"/>
                </a:solidFill>
              </a:rPr>
              <a:t>Level B pads </a:t>
            </a:r>
            <a:r>
              <a:rPr lang="en-US" sz="2600" dirty="0">
                <a:solidFill>
                  <a:schemeClr val="tx1"/>
                </a:solidFill>
              </a:rPr>
              <a:t>meet Level A requirements, and copper content must be reduced to less than 5 percent of the pad material by 2021.</a:t>
            </a:r>
          </a:p>
          <a:p>
            <a:pPr marL="715963" lvl="1" indent="-357188"/>
            <a:r>
              <a:rPr lang="en-US" sz="2600" b="1" dirty="0">
                <a:solidFill>
                  <a:schemeClr val="tx1"/>
                </a:solidFill>
              </a:rPr>
              <a:t>Level N pads </a:t>
            </a:r>
            <a:r>
              <a:rPr lang="en-US" sz="2600" dirty="0">
                <a:solidFill>
                  <a:schemeClr val="tx1"/>
                </a:solidFill>
              </a:rPr>
              <a:t>will have less than 0.5 percent total copper by 2025</a:t>
            </a:r>
            <a:r>
              <a:rPr lang="en-US" dirty="0">
                <a:solidFill>
                  <a:schemeClr val="tx1"/>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Pad Linings</a:t>
            </a:r>
          </a:p>
        </p:txBody>
      </p:sp>
      <p:pic>
        <p:nvPicPr>
          <p:cNvPr id="9" name="Picture Placeholder 8" descr="The left photo depicts ceramic linings on the original pads, and the right photo depicts ceramic linings on replacement pads.">
            <a:extLst>
              <a:ext uri="{FF2B5EF4-FFF2-40B4-BE49-F238E27FC236}">
                <a16:creationId xmlns:a16="http://schemas.microsoft.com/office/drawing/2014/main" id="{9BFA7E60-1B6A-CE8F-9191-051A58BA3B8A}"/>
              </a:ext>
            </a:extLst>
          </p:cNvPr>
          <p:cNvPicPr>
            <a:picLocks noGrp="1" noChangeAspect="1"/>
          </p:cNvPicPr>
          <p:nvPr>
            <p:ph type="pic" sz="quarter" idx="11"/>
          </p:nvPr>
        </p:nvPicPr>
        <p:blipFill>
          <a:blip r:embed="rId2"/>
          <a:srcRect b="7350"/>
          <a:stretch/>
        </p:blipFill>
        <p:spPr>
          <a:xfrm>
            <a:off x="2609307" y="2115104"/>
            <a:ext cx="6973386" cy="31658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Principles of Hydraulic Brake Systems</a:t>
            </a:r>
          </a:p>
        </p:txBody>
      </p:sp>
      <p:sp>
        <p:nvSpPr>
          <p:cNvPr id="15363" name="Content Placeholder 6"/>
          <p:cNvSpPr>
            <a:spLocks noGrp="1"/>
          </p:cNvSpPr>
          <p:nvPr>
            <p:ph type="body" idx="1"/>
          </p:nvPr>
        </p:nvSpPr>
        <p:spPr/>
        <p:txBody>
          <a:bodyPr/>
          <a:lstStyle/>
          <a:p>
            <a:r>
              <a:rPr lang="en-US" sz="2600" dirty="0">
                <a:solidFill>
                  <a:schemeClr val="tx1"/>
                </a:solidFill>
              </a:rPr>
              <a:t>Uses fluid to transfer pressure</a:t>
            </a:r>
          </a:p>
          <a:p>
            <a:r>
              <a:rPr lang="en-US" sz="2600" dirty="0">
                <a:solidFill>
                  <a:schemeClr val="tx1"/>
                </a:solidFill>
              </a:rPr>
              <a:t>Pressure applied to fluid in a closed system is consistent.</a:t>
            </a:r>
          </a:p>
          <a:p>
            <a:r>
              <a:rPr lang="en-US" sz="2600" dirty="0">
                <a:solidFill>
                  <a:schemeClr val="tx1"/>
                </a:solidFill>
              </a:rPr>
              <a:t>Force can be increased by changing piston sizes.</a:t>
            </a:r>
          </a:p>
          <a:p>
            <a:r>
              <a:rPr lang="en-US" sz="2600" dirty="0">
                <a:solidFill>
                  <a:schemeClr val="tx1"/>
                </a:solidFill>
              </a:rPr>
              <a:t>Output piston travel can be increased by using a smaller piston.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Force</a:t>
            </a:r>
          </a:p>
        </p:txBody>
      </p:sp>
      <p:pic>
        <p:nvPicPr>
          <p:cNvPr id="9" name="Picture Placeholder 8" descr="The output force increases with piston size. The piston is connected to a pressure gauge of 100 p s i and two output pistons. 100 pounds input force acts on the piston with a 1 square inch and the time travel is 1 inch. The force on the first output piston is 500 pounds with 5 square inches and the width is 0.2 inch output travel. The force on the second output piston is 75 pounds with 0.75 square inches and the width is 1.3 inches output travel. As the force increases the output travel decreases.">
            <a:extLst>
              <a:ext uri="{FF2B5EF4-FFF2-40B4-BE49-F238E27FC236}">
                <a16:creationId xmlns:a16="http://schemas.microsoft.com/office/drawing/2014/main" id="{3CB21D01-3823-E0B5-715F-A4BD68727BFE}"/>
              </a:ext>
            </a:extLst>
          </p:cNvPr>
          <p:cNvPicPr>
            <a:picLocks noGrp="1" noChangeAspect="1"/>
          </p:cNvPicPr>
          <p:nvPr>
            <p:ph type="pic" sz="quarter" idx="11"/>
          </p:nvPr>
        </p:nvPicPr>
        <p:blipFill>
          <a:blip r:embed="rId3"/>
          <a:srcRect b="5655"/>
          <a:stretch/>
        </p:blipFill>
        <p:spPr>
          <a:xfrm>
            <a:off x="3181064" y="1640856"/>
            <a:ext cx="5829872" cy="41434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3)</a:t>
            </a:r>
          </a:p>
        </p:txBody>
      </p:sp>
      <p:sp>
        <p:nvSpPr>
          <p:cNvPr id="3" name="Content Placeholder 2"/>
          <p:cNvSpPr>
            <a:spLocks noGrp="1"/>
          </p:cNvSpPr>
          <p:nvPr>
            <p:ph type="body" idx="1"/>
          </p:nvPr>
        </p:nvSpPr>
        <p:spPr/>
        <p:txBody>
          <a:bodyPr>
            <a:normAutofit/>
          </a:bodyPr>
          <a:lstStyle/>
          <a:p>
            <a:pPr marL="85725" indent="0">
              <a:buNone/>
            </a:pPr>
            <a:r>
              <a:rPr lang="en-US" sz="2600" dirty="0">
                <a:solidFill>
                  <a:schemeClr val="tx1"/>
                </a:solidFill>
              </a:rPr>
              <a:t>In a brake hydraulic system,</a:t>
            </a:r>
          </a:p>
          <a:p>
            <a:pPr marL="85725" indent="0">
              <a:buNone/>
            </a:pPr>
            <a:r>
              <a:rPr lang="en-US" sz="2600" dirty="0">
                <a:solidFill>
                  <a:schemeClr val="tx1"/>
                </a:solidFill>
              </a:rPr>
              <a:t>Technician A says increasing the size of the output piston will result in an increase in application force.</a:t>
            </a:r>
          </a:p>
          <a:p>
            <a:pPr marL="85725" indent="0">
              <a:buNone/>
            </a:pPr>
            <a:r>
              <a:rPr lang="en-US" sz="2600" dirty="0">
                <a:solidFill>
                  <a:schemeClr val="tx1"/>
                </a:solidFill>
              </a:rPr>
              <a:t>Technician B says increasing the size of the output piston will result in an increase in piston travel. Who is correct?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3)</a:t>
            </a:r>
          </a:p>
        </p:txBody>
      </p:sp>
      <p:sp>
        <p:nvSpPr>
          <p:cNvPr id="3" name="Content Placeholder 2"/>
          <p:cNvSpPr>
            <a:spLocks noGrp="1"/>
          </p:cNvSpPr>
          <p:nvPr>
            <p:ph type="body" idx="1"/>
          </p:nvPr>
        </p:nvSpPr>
        <p:spPr/>
        <p:txBody>
          <a:bodyPr>
            <a:normAutofit/>
          </a:bodyPr>
          <a:lstStyle/>
          <a:p>
            <a:pPr marL="85725" indent="0">
              <a:buNone/>
            </a:pPr>
            <a:r>
              <a:rPr lang="en-US" sz="2600" dirty="0">
                <a:solidFill>
                  <a:schemeClr val="tx1"/>
                </a:solidFill>
              </a:rPr>
              <a:t>In a brake hydraulic system,</a:t>
            </a:r>
          </a:p>
          <a:p>
            <a:pPr marL="85725" indent="0">
              <a:buNone/>
            </a:pPr>
            <a:r>
              <a:rPr lang="en-US" sz="2600" dirty="0">
                <a:solidFill>
                  <a:schemeClr val="tx1"/>
                </a:solidFill>
              </a:rPr>
              <a:t>Technician A says increasing the size of the output piston will result in an increase in application force.</a:t>
            </a:r>
          </a:p>
          <a:p>
            <a:pPr marL="85725" indent="0">
              <a:spcAft>
                <a:spcPts val="2400"/>
              </a:spcAft>
              <a:buNone/>
            </a:pPr>
            <a:r>
              <a:rPr lang="en-US" sz="2600" dirty="0">
                <a:solidFill>
                  <a:schemeClr val="tx1"/>
                </a:solidFill>
              </a:rPr>
              <a:t>Technician B says increasing the size of the output piston will result in an increase in piston travel. Who is correct?</a:t>
            </a:r>
          </a:p>
          <a:p>
            <a:pPr marL="85725" indent="0">
              <a:buNone/>
            </a:pPr>
            <a:r>
              <a:rPr lang="en-US" sz="2600" dirty="0">
                <a:solidFill>
                  <a:schemeClr val="tx1"/>
                </a:solidFill>
              </a:rPr>
              <a:t>Answer: Technician A only</a:t>
            </a:r>
          </a:p>
        </p:txBody>
      </p:sp>
    </p:spTree>
    <p:extLst>
      <p:ext uri="{BB962C8B-B14F-4D97-AF65-F5344CB8AC3E}">
        <p14:creationId xmlns:p14="http://schemas.microsoft.com/office/powerpoint/2010/main" val="2566310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Dual Braking Systems </a:t>
            </a:r>
          </a:p>
        </p:txBody>
      </p:sp>
      <p:pic>
        <p:nvPicPr>
          <p:cNvPr id="8" name="Picture Placeholder 7" descr="Two illustrations labeled (A) and (B) depict the dual braking system. The first illustration (A) depicts the front/rear split of the braking system: The labeled parts are as follows: master cylinder, secondary piston, primary piston, right front, left front, right rear, and left rear. The master cylinder connects to the primary piston (placed right side) and secondary piston (placed left side). The secondary piston connects to right rear and left rear. The primary piston connects to the right front and left front. The second illustration (B) depicts a diagonal split. The labeled parts are as follows: master cylinder, secondary piston, primary piston, right front, left front, right rear, and left rear. The master cylinder connects to the primary piston (placed right side) and secondary piston (placed left side). The secondary piston connects to right front and left rear. The primary piston connects to right rear and left front.">
            <a:extLst>
              <a:ext uri="{FF2B5EF4-FFF2-40B4-BE49-F238E27FC236}">
                <a16:creationId xmlns:a16="http://schemas.microsoft.com/office/drawing/2014/main" id="{920A0EA3-1567-F081-D7B3-2D21B333A57E}"/>
              </a:ext>
            </a:extLst>
          </p:cNvPr>
          <p:cNvPicPr>
            <a:picLocks noGrp="1" noChangeAspect="1"/>
          </p:cNvPicPr>
          <p:nvPr>
            <p:ph type="pic" sz="quarter" idx="11"/>
          </p:nvPr>
        </p:nvPicPr>
        <p:blipFill>
          <a:blip r:embed="rId3"/>
          <a:srcRect b="9238"/>
          <a:stretch/>
        </p:blipFill>
        <p:spPr>
          <a:xfrm>
            <a:off x="2603849" y="1754412"/>
            <a:ext cx="6984302" cy="3349174"/>
          </a:xfrm>
          <a:prstGeom prst="rect">
            <a:avLst/>
          </a:prstGeom>
        </p:spPr>
      </p:pic>
      <p:sp>
        <p:nvSpPr>
          <p:cNvPr id="6" name="Content Placeholder 5"/>
          <p:cNvSpPr>
            <a:spLocks noGrp="1"/>
          </p:cNvSpPr>
          <p:nvPr>
            <p:ph type="body" idx="1"/>
          </p:nvPr>
        </p:nvSpPr>
        <p:spPr>
          <a:xfrm>
            <a:off x="776614" y="5335820"/>
            <a:ext cx="11110586" cy="651888"/>
          </a:xfrm>
        </p:spPr>
        <p:txBody>
          <a:bodyPr>
            <a:normAutofit/>
          </a:bodyPr>
          <a:lstStyle/>
          <a:p>
            <a:pPr marL="57150" indent="0">
              <a:lnSpc>
                <a:spcPct val="110000"/>
              </a:lnSpc>
              <a:buNone/>
            </a:pPr>
            <a:r>
              <a:rPr lang="en-US" sz="2400" dirty="0">
                <a:solidFill>
                  <a:schemeClr val="tx1"/>
                </a:solidFill>
              </a:rPr>
              <a:t>Diagonally split allows more even braking in the event one circuit fails.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Brake Fluid (1 of 2)</a:t>
            </a:r>
          </a:p>
        </p:txBody>
      </p:sp>
      <p:sp>
        <p:nvSpPr>
          <p:cNvPr id="21507" name="Content Placeholder 2"/>
          <p:cNvSpPr>
            <a:spLocks noGrp="1"/>
          </p:cNvSpPr>
          <p:nvPr>
            <p:ph type="body" idx="1"/>
          </p:nvPr>
        </p:nvSpPr>
        <p:spPr>
          <a:xfrm>
            <a:off x="476844" y="1563626"/>
            <a:ext cx="6269945" cy="3972201"/>
          </a:xfrm>
        </p:spPr>
        <p:txBody>
          <a:bodyPr/>
          <a:lstStyle/>
          <a:p>
            <a:r>
              <a:rPr lang="en-US" dirty="0">
                <a:solidFill>
                  <a:schemeClr val="tx1"/>
                </a:solidFill>
              </a:rPr>
              <a:t>Special blended for a variety of functions</a:t>
            </a:r>
          </a:p>
          <a:p>
            <a:pPr marL="715963" lvl="1" indent="-357188"/>
            <a:r>
              <a:rPr lang="en-US" dirty="0">
                <a:solidFill>
                  <a:schemeClr val="tx1"/>
                </a:solidFill>
              </a:rPr>
              <a:t>Flow freely at very high and very low temperatures</a:t>
            </a:r>
          </a:p>
          <a:p>
            <a:pPr marL="715963" lvl="1" indent="-357188"/>
            <a:r>
              <a:rPr lang="en-US" dirty="0">
                <a:solidFill>
                  <a:schemeClr val="tx1"/>
                </a:solidFill>
              </a:rPr>
              <a:t>Lubricate the parts of the hydraulic system</a:t>
            </a:r>
          </a:p>
          <a:p>
            <a:pPr marL="715963" lvl="1" indent="-357188"/>
            <a:r>
              <a:rPr lang="en-US" dirty="0">
                <a:solidFill>
                  <a:schemeClr val="tx1"/>
                </a:solidFill>
              </a:rPr>
              <a:t>Must resist evaporation</a:t>
            </a:r>
          </a:p>
        </p:txBody>
      </p:sp>
      <p:pic>
        <p:nvPicPr>
          <p:cNvPr id="7" name="Picture Placeholder 6" descr="A special blended low-viscosity brake fluid of 1 liter, displaying fluid specifications.">
            <a:extLst>
              <a:ext uri="{FF2B5EF4-FFF2-40B4-BE49-F238E27FC236}">
                <a16:creationId xmlns:a16="http://schemas.microsoft.com/office/drawing/2014/main" id="{624D0800-1ED3-3E09-B858-521A88AF0B19}"/>
              </a:ext>
            </a:extLst>
          </p:cNvPr>
          <p:cNvPicPr>
            <a:picLocks noGrp="1" noChangeAspect="1"/>
          </p:cNvPicPr>
          <p:nvPr>
            <p:ph type="pic" sz="quarter" idx="11"/>
          </p:nvPr>
        </p:nvPicPr>
        <p:blipFill>
          <a:blip r:embed="rId3"/>
          <a:srcRect b="15077"/>
          <a:stretch/>
        </p:blipFill>
        <p:spPr>
          <a:xfrm>
            <a:off x="7225115" y="1593114"/>
            <a:ext cx="3876882" cy="345149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Brake Fluid (2 of 2) </a:t>
            </a:r>
          </a:p>
        </p:txBody>
      </p:sp>
      <p:sp>
        <p:nvSpPr>
          <p:cNvPr id="22531" name="Content Placeholder 2"/>
          <p:cNvSpPr>
            <a:spLocks noGrp="1"/>
          </p:cNvSpPr>
          <p:nvPr>
            <p:ph type="body" idx="1"/>
          </p:nvPr>
        </p:nvSpPr>
        <p:spPr/>
        <p:txBody>
          <a:bodyPr/>
          <a:lstStyle/>
          <a:p>
            <a:r>
              <a:rPr lang="en-US" sz="2600" dirty="0">
                <a:solidFill>
                  <a:schemeClr val="tx1"/>
                </a:solidFill>
              </a:rPr>
              <a:t>Absorbs moisture (hygroscopic)</a:t>
            </a:r>
          </a:p>
          <a:p>
            <a:r>
              <a:rPr lang="en-US" sz="2600" dirty="0">
                <a:solidFill>
                  <a:schemeClr val="tx1"/>
                </a:solidFill>
              </a:rPr>
              <a:t>Can absorb enough moisture in two years to lower boiling point to a dangerous level</a:t>
            </a:r>
          </a:p>
          <a:p>
            <a:r>
              <a:rPr lang="en-US" sz="2600" dirty="0">
                <a:solidFill>
                  <a:schemeClr val="tx1"/>
                </a:solidFill>
              </a:rPr>
              <a:t>Identified by SAE and DOT for blend and performance  characteristics</a:t>
            </a:r>
          </a:p>
          <a:p>
            <a:r>
              <a:rPr lang="en-US" sz="2600" dirty="0">
                <a:solidFill>
                  <a:schemeClr val="tx1"/>
                </a:solidFill>
              </a:rPr>
              <a:t>Use only the approved fluids in the brake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DOT Ratings</a:t>
            </a:r>
          </a:p>
        </p:txBody>
      </p:sp>
      <p:sp>
        <p:nvSpPr>
          <p:cNvPr id="3" name="Content Placeholder 2"/>
          <p:cNvSpPr>
            <a:spLocks noGrp="1"/>
          </p:cNvSpPr>
          <p:nvPr>
            <p:ph type="body" idx="1"/>
          </p:nvPr>
        </p:nvSpPr>
        <p:spPr/>
        <p:txBody>
          <a:bodyPr>
            <a:noAutofit/>
          </a:bodyPr>
          <a:lstStyle/>
          <a:p>
            <a:r>
              <a:rPr lang="en-US" dirty="0">
                <a:solidFill>
                  <a:schemeClr val="tx1"/>
                </a:solidFill>
              </a:rPr>
              <a:t>DOT 3 has a minimum dry boiling point of 401°F (205°C) and a minimum wet boiling point of 284°F (140°C). </a:t>
            </a:r>
          </a:p>
          <a:p>
            <a:r>
              <a:rPr lang="en-US" dirty="0">
                <a:solidFill>
                  <a:schemeClr val="tx1"/>
                </a:solidFill>
              </a:rPr>
              <a:t>DOT 4 has a dry boiling point of 446°F (230°C) and a wet boiling point of 311°F (155°C).</a:t>
            </a:r>
          </a:p>
          <a:p>
            <a:r>
              <a:rPr lang="en-US" dirty="0">
                <a:solidFill>
                  <a:schemeClr val="tx1"/>
                </a:solidFill>
              </a:rPr>
              <a:t>DOT 5 is a silicone-based fluid and is purple in color and is NOT compatible with antilock brake systems or with DOT 3 or DOT 4 fluids.</a:t>
            </a:r>
          </a:p>
          <a:p>
            <a:r>
              <a:rPr lang="en-US" dirty="0">
                <a:solidFill>
                  <a:schemeClr val="tx1"/>
                </a:solidFill>
              </a:rPr>
              <a:t>DOT 5.1 has a dry boiling point of 500°F (260°C) and a wet boiling point of 356°F (180°C).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Brake Pedal</a:t>
            </a:r>
          </a:p>
        </p:txBody>
      </p:sp>
      <p:sp>
        <p:nvSpPr>
          <p:cNvPr id="23555" name="Content Placeholder 2"/>
          <p:cNvSpPr>
            <a:spLocks noGrp="1"/>
          </p:cNvSpPr>
          <p:nvPr>
            <p:ph type="body" idx="1"/>
          </p:nvPr>
        </p:nvSpPr>
        <p:spPr>
          <a:xfrm>
            <a:off x="476844" y="1563627"/>
            <a:ext cx="11241915" cy="1216644"/>
          </a:xfrm>
        </p:spPr>
        <p:txBody>
          <a:bodyPr>
            <a:noAutofit/>
          </a:bodyPr>
          <a:lstStyle/>
          <a:p>
            <a:pPr marL="0" indent="0">
              <a:buNone/>
            </a:pPr>
            <a:r>
              <a:rPr lang="en-US" sz="2000" b="1" dirty="0">
                <a:solidFill>
                  <a:schemeClr val="tx1"/>
                </a:solidFill>
                <a:latin typeface="Work Sans" pitchFamily="2" charset="0"/>
              </a:rPr>
              <a:t>50-02 Describe the components of a hydraulic brake system and their operation, including brake lines and hoses, master cylinders, system control valves, and safety switches.</a:t>
            </a:r>
            <a:endParaRPr lang="en-US" sz="2000" b="1" dirty="0">
              <a:solidFill>
                <a:schemeClr val="tx1"/>
              </a:solidFill>
            </a:endParaRPr>
          </a:p>
        </p:txBody>
      </p:sp>
      <p:pic>
        <p:nvPicPr>
          <p:cNvPr id="7" name="Picture Placeholder 6" descr="The brake pedal has the labeled parts as follows: master cylinder, bulkhead, lever, Brake pedal pivot (fulcrum), and brake pedal. The force between the Brake pedal pivot (fulcrum) and the lever is 250 pounds with 2 inches and 10 inches; 50 pounds of force is applied on the brake pedal.">
            <a:extLst>
              <a:ext uri="{FF2B5EF4-FFF2-40B4-BE49-F238E27FC236}">
                <a16:creationId xmlns:a16="http://schemas.microsoft.com/office/drawing/2014/main" id="{0D877A62-01B5-80DE-A508-645BC10E8F7C}"/>
              </a:ext>
            </a:extLst>
          </p:cNvPr>
          <p:cNvPicPr>
            <a:picLocks noGrp="1" noChangeAspect="1"/>
          </p:cNvPicPr>
          <p:nvPr>
            <p:ph type="pic" sz="quarter" idx="11"/>
          </p:nvPr>
        </p:nvPicPr>
        <p:blipFill>
          <a:blip r:embed="rId3"/>
          <a:srcRect b="9320"/>
          <a:stretch/>
        </p:blipFill>
        <p:spPr>
          <a:xfrm>
            <a:off x="3828993" y="2473488"/>
            <a:ext cx="4534014" cy="35632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Master Cylinder</a:t>
            </a:r>
          </a:p>
        </p:txBody>
      </p:sp>
      <p:sp>
        <p:nvSpPr>
          <p:cNvPr id="24579" name="Content Placeholder 2"/>
          <p:cNvSpPr>
            <a:spLocks noGrp="1"/>
          </p:cNvSpPr>
          <p:nvPr>
            <p:ph type="body" idx="1"/>
          </p:nvPr>
        </p:nvSpPr>
        <p:spPr/>
        <p:txBody>
          <a:bodyPr/>
          <a:lstStyle/>
          <a:p>
            <a:r>
              <a:rPr lang="en-US" sz="2600" dirty="0">
                <a:solidFill>
                  <a:schemeClr val="tx1"/>
                </a:solidFill>
              </a:rPr>
              <a:t>Transmits pressure to the wheel brakes</a:t>
            </a:r>
          </a:p>
          <a:p>
            <a:r>
              <a:rPr lang="en-US" sz="2600" dirty="0">
                <a:solidFill>
                  <a:schemeClr val="tx1"/>
                </a:solidFill>
              </a:rPr>
              <a:t>Changes mechanical pressure into hydraulic force</a:t>
            </a:r>
          </a:p>
          <a:p>
            <a:r>
              <a:rPr lang="en-US" sz="2600" dirty="0">
                <a:solidFill>
                  <a:schemeClr val="tx1"/>
                </a:solidFill>
              </a:rPr>
              <a:t>Uses hydraulics to increase pedal force</a:t>
            </a:r>
          </a:p>
          <a:p>
            <a:r>
              <a:rPr lang="en-US" sz="2600" dirty="0">
                <a:solidFill>
                  <a:schemeClr val="tx1"/>
                </a:solidFill>
              </a:rPr>
              <a:t>Since 1967, all vehicles have used a two-piston split hydraulic system master cylinder.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Master Cylinder Components</a:t>
            </a:r>
          </a:p>
        </p:txBody>
      </p:sp>
      <p:pic>
        <p:nvPicPr>
          <p:cNvPr id="9" name="Picture Placeholder 8" descr="The basic construction of a dual master cylinder. The labeled parts are as follows: reservoir cover, diaphragm, separate reservoir, grommets, cylinder body, spring, spring retainer, cup, secondary piston, cup, primary piston, and lockring.">
            <a:extLst>
              <a:ext uri="{FF2B5EF4-FFF2-40B4-BE49-F238E27FC236}">
                <a16:creationId xmlns:a16="http://schemas.microsoft.com/office/drawing/2014/main" id="{2D9AA402-BFBA-52B0-851F-EDB786FE48F5}"/>
              </a:ext>
            </a:extLst>
          </p:cNvPr>
          <p:cNvPicPr>
            <a:picLocks noGrp="1" noChangeAspect="1"/>
          </p:cNvPicPr>
          <p:nvPr>
            <p:ph type="pic" sz="quarter" idx="11"/>
          </p:nvPr>
        </p:nvPicPr>
        <p:blipFill>
          <a:blip r:embed="rId3"/>
          <a:srcRect b="3339"/>
          <a:stretch/>
        </p:blipFill>
        <p:spPr>
          <a:xfrm>
            <a:off x="4409628" y="1636691"/>
            <a:ext cx="3569451" cy="43243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Master Cylinder Operation</a:t>
            </a:r>
          </a:p>
        </p:txBody>
      </p:sp>
      <p:sp>
        <p:nvSpPr>
          <p:cNvPr id="27651" name="Content Placeholder 3"/>
          <p:cNvSpPr>
            <a:spLocks noGrp="1" noChangeArrowheads="1"/>
          </p:cNvSpPr>
          <p:nvPr>
            <p:ph type="body" idx="1"/>
          </p:nvPr>
        </p:nvSpPr>
        <p:spPr/>
        <p:txBody>
          <a:bodyPr/>
          <a:lstStyle/>
          <a:p>
            <a:r>
              <a:rPr lang="en-US" sz="2600" dirty="0">
                <a:solidFill>
                  <a:schemeClr val="tx1"/>
                </a:solidFill>
              </a:rPr>
              <a:t>The master cylinder pushrod is connected to a piston.</a:t>
            </a:r>
          </a:p>
          <a:p>
            <a:r>
              <a:rPr lang="en-US" sz="2600" dirty="0">
                <a:solidFill>
                  <a:schemeClr val="tx1"/>
                </a:solidFill>
              </a:rPr>
              <a:t>Hydraulic fluid is in front of the piston.</a:t>
            </a:r>
          </a:p>
          <a:p>
            <a:r>
              <a:rPr lang="en-US" sz="2600" dirty="0">
                <a:solidFill>
                  <a:schemeClr val="tx1"/>
                </a:solidFill>
              </a:rPr>
              <a:t>When the pedal is pressed, the piston is pushed forward.</a:t>
            </a:r>
          </a:p>
          <a:p>
            <a:r>
              <a:rPr lang="en-US" sz="2600" dirty="0">
                <a:solidFill>
                  <a:schemeClr val="tx1"/>
                </a:solidFill>
              </a:rPr>
              <a:t>The fluid transmits force throughout the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Fast-Fill and Quick-Take-Up Master Cylinders</a:t>
            </a:r>
          </a:p>
        </p:txBody>
      </p:sp>
      <p:sp>
        <p:nvSpPr>
          <p:cNvPr id="29699" name="Content Placeholder 2"/>
          <p:cNvSpPr>
            <a:spLocks noGrp="1"/>
          </p:cNvSpPr>
          <p:nvPr>
            <p:ph type="body" idx="1"/>
          </p:nvPr>
        </p:nvSpPr>
        <p:spPr/>
        <p:txBody>
          <a:bodyPr/>
          <a:lstStyle/>
          <a:p>
            <a:r>
              <a:rPr lang="en-US" sz="2600" dirty="0">
                <a:solidFill>
                  <a:schemeClr val="tx1"/>
                </a:solidFill>
              </a:rPr>
              <a:t>Used to quickly take up the slack in low drag calipers</a:t>
            </a:r>
          </a:p>
          <a:p>
            <a:r>
              <a:rPr lang="en-US" sz="2600" dirty="0">
                <a:solidFill>
                  <a:schemeClr val="tx1"/>
                </a:solidFill>
              </a:rPr>
              <a:t>Provides a large volume of fluid on the first stroke of the brake pedal</a:t>
            </a:r>
          </a:p>
          <a:p>
            <a:r>
              <a:rPr lang="en-US" sz="2600" dirty="0">
                <a:solidFill>
                  <a:schemeClr val="tx1"/>
                </a:solidFill>
              </a:rPr>
              <a:t>Has a larger diameter bore primary piston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Central-Valve Master Cylinders</a:t>
            </a:r>
          </a:p>
        </p:txBody>
      </p:sp>
      <p:sp>
        <p:nvSpPr>
          <p:cNvPr id="3" name="Content Placeholder 2"/>
          <p:cNvSpPr>
            <a:spLocks noGrp="1"/>
          </p:cNvSpPr>
          <p:nvPr>
            <p:ph sz="quarter" idx="10"/>
          </p:nvPr>
        </p:nvSpPr>
        <p:spPr>
          <a:xfrm>
            <a:off x="781866" y="1905858"/>
            <a:ext cx="5314134" cy="3246910"/>
          </a:xfrm>
        </p:spPr>
        <p:txBody>
          <a:bodyPr>
            <a:normAutofit/>
          </a:bodyPr>
          <a:lstStyle/>
          <a:p>
            <a:pPr marL="358775" indent="-358775">
              <a:spcBef>
                <a:spcPts val="624"/>
              </a:spcBef>
              <a:spcAft>
                <a:spcPts val="600"/>
              </a:spcAft>
            </a:pPr>
            <a:r>
              <a:rPr lang="en-US" sz="2600" dirty="0">
                <a:solidFill>
                  <a:schemeClr val="tx1"/>
                </a:solidFill>
              </a:rPr>
              <a:t>Used on some ABS equipped systems</a:t>
            </a:r>
          </a:p>
          <a:p>
            <a:pPr marL="358775" indent="-358775">
              <a:spcBef>
                <a:spcPts val="624"/>
              </a:spcBef>
              <a:spcAft>
                <a:spcPts val="600"/>
              </a:spcAft>
            </a:pPr>
            <a:r>
              <a:rPr lang="en-US" sz="2600" dirty="0">
                <a:solidFill>
                  <a:schemeClr val="tx1"/>
                </a:solidFill>
              </a:rPr>
              <a:t>Prevents seal damage and pedal pulsation during ABS braking</a:t>
            </a:r>
          </a:p>
        </p:txBody>
      </p:sp>
      <p:pic>
        <p:nvPicPr>
          <p:cNvPr id="9" name="Picture Placeholder 8" descr="A central-valve master cylinder has a secondary and primary chamber, each with central valves. The central check valves are at the top of the piston, provided with an antilock brake system. These valves are connected to the pedal and hence prevent seal damage and pedal damage. The master cylinder is provided at the top of the system and a motor is used to drive the pump. Back and forth movement of the piston is given in the counterclockwise direction. Primary and secondary pistons are provided in both cases. A piston seal is provided at the base of the piston. The wear on the piston is reduced in such cases and also reduces the vibration. Low pressure areas are those areas found behind the piston. The master cylinder is connected to the brake on all sides.">
            <a:extLst>
              <a:ext uri="{FF2B5EF4-FFF2-40B4-BE49-F238E27FC236}">
                <a16:creationId xmlns:a16="http://schemas.microsoft.com/office/drawing/2014/main" id="{50E2695D-A8D8-028D-C0E8-ADDC336BABF5}"/>
              </a:ext>
            </a:extLst>
          </p:cNvPr>
          <p:cNvPicPr>
            <a:picLocks noGrp="1" noChangeAspect="1"/>
          </p:cNvPicPr>
          <p:nvPr>
            <p:ph type="pic" sz="quarter" idx="11"/>
          </p:nvPr>
        </p:nvPicPr>
        <p:blipFill>
          <a:blip r:embed="rId3"/>
          <a:srcRect b="3588"/>
          <a:stretch/>
        </p:blipFill>
        <p:spPr>
          <a:xfrm>
            <a:off x="6954508" y="1673201"/>
            <a:ext cx="4115389" cy="32469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noChangeArrowheads="1"/>
          </p:cNvSpPr>
          <p:nvPr>
            <p:ph type="title"/>
          </p:nvPr>
        </p:nvSpPr>
        <p:spPr/>
        <p:txBody>
          <a:bodyPr/>
          <a:lstStyle/>
          <a:p>
            <a:r>
              <a:rPr lang="en-US" dirty="0"/>
              <a:t>Hydraulic Tubes and Hoses</a:t>
            </a:r>
          </a:p>
        </p:txBody>
      </p:sp>
      <p:pic>
        <p:nvPicPr>
          <p:cNvPr id="8" name="Picture Placeholder 7" descr="The layout of the hoses and tubes for the brake system. The labeled parts are as follows: master cylinder to brake line, brake line to brake hose, proportioning control valve to brake line, brake line to brake hose, and from brake hose to caliper(banjo bolt).">
            <a:extLst>
              <a:ext uri="{FF2B5EF4-FFF2-40B4-BE49-F238E27FC236}">
                <a16:creationId xmlns:a16="http://schemas.microsoft.com/office/drawing/2014/main" id="{190C8738-5ADB-0349-44BC-F8858F5CDCF7}"/>
              </a:ext>
            </a:extLst>
          </p:cNvPr>
          <p:cNvPicPr>
            <a:picLocks noGrp="1" noChangeAspect="1"/>
          </p:cNvPicPr>
          <p:nvPr>
            <p:ph type="pic" sz="quarter" idx="11"/>
          </p:nvPr>
        </p:nvPicPr>
        <p:blipFill>
          <a:blip r:embed="rId3"/>
          <a:srcRect b="4066"/>
          <a:stretch/>
        </p:blipFill>
        <p:spPr>
          <a:xfrm>
            <a:off x="3606190" y="1582001"/>
            <a:ext cx="4979621" cy="44347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Fitting Flares</a:t>
            </a:r>
          </a:p>
        </p:txBody>
      </p:sp>
      <p:pic>
        <p:nvPicPr>
          <p:cNvPr id="8" name="Picture Placeholder 7" descr="The two types of flares, double and I S O or bubble, are not interchangeable. In an inverted double flare, the angle of the tube in the first flare is 42 degrees, and in the second flare is 45 degrees. In an I S O flare the angle of the tube in the first flare is 30 degrees, and in the second flare is 32 degrees and 35 degrees, respectively.">
            <a:extLst>
              <a:ext uri="{FF2B5EF4-FFF2-40B4-BE49-F238E27FC236}">
                <a16:creationId xmlns:a16="http://schemas.microsoft.com/office/drawing/2014/main" id="{99DAADC0-4AB5-2ECF-E136-F9F3A7C995CC}"/>
              </a:ext>
            </a:extLst>
          </p:cNvPr>
          <p:cNvPicPr>
            <a:picLocks noGrp="1" noChangeAspect="1"/>
          </p:cNvPicPr>
          <p:nvPr>
            <p:ph type="pic" sz="quarter" idx="11"/>
          </p:nvPr>
        </p:nvPicPr>
        <p:blipFill>
          <a:blip r:embed="rId3"/>
          <a:srcRect b="7655"/>
          <a:stretch/>
        </p:blipFill>
        <p:spPr>
          <a:xfrm>
            <a:off x="4295547" y="1626607"/>
            <a:ext cx="3600907" cy="422863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Brake System Valves</a:t>
            </a:r>
          </a:p>
        </p:txBody>
      </p:sp>
      <p:sp>
        <p:nvSpPr>
          <p:cNvPr id="36867" name="Content Placeholder 3"/>
          <p:cNvSpPr>
            <a:spLocks noGrp="1" noChangeArrowheads="1"/>
          </p:cNvSpPr>
          <p:nvPr>
            <p:ph type="body" idx="1"/>
          </p:nvPr>
        </p:nvSpPr>
        <p:spPr/>
        <p:txBody>
          <a:bodyPr/>
          <a:lstStyle/>
          <a:p>
            <a:r>
              <a:rPr lang="en-US" sz="2600" dirty="0">
                <a:solidFill>
                  <a:schemeClr val="tx1"/>
                </a:solidFill>
              </a:rPr>
              <a:t>Metering Valve</a:t>
            </a:r>
          </a:p>
          <a:p>
            <a:pPr lvl="1"/>
            <a:r>
              <a:rPr lang="en-US" dirty="0">
                <a:solidFill>
                  <a:schemeClr val="tx1"/>
                </a:solidFill>
              </a:rPr>
              <a:t>Delays application of front disc brakes until pressure builds to rear drum brakes</a:t>
            </a:r>
          </a:p>
          <a:p>
            <a:r>
              <a:rPr lang="en-US" sz="2600" dirty="0">
                <a:solidFill>
                  <a:schemeClr val="tx1"/>
                </a:solidFill>
              </a:rPr>
              <a:t>Proportioning Valve</a:t>
            </a:r>
          </a:p>
          <a:p>
            <a:pPr lvl="1"/>
            <a:r>
              <a:rPr lang="en-US" dirty="0">
                <a:solidFill>
                  <a:schemeClr val="tx1"/>
                </a:solidFill>
              </a:rPr>
              <a:t>Applies more hydraulic pressure to the disc brakes to balance braking</a:t>
            </a:r>
          </a:p>
          <a:p>
            <a:r>
              <a:rPr lang="en-US" sz="2600" dirty="0">
                <a:solidFill>
                  <a:schemeClr val="tx1"/>
                </a:solidFill>
              </a:rPr>
              <a:t>Combination Valve</a:t>
            </a:r>
          </a:p>
          <a:p>
            <a:pPr lvl="1"/>
            <a:r>
              <a:rPr lang="en-US" dirty="0">
                <a:solidFill>
                  <a:schemeClr val="tx1"/>
                </a:solidFill>
              </a:rPr>
              <a:t>Combines several functions in one valve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a:t>Pressure Differential Valve</a:t>
            </a:r>
          </a:p>
        </p:txBody>
      </p:sp>
      <p:sp>
        <p:nvSpPr>
          <p:cNvPr id="35843" name="Content Placeholder 2"/>
          <p:cNvSpPr>
            <a:spLocks noGrp="1"/>
          </p:cNvSpPr>
          <p:nvPr>
            <p:ph type="body" idx="1"/>
          </p:nvPr>
        </p:nvSpPr>
        <p:spPr>
          <a:xfrm>
            <a:off x="476845" y="1563626"/>
            <a:ext cx="5619155" cy="3799206"/>
          </a:xfrm>
        </p:spPr>
        <p:txBody>
          <a:bodyPr/>
          <a:lstStyle/>
          <a:p>
            <a:r>
              <a:rPr lang="en-US" sz="2600" dirty="0">
                <a:solidFill>
                  <a:schemeClr val="tx1"/>
                </a:solidFill>
              </a:rPr>
              <a:t>Operates warning light if pressure is lost in either hydraulic circuit</a:t>
            </a:r>
          </a:p>
          <a:p>
            <a:r>
              <a:rPr lang="en-US" sz="2600" dirty="0">
                <a:solidFill>
                  <a:schemeClr val="tx1"/>
                </a:solidFill>
              </a:rPr>
              <a:t>If pressure is lost, the valve will move to the low pressure.</a:t>
            </a:r>
          </a:p>
        </p:txBody>
      </p:sp>
      <p:pic>
        <p:nvPicPr>
          <p:cNvPr id="7" name="Picture Placeholder 6" descr="The action of a pressure differential valve when there is a leak in the system. When the instrument lamp is in an ON state, a leak in either system drops pressure to that system. Rear and front brake pressure is applied on the region above the switch body. The first magnified image depicts a piston moving towards the reduced pressure side and the trigger is pushed into a close switch and illuminated by the brake warning lamp on the instrument panel. The second magnified image depicts that the piston is normally held centered by equal pressure at both ends. The switch trigger extends into the groove and the switch is open.">
            <a:extLst>
              <a:ext uri="{FF2B5EF4-FFF2-40B4-BE49-F238E27FC236}">
                <a16:creationId xmlns:a16="http://schemas.microsoft.com/office/drawing/2014/main" id="{5EC3F675-F46E-E7AE-E626-2A0AFE0FC798}"/>
              </a:ext>
            </a:extLst>
          </p:cNvPr>
          <p:cNvPicPr>
            <a:picLocks noGrp="1" noChangeAspect="1"/>
          </p:cNvPicPr>
          <p:nvPr>
            <p:ph type="pic" sz="quarter" idx="11"/>
          </p:nvPr>
        </p:nvPicPr>
        <p:blipFill>
          <a:blip r:embed="rId3"/>
          <a:srcRect b="4029"/>
          <a:stretch/>
        </p:blipFill>
        <p:spPr>
          <a:xfrm>
            <a:off x="6701264" y="1787943"/>
            <a:ext cx="5071357" cy="39990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t>Combination Valve</a:t>
            </a:r>
          </a:p>
        </p:txBody>
      </p:sp>
      <p:pic>
        <p:nvPicPr>
          <p:cNvPr id="8" name="Picture Placeholder 7" descr="A typical cross-sectional view of a combination valve. The valve body is partitioned into three portions by two vertical dashed lines. The regions divided by the vertical dashed lines are labeled from left to right as follows: metering valve, pressure differential valve, and proportioning valve. The valve body has two inlet ports from the master cylinder at the top, one between the metering valve and the pressure differential valve, and the other between the pressure differential valve and the proportioning valve. The metering valve has a metering valve stem and two outlet ports to the front wheels. The pressure differential valve has a piston at the bottom and a switch terminal at the top. The proportioning valve has a piston, a valve stem, and an outlet port to the rear wheels.">
            <a:extLst>
              <a:ext uri="{FF2B5EF4-FFF2-40B4-BE49-F238E27FC236}">
                <a16:creationId xmlns:a16="http://schemas.microsoft.com/office/drawing/2014/main" id="{B3F7BD66-588F-28C1-0774-D19B4C591154}"/>
              </a:ext>
            </a:extLst>
          </p:cNvPr>
          <p:cNvPicPr>
            <a:picLocks noGrp="1" noChangeAspect="1"/>
          </p:cNvPicPr>
          <p:nvPr>
            <p:ph type="pic" sz="quarter" idx="11"/>
          </p:nvPr>
        </p:nvPicPr>
        <p:blipFill>
          <a:blip r:embed="rId3"/>
          <a:srcRect b="4246"/>
          <a:stretch/>
        </p:blipFill>
        <p:spPr>
          <a:xfrm>
            <a:off x="3186965" y="1444362"/>
            <a:ext cx="5818071" cy="457422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proportioning valves are used to control front disc brake application. Technician B says metering valves are used to prevent rear drum brake lockup under heavy braking. Who is correct?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3)</a:t>
            </a:r>
          </a:p>
        </p:txBody>
      </p:sp>
      <p:sp>
        <p:nvSpPr>
          <p:cNvPr id="3" name="Content Placeholder 2"/>
          <p:cNvSpPr>
            <a:spLocks noGrp="1"/>
          </p:cNvSpPr>
          <p:nvPr>
            <p:ph type="body" idx="1"/>
          </p:nvPr>
        </p:nvSpPr>
        <p:spPr/>
        <p:txBody>
          <a:bodyPr/>
          <a:lstStyle/>
          <a:p>
            <a:pPr marL="85725" indent="0">
              <a:spcAft>
                <a:spcPts val="2400"/>
              </a:spcAft>
              <a:buNone/>
            </a:pPr>
            <a:r>
              <a:rPr lang="en-US" sz="2600" dirty="0">
                <a:solidFill>
                  <a:schemeClr val="tx1"/>
                </a:solidFill>
              </a:rPr>
              <a:t>Technician A says proportioning valves are used to control front disc brake application. Technician B says metering valves are used to prevent rear drum brake lockup under heavy braking. Who is correct?</a:t>
            </a:r>
          </a:p>
          <a:p>
            <a:pPr marL="85725" indent="0">
              <a:buNone/>
            </a:pPr>
            <a:r>
              <a:rPr lang="en-US" sz="2600" dirty="0">
                <a:solidFill>
                  <a:schemeClr val="tx1"/>
                </a:solidFill>
              </a:rPr>
              <a:t>Answer: Neither Technicians A nor B</a:t>
            </a:r>
          </a:p>
        </p:txBody>
      </p:sp>
    </p:spTree>
    <p:extLst>
      <p:ext uri="{BB962C8B-B14F-4D97-AF65-F5344CB8AC3E}">
        <p14:creationId xmlns:p14="http://schemas.microsoft.com/office/powerpoint/2010/main" val="186598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5"/>
          <p:cNvSpPr>
            <a:spLocks noGrp="1"/>
          </p:cNvSpPr>
          <p:nvPr>
            <p:ph type="title"/>
          </p:nvPr>
        </p:nvSpPr>
        <p:spPr/>
        <p:txBody>
          <a:bodyPr/>
          <a:lstStyle/>
          <a:p>
            <a:r>
              <a:rPr lang="en-US" dirty="0"/>
              <a:t>Warning Lights</a:t>
            </a:r>
          </a:p>
        </p:txBody>
      </p:sp>
      <p:sp>
        <p:nvSpPr>
          <p:cNvPr id="44035" name="Content Placeholder 6"/>
          <p:cNvSpPr>
            <a:spLocks noGrp="1"/>
          </p:cNvSpPr>
          <p:nvPr>
            <p:ph type="body" idx="1"/>
          </p:nvPr>
        </p:nvSpPr>
        <p:spPr/>
        <p:txBody>
          <a:bodyPr/>
          <a:lstStyle/>
          <a:p>
            <a:r>
              <a:rPr lang="en-US" sz="2600" dirty="0">
                <a:solidFill>
                  <a:schemeClr val="tx1"/>
                </a:solidFill>
              </a:rPr>
              <a:t>Failure warning lamp switch</a:t>
            </a:r>
          </a:p>
          <a:p>
            <a:pPr lvl="1"/>
            <a:r>
              <a:rPr lang="en-US" dirty="0">
                <a:solidFill>
                  <a:schemeClr val="tx1"/>
                </a:solidFill>
              </a:rPr>
              <a:t>Operated by the pressure differential valve</a:t>
            </a:r>
          </a:p>
          <a:p>
            <a:r>
              <a:rPr lang="en-US" sz="2600" dirty="0">
                <a:solidFill>
                  <a:schemeClr val="tx1"/>
                </a:solidFill>
              </a:rPr>
              <a:t>Master cylinder fluid level switch</a:t>
            </a:r>
          </a:p>
          <a:p>
            <a:pPr lvl="1"/>
            <a:r>
              <a:rPr lang="en-US" dirty="0">
                <a:solidFill>
                  <a:schemeClr val="tx1"/>
                </a:solidFill>
              </a:rPr>
              <a:t>Illuminates warning light when fluid level is low</a:t>
            </a:r>
          </a:p>
          <a:p>
            <a:r>
              <a:rPr lang="en-US" sz="2600" dirty="0">
                <a:solidFill>
                  <a:schemeClr val="tx1"/>
                </a:solidFill>
              </a:rPr>
              <a:t>Parking brake switch</a:t>
            </a:r>
          </a:p>
          <a:p>
            <a:pPr lvl="1"/>
            <a:r>
              <a:rPr lang="en-US" dirty="0">
                <a:solidFill>
                  <a:schemeClr val="tx1"/>
                </a:solidFill>
              </a:rPr>
              <a:t>Warns driver that the parking brake is engaged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dirty="0"/>
              <a:t>Stop Lamps</a:t>
            </a:r>
          </a:p>
        </p:txBody>
      </p:sp>
      <p:sp>
        <p:nvSpPr>
          <p:cNvPr id="45059" name="Content Placeholder 2"/>
          <p:cNvSpPr>
            <a:spLocks noGrp="1"/>
          </p:cNvSpPr>
          <p:nvPr>
            <p:ph type="body" idx="1"/>
          </p:nvPr>
        </p:nvSpPr>
        <p:spPr/>
        <p:txBody>
          <a:bodyPr/>
          <a:lstStyle/>
          <a:p>
            <a:r>
              <a:rPr lang="en-US" sz="2600" dirty="0">
                <a:solidFill>
                  <a:schemeClr val="tx1"/>
                </a:solidFill>
              </a:rPr>
              <a:t>Stop lamps are part of rear tail lamp assemblies and the center high-mounted stop lamp (CHMSL).</a:t>
            </a:r>
          </a:p>
          <a:p>
            <a:r>
              <a:rPr lang="en-US" sz="2600" dirty="0">
                <a:solidFill>
                  <a:schemeClr val="tx1"/>
                </a:solidFill>
              </a:rPr>
              <a:t>Usually, the stop lamp switch is mounted with the brake pedal.</a:t>
            </a:r>
          </a:p>
          <a:p>
            <a:r>
              <a:rPr lang="en-US" sz="2600" dirty="0">
                <a:solidFill>
                  <a:schemeClr val="tx1"/>
                </a:solidFill>
              </a:rPr>
              <a:t>Brake lamp switch output is often used for cruise control and </a:t>
            </a:r>
            <a:r>
              <a:rPr lang="en-US" sz="2600" dirty="0" err="1">
                <a:solidFill>
                  <a:schemeClr val="tx1"/>
                </a:solidFill>
              </a:rPr>
              <a:t>TCC</a:t>
            </a:r>
            <a:r>
              <a:rPr lang="en-US" sz="2600" dirty="0">
                <a:solidFill>
                  <a:schemeClr val="tx1"/>
                </a:solidFill>
              </a:rPr>
              <a:t> disengagement.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dirty="0"/>
              <a:t>Drum Brakes</a:t>
            </a:r>
          </a:p>
        </p:txBody>
      </p:sp>
      <p:sp>
        <p:nvSpPr>
          <p:cNvPr id="2" name="Text Placeholder 1">
            <a:extLst>
              <a:ext uri="{FF2B5EF4-FFF2-40B4-BE49-F238E27FC236}">
                <a16:creationId xmlns:a16="http://schemas.microsoft.com/office/drawing/2014/main" id="{D2DE5BA4-7559-B7D6-5F7B-93B2C5C0F2D7}"/>
              </a:ext>
            </a:extLst>
          </p:cNvPr>
          <p:cNvSpPr>
            <a:spLocks noGrp="1"/>
          </p:cNvSpPr>
          <p:nvPr>
            <p:ph type="body" idx="1"/>
          </p:nvPr>
        </p:nvSpPr>
        <p:spPr>
          <a:xfrm>
            <a:off x="476844" y="1563626"/>
            <a:ext cx="6146377" cy="4145196"/>
          </a:xfrm>
        </p:spPr>
        <p:txBody>
          <a:bodyPr/>
          <a:lstStyle/>
          <a:p>
            <a:pPr marL="0" indent="0">
              <a:buNone/>
            </a:pPr>
            <a:r>
              <a:rPr lang="en-US" b="1" dirty="0">
                <a:solidFill>
                  <a:schemeClr val="tx1"/>
                </a:solidFill>
                <a:latin typeface="Work Sans" pitchFamily="2" charset="0"/>
              </a:rPr>
              <a:t>50-03 Describe the operation of drum and disc brakes.</a:t>
            </a:r>
          </a:p>
          <a:p>
            <a:r>
              <a:rPr lang="en-US" dirty="0">
                <a:solidFill>
                  <a:schemeClr val="tx1"/>
                </a:solidFill>
              </a:rPr>
              <a:t>Consists of shoes mounted to a backing plate</a:t>
            </a:r>
          </a:p>
          <a:p>
            <a:r>
              <a:rPr lang="en-US" dirty="0">
                <a:solidFill>
                  <a:schemeClr val="tx1"/>
                </a:solidFill>
              </a:rPr>
              <a:t>Hydraulic pressure forces shoes apart against inside of the brake drum.</a:t>
            </a:r>
            <a:endParaRPr lang="en-US" b="1" dirty="0">
              <a:solidFill>
                <a:schemeClr val="tx1"/>
              </a:solidFill>
              <a:latin typeface="Work Sans" pitchFamily="2" charset="0"/>
            </a:endParaRPr>
          </a:p>
        </p:txBody>
      </p:sp>
      <p:pic>
        <p:nvPicPr>
          <p:cNvPr id="9" name="Picture Placeholder 8" descr="An exploded view of the nonservo drum brake assembly. The labeled parts are as follows: Front of vehicle: Wheel cylinder boot, Wheel cylinder cup, Bleeder Screw, Bleeder screw cap, Wheel cylinder, Wheel cylinder piston, Shoe hold-down Pin, Backing plate assembly, Anchor, Retainer pin, Trailing (secondary) brake shoe, Shoe hold-down spring, Shoe-return spring, Latch, Stopper, Spring, Pin, Brake drum, Adjusting lever, Leading (primary) brake shoe, Parking lever, Strut-to-shoe spring, Shoe-to-shoe spring, and Strut.">
            <a:extLst>
              <a:ext uri="{FF2B5EF4-FFF2-40B4-BE49-F238E27FC236}">
                <a16:creationId xmlns:a16="http://schemas.microsoft.com/office/drawing/2014/main" id="{EEAE24E4-C6A2-5679-DF69-12A640DBD8FF}"/>
              </a:ext>
            </a:extLst>
          </p:cNvPr>
          <p:cNvPicPr>
            <a:picLocks noGrp="1" noChangeAspect="1"/>
          </p:cNvPicPr>
          <p:nvPr>
            <p:ph type="pic" sz="quarter" idx="11"/>
          </p:nvPr>
        </p:nvPicPr>
        <p:blipFill>
          <a:blip r:embed="rId3"/>
          <a:srcRect b="3685"/>
          <a:stretch/>
        </p:blipFill>
        <p:spPr>
          <a:xfrm>
            <a:off x="6623221" y="2099153"/>
            <a:ext cx="5070619" cy="372791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dirty="0"/>
              <a:t>Disc Brakes</a:t>
            </a:r>
          </a:p>
        </p:txBody>
      </p:sp>
      <p:sp>
        <p:nvSpPr>
          <p:cNvPr id="4" name="Content Placeholder 3"/>
          <p:cNvSpPr>
            <a:spLocks noGrp="1"/>
          </p:cNvSpPr>
          <p:nvPr>
            <p:ph sz="quarter" idx="10"/>
          </p:nvPr>
        </p:nvSpPr>
        <p:spPr>
          <a:xfrm>
            <a:off x="621227" y="1691105"/>
            <a:ext cx="5474773" cy="3973618"/>
          </a:xfrm>
        </p:spPr>
        <p:txBody>
          <a:bodyPr>
            <a:normAutofit/>
          </a:bodyPr>
          <a:lstStyle/>
          <a:p>
            <a:pPr marL="358775" indent="-358775">
              <a:spcBef>
                <a:spcPts val="624"/>
              </a:spcBef>
              <a:spcAft>
                <a:spcPts val="600"/>
              </a:spcAft>
            </a:pPr>
            <a:r>
              <a:rPr lang="en-US" sz="2600" dirty="0">
                <a:solidFill>
                  <a:schemeClr val="tx1"/>
                </a:solidFill>
              </a:rPr>
              <a:t>The pads are squeezed against the brake rotor.</a:t>
            </a:r>
          </a:p>
          <a:p>
            <a:pPr marL="358775" indent="-358775">
              <a:spcBef>
                <a:spcPts val="624"/>
              </a:spcBef>
              <a:spcAft>
                <a:spcPts val="600"/>
              </a:spcAft>
            </a:pPr>
            <a:r>
              <a:rPr lang="en-US" sz="2600" dirty="0">
                <a:solidFill>
                  <a:schemeClr val="tx1"/>
                </a:solidFill>
              </a:rPr>
              <a:t>Hydraulic pressure forces the caliper piston(s) outward.</a:t>
            </a:r>
          </a:p>
        </p:txBody>
      </p:sp>
      <p:pic>
        <p:nvPicPr>
          <p:cNvPr id="8" name="Picture Placeholder 7" descr="Arrangements of disc brakes caliper, pads, and rotor. The labeled parts are as follows: dust boot, piston seal, piston, inboard brake pad, rotor, and outboard brake pad.">
            <a:extLst>
              <a:ext uri="{FF2B5EF4-FFF2-40B4-BE49-F238E27FC236}">
                <a16:creationId xmlns:a16="http://schemas.microsoft.com/office/drawing/2014/main" id="{922D7F9D-6814-6E59-5012-D7C5DDAD6AF7}"/>
              </a:ext>
            </a:extLst>
          </p:cNvPr>
          <p:cNvPicPr>
            <a:picLocks noGrp="1" noChangeAspect="1"/>
          </p:cNvPicPr>
          <p:nvPr>
            <p:ph type="pic" sz="quarter" idx="11"/>
          </p:nvPr>
        </p:nvPicPr>
        <p:blipFill>
          <a:blip r:embed="rId3"/>
          <a:srcRect b="8865"/>
          <a:stretch/>
        </p:blipFill>
        <p:spPr>
          <a:xfrm>
            <a:off x="6722802" y="1524406"/>
            <a:ext cx="4271246" cy="446351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Brake Fluid Inspection</a:t>
            </a:r>
          </a:p>
        </p:txBody>
      </p:sp>
      <p:sp>
        <p:nvSpPr>
          <p:cNvPr id="48131" name="Content Placeholder 3"/>
          <p:cNvSpPr>
            <a:spLocks noGrp="1" noChangeArrowheads="1"/>
          </p:cNvSpPr>
          <p:nvPr>
            <p:ph type="body" idx="1"/>
          </p:nvPr>
        </p:nvSpPr>
        <p:spPr/>
        <p:txBody>
          <a:bodyPr/>
          <a:lstStyle/>
          <a:p>
            <a:r>
              <a:rPr lang="en-US" sz="2600" dirty="0">
                <a:solidFill>
                  <a:schemeClr val="tx1"/>
                </a:solidFill>
              </a:rPr>
              <a:t>Remove the cover and check the gasket</a:t>
            </a:r>
          </a:p>
          <a:p>
            <a:r>
              <a:rPr lang="en-US" sz="2600" dirty="0">
                <a:solidFill>
                  <a:schemeClr val="tx1"/>
                </a:solidFill>
              </a:rPr>
              <a:t>Check the fluid in the reservoir</a:t>
            </a:r>
          </a:p>
          <a:p>
            <a:pPr lvl="1"/>
            <a:r>
              <a:rPr lang="en-US" dirty="0">
                <a:solidFill>
                  <a:schemeClr val="tx1"/>
                </a:solidFill>
              </a:rPr>
              <a:t>Do not overfill</a:t>
            </a:r>
          </a:p>
          <a:p>
            <a:r>
              <a:rPr lang="en-US" sz="2600" dirty="0">
                <a:solidFill>
                  <a:schemeClr val="tx1"/>
                </a:solidFill>
              </a:rPr>
              <a:t>Check the fluid for contamination</a:t>
            </a:r>
          </a:p>
          <a:p>
            <a:r>
              <a:rPr lang="en-US" sz="2600" dirty="0">
                <a:solidFill>
                  <a:schemeClr val="tx1"/>
                </a:solidFill>
              </a:rPr>
              <a:t>Test strips can check fluid condition.</a:t>
            </a:r>
          </a:p>
          <a:p>
            <a:r>
              <a:rPr lang="en-US" sz="2600" dirty="0">
                <a:solidFill>
                  <a:schemeClr val="tx1"/>
                </a:solidFill>
              </a:rPr>
              <a:t>Special testers can check boiling point.</a:t>
            </a:r>
          </a:p>
          <a:p>
            <a:r>
              <a:rPr lang="en-US" sz="2600" dirty="0">
                <a:solidFill>
                  <a:schemeClr val="tx1"/>
                </a:solidFill>
              </a:rPr>
              <a:t>Check the master cylinder for signs of leaks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9B75-F759-59F4-31D4-B6DE4191A0CA}"/>
              </a:ext>
            </a:extLst>
          </p:cNvPr>
          <p:cNvSpPr>
            <a:spLocks noGrp="1"/>
          </p:cNvSpPr>
          <p:nvPr>
            <p:ph type="title"/>
          </p:nvPr>
        </p:nvSpPr>
        <p:spPr/>
        <p:txBody>
          <a:bodyPr/>
          <a:lstStyle/>
          <a:p>
            <a:r>
              <a:rPr lang="en-US" dirty="0"/>
              <a:t>Electric Parking Brakes</a:t>
            </a:r>
          </a:p>
        </p:txBody>
      </p:sp>
      <p:sp>
        <p:nvSpPr>
          <p:cNvPr id="3" name="Text Placeholder 2">
            <a:extLst>
              <a:ext uri="{FF2B5EF4-FFF2-40B4-BE49-F238E27FC236}">
                <a16:creationId xmlns:a16="http://schemas.microsoft.com/office/drawing/2014/main" id="{9C9944B0-799E-B48D-A05D-F3C0E873EB5E}"/>
              </a:ext>
            </a:extLst>
          </p:cNvPr>
          <p:cNvSpPr>
            <a:spLocks noGrp="1"/>
          </p:cNvSpPr>
          <p:nvPr>
            <p:ph type="body" idx="1"/>
          </p:nvPr>
        </p:nvSpPr>
        <p:spPr>
          <a:xfrm>
            <a:off x="476844" y="1563626"/>
            <a:ext cx="6356441" cy="3972201"/>
          </a:xfrm>
        </p:spPr>
        <p:txBody>
          <a:bodyPr/>
          <a:lstStyle/>
          <a:p>
            <a:pPr algn="l"/>
            <a:r>
              <a:rPr lang="en-US" b="0" i="0" u="none" strike="noStrike" baseline="0" dirty="0">
                <a:solidFill>
                  <a:schemeClr val="tx1"/>
                </a:solidFill>
                <a:latin typeface="Work Sans" pitchFamily="2" charset="0"/>
              </a:rPr>
              <a:t>Provide some control during emergency braking.</a:t>
            </a:r>
          </a:p>
          <a:p>
            <a:pPr algn="l"/>
            <a:r>
              <a:rPr lang="en-US" b="0" i="0" u="none" strike="noStrike" baseline="0" dirty="0">
                <a:solidFill>
                  <a:schemeClr val="tx1"/>
                </a:solidFill>
                <a:latin typeface="Work Sans" pitchFamily="2" charset="0"/>
              </a:rPr>
              <a:t>Help stop the car if the hydraulic system fails.</a:t>
            </a:r>
          </a:p>
          <a:p>
            <a:pPr algn="l"/>
            <a:r>
              <a:rPr lang="en-US" b="0" i="0" u="none" strike="noStrike" baseline="0" dirty="0">
                <a:solidFill>
                  <a:schemeClr val="tx1"/>
                </a:solidFill>
                <a:latin typeface="Work Sans" pitchFamily="2" charset="0"/>
              </a:rPr>
              <a:t>Automatically release the parking brakes when the throttle is opened.</a:t>
            </a:r>
            <a:endParaRPr lang="en-US" dirty="0">
              <a:solidFill>
                <a:schemeClr val="tx1"/>
              </a:solidFill>
              <a:latin typeface="Work Sans" pitchFamily="2" charset="0"/>
            </a:endParaRPr>
          </a:p>
        </p:txBody>
      </p:sp>
      <p:pic>
        <p:nvPicPr>
          <p:cNvPr id="9" name="Picture Placeholder 8" descr="Two photos. (photo A) Electric parking brake buttons such as brake hold, and drive mode. (photo B) Close up of the rear caliper of an electric parking brake.">
            <a:extLst>
              <a:ext uri="{FF2B5EF4-FFF2-40B4-BE49-F238E27FC236}">
                <a16:creationId xmlns:a16="http://schemas.microsoft.com/office/drawing/2014/main" id="{66FEE6A8-276F-4561-E018-01F414D53E92}"/>
              </a:ext>
            </a:extLst>
          </p:cNvPr>
          <p:cNvPicPr>
            <a:picLocks noGrp="1" noChangeAspect="1"/>
          </p:cNvPicPr>
          <p:nvPr>
            <p:ph type="pic" sz="quarter" idx="11"/>
          </p:nvPr>
        </p:nvPicPr>
        <p:blipFill>
          <a:blip r:embed="rId2"/>
          <a:srcRect b="6725"/>
          <a:stretch/>
        </p:blipFill>
        <p:spPr>
          <a:xfrm>
            <a:off x="7869166" y="1683001"/>
            <a:ext cx="2013869" cy="4358314"/>
          </a:xfrm>
          <a:prstGeom prst="rect">
            <a:avLst/>
          </a:prstGeom>
        </p:spPr>
      </p:pic>
    </p:spTree>
    <p:extLst>
      <p:ext uri="{BB962C8B-B14F-4D97-AF65-F5344CB8AC3E}">
        <p14:creationId xmlns:p14="http://schemas.microsoft.com/office/powerpoint/2010/main" val="1633795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Moisture Testing</a:t>
            </a:r>
          </a:p>
        </p:txBody>
      </p:sp>
      <p:pic>
        <p:nvPicPr>
          <p:cNvPr id="10" name="Picture Placeholder 9" descr="A technician dips a test strip into a brake fluid to test for contaminants.">
            <a:extLst>
              <a:ext uri="{FF2B5EF4-FFF2-40B4-BE49-F238E27FC236}">
                <a16:creationId xmlns:a16="http://schemas.microsoft.com/office/drawing/2014/main" id="{ED9E617B-1D17-B01B-654C-841490C8FA28}"/>
              </a:ext>
            </a:extLst>
          </p:cNvPr>
          <p:cNvPicPr>
            <a:picLocks noGrp="1" noChangeAspect="1"/>
          </p:cNvPicPr>
          <p:nvPr>
            <p:ph type="pic" sz="quarter" idx="11"/>
          </p:nvPr>
        </p:nvPicPr>
        <p:blipFill>
          <a:blip r:embed="rId2"/>
          <a:srcRect b="7578"/>
          <a:stretch/>
        </p:blipFill>
        <p:spPr>
          <a:xfrm>
            <a:off x="2144494" y="1644584"/>
            <a:ext cx="3306288" cy="3636334"/>
          </a:xfrm>
          <a:prstGeom prst="rect">
            <a:avLst/>
          </a:prstGeom>
        </p:spPr>
      </p:pic>
      <p:pic>
        <p:nvPicPr>
          <p:cNvPr id="11" name="Picture Placeholder 10" descr="A technician uses a moisture tester, labeled brake fluid tester, to check the brake fluid. The screen on the tester displays boiling point is 221 degree Fahrenheit.">
            <a:extLst>
              <a:ext uri="{FF2B5EF4-FFF2-40B4-BE49-F238E27FC236}">
                <a16:creationId xmlns:a16="http://schemas.microsoft.com/office/drawing/2014/main" id="{12D629B3-92EA-4446-7E7A-80A4D1E93375}"/>
              </a:ext>
            </a:extLst>
          </p:cNvPr>
          <p:cNvPicPr>
            <a:picLocks noGrp="1" noChangeAspect="1"/>
          </p:cNvPicPr>
          <p:nvPr>
            <p:ph type="pic" sz="quarter" idx="12"/>
          </p:nvPr>
        </p:nvPicPr>
        <p:blipFill>
          <a:blip r:embed="rId3"/>
          <a:srcRect b="9620"/>
          <a:stretch/>
        </p:blipFill>
        <p:spPr>
          <a:xfrm>
            <a:off x="6095999" y="1730902"/>
            <a:ext cx="4127393" cy="355001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dirty="0"/>
              <a:t>Master Cylinder Inspection</a:t>
            </a:r>
          </a:p>
        </p:txBody>
      </p:sp>
      <p:sp>
        <p:nvSpPr>
          <p:cNvPr id="49155"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50-05 Inspect and service hydraulic system components.</a:t>
            </a:r>
            <a:endParaRPr lang="en-US" dirty="0">
              <a:solidFill>
                <a:schemeClr val="tx1"/>
              </a:solidFill>
            </a:endParaRPr>
          </a:p>
          <a:p>
            <a:r>
              <a:rPr lang="en-US" dirty="0">
                <a:solidFill>
                  <a:schemeClr val="tx1"/>
                </a:solidFill>
              </a:rPr>
              <a:t>Check housing for cracks or damage.</a:t>
            </a:r>
          </a:p>
          <a:p>
            <a:r>
              <a:rPr lang="en-US" dirty="0">
                <a:solidFill>
                  <a:schemeClr val="tx1"/>
                </a:solidFill>
              </a:rPr>
              <a:t>Leaks can be internal or external.</a:t>
            </a:r>
          </a:p>
          <a:p>
            <a:r>
              <a:rPr lang="en-US" dirty="0">
                <a:solidFill>
                  <a:schemeClr val="tx1"/>
                </a:solidFill>
              </a:rPr>
              <a:t>Pump brake pedal and hold down, the pedal should not drop.</a:t>
            </a:r>
          </a:p>
          <a:p>
            <a:pPr lvl="1"/>
            <a:r>
              <a:rPr lang="en-US" dirty="0">
                <a:solidFill>
                  <a:schemeClr val="tx1"/>
                </a:solidFill>
              </a:rPr>
              <a:t>If the pedal drops and there are no external leaks, suspect the fluid is bypassing the seals inside the master cylinder.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t>Air-Entrapment Test</a:t>
            </a:r>
          </a:p>
        </p:txBody>
      </p:sp>
      <p:sp>
        <p:nvSpPr>
          <p:cNvPr id="51203" name="Content Placeholder 2"/>
          <p:cNvSpPr>
            <a:spLocks noGrp="1"/>
          </p:cNvSpPr>
          <p:nvPr>
            <p:ph type="body" idx="1"/>
          </p:nvPr>
        </p:nvSpPr>
        <p:spPr/>
        <p:txBody>
          <a:bodyPr/>
          <a:lstStyle/>
          <a:p>
            <a:r>
              <a:rPr lang="en-US" sz="2600" dirty="0">
                <a:solidFill>
                  <a:schemeClr val="tx1"/>
                </a:solidFill>
              </a:rPr>
              <a:t>Remove master cylinder cover and fill fluid to the proper level.</a:t>
            </a:r>
          </a:p>
          <a:p>
            <a:r>
              <a:rPr lang="en-US" sz="2600" dirty="0">
                <a:solidFill>
                  <a:schemeClr val="tx1"/>
                </a:solidFill>
              </a:rPr>
              <a:t>Place cover on top but do not secure.</a:t>
            </a:r>
          </a:p>
          <a:p>
            <a:r>
              <a:rPr lang="en-US" sz="2600" dirty="0">
                <a:solidFill>
                  <a:schemeClr val="tx1"/>
                </a:solidFill>
              </a:rPr>
              <a:t>Have an assistant pump the pedal 10 to 20 times rapidly and hold.</a:t>
            </a:r>
          </a:p>
          <a:p>
            <a:r>
              <a:rPr lang="en-US" sz="2600" dirty="0">
                <a:solidFill>
                  <a:schemeClr val="tx1"/>
                </a:solidFill>
              </a:rPr>
              <a:t>Remove the cover and release the pedal.</a:t>
            </a:r>
          </a:p>
          <a:p>
            <a:r>
              <a:rPr lang="en-US" sz="2600" dirty="0">
                <a:solidFill>
                  <a:schemeClr val="tx1"/>
                </a:solidFill>
              </a:rPr>
              <a:t>Watch for a squirt of fluid.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dirty="0"/>
              <a:t>System Flushing</a:t>
            </a:r>
          </a:p>
        </p:txBody>
      </p:sp>
      <p:sp>
        <p:nvSpPr>
          <p:cNvPr id="52227" name="Content Placeholder 2"/>
          <p:cNvSpPr>
            <a:spLocks noGrp="1"/>
          </p:cNvSpPr>
          <p:nvPr>
            <p:ph type="body" idx="1"/>
          </p:nvPr>
        </p:nvSpPr>
        <p:spPr>
          <a:xfrm>
            <a:off x="476845" y="1563626"/>
            <a:ext cx="6912496" cy="4021628"/>
          </a:xfrm>
        </p:spPr>
        <p:txBody>
          <a:bodyPr/>
          <a:lstStyle/>
          <a:p>
            <a:r>
              <a:rPr lang="en-US" dirty="0">
                <a:solidFill>
                  <a:schemeClr val="tx1"/>
                </a:solidFill>
              </a:rPr>
              <a:t>Many manufacturers specify periodic brake fluid flushing.</a:t>
            </a:r>
          </a:p>
          <a:p>
            <a:r>
              <a:rPr lang="en-US" dirty="0">
                <a:solidFill>
                  <a:schemeClr val="tx1"/>
                </a:solidFill>
              </a:rPr>
              <a:t>Open each bleeder and pump fluid out until fresh new fluid appears.</a:t>
            </a:r>
          </a:p>
          <a:p>
            <a:r>
              <a:rPr lang="en-US" dirty="0">
                <a:solidFill>
                  <a:schemeClr val="tx1"/>
                </a:solidFill>
              </a:rPr>
              <a:t>Flushing can remove sludge and moisture.</a:t>
            </a:r>
          </a:p>
        </p:txBody>
      </p:sp>
      <p:pic>
        <p:nvPicPr>
          <p:cNvPr id="7" name="Picture Placeholder 6" descr="Two photos. (photo A) A vehicle's hood is open and a flush machine is attached to the fluid reservoir. (photo B) The bottom view of a vehicle where the wheel brake bleeder valve is opened and fluid is flushed out.">
            <a:extLst>
              <a:ext uri="{FF2B5EF4-FFF2-40B4-BE49-F238E27FC236}">
                <a16:creationId xmlns:a16="http://schemas.microsoft.com/office/drawing/2014/main" id="{6B8BFE35-2714-A578-9F6B-5FFE5F05E3A5}"/>
              </a:ext>
            </a:extLst>
          </p:cNvPr>
          <p:cNvPicPr>
            <a:picLocks noGrp="1" noChangeAspect="1"/>
          </p:cNvPicPr>
          <p:nvPr>
            <p:ph type="pic" sz="quarter" idx="11"/>
          </p:nvPr>
        </p:nvPicPr>
        <p:blipFill>
          <a:blip r:embed="rId3"/>
          <a:srcRect b="6789"/>
          <a:stretch/>
        </p:blipFill>
        <p:spPr>
          <a:xfrm>
            <a:off x="8046464" y="1706461"/>
            <a:ext cx="1999409" cy="430407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Hydraulic System Bleeding</a:t>
            </a:r>
          </a:p>
        </p:txBody>
      </p:sp>
      <p:sp>
        <p:nvSpPr>
          <p:cNvPr id="55299" name="Content Placeholder 2"/>
          <p:cNvSpPr>
            <a:spLocks noGrp="1"/>
          </p:cNvSpPr>
          <p:nvPr>
            <p:ph type="body" idx="1"/>
          </p:nvPr>
        </p:nvSpPr>
        <p:spPr/>
        <p:txBody>
          <a:bodyPr>
            <a:normAutofit fontScale="92500" lnSpcReduction="20000"/>
          </a:bodyPr>
          <a:lstStyle/>
          <a:p>
            <a:pPr marL="0" indent="0">
              <a:lnSpc>
                <a:spcPct val="110000"/>
              </a:lnSpc>
              <a:buNone/>
            </a:pPr>
            <a:r>
              <a:rPr lang="en-US" sz="2800" b="1" dirty="0">
                <a:solidFill>
                  <a:schemeClr val="tx1"/>
                </a:solidFill>
                <a:latin typeface="Work Sans" pitchFamily="2" charset="0"/>
              </a:rPr>
              <a:t>50-04 Perform both manual and pressure bleeding of the hydraulic system.</a:t>
            </a:r>
            <a:endParaRPr lang="en-US" sz="2800" dirty="0">
              <a:solidFill>
                <a:schemeClr val="tx1"/>
              </a:solidFill>
            </a:endParaRPr>
          </a:p>
          <a:p>
            <a:pPr>
              <a:lnSpc>
                <a:spcPct val="110000"/>
              </a:lnSpc>
            </a:pPr>
            <a:r>
              <a:rPr lang="en-US" sz="2800" dirty="0">
                <a:solidFill>
                  <a:schemeClr val="tx1"/>
                </a:solidFill>
              </a:rPr>
              <a:t>Any air in the system can be compressed. </a:t>
            </a:r>
          </a:p>
          <a:p>
            <a:pPr>
              <a:lnSpc>
                <a:spcPct val="110000"/>
              </a:lnSpc>
            </a:pPr>
            <a:r>
              <a:rPr lang="en-US" sz="2800" dirty="0">
                <a:solidFill>
                  <a:schemeClr val="tx1"/>
                </a:solidFill>
              </a:rPr>
              <a:t>This decreases the amount of force that can be transmitted by the fluid.</a:t>
            </a:r>
          </a:p>
          <a:p>
            <a:pPr>
              <a:lnSpc>
                <a:spcPct val="110000"/>
              </a:lnSpc>
            </a:pPr>
            <a:r>
              <a:rPr lang="en-US" sz="2800" dirty="0">
                <a:solidFill>
                  <a:schemeClr val="tx1"/>
                </a:solidFill>
              </a:rPr>
              <a:t>Bleeding removes the air trapped in the system.</a:t>
            </a:r>
          </a:p>
          <a:p>
            <a:pPr>
              <a:lnSpc>
                <a:spcPct val="110000"/>
              </a:lnSpc>
            </a:pPr>
            <a:r>
              <a:rPr lang="en-US" sz="2800" dirty="0">
                <a:solidFill>
                  <a:schemeClr val="tx1"/>
                </a:solidFill>
              </a:rPr>
              <a:t>Two types of bleeding are common</a:t>
            </a:r>
          </a:p>
          <a:p>
            <a:pPr marL="715963" lvl="1" indent="-357188">
              <a:lnSpc>
                <a:spcPct val="110000"/>
              </a:lnSpc>
            </a:pPr>
            <a:r>
              <a:rPr lang="en-US" sz="2600" dirty="0">
                <a:solidFill>
                  <a:schemeClr val="tx1"/>
                </a:solidFill>
              </a:rPr>
              <a:t>Manual bleeding</a:t>
            </a:r>
          </a:p>
          <a:p>
            <a:pPr marL="715963" lvl="1" indent="-357188">
              <a:lnSpc>
                <a:spcPct val="110000"/>
              </a:lnSpc>
            </a:pPr>
            <a:r>
              <a:rPr lang="en-US" sz="2600" dirty="0">
                <a:solidFill>
                  <a:schemeClr val="tx1"/>
                </a:solidFill>
              </a:rPr>
              <a:t>Pressure bleeding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Typical Bleeding Sequence</a:t>
            </a:r>
          </a:p>
        </p:txBody>
      </p:sp>
      <p:pic>
        <p:nvPicPr>
          <p:cNvPr id="9" name="Picture Placeholder 8" descr="The recommended bleeding sequence for a diagonally split brake system. The right rear wheel labeled 1, and the left front wheel labeled 2 connects diagonally to the master cylinder using a valve. The left rear wheel labeled 3, and the right front wheel labeled 4 connects diagonally to the master cylinder using a valve.">
            <a:extLst>
              <a:ext uri="{FF2B5EF4-FFF2-40B4-BE49-F238E27FC236}">
                <a16:creationId xmlns:a16="http://schemas.microsoft.com/office/drawing/2014/main" id="{6861A59F-2D83-FD93-00E4-B219498FE7A0}"/>
              </a:ext>
            </a:extLst>
          </p:cNvPr>
          <p:cNvPicPr>
            <a:picLocks noGrp="1" noChangeAspect="1"/>
          </p:cNvPicPr>
          <p:nvPr>
            <p:ph type="pic" sz="quarter" idx="11"/>
          </p:nvPr>
        </p:nvPicPr>
        <p:blipFill>
          <a:blip r:embed="rId2"/>
          <a:srcRect b="6816"/>
          <a:stretch/>
        </p:blipFill>
        <p:spPr>
          <a:xfrm>
            <a:off x="4157559" y="1647470"/>
            <a:ext cx="3876882" cy="40341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t>Power Brakes</a:t>
            </a:r>
          </a:p>
        </p:txBody>
      </p:sp>
      <p:sp>
        <p:nvSpPr>
          <p:cNvPr id="58371" name="Content Placeholder 2"/>
          <p:cNvSpPr>
            <a:spLocks noGrp="1"/>
          </p:cNvSpPr>
          <p:nvPr>
            <p:ph type="body" idx="1"/>
          </p:nvPr>
        </p:nvSpPr>
        <p:spPr/>
        <p:txBody>
          <a:bodyPr/>
          <a:lstStyle/>
          <a:p>
            <a:pPr marL="85725" indent="0">
              <a:buNone/>
            </a:pPr>
            <a:r>
              <a:rPr lang="en-US" sz="2600" b="1" dirty="0">
                <a:solidFill>
                  <a:schemeClr val="tx1"/>
                </a:solidFill>
                <a:latin typeface="Work Sans" pitchFamily="2" charset="0"/>
              </a:rPr>
              <a:t>50-06 Describe the operation and components of power-assist braking units.</a:t>
            </a:r>
            <a:endParaRPr lang="en-US" sz="2600" dirty="0">
              <a:solidFill>
                <a:schemeClr val="tx1"/>
              </a:solidFill>
            </a:endParaRPr>
          </a:p>
          <a:p>
            <a:r>
              <a:rPr lang="en-US" sz="2600" dirty="0">
                <a:solidFill>
                  <a:schemeClr val="tx1"/>
                </a:solidFill>
              </a:rPr>
              <a:t>Standard brakes with a power assist unit located between the brake pedal and master cylinder</a:t>
            </a:r>
          </a:p>
          <a:p>
            <a:r>
              <a:rPr lang="en-US" sz="2600" dirty="0">
                <a:solidFill>
                  <a:schemeClr val="tx1"/>
                </a:solidFill>
              </a:rPr>
              <a:t>Two types of power assist used</a:t>
            </a:r>
          </a:p>
          <a:p>
            <a:pPr marL="715963" lvl="1" indent="-357188"/>
            <a:r>
              <a:rPr lang="en-US" dirty="0">
                <a:solidFill>
                  <a:schemeClr val="tx1"/>
                </a:solidFill>
              </a:rPr>
              <a:t>Vacuum assist</a:t>
            </a:r>
          </a:p>
          <a:p>
            <a:pPr marL="715963" lvl="1" indent="-357188"/>
            <a:r>
              <a:rPr lang="en-US" dirty="0">
                <a:solidFill>
                  <a:schemeClr val="tx1"/>
                </a:solidFill>
              </a:rPr>
              <a:t>Hydraulic assist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dirty="0"/>
              <a:t>Vacuum Assist</a:t>
            </a:r>
          </a:p>
        </p:txBody>
      </p:sp>
      <p:sp>
        <p:nvSpPr>
          <p:cNvPr id="59395" name="Content Placeholder 2"/>
          <p:cNvSpPr>
            <a:spLocks noGrp="1"/>
          </p:cNvSpPr>
          <p:nvPr>
            <p:ph type="body" idx="1"/>
          </p:nvPr>
        </p:nvSpPr>
        <p:spPr>
          <a:xfrm>
            <a:off x="476844" y="1563626"/>
            <a:ext cx="6368799" cy="3873347"/>
          </a:xfrm>
        </p:spPr>
        <p:txBody>
          <a:bodyPr/>
          <a:lstStyle/>
          <a:p>
            <a:r>
              <a:rPr lang="en-US" sz="2300" dirty="0">
                <a:solidFill>
                  <a:schemeClr val="tx1"/>
                </a:solidFill>
              </a:rPr>
              <a:t>Apply assist by opposing engine vacuum to atmospheric pressure</a:t>
            </a:r>
            <a:r>
              <a:rPr lang="en-US" sz="2000" dirty="0">
                <a:solidFill>
                  <a:schemeClr val="tx1"/>
                </a:solidFill>
              </a:rPr>
              <a:t>.</a:t>
            </a:r>
            <a:endParaRPr lang="en-US" sz="2300" dirty="0">
              <a:solidFill>
                <a:schemeClr val="tx1"/>
              </a:solidFill>
            </a:endParaRPr>
          </a:p>
          <a:p>
            <a:r>
              <a:rPr lang="en-US" sz="2300" dirty="0">
                <a:solidFill>
                  <a:schemeClr val="tx1"/>
                </a:solidFill>
              </a:rPr>
              <a:t>Modern systems are vacuum suspended.</a:t>
            </a:r>
          </a:p>
          <a:p>
            <a:r>
              <a:rPr lang="en-US" sz="2300" dirty="0">
                <a:solidFill>
                  <a:schemeClr val="tx1"/>
                </a:solidFill>
              </a:rPr>
              <a:t>Boosters may be single or dual diaphragm.</a:t>
            </a:r>
          </a:p>
          <a:p>
            <a:r>
              <a:rPr lang="en-US" sz="2300" dirty="0">
                <a:solidFill>
                  <a:schemeClr val="tx1"/>
                </a:solidFill>
              </a:rPr>
              <a:t>When the brake is applied, atmospheric pressure is allowed to enter the rear chamber.</a:t>
            </a:r>
          </a:p>
        </p:txBody>
      </p:sp>
      <p:pic>
        <p:nvPicPr>
          <p:cNvPr id="7" name="Picture Placeholder 6" descr="A typical vacuum brake booster with the parts labeled as follows: master cylinder, vacuum check valve, front housing, rear housing, reaction disc, control valve, pedal pushrod, diaphragm plate, diaphragm, diaphragm return spring, and piston.">
            <a:extLst>
              <a:ext uri="{FF2B5EF4-FFF2-40B4-BE49-F238E27FC236}">
                <a16:creationId xmlns:a16="http://schemas.microsoft.com/office/drawing/2014/main" id="{3EFE30C8-632D-FD15-0BC2-41B9022C7165}"/>
              </a:ext>
            </a:extLst>
          </p:cNvPr>
          <p:cNvPicPr>
            <a:picLocks noGrp="1" noChangeAspect="1"/>
          </p:cNvPicPr>
          <p:nvPr>
            <p:ph type="pic" sz="quarter" idx="11"/>
          </p:nvPr>
        </p:nvPicPr>
        <p:blipFill>
          <a:blip r:embed="rId3"/>
          <a:srcRect b="3281"/>
          <a:stretch/>
        </p:blipFill>
        <p:spPr>
          <a:xfrm>
            <a:off x="7226569" y="1934905"/>
            <a:ext cx="4573976" cy="328844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dirty="0"/>
              <a:t>Pushrod Adjustment</a:t>
            </a:r>
          </a:p>
        </p:txBody>
      </p:sp>
      <p:sp>
        <p:nvSpPr>
          <p:cNvPr id="62467" name="Content Placeholder 2"/>
          <p:cNvSpPr>
            <a:spLocks noGrp="1"/>
          </p:cNvSpPr>
          <p:nvPr>
            <p:ph sz="quarter" idx="10"/>
          </p:nvPr>
        </p:nvSpPr>
        <p:spPr>
          <a:xfrm>
            <a:off x="670653" y="1818460"/>
            <a:ext cx="6100850" cy="3605256"/>
          </a:xfrm>
        </p:spPr>
        <p:txBody>
          <a:bodyPr>
            <a:normAutofit/>
          </a:bodyPr>
          <a:lstStyle/>
          <a:p>
            <a:pPr marL="358775" indent="-358775">
              <a:spcBef>
                <a:spcPts val="624"/>
              </a:spcBef>
              <a:spcAft>
                <a:spcPts val="600"/>
              </a:spcAft>
            </a:pPr>
            <a:r>
              <a:rPr lang="en-US" sz="2600" dirty="0">
                <a:solidFill>
                  <a:schemeClr val="tx1"/>
                </a:solidFill>
              </a:rPr>
              <a:t>Adjustment is necessary to prevent excessive travel or dragging.</a:t>
            </a:r>
          </a:p>
          <a:p>
            <a:pPr marL="358775" indent="-358775">
              <a:spcBef>
                <a:spcPts val="624"/>
              </a:spcBef>
              <a:spcAft>
                <a:spcPts val="600"/>
              </a:spcAft>
            </a:pPr>
            <a:r>
              <a:rPr lang="en-US" sz="2600" dirty="0">
                <a:solidFill>
                  <a:schemeClr val="tx1"/>
                </a:solidFill>
              </a:rPr>
              <a:t>Is usually only checked after replacement</a:t>
            </a:r>
          </a:p>
          <a:p>
            <a:pPr marL="358775" indent="-358775">
              <a:spcBef>
                <a:spcPts val="624"/>
              </a:spcBef>
              <a:spcAft>
                <a:spcPts val="600"/>
              </a:spcAft>
            </a:pPr>
            <a:r>
              <a:rPr lang="en-US" sz="2600" dirty="0">
                <a:solidFill>
                  <a:schemeClr val="tx1"/>
                </a:solidFill>
              </a:rPr>
              <a:t>An air test checks by pressurizing the master cylinder.</a:t>
            </a:r>
          </a:p>
        </p:txBody>
      </p:sp>
      <p:pic>
        <p:nvPicPr>
          <p:cNvPr id="7" name="Picture Placeholder 6" descr="A gauge measures the pushrod length with the parts labeled as follows: pushrod and gauge. The pushrod screw gets adjusted to apply a slight pressure of approximately 5 pounds against the gauge.">
            <a:extLst>
              <a:ext uri="{FF2B5EF4-FFF2-40B4-BE49-F238E27FC236}">
                <a16:creationId xmlns:a16="http://schemas.microsoft.com/office/drawing/2014/main" id="{9217561D-8C1A-22CB-A4DD-FFD527395C60}"/>
              </a:ext>
            </a:extLst>
          </p:cNvPr>
          <p:cNvPicPr>
            <a:picLocks noGrp="1" noChangeAspect="1"/>
          </p:cNvPicPr>
          <p:nvPr>
            <p:ph type="pic" sz="quarter" idx="11"/>
          </p:nvPr>
        </p:nvPicPr>
        <p:blipFill>
          <a:blip r:embed="rId3"/>
          <a:srcRect b="5566"/>
          <a:stretch/>
        </p:blipFill>
        <p:spPr>
          <a:xfrm>
            <a:off x="7385191" y="1842412"/>
            <a:ext cx="3822436" cy="386233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dirty="0"/>
              <a:t>Hydraulic Brake Boosters</a:t>
            </a:r>
          </a:p>
        </p:txBody>
      </p:sp>
      <p:sp>
        <p:nvSpPr>
          <p:cNvPr id="63491" name="Content Placeholder 2"/>
          <p:cNvSpPr>
            <a:spLocks noGrp="1"/>
          </p:cNvSpPr>
          <p:nvPr>
            <p:ph type="body" idx="1"/>
          </p:nvPr>
        </p:nvSpPr>
        <p:spPr>
          <a:xfrm>
            <a:off x="588057" y="1648020"/>
            <a:ext cx="5507944" cy="4009271"/>
          </a:xfrm>
        </p:spPr>
        <p:txBody>
          <a:bodyPr/>
          <a:lstStyle/>
          <a:p>
            <a:r>
              <a:rPr lang="en-US" sz="2600" dirty="0">
                <a:solidFill>
                  <a:schemeClr val="tx1"/>
                </a:solidFill>
              </a:rPr>
              <a:t>Fluid pressure supplied by the power steering system</a:t>
            </a:r>
          </a:p>
          <a:p>
            <a:r>
              <a:rPr lang="en-US" sz="2600" dirty="0">
                <a:solidFill>
                  <a:schemeClr val="tx1"/>
                </a:solidFill>
              </a:rPr>
              <a:t>Developed because of decreases in engine size</a:t>
            </a:r>
          </a:p>
          <a:p>
            <a:r>
              <a:rPr lang="en-US" sz="2600" dirty="0">
                <a:solidFill>
                  <a:schemeClr val="tx1"/>
                </a:solidFill>
              </a:rPr>
              <a:t>Found on diesel engines and engines with low vacuum</a:t>
            </a:r>
          </a:p>
        </p:txBody>
      </p:sp>
      <p:pic>
        <p:nvPicPr>
          <p:cNvPr id="7" name="Picture Placeholder 6" descr="The hood of a vehicle is open and the hydraulic brake booster is displayed.">
            <a:extLst>
              <a:ext uri="{FF2B5EF4-FFF2-40B4-BE49-F238E27FC236}">
                <a16:creationId xmlns:a16="http://schemas.microsoft.com/office/drawing/2014/main" id="{56E2519D-1857-F365-817E-CC04257104C8}"/>
              </a:ext>
            </a:extLst>
          </p:cNvPr>
          <p:cNvPicPr>
            <a:picLocks noGrp="1" noChangeAspect="1"/>
          </p:cNvPicPr>
          <p:nvPr>
            <p:ph type="pic" sz="quarter" idx="11"/>
          </p:nvPr>
        </p:nvPicPr>
        <p:blipFill>
          <a:blip r:embed="rId3"/>
          <a:srcRect b="6866"/>
          <a:stretch/>
        </p:blipFill>
        <p:spPr>
          <a:xfrm>
            <a:off x="6814509" y="1836683"/>
            <a:ext cx="4456377" cy="33825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(3 of 3)</a:t>
            </a:r>
          </a:p>
        </p:txBody>
      </p:sp>
      <p:sp>
        <p:nvSpPr>
          <p:cNvPr id="6" name="Content Placeholder 5"/>
          <p:cNvSpPr>
            <a:spLocks noGrp="1"/>
          </p:cNvSpPr>
          <p:nvPr>
            <p:ph type="body" idx="1"/>
          </p:nvPr>
        </p:nvSpPr>
        <p:spPr/>
        <p:txBody>
          <a:bodyPr/>
          <a:lstStyle/>
          <a:p>
            <a:pPr marL="85725" indent="0">
              <a:buNone/>
            </a:pPr>
            <a:r>
              <a:rPr lang="en-US" dirty="0">
                <a:solidFill>
                  <a:schemeClr val="tx1"/>
                </a:solidFill>
              </a:rPr>
              <a:t>True or False:</a:t>
            </a:r>
          </a:p>
          <a:p>
            <a:pPr marL="85725" indent="0">
              <a:buNone/>
            </a:pPr>
            <a:r>
              <a:rPr lang="en-US" dirty="0">
                <a:solidFill>
                  <a:schemeClr val="tx1"/>
                </a:solidFill>
              </a:rPr>
              <a:t>In a vehicle equipped with hydraulic brake assist, a fault in the power steering system could affect  power brake assist.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Answer (3 of 3)</a:t>
            </a:r>
          </a:p>
        </p:txBody>
      </p:sp>
      <p:sp>
        <p:nvSpPr>
          <p:cNvPr id="6" name="Content Placeholder 5"/>
          <p:cNvSpPr>
            <a:spLocks noGrp="1"/>
          </p:cNvSpPr>
          <p:nvPr>
            <p:ph type="body" idx="1"/>
          </p:nvPr>
        </p:nvSpPr>
        <p:spPr/>
        <p:txBody>
          <a:bodyPr/>
          <a:lstStyle/>
          <a:p>
            <a:pPr marL="85725" indent="0">
              <a:buNone/>
            </a:pPr>
            <a:r>
              <a:rPr lang="en-US" dirty="0">
                <a:solidFill>
                  <a:schemeClr val="tx1"/>
                </a:solidFill>
              </a:rPr>
              <a:t>True or False:</a:t>
            </a:r>
          </a:p>
          <a:p>
            <a:pPr marL="85725" indent="0">
              <a:spcAft>
                <a:spcPts val="2400"/>
              </a:spcAft>
              <a:buNone/>
            </a:pPr>
            <a:r>
              <a:rPr lang="en-US" dirty="0">
                <a:solidFill>
                  <a:schemeClr val="tx1"/>
                </a:solidFill>
              </a:rPr>
              <a:t>In a vehicle equipped with hydraulic brake assist, a fault in the power steering system could affect  power brake assist.</a:t>
            </a:r>
          </a:p>
          <a:p>
            <a:pPr marL="85725" indent="0">
              <a:buNone/>
            </a:pPr>
            <a:r>
              <a:rPr lang="en-US" dirty="0">
                <a:solidFill>
                  <a:schemeClr val="tx1"/>
                </a:solidFill>
              </a:rPr>
              <a:t>Answer: True</a:t>
            </a:r>
          </a:p>
        </p:txBody>
      </p:sp>
    </p:spTree>
    <p:extLst>
      <p:ext uri="{BB962C8B-B14F-4D97-AF65-F5344CB8AC3E}">
        <p14:creationId xmlns:p14="http://schemas.microsoft.com/office/powerpoint/2010/main" val="3881107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spcBef>
                <a:spcPts val="0"/>
              </a:spcBef>
            </a:pPr>
            <a:r>
              <a:rPr lang="en-US" sz="2600" dirty="0">
                <a:solidFill>
                  <a:schemeClr val="tx1"/>
                </a:solidFill>
                <a:latin typeface="Work Sans" pitchFamily="2" charset="0"/>
              </a:rPr>
              <a:t>What concept from this chapter challenged you the most? Describe what made the concept difficult for you and the steps you took to improve your understanding</a:t>
            </a:r>
            <a:r>
              <a:rPr lang="en-US" sz="2600" dirty="0">
                <a:solidFill>
                  <a:schemeClr val="tx1"/>
                </a:solidFill>
              </a:rPr>
              <a:t>.</a:t>
            </a:r>
            <a:endParaRPr lang="en-US" sz="2600" dirty="0">
              <a:solidFill>
                <a:schemeClr val="tx1"/>
              </a:solidFill>
              <a:latin typeface="Work Sans" pitchFamily="2" charset="0"/>
            </a:endParaRPr>
          </a:p>
          <a:p>
            <a:pPr marL="358775" indent="-358775">
              <a:spcBef>
                <a:spcPts val="0"/>
              </a:spcBef>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1400</TotalTime>
  <Words>1786</Words>
  <Application>Microsoft Office PowerPoint</Application>
  <PresentationFormat>Widescreen</PresentationFormat>
  <Paragraphs>214</Paragraphs>
  <Slides>51</Slides>
  <Notes>42</Notes>
  <HiddenSlides>0</HiddenSlides>
  <MMClips>0</MMClips>
  <ScaleCrop>false</ScaleCrop>
  <HeadingPairs>
    <vt:vector size="4" baseType="variant">
      <vt:variant>
        <vt:lpstr>Theme</vt:lpstr>
      </vt:variant>
      <vt:variant>
        <vt:i4>2</vt:i4>
      </vt:variant>
      <vt:variant>
        <vt:lpstr>Slide Titles</vt:lpstr>
      </vt:variant>
      <vt:variant>
        <vt:i4>51</vt:i4>
      </vt:variant>
    </vt:vector>
  </HeadingPairs>
  <TitlesOfParts>
    <vt:vector size="53" baseType="lpstr">
      <vt:lpstr>Custom Design</vt:lpstr>
      <vt:lpstr>Theme3</vt:lpstr>
      <vt:lpstr>Automotive Technology: A Systems Approach, 8e</vt:lpstr>
      <vt:lpstr>Chapter Objectives (1 of 2)</vt:lpstr>
      <vt:lpstr>Chapter Objectives (2 of 2)</vt:lpstr>
      <vt:lpstr>Friction (1 of 2)</vt:lpstr>
      <vt:lpstr>Friction (2 of 2) </vt:lpstr>
      <vt:lpstr>Factors Governing Braking</vt:lpstr>
      <vt:lpstr>Coefficient of Friction</vt:lpstr>
      <vt:lpstr>Heat Dissipation</vt:lpstr>
      <vt:lpstr>Brake Lining Friction Materials</vt:lpstr>
      <vt:lpstr>Low-Copper Compliance Pads</vt:lpstr>
      <vt:lpstr>Pad Linings</vt:lpstr>
      <vt:lpstr>Principles of Hydraulic Brake Systems</vt:lpstr>
      <vt:lpstr>Output Force</vt:lpstr>
      <vt:lpstr>Knowledge Check (1 of 3)</vt:lpstr>
      <vt:lpstr>Knowledge Check Answer (1 of 3)</vt:lpstr>
      <vt:lpstr>Dual Braking Systems </vt:lpstr>
      <vt:lpstr>Brake Fluid (1 of 2)</vt:lpstr>
      <vt:lpstr>Brake Fluid (2 of 2) </vt:lpstr>
      <vt:lpstr>DOT Ratings</vt:lpstr>
      <vt:lpstr>Brake Pedal</vt:lpstr>
      <vt:lpstr>Master Cylinder</vt:lpstr>
      <vt:lpstr>Master Cylinder Components</vt:lpstr>
      <vt:lpstr>Master Cylinder Operation</vt:lpstr>
      <vt:lpstr>Fast-Fill and Quick-Take-Up Master Cylinders</vt:lpstr>
      <vt:lpstr>Central-Valve Master Cylinders</vt:lpstr>
      <vt:lpstr>Hydraulic Tubes and Hoses</vt:lpstr>
      <vt:lpstr>Fitting Flares</vt:lpstr>
      <vt:lpstr>Brake System Valves</vt:lpstr>
      <vt:lpstr>Pressure Differential Valve</vt:lpstr>
      <vt:lpstr>Combination Valve</vt:lpstr>
      <vt:lpstr>Knowledge Check (2 of 3)</vt:lpstr>
      <vt:lpstr>Knowledge Check Answer (2 of 3)</vt:lpstr>
      <vt:lpstr>Warning Lights</vt:lpstr>
      <vt:lpstr>Stop Lamps</vt:lpstr>
      <vt:lpstr>Drum Brakes</vt:lpstr>
      <vt:lpstr>Disc Brakes</vt:lpstr>
      <vt:lpstr>Brake Fluid Inspection</vt:lpstr>
      <vt:lpstr>Electric Parking Brakes</vt:lpstr>
      <vt:lpstr>Moisture Testing</vt:lpstr>
      <vt:lpstr>Master Cylinder Inspection</vt:lpstr>
      <vt:lpstr>Air-Entrapment Test</vt:lpstr>
      <vt:lpstr>System Flushing</vt:lpstr>
      <vt:lpstr>Hydraulic System Bleeding</vt:lpstr>
      <vt:lpstr>Typical Bleeding Sequence</vt:lpstr>
      <vt:lpstr>Power Brakes</vt:lpstr>
      <vt:lpstr>Vacuum Assist</vt:lpstr>
      <vt:lpstr>Pushrod Adjustment</vt:lpstr>
      <vt:lpstr>Hydraulic Brake Boosters</vt:lpstr>
      <vt:lpstr>Knowledge Check (3 of 3)</vt:lpstr>
      <vt:lpstr>Knowledge Check Answer (3 of 3)</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50 Brake Systems</dc:title>
  <dc:creator>Erjavec</dc:creator>
  <cp:lastModifiedBy>DiCaterino, Kara</cp:lastModifiedBy>
  <cp:revision>142</cp:revision>
  <dcterms:modified xsi:type="dcterms:W3CDTF">2024-11-22T17:03:41Z</dcterms:modified>
</cp:coreProperties>
</file>