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350" r:id="rId2"/>
    <p:sldId id="257" r:id="rId3"/>
    <p:sldId id="486" r:id="rId4"/>
    <p:sldId id="461" r:id="rId5"/>
    <p:sldId id="515" r:id="rId6"/>
    <p:sldId id="487" r:id="rId7"/>
    <p:sldId id="488" r:id="rId8"/>
    <p:sldId id="516" r:id="rId9"/>
    <p:sldId id="489" r:id="rId10"/>
    <p:sldId id="490" r:id="rId11"/>
    <p:sldId id="492" r:id="rId12"/>
    <p:sldId id="284" r:id="rId13"/>
    <p:sldId id="285" r:id="rId14"/>
    <p:sldId id="493" r:id="rId15"/>
    <p:sldId id="494" r:id="rId16"/>
    <p:sldId id="495" r:id="rId17"/>
    <p:sldId id="496" r:id="rId18"/>
    <p:sldId id="497" r:id="rId19"/>
    <p:sldId id="498" r:id="rId20"/>
    <p:sldId id="499" r:id="rId21"/>
    <p:sldId id="276" r:id="rId22"/>
    <p:sldId id="500" r:id="rId23"/>
    <p:sldId id="501" r:id="rId24"/>
    <p:sldId id="502" r:id="rId25"/>
    <p:sldId id="503" r:id="rId26"/>
    <p:sldId id="504" r:id="rId27"/>
    <p:sldId id="505" r:id="rId28"/>
    <p:sldId id="506" r:id="rId29"/>
    <p:sldId id="508" r:id="rId30"/>
    <p:sldId id="507" r:id="rId31"/>
    <p:sldId id="509" r:id="rId32"/>
    <p:sldId id="510" r:id="rId33"/>
    <p:sldId id="293" r:id="rId34"/>
    <p:sldId id="294" r:id="rId35"/>
    <p:sldId id="511" r:id="rId36"/>
    <p:sldId id="512" r:id="rId37"/>
    <p:sldId id="513" r:id="rId38"/>
    <p:sldId id="514" r:id="rId39"/>
    <p:sldId id="301" r:id="rId40"/>
  </p:sldIdLst>
  <p:sldSz cx="12192000" cy="6858000"/>
  <p:notesSz cx="6858000" cy="9144000"/>
  <p:embeddedFontLst>
    <p:embeddedFont>
      <p:font typeface="Work Sans"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86984" autoAdjust="0"/>
  </p:normalViewPr>
  <p:slideViewPr>
    <p:cSldViewPr snapToGrid="0">
      <p:cViewPr varScale="1">
        <p:scale>
          <a:sx n="64" d="100"/>
          <a:sy n="64" d="100"/>
        </p:scale>
        <p:origin x="556" y="52"/>
      </p:cViewPr>
      <p:guideLst>
        <p:guide orient="horz" pos="2160"/>
        <p:guide pos="3840"/>
      </p:guideLst>
    </p:cSldViewPr>
  </p:slideViewPr>
  <p:outlineViewPr>
    <p:cViewPr>
      <p:scale>
        <a:sx n="33" d="100"/>
        <a:sy n="33" d="100"/>
      </p:scale>
      <p:origin x="0" y="-3665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5484770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4120458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1833260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8990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6945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342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591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9134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5375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0832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dirty="0"/>
          </a:p>
        </p:txBody>
      </p:sp>
    </p:spTree>
    <p:extLst>
      <p:ext uri="{BB962C8B-B14F-4D97-AF65-F5344CB8AC3E}">
        <p14:creationId xmlns:p14="http://schemas.microsoft.com/office/powerpoint/2010/main" val="2303490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dirty="0"/>
          </a:p>
        </p:txBody>
      </p:sp>
    </p:spTree>
    <p:extLst>
      <p:ext uri="{BB962C8B-B14F-4D97-AF65-F5344CB8AC3E}">
        <p14:creationId xmlns:p14="http://schemas.microsoft.com/office/powerpoint/2010/main" val="157869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9643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8442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1192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5266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7568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4169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827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dirty="0"/>
          </a:p>
        </p:txBody>
      </p:sp>
    </p:spTree>
    <p:extLst>
      <p:ext uri="{BB962C8B-B14F-4D97-AF65-F5344CB8AC3E}">
        <p14:creationId xmlns:p14="http://schemas.microsoft.com/office/powerpoint/2010/main" val="2904418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4583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65366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7587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193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60777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7599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3894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87013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63676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08957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9235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dirty="0"/>
          </a:p>
        </p:txBody>
      </p:sp>
    </p:spTree>
    <p:extLst>
      <p:ext uri="{BB962C8B-B14F-4D97-AF65-F5344CB8AC3E}">
        <p14:creationId xmlns:p14="http://schemas.microsoft.com/office/powerpoint/2010/main" val="40357091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dirty="0"/>
          </a:p>
        </p:txBody>
      </p:sp>
    </p:spTree>
    <p:extLst>
      <p:ext uri="{BB962C8B-B14F-4D97-AF65-F5344CB8AC3E}">
        <p14:creationId xmlns:p14="http://schemas.microsoft.com/office/powerpoint/2010/main" val="25318732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98482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53736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45804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58725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extLst>
      <p:ext uri="{BB962C8B-B14F-4D97-AF65-F5344CB8AC3E}">
        <p14:creationId xmlns:p14="http://schemas.microsoft.com/office/powerpoint/2010/main" val="2594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5"/>
            <a:ext cx="11241915" cy="262737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E4875586-DFE8-CE90-7426-4AF17B6579E1}"/>
              </a:ext>
            </a:extLst>
          </p:cNvPr>
          <p:cNvSpPr>
            <a:spLocks noGrp="1"/>
          </p:cNvSpPr>
          <p:nvPr>
            <p:ph sz="quarter" idx="10"/>
          </p:nvPr>
        </p:nvSpPr>
        <p:spPr>
          <a:xfrm>
            <a:off x="571500" y="44672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3E858EF5-FF32-A222-C622-FE15010B8823}"/>
              </a:ext>
            </a:extLst>
          </p:cNvPr>
          <p:cNvSpPr>
            <a:spLocks noGrp="1"/>
          </p:cNvSpPr>
          <p:nvPr>
            <p:ph sz="quarter" idx="11"/>
          </p:nvPr>
        </p:nvSpPr>
        <p:spPr>
          <a:xfrm>
            <a:off x="2066925" y="44481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891C72AB-4A90-3AF5-C38A-A908C0CFFA67}"/>
              </a:ext>
            </a:extLst>
          </p:cNvPr>
          <p:cNvSpPr>
            <a:spLocks noGrp="1"/>
          </p:cNvSpPr>
          <p:nvPr>
            <p:ph type="pic" sz="quarter" idx="12"/>
          </p:nvPr>
        </p:nvSpPr>
        <p:spPr>
          <a:xfrm>
            <a:off x="3429000" y="4448175"/>
            <a:ext cx="914400" cy="914400"/>
          </a:xfrm>
        </p:spPr>
        <p:txBody>
          <a:bodyPr/>
          <a:lstStyle/>
          <a:p>
            <a:endParaRPr lang="en-IN"/>
          </a:p>
        </p:txBody>
      </p:sp>
      <p:sp>
        <p:nvSpPr>
          <p:cNvPr id="9" name="Picture Placeholder 8">
            <a:extLst>
              <a:ext uri="{FF2B5EF4-FFF2-40B4-BE49-F238E27FC236}">
                <a16:creationId xmlns:a16="http://schemas.microsoft.com/office/drawing/2014/main" id="{9280E2D6-7C0D-A88B-B29B-EC23DAA48343}"/>
              </a:ext>
            </a:extLst>
          </p:cNvPr>
          <p:cNvSpPr>
            <a:spLocks noGrp="1"/>
          </p:cNvSpPr>
          <p:nvPr>
            <p:ph type="pic" sz="quarter" idx="13"/>
          </p:nvPr>
        </p:nvSpPr>
        <p:spPr>
          <a:xfrm>
            <a:off x="4886325" y="4467225"/>
            <a:ext cx="914400" cy="914400"/>
          </a:xfrm>
        </p:spPr>
        <p:txBody>
          <a:bodyPr/>
          <a:lstStyle/>
          <a:p>
            <a:endParaRPr lang="en-IN"/>
          </a:p>
        </p:txBody>
      </p:sp>
      <p:sp>
        <p:nvSpPr>
          <p:cNvPr id="13" name="Table Placeholder 12">
            <a:extLst>
              <a:ext uri="{FF2B5EF4-FFF2-40B4-BE49-F238E27FC236}">
                <a16:creationId xmlns:a16="http://schemas.microsoft.com/office/drawing/2014/main" id="{7E0FC8EB-7C5E-CAC6-24C3-2D5EBE0426B2}"/>
              </a:ext>
            </a:extLst>
          </p:cNvPr>
          <p:cNvSpPr>
            <a:spLocks noGrp="1"/>
          </p:cNvSpPr>
          <p:nvPr>
            <p:ph type="tbl" sz="quarter" idx="14"/>
          </p:nvPr>
        </p:nvSpPr>
        <p:spPr>
          <a:xfrm>
            <a:off x="6648450" y="4562475"/>
            <a:ext cx="914400" cy="914400"/>
          </a:xfrm>
        </p:spPr>
        <p:txBody>
          <a:bodyPr/>
          <a:lstStyle/>
          <a:p>
            <a:endParaRPr lang="en-IN"/>
          </a:p>
        </p:txBody>
      </p:sp>
    </p:spTree>
    <p:extLst>
      <p:ext uri="{BB962C8B-B14F-4D97-AF65-F5344CB8AC3E}">
        <p14:creationId xmlns:p14="http://schemas.microsoft.com/office/powerpoint/2010/main" val="3241025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3833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4D70FC1D-AA91-0345-2667-7E42968E8022}"/>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27: Ignition System Diagnosis and Service</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lnSpc>
                <a:spcPct val="107000"/>
              </a:lnSpc>
              <a:spcBef>
                <a:spcPts val="0"/>
              </a:spcBef>
              <a:spcAft>
                <a:spcPts val="0"/>
              </a:spcAft>
              <a:buChar char="•"/>
            </a:pPr>
            <a:r>
              <a:rPr lang="en-US" dirty="0"/>
              <a:t>27.01 Determine the causes of engine misfires.</a:t>
            </a:r>
          </a:p>
          <a:p>
            <a:pPr marL="357188" marR="0" lvl="0" indent="-357188" algn="l" rtl="0">
              <a:lnSpc>
                <a:spcPct val="107000"/>
              </a:lnSpc>
              <a:spcBef>
                <a:spcPts val="0"/>
              </a:spcBef>
              <a:spcAft>
                <a:spcPts val="0"/>
              </a:spcAft>
              <a:buChar char="•"/>
            </a:pPr>
            <a:r>
              <a:rPr lang="en-US" dirty="0"/>
              <a:t>27.02 Perform a visual inspection of ignition system components, primary wiring, and secondary wiring to locate obvious trouble areas.</a:t>
            </a:r>
          </a:p>
          <a:p>
            <a:pPr marL="357188" marR="0" lvl="0" indent="-357188" algn="l" rtl="0">
              <a:lnSpc>
                <a:spcPct val="107000"/>
              </a:lnSpc>
              <a:spcBef>
                <a:spcPts val="0"/>
              </a:spcBef>
              <a:spcAft>
                <a:spcPts val="0"/>
              </a:spcAft>
              <a:buChar char="•"/>
            </a:pPr>
            <a:r>
              <a:rPr lang="en-US" dirty="0"/>
              <a:t>27.03 Perform a no-start diagnosis and determine the cause of the condition.</a:t>
            </a:r>
          </a:p>
          <a:p>
            <a:pPr marL="357188" marR="0" lvl="0" indent="-357188" algn="l" rtl="0">
              <a:lnSpc>
                <a:spcPct val="107000"/>
              </a:lnSpc>
              <a:spcBef>
                <a:spcPts val="0"/>
              </a:spcBef>
              <a:spcAft>
                <a:spcPts val="0"/>
              </a:spcAft>
              <a:buChar char="•"/>
            </a:pPr>
            <a:r>
              <a:rPr lang="en-US" dirty="0"/>
              <a:t>27.04 Perform a visual inspection of ignition system components, primary wiring, and secondary wiring to locate obvious trouble areas.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27.05 Diagnose ignition system concerns using a lab scope.</a:t>
            </a:r>
          </a:p>
          <a:p>
            <a:pPr marL="357188" marR="0" lvl="0" indent="-357188" algn="l" rtl="0">
              <a:buChar char="•"/>
            </a:pPr>
            <a:r>
              <a:rPr lang="en-US" dirty="0"/>
              <a:t>27.06 Test individual ignition components using test equipment such as a voltmeter, ohmmeter, and test light.</a:t>
            </a:r>
          </a:p>
          <a:p>
            <a:pPr marL="357188" marR="0" lvl="0" indent="-357188" algn="l" rtl="0">
              <a:buChar char="•"/>
            </a:pPr>
            <a:r>
              <a:rPr lang="en-US" dirty="0"/>
              <a:t>27.07 Describe the effects of incorrect ignition timing.</a:t>
            </a:r>
          </a:p>
          <a:p>
            <a:pPr marL="357188" marR="0" lvl="0" indent="-357188" algn="l" rtl="0">
              <a:buChar char="•"/>
            </a:pPr>
            <a:r>
              <a:rPr lang="en-US" dirty="0"/>
              <a:t>27.08 Test the components of the primary and secondary ignition circuits.</a:t>
            </a:r>
          </a:p>
          <a:p>
            <a:pPr marL="357188" marR="0" lvl="0" indent="-357188" algn="l" rtl="0">
              <a:buChar char="•"/>
            </a:pPr>
            <a:r>
              <a:rPr lang="en-US" dirty="0"/>
              <a:t>27.09 Service and install spark plugs.</a:t>
            </a:r>
          </a:p>
        </p:txBody>
      </p:sp>
    </p:spTree>
    <p:extLst>
      <p:ext uri="{BB962C8B-B14F-4D97-AF65-F5344CB8AC3E}">
        <p14:creationId xmlns:p14="http://schemas.microsoft.com/office/powerpoint/2010/main" val="371054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Misfires (1 of 2)</a:t>
            </a:r>
            <a:endParaRPr sz="3600" dirty="0"/>
          </a:p>
        </p:txBody>
      </p:sp>
      <p:sp>
        <p:nvSpPr>
          <p:cNvPr id="145" name="Google Shape;145;p4"/>
          <p:cNvSpPr txBox="1">
            <a:spLocks noGrp="1"/>
          </p:cNvSpPr>
          <p:nvPr>
            <p:ph type="body" idx="1"/>
          </p:nvPr>
        </p:nvSpPr>
        <p:spPr>
          <a:xfrm>
            <a:off x="476844" y="1381124"/>
            <a:ext cx="6517080" cy="4545543"/>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tx1"/>
                </a:solidFill>
              </a:rPr>
              <a:t>27.01 Determine the causes of engine misfires.</a:t>
            </a:r>
            <a:endParaRPr lang="en-US" sz="2000" dirty="0">
              <a:solidFill>
                <a:schemeClr val="tx1"/>
              </a:solidFill>
            </a:endParaRPr>
          </a:p>
          <a:p>
            <a:pPr marL="357188" indent="-357188"/>
            <a:r>
              <a:rPr lang="en-US" sz="2000" dirty="0">
                <a:solidFill>
                  <a:schemeClr val="tx1"/>
                </a:solidFill>
              </a:rPr>
              <a:t>When something prevents complete combustion, the result is a misfire or incomplete combustion.</a:t>
            </a:r>
          </a:p>
          <a:p>
            <a:pPr marL="357188" indent="-357188"/>
            <a:r>
              <a:rPr lang="en-US" sz="2000" dirty="0">
                <a:solidFill>
                  <a:schemeClr val="tx1"/>
                </a:solidFill>
              </a:rPr>
              <a:t>Misfires can cause lack of power, poor gas mileage, excessive exhaust emissions, and a rough running engine.</a:t>
            </a:r>
          </a:p>
          <a:p>
            <a:pPr marL="357188" indent="-357188"/>
            <a:r>
              <a:rPr lang="en-US" sz="2000" dirty="0">
                <a:solidFill>
                  <a:schemeClr val="tx1"/>
                </a:solidFill>
              </a:rPr>
              <a:t>Misfires are not always caused by the ignition system; other systems also can cause them.</a:t>
            </a:r>
          </a:p>
          <a:p>
            <a:pPr marL="357188" indent="-357188"/>
            <a:r>
              <a:rPr lang="en-US" sz="2000" dirty="0">
                <a:solidFill>
                  <a:schemeClr val="tx1"/>
                </a:solidFill>
              </a:rPr>
              <a:t>Ignition misfires can be caused by a fouled or damaged spark plug, a bad coil, problems in the primary or secondary ignition circuit, or an incorrect plug gap.</a:t>
            </a:r>
          </a:p>
        </p:txBody>
      </p:sp>
      <p:pic>
        <p:nvPicPr>
          <p:cNvPr id="8" name="Picture Placeholder 7" descr="An illustration depicts the P C M will store a D T C when it detects a misfire titled, M E 9.7 Motor electronics 9.7 (03). The points are listed down from 1.1 to 1.5 as follows; 1.1, 0649, Misfire of cylinder 6: Damages Three way Catalyst (T W C/ K A T)( P 0306) (Stored); 1.2, 0521, Diagnosis of the tumble flap Inlet manifold: Short circuit to ground of sensor wires/ Tumble flap shafts are stuck in the Actuated position. (P 2004) (Stored and Current); 1.3, 0629, Misfire (P 0300) (Stored); 1.4, Event 6001, The supply voltage of the control module is too low (Stored); 1.5, Event 9006, Undervoltage at terminal 30 (stored). ">
            <a:extLst>
              <a:ext uri="{FF2B5EF4-FFF2-40B4-BE49-F238E27FC236}">
                <a16:creationId xmlns:a16="http://schemas.microsoft.com/office/drawing/2014/main" id="{2AA2A647-F124-2F3F-A7AC-D7271E92FF87}"/>
              </a:ext>
            </a:extLst>
          </p:cNvPr>
          <p:cNvPicPr>
            <a:picLocks noGrp="1" noChangeAspect="1"/>
          </p:cNvPicPr>
          <p:nvPr>
            <p:ph type="pic" sz="quarter" idx="13"/>
          </p:nvPr>
        </p:nvPicPr>
        <p:blipFill rotWithShape="1">
          <a:blip r:embed="rId3"/>
          <a:srcRect b="12546"/>
          <a:stretch/>
        </p:blipFill>
        <p:spPr>
          <a:xfrm>
            <a:off x="6993924" y="2485823"/>
            <a:ext cx="4898982" cy="2012036"/>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Misfires (2 of 2)</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Abnormal Combustion</a:t>
            </a:r>
          </a:p>
          <a:p>
            <a:pPr marL="715963" lvl="1" indent="-357188"/>
            <a:r>
              <a:rPr lang="en-US" sz="1800" dirty="0">
                <a:solidFill>
                  <a:schemeClr val="tx1"/>
                </a:solidFill>
              </a:rPr>
              <a:t>Incomplete combustion is not the only abnormal condition engines may experience; they may also experience detonation.</a:t>
            </a:r>
          </a:p>
          <a:p>
            <a:pPr marL="715963" lvl="1" indent="-357188"/>
            <a:r>
              <a:rPr lang="en-US" sz="1800" dirty="0">
                <a:solidFill>
                  <a:schemeClr val="tx1"/>
                </a:solidFill>
              </a:rPr>
              <a:t>Detonation is usually caused by excessively advanced ignition timing, engine overheating, excessively lean mixtures, or the use of low-octane gasoline.</a:t>
            </a:r>
          </a:p>
          <a:p>
            <a:pPr marL="715963" lvl="1" indent="-357188"/>
            <a:r>
              <a:rPr lang="en-US" sz="1800" dirty="0">
                <a:solidFill>
                  <a:schemeClr val="tx1"/>
                </a:solidFill>
              </a:rPr>
              <a:t>Detonation can cause physical damage to the pistons, valves, bearings, and spark plugs. </a:t>
            </a:r>
          </a:p>
          <a:p>
            <a:pPr marL="715963" lvl="1" indent="-357188"/>
            <a:r>
              <a:rPr lang="en-US" sz="1800" dirty="0">
                <a:solidFill>
                  <a:schemeClr val="tx1"/>
                </a:solidFill>
              </a:rPr>
              <a:t>Preignition can cause pinging or spark knocking.</a:t>
            </a:r>
          </a:p>
          <a:p>
            <a:pPr marL="715963" lvl="1" indent="-357188"/>
            <a:r>
              <a:rPr lang="en-US" sz="1800" dirty="0">
                <a:solidFill>
                  <a:schemeClr val="tx1"/>
                </a:solidFill>
              </a:rPr>
              <a:t>Any hot spot within the combustion chamber can cause preignition.</a:t>
            </a:r>
          </a:p>
          <a:p>
            <a:pPr marL="715963" lvl="1" indent="-357188"/>
            <a:r>
              <a:rPr lang="en-US" sz="1800" dirty="0">
                <a:solidFill>
                  <a:schemeClr val="tx1"/>
                </a:solidFill>
              </a:rPr>
              <a:t>Common causes of preignition are incandescent carbon deposits in the combustion chamber, a faulty cooling system, too hot of a spark plug, poor engine lubrication, and cross firing.</a:t>
            </a:r>
          </a:p>
          <a:p>
            <a:pPr marL="715963" lvl="1" indent="-357188"/>
            <a:r>
              <a:rPr lang="en-US" sz="1800" dirty="0">
                <a:solidFill>
                  <a:schemeClr val="tx1"/>
                </a:solidFill>
              </a:rPr>
              <a:t>Preignition usually leads to detonation; preignition and detonation are two separate events.</a:t>
            </a:r>
          </a:p>
        </p:txBody>
      </p:sp>
    </p:spTree>
    <p:extLst>
      <p:ext uri="{BB962C8B-B14F-4D97-AF65-F5344CB8AC3E}">
        <p14:creationId xmlns:p14="http://schemas.microsoft.com/office/powerpoint/2010/main" val="1092869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General Ignition System Diagnosis</a:t>
            </a:r>
            <a:endParaRPr sz="3600" dirty="0"/>
          </a:p>
        </p:txBody>
      </p:sp>
      <p:sp>
        <p:nvSpPr>
          <p:cNvPr id="145" name="Google Shape;145;p4"/>
          <p:cNvSpPr txBox="1">
            <a:spLocks noGrp="1"/>
          </p:cNvSpPr>
          <p:nvPr>
            <p:ph type="body" idx="1"/>
          </p:nvPr>
        </p:nvSpPr>
        <p:spPr>
          <a:xfrm>
            <a:off x="476843" y="1506474"/>
            <a:ext cx="7690973" cy="4597763"/>
          </a:xfrm>
          <a:prstGeom prst="rect">
            <a:avLst/>
          </a:prstGeom>
          <a:noFill/>
          <a:ln>
            <a:noFill/>
          </a:ln>
        </p:spPr>
        <p:txBody>
          <a:bodyPr spcFirstLastPara="1" wrap="square" lIns="91425" tIns="45700" rIns="91425" bIns="45700" anchor="t" anchorCtr="0">
            <a:noAutofit/>
          </a:bodyPr>
          <a:lstStyle/>
          <a:p>
            <a:pPr marL="358775" indent="-358775"/>
            <a:r>
              <a:rPr lang="en-US" sz="2000" dirty="0"/>
              <a:t>Common vs Noncommon Problems</a:t>
            </a:r>
          </a:p>
          <a:p>
            <a:pPr marL="715963" lvl="1" indent="-357188"/>
            <a:r>
              <a:rPr lang="en-US" sz="1800" dirty="0"/>
              <a:t>In most cases, ignition problems can be divided into two types: common and noncommon.</a:t>
            </a:r>
          </a:p>
          <a:p>
            <a:pPr marL="715963" lvl="1" indent="-357188"/>
            <a:r>
              <a:rPr lang="en-US" sz="1800" dirty="0"/>
              <a:t>Common problems are those that affect all cylinders, and noncommon problems are those that affect one or more cylinders but not all.</a:t>
            </a:r>
          </a:p>
          <a:p>
            <a:pPr marL="715963" lvl="1" indent="-357188"/>
            <a:r>
              <a:rPr lang="en-US" sz="1800" dirty="0"/>
              <a:t>The best indicator of a noncommon problem is the reading on a vacuum gauge.</a:t>
            </a:r>
          </a:p>
          <a:p>
            <a:pPr marL="715963" lvl="1" indent="-357188"/>
            <a:r>
              <a:rPr lang="en-US" sz="1800" dirty="0"/>
              <a:t>If a vacuum gauge is connected to a four-cylinder engine at idle and the needle of the gauge is within the normal vacuum range for three-fourths of the time and drops one-fourth of the time, this indicates that three of the cylinders are working normally while the fourth is not.</a:t>
            </a:r>
            <a:endParaRPr lang="en-US" sz="1200" dirty="0"/>
          </a:p>
        </p:txBody>
      </p:sp>
      <p:pic>
        <p:nvPicPr>
          <p:cNvPr id="8" name="Picture Placeholder 7" descr="Two illustrations depict a common problem and a noncommon problem for vacuum gauges. The two vacuum gauges denote a common problem as follows: the first vacuum gauge shows a needle point to 15; the second gauge shows a needlepoint of 2. The two vacuum gauges denote noncommon problems as follows: the first vacuum gauge shows a needle fluctuating to 10, 20, and 27 and finally points to 17; the second gauge shows a needle fluctuating to 10, 15, and 20 and finally points to 6.">
            <a:extLst>
              <a:ext uri="{FF2B5EF4-FFF2-40B4-BE49-F238E27FC236}">
                <a16:creationId xmlns:a16="http://schemas.microsoft.com/office/drawing/2014/main" id="{55A46DDF-6772-37F1-E969-7933B02E000D}"/>
              </a:ext>
            </a:extLst>
          </p:cNvPr>
          <p:cNvPicPr>
            <a:picLocks noGrp="1" noChangeAspect="1"/>
          </p:cNvPicPr>
          <p:nvPr>
            <p:ph type="pic" sz="quarter" idx="13"/>
          </p:nvPr>
        </p:nvPicPr>
        <p:blipFill rotWithShape="1">
          <a:blip r:embed="rId3"/>
          <a:srcRect l="13970" r="8174" b="14259"/>
          <a:stretch/>
        </p:blipFill>
        <p:spPr>
          <a:xfrm>
            <a:off x="8316097" y="1993350"/>
            <a:ext cx="3426251" cy="3455980"/>
          </a:xfrm>
          <a:prstGeom prst="rect">
            <a:avLst/>
          </a:prstGeom>
        </p:spPr>
      </p:pic>
    </p:spTree>
    <p:extLst>
      <p:ext uri="{BB962C8B-B14F-4D97-AF65-F5344CB8AC3E}">
        <p14:creationId xmlns:p14="http://schemas.microsoft.com/office/powerpoint/2010/main" val="79960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System Inspection</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27.02 Perform a visual inspection of ignition system components, primary wiring, and secondary wiring to locate obvious trouble areas.</a:t>
            </a:r>
          </a:p>
          <a:p>
            <a:pPr marL="357188" indent="-357188"/>
            <a:r>
              <a:rPr lang="en-US" sz="2000" dirty="0"/>
              <a:t>Begin all diagnosis by gathering as much information as possible from the customer. </a:t>
            </a:r>
          </a:p>
          <a:p>
            <a:pPr marL="357188" indent="-357188"/>
            <a:r>
              <a:rPr lang="en-US" sz="2000" dirty="0"/>
              <a:t>Then conduct a careful visual inspection. The system should be checked for obvious problems.</a:t>
            </a:r>
          </a:p>
          <a:p>
            <a:pPr marL="357188" indent="-357188"/>
            <a:r>
              <a:rPr lang="en-US" sz="2000" dirty="0"/>
              <a:t>Although no-start problems and incorrect ignition timing are caused by the primary circuit, the secondary circuit can be the cause of driveability problems and should be carefully checked.</a:t>
            </a:r>
          </a:p>
          <a:p>
            <a:pPr marL="357188" indent="-357188"/>
            <a:r>
              <a:rPr lang="en-US" sz="2000" dirty="0"/>
              <a:t>In addition to the ignition system, inspect all related electrical connectors or fuses, vacuum lines, air intake system, and cooling system.</a:t>
            </a:r>
          </a:p>
          <a:p>
            <a:pPr marL="357188" indent="-357188"/>
            <a:r>
              <a:rPr lang="en-US" sz="2000" dirty="0"/>
              <a:t>Also check available service information that may relate to the symptoms</a:t>
            </a:r>
          </a:p>
        </p:txBody>
      </p:sp>
    </p:spTree>
    <p:extLst>
      <p:ext uri="{BB962C8B-B14F-4D97-AF65-F5344CB8AC3E}">
        <p14:creationId xmlns:p14="http://schemas.microsoft.com/office/powerpoint/2010/main" val="2027525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Scan Tools</a:t>
            </a:r>
            <a:endParaRPr sz="3600" dirty="0"/>
          </a:p>
        </p:txBody>
      </p:sp>
      <p:sp>
        <p:nvSpPr>
          <p:cNvPr id="145" name="Google Shape;145;p4"/>
          <p:cNvSpPr txBox="1">
            <a:spLocks noGrp="1"/>
          </p:cNvSpPr>
          <p:nvPr>
            <p:ph type="body" idx="1"/>
          </p:nvPr>
        </p:nvSpPr>
        <p:spPr>
          <a:xfrm>
            <a:off x="476844" y="1381124"/>
            <a:ext cx="6825999" cy="4834325"/>
          </a:xfrm>
          <a:prstGeom prst="rect">
            <a:avLst/>
          </a:prstGeom>
          <a:noFill/>
          <a:ln>
            <a:noFill/>
          </a:ln>
        </p:spPr>
        <p:txBody>
          <a:bodyPr spcFirstLastPara="1" wrap="square" lIns="91425" tIns="45700" rIns="91425" bIns="45700" anchor="t" anchorCtr="0">
            <a:noAutofit/>
          </a:bodyPr>
          <a:lstStyle/>
          <a:p>
            <a:pPr marL="358775" indent="-358775"/>
            <a:r>
              <a:rPr lang="en-US" sz="1800" dirty="0">
                <a:solidFill>
                  <a:schemeClr val="tx1"/>
                </a:solidFill>
              </a:rPr>
              <a:t>Performing a system scan is now standard procedure whenever a vehicle has a performance concern.</a:t>
            </a:r>
          </a:p>
          <a:p>
            <a:pPr marL="358775" indent="-358775"/>
            <a:r>
              <a:rPr lang="en-US" sz="1800" dirty="0">
                <a:solidFill>
                  <a:schemeClr val="tx1"/>
                </a:solidFill>
              </a:rPr>
              <a:t>Even if misfire diagnostic trouble codes (DTCs) are not present, do not ignore other current and history DTCs.</a:t>
            </a:r>
          </a:p>
          <a:p>
            <a:pPr marL="358775" indent="-358775"/>
            <a:r>
              <a:rPr lang="en-US" sz="1800" dirty="0">
                <a:solidFill>
                  <a:schemeClr val="tx1"/>
                </a:solidFill>
              </a:rPr>
              <a:t>A vehicle may not set misfire codes (P0301–P0312) if certain other codes are present.</a:t>
            </a:r>
          </a:p>
          <a:p>
            <a:pPr marL="358775" indent="-358775"/>
            <a:r>
              <a:rPr lang="en-US" sz="1800" dirty="0">
                <a:solidFill>
                  <a:schemeClr val="tx1"/>
                </a:solidFill>
              </a:rPr>
              <a:t>Within the OBD II diagnostic trouble code structure, DTCs P0300 through P0399 are specific to the ignition system and misfires</a:t>
            </a:r>
          </a:p>
          <a:p>
            <a:pPr marL="358775" indent="-358775"/>
            <a:r>
              <a:rPr lang="en-US" sz="1800" dirty="0">
                <a:solidFill>
                  <a:schemeClr val="tx1"/>
                </a:solidFill>
              </a:rPr>
              <a:t>Sometimes, the PCM needs to be reprogrammed due to changes made in the strategy or calibrations after the vehicle was produced.</a:t>
            </a:r>
          </a:p>
          <a:p>
            <a:pPr marL="358775" indent="-358775"/>
            <a:r>
              <a:rPr lang="en-US" sz="1800" dirty="0">
                <a:solidFill>
                  <a:schemeClr val="tx1"/>
                </a:solidFill>
              </a:rPr>
              <a:t>DTCs and scan tool data should be retrieved during the initial diagnostic routine.</a:t>
            </a:r>
          </a:p>
        </p:txBody>
      </p:sp>
      <p:pic>
        <p:nvPicPr>
          <p:cNvPr id="8" name="Picture Placeholder 7" descr="A screenshot depicts a scan tool titled, auto enginuity’s Giotto. The menu bar from left to right reads as follows: Data logging; vehicle; option; help. The standard bar below reads as follows: Recorder; stopped; data logging file; playback speed. The formatting bar below reads as follows: Diagnostic trouble codes (active); live data meter; live data graphs (8 x); live data graph/ Histogram (4 x); live data grid. Information about a D T C is displayed below.">
            <a:extLst>
              <a:ext uri="{FF2B5EF4-FFF2-40B4-BE49-F238E27FC236}">
                <a16:creationId xmlns:a16="http://schemas.microsoft.com/office/drawing/2014/main" id="{13316EF0-60AA-C975-387B-32BDF6B4FF9B}"/>
              </a:ext>
            </a:extLst>
          </p:cNvPr>
          <p:cNvPicPr>
            <a:picLocks noGrp="1" noChangeAspect="1"/>
          </p:cNvPicPr>
          <p:nvPr>
            <p:ph type="pic" sz="quarter" idx="13"/>
          </p:nvPr>
        </p:nvPicPr>
        <p:blipFill rotWithShape="1">
          <a:blip r:embed="rId3"/>
          <a:srcRect b="8968"/>
          <a:stretch/>
        </p:blipFill>
        <p:spPr>
          <a:xfrm>
            <a:off x="7639255" y="1688579"/>
            <a:ext cx="4402727" cy="4007886"/>
          </a:xfrm>
          <a:prstGeom prst="rect">
            <a:avLst/>
          </a:prstGeom>
        </p:spPr>
      </p:pic>
    </p:spTree>
    <p:extLst>
      <p:ext uri="{BB962C8B-B14F-4D97-AF65-F5344CB8AC3E}">
        <p14:creationId xmlns:p14="http://schemas.microsoft.com/office/powerpoint/2010/main" val="545117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Primary Circuit</a:t>
            </a:r>
            <a:endParaRPr sz="3600" dirty="0"/>
          </a:p>
        </p:txBody>
      </p:sp>
      <p:sp>
        <p:nvSpPr>
          <p:cNvPr id="145" name="Google Shape;145;p4"/>
          <p:cNvSpPr txBox="1">
            <a:spLocks noGrp="1"/>
          </p:cNvSpPr>
          <p:nvPr>
            <p:ph type="body" idx="1"/>
          </p:nvPr>
        </p:nvSpPr>
        <p:spPr>
          <a:xfrm>
            <a:off x="476844" y="1506475"/>
            <a:ext cx="6912498" cy="4350628"/>
          </a:xfrm>
          <a:prstGeom prst="rect">
            <a:avLst/>
          </a:prstGeom>
          <a:noFill/>
          <a:ln>
            <a:noFill/>
          </a:ln>
        </p:spPr>
        <p:txBody>
          <a:bodyPr spcFirstLastPara="1" wrap="square" lIns="91425" tIns="45700" rIns="91425" bIns="45700" anchor="t" anchorCtr="0">
            <a:noAutofit/>
          </a:bodyPr>
          <a:lstStyle/>
          <a:p>
            <a:pPr marL="342900" indent="-342900"/>
            <a:r>
              <a:rPr lang="en-US" sz="2000" dirty="0"/>
              <a:t>Primary ignition system wiring should be checked for tight connections.</a:t>
            </a:r>
          </a:p>
          <a:p>
            <a:pPr marL="357188" indent="-357188"/>
            <a:r>
              <a:rPr lang="en-US" sz="2000" dirty="0"/>
              <a:t>Electronic circuits operate on very low voltage.</a:t>
            </a:r>
          </a:p>
          <a:p>
            <a:pPr marL="357188" indent="-357188"/>
            <a:r>
              <a:rPr lang="en-US" sz="2000" dirty="0"/>
              <a:t>Voltage drops caused by corrosion or dirt can cause running problems.</a:t>
            </a:r>
          </a:p>
          <a:p>
            <a:pPr marL="357188" indent="-357188"/>
            <a:r>
              <a:rPr lang="en-US" sz="2000" dirty="0"/>
              <a:t>Missing or broken tab locks on wire terminals are often the cause of intermittent ignition problems due to vibration or thermal related failure.</a:t>
            </a:r>
          </a:p>
          <a:p>
            <a:pPr marL="357188" indent="-357188"/>
            <a:r>
              <a:rPr lang="en-US" sz="2000" dirty="0"/>
              <a:t>Test the integrity of a suspect connection by tapping, tugging, and wiggling the wires while the engine is running.</a:t>
            </a:r>
          </a:p>
        </p:txBody>
      </p:sp>
      <p:pic>
        <p:nvPicPr>
          <p:cNvPr id="8" name="Picture Placeholder 7" descr="The primary ignition system wiring with wires, cables, and tab locks on wire terminals.">
            <a:extLst>
              <a:ext uri="{FF2B5EF4-FFF2-40B4-BE49-F238E27FC236}">
                <a16:creationId xmlns:a16="http://schemas.microsoft.com/office/drawing/2014/main" id="{BD6CD98F-0938-85CD-8ED9-67A19051CBF8}"/>
              </a:ext>
            </a:extLst>
          </p:cNvPr>
          <p:cNvPicPr>
            <a:picLocks noGrp="1" noChangeAspect="1"/>
          </p:cNvPicPr>
          <p:nvPr>
            <p:ph type="pic" sz="quarter" idx="12"/>
          </p:nvPr>
        </p:nvPicPr>
        <p:blipFill rotWithShape="1">
          <a:blip r:embed="rId3"/>
          <a:srcRect b="10811"/>
          <a:stretch/>
        </p:blipFill>
        <p:spPr>
          <a:xfrm>
            <a:off x="7517657" y="1964724"/>
            <a:ext cx="4528808" cy="3286899"/>
          </a:xfrm>
          <a:prstGeom prst="rect">
            <a:avLst/>
          </a:prstGeom>
        </p:spPr>
      </p:pic>
    </p:spTree>
    <p:extLst>
      <p:ext uri="{BB962C8B-B14F-4D97-AF65-F5344CB8AC3E}">
        <p14:creationId xmlns:p14="http://schemas.microsoft.com/office/powerpoint/2010/main" val="3915116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Sensors </a:t>
            </a:r>
            <a:endParaRPr sz="3600" dirty="0"/>
          </a:p>
        </p:txBody>
      </p:sp>
      <p:pic>
        <p:nvPicPr>
          <p:cNvPr id="8" name="Picture Placeholder 7" descr="A set of wires goes into a crankshaft sensor mounted on the distributor shaft, and the wiring needs to be inspected.">
            <a:extLst>
              <a:ext uri="{FF2B5EF4-FFF2-40B4-BE49-F238E27FC236}">
                <a16:creationId xmlns:a16="http://schemas.microsoft.com/office/drawing/2014/main" id="{5D0A2E85-9F56-04EE-2E01-782D74D2E266}"/>
              </a:ext>
            </a:extLst>
          </p:cNvPr>
          <p:cNvPicPr>
            <a:picLocks noGrp="1" noChangeAspect="1"/>
          </p:cNvPicPr>
          <p:nvPr>
            <p:ph type="pic" sz="quarter" idx="12"/>
          </p:nvPr>
        </p:nvPicPr>
        <p:blipFill rotWithShape="1">
          <a:blip r:embed="rId3"/>
          <a:srcRect b="12279"/>
          <a:stretch/>
        </p:blipFill>
        <p:spPr>
          <a:xfrm>
            <a:off x="476843" y="1956384"/>
            <a:ext cx="4288205" cy="2838037"/>
          </a:xfrm>
          <a:prstGeom prst="rect">
            <a:avLst/>
          </a:prstGeom>
        </p:spPr>
      </p:pic>
      <p:sp>
        <p:nvSpPr>
          <p:cNvPr id="145" name="Google Shape;145;p4"/>
          <p:cNvSpPr txBox="1">
            <a:spLocks noGrp="1"/>
          </p:cNvSpPr>
          <p:nvPr>
            <p:ph type="body" idx="1"/>
          </p:nvPr>
        </p:nvSpPr>
        <p:spPr>
          <a:xfrm>
            <a:off x="4962360" y="1506475"/>
            <a:ext cx="6961924" cy="4449224"/>
          </a:xfrm>
          <a:prstGeom prst="rect">
            <a:avLst/>
          </a:prstGeom>
          <a:noFill/>
          <a:ln>
            <a:noFill/>
          </a:ln>
        </p:spPr>
        <p:txBody>
          <a:bodyPr spcFirstLastPara="1" wrap="square" lIns="91425" tIns="45700" rIns="91425" bIns="45700" anchor="t" anchorCtr="0">
            <a:noAutofit/>
          </a:bodyPr>
          <a:lstStyle/>
          <a:p>
            <a:pPr marL="342900" indent="-342900"/>
            <a:r>
              <a:rPr lang="en-US" sz="2000" dirty="0"/>
              <a:t>A voltage pulse from a crankshaft position sensor activates the transistor in the control module.</a:t>
            </a:r>
          </a:p>
          <a:p>
            <a:pPr marL="342900" indent="-342900"/>
            <a:r>
              <a:rPr lang="en-US" sz="2000" dirty="0"/>
              <a:t>In most ignition systems, this sensor is either a magnetic pulse generator or Hall-effect sensor.</a:t>
            </a:r>
          </a:p>
          <a:p>
            <a:pPr marL="342900" indent="-342900"/>
            <a:r>
              <a:rPr lang="en-US" sz="2000" dirty="0"/>
              <a:t>These sensors are mounted either on the distributor shaft, crankshaft, or flywheel.</a:t>
            </a:r>
          </a:p>
          <a:p>
            <a:pPr marL="342900" indent="-342900"/>
            <a:r>
              <a:rPr lang="en-US" sz="2000" dirty="0"/>
              <a:t>Under unusual circumstances, the nonmagnetic reluctor can become magnetized and upset the pickup coil’s voltage signal to the control module.</a:t>
            </a:r>
          </a:p>
          <a:p>
            <a:pPr marL="342900" indent="-342900"/>
            <a:r>
              <a:rPr lang="en-US" sz="2000" dirty="0"/>
              <a:t>Use a steel feeler gauge to check for signs of magnetic attraction and replace the reluctor if the test is positive.</a:t>
            </a:r>
          </a:p>
        </p:txBody>
      </p:sp>
    </p:spTree>
    <p:extLst>
      <p:ext uri="{BB962C8B-B14F-4D97-AF65-F5344CB8AC3E}">
        <p14:creationId xmlns:p14="http://schemas.microsoft.com/office/powerpoint/2010/main" val="3779915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Secondary Circuit</a:t>
            </a:r>
            <a:endParaRPr sz="3600" dirty="0"/>
          </a:p>
        </p:txBody>
      </p:sp>
      <p:pic>
        <p:nvPicPr>
          <p:cNvPr id="8" name="Picture Placeholder 7" descr="An illustration depicts a spark plug connected with a secondary coil cable. The condition to check at the ends of the spark plug and boot reads, check for broken, corroded, and bent terminals.">
            <a:extLst>
              <a:ext uri="{FF2B5EF4-FFF2-40B4-BE49-F238E27FC236}">
                <a16:creationId xmlns:a16="http://schemas.microsoft.com/office/drawing/2014/main" id="{7ECB417B-A342-65B8-DF48-DC0C600930E3}"/>
              </a:ext>
            </a:extLst>
          </p:cNvPr>
          <p:cNvPicPr>
            <a:picLocks noGrp="1" noChangeAspect="1"/>
          </p:cNvPicPr>
          <p:nvPr>
            <p:ph type="pic" sz="quarter" idx="12"/>
          </p:nvPr>
        </p:nvPicPr>
        <p:blipFill rotWithShape="1">
          <a:blip r:embed="rId3"/>
          <a:srcRect l="12009" t="1451" r="-1816" b="9097"/>
          <a:stretch/>
        </p:blipFill>
        <p:spPr>
          <a:xfrm>
            <a:off x="642551" y="1873225"/>
            <a:ext cx="4151871" cy="3264795"/>
          </a:xfrm>
          <a:prstGeom prst="rect">
            <a:avLst/>
          </a:prstGeom>
        </p:spPr>
      </p:pic>
      <p:sp>
        <p:nvSpPr>
          <p:cNvPr id="145" name="Google Shape;145;p4"/>
          <p:cNvSpPr txBox="1">
            <a:spLocks noGrp="1"/>
          </p:cNvSpPr>
          <p:nvPr>
            <p:ph type="body" idx="1"/>
          </p:nvPr>
        </p:nvSpPr>
        <p:spPr>
          <a:xfrm>
            <a:off x="5251622" y="1506475"/>
            <a:ext cx="6467136" cy="4597764"/>
          </a:xfrm>
          <a:prstGeom prst="rect">
            <a:avLst/>
          </a:prstGeom>
          <a:noFill/>
          <a:ln>
            <a:noFill/>
          </a:ln>
        </p:spPr>
        <p:txBody>
          <a:bodyPr spcFirstLastPara="1" wrap="square" lIns="91425" tIns="45700" rIns="91425" bIns="45700" anchor="t" anchorCtr="0">
            <a:noAutofit/>
          </a:bodyPr>
          <a:lstStyle/>
          <a:p>
            <a:pPr marL="357188" indent="-357188"/>
            <a:r>
              <a:rPr lang="en-US" sz="1800" dirty="0"/>
              <a:t>Spark plug (ignition) and coil cables should be pushed tightly into the distributor cap and coil and onto spark plugs.</a:t>
            </a:r>
          </a:p>
          <a:p>
            <a:pPr marL="357188" indent="-357188"/>
            <a:r>
              <a:rPr lang="en-US" sz="1800" dirty="0"/>
              <a:t>Inspect all secondary cables for cracks and worn insulation, which cause high-voltage leaks.</a:t>
            </a:r>
          </a:p>
          <a:p>
            <a:pPr marL="357188" indent="-357188"/>
            <a:r>
              <a:rPr lang="en-US" sz="1800" dirty="0"/>
              <a:t>Inspect all of the boots on the ends of the secondary wires for cracks and hard, brittle conditions.</a:t>
            </a:r>
          </a:p>
          <a:p>
            <a:pPr marL="357188" indent="-357188"/>
            <a:r>
              <a:rPr lang="en-US" sz="1800" dirty="0"/>
              <a:t>Replace the wires and boots if they show evidence of these conditions.</a:t>
            </a:r>
          </a:p>
          <a:p>
            <a:pPr marL="357188" indent="-357188"/>
            <a:r>
              <a:rPr lang="en-US" sz="1800" dirty="0"/>
              <a:t>Inspect the terminals inside of the boots.</a:t>
            </a:r>
          </a:p>
          <a:p>
            <a:pPr marL="357188" indent="-357188"/>
            <a:r>
              <a:rPr lang="en-US" sz="1800" dirty="0"/>
              <a:t>Often corrosion and signs of arcing are found inside the boots.</a:t>
            </a:r>
            <a:endParaRPr lang="en-US" sz="1200" dirty="0"/>
          </a:p>
        </p:txBody>
      </p:sp>
    </p:spTree>
    <p:extLst>
      <p:ext uri="{BB962C8B-B14F-4D97-AF65-F5344CB8AC3E}">
        <p14:creationId xmlns:p14="http://schemas.microsoft.com/office/powerpoint/2010/main" val="67415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Are spark plugs part of the primary or secondary circuit?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600CE08D-2777-91BE-2789-E32EB6D927E7}"/>
              </a:ext>
            </a:extLst>
          </p:cNvPr>
          <p:cNvSpPr>
            <a:spLocks noGrp="1"/>
          </p:cNvSpPr>
          <p:nvPr>
            <p:ph type="body" idx="1"/>
          </p:nvPr>
        </p:nvSpPr>
        <p:spPr/>
        <p:txBody>
          <a:bodyPr/>
          <a:lstStyle/>
          <a:p>
            <a:pPr marL="361950" lvl="1" indent="0">
              <a:buNone/>
            </a:pPr>
            <a:r>
              <a:rPr lang="en-US" sz="2600" b="1" dirty="0"/>
              <a:t>Answer</a:t>
            </a:r>
            <a:r>
              <a:rPr lang="en-US" sz="2600" dirty="0"/>
              <a:t>: They are part of the secondary circuit which is high voltage.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No-Start Diagnosis of EI Systems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solidFill>
                  <a:schemeClr val="tx1"/>
                </a:solidFill>
              </a:rPr>
              <a:t>27.03 Perform a no-start diagnosis and determine the cause of the condition.</a:t>
            </a:r>
          </a:p>
          <a:p>
            <a:pPr marL="357188" indent="-357188"/>
            <a:r>
              <a:rPr lang="en-US" sz="1800" dirty="0">
                <a:solidFill>
                  <a:schemeClr val="tx1"/>
                </a:solidFill>
              </a:rPr>
              <a:t>When an engine with an EI system has a no-start problem, begin diagnosis by connecting a scan tool.</a:t>
            </a:r>
          </a:p>
          <a:p>
            <a:pPr marL="357188" indent="-357188"/>
            <a:r>
              <a:rPr lang="en-US" sz="1800" dirty="0">
                <a:solidFill>
                  <a:schemeClr val="tx1"/>
                </a:solidFill>
              </a:rPr>
              <a:t>Check for DTCs and make sure the PCM shows rpm when cranking the engine.</a:t>
            </a:r>
          </a:p>
          <a:p>
            <a:pPr marL="357188" indent="-357188"/>
            <a:r>
              <a:rPr lang="en-US" sz="1800" dirty="0">
                <a:solidFill>
                  <a:schemeClr val="tx1"/>
                </a:solidFill>
              </a:rPr>
              <a:t>Without an rpm reference, the PCM cannot trigger the ignition coils or fuel injectors.</a:t>
            </a:r>
          </a:p>
          <a:p>
            <a:pPr marL="357188" indent="-357188"/>
            <a:r>
              <a:rPr lang="en-US" sz="1800" dirty="0">
                <a:solidFill>
                  <a:schemeClr val="tx1"/>
                </a:solidFill>
              </a:rPr>
              <a:t>There are many ignition-related DTCs that may be set by the PCM when there is a no-start condition.</a:t>
            </a:r>
          </a:p>
          <a:p>
            <a:pPr marL="357188" indent="-357188"/>
            <a:r>
              <a:rPr lang="en-US" sz="1800" dirty="0">
                <a:solidFill>
                  <a:schemeClr val="tx1"/>
                </a:solidFill>
              </a:rPr>
              <a:t>Always retrieve the codes and follow their pinpoint tests when diagnosing an EI system. A stored P0335 indicates a problem with the CKP circuit, which can cause a no-start condition.</a:t>
            </a:r>
          </a:p>
          <a:p>
            <a:pPr marL="357188" indent="-357188"/>
            <a:r>
              <a:rPr lang="en-US" sz="1800" dirty="0">
                <a:solidFill>
                  <a:schemeClr val="tx1"/>
                </a:solidFill>
              </a:rPr>
              <a:t>Follow the manufacturer’s diagnostic information to determine the cause of the fault.</a:t>
            </a:r>
          </a:p>
          <a:p>
            <a:pPr marL="357188" indent="-357188"/>
            <a:r>
              <a:rPr lang="en-US" sz="1800" dirty="0">
                <a:solidFill>
                  <a:schemeClr val="tx1"/>
                </a:solidFill>
              </a:rPr>
              <a:t>If the PCM set no codes, follow this procedure to identify the cause of a no-start problem. </a:t>
            </a:r>
          </a:p>
        </p:txBody>
      </p:sp>
    </p:spTree>
    <p:extLst>
      <p:ext uri="{BB962C8B-B14F-4D97-AF65-F5344CB8AC3E}">
        <p14:creationId xmlns:p14="http://schemas.microsoft.com/office/powerpoint/2010/main" val="2421692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Diagnosing Ignition Systems (1 of 3)</a:t>
            </a:r>
            <a:endParaRPr sz="3600" dirty="0"/>
          </a:p>
        </p:txBody>
      </p:sp>
      <p:sp>
        <p:nvSpPr>
          <p:cNvPr id="145" name="Google Shape;145;p4"/>
          <p:cNvSpPr txBox="1">
            <a:spLocks noGrp="1"/>
          </p:cNvSpPr>
          <p:nvPr>
            <p:ph type="body" idx="1"/>
          </p:nvPr>
        </p:nvSpPr>
        <p:spPr>
          <a:xfrm>
            <a:off x="476844" y="1506474"/>
            <a:ext cx="6307015" cy="4610121"/>
          </a:xfrm>
          <a:prstGeom prst="rect">
            <a:avLst/>
          </a:prstGeom>
          <a:noFill/>
          <a:ln>
            <a:noFill/>
          </a:ln>
        </p:spPr>
        <p:txBody>
          <a:bodyPr spcFirstLastPara="1" wrap="square" lIns="91425" tIns="45700" rIns="91425" bIns="45700" anchor="t" anchorCtr="0">
            <a:noAutofit/>
          </a:bodyPr>
          <a:lstStyle/>
          <a:p>
            <a:pPr marL="357188" indent="-357188"/>
            <a:r>
              <a:rPr lang="en-US" sz="2000" dirty="0"/>
              <a:t>Cylinder Performance Test</a:t>
            </a:r>
          </a:p>
          <a:p>
            <a:pPr marL="715963" lvl="1" indent="-357188"/>
            <a:r>
              <a:rPr lang="en-US" sz="1800" dirty="0"/>
              <a:t>During the cylinder performance test (also called the power balance or contribution test), engine rpm is monitored while either the ignition or fuel injection is stopped for each cylinder one at a time.</a:t>
            </a:r>
          </a:p>
          <a:p>
            <a:pPr marL="715963" lvl="1" indent="-357188"/>
            <a:r>
              <a:rPr lang="en-US" sz="1800" dirty="0"/>
              <a:t>During this brief time, the rpm drop is recorded.</a:t>
            </a:r>
          </a:p>
          <a:p>
            <a:pPr marL="715963" lvl="1" indent="-357188"/>
            <a:r>
              <a:rPr lang="en-US" sz="1800" dirty="0"/>
              <a:t>When a cylinder is not contributing to engine power due to low compression or some other problem, there will be very little rpm drop when that cylinder stops firing.</a:t>
            </a:r>
          </a:p>
          <a:p>
            <a:pPr marL="715963" lvl="1" indent="-357188"/>
            <a:r>
              <a:rPr lang="en-US" sz="1800" dirty="0"/>
              <a:t>If a cylinder was misfiring prior to the test, the cylinder will have high HC emissions.</a:t>
            </a:r>
          </a:p>
        </p:txBody>
      </p:sp>
      <p:pic>
        <p:nvPicPr>
          <p:cNvPr id="8" name="Picture Placeholder 7" descr="A screenshot depicts a Cylinder performance test results showing one bad cylinder. Connecting the scope to a D I S system plots several uneven lines on a coordinate plane. The horizontal axis represents the r p m, and ranges from 0 to 6000, in increments of 2000. The vertical axis ranges from negative 60 to plus 40, in increments of 20. Several uneven lines go up and down to the right, intersects each other at several points, and then goes down to the right finally to (5500, negative 30), and then goes up and to the right, and exit the right of the screen.">
            <a:extLst>
              <a:ext uri="{FF2B5EF4-FFF2-40B4-BE49-F238E27FC236}">
                <a16:creationId xmlns:a16="http://schemas.microsoft.com/office/drawing/2014/main" id="{B9A7B23C-1DB3-256A-73AB-A3EF06F8B6C8}"/>
              </a:ext>
            </a:extLst>
          </p:cNvPr>
          <p:cNvPicPr>
            <a:picLocks noGrp="1" noChangeAspect="1"/>
          </p:cNvPicPr>
          <p:nvPr>
            <p:ph type="pic" sz="quarter" idx="13"/>
          </p:nvPr>
        </p:nvPicPr>
        <p:blipFill rotWithShape="1">
          <a:blip r:embed="rId3"/>
          <a:srcRect b="5728"/>
          <a:stretch/>
        </p:blipFill>
        <p:spPr>
          <a:xfrm>
            <a:off x="7017054" y="2038865"/>
            <a:ext cx="5007374" cy="2990336"/>
          </a:xfrm>
          <a:prstGeom prst="rect">
            <a:avLst/>
          </a:prstGeom>
        </p:spPr>
      </p:pic>
    </p:spTree>
    <p:extLst>
      <p:ext uri="{BB962C8B-B14F-4D97-AF65-F5344CB8AC3E}">
        <p14:creationId xmlns:p14="http://schemas.microsoft.com/office/powerpoint/2010/main" val="4064381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Diagnosing Ignition Systems (2 of 3)</a:t>
            </a:r>
            <a:endParaRPr sz="3600" dirty="0"/>
          </a:p>
        </p:txBody>
      </p:sp>
      <p:sp>
        <p:nvSpPr>
          <p:cNvPr id="145" name="Google Shape;145;p4"/>
          <p:cNvSpPr txBox="1">
            <a:spLocks noGrp="1"/>
          </p:cNvSpPr>
          <p:nvPr>
            <p:ph type="body" idx="1"/>
          </p:nvPr>
        </p:nvSpPr>
        <p:spPr>
          <a:xfrm>
            <a:off x="476844" y="1381124"/>
            <a:ext cx="6974280" cy="4760183"/>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27.05 Diagnose ignition system concerns using a lab scope.</a:t>
            </a:r>
            <a:endParaRPr lang="en-US" sz="2000" dirty="0"/>
          </a:p>
          <a:p>
            <a:pPr marL="357188" indent="-357188">
              <a:spcAft>
                <a:spcPts val="0"/>
              </a:spcAft>
            </a:pPr>
            <a:r>
              <a:rPr lang="en-US" sz="2000" dirty="0"/>
              <a:t>Scope Patterns</a:t>
            </a:r>
          </a:p>
          <a:p>
            <a:pPr marL="715963" lvl="1" indent="-357188">
              <a:spcAft>
                <a:spcPts val="0"/>
              </a:spcAft>
            </a:pPr>
            <a:r>
              <a:rPr lang="en-US" sz="1800" dirty="0"/>
              <a:t>An oscilloscope or “scope” converts the electrical activity of the ignition system into a visual image showing voltage changes over a given period.</a:t>
            </a:r>
          </a:p>
          <a:p>
            <a:pPr marL="715963" lvl="1" indent="-357188">
              <a:spcAft>
                <a:spcPts val="0"/>
              </a:spcAft>
            </a:pPr>
            <a:r>
              <a:rPr lang="en-US" sz="1800" dirty="0"/>
              <a:t>This information is displayed on a screen in the form of a continuous voltage line called a pattern or trace.</a:t>
            </a:r>
          </a:p>
          <a:p>
            <a:pPr marL="715963" lvl="1" indent="-357188">
              <a:spcAft>
                <a:spcPts val="0"/>
              </a:spcAft>
            </a:pPr>
            <a:r>
              <a:rPr lang="en-US" sz="1800" dirty="0"/>
              <a:t>By studying the pattern, a technician can see what the ignition system is doing.</a:t>
            </a:r>
          </a:p>
          <a:p>
            <a:pPr marL="715963" lvl="1" indent="-357188">
              <a:spcAft>
                <a:spcPts val="0"/>
              </a:spcAft>
            </a:pPr>
            <a:r>
              <a:rPr lang="en-US" sz="1800" dirty="0"/>
              <a:t>Connecting the scope to a DIS system requires adapters or additional test leads.</a:t>
            </a:r>
          </a:p>
          <a:p>
            <a:pPr marL="715963" lvl="1" indent="-357188">
              <a:spcAft>
                <a:spcPts val="0"/>
              </a:spcAft>
            </a:pPr>
            <a:r>
              <a:rPr lang="en-US" sz="1800" dirty="0"/>
              <a:t>The leads are connected to the individual spark plug wires.</a:t>
            </a:r>
          </a:p>
        </p:txBody>
      </p:sp>
      <p:pic>
        <p:nvPicPr>
          <p:cNvPr id="8" name="Picture Placeholder 7" descr="A screenshot depicts a secondary pattern for an eight-cylinder engine. The horizontal axis ranges from 1 to 8 in increments of 1. The vertical axis represents K V ranging from negative 5 to 20 in increments of 5. A continuous voltage line called a trace or pattern is displayed on the screenshot. The voltage spike at the time of ignition and the corresponding flow of current for eight cylinders are displayed. During the increased spike in voltage, the current remains constant at around 0.7 A, then increases to around 6.5 A, and again decreases and repeats the pattern. The voltage spikes between 0.077 and 1 kilovolts.">
            <a:extLst>
              <a:ext uri="{FF2B5EF4-FFF2-40B4-BE49-F238E27FC236}">
                <a16:creationId xmlns:a16="http://schemas.microsoft.com/office/drawing/2014/main" id="{415D3DCD-76B1-E298-E90A-40D0D6F12DB9}"/>
              </a:ext>
            </a:extLst>
          </p:cNvPr>
          <p:cNvPicPr>
            <a:picLocks noGrp="1" noChangeAspect="1"/>
          </p:cNvPicPr>
          <p:nvPr>
            <p:ph type="pic" sz="quarter" idx="13"/>
          </p:nvPr>
        </p:nvPicPr>
        <p:blipFill rotWithShape="1">
          <a:blip r:embed="rId3"/>
          <a:srcRect b="10757"/>
          <a:stretch/>
        </p:blipFill>
        <p:spPr>
          <a:xfrm>
            <a:off x="7554831" y="2697959"/>
            <a:ext cx="4472474" cy="1923468"/>
          </a:xfrm>
          <a:prstGeom prst="rect">
            <a:avLst/>
          </a:prstGeom>
        </p:spPr>
      </p:pic>
    </p:spTree>
    <p:extLst>
      <p:ext uri="{BB962C8B-B14F-4D97-AF65-F5344CB8AC3E}">
        <p14:creationId xmlns:p14="http://schemas.microsoft.com/office/powerpoint/2010/main" val="4132657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Diagnosing Ignition Systems (3 of 3)</a:t>
            </a:r>
            <a:endParaRPr sz="3600" dirty="0"/>
          </a:p>
        </p:txBody>
      </p:sp>
      <p:pic>
        <p:nvPicPr>
          <p:cNvPr id="8" name="Picture Placeholder 7" descr="A graph of a typical primary pattern. The horizontal axis represents time and the vertical axis represents time. The damped triangular wave remains constant and then continues as a sine damped wave and remains constant.">
            <a:extLst>
              <a:ext uri="{FF2B5EF4-FFF2-40B4-BE49-F238E27FC236}">
                <a16:creationId xmlns:a16="http://schemas.microsoft.com/office/drawing/2014/main" id="{6F56A1EA-9EB8-1E5B-B673-29F4C4D4C14A}"/>
              </a:ext>
            </a:extLst>
          </p:cNvPr>
          <p:cNvPicPr>
            <a:picLocks noGrp="1" noChangeAspect="1"/>
          </p:cNvPicPr>
          <p:nvPr>
            <p:ph type="pic" sz="quarter" idx="12"/>
          </p:nvPr>
        </p:nvPicPr>
        <p:blipFill rotWithShape="1">
          <a:blip r:embed="rId3"/>
          <a:srcRect b="9122"/>
          <a:stretch/>
        </p:blipFill>
        <p:spPr>
          <a:xfrm>
            <a:off x="656268" y="2021756"/>
            <a:ext cx="4626931" cy="2993418"/>
          </a:xfrm>
          <a:prstGeom prst="rect">
            <a:avLst/>
          </a:prstGeom>
        </p:spPr>
      </p:pic>
      <p:sp>
        <p:nvSpPr>
          <p:cNvPr id="145" name="Google Shape;145;p4"/>
          <p:cNvSpPr txBox="1">
            <a:spLocks noGrp="1"/>
          </p:cNvSpPr>
          <p:nvPr>
            <p:ph type="body" idx="1"/>
          </p:nvPr>
        </p:nvSpPr>
        <p:spPr>
          <a:xfrm>
            <a:off x="5474042" y="1506474"/>
            <a:ext cx="6244715" cy="4461839"/>
          </a:xfrm>
          <a:prstGeom prst="rect">
            <a:avLst/>
          </a:prstGeom>
          <a:noFill/>
          <a:ln>
            <a:noFill/>
          </a:ln>
        </p:spPr>
        <p:txBody>
          <a:bodyPr spcFirstLastPara="1" wrap="square" lIns="91425" tIns="45700" rIns="91425" bIns="45700" anchor="t" anchorCtr="0">
            <a:noAutofit/>
          </a:bodyPr>
          <a:lstStyle/>
          <a:p>
            <a:pPr marL="357188" indent="-357188"/>
            <a:r>
              <a:rPr lang="en-US" sz="2200" dirty="0"/>
              <a:t>Primary Circuit Checks</a:t>
            </a:r>
          </a:p>
          <a:p>
            <a:pPr marL="715963" lvl="1" indent="-357188"/>
            <a:r>
              <a:rPr lang="en-US" sz="2000" dirty="0"/>
              <a:t>The primary ignition pattern shows the action of the primary circuit.</a:t>
            </a:r>
          </a:p>
          <a:p>
            <a:pPr marL="715963" lvl="1" indent="-357188"/>
            <a:r>
              <a:rPr lang="en-US" sz="2000" dirty="0"/>
              <a:t>To be able to spot abnormal sections of a primary waveform, you must know what causes each change of voltage and time in a normal primary waveform.</a:t>
            </a:r>
          </a:p>
          <a:p>
            <a:pPr marL="715963" lvl="1" indent="-357188"/>
            <a:r>
              <a:rPr lang="en-US" sz="2000" dirty="0"/>
              <a:t>Although the true cycle of the primary circuit begins and ends when the switching transistor is turned on, the displayed pattern begins right after the transistor is turned off.</a:t>
            </a:r>
          </a:p>
        </p:txBody>
      </p:sp>
    </p:spTree>
    <p:extLst>
      <p:ext uri="{BB962C8B-B14F-4D97-AF65-F5344CB8AC3E}">
        <p14:creationId xmlns:p14="http://schemas.microsoft.com/office/powerpoint/2010/main" val="3130174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Diagnosing with a DSO or GMM </a:t>
            </a:r>
            <a:endParaRPr sz="3600" dirty="0"/>
          </a:p>
        </p:txBody>
      </p:sp>
      <p:pic>
        <p:nvPicPr>
          <p:cNvPr id="8" name="Picture Placeholder 7" descr="A graph depicts Waveforms on four different channels. The CH 1 wave starts at the vertical axis and then remains constant to a certain point. From that point, the wave gradually increases and steadily decreases and then remains constant. The CH 2 wave starts at the vertical axis and remains constant to a certain point, gradually increases, and forms a square waveform. The square wave repeats three consecutive times and remains constant. The CH 3 wave starts at the vertical axis, remains constant to a certain point, and gradually decreases to form a square wave. The wave then increases rapidly and gradually decreases to remain constant. The CH 3 waveform shows a noisy wave.">
            <a:extLst>
              <a:ext uri="{FF2B5EF4-FFF2-40B4-BE49-F238E27FC236}">
                <a16:creationId xmlns:a16="http://schemas.microsoft.com/office/drawing/2014/main" id="{AF5851F8-636E-9313-8FD2-69AC50DEB82E}"/>
              </a:ext>
            </a:extLst>
          </p:cNvPr>
          <p:cNvPicPr>
            <a:picLocks noGrp="1" noChangeAspect="1"/>
          </p:cNvPicPr>
          <p:nvPr>
            <p:ph type="pic" sz="quarter" idx="12"/>
          </p:nvPr>
        </p:nvPicPr>
        <p:blipFill rotWithShape="1">
          <a:blip r:embed="rId3"/>
          <a:srcRect b="11512"/>
          <a:stretch/>
        </p:blipFill>
        <p:spPr>
          <a:xfrm>
            <a:off x="473241" y="1867322"/>
            <a:ext cx="4176569" cy="2927100"/>
          </a:xfrm>
          <a:prstGeom prst="rect">
            <a:avLst/>
          </a:prstGeom>
        </p:spPr>
      </p:pic>
      <p:sp>
        <p:nvSpPr>
          <p:cNvPr id="145" name="Google Shape;145;p4"/>
          <p:cNvSpPr txBox="1">
            <a:spLocks noGrp="1"/>
          </p:cNvSpPr>
          <p:nvPr>
            <p:ph type="body" idx="1"/>
          </p:nvPr>
        </p:nvSpPr>
        <p:spPr>
          <a:xfrm>
            <a:off x="4720281" y="1506475"/>
            <a:ext cx="6998477" cy="4622476"/>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000" dirty="0"/>
              <a:t>The graphing meter function is much like using a scope, except that it also displays digital MIN/MAX readings with the trace.</a:t>
            </a:r>
          </a:p>
          <a:p>
            <a:pPr marL="357188" indent="-357188">
              <a:lnSpc>
                <a:spcPct val="107000"/>
              </a:lnSpc>
              <a:spcBef>
                <a:spcPts val="0"/>
              </a:spcBef>
            </a:pPr>
            <a:r>
              <a:rPr lang="en-US" sz="2000" dirty="0"/>
              <a:t>Many have a four-channel capability, which means you can look at the signals from four different sensors and/or outputs at the same time.</a:t>
            </a:r>
          </a:p>
          <a:p>
            <a:pPr marL="357188" indent="-357188">
              <a:lnSpc>
                <a:spcPct val="107000"/>
              </a:lnSpc>
              <a:spcBef>
                <a:spcPts val="0"/>
              </a:spcBef>
            </a:pPr>
            <a:r>
              <a:rPr lang="en-US" sz="2000" dirty="0"/>
              <a:t>This mode also allows a technician to observe any glitches or noise that may affect operation.</a:t>
            </a:r>
          </a:p>
          <a:p>
            <a:pPr marL="357188" indent="-357188">
              <a:lnSpc>
                <a:spcPct val="107000"/>
              </a:lnSpc>
              <a:spcBef>
                <a:spcPts val="0"/>
              </a:spcBef>
            </a:pPr>
            <a:r>
              <a:rPr lang="en-US" sz="2000" dirty="0"/>
              <a:t>In most cases, additional leads must be attached to the lab scope or GMM to read additional channels.</a:t>
            </a:r>
          </a:p>
          <a:p>
            <a:pPr marL="357188" indent="-357188">
              <a:lnSpc>
                <a:spcPct val="107000"/>
              </a:lnSpc>
              <a:spcBef>
                <a:spcPts val="0"/>
              </a:spcBef>
            </a:pPr>
            <a:r>
              <a:rPr lang="en-US" sz="2000" dirty="0"/>
              <a:t>These are color-coded and the color of the display matches the color of the lead.</a:t>
            </a:r>
            <a:endParaRPr lang="en-US" sz="1200" dirty="0"/>
          </a:p>
        </p:txBody>
      </p:sp>
    </p:spTree>
    <p:extLst>
      <p:ext uri="{BB962C8B-B14F-4D97-AF65-F5344CB8AC3E}">
        <p14:creationId xmlns:p14="http://schemas.microsoft.com/office/powerpoint/2010/main" val="2551052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Timing</a:t>
            </a:r>
            <a:endParaRPr sz="3600" dirty="0"/>
          </a:p>
        </p:txBody>
      </p:sp>
      <p:sp>
        <p:nvSpPr>
          <p:cNvPr id="145" name="Google Shape;145;p4"/>
          <p:cNvSpPr txBox="1">
            <a:spLocks noGrp="1"/>
          </p:cNvSpPr>
          <p:nvPr>
            <p:ph type="body" idx="1"/>
          </p:nvPr>
        </p:nvSpPr>
        <p:spPr>
          <a:xfrm>
            <a:off x="476844" y="1381124"/>
            <a:ext cx="6838356" cy="4834325"/>
          </a:xfrm>
          <a:prstGeom prst="rect">
            <a:avLst/>
          </a:prstGeom>
          <a:noFill/>
          <a:ln>
            <a:noFill/>
          </a:ln>
        </p:spPr>
        <p:txBody>
          <a:bodyPr spcFirstLastPara="1" wrap="square" lIns="91425" tIns="45700" rIns="91425" bIns="45700" anchor="t" anchorCtr="0">
            <a:noAutofit/>
          </a:bodyPr>
          <a:lstStyle/>
          <a:p>
            <a:pPr marL="342900" indent="-342900">
              <a:spcAft>
                <a:spcPts val="0"/>
              </a:spcAft>
            </a:pPr>
            <a:r>
              <a:rPr lang="en-US" sz="2000" dirty="0"/>
              <a:t>Most primary circuit problems in a computer-controlled ignition system result in starting problems or poor performance due to incorrect timing.</a:t>
            </a:r>
          </a:p>
          <a:p>
            <a:pPr marL="357188" indent="-357188">
              <a:spcAft>
                <a:spcPts val="0"/>
              </a:spcAft>
            </a:pPr>
            <a:r>
              <a:rPr lang="en-US" sz="2000" dirty="0"/>
              <a:t>If engine performance is poor, the cause of the problem can be many things.</a:t>
            </a:r>
          </a:p>
          <a:p>
            <a:pPr marL="357188" indent="-357188">
              <a:spcAft>
                <a:spcPts val="0"/>
              </a:spcAft>
            </a:pPr>
            <a:r>
              <a:rPr lang="en-US" sz="2000" dirty="0"/>
              <a:t>When the ignition timing is not correct, many tests will point to the problem.</a:t>
            </a:r>
          </a:p>
          <a:p>
            <a:pPr marL="357188" indent="-357188">
              <a:spcAft>
                <a:spcPts val="0"/>
              </a:spcAft>
            </a:pPr>
            <a:r>
              <a:rPr lang="en-US" sz="2000" dirty="0"/>
              <a:t>Incorrect ignition timing will cause incomplete combustion at one or all engine speeds.</a:t>
            </a:r>
          </a:p>
          <a:p>
            <a:pPr marL="357188" indent="-357188">
              <a:spcAft>
                <a:spcPts val="0"/>
              </a:spcAft>
            </a:pPr>
            <a:r>
              <a:rPr lang="en-US" sz="2000" dirty="0"/>
              <a:t>Incomplete combustion will cause excessive O</a:t>
            </a:r>
            <a:r>
              <a:rPr lang="en-US" sz="2000" baseline="-25000" dirty="0"/>
              <a:t>2</a:t>
            </a:r>
            <a:r>
              <a:rPr lang="en-US" sz="2000" dirty="0"/>
              <a:t> in the exhaust.</a:t>
            </a:r>
          </a:p>
          <a:p>
            <a:pPr marL="357188" indent="-357188">
              <a:spcAft>
                <a:spcPts val="0"/>
              </a:spcAft>
            </a:pPr>
            <a:r>
              <a:rPr lang="en-US" sz="2000" dirty="0"/>
              <a:t>This will cause the PCM to try to correct the apparent lean mixture.</a:t>
            </a:r>
            <a:endParaRPr lang="en-US" sz="1200" dirty="0"/>
          </a:p>
        </p:txBody>
      </p:sp>
      <p:pic>
        <p:nvPicPr>
          <p:cNvPr id="8" name="Picture Placeholder 7" descr="A screenshot depicts how fuel trim responds to a lean O 2 reading. The screen depicts a graph with three different types of fluctuating curves representing Engine speed, H O 2 S 1, and Short Term F T. The horizontal axis represents the Frame, and has markings 31, 61, 91, 121, and 151, in order from left to right. The vertical axis has markings negative 25, 0, 0, 25, 1200, and 7000, in order from bottom to top. Three curves, first Short Term F T, goes horizontally rightward with small fluctuations and exits the right of the graph. The second curve represents H O 2 S 1, goes rightward with more fluctuations with higher amplitude, and exits the right of the graph. The third curve represents the Engine Speed, starts from the bottom left near the origin, goes up and to the right, intersecting the first curve, and exits the top right of the graph.">
            <a:extLst>
              <a:ext uri="{FF2B5EF4-FFF2-40B4-BE49-F238E27FC236}">
                <a16:creationId xmlns:a16="http://schemas.microsoft.com/office/drawing/2014/main" id="{965D812E-9C08-6FA7-F71E-683F4F6599CC}"/>
              </a:ext>
            </a:extLst>
          </p:cNvPr>
          <p:cNvPicPr>
            <a:picLocks noGrp="1" noChangeAspect="1"/>
          </p:cNvPicPr>
          <p:nvPr>
            <p:ph type="pic" sz="quarter" idx="13"/>
          </p:nvPr>
        </p:nvPicPr>
        <p:blipFill rotWithShape="1">
          <a:blip r:embed="rId3"/>
          <a:srcRect b="13915"/>
          <a:stretch/>
        </p:blipFill>
        <p:spPr>
          <a:xfrm>
            <a:off x="7722021" y="2222206"/>
            <a:ext cx="4326267" cy="3103556"/>
          </a:xfrm>
          <a:prstGeom prst="rect">
            <a:avLst/>
          </a:prstGeom>
        </p:spPr>
      </p:pic>
    </p:spTree>
    <p:extLst>
      <p:ext uri="{BB962C8B-B14F-4D97-AF65-F5344CB8AC3E}">
        <p14:creationId xmlns:p14="http://schemas.microsoft.com/office/powerpoint/2010/main" val="1588138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Setting Ignition Timing</a:t>
            </a:r>
            <a:endParaRPr sz="3600" dirty="0"/>
          </a:p>
        </p:txBody>
      </p:sp>
      <p:sp>
        <p:nvSpPr>
          <p:cNvPr id="145" name="Google Shape;145;p4"/>
          <p:cNvSpPr txBox="1">
            <a:spLocks noGrp="1"/>
          </p:cNvSpPr>
          <p:nvPr>
            <p:ph type="body" idx="1"/>
          </p:nvPr>
        </p:nvSpPr>
        <p:spPr>
          <a:xfrm>
            <a:off x="476844" y="1419975"/>
            <a:ext cx="7443838" cy="4671903"/>
          </a:xfrm>
          <a:prstGeom prst="rect">
            <a:avLst/>
          </a:prstGeom>
          <a:noFill/>
          <a:ln>
            <a:noFill/>
          </a:ln>
        </p:spPr>
        <p:txBody>
          <a:bodyPr spcFirstLastPara="1" wrap="square" lIns="91425" tIns="45700" rIns="91425" bIns="45700" anchor="t" anchorCtr="0">
            <a:noAutofit/>
          </a:bodyPr>
          <a:lstStyle/>
          <a:p>
            <a:pPr marL="342900" indent="-342900"/>
            <a:r>
              <a:rPr lang="en-US" sz="2000" dirty="0"/>
              <a:t>To check the ignition timing, a timing light is aimed at the ignition timing marks.</a:t>
            </a:r>
          </a:p>
          <a:p>
            <a:pPr marL="357188" indent="-357188"/>
            <a:r>
              <a:rPr lang="en-US" sz="2000" dirty="0"/>
              <a:t>The timing marks are usually located on the crankshaft pulley or the flywheel.</a:t>
            </a:r>
          </a:p>
          <a:p>
            <a:pPr marL="357188" indent="-357188"/>
            <a:r>
              <a:rPr lang="en-US" sz="2000" dirty="0"/>
              <a:t>A stationary pointer, line, or notch is positioned above the rotating timing marks. The timing marks are lines on the crankshaft pulley or flywheel that represent various positions of the piston as it relates to TDC.</a:t>
            </a:r>
          </a:p>
          <a:p>
            <a:pPr marL="357188" indent="-357188"/>
            <a:r>
              <a:rPr lang="en-US" sz="2000" dirty="0"/>
              <a:t>When piston 1 is at TDC, the timing line or notch will line up with the zero reference mark on the timing plate.</a:t>
            </a:r>
          </a:p>
          <a:p>
            <a:pPr marL="357188" indent="-357188"/>
            <a:r>
              <a:rPr lang="en-US" sz="2000" dirty="0"/>
              <a:t>Usually, an engine is timed so that the number 1 spark plug fires several degrees BTDC.</a:t>
            </a:r>
            <a:endParaRPr lang="en-US" sz="1200" dirty="0"/>
          </a:p>
        </p:txBody>
      </p:sp>
      <p:pic>
        <p:nvPicPr>
          <p:cNvPr id="8" name="Picture Placeholder 7" descr="Two illustrations. The first illustration depicts a close-up of a person holding a timing light at ignition marks and the pointer indicates the position of the timing marks on the crankshaft pulley. The timing marks are aligned at 10. The second illustration depicts a close-up of a person holding a timing light aimed at ignition marks and the pointer indicates the position of the timing marks on the crankshaft pulley. The timing marks are aligned at 3 degrees.">
            <a:extLst>
              <a:ext uri="{FF2B5EF4-FFF2-40B4-BE49-F238E27FC236}">
                <a16:creationId xmlns:a16="http://schemas.microsoft.com/office/drawing/2014/main" id="{F4DC8033-1C2C-C065-9EA1-D5287344E06A}"/>
              </a:ext>
            </a:extLst>
          </p:cNvPr>
          <p:cNvPicPr>
            <a:picLocks noGrp="1" noChangeAspect="1"/>
          </p:cNvPicPr>
          <p:nvPr>
            <p:ph type="pic" sz="quarter" idx="13"/>
          </p:nvPr>
        </p:nvPicPr>
        <p:blipFill rotWithShape="1">
          <a:blip r:embed="rId3"/>
          <a:srcRect b="11147"/>
          <a:stretch/>
        </p:blipFill>
        <p:spPr>
          <a:xfrm>
            <a:off x="8200037" y="1779377"/>
            <a:ext cx="3291540" cy="4077725"/>
          </a:xfrm>
          <a:prstGeom prst="rect">
            <a:avLst/>
          </a:prstGeom>
        </p:spPr>
      </p:pic>
    </p:spTree>
    <p:extLst>
      <p:ext uri="{BB962C8B-B14F-4D97-AF65-F5344CB8AC3E}">
        <p14:creationId xmlns:p14="http://schemas.microsoft.com/office/powerpoint/2010/main" val="76866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ts val="2400"/>
              <a:buChar char="•"/>
            </a:pPr>
            <a:r>
              <a:rPr lang="en-US" dirty="0"/>
              <a:t>Setting ignition timing like previously described is a rare task in a typical shop today. However, in the past, this was a commonly required service.</a:t>
            </a:r>
          </a:p>
          <a:p>
            <a:pPr marL="358775" lvl="0" indent="-358775" algn="l" rtl="0">
              <a:lnSpc>
                <a:spcPct val="100000"/>
              </a:lnSpc>
              <a:buSzPts val="2400"/>
              <a:buChar char="•"/>
            </a:pPr>
            <a:r>
              <a:rPr lang="en-US" dirty="0"/>
              <a:t>Have a class discussion about the steps that are taken in detail to gain better understanding of the process.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Diagnosing Primary Circuit Components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27.08 Test the components of the primary and secondary ignition circuits.</a:t>
            </a:r>
            <a:endParaRPr lang="en-US" sz="2000" dirty="0"/>
          </a:p>
          <a:p>
            <a:pPr marL="358775" indent="-358775"/>
            <a:r>
              <a:rPr lang="en-US" sz="2000" dirty="0"/>
              <a:t>The primary circuit has the responsibility of controlling the action of the secondary and, in many cases, is the cause of starting problems.</a:t>
            </a:r>
          </a:p>
          <a:p>
            <a:pPr marL="358775" indent="-358775"/>
            <a:r>
              <a:rPr lang="en-US" sz="2000" dirty="0"/>
              <a:t>The components in the primary ignition circuit vary with manufacturer and design.</a:t>
            </a:r>
          </a:p>
          <a:p>
            <a:pPr marL="358775" indent="-358775"/>
            <a:r>
              <a:rPr lang="en-US" sz="2000" dirty="0"/>
              <a:t>It is important to identify the component of the circuit and the appropriate test methods.</a:t>
            </a:r>
          </a:p>
          <a:p>
            <a:pPr marL="358775" indent="-358775"/>
            <a:r>
              <a:rPr lang="en-US" sz="2000" dirty="0"/>
              <a:t>Always work systematically through a circuit, testing each wire, connector, and component.</a:t>
            </a:r>
          </a:p>
          <a:p>
            <a:pPr marL="358775" indent="-358775"/>
            <a:r>
              <a:rPr lang="en-US" sz="2000" dirty="0"/>
              <a:t>Do not jump from one component to another.</a:t>
            </a:r>
          </a:p>
          <a:p>
            <a:pPr marL="358775" indent="-358775"/>
            <a:r>
              <a:rPr lang="en-US" sz="2000" dirty="0"/>
              <a:t>Always compare the readings with specifications given by the manufacturer.</a:t>
            </a:r>
          </a:p>
        </p:txBody>
      </p:sp>
    </p:spTree>
    <p:extLst>
      <p:ext uri="{BB962C8B-B14F-4D97-AF65-F5344CB8AC3E}">
        <p14:creationId xmlns:p14="http://schemas.microsoft.com/office/powerpoint/2010/main" val="755479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Coil Resistance </a:t>
            </a:r>
            <a:endParaRPr sz="3600" dirty="0"/>
          </a:p>
        </p:txBody>
      </p:sp>
      <p:pic>
        <p:nvPicPr>
          <p:cNvPr id="8" name="Picture Placeholder 7" descr="An illustration depicts two terminals of the ignition coil is connected to the positive and negative terminals of the ohmmeter. The ignition coil and ohmmeter are labeled.">
            <a:extLst>
              <a:ext uri="{FF2B5EF4-FFF2-40B4-BE49-F238E27FC236}">
                <a16:creationId xmlns:a16="http://schemas.microsoft.com/office/drawing/2014/main" id="{39EAC929-5322-7F3F-428A-1308F920EC0A}"/>
              </a:ext>
            </a:extLst>
          </p:cNvPr>
          <p:cNvPicPr>
            <a:picLocks noGrp="1" noChangeAspect="1"/>
          </p:cNvPicPr>
          <p:nvPr>
            <p:ph type="pic" sz="quarter" idx="12"/>
          </p:nvPr>
        </p:nvPicPr>
        <p:blipFill rotWithShape="1">
          <a:blip r:embed="rId3"/>
          <a:srcRect b="9063"/>
          <a:stretch/>
        </p:blipFill>
        <p:spPr>
          <a:xfrm>
            <a:off x="635145" y="2120126"/>
            <a:ext cx="3820459" cy="3082069"/>
          </a:xfrm>
          <a:prstGeom prst="rect">
            <a:avLst/>
          </a:prstGeom>
        </p:spPr>
      </p:pic>
      <p:sp>
        <p:nvSpPr>
          <p:cNvPr id="145" name="Google Shape;145;p4"/>
          <p:cNvSpPr txBox="1">
            <a:spLocks noGrp="1"/>
          </p:cNvSpPr>
          <p:nvPr>
            <p:ph type="body" idx="1"/>
          </p:nvPr>
        </p:nvSpPr>
        <p:spPr>
          <a:xfrm>
            <a:off x="4683211" y="1506475"/>
            <a:ext cx="7035547" cy="4560694"/>
          </a:xfrm>
          <a:prstGeom prst="rect">
            <a:avLst/>
          </a:prstGeom>
          <a:noFill/>
          <a:ln>
            <a:noFill/>
          </a:ln>
        </p:spPr>
        <p:txBody>
          <a:bodyPr spcFirstLastPara="1" wrap="square" lIns="91425" tIns="45700" rIns="91425" bIns="45700" anchor="t" anchorCtr="0">
            <a:noAutofit/>
          </a:bodyPr>
          <a:lstStyle/>
          <a:p>
            <a:pPr marL="342900" indent="-342900"/>
            <a:r>
              <a:rPr lang="en-US" sz="1800" dirty="0"/>
              <a:t>To check the primary windings, set the ohmmeter to the auto-range mode and connect the meter across to the primary coil (BAT and TACH or + and −) terminals.</a:t>
            </a:r>
          </a:p>
          <a:p>
            <a:pPr marL="357188" indent="-357188"/>
            <a:r>
              <a:rPr lang="en-US" sz="1800" dirty="0"/>
              <a:t>Coil primary resistance is typically low, a couple of ohms or less.</a:t>
            </a:r>
          </a:p>
          <a:p>
            <a:pPr marL="357188" indent="-357188"/>
            <a:r>
              <a:rPr lang="en-US" sz="1800" dirty="0"/>
              <a:t>An infinite ohmmeter reading indicates an open winding.</a:t>
            </a:r>
          </a:p>
          <a:p>
            <a:pPr marL="357188" indent="-357188"/>
            <a:r>
              <a:rPr lang="en-US" sz="1800" dirty="0"/>
              <a:t>Higher-than-normal readings indicate the presence of excessive resistance.</a:t>
            </a:r>
          </a:p>
          <a:p>
            <a:pPr marL="357188" indent="-357188"/>
            <a:r>
              <a:rPr lang="en-US" sz="1800" dirty="0"/>
              <a:t>If the measurement is less than the specified resistance, the windings are shorted.</a:t>
            </a:r>
          </a:p>
          <a:p>
            <a:pPr marL="357188" indent="-357188"/>
            <a:r>
              <a:rPr lang="en-US" sz="1800" dirty="0"/>
              <a:t>To check the secondary winding, connect the meter between the coil’s secondary terminal and the positive (BAT) terminal of the coil.</a:t>
            </a:r>
            <a:endParaRPr lang="en-US" sz="1400" dirty="0"/>
          </a:p>
        </p:txBody>
      </p:sp>
    </p:spTree>
    <p:extLst>
      <p:ext uri="{BB962C8B-B14F-4D97-AF65-F5344CB8AC3E}">
        <p14:creationId xmlns:p14="http://schemas.microsoft.com/office/powerpoint/2010/main" val="3281190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Crankshaft/Camshaft Sensors </a:t>
            </a:r>
            <a:endParaRPr sz="3600" dirty="0"/>
          </a:p>
        </p:txBody>
      </p:sp>
      <p:pic>
        <p:nvPicPr>
          <p:cNvPr id="8" name="Picture Placeholder 7" descr="A graph depicts the waveform for a nine-slot trigger wheel for the crankshaft sensor. The vertical axis represents voltage ranging from negative 5 V to 5 V in increments of 5. The pulse waveform starts at (0, 0) and then gradually increases to reach a certain point. From that point, the wave gradually decreases to reach a certain point. The pulse repeats nine consecutive times. The pulse resonates between positive 2 volts and negative 2 volts. The second pulse consist of two consecutive similar pulses in the positive region and negative region labeled Sync pulses.">
            <a:extLst>
              <a:ext uri="{FF2B5EF4-FFF2-40B4-BE49-F238E27FC236}">
                <a16:creationId xmlns:a16="http://schemas.microsoft.com/office/drawing/2014/main" id="{FD5AA547-1064-3798-FF22-433C7DEAEE03}"/>
              </a:ext>
            </a:extLst>
          </p:cNvPr>
          <p:cNvPicPr>
            <a:picLocks noGrp="1" noChangeAspect="1"/>
          </p:cNvPicPr>
          <p:nvPr>
            <p:ph type="pic" sz="quarter" idx="12"/>
          </p:nvPr>
        </p:nvPicPr>
        <p:blipFill rotWithShape="1">
          <a:blip r:embed="rId3"/>
          <a:srcRect l="15473" r="9582" b="12338"/>
          <a:stretch/>
        </p:blipFill>
        <p:spPr>
          <a:xfrm>
            <a:off x="358344" y="1742288"/>
            <a:ext cx="3360300" cy="3583473"/>
          </a:xfrm>
          <a:prstGeom prst="rect">
            <a:avLst/>
          </a:prstGeom>
        </p:spPr>
      </p:pic>
      <p:sp>
        <p:nvSpPr>
          <p:cNvPr id="145" name="Google Shape;145;p4"/>
          <p:cNvSpPr txBox="1">
            <a:spLocks noGrp="1"/>
          </p:cNvSpPr>
          <p:nvPr>
            <p:ph type="body" idx="1"/>
          </p:nvPr>
        </p:nvSpPr>
        <p:spPr>
          <a:xfrm>
            <a:off x="4015946" y="1436366"/>
            <a:ext cx="7702812" cy="4535979"/>
          </a:xfrm>
          <a:prstGeom prst="rect">
            <a:avLst/>
          </a:prstGeom>
          <a:noFill/>
          <a:ln>
            <a:noFill/>
          </a:ln>
        </p:spPr>
        <p:txBody>
          <a:bodyPr spcFirstLastPara="1" wrap="square" lIns="91425" tIns="45700" rIns="91425" bIns="45700" anchor="t" anchorCtr="0">
            <a:noAutofit/>
          </a:bodyPr>
          <a:lstStyle/>
          <a:p>
            <a:pPr marL="342900" indent="-342900"/>
            <a:r>
              <a:rPr lang="en-US" sz="2000" dirty="0">
                <a:solidFill>
                  <a:schemeClr val="tx1"/>
                </a:solidFill>
              </a:rPr>
              <a:t>Although ignition timing on most EI systems is not adjustable, the air gaps at the crankshaft and camshaft sensors will affect the operation of the ignition system.</a:t>
            </a:r>
          </a:p>
          <a:p>
            <a:pPr marL="342900" indent="-342900"/>
            <a:r>
              <a:rPr lang="en-US" sz="2000" dirty="0">
                <a:solidFill>
                  <a:schemeClr val="tx1"/>
                </a:solidFill>
              </a:rPr>
              <a:t>On some engines, this gap is adjustable, and on others, it is an indication that the sensor should be replaced.</a:t>
            </a:r>
          </a:p>
          <a:p>
            <a:pPr marL="342900" indent="-342900"/>
            <a:r>
              <a:rPr lang="en-US" sz="2000" dirty="0">
                <a:solidFill>
                  <a:schemeClr val="tx1"/>
                </a:solidFill>
              </a:rPr>
              <a:t>Measure the gap with a nonmagnetic feeler gauge. Compare your findings to specifications. If the gap is not correct, the sensor should be replaced or the gap adjusted.</a:t>
            </a:r>
          </a:p>
          <a:p>
            <a:pPr marL="342900" indent="-342900"/>
            <a:r>
              <a:rPr lang="en-US" sz="2000" dirty="0">
                <a:solidFill>
                  <a:schemeClr val="tx1"/>
                </a:solidFill>
              </a:rPr>
              <a:t>Also, the action of the sensors can be monitored with an AC voltmeter or a lab scope connected across the sensor terminals to check the sensor signal while the engine is cranking.</a:t>
            </a:r>
          </a:p>
        </p:txBody>
      </p:sp>
    </p:spTree>
    <p:extLst>
      <p:ext uri="{BB962C8B-B14F-4D97-AF65-F5344CB8AC3E}">
        <p14:creationId xmlns:p14="http://schemas.microsoft.com/office/powerpoint/2010/main" val="3561654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Pickup Coils</a:t>
            </a:r>
            <a:endParaRPr sz="3600" dirty="0"/>
          </a:p>
        </p:txBody>
      </p:sp>
      <p:sp>
        <p:nvSpPr>
          <p:cNvPr id="145" name="Google Shape;145;p4"/>
          <p:cNvSpPr txBox="1">
            <a:spLocks noGrp="1"/>
          </p:cNvSpPr>
          <p:nvPr>
            <p:ph type="body" idx="1"/>
          </p:nvPr>
        </p:nvSpPr>
        <p:spPr>
          <a:xfrm>
            <a:off x="476843" y="1506474"/>
            <a:ext cx="11241915" cy="4659548"/>
          </a:xfrm>
          <a:prstGeom prst="rect">
            <a:avLst/>
          </a:prstGeom>
          <a:noFill/>
          <a:ln>
            <a:noFill/>
          </a:ln>
        </p:spPr>
        <p:txBody>
          <a:bodyPr spcFirstLastPara="1" wrap="square" lIns="91425" tIns="45700" rIns="91425" bIns="45700" anchor="t" anchorCtr="0">
            <a:noAutofit/>
          </a:bodyPr>
          <a:lstStyle/>
          <a:p>
            <a:pPr marL="342900" indent="-342900"/>
            <a:r>
              <a:rPr lang="en-US" sz="1800" dirty="0"/>
              <a:t>To test magnetic pulse and metal detection pickup coils inside a distributor or used as a CKP or CMP with an ohmmeter, connect the ohmmeter from one of the pickup leads to ground to test for a short to ground.</a:t>
            </a:r>
          </a:p>
          <a:p>
            <a:pPr marL="342900" indent="-342900"/>
            <a:r>
              <a:rPr lang="en-US" sz="1800" dirty="0"/>
              <a:t>If there is a short to ground, the ohmmeter will have a reading of less than specifications.</a:t>
            </a:r>
          </a:p>
          <a:p>
            <a:pPr marL="342900" indent="-342900"/>
            <a:r>
              <a:rPr lang="en-US" sz="1800" dirty="0"/>
              <a:t>Most pickup coils have 150 to 900 ohms resistance, but always refer to the manufacturer’s specifications.</a:t>
            </a:r>
          </a:p>
          <a:p>
            <a:pPr marL="342900" indent="-342900"/>
            <a:r>
              <a:rPr lang="en-US" sz="1800" dirty="0"/>
              <a:t>If the pickup coil is open, the ohmmeter will display an infinite reading.</a:t>
            </a:r>
          </a:p>
          <a:p>
            <a:pPr marL="342900" indent="-342900"/>
            <a:r>
              <a:rPr lang="en-US" sz="1800" dirty="0"/>
              <a:t>When the pickup coil is shorted, the ohmmeter will display a reading lower than specifications.</a:t>
            </a:r>
          </a:p>
          <a:p>
            <a:pPr marL="342900" indent="-342900"/>
            <a:r>
              <a:rPr lang="en-US" sz="1800" dirty="0"/>
              <a:t>While the ohmmeter leads are connected, pull on the pickup leads and watch for an erratic reading, indicating an intermittent open in the pickup leads.</a:t>
            </a:r>
          </a:p>
          <a:p>
            <a:pPr marL="342900" indent="-342900"/>
            <a:r>
              <a:rPr lang="en-US" sz="1800" dirty="0"/>
              <a:t>The gap should be measured with a nonmagnetic feeler gauge placed between the reluctor high points and the pickup coil.</a:t>
            </a:r>
            <a:endParaRPr lang="en-US" sz="1200" dirty="0"/>
          </a:p>
        </p:txBody>
      </p:sp>
    </p:spTree>
    <p:extLst>
      <p:ext uri="{BB962C8B-B14F-4D97-AF65-F5344CB8AC3E}">
        <p14:creationId xmlns:p14="http://schemas.microsoft.com/office/powerpoint/2010/main" val="313748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Hall-Effect Sensors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342900"/>
            <a:r>
              <a:rPr lang="en-US" sz="1600" dirty="0"/>
              <a:t>With the voltmeter hooked up, insert a steel feeler gauge or knife blade between the Hall layer and magnet.</a:t>
            </a:r>
          </a:p>
          <a:p>
            <a:pPr marL="342900" indent="-342900"/>
            <a:r>
              <a:rPr lang="en-US" sz="1600" dirty="0"/>
              <a:t>If the sensor is good, the voltmeter should read within 0.5 volt of battery voltage when the feeler gauge or knife blade is inserted and touching the magnet.</a:t>
            </a:r>
          </a:p>
          <a:p>
            <a:pPr marL="357188" indent="-357188"/>
            <a:r>
              <a:rPr lang="en-US" sz="1600" dirty="0"/>
              <a:t>When the feeler gauge or blade is removed, the voltage should read less than 0.5 volt. In the following tests, the distributor connector is connected to the unit and the connector </a:t>
            </a:r>
            <a:r>
              <a:rPr lang="en-US" sz="1600" dirty="0" err="1"/>
              <a:t>backprobed</a:t>
            </a:r>
            <a:r>
              <a:rPr lang="en-US" sz="1600" dirty="0"/>
              <a:t>.</a:t>
            </a:r>
          </a:p>
          <a:p>
            <a:pPr marL="357188" indent="-357188"/>
            <a:r>
              <a:rPr lang="en-US" sz="1600" dirty="0"/>
              <a:t>With the ignition switch on, a voltmeter should be connected from the voltage input wire to ground.</a:t>
            </a:r>
          </a:p>
          <a:p>
            <a:pPr marL="357188" indent="-357188"/>
            <a:r>
              <a:rPr lang="en-US" sz="1600" dirty="0"/>
              <a:t>The ground wire should be tested with the ignition switch on and a voltmeter connected from the ground wire to a ground connection near the distributor.</a:t>
            </a:r>
          </a:p>
          <a:p>
            <a:pPr marL="357188" indent="-357188"/>
            <a:r>
              <a:rPr lang="en-US" sz="1600" dirty="0"/>
              <a:t>With this meter connection, the meter indicates the voltage drop across the ground wire, which should not exceed 0.2 volt.</a:t>
            </a:r>
          </a:p>
          <a:p>
            <a:pPr marL="357188" indent="-357188"/>
            <a:r>
              <a:rPr lang="en-US" sz="1600" dirty="0"/>
              <a:t>Connect a digital voltmeter from the pickup signal wire to ground.</a:t>
            </a:r>
          </a:p>
          <a:p>
            <a:pPr marL="357188" indent="-357188"/>
            <a:r>
              <a:rPr lang="en-US" sz="1600" dirty="0"/>
              <a:t>If the voltmeter reading does not fluctuate while cranking the engine, the pickup is defective.</a:t>
            </a:r>
          </a:p>
        </p:txBody>
      </p:sp>
    </p:spTree>
    <p:extLst>
      <p:ext uri="{BB962C8B-B14F-4D97-AF65-F5344CB8AC3E}">
        <p14:creationId xmlns:p14="http://schemas.microsoft.com/office/powerpoint/2010/main" val="1367127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Using a Logic Probe</a:t>
            </a:r>
            <a:endParaRPr sz="3600" dirty="0"/>
          </a:p>
        </p:txBody>
      </p:sp>
      <p:sp>
        <p:nvSpPr>
          <p:cNvPr id="145" name="Google Shape;145;p4"/>
          <p:cNvSpPr txBox="1">
            <a:spLocks noGrp="1"/>
          </p:cNvSpPr>
          <p:nvPr>
            <p:ph type="body" idx="1"/>
          </p:nvPr>
        </p:nvSpPr>
        <p:spPr>
          <a:xfrm>
            <a:off x="476844" y="1344053"/>
            <a:ext cx="6937210" cy="4772541"/>
          </a:xfrm>
          <a:prstGeom prst="rect">
            <a:avLst/>
          </a:prstGeom>
          <a:noFill/>
          <a:ln>
            <a:noFill/>
          </a:ln>
        </p:spPr>
        <p:txBody>
          <a:bodyPr spcFirstLastPara="1" wrap="square" lIns="91425" tIns="45700" rIns="91425" bIns="45700" anchor="t" anchorCtr="0">
            <a:noAutofit/>
          </a:bodyPr>
          <a:lstStyle/>
          <a:p>
            <a:pPr marL="342900" indent="-342900">
              <a:spcBef>
                <a:spcPts val="600"/>
              </a:spcBef>
              <a:spcAft>
                <a:spcPts val="0"/>
              </a:spcAft>
            </a:pPr>
            <a:r>
              <a:rPr lang="en-US" sz="2000" dirty="0">
                <a:solidFill>
                  <a:schemeClr val="tx1"/>
                </a:solidFill>
              </a:rPr>
              <a:t>The primary can also be checked with a logic probe.</a:t>
            </a:r>
          </a:p>
          <a:p>
            <a:pPr marL="342900" indent="-342900">
              <a:spcBef>
                <a:spcPts val="600"/>
              </a:spcBef>
              <a:spcAft>
                <a:spcPts val="0"/>
              </a:spcAft>
            </a:pPr>
            <a:r>
              <a:rPr lang="en-US" sz="2000" dirty="0">
                <a:solidFill>
                  <a:schemeClr val="tx1"/>
                </a:solidFill>
              </a:rPr>
              <a:t>There are three lights on a logic probe.</a:t>
            </a:r>
          </a:p>
          <a:p>
            <a:pPr marL="715963" lvl="1" indent="-357188">
              <a:spcBef>
                <a:spcPts val="600"/>
              </a:spcBef>
              <a:spcAft>
                <a:spcPts val="0"/>
              </a:spcAft>
            </a:pPr>
            <a:r>
              <a:rPr lang="en-US" sz="1800" dirty="0">
                <a:solidFill>
                  <a:schemeClr val="tx1"/>
                </a:solidFill>
              </a:rPr>
              <a:t>Yellow, red, and green.</a:t>
            </a:r>
          </a:p>
          <a:p>
            <a:pPr marL="342900" indent="-342900">
              <a:spcBef>
                <a:spcPts val="600"/>
              </a:spcBef>
              <a:spcAft>
                <a:spcPts val="0"/>
              </a:spcAft>
            </a:pPr>
            <a:r>
              <a:rPr lang="en-US" sz="2000" dirty="0">
                <a:solidFill>
                  <a:schemeClr val="tx1"/>
                </a:solidFill>
              </a:rPr>
              <a:t>To check the primary circuit with a logic probe, turn the ignition on.</a:t>
            </a:r>
          </a:p>
          <a:p>
            <a:pPr marL="342900" indent="-342900">
              <a:spcBef>
                <a:spcPts val="600"/>
              </a:spcBef>
              <a:spcAft>
                <a:spcPts val="0"/>
              </a:spcAft>
            </a:pPr>
            <a:r>
              <a:rPr lang="en-US" sz="2000" dirty="0">
                <a:solidFill>
                  <a:schemeClr val="tx1"/>
                </a:solidFill>
              </a:rPr>
              <a:t>Touch the probe to both (positive and negative) primary terminals at the coil.</a:t>
            </a:r>
          </a:p>
          <a:p>
            <a:pPr marL="342900" indent="-342900">
              <a:spcBef>
                <a:spcPts val="600"/>
              </a:spcBef>
              <a:spcAft>
                <a:spcPts val="0"/>
              </a:spcAft>
            </a:pPr>
            <a:r>
              <a:rPr lang="en-US" sz="2000" dirty="0">
                <a:solidFill>
                  <a:schemeClr val="tx1"/>
                </a:solidFill>
              </a:rPr>
              <a:t>The red light should come on at both terminals, indicating that at least 10 volts are available to the coil and that there is continuity through the coil.</a:t>
            </a:r>
          </a:p>
          <a:p>
            <a:pPr marL="342900" indent="-342900">
              <a:spcBef>
                <a:spcPts val="600"/>
              </a:spcBef>
              <a:spcAft>
                <a:spcPts val="0"/>
              </a:spcAft>
            </a:pPr>
            <a:r>
              <a:rPr lang="en-US" sz="2000" dirty="0">
                <a:solidFill>
                  <a:schemeClr val="tx1"/>
                </a:solidFill>
              </a:rPr>
              <a:t>If the red light does not come on when the positive side of the coil is probed, check the power feed circuit to the coil.</a:t>
            </a:r>
          </a:p>
        </p:txBody>
      </p:sp>
      <p:pic>
        <p:nvPicPr>
          <p:cNvPr id="8" name="Picture Placeholder 7" descr="An illustration depicts an ignition coil with a positive terminal and a negative terminal. The positive 12 V is fed to the probe of the positive terminal and the probe of the negative terminal is fed to the module. Each probe is further connected to a connector that includes red light, yellow light, and green light.">
            <a:extLst>
              <a:ext uri="{FF2B5EF4-FFF2-40B4-BE49-F238E27FC236}">
                <a16:creationId xmlns:a16="http://schemas.microsoft.com/office/drawing/2014/main" id="{9787CA65-FDDD-E328-8EBE-826FAE5D3D7E}"/>
              </a:ext>
            </a:extLst>
          </p:cNvPr>
          <p:cNvPicPr>
            <a:picLocks noGrp="1" noChangeAspect="1"/>
          </p:cNvPicPr>
          <p:nvPr>
            <p:ph type="pic" sz="quarter" idx="13"/>
          </p:nvPr>
        </p:nvPicPr>
        <p:blipFill rotWithShape="1">
          <a:blip r:embed="rId3"/>
          <a:srcRect b="12615"/>
          <a:stretch/>
        </p:blipFill>
        <p:spPr>
          <a:xfrm>
            <a:off x="7574692" y="1994113"/>
            <a:ext cx="4337222" cy="3479710"/>
          </a:xfrm>
          <a:prstGeom prst="rect">
            <a:avLst/>
          </a:prstGeom>
        </p:spPr>
      </p:pic>
    </p:spTree>
    <p:extLst>
      <p:ext uri="{BB962C8B-B14F-4D97-AF65-F5344CB8AC3E}">
        <p14:creationId xmlns:p14="http://schemas.microsoft.com/office/powerpoint/2010/main" val="3478803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Using a Lab Scope</a:t>
            </a:r>
            <a:endParaRPr sz="3600" dirty="0"/>
          </a:p>
        </p:txBody>
      </p:sp>
      <p:sp>
        <p:nvSpPr>
          <p:cNvPr id="145" name="Google Shape;145;p4"/>
          <p:cNvSpPr txBox="1">
            <a:spLocks noGrp="1"/>
          </p:cNvSpPr>
          <p:nvPr>
            <p:ph type="body" idx="1"/>
          </p:nvPr>
        </p:nvSpPr>
        <p:spPr>
          <a:xfrm>
            <a:off x="476844" y="1506475"/>
            <a:ext cx="7505622" cy="4610120"/>
          </a:xfrm>
          <a:prstGeom prst="rect">
            <a:avLst/>
          </a:prstGeom>
          <a:noFill/>
          <a:ln>
            <a:noFill/>
          </a:ln>
        </p:spPr>
        <p:txBody>
          <a:bodyPr spcFirstLastPara="1" wrap="square" lIns="91425" tIns="45700" rIns="91425" bIns="45700" anchor="t" anchorCtr="0">
            <a:noAutofit/>
          </a:bodyPr>
          <a:lstStyle/>
          <a:p>
            <a:pPr marL="357188" indent="-357188"/>
            <a:r>
              <a:rPr lang="en-US" sz="1800" dirty="0"/>
              <a:t>If the crankshaft sensor is a Hall-effect switch, square waves should be seen on the scope.</a:t>
            </a:r>
          </a:p>
          <a:p>
            <a:pPr marL="357188" indent="-357188"/>
            <a:r>
              <a:rPr lang="en-US" sz="1800" dirty="0"/>
              <a:t>All pulses should normally be identical in spacing, shape, and amplitude.</a:t>
            </a:r>
          </a:p>
          <a:p>
            <a:pPr marL="357188" indent="-357188"/>
            <a:r>
              <a:rPr lang="en-US" sz="1800" dirty="0"/>
              <a:t>Note that some systems use a different size shutter to designate cylinder 1.</a:t>
            </a:r>
          </a:p>
          <a:p>
            <a:pPr marL="357188" indent="-357188"/>
            <a:r>
              <a:rPr lang="en-US" sz="1800" dirty="0"/>
              <a:t>This will cause the waveform to display one square wave that is different than the others.</a:t>
            </a:r>
          </a:p>
          <a:p>
            <a:pPr marL="357188" indent="-357188"/>
            <a:r>
              <a:rPr lang="en-US" sz="1800" dirty="0"/>
              <a:t>By using a dual-trace lab scope, the relationship between the crankshaft sensor and the ignition module can be observed.</a:t>
            </a:r>
          </a:p>
          <a:p>
            <a:pPr marL="357188" indent="-357188"/>
            <a:r>
              <a:rPr lang="en-US" sz="1800" dirty="0"/>
              <a:t>During starting, the module will provide a fixed amount of timing advance according to its program and the cranking speed of the engine.</a:t>
            </a:r>
          </a:p>
        </p:txBody>
      </p:sp>
      <p:pic>
        <p:nvPicPr>
          <p:cNvPr id="8" name="Picture Placeholder 7" descr="Two graphs of Electronic spark timing (E S T) and crankshaft sensor signals were compared on a dual-trace scope. The first graph depicts a square waveform for the first cylinder with reference labeled. The second graph depicts a square waveform for a cylinder with E S T is labeled. The timing between the first cycle and the second cycle is marked as six degrees B T D C and advance.">
            <a:extLst>
              <a:ext uri="{FF2B5EF4-FFF2-40B4-BE49-F238E27FC236}">
                <a16:creationId xmlns:a16="http://schemas.microsoft.com/office/drawing/2014/main" id="{CE3AE27F-8A4F-7AF7-C860-7293D5186DD1}"/>
              </a:ext>
            </a:extLst>
          </p:cNvPr>
          <p:cNvPicPr>
            <a:picLocks noGrp="1" noChangeAspect="1"/>
          </p:cNvPicPr>
          <p:nvPr>
            <p:ph type="pic" sz="quarter" idx="13"/>
          </p:nvPr>
        </p:nvPicPr>
        <p:blipFill rotWithShape="1">
          <a:blip r:embed="rId3"/>
          <a:srcRect b="10392"/>
          <a:stretch/>
        </p:blipFill>
        <p:spPr>
          <a:xfrm>
            <a:off x="8219791" y="2261049"/>
            <a:ext cx="3756590" cy="3373632"/>
          </a:xfrm>
          <a:prstGeom prst="rect">
            <a:avLst/>
          </a:prstGeom>
        </p:spPr>
      </p:pic>
    </p:spTree>
    <p:extLst>
      <p:ext uri="{BB962C8B-B14F-4D97-AF65-F5344CB8AC3E}">
        <p14:creationId xmlns:p14="http://schemas.microsoft.com/office/powerpoint/2010/main" val="877915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Secondary Circuit Tests and Service</a:t>
            </a:r>
            <a:endParaRPr sz="3600" dirty="0"/>
          </a:p>
        </p:txBody>
      </p:sp>
      <p:sp>
        <p:nvSpPr>
          <p:cNvPr id="145" name="Google Shape;145;p4"/>
          <p:cNvSpPr txBox="1">
            <a:spLocks noGrp="1"/>
          </p:cNvSpPr>
          <p:nvPr>
            <p:ph type="body" idx="1"/>
          </p:nvPr>
        </p:nvSpPr>
        <p:spPr>
          <a:xfrm>
            <a:off x="476843" y="1506475"/>
            <a:ext cx="6974281" cy="4573050"/>
          </a:xfrm>
          <a:prstGeom prst="rect">
            <a:avLst/>
          </a:prstGeom>
          <a:noFill/>
          <a:ln>
            <a:noFill/>
          </a:ln>
        </p:spPr>
        <p:txBody>
          <a:bodyPr spcFirstLastPara="1" wrap="square" lIns="91425" tIns="45700" rIns="91425" bIns="45700" anchor="t" anchorCtr="0">
            <a:noAutofit/>
          </a:bodyPr>
          <a:lstStyle/>
          <a:p>
            <a:pPr>
              <a:buSzPts val="2800"/>
            </a:pPr>
            <a:r>
              <a:rPr lang="en-US" sz="2200" b="1" dirty="0"/>
              <a:t>27.06 Test individual ignition components using test equipment such as a voltmeter, ohmmeter, and test light.</a:t>
            </a:r>
            <a:endParaRPr lang="en-US" sz="2200" dirty="0"/>
          </a:p>
          <a:p>
            <a:r>
              <a:rPr lang="en-US" sz="2200" dirty="0"/>
              <a:t>Distributor Cap and Rotor</a:t>
            </a:r>
          </a:p>
          <a:p>
            <a:pPr marL="715963" lvl="1" indent="-357188"/>
            <a:r>
              <a:rPr lang="en-US" sz="2000" dirty="0"/>
              <a:t>When installing a new cap or rotor, it is always wise to replace both at the same time.</a:t>
            </a:r>
          </a:p>
          <a:p>
            <a:pPr marL="715963" lvl="1" indent="-357188"/>
            <a:r>
              <a:rPr lang="en-US" sz="2000" dirty="0"/>
              <a:t>Make sure both are fully seated before attempting to start the engine.</a:t>
            </a:r>
          </a:p>
          <a:p>
            <a:pPr marL="715963" lvl="1" indent="-357188"/>
            <a:r>
              <a:rPr lang="en-US" sz="2000" dirty="0"/>
              <a:t>Also remember that the spark plug wires need to be arranged on the cap according to the firing order.</a:t>
            </a:r>
          </a:p>
        </p:txBody>
      </p:sp>
      <p:pic>
        <p:nvPicPr>
          <p:cNvPr id="8" name="Picture Placeholder 7" descr="The spark plug wires are arranged on the distributor cap in the engine's firing order.">
            <a:extLst>
              <a:ext uri="{FF2B5EF4-FFF2-40B4-BE49-F238E27FC236}">
                <a16:creationId xmlns:a16="http://schemas.microsoft.com/office/drawing/2014/main" id="{9BEDE838-32BC-73CD-4D00-3199F128E7BD}"/>
              </a:ext>
            </a:extLst>
          </p:cNvPr>
          <p:cNvPicPr>
            <a:picLocks noGrp="1" noChangeAspect="1"/>
          </p:cNvPicPr>
          <p:nvPr>
            <p:ph type="pic" sz="quarter" idx="13"/>
          </p:nvPr>
        </p:nvPicPr>
        <p:blipFill rotWithShape="1">
          <a:blip r:embed="rId3"/>
          <a:srcRect b="16437"/>
          <a:stretch/>
        </p:blipFill>
        <p:spPr>
          <a:xfrm>
            <a:off x="7451124" y="1953751"/>
            <a:ext cx="4528990" cy="3260800"/>
          </a:xfrm>
          <a:prstGeom prst="rect">
            <a:avLst/>
          </a:prstGeom>
        </p:spPr>
      </p:pic>
    </p:spTree>
    <p:extLst>
      <p:ext uri="{BB962C8B-B14F-4D97-AF65-F5344CB8AC3E}">
        <p14:creationId xmlns:p14="http://schemas.microsoft.com/office/powerpoint/2010/main" val="1220975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Waste Spark Systems </a:t>
            </a:r>
            <a:endParaRPr sz="3600" dirty="0"/>
          </a:p>
        </p:txBody>
      </p:sp>
      <p:pic>
        <p:nvPicPr>
          <p:cNvPr id="8" name="Picture Placeholder 7" descr="The waste spark system depicts the distributor-less ignition system, with six ignition coils connected to an engine cylinder.">
            <a:extLst>
              <a:ext uri="{FF2B5EF4-FFF2-40B4-BE49-F238E27FC236}">
                <a16:creationId xmlns:a16="http://schemas.microsoft.com/office/drawing/2014/main" id="{3CADBE7B-3738-EF57-CA24-3BAAAB553FC1}"/>
              </a:ext>
            </a:extLst>
          </p:cNvPr>
          <p:cNvPicPr>
            <a:picLocks noGrp="1" noChangeAspect="1"/>
          </p:cNvPicPr>
          <p:nvPr>
            <p:ph type="pic" sz="quarter" idx="12"/>
          </p:nvPr>
        </p:nvPicPr>
        <p:blipFill rotWithShape="1">
          <a:blip r:embed="rId3"/>
          <a:srcRect b="8726"/>
          <a:stretch/>
        </p:blipFill>
        <p:spPr>
          <a:xfrm>
            <a:off x="463833" y="2174790"/>
            <a:ext cx="4076040" cy="2842054"/>
          </a:xfrm>
          <a:prstGeom prst="rect">
            <a:avLst/>
          </a:prstGeom>
        </p:spPr>
      </p:pic>
      <p:sp>
        <p:nvSpPr>
          <p:cNvPr id="145" name="Google Shape;145;p4"/>
          <p:cNvSpPr txBox="1">
            <a:spLocks noGrp="1"/>
          </p:cNvSpPr>
          <p:nvPr>
            <p:ph type="body" idx="1"/>
          </p:nvPr>
        </p:nvSpPr>
        <p:spPr>
          <a:xfrm>
            <a:off x="4880919" y="1506475"/>
            <a:ext cx="6837839" cy="4610120"/>
          </a:xfrm>
          <a:prstGeom prst="rect">
            <a:avLst/>
          </a:prstGeom>
          <a:noFill/>
          <a:ln>
            <a:noFill/>
          </a:ln>
        </p:spPr>
        <p:txBody>
          <a:bodyPr spcFirstLastPara="1" wrap="square" lIns="91425" tIns="45700" rIns="91425" bIns="45700" anchor="t" anchorCtr="0">
            <a:noAutofit/>
          </a:bodyPr>
          <a:lstStyle/>
          <a:p>
            <a:pPr marL="357188" indent="-357188"/>
            <a:r>
              <a:rPr lang="en-US" sz="2000" dirty="0"/>
              <a:t>Standard test procedures using an oscilloscope and a DMM can be used to diagnose problems in </a:t>
            </a:r>
            <a:r>
              <a:rPr lang="en-US" sz="2000" dirty="0" err="1"/>
              <a:t>distributorless</a:t>
            </a:r>
            <a:r>
              <a:rPr lang="en-US" sz="2000" dirty="0"/>
              <a:t> ignition systems.</a:t>
            </a:r>
          </a:p>
          <a:p>
            <a:pPr marL="357188" indent="-357188"/>
            <a:r>
              <a:rPr lang="en-US" sz="2000" dirty="0"/>
              <a:t>Keep in mind, however, that problems involving one cylinder may also occur in its companion cylinder that fires off the same coil.</a:t>
            </a:r>
          </a:p>
          <a:p>
            <a:pPr marL="357188" indent="-357188"/>
            <a:r>
              <a:rPr lang="en-US" sz="2000" dirty="0"/>
              <a:t>Follow the testing procedures given in the service information.</a:t>
            </a:r>
          </a:p>
          <a:p>
            <a:pPr marL="357188" indent="-357188"/>
            <a:r>
              <a:rPr lang="en-US" sz="2000" dirty="0"/>
              <a:t>Specific DTCs are designed to help troubleshoot ignition problems in these systems.</a:t>
            </a:r>
          </a:p>
          <a:p>
            <a:pPr marL="357188" indent="-357188"/>
            <a:r>
              <a:rPr lang="en-US" sz="2000" dirty="0"/>
              <a:t>The diagnostic procedure for EI systems varies depending on the vehicle make and model year. </a:t>
            </a:r>
            <a:endParaRPr lang="en-US" sz="1400" dirty="0"/>
          </a:p>
        </p:txBody>
      </p:sp>
    </p:spTree>
    <p:extLst>
      <p:ext uri="{BB962C8B-B14F-4D97-AF65-F5344CB8AC3E}">
        <p14:creationId xmlns:p14="http://schemas.microsoft.com/office/powerpoint/2010/main" val="1919721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Coil-over-Plug Systems </a:t>
            </a:r>
            <a:endParaRPr sz="3600" dirty="0"/>
          </a:p>
        </p:txBody>
      </p:sp>
      <p:pic>
        <p:nvPicPr>
          <p:cNvPr id="8" name="Picture Placeholder 7" descr="A screenshot depicts The scope pattern for a C O P system, titled, Picoscope 6 Automotive. The horizontal axis ranges from negative 12.39 to 5.112. The vertical axis ranges from negative 5 to 7.5. The scope pattern of a curve goes rightward with small fluctuations, then goes down vertically, then goes up and to the right with smaller fluctuations, and then goes up vertically to a point corresponding to 0.112. The curve then goes down and to the right, gradually with several spikes, and then gradually exits the right of the graph corresponding to the marking 5.112, on the horizontal axis.">
            <a:extLst>
              <a:ext uri="{FF2B5EF4-FFF2-40B4-BE49-F238E27FC236}">
                <a16:creationId xmlns:a16="http://schemas.microsoft.com/office/drawing/2014/main" id="{5A4D413D-BC5C-AC43-11F9-CB0567F28502}"/>
              </a:ext>
            </a:extLst>
          </p:cNvPr>
          <p:cNvPicPr>
            <a:picLocks noGrp="1" noChangeAspect="1"/>
          </p:cNvPicPr>
          <p:nvPr>
            <p:ph type="pic" sz="quarter" idx="12"/>
          </p:nvPr>
        </p:nvPicPr>
        <p:blipFill rotWithShape="1">
          <a:blip r:embed="rId3"/>
          <a:srcRect b="4377"/>
          <a:stretch/>
        </p:blipFill>
        <p:spPr>
          <a:xfrm>
            <a:off x="265431" y="1989438"/>
            <a:ext cx="3788451" cy="2730843"/>
          </a:xfrm>
          <a:prstGeom prst="rect">
            <a:avLst/>
          </a:prstGeom>
        </p:spPr>
      </p:pic>
      <p:sp>
        <p:nvSpPr>
          <p:cNvPr id="145" name="Google Shape;145;p4"/>
          <p:cNvSpPr txBox="1">
            <a:spLocks noGrp="1"/>
          </p:cNvSpPr>
          <p:nvPr>
            <p:ph type="body" idx="1"/>
          </p:nvPr>
        </p:nvSpPr>
        <p:spPr>
          <a:xfrm>
            <a:off x="4343400" y="1506475"/>
            <a:ext cx="7375358" cy="4511266"/>
          </a:xfrm>
          <a:prstGeom prst="rect">
            <a:avLst/>
          </a:prstGeom>
          <a:noFill/>
          <a:ln>
            <a:noFill/>
          </a:ln>
        </p:spPr>
        <p:txBody>
          <a:bodyPr spcFirstLastPara="1" wrap="square" lIns="91425" tIns="45700" rIns="91425" bIns="45700" anchor="t" anchorCtr="0">
            <a:noAutofit/>
          </a:bodyPr>
          <a:lstStyle/>
          <a:p>
            <a:pPr marL="357188" indent="-357188"/>
            <a:r>
              <a:rPr lang="en-US" sz="1800" dirty="0"/>
              <a:t>Ignition coils are tested with an ohmmeter in much the same way as other ignition coils.</a:t>
            </a:r>
          </a:p>
          <a:p>
            <a:pPr marL="357188" indent="-357188"/>
            <a:r>
              <a:rPr lang="en-US" sz="1800" dirty="0"/>
              <a:t>If the resistance is out of specifications, the coil should be replaced.</a:t>
            </a:r>
          </a:p>
          <a:p>
            <a:pPr marL="357188" indent="-357188"/>
            <a:r>
              <a:rPr lang="en-US" sz="1800" dirty="0"/>
              <a:t>Intermittent coil problems can be caused by corrosion at the electrical connectors to the coil.</a:t>
            </a:r>
          </a:p>
          <a:p>
            <a:pPr marL="357188" indent="-357188"/>
            <a:r>
              <a:rPr lang="en-US" sz="1800" dirty="0"/>
              <a:t>The action of the secondary can also be monitored on a lab scope.</a:t>
            </a:r>
          </a:p>
          <a:p>
            <a:pPr marL="357188" indent="-357188"/>
            <a:r>
              <a:rPr lang="en-US" sz="1800" dirty="0"/>
              <a:t>Codes retrieved from the PCM will indicate whether the misfire is a general one or an individual cylinder.</a:t>
            </a:r>
          </a:p>
          <a:p>
            <a:pPr marL="357188" indent="-357188"/>
            <a:r>
              <a:rPr lang="en-US" sz="1800" dirty="0"/>
              <a:t>Because a COP ignition problem will affect only one cylinder, the general misfire code (P0300) is probably caused by a fuel delivery problem or a vacuum leak.</a:t>
            </a:r>
            <a:endParaRPr lang="en-US" sz="1200" dirty="0"/>
          </a:p>
        </p:txBody>
      </p:sp>
    </p:spTree>
    <p:extLst>
      <p:ext uri="{BB962C8B-B14F-4D97-AF65-F5344CB8AC3E}">
        <p14:creationId xmlns:p14="http://schemas.microsoft.com/office/powerpoint/2010/main" val="281924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Spark Plugs </a:t>
            </a:r>
            <a:endParaRPr sz="3600" dirty="0"/>
          </a:p>
        </p:txBody>
      </p:sp>
      <p:sp>
        <p:nvSpPr>
          <p:cNvPr id="145" name="Google Shape;145;p4"/>
          <p:cNvSpPr txBox="1">
            <a:spLocks noGrp="1"/>
          </p:cNvSpPr>
          <p:nvPr>
            <p:ph type="body" idx="1"/>
          </p:nvPr>
        </p:nvSpPr>
        <p:spPr>
          <a:xfrm>
            <a:off x="476843" y="1381124"/>
            <a:ext cx="7653903" cy="4797254"/>
          </a:xfrm>
          <a:prstGeom prst="rect">
            <a:avLst/>
          </a:prstGeom>
          <a:noFill/>
          <a:ln>
            <a:noFill/>
          </a:ln>
        </p:spPr>
        <p:txBody>
          <a:bodyPr spcFirstLastPara="1" wrap="square" lIns="91425" tIns="45700" rIns="91425" bIns="45700" anchor="t" anchorCtr="0">
            <a:noAutofit/>
          </a:bodyPr>
          <a:lstStyle/>
          <a:p>
            <a:pPr marL="357188" indent="-357188"/>
            <a:r>
              <a:rPr lang="en-US" sz="2000" dirty="0"/>
              <a:t>The recommended replacement interval depends on a number of factors but ranges from 20,000 to 100,000 miles (32,000 to 160,000 km).</a:t>
            </a:r>
          </a:p>
          <a:p>
            <a:pPr marL="357188" indent="-357188"/>
            <a:r>
              <a:rPr lang="en-US" sz="2000" dirty="0"/>
              <a:t>Using a spark plug socket and ratchet, loosen each plug a couple of turns.</a:t>
            </a:r>
          </a:p>
          <a:p>
            <a:pPr marL="357188" indent="-357188"/>
            <a:r>
              <a:rPr lang="en-US" sz="2000" dirty="0"/>
              <a:t>A spark plug socket should be used because it has an internal rubber bushing to prevent plug insulator breakage.</a:t>
            </a:r>
          </a:p>
          <a:p>
            <a:pPr marL="357188" indent="-357188"/>
            <a:r>
              <a:rPr lang="en-US" sz="2000" dirty="0"/>
              <a:t>Spark plug sockets can have either a 3 /8- or ½-inch drive, and most have an external hex so that they can be turned using an open-end or box wrench.</a:t>
            </a:r>
          </a:p>
          <a:p>
            <a:pPr marL="357188" indent="-357188"/>
            <a:r>
              <a:rPr lang="en-US" sz="2000" dirty="0"/>
              <a:t>Once the plugs are loose, use compressed air to blow dirt away from the base of the plugs.</a:t>
            </a:r>
          </a:p>
        </p:txBody>
      </p:sp>
      <p:pic>
        <p:nvPicPr>
          <p:cNvPr id="8" name="Picture Placeholder 7" descr="The plugs are loosened a couple of turns, with the help of a spark plug socket and ratchet.">
            <a:extLst>
              <a:ext uri="{FF2B5EF4-FFF2-40B4-BE49-F238E27FC236}">
                <a16:creationId xmlns:a16="http://schemas.microsoft.com/office/drawing/2014/main" id="{419E3BD1-12EE-CB2C-C057-F9D6C6BEBBB2}"/>
              </a:ext>
            </a:extLst>
          </p:cNvPr>
          <p:cNvPicPr>
            <a:picLocks noGrp="1" noChangeAspect="1"/>
          </p:cNvPicPr>
          <p:nvPr>
            <p:ph type="pic" sz="quarter" idx="13"/>
          </p:nvPr>
        </p:nvPicPr>
        <p:blipFill rotWithShape="1">
          <a:blip r:embed="rId3"/>
          <a:srcRect b="8203"/>
          <a:stretch/>
        </p:blipFill>
        <p:spPr>
          <a:xfrm>
            <a:off x="8298760" y="1887544"/>
            <a:ext cx="3736721" cy="3302295"/>
          </a:xfrm>
          <a:prstGeom prst="rect">
            <a:avLst/>
          </a:prstGeom>
        </p:spPr>
      </p:pic>
    </p:spTree>
    <p:extLst>
      <p:ext uri="{BB962C8B-B14F-4D97-AF65-F5344CB8AC3E}">
        <p14:creationId xmlns:p14="http://schemas.microsoft.com/office/powerpoint/2010/main" val="215033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 </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What is the replacement interval for spark plugs?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 </a:t>
            </a:r>
            <a:endParaRPr dirty="0"/>
          </a:p>
        </p:txBody>
      </p:sp>
      <p:sp>
        <p:nvSpPr>
          <p:cNvPr id="2" name="Text Placeholder 1">
            <a:extLst>
              <a:ext uri="{FF2B5EF4-FFF2-40B4-BE49-F238E27FC236}">
                <a16:creationId xmlns:a16="http://schemas.microsoft.com/office/drawing/2014/main" id="{22CF5708-C8D5-AC70-8209-EC608C42042F}"/>
              </a:ext>
            </a:extLst>
          </p:cNvPr>
          <p:cNvSpPr>
            <a:spLocks noGrp="1"/>
          </p:cNvSpPr>
          <p:nvPr>
            <p:ph type="body" idx="1"/>
          </p:nvPr>
        </p:nvSpPr>
        <p:spPr/>
        <p:txBody>
          <a:bodyPr/>
          <a:lstStyle/>
          <a:p>
            <a:pPr marL="358775" lvl="0" indent="-358775">
              <a:buClr>
                <a:srgbClr val="282F7C"/>
              </a:buClr>
              <a:buSzPts val="2400"/>
              <a:defRPr/>
            </a:pPr>
            <a:r>
              <a:rPr lang="en-US" sz="2800" dirty="0"/>
              <a:t>It varies drastically from vehicle to vehicle.</a:t>
            </a:r>
          </a:p>
          <a:p>
            <a:pPr marL="358775" lvl="0" indent="-358775">
              <a:buClr>
                <a:srgbClr val="282F7C"/>
              </a:buClr>
              <a:buSzPts val="2400"/>
              <a:defRPr/>
            </a:pPr>
            <a:r>
              <a:rPr lang="en-US" sz="2800" dirty="0"/>
              <a:t>The recommended replacement interval depends on a number of factors but ranges from 20,000 to 100,000 miles (32,000 to 160,000 km).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Inspecting Spark Plugs</a:t>
            </a:r>
            <a:endParaRPr sz="3600" dirty="0"/>
          </a:p>
        </p:txBody>
      </p:sp>
      <p:sp>
        <p:nvSpPr>
          <p:cNvPr id="145" name="Google Shape;145;p4"/>
          <p:cNvSpPr txBox="1">
            <a:spLocks noGrp="1"/>
          </p:cNvSpPr>
          <p:nvPr>
            <p:ph type="body" idx="1"/>
          </p:nvPr>
        </p:nvSpPr>
        <p:spPr>
          <a:xfrm>
            <a:off x="476844" y="1506475"/>
            <a:ext cx="7703329" cy="4350628"/>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tx1"/>
                </a:solidFill>
              </a:rPr>
              <a:t>27.09 Service and install spark plugs.</a:t>
            </a:r>
          </a:p>
          <a:p>
            <a:pPr marL="358775" indent="-358775"/>
            <a:r>
              <a:rPr lang="en-US" sz="2000" dirty="0">
                <a:solidFill>
                  <a:schemeClr val="tx1"/>
                </a:solidFill>
              </a:rPr>
              <a:t>Once the spark plugs have been removed, it is important to inspect them closely, noting in particular any deposits on the plugs and the degree of electrode erosion.</a:t>
            </a:r>
          </a:p>
          <a:p>
            <a:pPr marL="358775" indent="-358775"/>
            <a:r>
              <a:rPr lang="en-US" sz="2000" dirty="0">
                <a:solidFill>
                  <a:schemeClr val="tx1"/>
                </a:solidFill>
              </a:rPr>
              <a:t>A normal-firing spark plug will have a minimum amount of deposits on it and will be colored light tan or gray.</a:t>
            </a:r>
          </a:p>
          <a:p>
            <a:pPr marL="358775" indent="-358775"/>
            <a:r>
              <a:rPr lang="en-US" sz="2000" dirty="0">
                <a:solidFill>
                  <a:schemeClr val="tx1"/>
                </a:solidFill>
              </a:rPr>
              <a:t>There should be no evidence of electrode burning, and the increase of the air gap should be no more than 0.001 inch (0.0254 mm) for every 10,000 miles (16,000 km) of engine operation.</a:t>
            </a:r>
          </a:p>
          <a:p>
            <a:pPr marL="358775" indent="-358775"/>
            <a:r>
              <a:rPr lang="en-US" sz="2000" dirty="0">
                <a:solidFill>
                  <a:schemeClr val="tx1"/>
                </a:solidFill>
              </a:rPr>
              <a:t>A plug that exceeds this wear should be replaced and the cause of excessive wear corrected.</a:t>
            </a:r>
            <a:endParaRPr lang="en-US" sz="1200" dirty="0">
              <a:solidFill>
                <a:schemeClr val="tx1"/>
              </a:solidFill>
            </a:endParaRPr>
          </a:p>
        </p:txBody>
      </p:sp>
      <p:pic>
        <p:nvPicPr>
          <p:cNvPr id="8" name="Picture Placeholder 7" descr="A normal spark plug with deposits on the plugs and electrode erosion, and is colored light tan or gray.">
            <a:extLst>
              <a:ext uri="{FF2B5EF4-FFF2-40B4-BE49-F238E27FC236}">
                <a16:creationId xmlns:a16="http://schemas.microsoft.com/office/drawing/2014/main" id="{AA433F46-67E9-10C8-4B8B-1EFB056E7322}"/>
              </a:ext>
            </a:extLst>
          </p:cNvPr>
          <p:cNvPicPr>
            <a:picLocks noGrp="1" noChangeAspect="1"/>
          </p:cNvPicPr>
          <p:nvPr>
            <p:ph type="pic" sz="quarter" idx="13"/>
          </p:nvPr>
        </p:nvPicPr>
        <p:blipFill rotWithShape="1">
          <a:blip r:embed="rId3"/>
          <a:srcRect b="9258"/>
          <a:stretch/>
        </p:blipFill>
        <p:spPr>
          <a:xfrm>
            <a:off x="8307361" y="2342282"/>
            <a:ext cx="3762220" cy="3107047"/>
          </a:xfrm>
          <a:prstGeom prst="rect">
            <a:avLst/>
          </a:prstGeom>
        </p:spPr>
      </p:pic>
    </p:spTree>
    <p:extLst>
      <p:ext uri="{BB962C8B-B14F-4D97-AF65-F5344CB8AC3E}">
        <p14:creationId xmlns:p14="http://schemas.microsoft.com/office/powerpoint/2010/main" val="3528480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Regapping Spark Plugs</a:t>
            </a:r>
            <a:endParaRPr sz="3600" dirty="0"/>
          </a:p>
        </p:txBody>
      </p:sp>
      <p:pic>
        <p:nvPicPr>
          <p:cNvPr id="14" name="Picture Placeholder 13" descr="A typical feeler gauge set, with round wire gauges.">
            <a:extLst>
              <a:ext uri="{FF2B5EF4-FFF2-40B4-BE49-F238E27FC236}">
                <a16:creationId xmlns:a16="http://schemas.microsoft.com/office/drawing/2014/main" id="{1E4F0536-6F85-A24A-8019-4AA0B5095126}"/>
              </a:ext>
            </a:extLst>
          </p:cNvPr>
          <p:cNvPicPr>
            <a:picLocks noGrp="1" noChangeAspect="1"/>
          </p:cNvPicPr>
          <p:nvPr>
            <p:ph type="pic" sz="quarter" idx="12"/>
          </p:nvPr>
        </p:nvPicPr>
        <p:blipFill rotWithShape="1">
          <a:blip r:embed="rId3"/>
          <a:srcRect l="11561" b="12631"/>
          <a:stretch/>
        </p:blipFill>
        <p:spPr>
          <a:xfrm>
            <a:off x="473242" y="1987410"/>
            <a:ext cx="3973104" cy="3115930"/>
          </a:xfrm>
          <a:prstGeom prst="rect">
            <a:avLst/>
          </a:prstGeom>
        </p:spPr>
      </p:pic>
      <p:sp>
        <p:nvSpPr>
          <p:cNvPr id="145" name="Google Shape;145;p4"/>
          <p:cNvSpPr txBox="1">
            <a:spLocks noGrp="1"/>
          </p:cNvSpPr>
          <p:nvPr>
            <p:ph type="body" idx="1"/>
          </p:nvPr>
        </p:nvSpPr>
        <p:spPr>
          <a:xfrm>
            <a:off x="4806778" y="1506474"/>
            <a:ext cx="6911980" cy="4597764"/>
          </a:xfrm>
          <a:prstGeom prst="rect">
            <a:avLst/>
          </a:prstGeom>
          <a:noFill/>
          <a:ln>
            <a:noFill/>
          </a:ln>
        </p:spPr>
        <p:txBody>
          <a:bodyPr spcFirstLastPara="1" wrap="square" lIns="91425" tIns="45700" rIns="91425" bIns="45700" anchor="t" anchorCtr="0">
            <a:noAutofit/>
          </a:bodyPr>
          <a:lstStyle/>
          <a:p>
            <a:pPr marL="357188" indent="-357188"/>
            <a:r>
              <a:rPr lang="en-US" sz="1800" dirty="0"/>
              <a:t>Both new and used spark plugs should have their air gaps set to manufacturer’s specifications.</a:t>
            </a:r>
          </a:p>
          <a:p>
            <a:pPr marL="357188" indent="-357188"/>
            <a:r>
              <a:rPr lang="en-US" sz="1800" dirty="0"/>
              <a:t>Always use round wire gauges when check.</a:t>
            </a:r>
          </a:p>
          <a:p>
            <a:pPr marL="357188" indent="-357188"/>
            <a:r>
              <a:rPr lang="en-US" sz="1800" dirty="0"/>
              <a:t>After the gap has been adjusted, make sure that the ground electrode is as horizontal as it can be.</a:t>
            </a:r>
          </a:p>
          <a:p>
            <a:pPr marL="357188" indent="-357188"/>
            <a:r>
              <a:rPr lang="en-US" sz="1800" dirty="0"/>
              <a:t>Always check the air gap of a new spark plug before installing it.</a:t>
            </a:r>
          </a:p>
          <a:p>
            <a:pPr marL="357188" indent="-357188"/>
            <a:r>
              <a:rPr lang="en-US" sz="1800" dirty="0"/>
              <a:t>Never assume the gap is correct just because the plug is new.</a:t>
            </a:r>
          </a:p>
          <a:p>
            <a:pPr marL="357188" indent="-357188"/>
            <a:r>
              <a:rPr lang="en-US" sz="1800" dirty="0"/>
              <a:t>Do not try to reduce a plug’s air gap by tapping the side electrode on a bench.</a:t>
            </a:r>
          </a:p>
          <a:p>
            <a:pPr marL="357188" indent="-357188"/>
            <a:r>
              <a:rPr lang="en-US" sz="1800" dirty="0"/>
              <a:t>Use a spark plug gapping tool to bend the ground electrode to its correct height.</a:t>
            </a:r>
            <a:endParaRPr lang="en-US" sz="1100" dirty="0"/>
          </a:p>
        </p:txBody>
      </p:sp>
    </p:spTree>
    <p:extLst>
      <p:ext uri="{BB962C8B-B14F-4D97-AF65-F5344CB8AC3E}">
        <p14:creationId xmlns:p14="http://schemas.microsoft.com/office/powerpoint/2010/main" val="1106873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Secondary Ignition Wires </a:t>
            </a:r>
            <a:endParaRPr sz="3600" dirty="0"/>
          </a:p>
        </p:txBody>
      </p:sp>
      <p:sp>
        <p:nvSpPr>
          <p:cNvPr id="145" name="Google Shape;145;p4"/>
          <p:cNvSpPr txBox="1">
            <a:spLocks noGrp="1"/>
          </p:cNvSpPr>
          <p:nvPr>
            <p:ph type="body" idx="1"/>
          </p:nvPr>
        </p:nvSpPr>
        <p:spPr>
          <a:xfrm>
            <a:off x="476843" y="1506474"/>
            <a:ext cx="11241915" cy="4878281"/>
          </a:xfrm>
          <a:prstGeom prst="rect">
            <a:avLst/>
          </a:prstGeom>
          <a:noFill/>
          <a:ln>
            <a:noFill/>
          </a:ln>
        </p:spPr>
        <p:txBody>
          <a:bodyPr spcFirstLastPara="1" wrap="square" lIns="91425" tIns="45700" rIns="91425" bIns="45700" anchor="t" anchorCtr="0">
            <a:noAutofit/>
          </a:bodyPr>
          <a:lstStyle/>
          <a:p>
            <a:pPr marL="357188" indent="-357188"/>
            <a:r>
              <a:rPr lang="en-US" sz="2200" dirty="0"/>
              <a:t>Inspect all the spark plug wires and the secondary coil wire for cracks and worn insulation, which cause high-voltage leaks.</a:t>
            </a:r>
          </a:p>
          <a:p>
            <a:pPr marL="357188" indent="-357188"/>
            <a:r>
              <a:rPr lang="en-US" sz="2200" dirty="0"/>
              <a:t>Inspect all the boots on the ends of the plug wires and coil secondary wire for cracks and hard, brittle conditions.</a:t>
            </a:r>
          </a:p>
          <a:p>
            <a:pPr marL="357188" indent="-357188"/>
            <a:r>
              <a:rPr lang="en-US" sz="2200" dirty="0"/>
              <a:t>Make sure that the secondary cables are secured tightly to the spark plugs and the ignition coil(s).</a:t>
            </a:r>
          </a:p>
          <a:p>
            <a:pPr marL="357188" indent="-357188"/>
            <a:r>
              <a:rPr lang="en-US" sz="2200" dirty="0"/>
              <a:t>Also check the cables for any damage or signs of arcing.</a:t>
            </a:r>
          </a:p>
          <a:p>
            <a:pPr marL="357188" indent="-357188"/>
            <a:r>
              <a:rPr lang="en-US" sz="2200" dirty="0"/>
              <a:t>Replace the wires and boots if they show evidence of these conditions.</a:t>
            </a:r>
          </a:p>
          <a:p>
            <a:pPr marL="357188" indent="-357188"/>
            <a:r>
              <a:rPr lang="en-US" sz="2200" dirty="0"/>
              <a:t>Most manufacturers recommend that spark plug wires be replaced as a complete set.</a:t>
            </a:r>
          </a:p>
        </p:txBody>
      </p:sp>
    </p:spTree>
    <p:extLst>
      <p:ext uri="{BB962C8B-B14F-4D97-AF65-F5344CB8AC3E}">
        <p14:creationId xmlns:p14="http://schemas.microsoft.com/office/powerpoint/2010/main" val="3652013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Replacing Spark Plug Wires</a:t>
            </a:r>
            <a:endParaRPr sz="3600" dirty="0"/>
          </a:p>
        </p:txBody>
      </p:sp>
      <p:pic>
        <p:nvPicPr>
          <p:cNvPr id="8" name="Picture Placeholder 7" descr="An illustration depicts spark plug wires reconnected through spark plug wire separators.">
            <a:extLst>
              <a:ext uri="{FF2B5EF4-FFF2-40B4-BE49-F238E27FC236}">
                <a16:creationId xmlns:a16="http://schemas.microsoft.com/office/drawing/2014/main" id="{46E1644A-130E-F7D6-C5A4-F2C28D9D9350}"/>
              </a:ext>
            </a:extLst>
          </p:cNvPr>
          <p:cNvPicPr>
            <a:picLocks noGrp="1" noChangeAspect="1"/>
          </p:cNvPicPr>
          <p:nvPr>
            <p:ph type="pic" sz="quarter" idx="12"/>
          </p:nvPr>
        </p:nvPicPr>
        <p:blipFill rotWithShape="1">
          <a:blip r:embed="rId3"/>
          <a:srcRect b="13127"/>
          <a:stretch/>
        </p:blipFill>
        <p:spPr>
          <a:xfrm>
            <a:off x="471031" y="1890584"/>
            <a:ext cx="4123310" cy="2928551"/>
          </a:xfrm>
          <a:prstGeom prst="rect">
            <a:avLst/>
          </a:prstGeom>
        </p:spPr>
      </p:pic>
      <p:sp>
        <p:nvSpPr>
          <p:cNvPr id="145" name="Google Shape;145;p4"/>
          <p:cNvSpPr txBox="1">
            <a:spLocks noGrp="1"/>
          </p:cNvSpPr>
          <p:nvPr>
            <p:ph type="body" idx="1"/>
          </p:nvPr>
        </p:nvSpPr>
        <p:spPr>
          <a:xfrm>
            <a:off x="4794422" y="1506474"/>
            <a:ext cx="6924336" cy="4474195"/>
          </a:xfrm>
          <a:prstGeom prst="rect">
            <a:avLst/>
          </a:prstGeom>
          <a:noFill/>
          <a:ln>
            <a:noFill/>
          </a:ln>
        </p:spPr>
        <p:txBody>
          <a:bodyPr spcFirstLastPara="1" wrap="square" lIns="91425" tIns="45700" rIns="91425" bIns="45700" anchor="t" anchorCtr="0">
            <a:noAutofit/>
          </a:bodyPr>
          <a:lstStyle/>
          <a:p>
            <a:pPr marL="357188" indent="-357188"/>
            <a:r>
              <a:rPr lang="en-US" sz="2000" dirty="0"/>
              <a:t>When spark plug wires are being installed, make sure they are routed properly as indicated in the vehicle’s service information.</a:t>
            </a:r>
          </a:p>
          <a:p>
            <a:pPr marL="357188" indent="-357188"/>
            <a:r>
              <a:rPr lang="en-US" sz="2000" dirty="0"/>
              <a:t>When removing the spark plug wires from a spark plug, grasp the spark plug boot tightly, and twist while pulling the cable from the end of the plug. </a:t>
            </a:r>
          </a:p>
          <a:p>
            <a:pPr marL="357188" indent="-357188"/>
            <a:r>
              <a:rPr lang="en-US" sz="2000" dirty="0"/>
              <a:t>When installing a spark plug wire, make sure the boot is firmly seated around the top of the plug, and then squeeze the boot to expel any air that may be trapped inside.</a:t>
            </a:r>
          </a:p>
          <a:p>
            <a:pPr marL="357188" indent="-357188"/>
            <a:r>
              <a:rPr lang="en-US" sz="2000" dirty="0"/>
              <a:t>Also make sure that the wires are secure in their looms and that the looms are properly placed.</a:t>
            </a:r>
          </a:p>
        </p:txBody>
      </p:sp>
    </p:spTree>
    <p:extLst>
      <p:ext uri="{BB962C8B-B14F-4D97-AF65-F5344CB8AC3E}">
        <p14:creationId xmlns:p14="http://schemas.microsoft.com/office/powerpoint/2010/main" val="749612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your understanding of ignition systems diagnosis and service. Then respond to the following questions in one or two paragraphs. Use 150–200 words in your reflection.</a:t>
            </a:r>
            <a:endParaRPr dirty="0"/>
          </a:p>
          <a:p>
            <a:pPr marL="360363" lvl="0" indent="-360363" algn="l" rtl="0">
              <a:lnSpc>
                <a:spcPct val="100000"/>
              </a:lnSpc>
              <a:buFont typeface="Arial"/>
              <a:buChar char="•"/>
            </a:pPr>
            <a:r>
              <a:rPr lang="en-US" dirty="0"/>
              <a:t>Was there anything in this chapter you felt you struggled to understand? What will you do to improve your level of understanding?</a:t>
            </a:r>
            <a:endParaRPr dirty="0"/>
          </a:p>
          <a:p>
            <a:pPr marL="360363" lvl="0" indent="-360363" algn="l" rtl="0">
              <a:lnSpc>
                <a:spcPct val="100000"/>
              </a:lnSpc>
              <a:buFont typeface="Arial"/>
              <a:buChar char="•"/>
            </a:pPr>
            <a:r>
              <a:rPr lang="en-US" dirty="0"/>
              <a:t>Considering all you have learned, do you feel you are prepared to perform ignition system service in a shop or lab setting? What will you do to ensure you are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10403</TotalTime>
  <Words>3833</Words>
  <Application>Microsoft Office PowerPoint</Application>
  <PresentationFormat>Widescreen</PresentationFormat>
  <Paragraphs>243</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Calibri</vt:lpstr>
      <vt:lpstr>Work Sans</vt:lpstr>
      <vt:lpstr>Arial</vt:lpstr>
      <vt:lpstr>Optimized Template Master</vt:lpstr>
      <vt:lpstr>Automotive Technology: A Systems Approach, 8e</vt:lpstr>
      <vt:lpstr>Chapter Objectives (1 of 2)  </vt:lpstr>
      <vt:lpstr>Chapter Objectives (2 of 2)  </vt:lpstr>
      <vt:lpstr>Misfires (1 of 2)</vt:lpstr>
      <vt:lpstr>Misfires (2 of 2)</vt:lpstr>
      <vt:lpstr>General Ignition System Diagnosis</vt:lpstr>
      <vt:lpstr>Ignition System Inspection</vt:lpstr>
      <vt:lpstr>Scan Tools</vt:lpstr>
      <vt:lpstr>Primary Circuit</vt:lpstr>
      <vt:lpstr>Sensors </vt:lpstr>
      <vt:lpstr>Secondary Circuit</vt:lpstr>
      <vt:lpstr>Knowledge Check (1 of 2)</vt:lpstr>
      <vt:lpstr>Knowledge Check Answer (1 of 2)</vt:lpstr>
      <vt:lpstr>No-Start Diagnosis of EI Systems</vt:lpstr>
      <vt:lpstr>Diagnosing Ignition Systems (1 of 3)</vt:lpstr>
      <vt:lpstr>Diagnosing Ignition Systems (2 of 3)</vt:lpstr>
      <vt:lpstr>Diagnosing Ignition Systems (3 of 3)</vt:lpstr>
      <vt:lpstr>Diagnosing with a DSO or GMM </vt:lpstr>
      <vt:lpstr>Ignition Timing</vt:lpstr>
      <vt:lpstr>Setting Ignition Timing</vt:lpstr>
      <vt:lpstr>Discussion</vt:lpstr>
      <vt:lpstr>Diagnosing Primary Circuit Components</vt:lpstr>
      <vt:lpstr>Ignition Coil Resistance </vt:lpstr>
      <vt:lpstr>Crankshaft/Camshaft Sensors </vt:lpstr>
      <vt:lpstr>Pickup Coils</vt:lpstr>
      <vt:lpstr>Hall-Effect Sensors</vt:lpstr>
      <vt:lpstr>Using a Logic Probe</vt:lpstr>
      <vt:lpstr>Using a Lab Scope</vt:lpstr>
      <vt:lpstr>Secondary Circuit Tests and Service</vt:lpstr>
      <vt:lpstr>Waste Spark Systems </vt:lpstr>
      <vt:lpstr>Coil-over-Plug Systems </vt:lpstr>
      <vt:lpstr>Spark Plugs </vt:lpstr>
      <vt:lpstr>Knowledge Check (2 of 2) </vt:lpstr>
      <vt:lpstr>Knowledge Check Answer (2 of 2) </vt:lpstr>
      <vt:lpstr>Inspecting Spark Plugs</vt:lpstr>
      <vt:lpstr>Regapping Spark Plugs</vt:lpstr>
      <vt:lpstr>Secondary Ignition Wires </vt:lpstr>
      <vt:lpstr>Replacing Spark Plug Wires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DiCaterino, Kara</cp:lastModifiedBy>
  <cp:revision>251</cp:revision>
  <dcterms:created xsi:type="dcterms:W3CDTF">2021-12-10T16:21:02Z</dcterms:created>
  <dcterms:modified xsi:type="dcterms:W3CDTF">2024-11-21T15:41:20Z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