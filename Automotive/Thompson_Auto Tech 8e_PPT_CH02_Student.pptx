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1.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45"/>
  </p:notesMasterIdLst>
  <p:handoutMasterIdLst>
    <p:handoutMasterId r:id="rId46"/>
  </p:handoutMasterIdLst>
  <p:sldIdLst>
    <p:sldId id="429" r:id="rId5"/>
    <p:sldId id="258" r:id="rId6"/>
    <p:sldId id="403" r:id="rId7"/>
    <p:sldId id="379" r:id="rId8"/>
    <p:sldId id="400" r:id="rId9"/>
    <p:sldId id="404" r:id="rId10"/>
    <p:sldId id="405" r:id="rId11"/>
    <p:sldId id="406" r:id="rId12"/>
    <p:sldId id="407" r:id="rId13"/>
    <p:sldId id="408" r:id="rId14"/>
    <p:sldId id="387" r:id="rId15"/>
    <p:sldId id="409" r:id="rId16"/>
    <p:sldId id="410" r:id="rId17"/>
    <p:sldId id="412" r:id="rId18"/>
    <p:sldId id="411" r:id="rId19"/>
    <p:sldId id="264" r:id="rId20"/>
    <p:sldId id="382" r:id="rId21"/>
    <p:sldId id="389" r:id="rId22"/>
    <p:sldId id="413" r:id="rId23"/>
    <p:sldId id="391" r:id="rId24"/>
    <p:sldId id="390" r:id="rId25"/>
    <p:sldId id="414" r:id="rId26"/>
    <p:sldId id="415" r:id="rId27"/>
    <p:sldId id="416" r:id="rId28"/>
    <p:sldId id="421" r:id="rId29"/>
    <p:sldId id="422" r:id="rId30"/>
    <p:sldId id="392" r:id="rId31"/>
    <p:sldId id="417" r:id="rId32"/>
    <p:sldId id="418" r:id="rId33"/>
    <p:sldId id="267" r:id="rId34"/>
    <p:sldId id="419" r:id="rId35"/>
    <p:sldId id="420" r:id="rId36"/>
    <p:sldId id="423" r:id="rId37"/>
    <p:sldId id="425" r:id="rId38"/>
    <p:sldId id="424" r:id="rId39"/>
    <p:sldId id="393" r:id="rId40"/>
    <p:sldId id="426" r:id="rId41"/>
    <p:sldId id="427" r:id="rId42"/>
    <p:sldId id="428" r:id="rId43"/>
    <p:sldId id="330" r:id="rId44"/>
  </p:sldIdLst>
  <p:sldSz cx="12192000" cy="6858000"/>
  <p:notesSz cx="6858000" cy="9144000"/>
  <p:custDataLst>
    <p:tags r:id="rId47"/>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 id="3" name="Jonathan Mastro" initials="JM" lastIdx="15" clrIdx="2">
    <p:extLst>
      <p:ext uri="{19B8F6BF-5375-455C-9EA6-DF929625EA0E}">
        <p15:presenceInfo xmlns:p15="http://schemas.microsoft.com/office/powerpoint/2012/main" userId="Jonathan Mastro" providerId="None"/>
      </p:ext>
    </p:extLst>
  </p:cmAuthor>
  <p:cmAuthor id="4" name="Paul Kelley" initials="PK" lastIdx="26" clrIdx="3">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292F7C"/>
    <a:srgbClr val="F2F2F2"/>
    <a:srgbClr val="0098D4"/>
    <a:srgbClr val="003865"/>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86467" autoAdjust="0"/>
  </p:normalViewPr>
  <p:slideViewPr>
    <p:cSldViewPr snapToGrid="0" snapToObjects="1">
      <p:cViewPr varScale="1">
        <p:scale>
          <a:sx n="93" d="100"/>
          <a:sy n="93" d="100"/>
        </p:scale>
        <p:origin x="1032" y="78"/>
      </p:cViewPr>
      <p:guideLst>
        <p:guide orient="horz" pos="2160"/>
        <p:guide pos="3840"/>
      </p:guideLst>
    </p:cSldViewPr>
  </p:slideViewPr>
  <p:outlineViewPr>
    <p:cViewPr>
      <p:scale>
        <a:sx n="33" d="100"/>
        <a:sy n="33" d="100"/>
      </p:scale>
      <p:origin x="0" y="-48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001609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159389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69404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284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85663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52718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7374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74953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4708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17569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44898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34604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87646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04776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16</a:t>
            </a:fld>
            <a:endParaRPr lang="en-US"/>
          </a:p>
        </p:txBody>
      </p:sp>
    </p:spTree>
    <p:extLst>
      <p:ext uri="{BB962C8B-B14F-4D97-AF65-F5344CB8AC3E}">
        <p14:creationId xmlns:p14="http://schemas.microsoft.com/office/powerpoint/2010/main" val="228547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17</a:t>
            </a:fld>
            <a:endParaRPr lang="en-US"/>
          </a:p>
        </p:txBody>
      </p:sp>
    </p:spTree>
    <p:extLst>
      <p:ext uri="{BB962C8B-B14F-4D97-AF65-F5344CB8AC3E}">
        <p14:creationId xmlns:p14="http://schemas.microsoft.com/office/powerpoint/2010/main" val="898564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92977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43801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415930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77165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94020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11570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27270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25</a:t>
            </a:fld>
            <a:endParaRPr lang="en-US"/>
          </a:p>
        </p:txBody>
      </p:sp>
    </p:spTree>
    <p:extLst>
      <p:ext uri="{BB962C8B-B14F-4D97-AF65-F5344CB8AC3E}">
        <p14:creationId xmlns:p14="http://schemas.microsoft.com/office/powerpoint/2010/main" val="4045418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26</a:t>
            </a:fld>
            <a:endParaRPr lang="en-US"/>
          </a:p>
        </p:txBody>
      </p:sp>
    </p:spTree>
    <p:extLst>
      <p:ext uri="{BB962C8B-B14F-4D97-AF65-F5344CB8AC3E}">
        <p14:creationId xmlns:p14="http://schemas.microsoft.com/office/powerpoint/2010/main" val="978081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042979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211190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429501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57237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88852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468327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015038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47517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7916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685800" y="630238"/>
            <a:ext cx="3778250" cy="2125662"/>
          </a:xfrm>
          <a:ln/>
        </p:spPr>
      </p:sp>
      <p:sp>
        <p:nvSpPr>
          <p:cNvPr id="2560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058121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249611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609609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543223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87521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8540A506-E451-C922-0D94-D1A54B316E3E}"/>
              </a:ext>
            </a:extLst>
          </p:cNvPr>
          <p:cNvSpPr>
            <a:spLocks noGrp="1"/>
          </p:cNvSpPr>
          <p:nvPr>
            <p:ph sz="quarter" idx="12"/>
          </p:nvPr>
        </p:nvSpPr>
        <p:spPr>
          <a:xfrm>
            <a:off x="2003425" y="6224588"/>
            <a:ext cx="9159875" cy="5111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170826813"/>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TextBox 4">
            <a:extLst>
              <a:ext uri="{FF2B5EF4-FFF2-40B4-BE49-F238E27FC236}">
                <a16:creationId xmlns:a16="http://schemas.microsoft.com/office/drawing/2014/main" id="{0AC82444-0955-4D27-B77E-A9BCEA7A20A2}"/>
              </a:ext>
            </a:extLst>
          </p:cNvPr>
          <p:cNvSpPr txBox="1"/>
          <p:nvPr userDrawn="1"/>
        </p:nvSpPr>
        <p:spPr>
          <a:xfrm>
            <a:off x="2322513" y="6393561"/>
            <a:ext cx="867727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Rob Thompson and Jack Erjavec</a:t>
            </a:r>
            <a:r>
              <a:rPr lang="en-US" sz="1200" kern="1200" dirty="0">
                <a:solidFill>
                  <a:schemeClr val="bg1"/>
                </a:solidFill>
                <a:latin typeface="Arial" panose="020B0604020202020204" pitchFamily="34" charset="0"/>
                <a:cs typeface="Arial" panose="020B0604020202020204" pitchFamily="34" charset="0"/>
              </a:rPr>
              <a:t>, Automotive Technology: A Systems Approach, 8</a:t>
            </a:r>
            <a:r>
              <a:rPr lang="en-US" sz="1200" kern="1200" baseline="30000" dirty="0">
                <a:solidFill>
                  <a:schemeClr val="bg1"/>
                </a:solidFill>
                <a:latin typeface="Arial" panose="020B0604020202020204" pitchFamily="34" charset="0"/>
                <a:cs typeface="Arial" panose="020B0604020202020204" pitchFamily="34" charset="0"/>
              </a:rPr>
              <a:t>th</a:t>
            </a:r>
            <a:r>
              <a:rPr lang="en-US" sz="1200" kern="1200" dirty="0">
                <a:solidFill>
                  <a:schemeClr val="bg1"/>
                </a:solidFill>
                <a:latin typeface="Arial" panose="020B0604020202020204" pitchFamily="34" charset="0"/>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907879"/>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3624"/>
            <a:ext cx="11241915" cy="4613339"/>
          </a:xfrm>
        </p:spPr>
        <p:txBody>
          <a:bodyPr/>
          <a:lstStyle>
            <a:lvl1pPr marL="357188" indent="-357188">
              <a:lnSpc>
                <a:spcPct val="100000"/>
              </a:lnSpc>
              <a:spcBef>
                <a:spcPts val="624"/>
              </a:spcBef>
              <a:spcAft>
                <a:spcPts val="0"/>
              </a:spcAft>
              <a:defRPr sz="2600"/>
            </a:lvl1pPr>
            <a:lvl2pPr marL="714375" indent="-357188">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879304"/>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704975"/>
            <a:ext cx="8429413" cy="1724026"/>
          </a:xfrm>
        </p:spPr>
        <p:txBody>
          <a:bodyPr/>
          <a:lstStyle>
            <a:lvl1pPr marL="357188" indent="-357188">
              <a:lnSpc>
                <a:spcPct val="100000"/>
              </a:lnSpc>
              <a:spcBef>
                <a:spcPts val="624"/>
              </a:spcBef>
              <a:spcAft>
                <a:spcPts val="0"/>
              </a:spcAft>
              <a:defRPr sz="2600"/>
            </a:lvl1pPr>
            <a:lvl2pPr marL="714375" indent="-357188">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
        <p:nvSpPr>
          <p:cNvPr id="5" name="Picture Placeholder 4">
            <a:extLst>
              <a:ext uri="{FF2B5EF4-FFF2-40B4-BE49-F238E27FC236}">
                <a16:creationId xmlns:a16="http://schemas.microsoft.com/office/drawing/2014/main" id="{E47313B8-53B1-7A6A-8F77-4F4E24937793}"/>
              </a:ext>
            </a:extLst>
          </p:cNvPr>
          <p:cNvSpPr>
            <a:spLocks noGrp="1"/>
          </p:cNvSpPr>
          <p:nvPr>
            <p:ph type="pic" sz="quarter" idx="10"/>
          </p:nvPr>
        </p:nvSpPr>
        <p:spPr>
          <a:xfrm>
            <a:off x="712788" y="3713163"/>
            <a:ext cx="3640137" cy="1636712"/>
          </a:xfrm>
        </p:spPr>
        <p:txBody>
          <a:bodyPr/>
          <a:lstStyle/>
          <a:p>
            <a:endParaRPr lang="en-IN"/>
          </a:p>
        </p:txBody>
      </p:sp>
      <p:sp>
        <p:nvSpPr>
          <p:cNvPr id="7" name="Picture Placeholder 6">
            <a:extLst>
              <a:ext uri="{FF2B5EF4-FFF2-40B4-BE49-F238E27FC236}">
                <a16:creationId xmlns:a16="http://schemas.microsoft.com/office/drawing/2014/main" id="{105267F2-31F2-77F2-A27F-B56E94585FF8}"/>
              </a:ext>
            </a:extLst>
          </p:cNvPr>
          <p:cNvSpPr>
            <a:spLocks noGrp="1"/>
          </p:cNvSpPr>
          <p:nvPr>
            <p:ph type="pic" sz="quarter" idx="11"/>
          </p:nvPr>
        </p:nvSpPr>
        <p:spPr>
          <a:xfrm>
            <a:off x="5157788" y="3713163"/>
            <a:ext cx="3062287" cy="1343025"/>
          </a:xfrm>
        </p:spPr>
        <p:txBody>
          <a:bodyPr/>
          <a:lstStyle/>
          <a:p>
            <a:endParaRPr lang="en-IN"/>
          </a:p>
        </p:txBody>
      </p:sp>
      <p:sp>
        <p:nvSpPr>
          <p:cNvPr id="9" name="Text Placeholder 8">
            <a:extLst>
              <a:ext uri="{FF2B5EF4-FFF2-40B4-BE49-F238E27FC236}">
                <a16:creationId xmlns:a16="http://schemas.microsoft.com/office/drawing/2014/main" id="{BDAE2A21-8E1D-3072-D9D5-B4ABBD4288E5}"/>
              </a:ext>
            </a:extLst>
          </p:cNvPr>
          <p:cNvSpPr>
            <a:spLocks noGrp="1"/>
          </p:cNvSpPr>
          <p:nvPr>
            <p:ph type="body" sz="quarter" idx="12"/>
          </p:nvPr>
        </p:nvSpPr>
        <p:spPr>
          <a:xfrm>
            <a:off x="7839075" y="2259013"/>
            <a:ext cx="3408363" cy="1454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81AE453B-F2D5-46C4-9D84-9D0B64FA7F94}"/>
              </a:ext>
            </a:extLst>
          </p:cNvPr>
          <p:cNvSpPr>
            <a:spLocks noGrp="1"/>
          </p:cNvSpPr>
          <p:nvPr>
            <p:ph sz="quarter" idx="13"/>
          </p:nvPr>
        </p:nvSpPr>
        <p:spPr>
          <a:xfrm>
            <a:off x="8494713" y="48561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80101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Content and image captio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920579"/>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5275"/>
            <a:ext cx="11241915" cy="1489898"/>
          </a:xfrm>
        </p:spPr>
        <p:txBody>
          <a:bodyPr/>
          <a:lstStyle>
            <a:lvl1pPr marL="361950" indent="-361950">
              <a:lnSpc>
                <a:spcPct val="100000"/>
              </a:lnSpc>
              <a:spcAft>
                <a:spcPts val="800"/>
              </a:spcAft>
              <a:defRPr sz="2600"/>
            </a:lvl1pPr>
            <a:lvl2pPr marL="714375" indent="-352425">
              <a:lnSpc>
                <a:spcPct val="100000"/>
              </a:lnSpc>
              <a:spcAft>
                <a:spcPts val="800"/>
              </a:spcAft>
              <a:defRPr sz="2400" b="0"/>
            </a:lvl2pPr>
            <a:lvl3pPr marL="1076325" indent="-361950">
              <a:lnSpc>
                <a:spcPct val="100000"/>
              </a:lnSpc>
              <a:spcAft>
                <a:spcPts val="800"/>
              </a:spcAft>
              <a:defRPr sz="2200" b="0"/>
            </a:lvl3pPr>
            <a:lvl4pPr marL="1371600" marR="0" indent="0" algn="l" defTabSz="914400" rtl="0" eaLnBrk="1" fontAlgn="auto" latinLnBrk="0" hangingPunct="1">
              <a:lnSpc>
                <a:spcPct val="10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4">
            <a:extLst>
              <a:ext uri="{FF2B5EF4-FFF2-40B4-BE49-F238E27FC236}">
                <a16:creationId xmlns:a16="http://schemas.microsoft.com/office/drawing/2014/main" id="{1AC100CB-6DA0-4C44-8AA9-EF1047C778AB}"/>
              </a:ext>
            </a:extLst>
          </p:cNvPr>
          <p:cNvSpPr>
            <a:spLocks noGrp="1"/>
          </p:cNvSpPr>
          <p:nvPr>
            <p:ph sz="quarter" idx="10"/>
          </p:nvPr>
        </p:nvSpPr>
        <p:spPr>
          <a:xfrm>
            <a:off x="476250" y="3184525"/>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a:extLst>
              <a:ext uri="{FF2B5EF4-FFF2-40B4-BE49-F238E27FC236}">
                <a16:creationId xmlns:a16="http://schemas.microsoft.com/office/drawing/2014/main" id="{1F7CD4DC-2798-4D91-B8F0-39A1E2678118}"/>
              </a:ext>
            </a:extLst>
          </p:cNvPr>
          <p:cNvSpPr>
            <a:spLocks noGrp="1"/>
          </p:cNvSpPr>
          <p:nvPr>
            <p:ph sz="quarter" idx="11"/>
          </p:nvPr>
        </p:nvSpPr>
        <p:spPr>
          <a:xfrm>
            <a:off x="476250" y="3925888"/>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CECB35C0-7E7B-4B64-AB45-C70040E7FA29}"/>
              </a:ext>
            </a:extLst>
          </p:cNvPr>
          <p:cNvSpPr>
            <a:spLocks noGrp="1"/>
          </p:cNvSpPr>
          <p:nvPr>
            <p:ph type="pic" sz="quarter" idx="12"/>
          </p:nvPr>
        </p:nvSpPr>
        <p:spPr>
          <a:xfrm>
            <a:off x="5745163" y="3313113"/>
            <a:ext cx="2484437" cy="1054100"/>
          </a:xfrm>
        </p:spPr>
        <p:txBody>
          <a:bodyPr/>
          <a:lstStyle/>
          <a:p>
            <a:endParaRPr lang="en-IN"/>
          </a:p>
        </p:txBody>
      </p:sp>
      <p:sp>
        <p:nvSpPr>
          <p:cNvPr id="11" name="Table Placeholder 10">
            <a:extLst>
              <a:ext uri="{FF2B5EF4-FFF2-40B4-BE49-F238E27FC236}">
                <a16:creationId xmlns:a16="http://schemas.microsoft.com/office/drawing/2014/main" id="{2B7EAAD5-547E-45DC-AFA3-8EB40988EED3}"/>
              </a:ext>
            </a:extLst>
          </p:cNvPr>
          <p:cNvSpPr>
            <a:spLocks noGrp="1"/>
          </p:cNvSpPr>
          <p:nvPr>
            <p:ph type="tbl" sz="quarter" idx="13"/>
          </p:nvPr>
        </p:nvSpPr>
        <p:spPr>
          <a:xfrm>
            <a:off x="8756650" y="3313113"/>
            <a:ext cx="2398713" cy="903287"/>
          </a:xfrm>
        </p:spPr>
        <p:txBody>
          <a:bodyPr/>
          <a:lstStyle/>
          <a:p>
            <a:endParaRPr lang="en-IN"/>
          </a:p>
        </p:txBody>
      </p:sp>
      <p:sp>
        <p:nvSpPr>
          <p:cNvPr id="13" name="Picture Placeholder 12">
            <a:extLst>
              <a:ext uri="{FF2B5EF4-FFF2-40B4-BE49-F238E27FC236}">
                <a16:creationId xmlns:a16="http://schemas.microsoft.com/office/drawing/2014/main" id="{A7F819D0-A76F-44C0-AE24-4C6C01B1D4A3}"/>
              </a:ext>
            </a:extLst>
          </p:cNvPr>
          <p:cNvSpPr>
            <a:spLocks noGrp="1"/>
          </p:cNvSpPr>
          <p:nvPr>
            <p:ph type="pic" sz="quarter" idx="14"/>
          </p:nvPr>
        </p:nvSpPr>
        <p:spPr>
          <a:xfrm>
            <a:off x="5948363" y="4538663"/>
            <a:ext cx="2033587" cy="754062"/>
          </a:xfrm>
        </p:spPr>
        <p:txBody>
          <a:bodyPr/>
          <a:lstStyle/>
          <a:p>
            <a:endParaRPr lang="en-IN"/>
          </a:p>
        </p:txBody>
      </p:sp>
    </p:spTree>
    <p:custDataLst>
      <p:tags r:id="rId1"/>
    </p:custDataLst>
    <p:extLst>
      <p:ext uri="{BB962C8B-B14F-4D97-AF65-F5344CB8AC3E}">
        <p14:creationId xmlns:p14="http://schemas.microsoft.com/office/powerpoint/2010/main" val="364203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514307"/>
          </a:xfrm>
        </p:spPr>
        <p:txBody>
          <a:bodyPr/>
          <a:lstStyle>
            <a:lvl1pPr>
              <a:defRPr sz="3200">
                <a:latin typeface="Arial" panose="020B0604020202020204" pitchFamily="34" charset="0"/>
                <a:cs typeface="Arial" panose="020B0604020202020204" pitchFamily="34" charset="0"/>
              </a:defRPr>
            </a:lvl1pPr>
          </a:lstStyle>
          <a:p>
            <a:r>
              <a:rPr lang="en-US" dirty="0"/>
              <a:t>Slide Title</a:t>
            </a:r>
          </a:p>
        </p:txBody>
      </p:sp>
      <p:sp>
        <p:nvSpPr>
          <p:cNvPr id="3" name="Content Placeholder 1"/>
          <p:cNvSpPr>
            <a:spLocks noGrp="1"/>
          </p:cNvSpPr>
          <p:nvPr>
            <p:ph idx="1" hasCustomPrompt="1"/>
          </p:nvPr>
        </p:nvSpPr>
        <p:spPr>
          <a:xfrm>
            <a:off x="480446" y="1176279"/>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6090" y="1176279"/>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5498" y="1185185"/>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5518" y="1185185"/>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80445" y="3359963"/>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6089" y="3359963"/>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5497" y="3368869"/>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5517" y="3368869"/>
            <a:ext cx="2563241" cy="2024480"/>
          </a:xfrm>
        </p:spPr>
        <p:txBody>
          <a:bodyPr/>
          <a:lstStyle>
            <a:lvl1pPr marL="0" indent="0" algn="ctr">
              <a:buNone/>
              <a:defRPr/>
            </a:lvl1pPr>
          </a:lstStyle>
          <a:p>
            <a:pPr lvl="0"/>
            <a:r>
              <a:rPr lang="en-US" dirty="0"/>
              <a:t>Insert here 8</a:t>
            </a:r>
          </a:p>
        </p:txBody>
      </p:sp>
      <p:sp>
        <p:nvSpPr>
          <p:cNvPr id="5" name="Content Placeholder 4">
            <a:extLst>
              <a:ext uri="{FF2B5EF4-FFF2-40B4-BE49-F238E27FC236}">
                <a16:creationId xmlns:a16="http://schemas.microsoft.com/office/drawing/2014/main" id="{35C72E4F-A7C3-409B-BAF8-F0E298B159F3}"/>
              </a:ext>
            </a:extLst>
          </p:cNvPr>
          <p:cNvSpPr>
            <a:spLocks noGrp="1"/>
          </p:cNvSpPr>
          <p:nvPr>
            <p:ph sz="quarter" idx="17"/>
          </p:nvPr>
        </p:nvSpPr>
        <p:spPr>
          <a:xfrm>
            <a:off x="741363" y="5549900"/>
            <a:ext cx="1909762" cy="430213"/>
          </a:xfrm>
        </p:spPr>
        <p:txBody>
          <a:bodyPr/>
          <a:lstStyle>
            <a:lvl1pPr marL="0" indent="0">
              <a:buNone/>
              <a:defRPr/>
            </a:lvl1pPr>
          </a:lstStyle>
          <a:p>
            <a:pPr lvl="0"/>
            <a:endParaRPr lang="en-IN" dirty="0"/>
          </a:p>
        </p:txBody>
      </p:sp>
      <p:sp>
        <p:nvSpPr>
          <p:cNvPr id="7" name="Content Placeholder 6">
            <a:extLst>
              <a:ext uri="{FF2B5EF4-FFF2-40B4-BE49-F238E27FC236}">
                <a16:creationId xmlns:a16="http://schemas.microsoft.com/office/drawing/2014/main" id="{6F86A118-C12B-4436-85D9-DB750AEF2CBF}"/>
              </a:ext>
            </a:extLst>
          </p:cNvPr>
          <p:cNvSpPr>
            <a:spLocks noGrp="1"/>
          </p:cNvSpPr>
          <p:nvPr>
            <p:ph sz="quarter" idx="18"/>
          </p:nvPr>
        </p:nvSpPr>
        <p:spPr>
          <a:xfrm>
            <a:off x="3305175" y="5549900"/>
            <a:ext cx="2562225" cy="430213"/>
          </a:xfrm>
        </p:spPr>
        <p:txBody>
          <a:bodyPr/>
          <a:lstStyle>
            <a:lvl1pPr marL="0" indent="0">
              <a:buNone/>
              <a:defRPr/>
            </a:lvl1pPr>
          </a:lstStyle>
          <a:p>
            <a:pPr lvl="0"/>
            <a:endParaRPr lang="en-IN" dirty="0"/>
          </a:p>
        </p:txBody>
      </p:sp>
      <p:sp>
        <p:nvSpPr>
          <p:cNvPr id="10" name="Content Placeholder 9">
            <a:extLst>
              <a:ext uri="{FF2B5EF4-FFF2-40B4-BE49-F238E27FC236}">
                <a16:creationId xmlns:a16="http://schemas.microsoft.com/office/drawing/2014/main" id="{C14BA7D1-7A46-4063-9F1E-B1AB6EAC6240}"/>
              </a:ext>
            </a:extLst>
          </p:cNvPr>
          <p:cNvSpPr>
            <a:spLocks noGrp="1"/>
          </p:cNvSpPr>
          <p:nvPr>
            <p:ph sz="quarter" idx="19"/>
          </p:nvPr>
        </p:nvSpPr>
        <p:spPr>
          <a:xfrm>
            <a:off x="6181725" y="5543550"/>
            <a:ext cx="2562225" cy="514350"/>
          </a:xfrm>
        </p:spPr>
        <p:txBody>
          <a:bodyPr/>
          <a:lstStyle>
            <a:lvl1pPr marL="0" indent="0">
              <a:buNone/>
              <a:defRPr/>
            </a:lvl1pPr>
          </a:lstStyle>
          <a:p>
            <a:pPr lvl="0"/>
            <a:endParaRPr lang="en-IN" dirty="0"/>
          </a:p>
        </p:txBody>
      </p:sp>
      <p:sp>
        <p:nvSpPr>
          <p:cNvPr id="21" name="Content Placeholder 9">
            <a:extLst>
              <a:ext uri="{FF2B5EF4-FFF2-40B4-BE49-F238E27FC236}">
                <a16:creationId xmlns:a16="http://schemas.microsoft.com/office/drawing/2014/main" id="{787F1E92-A8FA-4566-BE3E-EAA135FDBA53}"/>
              </a:ext>
            </a:extLst>
          </p:cNvPr>
          <p:cNvSpPr>
            <a:spLocks noGrp="1"/>
          </p:cNvSpPr>
          <p:nvPr>
            <p:ph sz="quarter" idx="20"/>
          </p:nvPr>
        </p:nvSpPr>
        <p:spPr>
          <a:xfrm>
            <a:off x="9156533" y="5549900"/>
            <a:ext cx="2562225" cy="514350"/>
          </a:xfrm>
        </p:spPr>
        <p:txBody>
          <a:bodyPr/>
          <a:lstStyle>
            <a:lvl1pPr marL="0" indent="0">
              <a:buNone/>
              <a:defRPr/>
            </a:lvl1pPr>
          </a:lstStyle>
          <a:p>
            <a:pPr lvl="0"/>
            <a:endParaRPr lang="en-IN" dirty="0"/>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46481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4"/>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8"/>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4" name="Content Placeholder 4">
            <a:extLst>
              <a:ext uri="{FF2B5EF4-FFF2-40B4-BE49-F238E27FC236}">
                <a16:creationId xmlns:a16="http://schemas.microsoft.com/office/drawing/2014/main" id="{77381C69-35BD-DE4E-78F6-869353524113}"/>
              </a:ext>
            </a:extLst>
          </p:cNvPr>
          <p:cNvSpPr txBox="1">
            <a:spLocks/>
          </p:cNvSpPr>
          <p:nvPr userDrawn="1"/>
        </p:nvSpPr>
        <p:spPr>
          <a:xfrm>
            <a:off x="2018839" y="6316519"/>
            <a:ext cx="9345472" cy="461665"/>
          </a:xfrm>
          <a:prstGeom prst="rect">
            <a:avLst/>
          </a:prstGeom>
          <a:noFill/>
        </p:spPr>
        <p:txBody>
          <a:bodyPr wrap="square" rtlCol="0">
            <a:spAutoFit/>
          </a:bodyPr>
          <a:lst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en-US" sz="1200">
                <a:solidFill>
                  <a:schemeClr val="bg1"/>
                </a:solidFill>
                <a:cs typeface="Arial" panose="020B0604020202020204" pitchFamily="34" charset="0"/>
              </a:rPr>
              <a:t>Rob Thompson and Jack Erjavec, Automotive Technology: A Systems Approach, 8</a:t>
            </a:r>
            <a:r>
              <a:rPr lang="en-US" sz="1200" baseline="30000">
                <a:solidFill>
                  <a:schemeClr val="bg1"/>
                </a:solidFill>
                <a:cs typeface="Arial" panose="020B0604020202020204" pitchFamily="34" charset="0"/>
              </a:rPr>
              <a:t>th</a:t>
            </a:r>
            <a:r>
              <a:rPr lang="en-US" sz="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dirty="0">
              <a:solidFill>
                <a:schemeClr val="bg1"/>
              </a:solidFill>
              <a:cs typeface="Arial" panose="020B0604020202020204" pitchFamily="34" charset="0"/>
            </a:endParaRPr>
          </a:p>
        </p:txBody>
      </p:sp>
    </p:spTree>
    <p:custDataLst>
      <p:tags r:id="rId17"/>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67" r:id="rId4"/>
    <p:sldLayoutId id="2147483766" r:id="rId5"/>
    <p:sldLayoutId id="2147483728" r:id="rId6"/>
    <p:sldLayoutId id="2147483736" r:id="rId7"/>
    <p:sldLayoutId id="2147483729" r:id="rId8"/>
    <p:sldLayoutId id="2147483760" r:id="rId9"/>
    <p:sldLayoutId id="2147483730" r:id="rId10"/>
    <p:sldLayoutId id="2147483732" r:id="rId11"/>
    <p:sldLayoutId id="2147483761" r:id="rId12"/>
    <p:sldLayoutId id="2147483737" r:id="rId13"/>
    <p:sldLayoutId id="2147483762" r:id="rId14"/>
    <p:sldLayoutId id="2147483769" r:id="rId15"/>
  </p:sldLayoutIdLst>
  <p:hf sldNum="0" hd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2: Workplace Skills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8839" y="6316519"/>
            <a:ext cx="9345472" cy="461665"/>
          </a:xfrm>
          <a:prstGeom prst="rect">
            <a:avLst/>
          </a:prstGeom>
          <a:noFill/>
        </p:spPr>
        <p:txBody>
          <a:bodyPr wrap="square" rtlCol="0">
            <a:spAutoFit/>
          </a:bodyPr>
          <a:lstStyle/>
          <a:p>
            <a:pPr marL="0" indent="0">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(1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R="0" lvl="0">
              <a:spcAft>
                <a:spcPts val="600"/>
              </a:spcAft>
            </a:pPr>
            <a:r>
              <a:rPr lang="en-US" dirty="0"/>
              <a:t>02.01 Seek and apply for employment.</a:t>
            </a:r>
            <a:endParaRPr lang="en-US" dirty="0">
              <a:effectLst/>
              <a:ea typeface="MS Mincho" panose="02020609040205080304" pitchFamily="49" charset="-128"/>
              <a:cs typeface="Times New Roman" panose="02020603050405020304" pitchFamily="18" charset="0"/>
            </a:endParaRPr>
          </a:p>
          <a:p>
            <a:pPr marR="0" lvl="0">
              <a:spcAft>
                <a:spcPts val="600"/>
              </a:spcAft>
            </a:pPr>
            <a:r>
              <a:rPr lang="en-US" dirty="0"/>
              <a:t>02.02 Prepare a resume and cover letter.</a:t>
            </a:r>
            <a:endParaRPr lang="en-US" dirty="0">
              <a:effectLst/>
              <a:ea typeface="MS Mincho" panose="02020609040205080304" pitchFamily="49" charset="-128"/>
              <a:cs typeface="Times New Roman" panose="02020603050405020304" pitchFamily="18" charset="0"/>
            </a:endParaRPr>
          </a:p>
          <a:p>
            <a:pPr marR="0" lvl="0">
              <a:spcAft>
                <a:spcPts val="600"/>
              </a:spcAft>
            </a:pPr>
            <a:r>
              <a:rPr lang="en-US" dirty="0"/>
              <a:t>02.03 Prepare for an employment interview.</a:t>
            </a:r>
          </a:p>
          <a:p>
            <a:pPr marR="0" lvl="0">
              <a:spcAft>
                <a:spcPts val="600"/>
              </a:spcAft>
            </a:pPr>
            <a:r>
              <a:rPr lang="en-US" dirty="0"/>
              <a:t>02.04 Accept employment.</a:t>
            </a:r>
          </a:p>
          <a:p>
            <a:pPr marR="0" lvl="0">
              <a:spcAft>
                <a:spcPts val="600"/>
              </a:spcAft>
            </a:pPr>
            <a:r>
              <a:rPr lang="en-US" dirty="0"/>
              <a:t>02.05 Explain how automotive technicians are compensated.</a:t>
            </a:r>
          </a:p>
          <a:p>
            <a:pPr marR="0" lvl="0">
              <a:spcAft>
                <a:spcPts val="600"/>
              </a:spcAft>
            </a:pPr>
            <a:r>
              <a:rPr lang="en-US" dirty="0"/>
              <a:t>02.06 Describe the proper relationship between an employer and an </a:t>
            </a:r>
            <a:r>
              <a:rPr lang="en-US"/>
              <a:t>employee.</a:t>
            </a:r>
            <a:endParaRPr lang="en-US" dirty="0"/>
          </a:p>
        </p:txBody>
      </p:sp>
    </p:spTree>
    <p:custDataLst>
      <p:tags r:id="rId1"/>
    </p:custDataLst>
    <p:extLst>
      <p:ext uri="{BB962C8B-B14F-4D97-AF65-F5344CB8AC3E}">
        <p14:creationId xmlns:p14="http://schemas.microsoft.com/office/powerpoint/2010/main" val="49783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(2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a:spcAft>
                <a:spcPts val="600"/>
              </a:spcAft>
            </a:pPr>
            <a:r>
              <a:rPr lang="en-US" dirty="0"/>
              <a:t>02.07 Describe the key elements of on-the-job communications.</a:t>
            </a:r>
          </a:p>
          <a:p>
            <a:pPr>
              <a:spcAft>
                <a:spcPts val="600"/>
              </a:spcAft>
            </a:pPr>
            <a:r>
              <a:rPr lang="en-US" dirty="0"/>
              <a:t>02.08 Explain why technicians need critical thinking and problem-solving skills.</a:t>
            </a:r>
          </a:p>
          <a:p>
            <a:pPr>
              <a:spcAft>
                <a:spcPts val="600"/>
              </a:spcAft>
            </a:pPr>
            <a:r>
              <a:rPr lang="en-US" dirty="0"/>
              <a:t>02.09 Discuss the professional appearance and behavior of automotive technicians.</a:t>
            </a:r>
          </a:p>
          <a:p>
            <a:pPr>
              <a:spcAft>
                <a:spcPts val="600"/>
              </a:spcAft>
            </a:pPr>
            <a:r>
              <a:rPr lang="en-US" dirty="0"/>
              <a:t>02.10 Discuss how fellow workers and customers should be treated.</a:t>
            </a:r>
            <a:endParaRPr lang="en-US" sz="2400" dirty="0"/>
          </a:p>
        </p:txBody>
      </p:sp>
    </p:spTree>
    <p:custDataLst>
      <p:tags r:id="rId1"/>
    </p:custDataLst>
    <p:extLst>
      <p:ext uri="{BB962C8B-B14F-4D97-AF65-F5344CB8AC3E}">
        <p14:creationId xmlns:p14="http://schemas.microsoft.com/office/powerpoint/2010/main" val="321054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Seeking and Applying for Employment</a:t>
            </a:r>
          </a:p>
        </p:txBody>
      </p:sp>
      <p:sp>
        <p:nvSpPr>
          <p:cNvPr id="3075" name="Content Placeholder 2"/>
          <p:cNvSpPr>
            <a:spLocks noGrp="1"/>
          </p:cNvSpPr>
          <p:nvPr>
            <p:ph idx="1"/>
          </p:nvPr>
        </p:nvSpPr>
        <p:spPr/>
        <p:txBody>
          <a:bodyPr>
            <a:normAutofit/>
          </a:bodyPr>
          <a:lstStyle/>
          <a:p>
            <a:r>
              <a:rPr lang="en-US" dirty="0"/>
              <a:t>Getting a job, especially in a professional field like automotive service, involves many </a:t>
            </a:r>
            <a:r>
              <a:rPr lang="en-US"/>
              <a:t>steps.</a:t>
            </a:r>
            <a:endParaRPr lang="en-US" dirty="0"/>
          </a:p>
          <a:p>
            <a:r>
              <a:rPr lang="en-US" dirty="0"/>
              <a:t>As with many things in life, you must be adequately prepared before taking the next step toward employment.</a:t>
            </a:r>
          </a:p>
          <a:p>
            <a:r>
              <a:rPr lang="en-US" dirty="0"/>
              <a:t>This discussion suggests ways you can prepare and what to expect while taking these steps.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Employment Plan</a:t>
            </a:r>
          </a:p>
        </p:txBody>
      </p:sp>
      <p:sp>
        <p:nvSpPr>
          <p:cNvPr id="3075" name="Content Placeholder 2"/>
          <p:cNvSpPr>
            <a:spLocks noGrp="1"/>
          </p:cNvSpPr>
          <p:nvPr>
            <p:ph idx="1"/>
          </p:nvPr>
        </p:nvSpPr>
        <p:spPr/>
        <p:txBody>
          <a:bodyPr>
            <a:noAutofit/>
          </a:bodyPr>
          <a:lstStyle/>
          <a:p>
            <a:pPr>
              <a:spcAft>
                <a:spcPts val="600"/>
              </a:spcAft>
            </a:pPr>
            <a:r>
              <a:rPr lang="en-US" dirty="0"/>
              <a:t>An employment plan is nothing more than an honest appraisal of yourself and your career </a:t>
            </a:r>
            <a:r>
              <a:rPr lang="en-US"/>
              <a:t>hopes.</a:t>
            </a:r>
            <a:endParaRPr lang="en-US" dirty="0"/>
          </a:p>
          <a:p>
            <a:pPr>
              <a:spcAft>
                <a:spcPts val="600"/>
              </a:spcAft>
            </a:pPr>
            <a:r>
              <a:rPr lang="en-US" dirty="0"/>
              <a:t>The plan should include your employment goals, a timetable for reaching those goals, and a prioritized list of potential employers or types of employers.</a:t>
            </a:r>
          </a:p>
          <a:p>
            <a:pPr>
              <a:spcAft>
                <a:spcPts val="600"/>
              </a:spcAft>
            </a:pPr>
            <a:r>
              <a:rPr lang="en-US" dirty="0"/>
              <a:t>Think about the type of job you want and do some research to find out what is required to get that </a:t>
            </a:r>
            <a:r>
              <a:rPr lang="en-US"/>
              <a:t>job.</a:t>
            </a:r>
            <a:endParaRPr lang="en-US" dirty="0"/>
          </a:p>
          <a:p>
            <a:pPr>
              <a:spcAft>
                <a:spcPts val="600"/>
              </a:spcAft>
            </a:pPr>
            <a:r>
              <a:rPr lang="en-US" dirty="0"/>
              <a:t>Evaluate yourself against those </a:t>
            </a:r>
            <a:r>
              <a:rPr lang="en-US"/>
              <a:t>requirements.</a:t>
            </a:r>
            <a:endParaRPr lang="en-US" dirty="0"/>
          </a:p>
          <a:p>
            <a:pPr>
              <a:spcAft>
                <a:spcPts val="600"/>
              </a:spcAft>
            </a:pPr>
            <a:r>
              <a:rPr lang="en-US" dirty="0"/>
              <a:t>If you do not meet the requirements, set up a plan for obtaining the needed skills.</a:t>
            </a:r>
          </a:p>
        </p:txBody>
      </p:sp>
    </p:spTree>
    <p:extLst>
      <p:ext uri="{BB962C8B-B14F-4D97-AF65-F5344CB8AC3E}">
        <p14:creationId xmlns:p14="http://schemas.microsoft.com/office/powerpoint/2010/main" val="415566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Self-Appraisal </a:t>
            </a:r>
          </a:p>
        </p:txBody>
      </p:sp>
      <p:sp>
        <p:nvSpPr>
          <p:cNvPr id="3075" name="Content Placeholder 2"/>
          <p:cNvSpPr>
            <a:spLocks noGrp="1"/>
          </p:cNvSpPr>
          <p:nvPr>
            <p:ph idx="1"/>
          </p:nvPr>
        </p:nvSpPr>
        <p:spPr/>
        <p:txBody>
          <a:bodyPr>
            <a:noAutofit/>
          </a:bodyPr>
          <a:lstStyle/>
          <a:p>
            <a:pPr marL="0" indent="0">
              <a:spcAft>
                <a:spcPts val="600"/>
              </a:spcAft>
              <a:buNone/>
            </a:pPr>
            <a:r>
              <a:rPr lang="en-US" dirty="0"/>
              <a:t>To begin the self-appraisal part of your employment plan, ask yourself:</a:t>
            </a:r>
          </a:p>
          <a:p>
            <a:pPr lvl="1">
              <a:spcAft>
                <a:spcPts val="600"/>
              </a:spcAft>
            </a:pPr>
            <a:r>
              <a:rPr lang="en-US" dirty="0"/>
              <a:t>Why am I looking for a job?</a:t>
            </a:r>
          </a:p>
          <a:p>
            <a:pPr lvl="1">
              <a:spcAft>
                <a:spcPts val="600"/>
              </a:spcAft>
            </a:pPr>
            <a:r>
              <a:rPr lang="en-US" dirty="0"/>
              <a:t>What specifically do I hope to gain by having a job?</a:t>
            </a:r>
          </a:p>
          <a:p>
            <a:pPr lvl="1">
              <a:spcAft>
                <a:spcPts val="600"/>
              </a:spcAft>
            </a:pPr>
            <a:r>
              <a:rPr lang="en-US" dirty="0"/>
              <a:t>What do I like to do?</a:t>
            </a:r>
          </a:p>
          <a:p>
            <a:pPr lvl="1">
              <a:spcAft>
                <a:spcPts val="600"/>
              </a:spcAft>
            </a:pPr>
            <a:r>
              <a:rPr lang="en-US" dirty="0"/>
              <a:t>What am I good at?</a:t>
            </a:r>
          </a:p>
          <a:p>
            <a:pPr lvl="1">
              <a:spcAft>
                <a:spcPts val="600"/>
              </a:spcAft>
            </a:pPr>
            <a:r>
              <a:rPr lang="en-US" dirty="0"/>
              <a:t>What skills do I currently have that would make me employable?</a:t>
            </a:r>
          </a:p>
          <a:p>
            <a:pPr lvl="1">
              <a:spcAft>
                <a:spcPts val="600"/>
              </a:spcAft>
            </a:pPr>
            <a:r>
              <a:rPr lang="en-US" dirty="0"/>
              <a:t>Which of my skills would I like to use in my job?</a:t>
            </a:r>
          </a:p>
          <a:p>
            <a:pPr lvl="1">
              <a:spcAft>
                <a:spcPts val="600"/>
              </a:spcAft>
            </a:pPr>
            <a:r>
              <a:rPr lang="en-US" dirty="0"/>
              <a:t>What skills should I add or improve to get the job I want?</a:t>
            </a:r>
            <a:endParaRPr lang="en-US" sz="2800" dirty="0"/>
          </a:p>
        </p:txBody>
      </p:sp>
    </p:spTree>
    <p:extLst>
      <p:ext uri="{BB962C8B-B14F-4D97-AF65-F5344CB8AC3E}">
        <p14:creationId xmlns:p14="http://schemas.microsoft.com/office/powerpoint/2010/main" val="2721209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Identifying Your Skills (1 of 2)</a:t>
            </a:r>
          </a:p>
        </p:txBody>
      </p:sp>
      <p:sp>
        <p:nvSpPr>
          <p:cNvPr id="13" name="Content Placeholder 12"/>
          <p:cNvSpPr txBox="1">
            <a:spLocks noGrp="1"/>
          </p:cNvSpPr>
          <p:nvPr>
            <p:ph idx="1"/>
          </p:nvPr>
        </p:nvSpPr>
        <p:spPr>
          <a:xfrm>
            <a:off x="957774" y="1392322"/>
            <a:ext cx="10279627" cy="461665"/>
          </a:xfrm>
          <a:prstGeom prst="rect">
            <a:avLst/>
          </a:prstGeom>
          <a:noFill/>
        </p:spPr>
        <p:txBody>
          <a:bodyPr wrap="square" rtlCol="0" anchor="ctr">
            <a:spAutoFit/>
          </a:bodyPr>
          <a:lstStyle/>
          <a:p>
            <a:pPr marL="0" indent="0" algn="ctr">
              <a:buNone/>
            </a:pPr>
            <a:r>
              <a:rPr lang="en-US" sz="2400" dirty="0">
                <a:latin typeface="+mj-lt"/>
              </a:rPr>
              <a:t>Honestly evaluate yourself to determine what skills you have</a:t>
            </a:r>
            <a:r>
              <a:rPr lang="en-US" sz="2400" dirty="0"/>
              <a:t>:</a:t>
            </a:r>
          </a:p>
        </p:txBody>
      </p:sp>
      <p:sp>
        <p:nvSpPr>
          <p:cNvPr id="12" name="Content Placeholder 2"/>
          <p:cNvSpPr txBox="1">
            <a:spLocks noGrp="1"/>
          </p:cNvSpPr>
          <p:nvPr>
            <p:ph sz="quarter" idx="10"/>
          </p:nvPr>
        </p:nvSpPr>
        <p:spPr>
          <a:xfrm>
            <a:off x="1189972" y="2045971"/>
            <a:ext cx="5356964" cy="4054204"/>
          </a:xfrm>
          <a:prstGeom prst="rect">
            <a:avLst/>
          </a:prstGeom>
        </p:spPr>
        <p:txBody>
          <a:bodyPr vert="horz" lIns="91440" tIns="45720" rIns="91440" bIns="45720" rtlCol="0">
            <a:noAutofit/>
          </a:bodyPr>
          <a:lstStyle>
            <a:lvl1pPr marL="361950" indent="-36195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600" b="0" kern="1200">
                <a:solidFill>
                  <a:schemeClr val="tx1"/>
                </a:solidFill>
                <a:latin typeface="+mn-lt"/>
                <a:ea typeface="+mn-ea"/>
                <a:cs typeface="+mn-cs"/>
              </a:defRPr>
            </a:lvl1pPr>
            <a:lvl2pPr marL="714375" indent="-352425"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076325" indent="-36195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200" b="0" kern="1200">
                <a:solidFill>
                  <a:schemeClr val="tx1"/>
                </a:solidFill>
                <a:latin typeface="+mn-lt"/>
                <a:ea typeface="+mn-ea"/>
                <a:cs typeface="+mn-cs"/>
              </a:defRPr>
            </a:lvl3pPr>
            <a:lvl4pPr marL="1371600" marR="0" indent="0" algn="l" defTabSz="914400" rtl="0" eaLnBrk="1" fontAlgn="auto" latinLnBrk="0" hangingPunct="1">
              <a:lnSpc>
                <a:spcPct val="100000"/>
              </a:lnSpc>
              <a:spcBef>
                <a:spcPts val="500"/>
              </a:spcBef>
              <a:spcAft>
                <a:spcPts val="0"/>
              </a:spcAft>
              <a:buClrTx/>
              <a:buSzPct val="100000"/>
              <a:buFont typeface="Arial" panose="020B0604020202020204" pitchFamily="34" charset="0"/>
              <a:buNone/>
              <a:tabLst/>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1" indent="-366713"/>
            <a:r>
              <a:rPr lang="en-US" dirty="0"/>
              <a:t>Using a computer</a:t>
            </a:r>
          </a:p>
          <a:p>
            <a:pPr marL="720725" lvl="1" indent="-366713"/>
            <a:r>
              <a:rPr lang="en-US" dirty="0"/>
              <a:t>Working with tools, machines, or equipment</a:t>
            </a:r>
          </a:p>
          <a:p>
            <a:pPr marL="720725" lvl="1" indent="-366713"/>
            <a:r>
              <a:rPr lang="en-US" dirty="0"/>
              <a:t>Doing math problems</a:t>
            </a:r>
          </a:p>
          <a:p>
            <a:pPr marL="720725" lvl="1" indent="-366713"/>
            <a:r>
              <a:rPr lang="en-US" dirty="0"/>
              <a:t>Maintaining or fixing things</a:t>
            </a:r>
          </a:p>
          <a:p>
            <a:pPr marL="720725" lvl="1" indent="-366713"/>
            <a:r>
              <a:rPr lang="en-US" dirty="0"/>
              <a:t>Figuring out how things work</a:t>
            </a:r>
          </a:p>
          <a:p>
            <a:pPr marL="720725" lvl="1" indent="-366713"/>
            <a:r>
              <a:rPr lang="en-US" dirty="0"/>
              <a:t>Making things with your hands</a:t>
            </a:r>
          </a:p>
        </p:txBody>
      </p:sp>
      <p:sp>
        <p:nvSpPr>
          <p:cNvPr id="11" name="Content Placeholder 2"/>
          <p:cNvSpPr>
            <a:spLocks noGrp="1"/>
          </p:cNvSpPr>
          <p:nvPr>
            <p:ph sz="quarter" idx="11"/>
          </p:nvPr>
        </p:nvSpPr>
        <p:spPr>
          <a:xfrm>
            <a:off x="6250200" y="2045971"/>
            <a:ext cx="5362680" cy="3909059"/>
          </a:xfrm>
        </p:spPr>
        <p:txBody>
          <a:bodyPr>
            <a:noAutofit/>
          </a:bodyPr>
          <a:lstStyle/>
          <a:p>
            <a:pPr marL="714375" lvl="1" indent="-350838" fontAlgn="auto"/>
            <a:r>
              <a:rPr lang="en-US" dirty="0"/>
              <a:t>Working with ideas and information</a:t>
            </a:r>
          </a:p>
          <a:p>
            <a:pPr marL="714375" lvl="1" indent="-350838" fontAlgn="auto"/>
            <a:r>
              <a:rPr lang="en-US" dirty="0"/>
              <a:t>Solving puzzles or problems</a:t>
            </a:r>
          </a:p>
          <a:p>
            <a:pPr marL="714375" lvl="1" indent="-350838" fontAlgn="auto"/>
            <a:r>
              <a:rPr lang="en-US" dirty="0"/>
              <a:t>Studying or reading</a:t>
            </a:r>
          </a:p>
          <a:p>
            <a:pPr marL="714375" lvl="1" indent="-350838" fontAlgn="auto"/>
            <a:r>
              <a:rPr lang="en-US" dirty="0"/>
              <a:t>Doing experiments or researching a topic</a:t>
            </a:r>
          </a:p>
          <a:p>
            <a:pPr marL="714375" lvl="1" indent="-350838" fontAlgn="auto"/>
            <a:r>
              <a:rPr lang="en-US" dirty="0"/>
              <a:t>Expressing yourself through writing</a:t>
            </a:r>
          </a:p>
        </p:txBody>
      </p:sp>
    </p:spTree>
    <p:extLst>
      <p:ext uri="{BB962C8B-B14F-4D97-AF65-F5344CB8AC3E}">
        <p14:creationId xmlns:p14="http://schemas.microsoft.com/office/powerpoint/2010/main" val="70578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Identifying Your Skills (2 of </a:t>
            </a:r>
            <a:r>
              <a:rPr lang="en-US"/>
              <a:t>2)</a:t>
            </a:r>
            <a:endParaRPr lang="en-US" dirty="0"/>
          </a:p>
        </p:txBody>
      </p:sp>
      <p:sp>
        <p:nvSpPr>
          <p:cNvPr id="3075" name="Content Placeholder 2"/>
          <p:cNvSpPr>
            <a:spLocks noGrp="1"/>
          </p:cNvSpPr>
          <p:nvPr>
            <p:ph idx="1"/>
          </p:nvPr>
        </p:nvSpPr>
        <p:spPr/>
        <p:txBody>
          <a:bodyPr>
            <a:noAutofit/>
          </a:bodyPr>
          <a:lstStyle/>
          <a:p>
            <a:pPr marL="0" indent="0">
              <a:spcAft>
                <a:spcPts val="600"/>
              </a:spcAft>
              <a:buNone/>
            </a:pPr>
            <a:r>
              <a:rPr lang="en-US" dirty="0"/>
              <a:t>Personal skills are also called soft skills and are things that are part of your personality. These are things you are good at or enjoy doing, such as:</a:t>
            </a:r>
          </a:p>
          <a:p>
            <a:pPr lvl="1">
              <a:spcAft>
                <a:spcPts val="600"/>
              </a:spcAft>
            </a:pPr>
            <a:r>
              <a:rPr lang="en-US" dirty="0"/>
              <a:t>Working with people</a:t>
            </a:r>
          </a:p>
          <a:p>
            <a:pPr lvl="1">
              <a:spcAft>
                <a:spcPts val="600"/>
              </a:spcAft>
            </a:pPr>
            <a:r>
              <a:rPr lang="en-US" dirty="0"/>
              <a:t>Caring for or helping people</a:t>
            </a:r>
          </a:p>
          <a:p>
            <a:pPr lvl="1">
              <a:spcAft>
                <a:spcPts val="600"/>
              </a:spcAft>
            </a:pPr>
            <a:r>
              <a:rPr lang="en-US" dirty="0"/>
              <a:t>Working as a member of a team and independently</a:t>
            </a:r>
          </a:p>
          <a:p>
            <a:pPr lvl="1">
              <a:spcAft>
                <a:spcPts val="600"/>
              </a:spcAft>
            </a:pPr>
            <a:r>
              <a:rPr lang="en-US" dirty="0"/>
              <a:t>Leading or supervising others</a:t>
            </a:r>
          </a:p>
          <a:p>
            <a:pPr lvl="1">
              <a:spcAft>
                <a:spcPts val="600"/>
              </a:spcAft>
            </a:pPr>
            <a:r>
              <a:rPr lang="en-US" dirty="0"/>
              <a:t>Following orders or instructions</a:t>
            </a:r>
          </a:p>
          <a:p>
            <a:pPr lvl="1">
              <a:spcAft>
                <a:spcPts val="600"/>
              </a:spcAft>
            </a:pPr>
            <a:r>
              <a:rPr lang="en-US" dirty="0"/>
              <a:t>Persuading people or negotiating with others </a:t>
            </a:r>
          </a:p>
        </p:txBody>
      </p:sp>
    </p:spTree>
    <p:extLst>
      <p:ext uri="{BB962C8B-B14F-4D97-AF65-F5344CB8AC3E}">
        <p14:creationId xmlns:p14="http://schemas.microsoft.com/office/powerpoint/2010/main" val="106843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Identifying Job Possibilities (1 of 2)</a:t>
            </a:r>
          </a:p>
        </p:txBody>
      </p:sp>
      <p:sp>
        <p:nvSpPr>
          <p:cNvPr id="3075" name="Content Placeholder 2"/>
          <p:cNvSpPr>
            <a:spLocks noGrp="1"/>
          </p:cNvSpPr>
          <p:nvPr>
            <p:ph idx="1"/>
          </p:nvPr>
        </p:nvSpPr>
        <p:spPr/>
        <p:txBody>
          <a:bodyPr>
            <a:noAutofit/>
          </a:bodyPr>
          <a:lstStyle/>
          <a:p>
            <a:pPr marL="0" indent="0">
              <a:spcAft>
                <a:spcPts val="600"/>
              </a:spcAft>
              <a:buNone/>
            </a:pPr>
            <a:r>
              <a:rPr lang="en-US" dirty="0"/>
              <a:t>Your task is to identify the companies that are hiring. There are many ways of doing this, including the following:</a:t>
            </a:r>
          </a:p>
          <a:p>
            <a:pPr lvl="1">
              <a:spcAft>
                <a:spcPts val="600"/>
              </a:spcAft>
            </a:pPr>
            <a:r>
              <a:rPr lang="en-US" dirty="0"/>
              <a:t>Checking your school’s job posting board or make an appointment with a placement coordinator</a:t>
            </a:r>
          </a:p>
          <a:p>
            <a:pPr lvl="1">
              <a:spcAft>
                <a:spcPts val="600"/>
              </a:spcAft>
            </a:pPr>
            <a:r>
              <a:rPr lang="en-US" dirty="0"/>
              <a:t>Attending a job fair</a:t>
            </a:r>
          </a:p>
          <a:p>
            <a:pPr lvl="1">
              <a:spcAft>
                <a:spcPts val="600"/>
              </a:spcAft>
            </a:pPr>
            <a:r>
              <a:rPr lang="en-US" dirty="0"/>
              <a:t>Searching job websites, such as LinkedIn, </a:t>
            </a:r>
            <a:r>
              <a:rPr lang="en-US" dirty="0" err="1"/>
              <a:t>Glassdoor</a:t>
            </a:r>
            <a:r>
              <a:rPr lang="en-US" dirty="0"/>
              <a:t>,</a:t>
            </a:r>
          </a:p>
          <a:p>
            <a:pPr lvl="1">
              <a:spcAft>
                <a:spcPts val="600"/>
              </a:spcAft>
            </a:pPr>
            <a:r>
              <a:rPr lang="en-US" dirty="0"/>
              <a:t>Monster, Indeed, and Job Corps</a:t>
            </a:r>
          </a:p>
          <a:p>
            <a:pPr lvl="1">
              <a:spcAft>
                <a:spcPts val="600"/>
              </a:spcAft>
            </a:pPr>
            <a:r>
              <a:rPr lang="en-US" dirty="0"/>
              <a:t>Checking the employment web pages of local businesses for job openings</a:t>
            </a:r>
          </a:p>
        </p:txBody>
      </p:sp>
    </p:spTree>
    <p:extLst>
      <p:ext uri="{BB962C8B-B14F-4D97-AF65-F5344CB8AC3E}">
        <p14:creationId xmlns:p14="http://schemas.microsoft.com/office/powerpoint/2010/main" val="284285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Identifying Job Possibilities (2 of 2)</a:t>
            </a:r>
          </a:p>
        </p:txBody>
      </p:sp>
      <p:sp>
        <p:nvSpPr>
          <p:cNvPr id="3075" name="Content Placeholder 2"/>
          <p:cNvSpPr>
            <a:spLocks noGrp="1"/>
          </p:cNvSpPr>
          <p:nvPr>
            <p:ph idx="1"/>
          </p:nvPr>
        </p:nvSpPr>
        <p:spPr>
          <a:xfrm>
            <a:off x="476843" y="1704974"/>
            <a:ext cx="4884297" cy="2455545"/>
          </a:xfrm>
        </p:spPr>
        <p:txBody>
          <a:bodyPr>
            <a:noAutofit/>
          </a:bodyPr>
          <a:lstStyle/>
          <a:p>
            <a:pPr marL="0" lvl="0" indent="0">
              <a:buNone/>
            </a:pPr>
            <a:r>
              <a:rPr lang="en-US" b="1" dirty="0"/>
              <a:t>02.01 Seek and apply for employment.</a:t>
            </a:r>
            <a:endParaRPr lang="en-US" b="1" dirty="0">
              <a:ea typeface="MS Mincho" panose="02020609040205080304" pitchFamily="49" charset="-128"/>
              <a:cs typeface="Times New Roman" panose="02020603050405020304" pitchFamily="18" charset="0"/>
            </a:endParaRPr>
          </a:p>
          <a:p>
            <a:pPr marL="0" indent="0">
              <a:buNone/>
            </a:pPr>
            <a:r>
              <a:rPr lang="en-US" dirty="0"/>
              <a:t>Checking the employment web pages of local businesses for job openings shown:</a:t>
            </a:r>
          </a:p>
        </p:txBody>
      </p:sp>
      <p:pic>
        <p:nvPicPr>
          <p:cNvPr id="7" name="Picture Placeholder 6" descr="A screenshot of a web page of a local business for job openings. The window is split into two horizontal sections. The first section on the left is titled Narrow search. The sub-title labeled category has an entry other (6) followed by x. The second sub-title, labeled Company, has the following entries listed one below the other: West Subaru, Southern Volkswagon, Eastside Kia, Northland Dodge (2), and Northern Chevrolet. All the entries are followed by two greater-than symbols &gt;&gt;. The second section is a table with four columns and six rows. The column headings are listed in the order from left to right, Job title, Company, Location, and Date Posted. row 1. Job title, Express Lube Technician; company, West Subaru; location, Columbus OH; date posted, 8/1/2023. row 2. job title, Parts Specialist; company, Northland Dodge; location, Columbus OH; date posted, 7/15/2023. row 3. Job title, Service Advisor; company, Eastside Kia; location, Columbus OH; job posted, 7/22/2023. row 4. job title, Cashier; company, Southern Volkswagen; location, Columbus OH; date posted, 8/1/2023. row 5. job title, Express Lube Technician; company, Northern Chevrolet; location, Columbus OH, date posted, 8/1/2023. row 6. Job title, Technician; company, Northland Dodge; location, Columbus, OH; date posted, 8/1/2023. There is an ‘apply’ button for the entries in column 1. The first row is highlighted."/>
          <p:cNvPicPr>
            <a:picLocks noGrp="1" noChangeAspect="1"/>
          </p:cNvPicPr>
          <p:nvPr>
            <p:ph type="pic" sz="quarter" idx="10"/>
          </p:nvPr>
        </p:nvPicPr>
        <p:blipFill>
          <a:blip r:embed="rId3"/>
          <a:stretch>
            <a:fillRect/>
          </a:stretch>
        </p:blipFill>
        <p:spPr>
          <a:xfrm>
            <a:off x="5801938" y="2118724"/>
            <a:ext cx="5714104" cy="3220050"/>
          </a:xfrm>
          <a:prstGeom prst="rect">
            <a:avLst/>
          </a:prstGeom>
        </p:spPr>
      </p:pic>
    </p:spTree>
    <p:extLst>
      <p:ext uri="{BB962C8B-B14F-4D97-AF65-F5344CB8AC3E}">
        <p14:creationId xmlns:p14="http://schemas.microsoft.com/office/powerpoint/2010/main" val="118500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Preparing Your Resume (1 of 2)</a:t>
            </a:r>
          </a:p>
        </p:txBody>
      </p:sp>
      <p:sp>
        <p:nvSpPr>
          <p:cNvPr id="3075" name="Content Placeholder 2"/>
          <p:cNvSpPr>
            <a:spLocks noGrp="1"/>
          </p:cNvSpPr>
          <p:nvPr>
            <p:ph idx="1"/>
          </p:nvPr>
        </p:nvSpPr>
        <p:spPr/>
        <p:txBody>
          <a:bodyPr/>
          <a:lstStyle/>
          <a:p>
            <a:r>
              <a:rPr lang="en-US" dirty="0"/>
              <a:t>Your resume and cover letter are your own personal marketing tools and may create your first impression on an </a:t>
            </a:r>
            <a:r>
              <a:rPr lang="en-US"/>
              <a:t>employer.</a:t>
            </a:r>
            <a:endParaRPr lang="en-US" dirty="0"/>
          </a:p>
          <a:p>
            <a:r>
              <a:rPr lang="en-US" dirty="0"/>
              <a:t>A resume should include:</a:t>
            </a:r>
          </a:p>
          <a:p>
            <a:pPr lvl="1"/>
            <a:r>
              <a:rPr lang="en-US" dirty="0"/>
              <a:t>Your contact information</a:t>
            </a:r>
          </a:p>
          <a:p>
            <a:pPr lvl="1"/>
            <a:r>
              <a:rPr lang="en-US"/>
              <a:t>Career objective</a:t>
            </a:r>
            <a:endParaRPr lang="en-US" dirty="0"/>
          </a:p>
          <a:p>
            <a:pPr lvl="1"/>
            <a:r>
              <a:rPr lang="en-US" dirty="0"/>
              <a:t>Skills and/or accomplishments</a:t>
            </a:r>
          </a:p>
          <a:p>
            <a:pPr lvl="1"/>
            <a:r>
              <a:rPr lang="en-US" dirty="0"/>
              <a:t>Work experience</a:t>
            </a:r>
          </a:p>
          <a:p>
            <a:pPr lvl="1"/>
            <a:r>
              <a:rPr lang="en-US" dirty="0"/>
              <a:t>Education</a:t>
            </a:r>
          </a:p>
          <a:p>
            <a:pPr lvl="1"/>
            <a:r>
              <a:rPr lang="en-US" dirty="0"/>
              <a:t>A statement about </a:t>
            </a:r>
            <a:r>
              <a:rPr lang="en-US"/>
              <a:t>references.</a:t>
            </a:r>
            <a:endParaRPr lang="en-US" dirty="0"/>
          </a:p>
        </p:txBody>
      </p:sp>
    </p:spTree>
    <p:extLst>
      <p:ext uri="{BB962C8B-B14F-4D97-AF65-F5344CB8AC3E}">
        <p14:creationId xmlns:p14="http://schemas.microsoft.com/office/powerpoint/2010/main" val="2094940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Preparing Your Resume (2 of 2)</a:t>
            </a:r>
          </a:p>
        </p:txBody>
      </p:sp>
      <p:sp>
        <p:nvSpPr>
          <p:cNvPr id="13" name="Content Placeholder 12"/>
          <p:cNvSpPr txBox="1">
            <a:spLocks noGrp="1"/>
          </p:cNvSpPr>
          <p:nvPr>
            <p:ph idx="1"/>
          </p:nvPr>
        </p:nvSpPr>
        <p:spPr>
          <a:xfrm>
            <a:off x="476251" y="1704975"/>
            <a:ext cx="4244340" cy="461665"/>
          </a:xfrm>
          <a:prstGeom prst="rect">
            <a:avLst/>
          </a:prstGeom>
          <a:noFill/>
        </p:spPr>
        <p:txBody>
          <a:bodyPr wrap="square" rtlCol="0">
            <a:spAutoFit/>
          </a:bodyPr>
          <a:lstStyle/>
          <a:p>
            <a:pPr marL="354013" lvl="0" indent="-354013">
              <a:buFont typeface="Arial" panose="020B0604020202020204" pitchFamily="34" charset="0"/>
              <a:buChar char="•"/>
            </a:pPr>
            <a:r>
              <a:rPr lang="en-US" sz="2400" dirty="0"/>
              <a:t>Sample </a:t>
            </a:r>
            <a:r>
              <a:rPr lang="en-US" sz="2400" b="1" dirty="0"/>
              <a:t>resume</a:t>
            </a:r>
            <a:r>
              <a:rPr lang="en-US" sz="2400" dirty="0"/>
              <a:t> shown:</a:t>
            </a:r>
            <a:endParaRPr lang="en-US" sz="2400" dirty="0">
              <a:ea typeface="MS Mincho" panose="02020609040205080304" pitchFamily="49" charset="-128"/>
              <a:cs typeface="Times New Roman" panose="02020603050405020304" pitchFamily="18" charset="0"/>
            </a:endParaRPr>
          </a:p>
        </p:txBody>
      </p:sp>
      <p:pic>
        <p:nvPicPr>
          <p:cNvPr id="9" name="Picture Placeholder 8" descr="A screenshot of a sample resume with little work experience. From the top the resume reads, Jordan Jones, 1234 My Street Somewhere, O Z 99902 123-456-7890. Performance oriented student, with an excellent reputation as a responsible and hard-working achiever, seeking a position as an entry-level automotive technician in a new car dealership. Skills and Attributes: People oriented, Motivated, Committed, Honest, Reliable, Creative problem-solver, Good hand skills. Work Experience: 2021–2023 Somewhere Soccer Association (Assistant coach). Instructed and supervised junior team. Performed administrative tasks as the Coach required 2019–2023 Carried out various odd jobs within the community. Washing and waxing cars, picking up children from school, raking leaves, cutting grass."/>
          <p:cNvPicPr>
            <a:picLocks noGrp="1" noChangeAspect="1"/>
          </p:cNvPicPr>
          <p:nvPr>
            <p:ph type="pic" sz="quarter" idx="10"/>
          </p:nvPr>
        </p:nvPicPr>
        <p:blipFill rotWithShape="1">
          <a:blip r:embed="rId3"/>
          <a:stretch/>
        </p:blipFill>
        <p:spPr>
          <a:xfrm>
            <a:off x="618072" y="2368093"/>
            <a:ext cx="5322570" cy="3321368"/>
          </a:xfrm>
          <a:prstGeom prst="rect">
            <a:avLst/>
          </a:prstGeom>
        </p:spPr>
      </p:pic>
      <p:sp>
        <p:nvSpPr>
          <p:cNvPr id="12" name="Content Placeholder 2"/>
          <p:cNvSpPr>
            <a:spLocks noGrp="1"/>
          </p:cNvSpPr>
          <p:nvPr>
            <p:ph type="body" sz="quarter" idx="12"/>
          </p:nvPr>
        </p:nvSpPr>
        <p:spPr>
          <a:xfrm>
            <a:off x="4940618" y="1717746"/>
            <a:ext cx="6797992" cy="541194"/>
          </a:xfrm>
        </p:spPr>
        <p:txBody>
          <a:bodyPr/>
          <a:lstStyle/>
          <a:p>
            <a:pPr marL="354013" lvl="0" indent="-354013">
              <a:lnSpc>
                <a:spcPct val="107000"/>
              </a:lnSpc>
              <a:spcBef>
                <a:spcPts val="0"/>
              </a:spcBef>
            </a:pPr>
            <a:r>
              <a:rPr lang="en-US" b="1" dirty="0"/>
              <a:t>02.02 Prepare a resume and cover letter</a:t>
            </a:r>
            <a:r>
              <a:rPr lang="en-US" dirty="0"/>
              <a:t>. </a:t>
            </a:r>
            <a:endParaRPr lang="en-US" dirty="0">
              <a:ea typeface="MS Mincho" panose="02020609040205080304" pitchFamily="49" charset="-128"/>
              <a:cs typeface="Times New Roman" panose="02020603050405020304" pitchFamily="18" charset="0"/>
            </a:endParaRPr>
          </a:p>
        </p:txBody>
      </p:sp>
      <p:pic>
        <p:nvPicPr>
          <p:cNvPr id="10" name="Picture Placeholder 9" descr="A screenshot of a sample resume with little work experience continues as follows: Education: Somewhere Senior High School, graduated in 2023; Somewhere Community College, currently enrolled in the Automotive Technology Program. Extracurricular Activities: 2019–2023 Active member of the video game club. 2021–2023 Member of the varsity soccer team. Hobbies and activities: Reading auto-related magazines, going to races, doing puzzles, working on cars with family and friends. References: Available upon request."/>
          <p:cNvPicPr>
            <a:picLocks noGrp="1" noChangeAspect="1"/>
          </p:cNvPicPr>
          <p:nvPr>
            <p:ph type="pic" sz="quarter" idx="11"/>
          </p:nvPr>
        </p:nvPicPr>
        <p:blipFill rotWithShape="1">
          <a:blip r:embed="rId4"/>
          <a:stretch/>
        </p:blipFill>
        <p:spPr>
          <a:xfrm>
            <a:off x="5965537" y="2984461"/>
            <a:ext cx="5935504" cy="2708434"/>
          </a:xfrm>
          <a:prstGeom prst="rect">
            <a:avLst/>
          </a:prstGeom>
        </p:spPr>
      </p:pic>
    </p:spTree>
    <p:extLst>
      <p:ext uri="{BB962C8B-B14F-4D97-AF65-F5344CB8AC3E}">
        <p14:creationId xmlns:p14="http://schemas.microsoft.com/office/powerpoint/2010/main" val="3425013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Preparing Your Cover Letter (1 of 3)</a:t>
            </a:r>
          </a:p>
        </p:txBody>
      </p:sp>
      <p:sp>
        <p:nvSpPr>
          <p:cNvPr id="3075" name="Content Placeholder 2"/>
          <p:cNvSpPr>
            <a:spLocks noGrp="1"/>
          </p:cNvSpPr>
          <p:nvPr>
            <p:ph idx="1"/>
          </p:nvPr>
        </p:nvSpPr>
        <p:spPr/>
        <p:txBody>
          <a:bodyPr/>
          <a:lstStyle/>
          <a:p>
            <a:r>
              <a:rPr lang="en-US" dirty="0"/>
              <a:t>A cover letter gives you a chance to point out exactly why you are perfect for the </a:t>
            </a:r>
            <a:r>
              <a:rPr lang="en-US"/>
              <a:t>job.</a:t>
            </a:r>
            <a:endParaRPr lang="en-US" dirty="0"/>
          </a:p>
          <a:p>
            <a:r>
              <a:rPr lang="en-US" dirty="0"/>
              <a:t>You should not send out the same cover letter to all potential </a:t>
            </a:r>
            <a:r>
              <a:rPr lang="en-US"/>
              <a:t>employers.</a:t>
            </a:r>
            <a:endParaRPr lang="en-US" dirty="0"/>
          </a:p>
          <a:p>
            <a:r>
              <a:rPr lang="en-US" dirty="0"/>
              <a:t>Adjust the letter to match the company and position you are applying </a:t>
            </a:r>
            <a:r>
              <a:rPr lang="en-US"/>
              <a:t>for.</a:t>
            </a:r>
            <a:endParaRPr lang="en-US" dirty="0"/>
          </a:p>
          <a:p>
            <a:r>
              <a:rPr lang="en-US" dirty="0"/>
              <a:t>Yes, this means a little more work, but it will be worth it.</a:t>
            </a:r>
            <a:endParaRPr lang="en-US" dirty="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28035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Preparing Your Cover Letter (2 of 3)</a:t>
            </a:r>
          </a:p>
        </p:txBody>
      </p:sp>
      <p:sp>
        <p:nvSpPr>
          <p:cNvPr id="3075" name="Content Placeholder 2"/>
          <p:cNvSpPr>
            <a:spLocks noGrp="1"/>
          </p:cNvSpPr>
          <p:nvPr>
            <p:ph idx="1"/>
          </p:nvPr>
        </p:nvSpPr>
        <p:spPr/>
        <p:txBody>
          <a:bodyPr/>
          <a:lstStyle/>
          <a:p>
            <a:pPr>
              <a:spcAft>
                <a:spcPts val="600"/>
              </a:spcAft>
            </a:pPr>
            <a:r>
              <a:rPr lang="en-US" dirty="0">
                <a:solidFill>
                  <a:schemeClr val="accent1"/>
                </a:solidFill>
              </a:rPr>
              <a:t>Guidelines for Writing an Effective Cover Letter: Follow these guidelines while preparing and writing your cover letter:</a:t>
            </a:r>
          </a:p>
          <a:p>
            <a:pPr>
              <a:spcAft>
                <a:spcPts val="600"/>
              </a:spcAft>
            </a:pPr>
            <a:r>
              <a:rPr lang="en-US" dirty="0">
                <a:solidFill>
                  <a:schemeClr val="accent1"/>
                </a:solidFill>
              </a:rPr>
              <a:t>First paragraph</a:t>
            </a:r>
          </a:p>
          <a:p>
            <a:pPr lvl="1">
              <a:spcAft>
                <a:spcPts val="600"/>
              </a:spcAft>
            </a:pPr>
            <a:r>
              <a:rPr lang="en-US" dirty="0">
                <a:solidFill>
                  <a:schemeClr val="accent1"/>
                </a:solidFill>
              </a:rPr>
              <a:t>Tell the employer you are interested in working for them</a:t>
            </a:r>
          </a:p>
          <a:p>
            <a:pPr>
              <a:spcAft>
                <a:spcPts val="600"/>
              </a:spcAft>
            </a:pPr>
            <a:r>
              <a:rPr lang="en-US" dirty="0">
                <a:solidFill>
                  <a:schemeClr val="accent1"/>
                </a:solidFill>
              </a:rPr>
              <a:t>Second paragraph</a:t>
            </a:r>
          </a:p>
          <a:p>
            <a:pPr lvl="1">
              <a:spcAft>
                <a:spcPts val="600"/>
              </a:spcAft>
            </a:pPr>
            <a:r>
              <a:rPr lang="en-US" dirty="0">
                <a:solidFill>
                  <a:schemeClr val="accent1"/>
                </a:solidFill>
              </a:rPr>
              <a:t>Sell yourself by addressing one or two of your qualifications</a:t>
            </a:r>
          </a:p>
          <a:p>
            <a:pPr>
              <a:spcAft>
                <a:spcPts val="600"/>
              </a:spcAft>
            </a:pPr>
            <a:r>
              <a:rPr lang="en-US" dirty="0">
                <a:solidFill>
                  <a:schemeClr val="accent1"/>
                </a:solidFill>
              </a:rPr>
              <a:t>Third paragraph</a:t>
            </a:r>
          </a:p>
          <a:p>
            <a:pPr lvl="1">
              <a:spcAft>
                <a:spcPts val="600"/>
              </a:spcAft>
            </a:pPr>
            <a:r>
              <a:rPr lang="en-US" dirty="0">
                <a:solidFill>
                  <a:schemeClr val="accent1"/>
                </a:solidFill>
              </a:rPr>
              <a:t>Thank the employer for taking the time to review your r</a:t>
            </a:r>
            <a:r>
              <a:rPr lang="en-US" dirty="0">
                <a:solidFill>
                  <a:schemeClr val="accent1"/>
                </a:solidFill>
                <a:cs typeface="Times New Roman" charset="0"/>
              </a:rPr>
              <a:t>é</a:t>
            </a:r>
            <a:r>
              <a:rPr lang="en-US" dirty="0">
                <a:solidFill>
                  <a:schemeClr val="accent1"/>
                </a:solidFill>
              </a:rPr>
              <a:t>sum</a:t>
            </a:r>
            <a:r>
              <a:rPr lang="en-US" dirty="0">
                <a:solidFill>
                  <a:schemeClr val="accent1"/>
                </a:solidFill>
                <a:cs typeface="Times New Roman" charset="0"/>
              </a:rPr>
              <a:t>é</a:t>
            </a:r>
            <a:endParaRPr lang="en-US" dirty="0">
              <a:solidFill>
                <a:schemeClr val="accent1"/>
              </a:solidFill>
            </a:endParaRPr>
          </a:p>
        </p:txBody>
      </p:sp>
    </p:spTree>
    <p:extLst>
      <p:ext uri="{BB962C8B-B14F-4D97-AF65-F5344CB8AC3E}">
        <p14:creationId xmlns:p14="http://schemas.microsoft.com/office/powerpoint/2010/main" val="1018681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Preparing Your Cover Letter (3 of 3)</a:t>
            </a:r>
          </a:p>
        </p:txBody>
      </p:sp>
      <p:sp>
        <p:nvSpPr>
          <p:cNvPr id="3075" name="Content Placeholder 2"/>
          <p:cNvSpPr>
            <a:spLocks noGrp="1"/>
          </p:cNvSpPr>
          <p:nvPr>
            <p:ph idx="1"/>
          </p:nvPr>
        </p:nvSpPr>
        <p:spPr>
          <a:xfrm>
            <a:off x="476844" y="1704975"/>
            <a:ext cx="5045652" cy="568993"/>
          </a:xfrm>
        </p:spPr>
        <p:txBody>
          <a:bodyPr/>
          <a:lstStyle/>
          <a:p>
            <a:pPr>
              <a:lnSpc>
                <a:spcPct val="107000"/>
              </a:lnSpc>
              <a:spcBef>
                <a:spcPts val="0"/>
              </a:spcBef>
            </a:pPr>
            <a:r>
              <a:rPr lang="en-US" dirty="0"/>
              <a:t>Sample cover letter shown:</a:t>
            </a:r>
            <a:endParaRPr lang="en-US" dirty="0">
              <a:ea typeface="MS Mincho" panose="02020609040205080304" pitchFamily="49" charset="-128"/>
              <a:cs typeface="Times New Roman" panose="02020603050405020304" pitchFamily="18" charset="0"/>
            </a:endParaRPr>
          </a:p>
        </p:txBody>
      </p:sp>
      <p:pic>
        <p:nvPicPr>
          <p:cNvPr id="8" name="Picture Placeholder 7" descr="A screenshot of a cover letter that can be sent with the resume. The letter reads from the top as, Jordan Jones; 1234 My Street; Somewhere, O Z 99902. Dated on March 24, 2023. Ms. Need Someone Service Manager, Exciting New Cars 56789 Big Dealer Avenue Somewhere, O Z 99907. Re: application for an entry level automotive technician position. Dear Ms. Someone: Your advertisement in the March 14th edition of the Dogpatch for an automotive technician greatly interested me, as this position is very much in line with my immediate career objective–a career position as an automotive technician in a new car dealership. Because of the people and cars featured at your dealership, I know working there would be exciting."/>
          <p:cNvPicPr>
            <a:picLocks noGrp="1" noChangeAspect="1"/>
          </p:cNvPicPr>
          <p:nvPr>
            <p:ph type="pic" sz="quarter" idx="10"/>
          </p:nvPr>
        </p:nvPicPr>
        <p:blipFill rotWithShape="1">
          <a:blip r:embed="rId3"/>
          <a:stretch/>
        </p:blipFill>
        <p:spPr>
          <a:xfrm>
            <a:off x="677805" y="2623835"/>
            <a:ext cx="5624322" cy="2985040"/>
          </a:xfrm>
          <a:prstGeom prst="rect">
            <a:avLst/>
          </a:prstGeom>
        </p:spPr>
      </p:pic>
      <p:pic>
        <p:nvPicPr>
          <p:cNvPr id="9" name="Picture Placeholder 8" descr="A screenshot of a cover letter that can be sent with the resume continues as follows. I have tinkered with cars for most of my life and am currently enrolled in the Automotive Technology program at Somewhere Community College. I chose this program because you are on the advisory council and I knew it must be a good program. I have good hand skills and work hard to be successful. My being on the varsity soccer team for four years should attest to that. I also enjoy working with people and have developed excellent communication skills. The position you have open is a perfect fit for me. A resume detailing my skills and work experience is attached for your review. I would appreciate an opportunity to meet with you to further discuss my qualifications. In the meantime, many thanks for your consideration, and I look forward to hearing from you soon. I can be reached by phone at 123-456-7890, most weekdays after 2:30 PM. If I am unable to answer the phone when you call, please leave a message and I will return your call as soon as I can. Thanks again. Sincerely, Jordan Jones. Encl."/>
          <p:cNvPicPr>
            <a:picLocks noGrp="1" noChangeAspect="1"/>
          </p:cNvPicPr>
          <p:nvPr>
            <p:ph type="pic" sz="quarter" idx="11"/>
          </p:nvPr>
        </p:nvPicPr>
        <p:blipFill rotWithShape="1">
          <a:blip r:embed="rId4"/>
          <a:stretch/>
        </p:blipFill>
        <p:spPr>
          <a:xfrm>
            <a:off x="6336448" y="3122746"/>
            <a:ext cx="5520595" cy="2477929"/>
          </a:xfrm>
          <a:prstGeom prst="rect">
            <a:avLst/>
          </a:prstGeom>
        </p:spPr>
      </p:pic>
    </p:spTree>
    <p:extLst>
      <p:ext uri="{BB962C8B-B14F-4D97-AF65-F5344CB8AC3E}">
        <p14:creationId xmlns:p14="http://schemas.microsoft.com/office/powerpoint/2010/main" val="115555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(1 of 2)</a:t>
            </a:r>
            <a:endParaRPr lang="en-US" dirty="0"/>
          </a:p>
        </p:txBody>
      </p:sp>
      <p:sp>
        <p:nvSpPr>
          <p:cNvPr id="3" name="Content Placeholder 2"/>
          <p:cNvSpPr>
            <a:spLocks noGrp="1"/>
          </p:cNvSpPr>
          <p:nvPr>
            <p:ph idx="1"/>
          </p:nvPr>
        </p:nvSpPr>
        <p:spPr/>
        <p:txBody>
          <a:bodyPr/>
          <a:lstStyle/>
          <a:p>
            <a:pPr marL="0" indent="0" algn="ctr">
              <a:buNone/>
            </a:pPr>
            <a:r>
              <a:rPr lang="en-US" dirty="0"/>
              <a:t>What is the purpose of the cover letter?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(1 of 2)</a:t>
            </a:r>
            <a:endParaRPr lang="en-US" dirty="0"/>
          </a:p>
        </p:txBody>
      </p:sp>
      <p:sp>
        <p:nvSpPr>
          <p:cNvPr id="3" name="Content Placeholder 2"/>
          <p:cNvSpPr>
            <a:spLocks noGrp="1"/>
          </p:cNvSpPr>
          <p:nvPr>
            <p:ph idx="1"/>
          </p:nvPr>
        </p:nvSpPr>
        <p:spPr/>
        <p:txBody>
          <a:bodyPr/>
          <a:lstStyle/>
          <a:p>
            <a:pPr marL="0" indent="0" algn="ctr">
              <a:spcAft>
                <a:spcPts val="4800"/>
              </a:spcAft>
              <a:buNone/>
            </a:pPr>
            <a:r>
              <a:rPr lang="en-US" dirty="0"/>
              <a:t>What is the purpose of the cover letter?</a:t>
            </a:r>
          </a:p>
          <a:p>
            <a:pPr marL="0" indent="0" algn="ctr">
              <a:buNone/>
            </a:pPr>
            <a:r>
              <a:rPr lang="en-US" b="1" dirty="0"/>
              <a:t>Answer: </a:t>
            </a:r>
            <a:r>
              <a:rPr lang="en-US" dirty="0"/>
              <a:t>To let the employer know, in your own words, why you are perfect for the job.</a:t>
            </a:r>
          </a:p>
        </p:txBody>
      </p:sp>
    </p:spTree>
    <p:extLst>
      <p:ext uri="{BB962C8B-B14F-4D97-AF65-F5344CB8AC3E}">
        <p14:creationId xmlns:p14="http://schemas.microsoft.com/office/powerpoint/2010/main" val="1974095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The Interview</a:t>
            </a:r>
          </a:p>
        </p:txBody>
      </p:sp>
      <p:sp>
        <p:nvSpPr>
          <p:cNvPr id="3075" name="Content Placeholder 2"/>
          <p:cNvSpPr>
            <a:spLocks noGrp="1"/>
          </p:cNvSpPr>
          <p:nvPr>
            <p:ph idx="1"/>
          </p:nvPr>
        </p:nvSpPr>
        <p:spPr/>
        <p:txBody>
          <a:bodyPr>
            <a:noAutofit/>
          </a:bodyPr>
          <a:lstStyle/>
          <a:p>
            <a:r>
              <a:rPr lang="en-US" sz="2400" b="1" dirty="0"/>
              <a:t>02.03 Prepare for an employment interview.</a:t>
            </a:r>
          </a:p>
          <a:p>
            <a:r>
              <a:rPr lang="en-US" sz="2400" dirty="0"/>
              <a:t>Typically, employers who are interested in you will contact you to come in for an interview.</a:t>
            </a:r>
          </a:p>
          <a:p>
            <a:r>
              <a:rPr lang="en-US" sz="2400" dirty="0"/>
              <a:t>Although an interview does not last very long, it is a time when you can either get the job or lose it.</a:t>
            </a:r>
          </a:p>
          <a:p>
            <a:r>
              <a:rPr lang="en-US" sz="2400" dirty="0"/>
              <a:t>Some common interview questions include:</a:t>
            </a:r>
          </a:p>
          <a:p>
            <a:pPr lvl="1"/>
            <a:r>
              <a:rPr lang="en-US" sz="2200" dirty="0"/>
              <a:t>What can you tell me about yourself?</a:t>
            </a:r>
          </a:p>
          <a:p>
            <a:pPr lvl="1"/>
            <a:r>
              <a:rPr lang="en-US" sz="2200" dirty="0"/>
              <a:t>What are your strengths and weaknesses?</a:t>
            </a:r>
          </a:p>
          <a:p>
            <a:pPr lvl="1"/>
            <a:r>
              <a:rPr lang="en-US" sz="2200" dirty="0"/>
              <a:t>If we employ you, what will you do for us?</a:t>
            </a:r>
          </a:p>
          <a:p>
            <a:pPr lvl="1"/>
            <a:r>
              <a:rPr lang="en-US" sz="2200" dirty="0"/>
              <a:t>Think of a time you encountered a problem at work or school. How did you solve it?</a:t>
            </a:r>
          </a:p>
        </p:txBody>
      </p:sp>
    </p:spTree>
    <p:extLst>
      <p:ext uri="{BB962C8B-B14F-4D97-AF65-F5344CB8AC3E}">
        <p14:creationId xmlns:p14="http://schemas.microsoft.com/office/powerpoint/2010/main" val="2971656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Accepting Employment</a:t>
            </a:r>
          </a:p>
        </p:txBody>
      </p:sp>
      <p:sp>
        <p:nvSpPr>
          <p:cNvPr id="3075" name="Content Placeholder 2"/>
          <p:cNvSpPr>
            <a:spLocks noGrp="1"/>
          </p:cNvSpPr>
          <p:nvPr>
            <p:ph idx="1"/>
          </p:nvPr>
        </p:nvSpPr>
        <p:spPr/>
        <p:txBody>
          <a:bodyPr>
            <a:normAutofit/>
          </a:bodyPr>
          <a:lstStyle/>
          <a:p>
            <a:pPr lvl="0">
              <a:spcAft>
                <a:spcPts val="600"/>
              </a:spcAft>
            </a:pPr>
            <a:r>
              <a:rPr lang="en-US" b="1" dirty="0"/>
              <a:t>02.04 Accept employment.</a:t>
            </a:r>
          </a:p>
          <a:p>
            <a:pPr>
              <a:spcAft>
                <a:spcPts val="600"/>
              </a:spcAft>
            </a:pPr>
            <a:r>
              <a:rPr lang="en-US" dirty="0"/>
              <a:t>When you accept the job, you are entering into an agreement with the employer.</a:t>
            </a:r>
          </a:p>
          <a:p>
            <a:pPr>
              <a:spcAft>
                <a:spcPts val="600"/>
              </a:spcAft>
            </a:pPr>
            <a:r>
              <a:rPr lang="en-US" dirty="0"/>
              <a:t>That agreement needs to be honored.</a:t>
            </a:r>
          </a:p>
          <a:p>
            <a:pPr>
              <a:spcAft>
                <a:spcPts val="600"/>
              </a:spcAft>
            </a:pPr>
            <a:r>
              <a:rPr lang="en-US" dirty="0"/>
              <a:t>Make sure you are ready to start working.</a:t>
            </a:r>
          </a:p>
          <a:p>
            <a:pPr>
              <a:spcAft>
                <a:spcPts val="600"/>
              </a:spcAft>
            </a:pPr>
            <a:r>
              <a:rPr lang="en-US" dirty="0"/>
              <a:t>Typically before you begin to work, or at least before you get paid, you will fill out state and federal income tax forms.</a:t>
            </a:r>
          </a:p>
        </p:txBody>
      </p:sp>
    </p:spTree>
    <p:extLst>
      <p:ext uri="{BB962C8B-B14F-4D97-AF65-F5344CB8AC3E}">
        <p14:creationId xmlns:p14="http://schemas.microsoft.com/office/powerpoint/2010/main" val="720839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sz="4000" b="1" dirty="0"/>
              <a:t>Compensation</a:t>
            </a:r>
            <a:endParaRPr lang="en-US" dirty="0"/>
          </a:p>
        </p:txBody>
      </p:sp>
      <p:sp>
        <p:nvSpPr>
          <p:cNvPr id="3075" name="Content Placeholder 2"/>
          <p:cNvSpPr>
            <a:spLocks noGrp="1"/>
          </p:cNvSpPr>
          <p:nvPr>
            <p:ph idx="1"/>
          </p:nvPr>
        </p:nvSpPr>
        <p:spPr/>
        <p:txBody>
          <a:bodyPr>
            <a:normAutofit/>
          </a:bodyPr>
          <a:lstStyle/>
          <a:p>
            <a:pPr>
              <a:spcAft>
                <a:spcPts val="600"/>
              </a:spcAft>
            </a:pPr>
            <a:r>
              <a:rPr lang="en-US" b="1" dirty="0"/>
              <a:t>02.05 Explain how automotive technicians are compensated.</a:t>
            </a:r>
          </a:p>
          <a:p>
            <a:pPr>
              <a:spcAft>
                <a:spcPts val="600"/>
              </a:spcAft>
            </a:pPr>
            <a:r>
              <a:rPr lang="en-US" dirty="0"/>
              <a:t>Automotive technicians can be paid in a number of ways including:</a:t>
            </a:r>
          </a:p>
          <a:p>
            <a:pPr lvl="1">
              <a:spcAft>
                <a:spcPts val="600"/>
              </a:spcAft>
            </a:pPr>
            <a:r>
              <a:rPr lang="en-US" dirty="0"/>
              <a:t>Hourly Wages</a:t>
            </a:r>
          </a:p>
          <a:p>
            <a:pPr lvl="1">
              <a:spcAft>
                <a:spcPts val="600"/>
              </a:spcAft>
            </a:pPr>
            <a:r>
              <a:rPr lang="en-US" dirty="0"/>
              <a:t>Commission</a:t>
            </a:r>
          </a:p>
          <a:p>
            <a:pPr lvl="1">
              <a:spcAft>
                <a:spcPts val="600"/>
              </a:spcAft>
            </a:pPr>
            <a:r>
              <a:rPr lang="en-US" dirty="0"/>
              <a:t>Flat-Rate</a:t>
            </a:r>
          </a:p>
          <a:p>
            <a:pPr>
              <a:spcAft>
                <a:spcPts val="600"/>
              </a:spcAft>
            </a:pPr>
            <a:r>
              <a:rPr lang="en-US" dirty="0"/>
              <a:t>The total amount of what you earn is called your </a:t>
            </a:r>
            <a:r>
              <a:rPr lang="en-US" b="1" dirty="0"/>
              <a:t>gross pay</a:t>
            </a:r>
            <a:r>
              <a:rPr lang="en-US" dirty="0"/>
              <a:t>. This is not your “take home” or </a:t>
            </a:r>
            <a:r>
              <a:rPr lang="en-US" b="1" dirty="0"/>
              <a:t>net pay</a:t>
            </a:r>
            <a:r>
              <a:rPr lang="en-US" dirty="0"/>
              <a:t>.</a:t>
            </a:r>
          </a:p>
        </p:txBody>
      </p:sp>
    </p:spTree>
    <p:extLst>
      <p:ext uri="{BB962C8B-B14F-4D97-AF65-F5344CB8AC3E}">
        <p14:creationId xmlns:p14="http://schemas.microsoft.com/office/powerpoint/2010/main" val="845631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Hourly Wages Compensation</a:t>
            </a:r>
          </a:p>
        </p:txBody>
      </p:sp>
      <p:sp>
        <p:nvSpPr>
          <p:cNvPr id="3075" name="Content Placeholder 2"/>
          <p:cNvSpPr>
            <a:spLocks noGrp="1"/>
          </p:cNvSpPr>
          <p:nvPr>
            <p:ph idx="1"/>
          </p:nvPr>
        </p:nvSpPr>
        <p:spPr>
          <a:xfrm>
            <a:off x="476843" y="1704975"/>
            <a:ext cx="11241915" cy="1110414"/>
          </a:xfrm>
        </p:spPr>
        <p:txBody>
          <a:bodyPr>
            <a:normAutofit/>
          </a:bodyPr>
          <a:lstStyle/>
          <a:p>
            <a:r>
              <a:rPr lang="en-US" dirty="0"/>
              <a:t>Most often, new or apprentice technicians are paid a fixed </a:t>
            </a:r>
            <a:r>
              <a:rPr lang="en-US" b="1" dirty="0"/>
              <a:t>hourly wage </a:t>
            </a:r>
            <a:r>
              <a:rPr lang="en-US" dirty="0"/>
              <a:t>for every hour they work</a:t>
            </a:r>
          </a:p>
        </p:txBody>
      </p:sp>
      <p:pic>
        <p:nvPicPr>
          <p:cNvPr id="7" name="Picture Placeholder 6" descr="A screenshot titled, SMART Automotive Repair. The information below the table reads: Period - blank, Employee name - blank, Employee ID - 0U812. Payment is divided into various categories with values that read as follows, Tax status - 1, Hourly rate - dollar 17.50, Social Security tax - dollar 40.23, Medicare tax - dollar 6.17, Insurance deduction - dollar 0.00, Total Taxes and Regular Deductions - blank. Federal allowance (From W-4) - 0, Overtime Rate - dollar 26.25, Federal income tax - dollar 49.00 State Tax - dollar 9.87, Other regular deduction - 0, Other deduction - dollar 0.00, Hours worked - 35, Sick hours - 0, Vacation hours - 0, Overtime hours - 0, Gross pay - dollar 612.50, Total taxes and deductions - dollar 131.52, Net pay - dollar 480.98."/>
          <p:cNvPicPr>
            <a:picLocks noGrp="1" noChangeAspect="1"/>
          </p:cNvPicPr>
          <p:nvPr>
            <p:ph type="pic" sz="quarter" idx="10"/>
          </p:nvPr>
        </p:nvPicPr>
        <p:blipFill>
          <a:blip r:embed="rId3"/>
          <a:stretch>
            <a:fillRect/>
          </a:stretch>
        </p:blipFill>
        <p:spPr>
          <a:xfrm>
            <a:off x="1265873" y="2865497"/>
            <a:ext cx="9660255" cy="3122295"/>
          </a:xfrm>
          <a:prstGeom prst="rect">
            <a:avLst/>
          </a:prstGeom>
        </p:spPr>
      </p:pic>
    </p:spTree>
    <p:extLst>
      <p:ext uri="{BB962C8B-B14F-4D97-AF65-F5344CB8AC3E}">
        <p14:creationId xmlns:p14="http://schemas.microsoft.com/office/powerpoint/2010/main" val="2727650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Commission Compensation</a:t>
            </a:r>
          </a:p>
        </p:txBody>
      </p:sp>
      <p:sp>
        <p:nvSpPr>
          <p:cNvPr id="3075" name="Content Placeholder 2"/>
          <p:cNvSpPr>
            <a:spLocks noGrp="1"/>
          </p:cNvSpPr>
          <p:nvPr>
            <p:ph idx="1"/>
          </p:nvPr>
        </p:nvSpPr>
        <p:spPr/>
        <p:txBody>
          <a:bodyPr>
            <a:normAutofit/>
          </a:bodyPr>
          <a:lstStyle/>
          <a:p>
            <a:pPr>
              <a:spcAft>
                <a:spcPts val="600"/>
              </a:spcAft>
            </a:pPr>
            <a:r>
              <a:rPr lang="en-US" dirty="0"/>
              <a:t>When technicians are paid on a </a:t>
            </a:r>
            <a:r>
              <a:rPr lang="en-US" b="1" dirty="0"/>
              <a:t>commission</a:t>
            </a:r>
            <a:r>
              <a:rPr lang="en-US" dirty="0"/>
              <a:t> basis, they receive a minimum hourly wage plus a percentage of what the shop receives for performing various services. </a:t>
            </a:r>
          </a:p>
          <a:p>
            <a:pPr>
              <a:spcAft>
                <a:spcPts val="600"/>
              </a:spcAft>
            </a:pPr>
            <a:r>
              <a:rPr lang="en-US" dirty="0"/>
              <a:t>This pay system can work well for technicians who are employed in a shop whose business fluctuates through the year.</a:t>
            </a:r>
          </a:p>
        </p:txBody>
      </p:sp>
    </p:spTree>
    <p:extLst>
      <p:ext uri="{BB962C8B-B14F-4D97-AF65-F5344CB8AC3E}">
        <p14:creationId xmlns:p14="http://schemas.microsoft.com/office/powerpoint/2010/main" val="1376441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Flat-Rate Compensation (1 of 2)</a:t>
            </a:r>
          </a:p>
        </p:txBody>
      </p:sp>
      <p:sp>
        <p:nvSpPr>
          <p:cNvPr id="3075" name="Content Placeholder 2"/>
          <p:cNvSpPr>
            <a:spLocks noGrp="1"/>
          </p:cNvSpPr>
          <p:nvPr>
            <p:ph idx="1"/>
          </p:nvPr>
        </p:nvSpPr>
        <p:spPr/>
        <p:txBody>
          <a:bodyPr>
            <a:normAutofit/>
          </a:bodyPr>
          <a:lstStyle/>
          <a:p>
            <a:r>
              <a:rPr lang="en-US" b="1" dirty="0"/>
              <a:t>Flat-rate</a:t>
            </a:r>
            <a:r>
              <a:rPr lang="en-US" dirty="0"/>
              <a:t> is a pay system in which a technician is paid for the amount of work, meaning labor hours, they </a:t>
            </a:r>
            <a:r>
              <a:rPr lang="en-US"/>
              <a:t>complete.</a:t>
            </a:r>
            <a:endParaRPr lang="en-US" dirty="0"/>
          </a:p>
          <a:p>
            <a:r>
              <a:rPr lang="en-US" dirty="0"/>
              <a:t>The flat-rate system favors technicians who work in a shop that has a large volume of work.</a:t>
            </a:r>
          </a:p>
          <a:p>
            <a:r>
              <a:rPr lang="en-US" dirty="0"/>
              <a:t>Every conceivable service to every different model of vehicle has a flat-rate time. These times are assigned by the automobile manufacturers.</a:t>
            </a:r>
          </a:p>
          <a:p>
            <a:r>
              <a:rPr lang="en-US" dirty="0"/>
              <a:t>Flat-rate times are listed in a labor guide, which can be a manual or be available on a </a:t>
            </a:r>
            <a:r>
              <a:rPr lang="en-US"/>
              <a:t>computer.</a:t>
            </a:r>
            <a:endParaRPr lang="en-US" dirty="0"/>
          </a:p>
        </p:txBody>
      </p:sp>
    </p:spTree>
    <p:extLst>
      <p:ext uri="{BB962C8B-B14F-4D97-AF65-F5344CB8AC3E}">
        <p14:creationId xmlns:p14="http://schemas.microsoft.com/office/powerpoint/2010/main" val="4048829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Flat-Rate Compensation (2 of 2)</a:t>
            </a:r>
          </a:p>
        </p:txBody>
      </p:sp>
      <p:sp>
        <p:nvSpPr>
          <p:cNvPr id="3075" name="Content Placeholder 2"/>
          <p:cNvSpPr>
            <a:spLocks noGrp="1"/>
          </p:cNvSpPr>
          <p:nvPr>
            <p:ph idx="1"/>
          </p:nvPr>
        </p:nvSpPr>
        <p:spPr>
          <a:xfrm>
            <a:off x="476843" y="1679923"/>
            <a:ext cx="11435409" cy="2503770"/>
          </a:xfrm>
        </p:spPr>
        <p:txBody>
          <a:bodyPr>
            <a:noAutofit/>
          </a:bodyPr>
          <a:lstStyle/>
          <a:p>
            <a:r>
              <a:rPr lang="en-US" dirty="0"/>
              <a:t>As you can see, flat-rate times are broken down into tenths of an hour.</a:t>
            </a:r>
          </a:p>
          <a:p>
            <a:r>
              <a:rPr lang="en-US" dirty="0"/>
              <a:t>A job that pays for 3.1 hours means you will be paid for 3 hours and 6 minutes regardless of how long it took to complete the job.</a:t>
            </a:r>
          </a:p>
          <a:p>
            <a:r>
              <a:rPr lang="en-US" dirty="0"/>
              <a:t>The goal is to complete more than 8 hours of jobs in your 8 hour shift, which will increase your pay.</a:t>
            </a:r>
          </a:p>
        </p:txBody>
      </p:sp>
      <p:pic>
        <p:nvPicPr>
          <p:cNvPr id="7" name="Picture Placeholder 6" descr="The table is of the payment details for Hub and Bearing, R and R. The column headings are All models (2 W D), Skill level, Warranty time, and standard. The data entries are as follows: (row 1). All models, one side; skill level, B; warranty time, (0.8); standard 1. (row 2). All models, Both sides; skill level, B; warranty time (1.5); standard 1.9."/>
          <p:cNvPicPr>
            <a:picLocks noGrp="1" noChangeAspect="1"/>
          </p:cNvPicPr>
          <p:nvPr>
            <p:ph type="pic" sz="quarter" idx="10"/>
          </p:nvPr>
        </p:nvPicPr>
        <p:blipFill>
          <a:blip r:embed="rId3"/>
          <a:stretch>
            <a:fillRect/>
          </a:stretch>
        </p:blipFill>
        <p:spPr>
          <a:xfrm>
            <a:off x="1180481" y="4368267"/>
            <a:ext cx="9831039" cy="1567434"/>
          </a:xfrm>
          <a:prstGeom prst="rect">
            <a:avLst/>
          </a:prstGeom>
        </p:spPr>
      </p:pic>
    </p:spTree>
    <p:extLst>
      <p:ext uri="{BB962C8B-B14F-4D97-AF65-F5344CB8AC3E}">
        <p14:creationId xmlns:p14="http://schemas.microsoft.com/office/powerpoint/2010/main" val="4157408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(2 of 2)</a:t>
            </a:r>
            <a:endParaRPr lang="en-US" dirty="0"/>
          </a:p>
        </p:txBody>
      </p:sp>
      <p:sp>
        <p:nvSpPr>
          <p:cNvPr id="3" name="Content Placeholder 2"/>
          <p:cNvSpPr>
            <a:spLocks noGrp="1"/>
          </p:cNvSpPr>
          <p:nvPr>
            <p:ph idx="1"/>
          </p:nvPr>
        </p:nvSpPr>
        <p:spPr/>
        <p:txBody>
          <a:bodyPr/>
          <a:lstStyle/>
          <a:p>
            <a:pPr marL="0" indent="0" algn="ctr">
              <a:buNone/>
            </a:pPr>
            <a:r>
              <a:rPr lang="en-US" dirty="0"/>
              <a:t>If a flat-rate technician is clocked in for 8 hours, yet completes jobs totaling 12 hours in labor time, how many hours are they paid?</a:t>
            </a:r>
          </a:p>
        </p:txBody>
      </p:sp>
    </p:spTree>
    <p:extLst>
      <p:ext uri="{BB962C8B-B14F-4D97-AF65-F5344CB8AC3E}">
        <p14:creationId xmlns:p14="http://schemas.microsoft.com/office/powerpoint/2010/main" val="2870049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(2 of 2)</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t>If a flat-rate technician is clocked in for 8 hours, yet completes jobs totaling 12 hours in labor times, how many hours are they </a:t>
            </a:r>
            <a:r>
              <a:rPr lang="en-US"/>
              <a:t>paid?</a:t>
            </a:r>
          </a:p>
          <a:p>
            <a:pPr marL="0" indent="0" algn="ctr">
              <a:buNone/>
            </a:pPr>
            <a:r>
              <a:rPr lang="en-US" b="1"/>
              <a:t>Answer: </a:t>
            </a:r>
            <a:r>
              <a:rPr lang="en-US"/>
              <a:t>They are paid 12 hours.</a:t>
            </a:r>
          </a:p>
        </p:txBody>
      </p:sp>
    </p:spTree>
    <p:extLst>
      <p:ext uri="{BB962C8B-B14F-4D97-AF65-F5344CB8AC3E}">
        <p14:creationId xmlns:p14="http://schemas.microsoft.com/office/powerpoint/2010/main" val="381145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Working as a Technician (1 of 2)</a:t>
            </a:r>
          </a:p>
        </p:txBody>
      </p:sp>
      <p:sp>
        <p:nvSpPr>
          <p:cNvPr id="3075" name="Content Placeholder 2"/>
          <p:cNvSpPr>
            <a:spLocks noGrp="1"/>
          </p:cNvSpPr>
          <p:nvPr>
            <p:ph idx="1"/>
          </p:nvPr>
        </p:nvSpPr>
        <p:spPr/>
        <p:txBody>
          <a:bodyPr>
            <a:normAutofit lnSpcReduction="10000"/>
          </a:bodyPr>
          <a:lstStyle/>
          <a:p>
            <a:pPr>
              <a:spcAft>
                <a:spcPts val="600"/>
              </a:spcAft>
            </a:pPr>
            <a:r>
              <a:rPr lang="en-US" b="1" dirty="0">
                <a:solidFill>
                  <a:schemeClr val="accent1"/>
                </a:solidFill>
              </a:rPr>
              <a:t>02.06 Describe the proper relationship between an employer and an employee.</a:t>
            </a:r>
          </a:p>
          <a:p>
            <a:pPr>
              <a:spcAft>
                <a:spcPts val="600"/>
              </a:spcAft>
            </a:pPr>
            <a:r>
              <a:rPr lang="en-US" dirty="0">
                <a:solidFill>
                  <a:schemeClr val="accent1"/>
                </a:solidFill>
              </a:rPr>
              <a:t>Once you have the job, you need to keep it.</a:t>
            </a:r>
          </a:p>
          <a:p>
            <a:pPr>
              <a:spcAft>
                <a:spcPts val="600"/>
              </a:spcAft>
            </a:pPr>
            <a:r>
              <a:rPr lang="en-US" dirty="0">
                <a:solidFill>
                  <a:schemeClr val="accent1"/>
                </a:solidFill>
              </a:rPr>
              <a:t>Make sure you arrive at work on time. If you are going to be late or absent, call the employer as soon as you can. </a:t>
            </a:r>
          </a:p>
          <a:p>
            <a:pPr>
              <a:spcAft>
                <a:spcPts val="600"/>
              </a:spcAft>
            </a:pPr>
            <a:r>
              <a:rPr lang="en-US" dirty="0">
                <a:solidFill>
                  <a:schemeClr val="accent1"/>
                </a:solidFill>
              </a:rPr>
              <a:t>Be cheerful and cooperative with those around you.</a:t>
            </a:r>
          </a:p>
          <a:p>
            <a:pPr>
              <a:spcAft>
                <a:spcPts val="600"/>
              </a:spcAft>
            </a:pPr>
            <a:r>
              <a:rPr lang="en-US" dirty="0">
                <a:solidFill>
                  <a:schemeClr val="accent1"/>
                </a:solidFill>
              </a:rPr>
              <a:t>Do not spend time talking or texting when you should be working.</a:t>
            </a:r>
          </a:p>
          <a:p>
            <a:pPr>
              <a:spcAft>
                <a:spcPts val="600"/>
              </a:spcAft>
            </a:pPr>
            <a:r>
              <a:rPr lang="en-US" dirty="0">
                <a:solidFill>
                  <a:schemeClr val="accent1"/>
                </a:solidFill>
              </a:rPr>
              <a:t>Find out what is expected of you and do your best to meet those expectations.</a:t>
            </a:r>
          </a:p>
        </p:txBody>
      </p:sp>
    </p:spTree>
    <p:extLst>
      <p:ext uri="{BB962C8B-B14F-4D97-AF65-F5344CB8AC3E}">
        <p14:creationId xmlns:p14="http://schemas.microsoft.com/office/powerpoint/2010/main" val="3939731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Working as a Technician (2 of 2)</a:t>
            </a:r>
          </a:p>
        </p:txBody>
      </p:sp>
      <p:sp>
        <p:nvSpPr>
          <p:cNvPr id="3075" name="Content Placeholder 2"/>
          <p:cNvSpPr>
            <a:spLocks noGrp="1"/>
          </p:cNvSpPr>
          <p:nvPr>
            <p:ph idx="1"/>
          </p:nvPr>
        </p:nvSpPr>
        <p:spPr/>
        <p:txBody>
          <a:bodyPr>
            <a:normAutofit/>
          </a:bodyPr>
          <a:lstStyle/>
          <a:p>
            <a:pPr>
              <a:spcAft>
                <a:spcPts val="600"/>
              </a:spcAft>
            </a:pPr>
            <a:r>
              <a:rPr lang="en-US" dirty="0"/>
              <a:t>You should be told what is expected of you.</a:t>
            </a:r>
          </a:p>
          <a:p>
            <a:pPr>
              <a:spcAft>
                <a:spcPts val="600"/>
              </a:spcAft>
            </a:pPr>
            <a:r>
              <a:rPr lang="en-US" dirty="0"/>
              <a:t>An employer should provide a clean and safe work area as well as a place for personal </a:t>
            </a:r>
            <a:r>
              <a:rPr lang="en-US"/>
              <a:t>cleanup.</a:t>
            </a:r>
            <a:endParaRPr lang="en-US" dirty="0"/>
          </a:p>
          <a:p>
            <a:pPr>
              <a:spcAft>
                <a:spcPts val="600"/>
              </a:spcAft>
            </a:pPr>
            <a:r>
              <a:rPr lang="en-US" dirty="0"/>
              <a:t>You should be given a chance to succeed and possibly advance within the company.</a:t>
            </a:r>
          </a:p>
          <a:p>
            <a:pPr>
              <a:spcAft>
                <a:spcPts val="600"/>
              </a:spcAft>
            </a:pPr>
            <a:r>
              <a:rPr lang="en-US" dirty="0"/>
              <a:t>A good employee is reliable.</a:t>
            </a:r>
          </a:p>
          <a:p>
            <a:pPr>
              <a:spcAft>
                <a:spcPts val="600"/>
              </a:spcAft>
            </a:pPr>
            <a:r>
              <a:rPr lang="en-US" dirty="0"/>
              <a:t>As an employee, you are part of a team. Doing things your way may not serve the best interests of the </a:t>
            </a:r>
            <a:r>
              <a:rPr lang="en-US"/>
              <a:t>company.</a:t>
            </a:r>
            <a:endParaRPr lang="en-US" dirty="0"/>
          </a:p>
        </p:txBody>
      </p:sp>
    </p:spTree>
    <p:extLst>
      <p:ext uri="{BB962C8B-B14F-4D97-AF65-F5344CB8AC3E}">
        <p14:creationId xmlns:p14="http://schemas.microsoft.com/office/powerpoint/2010/main" val="315187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Communications</a:t>
            </a:r>
          </a:p>
        </p:txBody>
      </p:sp>
      <p:sp>
        <p:nvSpPr>
          <p:cNvPr id="3075" name="Content Placeholder 2"/>
          <p:cNvSpPr>
            <a:spLocks noGrp="1"/>
          </p:cNvSpPr>
          <p:nvPr>
            <p:ph idx="1"/>
          </p:nvPr>
        </p:nvSpPr>
        <p:spPr/>
        <p:txBody>
          <a:bodyPr>
            <a:normAutofit/>
          </a:bodyPr>
          <a:lstStyle/>
          <a:p>
            <a:pPr>
              <a:spcAft>
                <a:spcPts val="600"/>
              </a:spcAft>
            </a:pPr>
            <a:r>
              <a:rPr lang="en-US" b="1" dirty="0">
                <a:solidFill>
                  <a:schemeClr val="accent1"/>
                </a:solidFill>
              </a:rPr>
              <a:t>02.07 Describe the key elements of on-the-job communications.</a:t>
            </a:r>
          </a:p>
          <a:p>
            <a:pPr>
              <a:spcAft>
                <a:spcPts val="600"/>
              </a:spcAft>
            </a:pPr>
            <a:r>
              <a:rPr lang="en-US" dirty="0">
                <a:solidFill>
                  <a:schemeClr val="accent1"/>
                </a:solidFill>
              </a:rPr>
              <a:t>Employers value employees who can communicate.</a:t>
            </a:r>
          </a:p>
          <a:p>
            <a:pPr>
              <a:spcAft>
                <a:spcPts val="600"/>
              </a:spcAft>
            </a:pPr>
            <a:r>
              <a:rPr lang="en-US" dirty="0">
                <a:solidFill>
                  <a:schemeClr val="accent1"/>
                </a:solidFill>
              </a:rPr>
              <a:t>Effective communication includes listening, reading, speaking, and writing. Communication is a two-way process.</a:t>
            </a:r>
          </a:p>
          <a:p>
            <a:pPr>
              <a:spcAft>
                <a:spcPts val="600"/>
              </a:spcAft>
            </a:pPr>
            <a:r>
              <a:rPr lang="en-US" dirty="0">
                <a:solidFill>
                  <a:schemeClr val="accent1"/>
                </a:solidFill>
              </a:rPr>
              <a:t>To be successful, you should carefully follow all oral and written directions that pertain to your job.</a:t>
            </a:r>
          </a:p>
          <a:p>
            <a:pPr>
              <a:spcAft>
                <a:spcPts val="600"/>
              </a:spcAft>
            </a:pPr>
            <a:r>
              <a:rPr lang="en-US" b="1" dirty="0">
                <a:solidFill>
                  <a:schemeClr val="accent1"/>
                </a:solidFill>
              </a:rPr>
              <a:t>Nonverbal communication </a:t>
            </a:r>
            <a:r>
              <a:rPr lang="en-US" dirty="0">
                <a:solidFill>
                  <a:schemeClr val="accent1"/>
                </a:solidFill>
              </a:rPr>
              <a:t>describes the things you do while communicating.</a:t>
            </a:r>
          </a:p>
          <a:p>
            <a:pPr>
              <a:spcAft>
                <a:spcPts val="600"/>
              </a:spcAft>
            </a:pPr>
            <a:r>
              <a:rPr lang="en-US" dirty="0">
                <a:solidFill>
                  <a:schemeClr val="accent1"/>
                </a:solidFill>
              </a:rPr>
              <a:t>Proper telephone etiquette is also important.</a:t>
            </a:r>
          </a:p>
        </p:txBody>
      </p:sp>
    </p:spTree>
    <p:extLst>
      <p:ext uri="{BB962C8B-B14F-4D97-AF65-F5344CB8AC3E}">
        <p14:creationId xmlns:p14="http://schemas.microsoft.com/office/powerpoint/2010/main" val="3042045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987280" y="473075"/>
            <a:ext cx="10220614" cy="908050"/>
          </a:xfrm>
          <a:prstGeom prst="rect">
            <a:avLst/>
          </a:prstGeom>
        </p:spPr>
        <p:txBody>
          <a:bodyPr vert="horz" lIns="91440" tIns="45720" rIns="91440" bIns="45720" rtlCol="0" anchor="t">
            <a:noAutofit/>
          </a:bodyPr>
          <a:lstStyle/>
          <a:p>
            <a:pPr lvl="0" algn="ctr" eaLnBrk="1" hangingPunct="1">
              <a:lnSpc>
                <a:spcPct val="90000"/>
              </a:lnSpc>
              <a:spcAft>
                <a:spcPts val="600"/>
              </a:spcAft>
            </a:pPr>
            <a:r>
              <a:rPr lang="en-US" b="1" dirty="0">
                <a:latin typeface="+mj-lt"/>
                <a:ea typeface="+mj-ea"/>
                <a:cs typeface="+mj-cs"/>
              </a:rPr>
              <a:t>Solving Problems and Critical Thinking (1 of 2)</a:t>
            </a:r>
            <a:endParaRPr lang="en-US" b="1" kern="1200" dirty="0">
              <a:latin typeface="+mj-lt"/>
              <a:ea typeface="+mj-ea"/>
              <a:cs typeface="+mj-cs"/>
            </a:endParaRPr>
          </a:p>
        </p:txBody>
      </p:sp>
      <p:sp>
        <p:nvSpPr>
          <p:cNvPr id="8195" name="Rectangle 3"/>
          <p:cNvSpPr>
            <a:spLocks noGrp="1" noChangeArrowheads="1"/>
          </p:cNvSpPr>
          <p:nvPr>
            <p:ph idx="1"/>
          </p:nvPr>
        </p:nvSpPr>
        <p:spPr>
          <a:xfrm>
            <a:off x="476843" y="1817370"/>
            <a:ext cx="11241915" cy="4359593"/>
          </a:xfrm>
        </p:spPr>
        <p:txBody>
          <a:bodyPr vert="horz" lIns="91440" tIns="45720" rIns="91440" bIns="45720" rtlCol="0">
            <a:normAutofit/>
          </a:bodyPr>
          <a:lstStyle/>
          <a:p>
            <a:pPr lvl="0">
              <a:spcAft>
                <a:spcPts val="600"/>
              </a:spcAft>
            </a:pPr>
            <a:r>
              <a:rPr lang="en-US" b="1" dirty="0"/>
              <a:t>02.08 Explain why technicians need critical thinking and problem-solving </a:t>
            </a:r>
            <a:r>
              <a:rPr lang="en-US" b="1"/>
              <a:t>skills.</a:t>
            </a:r>
            <a:endParaRPr lang="en-US" b="1" dirty="0">
              <a:ea typeface="MS Mincho" panose="02020609040205080304" pitchFamily="49" charset="-128"/>
              <a:cs typeface="Times New Roman" panose="02020603050405020304" pitchFamily="18" charset="0"/>
            </a:endParaRPr>
          </a:p>
          <a:p>
            <a:pPr>
              <a:spcAft>
                <a:spcPts val="600"/>
              </a:spcAft>
            </a:pPr>
            <a:r>
              <a:rPr lang="en-US" dirty="0"/>
              <a:t>Anyone who can think critically and logically to evaluate situations is very desirable.</a:t>
            </a:r>
          </a:p>
          <a:p>
            <a:pPr>
              <a:spcAft>
                <a:spcPts val="600"/>
              </a:spcAft>
            </a:pPr>
            <a:r>
              <a:rPr lang="en-US" b="1" dirty="0"/>
              <a:t>Critical thinking</a:t>
            </a:r>
            <a:r>
              <a:rPr lang="en-US" dirty="0"/>
              <a:t> is the art of being able to judge or evaluate something without bias or prejudice.</a:t>
            </a:r>
          </a:p>
          <a:p>
            <a:pPr>
              <a:spcAft>
                <a:spcPts val="600"/>
              </a:spcAft>
            </a:pPr>
            <a:r>
              <a:rPr lang="en-US" dirty="0"/>
              <a:t>Good critical thinkers begin solving problems by carefully observing what is and what is not </a:t>
            </a:r>
            <a:r>
              <a:rPr lang="en-US"/>
              <a:t>happening.</a:t>
            </a:r>
            <a:endParaRPr lang="en-US" dirty="0"/>
          </a:p>
          <a:p>
            <a:pPr>
              <a:spcAft>
                <a:spcPts val="600"/>
              </a:spcAft>
            </a:pPr>
            <a:r>
              <a:rPr lang="en-US" dirty="0"/>
              <a:t>Based on these observations, something is declared as a fact.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noGrp="1"/>
          </p:cNvSpPr>
          <p:nvPr>
            <p:ph type="title"/>
          </p:nvPr>
        </p:nvSpPr>
        <p:spPr>
          <a:xfrm>
            <a:off x="987280" y="473075"/>
            <a:ext cx="10220614" cy="879475"/>
          </a:xfrm>
          <a:prstGeom prst="rect">
            <a:avLst/>
          </a:prstGeom>
        </p:spPr>
        <p:txBody>
          <a:bodyPr vert="horz" lIns="91440" tIns="45720" rIns="91440" bIns="45720" rtlCol="0" anchor="t">
            <a:noAutofit/>
          </a:bodyPr>
          <a:lstStyle/>
          <a:p>
            <a:pPr lvl="0" algn="ctr" eaLnBrk="1" hangingPunct="1">
              <a:lnSpc>
                <a:spcPct val="90000"/>
              </a:lnSpc>
              <a:spcAft>
                <a:spcPts val="600"/>
              </a:spcAft>
            </a:pPr>
            <a:r>
              <a:rPr lang="en-US" b="1" dirty="0">
                <a:latin typeface="+mj-lt"/>
                <a:ea typeface="+mj-ea"/>
                <a:cs typeface="+mj-cs"/>
              </a:rPr>
              <a:t>Solving Problems and Critical Thinking (2 of 2)</a:t>
            </a:r>
            <a:endParaRPr lang="en-US" b="1" kern="1200" dirty="0">
              <a:latin typeface="+mj-lt"/>
              <a:ea typeface="+mj-ea"/>
              <a:cs typeface="+mj-cs"/>
            </a:endParaRPr>
          </a:p>
        </p:txBody>
      </p:sp>
      <p:sp>
        <p:nvSpPr>
          <p:cNvPr id="8195" name="Rectangle 3"/>
          <p:cNvSpPr>
            <a:spLocks noGrp="1" noChangeArrowheads="1"/>
          </p:cNvSpPr>
          <p:nvPr>
            <p:ph idx="1"/>
          </p:nvPr>
        </p:nvSpPr>
        <p:spPr>
          <a:xfrm>
            <a:off x="476844" y="1704975"/>
            <a:ext cx="7548220" cy="4338626"/>
          </a:xfrm>
        </p:spPr>
        <p:txBody>
          <a:bodyPr vert="horz" lIns="91440" tIns="45720" rIns="91440" bIns="45720" rtlCol="0">
            <a:noAutofit/>
          </a:bodyPr>
          <a:lstStyle/>
          <a:p>
            <a:pPr>
              <a:spcAft>
                <a:spcPts val="600"/>
              </a:spcAft>
            </a:pPr>
            <a:r>
              <a:rPr lang="en-US" sz="2200" dirty="0"/>
              <a:t>Critical thinking is especially important for performing diagnostic work.</a:t>
            </a:r>
          </a:p>
          <a:p>
            <a:pPr>
              <a:spcAft>
                <a:spcPts val="600"/>
              </a:spcAft>
            </a:pPr>
            <a:r>
              <a:rPr lang="en-US" sz="2200" dirty="0"/>
              <a:t>For example, if the right headlamp of a vehicle does not light and the left headlamp does, a critical thinker will be quite sure that the source of the problem is related to the right headlamp and not the left one. Therefore, all testing will be centered on the right headlamp.</a:t>
            </a:r>
          </a:p>
          <a:p>
            <a:pPr>
              <a:spcAft>
                <a:spcPts val="600"/>
              </a:spcAft>
            </a:pPr>
            <a:r>
              <a:rPr lang="en-US" sz="2200" dirty="0"/>
              <a:t>Inspection notes should be well documented in the business’ repair order system to keep track of vehicle service history and protect against potential liabilities.</a:t>
            </a:r>
          </a:p>
        </p:txBody>
      </p:sp>
      <p:pic>
        <p:nvPicPr>
          <p:cNvPr id="9" name="Picture Placeholder 8" descr="A technician enters the inspection notes into a well-documented business repair order system in a computer to keep track of vehicle service history."/>
          <p:cNvPicPr>
            <a:picLocks noGrp="1" noChangeAspect="1"/>
          </p:cNvPicPr>
          <p:nvPr>
            <p:ph type="pic" sz="quarter" idx="10"/>
          </p:nvPr>
        </p:nvPicPr>
        <p:blipFill>
          <a:blip r:embed="rId3"/>
          <a:stretch>
            <a:fillRect/>
          </a:stretch>
        </p:blipFill>
        <p:spPr>
          <a:xfrm>
            <a:off x="8297295" y="1779815"/>
            <a:ext cx="3283102" cy="4263786"/>
          </a:xfrm>
          <a:prstGeom prst="rect">
            <a:avLst/>
          </a:prstGeom>
        </p:spPr>
      </p:pic>
    </p:spTree>
    <p:extLst>
      <p:ext uri="{BB962C8B-B14F-4D97-AF65-F5344CB8AC3E}">
        <p14:creationId xmlns:p14="http://schemas.microsoft.com/office/powerpoint/2010/main" val="2098377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noGrp="1"/>
          </p:cNvSpPr>
          <p:nvPr>
            <p:ph type="title"/>
          </p:nvPr>
        </p:nvSpPr>
        <p:spPr>
          <a:xfrm>
            <a:off x="476250" y="473075"/>
            <a:ext cx="11242675" cy="879475"/>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Diagnosis</a:t>
            </a:r>
            <a:endParaRPr lang="en-US" sz="4000" b="1" kern="1200" dirty="0">
              <a:latin typeface="+mj-lt"/>
              <a:ea typeface="+mj-ea"/>
              <a:cs typeface="+mj-cs"/>
            </a:endParaRPr>
          </a:p>
        </p:txBody>
      </p:sp>
      <p:sp>
        <p:nvSpPr>
          <p:cNvPr id="8195" name="Rectangle 3"/>
          <p:cNvSpPr>
            <a:spLocks noGrp="1" noChangeArrowheads="1"/>
          </p:cNvSpPr>
          <p:nvPr>
            <p:ph idx="1"/>
          </p:nvPr>
        </p:nvSpPr>
        <p:spPr>
          <a:xfrm>
            <a:off x="476843" y="1704974"/>
            <a:ext cx="11242082" cy="1791843"/>
          </a:xfrm>
        </p:spPr>
        <p:txBody>
          <a:bodyPr vert="horz" lIns="91440" tIns="45720" rIns="91440" bIns="45720" rtlCol="0">
            <a:normAutofit/>
          </a:bodyPr>
          <a:lstStyle/>
          <a:p>
            <a:pPr>
              <a:spcAft>
                <a:spcPts val="600"/>
              </a:spcAft>
            </a:pPr>
            <a:r>
              <a:rPr lang="en-US" sz="2400" b="1" dirty="0"/>
              <a:t>Diagnosis</a:t>
            </a:r>
            <a:r>
              <a:rPr lang="en-US" sz="2400" dirty="0"/>
              <a:t> is a way of looking at systems that are not functioning properly and finding out why. </a:t>
            </a:r>
            <a:r>
              <a:rPr lang="en-US" sz="2400" i="1" dirty="0"/>
              <a:t>It is not guessing, </a:t>
            </a:r>
            <a:r>
              <a:rPr lang="en-US" sz="2400" dirty="0"/>
              <a:t>and it is more than following a series of interrelated steps in order to find the solution to a specific problem. </a:t>
            </a:r>
          </a:p>
        </p:txBody>
      </p:sp>
      <p:pic>
        <p:nvPicPr>
          <p:cNvPr id="9" name="Picture Placeholder 8" descr="A flow diagram depicts a decision tree for diagnostics. (title) E P S indicator light not coming on. The E P S indicator light does not come on when the ignition switch is turned on (Il). The text in the second step reads, Check the BACK-UP LIGHTS/ ALTERNATOR (15 a) fuse in the under-dash fuse box. The condition box reads Is the fuse OK?. If the answer is No, the text in the process box reads, Replace the fuse and recheck. The supporting text outside states, Note: Reinstall the fuse if it is OK. If the answer is Yes, the process reads, Check for an open in the I G 1 circuit: Disconnect the gauge assembly 30-pin connector. Turn the ignition switch ON (II). A Gauge assembly 30-pin connector labeled Wire side of the female terminal is illustrated at the top right. It is connected to a voltmeter that is connected to a battery. The label I G 1 (yel) is marked along its path. A note at the top and next to the flow chart reads, All indicator lights except the charging system indicator light and the malfunction indicator lamp (M I L) will not come on when the BACK-UP LIGHTS/ALTERNATOR (15 a) fuse is blown."/>
          <p:cNvPicPr>
            <a:picLocks noGrp="1" noChangeAspect="1"/>
          </p:cNvPicPr>
          <p:nvPr>
            <p:ph type="pic" sz="quarter" idx="10"/>
          </p:nvPr>
        </p:nvPicPr>
        <p:blipFill>
          <a:blip r:embed="rId3"/>
          <a:stretch>
            <a:fillRect/>
          </a:stretch>
        </p:blipFill>
        <p:spPr>
          <a:xfrm>
            <a:off x="3893154" y="3005624"/>
            <a:ext cx="6510062" cy="3062169"/>
          </a:xfrm>
          <a:prstGeom prst="rect">
            <a:avLst/>
          </a:prstGeom>
        </p:spPr>
      </p:pic>
    </p:spTree>
    <p:extLst>
      <p:ext uri="{BB962C8B-B14F-4D97-AF65-F5344CB8AC3E}">
        <p14:creationId xmlns:p14="http://schemas.microsoft.com/office/powerpoint/2010/main" val="4222119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noGrp="1"/>
          </p:cNvSpPr>
          <p:nvPr>
            <p:ph type="title"/>
          </p:nvPr>
        </p:nvSpPr>
        <p:spPr>
          <a:xfrm>
            <a:off x="476250" y="473075"/>
            <a:ext cx="11242675" cy="879475"/>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Diagnosis and Critical Thinking</a:t>
            </a:r>
            <a:endParaRPr lang="en-US" sz="4000" b="1" kern="1200" dirty="0">
              <a:latin typeface="+mj-lt"/>
              <a:ea typeface="+mj-ea"/>
              <a:cs typeface="+mj-cs"/>
            </a:endParaRPr>
          </a:p>
        </p:txBody>
      </p:sp>
      <p:sp>
        <p:nvSpPr>
          <p:cNvPr id="8195" name="Rectangle 3"/>
          <p:cNvSpPr>
            <a:spLocks noGrp="1" noChangeArrowheads="1"/>
          </p:cNvSpPr>
          <p:nvPr>
            <p:ph idx="1"/>
          </p:nvPr>
        </p:nvSpPr>
        <p:spPr>
          <a:xfrm>
            <a:off x="476843" y="1704974"/>
            <a:ext cx="6487628" cy="4352925"/>
          </a:xfrm>
        </p:spPr>
        <p:txBody>
          <a:bodyPr vert="horz" lIns="91440" tIns="45720" rIns="91440" bIns="45720" rtlCol="0">
            <a:normAutofit fontScale="92500" lnSpcReduction="20000"/>
          </a:bodyPr>
          <a:lstStyle/>
          <a:p>
            <a:pPr>
              <a:lnSpc>
                <a:spcPct val="120000"/>
              </a:lnSpc>
            </a:pPr>
            <a:r>
              <a:rPr lang="en-US" sz="2800" dirty="0"/>
              <a:t>When these diagnostic aids are not available or prove to be ineffective, good technicians conduct a visual inspection and then take a logical approach to finding the cause of the problem.</a:t>
            </a:r>
          </a:p>
          <a:p>
            <a:pPr>
              <a:lnSpc>
                <a:spcPct val="120000"/>
              </a:lnSpc>
            </a:pPr>
            <a:r>
              <a:rPr lang="en-US" sz="2800" dirty="0"/>
              <a:t>This relies on critical thinking skills as well as system knowledge. Logical diagnosis follows these steps:</a:t>
            </a:r>
          </a:p>
        </p:txBody>
      </p:sp>
      <p:pic>
        <p:nvPicPr>
          <p:cNvPr id="9" name="Picture Placeholder 8" descr="Seven steps involved in logical diagnosis of a concern. The flow of steps from top to bottom reads as follows: Verify the concern, Preliminary checks, Analyze the problem, Visual inspection, Diagnosis, Repair the problem, and Verify the repair."/>
          <p:cNvPicPr>
            <a:picLocks noGrp="1" noChangeAspect="1"/>
          </p:cNvPicPr>
          <p:nvPr>
            <p:ph type="pic" sz="quarter" idx="10"/>
          </p:nvPr>
        </p:nvPicPr>
        <p:blipFill>
          <a:blip r:embed="rId3"/>
          <a:stretch>
            <a:fillRect/>
          </a:stretch>
        </p:blipFill>
        <p:spPr>
          <a:xfrm>
            <a:off x="7491251" y="1718315"/>
            <a:ext cx="2865178" cy="4259732"/>
          </a:xfrm>
          <a:prstGeom prst="rect">
            <a:avLst/>
          </a:prstGeom>
        </p:spPr>
      </p:pic>
    </p:spTree>
    <p:extLst>
      <p:ext uri="{BB962C8B-B14F-4D97-AF65-F5344CB8AC3E}">
        <p14:creationId xmlns:p14="http://schemas.microsoft.com/office/powerpoint/2010/main" val="3200103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90805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Professionalism (1 of 2)</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sz="2400" b="1" dirty="0"/>
              <a:t>02.09 Discuss the professional appearance and behavior of automotive technicians.</a:t>
            </a:r>
          </a:p>
          <a:p>
            <a:pPr>
              <a:spcAft>
                <a:spcPts val="600"/>
              </a:spcAft>
            </a:pPr>
            <a:r>
              <a:rPr lang="en-US" sz="2400" dirty="0"/>
              <a:t>A good technician is a highly skilled and knowledgeable individual.</a:t>
            </a:r>
          </a:p>
          <a:p>
            <a:pPr>
              <a:spcAft>
                <a:spcPts val="600"/>
              </a:spcAft>
            </a:pPr>
            <a:r>
              <a:rPr lang="en-US" sz="2400" dirty="0"/>
              <a:t>A professional demonstrates the following:</a:t>
            </a:r>
          </a:p>
          <a:p>
            <a:pPr lvl="1">
              <a:spcAft>
                <a:spcPts val="600"/>
              </a:spcAft>
            </a:pPr>
            <a:r>
              <a:rPr lang="en-US" sz="2200" dirty="0"/>
              <a:t>Self-esteem, pride, and confidence</a:t>
            </a:r>
          </a:p>
          <a:p>
            <a:pPr lvl="1">
              <a:spcAft>
                <a:spcPts val="600"/>
              </a:spcAft>
            </a:pPr>
            <a:r>
              <a:rPr lang="en-US" sz="2200" dirty="0"/>
              <a:t>Honesty, integrity, and personal ethics</a:t>
            </a:r>
          </a:p>
          <a:p>
            <a:pPr lvl="1">
              <a:spcAft>
                <a:spcPts val="600"/>
              </a:spcAft>
            </a:pPr>
            <a:r>
              <a:rPr lang="en-US" sz="2200" dirty="0"/>
              <a:t>A positive attitude toward learning, growth, and personal health.</a:t>
            </a:r>
          </a:p>
          <a:p>
            <a:pPr lvl="1">
              <a:spcAft>
                <a:spcPts val="600"/>
              </a:spcAft>
            </a:pPr>
            <a:r>
              <a:rPr lang="en-US" sz="2200" dirty="0"/>
              <a:t>Respect for others</a:t>
            </a:r>
          </a:p>
          <a:p>
            <a:pPr lvl="1">
              <a:spcAft>
                <a:spcPts val="600"/>
              </a:spcAft>
            </a:pPr>
            <a:r>
              <a:rPr lang="en-US" sz="2200" dirty="0"/>
              <a:t>The ability to set goals and priorities in work and personal life</a:t>
            </a:r>
          </a:p>
        </p:txBody>
      </p:sp>
    </p:spTree>
    <p:extLst>
      <p:ext uri="{BB962C8B-B14F-4D97-AF65-F5344CB8AC3E}">
        <p14:creationId xmlns:p14="http://schemas.microsoft.com/office/powerpoint/2010/main" val="2093442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90805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Professionalism (2 of 2)</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dirty="0"/>
              <a:t>Additionally a professional technician should demonstrate:</a:t>
            </a:r>
          </a:p>
          <a:p>
            <a:pPr lvl="1">
              <a:spcAft>
                <a:spcPts val="600"/>
              </a:spcAft>
            </a:pPr>
            <a:r>
              <a:rPr lang="en-US" dirty="0"/>
              <a:t>Assuming responsibility and accountability for decisions and actions.</a:t>
            </a:r>
          </a:p>
          <a:p>
            <a:pPr lvl="1">
              <a:spcAft>
                <a:spcPts val="600"/>
              </a:spcAft>
            </a:pPr>
            <a:r>
              <a:rPr lang="en-US" dirty="0"/>
              <a:t>The willingness to follow rules, regulations, and policies.</a:t>
            </a:r>
          </a:p>
          <a:p>
            <a:pPr lvl="1">
              <a:spcAft>
                <a:spcPts val="600"/>
              </a:spcAft>
            </a:pPr>
            <a:r>
              <a:rPr lang="en-US" dirty="0"/>
              <a:t>The willingness to fulfill the responsibilities of your job.</a:t>
            </a:r>
          </a:p>
          <a:p>
            <a:pPr lvl="1">
              <a:spcAft>
                <a:spcPts val="600"/>
              </a:spcAft>
            </a:pPr>
            <a:r>
              <a:rPr lang="en-US" dirty="0"/>
              <a:t>The desire to learn something new every day, whether by reading a magazine or a book, watching a video, or even watching a car-related TV show.</a:t>
            </a:r>
          </a:p>
        </p:txBody>
      </p:sp>
    </p:spTree>
    <p:extLst>
      <p:ext uri="{BB962C8B-B14F-4D97-AF65-F5344CB8AC3E}">
        <p14:creationId xmlns:p14="http://schemas.microsoft.com/office/powerpoint/2010/main" val="22497199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normAutofit/>
          </a:bodyPr>
          <a:lstStyle/>
          <a:p>
            <a:r>
              <a:rPr lang="en-US" dirty="0"/>
              <a:t>Discussion Question</a:t>
            </a:r>
          </a:p>
        </p:txBody>
      </p:sp>
      <p:sp>
        <p:nvSpPr>
          <p:cNvPr id="9219" name="Rectangle 3"/>
          <p:cNvSpPr>
            <a:spLocks noGrp="1" noChangeArrowheads="1"/>
          </p:cNvSpPr>
          <p:nvPr>
            <p:ph idx="1"/>
          </p:nvPr>
        </p:nvSpPr>
        <p:spPr/>
        <p:txBody>
          <a:bodyPr>
            <a:normAutofit/>
          </a:bodyPr>
          <a:lstStyle/>
          <a:p>
            <a:pPr>
              <a:spcAft>
                <a:spcPts val="600"/>
              </a:spcAft>
            </a:pPr>
            <a:r>
              <a:rPr lang="en-US" dirty="0"/>
              <a:t>Have a class discussion about the behavior of automotive </a:t>
            </a:r>
            <a:r>
              <a:rPr lang="en-US"/>
              <a:t>technicians.</a:t>
            </a:r>
            <a:endParaRPr lang="en-US" dirty="0"/>
          </a:p>
          <a:p>
            <a:pPr>
              <a:spcAft>
                <a:spcPts val="600"/>
              </a:spcAft>
            </a:pPr>
            <a:r>
              <a:rPr lang="en-US" dirty="0"/>
              <a:t>Does anyone have examples of someone who is doing well in this area? Someone who already looks and acts the part of an automotive technician?</a:t>
            </a:r>
          </a:p>
          <a:p>
            <a:pPr>
              <a:spcAft>
                <a:spcPts val="600"/>
              </a:spcAft>
            </a:pPr>
            <a:r>
              <a:rPr lang="en-US" dirty="0"/>
              <a:t>Think critically about whether or not you have areas in need of improvement relating to the appearance and </a:t>
            </a:r>
            <a:r>
              <a:rPr lang="en-US"/>
              <a:t>behavior.</a:t>
            </a:r>
            <a:endParaRPr lang="en-US" dirty="0"/>
          </a:p>
        </p:txBody>
      </p:sp>
    </p:spTree>
    <p:extLst>
      <p:ext uri="{BB962C8B-B14F-4D97-AF65-F5344CB8AC3E}">
        <p14:creationId xmlns:p14="http://schemas.microsoft.com/office/powerpoint/2010/main" val="2832934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90805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Interpersonal Relationships</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b="1" dirty="0">
                <a:solidFill>
                  <a:schemeClr val="accent1"/>
                </a:solidFill>
              </a:rPr>
              <a:t>02.10 Discuss how fellow workers and customers should be treated.</a:t>
            </a:r>
          </a:p>
          <a:p>
            <a:pPr>
              <a:spcAft>
                <a:spcPts val="600"/>
              </a:spcAft>
            </a:pPr>
            <a:r>
              <a:rPr lang="en-US" dirty="0">
                <a:solidFill>
                  <a:schemeClr val="accent1"/>
                </a:solidFill>
              </a:rPr>
              <a:t>As an employee, you have responsibilities to your fellow workers:</a:t>
            </a:r>
          </a:p>
          <a:p>
            <a:pPr lvl="1">
              <a:spcAft>
                <a:spcPts val="600"/>
              </a:spcAft>
            </a:pPr>
            <a:r>
              <a:rPr lang="en-US" dirty="0">
                <a:solidFill>
                  <a:schemeClr val="accent1"/>
                </a:solidFill>
              </a:rPr>
              <a:t>Suggest improvements that may make the business.</a:t>
            </a:r>
          </a:p>
          <a:p>
            <a:pPr lvl="1">
              <a:spcAft>
                <a:spcPts val="600"/>
              </a:spcAft>
            </a:pPr>
            <a:r>
              <a:rPr lang="en-US" dirty="0">
                <a:solidFill>
                  <a:schemeClr val="accent1"/>
                </a:solidFill>
              </a:rPr>
              <a:t>Work with team members to achieve common goals.</a:t>
            </a:r>
          </a:p>
          <a:p>
            <a:pPr lvl="1">
              <a:spcAft>
                <a:spcPts val="600"/>
              </a:spcAft>
            </a:pPr>
            <a:r>
              <a:rPr lang="en-US" dirty="0">
                <a:solidFill>
                  <a:schemeClr val="accent1"/>
                </a:solidFill>
              </a:rPr>
              <a:t>Exercise “give and take” for the benefit of the business.</a:t>
            </a:r>
          </a:p>
          <a:p>
            <a:pPr lvl="1">
              <a:spcAft>
                <a:spcPts val="600"/>
              </a:spcAft>
            </a:pPr>
            <a:r>
              <a:rPr lang="en-US" dirty="0">
                <a:solidFill>
                  <a:schemeClr val="accent1"/>
                </a:solidFill>
              </a:rPr>
              <a:t>Respond to praise or criticism in a professional way.</a:t>
            </a:r>
          </a:p>
          <a:p>
            <a:pPr lvl="1">
              <a:spcAft>
                <a:spcPts val="600"/>
              </a:spcAft>
            </a:pPr>
            <a:r>
              <a:rPr lang="en-US" dirty="0">
                <a:solidFill>
                  <a:schemeClr val="accent1"/>
                </a:solidFill>
              </a:rPr>
              <a:t>Provide constructive praise or criticism.</a:t>
            </a:r>
          </a:p>
          <a:p>
            <a:pPr lvl="1">
              <a:spcAft>
                <a:spcPts val="600"/>
              </a:spcAft>
            </a:pPr>
            <a:r>
              <a:rPr lang="en-US" dirty="0">
                <a:solidFill>
                  <a:schemeClr val="accent1"/>
                </a:solidFill>
              </a:rPr>
              <a:t>Resolve conflicts in a professional way.</a:t>
            </a:r>
          </a:p>
        </p:txBody>
      </p:sp>
    </p:spTree>
    <p:extLst>
      <p:ext uri="{BB962C8B-B14F-4D97-AF65-F5344CB8AC3E}">
        <p14:creationId xmlns:p14="http://schemas.microsoft.com/office/powerpoint/2010/main" val="18262163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noGrp="1"/>
          </p:cNvSpPr>
          <p:nvPr>
            <p:ph type="title"/>
          </p:nvPr>
        </p:nvSpPr>
        <p:spPr>
          <a:xfrm>
            <a:off x="476250" y="473075"/>
            <a:ext cx="11242675" cy="879475"/>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Customer Relations (1 of 2)</a:t>
            </a:r>
            <a:endParaRPr lang="en-US" sz="4000" b="1" kern="1200" dirty="0">
              <a:latin typeface="+mj-lt"/>
              <a:ea typeface="+mj-ea"/>
              <a:cs typeface="+mj-cs"/>
            </a:endParaRPr>
          </a:p>
        </p:txBody>
      </p:sp>
      <p:sp>
        <p:nvSpPr>
          <p:cNvPr id="8195" name="Rectangle 3"/>
          <p:cNvSpPr>
            <a:spLocks noGrp="1" noChangeArrowheads="1"/>
          </p:cNvSpPr>
          <p:nvPr>
            <p:ph idx="1"/>
          </p:nvPr>
        </p:nvSpPr>
        <p:spPr>
          <a:xfrm>
            <a:off x="476843" y="1704974"/>
            <a:ext cx="6449737" cy="4364355"/>
          </a:xfrm>
        </p:spPr>
        <p:txBody>
          <a:bodyPr vert="horz" lIns="91440" tIns="45720" rIns="91440" bIns="45720" rtlCol="0">
            <a:noAutofit/>
          </a:bodyPr>
          <a:lstStyle/>
          <a:p>
            <a:pPr>
              <a:spcAft>
                <a:spcPts val="600"/>
              </a:spcAft>
            </a:pPr>
            <a:r>
              <a:rPr lang="en-US" dirty="0"/>
              <a:t>Good customer relations are important for all members of the team.</a:t>
            </a:r>
          </a:p>
          <a:p>
            <a:pPr>
              <a:spcAft>
                <a:spcPts val="600"/>
              </a:spcAft>
            </a:pPr>
            <a:r>
              <a:rPr lang="en-US" dirty="0"/>
              <a:t>Present yourself as a professional. Professionals are proud of what they do and they show it. </a:t>
            </a:r>
          </a:p>
          <a:p>
            <a:pPr>
              <a:spcAft>
                <a:spcPts val="600"/>
              </a:spcAft>
            </a:pPr>
            <a:r>
              <a:rPr lang="en-US"/>
              <a:t>Always </a:t>
            </a:r>
            <a:r>
              <a:rPr lang="en-US" dirty="0"/>
              <a:t>dress and act appropriately and watch your language, even when you think no one is nearby.</a:t>
            </a:r>
          </a:p>
        </p:txBody>
      </p:sp>
      <p:pic>
        <p:nvPicPr>
          <p:cNvPr id="9" name="Picture Placeholder 8" descr="A technician communicates with a customer over a car repair."/>
          <p:cNvPicPr>
            <a:picLocks noGrp="1" noChangeAspect="1"/>
          </p:cNvPicPr>
          <p:nvPr>
            <p:ph type="pic" sz="quarter" idx="10"/>
          </p:nvPr>
        </p:nvPicPr>
        <p:blipFill rotWithShape="1">
          <a:blip r:embed="rId3"/>
          <a:stretch/>
        </p:blipFill>
        <p:spPr>
          <a:xfrm>
            <a:off x="6999323" y="2307756"/>
            <a:ext cx="4809173" cy="3206115"/>
          </a:xfrm>
          <a:prstGeom prst="rect">
            <a:avLst/>
          </a:prstGeom>
        </p:spPr>
      </p:pic>
    </p:spTree>
    <p:extLst>
      <p:ext uri="{BB962C8B-B14F-4D97-AF65-F5344CB8AC3E}">
        <p14:creationId xmlns:p14="http://schemas.microsoft.com/office/powerpoint/2010/main" val="2716788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90805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Customer Relations (2 of 2)</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sz="2200" dirty="0"/>
              <a:t>Respect the vehicles you are working on. They are important to your </a:t>
            </a:r>
            <a:r>
              <a:rPr lang="en-US" sz="2200"/>
              <a:t>customers.</a:t>
            </a:r>
            <a:endParaRPr lang="en-US" sz="2200" dirty="0"/>
          </a:p>
          <a:p>
            <a:pPr>
              <a:spcAft>
                <a:spcPts val="600"/>
              </a:spcAft>
            </a:pPr>
            <a:r>
              <a:rPr lang="en-US" sz="2200" dirty="0"/>
              <a:t>Always return the vehicles to their owners clean and in an undamaged condition.</a:t>
            </a:r>
          </a:p>
          <a:p>
            <a:pPr>
              <a:spcAft>
                <a:spcPts val="600"/>
              </a:spcAft>
            </a:pPr>
            <a:r>
              <a:rPr lang="en-US" sz="2200" dirty="0"/>
              <a:t>Remember, a vehicle is the second largest expense a customer has. Treat it that </a:t>
            </a:r>
            <a:r>
              <a:rPr lang="en-US" sz="2200"/>
              <a:t>way.</a:t>
            </a:r>
            <a:endParaRPr lang="en-US" sz="2200" dirty="0"/>
          </a:p>
          <a:p>
            <a:pPr>
              <a:spcAft>
                <a:spcPts val="600"/>
              </a:spcAft>
            </a:pPr>
            <a:r>
              <a:rPr lang="en-US" sz="2200" dirty="0"/>
              <a:t>It does not matter if you like the vehicle. It belongs to the customer; treat it respectfully.</a:t>
            </a:r>
          </a:p>
          <a:p>
            <a:pPr>
              <a:spcAft>
                <a:spcPts val="600"/>
              </a:spcAft>
            </a:pPr>
            <a:r>
              <a:rPr lang="en-US" sz="2200" dirty="0"/>
              <a:t>Explain the repair process to the customer in understandable </a:t>
            </a:r>
            <a:r>
              <a:rPr lang="en-US" sz="2200"/>
              <a:t>terms.</a:t>
            </a:r>
            <a:endParaRPr lang="en-US" sz="2200" dirty="0"/>
          </a:p>
          <a:p>
            <a:pPr>
              <a:spcAft>
                <a:spcPts val="600"/>
              </a:spcAft>
            </a:pPr>
            <a:r>
              <a:rPr lang="en-US" sz="2200" dirty="0"/>
              <a:t>Whenever you are explaining something to a customer, make sure you do it in a simple way without making the customer feel unknowledgeable.</a:t>
            </a:r>
          </a:p>
        </p:txBody>
      </p:sp>
    </p:spTree>
    <p:extLst>
      <p:ext uri="{BB962C8B-B14F-4D97-AF65-F5344CB8AC3E}">
        <p14:creationId xmlns:p14="http://schemas.microsoft.com/office/powerpoint/2010/main" val="2707511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GB" dirty="0"/>
              <a:t>Chapter Reflection</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L="0" indent="0">
              <a:spcAft>
                <a:spcPts val="1200"/>
              </a:spcAft>
              <a:buNone/>
            </a:pPr>
            <a:r>
              <a:rPr lang="en-US" sz="2400" dirty="0"/>
              <a:t>Please take a moment to compare your perception of the automotive industry before and after you studied this chapter. Then respond to the following questions in one or two paragraphs. Use 150–200 words in your reflection.</a:t>
            </a:r>
          </a:p>
          <a:p>
            <a:pPr marL="360363" indent="-360363">
              <a:spcAft>
                <a:spcPts val="2400"/>
              </a:spcAft>
              <a:buFont typeface="Arial" pitchFamily="34" charset="0"/>
              <a:buChar char="•"/>
            </a:pPr>
            <a:r>
              <a:rPr lang="en-US" sz="2400" dirty="0"/>
              <a:t>Did anything in this chapter change your thinking about automotive careers? Describe what you learned and how it changed your </a:t>
            </a:r>
            <a:r>
              <a:rPr lang="en-US" sz="2400"/>
              <a:t>ideas.</a:t>
            </a:r>
            <a:endParaRPr lang="en-US" sz="2400" dirty="0"/>
          </a:p>
          <a:p>
            <a:pPr marL="360363" indent="-360363">
              <a:buFont typeface="Arial" pitchFamily="34" charset="0"/>
              <a:buChar char="•"/>
            </a:pPr>
            <a:r>
              <a:rPr lang="en-US" sz="2400" dirty="0"/>
              <a:t>Considering all you have learned, do you feel you have the workplace skills to be an automotive technician? Why or why </a:t>
            </a:r>
            <a:r>
              <a:rPr lang="en-US" sz="2400"/>
              <a:t>not?</a:t>
            </a:r>
            <a:endParaRPr lang="en-US" sz="2400" dirty="0"/>
          </a:p>
        </p:txBody>
      </p:sp>
    </p:spTree>
    <p:custDataLst>
      <p:tags r:id="rId1"/>
    </p:custDataLst>
    <p:extLst>
      <p:ext uri="{BB962C8B-B14F-4D97-AF65-F5344CB8AC3E}">
        <p14:creationId xmlns:p14="http://schemas.microsoft.com/office/powerpoint/2010/main" val="2137885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72290BDFA7C44CB3A669C535D7775C" ma:contentTypeVersion="6" ma:contentTypeDescription="Create a new document." ma:contentTypeScope="" ma:versionID="97880c4d28887ebfb4b36432ea450809">
  <xsd:schema xmlns:xsd="http://www.w3.org/2001/XMLSchema" xmlns:xs="http://www.w3.org/2001/XMLSchema" xmlns:p="http://schemas.microsoft.com/office/2006/metadata/properties" xmlns:ns2="e4cbcfe0-9d9b-4b65-9b1a-e9a94908661b" xmlns:ns3="3db7a360-adc4-468e-a7a4-aedd9af1b4ce" targetNamespace="http://schemas.microsoft.com/office/2006/metadata/properties" ma:root="true" ma:fieldsID="8599bfbb83744fc14c5dfbcd5b864898" ns2:_="" ns3:_="">
    <xsd:import namespace="e4cbcfe0-9d9b-4b65-9b1a-e9a94908661b"/>
    <xsd:import namespace="3db7a360-adc4-468e-a7a4-aedd9af1b4ce"/>
    <xsd:element name="properties">
      <xsd:complexType>
        <xsd:sequence>
          <xsd:element name="documentManagement">
            <xsd:complexType>
              <xsd:all>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bcfe0-9d9b-4b65-9b1a-e9a94908661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9813c7c6-b368-4d0a-9b29-2e74b134ed1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b7a360-adc4-468e-a7a4-aedd9af1b4c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b1c66ef-6276-4f1a-9819-eb42e753d24e}" ma:internalName="TaxCatchAll" ma:showField="CatchAllData" ma:web="3db7a360-adc4-468e-a7a4-aedd9af1b4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4cbcfe0-9d9b-4b65-9b1a-e9a94908661b">
      <Terms xmlns="http://schemas.microsoft.com/office/infopath/2007/PartnerControls"/>
    </lcf76f155ced4ddcb4097134ff3c332f>
    <TaxCatchAll xmlns="3db7a360-adc4-468e-a7a4-aedd9af1b4ce" xsi:nil="true"/>
  </documentManagement>
</p:properties>
</file>

<file path=customXml/itemProps1.xml><?xml version="1.0" encoding="utf-8"?>
<ds:datastoreItem xmlns:ds="http://schemas.openxmlformats.org/officeDocument/2006/customXml" ds:itemID="{1AF9BA56-B2EB-43C0-A8EE-001E552C7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bcfe0-9d9b-4b65-9b1a-e9a94908661b"/>
    <ds:schemaRef ds:uri="3db7a360-adc4-468e-a7a4-aedd9af1b4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elements/1.1/"/>
    <ds:schemaRef ds:uri="http://purl.org/dc/dcmitype/"/>
    <ds:schemaRef ds:uri="http://www.w3.org/XML/1998/namespace"/>
    <ds:schemaRef ds:uri="http://schemas.microsoft.com/office/2006/documentManagement/types"/>
    <ds:schemaRef ds:uri="http://purl.org/dc/terms/"/>
    <ds:schemaRef ds:uri="http://schemas.microsoft.com/office/2006/metadata/properties"/>
    <ds:schemaRef ds:uri="e4cbcfe0-9d9b-4b65-9b1a-e9a94908661b"/>
    <ds:schemaRef ds:uri="http://schemas.microsoft.com/office/infopath/2007/PartnerControls"/>
    <ds:schemaRef ds:uri="http://schemas.openxmlformats.org/package/2006/metadata/core-properties"/>
    <ds:schemaRef ds:uri="3db7a360-adc4-468e-a7a4-aedd9af1b4ce"/>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11265</TotalTime>
  <Words>2543</Words>
  <Application>Microsoft Office PowerPoint</Application>
  <PresentationFormat>Widescreen</PresentationFormat>
  <Paragraphs>224</Paragraphs>
  <Slides>40</Slides>
  <Notes>40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MS Mincho</vt:lpstr>
      <vt:lpstr>Arial</vt:lpstr>
      <vt:lpstr>Calibri</vt:lpstr>
      <vt:lpstr>Courier New</vt:lpstr>
      <vt:lpstr>Times New Roman</vt:lpstr>
      <vt:lpstr>Wingdings</vt:lpstr>
      <vt:lpstr>Work Sans</vt:lpstr>
      <vt:lpstr>Work Sans </vt:lpstr>
      <vt:lpstr>Optimized Template Master</vt:lpstr>
      <vt:lpstr>Automotive Technology:  A Systems Approach, 8e</vt:lpstr>
      <vt:lpstr>Chapter Objectives (1 of 2)</vt:lpstr>
      <vt:lpstr>Chapter Objectives (2 of 2)</vt:lpstr>
      <vt:lpstr>Seeking and Applying for Employment</vt:lpstr>
      <vt:lpstr>Employment Plan</vt:lpstr>
      <vt:lpstr>Self-Appraisal </vt:lpstr>
      <vt:lpstr>Identifying Your Skills (1 of 2)</vt:lpstr>
      <vt:lpstr>Identifying Your Skills (2 of 2)</vt:lpstr>
      <vt:lpstr>Identifying Job Possibilities (1 of 2)</vt:lpstr>
      <vt:lpstr>Identifying Job Possibilities (2 of 2)</vt:lpstr>
      <vt:lpstr>Preparing Your Resume (1 of 2)</vt:lpstr>
      <vt:lpstr>Preparing Your Resume (2 of 2)</vt:lpstr>
      <vt:lpstr>Preparing Your Cover Letter (1 of 3)</vt:lpstr>
      <vt:lpstr>Preparing Your Cover Letter (2 of 3)</vt:lpstr>
      <vt:lpstr>Preparing Your Cover Letter (3 of 3)</vt:lpstr>
      <vt:lpstr>Knowledge Check (1 of 2)</vt:lpstr>
      <vt:lpstr>Knowledge Check Answer (1 of 2)</vt:lpstr>
      <vt:lpstr>The Interview</vt:lpstr>
      <vt:lpstr>Accepting Employment</vt:lpstr>
      <vt:lpstr>Compensation</vt:lpstr>
      <vt:lpstr>Hourly Wages Compensation</vt:lpstr>
      <vt:lpstr>Commission Compensation</vt:lpstr>
      <vt:lpstr>Flat-Rate Compensation (1 of 2)</vt:lpstr>
      <vt:lpstr>Flat-Rate Compensation (2 of 2)</vt:lpstr>
      <vt:lpstr>Knowledge Check (2 of 2)</vt:lpstr>
      <vt:lpstr>Knowledge Check Answer (2 of 2)</vt:lpstr>
      <vt:lpstr>Working as a Technician (1 of 2)</vt:lpstr>
      <vt:lpstr>Working as a Technician (2 of 2)</vt:lpstr>
      <vt:lpstr>Communications</vt:lpstr>
      <vt:lpstr>Solving Problems and Critical Thinking (1 of 2)</vt:lpstr>
      <vt:lpstr>Solving Problems and Critical Thinking (2 of 2)</vt:lpstr>
      <vt:lpstr>Diagnosis</vt:lpstr>
      <vt:lpstr>Diagnosis and Critical Thinking</vt:lpstr>
      <vt:lpstr>Professionalism (1 of 2)</vt:lpstr>
      <vt:lpstr>Professionalism (2 of 2)</vt:lpstr>
      <vt:lpstr>Discussion Question</vt:lpstr>
      <vt:lpstr>Interpersonal Relationships</vt:lpstr>
      <vt:lpstr>Customer Relations (1 of 2)</vt:lpstr>
      <vt:lpstr>Customer Relations (2 of 2)</vt:lpstr>
      <vt:lpstr>Chapter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Owner</dc:creator>
  <cp:lastModifiedBy>Muthukrishnan, Keerthi -</cp:lastModifiedBy>
  <cp:revision>430</cp:revision>
  <cp:lastPrinted>2016-10-03T15:29:39Z</cp:lastPrinted>
  <dcterms:created xsi:type="dcterms:W3CDTF">2021-12-10T16:21:02Z</dcterms:created>
  <dcterms:modified xsi:type="dcterms:W3CDTF">2024-10-18T13:55:46Z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