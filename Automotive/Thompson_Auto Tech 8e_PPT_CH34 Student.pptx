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3"/>
  </p:notesMasterIdLst>
  <p:sldIdLst>
    <p:sldId id="350" r:id="rId2"/>
    <p:sldId id="257" r:id="rId3"/>
    <p:sldId id="489" r:id="rId4"/>
    <p:sldId id="461" r:id="rId5"/>
    <p:sldId id="462" r:id="rId6"/>
    <p:sldId id="490" r:id="rId7"/>
    <p:sldId id="491" r:id="rId8"/>
    <p:sldId id="492" r:id="rId9"/>
    <p:sldId id="493" r:id="rId10"/>
    <p:sldId id="520" r:id="rId11"/>
    <p:sldId id="521" r:id="rId12"/>
    <p:sldId id="494" r:id="rId13"/>
    <p:sldId id="495" r:id="rId14"/>
    <p:sldId id="496" r:id="rId15"/>
    <p:sldId id="497" r:id="rId16"/>
    <p:sldId id="498" r:id="rId17"/>
    <p:sldId id="499" r:id="rId18"/>
    <p:sldId id="500" r:id="rId19"/>
    <p:sldId id="501" r:id="rId20"/>
    <p:sldId id="502" r:id="rId21"/>
    <p:sldId id="503" r:id="rId22"/>
    <p:sldId id="504" r:id="rId23"/>
    <p:sldId id="505" r:id="rId24"/>
    <p:sldId id="506" r:id="rId25"/>
    <p:sldId id="507" r:id="rId26"/>
    <p:sldId id="508" r:id="rId27"/>
    <p:sldId id="509" r:id="rId28"/>
    <p:sldId id="510" r:id="rId29"/>
    <p:sldId id="511" r:id="rId30"/>
    <p:sldId id="512" r:id="rId31"/>
    <p:sldId id="513" r:id="rId32"/>
    <p:sldId id="514" r:id="rId33"/>
    <p:sldId id="523" r:id="rId34"/>
    <p:sldId id="524" r:id="rId35"/>
    <p:sldId id="515" r:id="rId36"/>
    <p:sldId id="516" r:id="rId37"/>
    <p:sldId id="517" r:id="rId38"/>
    <p:sldId id="518" r:id="rId39"/>
    <p:sldId id="519" r:id="rId40"/>
    <p:sldId id="522" r:id="rId41"/>
    <p:sldId id="301" r:id="rId42"/>
  </p:sldIdLst>
  <p:sldSz cx="12192000" cy="6858000"/>
  <p:notesSz cx="6858000" cy="9144000"/>
  <p:embeddedFontLst>
    <p:embeddedFont>
      <p:font typeface="Work Sans"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 id="3" name="CE" initials="CE" lastIdx="2" clrIdx="3">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0" autoAdjust="0"/>
    <p:restoredTop sz="86331" autoAdjust="0"/>
  </p:normalViewPr>
  <p:slideViewPr>
    <p:cSldViewPr snapToGrid="0">
      <p:cViewPr varScale="1">
        <p:scale>
          <a:sx n="51" d="100"/>
          <a:sy n="51" d="100"/>
        </p:scale>
        <p:origin x="208" y="48"/>
      </p:cViewPr>
      <p:guideLst>
        <p:guide orient="horz" pos="2160"/>
        <p:guide pos="3840"/>
      </p:guideLst>
    </p:cSldViewPr>
  </p:slideViewPr>
  <p:outlineViewPr>
    <p:cViewPr>
      <p:scale>
        <a:sx n="33" d="100"/>
        <a:sy n="33" d="100"/>
      </p:scale>
      <p:origin x="0" y="-7073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13217435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918369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F59BE4E8-6750-750C-63F6-D9E491194050}"/>
            </a:ext>
          </a:extLst>
        </p:cNvPr>
        <p:cNvGrpSpPr/>
        <p:nvPr/>
      </p:nvGrpSpPr>
      <p:grpSpPr>
        <a:xfrm>
          <a:off x="0" y="0"/>
          <a:ext cx="0" cy="0"/>
          <a:chOff x="0" y="0"/>
          <a:chExt cx="0" cy="0"/>
        </a:xfrm>
      </p:grpSpPr>
      <p:sp>
        <p:nvSpPr>
          <p:cNvPr id="127" name="Google Shape;127;p2:notes">
            <a:extLst>
              <a:ext uri="{FF2B5EF4-FFF2-40B4-BE49-F238E27FC236}">
                <a16:creationId xmlns:a16="http://schemas.microsoft.com/office/drawing/2014/main" id="{F70CA657-CD73-CFF7-E0AF-7DE1E034DDA1}"/>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a:extLst>
              <a:ext uri="{FF2B5EF4-FFF2-40B4-BE49-F238E27FC236}">
                <a16:creationId xmlns:a16="http://schemas.microsoft.com/office/drawing/2014/main" id="{B42BC7FB-BECA-9516-C4AD-7F0C0F526C2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a:extLst>
              <a:ext uri="{FF2B5EF4-FFF2-40B4-BE49-F238E27FC236}">
                <a16:creationId xmlns:a16="http://schemas.microsoft.com/office/drawing/2014/main" id="{DE384B89-3ACD-0BEE-2FB6-9C1EB7A40CF2}"/>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extLst>
      <p:ext uri="{BB962C8B-B14F-4D97-AF65-F5344CB8AC3E}">
        <p14:creationId xmlns:p14="http://schemas.microsoft.com/office/powerpoint/2010/main" val="3440805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6007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A60A484-5CC5-A7D5-97C6-967B78090C6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9E42484-BC50-F05A-AD1B-FB2BA529E20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67F5DE3B-54AB-B729-E53A-753924C21092}"/>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752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84D0DC5-0445-C401-84EC-AB7E1927EEE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2634916-08D3-6C06-EA96-D4579317CFF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F85E50B-B85D-24ED-98D3-07E99A428699}"/>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5554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1E401F0-1663-224E-FDBC-F9333811083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51049CD-9348-B416-02D7-6AA805200E5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44C7D76F-BFA0-1D12-8B8E-A61DCDDDEA6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9497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587FCEF-A3AD-F262-D165-FE40AF5A204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8883FAE-585A-0608-DD70-5ED20B71C46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AF19F34-A1DA-6C2C-956B-D9CA1AA4245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9169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dirty="0"/>
          </a:p>
        </p:txBody>
      </p:sp>
    </p:spTree>
    <p:extLst>
      <p:ext uri="{BB962C8B-B14F-4D97-AF65-F5344CB8AC3E}">
        <p14:creationId xmlns:p14="http://schemas.microsoft.com/office/powerpoint/2010/main" val="2744375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dirty="0"/>
          </a:p>
        </p:txBody>
      </p:sp>
    </p:spTree>
    <p:extLst>
      <p:ext uri="{BB962C8B-B14F-4D97-AF65-F5344CB8AC3E}">
        <p14:creationId xmlns:p14="http://schemas.microsoft.com/office/powerpoint/2010/main" val="195292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5D2A9A9-5621-AFC7-3C05-3B07E292869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C813248-3FC8-208D-3904-D11F61BB2D7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7D53900-1BE0-24E8-CA55-C79926FEEB8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4859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34D1974-8D36-0DB0-09E2-B487F2E8E493}"/>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DF58FD2-5D65-C423-4C1A-179C0B4578F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97BD965-DA37-99F3-5636-34F90F09C59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04704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6143251-B127-1550-657E-A19E4C701CA5}"/>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FD6923B-CF41-81FD-B4D3-C29208C873AF}"/>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BB854D68-4568-A1D4-D941-4CB0B398C35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6227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12045DD-7B50-8273-BD0A-CD72ECE42C72}"/>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B10622F-9D14-A149-B665-9095840E04A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11B1064-1C65-B29A-A117-DCB896C12C9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2642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E396697-0EE4-D39F-F04B-4CEE87CD913C}"/>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DC30F9D0-E120-EF98-FB68-A66FFE265D1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9F2EE51F-74F4-E45F-DCC9-652EBFAC6C7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3538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22EF73E-9181-6486-B8E1-E47F8769F8EB}"/>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674C55CC-C957-8C7B-08B5-0380823462F1}"/>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FD4ECB1D-14DB-F080-BED9-7A065A5EC46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78171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0A95862-0CC8-3A7F-0E90-5C45B44F300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67C0131-4455-4E6D-97D8-569CC93D30E6}"/>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70E8F552-1150-A175-140E-E76EF0D7D2E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822228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5113876-385E-E167-71F2-99310141A24A}"/>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1DDF7919-CF95-6B9A-25B8-22FA427798D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64BDDB68-C198-5B27-17C7-EE2EA5DAD66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66851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1482A06-2EF2-5F44-7D8B-C559D95CEC4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60E02A1B-3BDB-5E4B-99AE-51E26275898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55EEEEFB-7531-E8E2-0F8B-E7E62CE6419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9641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78D9025-2DE7-2C1C-CDDD-7FE1414CCE4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85A7F96-724E-570A-0513-5CEAA592C8E3}"/>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F28D774-DEDB-637C-1DFD-722A1B468B1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04536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3B05120-7DF7-BC64-5629-D123FF420879}"/>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1F69E0F-DB35-27B6-6588-374E56769360}"/>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A83E06E-282D-2C36-BBFC-3808B30B35A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75969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4CAB17F-114D-1C9C-03FF-124F2D6C1163}"/>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F403324-B86B-C71E-2B4E-A8DB7FA4CA8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88059225-6380-7F2C-E5D6-18544D9115E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75562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CDBF84B-64F0-5454-C589-AB76E06F1A76}"/>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29CDED4-9BE7-7D0D-329A-B90A02F328B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57DC9E7A-0A06-020F-1551-1AD07B7AC9BB}"/>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6713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1A53CFA-1923-27B9-3657-B8345AE31BA1}"/>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40375E1E-444E-7AAD-BF60-CCECABD22AB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6A901055-C0F7-0942-CAC7-34C8E95E292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01830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AF9B97C-ADEA-5465-D901-C444729375FA}"/>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C85AC09A-6362-DBAC-1E03-FAF3D25A368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8AF8C816-413D-282F-8399-ACF37BE3832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26220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80F22AE-BA22-1E0B-B6CC-D8DF93D2FA61}"/>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FBC7645-0A7B-217E-669C-2A8CA0494D8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538E3DF-6B45-DC78-922F-8DE079737F85}"/>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7222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879C990-F145-2FCB-D79C-701209BF3E90}"/>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93C1648-09C8-3ED6-536E-F523407BE07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EAFF4233-A5A0-C204-6B82-E96C1614C58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08317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6BEA35E-1D43-693C-4ED9-8A9A6589AD22}"/>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7A5B36C-DE53-5BDB-71BC-F0F74B28B58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43B82B62-B366-5835-F56F-04A150037945}"/>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74286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F17B8F3-87CF-A611-4D9C-53BE8C701EF6}"/>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2D6BF23-04BB-4B27-8624-4B36BFBE0A6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8C2F2D25-FC4C-8275-DFA5-DC412F9485C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15908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4584DC7-B096-45D9-3972-D36A4C1C5CC6}"/>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7CB61653-B0A9-016A-1B8D-76BEC0E2C6F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9E298054-7304-C004-E961-93293D9E460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710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D9CEE26-5942-9DB3-6023-EA44E145C12B}"/>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93BB2D4-1499-ED1F-C629-14E3C0CDDE0E}"/>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F95B5EA1-9764-8101-3F8B-3D9F6726D445}"/>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9256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dirty="0"/>
          </a:p>
        </p:txBody>
      </p:sp>
    </p:spTree>
    <p:extLst>
      <p:ext uri="{BB962C8B-B14F-4D97-AF65-F5344CB8AC3E}">
        <p14:creationId xmlns:p14="http://schemas.microsoft.com/office/powerpoint/2010/main" val="40318870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dirty="0"/>
          </a:p>
        </p:txBody>
      </p:sp>
    </p:spTree>
    <p:extLst>
      <p:ext uri="{BB962C8B-B14F-4D97-AF65-F5344CB8AC3E}">
        <p14:creationId xmlns:p14="http://schemas.microsoft.com/office/powerpoint/2010/main" val="14671650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3C64142-675F-B344-317B-D83A6134DF0C}"/>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4B2AA5C-C2FF-7E64-C33D-1790968F2B6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9BC9D06-702F-4D4A-D64E-4925954C28A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842452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0E007A1-E5BB-ADDC-DCF2-D27657F63339}"/>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2A713DE-3399-4313-BECA-57D66AE19E80}"/>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5C42225B-6563-7499-61A3-676234337D3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97817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7D89218-7988-2C06-EE51-0A164335C436}"/>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A5A619E-A331-0DBA-02C4-0C84281A5FC5}"/>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E4FB52E-2484-A999-DB57-7F73E50CC70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55193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15FEE96-997D-0256-266F-C03F2E4DCD9B}"/>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D0202D6E-443A-AFE9-7E78-97158D3A47C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3703E8F-EC41-FC1A-8317-06C2CA730BE5}"/>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08503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F5CA4BD-3F29-7537-5B1D-42D92DDFEE10}"/>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4BA5B9B-029A-D5B6-BEC1-ED3AC27B927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EFAC4BAF-9B71-28EC-EBD7-D0E87017072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63889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dirty="0"/>
          </a:p>
        </p:txBody>
      </p:sp>
    </p:spTree>
    <p:extLst>
      <p:ext uri="{BB962C8B-B14F-4D97-AF65-F5344CB8AC3E}">
        <p14:creationId xmlns:p14="http://schemas.microsoft.com/office/powerpoint/2010/main" val="16980074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dirty="0"/>
          </a:p>
        </p:txBody>
      </p:sp>
    </p:spTree>
    <p:extLst>
      <p:ext uri="{BB962C8B-B14F-4D97-AF65-F5344CB8AC3E}">
        <p14:creationId xmlns:p14="http://schemas.microsoft.com/office/powerpoint/2010/main" val="193358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0297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1744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ts val="2600"/>
              <a:buChar char="−"/>
              <a:defRPr sz="2400" b="0"/>
            </a:lvl2pPr>
            <a:lvl3pPr marL="1081088" lvl="2" indent="-360363"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0297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17445"/>
            <a:ext cx="11241915" cy="1911556"/>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ts val="2600"/>
              <a:buChar char="−"/>
              <a:defRPr sz="2400" b="0"/>
            </a:lvl2pPr>
            <a:lvl3pPr marL="1081088" lvl="2" indent="-360363"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dirty="0"/>
          </a:p>
          <a:p>
            <a:pPr lvl="1"/>
            <a:endParaRPr lang="en-IN" dirty="0"/>
          </a:p>
          <a:p>
            <a:pPr lvl="2"/>
            <a:endParaRPr dirty="0"/>
          </a:p>
        </p:txBody>
      </p:sp>
      <p:sp>
        <p:nvSpPr>
          <p:cNvPr id="3" name="Content Placeholder 2">
            <a:extLst>
              <a:ext uri="{FF2B5EF4-FFF2-40B4-BE49-F238E27FC236}">
                <a16:creationId xmlns:a16="http://schemas.microsoft.com/office/drawing/2014/main" id="{DD965320-3889-73F0-39E9-75FAFD80CC04}"/>
              </a:ext>
            </a:extLst>
          </p:cNvPr>
          <p:cNvSpPr>
            <a:spLocks noGrp="1"/>
          </p:cNvSpPr>
          <p:nvPr>
            <p:ph sz="quarter" idx="10"/>
          </p:nvPr>
        </p:nvSpPr>
        <p:spPr>
          <a:xfrm>
            <a:off x="665163" y="383381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6A7BB4DC-CCC9-6D51-AC9D-7EC6A3F1F6A0}"/>
              </a:ext>
            </a:extLst>
          </p:cNvPr>
          <p:cNvSpPr>
            <a:spLocks noGrp="1"/>
          </p:cNvSpPr>
          <p:nvPr>
            <p:ph sz="quarter" idx="11"/>
          </p:nvPr>
        </p:nvSpPr>
        <p:spPr>
          <a:xfrm>
            <a:off x="2382838" y="369411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69080D2F-C001-54FA-23B3-07C65D847F86}"/>
              </a:ext>
            </a:extLst>
          </p:cNvPr>
          <p:cNvSpPr>
            <a:spLocks noGrp="1"/>
          </p:cNvSpPr>
          <p:nvPr>
            <p:ph type="pic" sz="quarter" idx="12"/>
          </p:nvPr>
        </p:nvSpPr>
        <p:spPr>
          <a:xfrm>
            <a:off x="4138613" y="3694113"/>
            <a:ext cx="914400" cy="914400"/>
          </a:xfrm>
        </p:spPr>
        <p:txBody>
          <a:bodyPr/>
          <a:lstStyle/>
          <a:p>
            <a:endParaRPr lang="en-IN"/>
          </a:p>
        </p:txBody>
      </p:sp>
      <p:sp>
        <p:nvSpPr>
          <p:cNvPr id="9" name="Picture Placeholder 8">
            <a:extLst>
              <a:ext uri="{FF2B5EF4-FFF2-40B4-BE49-F238E27FC236}">
                <a16:creationId xmlns:a16="http://schemas.microsoft.com/office/drawing/2014/main" id="{CAB811D9-D766-1AB0-0FC3-7D1904E3F19B}"/>
              </a:ext>
            </a:extLst>
          </p:cNvPr>
          <p:cNvSpPr>
            <a:spLocks noGrp="1"/>
          </p:cNvSpPr>
          <p:nvPr>
            <p:ph type="pic" sz="quarter" idx="13"/>
          </p:nvPr>
        </p:nvSpPr>
        <p:spPr>
          <a:xfrm>
            <a:off x="5735638" y="3833813"/>
            <a:ext cx="914400" cy="914400"/>
          </a:xfrm>
        </p:spPr>
        <p:txBody>
          <a:bodyPr/>
          <a:lstStyle/>
          <a:p>
            <a:endParaRPr lang="en-IN"/>
          </a:p>
        </p:txBody>
      </p:sp>
      <p:sp>
        <p:nvSpPr>
          <p:cNvPr id="11" name="Table Placeholder 10">
            <a:extLst>
              <a:ext uri="{FF2B5EF4-FFF2-40B4-BE49-F238E27FC236}">
                <a16:creationId xmlns:a16="http://schemas.microsoft.com/office/drawing/2014/main" id="{5A426E92-DFAF-2F7A-4A9B-392E963AC162}"/>
              </a:ext>
            </a:extLst>
          </p:cNvPr>
          <p:cNvSpPr>
            <a:spLocks noGrp="1"/>
          </p:cNvSpPr>
          <p:nvPr>
            <p:ph type="tbl" sz="quarter" idx="14"/>
          </p:nvPr>
        </p:nvSpPr>
        <p:spPr>
          <a:xfrm>
            <a:off x="7380288" y="3833813"/>
            <a:ext cx="914400" cy="914400"/>
          </a:xfrm>
        </p:spPr>
        <p:txBody>
          <a:bodyPr/>
          <a:lstStyle/>
          <a:p>
            <a:endParaRPr lang="en-IN"/>
          </a:p>
        </p:txBody>
      </p:sp>
    </p:spTree>
    <p:extLst>
      <p:ext uri="{BB962C8B-B14F-4D97-AF65-F5344CB8AC3E}">
        <p14:creationId xmlns:p14="http://schemas.microsoft.com/office/powerpoint/2010/main" val="229222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9561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FDEAD149-5560-AEA8-AC7F-D2C42F390418}"/>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34: Emission Control Diagnosis and Service</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34.01 Describe types of OBD II emissions tests.</a:t>
            </a:r>
          </a:p>
          <a:p>
            <a:pPr marL="357188" marR="0" lvl="0" indent="-357188" algn="l" rtl="0">
              <a:buChar char="•"/>
            </a:pPr>
            <a:r>
              <a:rPr lang="en-US" dirty="0"/>
              <a:t>34.02 Explain how exhaust emission testing is performed.</a:t>
            </a:r>
          </a:p>
          <a:p>
            <a:pPr marL="357188" marR="0" lvl="0" indent="-357188" algn="l" rtl="0">
              <a:buChar char="•"/>
            </a:pPr>
            <a:r>
              <a:rPr lang="en-US" dirty="0"/>
              <a:t>34.03 Explain basic inspection of emissions-related monitoring of an OBD II system.</a:t>
            </a:r>
          </a:p>
          <a:p>
            <a:pPr marL="357188" marR="0" lvl="0" indent="-357188" algn="l" rtl="0">
              <a:buChar char="•"/>
            </a:pPr>
            <a:r>
              <a:rPr lang="en-US" dirty="0"/>
              <a:t>34.04 Diagnose and service evaporative (EVAP) systems.</a:t>
            </a:r>
          </a:p>
          <a:p>
            <a:pPr marL="357188" marR="0" lvl="0" indent="-357188" algn="l" rtl="0">
              <a:buChar char="•"/>
            </a:pPr>
            <a:r>
              <a:rPr lang="en-US" dirty="0"/>
              <a:t>34.05 Describe the inspection and replacement of PCV system parts.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154AD894-D34E-A8F5-8463-D85F2872466B}"/>
            </a:ext>
          </a:extLst>
        </p:cNvPr>
        <p:cNvGrpSpPr/>
        <p:nvPr/>
      </p:nvGrpSpPr>
      <p:grpSpPr>
        <a:xfrm>
          <a:off x="0" y="0"/>
          <a:ext cx="0" cy="0"/>
          <a:chOff x="0" y="0"/>
          <a:chExt cx="0" cy="0"/>
        </a:xfrm>
      </p:grpSpPr>
      <p:sp>
        <p:nvSpPr>
          <p:cNvPr id="131" name="Google Shape;131;p2">
            <a:extLst>
              <a:ext uri="{FF2B5EF4-FFF2-40B4-BE49-F238E27FC236}">
                <a16:creationId xmlns:a16="http://schemas.microsoft.com/office/drawing/2014/main" id="{218CB134-0E8B-493E-2F7D-3D0F8A35580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 </a:t>
            </a:r>
            <a:endParaRPr dirty="0"/>
          </a:p>
        </p:txBody>
      </p:sp>
      <p:sp>
        <p:nvSpPr>
          <p:cNvPr id="132" name="Google Shape;132;p2">
            <a:extLst>
              <a:ext uri="{FF2B5EF4-FFF2-40B4-BE49-F238E27FC236}">
                <a16:creationId xmlns:a16="http://schemas.microsoft.com/office/drawing/2014/main" id="{96AC616B-757F-4498-FAC0-3668F9778E37}"/>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34.06 Diagnose engine performance problems caused by improper EGR operation.</a:t>
            </a:r>
          </a:p>
          <a:p>
            <a:pPr marL="357188" marR="0" lvl="0" indent="-357188" algn="l" rtl="0">
              <a:buSzPts val="2800"/>
              <a:buChar char="•"/>
            </a:pPr>
            <a:r>
              <a:rPr lang="en-US" dirty="0"/>
              <a:t>34.07 Check the efficiency of a catalytic converter.</a:t>
            </a:r>
          </a:p>
          <a:p>
            <a:pPr marL="357188" marR="0" lvl="0" indent="-357188" algn="l" rtl="0">
              <a:buSzPts val="2800"/>
              <a:buChar char="•"/>
            </a:pPr>
            <a:r>
              <a:rPr lang="en-US" dirty="0"/>
              <a:t>34.08 Diagnose and service secondary air injection systems.</a:t>
            </a:r>
          </a:p>
        </p:txBody>
      </p:sp>
    </p:spTree>
    <p:extLst>
      <p:ext uri="{BB962C8B-B14F-4D97-AF65-F5344CB8AC3E}">
        <p14:creationId xmlns:p14="http://schemas.microsoft.com/office/powerpoint/2010/main" val="3379139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II Test</a:t>
            </a:r>
            <a:endParaRPr sz="3600" dirty="0"/>
          </a:p>
        </p:txBody>
      </p:sp>
      <p:sp>
        <p:nvSpPr>
          <p:cNvPr id="145" name="Google Shape;145;p4"/>
          <p:cNvSpPr txBox="1">
            <a:spLocks noGrp="1"/>
          </p:cNvSpPr>
          <p:nvPr>
            <p:ph type="body" idx="1"/>
          </p:nvPr>
        </p:nvSpPr>
        <p:spPr>
          <a:xfrm>
            <a:off x="476843" y="1252604"/>
            <a:ext cx="11241915" cy="4815550"/>
          </a:xfrm>
          <a:prstGeom prst="rect">
            <a:avLst/>
          </a:prstGeom>
          <a:noFill/>
          <a:ln>
            <a:noFill/>
          </a:ln>
        </p:spPr>
        <p:txBody>
          <a:bodyPr spcFirstLastPara="1" wrap="square" lIns="91425" tIns="45700" rIns="91425" bIns="45700" anchor="t" anchorCtr="0">
            <a:noAutofit/>
          </a:bodyPr>
          <a:lstStyle/>
          <a:p>
            <a:pPr marL="0" marR="0" lvl="0" indent="0" algn="l" rtl="0">
              <a:spcAft>
                <a:spcPts val="0"/>
              </a:spcAft>
              <a:buSzPts val="2800"/>
              <a:buNone/>
            </a:pPr>
            <a:r>
              <a:rPr lang="en-US" sz="2000" b="1" dirty="0"/>
              <a:t>34.01 Describe types of OBD II emissions tests.</a:t>
            </a:r>
          </a:p>
          <a:p>
            <a:pPr marL="363538" indent="-363538">
              <a:spcAft>
                <a:spcPts val="0"/>
              </a:spcAft>
            </a:pPr>
            <a:r>
              <a:rPr lang="en-US" sz="2000" dirty="0"/>
              <a:t>Because of the ability of OBD II systems to monitor and report emission-related failures, many states use a check of the OBD II system as part or all of their mandatory emissions testing program for 1996 and newer vehicles.</a:t>
            </a:r>
          </a:p>
          <a:p>
            <a:pPr marL="363538" indent="-363538">
              <a:spcAft>
                <a:spcPts val="0"/>
              </a:spcAft>
            </a:pPr>
            <a:r>
              <a:rPr lang="en-US" sz="2000" dirty="0"/>
              <a:t>The OBD II test can even be performed at self-service testing stations by the vehicle owner.</a:t>
            </a:r>
          </a:p>
          <a:p>
            <a:pPr marL="363538" indent="-363538">
              <a:spcAft>
                <a:spcPts val="0"/>
              </a:spcAft>
            </a:pPr>
            <a:r>
              <a:rPr lang="en-US" sz="2000" dirty="0"/>
              <a:t>Checking the OBD II system usually consists of three parts:</a:t>
            </a:r>
          </a:p>
          <a:p>
            <a:pPr marL="714375" lvl="1" indent="-350838">
              <a:spcAft>
                <a:spcPts val="0"/>
              </a:spcAft>
              <a:buSzPct val="100000"/>
            </a:pPr>
            <a:r>
              <a:rPr lang="en-US" sz="1800" dirty="0"/>
              <a:t>MIL operation, checking for DTCs, and a readiness monitor check.</a:t>
            </a:r>
          </a:p>
          <a:p>
            <a:pPr marL="363538" indent="-363538">
              <a:spcAft>
                <a:spcPts val="0"/>
              </a:spcAft>
            </a:pPr>
            <a:r>
              <a:rPr lang="en-US" sz="2000" dirty="0"/>
              <a:t>The MIL operation test </a:t>
            </a:r>
            <a:r>
              <a:rPr lang="en-US" sz="2000" dirty="0">
                <a:solidFill>
                  <a:schemeClr val="accent1"/>
                </a:solidFill>
              </a:rPr>
              <a:t>verifies that the MIL illuminates with the ignition on and that it goes out once the engine is started.</a:t>
            </a:r>
          </a:p>
          <a:p>
            <a:pPr marL="363538" indent="-363538">
              <a:spcAft>
                <a:spcPts val="0"/>
              </a:spcAft>
            </a:pPr>
            <a:r>
              <a:rPr lang="en-US" sz="2000" dirty="0">
                <a:solidFill>
                  <a:schemeClr val="accent1"/>
                </a:solidFill>
              </a:rPr>
              <a:t>If the light does not turn on or if it stays on once the engine is running, the vehicle fails this test.</a:t>
            </a:r>
          </a:p>
          <a:p>
            <a:pPr marL="363538" indent="-363538">
              <a:spcAft>
                <a:spcPts val="0"/>
              </a:spcAft>
            </a:pPr>
            <a:r>
              <a:rPr lang="en-US" sz="2000" dirty="0">
                <a:solidFill>
                  <a:schemeClr val="accent1"/>
                </a:solidFill>
              </a:rPr>
              <a:t>If the MIL stays on, DTCs are checked. If the MIL is off and no DTCs are stored, the readiness monitors are checked.</a:t>
            </a:r>
          </a:p>
        </p:txBody>
      </p:sp>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I/M 240 Test</a:t>
            </a:r>
            <a:endParaRPr dirty="0"/>
          </a:p>
        </p:txBody>
      </p:sp>
      <p:sp>
        <p:nvSpPr>
          <p:cNvPr id="145" name="Google Shape;145;p4"/>
          <p:cNvSpPr txBox="1">
            <a:spLocks noGrp="1"/>
          </p:cNvSpPr>
          <p:nvPr>
            <p:ph type="body" idx="1"/>
          </p:nvPr>
        </p:nvSpPr>
        <p:spPr>
          <a:xfrm>
            <a:off x="476843" y="1517445"/>
            <a:ext cx="6011639" cy="4308924"/>
          </a:xfrm>
          <a:prstGeom prst="rect">
            <a:avLst/>
          </a:prstGeom>
          <a:noFill/>
          <a:ln>
            <a:noFill/>
          </a:ln>
        </p:spPr>
        <p:txBody>
          <a:bodyPr spcFirstLastPara="1" wrap="square" lIns="91425" tIns="45700" rIns="91425" bIns="45700" anchor="t" anchorCtr="0">
            <a:noAutofit/>
          </a:bodyPr>
          <a:lstStyle/>
          <a:p>
            <a:pPr marL="285750" indent="-285750"/>
            <a:r>
              <a:rPr lang="en-US" sz="2000" dirty="0"/>
              <a:t>An I/M 240 test checks the emission levels of a vehicle while it is operating under a variety of conditions and loads.</a:t>
            </a:r>
          </a:p>
          <a:p>
            <a:pPr marL="285750" indent="-285750"/>
            <a:r>
              <a:rPr lang="en-US" sz="2000" dirty="0"/>
              <a:t>This test gives a true look at the exhaust quality of a vehicle as it is working.</a:t>
            </a:r>
          </a:p>
          <a:p>
            <a:pPr marL="285750" indent="-285750"/>
            <a:r>
              <a:rPr lang="en-US" sz="2000" dirty="0"/>
              <a:t>The testing sequence normally begins with a leakage test and a functional test of the EVAP system and a complete visual inspection of the emission control system.</a:t>
            </a:r>
          </a:p>
          <a:p>
            <a:pPr marL="285750" indent="-285750"/>
            <a:r>
              <a:rPr lang="en-US" sz="2000" dirty="0"/>
              <a:t>Many states have plans to phase out I/M 240 testing and rely totally on OBD II tests.</a:t>
            </a:r>
          </a:p>
        </p:txBody>
      </p:sp>
      <p:pic>
        <p:nvPicPr>
          <p:cNvPr id="8" name="Picture Placeholder 7" descr="An evaporative emission control system. Engine is connected to an evaporative canister. The evaporative canister is further connected to a pressure gauge and fuel tank. Pressure gauge is connected to a cylinder. The parts in the fuel tank are labeled as follows: filler cap, filler neck, and rollover valve.">
            <a:extLst>
              <a:ext uri="{FF2B5EF4-FFF2-40B4-BE49-F238E27FC236}">
                <a16:creationId xmlns:a16="http://schemas.microsoft.com/office/drawing/2014/main" id="{0738B4C3-0977-1E6B-27B4-00F0831A13E9}"/>
              </a:ext>
            </a:extLst>
          </p:cNvPr>
          <p:cNvPicPr>
            <a:picLocks noGrp="1" noChangeAspect="1"/>
          </p:cNvPicPr>
          <p:nvPr>
            <p:ph type="pic" sz="quarter" idx="13"/>
          </p:nvPr>
        </p:nvPicPr>
        <p:blipFill>
          <a:blip r:embed="rId3"/>
          <a:srcRect b="14335"/>
          <a:stretch/>
        </p:blipFill>
        <p:spPr>
          <a:xfrm>
            <a:off x="6488481" y="2354894"/>
            <a:ext cx="5431963" cy="2372381"/>
          </a:xfrm>
          <a:prstGeom prst="rect">
            <a:avLst/>
          </a:prstGeom>
        </p:spPr>
      </p:pic>
    </p:spTree>
    <p:extLst>
      <p:ext uri="{BB962C8B-B14F-4D97-AF65-F5344CB8AC3E}">
        <p14:creationId xmlns:p14="http://schemas.microsoft.com/office/powerpoint/2010/main" val="2880874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0CD2631-1EE4-6DC2-F893-B9C5CC7801CF}"/>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22FBE3A-E975-B0BD-702B-2B80F1F06CD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Chassis Dynamometer</a:t>
            </a:r>
            <a:endParaRPr dirty="0"/>
          </a:p>
        </p:txBody>
      </p:sp>
      <p:sp>
        <p:nvSpPr>
          <p:cNvPr id="145" name="Google Shape;145;p4">
            <a:extLst>
              <a:ext uri="{FF2B5EF4-FFF2-40B4-BE49-F238E27FC236}">
                <a16:creationId xmlns:a16="http://schemas.microsoft.com/office/drawing/2014/main" id="{B74B453F-FBF9-7F23-13B0-11C52EC1E380}"/>
              </a:ext>
            </a:extLst>
          </p:cNvPr>
          <p:cNvSpPr txBox="1">
            <a:spLocks noGrp="1"/>
          </p:cNvSpPr>
          <p:nvPr>
            <p:ph type="body" idx="1"/>
          </p:nvPr>
        </p:nvSpPr>
        <p:spPr>
          <a:xfrm>
            <a:off x="476844" y="1517444"/>
            <a:ext cx="6600362" cy="4191693"/>
          </a:xfrm>
          <a:prstGeom prst="rect">
            <a:avLst/>
          </a:prstGeom>
          <a:noFill/>
          <a:ln>
            <a:noFill/>
          </a:ln>
        </p:spPr>
        <p:txBody>
          <a:bodyPr spcFirstLastPara="1" wrap="square" lIns="91425" tIns="45700" rIns="91425" bIns="45700" anchor="t" anchorCtr="0">
            <a:noAutofit/>
          </a:bodyPr>
          <a:lstStyle/>
          <a:p>
            <a:pPr marL="363538" indent="-363538">
              <a:lnSpc>
                <a:spcPct val="107000"/>
              </a:lnSpc>
              <a:spcBef>
                <a:spcPts val="0"/>
              </a:spcBef>
            </a:pPr>
            <a:r>
              <a:rPr lang="en-US" sz="2000" dirty="0"/>
              <a:t>Chassis dynamometers are used during the I/M 240 test and can be valuable when diagnosing other driveability problems, including finding the cause of low power, overheating, and speedometer accuracy.</a:t>
            </a:r>
          </a:p>
          <a:p>
            <a:pPr marL="363538" indent="-363538">
              <a:lnSpc>
                <a:spcPct val="107000"/>
              </a:lnSpc>
              <a:spcBef>
                <a:spcPts val="0"/>
              </a:spcBef>
            </a:pPr>
            <a:r>
              <a:rPr lang="en-US" sz="2000" dirty="0"/>
              <a:t>A chassis dyno, or </a:t>
            </a:r>
            <a:r>
              <a:rPr lang="en-US" sz="2000" b="1" dirty="0"/>
              <a:t>dynamometer</a:t>
            </a:r>
            <a:r>
              <a:rPr lang="en-US" sz="2000" dirty="0"/>
              <a:t>, is designed to simulate the various road conditions in which a vehicle is driven.</a:t>
            </a:r>
          </a:p>
          <a:p>
            <a:pPr marL="363538" indent="-363538">
              <a:lnSpc>
                <a:spcPct val="107000"/>
              </a:lnSpc>
              <a:spcBef>
                <a:spcPts val="0"/>
              </a:spcBef>
            </a:pPr>
            <a:r>
              <a:rPr lang="en-US" sz="2000" dirty="0"/>
              <a:t>With a chassis dyno, a vehicle can be driven on rollers.</a:t>
            </a:r>
          </a:p>
          <a:p>
            <a:pPr marL="363538" indent="-363538">
              <a:lnSpc>
                <a:spcPct val="107000"/>
              </a:lnSpc>
              <a:spcBef>
                <a:spcPts val="0"/>
              </a:spcBef>
            </a:pPr>
            <a:r>
              <a:rPr lang="en-US" sz="2000" dirty="0"/>
              <a:t>This allows the vehicle to be driven through the test conditions while it is stationary.</a:t>
            </a:r>
          </a:p>
        </p:txBody>
      </p:sp>
      <p:pic>
        <p:nvPicPr>
          <p:cNvPr id="8" name="Picture Placeholder 7" descr="The wheel of a vehicle is placed on the rollers of a chassis dynamometer.">
            <a:extLst>
              <a:ext uri="{FF2B5EF4-FFF2-40B4-BE49-F238E27FC236}">
                <a16:creationId xmlns:a16="http://schemas.microsoft.com/office/drawing/2014/main" id="{E3AB8A24-4C6F-95BC-8894-B9777440E74D}"/>
              </a:ext>
            </a:extLst>
          </p:cNvPr>
          <p:cNvPicPr>
            <a:picLocks noGrp="1" noChangeAspect="1"/>
          </p:cNvPicPr>
          <p:nvPr>
            <p:ph type="pic" sz="quarter" idx="12"/>
          </p:nvPr>
        </p:nvPicPr>
        <p:blipFill>
          <a:blip r:embed="rId3"/>
          <a:srcRect b="11625"/>
          <a:stretch/>
        </p:blipFill>
        <p:spPr>
          <a:xfrm>
            <a:off x="7403820" y="2083274"/>
            <a:ext cx="4406208" cy="3390600"/>
          </a:xfrm>
          <a:prstGeom prst="rect">
            <a:avLst/>
          </a:prstGeom>
        </p:spPr>
      </p:pic>
    </p:spTree>
    <p:extLst>
      <p:ext uri="{BB962C8B-B14F-4D97-AF65-F5344CB8AC3E}">
        <p14:creationId xmlns:p14="http://schemas.microsoft.com/office/powerpoint/2010/main" val="2131324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A44E380-E1E8-8316-FF81-299E66167E59}"/>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0A790B2-3589-723F-9F48-0D6A1EA4730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Interpreting the Results of an I/M Test</a:t>
            </a:r>
            <a:endParaRPr dirty="0"/>
          </a:p>
        </p:txBody>
      </p:sp>
      <p:sp>
        <p:nvSpPr>
          <p:cNvPr id="145" name="Google Shape;145;p4">
            <a:extLst>
              <a:ext uri="{FF2B5EF4-FFF2-40B4-BE49-F238E27FC236}">
                <a16:creationId xmlns:a16="http://schemas.microsoft.com/office/drawing/2014/main" id="{9C4E56F9-5FF9-8E92-85EF-EE86FDEC5A81}"/>
              </a:ext>
            </a:extLst>
          </p:cNvPr>
          <p:cNvSpPr txBox="1">
            <a:spLocks noGrp="1"/>
          </p:cNvSpPr>
          <p:nvPr>
            <p:ph type="body" idx="1"/>
          </p:nvPr>
        </p:nvSpPr>
        <p:spPr>
          <a:xfrm>
            <a:off x="476844" y="1517444"/>
            <a:ext cx="5619156" cy="4657888"/>
          </a:xfrm>
          <a:prstGeom prst="rect">
            <a:avLst/>
          </a:prstGeom>
          <a:noFill/>
          <a:ln>
            <a:noFill/>
          </a:ln>
        </p:spPr>
        <p:txBody>
          <a:bodyPr spcFirstLastPara="1" wrap="square" lIns="91425" tIns="45700" rIns="91425" bIns="45700" anchor="t" anchorCtr="0">
            <a:noAutofit/>
          </a:bodyPr>
          <a:lstStyle/>
          <a:p>
            <a:pPr marL="285750" indent="-285750"/>
            <a:r>
              <a:rPr lang="en-US" sz="1800" dirty="0">
                <a:solidFill>
                  <a:schemeClr val="tx1"/>
                </a:solidFill>
              </a:rPr>
              <a:t>The report from an I/M 240 test shows the amount of gases emitted during the different speeds and loads of the test.</a:t>
            </a:r>
          </a:p>
          <a:p>
            <a:pPr marL="285750" indent="-285750"/>
            <a:r>
              <a:rPr lang="en-US" sz="1800" dirty="0">
                <a:solidFill>
                  <a:schemeClr val="tx1"/>
                </a:solidFill>
              </a:rPr>
              <a:t>The report also gives the average output for each of the gases and shows the cutpoint for the various gases.</a:t>
            </a:r>
          </a:p>
          <a:p>
            <a:pPr marL="285750" indent="-285750"/>
            <a:r>
              <a:rPr lang="en-US" sz="1800" dirty="0">
                <a:solidFill>
                  <a:schemeClr val="tx1"/>
                </a:solidFill>
              </a:rPr>
              <a:t>The cutpoint is the maximum allowable amount of each gas.</a:t>
            </a:r>
          </a:p>
          <a:p>
            <a:pPr marL="285750" indent="-285750"/>
            <a:r>
              <a:rPr lang="en-US" sz="1800" dirty="0">
                <a:solidFill>
                  <a:schemeClr val="tx1"/>
                </a:solidFill>
              </a:rPr>
              <a:t>A vehicle that fails the test will have many areas of high pollutant output.</a:t>
            </a:r>
          </a:p>
          <a:p>
            <a:pPr marL="285750" indent="-285750"/>
            <a:r>
              <a:rPr lang="en-US" sz="1800" dirty="0">
                <a:solidFill>
                  <a:schemeClr val="tx1"/>
                </a:solidFill>
              </a:rPr>
              <a:t>To use the report as a diagnostic tool, pay attention to all of the gases and to the loads and speeds at which the vehicle went over the cutpoint.</a:t>
            </a:r>
          </a:p>
        </p:txBody>
      </p:sp>
      <p:pic>
        <p:nvPicPr>
          <p:cNvPr id="8" name="Picture Placeholder 7" descr="Two area charts (A) and (B). In (A) the horizontal axis represents time in seconds and the vertical axis represents emissions in G P M. A horizontal line above the horizontal axis represents cutpoint. In both the charts a curve starts at the origin, moves slantingly above the cutpoint, and then gradually increases to a certain point. At that point, the curve suddenly slopes downwards and then gradually increases to reach an endpoint. The area bounded by the curve is highlighted in yellow. (A). The first chart has an acceptable emission level where the curve, labeled as the duration of emission levels, starts at the origin, gradually increases to a certain point, and then decreases to reach the horizontal axis. The area bounded by the curve below the cutpoint is highlighted in blue. (B). The second chart has an unacceptable emission level where the curve, labeled as emission levels during the drive cycle, starts at the origin, then suddenly increases to reach a peak, gradually decreases to a point near the cutpoint, gradually increases to a certain point, and then suddenly slopes downwards to reach the horizontal axis. The area bounded by the curve above and below the cutpoint is highlighted in blue.">
            <a:extLst>
              <a:ext uri="{FF2B5EF4-FFF2-40B4-BE49-F238E27FC236}">
                <a16:creationId xmlns:a16="http://schemas.microsoft.com/office/drawing/2014/main" id="{EFA021F3-C1A5-BAA1-A59E-24EB3B5FCBE6}"/>
              </a:ext>
            </a:extLst>
          </p:cNvPr>
          <p:cNvPicPr>
            <a:picLocks noGrp="1" noChangeAspect="1"/>
          </p:cNvPicPr>
          <p:nvPr>
            <p:ph type="pic" sz="quarter" idx="13"/>
          </p:nvPr>
        </p:nvPicPr>
        <p:blipFill>
          <a:blip r:embed="rId3"/>
          <a:srcRect b="10335"/>
          <a:stretch/>
        </p:blipFill>
        <p:spPr>
          <a:xfrm>
            <a:off x="6332692" y="2348356"/>
            <a:ext cx="5546118" cy="2173540"/>
          </a:xfrm>
          <a:prstGeom prst="rect">
            <a:avLst/>
          </a:prstGeom>
        </p:spPr>
      </p:pic>
    </p:spTree>
    <p:extLst>
      <p:ext uri="{BB962C8B-B14F-4D97-AF65-F5344CB8AC3E}">
        <p14:creationId xmlns:p14="http://schemas.microsoft.com/office/powerpoint/2010/main" val="1724196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BC6996B-5718-1D34-C7F3-CEFAA9F1C97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DB78BBAA-3F38-687D-0F5F-06AF656AD10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Testing Emissions</a:t>
            </a:r>
            <a:endParaRPr dirty="0"/>
          </a:p>
        </p:txBody>
      </p:sp>
      <p:pic>
        <p:nvPicPr>
          <p:cNvPr id="8" name="Picture Placeholder 7" descr="A hand-held exhaust gas analyzer for testing the emissions consists of a cable with a probe attached to a digital display screen with several buttons.">
            <a:extLst>
              <a:ext uri="{FF2B5EF4-FFF2-40B4-BE49-F238E27FC236}">
                <a16:creationId xmlns:a16="http://schemas.microsoft.com/office/drawing/2014/main" id="{09430DFE-7A48-9CF2-066E-010820E8517D}"/>
              </a:ext>
            </a:extLst>
          </p:cNvPr>
          <p:cNvPicPr>
            <a:picLocks noGrp="1" noChangeAspect="1"/>
          </p:cNvPicPr>
          <p:nvPr>
            <p:ph type="pic" sz="quarter" idx="13"/>
          </p:nvPr>
        </p:nvPicPr>
        <p:blipFill>
          <a:blip r:embed="rId3"/>
          <a:srcRect b="10359"/>
          <a:stretch/>
        </p:blipFill>
        <p:spPr>
          <a:xfrm>
            <a:off x="734301" y="2023814"/>
            <a:ext cx="4353508" cy="3077576"/>
          </a:xfrm>
          <a:prstGeom prst="rect">
            <a:avLst/>
          </a:prstGeom>
        </p:spPr>
      </p:pic>
      <p:sp>
        <p:nvSpPr>
          <p:cNvPr id="145" name="Google Shape;145;p4">
            <a:extLst>
              <a:ext uri="{FF2B5EF4-FFF2-40B4-BE49-F238E27FC236}">
                <a16:creationId xmlns:a16="http://schemas.microsoft.com/office/drawing/2014/main" id="{6F05A33E-2C61-A609-866F-5AFC14EC3F16}"/>
              </a:ext>
            </a:extLst>
          </p:cNvPr>
          <p:cNvSpPr txBox="1">
            <a:spLocks noGrp="1"/>
          </p:cNvSpPr>
          <p:nvPr>
            <p:ph type="body" idx="1"/>
          </p:nvPr>
        </p:nvSpPr>
        <p:spPr>
          <a:xfrm>
            <a:off x="5317958" y="1517444"/>
            <a:ext cx="6400800" cy="4426155"/>
          </a:xfrm>
          <a:prstGeom prst="rect">
            <a:avLst/>
          </a:prstGeom>
          <a:noFill/>
          <a:ln>
            <a:noFill/>
          </a:ln>
        </p:spPr>
        <p:txBody>
          <a:bodyPr spcFirstLastPara="1" wrap="square" lIns="91425" tIns="45700" rIns="91425" bIns="45700" anchor="t" anchorCtr="0">
            <a:noAutofit/>
          </a:bodyPr>
          <a:lstStyle/>
          <a:p>
            <a:pPr marL="285750" indent="-285750"/>
            <a:r>
              <a:rPr lang="en-US" sz="2000" dirty="0"/>
              <a:t>Testing the quality of the exhaust is both a procedure for testing emission levels and a diagnostic routine.</a:t>
            </a:r>
          </a:p>
          <a:p>
            <a:pPr marL="285750" indent="-285750"/>
            <a:r>
              <a:rPr lang="en-US" sz="2000" dirty="0"/>
              <a:t>An exhaust analyzer is one of the valuable diagnostic tools for driveability problems.</a:t>
            </a:r>
          </a:p>
          <a:p>
            <a:pPr marL="285750" indent="-285750"/>
            <a:r>
              <a:rPr lang="en-US" sz="2000" dirty="0"/>
              <a:t>By looking at the quality of an engine’s exhaust, a technician is able to look at the effects of the combustion process.</a:t>
            </a:r>
          </a:p>
          <a:p>
            <a:pPr marL="285750" indent="-285750"/>
            <a:r>
              <a:rPr lang="en-US" sz="2000" dirty="0"/>
              <a:t>Any defect can cause a change in exhaust quality. The amount and type of change serve as the basis of diagnostic work.</a:t>
            </a:r>
          </a:p>
        </p:txBody>
      </p:sp>
    </p:spTree>
    <p:extLst>
      <p:ext uri="{BB962C8B-B14F-4D97-AF65-F5344CB8AC3E}">
        <p14:creationId xmlns:p14="http://schemas.microsoft.com/office/powerpoint/2010/main" val="179025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61D323B-3D40-058C-18BD-2E3F9706200D}"/>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9F3BDEA-579A-720B-8799-C1DE1D34A88C}"/>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Exhaust Analyzer</a:t>
            </a:r>
            <a:endParaRPr dirty="0"/>
          </a:p>
        </p:txBody>
      </p:sp>
      <p:pic>
        <p:nvPicPr>
          <p:cNvPr id="8" name="Picture Placeholder 7" descr="An exhaust analyzer probe is inserted into the tailpipe of the vehicle.">
            <a:extLst>
              <a:ext uri="{FF2B5EF4-FFF2-40B4-BE49-F238E27FC236}">
                <a16:creationId xmlns:a16="http://schemas.microsoft.com/office/drawing/2014/main" id="{FB4E3C1E-016D-A573-B63C-F2487D2EDE90}"/>
              </a:ext>
            </a:extLst>
          </p:cNvPr>
          <p:cNvPicPr>
            <a:picLocks noGrp="1" noChangeAspect="1"/>
          </p:cNvPicPr>
          <p:nvPr>
            <p:ph type="pic" sz="quarter" idx="12"/>
          </p:nvPr>
        </p:nvPicPr>
        <p:blipFill rotWithShape="1">
          <a:blip r:embed="rId3"/>
          <a:srcRect b="14561"/>
          <a:stretch/>
        </p:blipFill>
        <p:spPr>
          <a:xfrm>
            <a:off x="473242" y="2143231"/>
            <a:ext cx="3969100" cy="2942335"/>
          </a:xfrm>
          <a:prstGeom prst="rect">
            <a:avLst/>
          </a:prstGeom>
        </p:spPr>
      </p:pic>
      <p:sp>
        <p:nvSpPr>
          <p:cNvPr id="145" name="Google Shape;145;p4">
            <a:extLst>
              <a:ext uri="{FF2B5EF4-FFF2-40B4-BE49-F238E27FC236}">
                <a16:creationId xmlns:a16="http://schemas.microsoft.com/office/drawing/2014/main" id="{8A076A60-6DBD-B2A6-F9B9-35FF75DCC5D9}"/>
              </a:ext>
            </a:extLst>
          </p:cNvPr>
          <p:cNvSpPr txBox="1">
            <a:spLocks noGrp="1"/>
          </p:cNvSpPr>
          <p:nvPr>
            <p:ph type="body" idx="1"/>
          </p:nvPr>
        </p:nvSpPr>
        <p:spPr>
          <a:xfrm>
            <a:off x="4670854" y="1517445"/>
            <a:ext cx="7047904" cy="4586794"/>
          </a:xfrm>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ts val="2800"/>
              <a:buNone/>
            </a:pPr>
            <a:r>
              <a:rPr lang="en-US" sz="1800" b="1" dirty="0"/>
              <a:t>34.02 Explain how exhaust emission testing is performed.</a:t>
            </a:r>
            <a:endParaRPr lang="en-US" sz="1800" dirty="0"/>
          </a:p>
          <a:p>
            <a:pPr marL="358775" indent="-358775">
              <a:lnSpc>
                <a:spcPct val="107000"/>
              </a:lnSpc>
              <a:spcBef>
                <a:spcPts val="0"/>
              </a:spcBef>
            </a:pPr>
            <a:r>
              <a:rPr lang="en-US" sz="1800" dirty="0"/>
              <a:t>Emissions analyzers measure HC in </a:t>
            </a:r>
            <a:r>
              <a:rPr lang="en-US" sz="1800" b="1" dirty="0"/>
              <a:t>parts per million (ppm)</a:t>
            </a:r>
            <a:r>
              <a:rPr lang="en-US" sz="1800" dirty="0"/>
              <a:t> or grams per mile (g/mi.).</a:t>
            </a:r>
          </a:p>
          <a:p>
            <a:pPr marL="358775" indent="-358775">
              <a:lnSpc>
                <a:spcPct val="107000"/>
              </a:lnSpc>
              <a:spcBef>
                <a:spcPts val="0"/>
              </a:spcBef>
            </a:pPr>
            <a:r>
              <a:rPr lang="en-US" sz="1800" dirty="0"/>
              <a:t>CO is an odorless, toxic gas that is the product of combustion and is typically caused by a lack of air or excessive fuel.</a:t>
            </a:r>
          </a:p>
          <a:p>
            <a:pPr marL="358775" indent="-358775">
              <a:lnSpc>
                <a:spcPct val="107000"/>
              </a:lnSpc>
              <a:spcBef>
                <a:spcPts val="0"/>
              </a:spcBef>
            </a:pPr>
            <a:r>
              <a:rPr lang="en-US" sz="1800" dirty="0"/>
              <a:t>CO is typically measured as a percent of the total exhaust.</a:t>
            </a:r>
          </a:p>
          <a:p>
            <a:pPr marL="358775" indent="-358775">
              <a:lnSpc>
                <a:spcPct val="107000"/>
              </a:lnSpc>
              <a:spcBef>
                <a:spcPts val="0"/>
              </a:spcBef>
            </a:pPr>
            <a:r>
              <a:rPr lang="en-US" sz="1800" dirty="0"/>
              <a:t>Before measuring the exhaust gases, disable the air injection system, if the engine is equipped with one.</a:t>
            </a:r>
          </a:p>
          <a:p>
            <a:pPr marL="358775" indent="-358775">
              <a:lnSpc>
                <a:spcPct val="107000"/>
              </a:lnSpc>
              <a:spcBef>
                <a:spcPts val="0"/>
              </a:spcBef>
            </a:pPr>
            <a:r>
              <a:rPr lang="en-US" sz="1800" dirty="0"/>
              <a:t>Start the engine.</a:t>
            </a:r>
          </a:p>
          <a:p>
            <a:pPr marL="358775" indent="-358775">
              <a:lnSpc>
                <a:spcPct val="107000"/>
              </a:lnSpc>
              <a:spcBef>
                <a:spcPts val="0"/>
              </a:spcBef>
            </a:pPr>
            <a:r>
              <a:rPr lang="en-US" sz="1800" dirty="0"/>
              <a:t>Once the engine is warmed up, insert the probe in the tailpipe.</a:t>
            </a:r>
          </a:p>
        </p:txBody>
      </p:sp>
    </p:spTree>
    <p:extLst>
      <p:ext uri="{BB962C8B-B14F-4D97-AF65-F5344CB8AC3E}">
        <p14:creationId xmlns:p14="http://schemas.microsoft.com/office/powerpoint/2010/main" val="2192944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t>When using an exhaust analyzer, where is the probe placed?</a:t>
            </a:r>
          </a:p>
        </p:txBody>
      </p:sp>
    </p:spTree>
    <p:extLst>
      <p:ext uri="{BB962C8B-B14F-4D97-AF65-F5344CB8AC3E}">
        <p14:creationId xmlns:p14="http://schemas.microsoft.com/office/powerpoint/2010/main" val="1579602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E8B05773-F0DF-9485-0027-A8B3766615B3}"/>
              </a:ext>
            </a:extLst>
          </p:cNvPr>
          <p:cNvSpPr>
            <a:spLocks noGrp="1"/>
          </p:cNvSpPr>
          <p:nvPr>
            <p:ph type="body" idx="1"/>
          </p:nvPr>
        </p:nvSpPr>
        <p:spPr/>
        <p:txBody>
          <a:bodyPr/>
          <a:lstStyle/>
          <a:p>
            <a:pPr marL="360362" lvl="1" indent="0">
              <a:buNone/>
            </a:pPr>
            <a:r>
              <a:rPr lang="en-US" sz="2600" b="1" dirty="0"/>
              <a:t>Answer</a:t>
            </a:r>
            <a:r>
              <a:rPr lang="en-US" sz="2600" dirty="0"/>
              <a:t>: The probe is placed in the tailpipe.</a:t>
            </a:r>
          </a:p>
        </p:txBody>
      </p:sp>
    </p:spTree>
    <p:extLst>
      <p:ext uri="{BB962C8B-B14F-4D97-AF65-F5344CB8AC3E}">
        <p14:creationId xmlns:p14="http://schemas.microsoft.com/office/powerpoint/2010/main" val="2535777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4A2787C-36F2-0F55-BCC3-8C880CD4BF2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C5D35BB-2BA9-3FD2-4D86-B165C8B6286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Basic Inspection</a:t>
            </a:r>
            <a:endParaRPr dirty="0"/>
          </a:p>
        </p:txBody>
      </p:sp>
      <p:sp>
        <p:nvSpPr>
          <p:cNvPr id="145" name="Google Shape;145;p4">
            <a:extLst>
              <a:ext uri="{FF2B5EF4-FFF2-40B4-BE49-F238E27FC236}">
                <a16:creationId xmlns:a16="http://schemas.microsoft.com/office/drawing/2014/main" id="{4F1BEA74-9457-1097-DDC5-05F3A64B092B}"/>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2000" dirty="0"/>
              <a:t>Before diagnosing the cause of excessive emissions, make sure you inspect the entire vehicle for obvious problems.</a:t>
            </a:r>
          </a:p>
          <a:p>
            <a:pPr marL="358775" indent="-358775">
              <a:spcAft>
                <a:spcPts val="0"/>
              </a:spcAft>
            </a:pPr>
            <a:r>
              <a:rPr lang="en-US" sz="2000" dirty="0"/>
              <a:t>The results of the inspection may help pinpoint the cause of the problem.</a:t>
            </a:r>
          </a:p>
          <a:p>
            <a:pPr marL="358775" indent="-358775">
              <a:spcAft>
                <a:spcPts val="0"/>
              </a:spcAft>
            </a:pPr>
            <a:r>
              <a:rPr lang="en-US" sz="2000" dirty="0"/>
              <a:t>Here are a few things to check:</a:t>
            </a:r>
            <a:endParaRPr lang="en-US" sz="1800" dirty="0"/>
          </a:p>
          <a:p>
            <a:pPr marL="742950" lvl="1" indent="-379413">
              <a:spcAft>
                <a:spcPts val="0"/>
              </a:spcAft>
              <a:buSzPct val="100000"/>
            </a:pPr>
            <a:r>
              <a:rPr lang="en-US" sz="1800" dirty="0"/>
              <a:t>Check the battery’s voltage.</a:t>
            </a:r>
          </a:p>
          <a:p>
            <a:pPr marL="742950" lvl="1" indent="-379413">
              <a:spcAft>
                <a:spcPts val="0"/>
              </a:spcAft>
              <a:buSzPct val="100000"/>
            </a:pPr>
            <a:r>
              <a:rPr lang="en-US" sz="1800" dirty="0"/>
              <a:t>Inspect/clean the air filter for dirt or contamination.</a:t>
            </a:r>
          </a:p>
          <a:p>
            <a:pPr marL="742950" lvl="1" indent="-379413">
              <a:spcAft>
                <a:spcPts val="0"/>
              </a:spcAft>
              <a:buSzPct val="100000"/>
            </a:pPr>
            <a:r>
              <a:rPr lang="en-US" sz="1800" dirty="0"/>
              <a:t>Disconnect the air inlet line hose from the charcoal canister. Then check that air can flow freely into the air inlet. If air cannot flow freely, repair or replace it.</a:t>
            </a:r>
          </a:p>
          <a:p>
            <a:pPr marL="742950" lvl="1" indent="-379413">
              <a:spcAft>
                <a:spcPts val="0"/>
              </a:spcAft>
              <a:buSzPct val="100000"/>
            </a:pPr>
            <a:r>
              <a:rPr lang="en-US" sz="1800" dirty="0"/>
              <a:t>On older vehicles, check and adjust the idle speed.</a:t>
            </a:r>
          </a:p>
          <a:p>
            <a:pPr marL="742950" lvl="1" indent="-379413">
              <a:spcAft>
                <a:spcPts val="0"/>
              </a:spcAft>
              <a:buSzPct val="100000"/>
            </a:pPr>
            <a:r>
              <a:rPr lang="en-US" sz="1800" dirty="0"/>
              <a:t>On older vehicles, make sure that base timing is set to specifications.</a:t>
            </a:r>
          </a:p>
          <a:p>
            <a:pPr marL="742950" lvl="1" indent="-379413">
              <a:spcAft>
                <a:spcPts val="0"/>
              </a:spcAft>
              <a:buSzPct val="100000"/>
            </a:pPr>
            <a:r>
              <a:rPr lang="en-US" sz="1800" dirty="0"/>
              <a:t>Check the fuel pressure.</a:t>
            </a:r>
          </a:p>
          <a:p>
            <a:pPr marL="742950" lvl="1" indent="-379413">
              <a:spcAft>
                <a:spcPts val="0"/>
              </a:spcAft>
              <a:buSzPct val="100000"/>
            </a:pPr>
            <a:r>
              <a:rPr lang="en-US" sz="1800" dirty="0"/>
              <a:t>Check the engine’s mechanical condition.</a:t>
            </a:r>
          </a:p>
          <a:p>
            <a:pPr marL="742950" lvl="1" indent="-379413">
              <a:spcAft>
                <a:spcPts val="0"/>
              </a:spcAft>
              <a:buSzPct val="100000"/>
            </a:pPr>
            <a:r>
              <a:rPr lang="en-US" sz="1800" dirty="0"/>
              <a:t>Check all accessible electrical connections and vacuum and air induction hoses and ducts.</a:t>
            </a:r>
          </a:p>
        </p:txBody>
      </p:sp>
    </p:spTree>
    <p:extLst>
      <p:ext uri="{BB962C8B-B14F-4D97-AF65-F5344CB8AC3E}">
        <p14:creationId xmlns:p14="http://schemas.microsoft.com/office/powerpoint/2010/main" val="4176525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72F5B687-4E96-C654-1FCD-F9FDEF252A5D}"/>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E6E3D7B-DE16-CEC4-6CD0-14B264BDDD1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OBD II Monitors</a:t>
            </a:r>
            <a:endParaRPr dirty="0"/>
          </a:p>
        </p:txBody>
      </p:sp>
      <p:sp>
        <p:nvSpPr>
          <p:cNvPr id="145" name="Google Shape;145;p4">
            <a:extLst>
              <a:ext uri="{FF2B5EF4-FFF2-40B4-BE49-F238E27FC236}">
                <a16:creationId xmlns:a16="http://schemas.microsoft.com/office/drawing/2014/main" id="{3D4B3A18-2976-4CDE-FBE4-0807B3E3F2B5}"/>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t>The OBD II system monitors the emission control systems and components that can affect tailpipe or evaporative emissions.</a:t>
            </a:r>
          </a:p>
          <a:p>
            <a:pPr marL="358775" indent="-358775">
              <a:spcAft>
                <a:spcPts val="0"/>
              </a:spcAft>
            </a:pPr>
            <a:r>
              <a:rPr lang="en-US" sz="1800" dirty="0"/>
              <a:t>Through this monitoring process, problems are detected before emissions are 1.5 times greater than applicable emission standards.</a:t>
            </a:r>
          </a:p>
          <a:p>
            <a:pPr marL="358775" indent="-358775">
              <a:spcAft>
                <a:spcPts val="0"/>
              </a:spcAft>
            </a:pPr>
            <a:r>
              <a:rPr lang="en-US" sz="1800" dirty="0"/>
              <a:t>Each monitor requires one or more diagnostic tests.</a:t>
            </a:r>
          </a:p>
          <a:p>
            <a:pPr marL="358775" indent="-358775">
              <a:spcAft>
                <a:spcPts val="0"/>
              </a:spcAft>
            </a:pPr>
            <a:r>
              <a:rPr lang="en-US" sz="1800" dirty="0"/>
              <a:t>The monitors run continuously or noncontinuously and only when certain enabling criteria have been met. </a:t>
            </a:r>
          </a:p>
          <a:p>
            <a:pPr marL="358775" indent="-358775">
              <a:spcAft>
                <a:spcPts val="0"/>
              </a:spcAft>
            </a:pPr>
            <a:r>
              <a:rPr lang="en-US" sz="1800" dirty="0"/>
              <a:t>If a system or component fails these tests, a DTC is stored and the MIL is illuminated within two driving cycles.</a:t>
            </a:r>
          </a:p>
          <a:p>
            <a:pPr marL="358775" indent="-358775">
              <a:spcAft>
                <a:spcPts val="0"/>
              </a:spcAft>
            </a:pPr>
            <a:r>
              <a:rPr lang="en-US" sz="1800" dirty="0"/>
              <a:t>A pending DTC is stored in the PCM when a concern is initially detected.</a:t>
            </a:r>
          </a:p>
          <a:p>
            <a:pPr marL="358775" indent="-358775">
              <a:spcAft>
                <a:spcPts val="0"/>
              </a:spcAft>
            </a:pPr>
            <a:r>
              <a:rPr lang="en-US" sz="1800" dirty="0"/>
              <a:t>Part of many mandatory I/M inspections is taking a look at the OBD system tests.</a:t>
            </a:r>
          </a:p>
          <a:p>
            <a:pPr marL="358775" indent="-358775">
              <a:spcAft>
                <a:spcPts val="0"/>
              </a:spcAft>
            </a:pPr>
            <a:r>
              <a:rPr lang="en-US" sz="1800" dirty="0"/>
              <a:t>This is done by observing the system status display on a scan tool.</a:t>
            </a:r>
          </a:p>
          <a:p>
            <a:pPr marL="358775" indent="-358775">
              <a:spcAft>
                <a:spcPts val="0"/>
              </a:spcAft>
            </a:pPr>
            <a:r>
              <a:rPr lang="en-US" sz="1800" dirty="0"/>
              <a:t>If the diagnostic tests for a particular monitor have been completed, the scan tool will indicate this with a YES or COMPLETE.</a:t>
            </a:r>
          </a:p>
        </p:txBody>
      </p:sp>
    </p:spTree>
    <p:extLst>
      <p:ext uri="{BB962C8B-B14F-4D97-AF65-F5344CB8AC3E}">
        <p14:creationId xmlns:p14="http://schemas.microsoft.com/office/powerpoint/2010/main" val="964932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2CE4287-E877-7C6A-0288-3343C595D03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A7A559F4-3A0D-DDDF-7127-3357AF5B534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0000"/>
              </a:lnSpc>
              <a:spcBef>
                <a:spcPts val="0"/>
              </a:spcBef>
              <a:buSzPts val="2800"/>
            </a:pPr>
            <a:r>
              <a:rPr lang="en-US" sz="4000" dirty="0"/>
              <a:t>Evaporative Emission Control System Diagnosis and Service</a:t>
            </a:r>
            <a:endParaRPr lang="en-US" sz="4800" dirty="0"/>
          </a:p>
        </p:txBody>
      </p:sp>
      <p:sp>
        <p:nvSpPr>
          <p:cNvPr id="145" name="Google Shape;145;p4">
            <a:extLst>
              <a:ext uri="{FF2B5EF4-FFF2-40B4-BE49-F238E27FC236}">
                <a16:creationId xmlns:a16="http://schemas.microsoft.com/office/drawing/2014/main" id="{F1B66077-D0BB-AE4C-69DD-7C8E779F6D63}"/>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2000" b="1" dirty="0"/>
              <a:t>34.04 Diagnose and service evaporative (EVAP) systems.</a:t>
            </a:r>
          </a:p>
          <a:p>
            <a:pPr marL="358775" indent="-358775">
              <a:spcAft>
                <a:spcPts val="0"/>
              </a:spcAft>
            </a:pPr>
            <a:r>
              <a:rPr lang="en-US" sz="2000" dirty="0"/>
              <a:t>Most I/M inspections begin with a check of the EVAP system.</a:t>
            </a:r>
          </a:p>
          <a:p>
            <a:pPr marL="358775" indent="-358775">
              <a:spcAft>
                <a:spcPts val="0"/>
              </a:spcAft>
            </a:pPr>
            <a:r>
              <a:rPr lang="en-US" sz="2000" dirty="0"/>
              <a:t>This includes checking the results of the EVAP monitor’s diagnostic tests.</a:t>
            </a:r>
          </a:p>
          <a:p>
            <a:pPr marL="358775" indent="-358775">
              <a:spcAft>
                <a:spcPts val="0"/>
              </a:spcAft>
            </a:pPr>
            <a:r>
              <a:rPr lang="en-US" sz="2000" dirty="0"/>
              <a:t>The EVAP system is monitored for leaks and its ability to move fuel vapor when commanded by the PCM to do so.</a:t>
            </a:r>
          </a:p>
          <a:p>
            <a:pPr marL="358775" indent="-358775">
              <a:spcAft>
                <a:spcPts val="0"/>
              </a:spcAft>
            </a:pPr>
            <a:r>
              <a:rPr lang="en-US" sz="2000" dirty="0"/>
              <a:t>Problems that are detected will set a DTC.</a:t>
            </a:r>
          </a:p>
          <a:p>
            <a:pPr marL="358775" indent="-358775">
              <a:spcAft>
                <a:spcPts val="0"/>
              </a:spcAft>
            </a:pPr>
            <a:r>
              <a:rPr lang="en-US" sz="2000" dirty="0"/>
              <a:t>Normally, this is the only way a driver knows there is an EVAP problem.</a:t>
            </a:r>
          </a:p>
          <a:p>
            <a:pPr marL="358775" indent="-358775">
              <a:spcAft>
                <a:spcPts val="0"/>
              </a:spcAft>
            </a:pPr>
            <a:r>
              <a:rPr lang="en-US" sz="2000" dirty="0"/>
              <a:t>At times, the owner may complain of a gasoline odor in or around the vehicle.</a:t>
            </a:r>
          </a:p>
          <a:p>
            <a:pPr marL="358775" indent="-358775">
              <a:spcAft>
                <a:spcPts val="0"/>
              </a:spcAft>
            </a:pPr>
            <a:r>
              <a:rPr lang="en-US" sz="2000" dirty="0"/>
              <a:t>The common tools for troubleshooting an EVAP system are a diagnostic tester, smoke machine, and pressure kit.</a:t>
            </a:r>
          </a:p>
          <a:p>
            <a:pPr marL="358775" indent="-358775">
              <a:spcAft>
                <a:spcPts val="0"/>
              </a:spcAft>
            </a:pPr>
            <a:r>
              <a:rPr lang="en-US" sz="2000" dirty="0"/>
              <a:t>The exact procedures and tools will vary with each application.</a:t>
            </a:r>
          </a:p>
        </p:txBody>
      </p:sp>
    </p:spTree>
    <p:extLst>
      <p:ext uri="{BB962C8B-B14F-4D97-AF65-F5344CB8AC3E}">
        <p14:creationId xmlns:p14="http://schemas.microsoft.com/office/powerpoint/2010/main" val="1705507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1CF9131-960B-D21E-18E8-EDC91A7E8265}"/>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83902B6-D121-4CA7-5D4A-5A6B9E3C05F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EVAP Monitors</a:t>
            </a:r>
            <a:endParaRPr lang="en-US" sz="4800" dirty="0"/>
          </a:p>
        </p:txBody>
      </p:sp>
      <p:sp>
        <p:nvSpPr>
          <p:cNvPr id="145" name="Google Shape;145;p4">
            <a:extLst>
              <a:ext uri="{FF2B5EF4-FFF2-40B4-BE49-F238E27FC236}">
                <a16:creationId xmlns:a16="http://schemas.microsoft.com/office/drawing/2014/main" id="{18FA5225-542B-74EE-3EF4-95D44E41AC76}"/>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1800" dirty="0"/>
              <a:t>Many different EVAP systems and monitoring systems have been used by the manufacturers. </a:t>
            </a:r>
          </a:p>
          <a:p>
            <a:pPr marL="358775" indent="-358775"/>
            <a:r>
              <a:rPr lang="en-US" sz="1800" dirty="0"/>
              <a:t>It is important to correctly identify the system used on a particular vehicle before doing any diagnostic procedures or service on the vehicle.</a:t>
            </a:r>
          </a:p>
          <a:p>
            <a:pPr marL="358775" indent="-358775"/>
            <a:r>
              <a:rPr lang="en-US" sz="1800" dirty="0"/>
              <a:t>A system leak can generate multiple DTCs depending on the component and location of the leak.</a:t>
            </a:r>
          </a:p>
          <a:p>
            <a:pPr marL="358775" indent="-358775"/>
            <a:r>
              <a:rPr lang="en-US" sz="1800" dirty="0"/>
              <a:t>The monitor also checks the electrical integrity of the system and the vapor purge rate.</a:t>
            </a:r>
          </a:p>
          <a:p>
            <a:pPr marL="358775" indent="-358775"/>
            <a:r>
              <a:rPr lang="en-US" sz="1800" dirty="0"/>
              <a:t>All EVAP monitor DTCs require two trips.</a:t>
            </a:r>
          </a:p>
          <a:p>
            <a:pPr marL="358775" indent="-358775"/>
            <a:r>
              <a:rPr lang="en-US" sz="1800" dirty="0"/>
              <a:t>To monitor the vapor purge in most systems, the PCM changes the duty cycle of the purge solenoid while monitoring the STFT.</a:t>
            </a:r>
          </a:p>
          <a:p>
            <a:pPr marL="358775" indent="-358775"/>
            <a:r>
              <a:rPr lang="en-US" sz="1800" dirty="0"/>
              <a:t>A problem is indicated by uncorrelated changes in the STFT.</a:t>
            </a:r>
          </a:p>
          <a:p>
            <a:pPr marL="358775" indent="-358775"/>
            <a:r>
              <a:rPr lang="en-US" sz="1800" dirty="0"/>
              <a:t>Other systems use a pressure sensor to monitor the pressure in the system and the purge side of the charcoal canister.</a:t>
            </a:r>
          </a:p>
        </p:txBody>
      </p:sp>
    </p:spTree>
    <p:extLst>
      <p:ext uri="{BB962C8B-B14F-4D97-AF65-F5344CB8AC3E}">
        <p14:creationId xmlns:p14="http://schemas.microsoft.com/office/powerpoint/2010/main" val="1244569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C4204A5-0E05-D0D8-AC3E-75174BBCAFE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C70CFE65-8D0A-1ADC-DA7B-258DCD65EFB0}"/>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Diagnosis</a:t>
            </a:r>
            <a:endParaRPr lang="en-US" sz="4800" dirty="0"/>
          </a:p>
        </p:txBody>
      </p:sp>
      <p:sp>
        <p:nvSpPr>
          <p:cNvPr id="145" name="Google Shape;145;p4">
            <a:extLst>
              <a:ext uri="{FF2B5EF4-FFF2-40B4-BE49-F238E27FC236}">
                <a16:creationId xmlns:a16="http://schemas.microsoft.com/office/drawing/2014/main" id="{0BEB009A-A997-D37F-001E-4C066ECBF36D}"/>
              </a:ext>
            </a:extLst>
          </p:cNvPr>
          <p:cNvSpPr txBox="1">
            <a:spLocks noGrp="1"/>
          </p:cNvSpPr>
          <p:nvPr>
            <p:ph type="body" idx="1"/>
          </p:nvPr>
        </p:nvSpPr>
        <p:spPr>
          <a:xfrm>
            <a:off x="476843" y="1517444"/>
            <a:ext cx="7326872" cy="4450869"/>
          </a:xfrm>
          <a:prstGeom prst="rect">
            <a:avLst/>
          </a:prstGeom>
          <a:noFill/>
          <a:ln>
            <a:noFill/>
          </a:ln>
        </p:spPr>
        <p:txBody>
          <a:bodyPr spcFirstLastPara="1" wrap="square" lIns="91425" tIns="45700" rIns="91425" bIns="45700" anchor="t" anchorCtr="0">
            <a:noAutofit/>
          </a:bodyPr>
          <a:lstStyle/>
          <a:p>
            <a:pPr marL="358775" indent="-358775">
              <a:spcBef>
                <a:spcPts val="0"/>
              </a:spcBef>
            </a:pPr>
            <a:r>
              <a:rPr lang="en-US" sz="2000" dirty="0"/>
              <a:t>The entire EVAP system should be carefully inspected.</a:t>
            </a:r>
          </a:p>
          <a:p>
            <a:pPr marL="358775" indent="-358775">
              <a:spcBef>
                <a:spcPts val="0"/>
              </a:spcBef>
            </a:pPr>
            <a:r>
              <a:rPr lang="en-US" sz="2000" dirty="0"/>
              <a:t>All of the hoses in the system should be checked for leaks, restrictions, and loose connections. </a:t>
            </a:r>
          </a:p>
          <a:p>
            <a:pPr marL="358775" indent="-358775">
              <a:spcBef>
                <a:spcPts val="0"/>
              </a:spcBef>
            </a:pPr>
            <a:r>
              <a:rPr lang="en-US" sz="2000" dirty="0"/>
              <a:t>Repair or replace them as necessary.</a:t>
            </a:r>
          </a:p>
          <a:p>
            <a:pPr marL="358775" indent="-358775">
              <a:spcBef>
                <a:spcPts val="0"/>
              </a:spcBef>
            </a:pPr>
            <a:r>
              <a:rPr lang="en-US" sz="2000" dirty="0"/>
              <a:t>Also check the canister for cracks or damage; if they are found, replace the charcoal canister assembly.</a:t>
            </a:r>
          </a:p>
          <a:p>
            <a:pPr marL="358775" indent="-358775">
              <a:spcBef>
                <a:spcPts val="0"/>
              </a:spcBef>
            </a:pPr>
            <a:r>
              <a:rPr lang="en-US" sz="2000" dirty="0"/>
              <a:t>The operation of the charcoal canister can be quickly checked on most vehicles.</a:t>
            </a:r>
          </a:p>
          <a:p>
            <a:pPr marL="358775" indent="-358775">
              <a:spcBef>
                <a:spcPts val="0"/>
              </a:spcBef>
            </a:pPr>
            <a:r>
              <a:rPr lang="en-US" sz="2000" dirty="0"/>
              <a:t>Close the purge port, gently blow into its vent port, and check that air flows from the port.</a:t>
            </a:r>
          </a:p>
        </p:txBody>
      </p:sp>
      <p:pic>
        <p:nvPicPr>
          <p:cNvPr id="8" name="Picture Placeholder 7" descr="A typical E V A P system with a charcoal canister with a purge port and vent port.">
            <a:extLst>
              <a:ext uri="{FF2B5EF4-FFF2-40B4-BE49-F238E27FC236}">
                <a16:creationId xmlns:a16="http://schemas.microsoft.com/office/drawing/2014/main" id="{79BC560F-BC79-BFB6-191A-6974FB938397}"/>
              </a:ext>
            </a:extLst>
          </p:cNvPr>
          <p:cNvPicPr>
            <a:picLocks noGrp="1" noChangeAspect="1"/>
          </p:cNvPicPr>
          <p:nvPr>
            <p:ph type="pic" sz="quarter" idx="13"/>
          </p:nvPr>
        </p:nvPicPr>
        <p:blipFill rotWithShape="1">
          <a:blip r:embed="rId3"/>
          <a:srcRect b="8685"/>
          <a:stretch/>
        </p:blipFill>
        <p:spPr>
          <a:xfrm>
            <a:off x="8158194" y="1517444"/>
            <a:ext cx="3298447" cy="4357263"/>
          </a:xfrm>
          <a:prstGeom prst="rect">
            <a:avLst/>
          </a:prstGeom>
        </p:spPr>
      </p:pic>
    </p:spTree>
    <p:extLst>
      <p:ext uri="{BB962C8B-B14F-4D97-AF65-F5344CB8AC3E}">
        <p14:creationId xmlns:p14="http://schemas.microsoft.com/office/powerpoint/2010/main" val="2264896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E9BBFD0-8A72-8193-3164-85D15D1CD1E0}"/>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DEA2C294-CBD2-E51B-FE82-5B88159668E7}"/>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sz="4000" dirty="0"/>
              <a:t>Leak Test</a:t>
            </a:r>
            <a:endParaRPr lang="en-US" sz="4800" dirty="0"/>
          </a:p>
        </p:txBody>
      </p:sp>
      <p:sp>
        <p:nvSpPr>
          <p:cNvPr id="145" name="Google Shape;145;p4">
            <a:extLst>
              <a:ext uri="{FF2B5EF4-FFF2-40B4-BE49-F238E27FC236}">
                <a16:creationId xmlns:a16="http://schemas.microsoft.com/office/drawing/2014/main" id="{BCB15AF7-9CFB-4ADA-6CDA-6095ECE94796}"/>
              </a:ext>
            </a:extLst>
          </p:cNvPr>
          <p:cNvSpPr txBox="1">
            <a:spLocks noGrp="1"/>
          </p:cNvSpPr>
          <p:nvPr>
            <p:ph type="body" idx="1"/>
          </p:nvPr>
        </p:nvSpPr>
        <p:spPr>
          <a:xfrm>
            <a:off x="476843" y="1517445"/>
            <a:ext cx="7517979" cy="4673290"/>
          </a:xfrm>
          <a:prstGeom prst="rect">
            <a:avLst/>
          </a:prstGeom>
          <a:noFill/>
          <a:ln>
            <a:noFill/>
          </a:ln>
        </p:spPr>
        <p:txBody>
          <a:bodyPr spcFirstLastPara="1" wrap="square" lIns="91425" tIns="45700" rIns="91425" bIns="45700" anchor="t" anchorCtr="0">
            <a:noAutofit/>
          </a:bodyPr>
          <a:lstStyle/>
          <a:p>
            <a:pPr marL="358775" indent="-358775"/>
            <a:r>
              <a:rPr lang="en-US" sz="2000" dirty="0"/>
              <a:t>EVAP leak testers pressurize the system with a very low pressure.</a:t>
            </a:r>
          </a:p>
          <a:p>
            <a:pPr marL="358775" indent="-358775"/>
            <a:r>
              <a:rPr lang="en-US" sz="2000" dirty="0"/>
              <a:t>Before using an EVAP leak tester, make sure that the fuel tank is at least half full.</a:t>
            </a:r>
          </a:p>
          <a:p>
            <a:pPr marL="358775" indent="-358775"/>
            <a:r>
              <a:rPr lang="en-US" sz="2000" dirty="0"/>
              <a:t>The tester kit will include a pressure guideline chart. </a:t>
            </a:r>
          </a:p>
          <a:p>
            <a:pPr marL="358775" indent="-358775"/>
            <a:r>
              <a:rPr lang="en-US" sz="2000" dirty="0"/>
              <a:t>The chart contains various size fuel tanks and different fuel levels. Interpreting the chart will let you know how much pressure should be applied to the system. </a:t>
            </a:r>
          </a:p>
          <a:p>
            <a:pPr marL="358775" indent="-358775"/>
            <a:r>
              <a:rPr lang="en-US" sz="2000" dirty="0"/>
              <a:t>The tester is normally connected to the EVAP service port.</a:t>
            </a:r>
          </a:p>
          <a:p>
            <a:pPr marL="358775" indent="-358775"/>
            <a:r>
              <a:rPr lang="en-US" sz="2000" dirty="0"/>
              <a:t>If the vehicle does not have the service port, use the correct adapter for the vehicle’s filler neck. </a:t>
            </a:r>
          </a:p>
        </p:txBody>
      </p:sp>
      <p:pic>
        <p:nvPicPr>
          <p:cNvPr id="8" name="Picture Placeholder 7" descr="An E V A P leak tester service port.">
            <a:extLst>
              <a:ext uri="{FF2B5EF4-FFF2-40B4-BE49-F238E27FC236}">
                <a16:creationId xmlns:a16="http://schemas.microsoft.com/office/drawing/2014/main" id="{79DB06A3-60C1-E9B6-BE80-3D5C66182C06}"/>
              </a:ext>
            </a:extLst>
          </p:cNvPr>
          <p:cNvPicPr>
            <a:picLocks noGrp="1" noChangeAspect="1"/>
          </p:cNvPicPr>
          <p:nvPr>
            <p:ph type="pic" sz="quarter" idx="13"/>
          </p:nvPr>
        </p:nvPicPr>
        <p:blipFill rotWithShape="1">
          <a:blip r:embed="rId3"/>
          <a:srcRect b="5657"/>
          <a:stretch/>
        </p:blipFill>
        <p:spPr>
          <a:xfrm>
            <a:off x="8122055" y="1684598"/>
            <a:ext cx="3746235" cy="3839380"/>
          </a:xfrm>
          <a:prstGeom prst="rect">
            <a:avLst/>
          </a:prstGeom>
        </p:spPr>
      </p:pic>
    </p:spTree>
    <p:extLst>
      <p:ext uri="{BB962C8B-B14F-4D97-AF65-F5344CB8AC3E}">
        <p14:creationId xmlns:p14="http://schemas.microsoft.com/office/powerpoint/2010/main" val="1409469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22F0704-0C04-7698-48FC-42165D1A6DE5}"/>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8AC1595E-6ABF-9218-F45D-01F2A79954AB}"/>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sz="4000" dirty="0"/>
              <a:t>PCV System Diagnosis and Service</a:t>
            </a:r>
            <a:endParaRPr lang="en-US" sz="4800" dirty="0"/>
          </a:p>
        </p:txBody>
      </p:sp>
      <p:sp>
        <p:nvSpPr>
          <p:cNvPr id="145" name="Google Shape;145;p4">
            <a:extLst>
              <a:ext uri="{FF2B5EF4-FFF2-40B4-BE49-F238E27FC236}">
                <a16:creationId xmlns:a16="http://schemas.microsoft.com/office/drawing/2014/main" id="{56C22F20-D79A-7CBE-F4BF-E0E7204655B6}"/>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1800" b="1" dirty="0"/>
              <a:t>34.05 Describe the inspection and replacement of PCV system parts.</a:t>
            </a:r>
          </a:p>
          <a:p>
            <a:pPr marL="358775" indent="-358775">
              <a:spcAft>
                <a:spcPts val="0"/>
              </a:spcAft>
            </a:pPr>
            <a:r>
              <a:rPr lang="en-US" sz="1800" dirty="0"/>
              <a:t>No adjustments can be made to the PCV system.</a:t>
            </a:r>
          </a:p>
          <a:p>
            <a:pPr marL="358775" indent="-358775">
              <a:spcAft>
                <a:spcPts val="0"/>
              </a:spcAft>
            </a:pPr>
            <a:r>
              <a:rPr lang="en-US" sz="1800" dirty="0"/>
              <a:t>Service of the system involves careful inspection, functional tests, and replacement of faulty parts. </a:t>
            </a:r>
          </a:p>
          <a:p>
            <a:pPr marL="358775" indent="-358775">
              <a:spcAft>
                <a:spcPts val="0"/>
              </a:spcAft>
            </a:pPr>
            <a:r>
              <a:rPr lang="en-US" sz="1800" dirty="0"/>
              <a:t>Some engines use a fixed orifice tube in place of a valve.</a:t>
            </a:r>
          </a:p>
          <a:p>
            <a:pPr marL="358775" indent="-358775">
              <a:spcAft>
                <a:spcPts val="0"/>
              </a:spcAft>
            </a:pPr>
            <a:r>
              <a:rPr lang="en-US" sz="1800" dirty="0"/>
              <a:t>These should be cleaned periodically with a pipe cleaner soaked in carburetor cleaner. Although there is no PCV valve, this type of system is diagnosed in the same way as those systems with a valve.</a:t>
            </a:r>
          </a:p>
          <a:p>
            <a:pPr marL="358775" indent="-358775">
              <a:spcAft>
                <a:spcPts val="0"/>
              </a:spcAft>
            </a:pPr>
            <a:r>
              <a:rPr lang="en-US" sz="1800" dirty="0"/>
              <a:t>When replacing a PCV valve, match the part number on the valve with the vehicle maker’s specifications for the proper valve.</a:t>
            </a:r>
          </a:p>
          <a:p>
            <a:pPr marL="358775" indent="-358775">
              <a:spcAft>
                <a:spcPts val="0"/>
              </a:spcAft>
            </a:pPr>
            <a:r>
              <a:rPr lang="en-US" sz="1800" dirty="0"/>
              <a:t>If the valve cannot be identified, refer to the part number listed in the manufacturer’s service information.</a:t>
            </a:r>
          </a:p>
          <a:p>
            <a:pPr marL="358775" indent="-358775">
              <a:spcAft>
                <a:spcPts val="0"/>
              </a:spcAft>
            </a:pPr>
            <a:r>
              <a:rPr lang="en-US" sz="1800" dirty="0"/>
              <a:t>Newer PCV valves have locking devices that prevent them from becoming loose or falling out.</a:t>
            </a:r>
          </a:p>
        </p:txBody>
      </p:sp>
    </p:spTree>
    <p:extLst>
      <p:ext uri="{BB962C8B-B14F-4D97-AF65-F5344CB8AC3E}">
        <p14:creationId xmlns:p14="http://schemas.microsoft.com/office/powerpoint/2010/main" val="178596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7475045-30D1-4C0D-8056-4F8B9A12CD9D}"/>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8F77672C-833C-ED60-9EBE-6F7BC0EFC597}"/>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sz="4000" dirty="0"/>
              <a:t>Consequences of a Faulty PCV System</a:t>
            </a:r>
            <a:endParaRPr lang="en-US" sz="4800" dirty="0"/>
          </a:p>
        </p:txBody>
      </p:sp>
      <p:sp>
        <p:nvSpPr>
          <p:cNvPr id="145" name="Google Shape;145;p4">
            <a:extLst>
              <a:ext uri="{FF2B5EF4-FFF2-40B4-BE49-F238E27FC236}">
                <a16:creationId xmlns:a16="http://schemas.microsoft.com/office/drawing/2014/main" id="{828558F3-A3E1-E82E-10EE-3D5626893FAA}"/>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1800" dirty="0"/>
              <a:t>If the PCV valve is stuck open, excessive airflow through the valve causes a lean air</a:t>
            </a:r>
            <a:r>
              <a:rPr lang="en-US" sz="1800" dirty="0">
                <a:solidFill>
                  <a:srgbClr val="FF0000"/>
                </a:solidFill>
              </a:rPr>
              <a:t>–</a:t>
            </a:r>
            <a:r>
              <a:rPr lang="en-US" sz="1800" dirty="0"/>
              <a:t>fuel ratio and possible rough idle or engine stalling.</a:t>
            </a:r>
          </a:p>
          <a:p>
            <a:pPr marL="358775" indent="-358775"/>
            <a:r>
              <a:rPr lang="en-US" sz="1800" dirty="0"/>
              <a:t>When the PCV valve or hose is restricted, excessive crankcase pressure forces blowby gases through the clean air hose and filter into the air cleaner.</a:t>
            </a:r>
          </a:p>
          <a:p>
            <a:pPr marL="358775" indent="-358775"/>
            <a:r>
              <a:rPr lang="en-US" sz="1800" dirty="0"/>
              <a:t>Worn rings or cylinders cause excessive blowby gases and increased crankcase pressure, which forces blowby gases through the hose and filter into the air cleaner.</a:t>
            </a:r>
          </a:p>
          <a:p>
            <a:pPr marL="358775" indent="-358775"/>
            <a:r>
              <a:rPr lang="en-US" sz="1800" dirty="0"/>
              <a:t>A restricted PCV valve or hose may also cause an accumulation of moisture and sludge in the engine and engine oil.</a:t>
            </a:r>
          </a:p>
          <a:p>
            <a:pPr marL="358775" indent="-358775"/>
            <a:r>
              <a:rPr lang="en-US" sz="1800" dirty="0"/>
              <a:t>Leaks at the engine gaskets not only will cause oil leaks, but will allow blowby gases to escape into the atmosphere.</a:t>
            </a:r>
          </a:p>
          <a:p>
            <a:pPr marL="358775" indent="-358775"/>
            <a:r>
              <a:rPr lang="en-US" sz="1800" dirty="0"/>
              <a:t>The PCV system will also draw unfiltered air through these leaks.</a:t>
            </a:r>
          </a:p>
          <a:p>
            <a:pPr marL="358775" indent="-358775"/>
            <a:r>
              <a:rPr lang="en-US" sz="1800" dirty="0"/>
              <a:t>This can result in premature wear of engine parts, especially when the vehicle is operated in dusty conditions.</a:t>
            </a:r>
          </a:p>
        </p:txBody>
      </p:sp>
    </p:spTree>
    <p:extLst>
      <p:ext uri="{BB962C8B-B14F-4D97-AF65-F5344CB8AC3E}">
        <p14:creationId xmlns:p14="http://schemas.microsoft.com/office/powerpoint/2010/main" val="498765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E829E0C-0F4D-5A33-550D-EAFEB7118EB1}"/>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2D513C1B-CFC0-DDD6-62B3-0F28D03F3F47}"/>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Visual Inspection</a:t>
            </a:r>
            <a:endParaRPr lang="en-US" sz="4800" dirty="0"/>
          </a:p>
        </p:txBody>
      </p:sp>
      <p:pic>
        <p:nvPicPr>
          <p:cNvPr id="14" name="Picture Placeholder 13" descr="A P C V supply hose is being collapsed.">
            <a:extLst>
              <a:ext uri="{FF2B5EF4-FFF2-40B4-BE49-F238E27FC236}">
                <a16:creationId xmlns:a16="http://schemas.microsoft.com/office/drawing/2014/main" id="{14F626DE-5F39-61E6-C197-D60D5FA4FB0C}"/>
              </a:ext>
            </a:extLst>
          </p:cNvPr>
          <p:cNvPicPr>
            <a:picLocks noGrp="1" noChangeAspect="1"/>
          </p:cNvPicPr>
          <p:nvPr>
            <p:ph type="pic" sz="quarter" idx="12"/>
          </p:nvPr>
        </p:nvPicPr>
        <p:blipFill rotWithShape="1">
          <a:blip r:embed="rId3"/>
          <a:srcRect b="8294"/>
          <a:stretch/>
        </p:blipFill>
        <p:spPr>
          <a:xfrm>
            <a:off x="566591" y="2068402"/>
            <a:ext cx="4293928" cy="3154951"/>
          </a:xfrm>
          <a:prstGeom prst="rect">
            <a:avLst/>
          </a:prstGeom>
        </p:spPr>
      </p:pic>
      <p:sp>
        <p:nvSpPr>
          <p:cNvPr id="145" name="Google Shape;145;p4">
            <a:extLst>
              <a:ext uri="{FF2B5EF4-FFF2-40B4-BE49-F238E27FC236}">
                <a16:creationId xmlns:a16="http://schemas.microsoft.com/office/drawing/2014/main" id="{0A9BB2F2-A875-2588-7512-0E32E989E720}"/>
              </a:ext>
            </a:extLst>
          </p:cNvPr>
          <p:cNvSpPr txBox="1">
            <a:spLocks noGrp="1"/>
          </p:cNvSpPr>
          <p:nvPr>
            <p:ph type="body" idx="1"/>
          </p:nvPr>
        </p:nvSpPr>
        <p:spPr>
          <a:xfrm>
            <a:off x="5123146" y="1517444"/>
            <a:ext cx="6595612" cy="4562080"/>
          </a:xfrm>
          <a:prstGeom prst="rect">
            <a:avLst/>
          </a:prstGeom>
          <a:noFill/>
          <a:ln>
            <a:noFill/>
          </a:ln>
        </p:spPr>
        <p:txBody>
          <a:bodyPr spcFirstLastPara="1" wrap="square" lIns="91425" tIns="45700" rIns="91425" bIns="45700" anchor="t" anchorCtr="0">
            <a:noAutofit/>
          </a:bodyPr>
          <a:lstStyle/>
          <a:p>
            <a:pPr marL="358775" indent="-358775"/>
            <a:r>
              <a:rPr lang="en-US" sz="2000" dirty="0">
                <a:solidFill>
                  <a:schemeClr val="tx1"/>
                </a:solidFill>
              </a:rPr>
              <a:t>The PCV valve can be located in several places.</a:t>
            </a:r>
          </a:p>
          <a:p>
            <a:pPr marL="358775" indent="-358775"/>
            <a:r>
              <a:rPr lang="en-US" sz="2000" dirty="0">
                <a:solidFill>
                  <a:schemeClr val="tx1"/>
                </a:solidFill>
              </a:rPr>
              <a:t>The most common location is in a rubber grommet in the valve cover.</a:t>
            </a:r>
          </a:p>
          <a:p>
            <a:pPr marL="358775" indent="-358775"/>
            <a:r>
              <a:rPr lang="en-US" sz="2000" dirty="0">
                <a:solidFill>
                  <a:schemeClr val="tx1"/>
                </a:solidFill>
              </a:rPr>
              <a:t>It can be installed in the middle of the hose connections, as well as directly in the intake manifold.</a:t>
            </a:r>
          </a:p>
          <a:p>
            <a:pPr marL="358775" indent="-358775"/>
            <a:r>
              <a:rPr lang="en-US" sz="2000" dirty="0">
                <a:solidFill>
                  <a:schemeClr val="tx1"/>
                </a:solidFill>
              </a:rPr>
              <a:t>Once the PCV valve is located, make sure that all the PCV hoses are properly connected, are not collapsed, and have no breaks or cracks.</a:t>
            </a:r>
          </a:p>
          <a:p>
            <a:pPr marL="358775" indent="-358775"/>
            <a:r>
              <a:rPr lang="en-US" sz="2000" dirty="0">
                <a:solidFill>
                  <a:schemeClr val="tx1"/>
                </a:solidFill>
              </a:rPr>
              <a:t>Remove the air cleaner and inspect the air and crankcase filters.</a:t>
            </a:r>
          </a:p>
          <a:p>
            <a:pPr marL="358775" indent="-358775"/>
            <a:r>
              <a:rPr lang="en-US" sz="2000" dirty="0">
                <a:solidFill>
                  <a:schemeClr val="tx1"/>
                </a:solidFill>
              </a:rPr>
              <a:t>Crankcase blowby can clog these with oil.</a:t>
            </a:r>
          </a:p>
        </p:txBody>
      </p:sp>
    </p:spTree>
    <p:extLst>
      <p:ext uri="{BB962C8B-B14F-4D97-AF65-F5344CB8AC3E}">
        <p14:creationId xmlns:p14="http://schemas.microsoft.com/office/powerpoint/2010/main" val="3105326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9A12238-606E-495B-66B4-E2E67F8B2581}"/>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DD87637D-C95E-EFE4-68CC-5750DF99A249}"/>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sz="4000" dirty="0"/>
              <a:t>Functional Checks of the PCV System</a:t>
            </a:r>
            <a:endParaRPr lang="en-US" sz="4800" dirty="0"/>
          </a:p>
        </p:txBody>
      </p:sp>
      <p:pic>
        <p:nvPicPr>
          <p:cNvPr id="8" name="Picture Placeholder 7" descr="A technician places a finger over the end of the P C V valve to check for a vacuum.">
            <a:extLst>
              <a:ext uri="{FF2B5EF4-FFF2-40B4-BE49-F238E27FC236}">
                <a16:creationId xmlns:a16="http://schemas.microsoft.com/office/drawing/2014/main" id="{AE522296-ED72-3E97-BB8E-C6BE4809AEC0}"/>
              </a:ext>
            </a:extLst>
          </p:cNvPr>
          <p:cNvPicPr>
            <a:picLocks noGrp="1" noChangeAspect="1"/>
          </p:cNvPicPr>
          <p:nvPr>
            <p:ph type="pic" sz="quarter" idx="12"/>
          </p:nvPr>
        </p:nvPicPr>
        <p:blipFill rotWithShape="1">
          <a:blip r:embed="rId3"/>
          <a:srcRect b="12583"/>
          <a:stretch/>
        </p:blipFill>
        <p:spPr>
          <a:xfrm>
            <a:off x="682979" y="1822639"/>
            <a:ext cx="4447663" cy="3450819"/>
          </a:xfrm>
          <a:prstGeom prst="rect">
            <a:avLst/>
          </a:prstGeom>
        </p:spPr>
      </p:pic>
      <p:sp>
        <p:nvSpPr>
          <p:cNvPr id="145" name="Google Shape;145;p4">
            <a:extLst>
              <a:ext uri="{FF2B5EF4-FFF2-40B4-BE49-F238E27FC236}">
                <a16:creationId xmlns:a16="http://schemas.microsoft.com/office/drawing/2014/main" id="{8E6A17EC-D770-2D22-C7EE-2A2AB92D7800}"/>
              </a:ext>
            </a:extLst>
          </p:cNvPr>
          <p:cNvSpPr txBox="1">
            <a:spLocks noGrp="1"/>
          </p:cNvSpPr>
          <p:nvPr>
            <p:ph type="body" idx="1"/>
          </p:nvPr>
        </p:nvSpPr>
        <p:spPr>
          <a:xfrm>
            <a:off x="5373666" y="1517444"/>
            <a:ext cx="6345092" cy="4525009"/>
          </a:xfrm>
          <a:prstGeom prst="rect">
            <a:avLst/>
          </a:prstGeom>
          <a:noFill/>
          <a:ln>
            <a:noFill/>
          </a:ln>
        </p:spPr>
        <p:txBody>
          <a:bodyPr spcFirstLastPara="1" wrap="square" lIns="91425" tIns="45700" rIns="91425" bIns="45700" anchor="t" anchorCtr="0">
            <a:noAutofit/>
          </a:bodyPr>
          <a:lstStyle/>
          <a:p>
            <a:pPr marL="285750" indent="-285750"/>
            <a:r>
              <a:rPr lang="en-US" sz="2000" dirty="0"/>
              <a:t>Start the engine and let it run at idle. If the PCV valve is not clogged, a hissing is heard as air passes through the valve.</a:t>
            </a:r>
          </a:p>
          <a:p>
            <a:pPr marL="285750" indent="-285750"/>
            <a:r>
              <a:rPr lang="en-US" sz="2000" dirty="0"/>
              <a:t>Place a finger over the end of the valve to check for vacuum.</a:t>
            </a:r>
          </a:p>
          <a:p>
            <a:pPr marL="285750" indent="-285750"/>
            <a:r>
              <a:rPr lang="en-US" sz="2000" dirty="0"/>
              <a:t>If there is little or no vacuum at the valve, check for a plugged or restricted hose. Replace any plugged or deteriorated hoses.</a:t>
            </a:r>
          </a:p>
          <a:p>
            <a:pPr marL="285750" indent="-285750"/>
            <a:r>
              <a:rPr lang="en-US" sz="2000" dirty="0"/>
              <a:t>Turn off the engine and remove the PCV valve.</a:t>
            </a:r>
          </a:p>
          <a:p>
            <a:pPr marL="285750" indent="-285750"/>
            <a:r>
              <a:rPr lang="en-US" sz="2000" dirty="0"/>
              <a:t>Shake the valve and listen for the rattle of the check needle inside the valve. If the valve does not rattle, replace it.</a:t>
            </a:r>
          </a:p>
        </p:txBody>
      </p:sp>
    </p:spTree>
    <p:extLst>
      <p:ext uri="{BB962C8B-B14F-4D97-AF65-F5344CB8AC3E}">
        <p14:creationId xmlns:p14="http://schemas.microsoft.com/office/powerpoint/2010/main" val="1031113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307A6FA-6537-845C-77E8-9E619561484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8D960B9-D5D1-6774-399C-485F6BA2D80D}"/>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sz="4000" dirty="0"/>
              <a:t>Measuring Crankcase Pressure</a:t>
            </a:r>
            <a:endParaRPr lang="en-US" sz="4800" dirty="0"/>
          </a:p>
        </p:txBody>
      </p:sp>
      <p:sp>
        <p:nvSpPr>
          <p:cNvPr id="145" name="Google Shape;145;p4">
            <a:extLst>
              <a:ext uri="{FF2B5EF4-FFF2-40B4-BE49-F238E27FC236}">
                <a16:creationId xmlns:a16="http://schemas.microsoft.com/office/drawing/2014/main" id="{7A81939A-1C89-757F-6CEC-2B462F3DCE38}"/>
              </a:ext>
            </a:extLst>
          </p:cNvPr>
          <p:cNvSpPr txBox="1">
            <a:spLocks noGrp="1"/>
          </p:cNvSpPr>
          <p:nvPr>
            <p:ph type="body" idx="1"/>
          </p:nvPr>
        </p:nvSpPr>
        <p:spPr>
          <a:xfrm>
            <a:off x="476843" y="1517444"/>
            <a:ext cx="11472987" cy="4613339"/>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2000" dirty="0"/>
              <a:t>To measure crankcase pressure, bring the engine up to normal operating temperature.</a:t>
            </a:r>
          </a:p>
          <a:p>
            <a:pPr marL="358775" indent="-358775">
              <a:spcAft>
                <a:spcPts val="0"/>
              </a:spcAft>
            </a:pPr>
            <a:r>
              <a:rPr lang="en-US" sz="2000" dirty="0"/>
              <a:t>Then connect a water manometer to the dipstick tube after the dipstick has been removed.</a:t>
            </a:r>
          </a:p>
          <a:p>
            <a:pPr marL="358775" indent="-358775">
              <a:spcAft>
                <a:spcPts val="0"/>
              </a:spcAft>
            </a:pPr>
            <a:r>
              <a:rPr lang="en-US" sz="2000" dirty="0"/>
              <a:t>With the engine at idle, observe the reading on the meter.</a:t>
            </a:r>
          </a:p>
          <a:p>
            <a:pPr marL="358775" indent="-358775">
              <a:spcAft>
                <a:spcPts val="0"/>
              </a:spcAft>
            </a:pPr>
            <a:r>
              <a:rPr lang="en-US" sz="2000" dirty="0"/>
              <a:t>If the reading is greater than 1 inch H</a:t>
            </a:r>
            <a:r>
              <a:rPr lang="en-US" sz="2000" baseline="-25000" dirty="0"/>
              <a:t>2</a:t>
            </a:r>
            <a:r>
              <a:rPr lang="en-US" sz="2000" dirty="0"/>
              <a:t>O, check the crankcase valve.</a:t>
            </a:r>
          </a:p>
          <a:p>
            <a:pPr marL="358775" indent="-358775">
              <a:spcAft>
                <a:spcPts val="0"/>
              </a:spcAft>
            </a:pPr>
            <a:r>
              <a:rPr lang="en-US" sz="2000" dirty="0"/>
              <a:t>If the valve is clean and working properly, check the compression and leakage of the cylinders.</a:t>
            </a:r>
          </a:p>
          <a:p>
            <a:pPr marL="358775" indent="-358775">
              <a:spcAft>
                <a:spcPts val="0"/>
              </a:spcAft>
            </a:pPr>
            <a:r>
              <a:rPr lang="en-US" sz="2000" dirty="0"/>
              <a:t>If the crankcase pressure is less than 1 inch H</a:t>
            </a:r>
            <a:r>
              <a:rPr lang="en-US" sz="2000" baseline="-25000" dirty="0"/>
              <a:t>2</a:t>
            </a:r>
            <a:r>
              <a:rPr lang="en-US" sz="2000" dirty="0"/>
              <a:t>O, raise the engine to above 2,000 rpm.</a:t>
            </a:r>
          </a:p>
          <a:p>
            <a:pPr marL="358775" indent="-358775">
              <a:spcAft>
                <a:spcPts val="0"/>
              </a:spcAft>
            </a:pPr>
            <a:r>
              <a:rPr lang="en-US" sz="2000" dirty="0"/>
              <a:t>If the pressure drops to a negative value of 4 to 5 inches H</a:t>
            </a:r>
            <a:r>
              <a:rPr lang="en-US" sz="2000" baseline="-25000" dirty="0"/>
              <a:t>2</a:t>
            </a:r>
            <a:r>
              <a:rPr lang="en-US" sz="2000" dirty="0"/>
              <a:t>O, the system is okay.</a:t>
            </a:r>
          </a:p>
          <a:p>
            <a:pPr marL="358775" indent="-358775">
              <a:spcAft>
                <a:spcPts val="0"/>
              </a:spcAft>
            </a:pPr>
            <a:r>
              <a:rPr lang="en-US" sz="2000" dirty="0"/>
              <a:t>If the drops are more than that, replace the valve.</a:t>
            </a:r>
          </a:p>
          <a:p>
            <a:pPr marL="358775" indent="-358775">
              <a:spcAft>
                <a:spcPts val="0"/>
              </a:spcAft>
            </a:pPr>
            <a:r>
              <a:rPr lang="en-US" sz="2000" dirty="0"/>
              <a:t>Keep in mind that a restriction in the air intake system will increase inlet vacuum in turbocharged engines and the intake vacuum on non-turbocharged engines.</a:t>
            </a:r>
          </a:p>
        </p:txBody>
      </p:sp>
    </p:spTree>
    <p:extLst>
      <p:ext uri="{BB962C8B-B14F-4D97-AF65-F5344CB8AC3E}">
        <p14:creationId xmlns:p14="http://schemas.microsoft.com/office/powerpoint/2010/main" val="1831912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1562200-549B-EEB5-FD6C-3E98F471AC2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9929230-EA8C-D8CA-DEC1-4DD104DB8B47}"/>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EGR System Diagnosis and Service</a:t>
            </a:r>
            <a:endParaRPr lang="en-US" sz="4800" dirty="0"/>
          </a:p>
        </p:txBody>
      </p:sp>
      <p:sp>
        <p:nvSpPr>
          <p:cNvPr id="145" name="Google Shape;145;p4">
            <a:extLst>
              <a:ext uri="{FF2B5EF4-FFF2-40B4-BE49-F238E27FC236}">
                <a16:creationId xmlns:a16="http://schemas.microsoft.com/office/drawing/2014/main" id="{8762D1D2-5B85-D6A7-EFC8-F9D4FFA7D6F8}"/>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1800" b="1" dirty="0"/>
              <a:t>34.06 Diagnose engine performance problems caused by improper EGR operation. </a:t>
            </a:r>
            <a:endParaRPr lang="en-US" sz="1800" dirty="0"/>
          </a:p>
          <a:p>
            <a:pPr marL="358775" indent="-358775">
              <a:spcAft>
                <a:spcPts val="0"/>
              </a:spcAft>
            </a:pPr>
            <a:r>
              <a:rPr lang="en-US" sz="1800" dirty="0"/>
              <a:t>Manufacturers calibrate the amount of exhaust gas recirculation or EGR flow for each engine.</a:t>
            </a:r>
          </a:p>
          <a:p>
            <a:pPr marL="358775" indent="-358775">
              <a:spcAft>
                <a:spcPts val="0"/>
              </a:spcAft>
            </a:pPr>
            <a:r>
              <a:rPr lang="en-US" sz="1800" dirty="0"/>
              <a:t>Too much or too little can cause performance problems by changing the engine’s breathing characteristics.</a:t>
            </a:r>
          </a:p>
          <a:p>
            <a:pPr marL="358775" indent="-358775">
              <a:spcAft>
                <a:spcPts val="0"/>
              </a:spcAft>
            </a:pPr>
            <a:r>
              <a:rPr lang="en-US" sz="1800" dirty="0"/>
              <a:t>Also, with too little EGR flow, the engine can overheat, detonate, and emit excessive amounts of NOx .</a:t>
            </a:r>
          </a:p>
          <a:p>
            <a:pPr marL="358775" indent="-358775">
              <a:spcAft>
                <a:spcPts val="0"/>
              </a:spcAft>
            </a:pPr>
            <a:r>
              <a:rPr lang="en-US" sz="1800" dirty="0"/>
              <a:t>When any of these problems exist and it seems likely that the EGR system is at fault, check the system.</a:t>
            </a:r>
          </a:p>
          <a:p>
            <a:pPr marL="358775" indent="-358775">
              <a:spcAft>
                <a:spcPts val="0"/>
              </a:spcAft>
            </a:pPr>
            <a:r>
              <a:rPr lang="en-US" sz="1800" dirty="0"/>
              <a:t>Typical problems that show up in ported EGR systems follow:</a:t>
            </a:r>
          </a:p>
          <a:p>
            <a:pPr marL="719138" lvl="1" indent="-358775">
              <a:spcAft>
                <a:spcPts val="0"/>
              </a:spcAft>
              <a:buSzPct val="100000"/>
              <a:buFont typeface="Work Sans" pitchFamily="2" charset="0"/>
              <a:buChar char="–"/>
            </a:pPr>
            <a:r>
              <a:rPr lang="en-US" sz="1600" dirty="0"/>
              <a:t>Rough idle No-start, surging, or stalling</a:t>
            </a:r>
          </a:p>
          <a:p>
            <a:pPr marL="719138" lvl="1" indent="-358775">
              <a:spcAft>
                <a:spcPts val="0"/>
              </a:spcAft>
              <a:buSzPct val="100000"/>
              <a:buFont typeface="Work Sans" pitchFamily="2" charset="0"/>
              <a:buChar char="–"/>
            </a:pPr>
            <a:r>
              <a:rPr lang="en-US" sz="1600" dirty="0"/>
              <a:t>Detonation</a:t>
            </a:r>
          </a:p>
          <a:p>
            <a:pPr marL="719138" lvl="1" indent="-358775">
              <a:spcAft>
                <a:spcPts val="0"/>
              </a:spcAft>
              <a:buSzPct val="100000"/>
              <a:buFont typeface="Work Sans" pitchFamily="2" charset="0"/>
              <a:buChar char="–"/>
            </a:pPr>
            <a:r>
              <a:rPr lang="en-US" sz="1600" dirty="0"/>
              <a:t>Excessive NOx emissions</a:t>
            </a:r>
          </a:p>
          <a:p>
            <a:pPr marL="719138" lvl="1" indent="-358775">
              <a:spcAft>
                <a:spcPts val="0"/>
              </a:spcAft>
              <a:buSzPct val="100000"/>
              <a:buFont typeface="Work Sans" pitchFamily="2" charset="0"/>
              <a:buChar char="–"/>
            </a:pPr>
            <a:r>
              <a:rPr lang="en-US" sz="1600" dirty="0"/>
              <a:t>Poor fuel economy</a:t>
            </a:r>
          </a:p>
        </p:txBody>
      </p:sp>
    </p:spTree>
    <p:extLst>
      <p:ext uri="{BB962C8B-B14F-4D97-AF65-F5344CB8AC3E}">
        <p14:creationId xmlns:p14="http://schemas.microsoft.com/office/powerpoint/2010/main" val="1088763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BD1FD8B-040B-76FD-D148-3FEED846A05D}"/>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7A0714A-C428-5E1F-D7B3-EEBA63E47231}"/>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sz="4000" dirty="0"/>
              <a:t>EGR System Troubleshooting</a:t>
            </a:r>
            <a:endParaRPr lang="en-US" sz="4800" dirty="0"/>
          </a:p>
        </p:txBody>
      </p:sp>
      <p:sp>
        <p:nvSpPr>
          <p:cNvPr id="145" name="Google Shape;145;p4">
            <a:extLst>
              <a:ext uri="{FF2B5EF4-FFF2-40B4-BE49-F238E27FC236}">
                <a16:creationId xmlns:a16="http://schemas.microsoft.com/office/drawing/2014/main" id="{AC8CD73E-A8A5-E27C-61C7-A4B7275DA915}"/>
              </a:ext>
            </a:extLst>
          </p:cNvPr>
          <p:cNvSpPr txBox="1">
            <a:spLocks noGrp="1"/>
          </p:cNvSpPr>
          <p:nvPr>
            <p:ph type="body" idx="1"/>
          </p:nvPr>
        </p:nvSpPr>
        <p:spPr>
          <a:xfrm>
            <a:off x="476843" y="1517445"/>
            <a:ext cx="6612889" cy="4441566"/>
          </a:xfrm>
          <a:prstGeom prst="rect">
            <a:avLst/>
          </a:prstGeom>
          <a:noFill/>
          <a:ln>
            <a:noFill/>
          </a:ln>
        </p:spPr>
        <p:txBody>
          <a:bodyPr spcFirstLastPara="1" wrap="square" lIns="91425" tIns="45700" rIns="91425" bIns="45700" anchor="t" anchorCtr="0">
            <a:noAutofit/>
          </a:bodyPr>
          <a:lstStyle/>
          <a:p>
            <a:pPr>
              <a:lnSpc>
                <a:spcPct val="107000"/>
              </a:lnSpc>
              <a:spcBef>
                <a:spcPts val="0"/>
              </a:spcBef>
            </a:pPr>
            <a:r>
              <a:rPr lang="en-US" sz="1800" dirty="0"/>
              <a:t>Most often an electronically controlled EGR valve functions in the same way as a vacuum-operated valve.</a:t>
            </a:r>
          </a:p>
          <a:p>
            <a:pPr>
              <a:lnSpc>
                <a:spcPct val="107000"/>
              </a:lnSpc>
              <a:spcBef>
                <a:spcPts val="0"/>
              </a:spcBef>
            </a:pPr>
            <a:r>
              <a:rPr lang="en-US" sz="1800" dirty="0"/>
              <a:t>Apart from the electronic control, the system can have the problems of any EGR system.</a:t>
            </a:r>
          </a:p>
          <a:p>
            <a:pPr>
              <a:lnSpc>
                <a:spcPct val="107000"/>
              </a:lnSpc>
              <a:spcBef>
                <a:spcPts val="0"/>
              </a:spcBef>
            </a:pPr>
            <a:r>
              <a:rPr lang="en-US" sz="1800" dirty="0"/>
              <a:t>Those that are totally electronic and do not use a vacuum signal can have the same problems as others, with the exception of vacuum leaks and other vacuum problems.</a:t>
            </a:r>
          </a:p>
          <a:p>
            <a:pPr>
              <a:lnSpc>
                <a:spcPct val="107000"/>
              </a:lnSpc>
              <a:spcBef>
                <a:spcPts val="0"/>
              </a:spcBef>
            </a:pPr>
            <a:r>
              <a:rPr lang="en-US" sz="1800" dirty="0"/>
              <a:t>Sticking valves, </a:t>
            </a:r>
            <a:r>
              <a:rPr lang="en-US" sz="1800" dirty="0">
                <a:solidFill>
                  <a:schemeClr val="accent1"/>
                </a:solidFill>
              </a:rPr>
              <a:t>obstructions, and loss of vacuum produce the same symptoms as on non-electronic-controlled systems.</a:t>
            </a:r>
          </a:p>
          <a:p>
            <a:pPr>
              <a:lnSpc>
                <a:spcPct val="107000"/>
              </a:lnSpc>
              <a:spcBef>
                <a:spcPts val="0"/>
              </a:spcBef>
            </a:pPr>
            <a:r>
              <a:rPr lang="en-US" sz="1800" dirty="0">
                <a:solidFill>
                  <a:schemeClr val="accent1"/>
                </a:solidFill>
              </a:rPr>
              <a:t>If an electronic control component is not functioning, the condition is usually recognized by the PCM.</a:t>
            </a:r>
          </a:p>
        </p:txBody>
      </p:sp>
      <p:pic>
        <p:nvPicPr>
          <p:cNvPr id="8" name="Picture Placeholder 7" descr="Circuit diagram of a computer-controlled E G R system. The electronic control module is connected to an electronic vacuum regulator valve solenoid (E V R V), manifold absolute pressure sensor (M A P), coolant temperature sensor (C T S), and Throttle position sensor (T P S). Electronic vacuum regulator valve solenoid is further connected to E G R valve. The manifold absolute pressure sensor and E G R valve are further connected to the intake vacuum. The gas gets exhausted from the intake vacuum.">
            <a:extLst>
              <a:ext uri="{FF2B5EF4-FFF2-40B4-BE49-F238E27FC236}">
                <a16:creationId xmlns:a16="http://schemas.microsoft.com/office/drawing/2014/main" id="{5C555DF4-EA3A-4C9E-D1BF-C462C7099129}"/>
              </a:ext>
            </a:extLst>
          </p:cNvPr>
          <p:cNvPicPr>
            <a:picLocks noGrp="1" noChangeAspect="1"/>
          </p:cNvPicPr>
          <p:nvPr>
            <p:ph type="pic" sz="quarter" idx="12"/>
          </p:nvPr>
        </p:nvPicPr>
        <p:blipFill rotWithShape="1">
          <a:blip r:embed="rId3"/>
          <a:srcRect b="6256"/>
          <a:stretch/>
        </p:blipFill>
        <p:spPr>
          <a:xfrm>
            <a:off x="7242296" y="2394670"/>
            <a:ext cx="4619852" cy="2853300"/>
          </a:xfrm>
          <a:prstGeom prst="rect">
            <a:avLst/>
          </a:prstGeom>
        </p:spPr>
      </p:pic>
    </p:spTree>
    <p:extLst>
      <p:ext uri="{BB962C8B-B14F-4D97-AF65-F5344CB8AC3E}">
        <p14:creationId xmlns:p14="http://schemas.microsoft.com/office/powerpoint/2010/main" val="3581996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0105C49-29DD-4445-BC1B-BDD5CA9DD15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9E804FBD-2B35-FA26-086A-3BB8F87707BB}"/>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sz="4000" dirty="0"/>
              <a:t>EGR Valves and Systems Testing</a:t>
            </a:r>
            <a:endParaRPr lang="en-US" sz="4800" dirty="0"/>
          </a:p>
        </p:txBody>
      </p:sp>
      <p:sp>
        <p:nvSpPr>
          <p:cNvPr id="145" name="Google Shape;145;p4">
            <a:extLst>
              <a:ext uri="{FF2B5EF4-FFF2-40B4-BE49-F238E27FC236}">
                <a16:creationId xmlns:a16="http://schemas.microsoft.com/office/drawing/2014/main" id="{D35BA440-48C6-E3DA-8E6A-AE96427A5854}"/>
              </a:ext>
            </a:extLst>
          </p:cNvPr>
          <p:cNvSpPr txBox="1">
            <a:spLocks noGrp="1"/>
          </p:cNvSpPr>
          <p:nvPr>
            <p:ph type="body" idx="1"/>
          </p:nvPr>
        </p:nvSpPr>
        <p:spPr>
          <a:xfrm>
            <a:off x="476843" y="1517445"/>
            <a:ext cx="6988669" cy="4451840"/>
          </a:xfrm>
          <a:prstGeom prst="rect">
            <a:avLst/>
          </a:prstGeom>
          <a:noFill/>
          <a:ln>
            <a:noFill/>
          </a:ln>
        </p:spPr>
        <p:txBody>
          <a:bodyPr spcFirstLastPara="1" wrap="square" lIns="91425" tIns="45700" rIns="91425" bIns="45700" anchor="t" anchorCtr="0">
            <a:noAutofit/>
          </a:bodyPr>
          <a:lstStyle/>
          <a:p>
            <a:pPr>
              <a:lnSpc>
                <a:spcPct val="107000"/>
              </a:lnSpc>
              <a:spcBef>
                <a:spcPts val="0"/>
              </a:spcBef>
            </a:pPr>
            <a:r>
              <a:rPr lang="en-US" sz="2000" dirty="0"/>
              <a:t>On many older engines, a single diaphragm EGR valve can be checked with a hand-operated vacuum pump.</a:t>
            </a:r>
          </a:p>
          <a:p>
            <a:pPr>
              <a:lnSpc>
                <a:spcPct val="107000"/>
              </a:lnSpc>
              <a:spcBef>
                <a:spcPts val="0"/>
              </a:spcBef>
            </a:pPr>
            <a:r>
              <a:rPr lang="en-US" sz="2000" dirty="0"/>
              <a:t>Before conducting this test, make sure that the engine produces enough vacuum to properly operate the valve.</a:t>
            </a:r>
          </a:p>
          <a:p>
            <a:pPr>
              <a:lnSpc>
                <a:spcPct val="107000"/>
              </a:lnSpc>
              <a:spcBef>
                <a:spcPts val="0"/>
              </a:spcBef>
            </a:pPr>
            <a:r>
              <a:rPr lang="en-US" sz="2000" dirty="0"/>
              <a:t>This is done by connecting a vacuum gauge to the engine’s intake manifold. </a:t>
            </a:r>
          </a:p>
          <a:p>
            <a:pPr>
              <a:lnSpc>
                <a:spcPct val="107000"/>
              </a:lnSpc>
              <a:spcBef>
                <a:spcPts val="0"/>
              </a:spcBef>
            </a:pPr>
            <a:r>
              <a:rPr lang="en-US" sz="2000" dirty="0"/>
              <a:t>Then start the engine and gradually increase speed to 2,000 rpm with the transmission in neutral.</a:t>
            </a:r>
          </a:p>
          <a:p>
            <a:pPr>
              <a:lnSpc>
                <a:spcPct val="107000"/>
              </a:lnSpc>
              <a:spcBef>
                <a:spcPts val="0"/>
              </a:spcBef>
            </a:pPr>
            <a:r>
              <a:rPr lang="en-US" sz="2000" dirty="0"/>
              <a:t>The reading should be above 16 inches of mercury. If not, there could be a vacuum leak or exhaust restriction.</a:t>
            </a:r>
          </a:p>
        </p:txBody>
      </p:sp>
      <p:pic>
        <p:nvPicPr>
          <p:cNvPr id="8" name="Picture Placeholder 7" descr="A technician checks a single diaphragm E G R valve with a hand operated vacuum pump.">
            <a:extLst>
              <a:ext uri="{FF2B5EF4-FFF2-40B4-BE49-F238E27FC236}">
                <a16:creationId xmlns:a16="http://schemas.microsoft.com/office/drawing/2014/main" id="{67C0510E-F169-8EF7-3A35-7E3B835FB957}"/>
              </a:ext>
            </a:extLst>
          </p:cNvPr>
          <p:cNvPicPr>
            <a:picLocks noGrp="1" noChangeAspect="1"/>
          </p:cNvPicPr>
          <p:nvPr>
            <p:ph type="pic" sz="quarter" idx="12"/>
          </p:nvPr>
        </p:nvPicPr>
        <p:blipFill rotWithShape="1">
          <a:blip r:embed="rId3"/>
          <a:srcRect b="12766"/>
          <a:stretch/>
        </p:blipFill>
        <p:spPr>
          <a:xfrm>
            <a:off x="7740210" y="1845145"/>
            <a:ext cx="4222146" cy="3173422"/>
          </a:xfrm>
          <a:prstGeom prst="rect">
            <a:avLst/>
          </a:prstGeom>
        </p:spPr>
      </p:pic>
    </p:spTree>
    <p:extLst>
      <p:ext uri="{BB962C8B-B14F-4D97-AF65-F5344CB8AC3E}">
        <p14:creationId xmlns:p14="http://schemas.microsoft.com/office/powerpoint/2010/main" val="1619100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F69CE10-B40F-2E24-C7E1-E2E4024AEE15}"/>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BB296578-C9C2-0FB2-DED8-0B6B91BE0057}"/>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3600" dirty="0"/>
              <a:t>Diagnosis of a Negative Backpressure EGR Valve</a:t>
            </a:r>
            <a:endParaRPr lang="en-US" sz="4400" dirty="0"/>
          </a:p>
        </p:txBody>
      </p:sp>
      <p:sp>
        <p:nvSpPr>
          <p:cNvPr id="145" name="Google Shape;145;p4">
            <a:extLst>
              <a:ext uri="{FF2B5EF4-FFF2-40B4-BE49-F238E27FC236}">
                <a16:creationId xmlns:a16="http://schemas.microsoft.com/office/drawing/2014/main" id="{1619CBEB-5B62-0CB3-6785-40B731608629}"/>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1950" indent="-361950"/>
            <a:r>
              <a:rPr lang="en-US" sz="1800" dirty="0"/>
              <a:t>A negative backpressure EGR valve is identified by the letter “N” stamped on it.</a:t>
            </a:r>
          </a:p>
          <a:p>
            <a:pPr marL="361950" indent="-361950"/>
            <a:r>
              <a:rPr lang="en-US" sz="1800" dirty="0"/>
              <a:t>The valve is opened by a combination of engine vacuum and the negative exhaust system pulses that occur as each exhaust valve closes.</a:t>
            </a:r>
          </a:p>
          <a:p>
            <a:pPr marL="361950" indent="-361950"/>
            <a:r>
              <a:rPr lang="en-US" sz="1800" dirty="0"/>
              <a:t>As soon as the valve opens, backpressure is reduced slightly, which opens a vacuum bleed and the valve quickly closes.</a:t>
            </a:r>
          </a:p>
          <a:p>
            <a:pPr marL="361950" indent="-361950"/>
            <a:r>
              <a:rPr lang="en-US" sz="1800" dirty="0"/>
              <a:t>This causes the opening of the valve to modulate according to negative exhaust system pulses.</a:t>
            </a:r>
          </a:p>
          <a:p>
            <a:pPr marL="361950" indent="-361950"/>
            <a:r>
              <a:rPr lang="en-US" sz="1800" dirty="0"/>
              <a:t>With the engine at normal operating temperature and the ignition switch off, disconnect the vacuum hose from the EGR valve and connect a hand vacuum pump to the vacuum fitting on the valve.</a:t>
            </a:r>
          </a:p>
          <a:p>
            <a:pPr marL="361950" indent="-361950"/>
            <a:r>
              <a:rPr lang="en-US" sz="1800" dirty="0"/>
              <a:t>Supply 18 inches of vacuum to the EGR valve. The EGR valve should open and hold the vacuum for 20 seconds.</a:t>
            </a:r>
          </a:p>
          <a:p>
            <a:pPr marL="361950" indent="-361950"/>
            <a:r>
              <a:rPr lang="en-US" sz="1800" dirty="0"/>
              <a:t>If the valve does not open or cannot hold the vacuum, it must be replaced.</a:t>
            </a:r>
          </a:p>
        </p:txBody>
      </p:sp>
    </p:spTree>
    <p:extLst>
      <p:ext uri="{BB962C8B-B14F-4D97-AF65-F5344CB8AC3E}">
        <p14:creationId xmlns:p14="http://schemas.microsoft.com/office/powerpoint/2010/main" val="223017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56B8971-D10F-53F2-1BA1-58756CF79164}"/>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5B755248-E6BE-9890-CC0E-489FD8ECF38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Diagnosis of a Digital EGR Valve</a:t>
            </a:r>
            <a:endParaRPr lang="en-US" sz="4800" dirty="0"/>
          </a:p>
        </p:txBody>
      </p:sp>
      <p:pic>
        <p:nvPicPr>
          <p:cNvPr id="8" name="Picture Placeholder 7" descr="Two illustrations. The first illustration depicts a solenoid with the parts labeled as follows: solenoid assembly, armature assembly, and base. The second illustration depicts a magnified view of the E G R valve. An ohmmeter is connected to the valve where the positive lead of the ohmmeter is connected to either terminal A or terminal C, and the negative lead of the ohmmeter is connected to terminal B. The terminal A and B are together connected to a resistor. The terminal B and C are together connected to another resistor. An inductor is connected to each of the resistor in parallel.">
            <a:extLst>
              <a:ext uri="{FF2B5EF4-FFF2-40B4-BE49-F238E27FC236}">
                <a16:creationId xmlns:a16="http://schemas.microsoft.com/office/drawing/2014/main" id="{E1913EC0-2270-10D1-4FD0-F3481BBD4DCF}"/>
              </a:ext>
            </a:extLst>
          </p:cNvPr>
          <p:cNvPicPr>
            <a:picLocks noGrp="1" noChangeAspect="1"/>
          </p:cNvPicPr>
          <p:nvPr>
            <p:ph type="pic" sz="quarter" idx="12"/>
          </p:nvPr>
        </p:nvPicPr>
        <p:blipFill rotWithShape="1">
          <a:blip r:embed="rId3"/>
          <a:srcRect b="6104"/>
          <a:stretch/>
        </p:blipFill>
        <p:spPr>
          <a:xfrm>
            <a:off x="472801" y="2222190"/>
            <a:ext cx="4810296" cy="2900952"/>
          </a:xfrm>
          <a:prstGeom prst="rect">
            <a:avLst/>
          </a:prstGeom>
        </p:spPr>
      </p:pic>
      <p:sp>
        <p:nvSpPr>
          <p:cNvPr id="145" name="Google Shape;145;p4">
            <a:extLst>
              <a:ext uri="{FF2B5EF4-FFF2-40B4-BE49-F238E27FC236}">
                <a16:creationId xmlns:a16="http://schemas.microsoft.com/office/drawing/2014/main" id="{51AF5C52-B012-2F6C-90EE-ED3129BDF81A}"/>
              </a:ext>
            </a:extLst>
          </p:cNvPr>
          <p:cNvSpPr txBox="1">
            <a:spLocks noGrp="1"/>
          </p:cNvSpPr>
          <p:nvPr>
            <p:ph type="body" idx="1"/>
          </p:nvPr>
        </p:nvSpPr>
        <p:spPr>
          <a:xfrm>
            <a:off x="5611090" y="1517444"/>
            <a:ext cx="6107667" cy="4436547"/>
          </a:xfrm>
          <a:prstGeom prst="rect">
            <a:avLst/>
          </a:prstGeom>
          <a:noFill/>
          <a:ln>
            <a:noFill/>
          </a:ln>
        </p:spPr>
        <p:txBody>
          <a:bodyPr spcFirstLastPara="1" wrap="square" lIns="91425" tIns="45700" rIns="91425" bIns="45700" anchor="t" anchorCtr="0">
            <a:noAutofit/>
          </a:bodyPr>
          <a:lstStyle/>
          <a:p>
            <a:pPr>
              <a:lnSpc>
                <a:spcPct val="107000"/>
              </a:lnSpc>
              <a:spcBef>
                <a:spcPts val="0"/>
              </a:spcBef>
            </a:pPr>
            <a:r>
              <a:rPr lang="en-US" sz="1800" dirty="0"/>
              <a:t>Use a scan tool to check a digital EGR valve. Start the engine and allow it to run at idle </a:t>
            </a:r>
            <a:r>
              <a:rPr lang="en-US" sz="1800"/>
              <a:t>speed.</a:t>
            </a:r>
            <a:endParaRPr lang="en-US" sz="1800" dirty="0"/>
          </a:p>
          <a:p>
            <a:pPr>
              <a:lnSpc>
                <a:spcPct val="107000"/>
              </a:lnSpc>
              <a:spcBef>
                <a:spcPts val="0"/>
              </a:spcBef>
            </a:pPr>
            <a:r>
              <a:rPr lang="en-US" sz="1800" dirty="0"/>
              <a:t>Select the EGR control on the scan tool, and then energize the solenoids one at a </a:t>
            </a:r>
            <a:r>
              <a:rPr lang="en-US" sz="1800"/>
              <a:t>time.</a:t>
            </a:r>
            <a:endParaRPr lang="en-US" sz="1800" dirty="0"/>
          </a:p>
          <a:p>
            <a:pPr>
              <a:lnSpc>
                <a:spcPct val="107000"/>
              </a:lnSpc>
              <a:spcBef>
                <a:spcPts val="0"/>
              </a:spcBef>
            </a:pPr>
            <a:r>
              <a:rPr lang="en-US" sz="1800" dirty="0"/>
              <a:t>Engine speed should drop slightly as each EGR solenoid is </a:t>
            </a:r>
            <a:r>
              <a:rPr lang="en-US" sz="1800"/>
              <a:t>energized.</a:t>
            </a:r>
            <a:endParaRPr lang="en-US" sz="1800" dirty="0"/>
          </a:p>
          <a:p>
            <a:pPr>
              <a:lnSpc>
                <a:spcPct val="107000"/>
              </a:lnSpc>
              <a:spcBef>
                <a:spcPts val="0"/>
              </a:spcBef>
            </a:pPr>
            <a:r>
              <a:rPr lang="en-US" sz="1800" dirty="0"/>
              <a:t>If the EGR valve does not respond correctly, make sure 12 volts are applied to the EGR </a:t>
            </a:r>
            <a:r>
              <a:rPr lang="en-US" sz="1800"/>
              <a:t>valve.</a:t>
            </a:r>
            <a:endParaRPr lang="en-US" sz="1800" dirty="0"/>
          </a:p>
          <a:p>
            <a:pPr>
              <a:lnSpc>
                <a:spcPct val="107000"/>
              </a:lnSpc>
              <a:spcBef>
                <a:spcPts val="0"/>
              </a:spcBef>
            </a:pPr>
            <a:r>
              <a:rPr lang="en-US" sz="1800" dirty="0"/>
              <a:t>Then check the resistance of the </a:t>
            </a:r>
            <a:r>
              <a:rPr lang="en-US" sz="1800"/>
              <a:t>valve.</a:t>
            </a:r>
            <a:endParaRPr lang="en-US" sz="1800" dirty="0"/>
          </a:p>
          <a:p>
            <a:pPr>
              <a:lnSpc>
                <a:spcPct val="107000"/>
              </a:lnSpc>
              <a:spcBef>
                <a:spcPts val="0"/>
              </a:spcBef>
            </a:pPr>
            <a:r>
              <a:rPr lang="en-US" sz="1800" dirty="0"/>
              <a:t>Connect an ohmmeter across the electrical terminals on the valve; the windings can be checked for opens, shorts, and excessive resistance.</a:t>
            </a:r>
          </a:p>
        </p:txBody>
      </p:sp>
    </p:spTree>
    <p:extLst>
      <p:ext uri="{BB962C8B-B14F-4D97-AF65-F5344CB8AC3E}">
        <p14:creationId xmlns:p14="http://schemas.microsoft.com/office/powerpoint/2010/main" val="3530546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03C6A8D-1A6D-8907-A7C4-97344D5698C2}"/>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5492897A-24D7-7B49-DAF4-C0B546A2F08E}"/>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dirty="0"/>
              <a:t>Linear EGR Valve Diagnosis</a:t>
            </a:r>
            <a:endParaRPr lang="en-US" sz="4800" dirty="0"/>
          </a:p>
        </p:txBody>
      </p:sp>
      <p:pic>
        <p:nvPicPr>
          <p:cNvPr id="8" name="Picture Placeholder 7" descr="Two illustrations. The first illustration on the left depicts a person’s finger pressing the piston at the bottom of a solenoid. In the second illustration, the valve has five terminals A, B, C, D, and E that are labeled collectively as backprobe wires at the connector. The positive lead of a ohmmeter is connected to terminal C of the valve and the negative lead of the ohmmeter is grounded. The terminals B and D are connected together to a variable resistor. Signal from terminal C is passed towards the variable resistor. The terminals A and E are connected together to an inductor.">
            <a:extLst>
              <a:ext uri="{FF2B5EF4-FFF2-40B4-BE49-F238E27FC236}">
                <a16:creationId xmlns:a16="http://schemas.microsoft.com/office/drawing/2014/main" id="{E310DE8B-BC35-2645-4736-1750F79104CC}"/>
              </a:ext>
            </a:extLst>
          </p:cNvPr>
          <p:cNvPicPr>
            <a:picLocks noGrp="1" noChangeAspect="1"/>
          </p:cNvPicPr>
          <p:nvPr>
            <p:ph type="pic" sz="quarter" idx="12"/>
          </p:nvPr>
        </p:nvPicPr>
        <p:blipFill rotWithShape="1">
          <a:blip r:embed="rId3"/>
          <a:srcRect b="9396"/>
          <a:stretch/>
        </p:blipFill>
        <p:spPr>
          <a:xfrm>
            <a:off x="665651" y="1628882"/>
            <a:ext cx="4110995" cy="4239239"/>
          </a:xfrm>
          <a:prstGeom prst="rect">
            <a:avLst/>
          </a:prstGeom>
        </p:spPr>
      </p:pic>
      <p:sp>
        <p:nvSpPr>
          <p:cNvPr id="145" name="Google Shape;145;p4">
            <a:extLst>
              <a:ext uri="{FF2B5EF4-FFF2-40B4-BE49-F238E27FC236}">
                <a16:creationId xmlns:a16="http://schemas.microsoft.com/office/drawing/2014/main" id="{B07BCE0E-BEBB-458C-0416-CA0C679C2091}"/>
              </a:ext>
            </a:extLst>
          </p:cNvPr>
          <p:cNvSpPr txBox="1">
            <a:spLocks noGrp="1"/>
          </p:cNvSpPr>
          <p:nvPr>
            <p:ph type="body" idx="1"/>
          </p:nvPr>
        </p:nvSpPr>
        <p:spPr>
          <a:xfrm>
            <a:off x="5423770" y="1517444"/>
            <a:ext cx="6294988" cy="4462115"/>
          </a:xfrm>
          <a:prstGeom prst="rect">
            <a:avLst/>
          </a:prstGeom>
          <a:noFill/>
          <a:ln>
            <a:noFill/>
          </a:ln>
        </p:spPr>
        <p:txBody>
          <a:bodyPr spcFirstLastPara="1" wrap="square" lIns="91425" tIns="45700" rIns="91425" bIns="45700" anchor="t" anchorCtr="0">
            <a:noAutofit/>
          </a:bodyPr>
          <a:lstStyle/>
          <a:p>
            <a:pPr>
              <a:lnSpc>
                <a:spcPct val="107000"/>
              </a:lnSpc>
              <a:spcBef>
                <a:spcPts val="0"/>
              </a:spcBef>
            </a:pPr>
            <a:r>
              <a:rPr lang="en-US" sz="1800" dirty="0"/>
              <a:t>If a linear EGR valve does not operate properly, check the fuse in the supply wire to the EGR valve.</a:t>
            </a:r>
          </a:p>
          <a:p>
            <a:pPr>
              <a:lnSpc>
                <a:spcPct val="107000"/>
              </a:lnSpc>
              <a:spcBef>
                <a:spcPts val="0"/>
              </a:spcBef>
            </a:pPr>
            <a:r>
              <a:rPr lang="en-US" sz="1800" dirty="0"/>
              <a:t>Check for open circuits, grounds, and shorts in the wires connected from the EGR valve to the PCM.</a:t>
            </a:r>
          </a:p>
          <a:p>
            <a:pPr>
              <a:lnSpc>
                <a:spcPct val="107000"/>
              </a:lnSpc>
              <a:spcBef>
                <a:spcPts val="0"/>
              </a:spcBef>
            </a:pPr>
            <a:r>
              <a:rPr lang="en-US" sz="1800" dirty="0"/>
              <a:t>Verify that the EVP sensor is receiving a 5-volt reference signal and the ground circuit is good.</a:t>
            </a:r>
          </a:p>
          <a:p>
            <a:pPr>
              <a:lnSpc>
                <a:spcPct val="107000"/>
              </a:lnSpc>
              <a:spcBef>
                <a:spcPts val="0"/>
              </a:spcBef>
            </a:pPr>
            <a:r>
              <a:rPr lang="en-US" sz="1800" dirty="0"/>
              <a:t>If these are okay, remove the valve with the wiring harness still connected to it.</a:t>
            </a:r>
          </a:p>
          <a:p>
            <a:pPr>
              <a:lnSpc>
                <a:spcPct val="107000"/>
              </a:lnSpc>
              <a:spcBef>
                <a:spcPts val="0"/>
              </a:spcBef>
            </a:pPr>
            <a:r>
              <a:rPr lang="en-US" sz="1800" dirty="0"/>
              <a:t>Then connect a DMM across the pintle position wire at the EGR valve to ground and manually push the pintle upward.</a:t>
            </a:r>
          </a:p>
          <a:p>
            <a:pPr>
              <a:lnSpc>
                <a:spcPct val="107000"/>
              </a:lnSpc>
              <a:spcBef>
                <a:spcPts val="0"/>
              </a:spcBef>
            </a:pPr>
            <a:r>
              <a:rPr lang="en-US" sz="1800" dirty="0"/>
              <a:t>The voltmeter reading should change from approximately 1 to 4.5 volts.</a:t>
            </a:r>
          </a:p>
        </p:txBody>
      </p:sp>
    </p:spTree>
    <p:extLst>
      <p:ext uri="{BB962C8B-B14F-4D97-AF65-F5344CB8AC3E}">
        <p14:creationId xmlns:p14="http://schemas.microsoft.com/office/powerpoint/2010/main" val="3241508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8CAE7AF-663C-F86A-5EEE-253320AE4FFE}"/>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525FE4AE-C5E9-7A2E-0C16-C8DCBAB8CD16}"/>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dirty="0"/>
              <a:t>Checking EGR Efficiency</a:t>
            </a:r>
            <a:endParaRPr lang="en-US" sz="4800" dirty="0"/>
          </a:p>
        </p:txBody>
      </p:sp>
      <p:sp>
        <p:nvSpPr>
          <p:cNvPr id="145" name="Google Shape;145;p4">
            <a:extLst>
              <a:ext uri="{FF2B5EF4-FFF2-40B4-BE49-F238E27FC236}">
                <a16:creationId xmlns:a16="http://schemas.microsoft.com/office/drawing/2014/main" id="{55E0FAE6-F298-29ED-C3BA-A914090BCB0E}"/>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indent="-363538">
              <a:spcAft>
                <a:spcPts val="0"/>
              </a:spcAft>
            </a:pPr>
            <a:r>
              <a:rPr lang="en-US" sz="1800" dirty="0"/>
              <a:t>To check an EGR system, use a five-gas exhaust </a:t>
            </a:r>
            <a:r>
              <a:rPr lang="en-US" sz="1800"/>
              <a:t>analyzer.</a:t>
            </a:r>
            <a:endParaRPr lang="en-US" sz="1800" dirty="0"/>
          </a:p>
          <a:p>
            <a:pPr marL="363538" indent="-363538">
              <a:spcAft>
                <a:spcPts val="0"/>
              </a:spcAft>
            </a:pPr>
            <a:r>
              <a:rPr lang="en-US" sz="1800" dirty="0"/>
              <a:t>Allow the engine to warm up, and then raise the engine speed to around 2,000 rpm. Watch the NOx readings on the </a:t>
            </a:r>
            <a:r>
              <a:rPr lang="en-US" sz="1800"/>
              <a:t>analyzer.</a:t>
            </a:r>
            <a:endParaRPr lang="en-US" sz="1800" dirty="0"/>
          </a:p>
          <a:p>
            <a:pPr marL="363538" indent="-363538">
              <a:spcAft>
                <a:spcPts val="0"/>
              </a:spcAft>
            </a:pPr>
            <a:r>
              <a:rPr lang="en-US" sz="1800" dirty="0"/>
              <a:t>In most cases, NOx should be below 1,000 </a:t>
            </a:r>
            <a:r>
              <a:rPr lang="en-US" sz="1800"/>
              <a:t>ppm.</a:t>
            </a:r>
            <a:endParaRPr lang="en-US" sz="1800" dirty="0"/>
          </a:p>
          <a:p>
            <a:pPr marL="363538" indent="-363538">
              <a:spcAft>
                <a:spcPts val="0"/>
              </a:spcAft>
            </a:pPr>
            <a:r>
              <a:rPr lang="en-US" sz="1800" dirty="0"/>
              <a:t>It is normal to have some temporary increases over 1,000 ppm; however, the reading should be generally less than </a:t>
            </a:r>
            <a:r>
              <a:rPr lang="en-US" sz="1800"/>
              <a:t>1,000.</a:t>
            </a:r>
            <a:endParaRPr lang="en-US" sz="1800" dirty="0"/>
          </a:p>
          <a:p>
            <a:pPr marL="363538" indent="-363538">
              <a:spcAft>
                <a:spcPts val="0"/>
              </a:spcAft>
            </a:pPr>
            <a:r>
              <a:rPr lang="en-US" sz="1800" dirty="0"/>
              <a:t>If the NOx is above 1,000, the EGR system is not doing its </a:t>
            </a:r>
            <a:r>
              <a:rPr lang="en-US" sz="1800"/>
              <a:t>job.</a:t>
            </a:r>
            <a:endParaRPr lang="en-US" sz="1800" dirty="0"/>
          </a:p>
          <a:p>
            <a:pPr marL="363538" indent="-363538">
              <a:spcAft>
                <a:spcPts val="0"/>
              </a:spcAft>
            </a:pPr>
            <a:r>
              <a:rPr lang="en-US" sz="1800" dirty="0"/>
              <a:t>The exhaust passage in the valve is probably clogged with </a:t>
            </a:r>
            <a:r>
              <a:rPr lang="en-US" sz="1800"/>
              <a:t>carbon.</a:t>
            </a:r>
            <a:endParaRPr lang="en-US" sz="1800" dirty="0"/>
          </a:p>
          <a:p>
            <a:pPr marL="363538" indent="-363538">
              <a:spcAft>
                <a:spcPts val="0"/>
              </a:spcAft>
            </a:pPr>
            <a:r>
              <a:rPr lang="en-US" sz="1800" dirty="0"/>
              <a:t>If only a small amount of exhaust gas is entering the cylinder, NOx will still be </a:t>
            </a:r>
            <a:r>
              <a:rPr lang="en-US" sz="1800"/>
              <a:t>formed.</a:t>
            </a:r>
            <a:endParaRPr lang="en-US" sz="1800" dirty="0"/>
          </a:p>
          <a:p>
            <a:pPr marL="363538" indent="-363538">
              <a:spcAft>
                <a:spcPts val="0"/>
              </a:spcAft>
            </a:pPr>
            <a:r>
              <a:rPr lang="en-US" sz="1800" dirty="0"/>
              <a:t>A restricted exhaust passage of only 1/8 inch will still cause the engine to run rough or stall at idle, but it is not enough to control combustion chamber temperatures at higher engine </a:t>
            </a:r>
            <a:r>
              <a:rPr lang="en-US" sz="1800"/>
              <a:t>speeds.</a:t>
            </a:r>
            <a:endParaRPr lang="en-US" sz="1800" dirty="0"/>
          </a:p>
          <a:p>
            <a:pPr marL="363538" indent="-363538">
              <a:spcAft>
                <a:spcPts val="0"/>
              </a:spcAft>
            </a:pPr>
            <a:r>
              <a:rPr lang="en-US" sz="1800" dirty="0"/>
              <a:t>Never assume that the EGR passages are okay just because the engine stalls at idle when the EGR is fully opened.</a:t>
            </a:r>
          </a:p>
        </p:txBody>
      </p:sp>
    </p:spTree>
    <p:extLst>
      <p:ext uri="{BB962C8B-B14F-4D97-AF65-F5344CB8AC3E}">
        <p14:creationId xmlns:p14="http://schemas.microsoft.com/office/powerpoint/2010/main" val="1826993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3B6A466-914A-299C-9C2E-202206D917E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64F7182-60B3-8B87-0351-4612A632537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EGR Vacuum Regulator (EVR) Tests</a:t>
            </a:r>
            <a:endParaRPr lang="en-US" sz="4800" dirty="0"/>
          </a:p>
        </p:txBody>
      </p:sp>
      <p:sp>
        <p:nvSpPr>
          <p:cNvPr id="145" name="Google Shape;145;p4">
            <a:extLst>
              <a:ext uri="{FF2B5EF4-FFF2-40B4-BE49-F238E27FC236}">
                <a16:creationId xmlns:a16="http://schemas.microsoft.com/office/drawing/2014/main" id="{4D42DFD3-D0E9-CA75-5118-C3E6FF936A6B}"/>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indent="-363538"/>
            <a:r>
              <a:rPr lang="en-US" sz="2400" dirty="0"/>
              <a:t>Connect a pair of ohmmeter leads to the EVR terminals to check the winding for open circuits and </a:t>
            </a:r>
            <a:r>
              <a:rPr lang="en-US" sz="2400"/>
              <a:t>shorts.</a:t>
            </a:r>
            <a:endParaRPr lang="en-US" sz="2400" dirty="0"/>
          </a:p>
          <a:p>
            <a:pPr marL="363538" indent="-363538"/>
            <a:r>
              <a:rPr lang="en-US" sz="2400" dirty="0"/>
              <a:t>An infinite ohmmeter reading indicates an open circuit, whereas a lower-than-specified reading means the winding is </a:t>
            </a:r>
            <a:r>
              <a:rPr lang="en-US" sz="2400"/>
              <a:t>shorted.</a:t>
            </a:r>
            <a:endParaRPr lang="en-US" sz="2400" dirty="0"/>
          </a:p>
          <a:p>
            <a:pPr marL="363538" indent="-363538"/>
            <a:r>
              <a:rPr lang="en-US" sz="2400" dirty="0"/>
              <a:t>Then connect the ohmmeter leads from one of the EVR solenoid terminals to the solenoid </a:t>
            </a:r>
            <a:r>
              <a:rPr lang="en-US" sz="2400"/>
              <a:t>case.</a:t>
            </a:r>
            <a:endParaRPr lang="en-US" sz="2400" dirty="0"/>
          </a:p>
          <a:p>
            <a:pPr marL="363538" indent="-363538"/>
            <a:r>
              <a:rPr lang="en-US" sz="2400" dirty="0"/>
              <a:t>You should get an infinite reading; a low ohmmeter reading means the winding is shorted to the </a:t>
            </a:r>
            <a:r>
              <a:rPr lang="en-US" sz="2400"/>
              <a:t>case.</a:t>
            </a:r>
            <a:endParaRPr lang="en-US" sz="2400" dirty="0"/>
          </a:p>
          <a:p>
            <a:pPr marL="363538" indent="-363538"/>
            <a:r>
              <a:rPr lang="en-US" sz="2400" dirty="0"/>
              <a:t>A scan tool can also be used to diagnose the operation of an EVR solenoid.</a:t>
            </a:r>
          </a:p>
        </p:txBody>
      </p:sp>
    </p:spTree>
    <p:extLst>
      <p:ext uri="{BB962C8B-B14F-4D97-AF65-F5344CB8AC3E}">
        <p14:creationId xmlns:p14="http://schemas.microsoft.com/office/powerpoint/2010/main" val="3484872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0FCA6A4-96C2-C259-54D0-EB12ACF46BA9}"/>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DCF5598C-762A-1449-EAA3-BEBED8A18218}"/>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dirty="0"/>
              <a:t>Catalytic Converter Diagnosis</a:t>
            </a:r>
            <a:endParaRPr lang="en-US" sz="4800" dirty="0"/>
          </a:p>
        </p:txBody>
      </p:sp>
      <p:sp>
        <p:nvSpPr>
          <p:cNvPr id="145" name="Google Shape;145;p4">
            <a:extLst>
              <a:ext uri="{FF2B5EF4-FFF2-40B4-BE49-F238E27FC236}">
                <a16:creationId xmlns:a16="http://schemas.microsoft.com/office/drawing/2014/main" id="{B378B183-D955-E47F-76F6-3FAF83EBFE0E}"/>
              </a:ext>
            </a:extLst>
          </p:cNvPr>
          <p:cNvSpPr txBox="1">
            <a:spLocks noGrp="1"/>
          </p:cNvSpPr>
          <p:nvPr>
            <p:ph type="body" idx="1"/>
          </p:nvPr>
        </p:nvSpPr>
        <p:spPr>
          <a:xfrm>
            <a:off x="476844" y="1517445"/>
            <a:ext cx="7461812" cy="4509282"/>
          </a:xfrm>
          <a:prstGeom prst="rect">
            <a:avLst/>
          </a:prstGeom>
          <a:noFill/>
          <a:ln>
            <a:noFill/>
          </a:ln>
        </p:spPr>
        <p:txBody>
          <a:bodyPr spcFirstLastPara="1" wrap="square" lIns="91425" tIns="45700" rIns="91425" bIns="45700" anchor="t" anchorCtr="0">
            <a:noAutofit/>
          </a:bodyPr>
          <a:lstStyle/>
          <a:p>
            <a:pPr marL="0" marR="0" lvl="0" indent="0" algn="l" rtl="0">
              <a:buSzPts val="2800"/>
              <a:buNone/>
            </a:pPr>
            <a:r>
              <a:rPr lang="en-US" sz="2000" b="1" dirty="0"/>
              <a:t>36.07 Check the efficiency of a catalytic </a:t>
            </a:r>
            <a:r>
              <a:rPr lang="en-US" sz="2000" b="1"/>
              <a:t>converter.</a:t>
            </a:r>
            <a:endParaRPr lang="en-US" sz="2000" b="1" dirty="0"/>
          </a:p>
          <a:p>
            <a:pPr marL="357188" marR="0" lvl="0" indent="-357188" algn="l" rtl="0">
              <a:buChar char="•"/>
            </a:pPr>
            <a:r>
              <a:rPr lang="en-US" sz="2000" dirty="0"/>
              <a:t>The catalytic converter monitor looks at a converter’s ability to store </a:t>
            </a:r>
            <a:r>
              <a:rPr lang="en-US" sz="2000" err="1"/>
              <a:t>O</a:t>
            </a:r>
            <a:r>
              <a:rPr lang="en-US" sz="2000" baseline="-25000" err="1"/>
              <a:t>2</a:t>
            </a:r>
            <a:r>
              <a:rPr lang="en-US" sz="2000"/>
              <a:t>.</a:t>
            </a:r>
            <a:endParaRPr lang="en-US" sz="2000" dirty="0"/>
          </a:p>
          <a:p>
            <a:pPr marL="357188" marR="0" lvl="0" indent="-357188" algn="l" rtl="0">
              <a:buChar char="•"/>
            </a:pPr>
            <a:r>
              <a:rPr lang="en-US" sz="2000" dirty="0"/>
              <a:t>Oxygen storage is only one function of a converter but is a good indication of how efficient the converter </a:t>
            </a:r>
            <a:r>
              <a:rPr lang="en-US" sz="2000"/>
              <a:t>is.</a:t>
            </a:r>
            <a:endParaRPr lang="en-US" sz="2000" dirty="0"/>
          </a:p>
          <a:p>
            <a:pPr marL="357188" marR="0" lvl="0" indent="-357188" algn="l" rtl="0">
              <a:buChar char="•"/>
            </a:pPr>
            <a:r>
              <a:rPr lang="en-US" sz="2000" dirty="0"/>
              <a:t>As the catalyst efficiency declines due to thermal and chemical deterioration, its ability to store </a:t>
            </a:r>
            <a:r>
              <a:rPr lang="en-US" sz="2000" dirty="0" err="1"/>
              <a:t>O</a:t>
            </a:r>
            <a:r>
              <a:rPr lang="en-US" sz="2000" baseline="-25000" dirty="0" err="1"/>
              <a:t>2</a:t>
            </a:r>
            <a:r>
              <a:rPr lang="en-US" sz="2000" dirty="0"/>
              <a:t> also </a:t>
            </a:r>
            <a:r>
              <a:rPr lang="en-US" sz="2000"/>
              <a:t>declines.</a:t>
            </a:r>
            <a:endParaRPr lang="en-US" sz="2000" dirty="0"/>
          </a:p>
          <a:p>
            <a:pPr marL="357188" marR="0" lvl="0" indent="-357188" algn="l" rtl="0">
              <a:buChar char="•"/>
            </a:pPr>
            <a:r>
              <a:rPr lang="en-US" sz="2000" dirty="0"/>
              <a:t>Therefore, OBD II systems compare the </a:t>
            </a:r>
            <a:r>
              <a:rPr lang="en-US" sz="2000" dirty="0" err="1"/>
              <a:t>O</a:t>
            </a:r>
            <a:r>
              <a:rPr lang="en-US" sz="2000" baseline="-25000" dirty="0" err="1"/>
              <a:t>2</a:t>
            </a:r>
            <a:r>
              <a:rPr lang="en-US" sz="2000" dirty="0"/>
              <a:t> content in the exhaust before and after the </a:t>
            </a:r>
            <a:r>
              <a:rPr lang="en-US" sz="2000"/>
              <a:t>converter.</a:t>
            </a:r>
            <a:endParaRPr lang="en-US" sz="2000" dirty="0"/>
          </a:p>
          <a:p>
            <a:pPr marL="357188" marR="0" lvl="0" indent="-357188" algn="l" rtl="0">
              <a:buChar char="•"/>
            </a:pPr>
            <a:r>
              <a:rPr lang="en-US" sz="2000" dirty="0"/>
              <a:t>This is done by monitoring the signals from </a:t>
            </a:r>
            <a:r>
              <a:rPr lang="en-US" sz="2000" dirty="0" err="1"/>
              <a:t>O</a:t>
            </a:r>
            <a:r>
              <a:rPr lang="en-US" sz="2000" baseline="-25000" dirty="0" err="1"/>
              <a:t>2</a:t>
            </a:r>
            <a:r>
              <a:rPr lang="en-US" sz="2000" dirty="0"/>
              <a:t> sensors placed before and after the converter.</a:t>
            </a:r>
          </a:p>
        </p:txBody>
      </p:sp>
      <p:pic>
        <p:nvPicPr>
          <p:cNvPr id="8" name="Picture Placeholder 7" descr="Two oscilloscope traces. The first oscilloscope trace, captioned good catalyst has an irregular sine wave, labeled as Pre-H O_2 S, that is drawn above the horizontal axis. An irregular straight wave, labeled as Post H O_2 S, is drawn below the horizontal axis. The second oscilloscope trace captioned bad catalyst has an irregular sine wave, labeled as Pre-H O_2 S, that is drawn above the horizontal axis. An irregular sine wave, labeled as Post H O_2 S, is drawn below the horizontal axis.">
            <a:extLst>
              <a:ext uri="{FF2B5EF4-FFF2-40B4-BE49-F238E27FC236}">
                <a16:creationId xmlns:a16="http://schemas.microsoft.com/office/drawing/2014/main" id="{C02DFCC3-8559-92F6-7EAD-556462659C82}"/>
              </a:ext>
            </a:extLst>
          </p:cNvPr>
          <p:cNvPicPr>
            <a:picLocks noGrp="1" noChangeAspect="1"/>
          </p:cNvPicPr>
          <p:nvPr>
            <p:ph type="pic" sz="quarter" idx="12"/>
          </p:nvPr>
        </p:nvPicPr>
        <p:blipFill rotWithShape="1">
          <a:blip r:embed="rId3"/>
          <a:srcRect b="7792"/>
          <a:stretch/>
        </p:blipFill>
        <p:spPr>
          <a:xfrm>
            <a:off x="8108653" y="1694090"/>
            <a:ext cx="3319301" cy="4155991"/>
          </a:xfrm>
          <a:prstGeom prst="rect">
            <a:avLst/>
          </a:prstGeom>
        </p:spPr>
      </p:pic>
    </p:spTree>
    <p:extLst>
      <p:ext uri="{BB962C8B-B14F-4D97-AF65-F5344CB8AC3E}">
        <p14:creationId xmlns:p14="http://schemas.microsoft.com/office/powerpoint/2010/main" val="3473010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B5A50CF-C9E3-6350-9745-529F02E5F47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A140B183-81F5-4E01-3D42-90F85E6F5B8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dirty="0"/>
              <a:t>Converter Diagnosis</a:t>
            </a:r>
            <a:endParaRPr lang="en-US" sz="4800" dirty="0"/>
          </a:p>
        </p:txBody>
      </p:sp>
      <p:sp>
        <p:nvSpPr>
          <p:cNvPr id="145" name="Google Shape;145;p4">
            <a:extLst>
              <a:ext uri="{FF2B5EF4-FFF2-40B4-BE49-F238E27FC236}">
                <a16:creationId xmlns:a16="http://schemas.microsoft.com/office/drawing/2014/main" id="{77ED27CC-9C86-17A6-1666-E60DDEA5DA07}"/>
              </a:ext>
            </a:extLst>
          </p:cNvPr>
          <p:cNvSpPr txBox="1">
            <a:spLocks noGrp="1"/>
          </p:cNvSpPr>
          <p:nvPr>
            <p:ph type="body" idx="1"/>
          </p:nvPr>
        </p:nvSpPr>
        <p:spPr>
          <a:xfrm>
            <a:off x="476844" y="1492393"/>
            <a:ext cx="7378684" cy="4571628"/>
          </a:xfrm>
          <a:prstGeom prst="rect">
            <a:avLst/>
          </a:prstGeom>
          <a:noFill/>
          <a:ln>
            <a:noFill/>
          </a:ln>
        </p:spPr>
        <p:txBody>
          <a:bodyPr spcFirstLastPara="1" wrap="square" lIns="91425" tIns="45700" rIns="91425" bIns="45700" anchor="t" anchorCtr="0">
            <a:noAutofit/>
          </a:bodyPr>
          <a:lstStyle/>
          <a:p>
            <a:pPr marL="363538" indent="-363538">
              <a:lnSpc>
                <a:spcPct val="107000"/>
              </a:lnSpc>
              <a:spcBef>
                <a:spcPts val="0"/>
              </a:spcBef>
            </a:pPr>
            <a:r>
              <a:rPr lang="en-US" sz="2000" dirty="0"/>
              <a:t>Converters often fail because the catalyst material becomes coated with foreign materials.</a:t>
            </a:r>
          </a:p>
          <a:p>
            <a:pPr marL="363538" indent="-363538">
              <a:lnSpc>
                <a:spcPct val="107000"/>
              </a:lnSpc>
              <a:spcBef>
                <a:spcPts val="0"/>
              </a:spcBef>
            </a:pPr>
            <a:r>
              <a:rPr lang="en-US" sz="2000" dirty="0"/>
              <a:t>A buildup of this material reduces the catalysts’ ability to reduce NOx and oxidize HC and CO.</a:t>
            </a:r>
          </a:p>
          <a:p>
            <a:pPr marL="363538" indent="-363538">
              <a:lnSpc>
                <a:spcPct val="107000"/>
              </a:lnSpc>
              <a:spcBef>
                <a:spcPts val="0"/>
              </a:spcBef>
            </a:pPr>
            <a:r>
              <a:rPr lang="en-US" sz="2000" dirty="0"/>
              <a:t>An overheated converter can become plugged and restrict exhaust flow.</a:t>
            </a:r>
          </a:p>
          <a:p>
            <a:pPr marL="363538" indent="-363538">
              <a:lnSpc>
                <a:spcPct val="107000"/>
              </a:lnSpc>
              <a:spcBef>
                <a:spcPts val="0"/>
              </a:spcBef>
            </a:pPr>
            <a:r>
              <a:rPr lang="en-US" sz="2000" dirty="0"/>
              <a:t>The typical cause of an overheated converter is engine misfiring.</a:t>
            </a:r>
          </a:p>
          <a:p>
            <a:pPr marL="363538" indent="-363538">
              <a:lnSpc>
                <a:spcPct val="107000"/>
              </a:lnSpc>
              <a:spcBef>
                <a:spcPts val="0"/>
              </a:spcBef>
            </a:pPr>
            <a:r>
              <a:rPr lang="en-US" sz="2000" dirty="0"/>
              <a:t>A vacuum gauge can be used to watch engine vacuum while the engine is accelerated.</a:t>
            </a:r>
          </a:p>
          <a:p>
            <a:pPr marL="363538" indent="-363538">
              <a:lnSpc>
                <a:spcPct val="107000"/>
              </a:lnSpc>
              <a:spcBef>
                <a:spcPts val="0"/>
              </a:spcBef>
            </a:pPr>
            <a:r>
              <a:rPr lang="en-US" sz="2000" dirty="0"/>
              <a:t>Another way to check for a restricted exhaust or catalyst is to insert a pressure gauge in the exhaust manifold’s bore for the </a:t>
            </a:r>
            <a:r>
              <a:rPr lang="en-US" sz="2000" dirty="0" err="1"/>
              <a:t>O</a:t>
            </a:r>
            <a:r>
              <a:rPr lang="en-US" sz="2000" baseline="-25000" dirty="0" err="1"/>
              <a:t>2</a:t>
            </a:r>
            <a:r>
              <a:rPr lang="en-US" sz="2000" dirty="0"/>
              <a:t> sensor.</a:t>
            </a:r>
          </a:p>
        </p:txBody>
      </p:sp>
      <p:pic>
        <p:nvPicPr>
          <p:cNvPr id="8" name="Picture Placeholder 7" descr="A backpressure gauge inserted into a heated oxygen sensor's bore in an exhaust manifold.">
            <a:extLst>
              <a:ext uri="{FF2B5EF4-FFF2-40B4-BE49-F238E27FC236}">
                <a16:creationId xmlns:a16="http://schemas.microsoft.com/office/drawing/2014/main" id="{E0055350-D3A4-3EFB-3FC8-5C251592C9DE}"/>
              </a:ext>
            </a:extLst>
          </p:cNvPr>
          <p:cNvPicPr>
            <a:picLocks noGrp="1" noChangeAspect="1"/>
          </p:cNvPicPr>
          <p:nvPr>
            <p:ph type="pic" sz="quarter" idx="12"/>
          </p:nvPr>
        </p:nvPicPr>
        <p:blipFill rotWithShape="1">
          <a:blip r:embed="rId3"/>
          <a:srcRect b="12516"/>
          <a:stretch/>
        </p:blipFill>
        <p:spPr>
          <a:xfrm>
            <a:off x="8066762" y="1701776"/>
            <a:ext cx="3873863" cy="3769356"/>
          </a:xfrm>
          <a:prstGeom prst="rect">
            <a:avLst/>
          </a:prstGeom>
        </p:spPr>
      </p:pic>
    </p:spTree>
    <p:extLst>
      <p:ext uri="{BB962C8B-B14F-4D97-AF65-F5344CB8AC3E}">
        <p14:creationId xmlns:p14="http://schemas.microsoft.com/office/powerpoint/2010/main" val="2268846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 </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sz="2300" dirty="0"/>
              <a:t>How is a catalytic converter tested for </a:t>
            </a:r>
            <a:r>
              <a:rPr lang="en-US" sz="2300"/>
              <a:t>efficiency?</a:t>
            </a:r>
            <a:endParaRPr lang="en-US" sz="2300" dirty="0"/>
          </a:p>
        </p:txBody>
      </p:sp>
    </p:spTree>
    <p:extLst>
      <p:ext uri="{BB962C8B-B14F-4D97-AF65-F5344CB8AC3E}">
        <p14:creationId xmlns:p14="http://schemas.microsoft.com/office/powerpoint/2010/main" val="2476575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3" name="Google Shape;385;p39"/>
          <p:cNvSpPr txBox="1">
            <a:spLocks noGrp="1"/>
          </p:cNvSpPr>
          <p:nvPr>
            <p:ph type="body" idx="1"/>
          </p:nvPr>
        </p:nvSpPr>
        <p:spPr>
          <a:xfrm>
            <a:off x="476250" y="1517650"/>
            <a:ext cx="11242675" cy="2477561"/>
          </a:xfrm>
          <a:prstGeom prst="rect">
            <a:avLst/>
          </a:prstGeom>
          <a:noFill/>
          <a:ln>
            <a:noFill/>
          </a:ln>
        </p:spPr>
        <p:txBody>
          <a:bodyPr spcFirstLastPara="1" wrap="square" lIns="91425" tIns="45700" rIns="91425" bIns="45700" anchor="t" anchorCtr="0">
            <a:spAutoFit/>
          </a:bodyPr>
          <a:lstStyle/>
          <a:p>
            <a:pPr marL="363538" marR="0" lvl="0" indent="-363538" algn="l" defTabSz="914400" rtl="0" eaLnBrk="1" fontAlgn="auto" latinLnBrk="0" hangingPunct="1">
              <a:lnSpc>
                <a:spcPct val="100000"/>
              </a:lnSpc>
              <a:buClr>
                <a:srgbClr val="282F7C"/>
              </a:buClr>
              <a:buSzPts val="2400"/>
              <a:buFont typeface="Arial"/>
              <a:buChar char="•"/>
              <a:tabLst/>
              <a:defRPr/>
            </a:pPr>
            <a:r>
              <a:rPr lang="en-US" sz="2400" b="1">
                <a:solidFill>
                  <a:schemeClr val="dk1"/>
                </a:solidFill>
                <a:latin typeface="Work Sans"/>
                <a:ea typeface="Work Sans"/>
                <a:cs typeface="Work Sans"/>
                <a:sym typeface="Work Sans"/>
              </a:rPr>
              <a:t>Answer:</a:t>
            </a:r>
            <a:endParaRPr lang="en-US" sz="2400" b="1" dirty="0">
              <a:solidFill>
                <a:schemeClr val="dk1"/>
              </a:solidFill>
              <a:latin typeface="Work Sans"/>
              <a:ea typeface="Work Sans"/>
              <a:cs typeface="Work Sans"/>
              <a:sym typeface="Work Sans"/>
            </a:endParaRPr>
          </a:p>
          <a:p>
            <a:pPr marL="363538" lvl="0" indent="-363538">
              <a:buClr>
                <a:srgbClr val="282F7C"/>
              </a:buClr>
              <a:buSzPts val="2400"/>
              <a:buFont typeface="Arial"/>
              <a:buChar char="•"/>
              <a:defRPr/>
            </a:pPr>
            <a:r>
              <a:rPr lang="en-US" sz="2400" dirty="0">
                <a:solidFill>
                  <a:schemeClr val="dk1"/>
                </a:solidFill>
                <a:latin typeface="Work Sans"/>
                <a:ea typeface="Work Sans"/>
                <a:cs typeface="Work Sans"/>
                <a:sym typeface="Work Sans"/>
              </a:rPr>
              <a:t>The catalytic converter monitor looks at a converter’s ability to store </a:t>
            </a:r>
            <a:r>
              <a:rPr lang="en-US" sz="2400" err="1">
                <a:solidFill>
                  <a:schemeClr val="dk1"/>
                </a:solidFill>
                <a:latin typeface="Work Sans"/>
                <a:ea typeface="Work Sans"/>
                <a:cs typeface="Work Sans"/>
                <a:sym typeface="Work Sans"/>
              </a:rPr>
              <a:t>O</a:t>
            </a:r>
            <a:r>
              <a:rPr lang="en-US" sz="2400" baseline="-25000" err="1">
                <a:solidFill>
                  <a:schemeClr val="dk1"/>
                </a:solidFill>
                <a:latin typeface="Work Sans"/>
                <a:ea typeface="Work Sans"/>
                <a:cs typeface="Work Sans"/>
                <a:sym typeface="Work Sans"/>
              </a:rPr>
              <a:t>2</a:t>
            </a:r>
            <a:r>
              <a:rPr lang="en-US" sz="2400">
                <a:solidFill>
                  <a:schemeClr val="dk1"/>
                </a:solidFill>
                <a:latin typeface="Work Sans"/>
                <a:ea typeface="Work Sans"/>
                <a:cs typeface="Work Sans"/>
                <a:sym typeface="Work Sans"/>
              </a:rPr>
              <a:t>.</a:t>
            </a:r>
            <a:endParaRPr lang="en-US" sz="2400" dirty="0">
              <a:solidFill>
                <a:schemeClr val="dk1"/>
              </a:solidFill>
              <a:latin typeface="Work Sans"/>
              <a:ea typeface="Work Sans"/>
              <a:cs typeface="Work Sans"/>
              <a:sym typeface="Work Sans"/>
            </a:endParaRPr>
          </a:p>
          <a:p>
            <a:pPr marL="363538" lvl="0" indent="-363538">
              <a:buClr>
                <a:srgbClr val="282F7C"/>
              </a:buClr>
              <a:buSzPts val="2400"/>
              <a:buFont typeface="Arial"/>
              <a:buChar char="•"/>
              <a:defRPr/>
            </a:pPr>
            <a:r>
              <a:rPr lang="en-US" sz="2400" dirty="0">
                <a:solidFill>
                  <a:schemeClr val="dk1"/>
                </a:solidFill>
                <a:latin typeface="Work Sans"/>
                <a:ea typeface="Work Sans"/>
                <a:cs typeface="Work Sans"/>
                <a:sym typeface="Work Sans"/>
              </a:rPr>
              <a:t>This is done by monitoring the signals from </a:t>
            </a:r>
            <a:r>
              <a:rPr lang="en-US" sz="2400" dirty="0" err="1">
                <a:solidFill>
                  <a:schemeClr val="dk1"/>
                </a:solidFill>
                <a:latin typeface="Work Sans"/>
                <a:ea typeface="Work Sans"/>
                <a:cs typeface="Work Sans"/>
                <a:sym typeface="Work Sans"/>
              </a:rPr>
              <a:t>O</a:t>
            </a:r>
            <a:r>
              <a:rPr lang="en-US" sz="2400" baseline="-25000" dirty="0" err="1">
                <a:solidFill>
                  <a:schemeClr val="dk1"/>
                </a:solidFill>
                <a:latin typeface="Work Sans"/>
                <a:ea typeface="Work Sans"/>
                <a:cs typeface="Work Sans"/>
                <a:sym typeface="Work Sans"/>
              </a:rPr>
              <a:t>2</a:t>
            </a:r>
            <a:r>
              <a:rPr lang="en-US" sz="2400" dirty="0">
                <a:solidFill>
                  <a:schemeClr val="dk1"/>
                </a:solidFill>
                <a:latin typeface="Work Sans"/>
                <a:ea typeface="Work Sans"/>
                <a:cs typeface="Work Sans"/>
                <a:sym typeface="Work Sans"/>
              </a:rPr>
              <a:t> sensors placed before and after the </a:t>
            </a:r>
            <a:r>
              <a:rPr lang="en-US" sz="2400">
                <a:solidFill>
                  <a:schemeClr val="dk1"/>
                </a:solidFill>
                <a:latin typeface="Work Sans"/>
                <a:ea typeface="Work Sans"/>
                <a:cs typeface="Work Sans"/>
                <a:sym typeface="Work Sans"/>
              </a:rPr>
              <a:t>converter.</a:t>
            </a:r>
            <a:endParaRPr lang="en-US" sz="2400" dirty="0">
              <a:solidFill>
                <a:schemeClr val="dk1"/>
              </a:solidFill>
              <a:latin typeface="Work Sans"/>
              <a:ea typeface="Work Sans"/>
              <a:cs typeface="Work Sans"/>
              <a:sym typeface="Work Sans"/>
            </a:endParaRPr>
          </a:p>
        </p:txBody>
      </p:sp>
    </p:spTree>
    <p:extLst>
      <p:ext uri="{BB962C8B-B14F-4D97-AF65-F5344CB8AC3E}">
        <p14:creationId xmlns:p14="http://schemas.microsoft.com/office/powerpoint/2010/main" val="1295424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02CB21A-4CA2-72F5-106B-829AE0FF4552}"/>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EFCAFE6-AE68-7EF3-F839-D7A503B3E0C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AIR System Diagnosis and Service</a:t>
            </a:r>
            <a:endParaRPr lang="en-US" sz="4800" dirty="0"/>
          </a:p>
        </p:txBody>
      </p:sp>
      <p:sp>
        <p:nvSpPr>
          <p:cNvPr id="145" name="Google Shape;145;p4">
            <a:extLst>
              <a:ext uri="{FF2B5EF4-FFF2-40B4-BE49-F238E27FC236}">
                <a16:creationId xmlns:a16="http://schemas.microsoft.com/office/drawing/2014/main" id="{4A194EA3-A6AE-2244-6AC8-64103D451981}"/>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1800" b="1" dirty="0"/>
              <a:t>36.08 Diagnose and service secondary air injection systems.</a:t>
            </a:r>
            <a:endParaRPr lang="en-US" sz="1800" dirty="0"/>
          </a:p>
          <a:p>
            <a:pPr marL="342900" indent="-342900">
              <a:spcAft>
                <a:spcPts val="0"/>
              </a:spcAft>
            </a:pPr>
            <a:r>
              <a:rPr lang="en-US" sz="1800" dirty="0"/>
              <a:t>Not all engines are equipped with an air injection system; only those that need them to meet emissions standards have </a:t>
            </a:r>
            <a:r>
              <a:rPr lang="en-US" sz="1800"/>
              <a:t>them.</a:t>
            </a:r>
            <a:endParaRPr lang="en-US" sz="1800" dirty="0"/>
          </a:p>
          <a:p>
            <a:pPr marL="342900" indent="-342900">
              <a:spcAft>
                <a:spcPts val="0"/>
              </a:spcAft>
            </a:pPr>
            <a:r>
              <a:rPr lang="en-US" sz="1800" dirty="0"/>
              <a:t>Each system has its own test procedure; always follow the manufacturer’s recommendations for </a:t>
            </a:r>
            <a:r>
              <a:rPr lang="en-US" sz="1800"/>
              <a:t>testing.</a:t>
            </a:r>
            <a:endParaRPr lang="en-US" sz="1800" dirty="0"/>
          </a:p>
          <a:p>
            <a:pPr marL="342900" indent="-342900">
              <a:spcAft>
                <a:spcPts val="0"/>
              </a:spcAft>
            </a:pPr>
            <a:r>
              <a:rPr lang="en-US" sz="1800" dirty="0"/>
              <a:t>Most AIR systems are computer controlled and rely on solenoids to control the direction of airflow to the exhaust manifold or to the </a:t>
            </a:r>
            <a:r>
              <a:rPr lang="en-US" sz="1800"/>
              <a:t>converter.</a:t>
            </a:r>
            <a:endParaRPr lang="en-US" sz="1800" dirty="0"/>
          </a:p>
          <a:p>
            <a:pPr marL="342900" indent="-342900">
              <a:spcAft>
                <a:spcPts val="0"/>
              </a:spcAft>
            </a:pPr>
            <a:r>
              <a:rPr lang="en-US" sz="1800" dirty="0"/>
              <a:t>When the system is in closed loop, the air from the air injection system must be directed away from the </a:t>
            </a:r>
            <a:r>
              <a:rPr lang="en-US" sz="1800" dirty="0" err="1"/>
              <a:t>O</a:t>
            </a:r>
            <a:r>
              <a:rPr lang="en-US" sz="1800" baseline="-25000" dirty="0" err="1"/>
              <a:t>2</a:t>
            </a:r>
            <a:r>
              <a:rPr lang="en-US" sz="1800" dirty="0"/>
              <a:t> </a:t>
            </a:r>
            <a:r>
              <a:rPr lang="en-US" sz="1800"/>
              <a:t>sensor.</a:t>
            </a:r>
            <a:endParaRPr lang="en-US" sz="1800" dirty="0"/>
          </a:p>
          <a:p>
            <a:pPr marL="342900" indent="-342900">
              <a:spcAft>
                <a:spcPts val="0"/>
              </a:spcAft>
            </a:pPr>
            <a:r>
              <a:rPr lang="en-US" sz="1800" dirty="0"/>
              <a:t>Some systems have switching valves that allow a small amount of air to flow past the </a:t>
            </a:r>
            <a:r>
              <a:rPr lang="en-US" sz="1800" dirty="0" err="1"/>
              <a:t>O</a:t>
            </a:r>
            <a:r>
              <a:rPr lang="en-US" sz="1800" baseline="-25000" dirty="0" err="1"/>
              <a:t>2</a:t>
            </a:r>
            <a:r>
              <a:rPr lang="en-US" sz="1800" dirty="0"/>
              <a:t> </a:t>
            </a:r>
            <a:r>
              <a:rPr lang="en-US" sz="1800"/>
              <a:t>sensor.</a:t>
            </a:r>
            <a:endParaRPr lang="en-US" sz="1800" dirty="0"/>
          </a:p>
          <a:p>
            <a:pPr marL="342900" indent="-342900">
              <a:spcAft>
                <a:spcPts val="0"/>
              </a:spcAft>
            </a:pPr>
            <a:r>
              <a:rPr lang="en-US" sz="1800" dirty="0"/>
              <a:t>The computer knows how much and adjusts the </a:t>
            </a:r>
            <a:r>
              <a:rPr lang="en-US" sz="1800" dirty="0" err="1"/>
              <a:t>O</a:t>
            </a:r>
            <a:r>
              <a:rPr lang="en-US" sz="1800" baseline="-25000" dirty="0" err="1"/>
              <a:t>2</a:t>
            </a:r>
            <a:r>
              <a:rPr lang="en-US" sz="1800" dirty="0"/>
              <a:t> input </a:t>
            </a:r>
            <a:r>
              <a:rPr lang="en-US" sz="1800"/>
              <a:t>accordingly.</a:t>
            </a:r>
            <a:endParaRPr lang="en-US" sz="1800" dirty="0"/>
          </a:p>
          <a:p>
            <a:pPr marL="342900" indent="-342900">
              <a:spcAft>
                <a:spcPts val="0"/>
              </a:spcAft>
            </a:pPr>
            <a:r>
              <a:rPr lang="en-US" sz="1800" dirty="0"/>
              <a:t>Sometimes the amount of air that can move through a closed switching valve is marked on its housing. The pump has at least two hoses.</a:t>
            </a:r>
          </a:p>
        </p:txBody>
      </p:sp>
    </p:spTree>
    <p:extLst>
      <p:ext uri="{BB962C8B-B14F-4D97-AF65-F5344CB8AC3E}">
        <p14:creationId xmlns:p14="http://schemas.microsoft.com/office/powerpoint/2010/main" val="26247709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B5DC5DC-60A6-8028-2B0F-D3D5594A9E6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4479D4E8-1B8C-A401-2595-0424BBCCC1B4}"/>
              </a:ext>
            </a:extLst>
          </p:cNvPr>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285750" indent="-285750">
              <a:lnSpc>
                <a:spcPct val="107000"/>
              </a:lnSpc>
              <a:spcBef>
                <a:spcPts val="0"/>
              </a:spcBef>
              <a:buSzPts val="2800"/>
            </a:pPr>
            <a:r>
              <a:rPr lang="en-US" sz="4000" dirty="0"/>
              <a:t>Secondary AIR Monitor</a:t>
            </a:r>
            <a:endParaRPr lang="en-US" sz="4800" dirty="0"/>
          </a:p>
        </p:txBody>
      </p:sp>
      <p:pic>
        <p:nvPicPr>
          <p:cNvPr id="8" name="Picture Placeholder 7" descr="A late-model A I R system with an electric air pump controlled by the P C M.">
            <a:extLst>
              <a:ext uri="{FF2B5EF4-FFF2-40B4-BE49-F238E27FC236}">
                <a16:creationId xmlns:a16="http://schemas.microsoft.com/office/drawing/2014/main" id="{C9006A72-6D8A-9EDE-18A0-2A980CCDED38}"/>
              </a:ext>
            </a:extLst>
          </p:cNvPr>
          <p:cNvPicPr>
            <a:picLocks noGrp="1" noChangeAspect="1"/>
          </p:cNvPicPr>
          <p:nvPr>
            <p:ph type="pic" sz="quarter" idx="12"/>
          </p:nvPr>
        </p:nvPicPr>
        <p:blipFill rotWithShape="1">
          <a:blip r:embed="rId3"/>
          <a:srcRect b="7657"/>
          <a:stretch/>
        </p:blipFill>
        <p:spPr>
          <a:xfrm>
            <a:off x="266554" y="1812528"/>
            <a:ext cx="4781058" cy="3648318"/>
          </a:xfrm>
          <a:prstGeom prst="rect">
            <a:avLst/>
          </a:prstGeom>
        </p:spPr>
      </p:pic>
      <p:sp>
        <p:nvSpPr>
          <p:cNvPr id="145" name="Google Shape;145;p4">
            <a:extLst>
              <a:ext uri="{FF2B5EF4-FFF2-40B4-BE49-F238E27FC236}">
                <a16:creationId xmlns:a16="http://schemas.microsoft.com/office/drawing/2014/main" id="{E6928D60-0BD4-8836-6C6B-3F50ED0FED84}"/>
              </a:ext>
            </a:extLst>
          </p:cNvPr>
          <p:cNvSpPr txBox="1">
            <a:spLocks noGrp="1"/>
          </p:cNvSpPr>
          <p:nvPr>
            <p:ph type="body" idx="1"/>
          </p:nvPr>
        </p:nvSpPr>
        <p:spPr>
          <a:xfrm>
            <a:off x="5241851" y="1517444"/>
            <a:ext cx="6476907" cy="4575012"/>
          </a:xfrm>
          <a:prstGeom prst="rect">
            <a:avLst/>
          </a:prstGeom>
          <a:noFill/>
          <a:ln>
            <a:noFill/>
          </a:ln>
        </p:spPr>
        <p:txBody>
          <a:bodyPr spcFirstLastPara="1" wrap="square" lIns="91425" tIns="45700" rIns="91425" bIns="45700" anchor="t" anchorCtr="0">
            <a:noAutofit/>
          </a:bodyPr>
          <a:lstStyle/>
          <a:p>
            <a:pPr marL="342900" indent="-342900">
              <a:lnSpc>
                <a:spcPct val="107000"/>
              </a:lnSpc>
              <a:spcBef>
                <a:spcPts val="0"/>
              </a:spcBef>
            </a:pPr>
            <a:r>
              <a:rPr lang="en-US" sz="1800" dirty="0"/>
              <a:t>The operation of the secondary air injection (AIR) system is checked by an OBD II monitor.</a:t>
            </a:r>
          </a:p>
          <a:p>
            <a:pPr marL="342900" indent="-342900">
              <a:lnSpc>
                <a:spcPct val="107000"/>
              </a:lnSpc>
              <a:spcBef>
                <a:spcPts val="0"/>
              </a:spcBef>
            </a:pPr>
            <a:r>
              <a:rPr lang="en-US" sz="1800" dirty="0"/>
              <a:t>The monitor looks at the complete electrical circuit for the AIR system, especially the electric pump (if so equipped) and pump relay.</a:t>
            </a:r>
          </a:p>
          <a:p>
            <a:pPr marL="342900" indent="-342900">
              <a:lnSpc>
                <a:spcPct val="107000"/>
              </a:lnSpc>
              <a:spcBef>
                <a:spcPts val="0"/>
              </a:spcBef>
            </a:pPr>
            <a:r>
              <a:rPr lang="en-US" sz="1800" dirty="0"/>
              <a:t>Late-model AIR systems use an electric air pump controlled by the PCM.</a:t>
            </a:r>
          </a:p>
          <a:p>
            <a:pPr marL="342900" indent="-342900">
              <a:lnSpc>
                <a:spcPct val="107000"/>
              </a:lnSpc>
              <a:spcBef>
                <a:spcPts val="0"/>
              </a:spcBef>
            </a:pPr>
            <a:r>
              <a:rPr lang="en-US" sz="1800" dirty="0"/>
              <a:t>These systems have an AIR solenoid and solenoid relay.</a:t>
            </a:r>
          </a:p>
          <a:p>
            <a:pPr marL="342900" indent="-342900">
              <a:lnSpc>
                <a:spcPct val="107000"/>
              </a:lnSpc>
              <a:spcBef>
                <a:spcPts val="0"/>
              </a:spcBef>
            </a:pPr>
            <a:r>
              <a:rPr lang="en-US" sz="1800" dirty="0"/>
              <a:t>When the PCM provides a ground for the relay, battery voltage is applied to the solenoid and the pump.</a:t>
            </a:r>
          </a:p>
          <a:p>
            <a:pPr marL="342900" indent="-342900">
              <a:lnSpc>
                <a:spcPct val="107000"/>
              </a:lnSpc>
              <a:spcBef>
                <a:spcPts val="0"/>
              </a:spcBef>
            </a:pPr>
            <a:r>
              <a:rPr lang="en-US" sz="1800" dirty="0"/>
              <a:t>A quick check of the system can be made with a scan tool.</a:t>
            </a:r>
          </a:p>
        </p:txBody>
      </p:sp>
    </p:spTree>
    <p:extLst>
      <p:ext uri="{BB962C8B-B14F-4D97-AF65-F5344CB8AC3E}">
        <p14:creationId xmlns:p14="http://schemas.microsoft.com/office/powerpoint/2010/main" val="3288128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EAB4573-9F13-539E-7B9F-5B69F9E41286}"/>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EE82A905-0FBE-B0F1-C1F4-6E47AC6706D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0000"/>
              </a:lnSpc>
              <a:spcBef>
                <a:spcPts val="0"/>
              </a:spcBef>
              <a:buSzPts val="2800"/>
            </a:pPr>
            <a:r>
              <a:rPr lang="en-US" sz="4000" dirty="0"/>
              <a:t>Secondary AIR System Service and Diagnosis</a:t>
            </a:r>
            <a:endParaRPr lang="en-US" sz="4800" dirty="0"/>
          </a:p>
        </p:txBody>
      </p:sp>
      <p:pic>
        <p:nvPicPr>
          <p:cNvPr id="8" name="Picture Placeholder 7" descr="An illustration depicts pulley bolt, pulley, air pump, and air filter fan.">
            <a:extLst>
              <a:ext uri="{FF2B5EF4-FFF2-40B4-BE49-F238E27FC236}">
                <a16:creationId xmlns:a16="http://schemas.microsoft.com/office/drawing/2014/main" id="{9C732713-E2DF-C3C2-6327-C164C025ED5D}"/>
              </a:ext>
            </a:extLst>
          </p:cNvPr>
          <p:cNvPicPr>
            <a:picLocks noGrp="1" noChangeAspect="1"/>
          </p:cNvPicPr>
          <p:nvPr>
            <p:ph type="pic" sz="quarter" idx="12"/>
          </p:nvPr>
        </p:nvPicPr>
        <p:blipFill rotWithShape="1">
          <a:blip r:embed="rId3"/>
          <a:srcRect b="6283"/>
          <a:stretch/>
        </p:blipFill>
        <p:spPr>
          <a:xfrm>
            <a:off x="648245" y="1554322"/>
            <a:ext cx="5007228" cy="4249948"/>
          </a:xfrm>
          <a:prstGeom prst="rect">
            <a:avLst/>
          </a:prstGeom>
        </p:spPr>
      </p:pic>
      <p:sp>
        <p:nvSpPr>
          <p:cNvPr id="145" name="Google Shape;145;p4">
            <a:extLst>
              <a:ext uri="{FF2B5EF4-FFF2-40B4-BE49-F238E27FC236}">
                <a16:creationId xmlns:a16="http://schemas.microsoft.com/office/drawing/2014/main" id="{D5349BFD-2B68-F1DF-CF13-2A9297114334}"/>
              </a:ext>
            </a:extLst>
          </p:cNvPr>
          <p:cNvSpPr txBox="1">
            <a:spLocks noGrp="1"/>
          </p:cNvSpPr>
          <p:nvPr>
            <p:ph type="body" idx="1"/>
          </p:nvPr>
        </p:nvSpPr>
        <p:spPr>
          <a:xfrm>
            <a:off x="5655472" y="1517445"/>
            <a:ext cx="6063285" cy="4550846"/>
          </a:xfrm>
          <a:prstGeom prst="rect">
            <a:avLst/>
          </a:prstGeom>
          <a:noFill/>
          <a:ln>
            <a:noFill/>
          </a:ln>
        </p:spPr>
        <p:txBody>
          <a:bodyPr spcFirstLastPara="1" wrap="square" lIns="91425" tIns="45700" rIns="91425" bIns="45700" anchor="t" anchorCtr="0">
            <a:noAutofit/>
          </a:bodyPr>
          <a:lstStyle/>
          <a:p>
            <a:pPr marL="342900" indent="-342900">
              <a:spcAft>
                <a:spcPts val="0"/>
              </a:spcAft>
            </a:pPr>
            <a:r>
              <a:rPr lang="en-US" sz="1800" dirty="0"/>
              <a:t>The first step in diagnosing a secondary air injection system is to check all vacuum hoses and electrical connections in the </a:t>
            </a:r>
            <a:r>
              <a:rPr lang="en-US" sz="1800"/>
              <a:t>system.</a:t>
            </a:r>
            <a:endParaRPr lang="en-US" sz="1800" dirty="0"/>
          </a:p>
          <a:p>
            <a:pPr marL="342900" indent="-342900">
              <a:spcAft>
                <a:spcPts val="0"/>
              </a:spcAft>
            </a:pPr>
            <a:r>
              <a:rPr lang="en-US" sz="1800" dirty="0"/>
              <a:t>Most belt-driven AIR pumps have a centrifugal filter behind the pulley to keep dirt out of the </a:t>
            </a:r>
            <a:r>
              <a:rPr lang="en-US" sz="1800"/>
              <a:t>pump.</a:t>
            </a:r>
            <a:endParaRPr lang="en-US" sz="1800" dirty="0"/>
          </a:p>
          <a:p>
            <a:pPr marL="342900" indent="-342900">
              <a:spcAft>
                <a:spcPts val="0"/>
              </a:spcAft>
            </a:pPr>
            <a:r>
              <a:rPr lang="en-US" sz="1800" dirty="0"/>
              <a:t>Air flows through this filter into the pump. The pulley and filter are bolted to the pump shaft and are serviced separately.</a:t>
            </a:r>
          </a:p>
          <a:p>
            <a:pPr marL="342900" indent="-342900">
              <a:spcAft>
                <a:spcPts val="0"/>
              </a:spcAft>
            </a:pPr>
            <a:r>
              <a:rPr lang="en-US" sz="1800" dirty="0"/>
              <a:t>If the pulley or filter is bent, worn, or damaged, it should be </a:t>
            </a:r>
            <a:r>
              <a:rPr lang="en-US" sz="1800"/>
              <a:t>replaced.</a:t>
            </a:r>
            <a:endParaRPr lang="en-US" sz="1800" dirty="0"/>
          </a:p>
          <a:p>
            <a:pPr marL="342900" indent="-342900">
              <a:spcAft>
                <a:spcPts val="0"/>
              </a:spcAft>
            </a:pPr>
            <a:r>
              <a:rPr lang="en-US" sz="1800" dirty="0"/>
              <a:t>Also check the AIR pump’s belt for condition and tension and correct it as necessary. The pump assembly is usually not serviced.</a:t>
            </a:r>
          </a:p>
        </p:txBody>
      </p:sp>
    </p:spTree>
    <p:extLst>
      <p:ext uri="{BB962C8B-B14F-4D97-AF65-F5344CB8AC3E}">
        <p14:creationId xmlns:p14="http://schemas.microsoft.com/office/powerpoint/2010/main" val="406460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BDD3CB8-8EA4-F4C2-11EB-CAAF9270978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EA8B2401-D9E3-F2E6-8B54-F3159FCE3ED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Noise Diagnosis</a:t>
            </a:r>
            <a:endParaRPr lang="en-US" sz="4800" dirty="0"/>
          </a:p>
        </p:txBody>
      </p:sp>
      <p:sp>
        <p:nvSpPr>
          <p:cNvPr id="145" name="Google Shape;145;p4">
            <a:extLst>
              <a:ext uri="{FF2B5EF4-FFF2-40B4-BE49-F238E27FC236}">
                <a16:creationId xmlns:a16="http://schemas.microsoft.com/office/drawing/2014/main" id="{275182CE-E3E5-9413-DA3E-30F0484083AF}"/>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indent="-363538">
              <a:spcAft>
                <a:spcPts val="0"/>
              </a:spcAft>
            </a:pPr>
            <a:r>
              <a:rPr lang="en-US" sz="1800" dirty="0"/>
              <a:t>Leaks in the AIR system can cause a </a:t>
            </a:r>
            <a:r>
              <a:rPr lang="en-US" sz="1800"/>
              <a:t>noise.</a:t>
            </a:r>
            <a:endParaRPr lang="en-US" sz="1800" dirty="0"/>
          </a:p>
          <a:p>
            <a:pPr marL="363538" indent="-363538">
              <a:spcAft>
                <a:spcPts val="0"/>
              </a:spcAft>
            </a:pPr>
            <a:r>
              <a:rPr lang="en-US" sz="1800" dirty="0"/>
              <a:t>It may sound like an exhaust leak or a hissing, depending on where the leak </a:t>
            </a:r>
            <a:r>
              <a:rPr lang="en-US" sz="1800"/>
              <a:t>is.</a:t>
            </a:r>
            <a:endParaRPr lang="en-US" sz="1800" dirty="0"/>
          </a:p>
          <a:p>
            <a:pPr marL="363538" indent="-363538">
              <a:spcAft>
                <a:spcPts val="0"/>
              </a:spcAft>
            </a:pPr>
            <a:r>
              <a:rPr lang="en-US" sz="1800" dirty="0"/>
              <a:t>To verify that the system is leaking, disconnect the pressure hose from the switching or combination </a:t>
            </a:r>
            <a:r>
              <a:rPr lang="en-US" sz="1800"/>
              <a:t>valve.</a:t>
            </a:r>
            <a:endParaRPr lang="en-US" sz="1800" dirty="0"/>
          </a:p>
          <a:p>
            <a:pPr marL="363538" indent="-363538">
              <a:spcAft>
                <a:spcPts val="0"/>
              </a:spcAft>
            </a:pPr>
            <a:r>
              <a:rPr lang="en-US" sz="1800" dirty="0"/>
              <a:t>Plug the end of the hose and run the </a:t>
            </a:r>
            <a:r>
              <a:rPr lang="en-US" sz="1800"/>
              <a:t>pump.</a:t>
            </a:r>
            <a:endParaRPr lang="en-US" sz="1800" dirty="0"/>
          </a:p>
          <a:p>
            <a:pPr marL="363538" indent="-363538">
              <a:spcAft>
                <a:spcPts val="0"/>
              </a:spcAft>
            </a:pPr>
            <a:r>
              <a:rPr lang="en-US" sz="1800" dirty="0"/>
              <a:t>Normally, the sound will be amplified and can be </a:t>
            </a:r>
            <a:r>
              <a:rPr lang="en-US" sz="1800"/>
              <a:t>found.</a:t>
            </a:r>
            <a:endParaRPr lang="en-US" sz="1800" dirty="0"/>
          </a:p>
          <a:p>
            <a:pPr marL="363538" indent="-363538">
              <a:spcAft>
                <a:spcPts val="0"/>
              </a:spcAft>
            </a:pPr>
            <a:r>
              <a:rPr lang="en-US" sz="1800" dirty="0"/>
              <a:t>The pump itself can be the source of a </a:t>
            </a:r>
            <a:r>
              <a:rPr lang="en-US" sz="1800"/>
              <a:t>leak.</a:t>
            </a:r>
            <a:endParaRPr lang="en-US" sz="1800" dirty="0"/>
          </a:p>
          <a:p>
            <a:pPr marL="363538" indent="-363538">
              <a:spcAft>
                <a:spcPts val="0"/>
              </a:spcAft>
            </a:pPr>
            <a:r>
              <a:rPr lang="en-US" sz="1800" dirty="0"/>
              <a:t>This typically results in a whistling noise when the pump is </a:t>
            </a:r>
            <a:r>
              <a:rPr lang="en-US" sz="1800"/>
              <a:t>running.</a:t>
            </a:r>
            <a:endParaRPr lang="en-US" sz="1800" dirty="0"/>
          </a:p>
          <a:p>
            <a:pPr marL="363538" indent="-363538">
              <a:spcAft>
                <a:spcPts val="0"/>
              </a:spcAft>
            </a:pPr>
            <a:r>
              <a:rPr lang="en-US" sz="1800" dirty="0"/>
              <a:t>At times, the source of the leak can be found by feeling around the pump as it </a:t>
            </a:r>
            <a:r>
              <a:rPr lang="en-US" sz="1800"/>
              <a:t>runs.</a:t>
            </a:r>
            <a:endParaRPr lang="en-US" sz="1800" dirty="0"/>
          </a:p>
          <a:p>
            <a:pPr marL="363538" indent="-363538">
              <a:spcAft>
                <a:spcPts val="0"/>
              </a:spcAft>
            </a:pPr>
            <a:r>
              <a:rPr lang="en-US" sz="1800" dirty="0"/>
              <a:t>A common source of leakage is a bad or loose seal at the pump </a:t>
            </a:r>
            <a:r>
              <a:rPr lang="en-US" sz="1800"/>
              <a:t>shaft.</a:t>
            </a:r>
            <a:endParaRPr lang="en-US" sz="1800" dirty="0"/>
          </a:p>
          <a:p>
            <a:pPr marL="363538" indent="-363538">
              <a:spcAft>
                <a:spcPts val="0"/>
              </a:spcAft>
            </a:pPr>
            <a:r>
              <a:rPr lang="en-US" sz="1800" dirty="0"/>
              <a:t>A pump problem can also be the cause of a </a:t>
            </a:r>
            <a:r>
              <a:rPr lang="en-US" sz="1800"/>
              <a:t>noise.</a:t>
            </a:r>
            <a:endParaRPr lang="en-US" sz="1800" dirty="0"/>
          </a:p>
          <a:p>
            <a:pPr marL="363538" indent="-363538">
              <a:spcAft>
                <a:spcPts val="0"/>
              </a:spcAft>
            </a:pPr>
            <a:r>
              <a:rPr lang="en-US" sz="1800" dirty="0"/>
              <a:t>One common pump noise is a rattling that is heard only when the pump is </a:t>
            </a:r>
            <a:r>
              <a:rPr lang="en-US" sz="1800"/>
              <a:t>running.</a:t>
            </a:r>
            <a:endParaRPr lang="en-US" sz="1800" dirty="0"/>
          </a:p>
          <a:p>
            <a:pPr marL="363538" indent="-363538">
              <a:spcAft>
                <a:spcPts val="0"/>
              </a:spcAft>
            </a:pPr>
            <a:r>
              <a:rPr lang="en-US" sz="1800" dirty="0"/>
              <a:t>The common cause of this noise is worn or damaged pump isolator mounts.</a:t>
            </a:r>
          </a:p>
        </p:txBody>
      </p:sp>
    </p:spTree>
    <p:extLst>
      <p:ext uri="{BB962C8B-B14F-4D97-AF65-F5344CB8AC3E}">
        <p14:creationId xmlns:p14="http://schemas.microsoft.com/office/powerpoint/2010/main" val="2027095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E925016F-DDF4-A4EE-15CC-552F77AF3E38}"/>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09572F4-EA7D-0357-DF3D-414B6934DA1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System Efficiency Test</a:t>
            </a:r>
            <a:endParaRPr lang="en-US" sz="4800" dirty="0"/>
          </a:p>
        </p:txBody>
      </p:sp>
      <p:sp>
        <p:nvSpPr>
          <p:cNvPr id="145" name="Google Shape;145;p4">
            <a:extLst>
              <a:ext uri="{FF2B5EF4-FFF2-40B4-BE49-F238E27FC236}">
                <a16:creationId xmlns:a16="http://schemas.microsoft.com/office/drawing/2014/main" id="{AC1FBF70-42FC-E17B-BF6C-80663DADAE0D}"/>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indent="-342900">
              <a:spcAft>
                <a:spcPts val="400"/>
              </a:spcAft>
            </a:pPr>
            <a:r>
              <a:rPr lang="en-US" sz="2200" dirty="0"/>
              <a:t>When the AIR system is working properly, HC, CO, and CO</a:t>
            </a:r>
            <a:r>
              <a:rPr lang="en-US" sz="2200" baseline="-25000" dirty="0"/>
              <a:t>2</a:t>
            </a:r>
            <a:r>
              <a:rPr lang="en-US" sz="2200" dirty="0"/>
              <a:t> are decreased and </a:t>
            </a:r>
            <a:r>
              <a:rPr lang="en-US" sz="2200" dirty="0" err="1"/>
              <a:t>O</a:t>
            </a:r>
            <a:r>
              <a:rPr lang="en-US" sz="2200" baseline="-25000" dirty="0" err="1"/>
              <a:t>2</a:t>
            </a:r>
            <a:r>
              <a:rPr lang="en-US" sz="2200" dirty="0"/>
              <a:t> is </a:t>
            </a:r>
            <a:r>
              <a:rPr lang="en-US" sz="2200"/>
              <a:t>increased.</a:t>
            </a:r>
            <a:endParaRPr lang="en-US" sz="2200" dirty="0"/>
          </a:p>
          <a:p>
            <a:pPr marL="342900" indent="-342900">
              <a:spcAft>
                <a:spcPts val="400"/>
              </a:spcAft>
            </a:pPr>
            <a:r>
              <a:rPr lang="en-US" sz="2200" dirty="0"/>
              <a:t>Run the engine at about 1,500 rpm with the secondary AIR system on (</a:t>
            </a:r>
            <a:r>
              <a:rPr lang="en-US" sz="2200"/>
              <a:t>enabled).</a:t>
            </a:r>
            <a:endParaRPr lang="en-US" sz="2200" dirty="0"/>
          </a:p>
          <a:p>
            <a:pPr marL="342900" indent="-342900">
              <a:spcAft>
                <a:spcPts val="400"/>
              </a:spcAft>
            </a:pPr>
            <a:r>
              <a:rPr lang="en-US" sz="2200" dirty="0"/>
              <a:t>Using an exhaust gas analyzer, measure and record the emission </a:t>
            </a:r>
            <a:r>
              <a:rPr lang="en-US" sz="2200"/>
              <a:t>levels.</a:t>
            </a:r>
            <a:endParaRPr lang="en-US" sz="2200" dirty="0"/>
          </a:p>
          <a:p>
            <a:pPr marL="342900" indent="-342900">
              <a:spcAft>
                <a:spcPts val="400"/>
              </a:spcAft>
            </a:pPr>
            <a:r>
              <a:rPr lang="en-US" sz="2200" dirty="0"/>
              <a:t>Next, disable the secondary AIR system and continue to allow the engine to </a:t>
            </a:r>
            <a:r>
              <a:rPr lang="en-US" sz="2200"/>
              <a:t>idle.</a:t>
            </a:r>
            <a:endParaRPr lang="en-US" sz="2200" dirty="0"/>
          </a:p>
          <a:p>
            <a:pPr marL="342900" indent="-342900">
              <a:spcAft>
                <a:spcPts val="400"/>
              </a:spcAft>
            </a:pPr>
            <a:r>
              <a:rPr lang="en-US" sz="2200" dirty="0"/>
              <a:t>Again, measure and record the emission levels in the exhaust </a:t>
            </a:r>
            <a:r>
              <a:rPr lang="en-US" sz="2200"/>
              <a:t>gases.</a:t>
            </a:r>
            <a:endParaRPr lang="en-US" sz="2200" dirty="0"/>
          </a:p>
          <a:p>
            <a:pPr marL="342900" indent="-342900">
              <a:spcAft>
                <a:spcPts val="400"/>
              </a:spcAft>
            </a:pPr>
            <a:r>
              <a:rPr lang="en-US" sz="2200" dirty="0"/>
              <a:t>The </a:t>
            </a:r>
            <a:r>
              <a:rPr lang="en-US" sz="2200" dirty="0" err="1"/>
              <a:t>O</a:t>
            </a:r>
            <a:r>
              <a:rPr lang="en-US" sz="2200" baseline="-25000" dirty="0" err="1"/>
              <a:t>2</a:t>
            </a:r>
            <a:r>
              <a:rPr lang="en-US" sz="2200" dirty="0"/>
              <a:t> readings should be at least 4 percent less than they were when the AIR system was </a:t>
            </a:r>
            <a:r>
              <a:rPr lang="en-US" sz="2200"/>
              <a:t>enabled.</a:t>
            </a:r>
            <a:endParaRPr lang="en-US" sz="2200" dirty="0"/>
          </a:p>
          <a:p>
            <a:pPr marL="342900" indent="-342900">
              <a:spcAft>
                <a:spcPts val="400"/>
              </a:spcAft>
            </a:pPr>
            <a:r>
              <a:rPr lang="en-US" sz="2200" dirty="0"/>
              <a:t>Less than that indicates an AIR problem.</a:t>
            </a:r>
          </a:p>
        </p:txBody>
      </p:sp>
    </p:spTree>
    <p:extLst>
      <p:ext uri="{BB962C8B-B14F-4D97-AF65-F5344CB8AC3E}">
        <p14:creationId xmlns:p14="http://schemas.microsoft.com/office/powerpoint/2010/main" val="156017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lvl="0" indent="-363538" algn="l" rtl="0">
              <a:lnSpc>
                <a:spcPct val="100000"/>
              </a:lnSpc>
              <a:buSzPts val="2400"/>
              <a:buChar char="•"/>
            </a:pPr>
            <a:r>
              <a:rPr lang="en-US" dirty="0"/>
              <a:t>There are many different emissions control systems and servicing each of them </a:t>
            </a:r>
            <a:r>
              <a:rPr lang="en-US"/>
              <a:t>varies.</a:t>
            </a:r>
            <a:endParaRPr dirty="0"/>
          </a:p>
          <a:p>
            <a:pPr marL="363538" lvl="0" indent="-363538" algn="l" rtl="0">
              <a:lnSpc>
                <a:spcPct val="100000"/>
              </a:lnSpc>
              <a:buSzPts val="2400"/>
              <a:buChar char="•"/>
            </a:pPr>
            <a:r>
              <a:rPr lang="en-US" dirty="0"/>
              <a:t>Have a class discussion while providing several examples of each system and how it is diagnosed and </a:t>
            </a:r>
            <a:r>
              <a:rPr lang="en-US"/>
              <a:t>serviced.</a:t>
            </a:r>
            <a:endParaRPr lang="en-US" dirty="0"/>
          </a:p>
        </p:txBody>
      </p:sp>
    </p:spTree>
    <p:extLst>
      <p:ext uri="{BB962C8B-B14F-4D97-AF65-F5344CB8AC3E}">
        <p14:creationId xmlns:p14="http://schemas.microsoft.com/office/powerpoint/2010/main" val="271745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buNone/>
            </a:pPr>
            <a:r>
              <a:rPr lang="en-US" dirty="0"/>
              <a:t>Please take a moment to compare your perception of emissions controls diagnosis and service before and after you studied this chapter. Then respond to the following questions in one or two paragraphs. Use 150–200 words in your reflection.</a:t>
            </a:r>
          </a:p>
          <a:p>
            <a:r>
              <a:rPr lang="en-US" dirty="0"/>
              <a:t>Were there any concepts in this chapter that you struggled to understand? What will you do to improve your understanding?</a:t>
            </a:r>
          </a:p>
          <a:p>
            <a:pPr marL="360363" lvl="0" indent="-360363"/>
            <a:r>
              <a:rPr lang="en-US" dirty="0"/>
              <a:t>Given all you have learned, do you feel prepared to perform emissions controls diagnosis and service in a shop or lab setting? What will you do to </a:t>
            </a:r>
            <a:r>
              <a:rPr lang="en-US"/>
              <a:t>better prepare?</a:t>
            </a: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13592</TotalTime>
  <Words>4352</Words>
  <Application>Microsoft Office PowerPoint</Application>
  <PresentationFormat>Widescreen</PresentationFormat>
  <Paragraphs>290</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Work Sans</vt:lpstr>
      <vt:lpstr>Optimized Template Master</vt:lpstr>
      <vt:lpstr>Automotive Technology: A Systems Approach, 8e</vt:lpstr>
      <vt:lpstr>Chapter Objectives (1 of 2) </vt:lpstr>
      <vt:lpstr>Chapter Objectives (2 of 2) </vt:lpstr>
      <vt:lpstr>OBD II Test</vt:lpstr>
      <vt:lpstr>I/M 240 Test</vt:lpstr>
      <vt:lpstr>Chassis Dynamometer</vt:lpstr>
      <vt:lpstr>Interpreting the Results of an I/M Test</vt:lpstr>
      <vt:lpstr>Testing Emissions</vt:lpstr>
      <vt:lpstr>Exhaust Analyzer</vt:lpstr>
      <vt:lpstr>Knowledge Check (1 of 2)</vt:lpstr>
      <vt:lpstr>Knowledge Check Answer (1 of 2)</vt:lpstr>
      <vt:lpstr>Basic Inspection</vt:lpstr>
      <vt:lpstr>OBD II Monitors</vt:lpstr>
      <vt:lpstr>Evaporative Emission Control System Diagnosis and Service</vt:lpstr>
      <vt:lpstr>EVAP Monitors</vt:lpstr>
      <vt:lpstr>Diagnosis</vt:lpstr>
      <vt:lpstr>Leak Test</vt:lpstr>
      <vt:lpstr>PCV System Diagnosis and Service</vt:lpstr>
      <vt:lpstr>Consequences of a Faulty PCV System</vt:lpstr>
      <vt:lpstr>Visual Inspection</vt:lpstr>
      <vt:lpstr>Functional Checks of the PCV System</vt:lpstr>
      <vt:lpstr>Measuring Crankcase Pressure</vt:lpstr>
      <vt:lpstr>EGR System Diagnosis and Service</vt:lpstr>
      <vt:lpstr>EGR System Troubleshooting</vt:lpstr>
      <vt:lpstr>EGR Valves and Systems Testing</vt:lpstr>
      <vt:lpstr>Diagnosis of a Negative Backpressure EGR Valve</vt:lpstr>
      <vt:lpstr>Diagnosis of a Digital EGR Valve</vt:lpstr>
      <vt:lpstr>Linear EGR Valve Diagnosis</vt:lpstr>
      <vt:lpstr>Checking EGR Efficiency</vt:lpstr>
      <vt:lpstr>EGR Vacuum Regulator (EVR) Tests</vt:lpstr>
      <vt:lpstr>Catalytic Converter Diagnosis</vt:lpstr>
      <vt:lpstr>Converter Diagnosis</vt:lpstr>
      <vt:lpstr>Knowledge Check (2 of 2) </vt:lpstr>
      <vt:lpstr>Knowledge Check Answer (2 of 2)</vt:lpstr>
      <vt:lpstr>AIR System Diagnosis and Service</vt:lpstr>
      <vt:lpstr>Secondary AIR Monitor</vt:lpstr>
      <vt:lpstr>Secondary AIR System Service and Diagnosis</vt:lpstr>
      <vt:lpstr>Noise Diagnosis</vt:lpstr>
      <vt:lpstr>System Efficiency Test</vt:lpstr>
      <vt:lpstr>Discussion</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CD</cp:lastModifiedBy>
  <cp:revision>278</cp:revision>
  <dcterms:created xsi:type="dcterms:W3CDTF">2021-12-10T16:21:02Z</dcterms:created>
  <dcterms:modified xsi:type="dcterms:W3CDTF">2024-11-20T13:20:56Z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