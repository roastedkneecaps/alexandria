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403" r:id="rId2"/>
    <p:sldId id="301"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2" r:id="rId46"/>
  </p:sldIdLst>
  <p:sldSz cx="12192000" cy="6858000"/>
  <p:notesSz cx="6858000" cy="9144000"/>
  <p:embeddedFontLst>
    <p:embeddedFont>
      <p:font typeface="Work Sans"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86410" autoAdjust="0"/>
  </p:normalViewPr>
  <p:slideViewPr>
    <p:cSldViewPr snapToGrid="0">
      <p:cViewPr varScale="1">
        <p:scale>
          <a:sx n="93" d="100"/>
          <a:sy n="93" d="100"/>
        </p:scale>
        <p:origin x="894" y="78"/>
      </p:cViewPr>
      <p:guideLst>
        <p:guide orient="horz" pos="2160"/>
        <p:guide pos="3840"/>
      </p:guideLst>
    </p:cSldViewPr>
  </p:slideViewPr>
  <p:outlineViewPr>
    <p:cViewPr>
      <p:scale>
        <a:sx n="33" d="100"/>
        <a:sy n="33" d="100"/>
      </p:scale>
      <p:origin x="0" y="-243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5"/>
            <a:ext cx="7503375" cy="2332640"/>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
        <p:nvSpPr>
          <p:cNvPr id="4" name="Picture Placeholder 3">
            <a:extLst>
              <a:ext uri="{FF2B5EF4-FFF2-40B4-BE49-F238E27FC236}">
                <a16:creationId xmlns:a16="http://schemas.microsoft.com/office/drawing/2014/main" id="{9C68CFB6-DC37-BA81-D3F9-209D53A41519}"/>
              </a:ext>
            </a:extLst>
          </p:cNvPr>
          <p:cNvSpPr>
            <a:spLocks noGrp="1"/>
          </p:cNvSpPr>
          <p:nvPr>
            <p:ph type="pic" sz="quarter" idx="11"/>
          </p:nvPr>
        </p:nvSpPr>
        <p:spPr>
          <a:xfrm>
            <a:off x="9134475" y="2803525"/>
            <a:ext cx="914400" cy="914400"/>
          </a:xfrm>
        </p:spPr>
        <p:txBody>
          <a:bodyPr/>
          <a:lstStyle/>
          <a:p>
            <a:endParaRPr lang="en-US"/>
          </a:p>
        </p:txBody>
      </p:sp>
      <p:sp>
        <p:nvSpPr>
          <p:cNvPr id="6" name="Content Placeholder 5">
            <a:extLst>
              <a:ext uri="{FF2B5EF4-FFF2-40B4-BE49-F238E27FC236}">
                <a16:creationId xmlns:a16="http://schemas.microsoft.com/office/drawing/2014/main" id="{85A33B56-E466-CB73-BE16-01D12DE941D7}"/>
              </a:ext>
            </a:extLst>
          </p:cNvPr>
          <p:cNvSpPr>
            <a:spLocks noGrp="1"/>
          </p:cNvSpPr>
          <p:nvPr>
            <p:ph sz="quarter" idx="12"/>
          </p:nvPr>
        </p:nvSpPr>
        <p:spPr>
          <a:xfrm>
            <a:off x="1000125" y="44259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8D10A6E5-00C3-EBDD-6FB8-E5151507347A}"/>
              </a:ext>
            </a:extLst>
          </p:cNvPr>
          <p:cNvSpPr>
            <a:spLocks noGrp="1"/>
          </p:cNvSpPr>
          <p:nvPr>
            <p:ph sz="quarter" idx="13"/>
          </p:nvPr>
        </p:nvSpPr>
        <p:spPr>
          <a:xfrm>
            <a:off x="3816350" y="47672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DE26FD6B-58C5-2865-5A63-B24A3EA8635E}"/>
              </a:ext>
            </a:extLst>
          </p:cNvPr>
          <p:cNvSpPr txBox="1">
            <a:spLocks/>
          </p:cNvSpPr>
          <p:nvPr userDrawn="1"/>
        </p:nvSpPr>
        <p:spPr>
          <a:xfrm>
            <a:off x="2023089" y="6328082"/>
            <a:ext cx="9339263"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Ken </a:t>
            </a:r>
            <a:r>
              <a:rPr lang="en-US" sz="1200" kern="1200" dirty="0" err="1">
                <a:solidFill>
                  <a:schemeClr val="bg1"/>
                </a:solidFill>
                <a:latin typeface="Work Sans" pitchFamily="2" charset="0"/>
                <a:cs typeface="Arial" panose="020B0604020202020204" pitchFamily="34" charset="0"/>
              </a:rPr>
              <a:t>Pickerill</a:t>
            </a:r>
            <a:r>
              <a:rPr lang="en-US" sz="1200" kern="1200" dirty="0">
                <a:solidFill>
                  <a:schemeClr val="bg1"/>
                </a:solidFill>
                <a:latin typeface="Work Sans" pitchFamily="2" charset="0"/>
                <a:cs typeface="Arial" panose="020B0604020202020204" pitchFamily="34" charset="0"/>
              </a:rPr>
              <a:t>,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741004636"/>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61591DD2-0F7C-B629-40C6-B369E63D25CC}"/>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15: Basics of Electrical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a:t>
            </a:r>
            <a:endParaRPr dirty="0"/>
          </a:p>
        </p:txBody>
      </p:sp>
      <p:sp>
        <p:nvSpPr>
          <p:cNvPr id="3" name="Text Placeholder 2">
            <a:extLst>
              <a:ext uri="{FF2B5EF4-FFF2-40B4-BE49-F238E27FC236}">
                <a16:creationId xmlns:a16="http://schemas.microsoft.com/office/drawing/2014/main" id="{BB3F7433-B0DA-74BE-4C6C-EA33DACFA7EC}"/>
              </a:ext>
            </a:extLst>
          </p:cNvPr>
          <p:cNvSpPr>
            <a:spLocks noGrp="1"/>
          </p:cNvSpPr>
          <p:nvPr>
            <p:ph type="body" idx="1"/>
          </p:nvPr>
        </p:nvSpPr>
        <p:spPr/>
        <p:txBody>
          <a:bodyPr/>
          <a:lstStyle/>
          <a:p>
            <a:pPr>
              <a:spcAft>
                <a:spcPts val="600"/>
              </a:spcAft>
            </a:pPr>
            <a:r>
              <a:rPr lang="en-US" dirty="0"/>
              <a:t>15.01 Explain the basic principles of electricity.</a:t>
            </a:r>
          </a:p>
          <a:p>
            <a:pPr>
              <a:spcAft>
                <a:spcPts val="600"/>
              </a:spcAft>
            </a:pPr>
            <a:r>
              <a:rPr lang="en-US" dirty="0"/>
              <a:t>15.02 Define the terms normally used to describe electricity.</a:t>
            </a:r>
          </a:p>
          <a:p>
            <a:pPr>
              <a:spcAft>
                <a:spcPts val="600"/>
              </a:spcAft>
            </a:pPr>
            <a:r>
              <a:rPr lang="en-US" dirty="0"/>
              <a:t>15.03 Use Ohm’s law to determine voltage, current, and resistance.</a:t>
            </a:r>
          </a:p>
          <a:p>
            <a:pPr>
              <a:spcAft>
                <a:spcPts val="600"/>
              </a:spcAft>
            </a:pPr>
            <a:r>
              <a:rPr lang="en-US" dirty="0"/>
              <a:t>15.04 List the basic types of electrical circuits.</a:t>
            </a:r>
          </a:p>
          <a:p>
            <a:pPr>
              <a:spcAft>
                <a:spcPts val="600"/>
              </a:spcAft>
            </a:pPr>
            <a:r>
              <a:rPr lang="en-US" dirty="0"/>
              <a:t>15.05 Describe the differences between a series circuit and a parallel circuit.</a:t>
            </a:r>
          </a:p>
          <a:p>
            <a:pPr>
              <a:spcAft>
                <a:spcPts val="600"/>
              </a:spcAft>
            </a:pPr>
            <a:r>
              <a:rPr lang="en-US" dirty="0"/>
              <a:t>15.06 Identify the various electrical components and their uses in electrical circuits.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32003-F19D-DE38-E5F6-9AA51120BEBB}"/>
              </a:ext>
            </a:extLst>
          </p:cNvPr>
          <p:cNvSpPr>
            <a:spLocks noGrp="1"/>
          </p:cNvSpPr>
          <p:nvPr>
            <p:ph type="title"/>
          </p:nvPr>
        </p:nvSpPr>
        <p:spPr/>
        <p:txBody>
          <a:bodyPr/>
          <a:lstStyle/>
          <a:p>
            <a:r>
              <a:rPr lang="en-US" dirty="0"/>
              <a:t>Basics of Electricity (1 of 2)</a:t>
            </a:r>
          </a:p>
        </p:txBody>
      </p:sp>
      <p:sp>
        <p:nvSpPr>
          <p:cNvPr id="3" name="Text Placeholder 2">
            <a:extLst>
              <a:ext uri="{FF2B5EF4-FFF2-40B4-BE49-F238E27FC236}">
                <a16:creationId xmlns:a16="http://schemas.microsoft.com/office/drawing/2014/main" id="{D7DED060-93C3-419F-0ECF-8C3BFA461429}"/>
              </a:ext>
            </a:extLst>
          </p:cNvPr>
          <p:cNvSpPr>
            <a:spLocks noGrp="1"/>
          </p:cNvSpPr>
          <p:nvPr>
            <p:ph type="body" idx="1"/>
          </p:nvPr>
        </p:nvSpPr>
        <p:spPr>
          <a:xfrm>
            <a:off x="476843" y="1471264"/>
            <a:ext cx="11241915" cy="3015392"/>
          </a:xfrm>
        </p:spPr>
        <p:txBody>
          <a:bodyPr/>
          <a:lstStyle/>
          <a:p>
            <a:pPr marL="0" indent="0">
              <a:spcAft>
                <a:spcPts val="600"/>
              </a:spcAft>
              <a:buNone/>
            </a:pPr>
            <a:r>
              <a:rPr lang="en-US" sz="1800" b="1" dirty="0"/>
              <a:t>15.01 Explain the basic principles of electricity.</a:t>
            </a:r>
          </a:p>
          <a:p>
            <a:pPr>
              <a:spcAft>
                <a:spcPts val="600"/>
              </a:spcAft>
            </a:pPr>
            <a:r>
              <a:rPr lang="en-US" sz="1800" dirty="0"/>
              <a:t>Electricity is the result of the flow of electrons from one atom to another.</a:t>
            </a:r>
          </a:p>
          <a:p>
            <a:pPr>
              <a:spcAft>
                <a:spcPts val="600"/>
              </a:spcAft>
            </a:pPr>
            <a:r>
              <a:rPr lang="en-US" sz="1800" dirty="0"/>
              <a:t>The release of energy as one electron leaves the orbit of one atom and jumps into the orbit of another is electrical energy.</a:t>
            </a:r>
          </a:p>
          <a:p>
            <a:pPr>
              <a:spcAft>
                <a:spcPts val="600"/>
              </a:spcAft>
            </a:pPr>
            <a:r>
              <a:rPr lang="en-US" sz="1800" dirty="0"/>
              <a:t>The key to creating electricity is to provide a reason for the electrons to move to another atom.</a:t>
            </a:r>
          </a:p>
          <a:p>
            <a:pPr>
              <a:spcAft>
                <a:spcPts val="600"/>
              </a:spcAft>
            </a:pPr>
            <a:r>
              <a:rPr lang="en-US" sz="1800" dirty="0"/>
              <a:t>An electrical power source provides for a more positive charge, and to allow for a continuous flow of electricity, it supplies free electrons.</a:t>
            </a:r>
          </a:p>
        </p:txBody>
      </p:sp>
      <p:pic>
        <p:nvPicPr>
          <p:cNvPr id="5" name="Picture Placeholder 4" descr="The flow of electrons from one atom to another. A cluster of negatively charged electrons at the right flows leftward toward an atom. The electron in the first atom flows toward the second atom, which further flows toward the third, fourth, fifth, and sixth atoms. The electron in the sixth atom flows outward to the left. A cluster of positively charged protons is depicted at the left. Protons are represented by an orange-colored sphere enclosed with a plus sign and electrons are represented by a blue-colored sphere enclosed with a negative sign.">
            <a:extLst>
              <a:ext uri="{FF2B5EF4-FFF2-40B4-BE49-F238E27FC236}">
                <a16:creationId xmlns:a16="http://schemas.microsoft.com/office/drawing/2014/main" id="{5C9D1A2F-037F-A52F-021E-4B0E96EE56BC}"/>
              </a:ext>
            </a:extLst>
          </p:cNvPr>
          <p:cNvPicPr>
            <a:picLocks noGrp="1" noChangeAspect="1"/>
          </p:cNvPicPr>
          <p:nvPr>
            <p:ph type="pic" sz="quarter" idx="10"/>
          </p:nvPr>
        </p:nvPicPr>
        <p:blipFill>
          <a:blip r:embed="rId2"/>
          <a:srcRect b="15214"/>
          <a:stretch/>
        </p:blipFill>
        <p:spPr>
          <a:xfrm>
            <a:off x="3150770" y="4720545"/>
            <a:ext cx="5890460" cy="1289835"/>
          </a:xfrm>
          <a:prstGeom prst="rect">
            <a:avLst/>
          </a:prstGeom>
        </p:spPr>
      </p:pic>
    </p:spTree>
    <p:extLst>
      <p:ext uri="{BB962C8B-B14F-4D97-AF65-F5344CB8AC3E}">
        <p14:creationId xmlns:p14="http://schemas.microsoft.com/office/powerpoint/2010/main" val="3554960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F8F2C5-B397-8CC9-EB95-9F9F397BF1E6}"/>
              </a:ext>
            </a:extLst>
          </p:cNvPr>
          <p:cNvSpPr>
            <a:spLocks noGrp="1"/>
          </p:cNvSpPr>
          <p:nvPr>
            <p:ph type="title"/>
          </p:nvPr>
        </p:nvSpPr>
        <p:spPr/>
        <p:txBody>
          <a:bodyPr/>
          <a:lstStyle/>
          <a:p>
            <a:r>
              <a:rPr lang="en-US" dirty="0"/>
              <a:t>Basics of Electricity (2 of 2)</a:t>
            </a:r>
          </a:p>
        </p:txBody>
      </p:sp>
      <p:sp>
        <p:nvSpPr>
          <p:cNvPr id="6" name="Text Placeholder 5">
            <a:extLst>
              <a:ext uri="{FF2B5EF4-FFF2-40B4-BE49-F238E27FC236}">
                <a16:creationId xmlns:a16="http://schemas.microsoft.com/office/drawing/2014/main" id="{2842C85C-59D8-4194-17B3-892033132234}"/>
              </a:ext>
            </a:extLst>
          </p:cNvPr>
          <p:cNvSpPr>
            <a:spLocks noGrp="1"/>
          </p:cNvSpPr>
          <p:nvPr>
            <p:ph type="body" idx="1"/>
          </p:nvPr>
        </p:nvSpPr>
        <p:spPr/>
        <p:txBody>
          <a:bodyPr/>
          <a:lstStyle/>
          <a:p>
            <a:r>
              <a:rPr lang="en-US" sz="1800" dirty="0"/>
              <a:t>To have a continuous flow of electricity, three things must be present:</a:t>
            </a:r>
          </a:p>
          <a:p>
            <a:pPr lvl="1"/>
            <a:r>
              <a:rPr lang="en-US" sz="1600" dirty="0"/>
              <a:t>An excess of electrons in one place,</a:t>
            </a:r>
          </a:p>
          <a:p>
            <a:pPr lvl="1"/>
            <a:r>
              <a:rPr lang="en-US" sz="1600" dirty="0"/>
              <a:t>A lack of electrons in another place,</a:t>
            </a:r>
          </a:p>
          <a:p>
            <a:pPr lvl="1"/>
            <a:r>
              <a:rPr lang="en-US" sz="1600" dirty="0"/>
              <a:t>A path between the two places.</a:t>
            </a:r>
          </a:p>
          <a:p>
            <a:r>
              <a:rPr lang="en-US" sz="1800" dirty="0"/>
              <a:t>A car’s battery is a source of chemical energy. The chemical reaction in a battery provides for an excess of electrons in one place and a lack of electrons in another.</a:t>
            </a:r>
          </a:p>
          <a:p>
            <a:r>
              <a:rPr lang="en-US" sz="1800" dirty="0"/>
              <a:t>Batteries have two terminals, a positive and a negative. Basically, the negative terminal is the outlet for the electrons, and the positive is the inlet for the electrons. The chemical reaction in a battery causes a lack of electrons at the positive (+) terminal and an excess at the negative (–) terminal.</a:t>
            </a:r>
          </a:p>
          <a:p>
            <a:r>
              <a:rPr lang="en-US" sz="1800" dirty="0"/>
              <a:t>The vehicle’s charging system restores the battery’s supply of electrons. This allows the chemical reaction to continue indefinitely. Electricity and magnetism are interrelated. One can be used to produce the other.</a:t>
            </a:r>
          </a:p>
          <a:p>
            <a:r>
              <a:rPr lang="en-US" sz="1800" dirty="0"/>
              <a:t>This process of producing electricity through magnetism is called </a:t>
            </a:r>
            <a:r>
              <a:rPr lang="en-US" sz="1800" b="1" dirty="0"/>
              <a:t>induction</a:t>
            </a:r>
            <a:r>
              <a:rPr lang="en-US" sz="1800" dirty="0"/>
              <a:t>. The heart of a vehicle’s charging system is the AC generator</a:t>
            </a:r>
          </a:p>
        </p:txBody>
      </p:sp>
    </p:spTree>
    <p:extLst>
      <p:ext uri="{BB962C8B-B14F-4D97-AF65-F5344CB8AC3E}">
        <p14:creationId xmlns:p14="http://schemas.microsoft.com/office/powerpoint/2010/main" val="120477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2EAD-11BB-76C8-9858-9D46F8E16D00}"/>
              </a:ext>
            </a:extLst>
          </p:cNvPr>
          <p:cNvSpPr>
            <a:spLocks noGrp="1"/>
          </p:cNvSpPr>
          <p:nvPr>
            <p:ph type="title"/>
          </p:nvPr>
        </p:nvSpPr>
        <p:spPr/>
        <p:txBody>
          <a:bodyPr/>
          <a:lstStyle/>
          <a:p>
            <a:r>
              <a:rPr lang="en-US" dirty="0"/>
              <a:t>Electrical Terms (1 of 3)</a:t>
            </a:r>
          </a:p>
        </p:txBody>
      </p:sp>
      <p:sp>
        <p:nvSpPr>
          <p:cNvPr id="3" name="Text Placeholder 2">
            <a:extLst>
              <a:ext uri="{FF2B5EF4-FFF2-40B4-BE49-F238E27FC236}">
                <a16:creationId xmlns:a16="http://schemas.microsoft.com/office/drawing/2014/main" id="{5873D328-22BE-F65A-C93C-E66DB4E8DE6D}"/>
              </a:ext>
            </a:extLst>
          </p:cNvPr>
          <p:cNvSpPr>
            <a:spLocks noGrp="1"/>
          </p:cNvSpPr>
          <p:nvPr>
            <p:ph type="body" idx="1"/>
          </p:nvPr>
        </p:nvSpPr>
        <p:spPr/>
        <p:txBody>
          <a:bodyPr/>
          <a:lstStyle/>
          <a:p>
            <a:pPr marL="0" indent="0">
              <a:buNone/>
            </a:pPr>
            <a:r>
              <a:rPr lang="en-US" sz="2000" b="1" dirty="0"/>
              <a:t>15.02 Define the terms normally used to describe electricity.</a:t>
            </a:r>
          </a:p>
          <a:p>
            <a:r>
              <a:rPr lang="en-US" sz="2000" dirty="0"/>
              <a:t>Electrical </a:t>
            </a:r>
            <a:r>
              <a:rPr lang="en-US" sz="2000" b="1" dirty="0"/>
              <a:t>current</a:t>
            </a:r>
            <a:r>
              <a:rPr lang="en-US" sz="2000" dirty="0"/>
              <a:t> describes the movement or flow of electricity. The greater the number of electrons flowing past a given point in a given amount of time, the more current the circuit has.</a:t>
            </a:r>
          </a:p>
          <a:p>
            <a:r>
              <a:rPr lang="en-US" sz="2000" dirty="0"/>
              <a:t>The unit for measuring electrical current is the </a:t>
            </a:r>
            <a:r>
              <a:rPr lang="en-US" sz="2000" b="1" dirty="0"/>
              <a:t>ampere</a:t>
            </a:r>
            <a:r>
              <a:rPr lang="en-US" sz="2000" dirty="0"/>
              <a:t>, usually called an amp. The term ampere is used to honor André Ampère, who studied the relationship between electricity and magnetism.</a:t>
            </a:r>
          </a:p>
          <a:p>
            <a:r>
              <a:rPr lang="en-US" sz="2000" dirty="0"/>
              <a:t>The instrument used to measure current in a circuit is called an ammeter. When electricity flows, millions of electrons are moving past any given point at the speed of light.</a:t>
            </a:r>
          </a:p>
          <a:p>
            <a:r>
              <a:rPr lang="en-US" sz="2000" dirty="0"/>
              <a:t>There are two types of current:</a:t>
            </a:r>
          </a:p>
          <a:p>
            <a:pPr lvl="1"/>
            <a:r>
              <a:rPr lang="en-US" sz="1800" b="1" dirty="0"/>
              <a:t>Direct current (DC)</a:t>
            </a:r>
          </a:p>
          <a:p>
            <a:pPr lvl="1"/>
            <a:r>
              <a:rPr lang="en-US" sz="1800" b="1" dirty="0"/>
              <a:t>Alternating current (AC)</a:t>
            </a:r>
          </a:p>
        </p:txBody>
      </p:sp>
    </p:spTree>
    <p:extLst>
      <p:ext uri="{BB962C8B-B14F-4D97-AF65-F5344CB8AC3E}">
        <p14:creationId xmlns:p14="http://schemas.microsoft.com/office/powerpoint/2010/main" val="4152647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Electrical Terms (2 of 3)</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sz="2000" dirty="0"/>
              <a:t>In direct current (DC), the electrons flow in one direction only.</a:t>
            </a:r>
          </a:p>
          <a:p>
            <a:r>
              <a:rPr lang="en-US" sz="2000" dirty="0"/>
              <a:t>In AC, the electrons change direction at a fixed rate.</a:t>
            </a:r>
          </a:p>
          <a:p>
            <a:r>
              <a:rPr lang="en-US" sz="2000" dirty="0"/>
              <a:t>Most automotive systems rely on DC current, and the current used in homes and buildings is AC.</a:t>
            </a:r>
          </a:p>
          <a:p>
            <a:r>
              <a:rPr lang="en-US" sz="2000" dirty="0"/>
              <a:t>However, some automotive parts generate or use AC.</a:t>
            </a:r>
          </a:p>
          <a:p>
            <a:r>
              <a:rPr lang="en-US" sz="2000" b="1" dirty="0"/>
              <a:t>Voltage </a:t>
            </a:r>
            <a:r>
              <a:rPr lang="en-US" sz="2000" dirty="0"/>
              <a:t>may also be called </a:t>
            </a:r>
            <a:r>
              <a:rPr lang="en-US" sz="2000" b="1" dirty="0"/>
              <a:t>electromotive force</a:t>
            </a:r>
            <a:r>
              <a:rPr lang="en-US" sz="2000" dirty="0"/>
              <a:t> </a:t>
            </a:r>
            <a:r>
              <a:rPr lang="en-US" sz="2000" b="1" dirty="0"/>
              <a:t>(EMF) </a:t>
            </a:r>
            <a:r>
              <a:rPr lang="en-US" sz="2000" dirty="0"/>
              <a:t>and is measured in units called volts.</a:t>
            </a:r>
          </a:p>
          <a:p>
            <a:r>
              <a:rPr lang="en-US" sz="2000" dirty="0"/>
              <a:t>These units of measure for electrical pressure are named to honor Alessandro Volta, who, in 1800, made the first electrical battery. When any substance flows, it meets resistance.</a:t>
            </a:r>
          </a:p>
          <a:p>
            <a:r>
              <a:rPr lang="en-US" sz="2000" dirty="0"/>
              <a:t>The resistance to electrical flow can be measured.</a:t>
            </a:r>
          </a:p>
          <a:p>
            <a:r>
              <a:rPr lang="en-US" sz="2000" dirty="0"/>
              <a:t>The resistance to current flow produces heat. This heat can be measured to determine the amount of </a:t>
            </a:r>
            <a:r>
              <a:rPr lang="en-US" sz="2000" b="1" dirty="0"/>
              <a:t>resistance</a:t>
            </a:r>
            <a:r>
              <a:rPr lang="en-US" sz="2000" dirty="0"/>
              <a:t>.</a:t>
            </a:r>
          </a:p>
        </p:txBody>
      </p:sp>
    </p:spTree>
    <p:extLst>
      <p:ext uri="{BB962C8B-B14F-4D97-AF65-F5344CB8AC3E}">
        <p14:creationId xmlns:p14="http://schemas.microsoft.com/office/powerpoint/2010/main" val="2858477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Electrical Terms (3 of 3)</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a:xfrm>
            <a:off x="476843" y="1471264"/>
            <a:ext cx="8817469" cy="4649120"/>
          </a:xfrm>
        </p:spPr>
        <p:txBody>
          <a:bodyPr/>
          <a:lstStyle/>
          <a:p>
            <a:r>
              <a:rPr lang="en-US" sz="1800" dirty="0"/>
              <a:t>A unit of measured resistance is called an ohm, and the common symbol for an </a:t>
            </a:r>
            <a:r>
              <a:rPr lang="en-US" sz="1800" b="1" dirty="0"/>
              <a:t>ohm</a:t>
            </a:r>
            <a:r>
              <a:rPr lang="en-US" sz="1800" dirty="0"/>
              <a:t> is shown.</a:t>
            </a:r>
          </a:p>
          <a:p>
            <a:r>
              <a:rPr lang="en-US" sz="1800" dirty="0"/>
              <a:t>Resistance can be measured by an instrument called an ohmmeter.</a:t>
            </a:r>
          </a:p>
          <a:p>
            <a:r>
              <a:rPr lang="en-US" sz="1800" dirty="0"/>
              <a:t>To visualize electricity as something we are familiar with, many people use water as an analogy:</a:t>
            </a:r>
          </a:p>
          <a:p>
            <a:pPr lvl="1"/>
            <a:r>
              <a:rPr lang="en-US" sz="1600" dirty="0"/>
              <a:t>Water pressure, supplied by the city water system or by a pump, is similar in concept to voltage.</a:t>
            </a:r>
          </a:p>
          <a:p>
            <a:pPr lvl="1"/>
            <a:r>
              <a:rPr lang="en-US" sz="1600" dirty="0"/>
              <a:t>Electron flow or amperage is similar to the amount of water that flows from a hose or faucet.</a:t>
            </a:r>
          </a:p>
          <a:p>
            <a:pPr lvl="1"/>
            <a:r>
              <a:rPr lang="en-US" sz="1600" dirty="0"/>
              <a:t>The size of a water hose or faucet opening is similar to electrical resistance.</a:t>
            </a:r>
          </a:p>
          <a:p>
            <a:pPr lvl="1"/>
            <a:r>
              <a:rPr lang="en-US" sz="1600" dirty="0"/>
              <a:t>Turning a faucet on slightly allows only a little bit of water to flow through, which has the effect of resistance to flow.</a:t>
            </a:r>
          </a:p>
          <a:p>
            <a:pPr lvl="1"/>
            <a:r>
              <a:rPr lang="en-US" sz="1600" dirty="0"/>
              <a:t>Opening the faucet further is like reducing the resistance in a circuit and allowing more current to flow.</a:t>
            </a:r>
          </a:p>
        </p:txBody>
      </p:sp>
      <p:pic>
        <p:nvPicPr>
          <p:cNvPr id="5" name="Picture Placeholder 4" descr="An illustration depicts an ohm symbol represented by omega.">
            <a:extLst>
              <a:ext uri="{FF2B5EF4-FFF2-40B4-BE49-F238E27FC236}">
                <a16:creationId xmlns:a16="http://schemas.microsoft.com/office/drawing/2014/main" id="{0DC2F154-79DF-608A-9B8F-EE0C9F4793D6}"/>
              </a:ext>
            </a:extLst>
          </p:cNvPr>
          <p:cNvPicPr>
            <a:picLocks noGrp="1" noChangeAspect="1"/>
          </p:cNvPicPr>
          <p:nvPr>
            <p:ph type="pic" sz="quarter" idx="10"/>
          </p:nvPr>
        </p:nvPicPr>
        <p:blipFill>
          <a:blip r:embed="rId2"/>
          <a:srcRect l="41658" b="21843"/>
          <a:stretch/>
        </p:blipFill>
        <p:spPr>
          <a:xfrm>
            <a:off x="9739900" y="3199993"/>
            <a:ext cx="1549972" cy="796654"/>
          </a:xfrm>
          <a:prstGeom prst="rect">
            <a:avLst/>
          </a:prstGeom>
        </p:spPr>
      </p:pic>
    </p:spTree>
    <p:extLst>
      <p:ext uri="{BB962C8B-B14F-4D97-AF65-F5344CB8AC3E}">
        <p14:creationId xmlns:p14="http://schemas.microsoft.com/office/powerpoint/2010/main" val="2939051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D33E33-F596-9C9F-83CA-438F7041FA7C}"/>
              </a:ext>
            </a:extLst>
          </p:cNvPr>
          <p:cNvSpPr>
            <a:spLocks noGrp="1"/>
          </p:cNvSpPr>
          <p:nvPr>
            <p:ph type="title"/>
          </p:nvPr>
        </p:nvSpPr>
        <p:spPr/>
        <p:txBody>
          <a:bodyPr/>
          <a:lstStyle/>
          <a:p>
            <a:r>
              <a:rPr lang="en-US" dirty="0"/>
              <a:t>Alternating Current (AC)</a:t>
            </a:r>
          </a:p>
        </p:txBody>
      </p:sp>
      <p:sp>
        <p:nvSpPr>
          <p:cNvPr id="5" name="Text Placeholder 4">
            <a:extLst>
              <a:ext uri="{FF2B5EF4-FFF2-40B4-BE49-F238E27FC236}">
                <a16:creationId xmlns:a16="http://schemas.microsoft.com/office/drawing/2014/main" id="{CB0ECD73-FC17-CDB7-817D-7D182EDDA454}"/>
              </a:ext>
            </a:extLst>
          </p:cNvPr>
          <p:cNvSpPr>
            <a:spLocks noGrp="1"/>
          </p:cNvSpPr>
          <p:nvPr>
            <p:ph type="body" idx="1"/>
          </p:nvPr>
        </p:nvSpPr>
        <p:spPr>
          <a:xfrm>
            <a:off x="476843" y="1471264"/>
            <a:ext cx="7070005" cy="4673504"/>
          </a:xfrm>
        </p:spPr>
        <p:txBody>
          <a:bodyPr/>
          <a:lstStyle/>
          <a:p>
            <a:r>
              <a:rPr lang="en-US" sz="1800" dirty="0"/>
              <a:t>The value of the voltage in an AC circuit constantly changes, as does the direction of the current.</a:t>
            </a:r>
          </a:p>
          <a:p>
            <a:r>
              <a:rPr lang="en-US" sz="1800" dirty="0"/>
              <a:t>If a graph is used to represent the amount of DC voltage available from a battery during a fixed period, the line on the graph will be flat, which represents a constant voltage.</a:t>
            </a:r>
          </a:p>
          <a:p>
            <a:r>
              <a:rPr lang="en-US" sz="1800" dirty="0"/>
              <a:t>If AC voltage is shown on a graph, it will appear as a sine wave. The sine wave shows AC changing in amplitude (strength) and direction.</a:t>
            </a:r>
          </a:p>
          <a:p>
            <a:r>
              <a:rPr lang="en-US" sz="1800" dirty="0"/>
              <a:t>The movement of the AC from its peak at the positive side of the graph to the negative side and then back to the positive peak is commonly referred to as “peak-to-peak” value.</a:t>
            </a:r>
          </a:p>
          <a:p>
            <a:r>
              <a:rPr lang="en-US" sz="1800" dirty="0"/>
              <a:t>The difference between the peak positive value and the peak negative value is used to measure AC voltages.</a:t>
            </a:r>
          </a:p>
        </p:txBody>
      </p:sp>
      <p:pic>
        <p:nvPicPr>
          <p:cNvPr id="7" name="Picture Placeholder 6" descr="Two graphs represents the direction of flow of A C and D C. The vertical axis ranges from negative direction to positive direction. Graph 1. The horizontal axis is labeled A C. An oscillating sine curve is graphed on a coordinate plane. The curve starts from a point on the horizontal axis, goes up and to the right to a peak point, then goes down and to right to a trough point, for about two cycles. One cycle of curve is highlighted. Graph 2. The horizontal axis is labeled D C. A curve starts from a point on the horizontal axis, goes up and to the right, to a point, then goes horizontally rightward, and exits the right of the graph.">
            <a:extLst>
              <a:ext uri="{FF2B5EF4-FFF2-40B4-BE49-F238E27FC236}">
                <a16:creationId xmlns:a16="http://schemas.microsoft.com/office/drawing/2014/main" id="{E656A8A7-F1AF-B517-7E10-9586BD6DFAF2}"/>
              </a:ext>
            </a:extLst>
          </p:cNvPr>
          <p:cNvPicPr>
            <a:picLocks noGrp="1" noChangeAspect="1"/>
          </p:cNvPicPr>
          <p:nvPr>
            <p:ph type="pic" sz="quarter" idx="10"/>
          </p:nvPr>
        </p:nvPicPr>
        <p:blipFill>
          <a:blip r:embed="rId2"/>
          <a:srcRect b="7947"/>
          <a:stretch/>
        </p:blipFill>
        <p:spPr>
          <a:xfrm>
            <a:off x="7992967" y="1665451"/>
            <a:ext cx="3831603" cy="3527098"/>
          </a:xfrm>
          <a:prstGeom prst="rect">
            <a:avLst/>
          </a:prstGeom>
        </p:spPr>
      </p:pic>
    </p:spTree>
    <p:extLst>
      <p:ext uri="{BB962C8B-B14F-4D97-AF65-F5344CB8AC3E}">
        <p14:creationId xmlns:p14="http://schemas.microsoft.com/office/powerpoint/2010/main" val="328663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 Terminology </a:t>
            </a:r>
          </a:p>
        </p:txBody>
      </p:sp>
      <p:sp>
        <p:nvSpPr>
          <p:cNvPr id="4" name="Text Placeholder 3">
            <a:extLst>
              <a:ext uri="{FF2B5EF4-FFF2-40B4-BE49-F238E27FC236}">
                <a16:creationId xmlns:a16="http://schemas.microsoft.com/office/drawing/2014/main" id="{86E8C25A-DCAF-4497-5FED-5D9478D34F6F}"/>
              </a:ext>
            </a:extLst>
          </p:cNvPr>
          <p:cNvSpPr>
            <a:spLocks noGrp="1"/>
          </p:cNvSpPr>
          <p:nvPr>
            <p:ph type="body" idx="1"/>
          </p:nvPr>
        </p:nvSpPr>
        <p:spPr>
          <a:xfrm>
            <a:off x="476843" y="1471264"/>
            <a:ext cx="7447957" cy="4600352"/>
          </a:xfrm>
        </p:spPr>
        <p:txBody>
          <a:bodyPr/>
          <a:lstStyle/>
          <a:p>
            <a:r>
              <a:rPr lang="en-US" sz="1800" dirty="0"/>
              <a:t>A completed circuit is called a </a:t>
            </a:r>
            <a:r>
              <a:rPr lang="en-US" sz="1800" b="1" dirty="0"/>
              <a:t>closed circuit</a:t>
            </a:r>
            <a:r>
              <a:rPr lang="en-US" sz="1800" dirty="0"/>
              <a:t>, whereas an incomplete circuit is called an </a:t>
            </a:r>
            <a:r>
              <a:rPr lang="en-US" sz="1800" b="1" dirty="0"/>
              <a:t>open circuit</a:t>
            </a:r>
            <a:r>
              <a:rPr lang="en-US" sz="1800" dirty="0"/>
              <a:t>.</a:t>
            </a:r>
          </a:p>
          <a:p>
            <a:r>
              <a:rPr lang="en-US" sz="1800" dirty="0"/>
              <a:t>When a circuit is complete, there is </a:t>
            </a:r>
            <a:r>
              <a:rPr lang="en-US" sz="1800" b="1" dirty="0"/>
              <a:t>continuity</a:t>
            </a:r>
            <a:r>
              <a:rPr lang="en-US" sz="1800" dirty="0"/>
              <a:t>. This means that there is a continuous or complete path between two points for current to flow through.</a:t>
            </a:r>
          </a:p>
          <a:p>
            <a:r>
              <a:rPr lang="en-US" sz="1800" dirty="0"/>
              <a:t>Conductors are drawn in electrical diagrams as a line connecting two points, as shown.</a:t>
            </a:r>
          </a:p>
          <a:p>
            <a:r>
              <a:rPr lang="en-US" sz="1800" dirty="0"/>
              <a:t>In a complete circuit, the flow of electricity can be controlled and applied to do work, such as light a headlamp or run a motor.</a:t>
            </a:r>
          </a:p>
          <a:p>
            <a:r>
              <a:rPr lang="en-US" sz="1800" dirty="0"/>
              <a:t>Components that use electrical power control the current in the circuit and convert electrical energy into another form of energy. These components are referred to as electrical loads.</a:t>
            </a:r>
          </a:p>
          <a:p>
            <a:r>
              <a:rPr lang="en-US" sz="1800" dirty="0"/>
              <a:t>Loads are drawn in electrical diagrams as a symbol.</a:t>
            </a:r>
          </a:p>
        </p:txBody>
      </p:sp>
      <p:pic>
        <p:nvPicPr>
          <p:cNvPr id="6" name="Picture Placeholder 5" descr="A circuit depicts a battery, two switches, and two bulbs. The positive terminal of the battery is connected to two switches, open switch Leg number 1 and closed switch Leg number 2. Leg number 1 and a 3 ohm resistor are connected in series and Leg number 2 and a 6 ohm resistor are connected in series. Leg number 1 and Leg number 2 are connected in parallel. The other end of the bulb is connected to the negative terminal of the battery. The current 2 A from the 12 V voltmeter flows toward the circuit. The current 0 A passes to the open switch and the headlamp of 3 ohm does not emit rays. The current 2 A passes to the closed switch and the headlamp of 6 ohm emits rays.">
            <a:extLst>
              <a:ext uri="{FF2B5EF4-FFF2-40B4-BE49-F238E27FC236}">
                <a16:creationId xmlns:a16="http://schemas.microsoft.com/office/drawing/2014/main" id="{0D878AB0-0381-245C-89BE-23C9E16BCF69}"/>
              </a:ext>
            </a:extLst>
          </p:cNvPr>
          <p:cNvPicPr>
            <a:picLocks noGrp="1" noChangeAspect="1"/>
          </p:cNvPicPr>
          <p:nvPr>
            <p:ph type="pic" sz="quarter" idx="10"/>
          </p:nvPr>
        </p:nvPicPr>
        <p:blipFill>
          <a:blip r:embed="rId2"/>
          <a:srcRect b="12851"/>
          <a:stretch/>
        </p:blipFill>
        <p:spPr>
          <a:xfrm>
            <a:off x="8210787" y="2020957"/>
            <a:ext cx="3751569" cy="2816086"/>
          </a:xfrm>
          <a:prstGeom prst="rect">
            <a:avLst/>
          </a:prstGeom>
        </p:spPr>
      </p:pic>
    </p:spTree>
    <p:extLst>
      <p:ext uri="{BB962C8B-B14F-4D97-AF65-F5344CB8AC3E}">
        <p14:creationId xmlns:p14="http://schemas.microsoft.com/office/powerpoint/2010/main" val="3989228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Grounding the Load</a:t>
            </a:r>
          </a:p>
        </p:txBody>
      </p:sp>
      <p:sp>
        <p:nvSpPr>
          <p:cNvPr id="4" name="Text Placeholder 3">
            <a:extLst>
              <a:ext uri="{FF2B5EF4-FFF2-40B4-BE49-F238E27FC236}">
                <a16:creationId xmlns:a16="http://schemas.microsoft.com/office/drawing/2014/main" id="{E1F3AA06-BE91-2565-061D-CCA44CDD5DB4}"/>
              </a:ext>
            </a:extLst>
          </p:cNvPr>
          <p:cNvSpPr>
            <a:spLocks noGrp="1"/>
          </p:cNvSpPr>
          <p:nvPr>
            <p:ph type="body" idx="1"/>
          </p:nvPr>
        </p:nvSpPr>
        <p:spPr>
          <a:xfrm>
            <a:off x="476843" y="1471264"/>
            <a:ext cx="7606453" cy="4393088"/>
          </a:xfrm>
        </p:spPr>
        <p:txBody>
          <a:bodyPr/>
          <a:lstStyle/>
          <a:p>
            <a:r>
              <a:rPr lang="en-US" sz="1800" dirty="0"/>
              <a:t>Most automotive electrical circuits use the chassis as a conductor for the negative side of the battery, as shown.</a:t>
            </a:r>
          </a:p>
          <a:p>
            <a:r>
              <a:rPr lang="en-US" sz="1800" dirty="0"/>
              <a:t>Current passes from the battery, through the load, through the metal frame, and back to the battery.</a:t>
            </a:r>
          </a:p>
          <a:p>
            <a:r>
              <a:rPr lang="en-US" sz="1800" dirty="0"/>
              <a:t>Using the frame as a return path or ground eliminates the need for a separate ground wire at each component.</a:t>
            </a:r>
          </a:p>
          <a:p>
            <a:r>
              <a:rPr lang="en-US" sz="1800" dirty="0"/>
              <a:t>Without grounding parts to the frame, hundreds of additional wires would be needed to complete the individual circuits. </a:t>
            </a:r>
          </a:p>
          <a:p>
            <a:r>
              <a:rPr lang="en-US" sz="1800" dirty="0"/>
              <a:t>Other parts have a separate ground wire that connects them to the frame, engine, or transmission which are called </a:t>
            </a:r>
            <a:r>
              <a:rPr lang="en-US" sz="1800" b="1" dirty="0"/>
              <a:t>chassis ground </a:t>
            </a:r>
            <a:r>
              <a:rPr lang="en-US" sz="1800" dirty="0"/>
              <a:t>connections.</a:t>
            </a:r>
          </a:p>
          <a:p>
            <a:r>
              <a:rPr lang="en-US" sz="1800" dirty="0"/>
              <a:t>The wire that serves as the contact to the chassis is commonly called the </a:t>
            </a:r>
            <a:r>
              <a:rPr lang="en-US" sz="1800" b="1" dirty="0"/>
              <a:t>ground wire </a:t>
            </a:r>
            <a:r>
              <a:rPr lang="en-US" sz="1800" dirty="0"/>
              <a:t>or lead.</a:t>
            </a:r>
          </a:p>
        </p:txBody>
      </p:sp>
      <p:pic>
        <p:nvPicPr>
          <p:cNvPr id="6" name="Picture Placeholder 5" descr="The wiring structure of chassis. A battery contains positive and negative terminals. The positive terminal is connected to accessories through a power feed. The negative terminal of the battery is frame grounded and the accessories are grounded.">
            <a:extLst>
              <a:ext uri="{FF2B5EF4-FFF2-40B4-BE49-F238E27FC236}">
                <a16:creationId xmlns:a16="http://schemas.microsoft.com/office/drawing/2014/main" id="{5910DC4A-91B0-750D-13E6-AFE4B0089057}"/>
              </a:ext>
            </a:extLst>
          </p:cNvPr>
          <p:cNvPicPr>
            <a:picLocks noGrp="1" noChangeAspect="1"/>
          </p:cNvPicPr>
          <p:nvPr>
            <p:ph type="pic" sz="quarter" idx="10"/>
          </p:nvPr>
        </p:nvPicPr>
        <p:blipFill rotWithShape="1">
          <a:blip r:embed="rId2"/>
          <a:srcRect b="15598"/>
          <a:stretch/>
        </p:blipFill>
        <p:spPr>
          <a:xfrm>
            <a:off x="8094487" y="1944448"/>
            <a:ext cx="3848804" cy="2969104"/>
          </a:xfrm>
          <a:prstGeom prst="rect">
            <a:avLst/>
          </a:prstGeom>
        </p:spPr>
      </p:pic>
    </p:spTree>
    <p:extLst>
      <p:ext uri="{BB962C8B-B14F-4D97-AF65-F5344CB8AC3E}">
        <p14:creationId xmlns:p14="http://schemas.microsoft.com/office/powerpoint/2010/main" val="498357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Ohm’s Law (1 of 2)</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a:xfrm>
            <a:off x="476843" y="1396108"/>
            <a:ext cx="9471829" cy="4649120"/>
          </a:xfrm>
        </p:spPr>
        <p:txBody>
          <a:bodyPr/>
          <a:lstStyle/>
          <a:p>
            <a:pPr marL="0" indent="0">
              <a:spcAft>
                <a:spcPts val="1200"/>
              </a:spcAft>
              <a:buNone/>
            </a:pPr>
            <a:r>
              <a:rPr lang="en-US" sz="2000" b="1" dirty="0"/>
              <a:t>15.03 Use Ohm’s law to determine voltage, current, and resistance.</a:t>
            </a:r>
          </a:p>
          <a:p>
            <a:r>
              <a:rPr lang="en-US" sz="2000" dirty="0"/>
              <a:t>In 1827, a German mathematics professor, Georg Ohm, published a book that included his explanation of the behavior of electricity. </a:t>
            </a:r>
          </a:p>
          <a:p>
            <a:r>
              <a:rPr lang="en-US" sz="2000" dirty="0"/>
              <a:t>He found it takes 1 volt of electrical pressure to push 1 ampere of electrical current through 1 ohm of resistance. </a:t>
            </a:r>
          </a:p>
          <a:p>
            <a:r>
              <a:rPr lang="en-US" sz="2000" dirty="0"/>
              <a:t>This statement is the basic law of electricity and is known as </a:t>
            </a:r>
            <a:r>
              <a:rPr lang="en-US" sz="2000" b="1" dirty="0"/>
              <a:t>Ohm’s law</a:t>
            </a:r>
            <a:r>
              <a:rPr lang="en-US" sz="2000" dirty="0"/>
              <a:t>.</a:t>
            </a:r>
          </a:p>
          <a:p>
            <a:r>
              <a:rPr lang="en-US" sz="2000" dirty="0"/>
              <a:t>In any electrical circuit, current (</a:t>
            </a:r>
            <a:r>
              <a:rPr lang="en-US" sz="2000" b="1" i="1" dirty="0"/>
              <a:t>I</a:t>
            </a:r>
            <a:r>
              <a:rPr lang="en-US" sz="2000" dirty="0"/>
              <a:t>), resistance (</a:t>
            </a:r>
            <a:r>
              <a:rPr lang="en-US" sz="2000" b="1" i="1" dirty="0"/>
              <a:t>R</a:t>
            </a:r>
            <a:r>
              <a:rPr lang="en-US" sz="2000" dirty="0"/>
              <a:t>), and voltage (</a:t>
            </a:r>
            <a:r>
              <a:rPr lang="en-US" sz="2000" b="1" i="1" dirty="0"/>
              <a:t>E</a:t>
            </a:r>
            <a:r>
              <a:rPr lang="en-US" sz="2000" dirty="0"/>
              <a:t>) are mathematically related, and this relationship is expressed in a mathematical statement of Ohm’s law. </a:t>
            </a:r>
          </a:p>
          <a:p>
            <a:r>
              <a:rPr lang="en-US" sz="2000" dirty="0"/>
              <a:t>Ohm’s law can be applied to the entire circuit or to any part of a circuit. </a:t>
            </a:r>
          </a:p>
          <a:p>
            <a:r>
              <a:rPr lang="en-US" sz="2000" dirty="0"/>
              <a:t>When any two factors are known, the third factor can be found.</a:t>
            </a:r>
          </a:p>
        </p:txBody>
      </p:sp>
      <p:pic>
        <p:nvPicPr>
          <p:cNvPr id="5" name="Picture Placeholder 4" descr="Ohm's law depicts an equation by illustrating a circle with three divisions, a horizontal line through the center, and a vertical line from the center toward the bottom of the circumference. The top half is labeled E in Volts, the bottom left quadrant is labeled I in Amperes and the bottom right quadrant is labeled R in Ohms.">
            <a:extLst>
              <a:ext uri="{FF2B5EF4-FFF2-40B4-BE49-F238E27FC236}">
                <a16:creationId xmlns:a16="http://schemas.microsoft.com/office/drawing/2014/main" id="{B0938331-9DDE-FEC7-EAA0-697719BF7C81}"/>
              </a:ext>
            </a:extLst>
          </p:cNvPr>
          <p:cNvPicPr>
            <a:picLocks noGrp="1" noChangeAspect="1"/>
          </p:cNvPicPr>
          <p:nvPr>
            <p:ph type="pic" sz="quarter" idx="10"/>
          </p:nvPr>
        </p:nvPicPr>
        <p:blipFill>
          <a:blip r:embed="rId2"/>
          <a:srcRect b="49693"/>
          <a:stretch/>
        </p:blipFill>
        <p:spPr>
          <a:xfrm>
            <a:off x="9948672" y="2755303"/>
            <a:ext cx="1936242" cy="1930730"/>
          </a:xfrm>
          <a:prstGeom prst="rect">
            <a:avLst/>
          </a:prstGeom>
        </p:spPr>
      </p:pic>
    </p:spTree>
    <p:extLst>
      <p:ext uri="{BB962C8B-B14F-4D97-AF65-F5344CB8AC3E}">
        <p14:creationId xmlns:p14="http://schemas.microsoft.com/office/powerpoint/2010/main" val="1496138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Ohm’s Law (2 of 2)</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marL="357188" indent="-357188">
              <a:lnSpc>
                <a:spcPct val="107000"/>
              </a:lnSpc>
            </a:pPr>
            <a:r>
              <a:rPr lang="en-US" sz="2000" dirty="0"/>
              <a:t>In DC circuits, if voltage remains constant, resistance and amperage will have an inverse effect on each other. </a:t>
            </a:r>
          </a:p>
          <a:p>
            <a:pPr marL="357188" indent="-357188">
              <a:lnSpc>
                <a:spcPct val="107000"/>
              </a:lnSpc>
            </a:pPr>
            <a:r>
              <a:rPr lang="en-US" sz="2000" dirty="0"/>
              <a:t>As resistance increases, amperage will decrease. </a:t>
            </a:r>
          </a:p>
          <a:p>
            <a:pPr marL="357188" indent="-357188">
              <a:lnSpc>
                <a:spcPct val="107000"/>
              </a:lnSpc>
            </a:pPr>
            <a:r>
              <a:rPr lang="en-US" sz="2000" dirty="0"/>
              <a:t>Conversely, if resistance decreases, amperage will increase. In addition, when working with resistances in a series circuit, Ohm’s law allows for adding the resistances together to determine total circuit resistance. </a:t>
            </a:r>
          </a:p>
          <a:p>
            <a:pPr marL="357188" indent="-357188">
              <a:lnSpc>
                <a:spcPct val="107000"/>
              </a:lnSpc>
            </a:pPr>
            <a:r>
              <a:rPr lang="en-US" sz="2000" dirty="0"/>
              <a:t>Resistances can be added together because they are like terms. This means that voltages also can be added together, just as amperages can be added together. Because volts and amps are not like terms, they cannot be added together. </a:t>
            </a:r>
          </a:p>
          <a:p>
            <a:pPr marL="357188" indent="-357188">
              <a:lnSpc>
                <a:spcPct val="107000"/>
              </a:lnSpc>
            </a:pPr>
            <a:r>
              <a:rPr lang="en-US" sz="2000" dirty="0"/>
              <a:t>Understanding these aspects of Ohm’s law will help you understand how to apply it, not just to electrical circuits on paper, but also in practice on a vehicle.</a:t>
            </a:r>
          </a:p>
          <a:p>
            <a:pPr marL="357188" indent="-357188">
              <a:lnSpc>
                <a:spcPct val="107000"/>
              </a:lnSpc>
            </a:pPr>
            <a:r>
              <a:rPr lang="en-US" sz="2000" dirty="0"/>
              <a:t>It also explains how an increase or decrease in voltage, resistance, or current affects a circuit.</a:t>
            </a:r>
          </a:p>
        </p:txBody>
      </p:sp>
    </p:spTree>
    <p:extLst>
      <p:ext uri="{BB962C8B-B14F-4D97-AF65-F5344CB8AC3E}">
        <p14:creationId xmlns:p14="http://schemas.microsoft.com/office/powerpoint/2010/main" val="2164814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Kirchhoff’s Law</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sz="2400" dirty="0"/>
              <a:t>In the 1840s, German physicist Gustav Kirchhoff described two laws on the behavior of electricity.</a:t>
            </a:r>
          </a:p>
          <a:p>
            <a:r>
              <a:rPr lang="en-US" sz="2400" dirty="0"/>
              <a:t>Both laws relate to Ohm’s law and help define the characteristics of series and parallel circuits.</a:t>
            </a:r>
          </a:p>
          <a:p>
            <a:r>
              <a:rPr lang="en-US" sz="2400" dirty="0"/>
              <a:t>Kirchhoff’s “voltage law” (KVL) basically states that the sum of the voltage drops in a closed circuit equals the voltage applied to that circuit.</a:t>
            </a:r>
          </a:p>
          <a:p>
            <a:r>
              <a:rPr lang="en-US" sz="2400" dirty="0"/>
              <a:t>Kirchhoff’s “current law” (KCL) explains the behavior of current in a parallel circuit.</a:t>
            </a:r>
          </a:p>
          <a:p>
            <a:pPr lvl="1"/>
            <a:r>
              <a:rPr lang="en-US" sz="2200" dirty="0"/>
              <a:t>This law can be safely stated as: “At any junction point in a circuit, the current arriving to that point is equal to the current leaving.”</a:t>
            </a:r>
          </a:p>
        </p:txBody>
      </p:sp>
    </p:spTree>
    <p:extLst>
      <p:ext uri="{BB962C8B-B14F-4D97-AF65-F5344CB8AC3E}">
        <p14:creationId xmlns:p14="http://schemas.microsoft.com/office/powerpoint/2010/main" val="1721133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6B8DCA-3BC3-F3B5-CD36-A71A8DE2162E}"/>
              </a:ext>
            </a:extLst>
          </p:cNvPr>
          <p:cNvSpPr>
            <a:spLocks noGrp="1"/>
          </p:cNvSpPr>
          <p:nvPr>
            <p:ph type="title"/>
          </p:nvPr>
        </p:nvSpPr>
        <p:spPr/>
        <p:txBody>
          <a:bodyPr/>
          <a:lstStyle/>
          <a:p>
            <a:r>
              <a:rPr lang="en-US" dirty="0"/>
              <a:t>Voltage Drops</a:t>
            </a:r>
          </a:p>
        </p:txBody>
      </p:sp>
      <p:sp>
        <p:nvSpPr>
          <p:cNvPr id="5" name="Text Placeholder 4">
            <a:extLst>
              <a:ext uri="{FF2B5EF4-FFF2-40B4-BE49-F238E27FC236}">
                <a16:creationId xmlns:a16="http://schemas.microsoft.com/office/drawing/2014/main" id="{82A2AFB4-B86E-379B-BF1C-A1ACE6B5FD12}"/>
              </a:ext>
            </a:extLst>
          </p:cNvPr>
          <p:cNvSpPr>
            <a:spLocks noGrp="1"/>
          </p:cNvSpPr>
          <p:nvPr>
            <p:ph type="body" idx="1"/>
          </p:nvPr>
        </p:nvSpPr>
        <p:spPr>
          <a:xfrm>
            <a:off x="476843" y="1471265"/>
            <a:ext cx="7752757" cy="4612544"/>
          </a:xfrm>
        </p:spPr>
        <p:txBody>
          <a:bodyPr/>
          <a:lstStyle/>
          <a:p>
            <a:r>
              <a:rPr lang="en-US" sz="1800" b="1" dirty="0"/>
              <a:t>Voltage drop </a:t>
            </a:r>
            <a:r>
              <a:rPr lang="en-US" sz="1800" dirty="0"/>
              <a:t>is the amount of voltage required to cause current flow through a load. </a:t>
            </a:r>
          </a:p>
          <a:p>
            <a:r>
              <a:rPr lang="en-US" sz="1800" dirty="0"/>
              <a:t>For there to be voltage dropped, the circuit must be complete.</a:t>
            </a:r>
          </a:p>
          <a:p>
            <a:r>
              <a:rPr lang="en-US" sz="1800" dirty="0"/>
              <a:t>An open circuit does not have any voltage drop since there is no current flow. </a:t>
            </a:r>
          </a:p>
          <a:p>
            <a:r>
              <a:rPr lang="en-US" sz="1800" dirty="0"/>
              <a:t>The voltage is dropped as a result of the change in electrical energy (voltage) into another form of energy, such as the heat generated from a light bulb. </a:t>
            </a:r>
          </a:p>
          <a:p>
            <a:r>
              <a:rPr lang="en-US" sz="1800" dirty="0"/>
              <a:t>As electrical energy is changed to another form of energy as it flows through a load, the amount of voltage leaving the load is lower than it was when it entered. </a:t>
            </a:r>
          </a:p>
          <a:p>
            <a:r>
              <a:rPr lang="en-US" sz="1800" dirty="0"/>
              <a:t>If there is only one load in the circuit, the voltage drop will equal the source voltage. </a:t>
            </a:r>
          </a:p>
          <a:p>
            <a:r>
              <a:rPr lang="en-US" sz="1800" dirty="0"/>
              <a:t>Unwanted resistance will become unwanted voltage drop.</a:t>
            </a:r>
          </a:p>
        </p:txBody>
      </p:sp>
      <p:pic>
        <p:nvPicPr>
          <p:cNvPr id="7" name="Picture Placeholder 6" descr="Two illustrations of two circuits depicting the voltage drop. Illustration A depicts 12 V voltage source (battery) consisting of the positive and negative terminals. The positive terminal is connected in series with the closed switch that is connected in series with a 6 ohm resistance load which is further connected in series with the negative terminal of the voltage source. The resistance load is connected to volt meter. The 2 A current flows through the entire circuit. Illustration B depicts 12 V voltage source (battery) consisting of positive and negative terminals. The positive terminal is connected in series with the open switch that is connected in series with 0 V resistance load which is further connected in series with the negative terminal of the voltage source. The resistance load is not operating and no voltage drop occurs because of the open switch circuit, therefore no current flows through the terminal.">
            <a:extLst>
              <a:ext uri="{FF2B5EF4-FFF2-40B4-BE49-F238E27FC236}">
                <a16:creationId xmlns:a16="http://schemas.microsoft.com/office/drawing/2014/main" id="{C3D20767-8AAA-6047-55F8-37E3B3F92AA6}"/>
              </a:ext>
            </a:extLst>
          </p:cNvPr>
          <p:cNvPicPr>
            <a:picLocks noGrp="1" noChangeAspect="1"/>
          </p:cNvPicPr>
          <p:nvPr>
            <p:ph type="pic" sz="quarter" idx="10"/>
          </p:nvPr>
        </p:nvPicPr>
        <p:blipFill rotWithShape="1">
          <a:blip r:embed="rId2"/>
          <a:srcRect b="10666"/>
          <a:stretch/>
        </p:blipFill>
        <p:spPr>
          <a:xfrm>
            <a:off x="8216463" y="1777628"/>
            <a:ext cx="3712171" cy="3749869"/>
          </a:xfrm>
          <a:prstGeom prst="rect">
            <a:avLst/>
          </a:prstGeom>
        </p:spPr>
      </p:pic>
    </p:spTree>
    <p:extLst>
      <p:ext uri="{BB962C8B-B14F-4D97-AF65-F5344CB8AC3E}">
        <p14:creationId xmlns:p14="http://schemas.microsoft.com/office/powerpoint/2010/main" val="328554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72C43E-50DE-8AD4-DD54-FC70F128CAFF}"/>
              </a:ext>
            </a:extLst>
          </p:cNvPr>
          <p:cNvSpPr>
            <a:spLocks noGrp="1"/>
          </p:cNvSpPr>
          <p:nvPr>
            <p:ph type="title"/>
          </p:nvPr>
        </p:nvSpPr>
        <p:spPr/>
        <p:txBody>
          <a:bodyPr/>
          <a:lstStyle/>
          <a:p>
            <a:r>
              <a:rPr lang="en-US" dirty="0"/>
              <a:t>Power and Watt’s Law</a:t>
            </a:r>
          </a:p>
        </p:txBody>
      </p:sp>
      <p:sp>
        <p:nvSpPr>
          <p:cNvPr id="5" name="Text Placeholder 4">
            <a:extLst>
              <a:ext uri="{FF2B5EF4-FFF2-40B4-BE49-F238E27FC236}">
                <a16:creationId xmlns:a16="http://schemas.microsoft.com/office/drawing/2014/main" id="{4F49227C-D471-44B5-8624-FC5EC61332D8}"/>
              </a:ext>
            </a:extLst>
          </p:cNvPr>
          <p:cNvSpPr>
            <a:spLocks noGrp="1"/>
          </p:cNvSpPr>
          <p:nvPr>
            <p:ph type="body" idx="1"/>
          </p:nvPr>
        </p:nvSpPr>
        <p:spPr>
          <a:xfrm>
            <a:off x="476843" y="1471265"/>
            <a:ext cx="11008021" cy="2893472"/>
          </a:xfrm>
        </p:spPr>
        <p:txBody>
          <a:bodyPr/>
          <a:lstStyle/>
          <a:p>
            <a:r>
              <a:rPr lang="en-US" sz="2000" dirty="0"/>
              <a:t>Watt’s law defines the relationship between power, amperage, and voltage. The power in a DC electrical circuit is the product of the amperage and voltage.</a:t>
            </a:r>
          </a:p>
          <a:p>
            <a:r>
              <a:rPr lang="en-US" sz="2000" dirty="0"/>
              <a:t>The formula used to calculate the electrical power (</a:t>
            </a:r>
            <a:r>
              <a:rPr lang="en-US" sz="2000" i="1" dirty="0"/>
              <a:t>P</a:t>
            </a:r>
            <a:r>
              <a:rPr lang="en-US" sz="2000" dirty="0"/>
              <a:t>) used by a load is mathematically expressed by </a:t>
            </a:r>
            <a:r>
              <a:rPr lang="en-US" sz="2000" i="1" dirty="0"/>
              <a:t>P</a:t>
            </a:r>
            <a:r>
              <a:rPr lang="en-US" sz="2000" dirty="0"/>
              <a:t> = </a:t>
            </a:r>
            <a:r>
              <a:rPr lang="en-US" sz="2000" i="1" dirty="0"/>
              <a:t>I</a:t>
            </a:r>
            <a:r>
              <a:rPr lang="en-US" sz="2000" dirty="0"/>
              <a:t> × </a:t>
            </a:r>
            <a:r>
              <a:rPr lang="en-US" sz="2000" i="1" dirty="0"/>
              <a:t>E.</a:t>
            </a:r>
            <a:endParaRPr lang="en-US" sz="2000" dirty="0"/>
          </a:p>
          <a:p>
            <a:r>
              <a:rPr lang="en-US" sz="2000" dirty="0"/>
              <a:t>In other words, power equals current multiplied by voltage.</a:t>
            </a:r>
          </a:p>
          <a:p>
            <a:r>
              <a:rPr lang="en-US" sz="2000" dirty="0"/>
              <a:t>Electric power is expressed in watts and represents the rate at which electrical energy is converted to another form of energy.</a:t>
            </a:r>
          </a:p>
          <a:p>
            <a:r>
              <a:rPr lang="en-US" sz="2000" dirty="0"/>
              <a:t>Electrical energy can be converted into sound, heat, light, or motion.</a:t>
            </a:r>
          </a:p>
        </p:txBody>
      </p:sp>
      <p:pic>
        <p:nvPicPr>
          <p:cNvPr id="7" name="Picture Placeholder 6" descr="An illustration depicts 12 V voltage source connected in parallel with 6 ohm load. The current 2 A flow through entire circuit. The equation with text reads as follows: 2 A times of 12 V equal 24W.">
            <a:extLst>
              <a:ext uri="{FF2B5EF4-FFF2-40B4-BE49-F238E27FC236}">
                <a16:creationId xmlns:a16="http://schemas.microsoft.com/office/drawing/2014/main" id="{4F52A9D0-B827-A747-3DAA-7EB803E9234F}"/>
              </a:ext>
            </a:extLst>
          </p:cNvPr>
          <p:cNvPicPr>
            <a:picLocks noGrp="1" noChangeAspect="1"/>
          </p:cNvPicPr>
          <p:nvPr>
            <p:ph type="pic" sz="quarter" idx="10"/>
          </p:nvPr>
        </p:nvPicPr>
        <p:blipFill>
          <a:blip r:embed="rId2"/>
          <a:srcRect b="26122"/>
          <a:stretch/>
        </p:blipFill>
        <p:spPr>
          <a:xfrm>
            <a:off x="4081550" y="4618583"/>
            <a:ext cx="4028900" cy="1176039"/>
          </a:xfrm>
          <a:prstGeom prst="rect">
            <a:avLst/>
          </a:prstGeom>
        </p:spPr>
      </p:pic>
    </p:spTree>
    <p:extLst>
      <p:ext uri="{BB962C8B-B14F-4D97-AF65-F5344CB8AC3E}">
        <p14:creationId xmlns:p14="http://schemas.microsoft.com/office/powerpoint/2010/main" val="1975070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dirty="0"/>
              <a:t>Considering Ohms law, Kirchhoff’s law, and what you have learned about voltage drops, have a class discussion about these relationships.</a:t>
            </a:r>
          </a:p>
          <a:p>
            <a:r>
              <a:rPr lang="en-US" dirty="0"/>
              <a:t>If unwanted resistance occurs in a circuit, how does it affect current, voltage drop, the overall circuit performance? What could the unwanted resistance be? What might it look like?</a:t>
            </a:r>
          </a:p>
        </p:txBody>
      </p:sp>
    </p:spTree>
    <p:extLst>
      <p:ext uri="{BB962C8B-B14F-4D97-AF65-F5344CB8AC3E}">
        <p14:creationId xmlns:p14="http://schemas.microsoft.com/office/powerpoint/2010/main" val="2301199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Circuits</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a:xfrm>
            <a:off x="476843" y="1346004"/>
            <a:ext cx="11241915" cy="4734464"/>
          </a:xfrm>
        </p:spPr>
        <p:txBody>
          <a:bodyPr/>
          <a:lstStyle/>
          <a:p>
            <a:pPr marL="0" indent="0">
              <a:buNone/>
            </a:pPr>
            <a:r>
              <a:rPr lang="en-US" sz="1800" b="1" dirty="0"/>
              <a:t>15.04 List the basic types of electrical circuits.</a:t>
            </a:r>
          </a:p>
          <a:p>
            <a:pPr marL="354013" indent="0">
              <a:buNone/>
            </a:pPr>
            <a:r>
              <a:rPr lang="en-US" sz="1800" dirty="0"/>
              <a:t>Most automotive circuits contain five basic parts.</a:t>
            </a:r>
          </a:p>
          <a:p>
            <a:pPr marL="696913" indent="-342900">
              <a:buFont typeface="+mj-lt"/>
              <a:buAutoNum type="arabicPeriod"/>
            </a:pPr>
            <a:r>
              <a:rPr lang="en-US" sz="1800" dirty="0"/>
              <a:t>Power sources, such as a battery or generator, that provide the energy needed to cause electron flow</a:t>
            </a:r>
          </a:p>
          <a:p>
            <a:pPr marL="696913" indent="-342900">
              <a:buFont typeface="+mj-lt"/>
              <a:buAutoNum type="arabicPeriod"/>
            </a:pPr>
            <a:r>
              <a:rPr lang="en-US" sz="1800" dirty="0"/>
              <a:t>Conductors, such as copper wires, that provide a path for current flow</a:t>
            </a:r>
          </a:p>
          <a:p>
            <a:pPr marL="696913" indent="-342900">
              <a:buFont typeface="+mj-lt"/>
              <a:buAutoNum type="arabicPeriod"/>
            </a:pPr>
            <a:r>
              <a:rPr lang="en-US" sz="1800" dirty="0"/>
              <a:t>Loads, which are devices that use electricity to perform work, such as light bulbs, electric motors, or resistors</a:t>
            </a:r>
          </a:p>
          <a:p>
            <a:pPr marL="696913" indent="-342900">
              <a:buFont typeface="+mj-lt"/>
              <a:buAutoNum type="arabicPeriod"/>
            </a:pPr>
            <a:r>
              <a:rPr lang="en-US" sz="1800" dirty="0"/>
              <a:t>Controllers, such as switches or relays, that control or direct the flow of electrons</a:t>
            </a:r>
          </a:p>
          <a:p>
            <a:pPr marL="696913" indent="-342900">
              <a:buFont typeface="+mj-lt"/>
              <a:buAutoNum type="arabicPeriod"/>
            </a:pPr>
            <a:r>
              <a:rPr lang="en-US" sz="1800" dirty="0"/>
              <a:t>Circuit protection devices, such as fuses, circuit breakers, and fusible links</a:t>
            </a:r>
          </a:p>
          <a:p>
            <a:pPr marL="354013" indent="0">
              <a:buNone/>
            </a:pPr>
            <a:r>
              <a:rPr lang="en-US" sz="1800" dirty="0"/>
              <a:t>Three basic types of circuits are used in automotive electrical systems:</a:t>
            </a:r>
          </a:p>
          <a:p>
            <a:pPr marL="354013" indent="0">
              <a:buNone/>
            </a:pPr>
            <a:r>
              <a:rPr lang="en-US" sz="1800" dirty="0"/>
              <a:t>series circuits</a:t>
            </a:r>
          </a:p>
          <a:p>
            <a:pPr lvl="1"/>
            <a:r>
              <a:rPr lang="en-US" sz="1600" dirty="0"/>
              <a:t>parallel circuits</a:t>
            </a:r>
          </a:p>
          <a:p>
            <a:pPr lvl="1"/>
            <a:r>
              <a:rPr lang="en-US" sz="1600" dirty="0"/>
              <a:t>series-parallel circuits</a:t>
            </a:r>
          </a:p>
          <a:p>
            <a:r>
              <a:rPr lang="en-US" sz="1800" dirty="0"/>
              <a:t>Each type has its own characteristics regarding amperage, voltage, and resistance.</a:t>
            </a:r>
          </a:p>
        </p:txBody>
      </p:sp>
    </p:spTree>
    <p:extLst>
      <p:ext uri="{BB962C8B-B14F-4D97-AF65-F5344CB8AC3E}">
        <p14:creationId xmlns:p14="http://schemas.microsoft.com/office/powerpoint/2010/main" val="543938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Series Circuits (1 of 2)</a:t>
            </a:r>
          </a:p>
        </p:txBody>
      </p:sp>
      <p:sp>
        <p:nvSpPr>
          <p:cNvPr id="4" name="Text Placeholder 3">
            <a:extLst>
              <a:ext uri="{FF2B5EF4-FFF2-40B4-BE49-F238E27FC236}">
                <a16:creationId xmlns:a16="http://schemas.microsoft.com/office/drawing/2014/main" id="{3B64AAE5-A517-3094-6057-6E6DED621536}"/>
              </a:ext>
            </a:extLst>
          </p:cNvPr>
          <p:cNvSpPr>
            <a:spLocks noGrp="1"/>
          </p:cNvSpPr>
          <p:nvPr>
            <p:ph type="body" idx="1"/>
          </p:nvPr>
        </p:nvSpPr>
        <p:spPr>
          <a:xfrm>
            <a:off x="476843" y="1471264"/>
            <a:ext cx="7503375" cy="4588160"/>
          </a:xfrm>
        </p:spPr>
        <p:txBody>
          <a:bodyPr/>
          <a:lstStyle/>
          <a:p>
            <a:pPr marL="0" indent="0">
              <a:buNone/>
            </a:pPr>
            <a:r>
              <a:rPr lang="en-US" sz="1800" b="1" dirty="0"/>
              <a:t>15.05 Describe the differences between a series circuit and a parallel circuit.</a:t>
            </a:r>
          </a:p>
          <a:p>
            <a:r>
              <a:rPr lang="en-US" sz="1800" dirty="0"/>
              <a:t>A </a:t>
            </a:r>
            <a:r>
              <a:rPr lang="en-US" sz="1800" b="1" dirty="0"/>
              <a:t>series circuit </a:t>
            </a:r>
            <a:r>
              <a:rPr lang="en-US" sz="1800" dirty="0"/>
              <a:t>consists of one or more loads connected to a voltage source with only one path for electron flow.</a:t>
            </a:r>
          </a:p>
          <a:p>
            <a:pPr lvl="1"/>
            <a:r>
              <a:rPr lang="en-US" sz="1600" dirty="0"/>
              <a:t>For example, a simple series circuit consists of a resistor (2 ohms in this example) connected to a 12-volt battery.</a:t>
            </a:r>
          </a:p>
          <a:p>
            <a:pPr lvl="1"/>
            <a:r>
              <a:rPr lang="en-US" sz="1600" dirty="0"/>
              <a:t>The current can be determined by applying Ohm’s law.</a:t>
            </a:r>
          </a:p>
          <a:p>
            <a:r>
              <a:rPr lang="en-US" sz="1800" dirty="0"/>
              <a:t>Another series circuit may contain a 2-ohm resistor and a 4-ohm resistor connected to a 12-volt battery.</a:t>
            </a:r>
          </a:p>
          <a:p>
            <a:r>
              <a:rPr lang="en-US" sz="1800" dirty="0"/>
              <a:t>The word series is given to a circuit in which there is only one current path, and the same amount of current is present throughout the circuit.</a:t>
            </a:r>
          </a:p>
          <a:p>
            <a:r>
              <a:rPr lang="en-US" sz="1800" dirty="0"/>
              <a:t>This means that the current that flows through one point in the circuit is the same amount of current that flows through all parts of the circuit.</a:t>
            </a:r>
          </a:p>
        </p:txBody>
      </p:sp>
      <p:pic>
        <p:nvPicPr>
          <p:cNvPr id="6" name="Picture Placeholder 5" descr="Three illustrations. The first illustration labeled A depicts a 12 V voltage source connected in parallel with 2-ohms resistance. The current 6 A flows through the entire circuit. The second illustration labeled B depicts a 12 V voltage source connected in series with 2-ohms and 4-ohms. The resistance 2-ohms and 4-ohms are connected in parallel. The current 2 A flows through the entire circuit. The third illustration labeled C depicts a 12 V voltage source connected in series with a 2 A ammeter negative terminal. The ammeter positive terminal is connected in series with 2-ohms resistance. The resistance is connected in parallel with a 4 V voltmeter and series with 4-ohms resistance. The 4-ohms resistance is connected in parallel with an 8 V voltmeter and is in series with a 12 V voltage source. The 0 V and 4 V voltage is given to 2-ohms resistance. The 12 V and 8 V voltage is given to 4-ohms resistance.">
            <a:extLst>
              <a:ext uri="{FF2B5EF4-FFF2-40B4-BE49-F238E27FC236}">
                <a16:creationId xmlns:a16="http://schemas.microsoft.com/office/drawing/2014/main" id="{722B8983-4CA3-CF34-87C8-23CA91B6D450}"/>
              </a:ext>
            </a:extLst>
          </p:cNvPr>
          <p:cNvPicPr>
            <a:picLocks noGrp="1" noChangeAspect="1"/>
          </p:cNvPicPr>
          <p:nvPr>
            <p:ph type="pic" sz="quarter" idx="10"/>
          </p:nvPr>
        </p:nvPicPr>
        <p:blipFill>
          <a:blip r:embed="rId2"/>
          <a:srcRect b="13240"/>
          <a:stretch/>
        </p:blipFill>
        <p:spPr>
          <a:xfrm>
            <a:off x="8562726" y="1976418"/>
            <a:ext cx="2824761" cy="3797660"/>
          </a:xfrm>
          <a:prstGeom prst="rect">
            <a:avLst/>
          </a:prstGeom>
        </p:spPr>
      </p:pic>
    </p:spTree>
    <p:extLst>
      <p:ext uri="{BB962C8B-B14F-4D97-AF65-F5344CB8AC3E}">
        <p14:creationId xmlns:p14="http://schemas.microsoft.com/office/powerpoint/2010/main" val="2867577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Series Circuits (2 of 2)</a:t>
            </a:r>
          </a:p>
        </p:txBody>
      </p:sp>
      <p:sp>
        <p:nvSpPr>
          <p:cNvPr id="4" name="Text Placeholder 3">
            <a:extLst>
              <a:ext uri="{FF2B5EF4-FFF2-40B4-BE49-F238E27FC236}">
                <a16:creationId xmlns:a16="http://schemas.microsoft.com/office/drawing/2014/main" id="{401AD8CB-E65B-83DF-6F4E-343310157DD0}"/>
              </a:ext>
            </a:extLst>
          </p:cNvPr>
          <p:cNvSpPr>
            <a:spLocks noGrp="1"/>
          </p:cNvSpPr>
          <p:nvPr>
            <p:ph type="body" idx="1"/>
          </p:nvPr>
        </p:nvSpPr>
        <p:spPr>
          <a:xfrm>
            <a:off x="476843" y="1471264"/>
            <a:ext cx="7874677" cy="4575968"/>
          </a:xfrm>
        </p:spPr>
        <p:txBody>
          <a:bodyPr/>
          <a:lstStyle/>
          <a:p>
            <a:r>
              <a:rPr lang="en-US" sz="2000" dirty="0"/>
              <a:t>An ammeter connected anywhere in this circuit will read 2 amperes, and a voltmeter connected across each of the resistors will read 4 volts and 8 volts, as shown. </a:t>
            </a:r>
          </a:p>
          <a:p>
            <a:r>
              <a:rPr lang="en-US" sz="2000" dirty="0"/>
              <a:t>The power used by the circuit is 24 watts (12 volts × 2 amps = 24 watts). </a:t>
            </a:r>
          </a:p>
          <a:p>
            <a:r>
              <a:rPr lang="en-US" sz="2000" dirty="0"/>
              <a:t>All calculations for a series circuit work in the same way no matter how many resistances there are in series. </a:t>
            </a:r>
          </a:p>
          <a:p>
            <a:r>
              <a:rPr lang="en-US" sz="2000" dirty="0"/>
              <a:t>Using Ohm’s law, we can see that the circuit current is 1 amp (</a:t>
            </a:r>
            <a:r>
              <a:rPr lang="en-US" sz="2000" i="1" dirty="0"/>
              <a:t>I</a:t>
            </a:r>
            <a:r>
              <a:rPr lang="en-US" sz="2000" dirty="0"/>
              <a:t> = </a:t>
            </a:r>
            <a:r>
              <a:rPr lang="en-US" sz="2000" i="1" dirty="0"/>
              <a:t>E</a:t>
            </a:r>
            <a:r>
              <a:rPr lang="en-US" sz="2000" dirty="0"/>
              <a:t>/</a:t>
            </a:r>
            <a:r>
              <a:rPr lang="en-US" sz="2000" i="1" dirty="0"/>
              <a:t>R</a:t>
            </a:r>
            <a:r>
              <a:rPr lang="en-US" sz="2000" dirty="0"/>
              <a:t> = 12∕12 = 1 amp). </a:t>
            </a:r>
          </a:p>
          <a:p>
            <a:r>
              <a:rPr lang="en-US" sz="2000" dirty="0"/>
              <a:t>We can also add each of the resistors to determine a total circuit resistance of 12 ohms. </a:t>
            </a:r>
          </a:p>
          <a:p>
            <a:r>
              <a:rPr lang="en-US" sz="2000" dirty="0"/>
              <a:t>We can also use Ohm’s law to determine the voltage drop across each resistor in the circuit.</a:t>
            </a:r>
          </a:p>
        </p:txBody>
      </p:sp>
      <p:pic>
        <p:nvPicPr>
          <p:cNvPr id="6" name="Picture Placeholder 5" descr="A 12 V voltage source is connected to a 1-ohm resistance. The 1-ohm resistance is connected in parallel with a 1 V voltmeter and is connected in series with a 4-ohm resistance. The 4-ohm resistance is connected in parallel with a 4 V voltmeter and in series connected with a 2-ohm resistance. The 2-ohm resistance is connected in parallel with a 2 V voltmeter and is connected in series with 5-ohm resistance. The 5-ohm resistance is connected in parallel with a 5 V voltmeter and in series connected with a 1 A ammeter. The 1 A ammeter is connected in series with a 12 V. The voltage in the circuit is 1 V between the 1-ohm and 4-ohm resistors, 5 V between the 4-ohm and 2-ohm resistors, and 7 V between the 2-ohm and 5-ohm resistors. ">
            <a:extLst>
              <a:ext uri="{FF2B5EF4-FFF2-40B4-BE49-F238E27FC236}">
                <a16:creationId xmlns:a16="http://schemas.microsoft.com/office/drawing/2014/main" id="{7C724053-7D06-AC32-EB74-03F6B948E238}"/>
              </a:ext>
            </a:extLst>
          </p:cNvPr>
          <p:cNvPicPr>
            <a:picLocks noGrp="1" noChangeAspect="1"/>
          </p:cNvPicPr>
          <p:nvPr>
            <p:ph type="pic" sz="quarter" idx="10"/>
          </p:nvPr>
        </p:nvPicPr>
        <p:blipFill rotWithShape="1">
          <a:blip r:embed="rId2"/>
          <a:srcRect b="9162"/>
          <a:stretch/>
        </p:blipFill>
        <p:spPr>
          <a:xfrm>
            <a:off x="8515586" y="2133950"/>
            <a:ext cx="3434244" cy="2746275"/>
          </a:xfrm>
          <a:prstGeom prst="rect">
            <a:avLst/>
          </a:prstGeom>
        </p:spPr>
      </p:pic>
    </p:spTree>
    <p:extLst>
      <p:ext uri="{BB962C8B-B14F-4D97-AF65-F5344CB8AC3E}">
        <p14:creationId xmlns:p14="http://schemas.microsoft.com/office/powerpoint/2010/main" val="572831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Parallel Circuits (1 of 5)</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a:spcAft>
                <a:spcPts val="600"/>
              </a:spcAft>
            </a:pPr>
            <a:r>
              <a:rPr lang="en-US" sz="2000" dirty="0"/>
              <a:t>A </a:t>
            </a:r>
            <a:r>
              <a:rPr lang="en-US" sz="2000" b="1" dirty="0"/>
              <a:t>parallel circuit </a:t>
            </a:r>
            <a:r>
              <a:rPr lang="en-US" sz="2000" dirty="0"/>
              <a:t>provides two or more different paths for current flow.</a:t>
            </a:r>
          </a:p>
          <a:p>
            <a:pPr>
              <a:spcAft>
                <a:spcPts val="600"/>
              </a:spcAft>
            </a:pPr>
            <a:r>
              <a:rPr lang="en-US" sz="2000" dirty="0"/>
              <a:t>Each path has separate loads and can operate independently of the other paths.</a:t>
            </a:r>
          </a:p>
          <a:p>
            <a:pPr>
              <a:spcAft>
                <a:spcPts val="600"/>
              </a:spcAft>
            </a:pPr>
            <a:r>
              <a:rPr lang="en-US" sz="2000" dirty="0"/>
              <a:t>The different paths for current are commonly called the legs or branches of a parallel circuit.</a:t>
            </a:r>
          </a:p>
          <a:p>
            <a:pPr>
              <a:spcAft>
                <a:spcPts val="600"/>
              </a:spcAft>
            </a:pPr>
            <a:r>
              <a:rPr lang="en-US" sz="2000" dirty="0"/>
              <a:t>A parallel circuit is characterized by the following:</a:t>
            </a:r>
          </a:p>
          <a:p>
            <a:pPr lvl="1">
              <a:spcAft>
                <a:spcPts val="600"/>
              </a:spcAft>
              <a:buFont typeface="+mj-lt"/>
              <a:buAutoNum type="arabicPeriod"/>
            </a:pPr>
            <a:r>
              <a:rPr lang="en-US" sz="1800" dirty="0"/>
              <a:t>Total circuit resistance is always lower than the resistance of the leg with the lowest total resistance.</a:t>
            </a:r>
          </a:p>
          <a:p>
            <a:pPr lvl="1">
              <a:spcAft>
                <a:spcPts val="600"/>
              </a:spcAft>
              <a:buFont typeface="+mj-lt"/>
              <a:buAutoNum type="arabicPeriod"/>
            </a:pPr>
            <a:r>
              <a:rPr lang="en-US" sz="1800" dirty="0"/>
              <a:t>The current through each leg will be different if the resistance values are different. </a:t>
            </a:r>
          </a:p>
          <a:p>
            <a:pPr lvl="1">
              <a:spcAft>
                <a:spcPts val="600"/>
              </a:spcAft>
              <a:buFont typeface="+mj-lt"/>
              <a:buAutoNum type="arabicPeriod"/>
            </a:pPr>
            <a:r>
              <a:rPr lang="en-US" sz="1800" dirty="0"/>
              <a:t>The sum of the current on each leg equals the total circuit current.</a:t>
            </a:r>
          </a:p>
          <a:p>
            <a:pPr lvl="1">
              <a:spcAft>
                <a:spcPts val="600"/>
              </a:spcAft>
              <a:buFont typeface="+mj-lt"/>
              <a:buAutoNum type="arabicPeriod"/>
            </a:pPr>
            <a:r>
              <a:rPr lang="en-US" sz="1800" dirty="0"/>
              <a:t>The voltage applied to each leg of the circuit will be dropped across the legs if there are no loads in series with the parallel circuit.</a:t>
            </a:r>
          </a:p>
        </p:txBody>
      </p:sp>
    </p:spTree>
    <p:extLst>
      <p:ext uri="{BB962C8B-B14F-4D97-AF65-F5344CB8AC3E}">
        <p14:creationId xmlns:p14="http://schemas.microsoft.com/office/powerpoint/2010/main" val="378920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035B6D-835E-4EE7-3EE2-86988243AD62}"/>
              </a:ext>
            </a:extLst>
          </p:cNvPr>
          <p:cNvSpPr>
            <a:spLocks noGrp="1"/>
          </p:cNvSpPr>
          <p:nvPr>
            <p:ph type="title"/>
          </p:nvPr>
        </p:nvSpPr>
        <p:spPr/>
        <p:txBody>
          <a:bodyPr/>
          <a:lstStyle/>
          <a:p>
            <a:r>
              <a:rPr lang="en-US" dirty="0"/>
              <a:t>Parallel Circuits (2 of 5)</a:t>
            </a:r>
          </a:p>
        </p:txBody>
      </p:sp>
      <p:sp>
        <p:nvSpPr>
          <p:cNvPr id="5" name="Text Placeholder 4">
            <a:extLst>
              <a:ext uri="{FF2B5EF4-FFF2-40B4-BE49-F238E27FC236}">
                <a16:creationId xmlns:a16="http://schemas.microsoft.com/office/drawing/2014/main" id="{F341D2D2-431B-1EC5-6176-9FF67B0ACECA}"/>
              </a:ext>
            </a:extLst>
          </p:cNvPr>
          <p:cNvSpPr>
            <a:spLocks noGrp="1"/>
          </p:cNvSpPr>
          <p:nvPr>
            <p:ph type="body" idx="1"/>
          </p:nvPr>
        </p:nvSpPr>
        <p:spPr>
          <a:xfrm>
            <a:off x="476843" y="1471264"/>
            <a:ext cx="6996853" cy="4551584"/>
          </a:xfrm>
        </p:spPr>
        <p:txBody>
          <a:bodyPr/>
          <a:lstStyle/>
          <a:p>
            <a:r>
              <a:rPr lang="en-US" sz="2000" dirty="0"/>
              <a:t>As shown, two 3-ohm resistors are connected to a 12-volt battery. </a:t>
            </a:r>
          </a:p>
          <a:p>
            <a:r>
              <a:rPr lang="en-US" sz="2000" dirty="0"/>
              <a:t>The resistors are in parallel with each other, since the battery voltage (12 volts) is applied to each resistor and they have a common negative lead. </a:t>
            </a:r>
          </a:p>
          <a:p>
            <a:r>
              <a:rPr lang="en-US" sz="2000" dirty="0"/>
              <a:t>The current through each resistor or leg can be determined by applying Ohm’s law. </a:t>
            </a:r>
          </a:p>
          <a:p>
            <a:r>
              <a:rPr lang="en-US" sz="2000" dirty="0"/>
              <a:t>For the 3-ohm resistors, </a:t>
            </a:r>
            <a:r>
              <a:rPr lang="en-US" sz="2000" i="1" dirty="0"/>
              <a:t>I</a:t>
            </a:r>
            <a:r>
              <a:rPr lang="en-US" sz="2000" dirty="0"/>
              <a:t> = </a:t>
            </a:r>
            <a:r>
              <a:rPr lang="en-US" sz="2000" i="1" dirty="0"/>
              <a:t>E/R</a:t>
            </a:r>
            <a:r>
              <a:rPr lang="en-US" sz="2000" dirty="0"/>
              <a:t> = 12∕3 = 4 amperes. </a:t>
            </a:r>
          </a:p>
          <a:p>
            <a:r>
              <a:rPr lang="en-US" sz="2000" dirty="0"/>
              <a:t>Therefore, the total circuit current supplied by the battery is 4 + 4 = 8 amperes. </a:t>
            </a:r>
          </a:p>
          <a:p>
            <a:r>
              <a:rPr lang="en-US" sz="2000" dirty="0"/>
              <a:t>Using Ohm’s law, we find that 12 volts are dropped by both resistors.</a:t>
            </a:r>
          </a:p>
        </p:txBody>
      </p:sp>
      <p:pic>
        <p:nvPicPr>
          <p:cNvPr id="9" name="Picture Placeholder 8" descr="An illustration depicts a simple parallel circuit. The 12 V voltage source is connected in parallel with 3 ohm resistance. The 3 ohm resistance is further parallel to another 3 ohm. The current 8A flow through the entire circuit and to the resistances as 4A.">
            <a:extLst>
              <a:ext uri="{FF2B5EF4-FFF2-40B4-BE49-F238E27FC236}">
                <a16:creationId xmlns:a16="http://schemas.microsoft.com/office/drawing/2014/main" id="{E4908DA0-3B31-2056-AFDC-3E42CC7F529C}"/>
              </a:ext>
            </a:extLst>
          </p:cNvPr>
          <p:cNvPicPr>
            <a:picLocks noGrp="1" noChangeAspect="1"/>
          </p:cNvPicPr>
          <p:nvPr>
            <p:ph type="pic" sz="quarter" idx="11"/>
          </p:nvPr>
        </p:nvPicPr>
        <p:blipFill>
          <a:blip r:embed="rId2"/>
          <a:srcRect b="12063"/>
          <a:stretch/>
        </p:blipFill>
        <p:spPr>
          <a:xfrm>
            <a:off x="7823823" y="1767205"/>
            <a:ext cx="3657600" cy="1661795"/>
          </a:xfrm>
          <a:prstGeom prst="rect">
            <a:avLst/>
          </a:prstGeom>
        </p:spPr>
      </p:pic>
      <p:pic>
        <p:nvPicPr>
          <p:cNvPr id="10" name="Picture Placeholder 9" descr="An illustration of a circuit depicts a 12 V battery and two-ohm resistor connected in parallel. The two-ohm resistors are connected in parallel with another two 12 V voltmeter.">
            <a:extLst>
              <a:ext uri="{FF2B5EF4-FFF2-40B4-BE49-F238E27FC236}">
                <a16:creationId xmlns:a16="http://schemas.microsoft.com/office/drawing/2014/main" id="{F2396BAE-63E0-2329-2F22-84984997F5DE}"/>
              </a:ext>
            </a:extLst>
          </p:cNvPr>
          <p:cNvPicPr>
            <a:picLocks noGrp="1" noChangeAspect="1"/>
          </p:cNvPicPr>
          <p:nvPr>
            <p:ph type="pic" sz="quarter" idx="10"/>
          </p:nvPr>
        </p:nvPicPr>
        <p:blipFill rotWithShape="1">
          <a:blip r:embed="rId3"/>
          <a:srcRect b="19231"/>
          <a:stretch/>
        </p:blipFill>
        <p:spPr>
          <a:xfrm>
            <a:off x="7824492" y="4234872"/>
            <a:ext cx="4101511" cy="1189884"/>
          </a:xfrm>
          <a:prstGeom prst="rect">
            <a:avLst/>
          </a:prstGeom>
        </p:spPr>
      </p:pic>
    </p:spTree>
    <p:extLst>
      <p:ext uri="{BB962C8B-B14F-4D97-AF65-F5344CB8AC3E}">
        <p14:creationId xmlns:p14="http://schemas.microsoft.com/office/powerpoint/2010/main" val="3323141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Parallel Circuits (3 of 5)</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a:xfrm>
            <a:off x="476843" y="1471264"/>
            <a:ext cx="11241915" cy="3175892"/>
          </a:xfrm>
        </p:spPr>
        <p:txBody>
          <a:bodyPr/>
          <a:lstStyle/>
          <a:p>
            <a:pPr>
              <a:spcAft>
                <a:spcPts val="600"/>
              </a:spcAft>
            </a:pPr>
            <a:r>
              <a:rPr lang="en-US" sz="2000" dirty="0"/>
              <a:t>When adding loads to a parallel circuit, power consumption is increased.</a:t>
            </a:r>
          </a:p>
          <a:p>
            <a:pPr>
              <a:spcAft>
                <a:spcPts val="600"/>
              </a:spcAft>
            </a:pPr>
            <a:r>
              <a:rPr lang="en-US" sz="2000" dirty="0"/>
              <a:t>In the previous example, the power used by the circuit increased to 96 watts.</a:t>
            </a:r>
          </a:p>
          <a:p>
            <a:pPr>
              <a:spcAft>
                <a:spcPts val="600"/>
              </a:spcAft>
            </a:pPr>
            <a:r>
              <a:rPr lang="en-US" sz="2000" dirty="0"/>
              <a:t>Had the 3-ohm resistors been in series, total power would have been only 24 watts.</a:t>
            </a:r>
          </a:p>
          <a:p>
            <a:pPr>
              <a:spcAft>
                <a:spcPts val="600"/>
              </a:spcAft>
            </a:pPr>
            <a:r>
              <a:rPr lang="en-US" sz="2000" dirty="0"/>
              <a:t>Resistances are not added up to calculate the total resistance in a parallel circuit; rather, total resistance is determined by dividing the product of their ohm values by the sum of their ohm values as shown below.</a:t>
            </a:r>
          </a:p>
          <a:p>
            <a:pPr>
              <a:spcAft>
                <a:spcPts val="600"/>
              </a:spcAft>
            </a:pPr>
            <a:r>
              <a:rPr lang="en-US" sz="2000" dirty="0"/>
              <a:t>For this circuit, the resistance total is 1.5 ohms and the formula is written below.</a:t>
            </a:r>
          </a:p>
        </p:txBody>
      </p:sp>
      <p:pic>
        <p:nvPicPr>
          <p:cNvPr id="4" name="Picture 3" descr="An equation for total resistance, R t = R_1*R_2/(R_1+R_2).">
            <a:extLst>
              <a:ext uri="{FF2B5EF4-FFF2-40B4-BE49-F238E27FC236}">
                <a16:creationId xmlns:a16="http://schemas.microsoft.com/office/drawing/2014/main" id="{C83E0A5F-8B1F-B0D8-0C6C-39906F921870}"/>
              </a:ext>
            </a:extLst>
          </p:cNvPr>
          <p:cNvPicPr>
            <a:picLocks noChangeAspect="1"/>
          </p:cNvPicPr>
          <p:nvPr/>
        </p:nvPicPr>
        <p:blipFill>
          <a:blip r:embed="rId2"/>
          <a:stretch>
            <a:fillRect/>
          </a:stretch>
        </p:blipFill>
        <p:spPr>
          <a:xfrm>
            <a:off x="1488906" y="4837771"/>
            <a:ext cx="1713305" cy="864102"/>
          </a:xfrm>
          <a:prstGeom prst="rect">
            <a:avLst/>
          </a:prstGeom>
        </p:spPr>
      </p:pic>
      <p:pic>
        <p:nvPicPr>
          <p:cNvPr id="5" name="Picture 4" descr="An equation for the calculation of total resistance is as follows: 3 ohms*3 ohms/(3 ohms+3 ohms) = 9/6 = 1.5 ohms.">
            <a:extLst>
              <a:ext uri="{FF2B5EF4-FFF2-40B4-BE49-F238E27FC236}">
                <a16:creationId xmlns:a16="http://schemas.microsoft.com/office/drawing/2014/main" id="{34C26776-CCC7-7194-4AAB-4299E4563908}"/>
              </a:ext>
            </a:extLst>
          </p:cNvPr>
          <p:cNvPicPr>
            <a:picLocks noChangeAspect="1"/>
          </p:cNvPicPr>
          <p:nvPr/>
        </p:nvPicPr>
        <p:blipFill>
          <a:blip r:embed="rId3"/>
          <a:stretch>
            <a:fillRect/>
          </a:stretch>
        </p:blipFill>
        <p:spPr>
          <a:xfrm>
            <a:off x="5270536" y="4827306"/>
            <a:ext cx="5010417" cy="885030"/>
          </a:xfrm>
          <a:prstGeom prst="rect">
            <a:avLst/>
          </a:prstGeom>
        </p:spPr>
      </p:pic>
    </p:spTree>
    <p:extLst>
      <p:ext uri="{BB962C8B-B14F-4D97-AF65-F5344CB8AC3E}">
        <p14:creationId xmlns:p14="http://schemas.microsoft.com/office/powerpoint/2010/main" val="2546899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Parallel Circuits (4 of 5)</a:t>
            </a:r>
          </a:p>
        </p:txBody>
      </p:sp>
      <p:sp>
        <p:nvSpPr>
          <p:cNvPr id="4" name="Text Placeholder 3">
            <a:extLst>
              <a:ext uri="{FF2B5EF4-FFF2-40B4-BE49-F238E27FC236}">
                <a16:creationId xmlns:a16="http://schemas.microsoft.com/office/drawing/2014/main" id="{1BE31B80-A017-9EDE-2C90-BEB4643324EC}"/>
              </a:ext>
            </a:extLst>
          </p:cNvPr>
          <p:cNvSpPr>
            <a:spLocks noGrp="1"/>
          </p:cNvSpPr>
          <p:nvPr>
            <p:ph type="body" idx="1"/>
          </p:nvPr>
        </p:nvSpPr>
        <p:spPr>
          <a:xfrm>
            <a:off x="476843" y="1471265"/>
            <a:ext cx="11129941" cy="1698656"/>
          </a:xfrm>
        </p:spPr>
        <p:txBody>
          <a:bodyPr/>
          <a:lstStyle/>
          <a:p>
            <a:pPr marL="0" indent="0">
              <a:buNone/>
            </a:pPr>
            <a:r>
              <a:rPr lang="en-US" sz="2000" dirty="0"/>
              <a:t>Current flow through the circuit can be calculated by different methods. Using Ohm’s law, we know that </a:t>
            </a:r>
            <a:r>
              <a:rPr lang="en-US" sz="2000" i="1" dirty="0"/>
              <a:t>I = E</a:t>
            </a:r>
            <a:r>
              <a:rPr lang="en-US" sz="2000" dirty="0"/>
              <a:t>/</a:t>
            </a:r>
            <a:r>
              <a:rPr lang="en-US" sz="2000" i="1" dirty="0"/>
              <a:t>R</a:t>
            </a:r>
            <a:r>
              <a:rPr lang="en-US" sz="2000" dirty="0"/>
              <a:t>.</a:t>
            </a:r>
            <a:r>
              <a:rPr lang="en-US" sz="2000" b="1" i="1" dirty="0"/>
              <a:t> </a:t>
            </a:r>
            <a:r>
              <a:rPr lang="en-US" sz="2000" dirty="0"/>
              <a:t>If we take the total resistance of each leg and divide it into the voltage, we then know the current through that leg. Since total circuit current is equal to the sum of the current flows through each leg, we simply add the current across each leg together. This will give us total circuit current.</a:t>
            </a:r>
          </a:p>
        </p:txBody>
      </p:sp>
      <p:pic>
        <p:nvPicPr>
          <p:cNvPr id="9" name="Picture 8" descr="Equations in two lines depict the total circuit current as follows:(line 1). Leg 1: I = E/R = 12/6 = 2 amps.(line 2). Leg 2: I = E/R = 12/3 = 4 amps.">
            <a:extLst>
              <a:ext uri="{FF2B5EF4-FFF2-40B4-BE49-F238E27FC236}">
                <a16:creationId xmlns:a16="http://schemas.microsoft.com/office/drawing/2014/main" id="{54F1FD07-0496-433E-CD83-FF9E4C3B44A7}"/>
              </a:ext>
            </a:extLst>
          </p:cNvPr>
          <p:cNvPicPr>
            <a:picLocks noChangeAspect="1"/>
          </p:cNvPicPr>
          <p:nvPr/>
        </p:nvPicPr>
        <p:blipFill>
          <a:blip r:embed="rId2"/>
          <a:stretch>
            <a:fillRect/>
          </a:stretch>
        </p:blipFill>
        <p:spPr>
          <a:xfrm>
            <a:off x="4159205" y="3292678"/>
            <a:ext cx="3654134" cy="718005"/>
          </a:xfrm>
          <a:prstGeom prst="rect">
            <a:avLst/>
          </a:prstGeom>
        </p:spPr>
      </p:pic>
      <p:sp>
        <p:nvSpPr>
          <p:cNvPr id="7" name="Content Placeholder 6">
            <a:extLst>
              <a:ext uri="{FF2B5EF4-FFF2-40B4-BE49-F238E27FC236}">
                <a16:creationId xmlns:a16="http://schemas.microsoft.com/office/drawing/2014/main" id="{54DAE0E3-419F-84A2-107C-9944D1228398}"/>
              </a:ext>
            </a:extLst>
          </p:cNvPr>
          <p:cNvSpPr>
            <a:spLocks noGrp="1"/>
          </p:cNvSpPr>
          <p:nvPr>
            <p:ph sz="quarter" idx="12"/>
          </p:nvPr>
        </p:nvSpPr>
        <p:spPr>
          <a:xfrm>
            <a:off x="365760" y="3997808"/>
            <a:ext cx="11241024" cy="1388927"/>
          </a:xfrm>
        </p:spPr>
        <p:txBody>
          <a:bodyPr/>
          <a:lstStyle/>
          <a:p>
            <a:pPr marL="76200" indent="0">
              <a:buNone/>
            </a:pPr>
            <a:r>
              <a:rPr lang="en-US" sz="2000" dirty="0"/>
              <a:t>2 amps + 4 amps = 6 amps which is the total circuit current. Circuit current can also be determined by finding the total resistance of the circuit. To do this, the product-over-sum formula is used. By dividing this total into the voltage, total circuit current is known.</a:t>
            </a:r>
          </a:p>
        </p:txBody>
      </p:sp>
      <p:pic>
        <p:nvPicPr>
          <p:cNvPr id="10" name="Picture 9" descr="An equation depicting the calculation of the total resistance of the circuit is as follows: Leg 1*Leg 2/(Leg 1+Leg 2) = 6*3/(6+3) = 18/9 = 2 ohms.">
            <a:extLst>
              <a:ext uri="{FF2B5EF4-FFF2-40B4-BE49-F238E27FC236}">
                <a16:creationId xmlns:a16="http://schemas.microsoft.com/office/drawing/2014/main" id="{0C4FAC88-ADDD-8D84-6239-F4B73B8ED34C}"/>
              </a:ext>
            </a:extLst>
          </p:cNvPr>
          <p:cNvPicPr>
            <a:picLocks noChangeAspect="1"/>
          </p:cNvPicPr>
          <p:nvPr/>
        </p:nvPicPr>
        <p:blipFill>
          <a:blip r:embed="rId3"/>
          <a:stretch>
            <a:fillRect/>
          </a:stretch>
        </p:blipFill>
        <p:spPr>
          <a:xfrm>
            <a:off x="3877080" y="5244562"/>
            <a:ext cx="4437841" cy="772299"/>
          </a:xfrm>
          <a:prstGeom prst="rect">
            <a:avLst/>
          </a:prstGeom>
        </p:spPr>
      </p:pic>
    </p:spTree>
    <p:extLst>
      <p:ext uri="{BB962C8B-B14F-4D97-AF65-F5344CB8AC3E}">
        <p14:creationId xmlns:p14="http://schemas.microsoft.com/office/powerpoint/2010/main" val="2607759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Parallel Circuits (5 of 5)</a:t>
            </a:r>
          </a:p>
        </p:txBody>
      </p:sp>
      <p:sp>
        <p:nvSpPr>
          <p:cNvPr id="4" name="Text Placeholder 3">
            <a:extLst>
              <a:ext uri="{FF2B5EF4-FFF2-40B4-BE49-F238E27FC236}">
                <a16:creationId xmlns:a16="http://schemas.microsoft.com/office/drawing/2014/main" id="{DE3E25D5-9EE7-C0BC-D095-91D76FA88D4C}"/>
              </a:ext>
            </a:extLst>
          </p:cNvPr>
          <p:cNvSpPr>
            <a:spLocks noGrp="1"/>
          </p:cNvSpPr>
          <p:nvPr>
            <p:ph type="body" idx="1"/>
          </p:nvPr>
        </p:nvSpPr>
        <p:spPr>
          <a:xfrm>
            <a:off x="597789" y="1471265"/>
            <a:ext cx="6854198" cy="1643791"/>
          </a:xfrm>
        </p:spPr>
        <p:txBody>
          <a:bodyPr/>
          <a:lstStyle/>
          <a:p>
            <a:pPr marL="0" indent="0">
              <a:buNone/>
            </a:pPr>
            <a:r>
              <a:rPr lang="en-US" sz="2000" dirty="0"/>
              <a:t>Since </a:t>
            </a:r>
            <a:r>
              <a:rPr lang="en-US" sz="2000" i="1" dirty="0"/>
              <a:t>I</a:t>
            </a:r>
            <a:r>
              <a:rPr lang="en-US" sz="2000" dirty="0"/>
              <a:t> = </a:t>
            </a:r>
            <a:r>
              <a:rPr lang="en-US" sz="2000" i="1" dirty="0"/>
              <a:t>E</a:t>
            </a:r>
            <a:r>
              <a:rPr lang="en-US" sz="2000" dirty="0"/>
              <a:t>/</a:t>
            </a:r>
            <a:r>
              <a:rPr lang="en-US" sz="2000" i="1" dirty="0"/>
              <a:t>R</a:t>
            </a:r>
            <a:r>
              <a:rPr lang="en-US" sz="2000" dirty="0"/>
              <a:t>, </a:t>
            </a:r>
            <a:r>
              <a:rPr lang="en-US" sz="2000" i="1" dirty="0"/>
              <a:t>I</a:t>
            </a:r>
            <a:r>
              <a:rPr lang="en-US" sz="2000" dirty="0"/>
              <a:t> = 12∕2, </a:t>
            </a:r>
            <a:r>
              <a:rPr lang="en-US" sz="2000" i="1" dirty="0"/>
              <a:t>I</a:t>
            </a:r>
            <a:r>
              <a:rPr lang="en-US" sz="2000" dirty="0"/>
              <a:t> = 6 amps (total circuit current). When a circuit has more than two legs, the reciprocal formula should be used to determine total circuit resistance. The formula follows:</a:t>
            </a:r>
          </a:p>
        </p:txBody>
      </p:sp>
      <p:sp>
        <p:nvSpPr>
          <p:cNvPr id="7" name="Content Placeholder 6">
            <a:extLst>
              <a:ext uri="{FF2B5EF4-FFF2-40B4-BE49-F238E27FC236}">
                <a16:creationId xmlns:a16="http://schemas.microsoft.com/office/drawing/2014/main" id="{1C4E86F0-CC22-4662-9ED6-33D4A28F750C}"/>
              </a:ext>
            </a:extLst>
          </p:cNvPr>
          <p:cNvSpPr>
            <a:spLocks noGrp="1"/>
          </p:cNvSpPr>
          <p:nvPr>
            <p:ph sz="quarter" idx="12"/>
          </p:nvPr>
        </p:nvSpPr>
        <p:spPr>
          <a:xfrm>
            <a:off x="597789" y="3237813"/>
            <a:ext cx="6854198" cy="2821610"/>
          </a:xfrm>
        </p:spPr>
        <p:txBody>
          <a:bodyPr/>
          <a:lstStyle/>
          <a:p>
            <a:pPr marL="76200" indent="0">
              <a:spcBef>
                <a:spcPts val="624"/>
              </a:spcBef>
              <a:spcAft>
                <a:spcPts val="1200"/>
              </a:spcAft>
              <a:buNone/>
            </a:pPr>
            <a:r>
              <a:rPr lang="en-US" sz="2000" dirty="0"/>
              <a:t>Here is a parallel circuit with four legs. The resistances across each leg are 4 ohms, 3 ohms, 6 ohms, and 4 ohms. Using the reciprocal formula, we will find that the total resistance of the circuit is 1 ohm:</a:t>
            </a:r>
          </a:p>
          <a:p>
            <a:pPr marL="76200" indent="0">
              <a:spcBef>
                <a:spcPts val="624"/>
              </a:spcBef>
              <a:spcAft>
                <a:spcPts val="1200"/>
              </a:spcAft>
              <a:buNone/>
            </a:pPr>
            <a:r>
              <a:rPr lang="en-US" sz="2000" dirty="0"/>
              <a:t>(Note that the total resistance is lower than the leg with the lowest resistance.)</a:t>
            </a:r>
          </a:p>
        </p:txBody>
      </p:sp>
      <p:pic>
        <p:nvPicPr>
          <p:cNvPr id="9" name="Picture 8" descr="An equation depicting the calculation of the total resistance of the circuit is as follows: 1/((1/R_1) + (1/R_2) + (1/R_3) + ... + (1/R_n)).">
            <a:extLst>
              <a:ext uri="{FF2B5EF4-FFF2-40B4-BE49-F238E27FC236}">
                <a16:creationId xmlns:a16="http://schemas.microsoft.com/office/drawing/2014/main" id="{58A5211C-54F3-CABF-D927-23599566C5B4}"/>
              </a:ext>
            </a:extLst>
          </p:cNvPr>
          <p:cNvPicPr>
            <a:picLocks noChangeAspect="1"/>
          </p:cNvPicPr>
          <p:nvPr/>
        </p:nvPicPr>
        <p:blipFill>
          <a:blip r:embed="rId2"/>
          <a:stretch>
            <a:fillRect/>
          </a:stretch>
        </p:blipFill>
        <p:spPr>
          <a:xfrm>
            <a:off x="7804030" y="1673342"/>
            <a:ext cx="3259287" cy="955308"/>
          </a:xfrm>
          <a:prstGeom prst="rect">
            <a:avLst/>
          </a:prstGeom>
        </p:spPr>
      </p:pic>
      <p:pic>
        <p:nvPicPr>
          <p:cNvPr id="10" name="Picture 9" descr="Equations in two lines depicting the calculation of the total resistance of a parallel circuit with four legs are as follows: (line 1). 1/((1/4) + (1/3) + (1/6) + (1/4)) = (line 2). 1/((3/12) + (4/12) + (2/12) + (3/12)) = 1/(12/12) = 1/1 = 1.">
            <a:extLst>
              <a:ext uri="{FF2B5EF4-FFF2-40B4-BE49-F238E27FC236}">
                <a16:creationId xmlns:a16="http://schemas.microsoft.com/office/drawing/2014/main" id="{5D0641D6-1B4B-91CA-6A5F-461B713B7C38}"/>
              </a:ext>
            </a:extLst>
          </p:cNvPr>
          <p:cNvPicPr>
            <a:picLocks noChangeAspect="1"/>
          </p:cNvPicPr>
          <p:nvPr/>
        </p:nvPicPr>
        <p:blipFill>
          <a:blip r:embed="rId3"/>
          <a:stretch>
            <a:fillRect/>
          </a:stretch>
        </p:blipFill>
        <p:spPr>
          <a:xfrm>
            <a:off x="7451987" y="3687772"/>
            <a:ext cx="4199424" cy="2081241"/>
          </a:xfrm>
          <a:prstGeom prst="rect">
            <a:avLst/>
          </a:prstGeom>
        </p:spPr>
      </p:pic>
    </p:spTree>
    <p:extLst>
      <p:ext uri="{BB962C8B-B14F-4D97-AF65-F5344CB8AC3E}">
        <p14:creationId xmlns:p14="http://schemas.microsoft.com/office/powerpoint/2010/main" val="693806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Series-Parallel Circuits (1 of 2)</a:t>
            </a:r>
          </a:p>
        </p:txBody>
      </p:sp>
      <p:sp>
        <p:nvSpPr>
          <p:cNvPr id="4" name="Text Placeholder 3">
            <a:extLst>
              <a:ext uri="{FF2B5EF4-FFF2-40B4-BE49-F238E27FC236}">
                <a16:creationId xmlns:a16="http://schemas.microsoft.com/office/drawing/2014/main" id="{15700ECB-F156-CC61-E845-DD0C5FF23F29}"/>
              </a:ext>
            </a:extLst>
          </p:cNvPr>
          <p:cNvSpPr>
            <a:spLocks noGrp="1"/>
          </p:cNvSpPr>
          <p:nvPr>
            <p:ph type="body" idx="1"/>
          </p:nvPr>
        </p:nvSpPr>
        <p:spPr>
          <a:xfrm>
            <a:off x="476844" y="1471264"/>
            <a:ext cx="7452132" cy="4454047"/>
          </a:xfrm>
        </p:spPr>
        <p:txBody>
          <a:bodyPr/>
          <a:lstStyle/>
          <a:p>
            <a:pPr marL="357188" indent="-357188">
              <a:lnSpc>
                <a:spcPct val="107000"/>
              </a:lnSpc>
            </a:pPr>
            <a:r>
              <a:rPr lang="en-US" sz="2000" dirty="0"/>
              <a:t>In a </a:t>
            </a:r>
            <a:r>
              <a:rPr lang="en-US" sz="2000" b="1" dirty="0"/>
              <a:t>series-parallel</a:t>
            </a:r>
            <a:r>
              <a:rPr lang="en-US" sz="2000" dirty="0"/>
              <a:t> circuit, both series and parallel combinations exist in the same circuit. </a:t>
            </a:r>
          </a:p>
          <a:p>
            <a:pPr marL="357188" indent="-357188">
              <a:lnSpc>
                <a:spcPct val="107000"/>
              </a:lnSpc>
            </a:pPr>
            <a:r>
              <a:rPr lang="en-US" sz="2000" dirty="0"/>
              <a:t>If you are faced with the task of calculating the values in a series-parallel circuit, determine all values of the parallel circuit(s) first. </a:t>
            </a:r>
          </a:p>
          <a:p>
            <a:pPr marL="357188" indent="-357188">
              <a:lnSpc>
                <a:spcPct val="107000"/>
              </a:lnSpc>
            </a:pPr>
            <a:r>
              <a:rPr lang="en-US" sz="2000" dirty="0"/>
              <a:t>By looking carefully at a series-parallel circuit, you will find that it is nothing more than one or more parallel circuits in series with each other or in series with some other resistance. </a:t>
            </a:r>
          </a:p>
          <a:p>
            <a:pPr marL="357188" indent="-357188">
              <a:lnSpc>
                <a:spcPct val="107000"/>
              </a:lnSpc>
            </a:pPr>
            <a:r>
              <a:rPr lang="en-US" sz="2000" dirty="0"/>
              <a:t>A series-parallel circuit is shown. The 6- and 3-ohm resistors are in parallel with each other and together are in series with the 2-ohm resistor.</a:t>
            </a:r>
          </a:p>
        </p:txBody>
      </p:sp>
      <p:pic>
        <p:nvPicPr>
          <p:cNvPr id="9" name="Picture Placeholder 8" descr="A circuit depicts a voltage source of 12 V volt connected in series with a 2-ohm resistor and connected in parallel with a 6-ohm resistor and a 3-ohm resistor. The current flow through the entire circuit is 3 A. The current flow through the 6-ohm resistor is 1 A and through the 3-ohm resistor is 2 A.">
            <a:extLst>
              <a:ext uri="{FF2B5EF4-FFF2-40B4-BE49-F238E27FC236}">
                <a16:creationId xmlns:a16="http://schemas.microsoft.com/office/drawing/2014/main" id="{B5C8A8CA-D5FA-FBAA-5059-D7AC618D625E}"/>
              </a:ext>
            </a:extLst>
          </p:cNvPr>
          <p:cNvPicPr>
            <a:picLocks noGrp="1" noChangeAspect="1"/>
          </p:cNvPicPr>
          <p:nvPr>
            <p:ph type="pic" sz="quarter" idx="10"/>
          </p:nvPr>
        </p:nvPicPr>
        <p:blipFill rotWithShape="1">
          <a:blip r:embed="rId2"/>
          <a:srcRect b="30458"/>
          <a:stretch/>
        </p:blipFill>
        <p:spPr>
          <a:xfrm>
            <a:off x="8025198" y="2680188"/>
            <a:ext cx="3918390" cy="1497624"/>
          </a:xfrm>
          <a:prstGeom prst="rect">
            <a:avLst/>
          </a:prstGeom>
        </p:spPr>
      </p:pic>
    </p:spTree>
    <p:extLst>
      <p:ext uri="{BB962C8B-B14F-4D97-AF65-F5344CB8AC3E}">
        <p14:creationId xmlns:p14="http://schemas.microsoft.com/office/powerpoint/2010/main" val="2906260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Series-Parallel Circuits (2 of 2)</a:t>
            </a:r>
          </a:p>
        </p:txBody>
      </p:sp>
      <p:sp>
        <p:nvSpPr>
          <p:cNvPr id="4" name="Text Placeholder 3">
            <a:extLst>
              <a:ext uri="{FF2B5EF4-FFF2-40B4-BE49-F238E27FC236}">
                <a16:creationId xmlns:a16="http://schemas.microsoft.com/office/drawing/2014/main" id="{B35EC44F-39E8-423C-249E-D5C2C3E3E6B3}"/>
              </a:ext>
            </a:extLst>
          </p:cNvPr>
          <p:cNvSpPr>
            <a:spLocks noGrp="1"/>
          </p:cNvSpPr>
          <p:nvPr>
            <p:ph type="body" idx="1"/>
          </p:nvPr>
        </p:nvSpPr>
        <p:spPr>
          <a:xfrm>
            <a:off x="476843" y="1471265"/>
            <a:ext cx="8081941" cy="4636927"/>
          </a:xfrm>
        </p:spPr>
        <p:txBody>
          <a:bodyPr/>
          <a:lstStyle/>
          <a:p>
            <a:r>
              <a:rPr lang="en-US" sz="2200" dirty="0"/>
              <a:t>The total resistance can be determined as follows:</a:t>
            </a:r>
          </a:p>
          <a:p>
            <a:pPr lvl="1"/>
            <a:r>
              <a:rPr lang="en-US" sz="2000" dirty="0"/>
              <a:t>The 6- and 3-ohm parallel resistors are equivalent to a 2-ohm resistor since (6 × 3)/(6 + 3) = 2.</a:t>
            </a:r>
          </a:p>
          <a:p>
            <a:pPr lvl="1"/>
            <a:r>
              <a:rPr lang="en-US" sz="2000" dirty="0"/>
              <a:t>This equivalent 2-ohm resistor is in series with the other 2-ohm resistor.</a:t>
            </a:r>
          </a:p>
          <a:p>
            <a:pPr lvl="1"/>
            <a:r>
              <a:rPr lang="en-US" sz="2000" dirty="0"/>
              <a:t>To find the total resistance, add the two resistance values together.</a:t>
            </a:r>
          </a:p>
          <a:p>
            <a:pPr lvl="1"/>
            <a:r>
              <a:rPr lang="en-US" sz="2000" dirty="0"/>
              <a:t>This gives a total circuit resistance of 4 ohms (2 + 2 = 4 ohms).</a:t>
            </a:r>
          </a:p>
          <a:p>
            <a:pPr lvl="1"/>
            <a:r>
              <a:rPr lang="en-US" sz="2000" dirty="0"/>
              <a:t>The total current, therefore, is I = 12/4 = 3 amperes.</a:t>
            </a:r>
          </a:p>
          <a:p>
            <a:pPr lvl="1"/>
            <a:r>
              <a:rPr lang="en-US" sz="2000" dirty="0"/>
              <a:t>3 amps are divided between the resistors in parallel proportional to their resistance so 1 amp through the 6 ohm leg and 2 amps through the 3 ohm leg.</a:t>
            </a:r>
          </a:p>
        </p:txBody>
      </p:sp>
      <p:pic>
        <p:nvPicPr>
          <p:cNvPr id="9" name="Picture Placeholder 8" descr="A circuit depicts a voltage source of 12 V volt connected in series with a 2-ohm resistor and connected in parallel with a 6-ohm resistor and a 3-ohm resistor. The current flow through the entire circuit is 3 A. The current flow through the 6-ohm resistor is 1 A and through the 3-ohm resistor is 2 A.">
            <a:extLst>
              <a:ext uri="{FF2B5EF4-FFF2-40B4-BE49-F238E27FC236}">
                <a16:creationId xmlns:a16="http://schemas.microsoft.com/office/drawing/2014/main" id="{4FF2EB4E-FA8B-ACCC-B3EE-B1C82432DA27}"/>
              </a:ext>
            </a:extLst>
          </p:cNvPr>
          <p:cNvPicPr>
            <a:picLocks noGrp="1" noChangeAspect="1"/>
          </p:cNvPicPr>
          <p:nvPr>
            <p:ph type="pic" sz="quarter" idx="10"/>
          </p:nvPr>
        </p:nvPicPr>
        <p:blipFill rotWithShape="1">
          <a:blip r:embed="rId2"/>
          <a:srcRect b="30340"/>
          <a:stretch/>
        </p:blipFill>
        <p:spPr>
          <a:xfrm>
            <a:off x="8351519" y="3093038"/>
            <a:ext cx="3639461" cy="1393379"/>
          </a:xfrm>
          <a:prstGeom prst="rect">
            <a:avLst/>
          </a:prstGeom>
        </p:spPr>
      </p:pic>
    </p:spTree>
    <p:extLst>
      <p:ext uri="{BB962C8B-B14F-4D97-AF65-F5344CB8AC3E}">
        <p14:creationId xmlns:p14="http://schemas.microsoft.com/office/powerpoint/2010/main" val="3138727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 Components (1 of 5)</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marL="0" indent="0">
              <a:buNone/>
            </a:pPr>
            <a:r>
              <a:rPr lang="en-US" sz="1800" b="1" dirty="0"/>
              <a:t>15.06 Identify the various electrical components and their uses in electrical circuits.</a:t>
            </a:r>
          </a:p>
          <a:p>
            <a:r>
              <a:rPr lang="en-US" sz="1800" dirty="0"/>
              <a:t>Most of today’s vehicles operate with basically 12-volt electrical systems.</a:t>
            </a:r>
          </a:p>
          <a:p>
            <a:r>
              <a:rPr lang="en-US" sz="1800" dirty="0"/>
              <a:t>The word basically is used because the battery is rated at 12 volts but stores 12.6 volts, and the charging system puts out about 14 volts while the engine is running.</a:t>
            </a:r>
          </a:p>
          <a:p>
            <a:r>
              <a:rPr lang="en-US" sz="1800" dirty="0"/>
              <a:t>Because the charging system is the primary source of electrical power, it is fair to say that an automobile’s electrical system is a 14-volt system.</a:t>
            </a:r>
          </a:p>
          <a:p>
            <a:r>
              <a:rPr lang="en-US" sz="1800" dirty="0"/>
              <a:t>In 1954, General Motors equipped its Cadillac with a 12-volt system. Prior to 1954, vehicles had 6-volt systems.</a:t>
            </a:r>
          </a:p>
          <a:p>
            <a:r>
              <a:rPr lang="en-US" sz="1800" dirty="0"/>
              <a:t>The electrical demands of accessories, such as power windows and seats, put a severe strain on the 6-volt battery and charging system.</a:t>
            </a:r>
          </a:p>
          <a:p>
            <a:r>
              <a:rPr lang="en-US" sz="1800" dirty="0"/>
              <a:t>With a 12-volt system, the charging system had to work less hard, and there was plenty of electrical power for the electric accessories.</a:t>
            </a:r>
          </a:p>
          <a:p>
            <a:r>
              <a:rPr lang="en-US" sz="1800" dirty="0"/>
              <a:t>The increase in voltage also allowed wire sizes to decrease because the amperage required to power things was reduced.</a:t>
            </a:r>
          </a:p>
        </p:txBody>
      </p:sp>
    </p:spTree>
    <p:extLst>
      <p:ext uri="{BB962C8B-B14F-4D97-AF65-F5344CB8AC3E}">
        <p14:creationId xmlns:p14="http://schemas.microsoft.com/office/powerpoint/2010/main" val="3971261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 Components (2 of 5)</a:t>
            </a:r>
          </a:p>
        </p:txBody>
      </p:sp>
      <p:sp>
        <p:nvSpPr>
          <p:cNvPr id="4" name="Text Placeholder 3">
            <a:extLst>
              <a:ext uri="{FF2B5EF4-FFF2-40B4-BE49-F238E27FC236}">
                <a16:creationId xmlns:a16="http://schemas.microsoft.com/office/drawing/2014/main" id="{22E5FF3E-8306-D169-EA7E-9A3A3A95835B}"/>
              </a:ext>
            </a:extLst>
          </p:cNvPr>
          <p:cNvSpPr>
            <a:spLocks noGrp="1"/>
          </p:cNvSpPr>
          <p:nvPr>
            <p:ph type="body" idx="1"/>
          </p:nvPr>
        </p:nvSpPr>
        <p:spPr>
          <a:xfrm>
            <a:off x="476843" y="1471264"/>
            <a:ext cx="7915838" cy="4490624"/>
          </a:xfrm>
        </p:spPr>
        <p:txBody>
          <a:bodyPr/>
          <a:lstStyle/>
          <a:p>
            <a:pPr marL="342900" indent="-342900">
              <a:lnSpc>
                <a:spcPct val="107000"/>
              </a:lnSpc>
            </a:pPr>
            <a:r>
              <a:rPr lang="en-US" sz="1800" dirty="0"/>
              <a:t>To explain this, consider an accessory that required 20 amps to operate in a 6-volt system (120 watts).</a:t>
            </a:r>
          </a:p>
          <a:p>
            <a:pPr marL="342900" indent="-342900">
              <a:lnSpc>
                <a:spcPct val="107000"/>
              </a:lnSpc>
            </a:pPr>
            <a:r>
              <a:rPr lang="en-US" sz="1800" dirty="0"/>
              <a:t>When the voltage was increased to 12 volts, the system only drew 10 amperes. Increasing system voltage allows wire gauge to decrease as the current-carrying capacity of the wire is reduced.</a:t>
            </a:r>
          </a:p>
          <a:p>
            <a:pPr marL="342900" indent="-342900">
              <a:lnSpc>
                <a:spcPct val="107000"/>
              </a:lnSpc>
            </a:pPr>
            <a:r>
              <a:rPr lang="en-US" sz="1800" dirty="0"/>
              <a:t>One should expect to see manufacturers move to 48-volt systems to keep pace with increased electrical demand while reducing the size of the wiring needed to supply to many accessories.</a:t>
            </a:r>
          </a:p>
          <a:p>
            <a:pPr marL="342900" indent="-342900">
              <a:lnSpc>
                <a:spcPct val="107000"/>
              </a:lnSpc>
            </a:pPr>
            <a:r>
              <a:rPr lang="en-US" sz="1800" dirty="0"/>
              <a:t>To meet these demands, there are two possible solutions: increase the amperage capacity of the battery and charging system or increase system voltage.</a:t>
            </a:r>
          </a:p>
          <a:p>
            <a:pPr marL="342900" indent="-342900">
              <a:lnSpc>
                <a:spcPct val="107000"/>
              </a:lnSpc>
            </a:pPr>
            <a:r>
              <a:rPr lang="en-US" sz="1800" dirty="0"/>
              <a:t>Higher-amperage batteries and generators are only a Band-Aid solution.</a:t>
            </a:r>
            <a:endParaRPr lang="en-US" sz="1400" dirty="0"/>
          </a:p>
        </p:txBody>
      </p:sp>
      <p:pic>
        <p:nvPicPr>
          <p:cNvPr id="9" name="Picture Placeholder 8" descr="Two parts of an illustration. The first part depicts a 6 V battery with a positive and a negative terminal. The positive and negative terminals of the battery are connected to the load (24-watt bulb). The battery is connected in parallel with the load. The current 4 A flows through the entire circuit. The value of load is 1.5 ohm. The second part depicts a 12 V battery with positive and negative terminals. The positive and negative terminal of the battery is connected to load (24-watt bulb). The battery is connected in parallel with the load. The current 2 A flows through the entire circuit. The value of the load is 6 ohm.">
            <a:extLst>
              <a:ext uri="{FF2B5EF4-FFF2-40B4-BE49-F238E27FC236}">
                <a16:creationId xmlns:a16="http://schemas.microsoft.com/office/drawing/2014/main" id="{84C56EF9-FCC0-28FF-0E20-4DC7EF054084}"/>
              </a:ext>
            </a:extLst>
          </p:cNvPr>
          <p:cNvPicPr>
            <a:picLocks noGrp="1" noChangeAspect="1"/>
          </p:cNvPicPr>
          <p:nvPr>
            <p:ph type="pic" sz="quarter" idx="11"/>
          </p:nvPr>
        </p:nvPicPr>
        <p:blipFill>
          <a:blip r:embed="rId2"/>
          <a:srcRect b="12754"/>
          <a:stretch/>
        </p:blipFill>
        <p:spPr>
          <a:xfrm>
            <a:off x="8392681" y="2806459"/>
            <a:ext cx="3287846" cy="1909380"/>
          </a:xfrm>
          <a:prstGeom prst="rect">
            <a:avLst/>
          </a:prstGeom>
        </p:spPr>
      </p:pic>
    </p:spTree>
    <p:extLst>
      <p:ext uri="{BB962C8B-B14F-4D97-AF65-F5344CB8AC3E}">
        <p14:creationId xmlns:p14="http://schemas.microsoft.com/office/powerpoint/2010/main" val="1530095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442B97-3F3E-5498-854B-4E48F3D1D162}"/>
              </a:ext>
            </a:extLst>
          </p:cNvPr>
          <p:cNvSpPr>
            <a:spLocks noGrp="1"/>
          </p:cNvSpPr>
          <p:nvPr>
            <p:ph type="title"/>
          </p:nvPr>
        </p:nvSpPr>
        <p:spPr/>
        <p:txBody>
          <a:bodyPr/>
          <a:lstStyle/>
          <a:p>
            <a:r>
              <a:rPr lang="en-US" dirty="0"/>
              <a:t>Circuit Components (3 of 5)</a:t>
            </a:r>
          </a:p>
        </p:txBody>
      </p:sp>
      <p:sp>
        <p:nvSpPr>
          <p:cNvPr id="5" name="Text Placeholder 4">
            <a:extLst>
              <a:ext uri="{FF2B5EF4-FFF2-40B4-BE49-F238E27FC236}">
                <a16:creationId xmlns:a16="http://schemas.microsoft.com/office/drawing/2014/main" id="{F814814D-60C8-779C-28FA-B2B874467BCC}"/>
              </a:ext>
            </a:extLst>
          </p:cNvPr>
          <p:cNvSpPr>
            <a:spLocks noGrp="1"/>
          </p:cNvSpPr>
          <p:nvPr>
            <p:ph type="body" idx="1"/>
          </p:nvPr>
        </p:nvSpPr>
        <p:spPr>
          <a:xfrm>
            <a:off x="476843" y="1471264"/>
            <a:ext cx="7640023" cy="4685695"/>
          </a:xfrm>
        </p:spPr>
        <p:txBody>
          <a:bodyPr/>
          <a:lstStyle/>
          <a:p>
            <a:r>
              <a:rPr lang="en-US" sz="2400" dirty="0"/>
              <a:t>Loads</a:t>
            </a:r>
          </a:p>
          <a:p>
            <a:pPr lvl="1"/>
            <a:r>
              <a:rPr lang="en-US" sz="2200" dirty="0"/>
              <a:t>Electrical loads can be thought of as energy conversion devices.</a:t>
            </a:r>
          </a:p>
          <a:p>
            <a:pPr lvl="1"/>
            <a:r>
              <a:rPr lang="en-US" sz="2200" dirty="0"/>
              <a:t>Examples of appropriate loads are motors, such as the power window.</a:t>
            </a:r>
          </a:p>
          <a:p>
            <a:pPr lvl="1"/>
            <a:r>
              <a:rPr lang="en-US" sz="2200" dirty="0"/>
              <a:t>Loads can also be unwanted, such as from a poor electrical connection between a wire and a load.</a:t>
            </a:r>
          </a:p>
          <a:p>
            <a:pPr lvl="1"/>
            <a:r>
              <a:rPr lang="en-US" sz="2200" dirty="0"/>
              <a:t>The poor connection becomes a voltage drop and a load, using power that generates heat, sometimes causing damage to the component.</a:t>
            </a:r>
          </a:p>
        </p:txBody>
      </p:sp>
      <p:pic>
        <p:nvPicPr>
          <p:cNvPr id="10" name="Picture Placeholder 9" descr="A connector with two wires, positive and negative, coming out from the other side of the terminal, and one of the terminals is damaged due to a voltage drop.">
            <a:extLst>
              <a:ext uri="{FF2B5EF4-FFF2-40B4-BE49-F238E27FC236}">
                <a16:creationId xmlns:a16="http://schemas.microsoft.com/office/drawing/2014/main" id="{0DBEEDFA-4496-C836-08C9-3AAA95F45996}"/>
              </a:ext>
            </a:extLst>
          </p:cNvPr>
          <p:cNvPicPr>
            <a:picLocks noGrp="1" noChangeAspect="1"/>
          </p:cNvPicPr>
          <p:nvPr>
            <p:ph type="pic" sz="quarter" idx="11"/>
          </p:nvPr>
        </p:nvPicPr>
        <p:blipFill>
          <a:blip r:embed="rId2"/>
          <a:srcRect b="14213"/>
          <a:stretch/>
        </p:blipFill>
        <p:spPr>
          <a:xfrm>
            <a:off x="8267178" y="2590517"/>
            <a:ext cx="3707704" cy="2447188"/>
          </a:xfrm>
          <a:prstGeom prst="rect">
            <a:avLst/>
          </a:prstGeom>
        </p:spPr>
      </p:pic>
    </p:spTree>
    <p:extLst>
      <p:ext uri="{BB962C8B-B14F-4D97-AF65-F5344CB8AC3E}">
        <p14:creationId xmlns:p14="http://schemas.microsoft.com/office/powerpoint/2010/main" val="176057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 Components (4 of 5)</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sz="2200" dirty="0"/>
              <a:t>As shown in the explanation of simple circuit design, resistors are used to limit current flow (and thereby voltage) in circuits where full current flow and voltage are not needed or desired.</a:t>
            </a:r>
          </a:p>
          <a:p>
            <a:r>
              <a:rPr lang="en-US" sz="2200" dirty="0"/>
              <a:t>Resistors are devices specially constructed to add a specific amount of resistance to a circuit.</a:t>
            </a:r>
          </a:p>
          <a:p>
            <a:r>
              <a:rPr lang="en-US" sz="2200" dirty="0"/>
              <a:t>Incandescent lamps are resistors that get so hot that they produce light. Automotive circuits can contain these types of resistors: fixed value, stepped or tapped, and variable.</a:t>
            </a:r>
          </a:p>
          <a:p>
            <a:r>
              <a:rPr lang="en-US" sz="2200" dirty="0"/>
              <a:t>Fixed value resistors are designed to have only one rating, which should not change. </a:t>
            </a:r>
          </a:p>
          <a:p>
            <a:r>
              <a:rPr lang="en-US" sz="2200" b="1" dirty="0"/>
              <a:t>Tapped</a:t>
            </a:r>
            <a:r>
              <a:rPr lang="en-US" sz="2200" dirty="0"/>
              <a:t> or </a:t>
            </a:r>
            <a:r>
              <a:rPr lang="en-US" sz="2200" b="1" dirty="0"/>
              <a:t>stepped</a:t>
            </a:r>
            <a:r>
              <a:rPr lang="en-US" sz="2200" dirty="0"/>
              <a:t> </a:t>
            </a:r>
            <a:r>
              <a:rPr lang="en-US" sz="2200" b="1" dirty="0"/>
              <a:t>resistors</a:t>
            </a:r>
            <a:r>
              <a:rPr lang="en-US" sz="2200" dirty="0"/>
              <a:t> are designed to have two or more fixed values available by connecting wires to the several taps of the resistor.</a:t>
            </a:r>
          </a:p>
        </p:txBody>
      </p:sp>
    </p:spTree>
    <p:extLst>
      <p:ext uri="{BB962C8B-B14F-4D97-AF65-F5344CB8AC3E}">
        <p14:creationId xmlns:p14="http://schemas.microsoft.com/office/powerpoint/2010/main" val="913052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Circuit Components (5 of 5)</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a:xfrm>
            <a:off x="475042" y="1471264"/>
            <a:ext cx="11241915" cy="4613339"/>
          </a:xfrm>
        </p:spPr>
        <p:txBody>
          <a:bodyPr/>
          <a:lstStyle/>
          <a:p>
            <a:r>
              <a:rPr lang="en-US" sz="1800" dirty="0"/>
              <a:t>Heater motor resistor packs, which provide for different fan speeds, are an example of this type of resistor.</a:t>
            </a:r>
          </a:p>
          <a:p>
            <a:r>
              <a:rPr lang="en-US" sz="1800" b="1" dirty="0"/>
              <a:t>Variable resistors </a:t>
            </a:r>
            <a:r>
              <a:rPr lang="en-US" sz="1800" dirty="0"/>
              <a:t>are designed to have a range of resistances available through two or more taps and a control.</a:t>
            </a:r>
          </a:p>
          <a:p>
            <a:r>
              <a:rPr lang="en-US" sz="1800" dirty="0"/>
              <a:t>Two examples of this type of resistor are </a:t>
            </a:r>
            <a:r>
              <a:rPr lang="en-US" sz="1800" b="1" dirty="0"/>
              <a:t>rheostats</a:t>
            </a:r>
            <a:r>
              <a:rPr lang="en-US" sz="1800" dirty="0"/>
              <a:t> and </a:t>
            </a:r>
            <a:r>
              <a:rPr lang="en-US" sz="1800" b="1" dirty="0"/>
              <a:t>potentiometers</a:t>
            </a:r>
            <a:r>
              <a:rPr lang="en-US" sz="1800" dirty="0"/>
              <a:t>.</a:t>
            </a:r>
          </a:p>
          <a:p>
            <a:r>
              <a:rPr lang="en-US" sz="1800" dirty="0"/>
              <a:t>Rheostats have two connections, one to the fixed end of a resistor and one to a sliding contact with the resistor. Moving the control moves the sliding contact away from or toward the fixed end tap, increasing or decreasing the resistance.</a:t>
            </a:r>
          </a:p>
          <a:p>
            <a:r>
              <a:rPr lang="en-US" sz="1800" dirty="0"/>
              <a:t>Potentiometers have three connections, one at each end of the resistance and one connected to a sliding contact with the resistor. Moving the control moves the sliding contact away from one end of the resistance but toward the other end.</a:t>
            </a:r>
          </a:p>
          <a:p>
            <a:r>
              <a:rPr lang="en-US" sz="1800" dirty="0"/>
              <a:t>Another type of variable resistor is the </a:t>
            </a:r>
            <a:r>
              <a:rPr lang="en-US" sz="1800" b="1" dirty="0"/>
              <a:t>thermistor</a:t>
            </a:r>
            <a:r>
              <a:rPr lang="en-US" sz="1800" dirty="0"/>
              <a:t>. This resistor is designed to change its resistance value as its temperature changes. These changes can be read on the temperature gauge. Thermistors are also used to sense temperature and send a signal back to a control unit.</a:t>
            </a:r>
          </a:p>
        </p:txBody>
      </p:sp>
    </p:spTree>
    <p:extLst>
      <p:ext uri="{BB962C8B-B14F-4D97-AF65-F5344CB8AC3E}">
        <p14:creationId xmlns:p14="http://schemas.microsoft.com/office/powerpoint/2010/main" val="3558372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a:t>Knowledge Check (1 of 2)</a:t>
            </a:r>
            <a:endParaRPr lang="en-US" dirty="0"/>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marL="0" indent="0">
              <a:buNone/>
            </a:pPr>
            <a:r>
              <a:rPr lang="en-US" dirty="0"/>
              <a:t>What type of sensor would commonly use a thermistor?</a:t>
            </a:r>
          </a:p>
        </p:txBody>
      </p:sp>
    </p:spTree>
    <p:extLst>
      <p:ext uri="{BB962C8B-B14F-4D97-AF65-F5344CB8AC3E}">
        <p14:creationId xmlns:p14="http://schemas.microsoft.com/office/powerpoint/2010/main" val="3107324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Knowledge </a:t>
            </a:r>
            <a:r>
              <a:rPr lang="en-US"/>
              <a:t>Check Answer (1 of 2)</a:t>
            </a:r>
            <a:endParaRPr lang="en-US" dirty="0"/>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marL="0" indent="0">
              <a:buNone/>
            </a:pPr>
            <a:r>
              <a:rPr lang="en-US" b="1" dirty="0"/>
              <a:t>Answer:</a:t>
            </a:r>
            <a:r>
              <a:rPr lang="en-US" dirty="0"/>
              <a:t> A temperature sensor since its resistance is so closely tied to its temperature. This signal will be sent back to a control unit.</a:t>
            </a:r>
          </a:p>
        </p:txBody>
      </p:sp>
    </p:spTree>
    <p:extLst>
      <p:ext uri="{BB962C8B-B14F-4D97-AF65-F5344CB8AC3E}">
        <p14:creationId xmlns:p14="http://schemas.microsoft.com/office/powerpoint/2010/main" val="1570002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99859-324B-8207-B29B-5CA2F4051096}"/>
              </a:ext>
            </a:extLst>
          </p:cNvPr>
          <p:cNvSpPr>
            <a:spLocks noGrp="1"/>
          </p:cNvSpPr>
          <p:nvPr>
            <p:ph type="title"/>
          </p:nvPr>
        </p:nvSpPr>
        <p:spPr/>
        <p:txBody>
          <a:bodyPr/>
          <a:lstStyle/>
          <a:p>
            <a:r>
              <a:rPr lang="en-US" dirty="0"/>
              <a:t>Circuit Protective Devices</a:t>
            </a:r>
          </a:p>
        </p:txBody>
      </p:sp>
      <p:pic>
        <p:nvPicPr>
          <p:cNvPr id="10" name="Picture Placeholder 9" descr="Three illustrations. The first illustration depicts a fuse. The second illustration depicts a circuit breaker. The third illustration depicts a fusible link.">
            <a:extLst>
              <a:ext uri="{FF2B5EF4-FFF2-40B4-BE49-F238E27FC236}">
                <a16:creationId xmlns:a16="http://schemas.microsoft.com/office/drawing/2014/main" id="{6505AE43-46F5-FE47-EF81-6FB5BAD868C4}"/>
              </a:ext>
            </a:extLst>
          </p:cNvPr>
          <p:cNvPicPr>
            <a:picLocks noGrp="1" noChangeAspect="1"/>
          </p:cNvPicPr>
          <p:nvPr>
            <p:ph type="pic" sz="quarter" idx="10"/>
          </p:nvPr>
        </p:nvPicPr>
        <p:blipFill>
          <a:blip r:embed="rId2"/>
          <a:srcRect b="33083"/>
          <a:stretch/>
        </p:blipFill>
        <p:spPr>
          <a:xfrm>
            <a:off x="693210" y="2875286"/>
            <a:ext cx="4368204" cy="1107428"/>
          </a:xfrm>
          <a:prstGeom prst="rect">
            <a:avLst/>
          </a:prstGeom>
        </p:spPr>
      </p:pic>
      <p:sp>
        <p:nvSpPr>
          <p:cNvPr id="5" name="Text Placeholder 4">
            <a:extLst>
              <a:ext uri="{FF2B5EF4-FFF2-40B4-BE49-F238E27FC236}">
                <a16:creationId xmlns:a16="http://schemas.microsoft.com/office/drawing/2014/main" id="{3F3B2EA8-FEE2-6B70-255F-98FD9FC5BCA4}"/>
              </a:ext>
            </a:extLst>
          </p:cNvPr>
          <p:cNvSpPr>
            <a:spLocks noGrp="1"/>
          </p:cNvSpPr>
          <p:nvPr>
            <p:ph type="body" idx="1"/>
          </p:nvPr>
        </p:nvSpPr>
        <p:spPr>
          <a:xfrm>
            <a:off x="5388864" y="1471264"/>
            <a:ext cx="6230112" cy="4624736"/>
          </a:xfrm>
        </p:spPr>
        <p:txBody>
          <a:bodyPr/>
          <a:lstStyle/>
          <a:p>
            <a:pPr>
              <a:spcAft>
                <a:spcPts val="600"/>
              </a:spcAft>
            </a:pPr>
            <a:r>
              <a:rPr lang="en-US" sz="2400" dirty="0"/>
              <a:t>When overloads or shorts in a circuit cause too much current to flow, the wiring in the circuit heats up, the insulation melts, and a fire can result, unless the circuit has some kind of protective device.</a:t>
            </a:r>
          </a:p>
          <a:p>
            <a:pPr>
              <a:spcAft>
                <a:spcPts val="600"/>
              </a:spcAft>
            </a:pPr>
            <a:r>
              <a:rPr lang="en-US" sz="2400" dirty="0"/>
              <a:t>Fuses, fuse links, maxi-fuses, and circuit breakers are designed to provide protection from high current.</a:t>
            </a:r>
          </a:p>
          <a:p>
            <a:pPr>
              <a:spcAft>
                <a:spcPts val="600"/>
              </a:spcAft>
            </a:pPr>
            <a:r>
              <a:rPr lang="en-US" sz="2400" dirty="0"/>
              <a:t>They may be used singly or in combination.</a:t>
            </a:r>
          </a:p>
        </p:txBody>
      </p:sp>
    </p:spTree>
    <p:extLst>
      <p:ext uri="{BB962C8B-B14F-4D97-AF65-F5344CB8AC3E}">
        <p14:creationId xmlns:p14="http://schemas.microsoft.com/office/powerpoint/2010/main" val="4007161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Fuses</a:t>
            </a:r>
          </a:p>
        </p:txBody>
      </p:sp>
      <p:sp>
        <p:nvSpPr>
          <p:cNvPr id="4" name="Text Placeholder 3">
            <a:extLst>
              <a:ext uri="{FF2B5EF4-FFF2-40B4-BE49-F238E27FC236}">
                <a16:creationId xmlns:a16="http://schemas.microsoft.com/office/drawing/2014/main" id="{06555E1B-084B-C6AE-8B81-7F830FCB5837}"/>
              </a:ext>
            </a:extLst>
          </p:cNvPr>
          <p:cNvSpPr>
            <a:spLocks noGrp="1"/>
          </p:cNvSpPr>
          <p:nvPr>
            <p:ph type="body" idx="1"/>
          </p:nvPr>
        </p:nvSpPr>
        <p:spPr>
          <a:xfrm>
            <a:off x="476843" y="1471265"/>
            <a:ext cx="11129941" cy="2808127"/>
          </a:xfrm>
        </p:spPr>
        <p:txBody>
          <a:bodyPr/>
          <a:lstStyle/>
          <a:p>
            <a:r>
              <a:rPr lang="en-US" sz="2000" dirty="0"/>
              <a:t>Automotive fuses are normally rated for circuits no higher than 24 volts DC, but some may be rated for 42-volt systems.</a:t>
            </a:r>
          </a:p>
          <a:p>
            <a:r>
              <a:rPr lang="en-US" sz="2000" dirty="0"/>
              <a:t>There are three basic types of fuses used in automobiles: cartridge, ceramic, and blade.</a:t>
            </a:r>
          </a:p>
          <a:p>
            <a:r>
              <a:rPr lang="en-US" sz="2000" dirty="0"/>
              <a:t>A cartridge fuse, or glass tube fuse, was commonly used in older domestic vehicles and a few imports.</a:t>
            </a:r>
          </a:p>
          <a:p>
            <a:r>
              <a:rPr lang="en-US" sz="2000" dirty="0"/>
              <a:t>Each fuse has a current rating marked on the top of the fuse. Also, a three-letter code is used to indicate the types and sizes of fuses.</a:t>
            </a:r>
          </a:p>
        </p:txBody>
      </p:sp>
      <p:pic>
        <p:nvPicPr>
          <p:cNvPr id="9" name="Picture Placeholder 8" descr="Six types of common fuses, from left to right are labeled A to F as follows, (A) Glass cartridge, (B) Ceramic, (C) Blade, (D) Mini cartridge, (E) cartridge, (F) low profile cartridge.">
            <a:extLst>
              <a:ext uri="{FF2B5EF4-FFF2-40B4-BE49-F238E27FC236}">
                <a16:creationId xmlns:a16="http://schemas.microsoft.com/office/drawing/2014/main" id="{031E897F-C6D9-6D2B-B4B3-5A1624771B43}"/>
              </a:ext>
            </a:extLst>
          </p:cNvPr>
          <p:cNvPicPr>
            <a:picLocks noGrp="1" noChangeAspect="1"/>
          </p:cNvPicPr>
          <p:nvPr>
            <p:ph type="pic" sz="quarter" idx="10"/>
          </p:nvPr>
        </p:nvPicPr>
        <p:blipFill>
          <a:blip r:embed="rId2"/>
          <a:srcRect b="16337"/>
          <a:stretch/>
        </p:blipFill>
        <p:spPr>
          <a:xfrm>
            <a:off x="4284169" y="4564508"/>
            <a:ext cx="3623661" cy="1415052"/>
          </a:xfrm>
          <a:prstGeom prst="rect">
            <a:avLst/>
          </a:prstGeom>
        </p:spPr>
      </p:pic>
    </p:spTree>
    <p:extLst>
      <p:ext uri="{BB962C8B-B14F-4D97-AF65-F5344CB8AC3E}">
        <p14:creationId xmlns:p14="http://schemas.microsoft.com/office/powerpoint/2010/main" val="3578148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C9642F-31AE-9016-5821-6ED7B232BA5F}"/>
              </a:ext>
            </a:extLst>
          </p:cNvPr>
          <p:cNvSpPr>
            <a:spLocks noGrp="1"/>
          </p:cNvSpPr>
          <p:nvPr>
            <p:ph type="title"/>
          </p:nvPr>
        </p:nvSpPr>
        <p:spPr/>
        <p:txBody>
          <a:bodyPr/>
          <a:lstStyle/>
          <a:p>
            <a:r>
              <a:rPr lang="en-US" dirty="0"/>
              <a:t>Switches (1 of 2)</a:t>
            </a:r>
          </a:p>
        </p:txBody>
      </p:sp>
      <p:sp>
        <p:nvSpPr>
          <p:cNvPr id="5" name="Text Placeholder 4">
            <a:extLst>
              <a:ext uri="{FF2B5EF4-FFF2-40B4-BE49-F238E27FC236}">
                <a16:creationId xmlns:a16="http://schemas.microsoft.com/office/drawing/2014/main" id="{ACEEB44D-A136-9F00-3876-2B7DF608F8C9}"/>
              </a:ext>
            </a:extLst>
          </p:cNvPr>
          <p:cNvSpPr>
            <a:spLocks noGrp="1"/>
          </p:cNvSpPr>
          <p:nvPr>
            <p:ph type="body" idx="1"/>
          </p:nvPr>
        </p:nvSpPr>
        <p:spPr>
          <a:xfrm>
            <a:off x="476843" y="1471264"/>
            <a:ext cx="8479267" cy="4661312"/>
          </a:xfrm>
        </p:spPr>
        <p:txBody>
          <a:bodyPr/>
          <a:lstStyle/>
          <a:p>
            <a:pPr marL="0" indent="0">
              <a:buNone/>
            </a:pPr>
            <a:r>
              <a:rPr lang="en-US" sz="1800" dirty="0"/>
              <a:t>Electrical circuits are usually controlled by some type of switch. </a:t>
            </a:r>
          </a:p>
          <a:p>
            <a:r>
              <a:rPr lang="en-US" sz="1800" dirty="0"/>
              <a:t>Switches do two things:</a:t>
            </a:r>
          </a:p>
          <a:p>
            <a:pPr lvl="1"/>
            <a:r>
              <a:rPr lang="en-US" sz="1600" dirty="0"/>
              <a:t>turn the circuit on or off</a:t>
            </a:r>
          </a:p>
          <a:p>
            <a:pPr lvl="1"/>
            <a:r>
              <a:rPr lang="en-US" sz="1600" dirty="0"/>
              <a:t>direct the flow of current in a circuit</a:t>
            </a:r>
            <a:r>
              <a:rPr lang="en-US" sz="1800" dirty="0"/>
              <a:t>.</a:t>
            </a:r>
          </a:p>
          <a:p>
            <a:r>
              <a:rPr lang="en-US" sz="1800" dirty="0"/>
              <a:t>Switches can be controlled by the driver or can be self-operating through the condition of the circuit, the vehicle, or the environment.</a:t>
            </a:r>
          </a:p>
          <a:p>
            <a:r>
              <a:rPr lang="en-US" sz="1800" dirty="0"/>
              <a:t>A switch is defined by the job they do or the sequence in which they work. A hinged-pawl switch is the simplest type of switch. It either makes (allows for) or breaks (opens) current flow in a single conductor or circuit. This type of switch is a single-pole, single-throw (SPST) switch.</a:t>
            </a:r>
          </a:p>
          <a:p>
            <a:r>
              <a:rPr lang="en-US" sz="1800" dirty="0"/>
              <a:t>The </a:t>
            </a:r>
            <a:r>
              <a:rPr lang="en-US" sz="1800" b="1" dirty="0"/>
              <a:t>throw</a:t>
            </a:r>
            <a:r>
              <a:rPr lang="en-US" sz="1800" dirty="0"/>
              <a:t> refers to the point where current flows from the switch and to the number of output circuits, and the </a:t>
            </a:r>
            <a:r>
              <a:rPr lang="en-US" sz="1800" b="1" dirty="0"/>
              <a:t>pole</a:t>
            </a:r>
            <a:r>
              <a:rPr lang="en-US" sz="1800" dirty="0"/>
              <a:t> refers to the point where current flows into the switch and the number of input circuits made by the switch.</a:t>
            </a:r>
          </a:p>
        </p:txBody>
      </p:sp>
      <p:pic>
        <p:nvPicPr>
          <p:cNvPr id="10" name="Picture Placeholder 9" descr="An illustration depicts S P S T (single pole single throw) momentary contact switch diagram. The power source is supplied to pole of the switch and the throw is connected to load. The following parts are labeled: operation button, spring, and switch.">
            <a:extLst>
              <a:ext uri="{FF2B5EF4-FFF2-40B4-BE49-F238E27FC236}">
                <a16:creationId xmlns:a16="http://schemas.microsoft.com/office/drawing/2014/main" id="{21D421E4-F291-6E37-6978-003886E1393A}"/>
              </a:ext>
            </a:extLst>
          </p:cNvPr>
          <p:cNvPicPr>
            <a:picLocks noGrp="1" noChangeAspect="1"/>
          </p:cNvPicPr>
          <p:nvPr>
            <p:ph type="pic" sz="quarter" idx="10"/>
          </p:nvPr>
        </p:nvPicPr>
        <p:blipFill rotWithShape="1">
          <a:blip r:embed="rId2"/>
          <a:srcRect b="13652"/>
          <a:stretch/>
        </p:blipFill>
        <p:spPr>
          <a:xfrm>
            <a:off x="8904550" y="2790055"/>
            <a:ext cx="3107910" cy="1401802"/>
          </a:xfrm>
          <a:prstGeom prst="rect">
            <a:avLst/>
          </a:prstGeom>
        </p:spPr>
      </p:pic>
    </p:spTree>
    <p:extLst>
      <p:ext uri="{BB962C8B-B14F-4D97-AF65-F5344CB8AC3E}">
        <p14:creationId xmlns:p14="http://schemas.microsoft.com/office/powerpoint/2010/main" val="1542508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F9DC20-9623-1118-DE9D-B556843F4CA8}"/>
              </a:ext>
            </a:extLst>
          </p:cNvPr>
          <p:cNvSpPr>
            <a:spLocks noGrp="1"/>
          </p:cNvSpPr>
          <p:nvPr>
            <p:ph type="title"/>
          </p:nvPr>
        </p:nvSpPr>
        <p:spPr/>
        <p:txBody>
          <a:bodyPr/>
          <a:lstStyle/>
          <a:p>
            <a:r>
              <a:rPr lang="en-US" dirty="0"/>
              <a:t>Switches (2 of 2)</a:t>
            </a:r>
          </a:p>
        </p:txBody>
      </p:sp>
      <p:sp>
        <p:nvSpPr>
          <p:cNvPr id="5" name="Text Placeholder 4">
            <a:extLst>
              <a:ext uri="{FF2B5EF4-FFF2-40B4-BE49-F238E27FC236}">
                <a16:creationId xmlns:a16="http://schemas.microsoft.com/office/drawing/2014/main" id="{5CF2B00F-2C5C-F13C-A44D-20DAD40DFDA7}"/>
              </a:ext>
            </a:extLst>
          </p:cNvPr>
          <p:cNvSpPr>
            <a:spLocks noGrp="1"/>
          </p:cNvSpPr>
          <p:nvPr>
            <p:ph type="body" idx="1"/>
          </p:nvPr>
        </p:nvSpPr>
        <p:spPr>
          <a:xfrm>
            <a:off x="476843" y="1408635"/>
            <a:ext cx="7899061" cy="4661312"/>
          </a:xfrm>
        </p:spPr>
        <p:txBody>
          <a:bodyPr/>
          <a:lstStyle/>
          <a:p>
            <a:pPr>
              <a:spcAft>
                <a:spcPts val="600"/>
              </a:spcAft>
            </a:pPr>
            <a:r>
              <a:rPr lang="en-US" sz="1800" dirty="0"/>
              <a:t>Switches can have a great number of poles and throws.</a:t>
            </a:r>
          </a:p>
          <a:p>
            <a:pPr>
              <a:spcAft>
                <a:spcPts val="600"/>
              </a:spcAft>
            </a:pPr>
            <a:r>
              <a:rPr lang="en-US" sz="1800" dirty="0"/>
              <a:t>The transmission neutral start switch shown has two poles and six throws and is referred to as a </a:t>
            </a:r>
            <a:r>
              <a:rPr lang="en-US" sz="1800" b="1" dirty="0"/>
              <a:t>multiple-pole</a:t>
            </a:r>
            <a:r>
              <a:rPr lang="en-US" sz="1800" dirty="0"/>
              <a:t>,</a:t>
            </a:r>
            <a:r>
              <a:rPr lang="en-US" sz="1800" b="1" dirty="0"/>
              <a:t> multiple-throw (MPMT) switch</a:t>
            </a:r>
            <a:r>
              <a:rPr lang="en-US" sz="1800" dirty="0"/>
              <a:t>.</a:t>
            </a:r>
          </a:p>
          <a:p>
            <a:pPr>
              <a:spcAft>
                <a:spcPts val="600"/>
              </a:spcAft>
            </a:pPr>
            <a:r>
              <a:rPr lang="en-US" sz="1800" dirty="0"/>
              <a:t>It has two movable wipers that move in unison across two sets of terminals. The dotted line shows that the wipers are mechanically linked, or </a:t>
            </a:r>
            <a:r>
              <a:rPr lang="en-US" sz="1800" b="1" dirty="0"/>
              <a:t>ganged</a:t>
            </a:r>
            <a:r>
              <a:rPr lang="en-US" sz="1800" dirty="0"/>
              <a:t>.</a:t>
            </a:r>
          </a:p>
          <a:p>
            <a:pPr>
              <a:spcAft>
                <a:spcPts val="600"/>
              </a:spcAft>
            </a:pPr>
            <a:r>
              <a:rPr lang="en-US" sz="1800" dirty="0"/>
              <a:t>It is important to realize that current flows only through the circuits that are mechanically connected by the switch.</a:t>
            </a:r>
          </a:p>
          <a:p>
            <a:pPr>
              <a:spcAft>
                <a:spcPts val="600"/>
              </a:spcAft>
            </a:pPr>
            <a:r>
              <a:rPr lang="en-US" sz="1800" dirty="0"/>
              <a:t>Most switches are combinations of hinged-pawl and push-pull switches, with different numbers of poles and throws.</a:t>
            </a:r>
          </a:p>
          <a:p>
            <a:pPr>
              <a:spcAft>
                <a:spcPts val="600"/>
              </a:spcAft>
            </a:pPr>
            <a:r>
              <a:rPr lang="en-US" sz="1800" dirty="0"/>
              <a:t>A mercury switch is sometimes used to detect motion in a component, such as the one used in the engine compartment to turn on the compartment light.</a:t>
            </a:r>
          </a:p>
        </p:txBody>
      </p:sp>
      <p:pic>
        <p:nvPicPr>
          <p:cNvPr id="10" name="Picture Placeholder 9" descr="A M P M T (Multiple pole multiple throw) neutral start safety switch. The power from ignition switch start terminal is supplied to one pole of the switch which is further supplied to throws, and then further supplied to the starter relay. The power from the ignition switch run terminal is supplied to the other pole of the switch and further supplied to throws, and then further supplied to back-up light. The following parts are labeled: Ignition switch start terminal, starter relay, ignition switch run terminal, backup light, and T R sensor.">
            <a:extLst>
              <a:ext uri="{FF2B5EF4-FFF2-40B4-BE49-F238E27FC236}">
                <a16:creationId xmlns:a16="http://schemas.microsoft.com/office/drawing/2014/main" id="{98AB1020-CC77-CEDD-2702-69EE2C0D3558}"/>
              </a:ext>
            </a:extLst>
          </p:cNvPr>
          <p:cNvPicPr>
            <a:picLocks noGrp="1" noChangeAspect="1"/>
          </p:cNvPicPr>
          <p:nvPr>
            <p:ph type="pic" sz="quarter" idx="11"/>
          </p:nvPr>
        </p:nvPicPr>
        <p:blipFill>
          <a:blip r:embed="rId2"/>
          <a:srcRect b="12546"/>
          <a:stretch/>
        </p:blipFill>
        <p:spPr>
          <a:xfrm>
            <a:off x="8373173" y="3013654"/>
            <a:ext cx="3501501" cy="1784377"/>
          </a:xfrm>
          <a:prstGeom prst="rect">
            <a:avLst/>
          </a:prstGeom>
        </p:spPr>
      </p:pic>
    </p:spTree>
    <p:extLst>
      <p:ext uri="{BB962C8B-B14F-4D97-AF65-F5344CB8AC3E}">
        <p14:creationId xmlns:p14="http://schemas.microsoft.com/office/powerpoint/2010/main" val="877625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B74E8-64CC-19F4-056B-43728803ACA4}"/>
              </a:ext>
            </a:extLst>
          </p:cNvPr>
          <p:cNvSpPr>
            <a:spLocks noGrp="1"/>
          </p:cNvSpPr>
          <p:nvPr>
            <p:ph type="title"/>
          </p:nvPr>
        </p:nvSpPr>
        <p:spPr/>
        <p:txBody>
          <a:bodyPr/>
          <a:lstStyle/>
          <a:p>
            <a:r>
              <a:rPr lang="en-US" dirty="0"/>
              <a:t>Relays</a:t>
            </a:r>
          </a:p>
        </p:txBody>
      </p:sp>
      <p:pic>
        <p:nvPicPr>
          <p:cNvPr id="10" name="Picture Placeholder 9" descr="The power source fed to an open switch is further connected to one end of the coil around the electromagnet and the other end is grounded. The power source is fed to another magnet that is connected to the second and third magnets. The third magnet is further connected to the load. The forward arrow from the power source indicates the direction of the power supply from the power source to the load.">
            <a:extLst>
              <a:ext uri="{FF2B5EF4-FFF2-40B4-BE49-F238E27FC236}">
                <a16:creationId xmlns:a16="http://schemas.microsoft.com/office/drawing/2014/main" id="{317FB472-6BE2-EB75-CD70-EE89B999B6C9}"/>
              </a:ext>
            </a:extLst>
          </p:cNvPr>
          <p:cNvPicPr>
            <a:picLocks noGrp="1" noChangeAspect="1"/>
          </p:cNvPicPr>
          <p:nvPr>
            <p:ph type="pic" sz="quarter" idx="10"/>
          </p:nvPr>
        </p:nvPicPr>
        <p:blipFill>
          <a:blip r:embed="rId2"/>
          <a:srcRect b="6446"/>
          <a:stretch/>
        </p:blipFill>
        <p:spPr>
          <a:xfrm>
            <a:off x="730774" y="2326544"/>
            <a:ext cx="4124325" cy="2985196"/>
          </a:xfrm>
          <a:prstGeom prst="rect">
            <a:avLst/>
          </a:prstGeom>
        </p:spPr>
      </p:pic>
      <p:sp>
        <p:nvSpPr>
          <p:cNvPr id="5" name="Text Placeholder 4">
            <a:extLst>
              <a:ext uri="{FF2B5EF4-FFF2-40B4-BE49-F238E27FC236}">
                <a16:creationId xmlns:a16="http://schemas.microsoft.com/office/drawing/2014/main" id="{AE1FE59F-DF54-22A8-DE10-C97AB17D2A68}"/>
              </a:ext>
            </a:extLst>
          </p:cNvPr>
          <p:cNvSpPr>
            <a:spLocks noGrp="1"/>
          </p:cNvSpPr>
          <p:nvPr>
            <p:ph type="body" idx="1"/>
          </p:nvPr>
        </p:nvSpPr>
        <p:spPr>
          <a:xfrm>
            <a:off x="5035296" y="1471265"/>
            <a:ext cx="6559296" cy="4612544"/>
          </a:xfrm>
        </p:spPr>
        <p:txBody>
          <a:bodyPr/>
          <a:lstStyle/>
          <a:p>
            <a:pPr marL="0" indent="0">
              <a:buNone/>
            </a:pPr>
            <a:r>
              <a:rPr lang="en-US" sz="2200" dirty="0"/>
              <a:t> A </a:t>
            </a:r>
            <a:r>
              <a:rPr lang="en-US" sz="2200" b="1" dirty="0"/>
              <a:t>relay</a:t>
            </a:r>
            <a:r>
              <a:rPr lang="en-US" sz="2200" dirty="0"/>
              <a:t> is an electric switch that allows a small amount of current to control a high-current circuit.</a:t>
            </a:r>
          </a:p>
          <a:p>
            <a:r>
              <a:rPr lang="en-US" sz="2200" dirty="0"/>
              <a:t>When the control circuit switch is open, no current flows to the coil of the relay, so the windings are de-energized.</a:t>
            </a:r>
          </a:p>
          <a:p>
            <a:r>
              <a:rPr lang="en-US" sz="2200" dirty="0"/>
              <a:t>When the switch is closed, the coil is energized, turning the iron core into an electromagnet and drawing the armature down.</a:t>
            </a:r>
          </a:p>
          <a:p>
            <a:r>
              <a:rPr lang="en-US" sz="2200" dirty="0"/>
              <a:t>This closes the power circuit contacts, connecting power to the load circuit.</a:t>
            </a:r>
          </a:p>
        </p:txBody>
      </p:sp>
    </p:spTree>
    <p:extLst>
      <p:ext uri="{BB962C8B-B14F-4D97-AF65-F5344CB8AC3E}">
        <p14:creationId xmlns:p14="http://schemas.microsoft.com/office/powerpoint/2010/main" val="2735256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Solenoids</a:t>
            </a:r>
          </a:p>
        </p:txBody>
      </p:sp>
      <p:sp>
        <p:nvSpPr>
          <p:cNvPr id="4" name="Text Placeholder 3">
            <a:extLst>
              <a:ext uri="{FF2B5EF4-FFF2-40B4-BE49-F238E27FC236}">
                <a16:creationId xmlns:a16="http://schemas.microsoft.com/office/drawing/2014/main" id="{769628E7-F7FE-FD36-9E48-63C70462445C}"/>
              </a:ext>
            </a:extLst>
          </p:cNvPr>
          <p:cNvSpPr>
            <a:spLocks noGrp="1"/>
          </p:cNvSpPr>
          <p:nvPr>
            <p:ph type="body" idx="1"/>
          </p:nvPr>
        </p:nvSpPr>
        <p:spPr>
          <a:xfrm>
            <a:off x="476844" y="1471264"/>
            <a:ext cx="6349842" cy="4283359"/>
          </a:xfrm>
        </p:spPr>
        <p:txBody>
          <a:bodyPr/>
          <a:lstStyle/>
          <a:p>
            <a:pPr>
              <a:spcAft>
                <a:spcPts val="600"/>
              </a:spcAft>
            </a:pPr>
            <a:r>
              <a:rPr lang="en-US" dirty="0"/>
              <a:t>Solenoids are also electromagnets with movable cores used to change electrical current flow into mechanical movement.</a:t>
            </a:r>
          </a:p>
          <a:p>
            <a:pPr>
              <a:spcAft>
                <a:spcPts val="600"/>
              </a:spcAft>
            </a:pPr>
            <a:r>
              <a:rPr lang="en-US" dirty="0"/>
              <a:t>They are used in a wide variety of systems and can also close contacts, acting as a relay at the same time they mechanically cause something to happen.</a:t>
            </a:r>
          </a:p>
        </p:txBody>
      </p:sp>
      <p:pic>
        <p:nvPicPr>
          <p:cNvPr id="9" name="Picture Placeholder 8" descr="A solenoid with a movable electromagnetic core. Battery feed is fed to the open switch further connected to one end of the coil and the other end of the coil is grounded. The parts labeled are as follows: solenoid coil, movable core, return spring, and its movement.">
            <a:extLst>
              <a:ext uri="{FF2B5EF4-FFF2-40B4-BE49-F238E27FC236}">
                <a16:creationId xmlns:a16="http://schemas.microsoft.com/office/drawing/2014/main" id="{B49E2A05-E77F-EEA4-693A-550A35D68853}"/>
              </a:ext>
            </a:extLst>
          </p:cNvPr>
          <p:cNvPicPr>
            <a:picLocks noGrp="1" noChangeAspect="1"/>
          </p:cNvPicPr>
          <p:nvPr>
            <p:ph type="pic" sz="quarter" idx="10"/>
          </p:nvPr>
        </p:nvPicPr>
        <p:blipFill>
          <a:blip r:embed="rId2"/>
          <a:srcRect b="14895"/>
          <a:stretch/>
        </p:blipFill>
        <p:spPr>
          <a:xfrm>
            <a:off x="7069272" y="1869472"/>
            <a:ext cx="4894263" cy="2918286"/>
          </a:xfrm>
          <a:prstGeom prst="rect">
            <a:avLst/>
          </a:prstGeom>
        </p:spPr>
      </p:pic>
    </p:spTree>
    <p:extLst>
      <p:ext uri="{BB962C8B-B14F-4D97-AF65-F5344CB8AC3E}">
        <p14:creationId xmlns:p14="http://schemas.microsoft.com/office/powerpoint/2010/main" val="3030173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Conductors and Insulators </a:t>
            </a:r>
          </a:p>
        </p:txBody>
      </p:sp>
      <p:sp>
        <p:nvSpPr>
          <p:cNvPr id="4" name="Text Placeholder 3">
            <a:extLst>
              <a:ext uri="{FF2B5EF4-FFF2-40B4-BE49-F238E27FC236}">
                <a16:creationId xmlns:a16="http://schemas.microsoft.com/office/drawing/2014/main" id="{B2E3B8E9-F146-6F1F-3233-31B48356B237}"/>
              </a:ext>
            </a:extLst>
          </p:cNvPr>
          <p:cNvSpPr>
            <a:spLocks noGrp="1"/>
          </p:cNvSpPr>
          <p:nvPr>
            <p:ph type="body" idx="1"/>
          </p:nvPr>
        </p:nvSpPr>
        <p:spPr>
          <a:xfrm>
            <a:off x="476842" y="1471264"/>
            <a:ext cx="7992467" cy="4649120"/>
          </a:xfrm>
        </p:spPr>
        <p:txBody>
          <a:bodyPr/>
          <a:lstStyle/>
          <a:p>
            <a:r>
              <a:rPr lang="en-US" sz="2000" dirty="0"/>
              <a:t>Controlling and routing the flow of electricity requires the use of materials known as conductors and insulators.</a:t>
            </a:r>
          </a:p>
          <a:p>
            <a:r>
              <a:rPr lang="en-US" sz="2000" b="1" dirty="0"/>
              <a:t>Conductors</a:t>
            </a:r>
            <a:r>
              <a:rPr lang="en-US" sz="2000" dirty="0"/>
              <a:t> are materials that have low resistance to current flow. If the number of electrons in the outer shell or ring of an atom is less than 4, the force holding them in place is weak. The voltage needed to move these electrons and create current flow is relatively small. These materials, such as copper, silver, and aluminum, are good conductors.</a:t>
            </a:r>
          </a:p>
          <a:p>
            <a:r>
              <a:rPr lang="en-US" sz="2000" dirty="0"/>
              <a:t>When the number of electrons in the outer ring is greater than 4, the force holding them in orbit is very strong, and very high voltages are needed to move them. These materials are known as </a:t>
            </a:r>
            <a:r>
              <a:rPr lang="en-US" sz="2000" b="1" dirty="0"/>
              <a:t>insulators</a:t>
            </a:r>
            <a:r>
              <a:rPr lang="en-US" sz="2000" dirty="0"/>
              <a:t>. They resist the flow of current.</a:t>
            </a:r>
          </a:p>
        </p:txBody>
      </p:sp>
      <p:pic>
        <p:nvPicPr>
          <p:cNvPr id="9" name="Picture Placeholder 8" descr="An illustration depicts a wire containing two materials as follows: insulating material (inner layer) and conducting material (outer layer).">
            <a:extLst>
              <a:ext uri="{FF2B5EF4-FFF2-40B4-BE49-F238E27FC236}">
                <a16:creationId xmlns:a16="http://schemas.microsoft.com/office/drawing/2014/main" id="{C1F151F8-8AB2-D202-FE60-64246DF435CB}"/>
              </a:ext>
            </a:extLst>
          </p:cNvPr>
          <p:cNvPicPr>
            <a:picLocks noGrp="1" noChangeAspect="1"/>
          </p:cNvPicPr>
          <p:nvPr>
            <p:ph type="pic" sz="quarter" idx="11"/>
          </p:nvPr>
        </p:nvPicPr>
        <p:blipFill>
          <a:blip r:embed="rId2"/>
          <a:srcRect b="19662"/>
          <a:stretch/>
        </p:blipFill>
        <p:spPr>
          <a:xfrm>
            <a:off x="8469308" y="2909163"/>
            <a:ext cx="3518099" cy="1241597"/>
          </a:xfrm>
          <a:prstGeom prst="rect">
            <a:avLst/>
          </a:prstGeom>
        </p:spPr>
      </p:pic>
    </p:spTree>
    <p:extLst>
      <p:ext uri="{BB962C8B-B14F-4D97-AF65-F5344CB8AC3E}">
        <p14:creationId xmlns:p14="http://schemas.microsoft.com/office/powerpoint/2010/main" val="4197185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Wires (1 of 2)</a:t>
            </a:r>
          </a:p>
        </p:txBody>
      </p:sp>
      <p:sp>
        <p:nvSpPr>
          <p:cNvPr id="4" name="Text Placeholder 3">
            <a:extLst>
              <a:ext uri="{FF2B5EF4-FFF2-40B4-BE49-F238E27FC236}">
                <a16:creationId xmlns:a16="http://schemas.microsoft.com/office/drawing/2014/main" id="{034F266C-DE23-CD03-FE61-C8DC9159293F}"/>
              </a:ext>
            </a:extLst>
          </p:cNvPr>
          <p:cNvSpPr>
            <a:spLocks noGrp="1"/>
          </p:cNvSpPr>
          <p:nvPr>
            <p:ph type="body" idx="1"/>
          </p:nvPr>
        </p:nvSpPr>
        <p:spPr>
          <a:xfrm>
            <a:off x="476843" y="1471265"/>
            <a:ext cx="8752501" cy="4649120"/>
          </a:xfrm>
        </p:spPr>
        <p:txBody>
          <a:bodyPr/>
          <a:lstStyle/>
          <a:p>
            <a:pPr marL="354013" indent="-354013">
              <a:lnSpc>
                <a:spcPct val="107000"/>
              </a:lnSpc>
            </a:pPr>
            <a:r>
              <a:rPr lang="en-US" sz="1600" dirty="0"/>
              <a:t>Two basic types of wires are used: solid and stranded.</a:t>
            </a:r>
          </a:p>
          <a:p>
            <a:pPr marL="354013" indent="-354013">
              <a:lnSpc>
                <a:spcPct val="107000"/>
              </a:lnSpc>
            </a:pPr>
            <a:r>
              <a:rPr lang="en-US" sz="1600" dirty="0"/>
              <a:t>Solid wires are single-strand conductors.</a:t>
            </a:r>
          </a:p>
          <a:p>
            <a:pPr marL="354013" indent="-354013">
              <a:lnSpc>
                <a:spcPct val="107000"/>
              </a:lnSpc>
            </a:pPr>
            <a:r>
              <a:rPr lang="en-US" sz="1600" dirty="0"/>
              <a:t>Stranded wires are the most common and are made up of a number of small solid wires twisted together to form a single conductor.</a:t>
            </a:r>
          </a:p>
          <a:p>
            <a:pPr marL="354013" indent="-354013">
              <a:lnSpc>
                <a:spcPct val="107000"/>
              </a:lnSpc>
            </a:pPr>
            <a:r>
              <a:rPr lang="en-US" sz="1600" dirty="0"/>
              <a:t>Wire size standards were established by the Society of Automotive Engineers (SAE).</a:t>
            </a:r>
          </a:p>
          <a:p>
            <a:pPr marL="354013" indent="-354013">
              <a:lnSpc>
                <a:spcPct val="107000"/>
              </a:lnSpc>
            </a:pPr>
            <a:r>
              <a:rPr lang="en-US" sz="1600" dirty="0"/>
              <a:t>These standards are called the </a:t>
            </a:r>
            <a:r>
              <a:rPr lang="en-US" sz="1600" b="1" dirty="0"/>
              <a:t>American wire gauge (AWG) system.</a:t>
            </a:r>
          </a:p>
          <a:p>
            <a:pPr marL="354013" indent="-354013">
              <a:lnSpc>
                <a:spcPct val="107000"/>
              </a:lnSpc>
            </a:pPr>
            <a:r>
              <a:rPr lang="en-US" sz="1600" dirty="0"/>
              <a:t>Sizes are identified by a numbering system ranging from gauge size 0 to 40, with number 0 being the largest and number 40 the smallest in a cross-sectional area.</a:t>
            </a:r>
          </a:p>
          <a:p>
            <a:pPr marL="354013" indent="-354013">
              <a:lnSpc>
                <a:spcPct val="107000"/>
              </a:lnSpc>
            </a:pPr>
            <a:r>
              <a:rPr lang="en-US" sz="1600" dirty="0"/>
              <a:t>Most automotive wiring range from number 10 to 24, with battery cables normally 4 gauge or lower.</a:t>
            </a:r>
          </a:p>
          <a:p>
            <a:pPr marL="354013" indent="-354013">
              <a:lnSpc>
                <a:spcPct val="107000"/>
              </a:lnSpc>
            </a:pPr>
            <a:r>
              <a:rPr lang="en-US" sz="1600" dirty="0"/>
              <a:t>Battery cables must be large gauge wires because of the heavy current they must carry.</a:t>
            </a:r>
          </a:p>
          <a:p>
            <a:pPr marL="354013" indent="-354013">
              <a:lnSpc>
                <a:spcPct val="107000"/>
              </a:lnSpc>
            </a:pPr>
            <a:r>
              <a:rPr lang="en-US" sz="1600" dirty="0"/>
              <a:t>Some manufacturers list wire size in metric sizes.</a:t>
            </a:r>
          </a:p>
        </p:txBody>
      </p:sp>
      <p:pic>
        <p:nvPicPr>
          <p:cNvPr id="9" name="Picture Placeholder 8" descr="A number of small solid copper wires twisted together to form a single stranded wire.">
            <a:extLst>
              <a:ext uri="{FF2B5EF4-FFF2-40B4-BE49-F238E27FC236}">
                <a16:creationId xmlns:a16="http://schemas.microsoft.com/office/drawing/2014/main" id="{3D398618-8E9A-CF74-777F-15EED8CE8CCB}"/>
              </a:ext>
            </a:extLst>
          </p:cNvPr>
          <p:cNvPicPr>
            <a:picLocks noGrp="1" noChangeAspect="1"/>
          </p:cNvPicPr>
          <p:nvPr>
            <p:ph type="pic" sz="quarter" idx="11"/>
          </p:nvPr>
        </p:nvPicPr>
        <p:blipFill>
          <a:blip r:embed="rId2"/>
          <a:srcRect b="6317"/>
          <a:stretch/>
        </p:blipFill>
        <p:spPr>
          <a:xfrm>
            <a:off x="9229344" y="1767108"/>
            <a:ext cx="2695724" cy="3308326"/>
          </a:xfrm>
          <a:prstGeom prst="rect">
            <a:avLst/>
          </a:prstGeom>
        </p:spPr>
      </p:pic>
    </p:spTree>
    <p:extLst>
      <p:ext uri="{BB962C8B-B14F-4D97-AF65-F5344CB8AC3E}">
        <p14:creationId xmlns:p14="http://schemas.microsoft.com/office/powerpoint/2010/main" val="96329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a:t>Knowledge Check (2 of 2) </a:t>
            </a:r>
            <a:endParaRPr lang="en-US" dirty="0"/>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dirty="0"/>
              <a:t>Which wire is larger, a 4 gauge wire, or a 24 gauge wire?</a:t>
            </a:r>
          </a:p>
        </p:txBody>
      </p:sp>
    </p:spTree>
    <p:extLst>
      <p:ext uri="{BB962C8B-B14F-4D97-AF65-F5344CB8AC3E}">
        <p14:creationId xmlns:p14="http://schemas.microsoft.com/office/powerpoint/2010/main" val="4926432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Knowledge Check </a:t>
            </a:r>
            <a:r>
              <a:rPr lang="en-US"/>
              <a:t>Answer (2 of 2)</a:t>
            </a:r>
            <a:endParaRPr lang="en-US" dirty="0"/>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r>
              <a:rPr lang="en-US" dirty="0"/>
              <a:t>4 Gauge wire is much larger than 24.</a:t>
            </a:r>
          </a:p>
        </p:txBody>
      </p:sp>
    </p:spTree>
    <p:extLst>
      <p:ext uri="{BB962C8B-B14F-4D97-AF65-F5344CB8AC3E}">
        <p14:creationId xmlns:p14="http://schemas.microsoft.com/office/powerpoint/2010/main" val="2551024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Wires (2 of 2)</a:t>
            </a:r>
          </a:p>
        </p:txBody>
      </p:sp>
      <p:sp>
        <p:nvSpPr>
          <p:cNvPr id="4" name="Text Placeholder 3">
            <a:extLst>
              <a:ext uri="{FF2B5EF4-FFF2-40B4-BE49-F238E27FC236}">
                <a16:creationId xmlns:a16="http://schemas.microsoft.com/office/drawing/2014/main" id="{399CA258-971B-6283-1F6C-97E17CD3BC9D}"/>
              </a:ext>
            </a:extLst>
          </p:cNvPr>
          <p:cNvSpPr>
            <a:spLocks noGrp="1"/>
          </p:cNvSpPr>
          <p:nvPr>
            <p:ph type="body" idx="1"/>
          </p:nvPr>
        </p:nvSpPr>
        <p:spPr>
          <a:xfrm>
            <a:off x="476843" y="1471265"/>
            <a:ext cx="7838101" cy="4636928"/>
          </a:xfrm>
        </p:spPr>
        <p:txBody>
          <a:bodyPr/>
          <a:lstStyle/>
          <a:p>
            <a:pPr>
              <a:spcAft>
                <a:spcPts val="400"/>
              </a:spcAft>
            </a:pPr>
            <a:r>
              <a:rPr lang="en-US" sz="1800" dirty="0"/>
              <a:t>Many vehicles use flexible printed circuits and printed circuit boards.</a:t>
            </a:r>
          </a:p>
          <a:p>
            <a:pPr>
              <a:spcAft>
                <a:spcPts val="400"/>
              </a:spcAft>
            </a:pPr>
            <a:r>
              <a:rPr lang="en-US" sz="1800" dirty="0"/>
              <a:t>Both types of printed circuits allow for complete circuits without the need to run dozens of wires.</a:t>
            </a:r>
          </a:p>
          <a:p>
            <a:pPr>
              <a:spcAft>
                <a:spcPts val="400"/>
              </a:spcAft>
            </a:pPr>
            <a:r>
              <a:rPr lang="en-US" sz="1800" dirty="0"/>
              <a:t>Printed circuit boards are typically contained in a housing, such as the engine control module.</a:t>
            </a:r>
          </a:p>
          <a:p>
            <a:pPr>
              <a:spcAft>
                <a:spcPts val="400"/>
              </a:spcAft>
            </a:pPr>
            <a:r>
              <a:rPr lang="en-US" sz="1800" dirty="0"/>
              <a:t>These boards are not serviceable and in some cases not visible. When these boards fail, the entire unit is replaced. A flexible printed circuit saves weight and space.</a:t>
            </a:r>
          </a:p>
          <a:p>
            <a:pPr>
              <a:spcAft>
                <a:spcPts val="400"/>
              </a:spcAft>
            </a:pPr>
            <a:r>
              <a:rPr lang="en-US" sz="1800" dirty="0"/>
              <a:t>It is made of thin sheets of nonconductive plastic onto which conductive metal, such as copper, has been deposited.</a:t>
            </a:r>
          </a:p>
          <a:p>
            <a:pPr>
              <a:spcAft>
                <a:spcPts val="400"/>
              </a:spcAft>
            </a:pPr>
            <a:r>
              <a:rPr lang="en-US" sz="1800" dirty="0"/>
              <a:t>Parts of the metal are then etched or eaten away by acid. The remaining metal lines form the conductors for the various circuits on the board.</a:t>
            </a:r>
          </a:p>
        </p:txBody>
      </p:sp>
      <p:pic>
        <p:nvPicPr>
          <p:cNvPr id="9" name="Picture Placeholder 8" descr="A printed circuit board with non-serviceable parts that are miniscule.">
            <a:extLst>
              <a:ext uri="{FF2B5EF4-FFF2-40B4-BE49-F238E27FC236}">
                <a16:creationId xmlns:a16="http://schemas.microsoft.com/office/drawing/2014/main" id="{0DFD3E4D-3E6E-B9A3-14F4-E1757B9B40EA}"/>
              </a:ext>
            </a:extLst>
          </p:cNvPr>
          <p:cNvPicPr>
            <a:picLocks noGrp="1" noChangeAspect="1"/>
          </p:cNvPicPr>
          <p:nvPr>
            <p:ph type="pic" sz="quarter" idx="10"/>
          </p:nvPr>
        </p:nvPicPr>
        <p:blipFill rotWithShape="1">
          <a:blip r:embed="rId2"/>
          <a:srcRect b="12233"/>
          <a:stretch/>
        </p:blipFill>
        <p:spPr>
          <a:xfrm>
            <a:off x="8406306" y="2422928"/>
            <a:ext cx="3450549" cy="2077153"/>
          </a:xfrm>
          <a:prstGeom prst="rect">
            <a:avLst/>
          </a:prstGeom>
        </p:spPr>
      </p:pic>
    </p:spTree>
    <p:extLst>
      <p:ext uri="{BB962C8B-B14F-4D97-AF65-F5344CB8AC3E}">
        <p14:creationId xmlns:p14="http://schemas.microsoft.com/office/powerpoint/2010/main" val="2705641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C7D7-EA1F-59C7-3B94-CADA3A612DF2}"/>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694225AA-E37C-128E-395E-3CAE52216E23}"/>
              </a:ext>
            </a:extLst>
          </p:cNvPr>
          <p:cNvSpPr>
            <a:spLocks noGrp="1"/>
          </p:cNvSpPr>
          <p:nvPr>
            <p:ph type="body" idx="1"/>
          </p:nvPr>
        </p:nvSpPr>
        <p:spPr/>
        <p:txBody>
          <a:bodyPr/>
          <a:lstStyle/>
          <a:p>
            <a:pPr marL="0" indent="0">
              <a:spcAft>
                <a:spcPts val="600"/>
              </a:spcAft>
              <a:buNone/>
            </a:pPr>
            <a:r>
              <a:rPr lang="en-US" dirty="0"/>
              <a:t>Please take a moment to compare your perception of the automotive industry before and after you studied this chapter. Then respond to the following questions in one or two paragraphs. Use 150–200 words in your reflection.</a:t>
            </a:r>
          </a:p>
          <a:p>
            <a:pPr>
              <a:spcAft>
                <a:spcPts val="600"/>
              </a:spcAft>
            </a:pPr>
            <a:r>
              <a:rPr lang="en-US" dirty="0"/>
              <a:t>Did anything in this chapter change your thinking about automotive careers? Describe any of the basic theories and math that interest you most.</a:t>
            </a:r>
          </a:p>
          <a:p>
            <a:pPr>
              <a:spcAft>
                <a:spcPts val="600"/>
              </a:spcAft>
            </a:pPr>
            <a:r>
              <a:rPr lang="en-US" dirty="0"/>
              <a:t>Considering all you have learned, do you feel you are able to apply basic theories and math to automotive specific systems?</a:t>
            </a:r>
          </a:p>
        </p:txBody>
      </p:sp>
    </p:spTree>
    <p:extLst>
      <p:ext uri="{BB962C8B-B14F-4D97-AF65-F5344CB8AC3E}">
        <p14:creationId xmlns:p14="http://schemas.microsoft.com/office/powerpoint/2010/main" val="15472900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4987</TotalTime>
  <Words>5222</Words>
  <Application>Microsoft Office PowerPoint</Application>
  <PresentationFormat>Widescreen</PresentationFormat>
  <Paragraphs>280</Paragraphs>
  <Slides>45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Work Sans</vt:lpstr>
      <vt:lpstr>Arial</vt:lpstr>
      <vt:lpstr>Calibri</vt:lpstr>
      <vt:lpstr>Optimized Template Master</vt:lpstr>
      <vt:lpstr>Automotive Technology: A Systems Approach, 8e</vt:lpstr>
      <vt:lpstr>Chapter Objectives  </vt:lpstr>
      <vt:lpstr>Basics of Electricity (1 of 2)</vt:lpstr>
      <vt:lpstr>Basics of Electricity (2 of 2)</vt:lpstr>
      <vt:lpstr>Electrical Terms (1 of 3)</vt:lpstr>
      <vt:lpstr>Electrical Terms (2 of 3)</vt:lpstr>
      <vt:lpstr>Electrical Terms (3 of 3)</vt:lpstr>
      <vt:lpstr>Alternating Current (AC)</vt:lpstr>
      <vt:lpstr>Circuit Terminology </vt:lpstr>
      <vt:lpstr>Grounding the Load</vt:lpstr>
      <vt:lpstr>Ohm’s Law (1 of 2)</vt:lpstr>
      <vt:lpstr>Ohm’s Law (2 of 2)</vt:lpstr>
      <vt:lpstr>Kirchhoff’s Law</vt:lpstr>
      <vt:lpstr>Voltage Drops</vt:lpstr>
      <vt:lpstr>Power and Watt’s Law</vt:lpstr>
      <vt:lpstr>Discussion</vt:lpstr>
      <vt:lpstr>Circuits</vt:lpstr>
      <vt:lpstr>Series Circuits (1 of 2)</vt:lpstr>
      <vt:lpstr>Series Circuits (2 of 2)</vt:lpstr>
      <vt:lpstr>Parallel Circuits (1 of 5)</vt:lpstr>
      <vt:lpstr>Parallel Circuits (2 of 5)</vt:lpstr>
      <vt:lpstr>Parallel Circuits (3 of 5)</vt:lpstr>
      <vt:lpstr>Parallel Circuits (4 of 5)</vt:lpstr>
      <vt:lpstr>Parallel Circuits (5 of 5)</vt:lpstr>
      <vt:lpstr>Series-Parallel Circuits (1 of 2)</vt:lpstr>
      <vt:lpstr>Series-Parallel Circuits (2 of 2)</vt:lpstr>
      <vt:lpstr>Circuit Components (1 of 5)</vt:lpstr>
      <vt:lpstr>Circuit Components (2 of 5)</vt:lpstr>
      <vt:lpstr>Circuit Components (3 of 5)</vt:lpstr>
      <vt:lpstr>Circuit Components (4 of 5)</vt:lpstr>
      <vt:lpstr>Circuit Components (5 of 5)</vt:lpstr>
      <vt:lpstr>Knowledge Check (1 of 2)</vt:lpstr>
      <vt:lpstr>Knowledge Check Answer (1 of 2)</vt:lpstr>
      <vt:lpstr>Circuit Protective Devices</vt:lpstr>
      <vt:lpstr>Fuses</vt:lpstr>
      <vt:lpstr>Switches (1 of 2)</vt:lpstr>
      <vt:lpstr>Switches (2 of 2)</vt:lpstr>
      <vt:lpstr>Relays</vt:lpstr>
      <vt:lpstr>Solenoids</vt:lpstr>
      <vt:lpstr>Conductors and Insulators </vt:lpstr>
      <vt:lpstr>Wires (1 of 2)</vt:lpstr>
      <vt:lpstr>Knowledge Check (2 of 2) </vt:lpstr>
      <vt:lpstr>Knowledge Check Answer (2 of 2)</vt:lpstr>
      <vt:lpstr>Wires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229</cp:revision>
  <dcterms:created xsi:type="dcterms:W3CDTF">2021-12-10T16:21:02Z</dcterms:created>
  <dcterms:modified xsi:type="dcterms:W3CDTF">2024-10-18T15:01:39Z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