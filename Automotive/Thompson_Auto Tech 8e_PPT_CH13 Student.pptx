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5"/>
  </p:notesMasterIdLst>
  <p:sldIdLst>
    <p:sldId id="256" r:id="rId2"/>
    <p:sldId id="257" r:id="rId3"/>
    <p:sldId id="433" r:id="rId4"/>
    <p:sldId id="461" r:id="rId5"/>
    <p:sldId id="488" r:id="rId6"/>
    <p:sldId id="462" r:id="rId7"/>
    <p:sldId id="463" r:id="rId8"/>
    <p:sldId id="464" r:id="rId9"/>
    <p:sldId id="470" r:id="rId10"/>
    <p:sldId id="489" r:id="rId11"/>
    <p:sldId id="465" r:id="rId12"/>
    <p:sldId id="466" r:id="rId13"/>
    <p:sldId id="490" r:id="rId14"/>
    <p:sldId id="467" r:id="rId15"/>
    <p:sldId id="491" r:id="rId16"/>
    <p:sldId id="468" r:id="rId17"/>
    <p:sldId id="276" r:id="rId18"/>
    <p:sldId id="469" r:id="rId19"/>
    <p:sldId id="471" r:id="rId20"/>
    <p:sldId id="472" r:id="rId21"/>
    <p:sldId id="473" r:id="rId22"/>
    <p:sldId id="284" r:id="rId23"/>
    <p:sldId id="285" r:id="rId24"/>
    <p:sldId id="474" r:id="rId25"/>
    <p:sldId id="475" r:id="rId26"/>
    <p:sldId id="492" r:id="rId27"/>
    <p:sldId id="476" r:id="rId28"/>
    <p:sldId id="477" r:id="rId29"/>
    <p:sldId id="478" r:id="rId30"/>
    <p:sldId id="493" r:id="rId31"/>
    <p:sldId id="480" r:id="rId32"/>
    <p:sldId id="494" r:id="rId33"/>
    <p:sldId id="481" r:id="rId34"/>
    <p:sldId id="482" r:id="rId35"/>
    <p:sldId id="483" r:id="rId36"/>
    <p:sldId id="495" r:id="rId37"/>
    <p:sldId id="484" r:id="rId38"/>
    <p:sldId id="485" r:id="rId39"/>
    <p:sldId id="486" r:id="rId40"/>
    <p:sldId id="487" r:id="rId41"/>
    <p:sldId id="293" r:id="rId42"/>
    <p:sldId id="294" r:id="rId43"/>
    <p:sldId id="301" r:id="rId44"/>
  </p:sldIdLst>
  <p:sldSz cx="12192000" cy="6858000"/>
  <p:notesSz cx="6858000" cy="9144000"/>
  <p:embeddedFontLst>
    <p:embeddedFont>
      <p:font typeface="Work Sans" pitchFamily="2"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0" autoAdjust="0"/>
    <p:restoredTop sz="87050" autoAdjust="0"/>
  </p:normalViewPr>
  <p:slideViewPr>
    <p:cSldViewPr snapToGrid="0">
      <p:cViewPr varScale="1">
        <p:scale>
          <a:sx n="93" d="100"/>
          <a:sy n="93" d="100"/>
        </p:scale>
        <p:origin x="1152"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font" Target="fonts/font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3.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1.fntdata"/><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4.fntdata"/><Relationship Id="rId5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dirty="0">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dirty="0">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dirty="0"/>
          </a:p>
        </p:txBody>
      </p:sp>
    </p:spTree>
    <p:extLst>
      <p:ext uri="{BB962C8B-B14F-4D97-AF65-F5344CB8AC3E}">
        <p14:creationId xmlns:p14="http://schemas.microsoft.com/office/powerpoint/2010/main" val="282937908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dirty="0"/>
          </a:p>
        </p:txBody>
      </p:sp>
    </p:spTree>
    <p:extLst>
      <p:ext uri="{BB962C8B-B14F-4D97-AF65-F5344CB8AC3E}">
        <p14:creationId xmlns:p14="http://schemas.microsoft.com/office/powerpoint/2010/main" val="143862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96162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0845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57081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156945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88856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61049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82425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154975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46133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505480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5207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96521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892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84046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37958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61860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51431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69037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395904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6796150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525274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82904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671928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388233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576116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585424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487453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6136165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5116522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002647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3853608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28968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292398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41</a:t>
            </a:fld>
            <a:endParaRPr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42</a:t>
            </a:fld>
            <a:endParaRPr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43</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0" y="1168663"/>
            <a:ext cx="6104302"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5646420" y="3809720"/>
            <a:ext cx="6104302"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1000"/>
              </a:spcBef>
              <a:spcAft>
                <a:spcPts val="0"/>
              </a:spcAft>
              <a:buSzPts val="3200"/>
              <a:buNone/>
              <a:defRPr sz="32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48"/>
          <p:cNvSpPr>
            <a:spLocks noGrp="1"/>
          </p:cNvSpPr>
          <p:nvPr>
            <p:ph type="pic" idx="2"/>
          </p:nvPr>
        </p:nvSpPr>
        <p:spPr>
          <a:xfrm>
            <a:off x="475250" y="808037"/>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dirty="0">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3" name="Content Placeholder 2">
            <a:extLst>
              <a:ext uri="{FF2B5EF4-FFF2-40B4-BE49-F238E27FC236}">
                <a16:creationId xmlns:a16="http://schemas.microsoft.com/office/drawing/2014/main" id="{47D188A1-A0F8-0D22-0039-CDEAF73FC47F}"/>
              </a:ext>
            </a:extLst>
          </p:cNvPr>
          <p:cNvSpPr>
            <a:spLocks noGrp="1"/>
          </p:cNvSpPr>
          <p:nvPr>
            <p:ph sz="quarter" idx="10"/>
          </p:nvPr>
        </p:nvSpPr>
        <p:spPr>
          <a:xfrm>
            <a:off x="2003425" y="6448425"/>
            <a:ext cx="9207500" cy="250825"/>
          </a:xfrm>
        </p:spPr>
        <p:txBody>
          <a:bodyPr/>
          <a:lstStyle>
            <a:lvl1pPr marL="76200" indent="0">
              <a:lnSpc>
                <a:spcPct val="100000"/>
              </a:lnSpc>
              <a:buNone/>
              <a:defRPr>
                <a:solidFill>
                  <a:schemeClr val="bg1"/>
                </a:solidFill>
              </a:defRPr>
            </a:lvl1pPr>
            <a:lvl2pPr marL="533400" indent="0">
              <a:lnSpc>
                <a:spcPct val="100000"/>
              </a:lnSpc>
              <a:buNone/>
              <a:defRPr>
                <a:solidFill>
                  <a:schemeClr val="bg1"/>
                </a:solidFill>
              </a:defRPr>
            </a:lvl2pPr>
            <a:lvl3pPr marL="1021081" indent="0">
              <a:lnSpc>
                <a:spcPct val="100000"/>
              </a:lnSpc>
              <a:buNone/>
              <a:defRPr>
                <a:solidFill>
                  <a:schemeClr val="bg1"/>
                </a:solidFill>
              </a:defRPr>
            </a:lvl3pPr>
            <a:lvl4pPr marL="1447800" indent="0">
              <a:lnSpc>
                <a:spcPct val="100000"/>
              </a:lnSpc>
              <a:buNone/>
              <a:defRPr>
                <a:solidFill>
                  <a:schemeClr val="bg1"/>
                </a:solidFill>
              </a:defRPr>
            </a:lvl4pPr>
            <a:lvl5pPr marL="1854200" indent="0">
              <a:lnSpc>
                <a:spcPct val="100000"/>
              </a:lnSpc>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5"/>
            <a:ext cx="11241915" cy="1593462"/>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dirty="0"/>
          </a:p>
        </p:txBody>
      </p:sp>
      <p:sp>
        <p:nvSpPr>
          <p:cNvPr id="3" name="Picture Placeholder 2">
            <a:extLst>
              <a:ext uri="{FF2B5EF4-FFF2-40B4-BE49-F238E27FC236}">
                <a16:creationId xmlns:a16="http://schemas.microsoft.com/office/drawing/2014/main" id="{6BF86B17-E784-056C-07CA-F5A8EBF06528}"/>
              </a:ext>
            </a:extLst>
          </p:cNvPr>
          <p:cNvSpPr>
            <a:spLocks noGrp="1"/>
          </p:cNvSpPr>
          <p:nvPr>
            <p:ph type="pic" sz="quarter" idx="10"/>
          </p:nvPr>
        </p:nvSpPr>
        <p:spPr>
          <a:xfrm>
            <a:off x="1935163" y="3551238"/>
            <a:ext cx="914400" cy="914400"/>
          </a:xfrm>
        </p:spPr>
        <p:txBody>
          <a:bodyPr/>
          <a:lstStyle/>
          <a:p>
            <a:endParaRPr lang="en-IN"/>
          </a:p>
        </p:txBody>
      </p:sp>
    </p:spTree>
    <p:extLst>
      <p:ext uri="{BB962C8B-B14F-4D97-AF65-F5344CB8AC3E}">
        <p14:creationId xmlns:p14="http://schemas.microsoft.com/office/powerpoint/2010/main" val="1593282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dirty="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dirty="0">
                <a:solidFill>
                  <a:schemeClr val="lt1"/>
                </a:solidFill>
                <a:latin typeface="Arial"/>
                <a:ea typeface="Arial"/>
                <a:cs typeface="Arial"/>
                <a:sym typeface="Arial"/>
              </a:rPr>
              <a:t>Rob Thompson and Jack Erjavec, Automotive Technology: A Systems Approach, 8</a:t>
            </a:r>
            <a:r>
              <a:rPr lang="en-US" sz="1200" baseline="30000" dirty="0">
                <a:solidFill>
                  <a:schemeClr val="lt1"/>
                </a:solidFill>
                <a:latin typeface="Arial"/>
                <a:ea typeface="Arial"/>
                <a:cs typeface="Arial"/>
                <a:sym typeface="Arial"/>
              </a:rPr>
              <a:t>th</a:t>
            </a:r>
            <a:r>
              <a:rPr lang="en-US" sz="1200" dirty="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86710690-0DC2-8D72-D2E5-F00F5069257C}"/>
              </a:ext>
            </a:extLst>
          </p:cNvPr>
          <p:cNvSpPr txBox="1">
            <a:spLocks/>
          </p:cNvSpPr>
          <p:nvPr userDrawn="1"/>
        </p:nvSpPr>
        <p:spPr>
          <a:xfrm>
            <a:off x="2034247" y="6335411"/>
            <a:ext cx="92075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4"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Arial"/>
              <a:buNone/>
            </a:pPr>
            <a:r>
              <a:rPr lang="en-US" sz="4000" dirty="0">
                <a:latin typeface="Work Sans" pitchFamily="2" charset="0"/>
                <a:ea typeface="Arial"/>
                <a:cs typeface="Arial"/>
                <a:sym typeface="Arial"/>
              </a:rPr>
              <a:t>Automotive Technology: </a:t>
            </a:r>
            <a:br>
              <a:rPr lang="en-US" sz="4000" dirty="0">
                <a:latin typeface="Work Sans" pitchFamily="2" charset="0"/>
                <a:ea typeface="Arial"/>
                <a:cs typeface="Arial"/>
                <a:sym typeface="Arial"/>
              </a:rPr>
            </a:br>
            <a:r>
              <a:rPr lang="en-US" sz="4000" dirty="0">
                <a:latin typeface="Work Sans" pitchFamily="2" charset="0"/>
                <a:ea typeface="Arial"/>
                <a:cs typeface="Arial"/>
                <a:sym typeface="Arial"/>
              </a:rPr>
              <a:t>A Systems Approach</a:t>
            </a:r>
            <a:r>
              <a:rPr lang="en-US" sz="4000">
                <a:latin typeface="Work Sans" pitchFamily="2" charset="0"/>
                <a:ea typeface="Arial"/>
                <a:cs typeface="Arial"/>
                <a:sym typeface="Arial"/>
              </a:rPr>
              <a:t>,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None/>
            </a:pPr>
            <a:r>
              <a:rPr lang="en-US" dirty="0">
                <a:latin typeface="Work Sans" pitchFamily="2" charset="0"/>
                <a:ea typeface="Arial"/>
                <a:cs typeface="Arial"/>
                <a:sym typeface="Arial"/>
              </a:rPr>
              <a:t>Chapter 13: </a:t>
            </a:r>
            <a:r>
              <a:rPr lang="en-US" dirty="0">
                <a:latin typeface="Work Sans" pitchFamily="2" charset="0"/>
              </a:rPr>
              <a:t>Engine Sealing and Reassembly</a:t>
            </a:r>
            <a:endParaRPr lang="en-US" dirty="0">
              <a:latin typeface="Work Sans" pitchFamily="2" charset="0"/>
              <a:ea typeface="Arial"/>
              <a:cs typeface="Arial"/>
              <a:sym typeface="Arial"/>
            </a:endParaRPr>
          </a:p>
        </p:txBody>
      </p:sp>
      <p:sp>
        <p:nvSpPr>
          <p:cNvPr id="9" name="Content Placeholder 4">
            <a:extLst>
              <a:ext uri="{FF2B5EF4-FFF2-40B4-BE49-F238E27FC236}">
                <a16:creationId xmlns:a16="http://schemas.microsoft.com/office/drawing/2014/main" id="{7CBC86A3-A652-2A59-6783-C576953B3B4A}"/>
              </a:ext>
            </a:extLst>
          </p:cNvPr>
          <p:cNvSpPr txBox="1">
            <a:spLocks noGrp="1"/>
          </p:cNvSpPr>
          <p:nvPr>
            <p:ph sz="quarter" idx="10"/>
          </p:nvPr>
        </p:nvSpPr>
        <p:spPr>
          <a:xfrm>
            <a:off x="2034247" y="6335411"/>
            <a:ext cx="9207500"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pic>
        <p:nvPicPr>
          <p:cNvPr id="10"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C46CCEA-D443-0085-90B6-D907E0A09067}"/>
              </a:ext>
            </a:extLst>
          </p:cNvPr>
          <p:cNvPicPr>
            <a:picLocks noGrp="1" noChangeAspect="1"/>
          </p:cNvPicPr>
          <p:nvPr>
            <p:ph type="pic" idx="2"/>
          </p:nvPr>
        </p:nvPicPr>
        <p:blipFill rotWithShape="1">
          <a:blip r:embed="rId3"/>
          <a:stretch/>
        </p:blipFill>
        <p:spPr>
          <a:xfrm>
            <a:off x="611546" y="559298"/>
            <a:ext cx="4381500" cy="56110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13.01 Explain torque as applied to </a:t>
            </a:r>
            <a:r>
              <a:rPr lang="en-US"/>
              <a:t>fasteners.</a:t>
            </a:r>
            <a:endParaRPr lang="en-US" dirty="0"/>
          </a:p>
          <a:p>
            <a:pPr marL="357188" marR="0" lvl="0" indent="-357188" algn="l" rtl="0">
              <a:spcAft>
                <a:spcPts val="600"/>
              </a:spcAft>
              <a:buSzPct val="100000"/>
              <a:buChar char="•"/>
            </a:pPr>
            <a:r>
              <a:rPr lang="en-US" dirty="0"/>
              <a:t>13.02 Explain the purpose of the various gaskets used in an </a:t>
            </a:r>
            <a:r>
              <a:rPr lang="en-US"/>
              <a:t>engine.</a:t>
            </a:r>
            <a:endParaRPr lang="en-US" dirty="0"/>
          </a:p>
          <a:p>
            <a:pPr marL="357188" marR="0" lvl="0" indent="-357188" algn="l" rtl="0">
              <a:spcAft>
                <a:spcPts val="600"/>
              </a:spcAft>
              <a:buSzPct val="100000"/>
              <a:buChar char="•"/>
            </a:pPr>
            <a:r>
              <a:rPr lang="en-US" dirty="0"/>
              <a:t>13.03 Identify the major gasket types and their </a:t>
            </a:r>
            <a:r>
              <a:rPr lang="en-US"/>
              <a:t>uses.</a:t>
            </a:r>
            <a:endParaRPr lang="en-US" dirty="0"/>
          </a:p>
          <a:p>
            <a:pPr marL="357188" marR="0" lvl="0" indent="-357188" algn="l" rtl="0">
              <a:spcAft>
                <a:spcPts val="600"/>
              </a:spcAft>
              <a:buSzPct val="100000"/>
              <a:buChar char="•"/>
            </a:pPr>
            <a:r>
              <a:rPr lang="en-US" dirty="0"/>
              <a:t>13.04 Explain general gasket installation procedures.</a:t>
            </a:r>
          </a:p>
          <a:p>
            <a:pPr marL="357188" marR="0" lvl="0" indent="-357188" algn="l" rtl="0">
              <a:spcAft>
                <a:spcPts val="600"/>
              </a:spcAft>
              <a:buSzPct val="100000"/>
              <a:buChar char="•"/>
            </a:pPr>
            <a:r>
              <a:rPr lang="en-US" dirty="0"/>
              <a:t>13.05 Describe types of adhesives and sealants used in engine repair.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13.06 Explain the construction and types of engine oil seals.</a:t>
            </a:r>
          </a:p>
          <a:p>
            <a:pPr marL="357188" marR="0" lvl="0" indent="-357188" algn="l" rtl="0">
              <a:spcAft>
                <a:spcPts val="600"/>
              </a:spcAft>
              <a:buSzPct val="100000"/>
              <a:buChar char="•"/>
            </a:pPr>
            <a:r>
              <a:rPr lang="en-US" dirty="0"/>
              <a:t>13.07 Reassemble an engine including core plugs, bearings, crankshaft, camshaft, pistons, connecting rods, timing components, cylinder head, valve train components, oil pump, oil pan, and timing </a:t>
            </a:r>
            <a:r>
              <a:rPr lang="en-US"/>
              <a:t>covers.</a:t>
            </a:r>
            <a:endParaRPr lang="en-US" dirty="0"/>
          </a:p>
          <a:p>
            <a:pPr marL="357188" marR="0" lvl="0" indent="-357188" algn="l" rtl="0">
              <a:spcAft>
                <a:spcPts val="600"/>
              </a:spcAft>
              <a:buSzPct val="100000"/>
              <a:buChar char="•"/>
            </a:pPr>
            <a:r>
              <a:rPr lang="en-US" dirty="0"/>
              <a:t>13.08 Reinstall an engine and perform the correct starting and break-in procedures.</a:t>
            </a:r>
          </a:p>
        </p:txBody>
      </p:sp>
    </p:spTree>
    <p:extLst>
      <p:ext uri="{BB962C8B-B14F-4D97-AF65-F5344CB8AC3E}">
        <p14:creationId xmlns:p14="http://schemas.microsoft.com/office/powerpoint/2010/main" val="41415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Torque Principles (1 of 3)</a:t>
            </a:r>
            <a:endParaRPr dirty="0"/>
          </a:p>
        </p:txBody>
      </p:sp>
      <p:sp>
        <p:nvSpPr>
          <p:cNvPr id="145" name="Google Shape;145;p4"/>
          <p:cNvSpPr txBox="1">
            <a:spLocks noGrp="1"/>
          </p:cNvSpPr>
          <p:nvPr>
            <p:ph type="body" idx="1"/>
          </p:nvPr>
        </p:nvSpPr>
        <p:spPr>
          <a:xfrm>
            <a:off x="476844" y="1563625"/>
            <a:ext cx="7811466" cy="4500844"/>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600" dirty="0"/>
              <a:t>All metals are elastic. </a:t>
            </a:r>
            <a:r>
              <a:rPr lang="en-US" sz="1600" b="1" dirty="0"/>
              <a:t>Elasticity</a:t>
            </a:r>
            <a:r>
              <a:rPr lang="en-US" sz="1600" dirty="0"/>
              <a:t> means a bolt can be stretched and compressed up to a certain </a:t>
            </a:r>
            <a:r>
              <a:rPr lang="en-US" sz="1600"/>
              <a:t>point.</a:t>
            </a:r>
            <a:endParaRPr lang="en-US" sz="1600" dirty="0"/>
          </a:p>
          <a:p>
            <a:pPr marL="357188" indent="-357188">
              <a:spcAft>
                <a:spcPts val="600"/>
              </a:spcAft>
              <a:buSzPct val="100000"/>
            </a:pPr>
            <a:r>
              <a:rPr lang="en-US" sz="1600" dirty="0"/>
              <a:t>This elastic, spring-like property is what provides the clamping force when a bolt is threaded into a tapped bore or when a nut is tightened. </a:t>
            </a:r>
          </a:p>
          <a:p>
            <a:pPr marL="357188" indent="-357188">
              <a:spcAft>
                <a:spcPts val="600"/>
              </a:spcAft>
              <a:buSzPct val="100000"/>
            </a:pPr>
            <a:r>
              <a:rPr lang="en-US" sz="1600" dirty="0"/>
              <a:t>As the bolt is tightened, it is stretched a few thousandths of an inch. Clamping force or holding power is created due to the bolt’s natural tendency to return to its original </a:t>
            </a:r>
            <a:r>
              <a:rPr lang="en-US" sz="1600"/>
              <a:t>length.</a:t>
            </a:r>
            <a:endParaRPr lang="en-US" sz="1600" dirty="0"/>
          </a:p>
          <a:p>
            <a:pPr marL="357188" indent="-357188">
              <a:spcAft>
                <a:spcPts val="600"/>
              </a:spcAft>
              <a:buSzPct val="100000"/>
            </a:pPr>
            <a:r>
              <a:rPr lang="en-US" sz="1600" dirty="0"/>
              <a:t>The more a bolt is stretched, the tighter it becomes. However, a bolt can be stretched too far. This is obvious when the grip on the wrench feels “mushy.” At this point, the bolt can no longer safely carry the load it was designed to </a:t>
            </a:r>
            <a:r>
              <a:rPr lang="en-US" sz="1600"/>
              <a:t>support.</a:t>
            </a:r>
            <a:endParaRPr lang="en-US" sz="1600" dirty="0"/>
          </a:p>
          <a:p>
            <a:pPr marL="357188" indent="-357188">
              <a:spcAft>
                <a:spcPts val="600"/>
              </a:spcAft>
              <a:buSzPct val="100000"/>
            </a:pPr>
            <a:r>
              <a:rPr lang="en-US" sz="1600" dirty="0"/>
              <a:t>The term yield represents the maximum amount of stretch a bolt can experience and still provide clamping pressure. If a bolt is stretched into </a:t>
            </a:r>
            <a:r>
              <a:rPr lang="en-US" sz="1600" b="1" dirty="0"/>
              <a:t>yield</a:t>
            </a:r>
            <a:r>
              <a:rPr lang="en-US" sz="1600" dirty="0"/>
              <a:t>, it takes a permanent set and never returns to normal. </a:t>
            </a:r>
          </a:p>
        </p:txBody>
      </p:sp>
      <p:pic>
        <p:nvPicPr>
          <p:cNvPr id="3" name="Picture Placeholder 2" descr="Two bolts are threaded into a tapped bore, causing a bolt stretch illustrated through a spring-like objects, which holds the upper head of the bolt and pushes the thread into the bore. These spring-like objects are also illustrated in between the bore.">
            <a:extLst>
              <a:ext uri="{FF2B5EF4-FFF2-40B4-BE49-F238E27FC236}">
                <a16:creationId xmlns:a16="http://schemas.microsoft.com/office/drawing/2014/main" id="{66308C4C-BA03-D738-C166-0FB017AB3C72}"/>
              </a:ext>
            </a:extLst>
          </p:cNvPr>
          <p:cNvPicPr>
            <a:picLocks noGrp="1" noChangeAspect="1"/>
          </p:cNvPicPr>
          <p:nvPr>
            <p:ph type="pic" sz="quarter" idx="10"/>
          </p:nvPr>
        </p:nvPicPr>
        <p:blipFill rotWithShape="1">
          <a:blip r:embed="rId3"/>
          <a:srcRect b="8431"/>
          <a:stretch/>
        </p:blipFill>
        <p:spPr>
          <a:xfrm>
            <a:off x="8288309" y="2331936"/>
            <a:ext cx="3426848" cy="2712675"/>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Torque Principles (2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600" dirty="0"/>
              <a:t>Visually inspect the bolts.</a:t>
            </a:r>
          </a:p>
          <a:p>
            <a:pPr marL="714375" lvl="1" indent="-357188">
              <a:spcAft>
                <a:spcPts val="600"/>
              </a:spcAft>
              <a:buSzPct val="100000"/>
            </a:pPr>
            <a:r>
              <a:rPr lang="en-US" sz="1400" dirty="0"/>
              <a:t>Threads must be clean and undamaged. Discard all bolts that are not acceptable.</a:t>
            </a:r>
          </a:p>
          <a:p>
            <a:pPr marL="714375" lvl="1" indent="-357188">
              <a:spcAft>
                <a:spcPts val="600"/>
              </a:spcAft>
              <a:buSzPct val="100000"/>
            </a:pPr>
            <a:r>
              <a:rPr lang="en-US" sz="1400" dirty="0"/>
              <a:t>Run a nut over the bolt’s threads by hand. Discard the bolt if any binding occurs. </a:t>
            </a:r>
          </a:p>
          <a:p>
            <a:pPr marL="714375" lvl="1" indent="-357188">
              <a:spcAft>
                <a:spcPts val="600"/>
              </a:spcAft>
              <a:buSzPct val="100000"/>
            </a:pPr>
            <a:r>
              <a:rPr lang="en-US" sz="1400" dirty="0"/>
              <a:t>Clean bolt and internal threads with a thread chaser or tap.</a:t>
            </a:r>
          </a:p>
          <a:p>
            <a:pPr marL="357188" indent="-357188">
              <a:spcAft>
                <a:spcPts val="600"/>
              </a:spcAft>
              <a:buSzPct val="100000"/>
            </a:pPr>
            <a:r>
              <a:rPr lang="en-US" sz="1600" dirty="0"/>
              <a:t>Apply a light coat of 10W engine oil to the threads and bottom face of the bolt head. A sealer is required for a bolt that enters a water jacket. This will stop seepage around the bolt threads. Seeping coolant could get in the oil or cause corrosion that might damage parts, resulting in engine failure. </a:t>
            </a:r>
          </a:p>
          <a:p>
            <a:pPr marL="357188" indent="-357188">
              <a:spcAft>
                <a:spcPts val="600"/>
              </a:spcAft>
              <a:buSzPct val="100000"/>
            </a:pPr>
            <a:r>
              <a:rPr lang="en-US" sz="1600" dirty="0"/>
              <a:t>Tighten bolts with an accurate torque wrench in the recommended sequence. This is important to prevent warpage of the parts. </a:t>
            </a:r>
          </a:p>
          <a:p>
            <a:pPr marL="357188" indent="-357188">
              <a:spcAft>
                <a:spcPts val="600"/>
              </a:spcAft>
              <a:buSzPct val="100000"/>
            </a:pPr>
            <a:r>
              <a:rPr lang="en-US" sz="1600" dirty="0"/>
              <a:t>If bolt heads are not tight against the surface, the bolts should be removed and washers installed. </a:t>
            </a:r>
          </a:p>
          <a:p>
            <a:pPr marL="357188" indent="-357188">
              <a:spcAft>
                <a:spcPts val="600"/>
              </a:spcAft>
              <a:buSzPct val="100000"/>
            </a:pPr>
            <a:r>
              <a:rPr lang="en-US" sz="1600" dirty="0"/>
              <a:t>Make sure the bolt is the proper length. Internal threads often pull up, leaving a raised edge around the bore. If a part has been resurfaced, the threads might run up to the surface. The bolt bores should be tapered at the surface by chamfering and the threads.</a:t>
            </a:r>
          </a:p>
        </p:txBody>
      </p:sp>
    </p:spTree>
    <p:extLst>
      <p:ext uri="{BB962C8B-B14F-4D97-AF65-F5344CB8AC3E}">
        <p14:creationId xmlns:p14="http://schemas.microsoft.com/office/powerpoint/2010/main" val="34638769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Torque Principles (3 of </a:t>
            </a:r>
            <a:r>
              <a:rPr lang="en-US" sz="4000"/>
              <a:t>3)</a:t>
            </a:r>
            <a:endParaRPr dirty="0"/>
          </a:p>
        </p:txBody>
      </p:sp>
      <p:sp>
        <p:nvSpPr>
          <p:cNvPr id="145" name="Google Shape;145;p4"/>
          <p:cNvSpPr txBox="1">
            <a:spLocks noGrp="1"/>
          </p:cNvSpPr>
          <p:nvPr>
            <p:ph type="body" idx="1"/>
          </p:nvPr>
        </p:nvSpPr>
        <p:spPr>
          <a:xfrm>
            <a:off x="476843" y="1563625"/>
            <a:ext cx="6314375" cy="4487854"/>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200" dirty="0"/>
              <a:t>Torque-to-Yield (TTY</a:t>
            </a:r>
            <a:r>
              <a:rPr lang="en-US" sz="2200"/>
              <a:t>) Bolts</a:t>
            </a:r>
            <a:endParaRPr lang="en-US" sz="2200" dirty="0"/>
          </a:p>
          <a:p>
            <a:pPr marL="719138" lvl="1" indent="-358775">
              <a:spcAft>
                <a:spcPts val="600"/>
              </a:spcAft>
              <a:buSzPct val="100000"/>
            </a:pPr>
            <a:r>
              <a:rPr lang="en-US" sz="2000" dirty="0"/>
              <a:t>They are designed to stretch when properly </a:t>
            </a:r>
            <a:r>
              <a:rPr lang="en-US" sz="2000"/>
              <a:t>tightened.</a:t>
            </a:r>
            <a:endParaRPr lang="en-US" sz="2000" dirty="0"/>
          </a:p>
          <a:p>
            <a:pPr marL="719138" lvl="1" indent="-358775">
              <a:spcAft>
                <a:spcPts val="600"/>
              </a:spcAft>
              <a:buSzPct val="100000"/>
            </a:pPr>
            <a:r>
              <a:rPr lang="en-US" sz="2000" dirty="0"/>
              <a:t>They are not ordinary </a:t>
            </a:r>
            <a:r>
              <a:rPr lang="en-US" sz="2000"/>
              <a:t>bolts.</a:t>
            </a:r>
            <a:endParaRPr lang="en-US" sz="2000" dirty="0"/>
          </a:p>
          <a:p>
            <a:pPr marL="719138" lvl="1" indent="-358775">
              <a:spcAft>
                <a:spcPts val="600"/>
              </a:spcAft>
              <a:buSzPct val="100000"/>
            </a:pPr>
            <a:r>
              <a:rPr lang="en-US" sz="2000" dirty="0"/>
              <a:t>The bolt shank is designed to stretch and spring back up to its yield point when </a:t>
            </a:r>
            <a:r>
              <a:rPr lang="en-US" sz="2000"/>
              <a:t>tightened.</a:t>
            </a:r>
            <a:endParaRPr lang="en-US" sz="2000" dirty="0"/>
          </a:p>
          <a:p>
            <a:pPr marL="719138" lvl="1" indent="-358775">
              <a:spcAft>
                <a:spcPts val="600"/>
              </a:spcAft>
              <a:buSzPct val="100000"/>
            </a:pPr>
            <a:r>
              <a:rPr lang="en-US" sz="2000" dirty="0"/>
              <a:t>Once at the yield point, the bolt becomes permanently stretched and will not return to its original </a:t>
            </a:r>
            <a:r>
              <a:rPr lang="en-US" sz="2000"/>
              <a:t>length.</a:t>
            </a:r>
            <a:endParaRPr lang="en-US" sz="1100" dirty="0"/>
          </a:p>
        </p:txBody>
      </p:sp>
      <p:pic>
        <p:nvPicPr>
          <p:cNvPr id="4" name="Picture Placeholder 3" descr="An illustration shows Torque-to-yield (TTY) bolt, and its following parts, diameter percentage are labeled as follows: Shank pilot diameter for location, Yield area, Thread pitch, Torque 35 percentage, Torque 10 percentage and Torque 55 percentage.">
            <a:extLst>
              <a:ext uri="{FF2B5EF4-FFF2-40B4-BE49-F238E27FC236}">
                <a16:creationId xmlns:a16="http://schemas.microsoft.com/office/drawing/2014/main" id="{8F275B8E-D301-0536-2D36-2D4F19E5D871}"/>
              </a:ext>
            </a:extLst>
          </p:cNvPr>
          <p:cNvPicPr>
            <a:picLocks noGrp="1" noChangeAspect="1"/>
          </p:cNvPicPr>
          <p:nvPr>
            <p:ph type="pic" sz="quarter" idx="10"/>
          </p:nvPr>
        </p:nvPicPr>
        <p:blipFill>
          <a:blip r:embed="rId3"/>
          <a:srcRect b="21230"/>
          <a:stretch/>
        </p:blipFill>
        <p:spPr>
          <a:xfrm>
            <a:off x="7095462" y="2327361"/>
            <a:ext cx="4619695" cy="2337106"/>
          </a:xfrm>
          <a:prstGeom prst="rect">
            <a:avLst/>
          </a:prstGeom>
        </p:spPr>
      </p:pic>
    </p:spTree>
    <p:extLst>
      <p:ext uri="{BB962C8B-B14F-4D97-AF65-F5344CB8AC3E}">
        <p14:creationId xmlns:p14="http://schemas.microsoft.com/office/powerpoint/2010/main" val="1944626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Gaskets (</a:t>
            </a:r>
            <a:r>
              <a:rPr lang="en-US" dirty="0"/>
              <a:t>1</a:t>
            </a:r>
            <a:r>
              <a:rPr lang="en-US" sz="4000" dirty="0"/>
              <a:t> of 4)</a:t>
            </a:r>
            <a:endParaRPr dirty="0"/>
          </a:p>
        </p:txBody>
      </p:sp>
      <p:sp>
        <p:nvSpPr>
          <p:cNvPr id="145" name="Google Shape;145;p4"/>
          <p:cNvSpPr txBox="1">
            <a:spLocks noGrp="1"/>
          </p:cNvSpPr>
          <p:nvPr>
            <p:ph type="body" idx="1"/>
          </p:nvPr>
        </p:nvSpPr>
        <p:spPr>
          <a:xfrm>
            <a:off x="476843" y="1563625"/>
            <a:ext cx="5619157" cy="4374838"/>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solidFill>
                  <a:schemeClr val="accent1"/>
                </a:solidFill>
              </a:rPr>
              <a:t>13.03 Identify the major gasket types and their uses.</a:t>
            </a:r>
          </a:p>
          <a:p>
            <a:pPr marL="357188" indent="-357188">
              <a:spcAft>
                <a:spcPts val="600"/>
              </a:spcAft>
              <a:buSzPct val="100000"/>
            </a:pPr>
            <a:r>
              <a:rPr lang="en-US" sz="2000" b="1" dirty="0">
                <a:solidFill>
                  <a:schemeClr val="accent1"/>
                </a:solidFill>
              </a:rPr>
              <a:t>Gaskets</a:t>
            </a:r>
            <a:r>
              <a:rPr lang="en-US" sz="2000" dirty="0">
                <a:solidFill>
                  <a:schemeClr val="accent1"/>
                </a:solidFill>
              </a:rPr>
              <a:t> provide a seal between parts and also serve as spacers, wear insulators, and vibration </a:t>
            </a:r>
            <a:r>
              <a:rPr lang="en-US" sz="2000">
                <a:solidFill>
                  <a:schemeClr val="accent1"/>
                </a:solidFill>
              </a:rPr>
              <a:t>dampers.</a:t>
            </a:r>
            <a:endParaRPr lang="en-US" sz="2000" dirty="0">
              <a:solidFill>
                <a:schemeClr val="accent1"/>
              </a:solidFill>
            </a:endParaRPr>
          </a:p>
          <a:p>
            <a:pPr marL="357188" indent="-357188">
              <a:spcAft>
                <a:spcPts val="600"/>
              </a:spcAft>
              <a:buSzPct val="100000"/>
            </a:pPr>
            <a:r>
              <a:rPr lang="en-US" sz="2000" dirty="0">
                <a:solidFill>
                  <a:schemeClr val="accent1"/>
                </a:solidFill>
              </a:rPr>
              <a:t>Gaskets are only used between two stationary </a:t>
            </a:r>
            <a:r>
              <a:rPr lang="en-US" sz="2000">
                <a:solidFill>
                  <a:schemeClr val="accent1"/>
                </a:solidFill>
              </a:rPr>
              <a:t>parts.</a:t>
            </a:r>
            <a:endParaRPr lang="en-US" sz="2000" dirty="0">
              <a:solidFill>
                <a:schemeClr val="accent1"/>
              </a:solidFill>
            </a:endParaRPr>
          </a:p>
          <a:p>
            <a:pPr marL="357188" indent="-357188">
              <a:spcAft>
                <a:spcPts val="600"/>
              </a:spcAft>
              <a:buSzPct val="100000"/>
            </a:pPr>
            <a:r>
              <a:rPr lang="en-US" sz="2000" dirty="0">
                <a:solidFill>
                  <a:schemeClr val="accent1"/>
                </a:solidFill>
              </a:rPr>
              <a:t>Seals are used if one of the parts moves.</a:t>
            </a:r>
          </a:p>
          <a:p>
            <a:pPr marL="357188" indent="-357188">
              <a:spcAft>
                <a:spcPts val="600"/>
              </a:spcAft>
              <a:buSzPct val="100000"/>
            </a:pPr>
            <a:r>
              <a:rPr lang="en-US" sz="2000" dirty="0">
                <a:solidFill>
                  <a:schemeClr val="accent1"/>
                </a:solidFill>
              </a:rPr>
              <a:t>The material used to make a gasket depends on its application.</a:t>
            </a:r>
          </a:p>
        </p:txBody>
      </p:sp>
      <p:pic>
        <p:nvPicPr>
          <p:cNvPr id="3" name="Picture Placeholder 2" descr="An illustration of an exploded view of a typical engine gasket and seal locations. The parts labeled are as follows: P C V valve grommet, Intake manifold end seal, Cylinder head gasket, Valve cover gasket, Oil pan gasket, Timing cover gasket, Front crankshaft seal, Water pump gasket, Intake manifold gasket, Thermostat housing gasket.">
            <a:extLst>
              <a:ext uri="{FF2B5EF4-FFF2-40B4-BE49-F238E27FC236}">
                <a16:creationId xmlns:a16="http://schemas.microsoft.com/office/drawing/2014/main" id="{F81687AA-E8C8-36D4-C656-55FC7DEEF733}"/>
              </a:ext>
            </a:extLst>
          </p:cNvPr>
          <p:cNvPicPr>
            <a:picLocks noGrp="1" noChangeAspect="1"/>
          </p:cNvPicPr>
          <p:nvPr>
            <p:ph type="pic" sz="quarter" idx="10"/>
          </p:nvPr>
        </p:nvPicPr>
        <p:blipFill>
          <a:blip r:embed="rId3"/>
          <a:srcRect b="3191"/>
          <a:stretch/>
        </p:blipFill>
        <p:spPr>
          <a:xfrm>
            <a:off x="6679723" y="1715488"/>
            <a:ext cx="4425696" cy="4120233"/>
          </a:xfrm>
          <a:prstGeom prst="rect">
            <a:avLst/>
          </a:prstGeom>
        </p:spPr>
      </p:pic>
    </p:spTree>
    <p:extLst>
      <p:ext uri="{BB962C8B-B14F-4D97-AF65-F5344CB8AC3E}">
        <p14:creationId xmlns:p14="http://schemas.microsoft.com/office/powerpoint/2010/main" val="3102655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Gaskets (</a:t>
            </a:r>
            <a:r>
              <a:rPr lang="en-US" dirty="0"/>
              <a:t>2</a:t>
            </a:r>
            <a:r>
              <a:rPr lang="en-US" sz="4000" dirty="0"/>
              <a:t> of </a:t>
            </a:r>
            <a:r>
              <a:rPr lang="en-US" sz="4000"/>
              <a:t>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400"/>
              <a:t>Cut Gaskets</a:t>
            </a:r>
            <a:endParaRPr lang="en-US" sz="2400" dirty="0"/>
          </a:p>
          <a:p>
            <a:pPr marL="719138" lvl="1" indent="-358775">
              <a:spcAft>
                <a:spcPts val="600"/>
              </a:spcAft>
              <a:buSzPct val="100000"/>
            </a:pPr>
            <a:r>
              <a:rPr lang="en-US" sz="2200" dirty="0"/>
              <a:t>They are gaskets made of paper, fiber, and cork.</a:t>
            </a:r>
          </a:p>
          <a:p>
            <a:pPr marL="357188" indent="-357188">
              <a:spcAft>
                <a:spcPts val="600"/>
              </a:spcAft>
              <a:buSzPct val="100000"/>
            </a:pPr>
            <a:r>
              <a:rPr lang="en-US" sz="2400" dirty="0"/>
              <a:t>Molded </a:t>
            </a:r>
            <a:r>
              <a:rPr lang="en-US" sz="2400"/>
              <a:t>Rubber Gaskets</a:t>
            </a:r>
            <a:endParaRPr lang="en-US" sz="2400" dirty="0"/>
          </a:p>
          <a:p>
            <a:pPr marL="719138" lvl="1" indent="-358775">
              <a:spcAft>
                <a:spcPts val="600"/>
              </a:spcAft>
              <a:buSzPct val="100000"/>
            </a:pPr>
            <a:r>
              <a:rPr lang="en-US" sz="2200" dirty="0"/>
              <a:t>These gaskets are made by injecting synthetic rubber (neoprene, nitrile, silicone, or other similar material) into a mold to form one-piece gaskets. Molded gaskets retain their flexibility and are </a:t>
            </a:r>
            <a:r>
              <a:rPr lang="en-US" sz="2200"/>
              <a:t>durable.</a:t>
            </a:r>
            <a:endParaRPr lang="en-US" sz="2300" dirty="0"/>
          </a:p>
          <a:p>
            <a:pPr marL="357188" indent="-357188">
              <a:spcAft>
                <a:spcPts val="600"/>
              </a:spcAft>
              <a:buSzPct val="100000"/>
            </a:pPr>
            <a:r>
              <a:rPr lang="en-US" sz="2400"/>
              <a:t>Hard Gaskets</a:t>
            </a:r>
            <a:endParaRPr lang="en-US" sz="2400" dirty="0"/>
          </a:p>
          <a:p>
            <a:pPr marL="719138" lvl="1" indent="-358775">
              <a:spcAft>
                <a:spcPts val="600"/>
              </a:spcAft>
              <a:buSzPct val="100000"/>
            </a:pPr>
            <a:r>
              <a:rPr lang="en-US" sz="2200" dirty="0"/>
              <a:t>Hard gaskets are made from steel, stainless steel, copper, or a combination of metals and other materials. Often the metal is enclosed by a compressible and heat-resistant clay/fiber or Teflon® compound. </a:t>
            </a:r>
          </a:p>
        </p:txBody>
      </p:sp>
    </p:spTree>
    <p:extLst>
      <p:ext uri="{BB962C8B-B14F-4D97-AF65-F5344CB8AC3E}">
        <p14:creationId xmlns:p14="http://schemas.microsoft.com/office/powerpoint/2010/main" val="4233181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Gaskets (3 of 4)</a:t>
            </a:r>
            <a:endParaRPr dirty="0"/>
          </a:p>
        </p:txBody>
      </p:sp>
      <p:sp>
        <p:nvSpPr>
          <p:cNvPr id="145" name="Google Shape;145;p4"/>
          <p:cNvSpPr txBox="1">
            <a:spLocks noGrp="1"/>
          </p:cNvSpPr>
          <p:nvPr>
            <p:ph type="body" idx="1"/>
          </p:nvPr>
        </p:nvSpPr>
        <p:spPr>
          <a:xfrm>
            <a:off x="476844" y="1563625"/>
            <a:ext cx="6673970" cy="4539224"/>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400" b="1" dirty="0">
                <a:solidFill>
                  <a:schemeClr val="accent1"/>
                </a:solidFill>
              </a:rPr>
              <a:t>13.04 Explain general gasket installation procedures.</a:t>
            </a:r>
          </a:p>
          <a:p>
            <a:pPr marL="357188" indent="-357188">
              <a:spcAft>
                <a:spcPts val="600"/>
              </a:spcAft>
              <a:buSzPct val="100000"/>
            </a:pPr>
            <a:r>
              <a:rPr lang="en-US" sz="2400" dirty="0">
                <a:solidFill>
                  <a:schemeClr val="accent1"/>
                </a:solidFill>
              </a:rPr>
              <a:t>The following instructions will serve as a helpful guide for installing </a:t>
            </a:r>
            <a:r>
              <a:rPr lang="en-US" sz="2400">
                <a:solidFill>
                  <a:schemeClr val="accent1"/>
                </a:solidFill>
              </a:rPr>
              <a:t>gaskets.</a:t>
            </a:r>
            <a:endParaRPr lang="en-US" sz="2400" dirty="0">
              <a:solidFill>
                <a:schemeClr val="accent1"/>
              </a:solidFill>
            </a:endParaRPr>
          </a:p>
          <a:p>
            <a:pPr marL="357188" indent="-357188">
              <a:spcAft>
                <a:spcPts val="600"/>
              </a:spcAft>
              <a:buSzPct val="100000"/>
            </a:pPr>
            <a:r>
              <a:rPr lang="en-US" sz="2400" dirty="0">
                <a:solidFill>
                  <a:schemeClr val="accent1"/>
                </a:solidFill>
              </a:rPr>
              <a:t>Because there are many different gasket materials and designs, it is impossible to list directions for every type of </a:t>
            </a:r>
            <a:r>
              <a:rPr lang="en-US" sz="2400">
                <a:solidFill>
                  <a:schemeClr val="accent1"/>
                </a:solidFill>
              </a:rPr>
              <a:t>installation.</a:t>
            </a:r>
            <a:endParaRPr lang="en-US" sz="2400" dirty="0">
              <a:solidFill>
                <a:schemeClr val="accent1"/>
              </a:solidFill>
            </a:endParaRPr>
          </a:p>
          <a:p>
            <a:pPr marL="357188" indent="-357188">
              <a:spcAft>
                <a:spcPts val="600"/>
              </a:spcAft>
              <a:buSzPct val="100000"/>
            </a:pPr>
            <a:r>
              <a:rPr lang="en-US" sz="2400" dirty="0">
                <a:solidFill>
                  <a:schemeClr val="accent1"/>
                </a:solidFill>
              </a:rPr>
              <a:t>Always follow any special directions provided in the instructions packed with the gasket </a:t>
            </a:r>
            <a:r>
              <a:rPr lang="en-US" sz="2400">
                <a:solidFill>
                  <a:schemeClr val="accent1"/>
                </a:solidFill>
              </a:rPr>
              <a:t>sets.</a:t>
            </a:r>
            <a:endParaRPr lang="en-US" sz="2400" dirty="0">
              <a:solidFill>
                <a:schemeClr val="accent1"/>
              </a:solidFill>
            </a:endParaRPr>
          </a:p>
        </p:txBody>
      </p:sp>
      <p:pic>
        <p:nvPicPr>
          <p:cNvPr id="4" name="Picture Placeholder 3" descr="A gasket with an installation direction stamped at its top left which reads, Front.">
            <a:extLst>
              <a:ext uri="{FF2B5EF4-FFF2-40B4-BE49-F238E27FC236}">
                <a16:creationId xmlns:a16="http://schemas.microsoft.com/office/drawing/2014/main" id="{274952A1-664E-07BC-7D02-3AAFC78A9382}"/>
              </a:ext>
            </a:extLst>
          </p:cNvPr>
          <p:cNvPicPr>
            <a:picLocks noGrp="1" noChangeAspect="1"/>
          </p:cNvPicPr>
          <p:nvPr>
            <p:ph type="pic" sz="quarter" idx="10"/>
          </p:nvPr>
        </p:nvPicPr>
        <p:blipFill>
          <a:blip r:embed="rId3"/>
          <a:srcRect b="12630"/>
          <a:stretch/>
        </p:blipFill>
        <p:spPr>
          <a:xfrm>
            <a:off x="7289461" y="2186525"/>
            <a:ext cx="4425696" cy="3022473"/>
          </a:xfrm>
          <a:prstGeom prst="rect">
            <a:avLst/>
          </a:prstGeom>
        </p:spPr>
      </p:pic>
    </p:spTree>
    <p:extLst>
      <p:ext uri="{BB962C8B-B14F-4D97-AF65-F5344CB8AC3E}">
        <p14:creationId xmlns:p14="http://schemas.microsoft.com/office/powerpoint/2010/main" val="2012486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Gaskets (4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300"/>
              </a:spcAft>
              <a:buSzPct val="100000"/>
            </a:pPr>
            <a:r>
              <a:rPr lang="en-US" sz="1800" dirty="0">
                <a:solidFill>
                  <a:schemeClr val="accent1"/>
                </a:solidFill>
              </a:rPr>
              <a:t>Never reuse old gaskets.</a:t>
            </a:r>
          </a:p>
          <a:p>
            <a:pPr marL="357188" indent="-357188">
              <a:spcAft>
                <a:spcPts val="300"/>
              </a:spcAft>
              <a:buSzPct val="100000"/>
            </a:pPr>
            <a:r>
              <a:rPr lang="en-US" sz="1800" dirty="0">
                <a:solidFill>
                  <a:schemeClr val="accent1"/>
                </a:solidFill>
              </a:rPr>
              <a:t>Make sure you are installing the latest gasket part number. Sometimes, gasket designs are revised and improved to correct pattern failures.</a:t>
            </a:r>
          </a:p>
          <a:p>
            <a:pPr marL="357188" indent="-357188">
              <a:spcAft>
                <a:spcPts val="300"/>
              </a:spcAft>
              <a:buSzPct val="100000"/>
            </a:pPr>
            <a:r>
              <a:rPr lang="en-US" sz="1800" dirty="0">
                <a:solidFill>
                  <a:schemeClr val="accent1"/>
                </a:solidFill>
              </a:rPr>
              <a:t>Handle new gaskets carefully.</a:t>
            </a:r>
          </a:p>
          <a:p>
            <a:pPr marL="357188" indent="-357188">
              <a:spcAft>
                <a:spcPts val="300"/>
              </a:spcAft>
              <a:buSzPct val="100000"/>
            </a:pPr>
            <a:r>
              <a:rPr lang="en-US" sz="1800" dirty="0">
                <a:solidFill>
                  <a:schemeClr val="accent1"/>
                </a:solidFill>
              </a:rPr>
              <a:t>Cleanliness is essential. New gaskets seal best when used on clean surfaces.</a:t>
            </a:r>
          </a:p>
          <a:p>
            <a:pPr marL="357188" indent="-357188">
              <a:spcAft>
                <a:spcPts val="300"/>
              </a:spcAft>
              <a:buSzPct val="100000"/>
            </a:pPr>
            <a:r>
              <a:rPr lang="en-US" sz="1800" dirty="0">
                <a:solidFill>
                  <a:schemeClr val="accent1"/>
                </a:solidFill>
              </a:rPr>
              <a:t>Use the right gasket in the right position. Always compare the new gasket to the mating surfaces to make sure it is the right gasket. Check that all bolt holes, dowel holes, coolant, and lubrication passages line up perfectly with the gasket. Some gaskets have directions such as “top,” “front,” or “this side up” stamped on one surface. Use sealants and adhesives only when the engine or gasket manufacturer recommends their use. Some chemicals will react negatively with the gasket’s coating.</a:t>
            </a:r>
          </a:p>
          <a:p>
            <a:pPr marL="357188" indent="-357188">
              <a:spcAft>
                <a:spcPts val="300"/>
              </a:spcAft>
              <a:buSzPct val="100000"/>
            </a:pPr>
            <a:r>
              <a:rPr lang="en-US" sz="1800" dirty="0">
                <a:solidFill>
                  <a:schemeClr val="accent1"/>
                </a:solidFill>
              </a:rPr>
              <a:t>Always start each bolt into its hole before you begin to tighten any of the bolts. Tightening bolts before all bolts are installed will cause component misalignment and prevent some bolts from threading into their holes.</a:t>
            </a:r>
          </a:p>
        </p:txBody>
      </p:sp>
    </p:spTree>
    <p:extLst>
      <p:ext uri="{BB962C8B-B14F-4D97-AF65-F5344CB8AC3E}">
        <p14:creationId xmlns:p14="http://schemas.microsoft.com/office/powerpoint/2010/main" val="551939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Head Gaskets (1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Cylinder head gaskets seal the cylinder head to the block.</a:t>
            </a:r>
            <a:endParaRPr lang="en-US" sz="2000" dirty="0"/>
          </a:p>
          <a:p>
            <a:pPr marL="719138" lvl="1" indent="-358775">
              <a:spcAft>
                <a:spcPts val="600"/>
              </a:spcAft>
              <a:buSzPct val="100000"/>
            </a:pPr>
            <a:r>
              <a:rPr lang="en-US" sz="1600" dirty="0"/>
              <a:t>The head gasket has a very demanding job. It must seal the combustion chambers and the coolant and oil passages between the head and the block. The oil and coolant are low-temperature and low-pressure fluids. The gasket must prevent leakage inside and outside the engine. It must be able to do this while sustaining wide temperature ranges and pressures inside each cylinder.</a:t>
            </a:r>
            <a:endParaRPr lang="en-US" sz="2000" dirty="0"/>
          </a:p>
          <a:p>
            <a:pPr marL="357188" indent="-357188">
              <a:spcAft>
                <a:spcPts val="600"/>
              </a:spcAft>
              <a:buSzPct val="100000"/>
            </a:pPr>
            <a:r>
              <a:rPr lang="en-US" sz="1800" dirty="0"/>
              <a:t>Cylinder head gaskets must simultaneously do the following:</a:t>
            </a:r>
          </a:p>
          <a:p>
            <a:pPr marL="719138" lvl="1" indent="-358775">
              <a:spcAft>
                <a:spcPts val="600"/>
              </a:spcAft>
              <a:buSzPct val="100000"/>
            </a:pPr>
            <a:r>
              <a:rPr lang="en-US" sz="1600" dirty="0"/>
              <a:t>Seal intake stroke vacuum, combustion pressure, and the heat of combustion.</a:t>
            </a:r>
          </a:p>
          <a:p>
            <a:pPr marL="719138" lvl="1" indent="-358775">
              <a:spcAft>
                <a:spcPts val="600"/>
              </a:spcAft>
              <a:buSzPct val="100000"/>
            </a:pPr>
            <a:r>
              <a:rPr lang="en-US" sz="1600" dirty="0"/>
              <a:t>Prevent coolant leakage and resist rust, corrosion, and, in many cases, meter coolant flow.</a:t>
            </a:r>
          </a:p>
          <a:p>
            <a:pPr marL="719138" lvl="1" indent="-358775">
              <a:spcAft>
                <a:spcPts val="600"/>
              </a:spcAft>
              <a:buSzPct val="100000"/>
            </a:pPr>
            <a:r>
              <a:rPr lang="en-US" sz="1600" dirty="0"/>
              <a:t>Seal oil passages through the block and head while resisting chemical action.</a:t>
            </a:r>
          </a:p>
          <a:p>
            <a:pPr marL="719138" lvl="1" indent="-358775">
              <a:spcAft>
                <a:spcPts val="600"/>
              </a:spcAft>
              <a:buSzPct val="100000"/>
            </a:pPr>
            <a:r>
              <a:rPr lang="en-US" sz="1600" dirty="0"/>
              <a:t>Allow for lateral and vertical head movement as the engine heats and cools.</a:t>
            </a:r>
          </a:p>
          <a:p>
            <a:pPr marL="719138" lvl="1" indent="-358775">
              <a:spcAft>
                <a:spcPts val="600"/>
              </a:spcAft>
              <a:buSzPct val="100000"/>
            </a:pPr>
            <a:r>
              <a:rPr lang="en-US" sz="1600" dirty="0"/>
              <a:t>Be flexible enough to seal minor surface warpage while being stiff enough to maintain adequate gasket compression.</a:t>
            </a:r>
          </a:p>
          <a:p>
            <a:pPr marL="719138" lvl="1" indent="-358775">
              <a:spcAft>
                <a:spcPts val="600"/>
              </a:spcAft>
              <a:buSzPct val="100000"/>
            </a:pPr>
            <a:r>
              <a:rPr lang="en-US" sz="1600" dirty="0"/>
              <a:t>Fill small machining marks that could lead to serious gasket leakage and failure.</a:t>
            </a:r>
          </a:p>
        </p:txBody>
      </p:sp>
    </p:spTree>
    <p:extLst>
      <p:ext uri="{BB962C8B-B14F-4D97-AF65-F5344CB8AC3E}">
        <p14:creationId xmlns:p14="http://schemas.microsoft.com/office/powerpoint/2010/main" val="3522082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Head Gaskets (2 of 3)</a:t>
            </a:r>
            <a:endParaRPr dirty="0"/>
          </a:p>
        </p:txBody>
      </p:sp>
      <p:sp>
        <p:nvSpPr>
          <p:cNvPr id="145" name="Google Shape;145;p4"/>
          <p:cNvSpPr txBox="1">
            <a:spLocks noGrp="1"/>
          </p:cNvSpPr>
          <p:nvPr>
            <p:ph type="body" idx="1"/>
          </p:nvPr>
        </p:nvSpPr>
        <p:spPr>
          <a:xfrm>
            <a:off x="476843" y="1563624"/>
            <a:ext cx="8171881" cy="4467305"/>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solidFill>
                  <a:schemeClr val="accent1"/>
                </a:solidFill>
              </a:rPr>
              <a:t>Head gaskets for many late-model cast-iron engines have raised silicone, Viton, or fluoroelastomer sealing beads on their face to increase the clamping pressure around some areas.</a:t>
            </a:r>
          </a:p>
          <a:p>
            <a:pPr marL="357188" indent="-357188">
              <a:spcAft>
                <a:spcPts val="600"/>
              </a:spcAft>
              <a:buSzPct val="100000"/>
            </a:pPr>
            <a:r>
              <a:rPr lang="en-US" sz="1800" dirty="0">
                <a:solidFill>
                  <a:schemeClr val="accent1"/>
                </a:solidFill>
              </a:rPr>
              <a:t>Most head gaskets have a steel fire ring that surrounds the top of the cylinder. These protect the gasket material used elsewhere. The durability of a head gasket can also be improved by using strong, high-temperature fibers such as aramid and Kevlar and by adding reinforcements around oil passages.</a:t>
            </a:r>
          </a:p>
          <a:p>
            <a:pPr marL="357188" indent="-357188">
              <a:spcAft>
                <a:spcPts val="600"/>
              </a:spcAft>
              <a:buSzPct val="100000"/>
            </a:pPr>
            <a:r>
              <a:rPr lang="en-US" sz="1800" dirty="0">
                <a:solidFill>
                  <a:schemeClr val="accent1"/>
                </a:solidFill>
              </a:rPr>
              <a:t>Most late-model engines have aluminum cylinder heads and cast-iron blocks. When heated, aluminum expands two to three times more than steel. This creates a back-and-forth scrubbing action on a head gasket as the engine temperature changes. This movement can tear a gasket apart if it is not designed to handle it.</a:t>
            </a:r>
          </a:p>
        </p:txBody>
      </p:sp>
      <p:pic>
        <p:nvPicPr>
          <p:cNvPr id="4" name="Picture Placeholder 3" descr="An illustration depicts the specifications of bimetal engine. The engine has three blocks each containing three sub-layers within it. All three blocks are connected by a dashed vertical line at two sides. first block: Is normal at 70 degrees Fahrenheit (21 degrees Celsius). The first layer is labeled as an Aluminum cylinder head, the middle layer is labeled as Gasket, and the bottom layer is labeled as a Cast-iron block. The first and bottom layers are labeled “Head same length as block.” second block: Is hot at 220 degrees Fahrenheit (104.4 degrees Celsius). The first layer is labeled as Expansion, the middle layer is labeled as Gasket and the bottom layer is unlabeled. The top layer is labeled Head larger than the block. Third block: Is cold, the upper layer is labeled contraction, the middle layer is labeled gasket, and the bottom layer is unlabeled. Pointing the contraction layer the text reads at negative 30 degrees Fahrenheit ( negative 34.4 degree Celsius). The top layer is labeled Head smaller than the block. The small gap between the dashed vertical line and the vertical engine surface of the last layer of the second block and the first layer (contraction) of the third block is labeled Gasket shear.">
            <a:extLst>
              <a:ext uri="{FF2B5EF4-FFF2-40B4-BE49-F238E27FC236}">
                <a16:creationId xmlns:a16="http://schemas.microsoft.com/office/drawing/2014/main" id="{FCF77D29-A12C-B808-A37A-A1DC034DAF98}"/>
              </a:ext>
            </a:extLst>
          </p:cNvPr>
          <p:cNvPicPr>
            <a:picLocks noGrp="1" noChangeAspect="1"/>
          </p:cNvPicPr>
          <p:nvPr>
            <p:ph type="pic" sz="quarter" idx="10"/>
          </p:nvPr>
        </p:nvPicPr>
        <p:blipFill>
          <a:blip r:embed="rId3"/>
          <a:srcRect b="9773"/>
          <a:stretch/>
        </p:blipFill>
        <p:spPr>
          <a:xfrm>
            <a:off x="8648725" y="2030241"/>
            <a:ext cx="3066431" cy="3219854"/>
          </a:xfrm>
          <a:prstGeom prst="rect">
            <a:avLst/>
          </a:prstGeom>
        </p:spPr>
      </p:pic>
    </p:spTree>
    <p:extLst>
      <p:ext uri="{BB962C8B-B14F-4D97-AF65-F5344CB8AC3E}">
        <p14:creationId xmlns:p14="http://schemas.microsoft.com/office/powerpoint/2010/main" val="230472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Head Gaskets (3 of 3)</a:t>
            </a:r>
            <a:endParaRPr dirty="0"/>
          </a:p>
        </p:txBody>
      </p:sp>
      <p:sp>
        <p:nvSpPr>
          <p:cNvPr id="145" name="Google Shape;145;p4"/>
          <p:cNvSpPr txBox="1">
            <a:spLocks noGrp="1"/>
          </p:cNvSpPr>
          <p:nvPr>
            <p:ph type="body" idx="1"/>
          </p:nvPr>
        </p:nvSpPr>
        <p:spPr>
          <a:xfrm>
            <a:off x="476843" y="1563624"/>
            <a:ext cx="7554819" cy="4570047"/>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t>To reduce the chances of a gasket tearing, graphite or specially coated gaskets are used. </a:t>
            </a:r>
            <a:r>
              <a:rPr lang="en-US" sz="2000" b="1" dirty="0"/>
              <a:t>Graphite</a:t>
            </a:r>
            <a:r>
              <a:rPr lang="en-US" sz="2000" dirty="0"/>
              <a:t> is a relatively soft material that can withstand high temperatures, and it is a natural lubricant. Teflon®, molybdenum, and other similar slippery nonstick coatings are used on other gasket designs to prevent the gasket from sticking to either </a:t>
            </a:r>
            <a:r>
              <a:rPr lang="en-US" sz="2000"/>
              <a:t>surface.</a:t>
            </a:r>
            <a:endParaRPr lang="en-US" sz="2000" dirty="0"/>
          </a:p>
          <a:p>
            <a:pPr marL="357188" indent="-357188">
              <a:spcAft>
                <a:spcPts val="600"/>
              </a:spcAft>
              <a:buSzPct val="100000"/>
            </a:pPr>
            <a:r>
              <a:rPr lang="en-US" sz="2000" dirty="0"/>
              <a:t>Many engines have multilayer steel (MLS) head </a:t>
            </a:r>
            <a:r>
              <a:rPr lang="en-US" sz="2000"/>
              <a:t>gaskets.</a:t>
            </a:r>
            <a:endParaRPr lang="en-US" sz="2000" dirty="0"/>
          </a:p>
          <a:p>
            <a:pPr marL="357188" indent="-357188">
              <a:spcAft>
                <a:spcPts val="600"/>
              </a:spcAft>
              <a:buSzPct val="100000"/>
            </a:pPr>
            <a:r>
              <a:rPr lang="en-US" sz="2000" dirty="0"/>
              <a:t>These gaskets comprise three to seven layers of steel. The outer layers are embossed stainless spring steel coated with a thin layer of an antifriction coating of Teflon®, nitrile rubber, or </a:t>
            </a:r>
            <a:r>
              <a:rPr lang="en-US" sz="2000"/>
              <a:t>Viton.</a:t>
            </a:r>
            <a:endParaRPr lang="en-US" sz="2000" dirty="0"/>
          </a:p>
        </p:txBody>
      </p:sp>
      <p:pic>
        <p:nvPicPr>
          <p:cNvPr id="3" name="Picture Placeholder 2" descr="A technician holds multilayer steel (M L S) head gasket coated by graphite.">
            <a:extLst>
              <a:ext uri="{FF2B5EF4-FFF2-40B4-BE49-F238E27FC236}">
                <a16:creationId xmlns:a16="http://schemas.microsoft.com/office/drawing/2014/main" id="{3C311172-1AA0-F76B-B4D1-9955467E4596}"/>
              </a:ext>
            </a:extLst>
          </p:cNvPr>
          <p:cNvPicPr>
            <a:picLocks noGrp="1" noChangeAspect="1"/>
          </p:cNvPicPr>
          <p:nvPr>
            <p:ph type="pic" sz="quarter" idx="10"/>
          </p:nvPr>
        </p:nvPicPr>
        <p:blipFill>
          <a:blip r:embed="rId3"/>
          <a:srcRect b="8311"/>
          <a:stretch/>
        </p:blipFill>
        <p:spPr>
          <a:xfrm>
            <a:off x="8031662" y="2218906"/>
            <a:ext cx="3892608" cy="2579125"/>
          </a:xfrm>
          <a:prstGeom prst="rect">
            <a:avLst/>
          </a:prstGeom>
        </p:spPr>
      </p:pic>
    </p:spTree>
    <p:extLst>
      <p:ext uri="{BB962C8B-B14F-4D97-AF65-F5344CB8AC3E}">
        <p14:creationId xmlns:p14="http://schemas.microsoft.com/office/powerpoint/2010/main" val="22692722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Specific Engine Gaskets (1 of </a:t>
            </a:r>
            <a:r>
              <a:rPr lang="en-US" dirty="0"/>
              <a:t>3</a:t>
            </a:r>
            <a:r>
              <a:rPr lang="en-US" sz="4000" dirty="0"/>
              <a:t>)</a:t>
            </a:r>
            <a:endParaRPr dirty="0"/>
          </a:p>
        </p:txBody>
      </p:sp>
      <p:sp>
        <p:nvSpPr>
          <p:cNvPr id="145" name="Google Shape;145;p4"/>
          <p:cNvSpPr txBox="1">
            <a:spLocks noGrp="1"/>
          </p:cNvSpPr>
          <p:nvPr>
            <p:ph type="body" idx="1"/>
          </p:nvPr>
        </p:nvSpPr>
        <p:spPr>
          <a:xfrm>
            <a:off x="476844" y="1563624"/>
            <a:ext cx="7630102" cy="4559773"/>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600" dirty="0"/>
              <a:t>There are three basic types of manifold gaskets:</a:t>
            </a:r>
          </a:p>
          <a:p>
            <a:pPr marL="719138" lvl="1" indent="-358775">
              <a:buSzPct val="100000"/>
            </a:pPr>
            <a:r>
              <a:rPr lang="en-US" sz="1400" dirty="0"/>
              <a:t>intake manifold</a:t>
            </a:r>
          </a:p>
          <a:p>
            <a:pPr marL="719138" lvl="1" indent="-358775">
              <a:buSzPct val="100000"/>
            </a:pPr>
            <a:r>
              <a:rPr lang="en-US" sz="1400" dirty="0"/>
              <a:t>exhaust manifold</a:t>
            </a:r>
          </a:p>
          <a:p>
            <a:pPr marL="719138" lvl="1" indent="-358775">
              <a:buSzPct val="100000"/>
            </a:pPr>
            <a:r>
              <a:rPr lang="en-US" sz="1400" dirty="0"/>
              <a:t>intake and exhaust combination</a:t>
            </a:r>
          </a:p>
          <a:p>
            <a:pPr marL="357188" indent="-357188">
              <a:buSzPct val="100000"/>
            </a:pPr>
            <a:r>
              <a:rPr lang="en-US" sz="1600" dirty="0"/>
              <a:t>Combination gaskets are often used on inline engines without cross-flow heads. </a:t>
            </a:r>
          </a:p>
          <a:p>
            <a:pPr marL="357188" indent="-357188">
              <a:buSzPct val="100000"/>
            </a:pPr>
            <a:r>
              <a:rPr lang="en-US" sz="1600" dirty="0"/>
              <a:t>Manifold gaskets are made of a variety of materials, depending on the application. </a:t>
            </a:r>
          </a:p>
          <a:p>
            <a:pPr marL="357188" indent="-357188">
              <a:buSzPct val="100000"/>
            </a:pPr>
            <a:r>
              <a:rPr lang="en-US" sz="1600" dirty="0"/>
              <a:t>Each type of manifold gasket has its own sealing characteristics and problems. </a:t>
            </a:r>
          </a:p>
          <a:p>
            <a:pPr marL="357188" indent="-357188">
              <a:buSzPct val="100000"/>
            </a:pPr>
            <a:r>
              <a:rPr lang="en-US" sz="1600" dirty="0"/>
              <a:t>Therefore, be sure to follow the manufacturer’s instructions when installing them. </a:t>
            </a:r>
          </a:p>
          <a:p>
            <a:pPr marL="357188" indent="-357188">
              <a:buSzPct val="100000"/>
            </a:pPr>
            <a:r>
              <a:rPr lang="en-US" sz="1600" dirty="0"/>
              <a:t>Before installing a manifold and its gasket, make sure that the mating surfaces on the head and manifold are flat and free of damage.</a:t>
            </a:r>
          </a:p>
        </p:txBody>
      </p:sp>
      <p:pic>
        <p:nvPicPr>
          <p:cNvPr id="3" name="Picture Placeholder 2" descr="A pair of intake manifold, a pair of exhaust manifold and couple of combination gaskets which is the intake and exhaust combination.">
            <a:extLst>
              <a:ext uri="{FF2B5EF4-FFF2-40B4-BE49-F238E27FC236}">
                <a16:creationId xmlns:a16="http://schemas.microsoft.com/office/drawing/2014/main" id="{81944198-0124-14C2-7DE8-69AECEF711F7}"/>
              </a:ext>
            </a:extLst>
          </p:cNvPr>
          <p:cNvPicPr>
            <a:picLocks noGrp="1" noChangeAspect="1"/>
          </p:cNvPicPr>
          <p:nvPr>
            <p:ph type="pic" sz="quarter" idx="10"/>
          </p:nvPr>
        </p:nvPicPr>
        <p:blipFill>
          <a:blip r:embed="rId3"/>
          <a:srcRect b="15728"/>
          <a:stretch/>
        </p:blipFill>
        <p:spPr>
          <a:xfrm>
            <a:off x="8106945" y="2090471"/>
            <a:ext cx="3608212" cy="2419884"/>
          </a:xfrm>
          <a:prstGeom prst="rect">
            <a:avLst/>
          </a:prstGeom>
        </p:spPr>
      </p:pic>
    </p:spTree>
    <p:extLst>
      <p:ext uri="{BB962C8B-B14F-4D97-AF65-F5344CB8AC3E}">
        <p14:creationId xmlns:p14="http://schemas.microsoft.com/office/powerpoint/2010/main" val="1125985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Specific Engine Gaskets (2 of </a:t>
            </a:r>
            <a:r>
              <a:rPr lang="en-US" dirty="0"/>
              <a:t>3</a:t>
            </a:r>
            <a:r>
              <a:rPr lang="en-US" sz="4000" dirty="0"/>
              <a: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Valve cover gaskets must make a seal between a steel, aluminum, magnesium, or molded plastic cover and the cylinder head </a:t>
            </a:r>
            <a:r>
              <a:rPr lang="en-US" sz="1800"/>
              <a:t>surface.</a:t>
            </a:r>
            <a:endParaRPr lang="en-US" sz="1800" dirty="0"/>
          </a:p>
          <a:p>
            <a:pPr marL="357188" indent="-357188">
              <a:spcAft>
                <a:spcPts val="600"/>
              </a:spcAft>
              <a:buSzPct val="100000"/>
            </a:pPr>
            <a:r>
              <a:rPr lang="en-US" sz="1800" dirty="0"/>
              <a:t>On OHC engines, cam covers are normally made of diecast </a:t>
            </a:r>
            <a:r>
              <a:rPr lang="en-US" sz="1800"/>
              <a:t>aluminum.</a:t>
            </a:r>
            <a:endParaRPr lang="en-US" sz="1800" dirty="0"/>
          </a:p>
          <a:p>
            <a:pPr marL="357188" indent="-357188">
              <a:spcAft>
                <a:spcPts val="600"/>
              </a:spcAft>
              <a:buSzPct val="100000"/>
            </a:pPr>
            <a:r>
              <a:rPr lang="en-US" sz="1800" dirty="0"/>
              <a:t>Some cylinder cover gaskets have spark plug gaskets integrated into the </a:t>
            </a:r>
            <a:r>
              <a:rPr lang="en-US" sz="1800"/>
              <a:t>gasket.</a:t>
            </a:r>
            <a:endParaRPr lang="en-US" sz="1800" dirty="0"/>
          </a:p>
          <a:p>
            <a:pPr marL="357188" indent="-357188">
              <a:spcAft>
                <a:spcPts val="600"/>
              </a:spcAft>
              <a:buSzPct val="100000"/>
            </a:pPr>
            <a:r>
              <a:rPr lang="en-US" sz="1800" dirty="0"/>
              <a:t>When installing these, make sure the gasket is perfectly aligned. Valve cover bolts are usually widely spaced so the gasket material is able to seal without being tightly </a:t>
            </a:r>
            <a:r>
              <a:rPr lang="en-US" sz="1800"/>
              <a:t>clamped.</a:t>
            </a:r>
            <a:endParaRPr lang="en-US" sz="1800" dirty="0"/>
          </a:p>
          <a:p>
            <a:pPr marL="357188" indent="-357188">
              <a:spcAft>
                <a:spcPts val="600"/>
              </a:spcAft>
              <a:buSzPct val="100000"/>
            </a:pPr>
            <a:r>
              <a:rPr lang="en-US" sz="1800" dirty="0"/>
              <a:t>Valve cover gaskets must be able to withstand high temperatures and the caustic action of acids in the oil.</a:t>
            </a:r>
          </a:p>
        </p:txBody>
      </p:sp>
      <p:pic>
        <p:nvPicPr>
          <p:cNvPr id="3" name="Picture Placeholder 2" descr="A rubberized cork valve cover gasket acts as a seal between metal or molded plastic cover and the cylinder head surface.">
            <a:extLst>
              <a:ext uri="{FF2B5EF4-FFF2-40B4-BE49-F238E27FC236}">
                <a16:creationId xmlns:a16="http://schemas.microsoft.com/office/drawing/2014/main" id="{87AB50E3-BBD1-4E2B-D686-BF81671F9B8F}"/>
              </a:ext>
            </a:extLst>
          </p:cNvPr>
          <p:cNvPicPr>
            <a:picLocks noGrp="1" noChangeAspect="1"/>
          </p:cNvPicPr>
          <p:nvPr>
            <p:ph type="pic" sz="quarter" idx="10"/>
          </p:nvPr>
        </p:nvPicPr>
        <p:blipFill>
          <a:blip r:embed="rId3"/>
          <a:srcRect b="26199"/>
          <a:stretch/>
        </p:blipFill>
        <p:spPr>
          <a:xfrm>
            <a:off x="3837880" y="4515189"/>
            <a:ext cx="4516239" cy="1320533"/>
          </a:xfrm>
          <a:prstGeom prst="rect">
            <a:avLst/>
          </a:prstGeom>
        </p:spPr>
      </p:pic>
    </p:spTree>
    <p:extLst>
      <p:ext uri="{BB962C8B-B14F-4D97-AF65-F5344CB8AC3E}">
        <p14:creationId xmlns:p14="http://schemas.microsoft.com/office/powerpoint/2010/main" val="24668308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Specific Engine Gaskets (3 of 3)</a:t>
            </a:r>
            <a:endParaRPr dirty="0"/>
          </a:p>
        </p:txBody>
      </p:sp>
      <p:sp>
        <p:nvSpPr>
          <p:cNvPr id="145" name="Google Shape;145;p4"/>
          <p:cNvSpPr txBox="1">
            <a:spLocks noGrp="1"/>
          </p:cNvSpPr>
          <p:nvPr>
            <p:ph type="body" idx="1"/>
          </p:nvPr>
        </p:nvSpPr>
        <p:spPr>
          <a:xfrm>
            <a:off x="476843" y="1563624"/>
            <a:ext cx="7570951" cy="4590595"/>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buSzPct val="100000"/>
            </a:pPr>
            <a:r>
              <a:rPr lang="en-US" sz="1800" dirty="0"/>
              <a:t>An oil pan gasket seals the joint between the oil pan and the bottom of the block and might also seal the bottom of the timing cover and the lower section of the rear main bearing </a:t>
            </a:r>
            <a:r>
              <a:rPr lang="en-US" sz="1800"/>
              <a:t>cap.</a:t>
            </a:r>
            <a:endParaRPr lang="en-US" sz="1800" dirty="0"/>
          </a:p>
          <a:p>
            <a:pPr marL="357188" indent="-357188">
              <a:lnSpc>
                <a:spcPct val="107000"/>
              </a:lnSpc>
              <a:spcBef>
                <a:spcPts val="0"/>
              </a:spcBef>
              <a:buSzPct val="100000"/>
            </a:pPr>
            <a:r>
              <a:rPr lang="en-US" sz="1800" dirty="0"/>
              <a:t>Like valve cover gaskets, the oil pan gasket must resist hot, thin engine </a:t>
            </a:r>
            <a:r>
              <a:rPr lang="en-US" sz="1800"/>
              <a:t>oil.</a:t>
            </a:r>
            <a:endParaRPr lang="en-US" sz="1800" dirty="0"/>
          </a:p>
          <a:p>
            <a:pPr marL="357188" indent="-357188">
              <a:lnSpc>
                <a:spcPct val="107000"/>
              </a:lnSpc>
              <a:spcBef>
                <a:spcPts val="0"/>
              </a:spcBef>
              <a:buSzPct val="100000"/>
            </a:pPr>
            <a:r>
              <a:rPr lang="en-US" sz="1800" dirty="0"/>
              <a:t>Because of the added weight and splash of crankcase oil, the pan has many retaining bolts closely spaced resulting in clamping force on the oil pan gasket is </a:t>
            </a:r>
            <a:r>
              <a:rPr lang="en-US" sz="1800"/>
              <a:t>great.</a:t>
            </a:r>
            <a:endParaRPr lang="en-US" sz="1800" dirty="0"/>
          </a:p>
          <a:p>
            <a:pPr marL="357188" indent="-357188">
              <a:lnSpc>
                <a:spcPct val="107000"/>
              </a:lnSpc>
              <a:spcBef>
                <a:spcPts val="0"/>
              </a:spcBef>
              <a:buSzPct val="100000"/>
            </a:pPr>
            <a:r>
              <a:rPr lang="en-US" sz="1800" dirty="0"/>
              <a:t>Oil pan gaskets may be made with several types of material. A commonly used material is synthetic rubber, known for its long-term sealing </a:t>
            </a:r>
            <a:r>
              <a:rPr lang="en-US" sz="1800"/>
              <a:t>ability.</a:t>
            </a:r>
            <a:endParaRPr lang="en-US" sz="1800" dirty="0"/>
          </a:p>
          <a:p>
            <a:pPr marL="357188" indent="-357188">
              <a:lnSpc>
                <a:spcPct val="107000"/>
              </a:lnSpc>
              <a:spcBef>
                <a:spcPts val="0"/>
              </a:spcBef>
              <a:buSzPct val="100000"/>
            </a:pPr>
            <a:r>
              <a:rPr lang="en-US" sz="1800" dirty="0"/>
              <a:t>Many late-model engines use a hard gasket with a bead of sealant around the inside dimensions of the gasket which increases clamping pressures and provides a positive </a:t>
            </a:r>
            <a:r>
              <a:rPr lang="en-US" sz="1800"/>
              <a:t>seal.</a:t>
            </a:r>
            <a:endParaRPr lang="en-US" sz="1800" dirty="0"/>
          </a:p>
        </p:txBody>
      </p:sp>
      <p:pic>
        <p:nvPicPr>
          <p:cNvPr id="4" name="Picture Placeholder 3" descr="A hard oil pan gasket with a sealant bead, and retaining bolts closely spaced.">
            <a:extLst>
              <a:ext uri="{FF2B5EF4-FFF2-40B4-BE49-F238E27FC236}">
                <a16:creationId xmlns:a16="http://schemas.microsoft.com/office/drawing/2014/main" id="{62D614EA-4B0D-496F-6FB7-C5AE84002EF0}"/>
              </a:ext>
            </a:extLst>
          </p:cNvPr>
          <p:cNvPicPr>
            <a:picLocks noGrp="1" noChangeAspect="1"/>
          </p:cNvPicPr>
          <p:nvPr>
            <p:ph type="pic" sz="quarter" idx="10"/>
          </p:nvPr>
        </p:nvPicPr>
        <p:blipFill>
          <a:blip r:embed="rId3"/>
          <a:srcRect b="8228"/>
          <a:stretch/>
        </p:blipFill>
        <p:spPr>
          <a:xfrm>
            <a:off x="8214492" y="2624336"/>
            <a:ext cx="3333966" cy="1991905"/>
          </a:xfrm>
          <a:prstGeom prst="rect">
            <a:avLst/>
          </a:prstGeom>
        </p:spPr>
      </p:pic>
    </p:spTree>
    <p:extLst>
      <p:ext uri="{BB962C8B-B14F-4D97-AF65-F5344CB8AC3E}">
        <p14:creationId xmlns:p14="http://schemas.microsoft.com/office/powerpoint/2010/main" val="125138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0363" lvl="0" indent="-360363" algn="l" rtl="0">
              <a:lnSpc>
                <a:spcPct val="100000"/>
              </a:lnSpc>
              <a:spcAft>
                <a:spcPts val="600"/>
              </a:spcAft>
              <a:buSzPts val="2400"/>
              <a:buChar char="•"/>
            </a:pPr>
            <a:r>
              <a:rPr lang="en-US" dirty="0"/>
              <a:t>There are various types of gaskets used to seal an </a:t>
            </a:r>
            <a:r>
              <a:rPr lang="en-US"/>
              <a:t>engine.</a:t>
            </a:r>
            <a:endParaRPr dirty="0"/>
          </a:p>
          <a:p>
            <a:pPr marL="360363" lvl="0" indent="-360363" algn="l" rtl="0">
              <a:lnSpc>
                <a:spcPct val="100000"/>
              </a:lnSpc>
              <a:spcAft>
                <a:spcPts val="600"/>
              </a:spcAft>
              <a:buSzPts val="2400"/>
              <a:buChar char="•"/>
            </a:pPr>
            <a:r>
              <a:rPr lang="en-US" dirty="0"/>
              <a:t>Have a class discussion about some of the gasket types and the procedures explained when servicing these different </a:t>
            </a:r>
            <a:r>
              <a:rPr lang="en-US"/>
              <a:t>gaskets.</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fontScale="90000"/>
          </a:bodyPr>
          <a:lstStyle/>
          <a:p>
            <a:r>
              <a:rPr lang="en-US" sz="4400" dirty="0"/>
              <a:t>Adhesives, Sealants, and Other Sealing Materials (1 of </a:t>
            </a:r>
            <a:r>
              <a:rPr lang="en-US" sz="4400"/>
              <a:t>2)</a:t>
            </a:r>
            <a:endParaRPr dirty="0"/>
          </a:p>
        </p:txBody>
      </p:sp>
      <p:pic>
        <p:nvPicPr>
          <p:cNvPr id="3" name="Picture Placeholder 2" descr="A technician uses a yellow gasket adhesive around the sealing space of a gasket.">
            <a:extLst>
              <a:ext uri="{FF2B5EF4-FFF2-40B4-BE49-F238E27FC236}">
                <a16:creationId xmlns:a16="http://schemas.microsoft.com/office/drawing/2014/main" id="{95E4E54E-607E-7E49-B143-55610C53107B}"/>
              </a:ext>
            </a:extLst>
          </p:cNvPr>
          <p:cNvPicPr>
            <a:picLocks noGrp="1" noChangeAspect="1"/>
          </p:cNvPicPr>
          <p:nvPr>
            <p:ph type="pic" sz="quarter" idx="10"/>
          </p:nvPr>
        </p:nvPicPr>
        <p:blipFill>
          <a:blip r:embed="rId3"/>
          <a:srcRect b="14187"/>
          <a:stretch/>
        </p:blipFill>
        <p:spPr>
          <a:xfrm>
            <a:off x="666365" y="2167434"/>
            <a:ext cx="4425696" cy="2759740"/>
          </a:xfrm>
          <a:prstGeom prst="rect">
            <a:avLst/>
          </a:prstGeom>
        </p:spPr>
      </p:pic>
      <p:sp>
        <p:nvSpPr>
          <p:cNvPr id="145" name="Google Shape;145;p4"/>
          <p:cNvSpPr txBox="1">
            <a:spLocks noGrp="1"/>
          </p:cNvSpPr>
          <p:nvPr>
            <p:ph type="body" idx="1"/>
          </p:nvPr>
        </p:nvSpPr>
        <p:spPr>
          <a:xfrm>
            <a:off x="5404207" y="1563625"/>
            <a:ext cx="6314551" cy="4518676"/>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t>13.05 Describe types of adhesives and sealants used in engine repair.</a:t>
            </a:r>
          </a:p>
          <a:p>
            <a:pPr marL="357188" indent="-357188">
              <a:spcAft>
                <a:spcPts val="600"/>
              </a:spcAft>
              <a:buSzPct val="100000"/>
            </a:pPr>
            <a:r>
              <a:rPr lang="en-US" sz="2200" dirty="0"/>
              <a:t>Adhesives</a:t>
            </a:r>
          </a:p>
          <a:p>
            <a:pPr marL="719138" lvl="1" indent="-358775">
              <a:spcAft>
                <a:spcPts val="600"/>
              </a:spcAft>
              <a:buSzPct val="100000"/>
            </a:pPr>
            <a:r>
              <a:rPr lang="en-US" sz="2000" dirty="0"/>
              <a:t>Gasket adhesives form a tough bond when used on clean, dry surfaces.</a:t>
            </a:r>
          </a:p>
          <a:p>
            <a:pPr marL="719138" lvl="1" indent="-358775">
              <a:spcAft>
                <a:spcPts val="600"/>
              </a:spcAft>
              <a:buSzPct val="100000"/>
            </a:pPr>
            <a:r>
              <a:rPr lang="en-US" sz="2000" dirty="0"/>
              <a:t>Adhesives do not aid the sealing ability of the gasket.</a:t>
            </a:r>
          </a:p>
          <a:p>
            <a:pPr marL="719138" lvl="1" indent="-358775">
              <a:spcAft>
                <a:spcPts val="600"/>
              </a:spcAft>
              <a:buSzPct val="100000"/>
            </a:pPr>
            <a:r>
              <a:rPr lang="en-US" sz="2000" dirty="0"/>
              <a:t>They are meant only to hold gaskets in place during assembly.</a:t>
            </a:r>
          </a:p>
          <a:p>
            <a:pPr marL="719138" lvl="1" indent="-358775">
              <a:spcAft>
                <a:spcPts val="600"/>
              </a:spcAft>
              <a:buSzPct val="100000"/>
            </a:pPr>
            <a:r>
              <a:rPr lang="en-US" sz="2000" dirty="0"/>
              <a:t>Do not assemble components until the adhesive is dry</a:t>
            </a:r>
            <a:r>
              <a:rPr lang="en-US" sz="2200" dirty="0"/>
              <a:t>.</a:t>
            </a:r>
          </a:p>
        </p:txBody>
      </p:sp>
    </p:spTree>
    <p:extLst>
      <p:ext uri="{BB962C8B-B14F-4D97-AF65-F5344CB8AC3E}">
        <p14:creationId xmlns:p14="http://schemas.microsoft.com/office/powerpoint/2010/main" val="14671274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fontScale="90000"/>
          </a:bodyPr>
          <a:lstStyle/>
          <a:p>
            <a:r>
              <a:rPr lang="en-US" sz="4400" dirty="0"/>
              <a:t>Adhesives, Sealants, and Other Sealing Materials (2 of </a:t>
            </a:r>
            <a:r>
              <a:rPr lang="en-US" sz="4400"/>
              <a:t>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0363" indent="-360363">
              <a:spcAft>
                <a:spcPts val="600"/>
              </a:spcAft>
              <a:buSzPct val="100000"/>
            </a:pPr>
            <a:r>
              <a:rPr lang="en-US" sz="1800" dirty="0"/>
              <a:t>Manufacturers sometimes specify the use of sealants to assist a gasket or seal or to form a new gasket. The sealants should only be used when specified by the manufacturer.</a:t>
            </a:r>
          </a:p>
          <a:p>
            <a:pPr marL="360363" indent="-360363">
              <a:spcAft>
                <a:spcPts val="600"/>
              </a:spcAft>
              <a:buSzPct val="100000"/>
            </a:pPr>
            <a:r>
              <a:rPr lang="en-US" sz="1800" dirty="0"/>
              <a:t>General-purpose sealers are liquid and available in a brush type (known as brush tack) or an aerosol type (known as spray tack). General-purpose sealers form a tacky, flexible seal when applied in a thin, even coat that aids in gasket sealing by helping to position the gasket during assembly.</a:t>
            </a:r>
          </a:p>
          <a:p>
            <a:pPr marL="360363" indent="-360363">
              <a:spcAft>
                <a:spcPts val="600"/>
              </a:spcAft>
              <a:buSzPct val="100000"/>
            </a:pPr>
            <a:r>
              <a:rPr lang="en-US" sz="1800" dirty="0"/>
              <a:t>Bolts that pass through a liquid passage should be coated with Teflon® thread or a brush-on thread sealant. Some head bolts or water pump bolts tighten into a coolant passage and must be sealed or they will leak. These flexible sealants are nonhardening sealers that fill voids, preventing the fluid from running up the threads.</a:t>
            </a:r>
          </a:p>
          <a:p>
            <a:pPr marL="360363" indent="-360363">
              <a:spcAft>
                <a:spcPts val="600"/>
              </a:spcAft>
              <a:buSzPct val="100000"/>
            </a:pPr>
            <a:r>
              <a:rPr lang="en-US" sz="1800" dirty="0"/>
              <a:t>Silicone (or formed-in-place FIP) gaskets are a liquid sealant applied directly to mating surfaces and are allowed to cure in place. Many technicians use silicone gasketing to aid the sealing of corners, notches, or dovetails of gaskets.</a:t>
            </a:r>
          </a:p>
        </p:txBody>
      </p:sp>
    </p:spTree>
    <p:extLst>
      <p:ext uri="{BB962C8B-B14F-4D97-AF65-F5344CB8AC3E}">
        <p14:creationId xmlns:p14="http://schemas.microsoft.com/office/powerpoint/2010/main" val="31989346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r>
              <a:rPr lang="en-US" sz="4000" dirty="0"/>
              <a:t>Oil Seals (1 of 2)</a:t>
            </a:r>
            <a:endParaRPr dirty="0"/>
          </a:p>
        </p:txBody>
      </p:sp>
      <p:sp>
        <p:nvSpPr>
          <p:cNvPr id="145" name="Google Shape;145;p4"/>
          <p:cNvSpPr txBox="1">
            <a:spLocks noGrp="1"/>
          </p:cNvSpPr>
          <p:nvPr>
            <p:ph type="body" idx="1"/>
          </p:nvPr>
        </p:nvSpPr>
        <p:spPr>
          <a:xfrm>
            <a:off x="476843" y="1563624"/>
            <a:ext cx="7814541" cy="4570047"/>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solidFill>
                  <a:schemeClr val="accent1"/>
                </a:solidFill>
              </a:rPr>
              <a:t>13.06 Explain the construction and types of engine oil seals.</a:t>
            </a:r>
            <a:endParaRPr lang="en-US" sz="2200" dirty="0">
              <a:solidFill>
                <a:schemeClr val="accent1"/>
              </a:solidFill>
            </a:endParaRPr>
          </a:p>
          <a:p>
            <a:pPr marL="357188" indent="-357188">
              <a:spcAft>
                <a:spcPts val="600"/>
              </a:spcAft>
              <a:buSzPct val="100000"/>
            </a:pPr>
            <a:r>
              <a:rPr lang="en-US" sz="2200" dirty="0">
                <a:solidFill>
                  <a:schemeClr val="accent1"/>
                </a:solidFill>
              </a:rPr>
              <a:t>Seals keep oil and other fluids from escaping around a rotating </a:t>
            </a:r>
            <a:r>
              <a:rPr lang="en-US" sz="2200">
                <a:solidFill>
                  <a:schemeClr val="accent1"/>
                </a:solidFill>
              </a:rPr>
              <a:t>shaft.</a:t>
            </a:r>
            <a:endParaRPr lang="en-US" sz="2200" dirty="0">
              <a:solidFill>
                <a:schemeClr val="accent1"/>
              </a:solidFill>
            </a:endParaRPr>
          </a:p>
          <a:p>
            <a:pPr marL="357188" indent="-357188">
              <a:spcAft>
                <a:spcPts val="600"/>
              </a:spcAft>
              <a:buSzPct val="100000"/>
            </a:pPr>
            <a:r>
              <a:rPr lang="en-US" sz="2200" dirty="0">
                <a:solidFill>
                  <a:schemeClr val="accent1"/>
                </a:solidFill>
              </a:rPr>
              <a:t>Timing Cover </a:t>
            </a:r>
            <a:r>
              <a:rPr lang="en-US" sz="2200">
                <a:solidFill>
                  <a:schemeClr val="accent1"/>
                </a:solidFill>
              </a:rPr>
              <a:t>Oil Seals</a:t>
            </a:r>
            <a:endParaRPr lang="en-US" sz="2200" dirty="0">
              <a:solidFill>
                <a:schemeClr val="accent1"/>
              </a:solidFill>
            </a:endParaRPr>
          </a:p>
          <a:p>
            <a:pPr marL="719138" lvl="1" indent="-358775">
              <a:spcAft>
                <a:spcPts val="600"/>
              </a:spcAft>
              <a:buSzPct val="100000"/>
            </a:pPr>
            <a:r>
              <a:rPr lang="en-US" sz="2000" dirty="0">
                <a:solidFill>
                  <a:schemeClr val="accent1"/>
                </a:solidFill>
              </a:rPr>
              <a:t>The timing cover seal prevents oil from leaking around the </a:t>
            </a:r>
            <a:r>
              <a:rPr lang="en-US" sz="2000">
                <a:solidFill>
                  <a:schemeClr val="accent1"/>
                </a:solidFill>
              </a:rPr>
              <a:t>crankshaft.</a:t>
            </a:r>
            <a:endParaRPr lang="en-US" sz="2000" dirty="0">
              <a:solidFill>
                <a:schemeClr val="accent1"/>
              </a:solidFill>
            </a:endParaRPr>
          </a:p>
          <a:p>
            <a:pPr marL="719138" lvl="1" indent="-358775">
              <a:spcAft>
                <a:spcPts val="600"/>
              </a:spcAft>
              <a:buSzPct val="100000"/>
            </a:pPr>
            <a:r>
              <a:rPr lang="en-US" sz="2000" dirty="0">
                <a:solidFill>
                  <a:schemeClr val="accent1"/>
                </a:solidFill>
              </a:rPr>
              <a:t>Its installation often requires the use of a special tool or a </a:t>
            </a:r>
            <a:r>
              <a:rPr lang="en-US" sz="2000">
                <a:solidFill>
                  <a:schemeClr val="accent1"/>
                </a:solidFill>
              </a:rPr>
              <a:t>driver.</a:t>
            </a:r>
            <a:endParaRPr lang="en-US" sz="2000" dirty="0">
              <a:solidFill>
                <a:schemeClr val="accent1"/>
              </a:solidFill>
            </a:endParaRPr>
          </a:p>
          <a:p>
            <a:pPr marL="719138" lvl="1" indent="-358775">
              <a:spcAft>
                <a:spcPts val="600"/>
              </a:spcAft>
              <a:buSzPct val="100000"/>
            </a:pPr>
            <a:r>
              <a:rPr lang="en-US" sz="2000" dirty="0">
                <a:solidFill>
                  <a:schemeClr val="accent1"/>
                </a:solidFill>
              </a:rPr>
              <a:t>It is important that the seal is positioned squarely in the bore of the cover, and the crankshaft is positioned in the center of the seal.</a:t>
            </a:r>
          </a:p>
        </p:txBody>
      </p:sp>
      <p:pic>
        <p:nvPicPr>
          <p:cNvPr id="3" name="Picture Placeholder 2" descr="A close-up of a person’s hand holding a seal driver and positioning it in the center of the seal, while another person’s hand holding a hammer placed parallel to the seal driver.">
            <a:extLst>
              <a:ext uri="{FF2B5EF4-FFF2-40B4-BE49-F238E27FC236}">
                <a16:creationId xmlns:a16="http://schemas.microsoft.com/office/drawing/2014/main" id="{D59C9F40-7B65-57B2-D94B-6BBC99BEC239}"/>
              </a:ext>
            </a:extLst>
          </p:cNvPr>
          <p:cNvPicPr>
            <a:picLocks noGrp="1" noChangeAspect="1"/>
          </p:cNvPicPr>
          <p:nvPr>
            <p:ph type="pic" sz="quarter" idx="10"/>
          </p:nvPr>
        </p:nvPicPr>
        <p:blipFill>
          <a:blip r:embed="rId3"/>
          <a:srcRect b="11099"/>
          <a:stretch/>
        </p:blipFill>
        <p:spPr>
          <a:xfrm>
            <a:off x="8374952" y="2046664"/>
            <a:ext cx="3657600" cy="3213705"/>
          </a:xfrm>
          <a:prstGeom prst="rect">
            <a:avLst/>
          </a:prstGeom>
        </p:spPr>
      </p:pic>
    </p:spTree>
    <p:extLst>
      <p:ext uri="{BB962C8B-B14F-4D97-AF65-F5344CB8AC3E}">
        <p14:creationId xmlns:p14="http://schemas.microsoft.com/office/powerpoint/2010/main" val="2401798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r>
              <a:rPr lang="en-US" sz="4000" dirty="0"/>
              <a:t>Oil Seals (2 of 2)</a:t>
            </a:r>
            <a:endParaRPr dirty="0"/>
          </a:p>
        </p:txBody>
      </p:sp>
      <p:sp>
        <p:nvSpPr>
          <p:cNvPr id="145" name="Google Shape;145;p4"/>
          <p:cNvSpPr txBox="1">
            <a:spLocks noGrp="1"/>
          </p:cNvSpPr>
          <p:nvPr>
            <p:ph type="body" idx="1"/>
          </p:nvPr>
        </p:nvSpPr>
        <p:spPr>
          <a:xfrm>
            <a:off x="476843" y="1563625"/>
            <a:ext cx="7691112" cy="4385112"/>
          </a:xfrm>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1800" dirty="0"/>
              <a:t>Rear main bearing seals keep oil from leaking around the rear main bearing.</a:t>
            </a:r>
          </a:p>
          <a:p>
            <a:pPr marL="357188" indent="-357188">
              <a:spcAft>
                <a:spcPts val="400"/>
              </a:spcAft>
              <a:buSzPct val="100000"/>
            </a:pPr>
            <a:r>
              <a:rPr lang="en-US" sz="1800" dirty="0"/>
              <a:t>Four types of synthetic rubber are used for rear main bearing seals:</a:t>
            </a:r>
          </a:p>
          <a:p>
            <a:pPr marL="719138" lvl="1" indent="-358775">
              <a:spcAft>
                <a:spcPts val="400"/>
              </a:spcAft>
              <a:buSzPct val="100000"/>
            </a:pPr>
            <a:r>
              <a:rPr lang="en-US" sz="1600" b="1" dirty="0"/>
              <a:t>Polyacrylate</a:t>
            </a:r>
            <a:r>
              <a:rPr lang="en-US" sz="1600" dirty="0"/>
              <a:t> may be used because it is tough and abrasion resistant, with moderate temperature resistance.</a:t>
            </a:r>
          </a:p>
          <a:p>
            <a:pPr marL="719138" lvl="1" indent="-358775">
              <a:spcAft>
                <a:spcPts val="400"/>
              </a:spcAft>
              <a:buSzPct val="100000"/>
            </a:pPr>
            <a:r>
              <a:rPr lang="en-US" sz="1600" dirty="0"/>
              <a:t>Silicone synthetic rubber has a greater temperature range, but it has less resistance to abrasion and is more fragile than polyacrylate. They must be carefully handled.</a:t>
            </a:r>
          </a:p>
          <a:p>
            <a:pPr marL="719138" lvl="1" indent="-358775">
              <a:spcAft>
                <a:spcPts val="400"/>
              </a:spcAft>
              <a:buSzPct val="100000"/>
            </a:pPr>
            <a:r>
              <a:rPr lang="en-US" sz="1600" dirty="0"/>
              <a:t>Viton has the abrasion resistance of polyacrylate and the temperature range of silicone, but it is more expensive.</a:t>
            </a:r>
          </a:p>
          <a:p>
            <a:pPr marL="719138" lvl="1" indent="-358775">
              <a:spcAft>
                <a:spcPts val="400"/>
              </a:spcAft>
              <a:buSzPct val="100000"/>
            </a:pPr>
            <a:r>
              <a:rPr lang="en-US" sz="1600" dirty="0"/>
              <a:t>Synthetic rubber seals may be one piece or two pieces. PTFE rubber oil seals now in use have reduced friction, a wider temperature operating range, and better chemical resistance than Viton and polyacrylate seals.</a:t>
            </a:r>
            <a:endParaRPr lang="en-US" sz="1800" dirty="0"/>
          </a:p>
        </p:txBody>
      </p:sp>
      <p:pic>
        <p:nvPicPr>
          <p:cNvPr id="4" name="Picture Placeholder 3" descr="An illustration shows exploded view of fitting a one-piece rear crankshaft seal. An arrow pointing the red layer reads seal assembly followed by another arrow pointing the second yellow seal reads crankshaft rear seal installer.">
            <a:extLst>
              <a:ext uri="{FF2B5EF4-FFF2-40B4-BE49-F238E27FC236}">
                <a16:creationId xmlns:a16="http://schemas.microsoft.com/office/drawing/2014/main" id="{6145FD32-8707-1A95-D6DB-83B3DF9F3F42}"/>
              </a:ext>
            </a:extLst>
          </p:cNvPr>
          <p:cNvPicPr>
            <a:picLocks noGrp="1" noChangeAspect="1"/>
          </p:cNvPicPr>
          <p:nvPr>
            <p:ph type="pic" sz="quarter" idx="10"/>
          </p:nvPr>
        </p:nvPicPr>
        <p:blipFill>
          <a:blip r:embed="rId3"/>
          <a:srcRect b="13748"/>
          <a:stretch/>
        </p:blipFill>
        <p:spPr>
          <a:xfrm>
            <a:off x="8218197" y="2088522"/>
            <a:ext cx="3657600" cy="2781429"/>
          </a:xfrm>
          <a:prstGeom prst="rect">
            <a:avLst/>
          </a:prstGeom>
        </p:spPr>
      </p:pic>
    </p:spTree>
    <p:extLst>
      <p:ext uri="{BB962C8B-B14F-4D97-AF65-F5344CB8AC3E}">
        <p14:creationId xmlns:p14="http://schemas.microsoft.com/office/powerpoint/2010/main" val="3710691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buNone/>
            </a:pPr>
            <a:r>
              <a:rPr lang="en-US" sz="2400" dirty="0"/>
              <a:t>Seals keep oil and other fluids from escaping around a </a:t>
            </a:r>
            <a:r>
              <a:rPr lang="en-US" sz="2400"/>
              <a:t>______ ______.</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3" name="Google Shape;318;p30"/>
          <p:cNvSpPr txBox="1">
            <a:spLocks noGrp="1"/>
          </p:cNvSpPr>
          <p:nvPr>
            <p:ph type="body" idx="1"/>
          </p:nvPr>
        </p:nvSpPr>
        <p:spPr>
          <a:xfrm>
            <a:off x="476250" y="1563688"/>
            <a:ext cx="11242675" cy="907900"/>
          </a:xfrm>
          <a:prstGeom prst="rect">
            <a:avLst/>
          </a:prstGeom>
          <a:noFill/>
          <a:ln>
            <a:noFill/>
          </a:ln>
        </p:spPr>
        <p:txBody>
          <a:bodyPr spcFirstLastPara="1" wrap="square" lIns="91425" tIns="45700" rIns="91425" bIns="45700" anchor="t" anchorCtr="0">
            <a:spAutoFit/>
          </a:bodyPr>
          <a:lstStyle/>
          <a:p>
            <a:pPr marL="0" lvl="1" indent="0">
              <a:buNone/>
            </a:pPr>
            <a:r>
              <a:rPr lang="en-US" sz="2400" b="1" dirty="0">
                <a:solidFill>
                  <a:schemeClr val="dk1"/>
                </a:solidFill>
                <a:latin typeface="Work Sans"/>
                <a:ea typeface="Work Sans"/>
                <a:cs typeface="Work Sans"/>
                <a:sym typeface="Work Sans"/>
              </a:rPr>
              <a:t>Answer</a:t>
            </a:r>
            <a:r>
              <a:rPr lang="en-US" sz="2400" dirty="0">
                <a:solidFill>
                  <a:schemeClr val="dk1"/>
                </a:solidFill>
                <a:latin typeface="Work Sans"/>
                <a:ea typeface="Work Sans"/>
                <a:cs typeface="Work Sans"/>
                <a:sym typeface="Work Sans"/>
              </a:rPr>
              <a:t>: Seals keep oil and other fluids from escaping around a rotating </a:t>
            </a:r>
            <a:r>
              <a:rPr lang="en-US" sz="2400">
                <a:solidFill>
                  <a:schemeClr val="dk1"/>
                </a:solidFill>
                <a:latin typeface="Work Sans"/>
                <a:ea typeface="Work Sans"/>
                <a:cs typeface="Work Sans"/>
                <a:sym typeface="Work Sans"/>
              </a:rPr>
              <a:t>shaft.</a:t>
            </a:r>
            <a:endParaRPr lang="en-US" sz="2400" dirty="0">
              <a:solidFill>
                <a:schemeClr val="dk1"/>
              </a:solidFill>
              <a:latin typeface="Work Sans"/>
              <a:ea typeface="Work Sans"/>
              <a:cs typeface="Work Sans"/>
              <a:sym typeface="Work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Engine Reassembly (</a:t>
            </a:r>
            <a:r>
              <a:rPr lang="en-US" dirty="0"/>
              <a:t>1</a:t>
            </a:r>
            <a:r>
              <a:rPr lang="en-US" sz="4000" dirty="0"/>
              <a:t> of </a:t>
            </a:r>
            <a:r>
              <a:rPr lang="en-US" dirty="0"/>
              <a:t>5</a:t>
            </a:r>
            <a:r>
              <a:rPr lang="en-US" sz="4000" dirty="0"/>
              <a:t>)</a:t>
            </a:r>
            <a:endParaRPr dirty="0"/>
          </a:p>
        </p:txBody>
      </p:sp>
      <p:sp>
        <p:nvSpPr>
          <p:cNvPr id="145" name="Google Shape;145;p4"/>
          <p:cNvSpPr txBox="1">
            <a:spLocks noGrp="1"/>
          </p:cNvSpPr>
          <p:nvPr>
            <p:ph type="body" idx="1"/>
          </p:nvPr>
        </p:nvSpPr>
        <p:spPr>
          <a:xfrm>
            <a:off x="476843" y="1526553"/>
            <a:ext cx="11241915" cy="4613339"/>
          </a:xfrm>
          <a:prstGeom prst="rect">
            <a:avLst/>
          </a:prstGeom>
          <a:noFill/>
          <a:ln>
            <a:noFill/>
          </a:ln>
        </p:spPr>
        <p:txBody>
          <a:bodyPr spcFirstLastPara="1" wrap="square" lIns="91425" tIns="45700" rIns="91425" bIns="45700" anchor="t" anchorCtr="0">
            <a:noAutofit/>
          </a:bodyPr>
          <a:lstStyle/>
          <a:p>
            <a:pPr marL="0" indent="0">
              <a:spcAft>
                <a:spcPts val="400"/>
              </a:spcAft>
              <a:buSzPts val="2800"/>
              <a:buNone/>
            </a:pPr>
            <a:r>
              <a:rPr lang="en-US" sz="1800" b="1" dirty="0">
                <a:solidFill>
                  <a:schemeClr val="accent1"/>
                </a:solidFill>
              </a:rPr>
              <a:t>13.07 Reassemble an engine including core plugs, bearings, crankshaft, camshaft, pistons, connecting rods, timing components, cylinder head, valve train components, oil pump, oil pan, and timing </a:t>
            </a:r>
            <a:r>
              <a:rPr lang="en-US" sz="1800" b="1">
                <a:solidFill>
                  <a:schemeClr val="accent1"/>
                </a:solidFill>
              </a:rPr>
              <a:t>covers.</a:t>
            </a:r>
            <a:endParaRPr lang="en-US" sz="1800" b="1" dirty="0">
              <a:solidFill>
                <a:schemeClr val="accent1"/>
              </a:solidFill>
            </a:endParaRPr>
          </a:p>
          <a:p>
            <a:pPr marL="357188" indent="-357188">
              <a:spcAft>
                <a:spcPts val="400"/>
              </a:spcAft>
              <a:buSzPct val="100000"/>
            </a:pPr>
            <a:r>
              <a:rPr lang="en-US" sz="1800" dirty="0">
                <a:solidFill>
                  <a:schemeClr val="accent1"/>
                </a:solidFill>
              </a:rPr>
              <a:t>When reassembling an engine, the sequence is essentially the reverse of the teardown sequence given in a </a:t>
            </a:r>
            <a:r>
              <a:rPr lang="en-US" sz="1800">
                <a:solidFill>
                  <a:schemeClr val="accent1"/>
                </a:solidFill>
              </a:rPr>
              <a:t>previous chapter.</a:t>
            </a:r>
            <a:endParaRPr lang="en-US" sz="1800" dirty="0">
              <a:solidFill>
                <a:schemeClr val="accent1"/>
              </a:solidFill>
            </a:endParaRPr>
          </a:p>
          <a:p>
            <a:pPr marL="357188" indent="-357188">
              <a:spcAft>
                <a:spcPts val="400"/>
              </a:spcAft>
              <a:buSzPct val="100000"/>
            </a:pPr>
            <a:r>
              <a:rPr lang="en-US" sz="1800" dirty="0">
                <a:solidFill>
                  <a:schemeClr val="accent1"/>
                </a:solidFill>
              </a:rPr>
              <a:t>Many engines use head bolts of different lengths, and their location is given in the service information; clean and lightly lubricate with engine </a:t>
            </a:r>
            <a:r>
              <a:rPr lang="en-US" sz="1800">
                <a:solidFill>
                  <a:schemeClr val="accent1"/>
                </a:solidFill>
              </a:rPr>
              <a:t>oil.</a:t>
            </a:r>
            <a:endParaRPr lang="en-US" sz="1800" dirty="0">
              <a:solidFill>
                <a:schemeClr val="accent1"/>
              </a:solidFill>
            </a:endParaRPr>
          </a:p>
          <a:p>
            <a:pPr marL="357188" indent="-357188">
              <a:spcAft>
                <a:spcPts val="400"/>
              </a:spcAft>
              <a:buSzPct val="100000"/>
            </a:pPr>
            <a:r>
              <a:rPr lang="en-US" sz="1800" dirty="0">
                <a:solidFill>
                  <a:schemeClr val="accent1"/>
                </a:solidFill>
              </a:rPr>
              <a:t>Position the head gasket on the block and make sure it matches the bores in the block. Place the cylinder head onto the </a:t>
            </a:r>
            <a:r>
              <a:rPr lang="en-US" sz="1800">
                <a:solidFill>
                  <a:schemeClr val="accent1"/>
                </a:solidFill>
              </a:rPr>
              <a:t>block.</a:t>
            </a:r>
            <a:endParaRPr lang="en-US" sz="1800" dirty="0">
              <a:solidFill>
                <a:schemeClr val="accent1"/>
              </a:solidFill>
            </a:endParaRPr>
          </a:p>
          <a:p>
            <a:pPr marL="357188" indent="-357188">
              <a:spcAft>
                <a:spcPts val="400"/>
              </a:spcAft>
              <a:buSzPct val="100000"/>
            </a:pPr>
            <a:r>
              <a:rPr lang="en-US" sz="1800" dirty="0">
                <a:solidFill>
                  <a:schemeClr val="accent1"/>
                </a:solidFill>
              </a:rPr>
              <a:t>Make sure that the dowel pins are in place and that the head and block are properly aligned. Tighten the head bolts according to the recommended sequence and to the </a:t>
            </a:r>
            <a:r>
              <a:rPr lang="en-US" sz="1800">
                <a:solidFill>
                  <a:schemeClr val="accent1"/>
                </a:solidFill>
              </a:rPr>
              <a:t>specified torque.</a:t>
            </a:r>
            <a:endParaRPr lang="en-US" sz="1800" dirty="0">
              <a:solidFill>
                <a:schemeClr val="accent1"/>
              </a:solidFill>
            </a:endParaRPr>
          </a:p>
          <a:p>
            <a:pPr marL="357188" indent="-357188">
              <a:spcAft>
                <a:spcPts val="400"/>
              </a:spcAft>
              <a:buSzPct val="100000"/>
            </a:pPr>
            <a:r>
              <a:rPr lang="en-US" sz="1800" dirty="0">
                <a:solidFill>
                  <a:schemeClr val="accent1"/>
                </a:solidFill>
              </a:rPr>
              <a:t>For OHV engines, before inserting the pushrods, check their straightness by rolling them on a flat, level surface. Inspect the ends for wear and make sure the internal passage is clear. When installing, apply some assembly lube to both </a:t>
            </a:r>
            <a:r>
              <a:rPr lang="en-US" sz="1800">
                <a:solidFill>
                  <a:schemeClr val="accent1"/>
                </a:solidFill>
              </a:rPr>
              <a:t>ends.</a:t>
            </a:r>
            <a:endParaRPr lang="en-US" sz="1800" dirty="0">
              <a:solidFill>
                <a:schemeClr val="accent1"/>
              </a:solidFill>
            </a:endParaRPr>
          </a:p>
        </p:txBody>
      </p:sp>
    </p:spTree>
    <p:extLst>
      <p:ext uri="{BB962C8B-B14F-4D97-AF65-F5344CB8AC3E}">
        <p14:creationId xmlns:p14="http://schemas.microsoft.com/office/powerpoint/2010/main" val="8834912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Engine Reassembly (2 of </a:t>
            </a:r>
            <a:r>
              <a:rPr lang="en-US" dirty="0"/>
              <a:t>5)</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800" dirty="0"/>
              <a:t>Liberally coat the rocker arms with assembly lube or clean engine oil. Then install the pushrods and rocker arms. Many OHV engines have positive stop rocker arm </a:t>
            </a:r>
            <a:r>
              <a:rPr lang="en-US" sz="1800"/>
              <a:t>adjustments.</a:t>
            </a:r>
          </a:p>
          <a:p>
            <a:pPr marL="357188" indent="-357188">
              <a:spcAft>
                <a:spcPts val="600"/>
              </a:spcAft>
              <a:buSzPct val="100000"/>
            </a:pPr>
            <a:r>
              <a:rPr lang="en-US" sz="1800"/>
              <a:t>This means that when torquing the rocker arms to spec, the plunger of the hydraulic lifter is properly positioned, giving the correct lifter adjustment.</a:t>
            </a:r>
          </a:p>
          <a:p>
            <a:pPr marL="357188" indent="-357188">
              <a:spcAft>
                <a:spcPts val="600"/>
              </a:spcAft>
              <a:buSzPct val="100000"/>
            </a:pPr>
            <a:r>
              <a:rPr lang="en-US" sz="1800"/>
              <a:t>The </a:t>
            </a:r>
            <a:r>
              <a:rPr lang="en-US" sz="1800" dirty="0"/>
              <a:t>alignment of the camshaft(s) with the crankshaft is critical. The alignment marks and the correct procedure for doing this vary with the engine </a:t>
            </a:r>
            <a:r>
              <a:rPr lang="en-US" sz="1800"/>
              <a:t>design.</a:t>
            </a:r>
            <a:endParaRPr lang="en-US" sz="1800" dirty="0"/>
          </a:p>
          <a:p>
            <a:pPr marL="357188" indent="-357188">
              <a:spcAft>
                <a:spcPts val="600"/>
              </a:spcAft>
              <a:buSzPct val="100000"/>
            </a:pPr>
            <a:r>
              <a:rPr lang="en-US" sz="1800" dirty="0"/>
              <a:t>Many engines have primary (cam) belts and secondary belts for the balance shafts. These must be properly timed.</a:t>
            </a:r>
          </a:p>
          <a:p>
            <a:pPr marL="357188" indent="-357188">
              <a:spcAft>
                <a:spcPts val="600"/>
              </a:spcAft>
              <a:buSzPct val="100000"/>
            </a:pPr>
            <a:r>
              <a:rPr lang="en-US" sz="1800" dirty="0"/>
              <a:t>Check the service information for the correct alignment and tension adjustment procedures. Make sure that the belt tensioners are set </a:t>
            </a:r>
            <a:r>
              <a:rPr lang="en-US" sz="1800"/>
              <a:t>properly.</a:t>
            </a:r>
            <a:endParaRPr lang="en-US" sz="1800" dirty="0"/>
          </a:p>
          <a:p>
            <a:pPr marL="357188" indent="-357188">
              <a:spcAft>
                <a:spcPts val="600"/>
              </a:spcAft>
              <a:buSzPct val="100000"/>
            </a:pPr>
            <a:r>
              <a:rPr lang="en-US" sz="1800" dirty="0"/>
              <a:t>Replacement of the belts and related components as part of a maintenance program can decrease the chances of the belt breaking, which can cause major engine damage on </a:t>
            </a:r>
            <a:r>
              <a:rPr lang="en-US" sz="1800" b="1" dirty="0"/>
              <a:t>interference </a:t>
            </a:r>
            <a:r>
              <a:rPr lang="en-US" sz="1800" b="1"/>
              <a:t>engines</a:t>
            </a:r>
            <a:r>
              <a:rPr lang="en-US" sz="1800"/>
              <a:t>.</a:t>
            </a:r>
            <a:endParaRPr lang="en-US" sz="1800" dirty="0"/>
          </a:p>
        </p:txBody>
      </p:sp>
    </p:spTree>
    <p:extLst>
      <p:ext uri="{BB962C8B-B14F-4D97-AF65-F5344CB8AC3E}">
        <p14:creationId xmlns:p14="http://schemas.microsoft.com/office/powerpoint/2010/main" val="243961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Engine Reassembly (3 of </a:t>
            </a:r>
            <a:r>
              <a:rPr lang="en-US" dirty="0"/>
              <a:t>5)</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1600" dirty="0"/>
              <a:t>Both timing belt and timing chain engines can be interference engines, meaning that if the cam and crank get out of time, the valves can be down when the pistons are moving up. This usually results in, at minimum, bent valves. In the worst situations, valve heads snap off and become embedded into the tops of the pistons.</a:t>
            </a:r>
          </a:p>
          <a:p>
            <a:pPr marL="357188" indent="-357188">
              <a:spcAft>
                <a:spcPts val="600"/>
              </a:spcAft>
              <a:buSzPct val="100000"/>
            </a:pPr>
            <a:r>
              <a:rPr lang="en-US" sz="1600" dirty="0"/>
              <a:t>Some engines drive the water pump with the timing belt, so replacing the pump with the belt is a common </a:t>
            </a:r>
            <a:r>
              <a:rPr lang="en-US" sz="1600"/>
              <a:t>procedure.</a:t>
            </a:r>
            <a:endParaRPr lang="en-US" sz="1600" dirty="0"/>
          </a:p>
          <a:p>
            <a:pPr marL="357188" indent="-357188">
              <a:spcAft>
                <a:spcPts val="600"/>
              </a:spcAft>
              <a:buSzPct val="100000"/>
            </a:pPr>
            <a:r>
              <a:rPr lang="en-US" sz="1600" dirty="0"/>
              <a:t>Inspect the cam and crank oil seals for leakage while the covers are off. Replace a leaking seal while the belt is off to prevent having to go back and do the work a second time.</a:t>
            </a:r>
          </a:p>
          <a:p>
            <a:pPr marL="357188" indent="-357188">
              <a:spcAft>
                <a:spcPts val="600"/>
              </a:spcAft>
              <a:buSzPct val="100000"/>
            </a:pPr>
            <a:r>
              <a:rPr lang="en-US" sz="1600" dirty="0"/>
              <a:t>Now rotate the engine through at least two more revolutions. Recheck the timing marks on the crankshaft and camshaft. If necessary, readjust the timing and tension.</a:t>
            </a:r>
          </a:p>
          <a:p>
            <a:pPr marL="357188" indent="-357188">
              <a:spcAft>
                <a:spcPts val="600"/>
              </a:spcAft>
              <a:buSzPct val="100000"/>
            </a:pPr>
            <a:r>
              <a:rPr lang="en-US" sz="1600" dirty="0"/>
              <a:t>An engine may have a single chain, as most OHV V8 engines, or have three or more chains. DOHC engines may have individual chains that connect to each of the camshafts.</a:t>
            </a:r>
          </a:p>
          <a:p>
            <a:pPr marL="357188" indent="-357188">
              <a:spcAft>
                <a:spcPts val="600"/>
              </a:spcAft>
              <a:buSzPct val="100000"/>
            </a:pPr>
            <a:r>
              <a:rPr lang="en-US" sz="1600" dirty="0"/>
              <a:t>Engines with multiple chains often have multi-step timing procedures, which must be followed exactly to ensure correct timing and prevent engine damage.</a:t>
            </a:r>
          </a:p>
        </p:txBody>
      </p:sp>
    </p:spTree>
    <p:extLst>
      <p:ext uri="{BB962C8B-B14F-4D97-AF65-F5344CB8AC3E}">
        <p14:creationId xmlns:p14="http://schemas.microsoft.com/office/powerpoint/2010/main" val="41281741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Engine Reassembly (4 of 5)</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These are general procedures to replace timing chain on a late-model V6 with the engine still in the vehicle. Always follow the manufacturer’s service information.</a:t>
            </a:r>
          </a:p>
          <a:p>
            <a:pPr marL="715963" indent="-357188">
              <a:buSzPct val="100000"/>
              <a:buFont typeface="+mj-lt"/>
              <a:buAutoNum type="arabicPeriod"/>
            </a:pPr>
            <a:r>
              <a:rPr lang="en-US" sz="1600" dirty="0"/>
              <a:t>Remove the upper intake manifold and valve covers to access the camshafts.</a:t>
            </a:r>
          </a:p>
          <a:p>
            <a:pPr marL="715963" indent="-357188">
              <a:buSzPct val="100000"/>
              <a:buFont typeface="+mj-lt"/>
              <a:buAutoNum type="arabicPeriod"/>
            </a:pPr>
            <a:r>
              <a:rPr lang="en-US" sz="1600" dirty="0"/>
              <a:t>Remove the crankshaft pulley and timing cover.</a:t>
            </a:r>
          </a:p>
          <a:p>
            <a:pPr marL="715963" indent="-357188">
              <a:buSzPct val="100000"/>
              <a:buFont typeface="+mj-lt"/>
              <a:buAutoNum type="arabicPeriod"/>
            </a:pPr>
            <a:r>
              <a:rPr lang="en-US" sz="1600" dirty="0"/>
              <a:t>Set the crankshaft to the first alignment position. Remove the chain tensioner, guides, and chain for the first bank.</a:t>
            </a:r>
          </a:p>
          <a:p>
            <a:pPr marL="715963" indent="-357188">
              <a:buSzPct val="100000"/>
              <a:buFont typeface="+mj-lt"/>
              <a:buAutoNum type="arabicPeriod"/>
            </a:pPr>
            <a:r>
              <a:rPr lang="en-US" sz="1600" dirty="0"/>
              <a:t>Rotate the crank to the second alignment position. Remove the tensioner, guides, and primary timing chain. Remove the tensioners, guides, and chain for the second bank.</a:t>
            </a:r>
          </a:p>
          <a:p>
            <a:pPr marL="715963" indent="-357188">
              <a:buSzPct val="100000"/>
              <a:buFont typeface="+mj-lt"/>
              <a:buAutoNum type="arabicPeriod"/>
            </a:pPr>
            <a:r>
              <a:rPr lang="en-US" sz="1600" dirty="0"/>
              <a:t>When replacing the camshaft sprockets or VVT phasers.</a:t>
            </a:r>
          </a:p>
          <a:p>
            <a:pPr marL="715963" indent="-357188">
              <a:buSzPct val="100000"/>
              <a:buFont typeface="+mj-lt"/>
              <a:buAutoNum type="arabicPeriod"/>
            </a:pPr>
            <a:r>
              <a:rPr lang="en-US" sz="1600" dirty="0"/>
              <a:t>Install the new chain on the second bank. Note any painted links on the chain. Align the chain per the service information. Install and torque the guides and tensioner. Recheck all timing marks and release the tensioner</a:t>
            </a:r>
            <a:r>
              <a:rPr lang="en-US" sz="1600" dirty="0">
                <a:solidFill>
                  <a:srgbClr val="FF0000"/>
                </a:solidFill>
              </a:rPr>
              <a:t>.</a:t>
            </a:r>
          </a:p>
          <a:p>
            <a:pPr marL="715963" indent="-357188">
              <a:buSzPct val="100000"/>
              <a:buFont typeface="+mj-lt"/>
              <a:buAutoNum type="arabicPeriod"/>
            </a:pPr>
            <a:r>
              <a:rPr lang="en-US" sz="1600" dirty="0"/>
              <a:t>Install the primary chain with the timing marks aligned properly. Install the chain guides and tensioner. Recheck all timing marks and release the tensioner.</a:t>
            </a:r>
          </a:p>
          <a:p>
            <a:pPr marL="715963" indent="-357188">
              <a:buSzPct val="100000"/>
              <a:buFont typeface="+mj-lt"/>
              <a:buAutoNum type="arabicPeriod"/>
            </a:pPr>
            <a:r>
              <a:rPr lang="en-US" sz="1600" dirty="0"/>
              <a:t>Repeat step 8 for secondary chain.</a:t>
            </a:r>
          </a:p>
        </p:txBody>
      </p:sp>
    </p:spTree>
    <p:extLst>
      <p:ext uri="{BB962C8B-B14F-4D97-AF65-F5344CB8AC3E}">
        <p14:creationId xmlns:p14="http://schemas.microsoft.com/office/powerpoint/2010/main" val="1322922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Engine Reassembly (5 of 5)</a:t>
            </a:r>
            <a:endParaRPr dirty="0"/>
          </a:p>
        </p:txBody>
      </p:sp>
      <p:sp>
        <p:nvSpPr>
          <p:cNvPr id="145" name="Google Shape;145;p4"/>
          <p:cNvSpPr txBox="1">
            <a:spLocks noGrp="1"/>
          </p:cNvSpPr>
          <p:nvPr>
            <p:ph type="body" idx="1"/>
          </p:nvPr>
        </p:nvSpPr>
        <p:spPr>
          <a:xfrm>
            <a:off x="476844" y="1563624"/>
            <a:ext cx="8098745" cy="4600869"/>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solidFill>
                  <a:schemeClr val="accent1"/>
                </a:solidFill>
              </a:rPr>
              <a:t>Nearly all engines must have their valve clearance set before starting after a rebuild.</a:t>
            </a:r>
          </a:p>
          <a:p>
            <a:pPr marL="357188" indent="-357188">
              <a:buSzPct val="100000"/>
            </a:pPr>
            <a:r>
              <a:rPr lang="en-US" sz="1800" dirty="0">
                <a:solidFill>
                  <a:schemeClr val="accent1"/>
                </a:solidFill>
              </a:rPr>
              <a:t>Engines with solid lifters require periodic valve adjustments. </a:t>
            </a:r>
          </a:p>
          <a:p>
            <a:pPr marL="357188" indent="-357188">
              <a:buSzPct val="100000"/>
            </a:pPr>
            <a:r>
              <a:rPr lang="en-US" sz="1800" dirty="0">
                <a:solidFill>
                  <a:schemeClr val="accent1"/>
                </a:solidFill>
              </a:rPr>
              <a:t>Valve clearance is called valve lash and is checked by inserting a feeler gauge between the valve tip and the rocker arm or cam lobe.</a:t>
            </a:r>
          </a:p>
          <a:p>
            <a:pPr marL="357188" indent="-357188">
              <a:buSzPct val="100000"/>
            </a:pPr>
            <a:r>
              <a:rPr lang="en-US" sz="1800" dirty="0">
                <a:solidFill>
                  <a:schemeClr val="accent1"/>
                </a:solidFill>
              </a:rPr>
              <a:t>The proper amount of valve lash allows for the expansion of parts as the engine’s temperature rises.</a:t>
            </a:r>
          </a:p>
          <a:p>
            <a:pPr marL="357188" indent="-357188">
              <a:buSzPct val="100000"/>
            </a:pPr>
            <a:r>
              <a:rPr lang="en-US" sz="1800" dirty="0">
                <a:solidFill>
                  <a:schemeClr val="accent1"/>
                </a:solidFill>
              </a:rPr>
              <a:t>This prevents excessive wear and/or damage to the valve train. It also minimizes valve train noise.</a:t>
            </a:r>
          </a:p>
          <a:p>
            <a:pPr marL="357188" indent="-357188">
              <a:buSzPct val="100000"/>
            </a:pPr>
            <a:r>
              <a:rPr lang="en-US" sz="1800" dirty="0">
                <a:solidFill>
                  <a:schemeClr val="accent1"/>
                </a:solidFill>
              </a:rPr>
              <a:t>Always refer to the service information before adjusting valve lash.</a:t>
            </a:r>
          </a:p>
          <a:p>
            <a:pPr marL="357188" indent="-357188">
              <a:buSzPct val="100000"/>
            </a:pPr>
            <a:r>
              <a:rPr lang="en-US" sz="1800" b="1" dirty="0">
                <a:solidFill>
                  <a:schemeClr val="accent1"/>
                </a:solidFill>
              </a:rPr>
              <a:t>Valve lash </a:t>
            </a:r>
            <a:r>
              <a:rPr lang="en-US" sz="1800" dirty="0">
                <a:solidFill>
                  <a:schemeClr val="accent1"/>
                </a:solidFill>
              </a:rPr>
              <a:t>can be adjusted with the engine in or out of the vehicle.</a:t>
            </a:r>
          </a:p>
          <a:p>
            <a:pPr marL="357188" indent="-357188">
              <a:buSzPct val="100000"/>
            </a:pPr>
            <a:r>
              <a:rPr lang="en-US" sz="1800" dirty="0">
                <a:solidFill>
                  <a:schemeClr val="accent1"/>
                </a:solidFill>
              </a:rPr>
              <a:t>The adjustment may use a threaded adjuster and lock nut, may use shims, or may utilize hydraulic lifters.</a:t>
            </a:r>
          </a:p>
        </p:txBody>
      </p:sp>
      <p:pic>
        <p:nvPicPr>
          <p:cNvPr id="3" name="Picture Placeholder 2" descr="An overhead cam engine with two cam followers placed adjacently, each having an adjustment screw.">
            <a:extLst>
              <a:ext uri="{FF2B5EF4-FFF2-40B4-BE49-F238E27FC236}">
                <a16:creationId xmlns:a16="http://schemas.microsoft.com/office/drawing/2014/main" id="{1E654324-B21B-A380-8FDD-F4AAF9E2CBCC}"/>
              </a:ext>
            </a:extLst>
          </p:cNvPr>
          <p:cNvPicPr>
            <a:picLocks noGrp="1" noChangeAspect="1"/>
          </p:cNvPicPr>
          <p:nvPr>
            <p:ph type="pic" sz="quarter" idx="10"/>
          </p:nvPr>
        </p:nvPicPr>
        <p:blipFill rotWithShape="1">
          <a:blip r:embed="rId3"/>
          <a:srcRect b="9907"/>
          <a:stretch/>
        </p:blipFill>
        <p:spPr>
          <a:xfrm>
            <a:off x="8837859" y="1930269"/>
            <a:ext cx="3091985" cy="3042423"/>
          </a:xfrm>
          <a:prstGeom prst="rect">
            <a:avLst/>
          </a:prstGeom>
        </p:spPr>
      </p:pic>
    </p:spTree>
    <p:extLst>
      <p:ext uri="{BB962C8B-B14F-4D97-AF65-F5344CB8AC3E}">
        <p14:creationId xmlns:p14="http://schemas.microsoft.com/office/powerpoint/2010/main" val="22327260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Final </a:t>
            </a:r>
            <a:r>
              <a:rPr lang="en-US" sz="4000" dirty="0"/>
              <a:t>Reassembly Steps (</a:t>
            </a:r>
            <a:r>
              <a:rPr lang="en-US" dirty="0"/>
              <a:t>1</a:t>
            </a:r>
            <a:r>
              <a:rPr lang="en-US" sz="4000" dirty="0"/>
              <a:t> of 5)</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400"/>
              </a:spcAft>
              <a:buSzPct val="100000"/>
            </a:pPr>
            <a:r>
              <a:rPr lang="en-US" sz="1800" dirty="0"/>
              <a:t>The final steps in engine reassembly involve installing various covers, pulleys, sensors, and other related items that mount directly to the </a:t>
            </a:r>
            <a:r>
              <a:rPr lang="en-US" sz="1800"/>
              <a:t>engine.</a:t>
            </a:r>
            <a:endParaRPr lang="en-US" sz="1800" dirty="0"/>
          </a:p>
          <a:p>
            <a:pPr marL="357188" indent="-357188">
              <a:spcAft>
                <a:spcPts val="400"/>
              </a:spcAft>
              <a:buSzPct val="100000"/>
            </a:pPr>
            <a:r>
              <a:rPr lang="en-US" sz="1800" dirty="0"/>
              <a:t>Make sure all coolant drains and plugs are installed in the block. Drains are normally threaded into the block with a thread sealant. This is also true for all threaded plugs</a:t>
            </a:r>
          </a:p>
          <a:p>
            <a:pPr marL="357188" indent="-357188">
              <a:spcAft>
                <a:spcPts val="400"/>
              </a:spcAft>
              <a:buSzPct val="100000"/>
            </a:pPr>
            <a:r>
              <a:rPr lang="en-US" sz="1800" dirty="0"/>
              <a:t>Proper installation of the crankshaft and camshaft timing sensors is critical. Make sure to coat new O-rings with clean oil before they are installed. Some sensors have a specified gap that must be set during installation</a:t>
            </a:r>
            <a:r>
              <a:rPr lang="en-US" sz="1800" dirty="0">
                <a:solidFill>
                  <a:srgbClr val="FF0000"/>
                </a:solidFill>
              </a:rPr>
              <a:t>.</a:t>
            </a:r>
          </a:p>
          <a:p>
            <a:pPr marL="357188" indent="-357188">
              <a:spcAft>
                <a:spcPts val="400"/>
              </a:spcAft>
              <a:buSzPct val="100000"/>
            </a:pPr>
            <a:r>
              <a:rPr lang="en-US" sz="1800" dirty="0"/>
              <a:t>When replacing the timing cover, install the new seals with a press, seal driver, or hammer and a clean block of wood. When installing seals, be sure to support the underside of the cover to prevent </a:t>
            </a:r>
            <a:r>
              <a:rPr lang="en-US" sz="1800"/>
              <a:t>damage.</a:t>
            </a:r>
            <a:endParaRPr lang="en-US" sz="1800" dirty="0"/>
          </a:p>
          <a:p>
            <a:pPr marL="357188" indent="-357188">
              <a:spcAft>
                <a:spcPts val="400"/>
              </a:spcAft>
              <a:buSzPct val="100000"/>
            </a:pPr>
            <a:r>
              <a:rPr lang="en-US" sz="1800" dirty="0"/>
              <a:t>Install the vibration damper onto the snout of the crankshaft using the proper tool. Make sure the woodruff key is in place. Some dampers are not pressed-fit onto the </a:t>
            </a:r>
            <a:r>
              <a:rPr lang="en-US" sz="1800"/>
              <a:t>crankshaft.</a:t>
            </a:r>
            <a:endParaRPr lang="en-US" sz="1800" dirty="0"/>
          </a:p>
          <a:p>
            <a:pPr marL="357188" indent="-357188">
              <a:spcAft>
                <a:spcPts val="400"/>
              </a:spcAft>
              <a:buSzPct val="100000"/>
            </a:pPr>
            <a:r>
              <a:rPr lang="en-US" sz="1800" dirty="0"/>
              <a:t>Mount the crankshaft pulley to the outside of the damper and tighten its mounting bolts to specifications commonly using a holding tool.</a:t>
            </a:r>
          </a:p>
        </p:txBody>
      </p:sp>
    </p:spTree>
    <p:extLst>
      <p:ext uri="{BB962C8B-B14F-4D97-AF65-F5344CB8AC3E}">
        <p14:creationId xmlns:p14="http://schemas.microsoft.com/office/powerpoint/2010/main" val="83965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Final Reassembly Steps (2 of 5)</a:t>
            </a:r>
            <a:endParaRPr sz="3600" dirty="0"/>
          </a:p>
        </p:txBody>
      </p:sp>
      <p:sp>
        <p:nvSpPr>
          <p:cNvPr id="145" name="Google Shape;145;p4"/>
          <p:cNvSpPr txBox="1">
            <a:spLocks noGrp="1"/>
          </p:cNvSpPr>
          <p:nvPr>
            <p:ph type="body" idx="1"/>
          </p:nvPr>
        </p:nvSpPr>
        <p:spPr>
          <a:xfrm>
            <a:off x="476843" y="1563625"/>
            <a:ext cx="6982195" cy="4528950"/>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solidFill>
                  <a:schemeClr val="accent1"/>
                </a:solidFill>
              </a:rPr>
              <a:t>Cover: Before installing a stamped valve cover, make sure the cover’s sealing flange is flat, then apply contact adhesive to the valve cover’s sealing surfaces in small dabs. Mount the valve cover gasket on the valve cover and align it.</a:t>
            </a:r>
          </a:p>
          <a:p>
            <a:pPr marL="719138" lvl="1" indent="-358775">
              <a:spcAft>
                <a:spcPts val="600"/>
              </a:spcAft>
              <a:buSzPct val="100000"/>
            </a:pPr>
            <a:r>
              <a:rPr lang="en-US" sz="1800" dirty="0">
                <a:solidFill>
                  <a:schemeClr val="accent1"/>
                </a:solidFill>
              </a:rPr>
              <a:t>Allow the adhesive to dry completely before mounting the valve cover on the cylinder head. Torque the mounting bolts to specifications. Cast plastic and aluminum cam and valve covers normally have a rubber gasket.</a:t>
            </a:r>
          </a:p>
          <a:p>
            <a:pPr marL="719138" lvl="1" indent="-358775">
              <a:spcAft>
                <a:spcPts val="600"/>
              </a:spcAft>
              <a:buSzPct val="100000"/>
            </a:pPr>
            <a:r>
              <a:rPr lang="en-US" sz="1800" dirty="0">
                <a:solidFill>
                  <a:schemeClr val="accent1"/>
                </a:solidFill>
              </a:rPr>
              <a:t> Do not apply an adhesive or sealant to the gasket unless instructed to do so. Start all of the mounting bolts before beginning the tightening sequence.</a:t>
            </a:r>
          </a:p>
        </p:txBody>
      </p:sp>
      <p:pic>
        <p:nvPicPr>
          <p:cNvPr id="3" name="Picture Placeholder 2" descr="A technician checks an oil pan flange for the cover sealing's flatness.">
            <a:extLst>
              <a:ext uri="{FF2B5EF4-FFF2-40B4-BE49-F238E27FC236}">
                <a16:creationId xmlns:a16="http://schemas.microsoft.com/office/drawing/2014/main" id="{FDFFF72B-F3AB-EDF1-5722-445EEEFB36EF}"/>
              </a:ext>
            </a:extLst>
          </p:cNvPr>
          <p:cNvPicPr>
            <a:picLocks noGrp="1" noChangeAspect="1"/>
          </p:cNvPicPr>
          <p:nvPr>
            <p:ph type="pic" sz="quarter" idx="10"/>
          </p:nvPr>
        </p:nvPicPr>
        <p:blipFill>
          <a:blip r:embed="rId3"/>
          <a:srcRect b="8739"/>
          <a:stretch/>
        </p:blipFill>
        <p:spPr>
          <a:xfrm>
            <a:off x="7711376" y="2092462"/>
            <a:ext cx="4086803" cy="3167907"/>
          </a:xfrm>
          <a:prstGeom prst="rect">
            <a:avLst/>
          </a:prstGeom>
        </p:spPr>
      </p:pic>
    </p:spTree>
    <p:extLst>
      <p:ext uri="{BB962C8B-B14F-4D97-AF65-F5344CB8AC3E}">
        <p14:creationId xmlns:p14="http://schemas.microsoft.com/office/powerpoint/2010/main" val="1073321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Final Reassembly Steps (3 of 5)</a:t>
            </a:r>
            <a:endParaRPr sz="3600" dirty="0"/>
          </a:p>
        </p:txBody>
      </p:sp>
      <p:sp>
        <p:nvSpPr>
          <p:cNvPr id="145" name="Google Shape;145;p4"/>
          <p:cNvSpPr txBox="1">
            <a:spLocks noGrp="1"/>
          </p:cNvSpPr>
          <p:nvPr>
            <p:ph type="body" idx="1"/>
          </p:nvPr>
        </p:nvSpPr>
        <p:spPr>
          <a:xfrm>
            <a:off x="476843" y="1477125"/>
            <a:ext cx="11373287" cy="4613339"/>
          </a:xfrm>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t>When replacing the water pump, in many cases, a coating of waterproof sealer should be applied to both sides of the new gasket. Position the pump against the block. Install the mounting bolts and tighten them to specifications. Careless tightening could cause the pump housing to crack. After tightening, check the pump to make sure it rotates freely. Then, install the drive pulley onto the pump’s shaft.</a:t>
            </a:r>
          </a:p>
          <a:p>
            <a:pPr marL="357188" indent="-357188">
              <a:spcAft>
                <a:spcPts val="600"/>
              </a:spcAft>
              <a:buSzPct val="100000"/>
            </a:pPr>
            <a:r>
              <a:rPr lang="en-US" sz="2000" dirty="0"/>
              <a:t>Before installing a stamped oil pan, check the flanges for warpage. Use a straightedge (Figure 13–40) or lay the pan, flange side down, on a flat surface with a flashlight underneath it to spot uneven edges. Carefully check the flange around the bolt holes.</a:t>
            </a:r>
          </a:p>
          <a:p>
            <a:pPr marL="719138" lvl="1" indent="-358775">
              <a:spcAft>
                <a:spcPts val="600"/>
              </a:spcAft>
              <a:buSzPct val="100000"/>
            </a:pPr>
            <a:r>
              <a:rPr lang="en-US" sz="1800" dirty="0"/>
              <a:t>Minor distortions can be corrected with a hammer and block of wood. If the flanges are too bent to be repaired in this manner, the pan should be replaced. Once it has been determined that the flanges are flat, install the oil pan with a new gasket. Cast pans are replaced if they are warped or damaged.</a:t>
            </a:r>
          </a:p>
          <a:p>
            <a:pPr marL="719138" lvl="1" indent="-358775">
              <a:spcAft>
                <a:spcPts val="600"/>
              </a:spcAft>
              <a:buSzPct val="100000"/>
            </a:pPr>
            <a:r>
              <a:rPr lang="en-US" sz="1800" dirty="0"/>
              <a:t>Their mounting bolts should be tightened in the proper sequence and to the specified torque.</a:t>
            </a:r>
          </a:p>
        </p:txBody>
      </p:sp>
    </p:spTree>
    <p:extLst>
      <p:ext uri="{BB962C8B-B14F-4D97-AF65-F5344CB8AC3E}">
        <p14:creationId xmlns:p14="http://schemas.microsoft.com/office/powerpoint/2010/main" val="36052050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Final Reassembly Steps (4 of 5)</a:t>
            </a:r>
            <a:endParaRPr sz="3600" dirty="0"/>
          </a:p>
        </p:txBody>
      </p:sp>
      <p:sp>
        <p:nvSpPr>
          <p:cNvPr id="145" name="Google Shape;145;p4"/>
          <p:cNvSpPr txBox="1">
            <a:spLocks noGrp="1"/>
          </p:cNvSpPr>
          <p:nvPr>
            <p:ph type="body" idx="1"/>
          </p:nvPr>
        </p:nvSpPr>
        <p:spPr>
          <a:xfrm>
            <a:off x="476843" y="1563624"/>
            <a:ext cx="6858905" cy="4477579"/>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buSzPct val="100000"/>
            </a:pPr>
            <a:r>
              <a:rPr lang="en-US" sz="1800" dirty="0">
                <a:solidFill>
                  <a:schemeClr val="accent1"/>
                </a:solidFill>
              </a:rPr>
              <a:t>Set the assembled engine on the floor and support it on blocks of wood while attaching the flywheel or </a:t>
            </a:r>
            <a:r>
              <a:rPr lang="en-US" sz="1800">
                <a:solidFill>
                  <a:schemeClr val="accent1"/>
                </a:solidFill>
              </a:rPr>
              <a:t>flexplate.</a:t>
            </a:r>
            <a:endParaRPr lang="en-US" sz="1800" dirty="0">
              <a:solidFill>
                <a:schemeClr val="accent1"/>
              </a:solidFill>
            </a:endParaRPr>
          </a:p>
          <a:p>
            <a:pPr marL="357188" indent="-357188">
              <a:lnSpc>
                <a:spcPct val="107000"/>
              </a:lnSpc>
              <a:spcBef>
                <a:spcPts val="0"/>
              </a:spcBef>
              <a:buSzPct val="100000"/>
            </a:pPr>
            <a:r>
              <a:rPr lang="en-US" sz="1800" dirty="0">
                <a:solidFill>
                  <a:schemeClr val="accent1"/>
                </a:solidFill>
              </a:rPr>
              <a:t>Manufacturers often recommend coating the bolts with an adhesive. A flywheel holding tool is often required to tighten the bolts to </a:t>
            </a:r>
            <a:r>
              <a:rPr lang="en-US" sz="1800">
                <a:solidFill>
                  <a:schemeClr val="accent1"/>
                </a:solidFill>
              </a:rPr>
              <a:t>specifications.</a:t>
            </a:r>
            <a:endParaRPr lang="en-US" sz="1800" dirty="0">
              <a:solidFill>
                <a:schemeClr val="accent1"/>
              </a:solidFill>
            </a:endParaRPr>
          </a:p>
          <a:p>
            <a:pPr marL="357188" indent="-357188">
              <a:lnSpc>
                <a:spcPct val="107000"/>
              </a:lnSpc>
              <a:spcBef>
                <a:spcPts val="0"/>
              </a:spcBef>
              <a:buSzPct val="100000"/>
            </a:pPr>
            <a:r>
              <a:rPr lang="en-US" sz="1800" dirty="0">
                <a:solidFill>
                  <a:schemeClr val="accent1"/>
                </a:solidFill>
              </a:rPr>
              <a:t>Always follow the specified sequence while tightening.</a:t>
            </a:r>
          </a:p>
          <a:p>
            <a:pPr marL="357188" indent="-357188">
              <a:lnSpc>
                <a:spcPct val="107000"/>
              </a:lnSpc>
              <a:spcBef>
                <a:spcPts val="0"/>
              </a:spcBef>
              <a:buSzPct val="100000"/>
            </a:pPr>
            <a:r>
              <a:rPr lang="en-US" sz="1800" dirty="0">
                <a:solidFill>
                  <a:schemeClr val="accent1"/>
                </a:solidFill>
              </a:rPr>
              <a:t>Clutch Parts: If the vehicle has a manual transmission, install the clutch </a:t>
            </a:r>
            <a:r>
              <a:rPr lang="en-US" sz="1800">
                <a:solidFill>
                  <a:schemeClr val="accent1"/>
                </a:solidFill>
              </a:rPr>
              <a:t>assembly.</a:t>
            </a:r>
            <a:endParaRPr lang="en-US" sz="1800" dirty="0">
              <a:solidFill>
                <a:schemeClr val="accent1"/>
              </a:solidFill>
            </a:endParaRPr>
          </a:p>
          <a:p>
            <a:pPr marL="357188" indent="-357188">
              <a:lnSpc>
                <a:spcPct val="107000"/>
              </a:lnSpc>
              <a:spcBef>
                <a:spcPts val="0"/>
              </a:spcBef>
              <a:buSzPct val="100000"/>
            </a:pPr>
            <a:r>
              <a:rPr lang="en-US" sz="1800" dirty="0">
                <a:solidFill>
                  <a:schemeClr val="accent1"/>
                </a:solidFill>
              </a:rPr>
              <a:t>Make sure that the transmission’s pilot bushing or bearing is in place in the rear of the crankshaft and that it is in good </a:t>
            </a:r>
            <a:r>
              <a:rPr lang="en-US" sz="1800">
                <a:solidFill>
                  <a:schemeClr val="accent1"/>
                </a:solidFill>
              </a:rPr>
              <a:t>condition.</a:t>
            </a:r>
            <a:endParaRPr lang="en-US" sz="1800" dirty="0">
              <a:solidFill>
                <a:schemeClr val="accent1"/>
              </a:solidFill>
            </a:endParaRPr>
          </a:p>
          <a:p>
            <a:pPr marL="357188" indent="-357188">
              <a:lnSpc>
                <a:spcPct val="107000"/>
              </a:lnSpc>
              <a:spcBef>
                <a:spcPts val="0"/>
              </a:spcBef>
              <a:buSzPct val="100000"/>
            </a:pPr>
            <a:r>
              <a:rPr lang="en-US" sz="1800" dirty="0">
                <a:solidFill>
                  <a:schemeClr val="accent1"/>
                </a:solidFill>
              </a:rPr>
              <a:t>Using a clutch-aligning tool, or an old transmission input shaft, align the clutch disc. Then, tighten the disc and clutch pressure plate to the </a:t>
            </a:r>
            <a:r>
              <a:rPr lang="en-US" sz="1800">
                <a:solidFill>
                  <a:schemeClr val="accent1"/>
                </a:solidFill>
              </a:rPr>
              <a:t>flywheel.</a:t>
            </a:r>
            <a:endParaRPr lang="en-US" sz="1400" dirty="0">
              <a:solidFill>
                <a:schemeClr val="accent1"/>
              </a:solidFill>
            </a:endParaRPr>
          </a:p>
        </p:txBody>
      </p:sp>
      <p:pic>
        <p:nvPicPr>
          <p:cNvPr id="4" name="Picture Placeholder 3" descr="A technician uses a tool to hold and rotate a flywheel, and also uses it to tighten the bolts.">
            <a:extLst>
              <a:ext uri="{FF2B5EF4-FFF2-40B4-BE49-F238E27FC236}">
                <a16:creationId xmlns:a16="http://schemas.microsoft.com/office/drawing/2014/main" id="{22F7C08C-8094-C66D-F842-4E96C2E03FA6}"/>
              </a:ext>
            </a:extLst>
          </p:cNvPr>
          <p:cNvPicPr>
            <a:picLocks noGrp="1" noChangeAspect="1"/>
          </p:cNvPicPr>
          <p:nvPr>
            <p:ph type="pic" sz="quarter" idx="10"/>
          </p:nvPr>
        </p:nvPicPr>
        <p:blipFill>
          <a:blip r:embed="rId3"/>
          <a:srcRect b="7703"/>
          <a:stretch/>
        </p:blipFill>
        <p:spPr>
          <a:xfrm>
            <a:off x="7416500" y="2123251"/>
            <a:ext cx="4503355" cy="3342601"/>
          </a:xfrm>
          <a:prstGeom prst="rect">
            <a:avLst/>
          </a:prstGeom>
        </p:spPr>
      </p:pic>
    </p:spTree>
    <p:extLst>
      <p:ext uri="{BB962C8B-B14F-4D97-AF65-F5344CB8AC3E}">
        <p14:creationId xmlns:p14="http://schemas.microsoft.com/office/powerpoint/2010/main" val="4102532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Final Reassembly Steps (5 of 5)</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spcAft>
                <a:spcPts val="300"/>
              </a:spcAft>
              <a:buSzPct val="100000"/>
            </a:pPr>
            <a:r>
              <a:rPr lang="en-US" sz="1800" dirty="0">
                <a:solidFill>
                  <a:schemeClr val="accent1"/>
                </a:solidFill>
              </a:rPr>
              <a:t>Torque Converter: On cars equipped with automatic transmissions, replace the transmission’s front pump seal before attaching it to the engine.</a:t>
            </a:r>
          </a:p>
          <a:p>
            <a:pPr>
              <a:spcAft>
                <a:spcPts val="300"/>
              </a:spcAft>
              <a:buSzPct val="100000"/>
            </a:pPr>
            <a:r>
              <a:rPr lang="en-US" sz="1800" dirty="0">
                <a:solidFill>
                  <a:schemeClr val="accent1"/>
                </a:solidFill>
              </a:rPr>
              <a:t>Install the torque converter, making sure that it is correctly engaged with the transmission’s front pump.</a:t>
            </a:r>
          </a:p>
          <a:p>
            <a:pPr>
              <a:spcAft>
                <a:spcPts val="300"/>
              </a:spcAft>
              <a:buSzPct val="100000"/>
            </a:pPr>
            <a:r>
              <a:rPr lang="en-US" sz="1800" dirty="0">
                <a:solidFill>
                  <a:schemeClr val="accent1"/>
                </a:solidFill>
              </a:rPr>
              <a:t>The drive lugs on the converter should be felt engaging the transmission front pump gear. Failure to correctly install the converter can result in damage to the transmission’s front pump.</a:t>
            </a:r>
          </a:p>
          <a:p>
            <a:pPr>
              <a:spcAft>
                <a:spcPts val="300"/>
              </a:spcAft>
              <a:buSzPct val="100000"/>
            </a:pPr>
            <a:r>
              <a:rPr lang="en-US" sz="1800" dirty="0">
                <a:solidFill>
                  <a:schemeClr val="accent1"/>
                </a:solidFill>
              </a:rPr>
              <a:t>Motor Mounts: Check the condition of all motor mounts and replace any that are damaged. Loosely attach the mounts to their location on the engine. This allows for easy alignment of the mounts while installing the engine into the vehicle. After the engine is aligned in the vehicle, the bolts should be tightened to specifications.</a:t>
            </a:r>
          </a:p>
          <a:p>
            <a:pPr>
              <a:spcAft>
                <a:spcPts val="300"/>
              </a:spcAft>
              <a:buSzPct val="100000"/>
            </a:pPr>
            <a:r>
              <a:rPr lang="en-US" sz="1800" dirty="0">
                <a:solidFill>
                  <a:schemeClr val="accent1"/>
                </a:solidFill>
              </a:rPr>
              <a:t>Other Parts: There are many other parts that can be reinstalled before the engine is put back into the vehicle. These vary with the model of car.</a:t>
            </a:r>
          </a:p>
          <a:p>
            <a:pPr>
              <a:spcAft>
                <a:spcPts val="300"/>
              </a:spcAft>
              <a:buSzPct val="100000"/>
            </a:pPr>
            <a:r>
              <a:rPr lang="en-US" sz="1800" dirty="0">
                <a:solidFill>
                  <a:schemeClr val="accent1"/>
                </a:solidFill>
              </a:rPr>
              <a:t>Always check with the service information before installing anything onto the engine. </a:t>
            </a:r>
          </a:p>
        </p:txBody>
      </p:sp>
    </p:spTree>
    <p:extLst>
      <p:ext uri="{BB962C8B-B14F-4D97-AF65-F5344CB8AC3E}">
        <p14:creationId xmlns:p14="http://schemas.microsoft.com/office/powerpoint/2010/main" val="21572155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Installing the Engine (1 of 7)</a:t>
            </a:r>
            <a:endParaRPr sz="3600" dirty="0"/>
          </a:p>
        </p:txBody>
      </p:sp>
      <p:sp>
        <p:nvSpPr>
          <p:cNvPr id="145" name="Google Shape;145;p4"/>
          <p:cNvSpPr txBox="1">
            <a:spLocks noGrp="1"/>
          </p:cNvSpPr>
          <p:nvPr>
            <p:ph type="body" idx="1"/>
          </p:nvPr>
        </p:nvSpPr>
        <p:spPr>
          <a:xfrm>
            <a:off x="476844" y="1563624"/>
            <a:ext cx="8102078" cy="4570047"/>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800" b="1" dirty="0">
                <a:solidFill>
                  <a:schemeClr val="accent1"/>
                </a:solidFill>
              </a:rPr>
              <a:t>13.08 Reinstall an engine and perform the correct starting and break-in procedures.</a:t>
            </a:r>
          </a:p>
          <a:p>
            <a:pPr marL="357188" indent="-357188">
              <a:spcAft>
                <a:spcPts val="600"/>
              </a:spcAft>
              <a:buSzPct val="100000"/>
            </a:pPr>
            <a:r>
              <a:rPr lang="en-US" sz="1800" dirty="0">
                <a:solidFill>
                  <a:schemeClr val="accent1"/>
                </a:solidFill>
              </a:rPr>
              <a:t>Installing a computer-controlled engine can be a complex task requiring special procedures. Referring to the vehicle’s service information is essential for this </a:t>
            </a:r>
            <a:r>
              <a:rPr lang="en-US" sz="1800">
                <a:solidFill>
                  <a:schemeClr val="accent1"/>
                </a:solidFill>
              </a:rPr>
              <a:t>procedure.</a:t>
            </a:r>
            <a:endParaRPr lang="en-US" sz="1800" dirty="0">
              <a:solidFill>
                <a:schemeClr val="accent1"/>
              </a:solidFill>
            </a:endParaRPr>
          </a:p>
          <a:p>
            <a:pPr marL="357188" indent="-357188">
              <a:spcAft>
                <a:spcPts val="600"/>
              </a:spcAft>
              <a:buSzPct val="100000"/>
            </a:pPr>
            <a:r>
              <a:rPr lang="en-US" sz="1800" dirty="0">
                <a:solidFill>
                  <a:schemeClr val="accent1"/>
                </a:solidFill>
              </a:rPr>
              <a:t>Installing an Engine into a FWD Vehicle: If the engine will be installed through the top, connect the engine to a sling and then connect the sling to the crane. </a:t>
            </a:r>
          </a:p>
          <a:p>
            <a:pPr marL="357188" indent="-357188">
              <a:spcAft>
                <a:spcPts val="600"/>
              </a:spcAft>
              <a:buSzPct val="100000"/>
            </a:pPr>
            <a:r>
              <a:rPr lang="en-US" sz="1800" dirty="0">
                <a:solidFill>
                  <a:schemeClr val="accent1"/>
                </a:solidFill>
              </a:rPr>
              <a:t>Slowly lower the engine into the engine compartment. Guide the engine around all wires and hoses to make sure nothing gets </a:t>
            </a:r>
            <a:r>
              <a:rPr lang="en-US" sz="1800">
                <a:solidFill>
                  <a:schemeClr val="accent1"/>
                </a:solidFill>
              </a:rPr>
              <a:t>damaged.</a:t>
            </a:r>
            <a:endParaRPr lang="en-US" sz="1800" dirty="0">
              <a:solidFill>
                <a:schemeClr val="accent1"/>
              </a:solidFill>
            </a:endParaRPr>
          </a:p>
          <a:p>
            <a:pPr marL="357188" indent="-357188">
              <a:spcAft>
                <a:spcPts val="600"/>
              </a:spcAft>
              <a:buSzPct val="100000"/>
            </a:pPr>
            <a:r>
              <a:rPr lang="en-US" sz="1800" dirty="0">
                <a:solidFill>
                  <a:schemeClr val="accent1"/>
                </a:solidFill>
              </a:rPr>
              <a:t>As the engine approaches its position in the engine compartment, align the engine and transmission mounts. Then, lower the engine so you can connect the engine and transmission </a:t>
            </a:r>
            <a:r>
              <a:rPr lang="en-US" sz="1800">
                <a:solidFill>
                  <a:schemeClr val="accent1"/>
                </a:solidFill>
              </a:rPr>
              <a:t>mounts.</a:t>
            </a:r>
            <a:endParaRPr lang="en-US" sz="1800" dirty="0">
              <a:solidFill>
                <a:schemeClr val="accent1"/>
              </a:solidFill>
            </a:endParaRPr>
          </a:p>
        </p:txBody>
      </p:sp>
      <p:pic>
        <p:nvPicPr>
          <p:cNvPr id="3" name="Picture Placeholder 2" descr="Installation of an engine into an F W D vehicle. The engine is connected to a sling, which is connected to a crane. Then the engine is lowered into an engine compartment.">
            <a:extLst>
              <a:ext uri="{FF2B5EF4-FFF2-40B4-BE49-F238E27FC236}">
                <a16:creationId xmlns:a16="http://schemas.microsoft.com/office/drawing/2014/main" id="{92E0B9C3-CE8D-025B-8550-08882092FD14}"/>
              </a:ext>
            </a:extLst>
          </p:cNvPr>
          <p:cNvPicPr>
            <a:picLocks noGrp="1" noChangeAspect="1"/>
          </p:cNvPicPr>
          <p:nvPr>
            <p:ph type="pic" sz="quarter" idx="10"/>
          </p:nvPr>
        </p:nvPicPr>
        <p:blipFill>
          <a:blip r:embed="rId3"/>
          <a:srcRect b="8846"/>
          <a:stretch/>
        </p:blipFill>
        <p:spPr>
          <a:xfrm>
            <a:off x="8692347" y="2043407"/>
            <a:ext cx="3022810" cy="3021754"/>
          </a:xfrm>
          <a:prstGeom prst="rect">
            <a:avLst/>
          </a:prstGeom>
        </p:spPr>
      </p:pic>
    </p:spTree>
    <p:extLst>
      <p:ext uri="{BB962C8B-B14F-4D97-AF65-F5344CB8AC3E}">
        <p14:creationId xmlns:p14="http://schemas.microsoft.com/office/powerpoint/2010/main" val="14422924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Installing the Engine (2 of </a:t>
            </a:r>
            <a:r>
              <a:rPr lang="en-US"/>
              <a:t>7)</a:t>
            </a:r>
            <a:endParaRPr dirty="0"/>
          </a:p>
        </p:txBody>
      </p:sp>
      <p:sp>
        <p:nvSpPr>
          <p:cNvPr id="145" name="Google Shape;145;p4"/>
          <p:cNvSpPr txBox="1">
            <a:spLocks noGrp="1"/>
          </p:cNvSpPr>
          <p:nvPr>
            <p:ph type="body" idx="1"/>
          </p:nvPr>
        </p:nvSpPr>
        <p:spPr>
          <a:xfrm>
            <a:off x="476843" y="1365914"/>
            <a:ext cx="11241915" cy="4613339"/>
          </a:xfrm>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t>If the engine must be installed from under the car, mount the engine onto the engine cradle and dolly.</a:t>
            </a:r>
          </a:p>
          <a:p>
            <a:pPr marL="357188" indent="-357188">
              <a:buSzPct val="100000"/>
            </a:pPr>
            <a:r>
              <a:rPr lang="en-US" sz="1800" dirty="0"/>
              <a:t>Lift the vehicle on a hoist and position the engine under the engine compartment. Carefully lower the vehicle until the engine and transmission are properly positioned in the compartment.</a:t>
            </a:r>
          </a:p>
          <a:p>
            <a:pPr marL="357188" indent="-357188">
              <a:buSzPct val="100000"/>
            </a:pPr>
            <a:r>
              <a:rPr lang="en-US" sz="1800" dirty="0"/>
              <a:t>While doing this, guide all wires and hoses out of the way and make sure that the vehicle does not contact or rest on any part of the engine or transmission.</a:t>
            </a:r>
          </a:p>
          <a:p>
            <a:pPr marL="357188" indent="-357188">
              <a:buSzPct val="100000"/>
            </a:pPr>
            <a:r>
              <a:rPr lang="en-US" sz="1800" dirty="0"/>
              <a:t>With an engine hoist, raise the engine/transmission into place. Align the engine and transmission mounts and tighten the bolts.</a:t>
            </a:r>
          </a:p>
          <a:p>
            <a:pPr marL="357188" indent="-357188">
              <a:buSzPct val="100000"/>
            </a:pPr>
            <a:r>
              <a:rPr lang="en-US" sz="1800" dirty="0"/>
              <a:t>While working under the vehicle, align and tighten all remaining engine/transmission mounts. Install the drive axle shafts and hubs.</a:t>
            </a:r>
          </a:p>
          <a:p>
            <a:pPr marL="357188" indent="-357188">
              <a:buSzPct val="100000"/>
            </a:pPr>
            <a:r>
              <a:rPr lang="en-US" sz="1800" dirty="0"/>
              <a:t>Connect the exhaust manifold to the exhaust system. Install any heat shields that were removed when the engine was removed.</a:t>
            </a:r>
          </a:p>
          <a:p>
            <a:pPr marL="357188" indent="-357188">
              <a:buSzPct val="100000"/>
            </a:pPr>
            <a:r>
              <a:rPr lang="en-US" sz="1800" dirty="0"/>
              <a:t>Connect all linkages, lines, hoses, and electrical wiring to the transmission.</a:t>
            </a:r>
          </a:p>
          <a:p>
            <a:pPr marL="357188" indent="-357188">
              <a:buSzPct val="100000"/>
            </a:pPr>
            <a:r>
              <a:rPr lang="en-US" sz="1800" dirty="0"/>
              <a:t>Now reconnect all suspension and steering parts that were disconnected or removed. </a:t>
            </a:r>
            <a:endParaRPr lang="en-US" sz="1600" dirty="0"/>
          </a:p>
        </p:txBody>
      </p:sp>
    </p:spTree>
    <p:extLst>
      <p:ext uri="{BB962C8B-B14F-4D97-AF65-F5344CB8AC3E}">
        <p14:creationId xmlns:p14="http://schemas.microsoft.com/office/powerpoint/2010/main" val="35490775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Installing the Engine (3 of </a:t>
            </a:r>
            <a:r>
              <a:rPr lang="en-US"/>
              <a:t>7)</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buSzPct val="100000"/>
            </a:pPr>
            <a:r>
              <a:rPr lang="en-US" sz="1800" dirty="0">
                <a:solidFill>
                  <a:schemeClr val="accent1"/>
                </a:solidFill>
              </a:rPr>
              <a:t>When installing an engine in a RWD vehicle, connect the engine to a sling and then connect the sling to the crane.</a:t>
            </a:r>
          </a:p>
          <a:p>
            <a:pPr marL="357188" indent="-357188">
              <a:buSzPct val="100000"/>
            </a:pPr>
            <a:r>
              <a:rPr lang="en-US" sz="1800" dirty="0">
                <a:solidFill>
                  <a:schemeClr val="accent1"/>
                </a:solidFill>
              </a:rPr>
              <a:t>Place a transmission jack under the transmission to hold it in position.</a:t>
            </a:r>
          </a:p>
          <a:p>
            <a:pPr marL="357188" indent="-357188">
              <a:buSzPct val="100000"/>
            </a:pPr>
            <a:r>
              <a:rPr lang="en-US" sz="1800" dirty="0">
                <a:solidFill>
                  <a:schemeClr val="accent1"/>
                </a:solidFill>
              </a:rPr>
              <a:t>Now slowly lower the engine into the engine compartment.</a:t>
            </a:r>
          </a:p>
          <a:p>
            <a:pPr marL="357188" indent="-357188">
              <a:buSzPct val="100000"/>
            </a:pPr>
            <a:r>
              <a:rPr lang="en-US" sz="1800" dirty="0">
                <a:solidFill>
                  <a:schemeClr val="accent1"/>
                </a:solidFill>
              </a:rPr>
              <a:t>Guide the engine around all wires and hoses to make sure nothing gets damaged. As the engine approaches its position in the engine compartment, align the engine to the input shaft of the transmission or the torque converter hub into the front pump. </a:t>
            </a:r>
          </a:p>
          <a:p>
            <a:pPr marL="357188" indent="-357188">
              <a:buSzPct val="100000"/>
            </a:pPr>
            <a:r>
              <a:rPr lang="en-US" sz="1800" dirty="0">
                <a:solidFill>
                  <a:schemeClr val="accent1"/>
                </a:solidFill>
              </a:rPr>
              <a:t>Carefully wiggle the engine until the input shaft slides through clutch disc splines or the torque converter seats into the transmission. Install the transmission to the engine bolts.</a:t>
            </a:r>
          </a:p>
          <a:p>
            <a:pPr marL="357188" indent="-357188">
              <a:buSzPct val="100000"/>
            </a:pPr>
            <a:r>
              <a:rPr lang="en-US" sz="1800" dirty="0">
                <a:solidFill>
                  <a:schemeClr val="accent1"/>
                </a:solidFill>
              </a:rPr>
              <a:t>Start the engine mount bolts into their bores; you may need to wiggle the engine some to do this. Once the mount bolts are in place, tighten them and remove the transmission jack and engine sling.</a:t>
            </a:r>
          </a:p>
          <a:p>
            <a:pPr marL="357188" indent="-357188">
              <a:buSzPct val="100000"/>
            </a:pPr>
            <a:r>
              <a:rPr lang="en-US" sz="1800" dirty="0">
                <a:solidFill>
                  <a:schemeClr val="accent1"/>
                </a:solidFill>
              </a:rPr>
              <a:t>Connect any remaining disconnected lines and hoses, making sure all connections are secure. </a:t>
            </a:r>
          </a:p>
          <a:p>
            <a:pPr marL="357188" indent="-357188">
              <a:buSzPct val="100000"/>
            </a:pPr>
            <a:r>
              <a:rPr lang="en-US" sz="1800" dirty="0">
                <a:solidFill>
                  <a:schemeClr val="accent1"/>
                </a:solidFill>
              </a:rPr>
              <a:t>Fill the radiator with coolant and oil then check for leaks.</a:t>
            </a:r>
            <a:endParaRPr lang="en-US" sz="1600" dirty="0">
              <a:solidFill>
                <a:schemeClr val="accent1"/>
              </a:solidFill>
            </a:endParaRPr>
          </a:p>
        </p:txBody>
      </p:sp>
    </p:spTree>
    <p:extLst>
      <p:ext uri="{BB962C8B-B14F-4D97-AF65-F5344CB8AC3E}">
        <p14:creationId xmlns:p14="http://schemas.microsoft.com/office/powerpoint/2010/main" val="2669389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Installing the Engine (4 of </a:t>
            </a:r>
            <a:r>
              <a:rPr lang="en-US"/>
              <a:t>7)</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300"/>
              </a:spcAft>
              <a:buSzPct val="100000"/>
            </a:pPr>
            <a:r>
              <a:rPr lang="en-US" sz="1800" dirty="0">
                <a:solidFill>
                  <a:schemeClr val="accent1"/>
                </a:solidFill>
              </a:rPr>
              <a:t>Not prelubing a new or rebuilt engine before starting it can cause premature bearing failure due to poor lubrication.</a:t>
            </a:r>
          </a:p>
          <a:p>
            <a:pPr marL="357188" indent="-357188">
              <a:spcAft>
                <a:spcPts val="300"/>
              </a:spcAft>
              <a:buSzPct val="100000"/>
            </a:pPr>
            <a:r>
              <a:rPr lang="en-US" sz="1800" dirty="0">
                <a:solidFill>
                  <a:schemeClr val="accent1"/>
                </a:solidFill>
              </a:rPr>
              <a:t>Other parts such as pistons, rings, and cylinder walls need immediate lubrication to prevent scuffing, scoring, and damage.</a:t>
            </a:r>
          </a:p>
          <a:p>
            <a:pPr marL="357188" indent="-357188">
              <a:spcAft>
                <a:spcPts val="300"/>
              </a:spcAft>
              <a:buSzPct val="100000"/>
            </a:pPr>
            <a:r>
              <a:rPr lang="en-US" sz="1800" dirty="0">
                <a:solidFill>
                  <a:schemeClr val="accent1"/>
                </a:solidFill>
              </a:rPr>
              <a:t>It can take as long as 5 minutes after the engine has started before oil is distributed through all of the vital parts of an engine.</a:t>
            </a:r>
          </a:p>
          <a:p>
            <a:pPr marL="357188" indent="-357188">
              <a:spcAft>
                <a:spcPts val="300"/>
              </a:spcAft>
              <a:buSzPct val="100000"/>
            </a:pPr>
            <a:r>
              <a:rPr lang="en-US" sz="1800" dirty="0">
                <a:solidFill>
                  <a:schemeClr val="accent1"/>
                </a:solidFill>
              </a:rPr>
              <a:t>It is claimed that more than 80 percent of all engine wear occurs when an engine is first started. These problems can be prevented by lubricating the parts as they are assembled and by forcing oil into the oil galleries. This is the purpose of </a:t>
            </a:r>
            <a:r>
              <a:rPr lang="en-US" sz="1800" dirty="0" err="1">
                <a:solidFill>
                  <a:schemeClr val="accent1"/>
                </a:solidFill>
              </a:rPr>
              <a:t>prelubing</a:t>
            </a:r>
            <a:r>
              <a:rPr lang="en-US" sz="1800" dirty="0">
                <a:solidFill>
                  <a:schemeClr val="accent1"/>
                </a:solidFill>
              </a:rPr>
              <a:t>.</a:t>
            </a:r>
          </a:p>
          <a:p>
            <a:pPr marL="357188" indent="-357188">
              <a:spcAft>
                <a:spcPts val="300"/>
              </a:spcAft>
              <a:buSzPct val="100000"/>
            </a:pPr>
            <a:r>
              <a:rPr lang="en-US" sz="1800" dirty="0">
                <a:solidFill>
                  <a:schemeClr val="accent1"/>
                </a:solidFill>
              </a:rPr>
              <a:t>A prelubricator forces oil throughout the engine before it is started. There are several ways to prelubricate, or prime, an engine. One of the most common ways is to use an air-operated </a:t>
            </a:r>
            <a:r>
              <a:rPr lang="en-US" sz="1800" dirty="0" err="1">
                <a:solidFill>
                  <a:schemeClr val="accent1"/>
                </a:solidFill>
              </a:rPr>
              <a:t>prelubricator</a:t>
            </a:r>
            <a:r>
              <a:rPr lang="en-US" sz="1800" dirty="0">
                <a:solidFill>
                  <a:schemeClr val="accent1"/>
                </a:solidFill>
              </a:rPr>
              <a:t>.</a:t>
            </a:r>
          </a:p>
          <a:p>
            <a:pPr marL="357188" indent="-357188">
              <a:spcAft>
                <a:spcPts val="300"/>
              </a:spcAft>
              <a:buSzPct val="100000"/>
            </a:pPr>
            <a:r>
              <a:rPr lang="en-US" sz="1800" dirty="0">
                <a:solidFill>
                  <a:schemeClr val="accent1"/>
                </a:solidFill>
              </a:rPr>
              <a:t>Distributor-Driven Oil Pumps: On engines with a distributor-driven oil pump, the engine can be primed by driving the oil pump with an electric drill.</a:t>
            </a:r>
          </a:p>
        </p:txBody>
      </p:sp>
    </p:spTree>
    <p:extLst>
      <p:ext uri="{BB962C8B-B14F-4D97-AF65-F5344CB8AC3E}">
        <p14:creationId xmlns:p14="http://schemas.microsoft.com/office/powerpoint/2010/main" val="32766202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Installing the Engine (5 of </a:t>
            </a:r>
            <a:r>
              <a:rPr lang="en-US"/>
              <a:t>7)</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200" dirty="0"/>
              <a:t>Starting Procedure</a:t>
            </a:r>
          </a:p>
          <a:p>
            <a:pPr marL="719138" lvl="1" indent="-358775">
              <a:spcAft>
                <a:spcPts val="600"/>
              </a:spcAft>
              <a:buSzPct val="100000"/>
            </a:pPr>
            <a:r>
              <a:rPr lang="en-US" sz="2000" dirty="0"/>
              <a:t>On engines with an ignition distributor, set the ignition timing as accurately as possible before starting the engine.</a:t>
            </a:r>
          </a:p>
          <a:p>
            <a:pPr marL="719138" lvl="1" indent="-358775">
              <a:spcAft>
                <a:spcPts val="600"/>
              </a:spcAft>
              <a:buSzPct val="100000"/>
            </a:pPr>
            <a:r>
              <a:rPr lang="en-US" sz="2000" dirty="0"/>
              <a:t>The timing can be properly set after it has been started by using an engine analyzer or timing light.</a:t>
            </a:r>
          </a:p>
          <a:p>
            <a:pPr marL="719138" lvl="1" indent="-358775">
              <a:spcAft>
                <a:spcPts val="600"/>
              </a:spcAft>
              <a:buSzPct val="100000"/>
            </a:pPr>
            <a:r>
              <a:rPr lang="en-US" sz="2000" dirty="0"/>
              <a:t>Fill the gasoline tank with several gallons of fresh gasoline.</a:t>
            </a:r>
          </a:p>
          <a:p>
            <a:pPr marL="719138" lvl="1" indent="-358775">
              <a:spcAft>
                <a:spcPts val="600"/>
              </a:spcAft>
              <a:buSzPct val="100000"/>
            </a:pPr>
            <a:r>
              <a:rPr lang="en-US" sz="2000" dirty="0"/>
              <a:t>Start the engine and run it at around 1,500 rpm.</a:t>
            </a:r>
          </a:p>
          <a:p>
            <a:pPr marL="719138" lvl="1" indent="-358775">
              <a:spcAft>
                <a:spcPts val="600"/>
              </a:spcAft>
              <a:buSzPct val="100000"/>
            </a:pPr>
            <a:r>
              <a:rPr lang="en-US" sz="2000" dirty="0"/>
              <a:t>When the engine coolant reaches normal operating temperature, turn off the engine.</a:t>
            </a:r>
          </a:p>
          <a:p>
            <a:pPr marL="719138" lvl="1" indent="-358775">
              <a:spcAft>
                <a:spcPts val="600"/>
              </a:spcAft>
              <a:buSzPct val="100000"/>
            </a:pPr>
            <a:r>
              <a:rPr lang="en-US" sz="2000" dirty="0"/>
              <a:t>Recheck all adjustments, ignition timing, and valve clearance.</a:t>
            </a:r>
          </a:p>
          <a:p>
            <a:pPr marL="719138" lvl="1" indent="-358775">
              <a:spcAft>
                <a:spcPts val="600"/>
              </a:spcAft>
              <a:buSzPct val="100000"/>
            </a:pPr>
            <a:r>
              <a:rPr lang="en-US" sz="2000" dirty="0"/>
              <a:t>Look for signs of coolant or oil leaks.</a:t>
            </a:r>
          </a:p>
        </p:txBody>
      </p:sp>
    </p:spTree>
    <p:extLst>
      <p:ext uri="{BB962C8B-B14F-4D97-AF65-F5344CB8AC3E}">
        <p14:creationId xmlns:p14="http://schemas.microsoft.com/office/powerpoint/2010/main" val="42537234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t>Installing the Engine (6 of 7)</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spcAft>
                <a:spcPts val="600"/>
              </a:spcAft>
              <a:buSzPct val="100000"/>
            </a:pPr>
            <a:r>
              <a:rPr lang="en-US" sz="2000" dirty="0"/>
              <a:t>Break-In Procedure:</a:t>
            </a:r>
          </a:p>
          <a:p>
            <a:pPr marL="357188" indent="-357188">
              <a:spcAft>
                <a:spcPts val="600"/>
              </a:spcAft>
              <a:buSzPct val="100000"/>
            </a:pPr>
            <a:r>
              <a:rPr lang="en-US" sz="2000" dirty="0"/>
              <a:t>To prevent engine damage after it has been rebuilt and to ensure good initial oil control and long engine life, the proper break-in procedure must be followed.</a:t>
            </a:r>
          </a:p>
          <a:p>
            <a:pPr marL="357188" indent="-357188">
              <a:spcAft>
                <a:spcPts val="600"/>
              </a:spcAft>
              <a:buSzPct val="100000"/>
            </a:pPr>
            <a:r>
              <a:rPr lang="en-US" sz="2000" dirty="0"/>
              <a:t>Make a test run at 30 mph and accelerate at full throttle to 50 mph.</a:t>
            </a:r>
          </a:p>
          <a:p>
            <a:pPr marL="357188" indent="-357188">
              <a:spcAft>
                <a:spcPts val="600"/>
              </a:spcAft>
              <a:buSzPct val="100000"/>
            </a:pPr>
            <a:r>
              <a:rPr lang="en-US" sz="2000" dirty="0"/>
              <a:t>Repeat the acceleration cycle from 30 to 50 mph at least 10 times. No further </a:t>
            </a:r>
            <a:r>
              <a:rPr lang="en-US" sz="2000" b="1" dirty="0"/>
              <a:t>break-in</a:t>
            </a:r>
            <a:r>
              <a:rPr lang="en-US" sz="2000" dirty="0"/>
              <a:t> is necessary. If traffic conditions will not permit this procedure, accelerate the engine rapidly several times through the intermediate gears during the road test.</a:t>
            </a:r>
          </a:p>
          <a:p>
            <a:pPr marL="357188" indent="-357188">
              <a:spcAft>
                <a:spcPts val="600"/>
              </a:spcAft>
              <a:buSzPct val="100000"/>
            </a:pPr>
            <a:r>
              <a:rPr lang="en-US" sz="2000" dirty="0"/>
              <a:t>The objective is to apply a load to the engine for short periods and in rapid succession soon after the engine warms up.</a:t>
            </a:r>
          </a:p>
          <a:p>
            <a:pPr marL="357188" indent="-357188">
              <a:spcAft>
                <a:spcPts val="600"/>
              </a:spcAft>
              <a:buSzPct val="100000"/>
            </a:pPr>
            <a:r>
              <a:rPr lang="en-US" sz="2000" dirty="0"/>
              <a:t>This action thrusts the piston rings against the cylinder wall with increased pressure and results in accelerated ring seating.</a:t>
            </a:r>
          </a:p>
        </p:txBody>
      </p:sp>
    </p:spTree>
    <p:extLst>
      <p:ext uri="{BB962C8B-B14F-4D97-AF65-F5344CB8AC3E}">
        <p14:creationId xmlns:p14="http://schemas.microsoft.com/office/powerpoint/2010/main" val="283469781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xfrm>
            <a:off x="476843" y="473246"/>
            <a:ext cx="11269680" cy="710095"/>
          </a:xfrm>
          <a:prstGeom prst="rect">
            <a:avLst/>
          </a:prstGeom>
          <a:noFill/>
          <a:ln>
            <a:noFill/>
          </a:ln>
        </p:spPr>
        <p:txBody>
          <a:bodyPr spcFirstLastPara="1" wrap="square" lIns="91425" tIns="45700" rIns="91425" bIns="45700" anchor="ctr" anchorCtr="0">
            <a:normAutofit/>
          </a:bodyPr>
          <a:lstStyle/>
          <a:p>
            <a:pPr>
              <a:lnSpc>
                <a:spcPct val="100000"/>
              </a:lnSpc>
            </a:pPr>
            <a:r>
              <a:rPr lang="en-US" dirty="0"/>
              <a:t>Installing the Engine </a:t>
            </a:r>
            <a:r>
              <a:rPr lang="en-US" sz="4000" dirty="0"/>
              <a:t>(7 of 7)</a:t>
            </a:r>
            <a:endParaRPr dirty="0"/>
          </a:p>
        </p:txBody>
      </p:sp>
      <p:sp>
        <p:nvSpPr>
          <p:cNvPr id="145" name="Google Shape;145;p4"/>
          <p:cNvSpPr txBox="1">
            <a:spLocks noGrp="1"/>
          </p:cNvSpPr>
          <p:nvPr>
            <p:ph type="body" idx="1"/>
          </p:nvPr>
        </p:nvSpPr>
        <p:spPr>
          <a:xfrm>
            <a:off x="476843" y="1331260"/>
            <a:ext cx="11400159" cy="4695468"/>
          </a:xfrm>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buSzPct val="100000"/>
            </a:pPr>
            <a:r>
              <a:rPr lang="en-US" dirty="0"/>
              <a:t>Relearn Procedures: </a:t>
            </a:r>
          </a:p>
          <a:p>
            <a:pPr marL="357188" indent="-357188">
              <a:lnSpc>
                <a:spcPct val="107000"/>
              </a:lnSpc>
              <a:spcBef>
                <a:spcPts val="0"/>
              </a:spcBef>
              <a:buSzPct val="100000"/>
            </a:pPr>
            <a:r>
              <a:rPr lang="en-US" dirty="0"/>
              <a:t>The computer in most late-model vehicles must undergo a relearn or initialization procedure after the battery has been reconnected. This procedure allows the computers to learn the condition of the engine and make adjustments according to the engine’s restored condition. </a:t>
            </a:r>
          </a:p>
          <a:p>
            <a:pPr marL="357188" indent="-357188">
              <a:lnSpc>
                <a:spcPct val="107000"/>
              </a:lnSpc>
              <a:spcBef>
                <a:spcPts val="0"/>
              </a:spcBef>
              <a:buSzPct val="100000"/>
            </a:pPr>
            <a:r>
              <a:rPr lang="en-US" dirty="0"/>
              <a:t>The last time the engine was run, the computer made adjustments based on the engine faults present. </a:t>
            </a:r>
          </a:p>
          <a:p>
            <a:pPr marL="357188" indent="-357188">
              <a:lnSpc>
                <a:spcPct val="107000"/>
              </a:lnSpc>
              <a:spcBef>
                <a:spcPts val="0"/>
              </a:spcBef>
              <a:buSzPct val="100000"/>
            </a:pPr>
            <a:r>
              <a:rPr lang="en-US" dirty="0"/>
              <a:t>This procedure allows the computer to see that those faults were corrected. Initialization also resets the reference for the crankshaft position sensor and PCM. </a:t>
            </a:r>
          </a:p>
          <a:p>
            <a:pPr marL="357188" indent="-357188">
              <a:lnSpc>
                <a:spcPct val="107000"/>
              </a:lnSpc>
              <a:spcBef>
                <a:spcPts val="0"/>
              </a:spcBef>
              <a:buSzPct val="100000"/>
            </a:pPr>
            <a:r>
              <a:rPr lang="en-US" dirty="0"/>
              <a:t>Always follow the manufacturer’s procedures as outlined in the service information.</a:t>
            </a:r>
          </a:p>
        </p:txBody>
      </p:sp>
    </p:spTree>
    <p:extLst>
      <p:ext uri="{BB962C8B-B14F-4D97-AF65-F5344CB8AC3E}">
        <p14:creationId xmlns:p14="http://schemas.microsoft.com/office/powerpoint/2010/main" val="2798640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lnSpc>
                <a:spcPct val="107000"/>
              </a:lnSpc>
              <a:spcBef>
                <a:spcPts val="0"/>
              </a:spcBef>
              <a:buSzPts val="2800"/>
            </a:pPr>
            <a:r>
              <a:rPr lang="en-US" sz="2800" dirty="0">
                <a:solidFill>
                  <a:schemeClr val="accent1"/>
                </a:solidFill>
              </a:rPr>
              <a:t>What is the reason for prelubing a newly rebuilt engine before start up?</a:t>
            </a:r>
            <a:endParaRPr lang="en-US" sz="2800" b="1" dirty="0">
              <a:solidFill>
                <a:schemeClr val="accent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2) </a:t>
            </a:r>
            <a:endParaRPr dirty="0"/>
          </a:p>
        </p:txBody>
      </p:sp>
      <p:sp>
        <p:nvSpPr>
          <p:cNvPr id="3" name="Google Shape;385;p39"/>
          <p:cNvSpPr txBox="1">
            <a:spLocks noGrp="1"/>
          </p:cNvSpPr>
          <p:nvPr>
            <p:ph type="body" idx="1"/>
          </p:nvPr>
        </p:nvSpPr>
        <p:spPr>
          <a:xfrm>
            <a:off x="476843" y="1563624"/>
            <a:ext cx="11241915" cy="3662501"/>
          </a:xfrm>
          <a:prstGeom prst="rect">
            <a:avLst/>
          </a:prstGeom>
          <a:noFill/>
          <a:ln>
            <a:noFill/>
          </a:ln>
        </p:spPr>
        <p:txBody>
          <a:bodyPr spcFirstLastPara="1" wrap="square" lIns="91425" tIns="45700" rIns="91425" bIns="45700" anchor="t" anchorCtr="0">
            <a:spAutoFit/>
          </a:bodyPr>
          <a:lstStyle/>
          <a:p>
            <a:pPr marL="357188" lvl="0" indent="-357188">
              <a:spcAft>
                <a:spcPts val="600"/>
              </a:spcAft>
              <a:buClr>
                <a:srgbClr val="282F7C"/>
              </a:buClr>
              <a:buSzPct val="100000"/>
              <a:buFont typeface="Arial"/>
              <a:buChar char="•"/>
              <a:defRPr/>
            </a:pPr>
            <a:r>
              <a:rPr lang="en-US" sz="2400" dirty="0">
                <a:solidFill>
                  <a:srgbClr val="282F7C"/>
                </a:solidFill>
                <a:latin typeface="Work Sans"/>
                <a:sym typeface="Work Sans"/>
              </a:rPr>
              <a:t>Not </a:t>
            </a:r>
            <a:r>
              <a:rPr lang="en-US" sz="2400" dirty="0" err="1">
                <a:solidFill>
                  <a:srgbClr val="282F7C"/>
                </a:solidFill>
                <a:latin typeface="Work Sans"/>
                <a:sym typeface="Work Sans"/>
              </a:rPr>
              <a:t>prelubing</a:t>
            </a:r>
            <a:r>
              <a:rPr lang="en-US" sz="2400" dirty="0">
                <a:solidFill>
                  <a:srgbClr val="282F7C"/>
                </a:solidFill>
                <a:latin typeface="Work Sans"/>
                <a:sym typeface="Work Sans"/>
              </a:rPr>
              <a:t> a new or rebuilt engine before starting it can cause premature bearing failure due to poor lubrication.</a:t>
            </a:r>
          </a:p>
          <a:p>
            <a:pPr marL="357188" lvl="0" indent="-357188">
              <a:spcAft>
                <a:spcPts val="600"/>
              </a:spcAft>
              <a:buClr>
                <a:srgbClr val="282F7C"/>
              </a:buClr>
              <a:buSzPct val="100000"/>
              <a:buFont typeface="Arial"/>
              <a:buChar char="•"/>
              <a:defRPr/>
            </a:pPr>
            <a:r>
              <a:rPr lang="en-US" sz="2400" dirty="0">
                <a:solidFill>
                  <a:srgbClr val="282F7C"/>
                </a:solidFill>
                <a:latin typeface="Work Sans"/>
                <a:sym typeface="Work Sans"/>
              </a:rPr>
              <a:t>Other parts such as pistons, rings, and cylinder walls need immediate lubrication to prevent scuffing, scoring, and damage.</a:t>
            </a:r>
          </a:p>
          <a:p>
            <a:pPr marL="357188" lvl="0" indent="-357188">
              <a:spcAft>
                <a:spcPts val="600"/>
              </a:spcAft>
              <a:buClr>
                <a:srgbClr val="282F7C"/>
              </a:buClr>
              <a:buSzPct val="100000"/>
              <a:buFont typeface="Arial"/>
              <a:buChar char="•"/>
              <a:defRPr/>
            </a:pPr>
            <a:r>
              <a:rPr lang="en-US" sz="2400" dirty="0">
                <a:solidFill>
                  <a:srgbClr val="282F7C"/>
                </a:solidFill>
                <a:latin typeface="Work Sans"/>
                <a:sym typeface="Work Sans"/>
              </a:rPr>
              <a:t>It can take as long as 5 minutes after the engine has started before oil is distributed through all of the vital parts of an engine.</a:t>
            </a:r>
          </a:p>
          <a:p>
            <a:pPr marL="357188" lvl="0" indent="-357188">
              <a:spcAft>
                <a:spcPts val="600"/>
              </a:spcAft>
              <a:buClr>
                <a:srgbClr val="282F7C"/>
              </a:buClr>
              <a:buSzPct val="100000"/>
              <a:buFont typeface="Arial"/>
              <a:buChar char="•"/>
              <a:defRPr/>
            </a:pPr>
            <a:r>
              <a:rPr lang="en-US" sz="2400" dirty="0">
                <a:solidFill>
                  <a:srgbClr val="282F7C"/>
                </a:solidFill>
                <a:latin typeface="Work Sans"/>
                <a:sym typeface="Work Sans"/>
              </a:rPr>
              <a:t>It is claimed that more than 80 percent of all engine wear occurs when an engine is first started.</a:t>
            </a:r>
            <a:endParaRPr lang="en-US" sz="2800" dirty="0">
              <a:solidFill>
                <a:schemeClr val="dk1"/>
              </a:solidFill>
              <a:latin typeface="Work Sans"/>
              <a:ea typeface="Work Sans"/>
              <a:cs typeface="Work Sans"/>
              <a:sym typeface="Work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spcAft>
                <a:spcPts val="600"/>
              </a:spcAft>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ct val="100000"/>
              <a:buFont typeface="Arial"/>
              <a:buChar char="•"/>
            </a:pPr>
            <a:r>
              <a:rPr lang="en-US" dirty="0">
                <a:solidFill>
                  <a:schemeClr val="accent1"/>
                </a:solidFill>
              </a:rPr>
              <a:t>Did anything in this chapter change your thinking about engine sealing and reassembly?</a:t>
            </a:r>
            <a:endParaRPr dirty="0">
              <a:solidFill>
                <a:schemeClr val="accent1"/>
              </a:solidFill>
            </a:endParaRPr>
          </a:p>
          <a:p>
            <a:pPr marL="360363" lvl="0" indent="-360363" algn="l" rtl="0">
              <a:lnSpc>
                <a:spcPct val="100000"/>
              </a:lnSpc>
              <a:spcAft>
                <a:spcPts val="600"/>
              </a:spcAft>
              <a:buSzPct val="100000"/>
              <a:buFont typeface="Arial"/>
              <a:buChar char="•"/>
            </a:pPr>
            <a:r>
              <a:rPr lang="en-US" dirty="0">
                <a:solidFill>
                  <a:schemeClr val="accent1"/>
                </a:solidFill>
              </a:rPr>
              <a:t>Considering all you have learned, do you feel you prepared to perform final assembly and start up on an engine? What can you do to be as prepared as possible?</a:t>
            </a:r>
            <a:endParaRPr dirty="0">
              <a:solidFill>
                <a:schemeClr val="accent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4042</TotalTime>
  <Words>5544</Words>
  <Application>Microsoft Office PowerPoint</Application>
  <PresentationFormat>Widescreen</PresentationFormat>
  <Paragraphs>275</Paragraphs>
  <Slides>43</Slides>
  <Notes>43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Work Sans</vt:lpstr>
      <vt:lpstr>Calibri</vt:lpstr>
      <vt:lpstr>Optimized Template Master</vt:lpstr>
      <vt:lpstr>Automotive Technology:  A Systems Approach, 8e</vt:lpstr>
      <vt:lpstr>Chapter Objectives (1 of 2)</vt:lpstr>
      <vt:lpstr>Chapter Objectives (2 of 2)</vt:lpstr>
      <vt:lpstr>Torque Principles (1 of 3)</vt:lpstr>
      <vt:lpstr>Torque Principles (2 of 3)</vt:lpstr>
      <vt:lpstr>Torque Principles (3 of 3)</vt:lpstr>
      <vt:lpstr>Gaskets (1 of 4)</vt:lpstr>
      <vt:lpstr>Gaskets (2 of 4)</vt:lpstr>
      <vt:lpstr>Gaskets (3 of 4)</vt:lpstr>
      <vt:lpstr>Gaskets (4 of 4)</vt:lpstr>
      <vt:lpstr>Head Gaskets (1 of 3)</vt:lpstr>
      <vt:lpstr>Head Gaskets (2 of 3)</vt:lpstr>
      <vt:lpstr>Head Gaskets (3 of 3)</vt:lpstr>
      <vt:lpstr>Specific Engine Gaskets (1 of 3)</vt:lpstr>
      <vt:lpstr>Specific Engine Gaskets (2 of 3)</vt:lpstr>
      <vt:lpstr>Specific Engine Gaskets (3 of 3)</vt:lpstr>
      <vt:lpstr>Discussion</vt:lpstr>
      <vt:lpstr>Adhesives, Sealants, and Other Sealing Materials (1 of 2)</vt:lpstr>
      <vt:lpstr>Adhesives, Sealants, and Other Sealing Materials (2 of 2)</vt:lpstr>
      <vt:lpstr>Oil Seals (1 of 2)</vt:lpstr>
      <vt:lpstr>Oil Seals (2 of 2)</vt:lpstr>
      <vt:lpstr>Knowledge Check (1 of 2)</vt:lpstr>
      <vt:lpstr>Knowledge Check Answer (1 of 2)</vt:lpstr>
      <vt:lpstr>Engine Reassembly (1 of 5)</vt:lpstr>
      <vt:lpstr>Engine Reassembly (2 of 5)</vt:lpstr>
      <vt:lpstr>Engine Reassembly (3 of 5)</vt:lpstr>
      <vt:lpstr>Engine Reassembly (4 of 5)</vt:lpstr>
      <vt:lpstr>Engine Reassembly (5 of 5)</vt:lpstr>
      <vt:lpstr>Final Reassembly Steps (1 of 5)</vt:lpstr>
      <vt:lpstr>Final Reassembly Steps (2 of 5)</vt:lpstr>
      <vt:lpstr>Final Reassembly Steps (3 of 5)</vt:lpstr>
      <vt:lpstr>Final Reassembly Steps (4 of 5)</vt:lpstr>
      <vt:lpstr>Final Reassembly Steps (5 of 5)</vt:lpstr>
      <vt:lpstr>Installing the Engine (1 of 7)</vt:lpstr>
      <vt:lpstr>Installing the Engine (2 of 7)</vt:lpstr>
      <vt:lpstr>Installing the Engine (3 of 7)</vt:lpstr>
      <vt:lpstr>Installing the Engine (4 of 7)</vt:lpstr>
      <vt:lpstr>Installing the Engine (5 of 7)</vt:lpstr>
      <vt:lpstr>Installing the Engine (6 of 7)</vt:lpstr>
      <vt:lpstr>Installing the Engine (7 of 7)</vt:lpstr>
      <vt:lpstr>Knowledge Check (2 of 2)</vt:lpstr>
      <vt:lpstr>Knowledge Check Answer (2 of 2) </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143</cp:revision>
  <dcterms:created xsi:type="dcterms:W3CDTF">2021-12-10T16:21:02Z</dcterms:created>
  <dcterms:modified xsi:type="dcterms:W3CDTF">2024-10-18T14:51:44Z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