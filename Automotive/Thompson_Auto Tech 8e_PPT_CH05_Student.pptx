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5"/>
  </p:notesMasterIdLst>
  <p:sldIdLst>
    <p:sldId id="403" r:id="rId2"/>
    <p:sldId id="257" r:id="rId3"/>
    <p:sldId id="258" r:id="rId4"/>
    <p:sldId id="259" r:id="rId5"/>
    <p:sldId id="302" r:id="rId6"/>
    <p:sldId id="261" r:id="rId7"/>
    <p:sldId id="303" r:id="rId8"/>
    <p:sldId id="306" r:id="rId9"/>
    <p:sldId id="304" r:id="rId10"/>
    <p:sldId id="305" r:id="rId11"/>
    <p:sldId id="307" r:id="rId12"/>
    <p:sldId id="308" r:id="rId13"/>
    <p:sldId id="309" r:id="rId14"/>
    <p:sldId id="310" r:id="rId15"/>
    <p:sldId id="311" r:id="rId16"/>
    <p:sldId id="276" r:id="rId17"/>
    <p:sldId id="333" r:id="rId18"/>
    <p:sldId id="313" r:id="rId19"/>
    <p:sldId id="312" r:id="rId20"/>
    <p:sldId id="314" r:id="rId21"/>
    <p:sldId id="315" r:id="rId22"/>
    <p:sldId id="316" r:id="rId23"/>
    <p:sldId id="317" r:id="rId24"/>
    <p:sldId id="318" r:id="rId25"/>
    <p:sldId id="319" r:id="rId26"/>
    <p:sldId id="321" r:id="rId27"/>
    <p:sldId id="320" r:id="rId28"/>
    <p:sldId id="284" r:id="rId29"/>
    <p:sldId id="285" r:id="rId30"/>
    <p:sldId id="322" r:id="rId31"/>
    <p:sldId id="323" r:id="rId32"/>
    <p:sldId id="324" r:id="rId33"/>
    <p:sldId id="325" r:id="rId34"/>
    <p:sldId id="326" r:id="rId35"/>
    <p:sldId id="327" r:id="rId36"/>
    <p:sldId id="328" r:id="rId37"/>
    <p:sldId id="329" r:id="rId38"/>
    <p:sldId id="330" r:id="rId39"/>
    <p:sldId id="331" r:id="rId40"/>
    <p:sldId id="332" r:id="rId41"/>
    <p:sldId id="293" r:id="rId42"/>
    <p:sldId id="294" r:id="rId43"/>
    <p:sldId id="301" r:id="rId44"/>
  </p:sldIdLst>
  <p:sldSz cx="12192000" cy="6858000"/>
  <p:notesSz cx="6858000" cy="9144000"/>
  <p:embeddedFontLst>
    <p:embeddedFont>
      <p:font typeface="Work Sans"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18"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782a4b9ae503304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2" autoAdjust="0"/>
    <p:restoredTop sz="87890" autoAdjust="0"/>
  </p:normalViewPr>
  <p:slideViewPr>
    <p:cSldViewPr snapToGrid="0">
      <p:cViewPr varScale="1">
        <p:scale>
          <a:sx n="94" d="100"/>
          <a:sy n="94" d="100"/>
        </p:scale>
        <p:origin x="480" y="96"/>
      </p:cViewPr>
      <p:guideLst>
        <p:guide orient="horz" pos="2160"/>
        <p:guide pos="3840"/>
      </p:guideLst>
    </p:cSldViewPr>
  </p:slideViewPr>
  <p:outlineViewPr>
    <p:cViewPr>
      <p:scale>
        <a:sx n="33" d="100"/>
        <a:sy n="33" d="100"/>
      </p:scale>
      <p:origin x="0" y="-3668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373517883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1944861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35" name="Google Shape;135;p3: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3: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780834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2548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8481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2487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9715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0053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0592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12424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7487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1460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0695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91182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5782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40885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55998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2756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09922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79621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447916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898819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397832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773498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122831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497910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375484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dirty="0"/>
          </a:p>
        </p:txBody>
      </p:sp>
    </p:spTree>
    <p:extLst>
      <p:ext uri="{BB962C8B-B14F-4D97-AF65-F5344CB8AC3E}">
        <p14:creationId xmlns:p14="http://schemas.microsoft.com/office/powerpoint/2010/main" val="406695151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dirty="0"/>
          </a:p>
        </p:txBody>
      </p:sp>
    </p:spTree>
    <p:extLst>
      <p:ext uri="{BB962C8B-B14F-4D97-AF65-F5344CB8AC3E}">
        <p14:creationId xmlns:p14="http://schemas.microsoft.com/office/powerpoint/2010/main" val="41861539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342948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718833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695782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13889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44266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060990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058316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02378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808651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340817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p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645899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dirty="0"/>
          </a:p>
        </p:txBody>
      </p:sp>
    </p:spTree>
    <p:extLst>
      <p:ext uri="{BB962C8B-B14F-4D97-AF65-F5344CB8AC3E}">
        <p14:creationId xmlns:p14="http://schemas.microsoft.com/office/powerpoint/2010/main" val="3447763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dirty="0"/>
          </a:p>
        </p:txBody>
      </p:sp>
    </p:spTree>
    <p:extLst>
      <p:ext uri="{BB962C8B-B14F-4D97-AF65-F5344CB8AC3E}">
        <p14:creationId xmlns:p14="http://schemas.microsoft.com/office/powerpoint/2010/main" val="27685507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dirty="0"/>
          </a:p>
        </p:txBody>
      </p:sp>
    </p:spTree>
    <p:extLst>
      <p:ext uri="{BB962C8B-B14F-4D97-AF65-F5344CB8AC3E}">
        <p14:creationId xmlns:p14="http://schemas.microsoft.com/office/powerpoint/2010/main" val="1677625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03167"/>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hasCustomPrompt="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355600" lvl="0" indent="-355600" algn="l">
              <a:lnSpc>
                <a:spcPct val="100000"/>
              </a:lnSpc>
              <a:spcBef>
                <a:spcPts val="624"/>
              </a:spcBef>
              <a:spcAft>
                <a:spcPts val="0"/>
              </a:spcAft>
              <a:buSzPts val="2800"/>
              <a:buChar char="•"/>
              <a:defRPr sz="2600"/>
            </a:lvl1pPr>
            <a:lvl2pPr marL="722313" lvl="1" indent="-366713" algn="l">
              <a:lnSpc>
                <a:spcPct val="100000"/>
              </a:lnSpc>
              <a:spcBef>
                <a:spcPts val="624"/>
              </a:spcBef>
              <a:spcAft>
                <a:spcPts val="0"/>
              </a:spcAft>
              <a:buSzPts val="2600"/>
              <a:buChar char="−"/>
              <a:defRPr sz="2400" b="0"/>
            </a:lvl2pPr>
            <a:lvl3pPr marL="1077913" lvl="2" indent="-355600"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IN"/>
              <a:t> </a:t>
            </a:r>
          </a:p>
          <a:p>
            <a:pPr lvl="1"/>
            <a:r>
              <a:rPr lang="en-IN"/>
              <a:t> </a:t>
            </a:r>
          </a:p>
          <a:p>
            <a:pPr lvl="2"/>
            <a:r>
              <a:rPr lang="en-IN"/>
              <a:t>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883916"/>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hasCustomPrompt="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355600" lvl="0" indent="-355600" algn="l">
              <a:lnSpc>
                <a:spcPct val="100000"/>
              </a:lnSpc>
              <a:spcBef>
                <a:spcPts val="624"/>
              </a:spcBef>
              <a:spcAft>
                <a:spcPts val="0"/>
              </a:spcAft>
              <a:buSzPts val="2800"/>
              <a:buChar char="•"/>
              <a:defRPr sz="2600"/>
            </a:lvl1pPr>
            <a:lvl2pPr marL="722313" lvl="1" indent="-366713" algn="l">
              <a:lnSpc>
                <a:spcPct val="100000"/>
              </a:lnSpc>
              <a:spcBef>
                <a:spcPts val="624"/>
              </a:spcBef>
              <a:spcAft>
                <a:spcPts val="0"/>
              </a:spcAft>
              <a:buSzPts val="2600"/>
              <a:buChar char="−"/>
              <a:defRPr sz="2400" b="0"/>
            </a:lvl2pPr>
            <a:lvl3pPr marL="1077913" lvl="2" indent="-355600"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IN"/>
              <a:t> </a:t>
            </a:r>
          </a:p>
          <a:p>
            <a:pPr lvl="1"/>
            <a:endParaRPr lang="en-IN"/>
          </a:p>
          <a:p>
            <a:pPr lvl="2"/>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1472112843"/>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7">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DBF94299-09FA-A590-3D68-E538280FE217}"/>
              </a:ext>
            </a:extLst>
          </p:cNvPr>
          <p:cNvSpPr txBox="1">
            <a:spLocks/>
          </p:cNvSpPr>
          <p:nvPr userDrawn="1"/>
        </p:nvSpPr>
        <p:spPr>
          <a:xfrm>
            <a:off x="2019008" y="6328876"/>
            <a:ext cx="9345472"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21.jpg"/></Relationships>
</file>

<file path=ppt/slides/_rels/slide2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 </a:t>
            </a:r>
            <a:br>
              <a:rPr lang="en-US" sz="4000" dirty="0">
                <a:cs typeface="Arial" panose="020B0604020202020204" pitchFamily="34" charset="0"/>
              </a:rPr>
            </a:br>
            <a:r>
              <a:rPr lang="en-US" sz="4000" dirty="0">
                <a:cs typeface="Arial" panose="020B0604020202020204" pitchFamily="34" charset="0"/>
              </a:rPr>
              <a:t>A 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5: Hand Tools and Shop Equipment</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19008" y="6328876"/>
            <a:ext cx="9345472" cy="461665"/>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Chapter Objectives (1 of 2)</a:t>
            </a:r>
            <a:endParaRPr/>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dirty="0">
                <a:solidFill>
                  <a:schemeClr val="accent1"/>
                </a:solidFill>
              </a:rPr>
              <a:t>05.01 List the basic units of measure and apply them to the two measuring systems.</a:t>
            </a:r>
          </a:p>
          <a:p>
            <a:pPr marL="357188" marR="0" lvl="0" indent="-357188" algn="l" rtl="0">
              <a:spcAft>
                <a:spcPts val="600"/>
              </a:spcAft>
              <a:buSzPct val="100000"/>
              <a:buChar char="•"/>
            </a:pPr>
            <a:r>
              <a:rPr lang="en-US" dirty="0">
                <a:solidFill>
                  <a:schemeClr val="accent1"/>
                </a:solidFill>
              </a:rPr>
              <a:t>05.02 Describe the different types of fasteners used in the automotive industry.</a:t>
            </a:r>
          </a:p>
          <a:p>
            <a:pPr marL="357188" marR="0" lvl="0" indent="-357188" algn="l" rtl="0">
              <a:spcAft>
                <a:spcPts val="600"/>
              </a:spcAft>
              <a:buSzPct val="100000"/>
              <a:buChar char="•"/>
            </a:pPr>
            <a:r>
              <a:rPr lang="en-US" dirty="0">
                <a:solidFill>
                  <a:schemeClr val="accent1"/>
                </a:solidFill>
              </a:rPr>
              <a:t>05.03 List the various mechanical measuring tools used in the automotive shop.</a:t>
            </a:r>
          </a:p>
          <a:p>
            <a:pPr marL="357188" marR="0" lvl="0" indent="-357188" algn="l" rtl="0">
              <a:spcAft>
                <a:spcPts val="600"/>
              </a:spcAft>
              <a:buSzPct val="100000"/>
              <a:buChar char="•"/>
            </a:pPr>
            <a:r>
              <a:rPr lang="en-US" dirty="0">
                <a:solidFill>
                  <a:schemeClr val="accent1"/>
                </a:solidFill>
              </a:rPr>
              <a:t>05.04 List some of the common hand tools used in auto repair.</a:t>
            </a:r>
            <a:endParaRPr sz="2400" dirty="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3"/>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Chapter Objectives (2 of 2)</a:t>
            </a:r>
            <a:endParaRPr/>
          </a:p>
        </p:txBody>
      </p:sp>
      <p:sp>
        <p:nvSpPr>
          <p:cNvPr id="139" name="Google Shape;139;p3"/>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lvl="0" indent="-357188" algn="l" rtl="0">
              <a:spcAft>
                <a:spcPts val="600"/>
              </a:spcAft>
              <a:buSzPct val="100000"/>
              <a:buChar char="•"/>
            </a:pPr>
            <a:r>
              <a:rPr lang="en-US" dirty="0"/>
              <a:t>05.05 List the common types of shop equipment and state their purpose.</a:t>
            </a:r>
          </a:p>
          <a:p>
            <a:pPr marL="357188" lvl="0" indent="-357188" algn="l" rtl="0">
              <a:spcAft>
                <a:spcPts val="600"/>
              </a:spcAft>
              <a:buSzPct val="100000"/>
              <a:buChar char="•"/>
            </a:pPr>
            <a:r>
              <a:rPr lang="en-US" dirty="0"/>
              <a:t>05.06 Describe the use of common pneumatic, electrical, and hydraulic power tools.</a:t>
            </a:r>
          </a:p>
          <a:p>
            <a:pPr marL="357188" lvl="0" indent="-357188" algn="l" rtl="0">
              <a:spcAft>
                <a:spcPts val="600"/>
              </a:spcAft>
              <a:buSzPct val="100000"/>
              <a:buChar char="•"/>
            </a:pPr>
            <a:r>
              <a:rPr lang="en-US" dirty="0"/>
              <a:t>05.07 Describe the types and safe use of jacks and lifts.</a:t>
            </a:r>
          </a:p>
          <a:p>
            <a:pPr marL="357188" lvl="0" indent="-357188" algn="l" rtl="0">
              <a:spcAft>
                <a:spcPts val="600"/>
              </a:spcAft>
              <a:buSzPct val="100000"/>
              <a:buChar char="•"/>
            </a:pPr>
            <a:r>
              <a:rPr lang="en-US" dirty="0"/>
              <a:t>05.08 Describe the different sources of service information that are available to technicians.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Measuring Systems</a:t>
            </a:r>
            <a:endParaRPr dirty="0"/>
          </a:p>
        </p:txBody>
      </p:sp>
      <p:sp>
        <p:nvSpPr>
          <p:cNvPr id="145" name="Google Shape;145;p4"/>
          <p:cNvSpPr txBox="1">
            <a:spLocks noGrp="1"/>
          </p:cNvSpPr>
          <p:nvPr>
            <p:ph type="body" idx="1"/>
          </p:nvPr>
        </p:nvSpPr>
        <p:spPr>
          <a:xfrm>
            <a:off x="476844" y="1508124"/>
            <a:ext cx="7196702" cy="4542720"/>
          </a:xfrm>
          <a:prstGeom prst="rect">
            <a:avLst/>
          </a:prstGeom>
          <a:noFill/>
          <a:ln>
            <a:noFill/>
          </a:ln>
        </p:spPr>
        <p:txBody>
          <a:bodyPr spcFirstLastPara="1" wrap="square" lIns="91425" tIns="45700" rIns="91425" bIns="45700" anchor="t" anchorCtr="0">
            <a:noAutofit/>
          </a:bodyPr>
          <a:lstStyle/>
          <a:p>
            <a:pPr marL="76200" indent="0">
              <a:spcAft>
                <a:spcPts val="600"/>
              </a:spcAft>
              <a:buNone/>
            </a:pPr>
            <a:r>
              <a:rPr lang="en-US" sz="2400" b="1" dirty="0">
                <a:solidFill>
                  <a:schemeClr val="accent1"/>
                </a:solidFill>
              </a:rPr>
              <a:t>05-01 List the basic units of measure and apply them to the two measuring systems.</a:t>
            </a:r>
            <a:endParaRPr lang="en-US" sz="2400" dirty="0">
              <a:solidFill>
                <a:schemeClr val="accent1"/>
              </a:solidFill>
            </a:endParaRPr>
          </a:p>
          <a:p>
            <a:pPr>
              <a:spcAft>
                <a:spcPts val="600"/>
              </a:spcAft>
              <a:buSzPct val="100000"/>
            </a:pPr>
            <a:r>
              <a:rPr lang="en-US" sz="2400" dirty="0">
                <a:solidFill>
                  <a:schemeClr val="accent1"/>
                </a:solidFill>
              </a:rPr>
              <a:t>Two systems of weights and measures exist side-by-side in the United States—the Imperial or U.S. customary (US) system and the international or metric system.</a:t>
            </a:r>
          </a:p>
          <a:p>
            <a:pPr>
              <a:spcAft>
                <a:spcPts val="600"/>
              </a:spcAft>
              <a:buSzPct val="100000"/>
            </a:pPr>
            <a:r>
              <a:rPr lang="en-US" sz="2400" dirty="0">
                <a:solidFill>
                  <a:schemeClr val="accent1"/>
                </a:solidFill>
              </a:rPr>
              <a:t>The basic unit of linear measurement in the U.S. system is the inch.</a:t>
            </a:r>
          </a:p>
          <a:p>
            <a:pPr>
              <a:spcAft>
                <a:spcPts val="600"/>
              </a:spcAft>
              <a:buSzPct val="100000"/>
            </a:pPr>
            <a:r>
              <a:rPr lang="en-US" sz="2400" dirty="0">
                <a:solidFill>
                  <a:schemeClr val="accent1"/>
                </a:solidFill>
              </a:rPr>
              <a:t>The basic unit of linear measurement in the metric system is the meter.</a:t>
            </a:r>
            <a:endParaRPr sz="2400" dirty="0">
              <a:solidFill>
                <a:schemeClr val="accent1"/>
              </a:solidFill>
            </a:endParaRPr>
          </a:p>
        </p:txBody>
      </p:sp>
      <p:pic>
        <p:nvPicPr>
          <p:cNvPr id="7" name="Picture Placeholder 6" descr="Two scales - a meter stick and a yard stick. The readings in the meter stick are ranging from 1 to 35, in increments of 5. The readings in the yard stick are ranging from 10 to 90, in increments of 10.">
            <a:extLst>
              <a:ext uri="{FF2B5EF4-FFF2-40B4-BE49-F238E27FC236}">
                <a16:creationId xmlns:a16="http://schemas.microsoft.com/office/drawing/2014/main" id="{C4E5D38E-DA87-6229-010D-90BC87899900}"/>
              </a:ext>
            </a:extLst>
          </p:cNvPr>
          <p:cNvPicPr>
            <a:picLocks noGrp="1" noChangeAspect="1"/>
          </p:cNvPicPr>
          <p:nvPr>
            <p:ph type="pic" idx="3"/>
          </p:nvPr>
        </p:nvPicPr>
        <p:blipFill>
          <a:blip r:embed="rId3"/>
          <a:srcRect b="24010"/>
          <a:stretch/>
        </p:blipFill>
        <p:spPr>
          <a:xfrm>
            <a:off x="7870072" y="2908021"/>
            <a:ext cx="4028185" cy="12271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Fasteners (1 of </a:t>
            </a:r>
            <a:r>
              <a:rPr lang="en-US"/>
              <a:t>4)</a:t>
            </a:r>
            <a:endParaRPr sz="3600" dirty="0"/>
          </a:p>
        </p:txBody>
      </p:sp>
      <p:sp>
        <p:nvSpPr>
          <p:cNvPr id="159" name="Google Shape;159;p6"/>
          <p:cNvSpPr txBox="1">
            <a:spLocks noGrp="1"/>
          </p:cNvSpPr>
          <p:nvPr>
            <p:ph type="body" idx="1"/>
          </p:nvPr>
        </p:nvSpPr>
        <p:spPr>
          <a:xfrm>
            <a:off x="476844" y="1508125"/>
            <a:ext cx="7560846" cy="4348978"/>
          </a:xfrm>
          <a:prstGeom prst="rect">
            <a:avLst/>
          </a:prstGeom>
          <a:noFill/>
          <a:ln>
            <a:noFill/>
          </a:ln>
        </p:spPr>
        <p:txBody>
          <a:bodyPr spcFirstLastPara="1" wrap="square" lIns="91425" tIns="45700" rIns="91425" bIns="45700" anchor="t" anchorCtr="0">
            <a:noAutofit/>
          </a:bodyPr>
          <a:lstStyle/>
          <a:p>
            <a:pPr marL="0" indent="0">
              <a:buSzPts val="2000"/>
              <a:buNone/>
            </a:pPr>
            <a:r>
              <a:rPr lang="en-US" b="1" dirty="0">
                <a:solidFill>
                  <a:schemeClr val="accent1"/>
                </a:solidFill>
                <a:latin typeface="Work Sans" pitchFamily="2" charset="0"/>
              </a:rPr>
              <a:t>05.02 Describe the different types of fasteners used in the automotive industry.</a:t>
            </a:r>
            <a:endParaRPr lang="en-US" dirty="0">
              <a:solidFill>
                <a:schemeClr val="accent1"/>
              </a:solidFill>
            </a:endParaRPr>
          </a:p>
          <a:p>
            <a:pPr marL="342900" lvl="0" indent="-342900">
              <a:buSzPct val="100000"/>
              <a:buFont typeface="Arial" panose="020B0604020202020204" pitchFamily="34" charset="0"/>
              <a:buChar char="•"/>
            </a:pPr>
            <a:r>
              <a:rPr lang="en-US" dirty="0">
                <a:solidFill>
                  <a:schemeClr val="accent1"/>
                </a:solidFill>
              </a:rPr>
              <a:t>Fasteners are used to secure or hold different parts together or to mount a component.</a:t>
            </a:r>
          </a:p>
          <a:p>
            <a:pPr marL="342900" indent="-342900">
              <a:buSzPct val="100000"/>
              <a:buFont typeface="Arial" panose="020B0604020202020204" pitchFamily="34" charset="0"/>
              <a:buChar char="•"/>
            </a:pPr>
            <a:r>
              <a:rPr lang="en-US" dirty="0">
                <a:solidFill>
                  <a:schemeClr val="accent1"/>
                </a:solidFill>
              </a:rPr>
              <a:t>Many types and sizes of fasteners are used.</a:t>
            </a:r>
          </a:p>
          <a:p>
            <a:pPr lvl="1">
              <a:buSzPct val="100000"/>
            </a:pPr>
            <a:r>
              <a:rPr lang="en-US" dirty="0">
                <a:solidFill>
                  <a:schemeClr val="accent1"/>
                </a:solidFill>
              </a:rPr>
              <a:t>Each is designed for a specific purpose. </a:t>
            </a:r>
          </a:p>
          <a:p>
            <a:pPr lvl="1">
              <a:buSzPct val="100000"/>
            </a:pPr>
            <a:r>
              <a:rPr lang="en-US" dirty="0">
                <a:solidFill>
                  <a:schemeClr val="accent1"/>
                </a:solidFill>
              </a:rPr>
              <a:t>The most common is the threaded fastener which includes bolts, nuts, and  screws.</a:t>
            </a:r>
          </a:p>
        </p:txBody>
      </p:sp>
      <p:pic>
        <p:nvPicPr>
          <p:cNvPr id="7" name="Picture Placeholder 6" descr="A list of common automotive threaded fasteners: Bolt, Setscrews: flat head and round head; Pan head self-tapping screws: round head, flat head; Stud, Capscrew: round head, flat head, Fillister head, Oval head; Machine screws, Carriage bolt, and Torx head bolt.">
            <a:extLst>
              <a:ext uri="{FF2B5EF4-FFF2-40B4-BE49-F238E27FC236}">
                <a16:creationId xmlns:a16="http://schemas.microsoft.com/office/drawing/2014/main" id="{00A64D3E-1693-70A7-EE1E-4FBE2A6ECFDD}"/>
              </a:ext>
            </a:extLst>
          </p:cNvPr>
          <p:cNvPicPr>
            <a:picLocks noGrp="1" noChangeAspect="1"/>
          </p:cNvPicPr>
          <p:nvPr>
            <p:ph type="pic" idx="2"/>
          </p:nvPr>
        </p:nvPicPr>
        <p:blipFill>
          <a:blip r:embed="rId3"/>
          <a:srcRect b="7258"/>
          <a:stretch/>
        </p:blipFill>
        <p:spPr>
          <a:xfrm>
            <a:off x="8395855" y="1515788"/>
            <a:ext cx="3319301" cy="3826425"/>
          </a:xfrm>
          <a:prstGeom prst="rect">
            <a:avLst/>
          </a:prstGeom>
        </p:spPr>
      </p:pic>
    </p:spTree>
    <p:extLst>
      <p:ext uri="{BB962C8B-B14F-4D97-AF65-F5344CB8AC3E}">
        <p14:creationId xmlns:p14="http://schemas.microsoft.com/office/powerpoint/2010/main" val="3847269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Fasteners (2 of 4)</a:t>
            </a:r>
            <a:endParaRPr dirty="0"/>
          </a:p>
        </p:txBody>
      </p:sp>
      <p:sp>
        <p:nvSpPr>
          <p:cNvPr id="159" name="Google Shape;159;p6"/>
          <p:cNvSpPr txBox="1">
            <a:spLocks noGrp="1"/>
          </p:cNvSpPr>
          <p:nvPr>
            <p:ph type="body" idx="1"/>
          </p:nvPr>
        </p:nvSpPr>
        <p:spPr>
          <a:xfrm>
            <a:off x="476844" y="1508125"/>
            <a:ext cx="6887783" cy="4576586"/>
          </a:xfrm>
          <a:prstGeom prst="rect">
            <a:avLst/>
          </a:prstGeom>
          <a:noFill/>
          <a:ln>
            <a:noFill/>
          </a:ln>
        </p:spPr>
        <p:txBody>
          <a:bodyPr spcFirstLastPara="1" wrap="square" lIns="91425" tIns="45700" rIns="91425" bIns="45700" anchor="t" anchorCtr="0">
            <a:noAutofit/>
          </a:bodyPr>
          <a:lstStyle/>
          <a:p>
            <a:pPr>
              <a:spcAft>
                <a:spcPts val="200"/>
              </a:spcAft>
              <a:buSzPct val="100000"/>
            </a:pPr>
            <a:r>
              <a:rPr lang="en-US" dirty="0"/>
              <a:t>Bolts</a:t>
            </a:r>
          </a:p>
          <a:p>
            <a:pPr lvl="1">
              <a:spcAft>
                <a:spcPts val="200"/>
              </a:spcAft>
              <a:buSzPct val="100000"/>
            </a:pPr>
            <a:r>
              <a:rPr lang="en-US" dirty="0"/>
              <a:t>Bolts have a head on one end and threads on the other.</a:t>
            </a:r>
          </a:p>
          <a:p>
            <a:pPr lvl="1">
              <a:spcAft>
                <a:spcPts val="200"/>
              </a:spcAft>
              <a:buSzPct val="100000"/>
            </a:pPr>
            <a:r>
              <a:rPr lang="en-US" dirty="0"/>
              <a:t>They are identified by their head size, shank (shoulder) diameter, thread pitch, length, and grade.</a:t>
            </a:r>
          </a:p>
          <a:p>
            <a:pPr lvl="1">
              <a:spcAft>
                <a:spcPts val="200"/>
              </a:spcAft>
              <a:buSzPct val="100000"/>
            </a:pPr>
            <a:r>
              <a:rPr lang="en-US" dirty="0"/>
              <a:t>The bolt head is used to loosen and tighten the bolt.</a:t>
            </a:r>
          </a:p>
          <a:p>
            <a:pPr lvl="1">
              <a:spcAft>
                <a:spcPts val="200"/>
              </a:spcAft>
              <a:buSzPct val="100000"/>
            </a:pPr>
            <a:r>
              <a:rPr lang="en-US" dirty="0"/>
              <a:t>Bolt diameter is the measurement across the diameter of the threaded area or bolt shank.</a:t>
            </a:r>
          </a:p>
        </p:txBody>
      </p:sp>
      <p:pic>
        <p:nvPicPr>
          <p:cNvPr id="6" name="Picture Placeholder 5" descr="The basic terminology for bolt identification. A bolt is placed horizontally. The height of the bolt head is measured vertically and labeled Head wrench size. The distance measured from the base of the head to the end is labeled Length. The width of the stem of the bolt is labeled Bolt diameter.">
            <a:extLst>
              <a:ext uri="{FF2B5EF4-FFF2-40B4-BE49-F238E27FC236}">
                <a16:creationId xmlns:a16="http://schemas.microsoft.com/office/drawing/2014/main" id="{BC0A910F-4E54-AA5C-F05F-3BB4C5A0F1D3}"/>
              </a:ext>
            </a:extLst>
          </p:cNvPr>
          <p:cNvPicPr>
            <a:picLocks noGrp="1" noChangeAspect="1"/>
          </p:cNvPicPr>
          <p:nvPr>
            <p:ph type="pic" idx="2"/>
          </p:nvPr>
        </p:nvPicPr>
        <p:blipFill>
          <a:blip r:embed="rId3"/>
          <a:srcRect b="12337"/>
          <a:stretch/>
        </p:blipFill>
        <p:spPr>
          <a:xfrm>
            <a:off x="7535614" y="2271446"/>
            <a:ext cx="4430351" cy="23716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Fasteners (3 of 4)</a:t>
            </a:r>
            <a:endParaRPr dirty="0"/>
          </a:p>
        </p:txBody>
      </p:sp>
      <p:sp>
        <p:nvSpPr>
          <p:cNvPr id="159" name="Google Shape;159;p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000" dirty="0">
                <a:solidFill>
                  <a:schemeClr val="accent1"/>
                </a:solidFill>
              </a:rPr>
              <a:t>Bolts</a:t>
            </a:r>
          </a:p>
          <a:p>
            <a:pPr lvl="1">
              <a:spcAft>
                <a:spcPts val="600"/>
              </a:spcAft>
              <a:buSzPct val="100000"/>
            </a:pPr>
            <a:r>
              <a:rPr lang="en-US" sz="1800" dirty="0">
                <a:solidFill>
                  <a:schemeClr val="accent1"/>
                </a:solidFill>
              </a:rPr>
              <a:t>The thread pitch of a bolt in the U.S. system is the number of threads that are in 1 inch of the threaded length and is expressed in number of threads per inch.</a:t>
            </a:r>
          </a:p>
          <a:p>
            <a:pPr lvl="1">
              <a:spcAft>
                <a:spcPts val="600"/>
              </a:spcAft>
              <a:buSzPct val="100000"/>
            </a:pPr>
            <a:r>
              <a:rPr lang="en-US" sz="1800" dirty="0">
                <a:solidFill>
                  <a:schemeClr val="accent1"/>
                </a:solidFill>
              </a:rPr>
              <a:t>A UNF bolt with a 3/8-inch diameter is marked as a 3/8 × 24 bolt. It has 24 threads per inch.</a:t>
            </a:r>
          </a:p>
          <a:p>
            <a:pPr lvl="1">
              <a:spcAft>
                <a:spcPts val="600"/>
              </a:spcAft>
              <a:buSzPct val="100000"/>
            </a:pPr>
            <a:r>
              <a:rPr lang="en-US" sz="1800" dirty="0">
                <a:solidFill>
                  <a:schemeClr val="accent1"/>
                </a:solidFill>
              </a:rPr>
              <a:t>The distance, in millimeters, between two adjacent threads determines the thread pitch in the metric system.</a:t>
            </a:r>
          </a:p>
          <a:p>
            <a:pPr lvl="1">
              <a:spcAft>
                <a:spcPts val="600"/>
              </a:spcAft>
              <a:buSzPct val="100000"/>
            </a:pPr>
            <a:r>
              <a:rPr lang="en-US" sz="1800" dirty="0">
                <a:solidFill>
                  <a:schemeClr val="accent1"/>
                </a:solidFill>
              </a:rPr>
              <a:t>This distance will vary between 1.0 and 2.0 and depends on the diameter of the bolt.</a:t>
            </a:r>
          </a:p>
          <a:p>
            <a:pPr lvl="1">
              <a:spcAft>
                <a:spcPts val="600"/>
              </a:spcAft>
              <a:buSzPct val="100000"/>
            </a:pPr>
            <a:r>
              <a:rPr lang="en-US" sz="1800" dirty="0">
                <a:solidFill>
                  <a:schemeClr val="accent1"/>
                </a:solidFill>
              </a:rPr>
              <a:t>The lower the number, the closer the threads are placed and the finer the threads are.</a:t>
            </a:r>
          </a:p>
          <a:p>
            <a:pPr lvl="1">
              <a:spcAft>
                <a:spcPts val="600"/>
              </a:spcAft>
              <a:buSzPct val="100000"/>
            </a:pPr>
            <a:r>
              <a:rPr lang="en-US" sz="1800" dirty="0">
                <a:solidFill>
                  <a:schemeClr val="accent1"/>
                </a:solidFill>
              </a:rPr>
              <a:t>The bolt’s tensile strength, or grade, is the amount of stress or stretch it is able to withstand before it breaks. </a:t>
            </a:r>
            <a:endParaRPr lang="en-US" sz="2200" dirty="0">
              <a:solidFill>
                <a:schemeClr val="accent1"/>
              </a:solidFill>
            </a:endParaRPr>
          </a:p>
        </p:txBody>
      </p:sp>
    </p:spTree>
    <p:extLst>
      <p:ext uri="{BB962C8B-B14F-4D97-AF65-F5344CB8AC3E}">
        <p14:creationId xmlns:p14="http://schemas.microsoft.com/office/powerpoint/2010/main" val="280975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Fasteners (4 of 4)</a:t>
            </a:r>
            <a:endParaRPr dirty="0"/>
          </a:p>
        </p:txBody>
      </p:sp>
      <p:sp>
        <p:nvSpPr>
          <p:cNvPr id="159" name="Google Shape;159;p6"/>
          <p:cNvSpPr txBox="1">
            <a:spLocks noGrp="1"/>
          </p:cNvSpPr>
          <p:nvPr>
            <p:ph type="body" idx="1"/>
          </p:nvPr>
        </p:nvSpPr>
        <p:spPr>
          <a:xfrm>
            <a:off x="476844" y="1508124"/>
            <a:ext cx="7459246" cy="4542719"/>
          </a:xfrm>
          <a:prstGeom prst="rect">
            <a:avLst/>
          </a:prstGeom>
          <a:noFill/>
          <a:ln>
            <a:noFill/>
          </a:ln>
        </p:spPr>
        <p:txBody>
          <a:bodyPr spcFirstLastPara="1" wrap="square" lIns="91425" tIns="45700" rIns="91425" bIns="45700" anchor="t" anchorCtr="0">
            <a:noAutofit/>
          </a:bodyPr>
          <a:lstStyle/>
          <a:p>
            <a:pPr marL="342900" lvl="0" indent="-342900">
              <a:spcAft>
                <a:spcPts val="600"/>
              </a:spcAft>
              <a:buSzPct val="100000"/>
            </a:pPr>
            <a:r>
              <a:rPr lang="en-US" dirty="0">
                <a:solidFill>
                  <a:schemeClr val="accent1"/>
                </a:solidFill>
              </a:rPr>
              <a:t>Taps and Dies</a:t>
            </a:r>
          </a:p>
          <a:p>
            <a:pPr lvl="1" indent="-360363">
              <a:spcAft>
                <a:spcPts val="600"/>
              </a:spcAft>
              <a:buSzPct val="100000"/>
            </a:pPr>
            <a:r>
              <a:rPr lang="en-US" dirty="0">
                <a:solidFill>
                  <a:schemeClr val="accent1"/>
                </a:solidFill>
              </a:rPr>
              <a:t>The hand tap is a small tool used for hand cutting internal threads.</a:t>
            </a:r>
          </a:p>
          <a:p>
            <a:pPr lvl="1" indent="-360363">
              <a:spcAft>
                <a:spcPts val="600"/>
              </a:spcAft>
              <a:buSzPct val="100000"/>
            </a:pPr>
            <a:r>
              <a:rPr lang="en-US" dirty="0">
                <a:solidFill>
                  <a:schemeClr val="accent1"/>
                </a:solidFill>
              </a:rPr>
              <a:t>Hand-threading dies are the opposite of taps because they cut external (outside) threads on bolts, rods, and pipes rather than internal threads.</a:t>
            </a:r>
          </a:p>
          <a:p>
            <a:pPr lvl="1" indent="-360363">
              <a:spcAft>
                <a:spcPts val="600"/>
              </a:spcAft>
              <a:buSzPct val="100000"/>
            </a:pPr>
            <a:r>
              <a:rPr lang="en-US" dirty="0">
                <a:solidFill>
                  <a:schemeClr val="accent1"/>
                </a:solidFill>
              </a:rPr>
              <a:t>Dies are made in various sizes and shapes.</a:t>
            </a:r>
            <a:endParaRPr lang="en-US" b="1" dirty="0">
              <a:solidFill>
                <a:schemeClr val="accent1"/>
              </a:solidFill>
            </a:endParaRPr>
          </a:p>
        </p:txBody>
      </p:sp>
      <p:pic>
        <p:nvPicPr>
          <p:cNvPr id="7" name="Picture Placeholder 6" descr="A hand-threading dies and taps set of varying sizes and shapes arranged in a toolbox.">
            <a:extLst>
              <a:ext uri="{FF2B5EF4-FFF2-40B4-BE49-F238E27FC236}">
                <a16:creationId xmlns:a16="http://schemas.microsoft.com/office/drawing/2014/main" id="{36B4DA18-8216-5DA8-C1A4-329F0A9C7CFB}"/>
              </a:ext>
            </a:extLst>
          </p:cNvPr>
          <p:cNvPicPr>
            <a:picLocks noGrp="1" noChangeAspect="1"/>
          </p:cNvPicPr>
          <p:nvPr>
            <p:ph type="pic" idx="2"/>
          </p:nvPr>
        </p:nvPicPr>
        <p:blipFill>
          <a:blip r:embed="rId3"/>
          <a:srcRect b="7272"/>
          <a:stretch/>
        </p:blipFill>
        <p:spPr>
          <a:xfrm>
            <a:off x="8144754" y="1676300"/>
            <a:ext cx="3463023" cy="3505401"/>
          </a:xfrm>
          <a:prstGeom prst="rect">
            <a:avLst/>
          </a:prstGeom>
        </p:spPr>
      </p:pic>
    </p:spTree>
    <p:extLst>
      <p:ext uri="{BB962C8B-B14F-4D97-AF65-F5344CB8AC3E}">
        <p14:creationId xmlns:p14="http://schemas.microsoft.com/office/powerpoint/2010/main" val="729391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Washers and Other Common Fasteners</a:t>
            </a:r>
            <a:endParaRPr dirty="0"/>
          </a:p>
        </p:txBody>
      </p:sp>
      <p:sp>
        <p:nvSpPr>
          <p:cNvPr id="159" name="Google Shape;159;p6"/>
          <p:cNvSpPr txBox="1">
            <a:spLocks noGrp="1"/>
          </p:cNvSpPr>
          <p:nvPr>
            <p:ph type="body" idx="1"/>
          </p:nvPr>
        </p:nvSpPr>
        <p:spPr>
          <a:xfrm>
            <a:off x="476843" y="1514196"/>
            <a:ext cx="11241915" cy="4613339"/>
          </a:xfrm>
          <a:prstGeom prst="rect">
            <a:avLst/>
          </a:prstGeom>
          <a:noFill/>
          <a:ln>
            <a:noFill/>
          </a:ln>
        </p:spPr>
        <p:txBody>
          <a:bodyPr spcFirstLastPara="1" wrap="square" lIns="91425" tIns="45700" rIns="91425" bIns="45700" anchor="t" anchorCtr="0">
            <a:noAutofit/>
          </a:bodyPr>
          <a:lstStyle/>
          <a:p>
            <a:pPr>
              <a:buSzPct val="100000"/>
            </a:pPr>
            <a:r>
              <a:rPr lang="en-US" dirty="0"/>
              <a:t>Flat washers</a:t>
            </a:r>
          </a:p>
          <a:p>
            <a:pPr lvl="1">
              <a:buSzPct val="100000"/>
            </a:pPr>
            <a:r>
              <a:rPr lang="en-US" dirty="0"/>
              <a:t>Are used with a fastener to spread out the load.</a:t>
            </a:r>
            <a:endParaRPr lang="en-US" sz="2600" dirty="0"/>
          </a:p>
          <a:p>
            <a:pPr>
              <a:buSzPct val="100000"/>
            </a:pPr>
            <a:r>
              <a:rPr lang="en-US" dirty="0"/>
              <a:t>Lock washers</a:t>
            </a:r>
          </a:p>
          <a:p>
            <a:pPr lvl="1">
              <a:buSzPct val="100000"/>
            </a:pPr>
            <a:r>
              <a:rPr lang="en-US" dirty="0"/>
              <a:t>Are used to lock the bolt head or nut in place.</a:t>
            </a:r>
          </a:p>
          <a:p>
            <a:pPr>
              <a:buSzPct val="100000"/>
            </a:pPr>
            <a:r>
              <a:rPr lang="en-US" dirty="0"/>
              <a:t>Nuts</a:t>
            </a:r>
          </a:p>
          <a:p>
            <a:pPr lvl="1">
              <a:buSzPct val="100000"/>
            </a:pPr>
            <a:r>
              <a:rPr lang="en-US" dirty="0"/>
              <a:t>Are used with bolts and studs and have different designs.</a:t>
            </a:r>
          </a:p>
          <a:p>
            <a:pPr>
              <a:buSzPct val="100000"/>
            </a:pPr>
            <a:r>
              <a:rPr lang="en-US" dirty="0"/>
              <a:t>Cap screws</a:t>
            </a:r>
          </a:p>
          <a:p>
            <a:pPr lvl="1">
              <a:buSzPct val="100000"/>
            </a:pPr>
            <a:r>
              <a:rPr lang="en-US" dirty="0"/>
              <a:t>Are similar to bolts but do not have a shoulder.</a:t>
            </a:r>
          </a:p>
          <a:p>
            <a:pPr>
              <a:buSzPct val="100000"/>
            </a:pPr>
            <a:r>
              <a:rPr lang="en-US" dirty="0"/>
              <a:t>Setscrews</a:t>
            </a:r>
          </a:p>
          <a:p>
            <a:pPr lvl="1">
              <a:buSzPct val="100000"/>
            </a:pPr>
            <a:r>
              <a:rPr lang="en-US" dirty="0"/>
              <a:t>Are used to prevent rotary motion between two parts.</a:t>
            </a:r>
          </a:p>
        </p:txBody>
      </p:sp>
    </p:spTree>
    <p:extLst>
      <p:ext uri="{BB962C8B-B14F-4D97-AF65-F5344CB8AC3E}">
        <p14:creationId xmlns:p14="http://schemas.microsoft.com/office/powerpoint/2010/main" val="1244311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Measuring Tools (1 of 6)</a:t>
            </a:r>
            <a:endParaRPr dirty="0"/>
          </a:p>
        </p:txBody>
      </p:sp>
      <p:sp>
        <p:nvSpPr>
          <p:cNvPr id="159" name="Google Shape;159;p6"/>
          <p:cNvSpPr txBox="1">
            <a:spLocks noGrp="1"/>
          </p:cNvSpPr>
          <p:nvPr>
            <p:ph type="body" idx="1"/>
          </p:nvPr>
        </p:nvSpPr>
        <p:spPr>
          <a:xfrm>
            <a:off x="476844" y="1508124"/>
            <a:ext cx="7705416" cy="4463697"/>
          </a:xfrm>
          <a:prstGeom prst="rect">
            <a:avLst/>
          </a:prstGeom>
          <a:noFill/>
          <a:ln>
            <a:noFill/>
          </a:ln>
        </p:spPr>
        <p:txBody>
          <a:bodyPr spcFirstLastPara="1" wrap="square" lIns="91425" tIns="45700" rIns="91425" bIns="45700" anchor="t" anchorCtr="0">
            <a:noAutofit/>
          </a:bodyPr>
          <a:lstStyle/>
          <a:p>
            <a:pPr marL="76200" indent="0">
              <a:buNone/>
            </a:pPr>
            <a:r>
              <a:rPr lang="en-US" b="1" dirty="0">
                <a:solidFill>
                  <a:schemeClr val="accent1"/>
                </a:solidFill>
                <a:latin typeface="Work Sans" pitchFamily="2" charset="0"/>
              </a:rPr>
              <a:t>05.03 List the various mechanical measuring tools used in the automotive shop.</a:t>
            </a:r>
          </a:p>
          <a:p>
            <a:pPr>
              <a:buSzPct val="100000"/>
            </a:pPr>
            <a:r>
              <a:rPr lang="en-US" dirty="0">
                <a:solidFill>
                  <a:schemeClr val="accent1"/>
                </a:solidFill>
              </a:rPr>
              <a:t>Machinist’s Rule</a:t>
            </a:r>
          </a:p>
          <a:p>
            <a:pPr lvl="1">
              <a:buSzPct val="100000"/>
            </a:pPr>
            <a:r>
              <a:rPr lang="en-US" dirty="0">
                <a:solidFill>
                  <a:schemeClr val="accent1"/>
                </a:solidFill>
              </a:rPr>
              <a:t>It looks a lot like an ordinary ruler.</a:t>
            </a:r>
          </a:p>
          <a:p>
            <a:pPr lvl="1">
              <a:buSzPct val="100000"/>
            </a:pPr>
            <a:r>
              <a:rPr lang="en-US" dirty="0">
                <a:solidFill>
                  <a:schemeClr val="accent1"/>
                </a:solidFill>
              </a:rPr>
              <a:t>Each edge is divided into increments based on a different scale.</a:t>
            </a:r>
          </a:p>
          <a:p>
            <a:pPr lvl="1">
              <a:buSzPct val="100000"/>
            </a:pPr>
            <a:r>
              <a:rPr lang="en-US" dirty="0">
                <a:solidFill>
                  <a:schemeClr val="accent1"/>
                </a:solidFill>
              </a:rPr>
              <a:t>It is based on the U.S. system of measurement and may have scales based on 1⁄8-, 1⁄16-, 1⁄32-, and 1⁄64-inch intervals.</a:t>
            </a:r>
          </a:p>
        </p:txBody>
      </p:sp>
      <p:pic>
        <p:nvPicPr>
          <p:cNvPr id="7" name="Picture Placeholder 6" descr="A portion of 2 types of scales placed in a horizontal position. The markings on the top of the first scale is labeled ‘1/8-inch scale’ while the markings on the bottom is labeled ‘1/16-inch scale’. The markings on the top of the second scale is labeled ‘1/32-inch scale’ while the markings on the bottom is labeled ‘1/64-inch scale’.">
            <a:extLst>
              <a:ext uri="{FF2B5EF4-FFF2-40B4-BE49-F238E27FC236}">
                <a16:creationId xmlns:a16="http://schemas.microsoft.com/office/drawing/2014/main" id="{714E8E49-DD81-65A7-946D-2C2502A39665}"/>
              </a:ext>
            </a:extLst>
          </p:cNvPr>
          <p:cNvPicPr>
            <a:picLocks noGrp="1" noChangeAspect="1"/>
          </p:cNvPicPr>
          <p:nvPr>
            <p:ph type="pic" idx="2"/>
          </p:nvPr>
        </p:nvPicPr>
        <p:blipFill>
          <a:blip r:embed="rId3"/>
          <a:srcRect b="4287"/>
          <a:stretch/>
        </p:blipFill>
        <p:spPr>
          <a:xfrm>
            <a:off x="8182259" y="1541043"/>
            <a:ext cx="3255750" cy="3775915"/>
          </a:xfrm>
          <a:prstGeom prst="rect">
            <a:avLst/>
          </a:prstGeom>
        </p:spPr>
      </p:pic>
    </p:spTree>
    <p:extLst>
      <p:ext uri="{BB962C8B-B14F-4D97-AF65-F5344CB8AC3E}">
        <p14:creationId xmlns:p14="http://schemas.microsoft.com/office/powerpoint/2010/main" val="2151800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Measuring Tools (2 of 6)</a:t>
            </a:r>
            <a:endParaRPr dirty="0"/>
          </a:p>
        </p:txBody>
      </p:sp>
      <p:pic>
        <p:nvPicPr>
          <p:cNvPr id="7" name="Picture Placeholder 6" descr="A vernier caliper with the following parts labeled : ‘Stationary jaw’, ‘Inside jaws’, ‘Beam with main scale’, ‘Metric scale’, ‘Outside jaws’, ‘Adjustable jaw’, ‘Thumb adjuster’, ‘Vernier scale’, ‘Inch scale’ and ‘Depth’">
            <a:extLst>
              <a:ext uri="{FF2B5EF4-FFF2-40B4-BE49-F238E27FC236}">
                <a16:creationId xmlns:a16="http://schemas.microsoft.com/office/drawing/2014/main" id="{3C74E13F-9682-4D10-EA03-238BF380E6AD}"/>
              </a:ext>
            </a:extLst>
          </p:cNvPr>
          <p:cNvPicPr>
            <a:picLocks noGrp="1" noChangeAspect="1"/>
          </p:cNvPicPr>
          <p:nvPr>
            <p:ph type="pic" idx="2"/>
          </p:nvPr>
        </p:nvPicPr>
        <p:blipFill>
          <a:blip r:embed="rId3"/>
          <a:srcRect b="10076"/>
          <a:stretch/>
        </p:blipFill>
        <p:spPr>
          <a:xfrm>
            <a:off x="606073" y="1989653"/>
            <a:ext cx="4404976" cy="2878695"/>
          </a:xfrm>
          <a:prstGeom prst="rect">
            <a:avLst/>
          </a:prstGeom>
        </p:spPr>
      </p:pic>
      <p:sp>
        <p:nvSpPr>
          <p:cNvPr id="159" name="Google Shape;159;p6"/>
          <p:cNvSpPr txBox="1">
            <a:spLocks noGrp="1"/>
          </p:cNvSpPr>
          <p:nvPr>
            <p:ph type="body" idx="1"/>
          </p:nvPr>
        </p:nvSpPr>
        <p:spPr>
          <a:xfrm>
            <a:off x="5407378" y="1508125"/>
            <a:ext cx="6311380" cy="4497564"/>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solidFill>
                  <a:schemeClr val="accent1"/>
                </a:solidFill>
              </a:rPr>
              <a:t>Vernier Caliper</a:t>
            </a:r>
          </a:p>
          <a:p>
            <a:pPr lvl="1">
              <a:spcAft>
                <a:spcPts val="600"/>
              </a:spcAft>
              <a:buSzPct val="100000"/>
            </a:pPr>
            <a:r>
              <a:rPr lang="en-US" dirty="0">
                <a:solidFill>
                  <a:schemeClr val="accent1"/>
                </a:solidFill>
              </a:rPr>
              <a:t>It is a measuring tool that can make inside, outside, or depth measurements.</a:t>
            </a:r>
          </a:p>
          <a:p>
            <a:pPr lvl="1">
              <a:spcAft>
                <a:spcPts val="600"/>
              </a:spcAft>
              <a:buSzPct val="100000"/>
            </a:pPr>
            <a:r>
              <a:rPr lang="en-US" dirty="0">
                <a:solidFill>
                  <a:schemeClr val="accent1"/>
                </a:solidFill>
              </a:rPr>
              <a:t>It is marked in both U.S. and metric divisions called a vernier scale.</a:t>
            </a:r>
          </a:p>
          <a:p>
            <a:pPr lvl="2">
              <a:spcAft>
                <a:spcPts val="600"/>
              </a:spcAft>
              <a:buSzPct val="100000"/>
            </a:pPr>
            <a:r>
              <a:rPr lang="en-US" dirty="0">
                <a:solidFill>
                  <a:schemeClr val="accent1"/>
                </a:solidFill>
              </a:rPr>
              <a:t>Consists of a stationary scale. </a:t>
            </a:r>
          </a:p>
          <a:p>
            <a:pPr lvl="1">
              <a:spcAft>
                <a:spcPts val="600"/>
              </a:spcAft>
              <a:buSzPct val="100000"/>
            </a:pPr>
            <a:r>
              <a:rPr lang="en-US" dirty="0">
                <a:solidFill>
                  <a:schemeClr val="accent1"/>
                </a:solidFill>
              </a:rPr>
              <a:t>It has a movable scale that is parallel to a fixed scale.</a:t>
            </a:r>
          </a:p>
        </p:txBody>
      </p:sp>
    </p:spTree>
    <p:extLst>
      <p:ext uri="{BB962C8B-B14F-4D97-AF65-F5344CB8AC3E}">
        <p14:creationId xmlns:p14="http://schemas.microsoft.com/office/powerpoint/2010/main" val="1271246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Measuring Tools (3 of 6)</a:t>
            </a:r>
            <a:endParaRPr dirty="0"/>
          </a:p>
        </p:txBody>
      </p:sp>
      <p:pic>
        <p:nvPicPr>
          <p:cNvPr id="7" name="Picture Placeholder 6" descr="Two sections labeled ‘A’ and ‘B’. Section (A) has the major components of an outside micrometer labeled as follows: ‘Anvil’, ‘Locknut’, ‘Sleeve’, ‘Spindle’, ‘Frame’, ‘Thimble’ and ‘Ratchet’. Section (B) has the major components of an inside micrometer labeled as follows: ‘Rod point’, ‘Insert rod here’, ‘Short handle’, ‘Body’, ‘Thimble’, ‘Anvil’ and ‘Lock screw for rod’.">
            <a:extLst>
              <a:ext uri="{FF2B5EF4-FFF2-40B4-BE49-F238E27FC236}">
                <a16:creationId xmlns:a16="http://schemas.microsoft.com/office/drawing/2014/main" id="{E74C3F5A-3E92-C421-EB5D-DC6C3225F081}"/>
              </a:ext>
            </a:extLst>
          </p:cNvPr>
          <p:cNvPicPr>
            <a:picLocks noGrp="1" noChangeAspect="1"/>
          </p:cNvPicPr>
          <p:nvPr>
            <p:ph type="pic" idx="2"/>
          </p:nvPr>
        </p:nvPicPr>
        <p:blipFill>
          <a:blip r:embed="rId3"/>
          <a:srcRect b="12890"/>
          <a:stretch/>
        </p:blipFill>
        <p:spPr>
          <a:xfrm>
            <a:off x="766818" y="1632281"/>
            <a:ext cx="4281350" cy="3593438"/>
          </a:xfrm>
          <a:prstGeom prst="rect">
            <a:avLst/>
          </a:prstGeom>
        </p:spPr>
      </p:pic>
      <p:sp>
        <p:nvSpPr>
          <p:cNvPr id="159" name="Google Shape;159;p6"/>
          <p:cNvSpPr txBox="1">
            <a:spLocks noGrp="1"/>
          </p:cNvSpPr>
          <p:nvPr>
            <p:ph type="body" idx="1"/>
          </p:nvPr>
        </p:nvSpPr>
        <p:spPr>
          <a:xfrm>
            <a:off x="5204178" y="1508124"/>
            <a:ext cx="6514580" cy="4531431"/>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Micrometers</a:t>
            </a:r>
          </a:p>
          <a:p>
            <a:pPr lvl="1">
              <a:spcAft>
                <a:spcPts val="600"/>
              </a:spcAft>
              <a:buSzPct val="100000"/>
            </a:pPr>
            <a:r>
              <a:rPr lang="en-US" dirty="0"/>
              <a:t>They are used to measure linear outside and inside dimensions.</a:t>
            </a:r>
          </a:p>
          <a:p>
            <a:pPr lvl="1">
              <a:spcAft>
                <a:spcPts val="600"/>
              </a:spcAft>
              <a:buSzPct val="100000"/>
            </a:pPr>
            <a:r>
              <a:rPr lang="en-US" dirty="0"/>
              <a:t>Outside and inside micrometers are calibrated and read the same.</a:t>
            </a:r>
          </a:p>
          <a:p>
            <a:pPr lvl="1">
              <a:spcAft>
                <a:spcPts val="600"/>
              </a:spcAft>
              <a:buSzPct val="100000"/>
            </a:pPr>
            <a:r>
              <a:rPr lang="en-US" dirty="0"/>
              <a:t>They are designed to measure objects with accuracy to 0.001 (one-thousandth) inch.</a:t>
            </a:r>
          </a:p>
        </p:txBody>
      </p:sp>
    </p:spTree>
    <p:extLst>
      <p:ext uri="{BB962C8B-B14F-4D97-AF65-F5344CB8AC3E}">
        <p14:creationId xmlns:p14="http://schemas.microsoft.com/office/powerpoint/2010/main" val="2287769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Measuring Tools (4 of 6)</a:t>
            </a:r>
            <a:endParaRPr dirty="0"/>
          </a:p>
        </p:txBody>
      </p:sp>
      <p:sp>
        <p:nvSpPr>
          <p:cNvPr id="159" name="Google Shape;159;p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solidFill>
                  <a:schemeClr val="accent1"/>
                </a:solidFill>
              </a:rPr>
              <a:t>Reading an outside micrometer includes the following:</a:t>
            </a:r>
          </a:p>
          <a:p>
            <a:pPr lvl="1">
              <a:spcAft>
                <a:spcPts val="600"/>
              </a:spcAft>
              <a:buSzPct val="100000"/>
            </a:pPr>
            <a:r>
              <a:rPr lang="en-US" sz="2000" dirty="0">
                <a:solidFill>
                  <a:schemeClr val="accent1"/>
                </a:solidFill>
              </a:rPr>
              <a:t>As with the inch-graduated micrometer, the three separate readings are added together to obtain the total reading.</a:t>
            </a:r>
          </a:p>
          <a:p>
            <a:pPr lvl="1">
              <a:spcAft>
                <a:spcPts val="600"/>
              </a:spcAft>
              <a:buSzPct val="100000"/>
            </a:pPr>
            <a:r>
              <a:rPr lang="en-US" sz="2000" dirty="0">
                <a:solidFill>
                  <a:schemeClr val="accent1"/>
                </a:solidFill>
              </a:rPr>
              <a:t>To measure small objects with an outside micrometer, open the tool and slip the object between the spindle and anvil.</a:t>
            </a:r>
          </a:p>
          <a:p>
            <a:pPr lvl="1">
              <a:spcAft>
                <a:spcPts val="600"/>
              </a:spcAft>
              <a:buSzPct val="100000"/>
            </a:pPr>
            <a:r>
              <a:rPr lang="en-US" sz="2000" dirty="0">
                <a:solidFill>
                  <a:schemeClr val="accent1"/>
                </a:solidFill>
              </a:rPr>
              <a:t>While holding the object against the anvil, turn the thimble with your thumb and forefinger until the spindle contacts the object.</a:t>
            </a:r>
          </a:p>
          <a:p>
            <a:pPr lvl="1">
              <a:spcAft>
                <a:spcPts val="600"/>
              </a:spcAft>
              <a:buSzPct val="100000"/>
            </a:pPr>
            <a:r>
              <a:rPr lang="en-US" sz="2000" dirty="0">
                <a:solidFill>
                  <a:schemeClr val="accent1"/>
                </a:solidFill>
              </a:rPr>
              <a:t>Use only enough pressure on the thimble to allow the object to just fit between the anvil and spindle.</a:t>
            </a:r>
          </a:p>
          <a:p>
            <a:pPr lvl="1">
              <a:spcAft>
                <a:spcPts val="600"/>
              </a:spcAft>
              <a:buSzPct val="100000"/>
            </a:pPr>
            <a:r>
              <a:rPr lang="en-US" sz="2000" dirty="0">
                <a:solidFill>
                  <a:schemeClr val="accent1"/>
                </a:solidFill>
              </a:rPr>
              <a:t>Slip the micrometer back and forth over the object until you feel a very light resistance, while at the same time rocking the tool from side to side to make certain the spindle cannot be closed any further.</a:t>
            </a:r>
          </a:p>
        </p:txBody>
      </p:sp>
    </p:spTree>
    <p:extLst>
      <p:ext uri="{BB962C8B-B14F-4D97-AF65-F5344CB8AC3E}">
        <p14:creationId xmlns:p14="http://schemas.microsoft.com/office/powerpoint/2010/main" val="3626952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Measuring Tools (5 of 6)</a:t>
            </a:r>
            <a:endParaRPr dirty="0"/>
          </a:p>
        </p:txBody>
      </p:sp>
      <p:pic>
        <p:nvPicPr>
          <p:cNvPr id="7" name="Picture Placeholder 6" descr="A depth micrometer that is used to measure the distance between two parallel surfaces.">
            <a:extLst>
              <a:ext uri="{FF2B5EF4-FFF2-40B4-BE49-F238E27FC236}">
                <a16:creationId xmlns:a16="http://schemas.microsoft.com/office/drawing/2014/main" id="{994C713C-B79C-8D28-C386-74E53F38B88F}"/>
              </a:ext>
            </a:extLst>
          </p:cNvPr>
          <p:cNvPicPr>
            <a:picLocks noGrp="1" noChangeAspect="1"/>
          </p:cNvPicPr>
          <p:nvPr>
            <p:ph type="pic" idx="2"/>
          </p:nvPr>
        </p:nvPicPr>
        <p:blipFill>
          <a:blip r:embed="rId3"/>
          <a:srcRect b="4851"/>
          <a:stretch/>
        </p:blipFill>
        <p:spPr>
          <a:xfrm>
            <a:off x="846787" y="1313331"/>
            <a:ext cx="3516795" cy="4231339"/>
          </a:xfrm>
          <a:prstGeom prst="rect">
            <a:avLst/>
          </a:prstGeom>
        </p:spPr>
      </p:pic>
      <p:sp>
        <p:nvSpPr>
          <p:cNvPr id="159" name="Google Shape;159;p6"/>
          <p:cNvSpPr txBox="1">
            <a:spLocks noGrp="1"/>
          </p:cNvSpPr>
          <p:nvPr>
            <p:ph type="body" idx="1"/>
          </p:nvPr>
        </p:nvSpPr>
        <p:spPr>
          <a:xfrm>
            <a:off x="4741333" y="1508124"/>
            <a:ext cx="6977425" cy="4531431"/>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Inside Micrometer</a:t>
            </a:r>
          </a:p>
          <a:p>
            <a:pPr lvl="1">
              <a:spcAft>
                <a:spcPts val="600"/>
              </a:spcAft>
              <a:buSzPct val="100000"/>
            </a:pPr>
            <a:r>
              <a:rPr lang="en-US" dirty="0"/>
              <a:t>They are used to measure the inside diameter of a bore or hole.</a:t>
            </a:r>
          </a:p>
          <a:p>
            <a:pPr>
              <a:spcAft>
                <a:spcPts val="600"/>
              </a:spcAft>
              <a:buSzPct val="100000"/>
            </a:pPr>
            <a:r>
              <a:rPr lang="en-US" dirty="0"/>
              <a:t>Depth Micrometer</a:t>
            </a:r>
          </a:p>
          <a:p>
            <a:pPr lvl="1">
              <a:spcAft>
                <a:spcPts val="600"/>
              </a:spcAft>
              <a:buSzPct val="100000"/>
            </a:pPr>
            <a:r>
              <a:rPr lang="en-US" dirty="0"/>
              <a:t>They are used to measure the distance between two parallel surfaces.</a:t>
            </a:r>
          </a:p>
          <a:p>
            <a:pPr lvl="1">
              <a:spcAft>
                <a:spcPts val="600"/>
              </a:spcAft>
              <a:buSzPct val="100000"/>
            </a:pPr>
            <a:r>
              <a:rPr lang="en-US" dirty="0"/>
              <a:t>It operates and is read in the same way as other micrometers.</a:t>
            </a:r>
          </a:p>
        </p:txBody>
      </p:sp>
    </p:spTree>
    <p:extLst>
      <p:ext uri="{BB962C8B-B14F-4D97-AF65-F5344CB8AC3E}">
        <p14:creationId xmlns:p14="http://schemas.microsoft.com/office/powerpoint/2010/main" val="1977074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Measuring Tools (6 of 6)</a:t>
            </a:r>
            <a:endParaRPr dirty="0"/>
          </a:p>
        </p:txBody>
      </p:sp>
      <p:sp>
        <p:nvSpPr>
          <p:cNvPr id="159" name="Google Shape;159;p6"/>
          <p:cNvSpPr txBox="1">
            <a:spLocks noGrp="1"/>
          </p:cNvSpPr>
          <p:nvPr>
            <p:ph type="body" idx="1"/>
          </p:nvPr>
        </p:nvSpPr>
        <p:spPr>
          <a:xfrm>
            <a:off x="476844" y="1508124"/>
            <a:ext cx="7583424" cy="4407253"/>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Telescoping Gauge and Small Hole Gauge</a:t>
            </a:r>
          </a:p>
          <a:p>
            <a:pPr lvl="1">
              <a:spcAft>
                <a:spcPts val="600"/>
              </a:spcAft>
              <a:buSzPct val="100000"/>
            </a:pPr>
            <a:r>
              <a:rPr lang="en-US" dirty="0"/>
              <a:t>Telescope gauges are used for measuring bore diameters and other clearances.</a:t>
            </a:r>
          </a:p>
          <a:p>
            <a:pPr lvl="1">
              <a:spcAft>
                <a:spcPts val="600"/>
              </a:spcAft>
              <a:buSzPct val="100000"/>
            </a:pPr>
            <a:r>
              <a:rPr lang="en-US" dirty="0"/>
              <a:t>Are available in sizes ranging from fractions of an inch through 6 inches (150 mm).</a:t>
            </a:r>
          </a:p>
          <a:p>
            <a:pPr lvl="1">
              <a:spcAft>
                <a:spcPts val="600"/>
              </a:spcAft>
              <a:buSzPct val="100000"/>
            </a:pPr>
            <a:r>
              <a:rPr lang="en-US" dirty="0"/>
              <a:t>A small hole or ball gauge works just like a telescoping gauge but is designed to be used on small bores.</a:t>
            </a:r>
          </a:p>
        </p:txBody>
      </p:sp>
      <p:pic>
        <p:nvPicPr>
          <p:cNvPr id="7" name="Picture Placeholder 6" descr="Telescoping gauge with the following components labeled: ‘Plungers’, ‘Handle’ and ‘Lock screw’.">
            <a:extLst>
              <a:ext uri="{FF2B5EF4-FFF2-40B4-BE49-F238E27FC236}">
                <a16:creationId xmlns:a16="http://schemas.microsoft.com/office/drawing/2014/main" id="{78CD7EA0-2FE3-3068-0A9D-4107FCA0698B}"/>
              </a:ext>
            </a:extLst>
          </p:cNvPr>
          <p:cNvPicPr>
            <a:picLocks noGrp="1" noChangeAspect="1"/>
          </p:cNvPicPr>
          <p:nvPr>
            <p:ph type="pic" idx="2"/>
          </p:nvPr>
        </p:nvPicPr>
        <p:blipFill>
          <a:blip r:embed="rId3"/>
          <a:srcRect b="8361"/>
          <a:stretch/>
        </p:blipFill>
        <p:spPr>
          <a:xfrm>
            <a:off x="8247133" y="1717729"/>
            <a:ext cx="3468024" cy="3422542"/>
          </a:xfrm>
          <a:prstGeom prst="rect">
            <a:avLst/>
          </a:prstGeom>
        </p:spPr>
      </p:pic>
    </p:spTree>
    <p:extLst>
      <p:ext uri="{BB962C8B-B14F-4D97-AF65-F5344CB8AC3E}">
        <p14:creationId xmlns:p14="http://schemas.microsoft.com/office/powerpoint/2010/main" val="1423447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(1 of 3)</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2400"/>
              <a:buNone/>
            </a:pPr>
            <a:r>
              <a:rPr lang="en-US" dirty="0"/>
              <a:t>Like many of the tools listed in this chapter, a micrometer is a precision measurement tool. How much pressure should be applied when measuring a part?</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(1 of 3)</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2400"/>
              <a:buNone/>
            </a:pPr>
            <a:r>
              <a:rPr lang="en-US" dirty="0"/>
              <a:t>Like many of the tools listed in this chapter, a micrometer is a precision measurement tool. How much pressure should be applied when measuring a part?</a:t>
            </a:r>
          </a:p>
          <a:p>
            <a:pPr marL="0" lvl="1" indent="0" algn="ctr">
              <a:buNone/>
            </a:pPr>
            <a:r>
              <a:rPr lang="en-US" b="1" dirty="0"/>
              <a:t>Answer: </a:t>
            </a:r>
            <a:r>
              <a:rPr lang="en-US" dirty="0"/>
              <a:t>Use only enough pressure on the thimble to allow the object to just fit between the anvil and spindle. Slip the micrometer back and forth over the object until you feel a very light resistance, while at the same time rocking the tool from side to side to make certain the spindle cannot be closed any further.</a:t>
            </a:r>
          </a:p>
        </p:txBody>
      </p:sp>
    </p:spTree>
    <p:extLst>
      <p:ext uri="{BB962C8B-B14F-4D97-AF65-F5344CB8AC3E}">
        <p14:creationId xmlns:p14="http://schemas.microsoft.com/office/powerpoint/2010/main" val="2279109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Hand Tools</a:t>
            </a:r>
            <a:endParaRPr dirty="0"/>
          </a:p>
        </p:txBody>
      </p:sp>
      <p:sp>
        <p:nvSpPr>
          <p:cNvPr id="159" name="Google Shape;159;p6"/>
          <p:cNvSpPr txBox="1">
            <a:spLocks noGrp="1"/>
          </p:cNvSpPr>
          <p:nvPr>
            <p:ph type="body" idx="1"/>
          </p:nvPr>
        </p:nvSpPr>
        <p:spPr>
          <a:xfrm>
            <a:off x="476843" y="1508124"/>
            <a:ext cx="7210890" cy="4486275"/>
          </a:xfrm>
          <a:prstGeom prst="rect">
            <a:avLst/>
          </a:prstGeom>
          <a:noFill/>
          <a:ln>
            <a:noFill/>
          </a:ln>
        </p:spPr>
        <p:txBody>
          <a:bodyPr spcFirstLastPara="1" wrap="square" lIns="91425" tIns="45700" rIns="91425" bIns="45700" anchor="t" anchorCtr="0">
            <a:noAutofit/>
          </a:bodyPr>
          <a:lstStyle/>
          <a:p>
            <a:pPr marL="0" lvl="0" indent="0">
              <a:buNone/>
            </a:pPr>
            <a:r>
              <a:rPr lang="en-US" b="1" dirty="0">
                <a:solidFill>
                  <a:schemeClr val="accent1"/>
                </a:solidFill>
                <a:latin typeface="Work Sans" panose="020B0604020202020204" charset="0"/>
                <a:cs typeface="Times New Roman" panose="02020603050405020304" pitchFamily="18" charset="0"/>
              </a:rPr>
              <a:t>05.04 List some of the common hand tools used in auto repair.</a:t>
            </a:r>
            <a:endParaRPr lang="en-US" dirty="0">
              <a:solidFill>
                <a:schemeClr val="accent1"/>
              </a:solidFill>
              <a:latin typeface="Work Sans" panose="020B0604020202020204" charset="0"/>
            </a:endParaRPr>
          </a:p>
          <a:p>
            <a:pPr>
              <a:buSzPct val="100000"/>
            </a:pPr>
            <a:r>
              <a:rPr lang="en-US" sz="2400" dirty="0">
                <a:solidFill>
                  <a:schemeClr val="accent1"/>
                </a:solidFill>
              </a:rPr>
              <a:t>Wrenches</a:t>
            </a:r>
          </a:p>
          <a:p>
            <a:pPr lvl="1">
              <a:buSzPct val="100000"/>
            </a:pPr>
            <a:r>
              <a:rPr lang="en-US" sz="2200" dirty="0">
                <a:solidFill>
                  <a:schemeClr val="accent1"/>
                </a:solidFill>
              </a:rPr>
              <a:t>It is a tool for twisting and/or holding bolt heads or nuts.</a:t>
            </a:r>
          </a:p>
          <a:p>
            <a:pPr lvl="1">
              <a:buSzPct val="100000"/>
            </a:pPr>
            <a:r>
              <a:rPr lang="en-US" sz="2200" dirty="0">
                <a:solidFill>
                  <a:schemeClr val="accent1"/>
                </a:solidFill>
              </a:rPr>
              <a:t>The jaw of a wrench fits around all sides of bolt heads and nuts to turn the bolt or nut.</a:t>
            </a:r>
          </a:p>
          <a:p>
            <a:pPr lvl="1">
              <a:buSzPct val="100000"/>
            </a:pPr>
            <a:r>
              <a:rPr lang="en-US" sz="2200" dirty="0">
                <a:solidFill>
                  <a:schemeClr val="accent1"/>
                </a:solidFill>
              </a:rPr>
              <a:t>All technicians should have a collection of wrenches in a variety of sizes and styles in both metric and U.S. wrenches.</a:t>
            </a:r>
          </a:p>
        </p:txBody>
      </p:sp>
      <p:pic>
        <p:nvPicPr>
          <p:cNvPr id="7" name="Picture Placeholder 6" descr="Metric and US wrenches in a variety of sizes and styles.">
            <a:extLst>
              <a:ext uri="{FF2B5EF4-FFF2-40B4-BE49-F238E27FC236}">
                <a16:creationId xmlns:a16="http://schemas.microsoft.com/office/drawing/2014/main" id="{DF32B4F9-F36D-3F2B-7CB4-8F56B1176522}"/>
              </a:ext>
            </a:extLst>
          </p:cNvPr>
          <p:cNvPicPr>
            <a:picLocks noGrp="1" noChangeAspect="1"/>
          </p:cNvPicPr>
          <p:nvPr>
            <p:ph type="pic" idx="2"/>
          </p:nvPr>
        </p:nvPicPr>
        <p:blipFill>
          <a:blip r:embed="rId3"/>
          <a:srcRect b="3024"/>
          <a:stretch/>
        </p:blipFill>
        <p:spPr>
          <a:xfrm>
            <a:off x="7874677" y="1526919"/>
            <a:ext cx="4023360" cy="3804162"/>
          </a:xfrm>
          <a:prstGeom prst="rect">
            <a:avLst/>
          </a:prstGeom>
        </p:spPr>
      </p:pic>
    </p:spTree>
    <p:extLst>
      <p:ext uri="{BB962C8B-B14F-4D97-AF65-F5344CB8AC3E}">
        <p14:creationId xmlns:p14="http://schemas.microsoft.com/office/powerpoint/2010/main" val="3035218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Sockets </a:t>
            </a:r>
            <a:r>
              <a:rPr lang="en-US"/>
              <a:t>and Ratchets</a:t>
            </a:r>
            <a:endParaRPr lang="en-US" dirty="0"/>
          </a:p>
        </p:txBody>
      </p:sp>
      <p:sp>
        <p:nvSpPr>
          <p:cNvPr id="159" name="Google Shape;159;p6"/>
          <p:cNvSpPr txBox="1">
            <a:spLocks noGrp="1"/>
          </p:cNvSpPr>
          <p:nvPr>
            <p:ph type="body" idx="1"/>
          </p:nvPr>
        </p:nvSpPr>
        <p:spPr>
          <a:xfrm>
            <a:off x="476843" y="1508125"/>
            <a:ext cx="7730179" cy="4474986"/>
          </a:xfrm>
          <a:prstGeom prst="rect">
            <a:avLst/>
          </a:prstGeom>
          <a:noFill/>
          <a:ln>
            <a:noFill/>
          </a:ln>
        </p:spPr>
        <p:txBody>
          <a:bodyPr spcFirstLastPara="1" wrap="square" lIns="91425" tIns="45700" rIns="91425" bIns="45700" anchor="t" anchorCtr="0">
            <a:noAutofit/>
          </a:bodyPr>
          <a:lstStyle/>
          <a:p>
            <a:pPr>
              <a:buSzPct val="100000"/>
            </a:pPr>
            <a:r>
              <a:rPr lang="en-US" dirty="0"/>
              <a:t>The ratchet allows you to turn the socket in one direction with force and in the other direction without force, which allows you to tighten or loosen a bolt without removing and resetting the wrench after you have turned it.</a:t>
            </a:r>
          </a:p>
          <a:p>
            <a:pPr>
              <a:buSzPct val="100000"/>
            </a:pPr>
            <a:r>
              <a:rPr lang="en-US" dirty="0"/>
              <a:t>They come in ¼ inch, 3⁄8 inch, ½ inch, and so on which indicates the drive size of the socket wrench. </a:t>
            </a:r>
          </a:p>
          <a:p>
            <a:pPr>
              <a:buSzPct val="100000"/>
            </a:pPr>
            <a:r>
              <a:rPr lang="en-US" dirty="0"/>
              <a:t>The inside of the socket fits the fastener head like the 9/16 shown. </a:t>
            </a:r>
          </a:p>
        </p:txBody>
      </p:sp>
      <p:pic>
        <p:nvPicPr>
          <p:cNvPr id="7" name="Picture Placeholder 6" descr="A three-part illustration. The first and second part depicts 2 different views of a correct socket and the third part depicts a bolt. The first part is the top view of a socket with a label 1/2-inch square drive hole. The second part depicts the elevated view of a socket exposing the base. Two parallel slanting lines are drawn from two different points of the base and are labeled 9/16 inch across flats. The cylindrical part is labeled 9/16-inch socket. The third part depicts a bolt labeled 9/16-inch head bolt. Two parallel slanting lines are drawn along the circumference of the bolt and are labeled 9/16 inch across flats."/>
          <p:cNvPicPr>
            <a:picLocks noGrp="1" noChangeAspect="1"/>
          </p:cNvPicPr>
          <p:nvPr>
            <p:ph type="pic" idx="2"/>
          </p:nvPr>
        </p:nvPicPr>
        <p:blipFill>
          <a:blip r:embed="rId3"/>
          <a:srcRect b="9145"/>
          <a:stretch/>
        </p:blipFill>
        <p:spPr>
          <a:xfrm>
            <a:off x="8290880" y="1626704"/>
            <a:ext cx="3424277" cy="3604592"/>
          </a:xfrm>
          <a:prstGeom prst="rect">
            <a:avLst/>
          </a:prstGeom>
        </p:spPr>
      </p:pic>
    </p:spTree>
    <p:extLst>
      <p:ext uri="{BB962C8B-B14F-4D97-AF65-F5344CB8AC3E}">
        <p14:creationId xmlns:p14="http://schemas.microsoft.com/office/powerpoint/2010/main" val="3680294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Sockets</a:t>
            </a:r>
            <a:endParaRPr dirty="0"/>
          </a:p>
        </p:txBody>
      </p:sp>
      <p:sp>
        <p:nvSpPr>
          <p:cNvPr id="159" name="Google Shape;159;p6"/>
          <p:cNvSpPr txBox="1">
            <a:spLocks noGrp="1"/>
          </p:cNvSpPr>
          <p:nvPr>
            <p:ph type="body" idx="1"/>
          </p:nvPr>
        </p:nvSpPr>
        <p:spPr>
          <a:xfrm>
            <a:off x="476844" y="1508125"/>
            <a:ext cx="6827068" cy="4554008"/>
          </a:xfrm>
          <a:prstGeom prst="rect">
            <a:avLst/>
          </a:prstGeom>
          <a:noFill/>
          <a:ln>
            <a:noFill/>
          </a:ln>
        </p:spPr>
        <p:txBody>
          <a:bodyPr spcFirstLastPara="1" wrap="square" lIns="91425" tIns="45700" rIns="91425" bIns="45700" anchor="t" anchorCtr="0">
            <a:noAutofit/>
          </a:bodyPr>
          <a:lstStyle/>
          <a:p>
            <a:pPr>
              <a:buSzPct val="100000"/>
            </a:pPr>
            <a:r>
              <a:rPr lang="en-US" dirty="0" err="1"/>
              <a:t>Deepwell</a:t>
            </a:r>
            <a:r>
              <a:rPr lang="en-US" dirty="0"/>
              <a:t> sockets are made extra long to fit over bolt ends or studs.</a:t>
            </a:r>
          </a:p>
          <a:p>
            <a:pPr>
              <a:buSzPct val="100000"/>
            </a:pPr>
            <a:r>
              <a:rPr lang="en-US" dirty="0"/>
              <a:t>A spark plug socket is an example of a special purpose deep-well socket.</a:t>
            </a:r>
          </a:p>
          <a:p>
            <a:pPr>
              <a:buSzPct val="100000"/>
            </a:pPr>
            <a:r>
              <a:rPr lang="en-US" dirty="0"/>
              <a:t>Heavier-walled sockets are designed for use with an impact wrench and are called impact sockets. Most sockets are chrome-plated, except for impact sockets, which are not.</a:t>
            </a:r>
          </a:p>
        </p:txBody>
      </p:sp>
      <p:pic>
        <p:nvPicPr>
          <p:cNvPr id="7" name="Picture Placeholder 6" descr="A chromed plated deep-well socket on the left and an impact socket on the right."/>
          <p:cNvPicPr>
            <a:picLocks noGrp="1" noChangeAspect="1"/>
          </p:cNvPicPr>
          <p:nvPr>
            <p:ph type="pic" idx="2"/>
          </p:nvPr>
        </p:nvPicPr>
        <p:blipFill>
          <a:blip r:embed="rId3"/>
          <a:srcRect b="14626"/>
          <a:stretch/>
        </p:blipFill>
        <p:spPr>
          <a:xfrm>
            <a:off x="7438432" y="2107565"/>
            <a:ext cx="4276725" cy="2642870"/>
          </a:xfrm>
          <a:prstGeom prst="rect">
            <a:avLst/>
          </a:prstGeom>
        </p:spPr>
      </p:pic>
    </p:spTree>
    <p:extLst>
      <p:ext uri="{BB962C8B-B14F-4D97-AF65-F5344CB8AC3E}">
        <p14:creationId xmlns:p14="http://schemas.microsoft.com/office/powerpoint/2010/main" val="37487018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Torque Wrenches</a:t>
            </a:r>
            <a:endParaRPr lang="en-US" dirty="0"/>
          </a:p>
        </p:txBody>
      </p:sp>
      <p:pic>
        <p:nvPicPr>
          <p:cNvPr id="7" name="Picture Placeholder 6" descr="A beam wrench, click adjustable wrench, and dial gauge.">
            <a:extLst>
              <a:ext uri="{FF2B5EF4-FFF2-40B4-BE49-F238E27FC236}">
                <a16:creationId xmlns:a16="http://schemas.microsoft.com/office/drawing/2014/main" id="{C85C8484-5A09-2258-A417-FED38A7AE16E}"/>
              </a:ext>
            </a:extLst>
          </p:cNvPr>
          <p:cNvPicPr>
            <a:picLocks noGrp="1" noChangeAspect="1"/>
          </p:cNvPicPr>
          <p:nvPr>
            <p:ph type="pic" idx="2"/>
          </p:nvPr>
        </p:nvPicPr>
        <p:blipFill>
          <a:blip r:embed="rId3"/>
          <a:srcRect b="10627"/>
          <a:stretch/>
        </p:blipFill>
        <p:spPr>
          <a:xfrm>
            <a:off x="525144" y="1880792"/>
            <a:ext cx="4868266" cy="3096416"/>
          </a:xfrm>
          <a:prstGeom prst="rect">
            <a:avLst/>
          </a:prstGeom>
        </p:spPr>
      </p:pic>
      <p:sp>
        <p:nvSpPr>
          <p:cNvPr id="159" name="Google Shape;159;p6"/>
          <p:cNvSpPr txBox="1">
            <a:spLocks noGrp="1"/>
          </p:cNvSpPr>
          <p:nvPr>
            <p:ph type="body" idx="1"/>
          </p:nvPr>
        </p:nvSpPr>
        <p:spPr>
          <a:xfrm>
            <a:off x="5757333" y="1508125"/>
            <a:ext cx="5961425" cy="4576586"/>
          </a:xfrm>
          <a:prstGeom prst="rect">
            <a:avLst/>
          </a:prstGeom>
          <a:noFill/>
          <a:ln>
            <a:noFill/>
          </a:ln>
        </p:spPr>
        <p:txBody>
          <a:bodyPr spcFirstLastPara="1" wrap="square" lIns="91425" tIns="45700" rIns="91425" bIns="45700" anchor="t" anchorCtr="0">
            <a:noAutofit/>
          </a:bodyPr>
          <a:lstStyle/>
          <a:p>
            <a:pPr>
              <a:buSzPct val="100000"/>
            </a:pPr>
            <a:r>
              <a:rPr lang="en-US" dirty="0"/>
              <a:t>Torque wrenches measure how tight a nut or bolt is.</a:t>
            </a:r>
          </a:p>
          <a:p>
            <a:pPr>
              <a:buSzPct val="100000"/>
            </a:pPr>
            <a:r>
              <a:rPr lang="en-US" dirty="0"/>
              <a:t>Nearly all of a car’s nuts and bolts should be tightened to a certain amount and have a torque specification that is expressed in footpounds (U.S.), Newton-meters (metric), or a combination of foot-pounds or Newton-meters plus an angle.</a:t>
            </a:r>
          </a:p>
        </p:txBody>
      </p:sp>
    </p:spTree>
    <p:extLst>
      <p:ext uri="{BB962C8B-B14F-4D97-AF65-F5344CB8AC3E}">
        <p14:creationId xmlns:p14="http://schemas.microsoft.com/office/powerpoint/2010/main" val="11237096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lvl="0"/>
            <a:r>
              <a:rPr lang="en-US" dirty="0"/>
              <a:t>Screwdrivers</a:t>
            </a:r>
            <a:endParaRPr dirty="0"/>
          </a:p>
        </p:txBody>
      </p:sp>
      <p:pic>
        <p:nvPicPr>
          <p:cNvPr id="8" name="Picture Placeholder 7" descr="A blade tip screwdriver with the following components labeled : ‘Handle’, ‘Bolster’, ‘Blade’, ‘Blade shank’ and ‘Blade Tip’. An inset image shows magnified tip and a screw head."/>
          <p:cNvPicPr>
            <a:picLocks noGrp="1" noChangeAspect="1"/>
          </p:cNvPicPr>
          <p:nvPr>
            <p:ph type="pic" idx="2"/>
          </p:nvPr>
        </p:nvPicPr>
        <p:blipFill>
          <a:blip r:embed="rId3"/>
          <a:srcRect b="23675"/>
          <a:stretch/>
        </p:blipFill>
        <p:spPr>
          <a:xfrm>
            <a:off x="667633" y="1357162"/>
            <a:ext cx="4219575" cy="1599398"/>
          </a:xfrm>
          <a:prstGeom prst="rect">
            <a:avLst/>
          </a:prstGeom>
        </p:spPr>
      </p:pic>
      <p:pic>
        <p:nvPicPr>
          <p:cNvPr id="9" name="Picture Placeholder 8" descr="A screenshot lists 5 different types of screwdriver tips along with their names as follows: PHILLIPS TIP, POZIDRIV registered TIP, TORX registered TIP, CLUTCH TIP, SCRULOX registered (SQUARE TIP).">
            <a:extLst>
              <a:ext uri="{FF2B5EF4-FFF2-40B4-BE49-F238E27FC236}">
                <a16:creationId xmlns:a16="http://schemas.microsoft.com/office/drawing/2014/main" id="{14F32D18-6F65-53FD-DF05-8870C1787F8C}"/>
              </a:ext>
            </a:extLst>
          </p:cNvPr>
          <p:cNvPicPr>
            <a:picLocks noGrp="1" noChangeAspect="1"/>
          </p:cNvPicPr>
          <p:nvPr>
            <p:ph type="pic" idx="3"/>
          </p:nvPr>
        </p:nvPicPr>
        <p:blipFill>
          <a:blip r:embed="rId4"/>
          <a:srcRect b="17562"/>
          <a:stretch/>
        </p:blipFill>
        <p:spPr>
          <a:xfrm>
            <a:off x="765740" y="3770585"/>
            <a:ext cx="4023360" cy="1730253"/>
          </a:xfrm>
          <a:prstGeom prst="rect">
            <a:avLst/>
          </a:prstGeom>
        </p:spPr>
      </p:pic>
      <p:sp>
        <p:nvSpPr>
          <p:cNvPr id="159" name="Google Shape;159;p6"/>
          <p:cNvSpPr txBox="1">
            <a:spLocks noGrp="1"/>
          </p:cNvSpPr>
          <p:nvPr>
            <p:ph type="body" idx="1"/>
          </p:nvPr>
        </p:nvSpPr>
        <p:spPr>
          <a:xfrm>
            <a:off x="4887209" y="1508125"/>
            <a:ext cx="6831550" cy="4520142"/>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A screwdriver drives a variety of threaded fasteners used in the automotive industry.</a:t>
            </a:r>
          </a:p>
          <a:p>
            <a:pPr>
              <a:spcAft>
                <a:spcPts val="600"/>
              </a:spcAft>
              <a:buSzPct val="100000"/>
            </a:pPr>
            <a:r>
              <a:rPr lang="en-US" dirty="0"/>
              <a:t>Each fastener requires a specific kind of screwdriver.</a:t>
            </a:r>
          </a:p>
          <a:p>
            <a:pPr>
              <a:spcAft>
                <a:spcPts val="600"/>
              </a:spcAft>
              <a:buSzPct val="100000"/>
            </a:pPr>
            <a:r>
              <a:rPr lang="en-US" dirty="0"/>
              <a:t>Screwdrivers are defined by their sizes, their tips, and the types of fasteners they should be used with.</a:t>
            </a:r>
          </a:p>
          <a:p>
            <a:pPr>
              <a:spcAft>
                <a:spcPts val="600"/>
              </a:spcAft>
              <a:buSzPct val="100000"/>
            </a:pPr>
            <a:r>
              <a:rPr lang="en-US" dirty="0"/>
              <a:t>Your tool set should have blade and Phillips drivers in a variety of lengths.</a:t>
            </a:r>
          </a:p>
        </p:txBody>
      </p:sp>
    </p:spTree>
    <p:extLst>
      <p:ext uri="{BB962C8B-B14F-4D97-AF65-F5344CB8AC3E}">
        <p14:creationId xmlns:p14="http://schemas.microsoft.com/office/powerpoint/2010/main" val="3707243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Pliers</a:t>
            </a:r>
            <a:endParaRPr lang="en-US" dirty="0"/>
          </a:p>
        </p:txBody>
      </p:sp>
      <p:pic>
        <p:nvPicPr>
          <p:cNvPr id="7" name="Picture Placeholder 6" descr="Seven different types of pliers labeled as follows: ‘Needle nose’, ‘Diagonal cutter’, ‘End cutter’, ‘Combination’, ‘Rib joint’, ‘Vise grip’ and ‘Compound cutter’. The two parts of the Vice grip are labeled as follows: Adjusting screw and Release lever.">
            <a:extLst>
              <a:ext uri="{FF2B5EF4-FFF2-40B4-BE49-F238E27FC236}">
                <a16:creationId xmlns:a16="http://schemas.microsoft.com/office/drawing/2014/main" id="{EFB18BF2-7B4F-35B9-7D4D-EB5A519F68E6}"/>
              </a:ext>
            </a:extLst>
          </p:cNvPr>
          <p:cNvPicPr>
            <a:picLocks noGrp="1" noChangeAspect="1"/>
          </p:cNvPicPr>
          <p:nvPr>
            <p:ph type="pic" idx="2"/>
          </p:nvPr>
        </p:nvPicPr>
        <p:blipFill>
          <a:blip r:embed="rId3"/>
          <a:srcRect b="4925"/>
          <a:stretch/>
        </p:blipFill>
        <p:spPr>
          <a:xfrm>
            <a:off x="391089" y="1718383"/>
            <a:ext cx="5890602" cy="3574977"/>
          </a:xfrm>
          <a:prstGeom prst="rect">
            <a:avLst/>
          </a:prstGeom>
        </p:spPr>
      </p:pic>
      <p:sp>
        <p:nvSpPr>
          <p:cNvPr id="159" name="Google Shape;159;p6"/>
          <p:cNvSpPr txBox="1">
            <a:spLocks noGrp="1"/>
          </p:cNvSpPr>
          <p:nvPr>
            <p:ph type="body" idx="1"/>
          </p:nvPr>
        </p:nvSpPr>
        <p:spPr>
          <a:xfrm>
            <a:off x="6524368" y="1508125"/>
            <a:ext cx="5194390" cy="4576586"/>
          </a:xfrm>
          <a:prstGeom prst="rect">
            <a:avLst/>
          </a:prstGeom>
          <a:noFill/>
          <a:ln>
            <a:noFill/>
          </a:ln>
        </p:spPr>
        <p:txBody>
          <a:bodyPr spcFirstLastPara="1" wrap="square" lIns="91425" tIns="45700" rIns="91425" bIns="45700" anchor="t" anchorCtr="0">
            <a:noAutofit/>
          </a:bodyPr>
          <a:lstStyle/>
          <a:p>
            <a:pPr>
              <a:buSzPct val="100000"/>
            </a:pPr>
            <a:r>
              <a:rPr lang="en-US" dirty="0"/>
              <a:t>Pliers are gripping tools used for working with wires, clips, and pins.</a:t>
            </a:r>
          </a:p>
          <a:p>
            <a:pPr>
              <a:buSzPct val="100000"/>
            </a:pPr>
            <a:r>
              <a:rPr lang="en-US" dirty="0"/>
              <a:t>At a minimum, an auto technician should own several types: standard pliers for common parts and wires, needle nose for small parts, and large, adjustable pliers for large items and heavy-duty work.</a:t>
            </a:r>
          </a:p>
        </p:txBody>
      </p:sp>
    </p:spTree>
    <p:extLst>
      <p:ext uri="{BB962C8B-B14F-4D97-AF65-F5344CB8AC3E}">
        <p14:creationId xmlns:p14="http://schemas.microsoft.com/office/powerpoint/2010/main" val="2693906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Hammers</a:t>
            </a:r>
            <a:endParaRPr lang="en-US" dirty="0"/>
          </a:p>
        </p:txBody>
      </p:sp>
      <p:pic>
        <p:nvPicPr>
          <p:cNvPr id="7" name="Picture Placeholder 6" descr="Two plastic hammers, plastic face hammer, copper face plastic hammer, and plastic hammer.">
            <a:extLst>
              <a:ext uri="{FF2B5EF4-FFF2-40B4-BE49-F238E27FC236}">
                <a16:creationId xmlns:a16="http://schemas.microsoft.com/office/drawing/2014/main" id="{DF0F3E60-34C8-BEDA-CE1C-9688CC9E4B47}"/>
              </a:ext>
            </a:extLst>
          </p:cNvPr>
          <p:cNvPicPr>
            <a:picLocks noGrp="1" noChangeAspect="1"/>
          </p:cNvPicPr>
          <p:nvPr>
            <p:ph type="pic" idx="2"/>
          </p:nvPr>
        </p:nvPicPr>
        <p:blipFill rotWithShape="1">
          <a:blip r:embed="rId3"/>
          <a:srcRect b="2934"/>
          <a:stretch/>
        </p:blipFill>
        <p:spPr>
          <a:xfrm>
            <a:off x="1067176" y="1508125"/>
            <a:ext cx="2482368" cy="4445635"/>
          </a:xfrm>
          <a:prstGeom prst="rect">
            <a:avLst/>
          </a:prstGeom>
        </p:spPr>
      </p:pic>
      <p:sp>
        <p:nvSpPr>
          <p:cNvPr id="159" name="Google Shape;159;p6"/>
          <p:cNvSpPr txBox="1">
            <a:spLocks noGrp="1"/>
          </p:cNvSpPr>
          <p:nvPr>
            <p:ph type="body" idx="1"/>
          </p:nvPr>
        </p:nvSpPr>
        <p:spPr>
          <a:xfrm>
            <a:off x="3770489" y="1508125"/>
            <a:ext cx="7948269" cy="4580014"/>
          </a:xfrm>
          <a:prstGeom prst="rect">
            <a:avLst/>
          </a:prstGeom>
          <a:noFill/>
          <a:ln>
            <a:noFill/>
          </a:ln>
        </p:spPr>
        <p:txBody>
          <a:bodyPr spcFirstLastPara="1" wrap="square" lIns="91425" tIns="45700" rIns="91425" bIns="45700" anchor="t" anchorCtr="0">
            <a:noAutofit/>
          </a:bodyPr>
          <a:lstStyle/>
          <a:p>
            <a:pPr>
              <a:buSzPct val="100000"/>
            </a:pPr>
            <a:r>
              <a:rPr lang="en-US" sz="2400" dirty="0"/>
              <a:t>Hammers are identified by the material and weight of the head. There are two groups of hammer heads: steel and soft faced.</a:t>
            </a:r>
          </a:p>
          <a:p>
            <a:pPr lvl="1">
              <a:buSzPct val="100000"/>
            </a:pPr>
            <a:r>
              <a:rPr lang="en-US" sz="2200" dirty="0"/>
              <a:t>Your tool set should include at least three hammers: two ball-peen hammers, one 8-ounce and one 12- to 16-ounce hammer, and a small sledgehammer or dead blow hammer.</a:t>
            </a:r>
          </a:p>
          <a:p>
            <a:pPr lvl="1">
              <a:buSzPct val="100000"/>
            </a:pPr>
            <a:r>
              <a:rPr lang="en-US" sz="2200" dirty="0"/>
              <a:t>A dead blow hammer contains lead shot to reduce rebound and can be either steel or rubber faced.</a:t>
            </a:r>
          </a:p>
          <a:p>
            <a:pPr lvl="1">
              <a:buSzPct val="100000"/>
            </a:pPr>
            <a:r>
              <a:rPr lang="en-US" sz="2200" dirty="0"/>
              <a:t>Softfaced hammers should be used on machined surfaces to not mar the finish.</a:t>
            </a:r>
          </a:p>
        </p:txBody>
      </p:sp>
    </p:spTree>
    <p:extLst>
      <p:ext uri="{BB962C8B-B14F-4D97-AF65-F5344CB8AC3E}">
        <p14:creationId xmlns:p14="http://schemas.microsoft.com/office/powerpoint/2010/main" val="24780767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Chisels and Punches </a:t>
            </a:r>
          </a:p>
        </p:txBody>
      </p:sp>
      <p:sp>
        <p:nvSpPr>
          <p:cNvPr id="159" name="Google Shape;159;p6"/>
          <p:cNvSpPr txBox="1">
            <a:spLocks noGrp="1"/>
          </p:cNvSpPr>
          <p:nvPr>
            <p:ph type="body" idx="1"/>
          </p:nvPr>
        </p:nvSpPr>
        <p:spPr>
          <a:xfrm>
            <a:off x="476843" y="1508124"/>
            <a:ext cx="7231289" cy="4610453"/>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Chisels are used to cut metal by driving them with a hammer.</a:t>
            </a:r>
          </a:p>
          <a:p>
            <a:pPr lvl="1">
              <a:spcAft>
                <a:spcPts val="600"/>
              </a:spcAft>
              <a:buSzPct val="100000"/>
            </a:pPr>
            <a:r>
              <a:rPr lang="en-US" dirty="0"/>
              <a:t>A variety of chisels are available, each with a specific purpose, including flat, cape, round-nose cape, and diamond point chisels.</a:t>
            </a:r>
          </a:p>
          <a:p>
            <a:pPr>
              <a:spcAft>
                <a:spcPts val="600"/>
              </a:spcAft>
              <a:buSzPct val="100000"/>
            </a:pPr>
            <a:r>
              <a:rPr lang="en-US" dirty="0"/>
              <a:t>Punches are used for driving out pins, rivets, or shafts; aligning holes in parts during assembly; and marking the starting point for drilling a hole.</a:t>
            </a:r>
          </a:p>
        </p:txBody>
      </p:sp>
      <p:pic>
        <p:nvPicPr>
          <p:cNvPr id="7" name="Picture Placeholder 6" descr="Five different types of punches labeled ‘Center punch (showing included angle)’, ‘Starting punch’, ‘Pin punch’, ‘Aligning punch’ and ‘Straight shank brass punch’. The angle value measured at the tip of the ‘center punch’ is labeled ‘60 - 70 degrees’.">
            <a:extLst>
              <a:ext uri="{FF2B5EF4-FFF2-40B4-BE49-F238E27FC236}">
                <a16:creationId xmlns:a16="http://schemas.microsoft.com/office/drawing/2014/main" id="{9AD227A8-8721-D320-A65A-6CA7E8D7174B}"/>
              </a:ext>
            </a:extLst>
          </p:cNvPr>
          <p:cNvPicPr>
            <a:picLocks noGrp="1" noChangeAspect="1"/>
          </p:cNvPicPr>
          <p:nvPr>
            <p:ph type="pic" idx="2"/>
          </p:nvPr>
        </p:nvPicPr>
        <p:blipFill>
          <a:blip r:embed="rId3"/>
          <a:stretch>
            <a:fillRect/>
          </a:stretch>
        </p:blipFill>
        <p:spPr>
          <a:xfrm>
            <a:off x="7496022" y="2219039"/>
            <a:ext cx="4394565" cy="3464120"/>
          </a:xfrm>
          <a:prstGeom prst="rect">
            <a:avLst/>
          </a:prstGeom>
        </p:spPr>
      </p:pic>
    </p:spTree>
    <p:extLst>
      <p:ext uri="{BB962C8B-B14F-4D97-AF65-F5344CB8AC3E}">
        <p14:creationId xmlns:p14="http://schemas.microsoft.com/office/powerpoint/2010/main" val="2496691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Hacksaws </a:t>
            </a:r>
          </a:p>
        </p:txBody>
      </p:sp>
      <p:sp>
        <p:nvSpPr>
          <p:cNvPr id="159" name="Google Shape;159;p6"/>
          <p:cNvSpPr txBox="1">
            <a:spLocks noGrp="1"/>
          </p:cNvSpPr>
          <p:nvPr>
            <p:ph type="body" idx="1"/>
          </p:nvPr>
        </p:nvSpPr>
        <p:spPr>
          <a:xfrm>
            <a:off x="476843" y="1508125"/>
            <a:ext cx="6240046" cy="4554008"/>
          </a:xfrm>
          <a:prstGeom prst="rect">
            <a:avLst/>
          </a:prstGeom>
          <a:noFill/>
          <a:ln>
            <a:noFill/>
          </a:ln>
        </p:spPr>
        <p:txBody>
          <a:bodyPr spcFirstLastPara="1" wrap="square" lIns="91425" tIns="45700" rIns="91425" bIns="45700" anchor="t" anchorCtr="0">
            <a:noAutofit/>
          </a:bodyPr>
          <a:lstStyle/>
          <a:p>
            <a:pPr>
              <a:buSzPct val="100000"/>
            </a:pPr>
            <a:r>
              <a:rPr lang="en-US" dirty="0"/>
              <a:t>They are used to cut metal.</a:t>
            </a:r>
          </a:p>
          <a:p>
            <a:pPr>
              <a:buSzPct val="100000"/>
            </a:pPr>
            <a:r>
              <a:rPr lang="en-US" dirty="0"/>
              <a:t>The blade only cuts on the forward stroke.</a:t>
            </a:r>
          </a:p>
          <a:p>
            <a:pPr>
              <a:buSzPct val="100000"/>
            </a:pPr>
            <a:r>
              <a:rPr lang="en-US" dirty="0"/>
              <a:t>The teeth of the blade should always face away from the saw’s handle.</a:t>
            </a:r>
          </a:p>
          <a:p>
            <a:pPr>
              <a:buSzPct val="100000"/>
            </a:pPr>
            <a:r>
              <a:rPr lang="en-US" dirty="0"/>
              <a:t>The number of teeth on the blade determines the type of metal the saw can be used on.</a:t>
            </a:r>
          </a:p>
        </p:txBody>
      </p:sp>
      <p:pic>
        <p:nvPicPr>
          <p:cNvPr id="7" name="Picture Placeholder 6" descr="Three sections labeled ‘A’, ‘B’ and ‘C’. Section (A) is of a hacksaw. A backward arrow pointing on the blade indicates the movement. Section (B) is of a vertically placed sheet metal and horizontally placed strip of the coarse blade. The total length of the blade is marked as ‘1 inch’ that contains ‘18 teeth.’ Section (C) is of a vertically placed sheet metal and horizontally placed strip of the fine blade. The total length of the blade is marked as ‘1 inch’ that contains ‘32 teeth.’">
            <a:extLst>
              <a:ext uri="{FF2B5EF4-FFF2-40B4-BE49-F238E27FC236}">
                <a16:creationId xmlns:a16="http://schemas.microsoft.com/office/drawing/2014/main" id="{38D48953-3428-A841-4803-C253F40AC985}"/>
              </a:ext>
            </a:extLst>
          </p:cNvPr>
          <p:cNvPicPr>
            <a:picLocks noGrp="1" noChangeAspect="1"/>
          </p:cNvPicPr>
          <p:nvPr>
            <p:ph type="pic" idx="2"/>
          </p:nvPr>
        </p:nvPicPr>
        <p:blipFill>
          <a:blip r:embed="rId3"/>
          <a:srcRect b="16020"/>
          <a:stretch/>
        </p:blipFill>
        <p:spPr>
          <a:xfrm>
            <a:off x="7028081" y="1653120"/>
            <a:ext cx="4593668" cy="3551760"/>
          </a:xfrm>
          <a:prstGeom prst="rect">
            <a:avLst/>
          </a:prstGeom>
        </p:spPr>
      </p:pic>
    </p:spTree>
    <p:extLst>
      <p:ext uri="{BB962C8B-B14F-4D97-AF65-F5344CB8AC3E}">
        <p14:creationId xmlns:p14="http://schemas.microsoft.com/office/powerpoint/2010/main" val="2362815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Gear and Bearing Pullers </a:t>
            </a:r>
          </a:p>
        </p:txBody>
      </p:sp>
      <p:sp>
        <p:nvSpPr>
          <p:cNvPr id="159" name="Google Shape;159;p6"/>
          <p:cNvSpPr txBox="1">
            <a:spLocks noGrp="1"/>
          </p:cNvSpPr>
          <p:nvPr>
            <p:ph type="body" idx="1"/>
          </p:nvPr>
        </p:nvSpPr>
        <p:spPr>
          <a:xfrm>
            <a:off x="476843" y="1508124"/>
            <a:ext cx="6852858" cy="4610453"/>
          </a:xfrm>
          <a:prstGeom prst="rect">
            <a:avLst/>
          </a:prstGeom>
          <a:noFill/>
          <a:ln>
            <a:noFill/>
          </a:ln>
        </p:spPr>
        <p:txBody>
          <a:bodyPr spcFirstLastPara="1" wrap="square" lIns="91425" tIns="45700" rIns="91425" bIns="45700" anchor="t" anchorCtr="0">
            <a:noAutofit/>
          </a:bodyPr>
          <a:lstStyle/>
          <a:p>
            <a:pPr>
              <a:buSzPct val="100000"/>
            </a:pPr>
            <a:r>
              <a:rPr lang="en-US" sz="2200" dirty="0"/>
              <a:t>Many precision gears and bearings have a slight interference fit (press fit) when installed on a shaft or housing. For example, the inside diameter of a bore is 0.001 inch smaller than the outside diameter of a shaft.</a:t>
            </a:r>
          </a:p>
          <a:p>
            <a:pPr>
              <a:buSzPct val="100000"/>
            </a:pPr>
            <a:r>
              <a:rPr lang="en-US" sz="2200" dirty="0"/>
              <a:t>When the shaft is fitted into the bore, it must be pressed in to overcome the 0.001-inch interference fit this press fit prevents the parts from moving on each other.</a:t>
            </a:r>
          </a:p>
          <a:p>
            <a:pPr>
              <a:buSzPct val="100000"/>
            </a:pPr>
            <a:r>
              <a:rPr lang="en-US" sz="2200" dirty="0"/>
              <a:t>The removal of gears and bearings must be done carefully. Prying or hammering can break or bind the parts.</a:t>
            </a:r>
          </a:p>
        </p:txBody>
      </p:sp>
      <p:pic>
        <p:nvPicPr>
          <p:cNvPr id="7" name="Picture Placeholder 6" descr="A technician uses a slide hammer-type puller to the end of a slide hammer to loosen a press-fit drive axle.">
            <a:extLst>
              <a:ext uri="{FF2B5EF4-FFF2-40B4-BE49-F238E27FC236}">
                <a16:creationId xmlns:a16="http://schemas.microsoft.com/office/drawing/2014/main" id="{2911CF37-B1D3-00D3-2798-3436EDF34588}"/>
              </a:ext>
            </a:extLst>
          </p:cNvPr>
          <p:cNvPicPr>
            <a:picLocks noGrp="1" noChangeAspect="1"/>
          </p:cNvPicPr>
          <p:nvPr>
            <p:ph type="pic" idx="2"/>
          </p:nvPr>
        </p:nvPicPr>
        <p:blipFill>
          <a:blip r:embed="rId3"/>
          <a:srcRect b="13534"/>
          <a:stretch/>
        </p:blipFill>
        <p:spPr>
          <a:xfrm>
            <a:off x="7502695" y="1963429"/>
            <a:ext cx="4385456" cy="2931143"/>
          </a:xfrm>
          <a:prstGeom prst="rect">
            <a:avLst/>
          </a:prstGeom>
        </p:spPr>
      </p:pic>
    </p:spTree>
    <p:extLst>
      <p:ext uri="{BB962C8B-B14F-4D97-AF65-F5344CB8AC3E}">
        <p14:creationId xmlns:p14="http://schemas.microsoft.com/office/powerpoint/2010/main" val="273694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(2 of 3) </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1" indent="0" algn="ctr">
              <a:buNone/>
            </a:pPr>
            <a:r>
              <a:rPr lang="en-US" sz="2400" dirty="0">
                <a:solidFill>
                  <a:schemeClr val="accent1"/>
                </a:solidFill>
              </a:rPr>
              <a:t>True or False? Punches are gripping tools used for working with wires, clips, and pins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(2 of 3) </a:t>
            </a:r>
            <a:endParaRPr dirty="0"/>
          </a:p>
        </p:txBody>
      </p:sp>
      <p:sp>
        <p:nvSpPr>
          <p:cNvPr id="317" name="Google Shape;317;p30"/>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1" indent="0" algn="ctr">
              <a:spcAft>
                <a:spcPts val="3000"/>
              </a:spcAft>
              <a:buNone/>
            </a:pPr>
            <a:r>
              <a:rPr lang="en-US" sz="2400" dirty="0">
                <a:solidFill>
                  <a:schemeClr val="accent1"/>
                </a:solidFill>
              </a:rPr>
              <a:t>True </a:t>
            </a:r>
            <a:r>
              <a:rPr lang="en-US" dirty="0">
                <a:solidFill>
                  <a:schemeClr val="accent1"/>
                </a:solidFill>
              </a:rPr>
              <a:t>or</a:t>
            </a:r>
            <a:r>
              <a:rPr lang="en-US" sz="2400" dirty="0">
                <a:solidFill>
                  <a:schemeClr val="accent1"/>
                </a:solidFill>
              </a:rPr>
              <a:t> False? Punches are gripping tools used for working with wires, clips, and pins</a:t>
            </a:r>
          </a:p>
          <a:p>
            <a:pPr marL="355600" lvl="1" indent="0" algn="ctr">
              <a:buNone/>
            </a:pPr>
            <a:r>
              <a:rPr lang="en-US" b="1" dirty="0">
                <a:solidFill>
                  <a:schemeClr val="accent1"/>
                </a:solidFill>
              </a:rPr>
              <a:t>Answer</a:t>
            </a:r>
            <a:r>
              <a:rPr lang="en-US" dirty="0">
                <a:solidFill>
                  <a:schemeClr val="accent1"/>
                </a:solidFill>
              </a:rPr>
              <a:t>: False. Pliers are gripping tools used for working with wires, clips, and pins</a:t>
            </a:r>
          </a:p>
          <a:p>
            <a:pPr marL="355600" lvl="1" indent="0" algn="ctr">
              <a:buNone/>
            </a:pPr>
            <a:r>
              <a:rPr lang="en-US" dirty="0">
                <a:solidFill>
                  <a:schemeClr val="accent1"/>
                </a:solidFill>
              </a:rPr>
              <a:t>Punches are used for driving out pins, rivets, or shafts; aligning holes in parts during assembly; and marking the starting point for drilling a hole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Shop Equipment</a:t>
            </a:r>
            <a:endParaRPr dirty="0"/>
          </a:p>
        </p:txBody>
      </p:sp>
      <p:sp>
        <p:nvSpPr>
          <p:cNvPr id="159" name="Google Shape;159;p6"/>
          <p:cNvSpPr txBox="1">
            <a:spLocks noGrp="1"/>
          </p:cNvSpPr>
          <p:nvPr>
            <p:ph type="body" idx="1"/>
          </p:nvPr>
        </p:nvSpPr>
        <p:spPr>
          <a:xfrm>
            <a:off x="476843" y="1563624"/>
            <a:ext cx="11360930" cy="4613339"/>
          </a:xfrm>
          <a:prstGeom prst="rect">
            <a:avLst/>
          </a:prstGeom>
          <a:noFill/>
          <a:ln>
            <a:noFill/>
          </a:ln>
        </p:spPr>
        <p:txBody>
          <a:bodyPr spcFirstLastPara="1" wrap="square" lIns="91425" tIns="45700" rIns="91425" bIns="45700" anchor="t" anchorCtr="0">
            <a:noAutofit/>
          </a:bodyPr>
          <a:lstStyle/>
          <a:p>
            <a:pPr marL="76200" lvl="0" indent="0">
              <a:buNone/>
            </a:pPr>
            <a:r>
              <a:rPr lang="en-US" sz="2400" b="1" dirty="0">
                <a:latin typeface="Work Sans" pitchFamily="2" charset="0"/>
              </a:rPr>
              <a:t>05.05 List the common types of shop equipment and state their purpose. </a:t>
            </a:r>
          </a:p>
          <a:p>
            <a:pPr>
              <a:buSzPct val="100000"/>
            </a:pPr>
            <a:r>
              <a:rPr lang="en-US" sz="2400" dirty="0"/>
              <a:t>Bench Grinder</a:t>
            </a:r>
          </a:p>
          <a:p>
            <a:pPr lvl="1">
              <a:buSzPct val="100000"/>
            </a:pPr>
            <a:r>
              <a:rPr lang="en-US" sz="2200" dirty="0"/>
              <a:t>This electric power tool is generally bolted to a workbench.</a:t>
            </a:r>
          </a:p>
          <a:p>
            <a:pPr lvl="1">
              <a:buSzPct val="100000"/>
            </a:pPr>
            <a:r>
              <a:rPr lang="en-US" sz="2200" dirty="0"/>
              <a:t>The grinder should have safety shields and guards.</a:t>
            </a:r>
          </a:p>
          <a:p>
            <a:pPr lvl="1">
              <a:buSzPct val="100000"/>
            </a:pPr>
            <a:r>
              <a:rPr lang="en-US" sz="2200" dirty="0"/>
              <a:t>A bench grinder is classified by wheel size.</a:t>
            </a:r>
          </a:p>
          <a:p>
            <a:pPr lvl="2">
              <a:buSzPct val="100000"/>
            </a:pPr>
            <a:r>
              <a:rPr lang="en-US" sz="2000" dirty="0"/>
              <a:t>Three types of wheels are available with this bench tool:</a:t>
            </a:r>
          </a:p>
          <a:p>
            <a:pPr marL="1433513" lvl="3" indent="-360363">
              <a:buSzPct val="100000"/>
              <a:buFont typeface="Arial" panose="020B0604020202020204" pitchFamily="34" charset="0"/>
              <a:buChar char="•"/>
            </a:pPr>
            <a:r>
              <a:rPr lang="en-US" sz="1800" dirty="0"/>
              <a:t>Grinding wheel, for a wide variety of grinding jobs from sharpening cutting tools to deburring.</a:t>
            </a:r>
          </a:p>
          <a:p>
            <a:pPr marL="1433513" lvl="3" indent="-360363">
              <a:buSzPct val="100000"/>
              <a:buFont typeface="Arial" panose="020B0604020202020204" pitchFamily="34" charset="0"/>
              <a:buChar char="•"/>
            </a:pPr>
            <a:r>
              <a:rPr lang="en-US" sz="1800" dirty="0"/>
              <a:t>Wire wheel brush, for general cleaning and buffing, removing rust, scale, and paint, deburring, and so forth. </a:t>
            </a:r>
          </a:p>
          <a:p>
            <a:pPr marL="1433513" lvl="3" indent="-360363">
              <a:buSzPct val="100000"/>
              <a:buFont typeface="Arial" panose="020B0604020202020204" pitchFamily="34" charset="0"/>
              <a:buChar char="•"/>
            </a:pPr>
            <a:r>
              <a:rPr lang="en-US" sz="1800" dirty="0"/>
              <a:t>Buffing wheel, for general purpose buffing, polishing, and light cutting.</a:t>
            </a:r>
          </a:p>
        </p:txBody>
      </p:sp>
    </p:spTree>
    <p:extLst>
      <p:ext uri="{BB962C8B-B14F-4D97-AF65-F5344CB8AC3E}">
        <p14:creationId xmlns:p14="http://schemas.microsoft.com/office/powerpoint/2010/main" val="12153948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Oxyacetylene Torches</a:t>
            </a:r>
            <a:endParaRPr lang="en-US" dirty="0"/>
          </a:p>
        </p:txBody>
      </p:sp>
      <p:pic>
        <p:nvPicPr>
          <p:cNvPr id="7" name="Picture Placeholder 6" descr="An Oxyacetylene welding equipment connected to 2 cylinders - ‘Acetylene cylinder’ and ‘Oxygen cylinder’. The following components are labeled in the acetylene cylinder : ‘Working pressure gauge’, ‘Cylinder pressure gauge’, ‘On/off valve’ and ‘Regulator’. The following components are labeled in the oxygen cylinder : ‘Working pressure gauge’, ‘Cylinder pressure gauge’ and ‘’Regulator’. The other labels shown here are : ‘Tip’, ‘Cutting torch control’, ‘Acetylene control’ and ‘Twin hose’.">
            <a:extLst>
              <a:ext uri="{FF2B5EF4-FFF2-40B4-BE49-F238E27FC236}">
                <a16:creationId xmlns:a16="http://schemas.microsoft.com/office/drawing/2014/main" id="{7B1CFEE2-0796-CD4A-B19F-162B004F0764}"/>
              </a:ext>
            </a:extLst>
          </p:cNvPr>
          <p:cNvPicPr>
            <a:picLocks noGrp="1" noChangeAspect="1"/>
          </p:cNvPicPr>
          <p:nvPr>
            <p:ph type="pic" idx="2"/>
          </p:nvPr>
        </p:nvPicPr>
        <p:blipFill>
          <a:blip r:embed="rId3"/>
          <a:srcRect b="5838"/>
          <a:stretch/>
        </p:blipFill>
        <p:spPr>
          <a:xfrm>
            <a:off x="259549" y="1624537"/>
            <a:ext cx="5260041" cy="3912663"/>
          </a:xfrm>
          <a:prstGeom prst="rect">
            <a:avLst/>
          </a:prstGeom>
        </p:spPr>
      </p:pic>
      <p:sp>
        <p:nvSpPr>
          <p:cNvPr id="159" name="Google Shape;159;p6"/>
          <p:cNvSpPr txBox="1">
            <a:spLocks noGrp="1"/>
          </p:cNvSpPr>
          <p:nvPr>
            <p:ph type="body" idx="1"/>
          </p:nvPr>
        </p:nvSpPr>
        <p:spPr>
          <a:xfrm>
            <a:off x="5564704" y="1508125"/>
            <a:ext cx="6154054" cy="4576586"/>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400" dirty="0"/>
              <a:t>They have many purposes including being used to heat metal when two parts are difficult to separate, to cut metal (such as when replacing exhaust system parts), and to weld or connect two metal parts together</a:t>
            </a:r>
          </a:p>
          <a:p>
            <a:pPr>
              <a:spcAft>
                <a:spcPts val="600"/>
              </a:spcAft>
              <a:buSzPct val="100000"/>
            </a:pPr>
            <a:r>
              <a:rPr lang="en-US" sz="2400" dirty="0"/>
              <a:t>Oxyacetylene welding and cutting equipment uses the combustion of acetylene in oxygen to produce a flame temperature of about 5,600 °F </a:t>
            </a:r>
          </a:p>
        </p:txBody>
      </p:sp>
    </p:spTree>
    <p:extLst>
      <p:ext uri="{BB962C8B-B14F-4D97-AF65-F5344CB8AC3E}">
        <p14:creationId xmlns:p14="http://schemas.microsoft.com/office/powerpoint/2010/main" val="22372680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Power Tools</a:t>
            </a:r>
            <a:endParaRPr dirty="0"/>
          </a:p>
        </p:txBody>
      </p:sp>
      <p:sp>
        <p:nvSpPr>
          <p:cNvPr id="159" name="Google Shape;159;p6"/>
          <p:cNvSpPr txBox="1">
            <a:spLocks noGrp="1"/>
          </p:cNvSpPr>
          <p:nvPr>
            <p:ph type="body" idx="1"/>
          </p:nvPr>
        </p:nvSpPr>
        <p:spPr>
          <a:xfrm>
            <a:off x="699912" y="1471053"/>
            <a:ext cx="7191022" cy="4429831"/>
          </a:xfrm>
          <a:prstGeom prst="rect">
            <a:avLst/>
          </a:prstGeom>
          <a:noFill/>
          <a:ln>
            <a:noFill/>
          </a:ln>
        </p:spPr>
        <p:txBody>
          <a:bodyPr spcFirstLastPara="1" wrap="square" lIns="91425" tIns="45700" rIns="91425" bIns="45700" anchor="t" anchorCtr="0">
            <a:noAutofit/>
          </a:bodyPr>
          <a:lstStyle/>
          <a:p>
            <a:pPr marL="0" lvl="0" indent="0">
              <a:spcAft>
                <a:spcPts val="600"/>
              </a:spcAft>
              <a:buNone/>
            </a:pPr>
            <a:r>
              <a:rPr lang="en-US" sz="2200" b="1" dirty="0">
                <a:latin typeface="Work Sans" pitchFamily="2" charset="0"/>
              </a:rPr>
              <a:t>05.06 Describe the use of common pneumatic, electrical, and hydraulic power tools. </a:t>
            </a:r>
          </a:p>
          <a:p>
            <a:pPr>
              <a:spcAft>
                <a:spcPts val="600"/>
              </a:spcAft>
              <a:buSzPct val="100000"/>
            </a:pPr>
            <a:r>
              <a:rPr lang="en-US" sz="2200" dirty="0"/>
              <a:t>Impact Wrench</a:t>
            </a:r>
          </a:p>
          <a:p>
            <a:pPr lvl="1">
              <a:spcAft>
                <a:spcPts val="600"/>
              </a:spcAft>
              <a:buSzPct val="100000"/>
            </a:pPr>
            <a:r>
              <a:rPr lang="en-US" sz="2000" dirty="0"/>
              <a:t>When triggered, the output shaft, onto which the impact socket is fastened, spins freely at 2,000 to 14,000 rpm, depending on the wrench’s make and model.</a:t>
            </a:r>
          </a:p>
          <a:p>
            <a:pPr lvl="1">
              <a:spcAft>
                <a:spcPts val="600"/>
              </a:spcAft>
              <a:buSzPct val="100000"/>
            </a:pPr>
            <a:r>
              <a:rPr lang="en-US" sz="2000" dirty="0"/>
              <a:t>When the impact wrench meets resistance, a small spring-loaded hammer strikes an anvil attached to the drive shaft onto which the socket is mounted. Each impact moves the socket around a little until torque equilibrium is reached, the fastener breaks or the trigger is released.</a:t>
            </a:r>
          </a:p>
        </p:txBody>
      </p:sp>
      <p:pic>
        <p:nvPicPr>
          <p:cNvPr id="7" name="Picture Placeholder 6" descr="A portable handheld reversible air impact wrench.">
            <a:extLst>
              <a:ext uri="{FF2B5EF4-FFF2-40B4-BE49-F238E27FC236}">
                <a16:creationId xmlns:a16="http://schemas.microsoft.com/office/drawing/2014/main" id="{0D242384-DE48-322D-527A-6C958C8676C7}"/>
              </a:ext>
            </a:extLst>
          </p:cNvPr>
          <p:cNvPicPr>
            <a:picLocks noGrp="1" noChangeAspect="1"/>
          </p:cNvPicPr>
          <p:nvPr>
            <p:ph type="pic" idx="2"/>
          </p:nvPr>
        </p:nvPicPr>
        <p:blipFill>
          <a:blip r:embed="rId3"/>
          <a:srcRect b="11288"/>
          <a:stretch/>
        </p:blipFill>
        <p:spPr>
          <a:xfrm>
            <a:off x="7985888" y="2252752"/>
            <a:ext cx="4023360" cy="2349728"/>
          </a:xfrm>
          <a:prstGeom prst="rect">
            <a:avLst/>
          </a:prstGeom>
        </p:spPr>
      </p:pic>
    </p:spTree>
    <p:extLst>
      <p:ext uri="{BB962C8B-B14F-4D97-AF65-F5344CB8AC3E}">
        <p14:creationId xmlns:p14="http://schemas.microsoft.com/office/powerpoint/2010/main" val="13672499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Air/Electric Ratchet </a:t>
            </a:r>
          </a:p>
        </p:txBody>
      </p:sp>
      <p:sp>
        <p:nvSpPr>
          <p:cNvPr id="159" name="Google Shape;159;p6"/>
          <p:cNvSpPr txBox="1">
            <a:spLocks noGrp="1"/>
          </p:cNvSpPr>
          <p:nvPr>
            <p:ph type="body" idx="1"/>
          </p:nvPr>
        </p:nvSpPr>
        <p:spPr>
          <a:xfrm>
            <a:off x="476844" y="1508124"/>
            <a:ext cx="6455298" cy="4531431"/>
          </a:xfrm>
          <a:prstGeom prst="rect">
            <a:avLst/>
          </a:prstGeom>
          <a:noFill/>
          <a:ln>
            <a:noFill/>
          </a:ln>
        </p:spPr>
        <p:txBody>
          <a:bodyPr spcFirstLastPara="1" wrap="square" lIns="91425" tIns="45700" rIns="91425" bIns="45700" anchor="t" anchorCtr="0">
            <a:noAutofit/>
          </a:bodyPr>
          <a:lstStyle/>
          <a:p>
            <a:pPr>
              <a:buSzPct val="100000"/>
            </a:pPr>
            <a:r>
              <a:rPr lang="en-US" dirty="0"/>
              <a:t>They have a special ability to work in hard-to-reach places.</a:t>
            </a:r>
          </a:p>
          <a:p>
            <a:pPr>
              <a:buSzPct val="100000"/>
            </a:pPr>
            <a:r>
              <a:rPr lang="en-US" dirty="0"/>
              <a:t>Its angle drive reaches in and loosens or tightens where other hand or power wrenches just cannot work.</a:t>
            </a:r>
          </a:p>
          <a:p>
            <a:pPr>
              <a:buSzPct val="100000"/>
            </a:pPr>
            <a:r>
              <a:rPr lang="en-US" dirty="0"/>
              <a:t>Air ratchets look like ordinary ratchets but have a fat handgrip.</a:t>
            </a:r>
          </a:p>
          <a:p>
            <a:pPr>
              <a:buSzPct val="100000"/>
            </a:pPr>
            <a:r>
              <a:rPr lang="en-US" dirty="0"/>
              <a:t>Electric ratchets tend to be larger than air ratchets.</a:t>
            </a:r>
          </a:p>
        </p:txBody>
      </p:sp>
      <p:pic>
        <p:nvPicPr>
          <p:cNvPr id="7" name="Picture Placeholder 6" descr="An air ratchet with a fat handgrip and an angle-driven mechanism.">
            <a:extLst>
              <a:ext uri="{FF2B5EF4-FFF2-40B4-BE49-F238E27FC236}">
                <a16:creationId xmlns:a16="http://schemas.microsoft.com/office/drawing/2014/main" id="{B6DD6D4A-BAEE-1E51-A25E-D6941CD6437E}"/>
              </a:ext>
            </a:extLst>
          </p:cNvPr>
          <p:cNvPicPr>
            <a:picLocks noGrp="1" noChangeAspect="1"/>
          </p:cNvPicPr>
          <p:nvPr>
            <p:ph type="pic" idx="2"/>
          </p:nvPr>
        </p:nvPicPr>
        <p:blipFill>
          <a:blip r:embed="rId3"/>
          <a:srcRect b="11303"/>
          <a:stretch/>
        </p:blipFill>
        <p:spPr>
          <a:xfrm>
            <a:off x="7063911" y="2299407"/>
            <a:ext cx="4859788" cy="2577393"/>
          </a:xfrm>
          <a:prstGeom prst="rect">
            <a:avLst/>
          </a:prstGeom>
        </p:spPr>
      </p:pic>
    </p:spTree>
    <p:extLst>
      <p:ext uri="{BB962C8B-B14F-4D97-AF65-F5344CB8AC3E}">
        <p14:creationId xmlns:p14="http://schemas.microsoft.com/office/powerpoint/2010/main" val="17300203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a:t>Blowgun</a:t>
            </a:r>
            <a:endParaRPr lang="en-US" dirty="0"/>
          </a:p>
        </p:txBody>
      </p:sp>
      <p:sp>
        <p:nvSpPr>
          <p:cNvPr id="159" name="Google Shape;159;p6"/>
          <p:cNvSpPr txBox="1">
            <a:spLocks noGrp="1"/>
          </p:cNvSpPr>
          <p:nvPr>
            <p:ph type="body" idx="1"/>
          </p:nvPr>
        </p:nvSpPr>
        <p:spPr>
          <a:xfrm>
            <a:off x="476843" y="1508124"/>
            <a:ext cx="6307779" cy="4587875"/>
          </a:xfrm>
          <a:prstGeom prst="rect">
            <a:avLst/>
          </a:prstGeom>
          <a:noFill/>
          <a:ln>
            <a:noFill/>
          </a:ln>
        </p:spPr>
        <p:txBody>
          <a:bodyPr spcFirstLastPara="1" wrap="square" lIns="91425" tIns="45700" rIns="91425" bIns="45700" anchor="t" anchorCtr="0">
            <a:noAutofit/>
          </a:bodyPr>
          <a:lstStyle/>
          <a:p>
            <a:pPr>
              <a:buSzPct val="100000"/>
            </a:pPr>
            <a:r>
              <a:rPr lang="en-US" dirty="0"/>
              <a:t>Blowguns are used for blowing off parts during cleaning</a:t>
            </a:r>
          </a:p>
          <a:p>
            <a:pPr>
              <a:buSzPct val="100000"/>
            </a:pPr>
            <a:r>
              <a:rPr lang="en-US" dirty="0"/>
              <a:t>Never point a blowgun at yourself or anyone else</a:t>
            </a:r>
          </a:p>
          <a:p>
            <a:pPr>
              <a:buSzPct val="100000"/>
            </a:pPr>
            <a:r>
              <a:rPr lang="en-US" dirty="0"/>
              <a:t>A blowgun snaps into one end of an air hose and directs airflow when a button is pressed</a:t>
            </a:r>
          </a:p>
          <a:p>
            <a:pPr>
              <a:buSzPct val="100000"/>
            </a:pPr>
            <a:r>
              <a:rPr lang="en-US" dirty="0"/>
              <a:t>Always use an OSHA-approved air blowgun</a:t>
            </a:r>
          </a:p>
        </p:txBody>
      </p:sp>
      <p:pic>
        <p:nvPicPr>
          <p:cNvPr id="7" name="Picture Placeholder 6" descr="An OSHA approved blow gun and spray gun.">
            <a:extLst>
              <a:ext uri="{FF2B5EF4-FFF2-40B4-BE49-F238E27FC236}">
                <a16:creationId xmlns:a16="http://schemas.microsoft.com/office/drawing/2014/main" id="{DCB1734E-BF0E-10F0-87EA-0A26E6911D5E}"/>
              </a:ext>
            </a:extLst>
          </p:cNvPr>
          <p:cNvPicPr>
            <a:picLocks noGrp="1" noChangeAspect="1"/>
          </p:cNvPicPr>
          <p:nvPr>
            <p:ph type="pic" idx="2"/>
          </p:nvPr>
        </p:nvPicPr>
        <p:blipFill>
          <a:blip r:embed="rId3"/>
          <a:srcRect b="7769"/>
          <a:stretch/>
        </p:blipFill>
        <p:spPr>
          <a:xfrm>
            <a:off x="7258521" y="1928157"/>
            <a:ext cx="4359430" cy="3456643"/>
          </a:xfrm>
          <a:prstGeom prst="rect">
            <a:avLst/>
          </a:prstGeom>
        </p:spPr>
      </p:pic>
    </p:spTree>
    <p:extLst>
      <p:ext uri="{BB962C8B-B14F-4D97-AF65-F5344CB8AC3E}">
        <p14:creationId xmlns:p14="http://schemas.microsoft.com/office/powerpoint/2010/main" val="2745365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Jacks </a:t>
            </a:r>
            <a:r>
              <a:rPr lang="en-US"/>
              <a:t>and Lifts</a:t>
            </a:r>
            <a:endParaRPr dirty="0"/>
          </a:p>
        </p:txBody>
      </p:sp>
      <p:sp>
        <p:nvSpPr>
          <p:cNvPr id="159" name="Google Shape;159;p6"/>
          <p:cNvSpPr txBox="1">
            <a:spLocks noGrp="1"/>
          </p:cNvSpPr>
          <p:nvPr>
            <p:ph type="body" idx="1"/>
          </p:nvPr>
        </p:nvSpPr>
        <p:spPr>
          <a:xfrm>
            <a:off x="476843" y="1446339"/>
            <a:ext cx="6578713" cy="4565297"/>
          </a:xfrm>
          <a:prstGeom prst="rect">
            <a:avLst/>
          </a:prstGeom>
          <a:noFill/>
          <a:ln>
            <a:noFill/>
          </a:ln>
        </p:spPr>
        <p:txBody>
          <a:bodyPr spcFirstLastPara="1" wrap="square" lIns="91425" tIns="45700" rIns="91425" bIns="45700" anchor="t" anchorCtr="0">
            <a:noAutofit/>
          </a:bodyPr>
          <a:lstStyle/>
          <a:p>
            <a:pPr marL="76200" lvl="0" indent="0">
              <a:spcAft>
                <a:spcPts val="600"/>
              </a:spcAft>
              <a:buNone/>
            </a:pPr>
            <a:r>
              <a:rPr lang="en-US" sz="2400" b="1" dirty="0">
                <a:latin typeface="Work Sans" pitchFamily="2" charset="0"/>
              </a:rPr>
              <a:t>05.07 Describe the types and safe use of jacks and lifts.</a:t>
            </a:r>
          </a:p>
          <a:p>
            <a:pPr>
              <a:spcAft>
                <a:spcPts val="600"/>
              </a:spcAft>
              <a:buSzPct val="100000"/>
            </a:pPr>
            <a:r>
              <a:rPr lang="en-US" sz="2400" dirty="0"/>
              <a:t>Floor Jack</a:t>
            </a:r>
          </a:p>
          <a:p>
            <a:pPr lvl="1">
              <a:spcAft>
                <a:spcPts val="600"/>
              </a:spcAft>
              <a:buSzPct val="100000"/>
            </a:pPr>
            <a:r>
              <a:rPr lang="en-US" sz="2200" dirty="0"/>
              <a:t>A floor jack is a portable unit mounted on wheels in which lifting pad on the jack is placed under the chassis of the vehicle, and the jack handle is operated with a pumping action.</a:t>
            </a:r>
          </a:p>
          <a:p>
            <a:pPr lvl="1">
              <a:spcAft>
                <a:spcPts val="600"/>
              </a:spcAft>
              <a:buSzPct val="100000"/>
            </a:pPr>
            <a:r>
              <a:rPr lang="en-US" sz="2200" dirty="0"/>
              <a:t>This forces fluid into a hydraulic cylinder in the jack, and the cylinder extends to force the jack lift pad upward and lift the vehicle.</a:t>
            </a:r>
          </a:p>
        </p:txBody>
      </p:sp>
      <p:pic>
        <p:nvPicPr>
          <p:cNvPr id="7" name="Picture Placeholder 6" descr="A vehicle raised with a floor jack. A mechanic is adjusting the jack stands.">
            <a:extLst>
              <a:ext uri="{FF2B5EF4-FFF2-40B4-BE49-F238E27FC236}">
                <a16:creationId xmlns:a16="http://schemas.microsoft.com/office/drawing/2014/main" id="{A99A1D32-CD42-7049-7762-8D36791B9F6A}"/>
              </a:ext>
            </a:extLst>
          </p:cNvPr>
          <p:cNvPicPr>
            <a:picLocks noGrp="1" noChangeAspect="1"/>
          </p:cNvPicPr>
          <p:nvPr>
            <p:ph type="pic" idx="2"/>
          </p:nvPr>
        </p:nvPicPr>
        <p:blipFill>
          <a:blip r:embed="rId3"/>
          <a:srcRect b="15863"/>
          <a:stretch/>
        </p:blipFill>
        <p:spPr>
          <a:xfrm>
            <a:off x="7289461" y="2174359"/>
            <a:ext cx="4425696" cy="2743081"/>
          </a:xfrm>
          <a:prstGeom prst="rect">
            <a:avLst/>
          </a:prstGeom>
        </p:spPr>
      </p:pic>
    </p:spTree>
    <p:extLst>
      <p:ext uri="{BB962C8B-B14F-4D97-AF65-F5344CB8AC3E}">
        <p14:creationId xmlns:p14="http://schemas.microsoft.com/office/powerpoint/2010/main" val="2585083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Lift</a:t>
            </a:r>
          </a:p>
        </p:txBody>
      </p:sp>
      <p:pic>
        <p:nvPicPr>
          <p:cNvPr id="7" name="Picture Placeholder 6" descr="A frame contact lift with a wheel contact and an axle engaging the frame contact points align with the lifting of a vehicle.">
            <a:extLst>
              <a:ext uri="{FF2B5EF4-FFF2-40B4-BE49-F238E27FC236}">
                <a16:creationId xmlns:a16="http://schemas.microsoft.com/office/drawing/2014/main" id="{0F975C46-A60B-83BA-BFE6-913699CE0742}"/>
              </a:ext>
            </a:extLst>
          </p:cNvPr>
          <p:cNvPicPr>
            <a:picLocks noGrp="1" noChangeAspect="1"/>
          </p:cNvPicPr>
          <p:nvPr>
            <p:ph type="pic" idx="2"/>
          </p:nvPr>
        </p:nvPicPr>
        <p:blipFill>
          <a:blip r:embed="rId3"/>
          <a:srcRect b="7332"/>
          <a:stretch/>
        </p:blipFill>
        <p:spPr>
          <a:xfrm>
            <a:off x="917294" y="1804487"/>
            <a:ext cx="3022810" cy="3702233"/>
          </a:xfrm>
          <a:prstGeom prst="rect">
            <a:avLst/>
          </a:prstGeom>
        </p:spPr>
      </p:pic>
      <p:sp>
        <p:nvSpPr>
          <p:cNvPr id="159" name="Google Shape;159;p6"/>
          <p:cNvSpPr txBox="1">
            <a:spLocks noGrp="1"/>
          </p:cNvSpPr>
          <p:nvPr>
            <p:ph type="body" idx="1"/>
          </p:nvPr>
        </p:nvSpPr>
        <p:spPr>
          <a:xfrm>
            <a:off x="4955822" y="1508124"/>
            <a:ext cx="6762936" cy="4587875"/>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dirty="0"/>
              <a:t>A floor lift is the safest lifting tool </a:t>
            </a:r>
          </a:p>
          <a:p>
            <a:pPr lvl="1">
              <a:spcAft>
                <a:spcPts val="600"/>
              </a:spcAft>
              <a:buSzPct val="100000"/>
            </a:pPr>
            <a:r>
              <a:rPr lang="en-US" dirty="0"/>
              <a:t>It is able to raise the vehicle high enough to allow you to walk and work under it.</a:t>
            </a:r>
          </a:p>
          <a:p>
            <a:pPr lvl="1">
              <a:spcAft>
                <a:spcPts val="600"/>
              </a:spcAft>
              <a:buSzPct val="100000"/>
            </a:pPr>
            <a:r>
              <a:rPr lang="en-US" dirty="0"/>
              <a:t>Before lifting a vehicle, make sure the lift is correctly positioned.</a:t>
            </a:r>
          </a:p>
          <a:p>
            <a:pPr>
              <a:spcAft>
                <a:spcPts val="600"/>
              </a:spcAft>
              <a:buSzPct val="100000"/>
            </a:pPr>
            <a:r>
              <a:rPr lang="en-US" dirty="0"/>
              <a:t>There are three basic types of lifts: </a:t>
            </a:r>
          </a:p>
          <a:p>
            <a:pPr lvl="1">
              <a:spcAft>
                <a:spcPts val="600"/>
              </a:spcAft>
              <a:buSzPct val="100000"/>
            </a:pPr>
            <a:r>
              <a:rPr lang="en-US" dirty="0"/>
              <a:t>Frame contact, wheel contact, and axle engaging.</a:t>
            </a:r>
          </a:p>
        </p:txBody>
      </p:sp>
    </p:spTree>
    <p:extLst>
      <p:ext uri="{BB962C8B-B14F-4D97-AF65-F5344CB8AC3E}">
        <p14:creationId xmlns:p14="http://schemas.microsoft.com/office/powerpoint/2010/main" val="35297013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Service Information (1 of 2)</a:t>
            </a:r>
            <a:endParaRPr dirty="0"/>
          </a:p>
        </p:txBody>
      </p:sp>
      <p:pic>
        <p:nvPicPr>
          <p:cNvPr id="7" name="Picture Placeholder 6" descr="A screenshot lists the subsystems under the section of the Chassis electrical system on the main screen. Each subsystem is preceded by a button with a plus symbol as follows: Airbags (supplemental restraint system), Electrical distribution, Electronic feature group, Entertainment systems, Instrumentation &amp; warning systems, Lighting, Wipers &amp; washers.">
            <a:extLst>
              <a:ext uri="{FF2B5EF4-FFF2-40B4-BE49-F238E27FC236}">
                <a16:creationId xmlns:a16="http://schemas.microsoft.com/office/drawing/2014/main" id="{B4BF2E5C-F740-9029-D548-6D651C5E3872}"/>
              </a:ext>
            </a:extLst>
          </p:cNvPr>
          <p:cNvPicPr>
            <a:picLocks noGrp="1" noChangeAspect="1"/>
          </p:cNvPicPr>
          <p:nvPr>
            <p:ph type="pic" idx="2"/>
          </p:nvPr>
        </p:nvPicPr>
        <p:blipFill>
          <a:blip r:embed="rId3"/>
          <a:srcRect b="20836"/>
          <a:stretch/>
        </p:blipFill>
        <p:spPr>
          <a:xfrm>
            <a:off x="461599" y="1913503"/>
            <a:ext cx="4702327" cy="2963298"/>
          </a:xfrm>
          <a:prstGeom prst="rect">
            <a:avLst/>
          </a:prstGeom>
        </p:spPr>
      </p:pic>
      <p:sp>
        <p:nvSpPr>
          <p:cNvPr id="159" name="Google Shape;159;p6"/>
          <p:cNvSpPr txBox="1">
            <a:spLocks noGrp="1"/>
          </p:cNvSpPr>
          <p:nvPr>
            <p:ph type="body" idx="1"/>
          </p:nvPr>
        </p:nvSpPr>
        <p:spPr>
          <a:xfrm>
            <a:off x="5396089" y="1409269"/>
            <a:ext cx="6322669" cy="4554008"/>
          </a:xfrm>
          <a:prstGeom prst="rect">
            <a:avLst/>
          </a:prstGeom>
          <a:noFill/>
          <a:ln>
            <a:noFill/>
          </a:ln>
        </p:spPr>
        <p:txBody>
          <a:bodyPr spcFirstLastPara="1" wrap="square" lIns="91425" tIns="45700" rIns="91425" bIns="45700" anchor="t" anchorCtr="0">
            <a:noAutofit/>
          </a:bodyPr>
          <a:lstStyle/>
          <a:p>
            <a:pPr marL="0" lvl="0" indent="0">
              <a:buNone/>
            </a:pPr>
            <a:r>
              <a:rPr lang="en-US" sz="2200" b="1" dirty="0">
                <a:latin typeface="Work Sans" pitchFamily="2" charset="0"/>
              </a:rPr>
              <a:t>05.08 Describe the different sources of service information that are available to technicians.</a:t>
            </a:r>
          </a:p>
          <a:p>
            <a:pPr>
              <a:buSzPct val="100000"/>
            </a:pPr>
            <a:r>
              <a:rPr lang="en-US" sz="2200" dirty="0"/>
              <a:t>The primary source for repair and specification information for any car, van, or truck is the manufacturer.</a:t>
            </a:r>
          </a:p>
          <a:p>
            <a:pPr>
              <a:buSzPct val="100000"/>
            </a:pPr>
            <a:r>
              <a:rPr lang="en-US" sz="2200" dirty="0"/>
              <a:t>The manufacturer publishes appropriate service each year, for every vehicle built. </a:t>
            </a:r>
          </a:p>
          <a:p>
            <a:pPr>
              <a:buSzPct val="100000"/>
            </a:pPr>
            <a:r>
              <a:rPr lang="en-US" sz="2200" dirty="0"/>
              <a:t>The information may be divided into sections such as chassis, suspension, steering, emission control, fuel systems, brakes, basic maintenance, engine, transmission, body, and so on.</a:t>
            </a:r>
          </a:p>
        </p:txBody>
      </p:sp>
    </p:spTree>
    <p:extLst>
      <p:ext uri="{BB962C8B-B14F-4D97-AF65-F5344CB8AC3E}">
        <p14:creationId xmlns:p14="http://schemas.microsoft.com/office/powerpoint/2010/main" val="1119519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Service Information (2 of 2)</a:t>
            </a:r>
            <a:endParaRPr dirty="0"/>
          </a:p>
        </p:txBody>
      </p:sp>
      <p:sp>
        <p:nvSpPr>
          <p:cNvPr id="159" name="Google Shape;159;p6"/>
          <p:cNvSpPr txBox="1">
            <a:spLocks noGrp="1"/>
          </p:cNvSpPr>
          <p:nvPr>
            <p:ph type="body" idx="1"/>
          </p:nvPr>
        </p:nvSpPr>
        <p:spPr>
          <a:xfrm>
            <a:off x="476843" y="1483410"/>
            <a:ext cx="6022811" cy="4429831"/>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400" dirty="0"/>
              <a:t>Although the information from different publishers varies in presentation and the arrangement of topics, all are easy to use after you become familiar with their organization.</a:t>
            </a:r>
          </a:p>
          <a:p>
            <a:pPr>
              <a:spcAft>
                <a:spcPts val="600"/>
              </a:spcAft>
              <a:buSzPct val="100000"/>
            </a:pPr>
            <a:r>
              <a:rPr lang="en-US" sz="2400" dirty="0"/>
              <a:t>Most are divided into a number of sections, each covering different aspects of the vehicle. The beginning sections commonly provide vehicle identification and basic maintenance information.</a:t>
            </a:r>
          </a:p>
        </p:txBody>
      </p:sp>
      <p:pic>
        <p:nvPicPr>
          <p:cNvPr id="7" name="Picture Placeholder 6" descr="A screenshot of a web page of ALLDATA repair that contains maintenance information. The tabs in the top left corner of the page read, Select Vehicle, New T S Bs, and Technician’s Reference. A search window and a conversion calculator button are on the top right corner of the page. A vehicle tab is selected and the corresponding ‘Maintenance components’, ‘Technical service bulletin’, ‘Service intervals’, ‘Parts and Labor’, and ‘Specifications’ are under the ‘Maintenance Information’ heading. Hide details option available at the right corner. The tabs under the maintenance components section are as follows: Air Bag(s) Arming and Disarming, Alignment, Brake Bleeding, Drive Belt, Filters, Fluids, Fuses and Circuit Breakers, Hoses, Seat Belt Arming and Disarming, Service Reminder Indicators, Timing Component Alignment Marks, Tune-Up and Engine Performance Checks, Vehicle Lifting, Wheels and Tires. The tabs under the technical Service Bulletins are as follows: Customer Interest, By Symptom, and All Technical Service Bulletins. The tabs under the Service Intervals are as follows: Using Maintenance Schedules, Maintenance Indicator Reset, Condition/Indicator Based Maintenance Services, Routine Service, Normal Service, Normal Service Table, Severe Service, and Severe Service Table. The section Parts and Labor has the tab Service or Charge.">
            <a:extLst>
              <a:ext uri="{FF2B5EF4-FFF2-40B4-BE49-F238E27FC236}">
                <a16:creationId xmlns:a16="http://schemas.microsoft.com/office/drawing/2014/main" id="{0EE17FE7-2BFF-9689-0334-AA20C1A46883}"/>
              </a:ext>
            </a:extLst>
          </p:cNvPr>
          <p:cNvPicPr>
            <a:picLocks noGrp="1" noChangeAspect="1"/>
          </p:cNvPicPr>
          <p:nvPr>
            <p:ph type="pic" idx="2"/>
          </p:nvPr>
        </p:nvPicPr>
        <p:blipFill>
          <a:blip r:embed="rId3"/>
          <a:srcRect b="4543"/>
          <a:stretch/>
        </p:blipFill>
        <p:spPr>
          <a:xfrm>
            <a:off x="6592923" y="1972291"/>
            <a:ext cx="5235962" cy="3158509"/>
          </a:xfrm>
          <a:prstGeom prst="rect">
            <a:avLst/>
          </a:prstGeom>
        </p:spPr>
      </p:pic>
    </p:spTree>
    <p:extLst>
      <p:ext uri="{BB962C8B-B14F-4D97-AF65-F5344CB8AC3E}">
        <p14:creationId xmlns:p14="http://schemas.microsoft.com/office/powerpoint/2010/main" val="4043092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sz="3600" dirty="0"/>
              <a:t>Other Sources of Service Information (1 of 2)</a:t>
            </a:r>
            <a:endParaRPr sz="3600" dirty="0"/>
          </a:p>
        </p:txBody>
      </p:sp>
      <p:sp>
        <p:nvSpPr>
          <p:cNvPr id="159" name="Google Shape;159;p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200" dirty="0"/>
              <a:t>Aftermarket Suppliers’ Guides and Catalogs</a:t>
            </a:r>
          </a:p>
          <a:p>
            <a:pPr>
              <a:spcAft>
                <a:spcPts val="600"/>
              </a:spcAft>
              <a:buSzPct val="100000"/>
            </a:pPr>
            <a:r>
              <a:rPr lang="en-US" sz="2200" dirty="0"/>
              <a:t>Many of the larger parts manufacturers have excellent guides on the various parts they manufacture or supply and provide updated service bulletins on their products.</a:t>
            </a:r>
          </a:p>
          <a:p>
            <a:pPr>
              <a:spcAft>
                <a:spcPts val="600"/>
              </a:spcAft>
              <a:buSzPct val="100000"/>
            </a:pPr>
            <a:r>
              <a:rPr lang="en-US" sz="2200" dirty="0"/>
              <a:t>Lubrication Guides</a:t>
            </a:r>
          </a:p>
          <a:p>
            <a:pPr lvl="1">
              <a:spcAft>
                <a:spcPts val="600"/>
              </a:spcAft>
              <a:buSzPct val="100000"/>
            </a:pPr>
            <a:r>
              <a:rPr lang="en-US" sz="2000" dirty="0"/>
              <a:t>These specially designed service manuals contain information on lubrication, maintenance, capacities, and </a:t>
            </a:r>
            <a:r>
              <a:rPr lang="en-US" sz="2000" dirty="0" err="1"/>
              <a:t>underhood</a:t>
            </a:r>
            <a:r>
              <a:rPr lang="en-US" sz="2000" dirty="0"/>
              <a:t> service. The lubrication guide includes lube and maintenance instructions, lubrication diagrams and specifications, vehicle lift points, and preventive maintenance mileage/time intervals. The capacities listed include cooling system, air conditioning, cooling system air bleed locations, wheel and tire specifications, and wheel lug torque specifications.</a:t>
            </a:r>
          </a:p>
        </p:txBody>
      </p:sp>
    </p:spTree>
    <p:extLst>
      <p:ext uri="{BB962C8B-B14F-4D97-AF65-F5344CB8AC3E}">
        <p14:creationId xmlns:p14="http://schemas.microsoft.com/office/powerpoint/2010/main" val="21808983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lvl="0"/>
            <a:r>
              <a:rPr lang="en-US" dirty="0"/>
              <a:t>Other Sources of Service Information (2 of 2)</a:t>
            </a:r>
            <a:endParaRPr dirty="0"/>
          </a:p>
        </p:txBody>
      </p:sp>
      <p:sp>
        <p:nvSpPr>
          <p:cNvPr id="159" name="Google Shape;159;p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2400" dirty="0"/>
              <a:t>Owner’s Manuals</a:t>
            </a:r>
          </a:p>
          <a:p>
            <a:pPr lvl="1">
              <a:spcAft>
                <a:spcPts val="600"/>
              </a:spcAft>
              <a:buSzPct val="100000"/>
            </a:pPr>
            <a:r>
              <a:rPr lang="en-US" sz="2200" dirty="0"/>
              <a:t>An owner’s manual comes with the vehicle when it is new. It contains operating instructions for the vehicle and its accessories. It also contains valuable information about checking and adding fluids, safety precautions, a complete list of capacities, and the specifications for the various fluids and lubricants for the vehicle.</a:t>
            </a:r>
          </a:p>
          <a:p>
            <a:pPr>
              <a:spcAft>
                <a:spcPts val="600"/>
              </a:spcAft>
              <a:buSzPct val="100000"/>
            </a:pPr>
            <a:r>
              <a:rPr lang="en-US" sz="2400" dirty="0"/>
              <a:t>Hotline Services</a:t>
            </a:r>
          </a:p>
          <a:p>
            <a:pPr lvl="1">
              <a:spcAft>
                <a:spcPts val="600"/>
              </a:spcAft>
              <a:buSzPct val="100000"/>
            </a:pPr>
            <a:r>
              <a:rPr lang="en-US" sz="2200" dirty="0"/>
              <a:t>Hotline services provide answers to service concerns by telephone. Manufacturers provide help by telephone for technicians in their dealerships. There are subscription services for independents to be able to get repair information by phone.</a:t>
            </a:r>
          </a:p>
        </p:txBody>
      </p:sp>
    </p:spTree>
    <p:extLst>
      <p:ext uri="{BB962C8B-B14F-4D97-AF65-F5344CB8AC3E}">
        <p14:creationId xmlns:p14="http://schemas.microsoft.com/office/powerpoint/2010/main" val="12434066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(3 of 3) </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2400"/>
              <a:buNone/>
            </a:pPr>
            <a:r>
              <a:rPr lang="en-US" dirty="0"/>
              <a:t>What is the safest lifting tool?</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(3 of 3)</a:t>
            </a:r>
            <a:endParaRPr dirty="0"/>
          </a:p>
        </p:txBody>
      </p:sp>
      <p:sp>
        <p:nvSpPr>
          <p:cNvPr id="384" name="Google Shape;384;p3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600"/>
              </a:spcBef>
              <a:spcAft>
                <a:spcPts val="7800"/>
              </a:spcAft>
              <a:buSzPts val="2400"/>
              <a:buNone/>
            </a:pPr>
            <a:r>
              <a:rPr lang="en-US" dirty="0"/>
              <a:t>What is the safest lifting tool?</a:t>
            </a:r>
          </a:p>
          <a:p>
            <a:pPr marL="0" lvl="0" indent="0" algn="ctr">
              <a:spcBef>
                <a:spcPts val="600"/>
              </a:spcBef>
              <a:spcAft>
                <a:spcPts val="7800"/>
              </a:spcAft>
              <a:buSzPts val="2400"/>
              <a:buNone/>
            </a:pPr>
            <a:r>
              <a:rPr lang="en-US" b="1" dirty="0"/>
              <a:t>Answer: </a:t>
            </a:r>
            <a:r>
              <a:rPr lang="en-US" dirty="0"/>
              <a:t>A lift is the safest lifting tool.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spcAft>
                <a:spcPts val="600"/>
              </a:spcAft>
              <a:buNone/>
            </a:pPr>
            <a:r>
              <a:rPr lang="en-US" dirty="0">
                <a:solidFill>
                  <a:schemeClr val="accent1"/>
                </a:solidFill>
              </a:rPr>
              <a:t>Please take a moment to compare your perception of the automotive industry before and after you studied this chapter. Then respond to the following questions in one or two paragraphs. Use 150–200 words in your reflection.</a:t>
            </a:r>
            <a:endParaRPr dirty="0">
              <a:solidFill>
                <a:schemeClr val="accent1"/>
              </a:solidFill>
            </a:endParaRPr>
          </a:p>
          <a:p>
            <a:pPr marL="360363" lvl="0" indent="-360363" algn="l" rtl="0">
              <a:lnSpc>
                <a:spcPct val="100000"/>
              </a:lnSpc>
              <a:spcAft>
                <a:spcPts val="600"/>
              </a:spcAft>
              <a:buSzPct val="100000"/>
              <a:buFont typeface="Arial"/>
              <a:buChar char="•"/>
            </a:pPr>
            <a:r>
              <a:rPr lang="en-US" dirty="0">
                <a:solidFill>
                  <a:schemeClr val="accent1"/>
                </a:solidFill>
              </a:rPr>
              <a:t>Do you feel you have learned more about hand tools and shop equipment than expected?</a:t>
            </a:r>
            <a:endParaRPr dirty="0">
              <a:solidFill>
                <a:schemeClr val="accent1"/>
              </a:solidFill>
            </a:endParaRPr>
          </a:p>
          <a:p>
            <a:pPr marL="360363" lvl="0" indent="-360363" algn="l" rtl="0">
              <a:lnSpc>
                <a:spcPct val="100000"/>
              </a:lnSpc>
              <a:spcAft>
                <a:spcPts val="600"/>
              </a:spcAft>
              <a:buSzPct val="100000"/>
              <a:buFont typeface="Arial"/>
              <a:buChar char="•"/>
            </a:pPr>
            <a:r>
              <a:rPr lang="en-US" dirty="0">
                <a:solidFill>
                  <a:schemeClr val="accent1"/>
                </a:solidFill>
              </a:rPr>
              <a:t>Considering all you have learned, do you feel you know all you need to regarding hand tools and shop equipment to be prepared for work and school activities?</a:t>
            </a:r>
            <a:endParaRPr dirty="0">
              <a:solidFill>
                <a:schemeClr val="accent1"/>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622</TotalTime>
  <Words>3081</Words>
  <Application>Microsoft Office PowerPoint</Application>
  <PresentationFormat>Widescreen</PresentationFormat>
  <Paragraphs>219</Paragraphs>
  <Slides>43</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Work Sans</vt:lpstr>
      <vt:lpstr>Arial</vt:lpstr>
      <vt:lpstr>Calibri</vt:lpstr>
      <vt:lpstr>Optimized Template Master</vt:lpstr>
      <vt:lpstr>Automotive Technology:  A Systems Approach, 8e</vt:lpstr>
      <vt:lpstr>Chapter Objectives (1 of 2)</vt:lpstr>
      <vt:lpstr>Chapter Objectives (2 of 2)</vt:lpstr>
      <vt:lpstr>Measuring Systems</vt:lpstr>
      <vt:lpstr>Fasteners (1 of 4)</vt:lpstr>
      <vt:lpstr>Fasteners (2 of 4)</vt:lpstr>
      <vt:lpstr>Fasteners (3 of 4)</vt:lpstr>
      <vt:lpstr>Fasteners (4 of 4)</vt:lpstr>
      <vt:lpstr>Washers and Other Common Fasteners</vt:lpstr>
      <vt:lpstr>Measuring Tools (1 of 6)</vt:lpstr>
      <vt:lpstr>Measuring Tools (2 of 6)</vt:lpstr>
      <vt:lpstr>Measuring Tools (3 of 6)</vt:lpstr>
      <vt:lpstr>Measuring Tools (4 of 6)</vt:lpstr>
      <vt:lpstr>Measuring Tools (5 of 6)</vt:lpstr>
      <vt:lpstr>Measuring Tools (6 of 6)</vt:lpstr>
      <vt:lpstr>Knowledge Check (1 of 3)</vt:lpstr>
      <vt:lpstr>Knowledge Check Answer (1 of 3)</vt:lpstr>
      <vt:lpstr>Hand Tools</vt:lpstr>
      <vt:lpstr>Sockets and Ratchets</vt:lpstr>
      <vt:lpstr>Sockets</vt:lpstr>
      <vt:lpstr>Torque Wrenches</vt:lpstr>
      <vt:lpstr>Screwdrivers</vt:lpstr>
      <vt:lpstr>Pliers</vt:lpstr>
      <vt:lpstr>Hammers</vt:lpstr>
      <vt:lpstr>Chisels and Punches </vt:lpstr>
      <vt:lpstr>Hacksaws </vt:lpstr>
      <vt:lpstr>Gear and Bearing Pullers </vt:lpstr>
      <vt:lpstr>Knowledge Check (2 of 3) </vt:lpstr>
      <vt:lpstr>Knowledge Check Answer (2 of 3) </vt:lpstr>
      <vt:lpstr>Shop Equipment</vt:lpstr>
      <vt:lpstr>Oxyacetylene Torches</vt:lpstr>
      <vt:lpstr>Power Tools</vt:lpstr>
      <vt:lpstr>Air/Electric Ratchet </vt:lpstr>
      <vt:lpstr>Blowgun</vt:lpstr>
      <vt:lpstr>Jacks and Lifts</vt:lpstr>
      <vt:lpstr>Lift</vt:lpstr>
      <vt:lpstr>Service Information (1 of 2)</vt:lpstr>
      <vt:lpstr>Service Information (2 of 2)</vt:lpstr>
      <vt:lpstr>Other Sources of Service Information (1 of 2)</vt:lpstr>
      <vt:lpstr>Other Sources of Service Information (2 of 2)</vt:lpstr>
      <vt:lpstr>Knowledge Check (3 of 3) </vt:lpstr>
      <vt:lpstr>Knowledge Check Answer (3 of 3)</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dc:title>
  <dc:creator>Owner</dc:creator>
  <cp:lastModifiedBy>Muthukrishnan, Keerthi -</cp:lastModifiedBy>
  <cp:revision>87</cp:revision>
  <dcterms:created xsi:type="dcterms:W3CDTF">2021-12-10T16:21:02Z</dcterms:created>
  <dcterms:modified xsi:type="dcterms:W3CDTF">2024-10-18T14:16:01Z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