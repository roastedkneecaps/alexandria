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403" r:id="rId2"/>
    <p:sldId id="301" r:id="rId3"/>
    <p:sldId id="302" r:id="rId4"/>
    <p:sldId id="404" r:id="rId5"/>
    <p:sldId id="303" r:id="rId6"/>
    <p:sldId id="405" r:id="rId7"/>
    <p:sldId id="406" r:id="rId8"/>
    <p:sldId id="407" r:id="rId9"/>
    <p:sldId id="408" r:id="rId10"/>
    <p:sldId id="409" r:id="rId11"/>
    <p:sldId id="410" r:id="rId12"/>
    <p:sldId id="411" r:id="rId13"/>
    <p:sldId id="412" r:id="rId14"/>
    <p:sldId id="413" r:id="rId15"/>
    <p:sldId id="414" r:id="rId16"/>
    <p:sldId id="415" r:id="rId17"/>
    <p:sldId id="416" r:id="rId18"/>
    <p:sldId id="417" r:id="rId19"/>
    <p:sldId id="418" r:id="rId20"/>
    <p:sldId id="419" r:id="rId21"/>
    <p:sldId id="420" r:id="rId22"/>
    <p:sldId id="421" r:id="rId23"/>
    <p:sldId id="422" r:id="rId24"/>
    <p:sldId id="423" r:id="rId25"/>
    <p:sldId id="424" r:id="rId26"/>
    <p:sldId id="425" r:id="rId27"/>
    <p:sldId id="426" r:id="rId28"/>
    <p:sldId id="427" r:id="rId29"/>
    <p:sldId id="428" r:id="rId30"/>
    <p:sldId id="429" r:id="rId31"/>
    <p:sldId id="430" r:id="rId32"/>
    <p:sldId id="431" r:id="rId33"/>
    <p:sldId id="432" r:id="rId34"/>
    <p:sldId id="433" r:id="rId35"/>
    <p:sldId id="434" r:id="rId36"/>
    <p:sldId id="435" r:id="rId37"/>
    <p:sldId id="436" r:id="rId38"/>
    <p:sldId id="437" r:id="rId39"/>
    <p:sldId id="438" r:id="rId40"/>
    <p:sldId id="439" r:id="rId41"/>
    <p:sldId id="440" r:id="rId42"/>
    <p:sldId id="441" r:id="rId43"/>
    <p:sldId id="442" r:id="rId44"/>
    <p:sldId id="443" r:id="rId45"/>
  </p:sldIdLst>
  <p:sldSz cx="12192000" cy="6858000"/>
  <p:notesSz cx="6858000" cy="9144000"/>
  <p:embeddedFontLst>
    <p:embeddedFont>
      <p:font typeface="Work Sans"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86467" autoAdjust="0"/>
  </p:normalViewPr>
  <p:slideViewPr>
    <p:cSldViewPr snapToGrid="0">
      <p:cViewPr varScale="1">
        <p:scale>
          <a:sx n="60" d="100"/>
          <a:sy n="60" d="100"/>
        </p:scale>
        <p:origin x="880" y="56"/>
      </p:cViewPr>
      <p:guideLst>
        <p:guide orient="horz" pos="2160"/>
        <p:guide pos="3840"/>
      </p:guideLst>
    </p:cSldViewPr>
  </p:slideViewPr>
  <p:outlineViewPr>
    <p:cViewPr>
      <p:scale>
        <a:sx n="33" d="100"/>
        <a:sy n="33" d="100"/>
      </p:scale>
      <p:origin x="0" y="-4788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1387649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27758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A20E64FB-98EE-4873-A2FF-CA1C3C6E374F}"/>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DEB28C99-8704-3D0B-78BD-51627969641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D2BA7E0E-6794-A731-4232-8C59E279F95B}"/>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6633B963-24AD-F4CC-7760-2EA15B1BF5FA}"/>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474454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916796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4C4E4F0B-ACAF-CAF5-2326-3E55F236D4BA}"/>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D843E893-8F32-3B3B-E304-7FE65979D01D}"/>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01AE86D8-80CA-EB2E-6BCC-1455A4D86772}"/>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90A1EC12-CDFB-FF78-015B-87034989097E}"/>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978711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6801EFDC-8BC3-FBDD-75F5-DD577FCFF4AD}"/>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10F8BFDA-CAAF-BA93-8D75-741DA94A6BB6}"/>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E5293DA7-FE76-100F-5DCB-3AEB9E15F451}"/>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99E50621-917B-9560-3873-1467F1B4E0D2}"/>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596275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ECB62971-A7EC-3A53-679B-25D7E5122670}"/>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5EECC80A-F463-9DE0-DABE-73EE56BE3E4E}"/>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1FEF1C09-C1BA-7368-3C39-F0D50825411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3AC49880-4373-66FC-43C9-ECB5BD3B85C3}"/>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197154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77FEA36E-8C46-7EE0-D660-EB1875BDC59E}"/>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136EFC23-178D-878B-2595-CD14495579D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EF2C0A6D-E7B1-C513-20C3-9BD181FF7E6D}"/>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E56DB03D-7018-6930-54C2-261D6BAC279B}"/>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785842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97A5C39F-1379-6A37-D223-3CC8483CF635}"/>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A6DDAB02-C709-8624-A893-892C8FF7A3A6}"/>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BDB659BD-F21A-2D70-20CF-0D9450E8CC4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F823EFA1-CBC8-AA54-1C92-2083D2DD67F0}"/>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293683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441E044E-EA8F-A843-7376-30974E49E89E}"/>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A0FBC566-13DB-F7CB-9870-8E8C9053275D}"/>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F2ABBF37-F93B-BFFD-D16D-9FF4CADE9D59}"/>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65EBF18C-0A0B-D4B2-DA27-0BDAE14D7FEB}"/>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363014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8C8BDFD7-E127-C010-369B-B28646CEAC54}"/>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46BB4001-65BB-6761-36C9-F397173C9A3C}"/>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C6E93CB0-86DF-CB88-6718-CE013E6F446B}"/>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70A7E79A-9E44-0FED-E645-BF20DC6130FC}"/>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199134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D94CA908-4781-2B44-A61D-E53E90A2D24D}"/>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3752324E-1BF9-A650-22A2-D48F9A2B6E86}"/>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E473827D-BF51-94A1-F922-C25F2AFF80F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2A4FCC4C-6846-75FA-D034-10CAD27CE59F}"/>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6783168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3D5189BB-DB07-17C3-C885-55539AB4D0AE}"/>
            </a:ext>
          </a:extLst>
        </p:cNvPr>
        <p:cNvGrpSpPr/>
        <p:nvPr/>
      </p:nvGrpSpPr>
      <p:grpSpPr>
        <a:xfrm>
          <a:off x="0" y="0"/>
          <a:ext cx="0" cy="0"/>
          <a:chOff x="0" y="0"/>
          <a:chExt cx="0" cy="0"/>
        </a:xfrm>
      </p:grpSpPr>
      <p:sp>
        <p:nvSpPr>
          <p:cNvPr id="442" name="Google Shape;442;p46:notes">
            <a:extLst>
              <a:ext uri="{FF2B5EF4-FFF2-40B4-BE49-F238E27FC236}">
                <a16:creationId xmlns:a16="http://schemas.microsoft.com/office/drawing/2014/main" id="{7FBBEBF4-6D2A-8A8E-9402-DE365C144CBA}"/>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a:extLst>
              <a:ext uri="{FF2B5EF4-FFF2-40B4-BE49-F238E27FC236}">
                <a16:creationId xmlns:a16="http://schemas.microsoft.com/office/drawing/2014/main" id="{1B555A27-8119-0458-2D9C-7609A99A66E0}"/>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a:extLst>
              <a:ext uri="{FF2B5EF4-FFF2-40B4-BE49-F238E27FC236}">
                <a16:creationId xmlns:a16="http://schemas.microsoft.com/office/drawing/2014/main" id="{4F039FCA-9A23-7A40-D7CD-6A20B2051425}"/>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51597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hasCustomPrompt="1"/>
          </p:nvPr>
        </p:nvSpPr>
        <p:spPr>
          <a:xfrm>
            <a:off x="476843" y="147126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sz="2600" dirty="0"/>
              <a:t> </a:t>
            </a:r>
          </a:p>
          <a:p>
            <a:pPr lvl="1"/>
            <a:endParaRPr lang="en-US"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4"/>
            <a:ext cx="7503375" cy="421833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Tree>
    <p:extLst>
      <p:ext uri="{BB962C8B-B14F-4D97-AF65-F5344CB8AC3E}">
        <p14:creationId xmlns:p14="http://schemas.microsoft.com/office/powerpoint/2010/main" val="41843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4"/>
            <a:ext cx="7503375" cy="421833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
        <p:nvSpPr>
          <p:cNvPr id="4" name="Content Placeholder 3">
            <a:extLst>
              <a:ext uri="{FF2B5EF4-FFF2-40B4-BE49-F238E27FC236}">
                <a16:creationId xmlns:a16="http://schemas.microsoft.com/office/drawing/2014/main" id="{D246843D-21DB-A8FA-B9E5-C0023B7FAF78}"/>
              </a:ext>
            </a:extLst>
          </p:cNvPr>
          <p:cNvSpPr>
            <a:spLocks noGrp="1"/>
          </p:cNvSpPr>
          <p:nvPr>
            <p:ph sz="quarter" idx="11"/>
          </p:nvPr>
        </p:nvSpPr>
        <p:spPr>
          <a:xfrm>
            <a:off x="8743949" y="1674813"/>
            <a:ext cx="2971207"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847382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2" name="Google Shape;14;p47">
            <a:extLst>
              <a:ext uri="{FF2B5EF4-FFF2-40B4-BE49-F238E27FC236}">
                <a16:creationId xmlns:a16="http://schemas.microsoft.com/office/drawing/2014/main" id="{C00BF7F7-FA3F-C71F-08C7-3B6DCF1ACC11}"/>
              </a:ext>
            </a:extLst>
          </p:cNvPr>
          <p:cNvSpPr txBox="1"/>
          <p:nvPr userDrawn="1"/>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latin typeface="Work Sans" pitchFamily="2" charset="0"/>
                <a:cs typeface="Arial" panose="020B0604020202020204" pitchFamily="34" charset="0"/>
              </a:rPr>
              <a:t>Rob Thompson and Jack Erjavec,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3621489150"/>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7">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14" name="Google Shape;14;p47"/>
          <p:cNvSpPr txBox="1"/>
          <p:nvPr/>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latin typeface="Work Sans" pitchFamily="2" charset="0"/>
                <a:cs typeface="Arial" panose="020B0604020202020204" pitchFamily="34" charset="0"/>
              </a:rPr>
              <a:t>Rob Thompson and Jack Erjavec,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4" r:id="rId2"/>
    <p:sldLayoutId id="2147483666"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a:t>
            </a:r>
            <a:r>
              <a:rPr lang="en-US" sz="4000">
                <a:cs typeface="Arial" panose="020B0604020202020204" pitchFamily="34" charset="0"/>
              </a:rPr>
              <a:t>: A </a:t>
            </a:r>
            <a:r>
              <a:rPr lang="en-US" sz="4000" dirty="0">
                <a:cs typeface="Arial" panose="020B0604020202020204" pitchFamily="34" charset="0"/>
              </a:rPr>
              <a:t>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a:cs typeface="Arial" panose="020B0604020202020204" pitchFamily="34" charset="0"/>
              </a:rPr>
              <a:t>Chapter 23: Electrical Accessories</a:t>
            </a:r>
            <a:endParaRPr lang="en-US" dirty="0">
              <a:cs typeface="Arial" panose="020B0604020202020204" pitchFamily="34" charset="0"/>
            </a:endParaRP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935" y="6327949"/>
            <a:ext cx="9345472" cy="461665"/>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a:t>
            </a:r>
            <a:r>
              <a:rPr lang="en-US" sz="1200" dirty="0">
                <a:solidFill>
                  <a:schemeClr val="bg1"/>
                </a:solidFill>
                <a:cs typeface="Arial" panose="020B0604020202020204" pitchFamily="34" charset="0"/>
              </a:rPr>
              <a:t>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Objectives (1 of 3)</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a:t>23.01 Explain the basic operation of electric windshield wiper and washer systems.</a:t>
            </a:r>
          </a:p>
          <a:p>
            <a:pPr>
              <a:spcAft>
                <a:spcPts val="600"/>
              </a:spcAft>
            </a:pPr>
            <a:r>
              <a:rPr lang="en-US"/>
              <a:t>23.02 Inspect and diagnose concerns with windshield wiper and washer systems.</a:t>
            </a:r>
          </a:p>
          <a:p>
            <a:pPr>
              <a:spcAft>
                <a:spcPts val="600"/>
              </a:spcAft>
            </a:pPr>
            <a:r>
              <a:rPr lang="en-US"/>
              <a:t>23.03 Explain the operation of accessories such as horns, clocks, and power outlets.</a:t>
            </a:r>
          </a:p>
          <a:p>
            <a:pPr>
              <a:spcAft>
                <a:spcPts val="600"/>
              </a:spcAft>
            </a:pPr>
            <a:r>
              <a:rPr lang="en-US"/>
              <a:t>23.04 Describe how cruise or speed control operates and the differences of various systems.</a:t>
            </a:r>
          </a:p>
          <a:p>
            <a:pPr>
              <a:spcAft>
                <a:spcPts val="600"/>
              </a:spcAft>
            </a:pPr>
            <a:r>
              <a:rPr lang="en-US"/>
              <a:t>23.05 Inspect and diagnose cruise control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3)</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a:t>23.06 Identify the components of typical audio and video systems.</a:t>
            </a:r>
          </a:p>
          <a:p>
            <a:pPr>
              <a:spcAft>
                <a:spcPts val="600"/>
              </a:spcAft>
            </a:pPr>
            <a:r>
              <a:rPr lang="en-US"/>
              <a:t>23.07 Identify and diagnose video and sound concerns.</a:t>
            </a:r>
          </a:p>
          <a:p>
            <a:pPr>
              <a:spcAft>
                <a:spcPts val="600"/>
              </a:spcAft>
            </a:pPr>
            <a:r>
              <a:rPr lang="en-US"/>
              <a:t>23.08 Describe the operation of navigation and tracking systems. Explain the operation of power door locks, power windows, power mirrors, and power seats.</a:t>
            </a:r>
          </a:p>
          <a:p>
            <a:pPr>
              <a:spcAft>
                <a:spcPts val="600"/>
              </a:spcAft>
            </a:pPr>
            <a:r>
              <a:rPr lang="en-US"/>
              <a:t>23.09 Diagnose problems with power door locks, power windows, power mirrors, and seat systems.</a:t>
            </a:r>
          </a:p>
        </p:txBody>
      </p:sp>
    </p:spTree>
    <p:extLst>
      <p:ext uri="{BB962C8B-B14F-4D97-AF65-F5344CB8AC3E}">
        <p14:creationId xmlns:p14="http://schemas.microsoft.com/office/powerpoint/2010/main" val="24031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FFBF85EB-2F4D-C3AF-6C4E-D5DDF5F2F36A}"/>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AE383F91-2CFA-CA7E-7D39-5FCF66E2C6E1}"/>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Objectives (3 of 3)</a:t>
            </a:r>
            <a:endParaRPr dirty="0"/>
          </a:p>
        </p:txBody>
      </p:sp>
      <p:sp>
        <p:nvSpPr>
          <p:cNvPr id="4" name="Text Placeholder 3">
            <a:extLst>
              <a:ext uri="{FF2B5EF4-FFF2-40B4-BE49-F238E27FC236}">
                <a16:creationId xmlns:a16="http://schemas.microsoft.com/office/drawing/2014/main" id="{E8F5CA35-DB30-2FE7-A94C-8BAC0C93E1C4}"/>
              </a:ext>
            </a:extLst>
          </p:cNvPr>
          <p:cNvSpPr>
            <a:spLocks noGrp="1"/>
          </p:cNvSpPr>
          <p:nvPr>
            <p:ph type="body" idx="1"/>
          </p:nvPr>
        </p:nvSpPr>
        <p:spPr/>
        <p:txBody>
          <a:bodyPr/>
          <a:lstStyle/>
          <a:p>
            <a:pPr>
              <a:spcAft>
                <a:spcPts val="600"/>
              </a:spcAft>
            </a:pPr>
            <a:r>
              <a:rPr lang="en-US" dirty="0"/>
              <a:t>23.10 Describe the operation of various safety systems such as parking assist, blind spot detection, and obstacle sensing systems.</a:t>
            </a:r>
          </a:p>
          <a:p>
            <a:pPr>
              <a:spcAft>
                <a:spcPts val="600"/>
              </a:spcAft>
            </a:pPr>
            <a:r>
              <a:rPr lang="en-US" dirty="0"/>
              <a:t>23.11 Describe the components and operation of the various security systems.</a:t>
            </a:r>
          </a:p>
        </p:txBody>
      </p:sp>
    </p:spTree>
    <p:extLst>
      <p:ext uri="{BB962C8B-B14F-4D97-AF65-F5344CB8AC3E}">
        <p14:creationId xmlns:p14="http://schemas.microsoft.com/office/powerpoint/2010/main" val="375454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Windshield Wiper/ Washer Systems</a:t>
            </a:r>
            <a:endParaRPr dirty="0"/>
          </a:p>
        </p:txBody>
      </p:sp>
      <p:sp>
        <p:nvSpPr>
          <p:cNvPr id="2" name="Text Placeholder 1">
            <a:extLst>
              <a:ext uri="{FF2B5EF4-FFF2-40B4-BE49-F238E27FC236}">
                <a16:creationId xmlns:a16="http://schemas.microsoft.com/office/drawing/2014/main" id="{78533BFB-0453-D355-5FC2-86593D1D8C37}"/>
              </a:ext>
            </a:extLst>
          </p:cNvPr>
          <p:cNvSpPr>
            <a:spLocks noGrp="1"/>
          </p:cNvSpPr>
          <p:nvPr>
            <p:ph type="body" idx="1"/>
          </p:nvPr>
        </p:nvSpPr>
        <p:spPr>
          <a:xfrm>
            <a:off x="476844" y="1433686"/>
            <a:ext cx="7040237" cy="4649120"/>
          </a:xfrm>
        </p:spPr>
        <p:txBody>
          <a:bodyPr/>
          <a:lstStyle/>
          <a:p>
            <a:pPr marL="0" indent="0">
              <a:buNone/>
            </a:pPr>
            <a:r>
              <a:rPr lang="en-US" sz="1800" b="1"/>
              <a:t>23.01 Explain the basic operation of electric windshield wiper and washer systems.</a:t>
            </a:r>
          </a:p>
          <a:p>
            <a:r>
              <a:rPr lang="en-US" sz="1800"/>
              <a:t>In motors with permanent magnet fields, motor speed is controlled by the placement of the brushes on the commutator.</a:t>
            </a:r>
          </a:p>
          <a:p>
            <a:r>
              <a:rPr lang="en-US" sz="1800"/>
              <a:t>Three brushes are used: common, high speed, and low speed.</a:t>
            </a:r>
          </a:p>
          <a:p>
            <a:r>
              <a:rPr lang="en-US" sz="1800"/>
              <a:t>The common brush carries current whenever the motor is operating.</a:t>
            </a:r>
          </a:p>
          <a:p>
            <a:r>
              <a:rPr lang="en-US" sz="1800"/>
              <a:t>The low-speed brush and high-speed brush are placed in different locations.</a:t>
            </a:r>
          </a:p>
          <a:p>
            <a:r>
              <a:rPr lang="en-US" sz="1800"/>
              <a:t>The most used motor has the low-speed and common brushes opposing each other, and the high-speed brush is either centered between the two or offset from the two.</a:t>
            </a:r>
          </a:p>
        </p:txBody>
      </p:sp>
      <p:pic>
        <p:nvPicPr>
          <p:cNvPr id="6" name="Picture Placeholder 5" descr="A commutator with brushes has parts as follows: a brush on the top is labeled low speed; a brush on the bottom is labeled common; a brush on the left side of the commutator is labeled high speed. An offset from the low speed brush and high speed brush represents high-speed brush alternate position.">
            <a:extLst>
              <a:ext uri="{FF2B5EF4-FFF2-40B4-BE49-F238E27FC236}">
                <a16:creationId xmlns:a16="http://schemas.microsoft.com/office/drawing/2014/main" id="{DB98E92D-D1A3-1A21-D88B-80C32FE0130D}"/>
              </a:ext>
            </a:extLst>
          </p:cNvPr>
          <p:cNvPicPr>
            <a:picLocks noGrp="1" noChangeAspect="1"/>
          </p:cNvPicPr>
          <p:nvPr>
            <p:ph type="pic" sz="quarter" idx="10"/>
          </p:nvPr>
        </p:nvPicPr>
        <p:blipFill>
          <a:blip r:embed="rId3"/>
          <a:srcRect b="15995"/>
          <a:stretch/>
        </p:blipFill>
        <p:spPr>
          <a:xfrm>
            <a:off x="7681057" y="2501287"/>
            <a:ext cx="4034099" cy="2111810"/>
          </a:xfrm>
          <a:prstGeom prst="rect">
            <a:avLst/>
          </a:prstGeom>
        </p:spPr>
      </p:pic>
    </p:spTree>
    <p:extLst>
      <p:ext uri="{BB962C8B-B14F-4D97-AF65-F5344CB8AC3E}">
        <p14:creationId xmlns:p14="http://schemas.microsoft.com/office/powerpoint/2010/main" val="1445985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40CB34B3-00D4-0603-A0F1-79E57102DE51}"/>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1D255058-8D32-2BDF-C8A5-44215973076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Intermittent Wiper Systems</a:t>
            </a:r>
            <a:endParaRPr dirty="0"/>
          </a:p>
        </p:txBody>
      </p:sp>
      <p:sp>
        <p:nvSpPr>
          <p:cNvPr id="4" name="Text Placeholder 3">
            <a:extLst>
              <a:ext uri="{FF2B5EF4-FFF2-40B4-BE49-F238E27FC236}">
                <a16:creationId xmlns:a16="http://schemas.microsoft.com/office/drawing/2014/main" id="{EC15D033-2787-E87F-B585-FF0BB10C6B96}"/>
              </a:ext>
            </a:extLst>
          </p:cNvPr>
          <p:cNvSpPr>
            <a:spLocks noGrp="1"/>
          </p:cNvSpPr>
          <p:nvPr>
            <p:ph type="body" idx="1"/>
          </p:nvPr>
        </p:nvSpPr>
        <p:spPr/>
        <p:txBody>
          <a:bodyPr/>
          <a:lstStyle/>
          <a:p>
            <a:pPr>
              <a:spcAft>
                <a:spcPts val="600"/>
              </a:spcAft>
            </a:pPr>
            <a:r>
              <a:rPr lang="en-US" sz="2400"/>
              <a:t>Many wiper systems offer an intermittent mode that provides a variable interval between wiper sweeps.</a:t>
            </a:r>
          </a:p>
          <a:p>
            <a:pPr>
              <a:spcAft>
                <a:spcPts val="600"/>
              </a:spcAft>
            </a:pPr>
            <a:r>
              <a:rPr lang="en-US" sz="2400"/>
              <a:t>Many of these systems use a module, or governor, mounted near the steering column, or the system has a module connected to the BCM.</a:t>
            </a:r>
          </a:p>
          <a:p>
            <a:pPr>
              <a:spcAft>
                <a:spcPts val="600"/>
              </a:spcAft>
            </a:pPr>
            <a:r>
              <a:rPr lang="en-US" sz="2400"/>
              <a:t>On non-BCM-controlled systems, the delay between wiper sweeps is controlled by a potentiometer.</a:t>
            </a:r>
          </a:p>
          <a:p>
            <a:pPr>
              <a:spcAft>
                <a:spcPts val="600"/>
              </a:spcAft>
            </a:pPr>
            <a:r>
              <a:rPr lang="en-US" sz="2400"/>
              <a:t>By rotating the intermittent control, the resistance value changes.</a:t>
            </a:r>
          </a:p>
          <a:p>
            <a:pPr>
              <a:spcAft>
                <a:spcPts val="600"/>
              </a:spcAft>
            </a:pPr>
            <a:r>
              <a:rPr lang="en-US" sz="2400"/>
              <a:t>The module contains a capacitor that is charged through the potentiometer. Once the capacitor is saturated, the electronic switch is triggered and current flows to the wiper motor.</a:t>
            </a:r>
          </a:p>
        </p:txBody>
      </p:sp>
    </p:spTree>
    <p:extLst>
      <p:ext uri="{BB962C8B-B14F-4D97-AF65-F5344CB8AC3E}">
        <p14:creationId xmlns:p14="http://schemas.microsoft.com/office/powerpoint/2010/main" val="2549548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816E2AEB-02FD-6E46-3BE1-08A26E72C362}"/>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B0184754-360C-CF1C-8FB8-439D8FFB7607}"/>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Windshield Washers</a:t>
            </a:r>
            <a:endParaRPr dirty="0"/>
          </a:p>
        </p:txBody>
      </p:sp>
      <p:sp>
        <p:nvSpPr>
          <p:cNvPr id="2" name="Text Placeholder 1">
            <a:extLst>
              <a:ext uri="{FF2B5EF4-FFF2-40B4-BE49-F238E27FC236}">
                <a16:creationId xmlns:a16="http://schemas.microsoft.com/office/drawing/2014/main" id="{9DD02C7D-E38B-26CC-DD3F-75EC8D03A725}"/>
              </a:ext>
            </a:extLst>
          </p:cNvPr>
          <p:cNvSpPr>
            <a:spLocks noGrp="1"/>
          </p:cNvSpPr>
          <p:nvPr>
            <p:ph type="body" idx="1"/>
          </p:nvPr>
        </p:nvSpPr>
        <p:spPr>
          <a:xfrm>
            <a:off x="476845" y="1433686"/>
            <a:ext cx="6025556" cy="4649120"/>
          </a:xfrm>
        </p:spPr>
        <p:txBody>
          <a:bodyPr/>
          <a:lstStyle/>
          <a:p>
            <a:r>
              <a:rPr lang="en-US" sz="2400"/>
              <a:t>Windshield washers spray a fluid onto the windshield and work in conjunction with the wiper blades to clean the windshield.</a:t>
            </a:r>
          </a:p>
          <a:p>
            <a:r>
              <a:rPr lang="en-US" sz="2400"/>
              <a:t>Most systems have the washer pump installed in the fluid reservoir.</a:t>
            </a:r>
          </a:p>
          <a:p>
            <a:r>
              <a:rPr lang="en-US" sz="2400"/>
              <a:t>Vehicles with rear wipers typically have two washer pumps in the same reservoir.</a:t>
            </a:r>
          </a:p>
          <a:p>
            <a:r>
              <a:rPr lang="en-US" sz="2400"/>
              <a:t>Washer systems are activated by holding the washer switch.</a:t>
            </a:r>
          </a:p>
        </p:txBody>
      </p:sp>
      <p:pic>
        <p:nvPicPr>
          <p:cNvPr id="5" name="Picture Placeholder 4" descr="An illustration shows a fluid reservoir assembly with parts labeled as follows: Reservoir, Apply dry tube, Motor assembly, Retaining ring, and Align notch.">
            <a:extLst>
              <a:ext uri="{FF2B5EF4-FFF2-40B4-BE49-F238E27FC236}">
                <a16:creationId xmlns:a16="http://schemas.microsoft.com/office/drawing/2014/main" id="{0CF23B01-F59A-350B-9B97-5FDBB7C165CB}"/>
              </a:ext>
            </a:extLst>
          </p:cNvPr>
          <p:cNvPicPr>
            <a:picLocks noGrp="1" noChangeAspect="1"/>
          </p:cNvPicPr>
          <p:nvPr>
            <p:ph type="pic" sz="quarter" idx="10"/>
          </p:nvPr>
        </p:nvPicPr>
        <p:blipFill>
          <a:blip r:embed="rId3"/>
          <a:srcRect b="15165"/>
          <a:stretch/>
        </p:blipFill>
        <p:spPr>
          <a:xfrm>
            <a:off x="6526849" y="1896674"/>
            <a:ext cx="5188306" cy="3332872"/>
          </a:xfrm>
          <a:prstGeom prst="rect">
            <a:avLst/>
          </a:prstGeom>
        </p:spPr>
      </p:pic>
    </p:spTree>
    <p:extLst>
      <p:ext uri="{BB962C8B-B14F-4D97-AF65-F5344CB8AC3E}">
        <p14:creationId xmlns:p14="http://schemas.microsoft.com/office/powerpoint/2010/main" val="3246483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214A8C2E-492D-B0E3-614A-50568AC887AC}"/>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6927ED8E-76EA-8312-18BF-04364CC904C6}"/>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Wiper System Service</a:t>
            </a:r>
            <a:endParaRPr dirty="0"/>
          </a:p>
        </p:txBody>
      </p:sp>
      <p:sp>
        <p:nvSpPr>
          <p:cNvPr id="4" name="Text Placeholder 3">
            <a:extLst>
              <a:ext uri="{FF2B5EF4-FFF2-40B4-BE49-F238E27FC236}">
                <a16:creationId xmlns:a16="http://schemas.microsoft.com/office/drawing/2014/main" id="{DBF1E9B9-A7E8-74E2-4AD7-9F2F8CB81E05}"/>
              </a:ext>
            </a:extLst>
          </p:cNvPr>
          <p:cNvSpPr>
            <a:spLocks noGrp="1"/>
          </p:cNvSpPr>
          <p:nvPr>
            <p:ph type="body" idx="1"/>
          </p:nvPr>
        </p:nvSpPr>
        <p:spPr/>
        <p:txBody>
          <a:bodyPr/>
          <a:lstStyle/>
          <a:p>
            <a:r>
              <a:rPr lang="en-US" sz="2400" dirty="0"/>
              <a:t>Customer complaints about windshield wiper operation can include poor wiping, no operation, intermittent operation, continuous operation, or wipers that do not park.</a:t>
            </a:r>
          </a:p>
          <a:p>
            <a:r>
              <a:rPr lang="en-US" sz="2400" dirty="0"/>
              <a:t>When the wipers move as they should but do not wipe the glass surface the way they should or make noise while moving across the glass, the blades and/or arms should be replaced.</a:t>
            </a:r>
          </a:p>
          <a:p>
            <a:r>
              <a:rPr lang="en-US" sz="2400" dirty="0"/>
              <a:t>If the wipers work slower than expected, disconnect the wiper linkage at the motor.</a:t>
            </a:r>
          </a:p>
          <a:p>
            <a:r>
              <a:rPr lang="en-US" sz="2400" dirty="0"/>
              <a:t>Turn on the wiper system.</a:t>
            </a:r>
          </a:p>
          <a:p>
            <a:r>
              <a:rPr lang="en-US" sz="2400" dirty="0"/>
              <a:t>If the motor runs properly, the problem is the linkage and is not electrical.</a:t>
            </a:r>
          </a:p>
        </p:txBody>
      </p:sp>
    </p:spTree>
    <p:extLst>
      <p:ext uri="{BB962C8B-B14F-4D97-AF65-F5344CB8AC3E}">
        <p14:creationId xmlns:p14="http://schemas.microsoft.com/office/powerpoint/2010/main" val="3698748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52EB8E76-0FC7-6D82-4033-CF93B64012A7}"/>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6553B82B-3491-D849-BDCD-5777C40607F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Washer System Service</a:t>
            </a:r>
            <a:endParaRPr dirty="0"/>
          </a:p>
        </p:txBody>
      </p:sp>
      <p:sp>
        <p:nvSpPr>
          <p:cNvPr id="4" name="Text Placeholder 3">
            <a:extLst>
              <a:ext uri="{FF2B5EF4-FFF2-40B4-BE49-F238E27FC236}">
                <a16:creationId xmlns:a16="http://schemas.microsoft.com/office/drawing/2014/main" id="{28CC1480-9334-5439-3254-8A18E03519E8}"/>
              </a:ext>
            </a:extLst>
          </p:cNvPr>
          <p:cNvSpPr>
            <a:spLocks noGrp="1"/>
          </p:cNvSpPr>
          <p:nvPr>
            <p:ph type="body" idx="1"/>
          </p:nvPr>
        </p:nvSpPr>
        <p:spPr/>
        <p:txBody>
          <a:bodyPr/>
          <a:lstStyle/>
          <a:p>
            <a:r>
              <a:rPr lang="en-US" sz="2200" dirty="0"/>
              <a:t>Many washer problems, such as uneven or poor spray patterns, are caused by restrictions in the fluid lines or nozzles.</a:t>
            </a:r>
          </a:p>
          <a:p>
            <a:r>
              <a:rPr lang="en-US" sz="2200" dirty="0"/>
              <a:t>To check for restrictions, remove the hose from the pump and operate the system.</a:t>
            </a:r>
          </a:p>
          <a:p>
            <a:r>
              <a:rPr lang="en-US" sz="2200" dirty="0"/>
              <a:t>If the pump ejects a stream of fluid, then the fault is in the delivery system. </a:t>
            </a:r>
          </a:p>
          <a:p>
            <a:r>
              <a:rPr lang="en-US" sz="2200" dirty="0"/>
              <a:t>The exact location of the restriction can be found by reconnecting the fluid line to the pump and disconnecting the line at another location.</a:t>
            </a:r>
          </a:p>
          <a:p>
            <a:r>
              <a:rPr lang="en-US" sz="2200" dirty="0"/>
              <a:t>If the fluid still streams out, the problem is after that new disconnect.</a:t>
            </a:r>
          </a:p>
          <a:p>
            <a:r>
              <a:rPr lang="en-US" sz="2200" dirty="0"/>
              <a:t>If the fluid does not flow out, the problem is before where the hose was disconnected.</a:t>
            </a:r>
          </a:p>
          <a:p>
            <a:r>
              <a:rPr lang="en-US" sz="2200" dirty="0"/>
              <a:t>Repeat this process until the problem is found.</a:t>
            </a:r>
          </a:p>
        </p:txBody>
      </p:sp>
    </p:spTree>
    <p:extLst>
      <p:ext uri="{BB962C8B-B14F-4D97-AF65-F5344CB8AC3E}">
        <p14:creationId xmlns:p14="http://schemas.microsoft.com/office/powerpoint/2010/main" val="1628284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955EA1C3-1D3A-723C-0D3A-18E56DF0F335}"/>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57A11157-55D3-3A7D-3832-C890CDF81FF0}"/>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Horns</a:t>
            </a:r>
            <a:endParaRPr dirty="0"/>
          </a:p>
        </p:txBody>
      </p:sp>
      <p:sp>
        <p:nvSpPr>
          <p:cNvPr id="2" name="Text Placeholder 1">
            <a:extLst>
              <a:ext uri="{FF2B5EF4-FFF2-40B4-BE49-F238E27FC236}">
                <a16:creationId xmlns:a16="http://schemas.microsoft.com/office/drawing/2014/main" id="{B360EE68-5D9D-1616-CE12-F0494F2D76DD}"/>
              </a:ext>
            </a:extLst>
          </p:cNvPr>
          <p:cNvSpPr>
            <a:spLocks noGrp="1"/>
          </p:cNvSpPr>
          <p:nvPr>
            <p:ph type="body" idx="1"/>
          </p:nvPr>
        </p:nvSpPr>
        <p:spPr>
          <a:xfrm>
            <a:off x="476845" y="1433686"/>
            <a:ext cx="5619156" cy="4649120"/>
          </a:xfrm>
        </p:spPr>
        <p:txBody>
          <a:bodyPr/>
          <a:lstStyle/>
          <a:p>
            <a:r>
              <a:rPr lang="en-US" sz="2200"/>
              <a:t>The electrical horn in automobiles operates on basic electromagnetic principles.</a:t>
            </a:r>
          </a:p>
          <a:p>
            <a:r>
              <a:rPr lang="en-US" sz="2200"/>
              <a:t>When turned on, a diaphragm in the horn vibrates and emits a noise.</a:t>
            </a:r>
          </a:p>
          <a:p>
            <a:r>
              <a:rPr lang="en-US" sz="2200"/>
              <a:t>The diaphragm is a thin, flexible, circular plate mounted to an electromagnet.</a:t>
            </a:r>
          </a:p>
          <a:p>
            <a:r>
              <a:rPr lang="en-US" sz="2200"/>
              <a:t>This mounting allows the center of the diaphragm to flex.</a:t>
            </a:r>
          </a:p>
          <a:p>
            <a:r>
              <a:rPr lang="en-US" sz="2200"/>
              <a:t>Many horn systems are controlled by relays.</a:t>
            </a:r>
          </a:p>
        </p:txBody>
      </p:sp>
      <p:pic>
        <p:nvPicPr>
          <p:cNvPr id="6" name="Picture Placeholder 5" descr="An illustration depicts a positive battery source being fed to automotive horn. The labeled parts are: Armature, Diaphragm, Battery, Field coil, Housing half, Internal resistor, and Contacts.">
            <a:extLst>
              <a:ext uri="{FF2B5EF4-FFF2-40B4-BE49-F238E27FC236}">
                <a16:creationId xmlns:a16="http://schemas.microsoft.com/office/drawing/2014/main" id="{3203CBD3-D4D7-3886-8A0A-2EEE00848333}"/>
              </a:ext>
            </a:extLst>
          </p:cNvPr>
          <p:cNvPicPr>
            <a:picLocks noGrp="1" noChangeAspect="1"/>
          </p:cNvPicPr>
          <p:nvPr>
            <p:ph type="pic" sz="quarter" idx="10"/>
          </p:nvPr>
        </p:nvPicPr>
        <p:blipFill>
          <a:blip r:embed="rId3"/>
          <a:srcRect b="13790"/>
          <a:stretch/>
        </p:blipFill>
        <p:spPr>
          <a:xfrm>
            <a:off x="6335710" y="2541534"/>
            <a:ext cx="5619156" cy="1598951"/>
          </a:xfrm>
          <a:prstGeom prst="rect">
            <a:avLst/>
          </a:prstGeom>
        </p:spPr>
      </p:pic>
    </p:spTree>
    <p:extLst>
      <p:ext uri="{BB962C8B-B14F-4D97-AF65-F5344CB8AC3E}">
        <p14:creationId xmlns:p14="http://schemas.microsoft.com/office/powerpoint/2010/main" val="2177089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02793F0D-D896-7B5E-C9F9-5013ABD54A0D}"/>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EA36A83A-8BB0-B1F0-0A21-319EDC6E1071}"/>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Cigarette Lighter/Power Outlet</a:t>
            </a:r>
            <a:endParaRPr dirty="0"/>
          </a:p>
        </p:txBody>
      </p:sp>
      <p:sp>
        <p:nvSpPr>
          <p:cNvPr id="4" name="Text Placeholder 3">
            <a:extLst>
              <a:ext uri="{FF2B5EF4-FFF2-40B4-BE49-F238E27FC236}">
                <a16:creationId xmlns:a16="http://schemas.microsoft.com/office/drawing/2014/main" id="{27DB91F7-2221-9785-18FA-6B1F67CA5164}"/>
              </a:ext>
            </a:extLst>
          </p:cNvPr>
          <p:cNvSpPr>
            <a:spLocks noGrp="1"/>
          </p:cNvSpPr>
          <p:nvPr>
            <p:ph type="body" idx="1"/>
          </p:nvPr>
        </p:nvSpPr>
        <p:spPr/>
        <p:txBody>
          <a:bodyPr/>
          <a:lstStyle/>
          <a:p>
            <a:pPr>
              <a:spcAft>
                <a:spcPts val="600"/>
              </a:spcAft>
            </a:pPr>
            <a:r>
              <a:rPr lang="en-US" sz="2200"/>
              <a:t>The cigarette (cigar) lighter is a heating element that automatically releases itself from the pushed-in position when the appropriate heat level is reached.</a:t>
            </a:r>
          </a:p>
          <a:p>
            <a:pPr>
              <a:spcAft>
                <a:spcPts val="600"/>
              </a:spcAft>
            </a:pPr>
            <a:r>
              <a:rPr lang="en-US" sz="2200"/>
              <a:t>Most vehicles have replaced the higher-amperage (20A) lighter with a lower-amperage (10A) accessory power outlet.</a:t>
            </a:r>
          </a:p>
          <a:p>
            <a:pPr>
              <a:spcAft>
                <a:spcPts val="600"/>
              </a:spcAft>
            </a:pPr>
            <a:r>
              <a:rPr lang="en-US" sz="2200"/>
              <a:t>For an inoperative system, first check the fuse(s).</a:t>
            </a:r>
          </a:p>
          <a:p>
            <a:pPr>
              <a:spcAft>
                <a:spcPts val="600"/>
              </a:spcAft>
            </a:pPr>
            <a:r>
              <a:rPr lang="en-US" sz="2200"/>
              <a:t>If the fuse is good, make certain that power is present at the lighter receptacle.</a:t>
            </a:r>
          </a:p>
          <a:p>
            <a:pPr>
              <a:spcAft>
                <a:spcPts val="600"/>
              </a:spcAft>
            </a:pPr>
            <a:r>
              <a:rPr lang="en-US" sz="2200"/>
              <a:t>If power is present, the lighter unit is probably bad.</a:t>
            </a:r>
          </a:p>
          <a:p>
            <a:pPr>
              <a:spcAft>
                <a:spcPts val="600"/>
              </a:spcAft>
            </a:pPr>
            <a:r>
              <a:rPr lang="en-US" sz="2200"/>
              <a:t>Power outlets are typically only powered with the key.</a:t>
            </a:r>
          </a:p>
        </p:txBody>
      </p:sp>
    </p:spTree>
    <p:extLst>
      <p:ext uri="{BB962C8B-B14F-4D97-AF65-F5344CB8AC3E}">
        <p14:creationId xmlns:p14="http://schemas.microsoft.com/office/powerpoint/2010/main" val="818453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5F66A9C9-EF70-B84F-FA7C-601D825C280B}"/>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D015D56D-7654-CF9F-D968-3BBEC7B70DB7}"/>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Cruise (Speed) Control Systems</a:t>
            </a:r>
            <a:endParaRPr dirty="0"/>
          </a:p>
        </p:txBody>
      </p:sp>
      <p:sp>
        <p:nvSpPr>
          <p:cNvPr id="2" name="Text Placeholder 1">
            <a:extLst>
              <a:ext uri="{FF2B5EF4-FFF2-40B4-BE49-F238E27FC236}">
                <a16:creationId xmlns:a16="http://schemas.microsoft.com/office/drawing/2014/main" id="{4C09364F-0430-374B-D2F0-9BDE6C3C40FF}"/>
              </a:ext>
            </a:extLst>
          </p:cNvPr>
          <p:cNvSpPr>
            <a:spLocks noGrp="1"/>
          </p:cNvSpPr>
          <p:nvPr>
            <p:ph type="body" idx="1"/>
          </p:nvPr>
        </p:nvSpPr>
        <p:spPr>
          <a:xfrm>
            <a:off x="476844" y="1433686"/>
            <a:ext cx="7193956" cy="4649120"/>
          </a:xfrm>
        </p:spPr>
        <p:txBody>
          <a:bodyPr/>
          <a:lstStyle/>
          <a:p>
            <a:pPr marL="0" indent="0">
              <a:buNone/>
            </a:pPr>
            <a:r>
              <a:rPr lang="en-US" sz="2200" b="1"/>
              <a:t>23.04 Describe how cruise or speed control operates and the differences of various systems.</a:t>
            </a:r>
          </a:p>
          <a:p>
            <a:r>
              <a:rPr lang="en-US" sz="2200"/>
              <a:t>Cruise control systems are designed to allow the driver to maintain a constant speed (usually above 30 mph or 48 km/h) without applying continual pressure on the accelerator pedal.</a:t>
            </a:r>
          </a:p>
          <a:p>
            <a:r>
              <a:rPr lang="en-US" sz="2200"/>
              <a:t>Selected speeds are easily maintained and can be easily changed.</a:t>
            </a:r>
          </a:p>
          <a:p>
            <a:r>
              <a:rPr lang="en-US" sz="2200"/>
              <a:t>When engaged, the system sets the throttle position to the desired speed.</a:t>
            </a:r>
          </a:p>
          <a:p>
            <a:r>
              <a:rPr lang="en-US" sz="2200"/>
              <a:t>The speed is maintained unless heavy loads and steep hills interfere.</a:t>
            </a:r>
          </a:p>
        </p:txBody>
      </p:sp>
      <p:pic>
        <p:nvPicPr>
          <p:cNvPr id="5" name="Picture Placeholder 4" descr="A cruise control system embedded in the steering wheel of the vehicle has buttons to set or increase distance or speed, resume speed, reset or turn the system on and off.">
            <a:extLst>
              <a:ext uri="{FF2B5EF4-FFF2-40B4-BE49-F238E27FC236}">
                <a16:creationId xmlns:a16="http://schemas.microsoft.com/office/drawing/2014/main" id="{18C0E538-3F70-6101-B27D-983A835EF1D2}"/>
              </a:ext>
            </a:extLst>
          </p:cNvPr>
          <p:cNvPicPr>
            <a:picLocks noGrp="1" noChangeAspect="1"/>
          </p:cNvPicPr>
          <p:nvPr>
            <p:ph type="pic" sz="quarter" idx="10"/>
          </p:nvPr>
        </p:nvPicPr>
        <p:blipFill>
          <a:blip r:embed="rId3"/>
          <a:srcRect b="12895"/>
          <a:stretch/>
        </p:blipFill>
        <p:spPr>
          <a:xfrm>
            <a:off x="8086182" y="1807086"/>
            <a:ext cx="3465955" cy="3627943"/>
          </a:xfrm>
          <a:prstGeom prst="rect">
            <a:avLst/>
          </a:prstGeom>
        </p:spPr>
      </p:pic>
    </p:spTree>
    <p:extLst>
      <p:ext uri="{BB962C8B-B14F-4D97-AF65-F5344CB8AC3E}">
        <p14:creationId xmlns:p14="http://schemas.microsoft.com/office/powerpoint/2010/main" val="2039790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39D43AA0-A698-92E7-CA5A-AC5C68596C88}"/>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C022FF6D-1084-6430-FE58-F06CFEFEE05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Electronic Cruise Control Systems</a:t>
            </a:r>
            <a:endParaRPr dirty="0"/>
          </a:p>
        </p:txBody>
      </p:sp>
      <p:sp>
        <p:nvSpPr>
          <p:cNvPr id="2" name="Text Placeholder 1">
            <a:extLst>
              <a:ext uri="{FF2B5EF4-FFF2-40B4-BE49-F238E27FC236}">
                <a16:creationId xmlns:a16="http://schemas.microsoft.com/office/drawing/2014/main" id="{A843B0B8-52E2-359B-9BD3-DD93034A6282}"/>
              </a:ext>
            </a:extLst>
          </p:cNvPr>
          <p:cNvSpPr>
            <a:spLocks noGrp="1"/>
          </p:cNvSpPr>
          <p:nvPr>
            <p:ph type="body" idx="1"/>
          </p:nvPr>
        </p:nvSpPr>
        <p:spPr>
          <a:xfrm>
            <a:off x="476844" y="1433686"/>
            <a:ext cx="6685956" cy="4649120"/>
          </a:xfrm>
        </p:spPr>
        <p:txBody>
          <a:bodyPr/>
          <a:lstStyle/>
          <a:p>
            <a:r>
              <a:rPr lang="en-US" sz="2000"/>
              <a:t>Some older systems rely on an electronic control module or BCM to operate a vacuum servo unit or control an electric stepper motor.</a:t>
            </a:r>
          </a:p>
          <a:p>
            <a:r>
              <a:rPr lang="en-US" sz="2000"/>
              <a:t>If the system is vacuum based, the servo is controlled by supply and vent solenoid valves.</a:t>
            </a:r>
          </a:p>
          <a:p>
            <a:r>
              <a:rPr lang="en-US" sz="2000"/>
              <a:t>The stepper motor moves a strap attached to the cruise control cable to move the throttle linkage.</a:t>
            </a:r>
          </a:p>
          <a:p>
            <a:r>
              <a:rPr lang="en-US" sz="2000"/>
              <a:t>The control switch provides a ground circuit through some resistors; these vary the amount of voltage to the control module.</a:t>
            </a:r>
          </a:p>
          <a:p>
            <a:r>
              <a:rPr lang="en-US" sz="2000"/>
              <a:t>The system also has brake and clutch switches that send a signal to the control module to stop control of the throttle. </a:t>
            </a:r>
          </a:p>
        </p:txBody>
      </p:sp>
      <p:pic>
        <p:nvPicPr>
          <p:cNvPr id="6" name="Picture Placeholder 5" descr="A strap attached to the cruise control cable is moved by the stepper motor, which in turn moves the throttle linkage.">
            <a:extLst>
              <a:ext uri="{FF2B5EF4-FFF2-40B4-BE49-F238E27FC236}">
                <a16:creationId xmlns:a16="http://schemas.microsoft.com/office/drawing/2014/main" id="{47E64AB6-EBBB-6C60-834E-614D2169D63A}"/>
              </a:ext>
            </a:extLst>
          </p:cNvPr>
          <p:cNvPicPr>
            <a:picLocks noGrp="1" noChangeAspect="1"/>
          </p:cNvPicPr>
          <p:nvPr>
            <p:ph type="pic" sz="quarter" idx="10"/>
          </p:nvPr>
        </p:nvPicPr>
        <p:blipFill>
          <a:blip r:embed="rId3"/>
          <a:srcRect b="12321"/>
          <a:stretch/>
        </p:blipFill>
        <p:spPr>
          <a:xfrm>
            <a:off x="7485724" y="2046756"/>
            <a:ext cx="4312215" cy="3018404"/>
          </a:xfrm>
          <a:prstGeom prst="rect">
            <a:avLst/>
          </a:prstGeom>
        </p:spPr>
      </p:pic>
    </p:spTree>
    <p:extLst>
      <p:ext uri="{BB962C8B-B14F-4D97-AF65-F5344CB8AC3E}">
        <p14:creationId xmlns:p14="http://schemas.microsoft.com/office/powerpoint/2010/main" val="115288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5">
          <a:extLst>
            <a:ext uri="{FF2B5EF4-FFF2-40B4-BE49-F238E27FC236}">
              <a16:creationId xmlns:a16="http://schemas.microsoft.com/office/drawing/2014/main" id="{62D171B2-1648-6E41-3A7E-8C3DAA2E4BC0}"/>
            </a:ext>
          </a:extLst>
        </p:cNvPr>
        <p:cNvGrpSpPr/>
        <p:nvPr/>
      </p:nvGrpSpPr>
      <p:grpSpPr>
        <a:xfrm>
          <a:off x="0" y="0"/>
          <a:ext cx="0" cy="0"/>
          <a:chOff x="0" y="0"/>
          <a:chExt cx="0" cy="0"/>
        </a:xfrm>
      </p:grpSpPr>
      <p:sp>
        <p:nvSpPr>
          <p:cNvPr id="446" name="Google Shape;446;p46">
            <a:extLst>
              <a:ext uri="{FF2B5EF4-FFF2-40B4-BE49-F238E27FC236}">
                <a16:creationId xmlns:a16="http://schemas.microsoft.com/office/drawing/2014/main" id="{833FBE7A-BF64-EB38-FAFB-93BC10E4C09E}"/>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Adaptive Cruise Control (1 of 2)</a:t>
            </a:r>
            <a:endParaRPr dirty="0"/>
          </a:p>
        </p:txBody>
      </p:sp>
      <p:sp>
        <p:nvSpPr>
          <p:cNvPr id="2" name="Text Placeholder 1">
            <a:extLst>
              <a:ext uri="{FF2B5EF4-FFF2-40B4-BE49-F238E27FC236}">
                <a16:creationId xmlns:a16="http://schemas.microsoft.com/office/drawing/2014/main" id="{D60022C9-736F-53DF-56A8-0A90BE4823D1}"/>
              </a:ext>
            </a:extLst>
          </p:cNvPr>
          <p:cNvSpPr>
            <a:spLocks noGrp="1"/>
          </p:cNvSpPr>
          <p:nvPr>
            <p:ph type="body" idx="1"/>
          </p:nvPr>
        </p:nvSpPr>
        <p:spPr>
          <a:xfrm>
            <a:off x="476844" y="1433686"/>
            <a:ext cx="6254156" cy="4649120"/>
          </a:xfrm>
        </p:spPr>
        <p:txBody>
          <a:bodyPr/>
          <a:lstStyle/>
          <a:p>
            <a:r>
              <a:rPr lang="en-US" sz="2000"/>
              <a:t>Most manufacturers have their own version of adaptive cruise control.</a:t>
            </a:r>
          </a:p>
          <a:p>
            <a:r>
              <a:rPr lang="en-US" sz="2000"/>
              <a:t>Most are radar-based but some use the forward mounted cameras.</a:t>
            </a:r>
          </a:p>
          <a:p>
            <a:r>
              <a:rPr lang="en-US" sz="2000"/>
              <a:t>Like other cruise control systems, adaptive cruise control automatically maintains the desired speed of the vehicle, but it also maintains a safe distance between vehicles.</a:t>
            </a:r>
          </a:p>
          <a:p>
            <a:r>
              <a:rPr lang="en-US" sz="2000"/>
              <a:t>The desired distance between vehicles is set by the driver.</a:t>
            </a:r>
          </a:p>
          <a:p>
            <a:r>
              <a:rPr lang="en-US" sz="2000"/>
              <a:t>The system also adjusts the speed of the vehicle to mirror that of a slower vehicle in front of it, and then maintains that speed.</a:t>
            </a:r>
          </a:p>
        </p:txBody>
      </p:sp>
      <p:pic>
        <p:nvPicPr>
          <p:cNvPr id="5" name="Picture Placeholder 4" descr="A distance sensor is attached to the vehicle for an adaptive cruise control system.">
            <a:extLst>
              <a:ext uri="{FF2B5EF4-FFF2-40B4-BE49-F238E27FC236}">
                <a16:creationId xmlns:a16="http://schemas.microsoft.com/office/drawing/2014/main" id="{8BCC994A-2B76-DC62-830A-444CCC888EEC}"/>
              </a:ext>
            </a:extLst>
          </p:cNvPr>
          <p:cNvPicPr>
            <a:picLocks noGrp="1" noChangeAspect="1"/>
          </p:cNvPicPr>
          <p:nvPr>
            <p:ph type="pic" sz="quarter" idx="10"/>
          </p:nvPr>
        </p:nvPicPr>
        <p:blipFill>
          <a:blip r:embed="rId3"/>
          <a:srcRect b="11000"/>
          <a:stretch/>
        </p:blipFill>
        <p:spPr>
          <a:xfrm>
            <a:off x="7179371" y="1753386"/>
            <a:ext cx="4460055" cy="3568627"/>
          </a:xfrm>
          <a:prstGeom prst="rect">
            <a:avLst/>
          </a:prstGeom>
        </p:spPr>
      </p:pic>
    </p:spTree>
    <p:extLst>
      <p:ext uri="{BB962C8B-B14F-4D97-AF65-F5344CB8AC3E}">
        <p14:creationId xmlns:p14="http://schemas.microsoft.com/office/powerpoint/2010/main" val="2550302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3254E5-F5E7-1670-5B2E-8594F7D7B35B}"/>
              </a:ext>
            </a:extLst>
          </p:cNvPr>
          <p:cNvSpPr>
            <a:spLocks noGrp="1"/>
          </p:cNvSpPr>
          <p:nvPr>
            <p:ph type="title"/>
          </p:nvPr>
        </p:nvSpPr>
        <p:spPr/>
        <p:txBody>
          <a:bodyPr/>
          <a:lstStyle/>
          <a:p>
            <a:r>
              <a:rPr lang="en-US"/>
              <a:t>Adaptive Cruise Control (2 of 2)</a:t>
            </a:r>
            <a:endParaRPr lang="en-IN"/>
          </a:p>
        </p:txBody>
      </p:sp>
      <p:sp>
        <p:nvSpPr>
          <p:cNvPr id="6" name="Text Placeholder 5">
            <a:extLst>
              <a:ext uri="{FF2B5EF4-FFF2-40B4-BE49-F238E27FC236}">
                <a16:creationId xmlns:a16="http://schemas.microsoft.com/office/drawing/2014/main" id="{B2A82C8A-C202-A566-8FE3-EA756CEEE963}"/>
              </a:ext>
            </a:extLst>
          </p:cNvPr>
          <p:cNvSpPr>
            <a:spLocks noGrp="1"/>
          </p:cNvSpPr>
          <p:nvPr>
            <p:ph type="body" idx="1"/>
          </p:nvPr>
        </p:nvSpPr>
        <p:spPr/>
        <p:txBody>
          <a:bodyPr/>
          <a:lstStyle/>
          <a:p>
            <a:pPr marL="0" indent="0">
              <a:buNone/>
            </a:pPr>
            <a:r>
              <a:rPr lang="en-US" sz="2200" b="1"/>
              <a:t>23.05 Inspect and diagnose cruise control systems.</a:t>
            </a:r>
          </a:p>
          <a:p>
            <a:r>
              <a:rPr lang="en-US" sz="2200"/>
              <a:t>Cruise Control System Service</a:t>
            </a:r>
          </a:p>
          <a:p>
            <a:pPr lvl="1"/>
            <a:r>
              <a:rPr lang="en-US" sz="2000"/>
              <a:t>Diagnosis of these cruise systems is the same as for any other electronic system.</a:t>
            </a:r>
          </a:p>
          <a:p>
            <a:pPr lvl="1"/>
            <a:r>
              <a:rPr lang="en-US" sz="2000"/>
              <a:t>Diagnostic work is done with a scan tool and DMM.</a:t>
            </a:r>
          </a:p>
          <a:p>
            <a:pPr lvl="1"/>
            <a:r>
              <a:rPr lang="en-US" sz="2000"/>
              <a:t>Typically, on most late-model vehicles, cruise control problems are caused by faulty circuits, sensors, and/or switches.</a:t>
            </a:r>
          </a:p>
          <a:p>
            <a:pPr lvl="1"/>
            <a:r>
              <a:rPr lang="en-US" sz="2000"/>
              <a:t>Before connecting the scan tool, check the operation of the cruise indicator lamp.</a:t>
            </a:r>
          </a:p>
          <a:p>
            <a:pPr lvl="1"/>
            <a:r>
              <a:rPr lang="en-US" sz="2000"/>
              <a:t>If it does not operate properly, test and repair that circuit before proceeding.</a:t>
            </a:r>
          </a:p>
          <a:p>
            <a:pPr lvl="1"/>
            <a:r>
              <a:rPr lang="en-US" sz="2000"/>
              <a:t>If the light is blinking, the control module detects an electrical fault in the system.</a:t>
            </a:r>
          </a:p>
        </p:txBody>
      </p:sp>
    </p:spTree>
    <p:extLst>
      <p:ext uri="{BB962C8B-B14F-4D97-AF65-F5344CB8AC3E}">
        <p14:creationId xmlns:p14="http://schemas.microsoft.com/office/powerpoint/2010/main" val="3014958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042705-2318-7434-691B-05E988624591}"/>
              </a:ext>
            </a:extLst>
          </p:cNvPr>
          <p:cNvSpPr>
            <a:spLocks noGrp="1"/>
          </p:cNvSpPr>
          <p:nvPr>
            <p:ph type="title"/>
          </p:nvPr>
        </p:nvSpPr>
        <p:spPr/>
        <p:txBody>
          <a:bodyPr/>
          <a:lstStyle/>
          <a:p>
            <a:r>
              <a:rPr lang="en-IN"/>
              <a:t>Knowledge Check (1 of 2)</a:t>
            </a:r>
          </a:p>
        </p:txBody>
      </p:sp>
      <p:sp>
        <p:nvSpPr>
          <p:cNvPr id="6" name="Text Placeholder 5">
            <a:extLst>
              <a:ext uri="{FF2B5EF4-FFF2-40B4-BE49-F238E27FC236}">
                <a16:creationId xmlns:a16="http://schemas.microsoft.com/office/drawing/2014/main" id="{62BBCAFE-9815-6974-5600-108A34653D27}"/>
              </a:ext>
            </a:extLst>
          </p:cNvPr>
          <p:cNvSpPr>
            <a:spLocks noGrp="1"/>
          </p:cNvSpPr>
          <p:nvPr>
            <p:ph type="body" idx="1"/>
          </p:nvPr>
        </p:nvSpPr>
        <p:spPr/>
        <p:txBody>
          <a:bodyPr/>
          <a:lstStyle/>
          <a:p>
            <a:r>
              <a:rPr lang="en-US"/>
              <a:t>Most manufacturers have their own version of adaptive cruise control and use which two technologies to detect vehicles in front of them?</a:t>
            </a:r>
          </a:p>
        </p:txBody>
      </p:sp>
    </p:spTree>
    <p:extLst>
      <p:ext uri="{BB962C8B-B14F-4D97-AF65-F5344CB8AC3E}">
        <p14:creationId xmlns:p14="http://schemas.microsoft.com/office/powerpoint/2010/main" val="2742692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7BB5C-7123-4263-A9EB-765496AE4B1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BA21CBA-A9D4-B087-1CF2-00DC80B6180C}"/>
              </a:ext>
            </a:extLst>
          </p:cNvPr>
          <p:cNvSpPr>
            <a:spLocks noGrp="1"/>
          </p:cNvSpPr>
          <p:nvPr>
            <p:ph type="title"/>
          </p:nvPr>
        </p:nvSpPr>
        <p:spPr/>
        <p:txBody>
          <a:bodyPr/>
          <a:lstStyle/>
          <a:p>
            <a:r>
              <a:rPr lang="en-IN"/>
              <a:t>Knowledge Check Answer (1 of 2)</a:t>
            </a:r>
          </a:p>
        </p:txBody>
      </p:sp>
      <p:sp>
        <p:nvSpPr>
          <p:cNvPr id="6" name="Text Placeholder 5">
            <a:extLst>
              <a:ext uri="{FF2B5EF4-FFF2-40B4-BE49-F238E27FC236}">
                <a16:creationId xmlns:a16="http://schemas.microsoft.com/office/drawing/2014/main" id="{DB7C8FE7-BB10-D848-99DA-924E100294C2}"/>
              </a:ext>
            </a:extLst>
          </p:cNvPr>
          <p:cNvSpPr>
            <a:spLocks noGrp="1"/>
          </p:cNvSpPr>
          <p:nvPr>
            <p:ph type="body" idx="1"/>
          </p:nvPr>
        </p:nvSpPr>
        <p:spPr/>
        <p:txBody>
          <a:bodyPr/>
          <a:lstStyle/>
          <a:p>
            <a:pPr marL="0" indent="0">
              <a:buNone/>
            </a:pPr>
            <a:r>
              <a:rPr lang="en-US" b="1" dirty="0"/>
              <a:t>Answer:</a:t>
            </a:r>
            <a:r>
              <a:rPr lang="en-US" dirty="0"/>
              <a:t> Most are radar-based, but some use the forward mounted cameras.</a:t>
            </a:r>
          </a:p>
        </p:txBody>
      </p:sp>
    </p:spTree>
    <p:extLst>
      <p:ext uri="{BB962C8B-B14F-4D97-AF65-F5344CB8AC3E}">
        <p14:creationId xmlns:p14="http://schemas.microsoft.com/office/powerpoint/2010/main" val="438510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9AF38-1DCD-6A2A-098E-BC2FE94B2EE8}"/>
              </a:ext>
            </a:extLst>
          </p:cNvPr>
          <p:cNvSpPr>
            <a:spLocks noGrp="1"/>
          </p:cNvSpPr>
          <p:nvPr>
            <p:ph type="title"/>
          </p:nvPr>
        </p:nvSpPr>
        <p:spPr/>
        <p:txBody>
          <a:bodyPr/>
          <a:lstStyle/>
          <a:p>
            <a:r>
              <a:rPr lang="en-IN"/>
              <a:t>Sound Systems</a:t>
            </a:r>
          </a:p>
        </p:txBody>
      </p:sp>
      <p:sp>
        <p:nvSpPr>
          <p:cNvPr id="3" name="Text Placeholder 2">
            <a:extLst>
              <a:ext uri="{FF2B5EF4-FFF2-40B4-BE49-F238E27FC236}">
                <a16:creationId xmlns:a16="http://schemas.microsoft.com/office/drawing/2014/main" id="{476A7BAB-03BA-3E6B-0332-2E83826B0E77}"/>
              </a:ext>
            </a:extLst>
          </p:cNvPr>
          <p:cNvSpPr>
            <a:spLocks noGrp="1"/>
          </p:cNvSpPr>
          <p:nvPr>
            <p:ph type="body" idx="1"/>
          </p:nvPr>
        </p:nvSpPr>
        <p:spPr>
          <a:xfrm>
            <a:off x="476843" y="1471264"/>
            <a:ext cx="8057557" cy="4218335"/>
          </a:xfrm>
        </p:spPr>
        <p:txBody>
          <a:bodyPr/>
          <a:lstStyle/>
          <a:p>
            <a:pPr marL="0" indent="0">
              <a:buNone/>
            </a:pPr>
            <a:r>
              <a:rPr lang="en-US" sz="2000" b="1"/>
              <a:t>22.06 Identify the components of typical audio and video systems.</a:t>
            </a:r>
          </a:p>
          <a:p>
            <a:r>
              <a:rPr lang="en-US" sz="2000"/>
              <a:t>Today, a wide variety of sound systems are available and the complexity of each also varies from basic AM radio to more complex stereo systems that include an AM/FM radio receiver, a stereo amplifier, CD and DVD players, MP3 player, equalizer, several speakers, and a power antenna system.</a:t>
            </a:r>
          </a:p>
          <a:p>
            <a:r>
              <a:rPr lang="en-US" sz="2000"/>
              <a:t>Many models support streaming audio via satellite radio, Bluetooth, Android Auto, Apple CarPlay, Pandora, and other services.</a:t>
            </a:r>
          </a:p>
          <a:p>
            <a:r>
              <a:rPr lang="en-US" sz="2000"/>
              <a:t>The current trend in audio systems has been to remove AM reception and eliminate CD/DVD capability in favor of streaming audio.</a:t>
            </a:r>
          </a:p>
        </p:txBody>
      </p:sp>
      <p:pic>
        <p:nvPicPr>
          <p:cNvPr id="5" name="Picture Placeholder 4" descr="Two screens, one for sound systems, and another for communication. The sound system screen A has the following options with icons, Sirius X M, U S B, Aux input, social playlist, A M, system updates, my honda music, and clock. The screen B has the following options with icons, phone, settings F M, Bluetooth audio, android auto, apple carPlay, trip computer, messages.">
            <a:extLst>
              <a:ext uri="{FF2B5EF4-FFF2-40B4-BE49-F238E27FC236}">
                <a16:creationId xmlns:a16="http://schemas.microsoft.com/office/drawing/2014/main" id="{C9EF42B5-D35A-A733-0392-890DA07DD24A}"/>
              </a:ext>
            </a:extLst>
          </p:cNvPr>
          <p:cNvPicPr>
            <a:picLocks noGrp="1" noChangeAspect="1"/>
          </p:cNvPicPr>
          <p:nvPr>
            <p:ph type="pic" sz="quarter" idx="10"/>
          </p:nvPr>
        </p:nvPicPr>
        <p:blipFill>
          <a:blip r:embed="rId2"/>
          <a:srcRect b="3663"/>
          <a:stretch/>
        </p:blipFill>
        <p:spPr>
          <a:xfrm>
            <a:off x="8565957" y="1471264"/>
            <a:ext cx="3149200" cy="4343909"/>
          </a:xfrm>
          <a:prstGeom prst="rect">
            <a:avLst/>
          </a:prstGeom>
        </p:spPr>
      </p:pic>
    </p:spTree>
    <p:extLst>
      <p:ext uri="{BB962C8B-B14F-4D97-AF65-F5344CB8AC3E}">
        <p14:creationId xmlns:p14="http://schemas.microsoft.com/office/powerpoint/2010/main" val="1658490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1197E-1334-53D7-B025-E1BD3D2E9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B8AE8-72F6-1D4D-8078-44F31E4B9B37}"/>
              </a:ext>
            </a:extLst>
          </p:cNvPr>
          <p:cNvSpPr>
            <a:spLocks noGrp="1"/>
          </p:cNvSpPr>
          <p:nvPr>
            <p:ph type="title"/>
          </p:nvPr>
        </p:nvSpPr>
        <p:spPr/>
        <p:txBody>
          <a:bodyPr/>
          <a:lstStyle/>
          <a:p>
            <a:r>
              <a:rPr lang="en-IN"/>
              <a:t>Antenna</a:t>
            </a:r>
          </a:p>
        </p:txBody>
      </p:sp>
      <p:sp>
        <p:nvSpPr>
          <p:cNvPr id="3" name="Text Placeholder 2">
            <a:extLst>
              <a:ext uri="{FF2B5EF4-FFF2-40B4-BE49-F238E27FC236}">
                <a16:creationId xmlns:a16="http://schemas.microsoft.com/office/drawing/2014/main" id="{6758AB1E-6743-C115-579B-535BA6EC3F7B}"/>
              </a:ext>
            </a:extLst>
          </p:cNvPr>
          <p:cNvSpPr>
            <a:spLocks noGrp="1"/>
          </p:cNvSpPr>
          <p:nvPr>
            <p:ph type="body" idx="1"/>
          </p:nvPr>
        </p:nvSpPr>
        <p:spPr>
          <a:xfrm>
            <a:off x="476843" y="1471264"/>
            <a:ext cx="6609757" cy="4509081"/>
          </a:xfrm>
        </p:spPr>
        <p:txBody>
          <a:bodyPr/>
          <a:lstStyle/>
          <a:p>
            <a:r>
              <a:rPr lang="en-US" sz="1800"/>
              <a:t>An antenna collects radio waves for both AM and FM stations. </a:t>
            </a:r>
          </a:p>
          <a:p>
            <a:r>
              <a:rPr lang="en-US" sz="1800"/>
              <a:t>Radio stations’ broadcast towers transmit electromagnetic energy through the air and induce an AC voltage in the antenna.</a:t>
            </a:r>
          </a:p>
          <a:p>
            <a:r>
              <a:rPr lang="en-US" sz="1800"/>
              <a:t>This AC signal is then converted, by the radio receiver unit, to an audio output.</a:t>
            </a:r>
          </a:p>
          <a:p>
            <a:r>
              <a:rPr lang="en-US" sz="1800"/>
              <a:t>Some vehicles incorporate the antenna into the rear window defogger grid.</a:t>
            </a:r>
          </a:p>
          <a:p>
            <a:r>
              <a:rPr lang="en-US" sz="1800"/>
              <a:t>A window defogger/ antenna module separates the radio frequencies used by the radio from the current used by the defogger grid.</a:t>
            </a:r>
          </a:p>
          <a:p>
            <a:r>
              <a:rPr lang="en-US" sz="1800"/>
              <a:t>When the radio is turned on, a 12-volt signal is sent to the defogger/antenna module.</a:t>
            </a:r>
          </a:p>
        </p:txBody>
      </p:sp>
      <p:pic>
        <p:nvPicPr>
          <p:cNvPr id="7" name="Picture Placeholder 6" descr="A window defogger cum antenna module is attached to the vehicle to separate the radio frequencies from the current used by the defogger grid.">
            <a:extLst>
              <a:ext uri="{FF2B5EF4-FFF2-40B4-BE49-F238E27FC236}">
                <a16:creationId xmlns:a16="http://schemas.microsoft.com/office/drawing/2014/main" id="{EDC57D26-B73E-F69E-43A8-B69434FA7CD3}"/>
              </a:ext>
            </a:extLst>
          </p:cNvPr>
          <p:cNvPicPr>
            <a:picLocks noGrp="1" noChangeAspect="1"/>
          </p:cNvPicPr>
          <p:nvPr>
            <p:ph type="pic" sz="quarter" idx="10"/>
          </p:nvPr>
        </p:nvPicPr>
        <p:blipFill>
          <a:blip r:embed="rId2"/>
          <a:srcRect b="15388"/>
          <a:stretch/>
        </p:blipFill>
        <p:spPr>
          <a:xfrm>
            <a:off x="7199677" y="2084388"/>
            <a:ext cx="4515480" cy="3062965"/>
          </a:xfrm>
          <a:prstGeom prst="rect">
            <a:avLst/>
          </a:prstGeom>
        </p:spPr>
      </p:pic>
    </p:spTree>
    <p:extLst>
      <p:ext uri="{BB962C8B-B14F-4D97-AF65-F5344CB8AC3E}">
        <p14:creationId xmlns:p14="http://schemas.microsoft.com/office/powerpoint/2010/main" val="141587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6ED10-66E8-541E-D044-FCA35C019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5A2DA-0A61-F8EF-2C36-0B1C6947AA26}"/>
              </a:ext>
            </a:extLst>
          </p:cNvPr>
          <p:cNvSpPr>
            <a:spLocks noGrp="1"/>
          </p:cNvSpPr>
          <p:nvPr>
            <p:ph type="title"/>
          </p:nvPr>
        </p:nvSpPr>
        <p:spPr/>
        <p:txBody>
          <a:bodyPr/>
          <a:lstStyle/>
          <a:p>
            <a:r>
              <a:rPr lang="en-IN"/>
              <a:t>Satellite Radio</a:t>
            </a:r>
          </a:p>
        </p:txBody>
      </p:sp>
      <p:sp>
        <p:nvSpPr>
          <p:cNvPr id="3" name="Text Placeholder 2">
            <a:extLst>
              <a:ext uri="{FF2B5EF4-FFF2-40B4-BE49-F238E27FC236}">
                <a16:creationId xmlns:a16="http://schemas.microsoft.com/office/drawing/2014/main" id="{FAD5C206-39F6-4E8F-A092-4A9CCAD8BE24}"/>
              </a:ext>
            </a:extLst>
          </p:cNvPr>
          <p:cNvSpPr>
            <a:spLocks noGrp="1"/>
          </p:cNvSpPr>
          <p:nvPr>
            <p:ph type="body" idx="1"/>
          </p:nvPr>
        </p:nvSpPr>
        <p:spPr>
          <a:xfrm>
            <a:off x="476843" y="1471264"/>
            <a:ext cx="5999113" cy="4509081"/>
          </a:xfrm>
        </p:spPr>
        <p:txBody>
          <a:bodyPr/>
          <a:lstStyle/>
          <a:p>
            <a:r>
              <a:rPr lang="en-US" sz="1800" dirty="0"/>
              <a:t>To provide broadcast content (e.g., music, live sports, talk) that is not interrupted by distance, most vehicles can be purchased with satellite-based radio as a standard feature or an option.</a:t>
            </a:r>
          </a:p>
          <a:p>
            <a:r>
              <a:rPr lang="en-US" sz="1800" dirty="0"/>
              <a:t>These radios pick up electromagnetic waves from satellites many miles above the earth and use terrestrial repeater networks in some limited markets to support sound transmission in areas blocked with many high-rise buildings.</a:t>
            </a:r>
          </a:p>
          <a:p>
            <a:r>
              <a:rPr lang="en-US" sz="1800" dirty="0"/>
              <a:t>Since the microwaves are always transmitted by more than one satellite, and each is in its own orbit or place within the orbit, the same radio station can be heard from coast to coast.</a:t>
            </a:r>
          </a:p>
        </p:txBody>
      </p:sp>
      <p:pic>
        <p:nvPicPr>
          <p:cNvPr id="6" name="Picture Placeholder 5" descr="A photo shows two satellites above two parts of the world transmitting radio waves to the cars.">
            <a:extLst>
              <a:ext uri="{FF2B5EF4-FFF2-40B4-BE49-F238E27FC236}">
                <a16:creationId xmlns:a16="http://schemas.microsoft.com/office/drawing/2014/main" id="{5E8C885A-E045-A5ED-7987-6FB8AA96AE15}"/>
              </a:ext>
            </a:extLst>
          </p:cNvPr>
          <p:cNvPicPr>
            <a:picLocks noGrp="1" noChangeAspect="1"/>
          </p:cNvPicPr>
          <p:nvPr>
            <p:ph type="pic" sz="quarter" idx="10"/>
          </p:nvPr>
        </p:nvPicPr>
        <p:blipFill>
          <a:blip r:embed="rId2"/>
          <a:srcRect b="16665"/>
          <a:stretch/>
        </p:blipFill>
        <p:spPr>
          <a:xfrm>
            <a:off x="6829543" y="2052851"/>
            <a:ext cx="4767509" cy="3043132"/>
          </a:xfrm>
          <a:prstGeom prst="rect">
            <a:avLst/>
          </a:prstGeom>
        </p:spPr>
      </p:pic>
    </p:spTree>
    <p:extLst>
      <p:ext uri="{BB962C8B-B14F-4D97-AF65-F5344CB8AC3E}">
        <p14:creationId xmlns:p14="http://schemas.microsoft.com/office/powerpoint/2010/main" val="2740836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F4C53-0DDC-8155-9660-998E29C55A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B19B7-21BF-8545-227B-67CEA56D8930}"/>
              </a:ext>
            </a:extLst>
          </p:cNvPr>
          <p:cNvSpPr>
            <a:spLocks noGrp="1"/>
          </p:cNvSpPr>
          <p:nvPr>
            <p:ph type="title"/>
          </p:nvPr>
        </p:nvSpPr>
        <p:spPr/>
        <p:txBody>
          <a:bodyPr/>
          <a:lstStyle/>
          <a:p>
            <a:r>
              <a:rPr lang="en-IN"/>
              <a:t>Speakers</a:t>
            </a:r>
          </a:p>
        </p:txBody>
      </p:sp>
      <p:sp>
        <p:nvSpPr>
          <p:cNvPr id="3" name="Text Placeholder 2">
            <a:extLst>
              <a:ext uri="{FF2B5EF4-FFF2-40B4-BE49-F238E27FC236}">
                <a16:creationId xmlns:a16="http://schemas.microsoft.com/office/drawing/2014/main" id="{9C0A1B3B-6E81-6578-FA29-A8046ACB9223}"/>
              </a:ext>
            </a:extLst>
          </p:cNvPr>
          <p:cNvSpPr>
            <a:spLocks noGrp="1"/>
          </p:cNvSpPr>
          <p:nvPr>
            <p:ph type="body" idx="1"/>
          </p:nvPr>
        </p:nvSpPr>
        <p:spPr>
          <a:xfrm>
            <a:off x="476843" y="1471264"/>
            <a:ext cx="5847757" cy="4509081"/>
          </a:xfrm>
        </p:spPr>
        <p:txBody>
          <a:bodyPr/>
          <a:lstStyle/>
          <a:p>
            <a:r>
              <a:rPr lang="en-US" sz="1800"/>
              <a:t>Most systems are equipped with several speakers, each designed to produce a different range of sound.</a:t>
            </a:r>
          </a:p>
          <a:p>
            <a:r>
              <a:rPr lang="en-US" sz="1800"/>
              <a:t>Matching speakers to the system is done by selecting speakers that have the same impedance as the rest of the system.</a:t>
            </a:r>
          </a:p>
          <a:p>
            <a:r>
              <a:rPr lang="en-US" sz="1800"/>
              <a:t>To achieve a high-quality sound system, the speakers must be placed so that all bouncing is minimized.</a:t>
            </a:r>
          </a:p>
          <a:p>
            <a:r>
              <a:rPr lang="en-US" sz="1800"/>
              <a:t>Large speakers, called woofers, produce the low frequencies of midrange and bass better than smaller speakers, called tweeters.</a:t>
            </a:r>
          </a:p>
          <a:p>
            <a:r>
              <a:rPr lang="en-US" sz="1800" b="1"/>
              <a:t>Woofers</a:t>
            </a:r>
            <a:r>
              <a:rPr lang="en-US" sz="1800"/>
              <a:t> are typically placed toward the rear of the vehicle.</a:t>
            </a:r>
          </a:p>
        </p:txBody>
      </p:sp>
      <p:pic>
        <p:nvPicPr>
          <p:cNvPr id="7" name="Picture Placeholder 6" descr="A large speaker or woofer is placed toward the rear of a vehicle.">
            <a:extLst>
              <a:ext uri="{FF2B5EF4-FFF2-40B4-BE49-F238E27FC236}">
                <a16:creationId xmlns:a16="http://schemas.microsoft.com/office/drawing/2014/main" id="{26DB7E7E-790E-1ED2-505A-10CA08B805E0}"/>
              </a:ext>
            </a:extLst>
          </p:cNvPr>
          <p:cNvPicPr>
            <a:picLocks noGrp="1" noChangeAspect="1"/>
          </p:cNvPicPr>
          <p:nvPr>
            <p:ph type="pic" sz="quarter" idx="10"/>
          </p:nvPr>
        </p:nvPicPr>
        <p:blipFill>
          <a:blip r:embed="rId2"/>
          <a:srcRect b="13087"/>
          <a:stretch/>
        </p:blipFill>
        <p:spPr>
          <a:xfrm>
            <a:off x="6725852" y="1561938"/>
            <a:ext cx="4862239" cy="3734123"/>
          </a:xfrm>
          <a:prstGeom prst="rect">
            <a:avLst/>
          </a:prstGeom>
        </p:spPr>
      </p:pic>
    </p:spTree>
    <p:extLst>
      <p:ext uri="{BB962C8B-B14F-4D97-AF65-F5344CB8AC3E}">
        <p14:creationId xmlns:p14="http://schemas.microsoft.com/office/powerpoint/2010/main" val="1857701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B2A93-4A32-5647-DC58-5CA8BCC9D6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C4354-4D73-1009-DAB7-1058A8334174}"/>
              </a:ext>
            </a:extLst>
          </p:cNvPr>
          <p:cNvSpPr>
            <a:spLocks noGrp="1"/>
          </p:cNvSpPr>
          <p:nvPr>
            <p:ph type="title"/>
          </p:nvPr>
        </p:nvSpPr>
        <p:spPr/>
        <p:txBody>
          <a:bodyPr/>
          <a:lstStyle/>
          <a:p>
            <a:r>
              <a:rPr lang="en-IN"/>
              <a:t>CD Players</a:t>
            </a:r>
          </a:p>
        </p:txBody>
      </p:sp>
      <p:sp>
        <p:nvSpPr>
          <p:cNvPr id="3" name="Text Placeholder 2">
            <a:extLst>
              <a:ext uri="{FF2B5EF4-FFF2-40B4-BE49-F238E27FC236}">
                <a16:creationId xmlns:a16="http://schemas.microsoft.com/office/drawing/2014/main" id="{42D24756-A30B-B729-DDD8-2DCF53CDE479}"/>
              </a:ext>
            </a:extLst>
          </p:cNvPr>
          <p:cNvSpPr>
            <a:spLocks noGrp="1"/>
          </p:cNvSpPr>
          <p:nvPr>
            <p:ph type="body" idx="1"/>
          </p:nvPr>
        </p:nvSpPr>
        <p:spPr>
          <a:xfrm>
            <a:off x="476843" y="1471264"/>
            <a:ext cx="5847757" cy="4509081"/>
          </a:xfrm>
        </p:spPr>
        <p:txBody>
          <a:bodyPr/>
          <a:lstStyle/>
          <a:p>
            <a:r>
              <a:rPr lang="en-US" sz="2400"/>
              <a:t>A compact disc (CD) player uses a laser pickup to read digital signals recorded on a compact disc.</a:t>
            </a:r>
          </a:p>
          <a:p>
            <a:r>
              <a:rPr lang="en-US" sz="2400"/>
              <a:t>By converting the digital signals to analog, it can play music and other audio formats.</a:t>
            </a:r>
          </a:p>
          <a:p>
            <a:r>
              <a:rPr lang="en-US" sz="2400"/>
              <a:t>CD players vary from being able to insert one or more CDs into the main unit to having an auxiliary unit where many CDs can be installed.</a:t>
            </a:r>
          </a:p>
        </p:txBody>
      </p:sp>
      <p:pic>
        <p:nvPicPr>
          <p:cNvPr id="6" name="Picture Placeholder 5" descr="A variety of connections for different sound devices and storage media.">
            <a:extLst>
              <a:ext uri="{FF2B5EF4-FFF2-40B4-BE49-F238E27FC236}">
                <a16:creationId xmlns:a16="http://schemas.microsoft.com/office/drawing/2014/main" id="{E52E8DCD-1A2D-0742-C1AE-4A59128CA9B7}"/>
              </a:ext>
            </a:extLst>
          </p:cNvPr>
          <p:cNvPicPr>
            <a:picLocks noGrp="1" noChangeAspect="1"/>
          </p:cNvPicPr>
          <p:nvPr>
            <p:ph type="pic" sz="quarter" idx="10"/>
          </p:nvPr>
        </p:nvPicPr>
        <p:blipFill>
          <a:blip r:embed="rId2"/>
          <a:srcRect b="13974"/>
          <a:stretch/>
        </p:blipFill>
        <p:spPr>
          <a:xfrm>
            <a:off x="6801751" y="1585495"/>
            <a:ext cx="4904154" cy="3687010"/>
          </a:xfrm>
          <a:prstGeom prst="rect">
            <a:avLst/>
          </a:prstGeom>
        </p:spPr>
      </p:pic>
    </p:spTree>
    <p:extLst>
      <p:ext uri="{BB962C8B-B14F-4D97-AF65-F5344CB8AC3E}">
        <p14:creationId xmlns:p14="http://schemas.microsoft.com/office/powerpoint/2010/main" val="2736028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4C3921D-D35A-0F05-6251-F42BB18A59B7}"/>
              </a:ext>
            </a:extLst>
          </p:cNvPr>
          <p:cNvSpPr>
            <a:spLocks noGrp="1"/>
          </p:cNvSpPr>
          <p:nvPr>
            <p:ph type="title"/>
          </p:nvPr>
        </p:nvSpPr>
        <p:spPr/>
        <p:txBody>
          <a:bodyPr/>
          <a:lstStyle/>
          <a:p>
            <a:r>
              <a:rPr lang="en-IN" dirty="0"/>
              <a:t>Diagnosis (1 of 2)</a:t>
            </a:r>
          </a:p>
        </p:txBody>
      </p:sp>
      <p:sp>
        <p:nvSpPr>
          <p:cNvPr id="6" name="Text Placeholder 5">
            <a:extLst>
              <a:ext uri="{FF2B5EF4-FFF2-40B4-BE49-F238E27FC236}">
                <a16:creationId xmlns:a16="http://schemas.microsoft.com/office/drawing/2014/main" id="{50DC0A1B-3434-BEA8-EB64-E1766B266A2B}"/>
              </a:ext>
            </a:extLst>
          </p:cNvPr>
          <p:cNvSpPr>
            <a:spLocks noGrp="1"/>
          </p:cNvSpPr>
          <p:nvPr>
            <p:ph type="body" idx="1"/>
          </p:nvPr>
        </p:nvSpPr>
        <p:spPr/>
        <p:txBody>
          <a:bodyPr/>
          <a:lstStyle/>
          <a:p>
            <a:r>
              <a:rPr lang="en-US" sz="1800" b="1" dirty="0"/>
              <a:t>23.07 Identify and diagnose video and sound concerns.</a:t>
            </a:r>
          </a:p>
          <a:p>
            <a:r>
              <a:rPr lang="en-US" sz="1800" dirty="0"/>
              <a:t>If the radio system is not working, check the fuses.</a:t>
            </a:r>
          </a:p>
          <a:p>
            <a:r>
              <a:rPr lang="en-US" sz="1800" dirty="0"/>
              <a:t>If the fuses are okay, check for DTCs and refer to the service information and check the rest of the power and ground circuits for the radio.</a:t>
            </a:r>
          </a:p>
          <a:p>
            <a:r>
              <a:rPr lang="en-US" sz="1800" dirty="0"/>
              <a:t>If the audio system connects on a MOST bus, special tools may be required for diagnosing system faults.</a:t>
            </a:r>
          </a:p>
          <a:p>
            <a:r>
              <a:rPr lang="en-US" sz="1800" dirty="0"/>
              <a:t>If the sound system has poor sound quality or poor radio reception, the circuit’s wiring, the antenna, and the speakers should be checked.</a:t>
            </a:r>
          </a:p>
          <a:p>
            <a:r>
              <a:rPr lang="en-US" sz="1800" dirty="0"/>
              <a:t>If reception is bad, use an ohmmeter to check the ground of the antenna.</a:t>
            </a:r>
          </a:p>
          <a:p>
            <a:r>
              <a:rPr lang="en-US" sz="1800" dirty="0"/>
              <a:t>Also connect one lead of the ohmmeter to the antenna’s mast and its case; there should be no continuity between the two.</a:t>
            </a:r>
          </a:p>
          <a:p>
            <a:r>
              <a:rPr lang="en-US" sz="1800" dirty="0"/>
              <a:t>Poor speaker or sound quality is usually caused by damaged speakers, wiring, bent sheet metal around the speaker opening, damaged or missing speaker mounting brackets, or missing or loose attaching hardware or speaker covers.</a:t>
            </a:r>
          </a:p>
        </p:txBody>
      </p:sp>
    </p:spTree>
    <p:extLst>
      <p:ext uri="{BB962C8B-B14F-4D97-AF65-F5344CB8AC3E}">
        <p14:creationId xmlns:p14="http://schemas.microsoft.com/office/powerpoint/2010/main" val="1804270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704C6-A8D5-0225-A20B-1E84B8FD6F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3912705-C817-5A25-6707-9E035BE31872}"/>
              </a:ext>
            </a:extLst>
          </p:cNvPr>
          <p:cNvSpPr>
            <a:spLocks noGrp="1"/>
          </p:cNvSpPr>
          <p:nvPr>
            <p:ph type="title"/>
          </p:nvPr>
        </p:nvSpPr>
        <p:spPr/>
        <p:txBody>
          <a:bodyPr/>
          <a:lstStyle/>
          <a:p>
            <a:r>
              <a:rPr lang="en-IN"/>
              <a:t>Telematics</a:t>
            </a:r>
          </a:p>
        </p:txBody>
      </p:sp>
      <p:sp>
        <p:nvSpPr>
          <p:cNvPr id="6" name="Text Placeholder 5">
            <a:extLst>
              <a:ext uri="{FF2B5EF4-FFF2-40B4-BE49-F238E27FC236}">
                <a16:creationId xmlns:a16="http://schemas.microsoft.com/office/drawing/2014/main" id="{8A31B3F4-DD95-B457-6039-8FFD9AA6192B}"/>
              </a:ext>
            </a:extLst>
          </p:cNvPr>
          <p:cNvSpPr>
            <a:spLocks noGrp="1"/>
          </p:cNvSpPr>
          <p:nvPr>
            <p:ph type="body" idx="1"/>
          </p:nvPr>
        </p:nvSpPr>
        <p:spPr/>
        <p:txBody>
          <a:bodyPr/>
          <a:lstStyle/>
          <a:p>
            <a:r>
              <a:rPr lang="en-US" sz="2000" b="1"/>
              <a:t>Telematics</a:t>
            </a:r>
            <a:r>
              <a:rPr lang="en-US" sz="2000"/>
              <a:t> is a technology that allows the transfer of data over a distance and from remote sources.</a:t>
            </a:r>
          </a:p>
          <a:p>
            <a:r>
              <a:rPr lang="en-US" sz="2000"/>
              <a:t>It is best defined as the integrated use of telecommunications and Information Technology (IT).</a:t>
            </a:r>
          </a:p>
          <a:p>
            <a:r>
              <a:rPr lang="en-US" sz="2000"/>
              <a:t>IT is a branch of engineering focused on the use of computers and telecommunications equipment to retrieve, store, sort, and transmit data. Telematics are used by NASA to control the flight of unmanned spacecraft while it is in flight.</a:t>
            </a:r>
          </a:p>
          <a:p>
            <a:r>
              <a:rPr lang="en-US" sz="2000" b="1"/>
              <a:t>Telemetry</a:t>
            </a:r>
            <a:r>
              <a:rPr lang="en-US" sz="2000"/>
              <a:t> is widely used by NASA to transmit data and photos from space flights.</a:t>
            </a:r>
          </a:p>
          <a:p>
            <a:r>
              <a:rPr lang="en-US" sz="2000"/>
              <a:t>Telemetry relates to the transmission of measurements from a remote location to another point where the data can be studied.</a:t>
            </a:r>
          </a:p>
          <a:p>
            <a:r>
              <a:rPr lang="en-US" sz="2000"/>
              <a:t>Telemetry relies on remote sensors that measure electrical or physical data.</a:t>
            </a:r>
          </a:p>
        </p:txBody>
      </p:sp>
    </p:spTree>
    <p:extLst>
      <p:ext uri="{BB962C8B-B14F-4D97-AF65-F5344CB8AC3E}">
        <p14:creationId xmlns:p14="http://schemas.microsoft.com/office/powerpoint/2010/main" val="1810739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2721A-D79E-91C0-AC00-7B52754B0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FC9ED-EA83-56B2-9CC1-80F96758CFBB}"/>
              </a:ext>
            </a:extLst>
          </p:cNvPr>
          <p:cNvSpPr>
            <a:spLocks noGrp="1"/>
          </p:cNvSpPr>
          <p:nvPr>
            <p:ph type="title"/>
          </p:nvPr>
        </p:nvSpPr>
        <p:spPr/>
        <p:txBody>
          <a:bodyPr/>
          <a:lstStyle/>
          <a:p>
            <a:r>
              <a:rPr lang="en-US"/>
              <a:t>Navigation Systems (1 of 2)</a:t>
            </a:r>
            <a:endParaRPr lang="en-IN"/>
          </a:p>
        </p:txBody>
      </p:sp>
      <p:sp>
        <p:nvSpPr>
          <p:cNvPr id="3" name="Text Placeholder 2">
            <a:extLst>
              <a:ext uri="{FF2B5EF4-FFF2-40B4-BE49-F238E27FC236}">
                <a16:creationId xmlns:a16="http://schemas.microsoft.com/office/drawing/2014/main" id="{6E5BFA0E-EDF7-045C-8569-6952059AEE49}"/>
              </a:ext>
            </a:extLst>
          </p:cNvPr>
          <p:cNvSpPr>
            <a:spLocks noGrp="1"/>
          </p:cNvSpPr>
          <p:nvPr>
            <p:ph type="body" idx="1"/>
          </p:nvPr>
        </p:nvSpPr>
        <p:spPr>
          <a:xfrm>
            <a:off x="476843" y="1471264"/>
            <a:ext cx="6190657" cy="4509081"/>
          </a:xfrm>
        </p:spPr>
        <p:txBody>
          <a:bodyPr/>
          <a:lstStyle/>
          <a:p>
            <a:pPr marL="0" indent="0">
              <a:buNone/>
            </a:pPr>
            <a:r>
              <a:rPr lang="en-US" sz="1800" b="1" dirty="0"/>
              <a:t>23.08 Describe the operation of navigation and tracking systems. Explain the operation of power door locks, power windows, power mirrors, and power seats.</a:t>
            </a:r>
          </a:p>
          <a:p>
            <a:r>
              <a:rPr lang="en-US" sz="1800" dirty="0"/>
              <a:t>Navigation systems use global positioning satellites (GPS) to help drivers make travel decisions.</a:t>
            </a:r>
          </a:p>
          <a:p>
            <a:r>
              <a:rPr lang="en-US" sz="1800" dirty="0"/>
              <a:t>These global positioning systems set up a mathematical grid between the satellites and radio stations on the ground.</a:t>
            </a:r>
          </a:p>
          <a:p>
            <a:r>
              <a:rPr lang="en-US" sz="1800" dirty="0"/>
              <a:t>Two methods are used to determine the exact location of a vehicle, and both are used simultaneously.</a:t>
            </a:r>
          </a:p>
          <a:p>
            <a:pPr lvl="1"/>
            <a:r>
              <a:rPr lang="en-US" sz="1600" dirty="0"/>
              <a:t>One is GPS navigation, and the other method is autonomous navigation.</a:t>
            </a:r>
          </a:p>
        </p:txBody>
      </p:sp>
      <p:pic>
        <p:nvPicPr>
          <p:cNvPr id="7" name="Picture Placeholder 6" descr="A screen of a navigation center with a map indicating the route, destination, settings, and other information.">
            <a:extLst>
              <a:ext uri="{FF2B5EF4-FFF2-40B4-BE49-F238E27FC236}">
                <a16:creationId xmlns:a16="http://schemas.microsoft.com/office/drawing/2014/main" id="{9F5C63AB-63B8-7D15-E8E5-0D6F0FDA5B83}"/>
              </a:ext>
            </a:extLst>
          </p:cNvPr>
          <p:cNvPicPr>
            <a:picLocks noGrp="1" noChangeAspect="1"/>
          </p:cNvPicPr>
          <p:nvPr>
            <p:ph type="pic" sz="quarter" idx="10"/>
          </p:nvPr>
        </p:nvPicPr>
        <p:blipFill>
          <a:blip r:embed="rId2"/>
          <a:srcRect b="12186"/>
          <a:stretch/>
        </p:blipFill>
        <p:spPr>
          <a:xfrm>
            <a:off x="6855722" y="1640805"/>
            <a:ext cx="5090836" cy="3576390"/>
          </a:xfrm>
          <a:prstGeom prst="rect">
            <a:avLst/>
          </a:prstGeom>
        </p:spPr>
      </p:pic>
    </p:spTree>
    <p:extLst>
      <p:ext uri="{BB962C8B-B14F-4D97-AF65-F5344CB8AC3E}">
        <p14:creationId xmlns:p14="http://schemas.microsoft.com/office/powerpoint/2010/main" val="1109217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BE45EC-33C5-0C99-E738-A574A28D5A07}"/>
              </a:ext>
            </a:extLst>
          </p:cNvPr>
          <p:cNvSpPr>
            <a:spLocks noGrp="1"/>
          </p:cNvSpPr>
          <p:nvPr>
            <p:ph type="title"/>
          </p:nvPr>
        </p:nvSpPr>
        <p:spPr/>
        <p:txBody>
          <a:bodyPr/>
          <a:lstStyle/>
          <a:p>
            <a:r>
              <a:rPr lang="en-US"/>
              <a:t>Navigation Systems (2 of 2)</a:t>
            </a:r>
            <a:endParaRPr lang="en-IN"/>
          </a:p>
        </p:txBody>
      </p:sp>
      <p:sp>
        <p:nvSpPr>
          <p:cNvPr id="6" name="Text Placeholder 5">
            <a:extLst>
              <a:ext uri="{FF2B5EF4-FFF2-40B4-BE49-F238E27FC236}">
                <a16:creationId xmlns:a16="http://schemas.microsoft.com/office/drawing/2014/main" id="{D39D8C9C-B4D3-359F-7AD8-82CA1CD38A72}"/>
              </a:ext>
            </a:extLst>
          </p:cNvPr>
          <p:cNvSpPr>
            <a:spLocks noGrp="1"/>
          </p:cNvSpPr>
          <p:nvPr>
            <p:ph type="body" idx="1"/>
          </p:nvPr>
        </p:nvSpPr>
        <p:spPr/>
        <p:txBody>
          <a:bodyPr/>
          <a:lstStyle/>
          <a:p>
            <a:r>
              <a:rPr lang="en-US" sz="2200" dirty="0"/>
              <a:t>Vehicle Tracking Systems</a:t>
            </a:r>
          </a:p>
          <a:p>
            <a:pPr lvl="1"/>
            <a:r>
              <a:rPr lang="en-US" sz="2000" dirty="0"/>
              <a:t>Vehicle tracking systems can identify the location of a vehicle if it has been stolen or lost.</a:t>
            </a:r>
          </a:p>
          <a:p>
            <a:pPr lvl="1"/>
            <a:r>
              <a:rPr lang="en-US" sz="2000" dirty="0"/>
              <a:t>The system is based on the vehicle’s navigational system and/ or the driver’s cell phone.</a:t>
            </a:r>
          </a:p>
          <a:p>
            <a:pPr lvl="1"/>
            <a:r>
              <a:rPr lang="en-US" sz="2000" dirty="0"/>
              <a:t>When the cell phone is the identifier, the tracking system is triggered when the thief attempts to place a phone call.</a:t>
            </a:r>
          </a:p>
          <a:p>
            <a:pPr lvl="1"/>
            <a:r>
              <a:rPr lang="en-US" sz="2000" dirty="0"/>
              <a:t>If the correct code is not entered into the phone, the satellite begins to track the vehicle.</a:t>
            </a:r>
          </a:p>
          <a:p>
            <a:pPr lvl="1"/>
            <a:r>
              <a:rPr lang="en-US" sz="2000" dirty="0"/>
              <a:t>This tracking signal is then monitored by an operator who can call the police in the area where the vehicle is being tracked.</a:t>
            </a:r>
          </a:p>
          <a:p>
            <a:pPr lvl="1"/>
            <a:r>
              <a:rPr lang="en-US" sz="2000" dirty="0"/>
              <a:t>When the system relies on GPS, a security or police officer can watch the movement of the vehicle on a remote computer screen.</a:t>
            </a:r>
          </a:p>
        </p:txBody>
      </p:sp>
    </p:spTree>
    <p:extLst>
      <p:ext uri="{BB962C8B-B14F-4D97-AF65-F5344CB8AC3E}">
        <p14:creationId xmlns:p14="http://schemas.microsoft.com/office/powerpoint/2010/main" val="3371077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2487C-9246-0DC6-0BF4-FC0195CF4E1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37416CD-2153-09E7-177E-0A93CFC37686}"/>
              </a:ext>
            </a:extLst>
          </p:cNvPr>
          <p:cNvSpPr>
            <a:spLocks noGrp="1"/>
          </p:cNvSpPr>
          <p:nvPr>
            <p:ph type="title"/>
          </p:nvPr>
        </p:nvSpPr>
        <p:spPr/>
        <p:txBody>
          <a:bodyPr/>
          <a:lstStyle/>
          <a:p>
            <a:r>
              <a:rPr lang="en-US"/>
              <a:t>Power Windows</a:t>
            </a:r>
            <a:endParaRPr lang="en-IN"/>
          </a:p>
        </p:txBody>
      </p:sp>
      <p:sp>
        <p:nvSpPr>
          <p:cNvPr id="6" name="Text Placeholder 5">
            <a:extLst>
              <a:ext uri="{FF2B5EF4-FFF2-40B4-BE49-F238E27FC236}">
                <a16:creationId xmlns:a16="http://schemas.microsoft.com/office/drawing/2014/main" id="{F99E9323-D3C6-7539-223C-3E46F0AFB073}"/>
              </a:ext>
            </a:extLst>
          </p:cNvPr>
          <p:cNvSpPr>
            <a:spLocks noGrp="1"/>
          </p:cNvSpPr>
          <p:nvPr>
            <p:ph type="body" idx="1"/>
          </p:nvPr>
        </p:nvSpPr>
        <p:spPr/>
        <p:txBody>
          <a:bodyPr/>
          <a:lstStyle/>
          <a:p>
            <a:r>
              <a:rPr lang="en-US" sz="2000"/>
              <a:t>The purpose of any power window system is to raise and lower the windows. </a:t>
            </a:r>
          </a:p>
          <a:p>
            <a:r>
              <a:rPr lang="en-US" sz="2000"/>
              <a:t>The systems do not vary significantly from one model to another.</a:t>
            </a:r>
          </a:p>
          <a:p>
            <a:r>
              <a:rPr lang="en-US" sz="2000"/>
              <a:t>The major components of a typical system are the master control switch, individual window control switches and control modules, and the window drive motors.</a:t>
            </a:r>
          </a:p>
          <a:p>
            <a:r>
              <a:rPr lang="en-US" sz="2000"/>
              <a:t>The master control switch provides overall system control.</a:t>
            </a:r>
          </a:p>
          <a:p>
            <a:r>
              <a:rPr lang="en-US" sz="2000"/>
              <a:t>Power for the system comes directly from the fuse panel.</a:t>
            </a:r>
          </a:p>
          <a:p>
            <a:r>
              <a:rPr lang="en-US" sz="2000"/>
              <a:t>Depending on the vehicle, there may be one fuse or circuit breaker for the system or a fuse for each door.</a:t>
            </a:r>
          </a:p>
          <a:p>
            <a:r>
              <a:rPr lang="en-US" sz="2000"/>
              <a:t>Power for the individual window control switches comes through the master control switch.</a:t>
            </a:r>
          </a:p>
          <a:p>
            <a:r>
              <a:rPr lang="en-US" sz="2000"/>
              <a:t>When the master switch allows, the other windows can be controlled by the switches located on the associated doors.</a:t>
            </a:r>
          </a:p>
        </p:txBody>
      </p:sp>
    </p:spTree>
    <p:extLst>
      <p:ext uri="{BB962C8B-B14F-4D97-AF65-F5344CB8AC3E}">
        <p14:creationId xmlns:p14="http://schemas.microsoft.com/office/powerpoint/2010/main" val="3561344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55DE9-3203-7480-6501-837660BE1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E9885-D4B4-111F-5A73-571D1206076F}"/>
              </a:ext>
            </a:extLst>
          </p:cNvPr>
          <p:cNvSpPr>
            <a:spLocks noGrp="1"/>
          </p:cNvSpPr>
          <p:nvPr>
            <p:ph type="title"/>
          </p:nvPr>
        </p:nvSpPr>
        <p:spPr/>
        <p:txBody>
          <a:bodyPr/>
          <a:lstStyle/>
          <a:p>
            <a:r>
              <a:rPr lang="en-US"/>
              <a:t>Circuit Operation</a:t>
            </a:r>
            <a:endParaRPr lang="en-IN"/>
          </a:p>
        </p:txBody>
      </p:sp>
      <p:sp>
        <p:nvSpPr>
          <p:cNvPr id="3" name="Text Placeholder 2">
            <a:extLst>
              <a:ext uri="{FF2B5EF4-FFF2-40B4-BE49-F238E27FC236}">
                <a16:creationId xmlns:a16="http://schemas.microsoft.com/office/drawing/2014/main" id="{EC628B5F-C0FF-C7EF-E51A-59050F2C12EA}"/>
              </a:ext>
            </a:extLst>
          </p:cNvPr>
          <p:cNvSpPr>
            <a:spLocks noGrp="1"/>
          </p:cNvSpPr>
          <p:nvPr>
            <p:ph type="body" idx="1"/>
          </p:nvPr>
        </p:nvSpPr>
        <p:spPr>
          <a:xfrm>
            <a:off x="476843" y="1471264"/>
            <a:ext cx="5720757" cy="4509081"/>
          </a:xfrm>
        </p:spPr>
        <p:txBody>
          <a:bodyPr/>
          <a:lstStyle/>
          <a:p>
            <a:r>
              <a:rPr lang="en-US" sz="1800"/>
              <a:t>Typically, a permanent magnet motor operates each power window.</a:t>
            </a:r>
          </a:p>
          <a:p>
            <a:r>
              <a:rPr lang="en-US" sz="1800"/>
              <a:t>Each motor raises or lowers the glass when voltage is applied to it.</a:t>
            </a:r>
          </a:p>
          <a:p>
            <a:r>
              <a:rPr lang="en-US" sz="1800"/>
              <a:t>The direction the motor moves the glass is determined by the polarity of the supply voltage to the motor.</a:t>
            </a:r>
          </a:p>
          <a:p>
            <a:r>
              <a:rPr lang="en-US" sz="1800"/>
              <a:t>Today, most driver and front passenger doors have a motor with its own module.</a:t>
            </a:r>
          </a:p>
          <a:p>
            <a:r>
              <a:rPr lang="en-US" sz="1800"/>
              <a:t>Each of the modules is controlled by the BCM.</a:t>
            </a:r>
          </a:p>
          <a:p>
            <a:r>
              <a:rPr lang="en-US" sz="1800"/>
              <a:t>That signal can cause the window to move up or down and convey the action across the serial data network line to control the rear windows.</a:t>
            </a:r>
          </a:p>
        </p:txBody>
      </p:sp>
      <p:pic>
        <p:nvPicPr>
          <p:cNvPr id="6" name="Picture Placeholder 5" descr="A power window circuit. L/R window, L/F window, R/R window, and R/F window are connected in the master switch. Positive battery is connected to an ignition switch, which is further connected to a circuit breaker. The connection between Up and Down throws of L/R window, L/F window, R/R window, and R/F window is further connected together to the circuit breaker; other two throws are connected together to be grounded. The connection between Up and Down throws of L/R window switch, L/F window switch, R/R window switch, and R/F window switch is further connected together to the circuit breaker. The poles of L/R window, L/F window, R/R window, and R/F window in the master switch are connected to the other throws of L/R window switch, L/F window switch, R/R window switch, and R/F window switch respectively. The poles of L/R window switch are connected to either end of the L/R window motor. The poles of L/F window switch are connected to either end of the L/F window motor. The poles of R/R window switch are connected to either end of the R/R window motor. The poles of R/F window switch are connected to either end of the R/F window motor.">
            <a:extLst>
              <a:ext uri="{FF2B5EF4-FFF2-40B4-BE49-F238E27FC236}">
                <a16:creationId xmlns:a16="http://schemas.microsoft.com/office/drawing/2014/main" id="{62FF7A34-16DD-2965-1FA2-C6A41FBB7A9A}"/>
              </a:ext>
            </a:extLst>
          </p:cNvPr>
          <p:cNvPicPr>
            <a:picLocks noGrp="1" noChangeAspect="1"/>
          </p:cNvPicPr>
          <p:nvPr>
            <p:ph type="pic" sz="quarter" idx="10"/>
          </p:nvPr>
        </p:nvPicPr>
        <p:blipFill>
          <a:blip r:embed="rId2"/>
          <a:srcRect b="3926"/>
          <a:stretch/>
        </p:blipFill>
        <p:spPr>
          <a:xfrm>
            <a:off x="6612022" y="1703874"/>
            <a:ext cx="5184334" cy="3946913"/>
          </a:xfrm>
          <a:prstGeom prst="rect">
            <a:avLst/>
          </a:prstGeom>
        </p:spPr>
      </p:pic>
    </p:spTree>
    <p:extLst>
      <p:ext uri="{BB962C8B-B14F-4D97-AF65-F5344CB8AC3E}">
        <p14:creationId xmlns:p14="http://schemas.microsoft.com/office/powerpoint/2010/main" val="163947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182C07-612E-D8BC-34C6-62EDA3ADE91D}"/>
              </a:ext>
            </a:extLst>
          </p:cNvPr>
          <p:cNvSpPr>
            <a:spLocks noGrp="1"/>
          </p:cNvSpPr>
          <p:nvPr>
            <p:ph type="title"/>
          </p:nvPr>
        </p:nvSpPr>
        <p:spPr/>
        <p:txBody>
          <a:bodyPr/>
          <a:lstStyle/>
          <a:p>
            <a:r>
              <a:rPr lang="en-IN"/>
              <a:t>Diagnosis (2 of 2)</a:t>
            </a:r>
          </a:p>
        </p:txBody>
      </p:sp>
      <p:sp>
        <p:nvSpPr>
          <p:cNvPr id="6" name="Text Placeholder 5">
            <a:extLst>
              <a:ext uri="{FF2B5EF4-FFF2-40B4-BE49-F238E27FC236}">
                <a16:creationId xmlns:a16="http://schemas.microsoft.com/office/drawing/2014/main" id="{71099C25-2345-A733-86FE-1858B0DF3672}"/>
              </a:ext>
            </a:extLst>
          </p:cNvPr>
          <p:cNvSpPr>
            <a:spLocks noGrp="1"/>
          </p:cNvSpPr>
          <p:nvPr>
            <p:ph type="body" idx="1"/>
          </p:nvPr>
        </p:nvSpPr>
        <p:spPr/>
        <p:txBody>
          <a:bodyPr/>
          <a:lstStyle/>
          <a:p>
            <a:r>
              <a:rPr lang="en-US" sz="2000"/>
              <a:t>The first step in diagnosing a power window system is to determine whether the whole system or just one or two windows are not working correctly.</a:t>
            </a:r>
          </a:p>
          <a:p>
            <a:r>
              <a:rPr lang="en-US" sz="2000"/>
              <a:t>If it is the whole system, the problem can be isolated to fuses, circuit breakers, or the master control switch.</a:t>
            </a:r>
          </a:p>
          <a:p>
            <a:r>
              <a:rPr lang="en-US" sz="2000"/>
              <a:t>If only a portion of the system does not work, check the components used in the portion that is not working.</a:t>
            </a:r>
          </a:p>
          <a:p>
            <a:r>
              <a:rPr lang="en-US" sz="2000"/>
              <a:t>A scan tool may allow access to window data and motor controls.</a:t>
            </a:r>
          </a:p>
          <a:p>
            <a:r>
              <a:rPr lang="en-US" sz="2000"/>
              <a:t>This allows you to monitor switch operation and command of each motor up and down.</a:t>
            </a:r>
          </a:p>
          <a:p>
            <a:r>
              <a:rPr lang="en-US" sz="2000"/>
              <a:t>To carefully remove the door panels, a special tool is needed, these will reduce the chance of damaging the panel and its retaining clips or rivets.</a:t>
            </a:r>
          </a:p>
          <a:p>
            <a:r>
              <a:rPr lang="en-US" sz="2000"/>
              <a:t>Once the panel is removed, there is access to the mechanisms for the power door locks, windows and mirrors, as well as the speaker in the door.</a:t>
            </a:r>
          </a:p>
        </p:txBody>
      </p:sp>
    </p:spTree>
    <p:extLst>
      <p:ext uri="{BB962C8B-B14F-4D97-AF65-F5344CB8AC3E}">
        <p14:creationId xmlns:p14="http://schemas.microsoft.com/office/powerpoint/2010/main" val="346643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42F3F-30E0-8F1E-1B7E-90B41609956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30C0496-BE19-B3EC-4F22-1E3743C8169F}"/>
              </a:ext>
            </a:extLst>
          </p:cNvPr>
          <p:cNvSpPr>
            <a:spLocks noGrp="1"/>
          </p:cNvSpPr>
          <p:nvPr>
            <p:ph type="title"/>
          </p:nvPr>
        </p:nvSpPr>
        <p:spPr/>
        <p:txBody>
          <a:bodyPr/>
          <a:lstStyle/>
          <a:p>
            <a:r>
              <a:rPr lang="en-IN"/>
              <a:t>Discussion</a:t>
            </a:r>
          </a:p>
        </p:txBody>
      </p:sp>
      <p:sp>
        <p:nvSpPr>
          <p:cNvPr id="6" name="Text Placeholder 5">
            <a:extLst>
              <a:ext uri="{FF2B5EF4-FFF2-40B4-BE49-F238E27FC236}">
                <a16:creationId xmlns:a16="http://schemas.microsoft.com/office/drawing/2014/main" id="{1C711AB8-590D-EEDF-475B-6263D5E4D210}"/>
              </a:ext>
            </a:extLst>
          </p:cNvPr>
          <p:cNvSpPr>
            <a:spLocks noGrp="1"/>
          </p:cNvSpPr>
          <p:nvPr>
            <p:ph type="body" idx="1"/>
          </p:nvPr>
        </p:nvSpPr>
        <p:spPr/>
        <p:txBody>
          <a:bodyPr/>
          <a:lstStyle/>
          <a:p>
            <a:r>
              <a:rPr lang="en-US"/>
              <a:t>A scan tool may allow access to window data and motor controls. This allows you to monitor switch operation and command of each motor up and down.</a:t>
            </a:r>
          </a:p>
          <a:p>
            <a:r>
              <a:rPr lang="en-US"/>
              <a:t>Have a class discussion about how a scan tool would be used for this purpose and what you would expect to see. How would you expect to test the motor? How would you expect to test the switches?</a:t>
            </a:r>
          </a:p>
        </p:txBody>
      </p:sp>
    </p:spTree>
    <p:extLst>
      <p:ext uri="{BB962C8B-B14F-4D97-AF65-F5344CB8AC3E}">
        <p14:creationId xmlns:p14="http://schemas.microsoft.com/office/powerpoint/2010/main" val="4158158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AEEE7-0B7B-6490-461D-BC4686C26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CF03AB-E064-7C81-C601-91CE876955BE}"/>
              </a:ext>
            </a:extLst>
          </p:cNvPr>
          <p:cNvSpPr>
            <a:spLocks noGrp="1"/>
          </p:cNvSpPr>
          <p:nvPr>
            <p:ph type="title"/>
          </p:nvPr>
        </p:nvSpPr>
        <p:spPr/>
        <p:txBody>
          <a:bodyPr/>
          <a:lstStyle/>
          <a:p>
            <a:r>
              <a:rPr lang="en-US"/>
              <a:t>Power Seats</a:t>
            </a:r>
            <a:endParaRPr lang="en-IN"/>
          </a:p>
        </p:txBody>
      </p:sp>
      <p:sp>
        <p:nvSpPr>
          <p:cNvPr id="3" name="Text Placeholder 2">
            <a:extLst>
              <a:ext uri="{FF2B5EF4-FFF2-40B4-BE49-F238E27FC236}">
                <a16:creationId xmlns:a16="http://schemas.microsoft.com/office/drawing/2014/main" id="{A68A0880-76CD-3137-8184-AC7675C1D61E}"/>
              </a:ext>
            </a:extLst>
          </p:cNvPr>
          <p:cNvSpPr>
            <a:spLocks noGrp="1"/>
          </p:cNvSpPr>
          <p:nvPr>
            <p:ph type="body" idx="1"/>
          </p:nvPr>
        </p:nvSpPr>
        <p:spPr>
          <a:xfrm>
            <a:off x="476843" y="1471264"/>
            <a:ext cx="6049217" cy="4509081"/>
          </a:xfrm>
        </p:spPr>
        <p:txBody>
          <a:bodyPr/>
          <a:lstStyle/>
          <a:p>
            <a:r>
              <a:rPr lang="en-US" sz="1800" dirty="0"/>
              <a:t>Power seats allow the driver or passenger to adjust the seat to the most comfortable position.</a:t>
            </a:r>
          </a:p>
          <a:p>
            <a:r>
              <a:rPr lang="en-US" sz="1800" dirty="0"/>
              <a:t>The major components of the system are the seat control and the motors.</a:t>
            </a:r>
          </a:p>
          <a:p>
            <a:r>
              <a:rPr lang="en-US" sz="1800" dirty="0"/>
              <a:t>Power seats generally come in these configurations: four-way, six-way, and nine-way.</a:t>
            </a:r>
          </a:p>
          <a:p>
            <a:r>
              <a:rPr lang="en-US" sz="1800" dirty="0"/>
              <a:t>Some vehicles allow the seats to be adjusted in up to 30 ways.</a:t>
            </a:r>
          </a:p>
          <a:p>
            <a:r>
              <a:rPr lang="en-US" sz="1800" dirty="0"/>
              <a:t>In a four-way system, the whole seat moves up or down, or forward and rearward.</a:t>
            </a:r>
          </a:p>
          <a:p>
            <a:r>
              <a:rPr lang="en-US" sz="1800" dirty="0"/>
              <a:t>A six-way system has the same adjustments, plus the capability to adjust the height of the front and rear of the seat.</a:t>
            </a:r>
          </a:p>
        </p:txBody>
      </p:sp>
      <p:pic>
        <p:nvPicPr>
          <p:cNvPr id="7" name="Picture Placeholder 6" descr="A power seat circuit. Left bussed electrical center with Seat C B 25 A is connected to M I D bussed electrical center which leads to passenger power seat. M I D bussed electrical center is connected to passenger power seat and switches of forward/rearward, front, and rear. The switches of forward/rearward, front, and rear are double pole double switch. The throws in the forward/ rearward are F W D and Back. The throws in the front are Up and down. The throws in the rear are Up and down. In forward/rearward, F W D is connected to position motor through the terminal 6 and Back is connected to other end of position motor through the terminal 1. In front, Up is connected to front tilt motor through the terminal 6 and down is connected to other end of front tilt motor through the terminal 1. In rear, Up is connected to rear tilt motor through the terminal 6 and down is connected to other end of rear tilt motor through the terminal 1.">
            <a:extLst>
              <a:ext uri="{FF2B5EF4-FFF2-40B4-BE49-F238E27FC236}">
                <a16:creationId xmlns:a16="http://schemas.microsoft.com/office/drawing/2014/main" id="{5D8206C6-FF22-49F2-9D39-ACBD6734240F}"/>
              </a:ext>
            </a:extLst>
          </p:cNvPr>
          <p:cNvPicPr>
            <a:picLocks noGrp="1" noChangeAspect="1"/>
          </p:cNvPicPr>
          <p:nvPr>
            <p:ph type="pic" sz="quarter" idx="10"/>
          </p:nvPr>
        </p:nvPicPr>
        <p:blipFill>
          <a:blip r:embed="rId2"/>
          <a:srcRect b="3937"/>
          <a:stretch/>
        </p:blipFill>
        <p:spPr>
          <a:xfrm>
            <a:off x="6816680" y="1411042"/>
            <a:ext cx="4258577" cy="4035916"/>
          </a:xfrm>
          <a:prstGeom prst="rect">
            <a:avLst/>
          </a:prstGeom>
        </p:spPr>
      </p:pic>
    </p:spTree>
    <p:extLst>
      <p:ext uri="{BB962C8B-B14F-4D97-AF65-F5344CB8AC3E}">
        <p14:creationId xmlns:p14="http://schemas.microsoft.com/office/powerpoint/2010/main" val="2975794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0B668-8E7F-09BD-244F-ACBB6A3DEB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7FA2D-DFE6-08CA-BB61-A2C4E5ECE8B6}"/>
              </a:ext>
            </a:extLst>
          </p:cNvPr>
          <p:cNvSpPr>
            <a:spLocks noGrp="1"/>
          </p:cNvSpPr>
          <p:nvPr>
            <p:ph type="title"/>
          </p:nvPr>
        </p:nvSpPr>
        <p:spPr/>
        <p:txBody>
          <a:bodyPr/>
          <a:lstStyle/>
          <a:p>
            <a:r>
              <a:rPr lang="en-US"/>
              <a:t>Power Mirror System</a:t>
            </a:r>
            <a:endParaRPr lang="en-IN"/>
          </a:p>
        </p:txBody>
      </p:sp>
      <p:sp>
        <p:nvSpPr>
          <p:cNvPr id="3" name="Text Placeholder 2">
            <a:extLst>
              <a:ext uri="{FF2B5EF4-FFF2-40B4-BE49-F238E27FC236}">
                <a16:creationId xmlns:a16="http://schemas.microsoft.com/office/drawing/2014/main" id="{2550041E-E9A7-4BF5-AAF5-5EEFAE3F925F}"/>
              </a:ext>
            </a:extLst>
          </p:cNvPr>
          <p:cNvSpPr>
            <a:spLocks noGrp="1"/>
          </p:cNvSpPr>
          <p:nvPr>
            <p:ph type="body" idx="1"/>
          </p:nvPr>
        </p:nvSpPr>
        <p:spPr>
          <a:xfrm>
            <a:off x="476843" y="1471264"/>
            <a:ext cx="7462287" cy="4509081"/>
          </a:xfrm>
        </p:spPr>
        <p:txBody>
          <a:bodyPr/>
          <a:lstStyle/>
          <a:p>
            <a:r>
              <a:rPr lang="en-US" sz="2000"/>
              <a:t>The power mirror system consists of either a four-way button switch or a joystick-type control switch and a dual motor drive assembly located in each mirror assembly.</a:t>
            </a:r>
          </a:p>
          <a:p>
            <a:r>
              <a:rPr lang="en-US" sz="2000"/>
              <a:t>The driver’s door switch assembly has two switches assembled as a single unit.</a:t>
            </a:r>
          </a:p>
          <a:p>
            <a:r>
              <a:rPr lang="en-US" sz="2000"/>
              <a:t>One switch selects which side mirror, left or right, is to be adjusted. The other switch adjusts that mirror.</a:t>
            </a:r>
          </a:p>
          <a:p>
            <a:r>
              <a:rPr lang="en-US" sz="2000"/>
              <a:t>A typical power mirror circuit is an independent circuit unless it is tied to the convenience memory system.</a:t>
            </a:r>
          </a:p>
          <a:p>
            <a:r>
              <a:rPr lang="en-US" sz="2000"/>
              <a:t>In that case, the BCM controls the mirrors along with the seats.</a:t>
            </a:r>
          </a:p>
        </p:txBody>
      </p:sp>
      <p:pic>
        <p:nvPicPr>
          <p:cNvPr id="6" name="Picture Placeholder 5" descr="An illustration of a power mirror circuit. Fuse block, mirror switch, rear view mirror (LH), and rear view mirror (RH). Mirror switch contains two sections, operation switch and select switch. Operation switch consists of three double pole single throw switches where the poles of the switches are as follows: The poles of the first switch are left and right, the poles of the second switch are up and down, the poles of the third switch are left up and right down. Select switch consists of two single pole double throw switches where the throws are left and right. Rear view mirror (LH) contains two motors. Rear view mirror (RH) contains two motors. ACC is applied to ECU-ACC (7.5A) which is further connected to throws left, up, and left up of each switch within operation switch. The throws right, down, and right down are connected towards the ground at E2 through the terminal E (7). Left and right throws are connected together to the pole of the first switch in select switch. Up and down throws are connected together to the pole of the second switch in select switch. In select switch, left throw in the first switch is connected to the first motor in the rear view mirror (LH) through the terminals MLH (5) in the mirror switch and 1 in the rear view mirror (LH). Right throw in the first switch is connected to the second motor in the rear view mirror (RH) through the terminals MRH (2) in the mirror switch and 1 in the rear view mirror (RH). Left throw in the second switch is connected to the second motor in the rear view mirror (LH) through the terminals MLV (4) in the mirror switch and 5 in the rear view mirror (LH). Right throw in the second switch is connected to the first motor in the rear view mirror (RH) through the terminals MRV (3) in the mirror switch and 5 in the rear view mirror (RH). Left up and left right are connected together to the other end of the motors in rear view mirror (LH) and rear view mirror (RH) through the terminals M positive (6) in the mirror switch and 2 in the rear view mirror (LH).">
            <a:extLst>
              <a:ext uri="{FF2B5EF4-FFF2-40B4-BE49-F238E27FC236}">
                <a16:creationId xmlns:a16="http://schemas.microsoft.com/office/drawing/2014/main" id="{D156ED31-2F99-051E-1D21-E0495E04F569}"/>
              </a:ext>
            </a:extLst>
          </p:cNvPr>
          <p:cNvPicPr>
            <a:picLocks noGrp="1" noChangeAspect="1"/>
          </p:cNvPicPr>
          <p:nvPr>
            <p:ph type="pic" sz="quarter" idx="10"/>
          </p:nvPr>
        </p:nvPicPr>
        <p:blipFill>
          <a:blip r:embed="rId2"/>
          <a:srcRect b="7428"/>
          <a:stretch/>
        </p:blipFill>
        <p:spPr>
          <a:xfrm>
            <a:off x="7942731" y="1344221"/>
            <a:ext cx="3772426" cy="4409307"/>
          </a:xfrm>
          <a:prstGeom prst="rect">
            <a:avLst/>
          </a:prstGeom>
        </p:spPr>
      </p:pic>
    </p:spTree>
    <p:extLst>
      <p:ext uri="{BB962C8B-B14F-4D97-AF65-F5344CB8AC3E}">
        <p14:creationId xmlns:p14="http://schemas.microsoft.com/office/powerpoint/2010/main" val="2901472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5B449E7-B737-219D-E99D-56E1589C9250}"/>
              </a:ext>
            </a:extLst>
          </p:cNvPr>
          <p:cNvSpPr>
            <a:spLocks noGrp="1"/>
          </p:cNvSpPr>
          <p:nvPr>
            <p:ph type="title"/>
          </p:nvPr>
        </p:nvSpPr>
        <p:spPr/>
        <p:txBody>
          <a:bodyPr/>
          <a:lstStyle/>
          <a:p>
            <a:r>
              <a:rPr lang="en-US"/>
              <a:t>Rear-Window Defrosters and Heated Mirror Systems</a:t>
            </a:r>
            <a:endParaRPr lang="en-IN"/>
          </a:p>
        </p:txBody>
      </p:sp>
      <p:sp>
        <p:nvSpPr>
          <p:cNvPr id="6" name="Text Placeholder 5">
            <a:extLst>
              <a:ext uri="{FF2B5EF4-FFF2-40B4-BE49-F238E27FC236}">
                <a16:creationId xmlns:a16="http://schemas.microsoft.com/office/drawing/2014/main" id="{5F072F42-4178-E858-4A07-6C3676CBE0F4}"/>
              </a:ext>
            </a:extLst>
          </p:cNvPr>
          <p:cNvSpPr>
            <a:spLocks noGrp="1"/>
          </p:cNvSpPr>
          <p:nvPr>
            <p:ph type="body" idx="1"/>
          </p:nvPr>
        </p:nvSpPr>
        <p:spPr/>
        <p:txBody>
          <a:bodyPr/>
          <a:lstStyle/>
          <a:p>
            <a:r>
              <a:rPr lang="en-US" sz="2200"/>
              <a:t>The rear-window defroster (also called a defogger or deicer) heats the rear-window surface to remove moisture and ice from the window.</a:t>
            </a:r>
          </a:p>
          <a:p>
            <a:r>
              <a:rPr lang="en-US" sz="2200"/>
              <a:t>On some vehicles, the same control heats the outside mirrors.</a:t>
            </a:r>
          </a:p>
          <a:p>
            <a:r>
              <a:rPr lang="en-US" sz="2200"/>
              <a:t>The major components of a rear-window defroster include a switch, relay assembly, and the heating elements on the glass surface.</a:t>
            </a:r>
          </a:p>
          <a:p>
            <a:r>
              <a:rPr lang="en-US" sz="2200"/>
              <a:t>Pressing the rear-window defroster switch momentarily energizes the relay.</a:t>
            </a:r>
          </a:p>
          <a:p>
            <a:r>
              <a:rPr lang="en-US" sz="2200"/>
              <a:t>Battery voltage is then applied through closed contacts of the relay to the rear-window defroster grid.</a:t>
            </a:r>
          </a:p>
          <a:p>
            <a:r>
              <a:rPr lang="en-US" sz="2200"/>
              <a:t>On models with a heated mirror, current also flows through a separate fuse to the mirror’s heated grid.</a:t>
            </a:r>
          </a:p>
          <a:p>
            <a:r>
              <a:rPr lang="en-US" sz="2200"/>
              <a:t>After about 10 minutes, a time-delay circuit opens the ground path to the relay’s coil and the coil de-energizes, shutting off power to the grids.</a:t>
            </a:r>
          </a:p>
        </p:txBody>
      </p:sp>
    </p:spTree>
    <p:extLst>
      <p:ext uri="{BB962C8B-B14F-4D97-AF65-F5344CB8AC3E}">
        <p14:creationId xmlns:p14="http://schemas.microsoft.com/office/powerpoint/2010/main" val="4248293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51042-5162-B78C-3575-2CA6219DF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35483-6784-2AAA-6F2D-664C712FEC51}"/>
              </a:ext>
            </a:extLst>
          </p:cNvPr>
          <p:cNvSpPr>
            <a:spLocks noGrp="1"/>
          </p:cNvSpPr>
          <p:nvPr>
            <p:ph type="title"/>
          </p:nvPr>
        </p:nvSpPr>
        <p:spPr/>
        <p:txBody>
          <a:bodyPr/>
          <a:lstStyle/>
          <a:p>
            <a:r>
              <a:rPr lang="en-US"/>
              <a:t>Advanced Driver Assistance Systems (ADAS)</a:t>
            </a:r>
            <a:endParaRPr lang="en-IN"/>
          </a:p>
        </p:txBody>
      </p:sp>
      <p:sp>
        <p:nvSpPr>
          <p:cNvPr id="3" name="Text Placeholder 2">
            <a:extLst>
              <a:ext uri="{FF2B5EF4-FFF2-40B4-BE49-F238E27FC236}">
                <a16:creationId xmlns:a16="http://schemas.microsoft.com/office/drawing/2014/main" id="{B294B8B3-B6A3-C86F-0D8D-15677308B23F}"/>
              </a:ext>
            </a:extLst>
          </p:cNvPr>
          <p:cNvSpPr>
            <a:spLocks noGrp="1"/>
          </p:cNvSpPr>
          <p:nvPr>
            <p:ph type="body" idx="1"/>
          </p:nvPr>
        </p:nvSpPr>
        <p:spPr>
          <a:xfrm>
            <a:off x="476843" y="1471264"/>
            <a:ext cx="7051299" cy="4509081"/>
          </a:xfrm>
        </p:spPr>
        <p:txBody>
          <a:bodyPr/>
          <a:lstStyle/>
          <a:p>
            <a:pPr marL="0" indent="0">
              <a:buNone/>
            </a:pPr>
            <a:r>
              <a:rPr lang="en-US" sz="2000" b="1" dirty="0"/>
              <a:t>23.10 Describe the operation of various safety systems such as parking assist, blind spot detection, and obstacle sensing systems.</a:t>
            </a:r>
          </a:p>
          <a:p>
            <a:r>
              <a:rPr lang="en-US" sz="2000" dirty="0"/>
              <a:t>Some vehicles are equipped with forward and/or a reverse sensing system that warns the driver when obstacles are within a designated range of the front and rear bumpers.</a:t>
            </a:r>
          </a:p>
          <a:p>
            <a:r>
              <a:rPr lang="en-US" sz="2000" dirty="0"/>
              <a:t>These systems have ultrasonic sensors located in the front and rear bumpers to detect any obstacles at the front and rear of the vehicle.</a:t>
            </a:r>
          </a:p>
          <a:p>
            <a:r>
              <a:rPr lang="en-US" sz="2000" dirty="0"/>
              <a:t>Many vehicles use either sonar or radar sensors that are used for both parking and blind spot monitoring.</a:t>
            </a:r>
          </a:p>
        </p:txBody>
      </p:sp>
      <p:pic>
        <p:nvPicPr>
          <p:cNvPr id="7" name="Picture Placeholder 6" descr="At the rear of a car, to the left of the registration plate is the radar sensor, and above is the rear view camera for reverse sensing.">
            <a:extLst>
              <a:ext uri="{FF2B5EF4-FFF2-40B4-BE49-F238E27FC236}">
                <a16:creationId xmlns:a16="http://schemas.microsoft.com/office/drawing/2014/main" id="{95E599F1-E5EE-672A-2C01-EB77B3BD44BB}"/>
              </a:ext>
            </a:extLst>
          </p:cNvPr>
          <p:cNvPicPr>
            <a:picLocks noGrp="1" noChangeAspect="1"/>
          </p:cNvPicPr>
          <p:nvPr>
            <p:ph type="pic" sz="quarter" idx="10"/>
          </p:nvPr>
        </p:nvPicPr>
        <p:blipFill>
          <a:blip r:embed="rId2"/>
          <a:srcRect b="9008"/>
          <a:stretch/>
        </p:blipFill>
        <p:spPr>
          <a:xfrm>
            <a:off x="7886722" y="1411687"/>
            <a:ext cx="3238952" cy="4034627"/>
          </a:xfrm>
          <a:prstGeom prst="rect">
            <a:avLst/>
          </a:prstGeom>
        </p:spPr>
      </p:pic>
    </p:spTree>
    <p:extLst>
      <p:ext uri="{BB962C8B-B14F-4D97-AF65-F5344CB8AC3E}">
        <p14:creationId xmlns:p14="http://schemas.microsoft.com/office/powerpoint/2010/main" val="111531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9F725-881C-FD95-67B7-28DF30D6F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D12E8-71C4-88C7-FF54-1DFFF1F0770D}"/>
              </a:ext>
            </a:extLst>
          </p:cNvPr>
          <p:cNvSpPr>
            <a:spLocks noGrp="1"/>
          </p:cNvSpPr>
          <p:nvPr>
            <p:ph type="title"/>
          </p:nvPr>
        </p:nvSpPr>
        <p:spPr/>
        <p:txBody>
          <a:bodyPr/>
          <a:lstStyle/>
          <a:p>
            <a:r>
              <a:rPr lang="en-US"/>
              <a:t>Rear View Cameras</a:t>
            </a:r>
            <a:endParaRPr lang="en-IN"/>
          </a:p>
        </p:txBody>
      </p:sp>
      <p:sp>
        <p:nvSpPr>
          <p:cNvPr id="3" name="Text Placeholder 2">
            <a:extLst>
              <a:ext uri="{FF2B5EF4-FFF2-40B4-BE49-F238E27FC236}">
                <a16:creationId xmlns:a16="http://schemas.microsoft.com/office/drawing/2014/main" id="{32B748DC-7717-3277-DB8E-62B1D106A818}"/>
              </a:ext>
            </a:extLst>
          </p:cNvPr>
          <p:cNvSpPr>
            <a:spLocks noGrp="1"/>
          </p:cNvSpPr>
          <p:nvPr>
            <p:ph type="body" idx="1"/>
          </p:nvPr>
        </p:nvSpPr>
        <p:spPr>
          <a:xfrm>
            <a:off x="476843" y="1471264"/>
            <a:ext cx="6254157" cy="4509081"/>
          </a:xfrm>
        </p:spPr>
        <p:txBody>
          <a:bodyPr/>
          <a:lstStyle/>
          <a:p>
            <a:r>
              <a:rPr lang="en-US" sz="2000"/>
              <a:t>To assist the driver in safely backing the vehicle, newer vehicles have a digital camera that sends signals that display the behind-the-vehicle view on the instrument panel, rearview mirror, or the navigation screen.</a:t>
            </a:r>
          </a:p>
          <a:p>
            <a:r>
              <a:rPr lang="en-US" sz="2000"/>
              <a:t>To meet NHTSA (National Highway Traffic Safety Administration) regulations, all 2017 and newer passenger cars, light trucks, and vans are required to have backup cameras.</a:t>
            </a:r>
          </a:p>
          <a:p>
            <a:r>
              <a:rPr lang="en-US" sz="2000"/>
              <a:t>The display allows the driver to see what is behind the vehicle when moving in reverse.</a:t>
            </a:r>
          </a:p>
          <a:p>
            <a:r>
              <a:rPr lang="en-US" sz="2000"/>
              <a:t>In most cases, the display shows a variety of paths, based on color and the current conditions.</a:t>
            </a:r>
          </a:p>
        </p:txBody>
      </p:sp>
      <p:pic>
        <p:nvPicPr>
          <p:cNvPr id="6" name="Picture Placeholder 5" descr="A behind-the-vehicle view on an instrumental panel displays the rear pathway of a car where the center blue area is the one directly behind the vehicle and on either sides is an orange line that depicts the path in which the vehicle is headed as per the position of the steering wheel.">
            <a:extLst>
              <a:ext uri="{FF2B5EF4-FFF2-40B4-BE49-F238E27FC236}">
                <a16:creationId xmlns:a16="http://schemas.microsoft.com/office/drawing/2014/main" id="{24ACFFF9-35F5-E623-E6B5-8C82A8FB8B01}"/>
              </a:ext>
            </a:extLst>
          </p:cNvPr>
          <p:cNvPicPr>
            <a:picLocks noGrp="1" noChangeAspect="1"/>
          </p:cNvPicPr>
          <p:nvPr>
            <p:ph type="pic" sz="quarter" idx="10"/>
          </p:nvPr>
        </p:nvPicPr>
        <p:blipFill>
          <a:blip r:embed="rId2"/>
          <a:srcRect b="14977"/>
          <a:stretch/>
        </p:blipFill>
        <p:spPr>
          <a:xfrm>
            <a:off x="6973007" y="1984753"/>
            <a:ext cx="4742150" cy="3482102"/>
          </a:xfrm>
          <a:prstGeom prst="rect">
            <a:avLst/>
          </a:prstGeom>
        </p:spPr>
      </p:pic>
    </p:spTree>
    <p:extLst>
      <p:ext uri="{BB962C8B-B14F-4D97-AF65-F5344CB8AC3E}">
        <p14:creationId xmlns:p14="http://schemas.microsoft.com/office/powerpoint/2010/main" val="20968260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73E9B-0FF6-61ED-8C85-A8D6769EA23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89601D-1145-C879-35DC-307C3152F7D2}"/>
              </a:ext>
            </a:extLst>
          </p:cNvPr>
          <p:cNvSpPr>
            <a:spLocks noGrp="1"/>
          </p:cNvSpPr>
          <p:nvPr>
            <p:ph type="title"/>
          </p:nvPr>
        </p:nvSpPr>
        <p:spPr/>
        <p:txBody>
          <a:bodyPr/>
          <a:lstStyle/>
          <a:p>
            <a:r>
              <a:rPr lang="en-US"/>
              <a:t>Parking Assist</a:t>
            </a:r>
            <a:endParaRPr lang="en-IN"/>
          </a:p>
        </p:txBody>
      </p:sp>
      <p:sp>
        <p:nvSpPr>
          <p:cNvPr id="6" name="Text Placeholder 5">
            <a:extLst>
              <a:ext uri="{FF2B5EF4-FFF2-40B4-BE49-F238E27FC236}">
                <a16:creationId xmlns:a16="http://schemas.microsoft.com/office/drawing/2014/main" id="{CCD10D56-93C1-5147-B7E4-4A17F4E2893E}"/>
              </a:ext>
            </a:extLst>
          </p:cNvPr>
          <p:cNvSpPr>
            <a:spLocks noGrp="1"/>
          </p:cNvSpPr>
          <p:nvPr>
            <p:ph type="body" idx="1"/>
          </p:nvPr>
        </p:nvSpPr>
        <p:spPr/>
        <p:txBody>
          <a:bodyPr/>
          <a:lstStyle/>
          <a:p>
            <a:r>
              <a:rPr lang="en-US" sz="2000"/>
              <a:t>Using forward and rear sensing monitors and rearview cameras, it allows drivers to park their vehicles easier.</a:t>
            </a:r>
          </a:p>
          <a:p>
            <a:r>
              <a:rPr lang="en-US" sz="2000"/>
              <a:t>The parking assist control unit calculates the vehicle’s location in regards to other vehicles and obstacles.</a:t>
            </a:r>
          </a:p>
          <a:p>
            <a:r>
              <a:rPr lang="en-US" sz="2000"/>
              <a:t>The control unit receives signals from the front and rear sensing monitors, the ECM, steering angle sensor, power steering control unit, and ABS control unit.</a:t>
            </a:r>
          </a:p>
          <a:p>
            <a:r>
              <a:rPr lang="en-US" sz="2000"/>
              <a:t>Tones from the monitoring system become more rapid as the vehicle nears an obstacle.</a:t>
            </a:r>
          </a:p>
          <a:p>
            <a:r>
              <a:rPr lang="en-US" sz="2000"/>
              <a:t>Normally, the view from the camera is displayed on the navigation screen or an information display in the instrument panel or center stack.</a:t>
            </a:r>
          </a:p>
          <a:p>
            <a:r>
              <a:rPr lang="en-US" sz="2000"/>
              <a:t>This view is displayed along with reference lines that mark off the area directly behind the vehicle and an additional area showing where the vehicle is headed.</a:t>
            </a:r>
          </a:p>
        </p:txBody>
      </p:sp>
    </p:spTree>
    <p:extLst>
      <p:ext uri="{BB962C8B-B14F-4D97-AF65-F5344CB8AC3E}">
        <p14:creationId xmlns:p14="http://schemas.microsoft.com/office/powerpoint/2010/main" val="28989447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B3CD0-BF06-24A6-1BDA-F598EFCC4F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69A05-6A01-9E08-93C0-C79426A4A8FE}"/>
              </a:ext>
            </a:extLst>
          </p:cNvPr>
          <p:cNvSpPr>
            <a:spLocks noGrp="1"/>
          </p:cNvSpPr>
          <p:nvPr>
            <p:ph type="title"/>
          </p:nvPr>
        </p:nvSpPr>
        <p:spPr/>
        <p:txBody>
          <a:bodyPr/>
          <a:lstStyle/>
          <a:p>
            <a:r>
              <a:rPr lang="en-US"/>
              <a:t>Blind Spot Detection</a:t>
            </a:r>
            <a:endParaRPr lang="en-IN"/>
          </a:p>
        </p:txBody>
      </p:sp>
      <p:sp>
        <p:nvSpPr>
          <p:cNvPr id="3" name="Text Placeholder 2">
            <a:extLst>
              <a:ext uri="{FF2B5EF4-FFF2-40B4-BE49-F238E27FC236}">
                <a16:creationId xmlns:a16="http://schemas.microsoft.com/office/drawing/2014/main" id="{214E3041-ADBA-2D0A-1F5E-1527D0FA7CD6}"/>
              </a:ext>
            </a:extLst>
          </p:cNvPr>
          <p:cNvSpPr>
            <a:spLocks noGrp="1"/>
          </p:cNvSpPr>
          <p:nvPr>
            <p:ph type="body" idx="1"/>
          </p:nvPr>
        </p:nvSpPr>
        <p:spPr>
          <a:xfrm>
            <a:off x="476843" y="1471264"/>
            <a:ext cx="6851057" cy="4509081"/>
          </a:xfrm>
        </p:spPr>
        <p:txBody>
          <a:bodyPr/>
          <a:lstStyle/>
          <a:p>
            <a:r>
              <a:rPr lang="en-US" sz="2000"/>
              <a:t>Many vehicles now offer an option that allows drivers to view what is on the right and/or left side of their vehicle as they drive along the road.</a:t>
            </a:r>
          </a:p>
          <a:p>
            <a:r>
              <a:rPr lang="en-US" sz="2000"/>
              <a:t>Blind spot information system (BLIS) allows for safer lane changing.</a:t>
            </a:r>
          </a:p>
          <a:p>
            <a:r>
              <a:rPr lang="en-US" sz="2000"/>
              <a:t>This feature can give a driver safe and confident lane changing, especially in a car that has huge blind spots.</a:t>
            </a:r>
          </a:p>
          <a:p>
            <a:r>
              <a:rPr lang="en-US" sz="2000"/>
              <a:t>A blind spot is an area that cannot be clearly seen while operating the vehicle.</a:t>
            </a:r>
          </a:p>
          <a:p>
            <a:r>
              <a:rPr lang="en-US" sz="2000"/>
              <a:t>Radar sensors observe the rear blind spots on both sides of the vehicle and notify the driver of any oncoming or stationary vehicles on either side of the vehicle.</a:t>
            </a:r>
          </a:p>
        </p:txBody>
      </p:sp>
      <p:pic>
        <p:nvPicPr>
          <p:cNvPr id="7" name="Picture Placeholder 6" descr="The Blind spot information system (B L I S) displays the path of the car, with a speed limit of 35, and the bottom left of the rear side lights up indicating the blind spot.">
            <a:extLst>
              <a:ext uri="{FF2B5EF4-FFF2-40B4-BE49-F238E27FC236}">
                <a16:creationId xmlns:a16="http://schemas.microsoft.com/office/drawing/2014/main" id="{EE9BA055-2244-92C0-9B3B-1D475A45BAF5}"/>
              </a:ext>
            </a:extLst>
          </p:cNvPr>
          <p:cNvPicPr>
            <a:picLocks noGrp="1" noChangeAspect="1"/>
          </p:cNvPicPr>
          <p:nvPr>
            <p:ph type="pic" sz="quarter" idx="10"/>
          </p:nvPr>
        </p:nvPicPr>
        <p:blipFill>
          <a:blip r:embed="rId2"/>
          <a:srcRect b="15359"/>
          <a:stretch/>
        </p:blipFill>
        <p:spPr>
          <a:xfrm>
            <a:off x="7636545" y="2076969"/>
            <a:ext cx="4195776" cy="3297670"/>
          </a:xfrm>
          <a:prstGeom prst="rect">
            <a:avLst/>
          </a:prstGeom>
        </p:spPr>
      </p:pic>
    </p:spTree>
    <p:extLst>
      <p:ext uri="{BB962C8B-B14F-4D97-AF65-F5344CB8AC3E}">
        <p14:creationId xmlns:p14="http://schemas.microsoft.com/office/powerpoint/2010/main" val="41341611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5E623C-CECF-49F4-BA50-487A83B4F8AF}"/>
              </a:ext>
            </a:extLst>
          </p:cNvPr>
          <p:cNvSpPr>
            <a:spLocks noGrp="1"/>
          </p:cNvSpPr>
          <p:nvPr>
            <p:ph type="title"/>
          </p:nvPr>
        </p:nvSpPr>
        <p:spPr/>
        <p:txBody>
          <a:bodyPr/>
          <a:lstStyle/>
          <a:p>
            <a:r>
              <a:rPr lang="en-IN"/>
              <a:t>Knowledge Check (2 of 2) </a:t>
            </a:r>
          </a:p>
        </p:txBody>
      </p:sp>
      <p:sp>
        <p:nvSpPr>
          <p:cNvPr id="6" name="Text Placeholder 5">
            <a:extLst>
              <a:ext uri="{FF2B5EF4-FFF2-40B4-BE49-F238E27FC236}">
                <a16:creationId xmlns:a16="http://schemas.microsoft.com/office/drawing/2014/main" id="{9A92F1AC-A5CA-583B-2F89-A7CDE4EC41A4}"/>
              </a:ext>
            </a:extLst>
          </p:cNvPr>
          <p:cNvSpPr>
            <a:spLocks noGrp="1"/>
          </p:cNvSpPr>
          <p:nvPr>
            <p:ph type="body" idx="1"/>
          </p:nvPr>
        </p:nvSpPr>
        <p:spPr/>
        <p:txBody>
          <a:bodyPr/>
          <a:lstStyle/>
          <a:p>
            <a:r>
              <a:rPr lang="en-US"/>
              <a:t>The acronym ADAS has become widely used. What does it stand for and what types of technologies does it include?</a:t>
            </a:r>
          </a:p>
        </p:txBody>
      </p:sp>
    </p:spTree>
    <p:extLst>
      <p:ext uri="{BB962C8B-B14F-4D97-AF65-F5344CB8AC3E}">
        <p14:creationId xmlns:p14="http://schemas.microsoft.com/office/powerpoint/2010/main" val="12112915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FD44B-8794-56F2-ECFF-FEAF62400C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DC66966-BAD5-CC26-E654-A19021A25D77}"/>
              </a:ext>
            </a:extLst>
          </p:cNvPr>
          <p:cNvSpPr>
            <a:spLocks noGrp="1"/>
          </p:cNvSpPr>
          <p:nvPr>
            <p:ph type="title"/>
          </p:nvPr>
        </p:nvSpPr>
        <p:spPr/>
        <p:txBody>
          <a:bodyPr/>
          <a:lstStyle/>
          <a:p>
            <a:r>
              <a:rPr lang="en-IN"/>
              <a:t>Knowledge Check Answer (2 of 2)</a:t>
            </a:r>
          </a:p>
        </p:txBody>
      </p:sp>
      <p:sp>
        <p:nvSpPr>
          <p:cNvPr id="6" name="Text Placeholder 5">
            <a:extLst>
              <a:ext uri="{FF2B5EF4-FFF2-40B4-BE49-F238E27FC236}">
                <a16:creationId xmlns:a16="http://schemas.microsoft.com/office/drawing/2014/main" id="{5F084390-2546-F09F-69AA-312075DB4C42}"/>
              </a:ext>
            </a:extLst>
          </p:cNvPr>
          <p:cNvSpPr>
            <a:spLocks noGrp="1"/>
          </p:cNvSpPr>
          <p:nvPr>
            <p:ph type="body" idx="1"/>
          </p:nvPr>
        </p:nvSpPr>
        <p:spPr/>
        <p:txBody>
          <a:bodyPr/>
          <a:lstStyle/>
          <a:p>
            <a:r>
              <a:rPr lang="en-US" b="1"/>
              <a:t>Answer:</a:t>
            </a:r>
            <a:r>
              <a:rPr lang="en-US"/>
              <a:t> It stands for Advanced Driver Assist Systems, and it includes any technologies that assist the driver in controlling the vehicle. Examples include parking assist, blind spot detection, and may even go as far as semi-autonomous driving.</a:t>
            </a:r>
          </a:p>
        </p:txBody>
      </p:sp>
    </p:spTree>
    <p:extLst>
      <p:ext uri="{BB962C8B-B14F-4D97-AF65-F5344CB8AC3E}">
        <p14:creationId xmlns:p14="http://schemas.microsoft.com/office/powerpoint/2010/main" val="29292535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B3ECD3-C04A-1DE1-1C97-EF25D11D13CB}"/>
              </a:ext>
            </a:extLst>
          </p:cNvPr>
          <p:cNvSpPr>
            <a:spLocks noGrp="1"/>
          </p:cNvSpPr>
          <p:nvPr>
            <p:ph type="title"/>
          </p:nvPr>
        </p:nvSpPr>
        <p:spPr/>
        <p:txBody>
          <a:bodyPr/>
          <a:lstStyle/>
          <a:p>
            <a:r>
              <a:rPr lang="en-IN"/>
              <a:t>Security and Antitheft Devices</a:t>
            </a:r>
          </a:p>
        </p:txBody>
      </p:sp>
      <p:sp>
        <p:nvSpPr>
          <p:cNvPr id="6" name="Text Placeholder 5">
            <a:extLst>
              <a:ext uri="{FF2B5EF4-FFF2-40B4-BE49-F238E27FC236}">
                <a16:creationId xmlns:a16="http://schemas.microsoft.com/office/drawing/2014/main" id="{0A340E90-F50F-FC4E-684A-C1AE05B22CE7}"/>
              </a:ext>
            </a:extLst>
          </p:cNvPr>
          <p:cNvSpPr>
            <a:spLocks noGrp="1"/>
          </p:cNvSpPr>
          <p:nvPr>
            <p:ph type="body" idx="1"/>
          </p:nvPr>
        </p:nvSpPr>
        <p:spPr/>
        <p:txBody>
          <a:bodyPr/>
          <a:lstStyle/>
          <a:p>
            <a:pPr marL="0" indent="0">
              <a:buNone/>
            </a:pPr>
            <a:r>
              <a:rPr lang="en-US" b="1"/>
              <a:t>23.11 Describe the components and operation of the various security systems.</a:t>
            </a:r>
          </a:p>
          <a:p>
            <a:r>
              <a:rPr lang="en-US"/>
              <a:t>Garage Door Opener System</a:t>
            </a:r>
          </a:p>
          <a:p>
            <a:pPr lvl="1"/>
            <a:r>
              <a:rPr lang="en-US"/>
              <a:t>Most late-model vehicles have a programmable garage door opener built into the area around the inside rearview mirror.</a:t>
            </a:r>
          </a:p>
          <a:p>
            <a:pPr lvl="1"/>
            <a:r>
              <a:rPr lang="en-US"/>
              <a:t>This system is programmed with the garage door’s transmitter code and can also be used to control electric gates, entry gates, door locks, home lighting systems, security systems, or other transmitter code-based systems.</a:t>
            </a:r>
          </a:p>
        </p:txBody>
      </p:sp>
    </p:spTree>
    <p:extLst>
      <p:ext uri="{BB962C8B-B14F-4D97-AF65-F5344CB8AC3E}">
        <p14:creationId xmlns:p14="http://schemas.microsoft.com/office/powerpoint/2010/main" val="6895995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37235-BB9E-34C9-E534-6CD243DA88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F03589F-7DAB-8A96-0142-B5C887035B70}"/>
              </a:ext>
            </a:extLst>
          </p:cNvPr>
          <p:cNvSpPr>
            <a:spLocks noGrp="1"/>
          </p:cNvSpPr>
          <p:nvPr>
            <p:ph type="title"/>
          </p:nvPr>
        </p:nvSpPr>
        <p:spPr/>
        <p:txBody>
          <a:bodyPr/>
          <a:lstStyle/>
          <a:p>
            <a:r>
              <a:rPr lang="en-IN"/>
              <a:t>Locks and Keys</a:t>
            </a:r>
          </a:p>
        </p:txBody>
      </p:sp>
      <p:sp>
        <p:nvSpPr>
          <p:cNvPr id="6" name="Text Placeholder 5">
            <a:extLst>
              <a:ext uri="{FF2B5EF4-FFF2-40B4-BE49-F238E27FC236}">
                <a16:creationId xmlns:a16="http://schemas.microsoft.com/office/drawing/2014/main" id="{8F57CD95-3317-6EBA-FE72-2653926E13BF}"/>
              </a:ext>
            </a:extLst>
          </p:cNvPr>
          <p:cNvSpPr>
            <a:spLocks noGrp="1"/>
          </p:cNvSpPr>
          <p:nvPr>
            <p:ph type="body" idx="1"/>
          </p:nvPr>
        </p:nvSpPr>
        <p:spPr/>
        <p:txBody>
          <a:bodyPr/>
          <a:lstStyle/>
          <a:p>
            <a:r>
              <a:rPr lang="en-US" sz="2200"/>
              <a:t>Locks are designed to deny entry to the car as well as to prevent a thief from driving it away.</a:t>
            </a:r>
          </a:p>
          <a:p>
            <a:r>
              <a:rPr lang="en-US" sz="2200"/>
              <a:t>Most locks move a mechanical block between the vehicle’s body and the door. Keys simply move those blocks.</a:t>
            </a:r>
          </a:p>
          <a:p>
            <a:r>
              <a:rPr lang="en-US" sz="2200"/>
              <a:t>Manufacturers use specially cut keys that cannot be easily duplicated and lock mechanisms that are difficult to pick.</a:t>
            </a:r>
          </a:p>
          <a:p>
            <a:r>
              <a:rPr lang="en-US" sz="2200"/>
              <a:t>The master key can lock and unlock the doors, trunk, fuel filler door, and glove compartment all at the same time.</a:t>
            </a:r>
          </a:p>
          <a:p>
            <a:r>
              <a:rPr lang="en-US" sz="2200"/>
              <a:t>A special key, often called a valet key, only works in the doors and ignition, thereby preventing a valet from entering the trunk and glove compartment.</a:t>
            </a:r>
          </a:p>
          <a:p>
            <a:r>
              <a:rPr lang="en-US" sz="2200"/>
              <a:t>Many cars are equipped with special fuel filler doors that help to prevent the theft of gas.</a:t>
            </a:r>
          </a:p>
        </p:txBody>
      </p:sp>
    </p:spTree>
    <p:extLst>
      <p:ext uri="{BB962C8B-B14F-4D97-AF65-F5344CB8AC3E}">
        <p14:creationId xmlns:p14="http://schemas.microsoft.com/office/powerpoint/2010/main" val="27754231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4746A-EF22-658C-1232-2E3FBD33AD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CDB255-8D9C-CDAB-167A-128FEBB93CC6}"/>
              </a:ext>
            </a:extLst>
          </p:cNvPr>
          <p:cNvSpPr>
            <a:spLocks noGrp="1"/>
          </p:cNvSpPr>
          <p:nvPr>
            <p:ph type="title"/>
          </p:nvPr>
        </p:nvSpPr>
        <p:spPr/>
        <p:txBody>
          <a:bodyPr/>
          <a:lstStyle/>
          <a:p>
            <a:r>
              <a:rPr lang="en-US"/>
              <a:t>Smart Keys</a:t>
            </a:r>
            <a:endParaRPr lang="en-IN"/>
          </a:p>
        </p:txBody>
      </p:sp>
      <p:sp>
        <p:nvSpPr>
          <p:cNvPr id="3" name="Text Placeholder 2">
            <a:extLst>
              <a:ext uri="{FF2B5EF4-FFF2-40B4-BE49-F238E27FC236}">
                <a16:creationId xmlns:a16="http://schemas.microsoft.com/office/drawing/2014/main" id="{F4BF3ED8-8D7F-3469-3692-0603A10ACE6B}"/>
              </a:ext>
            </a:extLst>
          </p:cNvPr>
          <p:cNvSpPr>
            <a:spLocks noGrp="1"/>
          </p:cNvSpPr>
          <p:nvPr>
            <p:ph type="body" idx="1"/>
          </p:nvPr>
        </p:nvSpPr>
        <p:spPr>
          <a:xfrm>
            <a:off x="476843" y="1371056"/>
            <a:ext cx="6851057" cy="4509081"/>
          </a:xfrm>
        </p:spPr>
        <p:txBody>
          <a:bodyPr/>
          <a:lstStyle/>
          <a:p>
            <a:r>
              <a:rPr lang="en-US" sz="2000" dirty="0"/>
              <a:t>Newer vehicles are equipped with a specially designed key, or fob.</a:t>
            </a:r>
          </a:p>
          <a:p>
            <a:r>
              <a:rPr lang="en-US" sz="2000" dirty="0"/>
              <a:t>They are commonly used with push button start systems.</a:t>
            </a:r>
          </a:p>
          <a:p>
            <a:r>
              <a:rPr lang="en-US" sz="2000" dirty="0"/>
              <a:t>To start the engine, the system must receive the correct signal from the key.</a:t>
            </a:r>
          </a:p>
          <a:p>
            <a:r>
              <a:rPr lang="en-US" sz="2000" dirty="0"/>
              <a:t>Transponder key systems set up communications between the vehicle’s PCM and the transponder in the key.</a:t>
            </a:r>
          </a:p>
          <a:p>
            <a:r>
              <a:rPr lang="en-US" sz="2000" dirty="0"/>
              <a:t>On many newer vehicles, the transponder does not need to be inserted; it just needs to be close to the vehicle.</a:t>
            </a:r>
          </a:p>
          <a:p>
            <a:r>
              <a:rPr lang="en-US" sz="2000" dirty="0"/>
              <a:t>This system is normally called a smart access system.</a:t>
            </a:r>
          </a:p>
        </p:txBody>
      </p:sp>
      <p:pic>
        <p:nvPicPr>
          <p:cNvPr id="6" name="Picture Placeholder 5" descr="Two transponder or smart keys with a push button to start the engine and the systems.">
            <a:extLst>
              <a:ext uri="{FF2B5EF4-FFF2-40B4-BE49-F238E27FC236}">
                <a16:creationId xmlns:a16="http://schemas.microsoft.com/office/drawing/2014/main" id="{E126F854-5A6B-9503-F53A-BDA1ABCCDDDA}"/>
              </a:ext>
            </a:extLst>
          </p:cNvPr>
          <p:cNvPicPr>
            <a:picLocks noGrp="1" noChangeAspect="1"/>
          </p:cNvPicPr>
          <p:nvPr>
            <p:ph type="pic" sz="quarter" idx="10"/>
          </p:nvPr>
        </p:nvPicPr>
        <p:blipFill>
          <a:blip r:embed="rId2"/>
          <a:srcRect b="7493"/>
          <a:stretch/>
        </p:blipFill>
        <p:spPr>
          <a:xfrm>
            <a:off x="7576711" y="1944904"/>
            <a:ext cx="4230357" cy="3294916"/>
          </a:xfrm>
          <a:prstGeom prst="rect">
            <a:avLst/>
          </a:prstGeom>
        </p:spPr>
      </p:pic>
    </p:spTree>
    <p:extLst>
      <p:ext uri="{BB962C8B-B14F-4D97-AF65-F5344CB8AC3E}">
        <p14:creationId xmlns:p14="http://schemas.microsoft.com/office/powerpoint/2010/main" val="785380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BB125-8B9F-9A7F-FF00-D22D9B2FC3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B5E34-85A3-20D4-BAF8-DE0C4E13768E}"/>
              </a:ext>
            </a:extLst>
          </p:cNvPr>
          <p:cNvSpPr>
            <a:spLocks noGrp="1"/>
          </p:cNvSpPr>
          <p:nvPr>
            <p:ph type="title"/>
          </p:nvPr>
        </p:nvSpPr>
        <p:spPr/>
        <p:txBody>
          <a:bodyPr/>
          <a:lstStyle/>
          <a:p>
            <a:r>
              <a:rPr lang="en-US"/>
              <a:t>Alarm Systems</a:t>
            </a:r>
            <a:endParaRPr lang="en-IN"/>
          </a:p>
        </p:txBody>
      </p:sp>
      <p:sp>
        <p:nvSpPr>
          <p:cNvPr id="3" name="Text Placeholder 2">
            <a:extLst>
              <a:ext uri="{FF2B5EF4-FFF2-40B4-BE49-F238E27FC236}">
                <a16:creationId xmlns:a16="http://schemas.microsoft.com/office/drawing/2014/main" id="{0634A301-1F93-C0A9-8D4E-A49189DF1E1A}"/>
              </a:ext>
            </a:extLst>
          </p:cNvPr>
          <p:cNvSpPr>
            <a:spLocks noGrp="1"/>
          </p:cNvSpPr>
          <p:nvPr>
            <p:ph type="body" idx="1"/>
          </p:nvPr>
        </p:nvSpPr>
        <p:spPr>
          <a:xfrm>
            <a:off x="476843" y="1471264"/>
            <a:ext cx="5860457" cy="4509081"/>
          </a:xfrm>
        </p:spPr>
        <p:txBody>
          <a:bodyPr/>
          <a:lstStyle/>
          <a:p>
            <a:r>
              <a:rPr lang="en-US" sz="2000"/>
              <a:t>Antitheft systems are either installed by the OEM or are installed by aftermarket companies.</a:t>
            </a:r>
          </a:p>
          <a:p>
            <a:r>
              <a:rPr lang="en-US" sz="2000"/>
              <a:t>The basic idea of these systems is to scare away a thief and/or prevent the vehicle from starting.</a:t>
            </a:r>
          </a:p>
          <a:p>
            <a:r>
              <a:rPr lang="en-US" sz="2000"/>
              <a:t>The two methods for activating alarm systems are passive and active.</a:t>
            </a:r>
          </a:p>
          <a:p>
            <a:r>
              <a:rPr lang="en-US" sz="2000"/>
              <a:t>Passive systems switch on automatically when the ignition key is removed or the doors are locked.</a:t>
            </a:r>
          </a:p>
          <a:p>
            <a:r>
              <a:rPr lang="en-US" sz="2000"/>
              <a:t>Active systems are activated with a key fob transmitter, keypad, key, or toggle switch.</a:t>
            </a:r>
          </a:p>
        </p:txBody>
      </p:sp>
      <p:pic>
        <p:nvPicPr>
          <p:cNvPr id="7" name="Picture Placeholder 6" descr="An illustration shows an antitheft system with parts labeled as follows: Headlights, Hood switch, Horn relay, Starter inhibitor, Headlight relay, Ignition switch, Front door key cylinder unlocks switches, Deck lid switch, Trunk key cylinder unlock switch, Door switches, Electronic control module, Starter, and Alarm horn.">
            <a:extLst>
              <a:ext uri="{FF2B5EF4-FFF2-40B4-BE49-F238E27FC236}">
                <a16:creationId xmlns:a16="http://schemas.microsoft.com/office/drawing/2014/main" id="{E6EE1A04-5C05-8F9A-5592-BAEC285D269D}"/>
              </a:ext>
            </a:extLst>
          </p:cNvPr>
          <p:cNvPicPr>
            <a:picLocks noGrp="1" noChangeAspect="1"/>
          </p:cNvPicPr>
          <p:nvPr>
            <p:ph type="pic" sz="quarter" idx="10"/>
          </p:nvPr>
        </p:nvPicPr>
        <p:blipFill>
          <a:blip r:embed="rId2"/>
          <a:srcRect b="9780"/>
          <a:stretch/>
        </p:blipFill>
        <p:spPr>
          <a:xfrm>
            <a:off x="6239726" y="2149498"/>
            <a:ext cx="5672497" cy="3008129"/>
          </a:xfrm>
          <a:prstGeom prst="rect">
            <a:avLst/>
          </a:prstGeom>
        </p:spPr>
      </p:pic>
    </p:spTree>
    <p:extLst>
      <p:ext uri="{BB962C8B-B14F-4D97-AF65-F5344CB8AC3E}">
        <p14:creationId xmlns:p14="http://schemas.microsoft.com/office/powerpoint/2010/main" val="3452934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931957-9D2C-B898-44AB-AD696D8ED4F5}"/>
              </a:ext>
            </a:extLst>
          </p:cNvPr>
          <p:cNvSpPr>
            <a:spLocks noGrp="1"/>
          </p:cNvSpPr>
          <p:nvPr>
            <p:ph type="title"/>
          </p:nvPr>
        </p:nvSpPr>
        <p:spPr/>
        <p:txBody>
          <a:bodyPr/>
          <a:lstStyle/>
          <a:p>
            <a:r>
              <a:rPr lang="en-IN"/>
              <a:t>Chapter Reflection</a:t>
            </a:r>
          </a:p>
        </p:txBody>
      </p:sp>
      <p:sp>
        <p:nvSpPr>
          <p:cNvPr id="6" name="Text Placeholder 5">
            <a:extLst>
              <a:ext uri="{FF2B5EF4-FFF2-40B4-BE49-F238E27FC236}">
                <a16:creationId xmlns:a16="http://schemas.microsoft.com/office/drawing/2014/main" id="{35D6A678-502F-0BB3-8A5E-080499D0A889}"/>
              </a:ext>
            </a:extLst>
          </p:cNvPr>
          <p:cNvSpPr>
            <a:spLocks noGrp="1"/>
          </p:cNvSpPr>
          <p:nvPr>
            <p:ph type="body" idx="1"/>
          </p:nvPr>
        </p:nvSpPr>
        <p:spPr/>
        <p:txBody>
          <a:bodyPr/>
          <a:lstStyle/>
          <a:p>
            <a:pPr marL="0" indent="0">
              <a:buNone/>
            </a:pPr>
            <a:r>
              <a:rPr lang="en-US"/>
              <a:t>Please take a moment to consider what you have learned about electrical accessories in this chapter. Then respond to the following questions in one or two paragraphs. Use 150–200 words in your reflection.</a:t>
            </a:r>
          </a:p>
          <a:p>
            <a:r>
              <a:rPr lang="en-US"/>
              <a:t>Did anything in this chapter interest you more than others? Describe any of the electrical accessories that interest you most.</a:t>
            </a:r>
          </a:p>
          <a:p>
            <a:r>
              <a:rPr lang="en-US"/>
              <a:t>Considering all you have learned, do you feel you are able to perform basic diagnosis and service of electrical accessories in the shop or lab setting? How can be more prepared?</a:t>
            </a:r>
          </a:p>
        </p:txBody>
      </p:sp>
    </p:spTree>
    <p:extLst>
      <p:ext uri="{BB962C8B-B14F-4D97-AF65-F5344CB8AC3E}">
        <p14:creationId xmlns:p14="http://schemas.microsoft.com/office/powerpoint/2010/main" val="26962929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4992</TotalTime>
  <Words>4278</Words>
  <Application>Microsoft Office PowerPoint</Application>
  <PresentationFormat>Widescreen</PresentationFormat>
  <Paragraphs>267</Paragraphs>
  <Slides>44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Work Sans</vt:lpstr>
      <vt:lpstr>Arial</vt:lpstr>
      <vt:lpstr>Calibri</vt:lpstr>
      <vt:lpstr>Optimized Template Master</vt:lpstr>
      <vt:lpstr>Automotive Technology: A Systems Approach, 8e</vt:lpstr>
      <vt:lpstr>Chapter Objectives (1 of 3)</vt:lpstr>
      <vt:lpstr>Chapter Objectives (2 of 3)</vt:lpstr>
      <vt:lpstr>Chapter Objectives (3 of 3)</vt:lpstr>
      <vt:lpstr>Windshield Wiper/ Washer Systems</vt:lpstr>
      <vt:lpstr>Intermittent Wiper Systems</vt:lpstr>
      <vt:lpstr>Windshield Washers</vt:lpstr>
      <vt:lpstr>Wiper System Service</vt:lpstr>
      <vt:lpstr>Washer System Service</vt:lpstr>
      <vt:lpstr>Horns</vt:lpstr>
      <vt:lpstr>Cigarette Lighter/Power Outlet</vt:lpstr>
      <vt:lpstr>Cruise (Speed) Control Systems</vt:lpstr>
      <vt:lpstr>Electronic Cruise Control Systems</vt:lpstr>
      <vt:lpstr>Adaptive Cruise Control (1 of 2)</vt:lpstr>
      <vt:lpstr>Adaptive Cruise Control (2 of 2)</vt:lpstr>
      <vt:lpstr>Knowledge Check (1 of 2)</vt:lpstr>
      <vt:lpstr>Knowledge Check Answer (1 of 2)</vt:lpstr>
      <vt:lpstr>Sound Systems</vt:lpstr>
      <vt:lpstr>Antenna</vt:lpstr>
      <vt:lpstr>Satellite Radio</vt:lpstr>
      <vt:lpstr>Speakers</vt:lpstr>
      <vt:lpstr>CD Players</vt:lpstr>
      <vt:lpstr>Diagnosis (1 of 2)</vt:lpstr>
      <vt:lpstr>Telematics</vt:lpstr>
      <vt:lpstr>Navigation Systems (1 of 2)</vt:lpstr>
      <vt:lpstr>Navigation Systems (2 of 2)</vt:lpstr>
      <vt:lpstr>Power Windows</vt:lpstr>
      <vt:lpstr>Circuit Operation</vt:lpstr>
      <vt:lpstr>Diagnosis (2 of 2)</vt:lpstr>
      <vt:lpstr>Discussion</vt:lpstr>
      <vt:lpstr>Power Seats</vt:lpstr>
      <vt:lpstr>Power Mirror System</vt:lpstr>
      <vt:lpstr>Rear-Window Defrosters and Heated Mirror Systems</vt:lpstr>
      <vt:lpstr>Advanced Driver Assistance Systems (ADAS)</vt:lpstr>
      <vt:lpstr>Rear View Cameras</vt:lpstr>
      <vt:lpstr>Parking Assist</vt:lpstr>
      <vt:lpstr>Blind Spot Detection</vt:lpstr>
      <vt:lpstr>Knowledge Check (2 of 2) </vt:lpstr>
      <vt:lpstr>Knowledge Check Answer (2 of 2)</vt:lpstr>
      <vt:lpstr>Security and Antitheft Devices</vt:lpstr>
      <vt:lpstr>Locks and Keys</vt:lpstr>
      <vt:lpstr>Smart Keys</vt:lpstr>
      <vt:lpstr>Alarm Systems</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DiCaterino, Kara</cp:lastModifiedBy>
  <cp:revision>286</cp:revision>
  <dcterms:created xsi:type="dcterms:W3CDTF">2021-12-10T16:21:02Z</dcterms:created>
  <dcterms:modified xsi:type="dcterms:W3CDTF">2024-10-23T20:31:46Z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