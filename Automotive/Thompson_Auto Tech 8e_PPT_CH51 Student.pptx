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notesMasterIdLst>
    <p:notesMasterId r:id="rId51"/>
  </p:notesMasterIdLst>
  <p:handoutMasterIdLst>
    <p:handoutMasterId r:id="rId52"/>
  </p:handoutMasterIdLst>
  <p:sldIdLst>
    <p:sldId id="342" r:id="rId2"/>
    <p:sldId id="337" r:id="rId3"/>
    <p:sldId id="338" r:id="rId4"/>
    <p:sldId id="257" r:id="rId5"/>
    <p:sldId id="258" r:id="rId6"/>
    <p:sldId id="264" r:id="rId7"/>
    <p:sldId id="266" r:id="rId8"/>
    <p:sldId id="268" r:id="rId9"/>
    <p:sldId id="269" r:id="rId10"/>
    <p:sldId id="272" r:id="rId11"/>
    <p:sldId id="273" r:id="rId12"/>
    <p:sldId id="274" r:id="rId13"/>
    <p:sldId id="275" r:id="rId14"/>
    <p:sldId id="276" r:id="rId15"/>
    <p:sldId id="277" r:id="rId16"/>
    <p:sldId id="339" r:id="rId17"/>
    <p:sldId id="278" r:id="rId18"/>
    <p:sldId id="280" r:id="rId19"/>
    <p:sldId id="283" r:id="rId20"/>
    <p:sldId id="284" r:id="rId21"/>
    <p:sldId id="288" r:id="rId22"/>
    <p:sldId id="289" r:id="rId23"/>
    <p:sldId id="290" r:id="rId24"/>
    <p:sldId id="291" r:id="rId25"/>
    <p:sldId id="293" r:id="rId26"/>
    <p:sldId id="294" r:id="rId27"/>
    <p:sldId id="295" r:id="rId28"/>
    <p:sldId id="297" r:id="rId29"/>
    <p:sldId id="340" r:id="rId30"/>
    <p:sldId id="298" r:id="rId31"/>
    <p:sldId id="300" r:id="rId32"/>
    <p:sldId id="302" r:id="rId33"/>
    <p:sldId id="303" r:id="rId34"/>
    <p:sldId id="304" r:id="rId35"/>
    <p:sldId id="306" r:id="rId36"/>
    <p:sldId id="307" r:id="rId37"/>
    <p:sldId id="311" r:id="rId38"/>
    <p:sldId id="312" r:id="rId39"/>
    <p:sldId id="313" r:id="rId40"/>
    <p:sldId id="315" r:id="rId41"/>
    <p:sldId id="316" r:id="rId42"/>
    <p:sldId id="317" r:id="rId43"/>
    <p:sldId id="319" r:id="rId44"/>
    <p:sldId id="320" r:id="rId45"/>
    <p:sldId id="321" r:id="rId46"/>
    <p:sldId id="322" r:id="rId47"/>
    <p:sldId id="324" r:id="rId48"/>
    <p:sldId id="341" r:id="rId49"/>
    <p:sldId id="334" r:id="rId5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82E89E-A3EC-440D-BF60-D61FC79575C6}" v="13" dt="2024-11-22T17:02:49.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50" autoAdjust="0"/>
    <p:restoredTop sz="86331" autoAdjust="0"/>
  </p:normalViewPr>
  <p:slideViewPr>
    <p:cSldViewPr>
      <p:cViewPr varScale="1">
        <p:scale>
          <a:sx n="64" d="100"/>
          <a:sy n="64" d="100"/>
        </p:scale>
        <p:origin x="656" y="4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gopal Loganathan" userId="EaSm3crqCl59iHUciktDee7zyU+rF3MDLbCEjhOn3WE=" providerId="None" clId="Web-{5382E89E-A3EC-440D-BF60-D61FC79575C6}"/>
    <pc:docChg chg="modSld">
      <pc:chgData name="venugopal Loganathan" userId="EaSm3crqCl59iHUciktDee7zyU+rF3MDLbCEjhOn3WE=" providerId="None" clId="Web-{5382E89E-A3EC-440D-BF60-D61FC79575C6}" dt="2024-11-22T17:02:49.373" v="11" actId="20577"/>
      <pc:docMkLst>
        <pc:docMk/>
      </pc:docMkLst>
      <pc:sldChg chg="modSp">
        <pc:chgData name="venugopal Loganathan" userId="EaSm3crqCl59iHUciktDee7zyU+rF3MDLbCEjhOn3WE=" providerId="None" clId="Web-{5382E89E-A3EC-440D-BF60-D61FC79575C6}" dt="2024-11-22T17:02:32.795" v="5" actId="20577"/>
        <pc:sldMkLst>
          <pc:docMk/>
          <pc:sldMk cId="1550992429" sldId="337"/>
        </pc:sldMkLst>
        <pc:spChg chg="mod">
          <ac:chgData name="venugopal Loganathan" userId="EaSm3crqCl59iHUciktDee7zyU+rF3MDLbCEjhOn3WE=" providerId="None" clId="Web-{5382E89E-A3EC-440D-BF60-D61FC79575C6}" dt="2024-11-22T17:02:32.795" v="5" actId="20577"/>
          <ac:spMkLst>
            <pc:docMk/>
            <pc:sldMk cId="1550992429" sldId="337"/>
            <ac:spMk id="3" creationId="{36703D12-1AEC-425D-1AFD-16158EFF466D}"/>
          </ac:spMkLst>
        </pc:spChg>
      </pc:sldChg>
      <pc:sldChg chg="modSp">
        <pc:chgData name="venugopal Loganathan" userId="EaSm3crqCl59iHUciktDee7zyU+rF3MDLbCEjhOn3WE=" providerId="None" clId="Web-{5382E89E-A3EC-440D-BF60-D61FC79575C6}" dt="2024-11-22T17:02:49.373" v="11" actId="20577"/>
        <pc:sldMkLst>
          <pc:docMk/>
          <pc:sldMk cId="365361036" sldId="338"/>
        </pc:sldMkLst>
        <pc:spChg chg="mod">
          <ac:chgData name="venugopal Loganathan" userId="EaSm3crqCl59iHUciktDee7zyU+rF3MDLbCEjhOn3WE=" providerId="None" clId="Web-{5382E89E-A3EC-440D-BF60-D61FC79575C6}" dt="2024-11-22T17:02:49.373" v="11" actId="20577"/>
          <ac:spMkLst>
            <pc:docMk/>
            <pc:sldMk cId="365361036" sldId="338"/>
            <ac:spMk id="3" creationId="{36703D12-1AEC-425D-1AFD-16158EFF466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6035" cy="456873"/>
          </a:xfrm>
          <a:prstGeom prst="rect">
            <a:avLst/>
          </a:prstGeom>
          <a:noFill/>
          <a:ln>
            <a:noFill/>
          </a:ln>
        </p:spPr>
        <p:txBody>
          <a:bodyPr vert="horz" wrap="none" lIns="80766" tIns="40383" rIns="80766" bIns="40383" anchorCtr="0" compatLnSpc="0"/>
          <a:lstStyle/>
          <a:p>
            <a:pPr hangingPunct="0">
              <a:defRPr sz="1400"/>
            </a:pPr>
            <a:endParaRPr lang="en-US" sz="1300">
              <a:latin typeface="Arial" pitchFamily="18"/>
              <a:ea typeface="Microsoft YaHei" pitchFamily="2"/>
              <a:cs typeface="Mangal" pitchFamily="2"/>
            </a:endParaRPr>
          </a:p>
        </p:txBody>
      </p:sp>
      <p:sp>
        <p:nvSpPr>
          <p:cNvPr id="3" name="Date Placeholder 2"/>
          <p:cNvSpPr txBox="1">
            <a:spLocks noGrp="1"/>
          </p:cNvSpPr>
          <p:nvPr>
            <p:ph type="dt" sz="quarter" idx="1"/>
          </p:nvPr>
        </p:nvSpPr>
        <p:spPr>
          <a:xfrm>
            <a:off x="3881647" y="0"/>
            <a:ext cx="2976035" cy="456873"/>
          </a:xfrm>
          <a:prstGeom prst="rect">
            <a:avLst/>
          </a:prstGeom>
          <a:noFill/>
          <a:ln>
            <a:noFill/>
          </a:ln>
        </p:spPr>
        <p:txBody>
          <a:bodyPr vert="horz" wrap="none" lIns="80766" tIns="40383" rIns="80766" bIns="40383" anchorCtr="0" compatLnSpc="0"/>
          <a:lstStyle/>
          <a:p>
            <a:pPr algn="r" hangingPunct="0">
              <a:defRPr sz="1400"/>
            </a:pPr>
            <a:fld id="{0CFF6583-E885-429B-A0A5-ABC8624DF4D6}" type="datetimeFigureOut">
              <a:t>11/22/2024</a:t>
            </a:fld>
            <a:endParaRPr lang="en-US" sz="1300">
              <a:latin typeface="Arial" pitchFamily="18"/>
              <a:ea typeface="Microsoft YaHei" pitchFamily="2"/>
              <a:cs typeface="Mangal" pitchFamily="2"/>
            </a:endParaRPr>
          </a:p>
        </p:txBody>
      </p:sp>
      <p:sp>
        <p:nvSpPr>
          <p:cNvPr id="4" name="Footer Placeholder 3"/>
          <p:cNvSpPr txBox="1">
            <a:spLocks noGrp="1"/>
          </p:cNvSpPr>
          <p:nvPr>
            <p:ph type="ftr" sz="quarter" idx="2"/>
          </p:nvPr>
        </p:nvSpPr>
        <p:spPr>
          <a:xfrm>
            <a:off x="0" y="8686800"/>
            <a:ext cx="2976035" cy="456873"/>
          </a:xfrm>
          <a:prstGeom prst="rect">
            <a:avLst/>
          </a:prstGeom>
          <a:noFill/>
          <a:ln>
            <a:noFill/>
          </a:ln>
        </p:spPr>
        <p:txBody>
          <a:bodyPr vert="horz" wrap="none" lIns="80766" tIns="40383" rIns="80766" bIns="40383" anchor="b" anchorCtr="0" compatLnSpc="0"/>
          <a:lstStyle/>
          <a:p>
            <a:pPr hangingPunct="0">
              <a:defRPr sz="1400"/>
            </a:pPr>
            <a:endParaRPr lang="en-US" sz="1300">
              <a:latin typeface="Arial" pitchFamily="18"/>
              <a:ea typeface="Microsoft YaHei" pitchFamily="2"/>
              <a:cs typeface="Mangal" pitchFamily="2"/>
            </a:endParaRPr>
          </a:p>
        </p:txBody>
      </p:sp>
      <p:sp>
        <p:nvSpPr>
          <p:cNvPr id="5" name="Slide Number Placeholder 4"/>
          <p:cNvSpPr txBox="1">
            <a:spLocks noGrp="1"/>
          </p:cNvSpPr>
          <p:nvPr>
            <p:ph type="sldNum" sz="quarter" idx="3"/>
          </p:nvPr>
        </p:nvSpPr>
        <p:spPr>
          <a:xfrm>
            <a:off x="3881647" y="8686800"/>
            <a:ext cx="2976035" cy="456873"/>
          </a:xfrm>
          <a:prstGeom prst="rect">
            <a:avLst/>
          </a:prstGeom>
          <a:noFill/>
          <a:ln>
            <a:noFill/>
          </a:ln>
        </p:spPr>
        <p:txBody>
          <a:bodyPr vert="horz" wrap="none" lIns="80766" tIns="40383" rIns="80766" bIns="40383" anchor="b" anchorCtr="0" compatLnSpc="0"/>
          <a:lstStyle/>
          <a:p>
            <a:pPr algn="r" hangingPunct="0">
              <a:defRPr sz="1400"/>
            </a:pPr>
            <a:fld id="{1DDDAD8A-495B-471A-9E27-1F27BF0FE662}" type="slidenum">
              <a:t>‹#›</a:t>
            </a:fld>
            <a:endParaRPr lang="en-US" sz="1300">
              <a:latin typeface="Arial" pitchFamily="18"/>
              <a:ea typeface="Microsoft YaHei" pitchFamily="2"/>
              <a:cs typeface="Mangal" pitchFamily="2"/>
            </a:endParaRPr>
          </a:p>
        </p:txBody>
      </p:sp>
    </p:spTree>
    <p:extLst>
      <p:ext uri="{BB962C8B-B14F-4D97-AF65-F5344CB8AC3E}">
        <p14:creationId xmlns:p14="http://schemas.microsoft.com/office/powerpoint/2010/main" val="2679069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533400" y="763588"/>
            <a:ext cx="6705600" cy="3771900"/>
          </a:xfrm>
          <a:prstGeom prst="rect">
            <a:avLst/>
          </a:prstGeom>
          <a:noFill/>
          <a:ln>
            <a:noFill/>
            <a:prstDash val="solid"/>
          </a:ln>
        </p:spPr>
      </p:sp>
      <p:sp>
        <p:nvSpPr>
          <p:cNvPr id="3" name="Notes Placeholder 2"/>
          <p:cNvSpPr txBox="1">
            <a:spLocks noGrp="1"/>
          </p:cNvSpPr>
          <p:nvPr>
            <p:ph type="body" sz="quarter" idx="3"/>
          </p:nvPr>
        </p:nvSpPr>
        <p:spPr>
          <a:xfrm>
            <a:off x="777239" y="4777560"/>
            <a:ext cx="6217560" cy="4525920"/>
          </a:xfrm>
          <a:prstGeom prst="rect">
            <a:avLst/>
          </a:prstGeom>
          <a:noFill/>
          <a:ln>
            <a:noFill/>
          </a:ln>
        </p:spPr>
        <p:txBody>
          <a:bodyPr lIns="0" tIns="0" rIns="0" bIns="0"/>
          <a:lstStyle/>
          <a:p>
            <a:endParaRPr lang="en-US"/>
          </a:p>
        </p:txBody>
      </p:sp>
      <p:sp>
        <p:nvSpPr>
          <p:cNvPr id="4" name="Header Placeholder 3"/>
          <p:cNvSpPr txBox="1">
            <a:spLocks noGrp="1"/>
          </p:cNvSpPr>
          <p:nvPr>
            <p:ph type="hdr" sz="quarter"/>
          </p:nvPr>
        </p:nvSpPr>
        <p:spPr>
          <a:xfrm>
            <a:off x="0" y="0"/>
            <a:ext cx="3372840" cy="502560"/>
          </a:xfrm>
          <a:prstGeom prst="rect">
            <a:avLst/>
          </a:prstGeom>
          <a:noFill/>
          <a:ln>
            <a:noFill/>
          </a:ln>
        </p:spPr>
        <p:txBody>
          <a:bodyPr lIns="0" tIns="0" rIns="0" bIns="0"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5" name="Date Placeholder 4"/>
          <p:cNvSpPr txBox="1">
            <a:spLocks noGrp="1"/>
          </p:cNvSpPr>
          <p:nvPr>
            <p:ph type="dt" idx="1"/>
          </p:nvPr>
        </p:nvSpPr>
        <p:spPr>
          <a:xfrm>
            <a:off x="4399200" y="0"/>
            <a:ext cx="3372840" cy="502560"/>
          </a:xfrm>
          <a:prstGeom prst="rect">
            <a:avLst/>
          </a:prstGeom>
          <a:noFill/>
          <a:ln>
            <a:noFill/>
          </a:ln>
        </p:spPr>
        <p:txBody>
          <a:bodyPr lIns="0" tIns="0" rIns="0" bIns="0" anchorCtr="0"/>
          <a:lstStyle>
            <a:lvl1pPr lvl="0" algn="r" rtl="0" hangingPunct="0">
              <a:buNone/>
              <a:tabLst/>
              <a:defRPr lang="en-US" sz="1400" kern="1200">
                <a:latin typeface="Times New Roman" pitchFamily="18"/>
                <a:ea typeface="Lucida Sans Unicode" pitchFamily="2"/>
                <a:cs typeface="Tahoma" pitchFamily="2"/>
              </a:defRPr>
            </a:lvl1pPr>
          </a:lstStyle>
          <a:p>
            <a:pPr lvl="0"/>
            <a:fld id="{E3A76ECA-B130-4877-B9D9-E35384AA54AB}" type="datetimeFigureOut">
              <a:t>11/22/2024</a:t>
            </a:fld>
            <a:endParaRPr lang="en-US"/>
          </a:p>
        </p:txBody>
      </p:sp>
      <p:sp>
        <p:nvSpPr>
          <p:cNvPr id="6" name="Footer Placeholder 5"/>
          <p:cNvSpPr txBox="1">
            <a:spLocks noGrp="1"/>
          </p:cNvSpPr>
          <p:nvPr>
            <p:ph type="ftr" sz="quarter" idx="4"/>
          </p:nvPr>
        </p:nvSpPr>
        <p:spPr>
          <a:xfrm>
            <a:off x="0" y="9555480"/>
            <a:ext cx="3372840" cy="502560"/>
          </a:xfrm>
          <a:prstGeom prst="rect">
            <a:avLst/>
          </a:prstGeom>
          <a:noFill/>
          <a:ln>
            <a:noFill/>
          </a:ln>
        </p:spPr>
        <p:txBody>
          <a:bodyPr lIns="0" tIns="0" rIns="0" bIns="0" anchor="b"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7" name="Slide Number Placeholder 6"/>
          <p:cNvSpPr txBox="1">
            <a:spLocks noGrp="1"/>
          </p:cNvSpPr>
          <p:nvPr>
            <p:ph type="sldNum" sz="quarter" idx="5"/>
          </p:nvPr>
        </p:nvSpPr>
        <p:spPr>
          <a:xfrm>
            <a:off x="4399200" y="9555480"/>
            <a:ext cx="3372840" cy="502560"/>
          </a:xfrm>
          <a:prstGeom prst="rect">
            <a:avLst/>
          </a:prstGeom>
          <a:noFill/>
          <a:ln>
            <a:noFill/>
          </a:ln>
        </p:spPr>
        <p:txBody>
          <a:bodyPr lIns="0" tIns="0" rIns="0" bIns="0" anchor="b" anchorCtr="0"/>
          <a:lstStyle>
            <a:lvl1pPr lvl="0" algn="r" rtl="0" hangingPunct="0">
              <a:buNone/>
              <a:tabLst/>
              <a:defRPr lang="en-US" sz="1400" kern="1200">
                <a:latin typeface="Times New Roman" pitchFamily="18"/>
                <a:ea typeface="Lucida Sans Unicode" pitchFamily="2"/>
                <a:cs typeface="Tahoma" pitchFamily="2"/>
              </a:defRPr>
            </a:lvl1pPr>
          </a:lstStyle>
          <a:p>
            <a:pPr lvl="0"/>
            <a:fld id="{27C4BE7E-529A-44E1-9AAE-5E69FC94DB3E}" type="slidenum">
              <a:t>‹#›</a:t>
            </a:fld>
            <a:endParaRPr lang="en-US"/>
          </a:p>
        </p:txBody>
      </p:sp>
    </p:spTree>
    <p:extLst>
      <p:ext uri="{BB962C8B-B14F-4D97-AF65-F5344CB8AC3E}">
        <p14:creationId xmlns:p14="http://schemas.microsoft.com/office/powerpoint/2010/main" val="2514702631"/>
      </p:ext>
    </p:extLst>
  </p:cSld>
  <p:clrMap bg1="lt1" tx1="dk1" bg2="lt2" tx2="dk2" accent1="accent1" accent2="accent2" accent3="accent3" accent4="accent4" accent5="accent5" accent6="accent6" hlink="hlink" folHlink="folHlink"/>
  <p:notesStyle>
    <a:lvl1pPr marL="216000" marR="0" indent="-216000" rtl="0" hangingPunct="0">
      <a:tabLst/>
      <a:defRPr lang="en-US" sz="2000" b="0" i="0" u="none" strike="noStrike" kern="1200">
        <a:ln>
          <a:noFill/>
        </a:ln>
        <a:latin typeface="Arial" pitchFamily="18"/>
        <a:ea typeface="Microsoft YaHei"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047202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013656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3989346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896646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621527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294644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462648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008264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663950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538960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856748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14AAC51E-E321-4A7D-9A46-3EBED5BF12CB}" type="slidenum">
              <a:t>15</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1620279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14AAC51E-E321-4A7D-9A46-3EBED5BF12CB}" type="slidenum">
              <a:t>16</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35615226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953296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647654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0563824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3108579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2136665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848566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03845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6230288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3554217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9140735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057524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C3606552-FD04-46C8-B65A-2FA4C0A14654}" type="slidenum">
              <a:t>28</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7444929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C3606552-FD04-46C8-B65A-2FA4C0A14654}" type="slidenum">
              <a:t>29</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9663536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3633182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9192473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2695092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6946381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8354604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3912938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053953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6113094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1213541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2872515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3455207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5538502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8693994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8584861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7411103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016866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50478904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54ECCA3B-B68B-4105-BC41-BBF78E856806}" type="slidenum">
              <a:t>47</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26091152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54ECCA3B-B68B-4105-BC41-BBF78E856806}" type="slidenum">
              <a:t>48</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3073691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42900" algn="l">
              <a:lnSpc>
                <a:spcPct val="100000"/>
              </a:lnSpc>
              <a:spcBef>
                <a:spcPts val="624"/>
              </a:spcBef>
              <a:spcAft>
                <a:spcPts val="600"/>
              </a:spcAft>
              <a:buClr>
                <a:schemeClr val="tx1"/>
              </a:buClr>
              <a:buSzPct val="100000"/>
              <a:buChar char="•"/>
              <a:defRPr sz="2600"/>
            </a:lvl1pPr>
            <a:lvl2pPr marL="685800" lvl="1" indent="-295275" algn="l">
              <a:lnSpc>
                <a:spcPct val="100000"/>
              </a:lnSpc>
              <a:spcBef>
                <a:spcPts val="624"/>
              </a:spcBef>
              <a:spcAft>
                <a:spcPts val="600"/>
              </a:spcAft>
              <a:buSzPct val="100000"/>
              <a:buFont typeface="Arial" panose="020B0604020202020204" pitchFamily="34" charset="0"/>
              <a:buChar char="–"/>
              <a:defRPr sz="2400" b="0"/>
            </a:lvl2pPr>
            <a:lvl3pPr marL="1028700" lvl="2" indent="-262889" algn="l">
              <a:lnSpc>
                <a:spcPct val="100000"/>
              </a:lnSpc>
              <a:spcBef>
                <a:spcPts val="624"/>
              </a:spcBef>
              <a:spcAft>
                <a:spcPts val="600"/>
              </a:spcAft>
              <a:buSzPct val="8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sz="2400" dirty="0"/>
          </a:p>
          <a:p>
            <a:pPr lvl="2"/>
            <a:endParaRPr lang="en-US" dirty="0"/>
          </a:p>
        </p:txBody>
      </p:sp>
    </p:spTree>
    <p:extLst>
      <p:ext uri="{BB962C8B-B14F-4D97-AF65-F5344CB8AC3E}">
        <p14:creationId xmlns:p14="http://schemas.microsoft.com/office/powerpoint/2010/main" val="1892890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7"/>
            <a:ext cx="11241915" cy="2551173"/>
          </a:xfrm>
          <a:prstGeom prst="rect">
            <a:avLst/>
          </a:prstGeom>
          <a:noFill/>
          <a:ln>
            <a:noFill/>
          </a:ln>
        </p:spPr>
        <p:txBody>
          <a:bodyPr spcFirstLastPara="1" wrap="square" lIns="91425" tIns="45700" rIns="91425" bIns="45700" anchor="t" anchorCtr="0">
            <a:noAutofit/>
          </a:bodyPr>
          <a:lstStyle>
            <a:lvl1pPr marL="342900" lvl="0" indent="-342900" algn="l">
              <a:lnSpc>
                <a:spcPct val="100000"/>
              </a:lnSpc>
              <a:spcBef>
                <a:spcPts val="624"/>
              </a:spcBef>
              <a:spcAft>
                <a:spcPts val="600"/>
              </a:spcAft>
              <a:buClr>
                <a:schemeClr val="tx1"/>
              </a:buClr>
              <a:buSzPct val="100000"/>
              <a:buChar char="•"/>
              <a:defRPr sz="2600"/>
            </a:lvl1pPr>
            <a:lvl2pPr marL="685800" lvl="1" indent="-295275" algn="l">
              <a:lnSpc>
                <a:spcPct val="100000"/>
              </a:lnSpc>
              <a:spcBef>
                <a:spcPts val="624"/>
              </a:spcBef>
              <a:spcAft>
                <a:spcPts val="600"/>
              </a:spcAft>
              <a:buSzPct val="100000"/>
              <a:buFont typeface="Arial" panose="020B0604020202020204" pitchFamily="34" charset="0"/>
              <a:buChar char="–"/>
              <a:defRPr sz="2400" b="0"/>
            </a:lvl2pPr>
            <a:lvl3pPr marL="1028700" lvl="2" indent="-262889" algn="l">
              <a:lnSpc>
                <a:spcPct val="100000"/>
              </a:lnSpc>
              <a:spcBef>
                <a:spcPts val="624"/>
              </a:spcBef>
              <a:spcAft>
                <a:spcPts val="600"/>
              </a:spcAft>
              <a:buSzPct val="8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sz="2400" dirty="0"/>
          </a:p>
          <a:p>
            <a:pPr lvl="2"/>
            <a:endParaRPr lang="en-US" dirty="0"/>
          </a:p>
        </p:txBody>
      </p:sp>
      <p:sp>
        <p:nvSpPr>
          <p:cNvPr id="3" name="Content Placeholder 2">
            <a:extLst>
              <a:ext uri="{FF2B5EF4-FFF2-40B4-BE49-F238E27FC236}">
                <a16:creationId xmlns:a16="http://schemas.microsoft.com/office/drawing/2014/main" id="{F2DECF0D-9FCB-117B-29D0-660E38A81BF8}"/>
              </a:ext>
            </a:extLst>
          </p:cNvPr>
          <p:cNvSpPr>
            <a:spLocks noGrp="1"/>
          </p:cNvSpPr>
          <p:nvPr>
            <p:ph sz="quarter" idx="10"/>
          </p:nvPr>
        </p:nvSpPr>
        <p:spPr>
          <a:xfrm>
            <a:off x="838200" y="44196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0BE1294C-92B4-BD63-442B-0F9F5F683E95}"/>
              </a:ext>
            </a:extLst>
          </p:cNvPr>
          <p:cNvSpPr>
            <a:spLocks noGrp="1"/>
          </p:cNvSpPr>
          <p:nvPr>
            <p:ph type="pic" sz="quarter" idx="11"/>
          </p:nvPr>
        </p:nvSpPr>
        <p:spPr>
          <a:xfrm>
            <a:off x="2590800" y="4495800"/>
            <a:ext cx="914400" cy="914400"/>
          </a:xfrm>
        </p:spPr>
        <p:txBody>
          <a:bodyPr/>
          <a:lstStyle/>
          <a:p>
            <a:endParaRPr lang="en-IN"/>
          </a:p>
        </p:txBody>
      </p:sp>
      <p:sp>
        <p:nvSpPr>
          <p:cNvPr id="7" name="Picture Placeholder 6">
            <a:extLst>
              <a:ext uri="{FF2B5EF4-FFF2-40B4-BE49-F238E27FC236}">
                <a16:creationId xmlns:a16="http://schemas.microsoft.com/office/drawing/2014/main" id="{815A7E60-91A9-A0FA-189E-1F95359A0A7A}"/>
              </a:ext>
            </a:extLst>
          </p:cNvPr>
          <p:cNvSpPr>
            <a:spLocks noGrp="1"/>
          </p:cNvSpPr>
          <p:nvPr>
            <p:ph type="pic" sz="quarter" idx="12"/>
          </p:nvPr>
        </p:nvSpPr>
        <p:spPr>
          <a:xfrm>
            <a:off x="4267200" y="4419600"/>
            <a:ext cx="914400" cy="914400"/>
          </a:xfrm>
        </p:spPr>
        <p:txBody>
          <a:bodyPr/>
          <a:lstStyle/>
          <a:p>
            <a:endParaRPr lang="en-IN"/>
          </a:p>
        </p:txBody>
      </p:sp>
      <p:sp>
        <p:nvSpPr>
          <p:cNvPr id="9" name="Table Placeholder 8">
            <a:extLst>
              <a:ext uri="{FF2B5EF4-FFF2-40B4-BE49-F238E27FC236}">
                <a16:creationId xmlns:a16="http://schemas.microsoft.com/office/drawing/2014/main" id="{6F686AC8-6319-3846-D02E-B8EF86575F8C}"/>
              </a:ext>
            </a:extLst>
          </p:cNvPr>
          <p:cNvSpPr>
            <a:spLocks noGrp="1"/>
          </p:cNvSpPr>
          <p:nvPr>
            <p:ph type="tbl" sz="quarter" idx="13"/>
          </p:nvPr>
        </p:nvSpPr>
        <p:spPr>
          <a:xfrm>
            <a:off x="6096000" y="4724400"/>
            <a:ext cx="914400" cy="914400"/>
          </a:xfrm>
        </p:spPr>
        <p:txBody>
          <a:bodyPr/>
          <a:lstStyle/>
          <a:p>
            <a:endParaRPr lang="en-IN"/>
          </a:p>
        </p:txBody>
      </p:sp>
    </p:spTree>
    <p:extLst>
      <p:ext uri="{BB962C8B-B14F-4D97-AF65-F5344CB8AC3E}">
        <p14:creationId xmlns:p14="http://schemas.microsoft.com/office/powerpoint/2010/main" val="2234878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321758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fld id="{59152B9B-53D4-4262-BC56-9DD9DC50DC03}" type="datetime1">
              <a:rPr lang="en-US" smtClean="0"/>
              <a:pPr lvl="0"/>
              <a:t>11/22/2024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pPr lvl="0"/>
            <a:fld id="{E2265741-C155-4210-9631-90830F701BCB}" type="slidenum">
              <a:rPr lang="en-US" smtClean="0"/>
              <a:t>‹#›</a:t>
            </a:fld>
            <a:endParaRPr lang="en-US"/>
          </a:p>
        </p:txBody>
      </p:sp>
    </p:spTree>
    <p:extLst>
      <p:ext uri="{BB962C8B-B14F-4D97-AF65-F5344CB8AC3E}">
        <p14:creationId xmlns:p14="http://schemas.microsoft.com/office/powerpoint/2010/main" val="4293726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3196883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751021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747754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716923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351027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691829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6534809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4596585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910124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7230305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531405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59152B9B-53D4-4262-BC56-9DD9DC50DC03}"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E55C27AD-0CDD-4D4D-85AD-7359BACEC139}" type="slidenum">
              <a:rPr lang="en-US" smtClean="0"/>
              <a:t>‹#›</a:t>
            </a:fld>
            <a:endParaRPr lang="en-US"/>
          </a:p>
        </p:txBody>
      </p:sp>
    </p:spTree>
    <p:extLst>
      <p:ext uri="{BB962C8B-B14F-4D97-AF65-F5344CB8AC3E}">
        <p14:creationId xmlns:p14="http://schemas.microsoft.com/office/powerpoint/2010/main" val="317041839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CAE29A81-2159-493C-A7FF-1AB12F9C1898}"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A64E16EE-CDC7-4436-BA14-93E9B54FAE14}" type="slidenum">
              <a:t>‹#›</a:t>
            </a:fld>
            <a:endParaRPr lang="en-US"/>
          </a:p>
        </p:txBody>
      </p:sp>
      <p:sp>
        <p:nvSpPr>
          <p:cNvPr id="5" name="Title 1"/>
          <p:cNvSpPr>
            <a:spLocks noGrp="1"/>
          </p:cNvSpPr>
          <p:nvPr>
            <p:ph type="title"/>
          </p:nvPr>
        </p:nvSpPr>
        <p:spPr>
          <a:xfrm>
            <a:off x="609600" y="38100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508000" y="1752600"/>
            <a:ext cx="10972800" cy="137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641600" y="3505200"/>
            <a:ext cx="1828800" cy="1143000"/>
          </a:xfrm>
        </p:spPr>
        <p:txBody>
          <a:bodyPr/>
          <a:lstStyle/>
          <a:p>
            <a:endParaRPr lang="en-US"/>
          </a:p>
        </p:txBody>
      </p:sp>
      <p:sp>
        <p:nvSpPr>
          <p:cNvPr id="11" name="Picture Placeholder 10"/>
          <p:cNvSpPr>
            <a:spLocks noGrp="1"/>
          </p:cNvSpPr>
          <p:nvPr>
            <p:ph type="pic" sz="quarter" idx="15"/>
          </p:nvPr>
        </p:nvSpPr>
        <p:spPr>
          <a:xfrm>
            <a:off x="6400800" y="3505200"/>
            <a:ext cx="1422400" cy="1219200"/>
          </a:xfrm>
        </p:spPr>
        <p:txBody>
          <a:bodyPr/>
          <a:lstStyle/>
          <a:p>
            <a:endParaRPr lang="en-US"/>
          </a:p>
        </p:txBody>
      </p:sp>
      <p:sp>
        <p:nvSpPr>
          <p:cNvPr id="13" name="Content Placeholder 12"/>
          <p:cNvSpPr>
            <a:spLocks noGrp="1"/>
          </p:cNvSpPr>
          <p:nvPr>
            <p:ph sz="quarter" idx="16"/>
          </p:nvPr>
        </p:nvSpPr>
        <p:spPr>
          <a:xfrm>
            <a:off x="406400" y="5105400"/>
            <a:ext cx="11277600" cy="60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922569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447D2713-B821-4972-92D8-0FB2B48231D2}"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D30CCBA6-77EC-47CF-A0A0-1F621AE4D359}"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10744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3251200" y="3200400"/>
            <a:ext cx="1320800" cy="1295400"/>
          </a:xfrm>
        </p:spPr>
        <p:txBody>
          <a:bodyPr/>
          <a:lstStyle/>
          <a:p>
            <a:endParaRPr lang="en-US"/>
          </a:p>
        </p:txBody>
      </p:sp>
      <p:sp>
        <p:nvSpPr>
          <p:cNvPr id="11" name="Picture Placeholder 10"/>
          <p:cNvSpPr>
            <a:spLocks noGrp="1"/>
          </p:cNvSpPr>
          <p:nvPr>
            <p:ph type="pic" sz="quarter" idx="15"/>
          </p:nvPr>
        </p:nvSpPr>
        <p:spPr>
          <a:xfrm>
            <a:off x="6299200" y="3276600"/>
            <a:ext cx="914400" cy="1371600"/>
          </a:xfrm>
        </p:spPr>
        <p:txBody>
          <a:bodyPr/>
          <a:lstStyle/>
          <a:p>
            <a:endParaRPr lang="en-US"/>
          </a:p>
        </p:txBody>
      </p:sp>
      <p:sp>
        <p:nvSpPr>
          <p:cNvPr id="13" name="Content Placeholder 12"/>
          <p:cNvSpPr>
            <a:spLocks noGrp="1"/>
          </p:cNvSpPr>
          <p:nvPr>
            <p:ph sz="quarter" idx="16"/>
          </p:nvPr>
        </p:nvSpPr>
        <p:spPr>
          <a:xfrm>
            <a:off x="508000" y="4724400"/>
            <a:ext cx="11176000" cy="83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8280194"/>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39CDF1AE-1635-4182-A666-A62167E29D27}"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BF36497D-2C72-45A1-BF9C-5C5C491DAD72}" type="slidenum">
              <a:t>‹#›</a:t>
            </a:fld>
            <a:endParaRPr lang="en-US"/>
          </a:p>
        </p:txBody>
      </p:sp>
      <p:sp>
        <p:nvSpPr>
          <p:cNvPr id="6" name="Title 1"/>
          <p:cNvSpPr>
            <a:spLocks noGrp="1"/>
          </p:cNvSpPr>
          <p:nvPr>
            <p:ph type="title"/>
          </p:nvPr>
        </p:nvSpPr>
        <p:spPr>
          <a:xfrm>
            <a:off x="609600" y="273600"/>
            <a:ext cx="10972320" cy="1144800"/>
          </a:xfrm>
        </p:spPr>
        <p:txBody>
          <a:bodyPr/>
          <a:lstStyle/>
          <a:p>
            <a:r>
              <a:rPr lang="en-US"/>
              <a:t>Click to edit Master title style</a:t>
            </a:r>
            <a:endParaRPr lang="ru-RU"/>
          </a:p>
        </p:txBody>
      </p:sp>
      <p:sp>
        <p:nvSpPr>
          <p:cNvPr id="8" name="Content Placeholder 7"/>
          <p:cNvSpPr>
            <a:spLocks noGrp="1"/>
          </p:cNvSpPr>
          <p:nvPr>
            <p:ph sz="quarter" idx="13"/>
          </p:nvPr>
        </p:nvSpPr>
        <p:spPr>
          <a:xfrm>
            <a:off x="508000" y="1752600"/>
            <a:ext cx="111760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p:cNvSpPr>
            <a:spLocks noGrp="1"/>
          </p:cNvSpPr>
          <p:nvPr>
            <p:ph type="pic" sz="quarter" idx="14"/>
          </p:nvPr>
        </p:nvSpPr>
        <p:spPr>
          <a:xfrm>
            <a:off x="2743200" y="3429000"/>
            <a:ext cx="1727200" cy="1447800"/>
          </a:xfrm>
        </p:spPr>
        <p:txBody>
          <a:bodyPr/>
          <a:lstStyle/>
          <a:p>
            <a:endParaRPr lang="en-US"/>
          </a:p>
        </p:txBody>
      </p:sp>
      <p:sp>
        <p:nvSpPr>
          <p:cNvPr id="12" name="Picture Placeholder 11"/>
          <p:cNvSpPr>
            <a:spLocks noGrp="1"/>
          </p:cNvSpPr>
          <p:nvPr>
            <p:ph type="pic" sz="quarter" idx="15"/>
          </p:nvPr>
        </p:nvSpPr>
        <p:spPr>
          <a:xfrm>
            <a:off x="7010400" y="3429000"/>
            <a:ext cx="1625600" cy="1600200"/>
          </a:xfrm>
        </p:spPr>
        <p:txBody>
          <a:bodyPr/>
          <a:lstStyle/>
          <a:p>
            <a:endParaRPr lang="en-US"/>
          </a:p>
        </p:txBody>
      </p:sp>
      <p:sp>
        <p:nvSpPr>
          <p:cNvPr id="14" name="Content Placeholder 13"/>
          <p:cNvSpPr>
            <a:spLocks noGrp="1"/>
          </p:cNvSpPr>
          <p:nvPr>
            <p:ph sz="quarter" idx="16"/>
          </p:nvPr>
        </p:nvSpPr>
        <p:spPr>
          <a:xfrm>
            <a:off x="508000" y="5105400"/>
            <a:ext cx="11277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18922846"/>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D0FF7FFA-5BD5-4A53-A9FF-8E5D7E241A8D}"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64B128BF-10B0-4699-9462-13EDA264AFAB}"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9728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743200" y="3352800"/>
            <a:ext cx="1422400" cy="762000"/>
          </a:xfrm>
        </p:spPr>
        <p:txBody>
          <a:bodyPr/>
          <a:lstStyle/>
          <a:p>
            <a:endParaRPr lang="en-US"/>
          </a:p>
        </p:txBody>
      </p:sp>
      <p:sp>
        <p:nvSpPr>
          <p:cNvPr id="11" name="Picture Placeholder 10"/>
          <p:cNvSpPr>
            <a:spLocks noGrp="1"/>
          </p:cNvSpPr>
          <p:nvPr>
            <p:ph type="pic" sz="quarter" idx="15"/>
          </p:nvPr>
        </p:nvSpPr>
        <p:spPr>
          <a:xfrm>
            <a:off x="6096000" y="3124200"/>
            <a:ext cx="1320800" cy="914400"/>
          </a:xfrm>
        </p:spPr>
        <p:txBody>
          <a:bodyPr/>
          <a:lstStyle/>
          <a:p>
            <a:endParaRPr lang="en-US"/>
          </a:p>
        </p:txBody>
      </p:sp>
      <p:sp>
        <p:nvSpPr>
          <p:cNvPr id="13" name="Content Placeholder 12"/>
          <p:cNvSpPr>
            <a:spLocks noGrp="1"/>
          </p:cNvSpPr>
          <p:nvPr>
            <p:ph sz="quarter" idx="16"/>
          </p:nvPr>
        </p:nvSpPr>
        <p:spPr>
          <a:xfrm>
            <a:off x="508000" y="4495800"/>
            <a:ext cx="11176000" cy="83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p:cNvSpPr>
            <a:spLocks noGrp="1"/>
          </p:cNvSpPr>
          <p:nvPr>
            <p:ph type="pic" sz="quarter" idx="17"/>
          </p:nvPr>
        </p:nvSpPr>
        <p:spPr>
          <a:xfrm>
            <a:off x="9144000" y="3200400"/>
            <a:ext cx="1016000" cy="1066800"/>
          </a:xfrm>
        </p:spPr>
        <p:txBody>
          <a:bodyPr/>
          <a:lstStyle/>
          <a:p>
            <a:endParaRPr lang="en-US"/>
          </a:p>
        </p:txBody>
      </p:sp>
    </p:spTree>
    <p:extLst>
      <p:ext uri="{BB962C8B-B14F-4D97-AF65-F5344CB8AC3E}">
        <p14:creationId xmlns:p14="http://schemas.microsoft.com/office/powerpoint/2010/main" val="394716690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289917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3">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B86F5C07-5A91-6B41-10A9-495B94025B20}"/>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extLst>
      <p:ext uri="{BB962C8B-B14F-4D97-AF65-F5344CB8AC3E}">
        <p14:creationId xmlns:p14="http://schemas.microsoft.com/office/powerpoint/2010/main" val="2594156377"/>
      </p:ext>
    </p:extLst>
  </p:cSld>
  <p:clrMap bg1="lt1" tx1="dk1" bg2="dk2" tx2="lt2" accent1="accent1" accent2="accent2" accent3="accent3" accent4="accent4" accent5="accent5" accent6="accent6" hlink="hlink" folHlink="folHlink"/>
  <p:sldLayoutIdLst>
    <p:sldLayoutId id="2147483711" r:id="rId1"/>
    <p:sldLayoutId id="214748373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51: </a:t>
            </a:r>
            <a:r>
              <a:rPr lang="en-US" sz="3200" dirty="0">
                <a:solidFill>
                  <a:srgbClr val="FFFFFF"/>
                </a:solidFill>
                <a:latin typeface="Work Sans" pitchFamily="2" charset="0"/>
                <a:ea typeface="Arial"/>
                <a:cs typeface="Arial"/>
                <a:sym typeface="Arial"/>
              </a:rPr>
              <a:t>Drum Brakes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D1179-973A-C0C4-4974-8DC0BC4CE0AA}"/>
              </a:ext>
            </a:extLst>
          </p:cNvPr>
          <p:cNvSpPr>
            <a:spLocks noGrp="1"/>
          </p:cNvSpPr>
          <p:nvPr>
            <p:ph type="title"/>
          </p:nvPr>
        </p:nvSpPr>
        <p:spPr/>
        <p:txBody>
          <a:bodyPr/>
          <a:lstStyle/>
          <a:p>
            <a:r>
              <a:rPr lang="en-US" dirty="0"/>
              <a:t>Chapter Objectives (1 of 2)</a:t>
            </a:r>
          </a:p>
        </p:txBody>
      </p:sp>
      <p:sp>
        <p:nvSpPr>
          <p:cNvPr id="3" name="Text Placeholder 2">
            <a:extLst>
              <a:ext uri="{FF2B5EF4-FFF2-40B4-BE49-F238E27FC236}">
                <a16:creationId xmlns:a16="http://schemas.microsoft.com/office/drawing/2014/main" id="{36703D12-1AEC-425D-1AFD-16158EFF466D}"/>
              </a:ext>
            </a:extLst>
          </p:cNvPr>
          <p:cNvSpPr>
            <a:spLocks noGrp="1"/>
          </p:cNvSpPr>
          <p:nvPr>
            <p:ph type="body" idx="1"/>
          </p:nvPr>
        </p:nvSpPr>
        <p:spPr/>
        <p:txBody>
          <a:bodyPr/>
          <a:lstStyle/>
          <a:p>
            <a:pPr marL="356870" indent="-356870">
              <a:buClr>
                <a:schemeClr val="bg2"/>
              </a:buClr>
            </a:pPr>
            <a:r>
              <a:rPr lang="en-US" dirty="0">
                <a:solidFill>
                  <a:schemeClr val="tx1"/>
                </a:solidFill>
              </a:rPr>
              <a:t>51.01</a:t>
            </a:r>
            <a:r>
              <a:rPr lang="en-US" sz="2600" dirty="0">
                <a:solidFill>
                  <a:schemeClr val="tx1"/>
                </a:solidFill>
              </a:rPr>
              <a:t> Explain how drum brakes operate.</a:t>
            </a:r>
            <a:endParaRPr lang="en-US" dirty="0">
              <a:solidFill>
                <a:schemeClr val="tx1"/>
              </a:solidFill>
            </a:endParaRPr>
          </a:p>
          <a:p>
            <a:pPr marL="356870" indent="-356870">
              <a:buClr>
                <a:schemeClr val="bg2"/>
              </a:buClr>
            </a:pPr>
            <a:r>
              <a:rPr lang="en-US" dirty="0">
                <a:solidFill>
                  <a:schemeClr val="tx1"/>
                </a:solidFill>
              </a:rPr>
              <a:t>51.02</a:t>
            </a:r>
            <a:r>
              <a:rPr lang="en-US" sz="2600" dirty="0">
                <a:solidFill>
                  <a:schemeClr val="tx1"/>
                </a:solidFill>
              </a:rPr>
              <a:t> Identify the major components of a typical drum brake and describe their functions.</a:t>
            </a:r>
          </a:p>
          <a:p>
            <a:pPr marL="356870" indent="-356870">
              <a:buClr>
                <a:schemeClr val="bg2"/>
              </a:buClr>
            </a:pPr>
            <a:r>
              <a:rPr lang="en-US">
                <a:solidFill>
                  <a:schemeClr val="tx1"/>
                </a:solidFill>
              </a:rPr>
              <a:t>51.03 </a:t>
            </a:r>
            <a:r>
              <a:rPr lang="en-US" sz="2600">
                <a:solidFill>
                  <a:schemeClr val="tx1"/>
                </a:solidFill>
              </a:rPr>
              <a:t>Explain the difference between duo-servo and </a:t>
            </a:r>
            <a:r>
              <a:rPr lang="en-US" sz="2600" err="1">
                <a:solidFill>
                  <a:schemeClr val="tx1"/>
                </a:solidFill>
              </a:rPr>
              <a:t>nonservo</a:t>
            </a:r>
            <a:r>
              <a:rPr lang="en-US" sz="2600">
                <a:solidFill>
                  <a:schemeClr val="tx1"/>
                </a:solidFill>
              </a:rPr>
              <a:t> </a:t>
            </a:r>
            <a:r>
              <a:rPr lang="en-US" sz="2600" dirty="0">
                <a:solidFill>
                  <a:schemeClr val="tx1"/>
                </a:solidFill>
              </a:rPr>
              <a:t>drum brakes.</a:t>
            </a:r>
          </a:p>
          <a:p>
            <a:pPr marL="356870" indent="-356870">
              <a:buClr>
                <a:schemeClr val="bg2"/>
              </a:buClr>
            </a:pPr>
            <a:r>
              <a:rPr lang="en-US" dirty="0">
                <a:solidFill>
                  <a:schemeClr val="tx1"/>
                </a:solidFill>
              </a:rPr>
              <a:t>51.04</a:t>
            </a:r>
            <a:r>
              <a:rPr lang="en-US" sz="2600" dirty="0">
                <a:solidFill>
                  <a:schemeClr val="tx1"/>
                </a:solidFill>
              </a:rPr>
              <a:t> Perform a cleaning and inspection of a drum brake assembly.</a:t>
            </a:r>
          </a:p>
        </p:txBody>
      </p:sp>
    </p:spTree>
    <p:extLst>
      <p:ext uri="{BB962C8B-B14F-4D97-AF65-F5344CB8AC3E}">
        <p14:creationId xmlns:p14="http://schemas.microsoft.com/office/powerpoint/2010/main" val="1550992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72BE01F-E18A-55E4-FA58-A56C60C8ECE5}"/>
              </a:ext>
            </a:extLst>
          </p:cNvPr>
          <p:cNvSpPr>
            <a:spLocks noGrp="1"/>
          </p:cNvSpPr>
          <p:nvPr>
            <p:ph type="title"/>
          </p:nvPr>
        </p:nvSpPr>
        <p:spPr/>
        <p:txBody>
          <a:bodyPr/>
          <a:lstStyle/>
          <a:p>
            <a:r>
              <a:rPr lang="en-US" dirty="0"/>
              <a:t>Chapter Objectives (2 of 2) </a:t>
            </a:r>
          </a:p>
        </p:txBody>
      </p:sp>
      <p:sp>
        <p:nvSpPr>
          <p:cNvPr id="3" name="Text Placeholder 2">
            <a:extLst>
              <a:ext uri="{FF2B5EF4-FFF2-40B4-BE49-F238E27FC236}">
                <a16:creationId xmlns:a16="http://schemas.microsoft.com/office/drawing/2014/main" id="{36703D12-1AEC-425D-1AFD-16158EFF466D}"/>
              </a:ext>
            </a:extLst>
          </p:cNvPr>
          <p:cNvSpPr>
            <a:spLocks noGrp="1"/>
          </p:cNvSpPr>
          <p:nvPr>
            <p:ph type="body" idx="1"/>
          </p:nvPr>
        </p:nvSpPr>
        <p:spPr/>
        <p:txBody>
          <a:bodyPr/>
          <a:lstStyle/>
          <a:p>
            <a:pPr marL="356870" indent="-356870">
              <a:buClr>
                <a:schemeClr val="bg2"/>
              </a:buClr>
            </a:pPr>
            <a:r>
              <a:rPr lang="en-US">
                <a:solidFill>
                  <a:schemeClr val="tx1"/>
                </a:solidFill>
              </a:rPr>
              <a:t>51.05</a:t>
            </a:r>
            <a:r>
              <a:rPr lang="en-US" sz="2600">
                <a:solidFill>
                  <a:schemeClr val="tx1"/>
                </a:solidFill>
              </a:rPr>
              <a:t> Recognize conditions that adversely affect the </a:t>
            </a:r>
            <a:r>
              <a:rPr lang="en-US" sz="2600" dirty="0">
                <a:solidFill>
                  <a:schemeClr val="tx1"/>
                </a:solidFill>
              </a:rPr>
              <a:t>performance of drums, shoes, linings, and related hardware.</a:t>
            </a:r>
            <a:endParaRPr lang="en-US">
              <a:solidFill>
                <a:schemeClr val="tx1"/>
              </a:solidFill>
            </a:endParaRPr>
          </a:p>
          <a:p>
            <a:pPr marL="356870" indent="-356870">
              <a:buClr>
                <a:schemeClr val="bg2"/>
              </a:buClr>
            </a:pPr>
            <a:r>
              <a:rPr lang="en-US">
                <a:solidFill>
                  <a:schemeClr val="tx1"/>
                </a:solidFill>
              </a:rPr>
              <a:t>51.06</a:t>
            </a:r>
            <a:r>
              <a:rPr lang="en-US" sz="2600">
                <a:solidFill>
                  <a:schemeClr val="tx1"/>
                </a:solidFill>
              </a:rPr>
              <a:t> Remove and replace brake shoes and hardware.</a:t>
            </a:r>
          </a:p>
          <a:p>
            <a:pPr marL="356870" indent="-356870">
              <a:buClr>
                <a:schemeClr val="bg2"/>
              </a:buClr>
            </a:pPr>
            <a:r>
              <a:rPr lang="en-US">
                <a:solidFill>
                  <a:schemeClr val="tx1"/>
                </a:solidFill>
              </a:rPr>
              <a:t>51.07</a:t>
            </a:r>
            <a:r>
              <a:rPr lang="en-US" sz="2600">
                <a:solidFill>
                  <a:schemeClr val="tx1"/>
                </a:solidFill>
              </a:rPr>
              <a:t> Inspect and replace wheel cylinders.</a:t>
            </a:r>
          </a:p>
          <a:p>
            <a:pPr marL="356870" indent="-356870">
              <a:buClr>
                <a:schemeClr val="bg2"/>
              </a:buClr>
            </a:pPr>
            <a:r>
              <a:rPr lang="en-US">
                <a:solidFill>
                  <a:schemeClr val="tx1"/>
                </a:solidFill>
              </a:rPr>
              <a:t>51.08</a:t>
            </a:r>
            <a:r>
              <a:rPr lang="en-US" sz="2600">
                <a:solidFill>
                  <a:schemeClr val="tx1"/>
                </a:solidFill>
              </a:rPr>
              <a:t> Explain how typical drum parking brakes operate.</a:t>
            </a:r>
          </a:p>
        </p:txBody>
      </p:sp>
    </p:spTree>
    <p:extLst>
      <p:ext uri="{BB962C8B-B14F-4D97-AF65-F5344CB8AC3E}">
        <p14:creationId xmlns:p14="http://schemas.microsoft.com/office/powerpoint/2010/main" val="365361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Drum Brake Operation">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Drum Brake Operation (1 of 2) </a:t>
            </a:r>
          </a:p>
        </p:txBody>
      </p:sp>
      <p:sp>
        <p:nvSpPr>
          <p:cNvPr id="3" name="Content Placeholder 6"/>
          <p:cNvSpPr txBox="1">
            <a:spLocks noGrp="1"/>
          </p:cNvSpPr>
          <p:nvPr>
            <p:ph type="body" idx="1"/>
          </p:nvPr>
        </p:nvSpPr>
        <p:spPr>
          <a:xfrm>
            <a:off x="476845" y="1563627"/>
            <a:ext cx="6228755" cy="42275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51-01 Explain how drum brakes operate.</a:t>
            </a:r>
            <a:endParaRPr lang="en-US" sz="2600" dirty="0">
              <a:solidFill>
                <a:schemeClr val="tx1"/>
              </a:solidFill>
              <a:latin typeface="Work Sans" pitchFamily="2" charset="0"/>
            </a:endParaRP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Hydraulic pressure in the wheel cylinder forces the shoes outward against the drum.</a:t>
            </a:r>
          </a:p>
        </p:txBody>
      </p:sp>
      <p:pic>
        <p:nvPicPr>
          <p:cNvPr id="10" name="Picture Placeholder 9" descr="A drum brake. The parts are labeled as follows: anchor pin, and adjusting screw. The drum rotates in a counterclockwise direction. A force is applied on the wheel cylinder that pushes the primary and secondary shoes to the inside surface of the drum brake. An arrow pointing rightward from the drum brake reads rear of vehicle.">
            <a:extLst>
              <a:ext uri="{FF2B5EF4-FFF2-40B4-BE49-F238E27FC236}">
                <a16:creationId xmlns:a16="http://schemas.microsoft.com/office/drawing/2014/main" id="{B9B08EFB-A7CF-C001-358A-C702A758F5E2}"/>
              </a:ext>
            </a:extLst>
          </p:cNvPr>
          <p:cNvPicPr>
            <a:picLocks noGrp="1" noChangeAspect="1"/>
          </p:cNvPicPr>
          <p:nvPr>
            <p:ph type="pic" sz="quarter" idx="11"/>
          </p:nvPr>
        </p:nvPicPr>
        <p:blipFill>
          <a:blip r:embed="rId3"/>
          <a:srcRect b="11961"/>
          <a:stretch/>
        </p:blipFill>
        <p:spPr>
          <a:xfrm>
            <a:off x="7319679" y="1770797"/>
            <a:ext cx="3729816" cy="36394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Drum Brake Operation (Cont.)">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Drum Brake Operation (2 of 2)</a:t>
            </a:r>
          </a:p>
        </p:txBody>
      </p:sp>
      <p:sp>
        <p:nvSpPr>
          <p:cNvPr id="3" name="Content Placeholder 6"/>
          <p:cNvSpPr txBox="1">
            <a:spLocks noGrp="1"/>
          </p:cNvSpPr>
          <p:nvPr>
            <p:ph type="body" idx="1"/>
          </p:nvPr>
        </p:nvSpPr>
        <p:spPr>
          <a:xfrm>
            <a:off x="476845" y="1563627"/>
            <a:ext cx="6304956" cy="39227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Braking force is increased by the shoes attempting to rotate with the drum.</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anchor acts as a pivot to allow a wedging action between the shoes.</a:t>
            </a:r>
          </a:p>
        </p:txBody>
      </p:sp>
      <p:pic>
        <p:nvPicPr>
          <p:cNvPr id="9" name="Picture Placeholder 8" descr="A drum brake. The parts are labeled as follows: anchor pin, and adjusting screw. The drum rotates in a counterclockwise direction. A force is applied on the wheel cylinder that pushes the primary and secondary shoes to the inside surface of the drum brake. An arrow pointing rightward from the drum brake reads rear of vehicle.">
            <a:extLst>
              <a:ext uri="{FF2B5EF4-FFF2-40B4-BE49-F238E27FC236}">
                <a16:creationId xmlns:a16="http://schemas.microsoft.com/office/drawing/2014/main" id="{84D7D497-8F59-418C-CF71-27EA52A450D9}"/>
              </a:ext>
            </a:extLst>
          </p:cNvPr>
          <p:cNvPicPr>
            <a:picLocks noGrp="1" noChangeAspect="1"/>
          </p:cNvPicPr>
          <p:nvPr>
            <p:ph type="pic" sz="quarter" idx="11"/>
          </p:nvPr>
        </p:nvPicPr>
        <p:blipFill>
          <a:blip r:embed="rId3"/>
          <a:srcRect b="13007"/>
          <a:stretch/>
        </p:blipFill>
        <p:spPr>
          <a:xfrm>
            <a:off x="7551315" y="1575134"/>
            <a:ext cx="3977530" cy="383506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Wheel Cylinders">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Wheel Cylinders</a:t>
            </a:r>
          </a:p>
        </p:txBody>
      </p:sp>
      <p:sp>
        <p:nvSpPr>
          <p:cNvPr id="3" name="Content Placeholder 6"/>
          <p:cNvSpPr txBox="1">
            <a:spLocks noGrp="1"/>
          </p:cNvSpPr>
          <p:nvPr>
            <p:ph sz="quarter" idx="10"/>
          </p:nvPr>
        </p:nvSpPr>
        <p:spPr>
          <a:xfrm>
            <a:off x="609600" y="1369540"/>
            <a:ext cx="6096000" cy="4116859"/>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51-02 Identify the major components of a typical drum brake and describe their functions.</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Convert hydraulic pressure to mechanical force</a:t>
            </a:r>
          </a:p>
        </p:txBody>
      </p:sp>
      <p:pic>
        <p:nvPicPr>
          <p:cNvPr id="10" name="Picture Placeholder 9" descr="A typical wheel cylinder with the parts labeled as follows: Cup, Cup expander, Piston, Dust boot, and Brake fluid line. The exploded view of the wheel cylinder with the parts labeled as follows: Boot, Piston, Cup, and Cup expanders.">
            <a:extLst>
              <a:ext uri="{FF2B5EF4-FFF2-40B4-BE49-F238E27FC236}">
                <a16:creationId xmlns:a16="http://schemas.microsoft.com/office/drawing/2014/main" id="{1E16E9C9-D56E-6FEA-F016-23568C542BB6}"/>
              </a:ext>
            </a:extLst>
          </p:cNvPr>
          <p:cNvPicPr>
            <a:picLocks noGrp="1" noChangeAspect="1"/>
          </p:cNvPicPr>
          <p:nvPr>
            <p:ph type="pic" sz="quarter" idx="11"/>
          </p:nvPr>
        </p:nvPicPr>
        <p:blipFill>
          <a:blip r:embed="rId3"/>
          <a:srcRect b="3903"/>
          <a:stretch/>
        </p:blipFill>
        <p:spPr>
          <a:xfrm>
            <a:off x="7071310" y="1658397"/>
            <a:ext cx="4282490" cy="375180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Brake Shoes and Linings">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Brake Shoes and Linings</a:t>
            </a:r>
          </a:p>
        </p:txBody>
      </p:sp>
      <p:sp>
        <p:nvSpPr>
          <p:cNvPr id="3" name="Content Placeholder 6"/>
          <p:cNvSpPr txBox="1">
            <a:spLocks noGrp="1"/>
          </p:cNvSpPr>
          <p:nvPr>
            <p:ph sz="quarter" idx="10"/>
          </p:nvPr>
        </p:nvSpPr>
        <p:spPr>
          <a:xfrm>
            <a:off x="609600" y="1727517"/>
            <a:ext cx="6019800" cy="38100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Linings can be bonded or riveted to the shoe.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Duo-servo shoes have a longer secondary shoe lining.</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Leading-trailing shoes are typically identical.</a:t>
            </a:r>
          </a:p>
        </p:txBody>
      </p:sp>
      <p:pic>
        <p:nvPicPr>
          <p:cNvPr id="9" name="Picture Placeholder 8" descr="A brake shoe with a separated lining. The parts labeled are as follows: table (where lining is attached), anchor end (near wheel cylinder), web (welded to and supports table), and adjusting end (at self-adjuster or anchor pin).">
            <a:extLst>
              <a:ext uri="{FF2B5EF4-FFF2-40B4-BE49-F238E27FC236}">
                <a16:creationId xmlns:a16="http://schemas.microsoft.com/office/drawing/2014/main" id="{3BEB97D1-E006-A77A-530C-56F334090BBD}"/>
              </a:ext>
            </a:extLst>
          </p:cNvPr>
          <p:cNvPicPr>
            <a:picLocks noGrp="1" noChangeAspect="1"/>
          </p:cNvPicPr>
          <p:nvPr>
            <p:ph type="pic" sz="quarter" idx="11"/>
          </p:nvPr>
        </p:nvPicPr>
        <p:blipFill>
          <a:blip r:embed="rId3"/>
          <a:srcRect b="5240"/>
          <a:stretch/>
        </p:blipFill>
        <p:spPr>
          <a:xfrm>
            <a:off x="6858000" y="1676400"/>
            <a:ext cx="4074643" cy="38611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Mechanical Component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Mechanical Components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Return Springs</a:t>
            </a:r>
          </a:p>
          <a:p>
            <a:pPr marL="714375" lvl="2" indent="-35083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Return the shoe to the at-rest position</a:t>
            </a:r>
          </a:p>
          <a:p>
            <a:pPr marL="714375" lvl="2" indent="-35083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May look the same but may not be interchangeable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Hold-Downs</a:t>
            </a:r>
          </a:p>
          <a:p>
            <a:pPr marL="714375" lvl="2" indent="-35083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Secure the shoe to the backing plate</a:t>
            </a:r>
          </a:p>
          <a:p>
            <a:pPr marL="714375" lvl="2" indent="-35083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May be used to attach other components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Return Springs">
    <p:spTree>
      <p:nvGrpSpPr>
        <p:cNvPr id="1" name=""/>
        <p:cNvGrpSpPr/>
        <p:nvPr/>
      </p:nvGrpSpPr>
      <p:grpSpPr>
        <a:xfrm>
          <a:off x="0" y="0"/>
          <a:ext cx="0" cy="0"/>
          <a:chOff x="0" y="0"/>
          <a:chExt cx="0" cy="0"/>
        </a:xfrm>
      </p:grpSpPr>
      <p:sp>
        <p:nvSpPr>
          <p:cNvPr id="3"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Holddowns</a:t>
            </a:r>
          </a:p>
        </p:txBody>
      </p:sp>
      <p:pic>
        <p:nvPicPr>
          <p:cNvPr id="9" name="Picture Placeholder 8" descr="Four illustrations of types of brake shoe holddowns. Various shoe holddowns to unlock or lock the straight pin holddowns, depress the locking cup and coil spring or the spring clip, and rotate the pin or lock 90 degrees. The first illustration depicts a pin and washers with springs attached to a hydraulic cylinder. The second illustration depicts a pin and spring clip attached to a hydraulic cylinder. The third illustration depicts a coil spring depressing the locking cup. The fourth illustration depicts a pin connected with a spring; this spring is further connected with a hydraulic cylinder.">
            <a:extLst>
              <a:ext uri="{FF2B5EF4-FFF2-40B4-BE49-F238E27FC236}">
                <a16:creationId xmlns:a16="http://schemas.microsoft.com/office/drawing/2014/main" id="{893EC604-34E7-714C-68B6-979200CAE1C4}"/>
              </a:ext>
            </a:extLst>
          </p:cNvPr>
          <p:cNvPicPr>
            <a:picLocks noGrp="1" noChangeAspect="1"/>
          </p:cNvPicPr>
          <p:nvPr>
            <p:ph type="pic" sz="quarter" idx="11"/>
          </p:nvPr>
        </p:nvPicPr>
        <p:blipFill>
          <a:blip r:embed="rId3"/>
          <a:srcRect b="4244"/>
          <a:stretch/>
        </p:blipFill>
        <p:spPr>
          <a:xfrm>
            <a:off x="4098735" y="1813509"/>
            <a:ext cx="3994531" cy="39014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hoe Anchor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Shoe Anchors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38"/>
              </a:spcBef>
              <a:buSzPct val="100000"/>
              <a:buFont typeface="Arial" panose="020B0604020202020204" pitchFamily="34" charset="0"/>
              <a:buChar char="•"/>
            </a:pPr>
            <a:r>
              <a:rPr lang="en-US" sz="2600" dirty="0">
                <a:solidFill>
                  <a:schemeClr val="tx1"/>
                </a:solidFill>
                <a:latin typeface="Work Sans" pitchFamily="2" charset="0"/>
              </a:rPr>
              <a:t>Duo-servo brakes have the anchor at the top.</a:t>
            </a:r>
          </a:p>
          <a:p>
            <a:pPr marL="358775" indent="-358775">
              <a:spcBef>
                <a:spcPts val="638"/>
              </a:spcBef>
              <a:buSzPct val="100000"/>
              <a:buFont typeface="Arial" panose="020B0604020202020204" pitchFamily="34" charset="0"/>
              <a:buChar char="•"/>
            </a:pPr>
            <a:r>
              <a:rPr lang="en-US" sz="2600" dirty="0" err="1">
                <a:solidFill>
                  <a:schemeClr val="tx1"/>
                </a:solidFill>
                <a:latin typeface="Work Sans" pitchFamily="2" charset="0"/>
              </a:rPr>
              <a:t>Nonservo</a:t>
            </a:r>
            <a:r>
              <a:rPr lang="en-US" sz="2600" dirty="0">
                <a:solidFill>
                  <a:schemeClr val="tx1"/>
                </a:solidFill>
                <a:latin typeface="Work Sans" pitchFamily="2" charset="0"/>
              </a:rPr>
              <a:t> brakes have the anchor at the bottom.</a:t>
            </a:r>
          </a:p>
          <a:p>
            <a:pPr marL="358775" indent="-358775">
              <a:spcBef>
                <a:spcPts val="638"/>
              </a:spcBef>
              <a:buSzPct val="100000"/>
              <a:buFont typeface="Arial" panose="020B0604020202020204" pitchFamily="34" charset="0"/>
              <a:buChar char="•"/>
            </a:pPr>
            <a:r>
              <a:rPr lang="en-US" sz="2600" dirty="0">
                <a:solidFill>
                  <a:schemeClr val="tx1"/>
                </a:solidFill>
                <a:latin typeface="Work Sans" pitchFamily="2" charset="0"/>
              </a:rPr>
              <a:t>Other types</a:t>
            </a:r>
          </a:p>
          <a:p>
            <a:pPr marL="714375" lvl="2" indent="-350838">
              <a:spcBef>
                <a:spcPts val="558"/>
              </a:spcBef>
              <a:spcAft>
                <a:spcPts val="1417"/>
              </a:spcAft>
              <a:buSzPct val="100000"/>
              <a:buFont typeface="Arial" panose="020B0604020202020204" pitchFamily="34" charset="0"/>
              <a:buChar char="–"/>
            </a:pPr>
            <a:r>
              <a:rPr lang="en-US" sz="2400" dirty="0">
                <a:solidFill>
                  <a:schemeClr val="tx1"/>
                </a:solidFill>
                <a:latin typeface="Work Sans" pitchFamily="2" charset="0"/>
              </a:rPr>
              <a:t>Fixed nonadjustable</a:t>
            </a:r>
          </a:p>
          <a:p>
            <a:pPr marL="714375" lvl="2" indent="-350838">
              <a:spcBef>
                <a:spcPts val="558"/>
              </a:spcBef>
              <a:spcAft>
                <a:spcPts val="1417"/>
              </a:spcAft>
              <a:buSzPct val="100000"/>
              <a:buFont typeface="Arial" panose="020B0604020202020204" pitchFamily="34" charset="0"/>
              <a:buChar char="–"/>
            </a:pPr>
            <a:r>
              <a:rPr lang="en-US" sz="2400" dirty="0">
                <a:solidFill>
                  <a:schemeClr val="tx1"/>
                </a:solidFill>
                <a:latin typeface="Work Sans" pitchFamily="2" charset="0"/>
              </a:rPr>
              <a:t>Self-centering</a:t>
            </a:r>
          </a:p>
          <a:p>
            <a:pPr marL="714375" lvl="2" indent="-350838">
              <a:spcBef>
                <a:spcPts val="558"/>
              </a:spcBef>
              <a:spcAft>
                <a:spcPts val="1417"/>
              </a:spcAft>
              <a:buSzPct val="100000"/>
              <a:buFont typeface="Arial" panose="020B0604020202020204" pitchFamily="34" charset="0"/>
              <a:buChar char="–"/>
            </a:pPr>
            <a:r>
              <a:rPr lang="en-US" sz="2400" dirty="0">
                <a:solidFill>
                  <a:schemeClr val="tx1"/>
                </a:solidFill>
                <a:latin typeface="Work Sans" pitchFamily="2" charset="0"/>
              </a:rPr>
              <a:t>Adjustable</a:t>
            </a:r>
            <a:endParaRPr lang="en-US" sz="2200" dirty="0">
              <a:solidFill>
                <a:schemeClr val="tx1"/>
              </a:solidFill>
              <a:latin typeface="Work Sans" pitchFamily="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Anchors">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Anchors</a:t>
            </a:r>
          </a:p>
        </p:txBody>
      </p:sp>
      <p:pic>
        <p:nvPicPr>
          <p:cNvPr id="10" name="Picture Placeholder 9" descr="A typical return spring installation in a duo-servo system. Return springs are separately hooked into a guide between the shoes. Springs are normally installed on the anchor. The labeled parts are as follows: anchor, primary return spring, secondary return spring, and self-adjuster return spring. A left arrow to the left of the system reads front.">
            <a:extLst>
              <a:ext uri="{FF2B5EF4-FFF2-40B4-BE49-F238E27FC236}">
                <a16:creationId xmlns:a16="http://schemas.microsoft.com/office/drawing/2014/main" id="{AEDEAF3A-99FA-3081-43D2-7A2F3CF3DE97}"/>
              </a:ext>
            </a:extLst>
          </p:cNvPr>
          <p:cNvPicPr>
            <a:picLocks noGrp="1" noChangeAspect="1"/>
          </p:cNvPicPr>
          <p:nvPr>
            <p:ph type="pic" sz="quarter" idx="11"/>
          </p:nvPr>
        </p:nvPicPr>
        <p:blipFill>
          <a:blip r:embed="rId3"/>
          <a:srcRect b="9733"/>
          <a:stretch/>
        </p:blipFill>
        <p:spPr>
          <a:xfrm>
            <a:off x="1905000" y="1724406"/>
            <a:ext cx="3580236" cy="3533394"/>
          </a:xfrm>
          <a:prstGeom prst="rect">
            <a:avLst/>
          </a:prstGeom>
        </p:spPr>
      </p:pic>
      <p:pic>
        <p:nvPicPr>
          <p:cNvPr id="11" name="Picture Placeholder 10" descr="A nonservo brake system depicts the return spring typically connecting each brake shoe together. The labeled parts are as follows: wheel cylinder, leading shoe, parking brake, anchor, trailing shoe, return spring, and parking brake lever retaining clip.">
            <a:extLst>
              <a:ext uri="{FF2B5EF4-FFF2-40B4-BE49-F238E27FC236}">
                <a16:creationId xmlns:a16="http://schemas.microsoft.com/office/drawing/2014/main" id="{E35D34BC-ACD4-C0BD-A0BB-B66B2BE162B1}"/>
              </a:ext>
            </a:extLst>
          </p:cNvPr>
          <p:cNvPicPr>
            <a:picLocks noGrp="1" noChangeAspect="1"/>
          </p:cNvPicPr>
          <p:nvPr>
            <p:ph type="pic" sz="quarter" idx="12"/>
          </p:nvPr>
        </p:nvPicPr>
        <p:blipFill>
          <a:blip r:embed="rId4"/>
          <a:srcRect b="8343"/>
          <a:stretch/>
        </p:blipFill>
        <p:spPr>
          <a:xfrm>
            <a:off x="6705600" y="1909057"/>
            <a:ext cx="4240089" cy="33487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Drum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Drums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Typically made of cast iron</a:t>
            </a:r>
          </a:p>
          <a:p>
            <a:pPr marL="431999" lvl="2" indent="0">
              <a:spcBef>
                <a:spcPts val="624"/>
              </a:spcBef>
              <a:spcAft>
                <a:spcPts val="600"/>
              </a:spcAft>
              <a:buNone/>
            </a:pPr>
            <a:r>
              <a:rPr lang="en-US" sz="2200" dirty="0">
                <a:solidFill>
                  <a:schemeClr val="tx1"/>
                </a:solidFill>
                <a:latin typeface="Work Sans" pitchFamily="2" charset="0"/>
              </a:rPr>
              <a:t>Some use an aluminum exterior and iron friction surface.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Drums do not dissipate heat well.</a:t>
            </a:r>
          </a:p>
          <a:p>
            <a:pPr marL="432000" lvl="1" indent="0">
              <a:spcBef>
                <a:spcPts val="624"/>
              </a:spcBef>
              <a:spcAft>
                <a:spcPts val="600"/>
              </a:spcAft>
              <a:buNone/>
            </a:pPr>
            <a:r>
              <a:rPr lang="en-US" sz="2200" dirty="0">
                <a:solidFill>
                  <a:schemeClr val="tx1"/>
                </a:solidFill>
                <a:latin typeface="Work Sans" pitchFamily="2" charset="0"/>
              </a:rPr>
              <a:t>one of the main reasons discs have replaced drums at the front of cars and light trucks, and at the rear of most cars</a:t>
            </a:r>
            <a:r>
              <a:rPr lang="en-US" sz="1400" dirty="0">
                <a:solidFill>
                  <a:schemeClr val="tx1"/>
                </a:solidFill>
                <a:latin typeface="Work Sans" pitchFamily="2" charset="0"/>
              </a:rPr>
              <a:t>.</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May have integral bearing hub on FWD vehicles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Drum Brake Design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Drum Brake Designs</a:t>
            </a:r>
          </a:p>
        </p:txBody>
      </p:sp>
      <p:sp>
        <p:nvSpPr>
          <p:cNvPr id="2"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51-03 Explain the difference between duo-servo and nonservo drum brakes.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Duo-servo</a:t>
            </a:r>
          </a:p>
          <a:p>
            <a:pPr marL="714375" lvl="2" indent="-35083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Are self-energizing</a:t>
            </a:r>
          </a:p>
          <a:p>
            <a:pPr marL="715963"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Are typically used on larger vehicles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Nonservo (leading-trailing)</a:t>
            </a:r>
          </a:p>
          <a:p>
            <a:pPr marL="715963"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Have no self-energizing</a:t>
            </a:r>
          </a:p>
          <a:p>
            <a:pPr marL="715963"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Are used on smaller vehicles</a:t>
            </a:r>
            <a:endParaRPr lang="en-US" sz="2200" dirty="0">
              <a:solidFill>
                <a:schemeClr val="tx1"/>
              </a:solidFill>
              <a:latin typeface="Work Sans" pitchFamily="2"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page21">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Duo-Servo Brakes</a:t>
            </a:r>
          </a:p>
        </p:txBody>
      </p:sp>
      <p:pic>
        <p:nvPicPr>
          <p:cNvPr id="9" name="Picture Placeholder 8" descr="A duo-servo braking forces with the parts labeled as follows: primary shoe and secondary shoe. Several arrows go along the brake depicting the braking force in a clockwise direction. A right arrow pointing rightward reads, Front of vehicle.">
            <a:extLst>
              <a:ext uri="{FF2B5EF4-FFF2-40B4-BE49-F238E27FC236}">
                <a16:creationId xmlns:a16="http://schemas.microsoft.com/office/drawing/2014/main" id="{57725ED5-C2FD-E964-728A-64D67D7CE14E}"/>
              </a:ext>
            </a:extLst>
          </p:cNvPr>
          <p:cNvPicPr>
            <a:picLocks noGrp="1" noChangeAspect="1"/>
          </p:cNvPicPr>
          <p:nvPr>
            <p:ph type="pic" sz="quarter" idx="11"/>
          </p:nvPr>
        </p:nvPicPr>
        <p:blipFill>
          <a:blip r:embed="rId3"/>
          <a:srcRect b="7115"/>
          <a:stretch/>
        </p:blipFill>
        <p:spPr>
          <a:xfrm>
            <a:off x="3453016" y="1524000"/>
            <a:ext cx="5285968" cy="44352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(1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38"/>
              </a:spcBef>
              <a:buSzPct val="100000"/>
              <a:buFont typeface="Arial" panose="020B0604020202020204" pitchFamily="34" charset="0"/>
              <a:buChar char="•"/>
            </a:pPr>
            <a:r>
              <a:rPr lang="en-US" sz="2600" dirty="0">
                <a:solidFill>
                  <a:schemeClr val="tx1"/>
                </a:solidFill>
                <a:latin typeface="Work Sans" pitchFamily="2" charset="0"/>
              </a:rPr>
              <a:t>Technician A says anchor location determines if a brake assembly is servo or nonservo. Technician B says wheel cylinder location determines if a brake assembly is servo or nonservo. Who is correct?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Answer (1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2400"/>
              </a:spcAft>
              <a:buSzPct val="100000"/>
              <a:buFont typeface="Arial" panose="020B0604020202020204" pitchFamily="34" charset="0"/>
              <a:buChar char="•"/>
            </a:pPr>
            <a:r>
              <a:rPr lang="en-US" sz="2600" dirty="0">
                <a:solidFill>
                  <a:schemeClr val="tx1"/>
                </a:solidFill>
                <a:latin typeface="Work Sans" pitchFamily="2" charset="0"/>
              </a:rPr>
              <a:t>Technician A says anchor location determines if a brake assembly is servo or non-servo. Technician B says wheel cylinder location determines if a brake assembly is servo or non-servo. Who is correct?</a:t>
            </a:r>
          </a:p>
          <a:p>
            <a:pPr marL="0" indent="0">
              <a:spcBef>
                <a:spcPts val="624"/>
              </a:spcBef>
              <a:buNone/>
            </a:pPr>
            <a:r>
              <a:rPr lang="en-US" sz="2600" dirty="0">
                <a:solidFill>
                  <a:schemeClr val="tx1"/>
                </a:solidFill>
                <a:latin typeface="Work Sans" pitchFamily="2" charset="0"/>
              </a:rPr>
              <a:t>Answer: Technician A Only</a:t>
            </a:r>
          </a:p>
        </p:txBody>
      </p:sp>
    </p:spTree>
    <p:extLst>
      <p:ext uri="{BB962C8B-B14F-4D97-AF65-F5344CB8AC3E}">
        <p14:creationId xmlns:p14="http://schemas.microsoft.com/office/powerpoint/2010/main" val="3365340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Automatically Adjusted&#10;Servo Brake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Types of Automatically Adjusted Servo Brakes</a:t>
            </a:r>
          </a:p>
        </p:txBody>
      </p:sp>
      <p:sp>
        <p:nvSpPr>
          <p:cNvPr id="2"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Cable operated</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Cable with overtravel spring</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Lever with override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Lever and pawl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Cable with Overtravel Spring">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Cable with Overtravel Spring</a:t>
            </a:r>
          </a:p>
        </p:txBody>
      </p:sp>
      <p:pic>
        <p:nvPicPr>
          <p:cNvPr id="9" name="Picture Placeholder 8" descr="Two illustrations depict cable automatic adjustment with overtravel springs. A few common parts labeled in both illustrations are as follows: adjuster cable assembly, cable guide, overtravel spring (cable assembly), adjuster cable assembly, adjuster lever, lever pin, lever return spring, adjuster screw assembly (star wheel), adjuster screw spring, and shoe return spring. The first illustration has a hairpin retainer and the second illustration has a shoe guide. The lever is installed on a web pin with an additional pawl return mousetrap spring. The cable is hooked to the lever using an overtravel spring installed in the cable hook. The overtravel spring dampens movements and prevents unnecessary adjustment.">
            <a:extLst>
              <a:ext uri="{FF2B5EF4-FFF2-40B4-BE49-F238E27FC236}">
                <a16:creationId xmlns:a16="http://schemas.microsoft.com/office/drawing/2014/main" id="{E5E6FC12-282A-042C-2397-E13BCECC8ED2}"/>
              </a:ext>
            </a:extLst>
          </p:cNvPr>
          <p:cNvPicPr>
            <a:picLocks noGrp="1" noChangeAspect="1"/>
          </p:cNvPicPr>
          <p:nvPr>
            <p:ph type="pic" sz="quarter" idx="11"/>
          </p:nvPr>
        </p:nvPicPr>
        <p:blipFill>
          <a:blip r:embed="rId3"/>
          <a:srcRect b="5776"/>
          <a:stretch/>
        </p:blipFill>
        <p:spPr>
          <a:xfrm>
            <a:off x="2373435" y="1725376"/>
            <a:ext cx="7445130" cy="39401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Nonservo Drum Brak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Nonservo Drum Brakes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Also called leading-trailing shoe brakes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Typically used on smaller vehicles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Anchor prevents shoe rotation and self-energization.</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Leading shoe does most of the braking.</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Trailing shoe does most of the braking when moving in reverse.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page29">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Typical Nonservo Brake</a:t>
            </a:r>
          </a:p>
        </p:txBody>
      </p:sp>
      <p:pic>
        <p:nvPicPr>
          <p:cNvPr id="9" name="Picture Placeholder 8" descr="A typical nonservo drum brake. The labeled parts are as follows: wheel cylinder, self-adjuster, trailing shoe is de-energized, anchor plate (servo action stops here), retaining spring, and return spring. A leading shoe is self-energized.">
            <a:extLst>
              <a:ext uri="{FF2B5EF4-FFF2-40B4-BE49-F238E27FC236}">
                <a16:creationId xmlns:a16="http://schemas.microsoft.com/office/drawing/2014/main" id="{441AA75B-0D31-E6AE-1052-F886C3718A04}"/>
              </a:ext>
            </a:extLst>
          </p:cNvPr>
          <p:cNvPicPr>
            <a:picLocks noGrp="1" noChangeAspect="1"/>
          </p:cNvPicPr>
          <p:nvPr>
            <p:ph type="pic" sz="quarter" idx="11"/>
          </p:nvPr>
        </p:nvPicPr>
        <p:blipFill>
          <a:blip r:embed="rId3"/>
          <a:srcRect b="7139"/>
          <a:stretch/>
        </p:blipFill>
        <p:spPr>
          <a:xfrm>
            <a:off x="3519966" y="1706741"/>
            <a:ext cx="5152067" cy="436168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Ratchet Adjuster">
    <p:spTree>
      <p:nvGrpSpPr>
        <p:cNvPr id="1" name=""/>
        <p:cNvGrpSpPr/>
        <p:nvPr/>
      </p:nvGrpSpPr>
      <p:grpSpPr>
        <a:xfrm>
          <a:off x="0" y="0"/>
          <a:ext cx="0" cy="0"/>
          <a:chOff x="0" y="0"/>
          <a:chExt cx="0" cy="0"/>
        </a:xfrm>
      </p:grpSpPr>
      <p:sp>
        <p:nvSpPr>
          <p:cNvPr id="3" name="Title 2"/>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Ratchet Adjuster</a:t>
            </a:r>
          </a:p>
        </p:txBody>
      </p:sp>
      <p:pic>
        <p:nvPicPr>
          <p:cNvPr id="9" name="Picture Placeholder 8" descr="The ratchet-type self-adjuster for leading-trailing brakes operates by the parking brake lever. The labeled parts are as follows: parking brake lever, lever return spring, leading shoe, strut shoulder, trailing shoe, and spacer strut. Two parallel lines from the strut shoulder are labeled gap.">
            <a:extLst>
              <a:ext uri="{FF2B5EF4-FFF2-40B4-BE49-F238E27FC236}">
                <a16:creationId xmlns:a16="http://schemas.microsoft.com/office/drawing/2014/main" id="{2D243C73-405E-6F8D-4939-72A3FAB49148}"/>
              </a:ext>
            </a:extLst>
          </p:cNvPr>
          <p:cNvPicPr>
            <a:picLocks noGrp="1" noChangeAspect="1"/>
          </p:cNvPicPr>
          <p:nvPr>
            <p:ph type="pic" sz="quarter" idx="11"/>
          </p:nvPr>
        </p:nvPicPr>
        <p:blipFill>
          <a:blip r:embed="rId3"/>
          <a:srcRect b="8147"/>
          <a:stretch/>
        </p:blipFill>
        <p:spPr>
          <a:xfrm>
            <a:off x="3062706" y="1745338"/>
            <a:ext cx="6066589" cy="343626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Inspection and Servic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Inspection and Service</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Brake Noise</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Number one customer complaint</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Usually the first indication of wear or problems</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Also check bearings and suspension parts</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Grinding can be from worn linings or foreign objects lodged between the shoe and drum.</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Rattles and clicks can indicate failed hardware.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Road Testing Brakes">
    <p:spTree>
      <p:nvGrpSpPr>
        <p:cNvPr id="1" name=""/>
        <p:cNvGrpSpPr/>
        <p:nvPr/>
      </p:nvGrpSpPr>
      <p:grpSpPr>
        <a:xfrm>
          <a:off x="0" y="0"/>
          <a:ext cx="0" cy="0"/>
          <a:chOff x="0" y="0"/>
          <a:chExt cx="0" cy="0"/>
        </a:xfrm>
      </p:grpSpPr>
      <p:sp>
        <p:nvSpPr>
          <p:cNvPr id="2"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Road Testing Brakes</a:t>
            </a:r>
          </a:p>
        </p:txBody>
      </p:sp>
      <p:sp>
        <p:nvSpPr>
          <p:cNvPr id="3" name="Content Placeholder 5"/>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Road test whenever practical</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pedal reserve and fluid level first</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Drive on dry, clean, and smooth roads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Test brake operation at different speeds and with light and heavy pedal pressure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Be aware of other problems that can present as brake problems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Drum Brake Inspecti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Drum Brake Inspection </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38"/>
              </a:spcBef>
              <a:buNone/>
            </a:pPr>
            <a:r>
              <a:rPr lang="en-US" sz="2600" b="1" dirty="0">
                <a:solidFill>
                  <a:schemeClr val="tx1"/>
                </a:solidFill>
                <a:latin typeface="Work Sans" pitchFamily="2" charset="0"/>
              </a:rPr>
              <a:t>51-04 Perform a cleaning and inspection of a drum brake assembly.</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Shoe adjustment may need backed off first.</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Do not try to pry drum off.</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Mark drum left or right for reinstallation.</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hub and grease, if applicable.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Place drum aside with open face down on a bench.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Drum Removal">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Drum Removal</a:t>
            </a:r>
          </a:p>
        </p:txBody>
      </p:sp>
      <p:sp>
        <p:nvSpPr>
          <p:cNvPr id="3" name="Content Placeholder 4"/>
          <p:cNvSpPr txBox="1">
            <a:spLocks noGrp="1"/>
          </p:cNvSpPr>
          <p:nvPr>
            <p:ph sz="quarter" idx="10"/>
          </p:nvPr>
        </p:nvSpPr>
        <p:spPr>
          <a:xfrm>
            <a:off x="685800" y="1447800"/>
            <a:ext cx="6096000" cy="39624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Manually retract the self adjusters.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 a drum puller to remove stuck drums.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Prying the drum off can damage the backing plate.</a:t>
            </a:r>
          </a:p>
        </p:txBody>
      </p:sp>
      <p:pic>
        <p:nvPicPr>
          <p:cNvPr id="9" name="Picture Placeholder 8" descr="A drum removal procedure. A heavy piece of wire moves the adjusting lever away from the star wheel and rotates the star wheel to move away from the brake shoe, away from the drum before removing the drum. The labeled parts are as follows: drum, self-adjuster lever, star wheel, welding rod, adjusting tool, and backing plate.">
            <a:extLst>
              <a:ext uri="{FF2B5EF4-FFF2-40B4-BE49-F238E27FC236}">
                <a16:creationId xmlns:a16="http://schemas.microsoft.com/office/drawing/2014/main" id="{D1400D6E-B602-EBBB-DE33-2C1395AD0373}"/>
              </a:ext>
            </a:extLst>
          </p:cNvPr>
          <p:cNvPicPr>
            <a:picLocks noGrp="1" noChangeAspect="1"/>
          </p:cNvPicPr>
          <p:nvPr>
            <p:ph type="pic" sz="quarter" idx="11"/>
          </p:nvPr>
        </p:nvPicPr>
        <p:blipFill>
          <a:blip r:embed="rId3"/>
          <a:srcRect b="15306"/>
          <a:stretch/>
        </p:blipFill>
        <p:spPr>
          <a:xfrm>
            <a:off x="7086600" y="1781759"/>
            <a:ext cx="4412254" cy="279024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Asbestos Cauti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Asbestos Caution</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Breathing dust-containing asbestos fibers can cause serious bodily harm.</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Do not create dust by cleaning with a brush or compressed air</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Clean dust away using an OSHA-approved brake washer or vacuum</a:t>
            </a:r>
          </a:p>
          <a:p>
            <a:pPr marL="358775" indent="-358775"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If a dedicated brake washer is not available, spray the dust off using commercial brake cleaner.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Asbestos Removal">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Asbestos Removal</a:t>
            </a:r>
          </a:p>
        </p:txBody>
      </p:sp>
      <p:pic>
        <p:nvPicPr>
          <p:cNvPr id="9" name="Picture Placeholder 8" descr="Two photos. (Photo A) A technician removes asbestos dust around the brakes, using an OSHA-approved washer. (Photo B) A technician sprays a brake cleaner to remove the brake dust around the brakes.">
            <a:extLst>
              <a:ext uri="{FF2B5EF4-FFF2-40B4-BE49-F238E27FC236}">
                <a16:creationId xmlns:a16="http://schemas.microsoft.com/office/drawing/2014/main" id="{79D6714E-7D63-BC37-6C33-99E24B264284}"/>
              </a:ext>
            </a:extLst>
          </p:cNvPr>
          <p:cNvPicPr>
            <a:picLocks noGrp="1" noChangeAspect="1"/>
          </p:cNvPicPr>
          <p:nvPr>
            <p:ph type="pic" sz="quarter" idx="11"/>
          </p:nvPr>
        </p:nvPicPr>
        <p:blipFill>
          <a:blip r:embed="rId3"/>
          <a:srcRect b="10536"/>
          <a:stretch/>
        </p:blipFill>
        <p:spPr>
          <a:xfrm>
            <a:off x="4712349" y="1600200"/>
            <a:ext cx="2767303" cy="434339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Knowledge Check ">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(2 of 3)  </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Why must drum brake dust be properly captured and cleaned?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Answer (2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2400"/>
              </a:spcAft>
              <a:buSzPct val="100000"/>
              <a:buFont typeface="Arial" panose="020B0604020202020204" pitchFamily="34" charset="0"/>
              <a:buChar char="•"/>
            </a:pPr>
            <a:r>
              <a:rPr lang="en-US" sz="2600" dirty="0">
                <a:solidFill>
                  <a:schemeClr val="tx1"/>
                </a:solidFill>
                <a:latin typeface="Work Sans" pitchFamily="2" charset="0"/>
              </a:rPr>
              <a:t>Why must drum brake dust be properly captured and cleaned?</a:t>
            </a:r>
          </a:p>
          <a:p>
            <a:pPr marL="715963" indent="0">
              <a:spcBef>
                <a:spcPts val="638"/>
              </a:spcBef>
              <a:buNone/>
            </a:pPr>
            <a:r>
              <a:rPr lang="en-US" sz="2600" dirty="0">
                <a:solidFill>
                  <a:schemeClr val="tx1"/>
                </a:solidFill>
                <a:latin typeface="Work Sans" pitchFamily="2" charset="0"/>
              </a:rPr>
              <a:t>Answer: To prevent brake dust, which may contain asbestos, from becoming airborne and being inhaled.</a:t>
            </a:r>
          </a:p>
        </p:txBody>
      </p:sp>
    </p:spTree>
    <p:extLst>
      <p:ext uri="{BB962C8B-B14F-4D97-AF65-F5344CB8AC3E}">
        <p14:creationId xmlns:p14="http://schemas.microsoft.com/office/powerpoint/2010/main" val="28027720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Drum Inspecti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Drum Inspection</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Thoroughly clean the drum</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As drums wear, their cooling surface and structural strength is reduced and their operating temperature increases.</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This can lead to distortion.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Common Drum Conditions">
    <p:spTree>
      <p:nvGrpSpPr>
        <p:cNvPr id="1" name=""/>
        <p:cNvGrpSpPr/>
        <p:nvPr/>
      </p:nvGrpSpPr>
      <p:grpSpPr>
        <a:xfrm>
          <a:off x="0" y="0"/>
          <a:ext cx="0" cy="0"/>
          <a:chOff x="0" y="0"/>
          <a:chExt cx="0" cy="0"/>
        </a:xfrm>
      </p:grpSpPr>
      <p:sp>
        <p:nvSpPr>
          <p:cNvPr id="2"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buNone/>
            </a:pPr>
            <a:r>
              <a:rPr lang="en-US" dirty="0"/>
              <a:t>Common Drum Conditions </a:t>
            </a:r>
            <a:endParaRPr lang="en-US" sz="2000" dirty="0"/>
          </a:p>
        </p:txBody>
      </p:sp>
      <p:sp>
        <p:nvSpPr>
          <p:cNvPr id="6" name="Content Placeholder 5">
            <a:extLst>
              <a:ext uri="{FF2B5EF4-FFF2-40B4-BE49-F238E27FC236}">
                <a16:creationId xmlns:a16="http://schemas.microsoft.com/office/drawing/2014/main" id="{61297B3E-897E-00B2-0D26-E05E880C9D50}"/>
              </a:ext>
            </a:extLst>
          </p:cNvPr>
          <p:cNvSpPr>
            <a:spLocks noGrp="1"/>
          </p:cNvSpPr>
          <p:nvPr>
            <p:ph sz="quarter" idx="10"/>
          </p:nvPr>
        </p:nvSpPr>
        <p:spPr>
          <a:xfrm>
            <a:off x="685800" y="1359243"/>
            <a:ext cx="10515600" cy="1079157"/>
          </a:xfrm>
        </p:spPr>
        <p:txBody>
          <a:bodyPr/>
          <a:lstStyle/>
          <a:p>
            <a:pPr marL="76200" indent="0">
              <a:buNone/>
            </a:pPr>
            <a:r>
              <a:rPr lang="en-US" sz="2000" b="1" dirty="0">
                <a:solidFill>
                  <a:schemeClr val="tx1"/>
                </a:solidFill>
                <a:latin typeface="Work Sans" pitchFamily="2" charset="0"/>
              </a:rPr>
              <a:t>51-05 Recognize conditions that adversely affect the performance of drums, shoes, linings, and related hardware</a:t>
            </a:r>
            <a:r>
              <a:rPr lang="en-US" b="1" dirty="0">
                <a:solidFill>
                  <a:schemeClr val="tx1"/>
                </a:solidFill>
                <a:latin typeface="Work Sans" pitchFamily="2" charset="0"/>
              </a:rPr>
              <a:t>.</a:t>
            </a:r>
            <a:endParaRPr lang="en-US" dirty="0">
              <a:solidFill>
                <a:schemeClr val="tx1"/>
              </a:solidFill>
            </a:endParaRPr>
          </a:p>
        </p:txBody>
      </p:sp>
      <p:pic>
        <p:nvPicPr>
          <p:cNvPr id="9" name="Picture Placeholder 8" descr="Six illustrations depict the drum wear conditions. The drum wear conditions are labeled as follows: (A). scored drum, (B). bell-mouthed drum, (C). concave drum, (D). convex drum, (E). hard spots, and (F). threaded drum. (A). The scored drum depicts the excessive wear over the lining and the shoe scores the drum surface. (B). The bell-mouthed drum depicts the excessive wear of the drum deformed whose close end diameter is smaller than the open end. (C). Concave drum depicts a concave wear pattern that occurs at the center of the lining of the drum surface due to excessive wear. (D). Convex drum depicts excessive wear at the closed end, and then distortion occurs at the open end of the drum. (E). Hard spots depict the wear as excessive at the contact between the lining and the drum surface. This contact is labeled as hard spots. (F). A threaded drum depicts an extremely sharp threaded shape that occurs on the surface of the drum due to excessive wear.">
            <a:extLst>
              <a:ext uri="{FF2B5EF4-FFF2-40B4-BE49-F238E27FC236}">
                <a16:creationId xmlns:a16="http://schemas.microsoft.com/office/drawing/2014/main" id="{C7CD4A79-8137-3729-65F9-9A16AF7DEFEA}"/>
              </a:ext>
            </a:extLst>
          </p:cNvPr>
          <p:cNvPicPr>
            <a:picLocks noGrp="1" noChangeAspect="1"/>
          </p:cNvPicPr>
          <p:nvPr>
            <p:ph type="pic" sz="quarter" idx="11"/>
          </p:nvPr>
        </p:nvPicPr>
        <p:blipFill>
          <a:blip r:embed="rId3"/>
          <a:srcRect b="4790"/>
          <a:stretch/>
        </p:blipFill>
        <p:spPr>
          <a:xfrm>
            <a:off x="2638425" y="2362200"/>
            <a:ext cx="6915150" cy="366503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Drum Measurement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Drum Measurements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Measure every drum even if they visually look good.</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Take measurements at right angles to check for out-of-round.</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True and smooth drums may be polished with emery cloth.</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Deep scores or grooves must be machined or the drum replaced.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Drum Measurements (Cont.)">
    <p:spTree>
      <p:nvGrpSpPr>
        <p:cNvPr id="1" name=""/>
        <p:cNvGrpSpPr/>
        <p:nvPr/>
      </p:nvGrpSpPr>
      <p:grpSpPr>
        <a:xfrm>
          <a:off x="0" y="0"/>
          <a:ext cx="0" cy="0"/>
          <a:chOff x="0" y="0"/>
          <a:chExt cx="0" cy="0"/>
        </a:xfrm>
      </p:grpSpPr>
      <p:sp>
        <p:nvSpPr>
          <p:cNvPr id="2" name="Title 2"/>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Drum Micrometer</a:t>
            </a:r>
          </a:p>
        </p:txBody>
      </p:sp>
      <p:pic>
        <p:nvPicPr>
          <p:cNvPr id="9" name="Picture Placeholder 8" descr="A technician uses a drum micrometer to measure the inner diameter of a drum.">
            <a:extLst>
              <a:ext uri="{FF2B5EF4-FFF2-40B4-BE49-F238E27FC236}">
                <a16:creationId xmlns:a16="http://schemas.microsoft.com/office/drawing/2014/main" id="{9F5FC07D-46A7-E0CC-5964-F51DF7CAC251}"/>
              </a:ext>
            </a:extLst>
          </p:cNvPr>
          <p:cNvPicPr>
            <a:picLocks noGrp="1" noChangeAspect="1"/>
          </p:cNvPicPr>
          <p:nvPr>
            <p:ph type="pic" sz="quarter" idx="11"/>
          </p:nvPr>
        </p:nvPicPr>
        <p:blipFill>
          <a:blip r:embed="rId3"/>
          <a:srcRect b="16553"/>
          <a:stretch/>
        </p:blipFill>
        <p:spPr>
          <a:xfrm>
            <a:off x="2568928" y="1752600"/>
            <a:ext cx="7054145" cy="395373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Drum Refinishing">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Drum Refinishing</a:t>
            </a:r>
          </a:p>
        </p:txBody>
      </p:sp>
      <p:sp>
        <p:nvSpPr>
          <p:cNvPr id="2"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Remove only enough to obtain a true, smooth friction surface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If one drum needs to be refinished, the other drum must also be machined the same.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Drums are stamped with their maximum allowable machining dimension.</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There must be 0.030” (0.762 mm) left for wear after machining the drum.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Cleaning Newly Refaced Drum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Cleaning Newly Refaced Drums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 refinished drum’s friction surface contains tiny metal particles.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This metal dust must be removed so as not to contaminate the new linings.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Clean with soap and water</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Dry thoroughly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Brake Shoes and Lining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Brake Shoe and Lining inspection</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for uneven wear, imbedded foreign material, loose rivets, and fluid contamination</a:t>
            </a:r>
          </a:p>
          <a:p>
            <a:pPr marL="715963" lvl="1" indent="-357188">
              <a:spcBef>
                <a:spcPts val="624"/>
              </a:spcBef>
              <a:spcAft>
                <a:spcPts val="600"/>
              </a:spcAft>
              <a:buClr>
                <a:schemeClr val="tx1"/>
              </a:buClr>
              <a:buSzPct val="100000"/>
              <a:buFont typeface="Arial" panose="020B0604020202020204" pitchFamily="34" charset="0"/>
              <a:buChar char="–"/>
            </a:pPr>
            <a:r>
              <a:rPr lang="en-US" dirty="0">
                <a:solidFill>
                  <a:schemeClr val="tx1"/>
                </a:solidFill>
                <a:latin typeface="Work Sans" pitchFamily="2" charset="0"/>
              </a:rPr>
              <a:t>Lining materials influence braking</a:t>
            </a:r>
            <a:endParaRPr lang="en-US" sz="2200" dirty="0">
              <a:solidFill>
                <a:schemeClr val="tx1"/>
              </a:solidFill>
              <a:latin typeface="Work Sans" pitchFamily="2" charset="0"/>
            </a:endParaRPr>
          </a:p>
          <a:p>
            <a:pPr marL="358775" lvl="1"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Friction Material</a:t>
            </a:r>
          </a:p>
          <a:p>
            <a:pPr marL="715963" lvl="2" indent="-357188">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Too high of a coefficient of friction (COF) can result in grabbing.</a:t>
            </a:r>
          </a:p>
          <a:p>
            <a:pPr marL="715963" lvl="2" indent="-357188">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Too low of a COF can result in overheating, glazing, a hard pedal, and brake fade.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electing Replacement Lining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Selecting Replacement Linings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51-06 Remove and replace brake shoes and hardware.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Automotive friction material codes are printed on the edges of brake linings.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Identify the manufacturer, lining material, and the cold and hot coefficients of friction.</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Soft linings have higher a COF but wear faster, are less abrasive on the drum, and are quieter than hard linings.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page57">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Identification Codes</a:t>
            </a:r>
          </a:p>
        </p:txBody>
      </p:sp>
      <p:pic>
        <p:nvPicPr>
          <p:cNvPr id="9" name="Picture Placeholder 8" descr="An automotive friction material edge code is printed on the edges of drum brake linings. The identification code reads, A K L 612 F F.">
            <a:extLst>
              <a:ext uri="{FF2B5EF4-FFF2-40B4-BE49-F238E27FC236}">
                <a16:creationId xmlns:a16="http://schemas.microsoft.com/office/drawing/2014/main" id="{E83159C7-3F92-7D77-3763-C1D35A7CDC12}"/>
              </a:ext>
            </a:extLst>
          </p:cNvPr>
          <p:cNvPicPr>
            <a:picLocks noGrp="1" noChangeAspect="1"/>
          </p:cNvPicPr>
          <p:nvPr>
            <p:ph type="pic" sz="quarter" idx="11"/>
          </p:nvPr>
        </p:nvPicPr>
        <p:blipFill>
          <a:blip r:embed="rId3"/>
          <a:srcRect b="16608"/>
          <a:stretch/>
        </p:blipFill>
        <p:spPr>
          <a:xfrm>
            <a:off x="3345700" y="1600200"/>
            <a:ext cx="5500600" cy="416655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Cleaning and Inspecting&#10;Brake Part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Cleaning and Inspecting Brake Parts</a:t>
            </a:r>
          </a:p>
        </p:txBody>
      </p:sp>
      <p:sp>
        <p:nvSpPr>
          <p:cNvPr id="2"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Wet clean backing plates and other parts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Examine raised shoe pads for wear</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for cracks or bending of backing plate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Disassemble, clean, and lubricate the self-adjuster mechanism</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Lube the backing plate pads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 manufacturer-specified lubricants only.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Lining Adjustme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Lining Adjustment</a:t>
            </a:r>
          </a:p>
        </p:txBody>
      </p:sp>
      <p:sp>
        <p:nvSpPr>
          <p:cNvPr id="3" name="Content Placeholder 2"/>
          <p:cNvSpPr txBox="1">
            <a:spLocks noGrp="1"/>
          </p:cNvSpPr>
          <p:nvPr>
            <p:ph sz="quarter" idx="10"/>
          </p:nvPr>
        </p:nvSpPr>
        <p:spPr>
          <a:xfrm>
            <a:off x="838200" y="1723768"/>
            <a:ext cx="5867400" cy="3457832"/>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Adjust shoes to the point of drag against the drum but not dragging heavily</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A shoe-to-drum gauge makes pre-adjusting easier.</a:t>
            </a:r>
          </a:p>
        </p:txBody>
      </p:sp>
      <p:pic>
        <p:nvPicPr>
          <p:cNvPr id="10" name="Picture Placeholder 9" descr="The inner diameter of a drum is measured using a brake shoe set gauge fixed at the inner rim.">
            <a:extLst>
              <a:ext uri="{FF2B5EF4-FFF2-40B4-BE49-F238E27FC236}">
                <a16:creationId xmlns:a16="http://schemas.microsoft.com/office/drawing/2014/main" id="{40BF456B-A595-C9EA-64B4-0FF233149E22}"/>
              </a:ext>
            </a:extLst>
          </p:cNvPr>
          <p:cNvPicPr>
            <a:picLocks noGrp="1" noChangeAspect="1"/>
          </p:cNvPicPr>
          <p:nvPr>
            <p:ph type="pic" sz="quarter" idx="11"/>
          </p:nvPr>
        </p:nvPicPr>
        <p:blipFill>
          <a:blip r:embed="rId3"/>
          <a:srcRect b="16356"/>
          <a:stretch/>
        </p:blipFill>
        <p:spPr>
          <a:xfrm>
            <a:off x="7010400" y="1524000"/>
            <a:ext cx="2404678" cy="1981200"/>
          </a:xfrm>
          <a:prstGeom prst="rect">
            <a:avLst/>
          </a:prstGeom>
        </p:spPr>
      </p:pic>
      <p:pic>
        <p:nvPicPr>
          <p:cNvPr id="11" name="Picture Placeholder 10" descr="A technician uses the other side of the brake gauge to fix the brake shoes in position.">
            <a:extLst>
              <a:ext uri="{FF2B5EF4-FFF2-40B4-BE49-F238E27FC236}">
                <a16:creationId xmlns:a16="http://schemas.microsoft.com/office/drawing/2014/main" id="{32E0CA51-690A-C692-90D3-5F718055D71E}"/>
              </a:ext>
            </a:extLst>
          </p:cNvPr>
          <p:cNvPicPr>
            <a:picLocks noGrp="1" noChangeAspect="1"/>
          </p:cNvPicPr>
          <p:nvPr>
            <p:ph type="pic" sz="quarter" idx="12"/>
          </p:nvPr>
        </p:nvPicPr>
        <p:blipFill>
          <a:blip r:embed="rId4"/>
          <a:srcRect b="14497"/>
          <a:stretch/>
        </p:blipFill>
        <p:spPr>
          <a:xfrm>
            <a:off x="6998021" y="4015372"/>
            <a:ext cx="2502317" cy="177582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Wheel Cylinder&#10;Inspection and Servic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Wheel Cylinder</a:t>
            </a:r>
            <a:br>
              <a:rPr lang="en-US" dirty="0"/>
            </a:br>
            <a:r>
              <a:rPr lang="en-US" dirty="0"/>
              <a:t>Inspection and Service</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51-07 Inspect and replace wheel cylinders.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for leaks and under the dust boot</a:t>
            </a:r>
          </a:p>
          <a:p>
            <a:pPr marL="715963" lvl="2" indent="-357188">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A slight dampening is normal, a dripping is not.</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Cylinder binding can be caused by rust deposits.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Cylinders may be rebuilt or replaced.</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Some can be rebuilt on vehicle.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Wheel Cylinder Inspecti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Wheel Cylinder Inspection</a:t>
            </a:r>
          </a:p>
        </p:txBody>
      </p:sp>
      <p:pic>
        <p:nvPicPr>
          <p:cNvPr id="9" name="Picture Placeholder 8" descr="A technician inspects for internal wheel cylinder leaks by pulling back the wheel cylinder's dust boot.">
            <a:extLst>
              <a:ext uri="{FF2B5EF4-FFF2-40B4-BE49-F238E27FC236}">
                <a16:creationId xmlns:a16="http://schemas.microsoft.com/office/drawing/2014/main" id="{A3E267A6-574B-A37D-A380-55DFCE6C4FBA}"/>
              </a:ext>
            </a:extLst>
          </p:cNvPr>
          <p:cNvPicPr>
            <a:picLocks noGrp="1" noChangeAspect="1"/>
          </p:cNvPicPr>
          <p:nvPr>
            <p:ph type="pic" sz="quarter" idx="11"/>
          </p:nvPr>
        </p:nvPicPr>
        <p:blipFill>
          <a:blip r:embed="rId3"/>
          <a:srcRect b="11743"/>
          <a:stretch/>
        </p:blipFill>
        <p:spPr>
          <a:xfrm>
            <a:off x="3441910" y="1873201"/>
            <a:ext cx="5308179" cy="405237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Drum Parking Brake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Drum Parking Brakes </a:t>
            </a:r>
          </a:p>
        </p:txBody>
      </p:sp>
      <p:sp>
        <p:nvSpPr>
          <p:cNvPr id="2"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None/>
            </a:pPr>
            <a:r>
              <a:rPr lang="en-US" sz="2600" b="1" dirty="0">
                <a:solidFill>
                  <a:schemeClr val="tx1"/>
                </a:solidFill>
                <a:latin typeface="Work Sans" pitchFamily="2" charset="0"/>
              </a:rPr>
              <a:t>51-08 Explain how typical drum parking brakes operate</a:t>
            </a:r>
            <a:r>
              <a:rPr lang="en-US" sz="2600" dirty="0">
                <a:solidFill>
                  <a:schemeClr val="tx1"/>
                </a:solidFill>
                <a:latin typeface="Work Sans" pitchFamily="2" charset="0"/>
              </a:rPr>
              <a:t>.</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Are not part of the hydraulic system</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May be hand or foot operated</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Some vehicles have a vacuum-operated release.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Some newer vehicles use electric parking brake activation.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Typical Hand-Operated&#10;Parking Brake">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Hand-Operated Parking Brake</a:t>
            </a:r>
          </a:p>
        </p:txBody>
      </p:sp>
      <p:pic>
        <p:nvPicPr>
          <p:cNvPr id="9" name="Picture Placeholder 8" descr="Two illustrations depict a typical setup for a center-mounted hand-operated parking brake. The first illustration depicts the following parts labeled: front cable, rear cable, equalizer, and adjusting nut. The second illustration depicts two hand-operated region, one labeled up and other down, and a double-headed arrow extends between the labels.">
            <a:extLst>
              <a:ext uri="{FF2B5EF4-FFF2-40B4-BE49-F238E27FC236}">
                <a16:creationId xmlns:a16="http://schemas.microsoft.com/office/drawing/2014/main" id="{8CBEF1CC-732F-BB35-6A0A-559213AD3D4D}"/>
              </a:ext>
            </a:extLst>
          </p:cNvPr>
          <p:cNvPicPr>
            <a:picLocks noGrp="1" noChangeAspect="1"/>
          </p:cNvPicPr>
          <p:nvPr>
            <p:ph type="pic" sz="quarter" idx="11"/>
          </p:nvPr>
        </p:nvPicPr>
        <p:blipFill>
          <a:blip r:embed="rId3"/>
          <a:srcRect b="10083"/>
          <a:stretch/>
        </p:blipFill>
        <p:spPr>
          <a:xfrm>
            <a:off x="4087291" y="1649044"/>
            <a:ext cx="4017418" cy="414215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Drum Parking Brake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Parking Brake Components</a:t>
            </a:r>
          </a:p>
        </p:txBody>
      </p:sp>
      <p:pic>
        <p:nvPicPr>
          <p:cNvPr id="9" name="Picture Placeholder 8" descr="The parking brake components. The cables and equalizer exert a balanced pull on the parking brake levers of both rear brakes when the parking brake pedal is applied. The labeled parts are as follows: equalizer, parking brake cable, parking brake strut, left rear brake, and secondary brake shoe.">
            <a:extLst>
              <a:ext uri="{FF2B5EF4-FFF2-40B4-BE49-F238E27FC236}">
                <a16:creationId xmlns:a16="http://schemas.microsoft.com/office/drawing/2014/main" id="{F733F81B-2F8A-0AB2-DC76-352EACFDFB40}"/>
              </a:ext>
            </a:extLst>
          </p:cNvPr>
          <p:cNvPicPr>
            <a:picLocks noGrp="1" noChangeAspect="1"/>
          </p:cNvPicPr>
          <p:nvPr>
            <p:ph type="pic" sz="quarter" idx="11"/>
          </p:nvPr>
        </p:nvPicPr>
        <p:blipFill>
          <a:blip r:embed="rId3"/>
          <a:srcRect b="7059"/>
          <a:stretch/>
        </p:blipFill>
        <p:spPr>
          <a:xfrm>
            <a:off x="2643829" y="1743190"/>
            <a:ext cx="6904343" cy="313361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Adjusting and Replacing&#10;Parking Brake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Adjusting and Replacing Parking Brakes</a:t>
            </a:r>
          </a:p>
        </p:txBody>
      </p:sp>
      <p:sp>
        <p:nvSpPr>
          <p:cNvPr id="2"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38"/>
              </a:spcBef>
              <a:buSzPct val="100000"/>
              <a:buFont typeface="Arial" panose="020B0604020202020204" pitchFamily="34" charset="0"/>
              <a:buChar char="•"/>
            </a:pPr>
            <a:r>
              <a:rPr lang="en-US" sz="2600" dirty="0">
                <a:solidFill>
                  <a:schemeClr val="tx1"/>
                </a:solidFill>
                <a:latin typeface="Work Sans" pitchFamily="2" charset="0"/>
              </a:rPr>
              <a:t>Service the drum brakes before servicing the parking brake</a:t>
            </a:r>
          </a:p>
          <a:p>
            <a:pPr marL="358775" indent="-358775">
              <a:spcBef>
                <a:spcPts val="638"/>
              </a:spcBef>
              <a:buSzPct val="100000"/>
              <a:buFont typeface="Arial" panose="020B0604020202020204" pitchFamily="34" charset="0"/>
              <a:buChar char="•"/>
            </a:pPr>
            <a:r>
              <a:rPr lang="en-US" sz="2600" dirty="0">
                <a:solidFill>
                  <a:schemeClr val="tx1"/>
                </a:solidFill>
                <a:latin typeface="Work Sans" pitchFamily="2" charset="0"/>
              </a:rPr>
              <a:t>Check for seized, sticking, or frayed cables</a:t>
            </a:r>
          </a:p>
          <a:p>
            <a:pPr marL="358775" indent="-358775">
              <a:spcBef>
                <a:spcPts val="638"/>
              </a:spcBef>
              <a:buSzPct val="100000"/>
              <a:buFont typeface="Arial" panose="020B0604020202020204" pitchFamily="34" charset="0"/>
              <a:buChar char="•"/>
            </a:pPr>
            <a:r>
              <a:rPr lang="en-US" sz="2600" dirty="0">
                <a:solidFill>
                  <a:schemeClr val="tx1"/>
                </a:solidFill>
                <a:latin typeface="Work Sans" pitchFamily="2" charset="0"/>
              </a:rPr>
              <a:t>Most manufacturers specify a certain number of application “clicks” to fully set the parking brake.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(3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dirty="0">
                <a:solidFill>
                  <a:schemeClr val="tx1"/>
                </a:solidFill>
                <a:latin typeface="Work Sans" pitchFamily="2" charset="0"/>
              </a:rPr>
              <a:t>After replacing brake shoes, the brake pedal is low and the parking brake does not hold. Technician A says the shoe-to-drum clearance is likely excessive. Technician B says the parking brake cable needs to be adjusted. Who is correct?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Answer (3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2400"/>
              </a:spcAft>
              <a:buNone/>
            </a:pPr>
            <a:r>
              <a:rPr lang="en-US" sz="2600" dirty="0">
                <a:solidFill>
                  <a:schemeClr val="tx1"/>
                </a:solidFill>
                <a:latin typeface="Work Sans" pitchFamily="2" charset="0"/>
              </a:rPr>
              <a:t>After replacing brake shoes, the brake pedal is low and the parking brake does not hold. Technician A says the shoe-to-drum clearance is likely excessive. Technician B says the parking brake cable needs to be adjusted. Who is correct?</a:t>
            </a:r>
          </a:p>
          <a:p>
            <a:pPr marL="715963" indent="0">
              <a:spcBef>
                <a:spcPts val="624"/>
              </a:spcBef>
              <a:spcAft>
                <a:spcPts val="600"/>
              </a:spcAft>
              <a:buNone/>
            </a:pPr>
            <a:r>
              <a:rPr lang="en-US" sz="2600" dirty="0">
                <a:solidFill>
                  <a:schemeClr val="tx1"/>
                </a:solidFill>
                <a:latin typeface="Work Sans" pitchFamily="2" charset="0"/>
              </a:rPr>
              <a:t>Answer: Technician A Only</a:t>
            </a:r>
          </a:p>
        </p:txBody>
      </p:sp>
    </p:spTree>
    <p:extLst>
      <p:ext uri="{BB962C8B-B14F-4D97-AF65-F5344CB8AC3E}">
        <p14:creationId xmlns:p14="http://schemas.microsoft.com/office/powerpoint/2010/main" val="23844472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358775" indent="-358775"/>
            <a:r>
              <a:rPr lang="en-US" sz="2600" dirty="0">
                <a:solidFill>
                  <a:schemeClr val="tx1"/>
                </a:solidFill>
                <a:latin typeface="Work Sans" pitchFamily="2" charset="0"/>
              </a:rPr>
              <a:t>What concept from this chapter challenged you the most? Describe what made the concept difficult for you and the steps you took to improve your understanding</a:t>
            </a:r>
            <a:r>
              <a:rPr lang="en-US" sz="2600" dirty="0">
                <a:solidFill>
                  <a:schemeClr val="tx1"/>
                </a:solidFill>
              </a:rPr>
              <a:t>.</a:t>
            </a:r>
            <a:endParaRPr lang="en-US" sz="2600" dirty="0">
              <a:solidFill>
                <a:schemeClr val="tx1"/>
              </a:solidFill>
              <a:latin typeface="Work Sans" pitchFamily="2" charset="0"/>
            </a:endParaRPr>
          </a:p>
          <a:p>
            <a:pPr marL="358775" indent="-358775">
              <a:spcAft>
                <a:spcPts val="2400"/>
              </a:spcAft>
            </a:pPr>
            <a:r>
              <a:rPr lang="en-US" sz="2600" dirty="0">
                <a:solidFill>
                  <a:schemeClr val="tx1"/>
                </a:solidFill>
                <a:latin typeface="Work Sans" pitchFamily="2" charset="0"/>
              </a:rPr>
              <a:t>How could you help another learner who was struggling with the same concept?</a:t>
            </a:r>
          </a:p>
          <a:p>
            <a:pPr marL="152400" indent="0">
              <a:spcBef>
                <a:spcPts val="0"/>
              </a:spcBef>
              <a:buNone/>
            </a:pPr>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31071DBD-571E-4430-8335-9DE43A012D14}" vid="{B3E8A73A-56E9-4C0C-A516-70CEC8C8155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Theme3</Template>
  <TotalTime>2065</TotalTime>
  <Words>1585</Words>
  <Application>Microsoft Office PowerPoint</Application>
  <PresentationFormat>Widescreen</PresentationFormat>
  <Paragraphs>191</Paragraphs>
  <Slides>49</Slides>
  <Notes>46</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Theme3</vt:lpstr>
      <vt:lpstr>Automotive Technology: A Systems Approach, 8e</vt:lpstr>
      <vt:lpstr>Chapter Objectives (1 of 2)</vt:lpstr>
      <vt:lpstr>Chapter Objectives (2 of 2) </vt:lpstr>
      <vt:lpstr>Drum Brake Operation (1 of 2) </vt:lpstr>
      <vt:lpstr>Drum Brake Operation (2 of 2)</vt:lpstr>
      <vt:lpstr>Wheel Cylinders</vt:lpstr>
      <vt:lpstr>Brake Shoes and Linings</vt:lpstr>
      <vt:lpstr>Mechanical Components</vt:lpstr>
      <vt:lpstr>Holddowns</vt:lpstr>
      <vt:lpstr>Shoe Anchors</vt:lpstr>
      <vt:lpstr>Anchors</vt:lpstr>
      <vt:lpstr>Drums</vt:lpstr>
      <vt:lpstr>Drum Brake Designs</vt:lpstr>
      <vt:lpstr>Duo-Servo Brakes</vt:lpstr>
      <vt:lpstr>Knowledge Check (1 of 3)</vt:lpstr>
      <vt:lpstr>Knowledge Check Answer (1 of 3)</vt:lpstr>
      <vt:lpstr>Types of Automatically Adjusted Servo Brakes</vt:lpstr>
      <vt:lpstr>Cable with Overtravel Spring</vt:lpstr>
      <vt:lpstr>Nonservo Drum Brakes</vt:lpstr>
      <vt:lpstr>Typical Nonservo Brake</vt:lpstr>
      <vt:lpstr>Ratchet Adjuster</vt:lpstr>
      <vt:lpstr>Inspection and Service</vt:lpstr>
      <vt:lpstr>Road Testing Brakes</vt:lpstr>
      <vt:lpstr>Drum Brake Inspection </vt:lpstr>
      <vt:lpstr>Drum Removal</vt:lpstr>
      <vt:lpstr>Asbestos Caution</vt:lpstr>
      <vt:lpstr>Asbestos Removal</vt:lpstr>
      <vt:lpstr>Knowledge Check (2 of 3)  </vt:lpstr>
      <vt:lpstr>Knowledge Check Answer (2 of 3)</vt:lpstr>
      <vt:lpstr>Drum Inspection</vt:lpstr>
      <vt:lpstr>Common Drum Conditions </vt:lpstr>
      <vt:lpstr>Drum Measurements</vt:lpstr>
      <vt:lpstr>Drum Micrometer</vt:lpstr>
      <vt:lpstr>Drum Refinishing</vt:lpstr>
      <vt:lpstr>Cleaning Newly Refaced Drums</vt:lpstr>
      <vt:lpstr>Brake Shoe and Lining inspection</vt:lpstr>
      <vt:lpstr>Selecting Replacement Linings</vt:lpstr>
      <vt:lpstr>Identification Codes</vt:lpstr>
      <vt:lpstr>Cleaning and Inspecting Brake Parts</vt:lpstr>
      <vt:lpstr>Lining Adjustment</vt:lpstr>
      <vt:lpstr>Wheel Cylinder Inspection and Service</vt:lpstr>
      <vt:lpstr>Wheel Cylinder Inspection</vt:lpstr>
      <vt:lpstr>Drum Parking Brakes </vt:lpstr>
      <vt:lpstr>Hand-Operated Parking Brake</vt:lpstr>
      <vt:lpstr>Parking Brake Components</vt:lpstr>
      <vt:lpstr>Adjusting and Replacing Parking Brakes</vt:lpstr>
      <vt:lpstr>Knowledge Check (3 of 3)</vt:lpstr>
      <vt:lpstr>Knowledge Check Answer (3 of 3)</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51 Drum Brakes</dc:title>
  <dc:creator>Erjavec</dc:creator>
  <cp:lastModifiedBy>DiCaterino, Kara</cp:lastModifiedBy>
  <cp:revision>136</cp:revision>
  <dcterms:modified xsi:type="dcterms:W3CDTF">2024-11-22T17:02:54Z</dcterms:modified>
</cp:coreProperties>
</file>