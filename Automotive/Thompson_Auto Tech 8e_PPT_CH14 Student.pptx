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6"/>
  </p:notesMasterIdLst>
  <p:sldIdLst>
    <p:sldId id="403" r:id="rId2"/>
    <p:sldId id="301" r:id="rId3"/>
    <p:sldId id="302" r:id="rId4"/>
    <p:sldId id="303" r:id="rId5"/>
    <p:sldId id="304" r:id="rId6"/>
    <p:sldId id="305" r:id="rId7"/>
    <p:sldId id="306" r:id="rId8"/>
    <p:sldId id="404"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43" r:id="rId32"/>
    <p:sldId id="329" r:id="rId33"/>
    <p:sldId id="330" r:id="rId34"/>
    <p:sldId id="331" r:id="rId35"/>
    <p:sldId id="332" r:id="rId36"/>
    <p:sldId id="333" r:id="rId37"/>
    <p:sldId id="334" r:id="rId38"/>
    <p:sldId id="335" r:id="rId39"/>
    <p:sldId id="336" r:id="rId40"/>
    <p:sldId id="337" r:id="rId41"/>
    <p:sldId id="338" r:id="rId42"/>
    <p:sldId id="339" r:id="rId43"/>
    <p:sldId id="340" r:id="rId44"/>
    <p:sldId id="341" r:id="rId45"/>
  </p:sldIdLst>
  <p:sldSz cx="12192000" cy="6858000"/>
  <p:notesSz cx="6858000" cy="9144000"/>
  <p:embeddedFontLst>
    <p:embeddedFont>
      <p:font typeface="Work Sans" pitchFamily="2"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122" autoAdjust="0"/>
    <p:restoredTop sz="80421" autoAdjust="0"/>
  </p:normalViewPr>
  <p:slideViewPr>
    <p:cSldViewPr snapToGrid="0">
      <p:cViewPr varScale="1">
        <p:scale>
          <a:sx n="56" d="100"/>
          <a:sy n="56" d="100"/>
        </p:scale>
        <p:origin x="912" y="5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1.fntdata"/><Relationship Id="rId50" Type="http://schemas.openxmlformats.org/officeDocument/2006/relationships/font" Target="fonts/font4.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13876494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a:t>
            </a:fld>
            <a:endParaRPr lang="en-US" dirty="0"/>
          </a:p>
        </p:txBody>
      </p:sp>
    </p:spTree>
    <p:extLst>
      <p:ext uri="{BB962C8B-B14F-4D97-AF65-F5344CB8AC3E}">
        <p14:creationId xmlns:p14="http://schemas.microsoft.com/office/powerpoint/2010/main" val="10758626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630238"/>
            <a:ext cx="3778250" cy="2125662"/>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000" b="0" i="0" u="none" strike="noStrike" cap="none" smtClean="0">
                <a:solidFill>
                  <a:srgbClr val="7F7F7F"/>
                </a:solidFill>
                <a:latin typeface="Arial"/>
                <a:ea typeface="Arial"/>
                <a:cs typeface="Arial"/>
                <a:sym typeface="Arial"/>
              </a:rPr>
              <a:t>7</a:t>
            </a:fld>
            <a:endParaRPr lang="en-US" sz="1000" b="0" i="0" u="none" strike="noStrike" cap="none">
              <a:solidFill>
                <a:srgbClr val="7F7F7F"/>
              </a:solidFill>
              <a:latin typeface="Arial"/>
              <a:ea typeface="Arial"/>
              <a:cs typeface="Arial"/>
              <a:sym typeface="Arial"/>
            </a:endParaRPr>
          </a:p>
        </p:txBody>
      </p:sp>
    </p:spTree>
    <p:extLst>
      <p:ext uri="{BB962C8B-B14F-4D97-AF65-F5344CB8AC3E}">
        <p14:creationId xmlns:p14="http://schemas.microsoft.com/office/powerpoint/2010/main" val="6993194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78173-1858-97C7-D2CD-5EAD984E54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4ECBD3-36A4-1230-8F0D-722A077A9165}"/>
              </a:ext>
            </a:extLst>
          </p:cNvPr>
          <p:cNvSpPr>
            <a:spLocks noGrp="1" noRot="1" noChangeAspect="1"/>
          </p:cNvSpPr>
          <p:nvPr>
            <p:ph type="sldImg"/>
          </p:nvPr>
        </p:nvSpPr>
        <p:spPr>
          <a:xfrm>
            <a:off x="685800" y="630238"/>
            <a:ext cx="3778250" cy="2125662"/>
          </a:xfrm>
        </p:spPr>
      </p:sp>
      <p:sp>
        <p:nvSpPr>
          <p:cNvPr id="3" name="Notes Placeholder 2">
            <a:extLst>
              <a:ext uri="{FF2B5EF4-FFF2-40B4-BE49-F238E27FC236}">
                <a16:creationId xmlns:a16="http://schemas.microsoft.com/office/drawing/2014/main" id="{5E627634-A2B1-35A8-795B-53380DC49567}"/>
              </a:ext>
            </a:extLst>
          </p:cNvPr>
          <p:cNvSpPr>
            <a:spLocks noGrp="1"/>
          </p:cNvSpPr>
          <p:nvPr>
            <p:ph type="body" idx="1"/>
          </p:nvPr>
        </p:nvSpPr>
        <p:spPr/>
        <p:txBody>
          <a:bodyPr/>
          <a:lstStyle/>
          <a:p>
            <a:pPr marL="814388" marR="0" lvl="1" indent="-357188" algn="l" defTabSz="914400" rtl="0" eaLnBrk="1" fontAlgn="auto" latinLnBrk="0" hangingPunct="1">
              <a:lnSpc>
                <a:spcPct val="107000"/>
              </a:lnSpc>
              <a:spcBef>
                <a:spcPts val="0"/>
              </a:spcBef>
              <a:spcAft>
                <a:spcPts val="0"/>
              </a:spcAft>
              <a:buClr>
                <a:schemeClr val="dk1"/>
              </a:buClr>
              <a:buSzPts val="2800"/>
              <a:buFont typeface="Arial"/>
              <a:buChar char="•"/>
              <a:tabLst/>
              <a:defRPr/>
            </a:pPr>
            <a:r>
              <a:rPr lang="en-US" sz="1200" dirty="0"/>
              <a:t>. </a:t>
            </a:r>
          </a:p>
          <a:p>
            <a:endParaRPr lang="en-IN" dirty="0"/>
          </a:p>
        </p:txBody>
      </p:sp>
      <p:sp>
        <p:nvSpPr>
          <p:cNvPr id="4" name="Slide Number Placeholder 3">
            <a:extLst>
              <a:ext uri="{FF2B5EF4-FFF2-40B4-BE49-F238E27FC236}">
                <a16:creationId xmlns:a16="http://schemas.microsoft.com/office/drawing/2014/main" id="{A001DC15-7EDD-2977-5501-20F460F4AF3C}"/>
              </a:ext>
            </a:extLst>
          </p:cNvPr>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000" b="0" i="0" u="none" strike="noStrike" cap="none" smtClean="0">
                <a:solidFill>
                  <a:srgbClr val="7F7F7F"/>
                </a:solidFill>
                <a:latin typeface="Arial"/>
                <a:ea typeface="Arial"/>
                <a:cs typeface="Arial"/>
                <a:sym typeface="Arial"/>
              </a:rPr>
              <a:t>8</a:t>
            </a:fld>
            <a:endParaRPr lang="en-US" sz="1000" b="0" i="0" u="none" strike="noStrike" cap="none">
              <a:solidFill>
                <a:srgbClr val="7F7F7F"/>
              </a:solidFill>
              <a:latin typeface="Arial"/>
              <a:ea typeface="Arial"/>
              <a:cs typeface="Arial"/>
              <a:sym typeface="Arial"/>
            </a:endParaRPr>
          </a:p>
        </p:txBody>
      </p:sp>
    </p:spTree>
    <p:extLst>
      <p:ext uri="{BB962C8B-B14F-4D97-AF65-F5344CB8AC3E}">
        <p14:creationId xmlns:p14="http://schemas.microsoft.com/office/powerpoint/2010/main" val="6219939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hasCustomPrompt="1"/>
          </p:nvPr>
        </p:nvSpPr>
        <p:spPr>
          <a:xfrm>
            <a:off x="476843" y="1471264"/>
            <a:ext cx="11241915" cy="4613339"/>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US" sz="2600" dirty="0"/>
              <a:t> </a:t>
            </a:r>
          </a:p>
          <a:p>
            <a:pPr lvl="1"/>
            <a:endParaRPr lang="en-US"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7526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471264"/>
            <a:ext cx="7503375" cy="4218335"/>
          </a:xfrm>
          <a:prstGeom prst="rect">
            <a:avLst/>
          </a:prstGeom>
          <a:noFill/>
          <a:ln>
            <a:noFill/>
          </a:ln>
        </p:spPr>
        <p:txBody>
          <a:bodyPr spcFirstLastPara="1" wrap="square" lIns="91425" tIns="45700" rIns="91425" bIns="45700" anchor="t" anchorCtr="0">
            <a:noAutofit/>
          </a:bodyPr>
          <a:lstStyle>
            <a:lvl1pPr marL="360363" lvl="0" indent="-360363" algn="l">
              <a:lnSpc>
                <a:spcPct val="100000"/>
              </a:lnSpc>
              <a:spcBef>
                <a:spcPts val="624"/>
              </a:spcBef>
              <a:spcAft>
                <a:spcPts val="0"/>
              </a:spcAft>
              <a:buSzPct val="100000"/>
              <a:buChar char="•"/>
              <a:defRPr sz="2600"/>
            </a:lvl1pPr>
            <a:lvl2pPr marL="720725" lvl="1" indent="-360363" algn="l">
              <a:lnSpc>
                <a:spcPct val="100000"/>
              </a:lnSpc>
              <a:spcBef>
                <a:spcPts val="624"/>
              </a:spcBef>
              <a:spcAft>
                <a:spcPts val="0"/>
              </a:spcAft>
              <a:buSzPct val="100000"/>
              <a:buFont typeface="Arial" panose="020B0604020202020204" pitchFamily="34" charset="0"/>
              <a:buChar char="–"/>
              <a:defRPr sz="2400" b="0"/>
            </a:lvl2pPr>
            <a:lvl3pPr marL="1081088" lvl="2" indent="-360363"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US" sz="2600" dirty="0"/>
          </a:p>
          <a:p>
            <a:pPr lvl="1"/>
            <a:endParaRPr lang="en-US" dirty="0"/>
          </a:p>
          <a:p>
            <a:pPr lvl="2"/>
            <a:endParaRPr dirty="0"/>
          </a:p>
        </p:txBody>
      </p:sp>
      <p:sp>
        <p:nvSpPr>
          <p:cNvPr id="3" name="Picture Placeholder 2">
            <a:extLst>
              <a:ext uri="{FF2B5EF4-FFF2-40B4-BE49-F238E27FC236}">
                <a16:creationId xmlns:a16="http://schemas.microsoft.com/office/drawing/2014/main" id="{7A651A29-A324-27F5-067E-88E708444CD9}"/>
              </a:ext>
            </a:extLst>
          </p:cNvPr>
          <p:cNvSpPr>
            <a:spLocks noGrp="1"/>
          </p:cNvSpPr>
          <p:nvPr>
            <p:ph type="pic" sz="quarter" idx="10"/>
          </p:nvPr>
        </p:nvSpPr>
        <p:spPr>
          <a:xfrm>
            <a:off x="8220075" y="4230688"/>
            <a:ext cx="914400" cy="914400"/>
          </a:xfrm>
        </p:spPr>
        <p:txBody>
          <a:bodyPr/>
          <a:lstStyle/>
          <a:p>
            <a:endParaRPr lang="en-US"/>
          </a:p>
        </p:txBody>
      </p:sp>
    </p:spTree>
    <p:extLst>
      <p:ext uri="{BB962C8B-B14F-4D97-AF65-F5344CB8AC3E}">
        <p14:creationId xmlns:p14="http://schemas.microsoft.com/office/powerpoint/2010/main" val="4184353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BB3AA0D2-0094-0792-55E2-C0FF575B36EC}"/>
              </a:ext>
            </a:extLst>
          </p:cNvPr>
          <p:cNvSpPr txBox="1">
            <a:spLocks/>
          </p:cNvSpPr>
          <p:nvPr userDrawn="1"/>
        </p:nvSpPr>
        <p:spPr>
          <a:xfrm>
            <a:off x="2023089" y="6328082"/>
            <a:ext cx="9339263"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Ken </a:t>
            </a:r>
            <a:r>
              <a:rPr lang="en-US" sz="1200" kern="1200" dirty="0" err="1">
                <a:solidFill>
                  <a:schemeClr val="bg1"/>
                </a:solidFill>
                <a:latin typeface="Work Sans" pitchFamily="2" charset="0"/>
                <a:cs typeface="Arial" panose="020B0604020202020204" pitchFamily="34" charset="0"/>
              </a:rPr>
              <a:t>Pickerill</a:t>
            </a:r>
            <a:r>
              <a:rPr lang="en-US" sz="1200" kern="1200" dirty="0">
                <a:solidFill>
                  <a:schemeClr val="bg1"/>
                </a:solidFill>
                <a:latin typeface="Work Sans" pitchFamily="2" charset="0"/>
                <a:cs typeface="Arial" panose="020B0604020202020204" pitchFamily="34" charset="0"/>
              </a:rPr>
              <a:t>, Automotive Technology: A Systems Approach, </a:t>
            </a:r>
            <a:r>
              <a:rPr lang="en-US" sz="1200" dirty="0">
                <a:solidFill>
                  <a:schemeClr val="bg1"/>
                </a:solidFill>
                <a:latin typeface="Work Sans" pitchFamily="2" charset="0"/>
                <a:cs typeface="Arial" panose="020B0604020202020204" pitchFamily="34" charset="0"/>
              </a:rPr>
              <a:t>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Title (First Slide)">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D23111E-2710-4C1A-A7DB-CE3FE7C03336}"/>
              </a:ext>
              <a:ext uri="{C183D7F6-B498-43B3-948B-1728B52AA6E4}">
                <adec:decorative xmlns:adec="http://schemas.microsoft.com/office/drawing/2017/decorative" val="1"/>
              </a:ext>
            </a:extLst>
          </p:cNvPr>
          <p:cNvPicPr>
            <a:picLocks noChangeAspect="1"/>
          </p:cNvPicPr>
          <p:nvPr userDrawn="1"/>
        </p:nvPicPr>
        <p:blipFill>
          <a:blip r:embed="rId3"/>
          <a:srcRect/>
          <a:stretch/>
        </p:blipFill>
        <p:spPr>
          <a:xfrm>
            <a:off x="0" y="0"/>
            <a:ext cx="12192000" cy="6858000"/>
          </a:xfrm>
          <a:prstGeom prst="rect">
            <a:avLst/>
          </a:prstGeom>
        </p:spPr>
      </p:pic>
      <p:sp>
        <p:nvSpPr>
          <p:cNvPr id="2" name="Title"/>
          <p:cNvSpPr>
            <a:spLocks noGrp="1"/>
          </p:cNvSpPr>
          <p:nvPr>
            <p:ph type="ctrTitle" hasCustomPrompt="1"/>
          </p:nvPr>
        </p:nvSpPr>
        <p:spPr>
          <a:xfrm>
            <a:off x="5646420" y="1168663"/>
            <a:ext cx="6104302" cy="2387600"/>
          </a:xfrm>
        </p:spPr>
        <p:txBody>
          <a:bodyPr anchor="b"/>
          <a:lstStyle>
            <a:lvl1pPr algn="l">
              <a:defRPr sz="4800" baseline="0">
                <a:solidFill>
                  <a:schemeClr val="bg1"/>
                </a:solidFill>
              </a:defRPr>
            </a:lvl1pPr>
          </a:lstStyle>
          <a:p>
            <a:r>
              <a:rPr lang="en-US" dirty="0"/>
              <a:t>Chapter Number</a:t>
            </a:r>
          </a:p>
        </p:txBody>
      </p:sp>
      <p:sp>
        <p:nvSpPr>
          <p:cNvPr id="3" name="Subtitle 2"/>
          <p:cNvSpPr>
            <a:spLocks noGrp="1"/>
          </p:cNvSpPr>
          <p:nvPr>
            <p:ph type="subTitle" idx="1" hasCustomPrompt="1"/>
          </p:nvPr>
        </p:nvSpPr>
        <p:spPr>
          <a:xfrm>
            <a:off x="5646420" y="3809720"/>
            <a:ext cx="6104302" cy="1424930"/>
          </a:xfrm>
          <a:noFill/>
        </p:spPr>
        <p:txBody>
          <a:bodyPr anchor="t"/>
          <a:lstStyle>
            <a:lvl1pPr marL="0" indent="0" algn="l">
              <a:lnSpc>
                <a:spcPct val="100000"/>
              </a:lnSpc>
              <a:buNone/>
              <a:defRPr sz="32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Name</a:t>
            </a:r>
          </a:p>
        </p:txBody>
      </p:sp>
      <p:sp>
        <p:nvSpPr>
          <p:cNvPr id="12" name="Picture Placeholder 11">
            <a:extLst>
              <a:ext uri="{FF2B5EF4-FFF2-40B4-BE49-F238E27FC236}">
                <a16:creationId xmlns:a16="http://schemas.microsoft.com/office/drawing/2014/main" id="{7BF6BBBC-452C-48FA-A1E1-E851567E5383}"/>
              </a:ext>
            </a:extLst>
          </p:cNvPr>
          <p:cNvSpPr>
            <a:spLocks noGrp="1"/>
          </p:cNvSpPr>
          <p:nvPr>
            <p:ph type="pic" sz="quarter" idx="11" hasCustomPrompt="1"/>
          </p:nvPr>
        </p:nvSpPr>
        <p:spPr>
          <a:xfrm>
            <a:off x="475250" y="808037"/>
            <a:ext cx="4713288" cy="5241925"/>
          </a:xfrm>
        </p:spPr>
        <p:txBody>
          <a:bodyPr/>
          <a:lstStyle>
            <a:lvl1pPr marL="0" indent="0">
              <a:buNone/>
              <a:defRPr b="0">
                <a:solidFill>
                  <a:schemeClr val="bg1"/>
                </a:solidFill>
              </a:defRPr>
            </a:lvl1pPr>
          </a:lstStyle>
          <a:p>
            <a:r>
              <a:rPr lang="en-US" dirty="0"/>
              <a:t>Add Image Here</a:t>
            </a:r>
          </a:p>
        </p:txBody>
      </p:sp>
      <p:sp>
        <p:nvSpPr>
          <p:cNvPr id="9" name="Slide Number Placeholder 5">
            <a:extLst>
              <a:ext uri="{FF2B5EF4-FFF2-40B4-BE49-F238E27FC236}">
                <a16:creationId xmlns:a16="http://schemas.microsoft.com/office/drawing/2014/main" id="{6B326DFF-C872-4426-8563-39BC58624663}"/>
              </a:ext>
            </a:extLst>
          </p:cNvPr>
          <p:cNvSpPr txBox="1">
            <a:spLocks/>
          </p:cNvSpPr>
          <p:nvPr userDrawn="1"/>
        </p:nvSpPr>
        <p:spPr>
          <a:xfrm>
            <a:off x="11082189" y="6449054"/>
            <a:ext cx="734291" cy="365760"/>
          </a:xfrm>
          <a:prstGeom prst="rect">
            <a:avLst/>
          </a:prstGeom>
        </p:spPr>
        <p:txBody>
          <a:bodyPr vert="horz" lIns="91440" tIns="45720" rIns="91440" bIns="45720" rtlCol="0" anchor="ctr"/>
          <a:lstStyle>
            <a:defPPr>
              <a:defRPr lang="en-US"/>
            </a:defPPr>
            <a:lvl1pPr algn="r" rtl="0" eaLnBrk="0" fontAlgn="base" hangingPunct="0">
              <a:spcBef>
                <a:spcPct val="0"/>
              </a:spcBef>
              <a:spcAft>
                <a:spcPct val="0"/>
              </a:spcAft>
              <a:defRPr sz="1200" kern="1200">
                <a:solidFill>
                  <a:schemeClr val="tx1">
                    <a:tint val="75000"/>
                  </a:schemeClr>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a:lstStyle>
          <a:p>
            <a:fld id="{963FCBED-9BC8-44C8-B578-C394BC67F972}" type="slidenum">
              <a:rPr lang="en-US" sz="1100" smtClean="0">
                <a:solidFill>
                  <a:schemeClr val="bg1"/>
                </a:solidFill>
                <a:latin typeface="+mn-lt"/>
              </a:rPr>
              <a:pPr/>
              <a:t>‹#›</a:t>
            </a:fld>
            <a:endParaRPr lang="en-US" sz="1100" dirty="0">
              <a:solidFill>
                <a:schemeClr val="bg1"/>
              </a:solidFill>
              <a:latin typeface="+mn-lt"/>
            </a:endParaRPr>
          </a:p>
        </p:txBody>
      </p:sp>
      <p:pic>
        <p:nvPicPr>
          <p:cNvPr id="21" name="Picture 20">
            <a:extLst>
              <a:ext uri="{FF2B5EF4-FFF2-40B4-BE49-F238E27FC236}">
                <a16:creationId xmlns:a16="http://schemas.microsoft.com/office/drawing/2014/main" id="{FDE6C580-026E-426D-A0EE-BDE15B891A0A}"/>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183087" y="6223885"/>
            <a:ext cx="1820281" cy="610675"/>
          </a:xfrm>
          <a:prstGeom prst="rect">
            <a:avLst/>
          </a:prstGeom>
        </p:spPr>
      </p:pic>
      <p:sp>
        <p:nvSpPr>
          <p:cNvPr id="5" name="Content Placeholder 4">
            <a:extLst>
              <a:ext uri="{FF2B5EF4-FFF2-40B4-BE49-F238E27FC236}">
                <a16:creationId xmlns:a16="http://schemas.microsoft.com/office/drawing/2014/main" id="{D13D6583-B40C-2D1D-24F2-84CA0411EB21}"/>
              </a:ext>
            </a:extLst>
          </p:cNvPr>
          <p:cNvSpPr>
            <a:spLocks noGrp="1"/>
          </p:cNvSpPr>
          <p:nvPr>
            <p:ph sz="quarter" idx="12"/>
          </p:nvPr>
        </p:nvSpPr>
        <p:spPr>
          <a:xfrm>
            <a:off x="2146300" y="6303963"/>
            <a:ext cx="8739188" cy="26987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ustDataLst>
      <p:tags r:id="rId1"/>
    </p:custDataLst>
    <p:extLst>
      <p:ext uri="{BB962C8B-B14F-4D97-AF65-F5344CB8AC3E}">
        <p14:creationId xmlns:p14="http://schemas.microsoft.com/office/powerpoint/2010/main" val="1857889003"/>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6">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CD19108E-8571-78F5-22D0-F925083C7F18}"/>
              </a:ext>
            </a:extLst>
          </p:cNvPr>
          <p:cNvSpPr txBox="1">
            <a:spLocks/>
          </p:cNvSpPr>
          <p:nvPr userDrawn="1"/>
        </p:nvSpPr>
        <p:spPr>
          <a:xfrm>
            <a:off x="2019935" y="6327949"/>
            <a:ext cx="9345472"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50" r:id="rId1"/>
    <p:sldLayoutId id="2147483664"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4.xml"/><Relationship Id="rId1" Type="http://schemas.openxmlformats.org/officeDocument/2006/relationships/tags" Target="../tags/tag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F5FCE66-4DFC-4C59-A36E-7A4DE8D188A2}"/>
              </a:ext>
            </a:extLst>
          </p:cNvPr>
          <p:cNvSpPr>
            <a:spLocks noGrp="1"/>
          </p:cNvSpPr>
          <p:nvPr>
            <p:ph type="ctrTitle"/>
          </p:nvPr>
        </p:nvSpPr>
        <p:spPr/>
        <p:txBody>
          <a:bodyPr/>
          <a:lstStyle/>
          <a:p>
            <a:r>
              <a:rPr lang="en-US" sz="4000" dirty="0">
                <a:cs typeface="Arial" panose="020B0604020202020204" pitchFamily="34" charset="0"/>
              </a:rPr>
              <a:t>Automotive Technology: A Systems Approach,</a:t>
            </a:r>
            <a:r>
              <a:rPr lang="en-IN" sz="4000" dirty="0">
                <a:cs typeface="Arial" panose="020B0604020202020204" pitchFamily="34" charset="0"/>
              </a:rPr>
              <a:t> 8e</a:t>
            </a:r>
          </a:p>
        </p:txBody>
      </p:sp>
      <p:sp>
        <p:nvSpPr>
          <p:cNvPr id="9" name="Subtitle 8">
            <a:extLst>
              <a:ext uri="{FF2B5EF4-FFF2-40B4-BE49-F238E27FC236}">
                <a16:creationId xmlns:a16="http://schemas.microsoft.com/office/drawing/2014/main" id="{750BCB8A-256D-4B8C-A91A-98C6C9437858}"/>
              </a:ext>
            </a:extLst>
          </p:cNvPr>
          <p:cNvSpPr>
            <a:spLocks noGrp="1"/>
          </p:cNvSpPr>
          <p:nvPr>
            <p:ph type="subTitle" idx="1"/>
          </p:nvPr>
        </p:nvSpPr>
        <p:spPr/>
        <p:txBody>
          <a:bodyPr/>
          <a:lstStyle/>
          <a:p>
            <a:r>
              <a:rPr lang="en-US" dirty="0">
                <a:cs typeface="Arial" panose="020B0604020202020204" pitchFamily="34" charset="0"/>
              </a:rPr>
              <a:t>Chapter 14: Lubricating and Cooling Systems</a:t>
            </a:r>
          </a:p>
        </p:txBody>
      </p:sp>
      <p:pic>
        <p:nvPicPr>
          <p:cNvPr id="2"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A722895C-D5F5-D069-5D50-81B26D9F16AA}"/>
              </a:ext>
            </a:extLst>
          </p:cNvPr>
          <p:cNvPicPr>
            <a:picLocks noGrp="1" noChangeAspect="1"/>
          </p:cNvPicPr>
          <p:nvPr>
            <p:ph type="pic" sz="quarter" idx="11"/>
          </p:nvPr>
        </p:nvPicPr>
        <p:blipFill rotWithShape="1">
          <a:blip r:embed="rId4"/>
          <a:stretch/>
        </p:blipFill>
        <p:spPr>
          <a:xfrm>
            <a:off x="653972" y="640706"/>
            <a:ext cx="4319966" cy="5532289"/>
          </a:xfrm>
          <a:prstGeom prst="rect">
            <a:avLst/>
          </a:prstGeom>
        </p:spPr>
      </p:pic>
      <p:sp>
        <p:nvSpPr>
          <p:cNvPr id="5" name="Content Placeholder 4">
            <a:extLst>
              <a:ext uri="{FF2B5EF4-FFF2-40B4-BE49-F238E27FC236}">
                <a16:creationId xmlns:a16="http://schemas.microsoft.com/office/drawing/2014/main" id="{A4B5BA96-46CA-D50E-020A-74C2CBDC89A6}"/>
              </a:ext>
            </a:extLst>
          </p:cNvPr>
          <p:cNvSpPr txBox="1">
            <a:spLocks noGrp="1"/>
          </p:cNvSpPr>
          <p:nvPr>
            <p:ph sz="quarter" idx="12"/>
          </p:nvPr>
        </p:nvSpPr>
        <p:spPr>
          <a:xfrm>
            <a:off x="2019935" y="6327949"/>
            <a:ext cx="9345472" cy="461665"/>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spTree>
    <p:custDataLst>
      <p:tags r:id="rId1"/>
    </p:custDataLst>
    <p:extLst>
      <p:ext uri="{BB962C8B-B14F-4D97-AF65-F5344CB8AC3E}">
        <p14:creationId xmlns:p14="http://schemas.microsoft.com/office/powerpoint/2010/main" val="110584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2)</a:t>
            </a:r>
            <a:endParaRPr dirty="0"/>
          </a:p>
        </p:txBody>
      </p:sp>
      <p:sp>
        <p:nvSpPr>
          <p:cNvPr id="4" name="Text Placeholder 3">
            <a:extLst>
              <a:ext uri="{FF2B5EF4-FFF2-40B4-BE49-F238E27FC236}">
                <a16:creationId xmlns:a16="http://schemas.microsoft.com/office/drawing/2014/main" id="{EA0F6EDF-0408-C42B-57A8-EB663B03FDDD}"/>
              </a:ext>
            </a:extLst>
          </p:cNvPr>
          <p:cNvSpPr>
            <a:spLocks noGrp="1"/>
          </p:cNvSpPr>
          <p:nvPr>
            <p:ph type="body" idx="1"/>
          </p:nvPr>
        </p:nvSpPr>
        <p:spPr/>
        <p:txBody>
          <a:bodyPr/>
          <a:lstStyle/>
          <a:p>
            <a:r>
              <a:rPr lang="en-US" dirty="0"/>
              <a:t>14.01 Name and describe the components of a typical lubricating system.</a:t>
            </a:r>
          </a:p>
          <a:p>
            <a:r>
              <a:rPr lang="en-US" dirty="0"/>
              <a:t>14.02 Explain the process of flushing the lubrication system.</a:t>
            </a:r>
          </a:p>
          <a:p>
            <a:r>
              <a:rPr lang="en-US" dirty="0"/>
              <a:t>14.03 Describe the operation of the cooling system.</a:t>
            </a:r>
          </a:p>
          <a:p>
            <a:r>
              <a:rPr lang="en-US" dirty="0"/>
              <a:t>14.04 List and describe the major components of the cooling system.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C5768B9-F317-4F6B-7F41-2E81CAF47520}"/>
              </a:ext>
            </a:extLst>
          </p:cNvPr>
          <p:cNvSpPr>
            <a:spLocks noGrp="1"/>
          </p:cNvSpPr>
          <p:nvPr>
            <p:ph type="title"/>
          </p:nvPr>
        </p:nvSpPr>
        <p:spPr/>
        <p:txBody>
          <a:bodyPr/>
          <a:lstStyle/>
          <a:p>
            <a:r>
              <a:rPr lang="en-US" dirty="0"/>
              <a:t>Chapter Objectives (2 of 2)</a:t>
            </a:r>
          </a:p>
        </p:txBody>
      </p:sp>
      <p:sp>
        <p:nvSpPr>
          <p:cNvPr id="5" name="Text Placeholder 4">
            <a:extLst>
              <a:ext uri="{FF2B5EF4-FFF2-40B4-BE49-F238E27FC236}">
                <a16:creationId xmlns:a16="http://schemas.microsoft.com/office/drawing/2014/main" id="{B2B82035-8B6E-56B5-8B9D-A6725BCEB776}"/>
              </a:ext>
            </a:extLst>
          </p:cNvPr>
          <p:cNvSpPr>
            <a:spLocks noGrp="1"/>
          </p:cNvSpPr>
          <p:nvPr>
            <p:ph type="body" idx="1"/>
          </p:nvPr>
        </p:nvSpPr>
        <p:spPr/>
        <p:txBody>
          <a:bodyPr/>
          <a:lstStyle/>
          <a:p>
            <a:pPr marL="357188" marR="0" lvl="0" indent="-357188" algn="l" rtl="0">
              <a:spcAft>
                <a:spcPts val="600"/>
              </a:spcAft>
              <a:buSzPts val="2800"/>
              <a:buChar char="•"/>
            </a:pPr>
            <a:r>
              <a:rPr lang="en-US" dirty="0"/>
              <a:t>14.05 Inspect the cooling system.</a:t>
            </a:r>
          </a:p>
          <a:p>
            <a:pPr marL="357188" marR="0" lvl="0" indent="-357188" algn="l" rtl="0">
              <a:spcAft>
                <a:spcPts val="600"/>
              </a:spcAft>
              <a:buSzPts val="2800"/>
              <a:buChar char="•"/>
            </a:pPr>
            <a:r>
              <a:rPr lang="en-US" dirty="0"/>
              <a:t>14.06 Test the cooling system for leaks.</a:t>
            </a:r>
          </a:p>
          <a:p>
            <a:pPr marL="357188" marR="0" lvl="0" indent="-357188" algn="l" rtl="0">
              <a:spcAft>
                <a:spcPts val="600"/>
              </a:spcAft>
              <a:buSzPts val="2800"/>
              <a:buChar char="•"/>
            </a:pPr>
            <a:r>
              <a:rPr lang="en-US" dirty="0"/>
              <a:t>14.07 Service components of the cooling system.</a:t>
            </a:r>
          </a:p>
          <a:p>
            <a:pPr marL="357188" marR="0" lvl="0" indent="-357188" algn="l" rtl="0">
              <a:spcAft>
                <a:spcPts val="600"/>
              </a:spcAft>
              <a:buSzPts val="2800"/>
              <a:buChar char="•"/>
            </a:pPr>
            <a:r>
              <a:rPr lang="en-US" dirty="0"/>
              <a:t>14.08 Diagnose the cause of engine overheating.</a:t>
            </a:r>
          </a:p>
        </p:txBody>
      </p:sp>
    </p:spTree>
    <p:extLst>
      <p:ext uri="{BB962C8B-B14F-4D97-AF65-F5344CB8AC3E}">
        <p14:creationId xmlns:p14="http://schemas.microsoft.com/office/powerpoint/2010/main" val="31598777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B92B-CE2C-D635-E6A0-6BDC40E03093}"/>
              </a:ext>
            </a:extLst>
          </p:cNvPr>
          <p:cNvSpPr>
            <a:spLocks noGrp="1"/>
          </p:cNvSpPr>
          <p:nvPr>
            <p:ph type="title"/>
          </p:nvPr>
        </p:nvSpPr>
        <p:spPr/>
        <p:txBody>
          <a:bodyPr/>
          <a:lstStyle/>
          <a:p>
            <a:r>
              <a:rPr lang="en-US" dirty="0"/>
              <a:t>Lubrication System (1 of 3)</a:t>
            </a:r>
          </a:p>
        </p:txBody>
      </p:sp>
      <p:sp>
        <p:nvSpPr>
          <p:cNvPr id="3" name="Text Placeholder 2">
            <a:extLst>
              <a:ext uri="{FF2B5EF4-FFF2-40B4-BE49-F238E27FC236}">
                <a16:creationId xmlns:a16="http://schemas.microsoft.com/office/drawing/2014/main" id="{9A79603A-29E7-A34C-2318-254BC0AD3623}"/>
              </a:ext>
            </a:extLst>
          </p:cNvPr>
          <p:cNvSpPr>
            <a:spLocks noGrp="1"/>
          </p:cNvSpPr>
          <p:nvPr>
            <p:ph type="body" idx="1"/>
          </p:nvPr>
        </p:nvSpPr>
        <p:spPr/>
        <p:txBody>
          <a:bodyPr/>
          <a:lstStyle/>
          <a:p>
            <a:pPr marL="0" indent="0">
              <a:spcAft>
                <a:spcPts val="600"/>
              </a:spcAft>
              <a:buNone/>
            </a:pPr>
            <a:r>
              <a:rPr lang="en-US" sz="2400" b="1" dirty="0"/>
              <a:t>14.01 Name and describe the components of a typical lubricating system. </a:t>
            </a:r>
          </a:p>
          <a:p>
            <a:pPr>
              <a:spcAft>
                <a:spcPts val="600"/>
              </a:spcAft>
            </a:pPr>
            <a:r>
              <a:rPr lang="en-US" sz="2400" dirty="0"/>
              <a:t>Engine Oil</a:t>
            </a:r>
          </a:p>
          <a:p>
            <a:pPr lvl="1">
              <a:spcAft>
                <a:spcPts val="600"/>
              </a:spcAft>
            </a:pPr>
            <a:r>
              <a:rPr lang="en-US" sz="2000" dirty="0"/>
              <a:t>Engine oil is specially formulated to lubricate and cool engine parts.</a:t>
            </a:r>
          </a:p>
          <a:p>
            <a:pPr lvl="1">
              <a:spcAft>
                <a:spcPts val="600"/>
              </a:spcAft>
            </a:pPr>
            <a:r>
              <a:rPr lang="en-US" sz="2000" dirty="0"/>
              <a:t>The moving parts of an engine are fed a constant supply of oil.</a:t>
            </a:r>
          </a:p>
          <a:p>
            <a:pPr lvl="1">
              <a:spcAft>
                <a:spcPts val="600"/>
              </a:spcAft>
            </a:pPr>
            <a:r>
              <a:rPr lang="en-US" sz="2000" dirty="0"/>
              <a:t>Engine oil is stored in the oil pan or sump.</a:t>
            </a:r>
          </a:p>
          <a:p>
            <a:pPr lvl="1">
              <a:spcAft>
                <a:spcPts val="600"/>
              </a:spcAft>
            </a:pPr>
            <a:r>
              <a:rPr lang="en-US" sz="2000" dirty="0"/>
              <a:t>The oil pump draws the oil from the sump and passes it through a filter where dirt is removed.</a:t>
            </a:r>
          </a:p>
          <a:p>
            <a:pPr lvl="1">
              <a:spcAft>
                <a:spcPts val="600"/>
              </a:spcAft>
            </a:pPr>
            <a:r>
              <a:rPr lang="en-US" sz="2000" dirty="0"/>
              <a:t>The oil is then moved throughout the engine via oil passages or galleries.</a:t>
            </a:r>
          </a:p>
          <a:p>
            <a:pPr lvl="1">
              <a:spcAft>
                <a:spcPts val="600"/>
              </a:spcAft>
            </a:pPr>
            <a:r>
              <a:rPr lang="en-US" sz="2000" dirty="0"/>
              <a:t>After circulating through the engine, the oil returns to the sump.</a:t>
            </a:r>
          </a:p>
        </p:txBody>
      </p:sp>
    </p:spTree>
    <p:extLst>
      <p:ext uri="{BB962C8B-B14F-4D97-AF65-F5344CB8AC3E}">
        <p14:creationId xmlns:p14="http://schemas.microsoft.com/office/powerpoint/2010/main" val="457321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512705-BA40-687D-1FE0-DC345CE4366F}"/>
              </a:ext>
            </a:extLst>
          </p:cNvPr>
          <p:cNvSpPr>
            <a:spLocks noGrp="1"/>
          </p:cNvSpPr>
          <p:nvPr>
            <p:ph type="title"/>
          </p:nvPr>
        </p:nvSpPr>
        <p:spPr/>
        <p:txBody>
          <a:bodyPr/>
          <a:lstStyle/>
          <a:p>
            <a:r>
              <a:rPr lang="en-US" dirty="0"/>
              <a:t>Lubrication System (2 of 3)</a:t>
            </a:r>
          </a:p>
        </p:txBody>
      </p:sp>
      <p:sp>
        <p:nvSpPr>
          <p:cNvPr id="3" name="Text Placeholder 2">
            <a:extLst>
              <a:ext uri="{FF2B5EF4-FFF2-40B4-BE49-F238E27FC236}">
                <a16:creationId xmlns:a16="http://schemas.microsoft.com/office/drawing/2014/main" id="{988F7210-1BCE-35FF-EFF6-672DC5768596}"/>
              </a:ext>
            </a:extLst>
          </p:cNvPr>
          <p:cNvSpPr>
            <a:spLocks noGrp="1"/>
          </p:cNvSpPr>
          <p:nvPr>
            <p:ph type="body" idx="1"/>
          </p:nvPr>
        </p:nvSpPr>
        <p:spPr/>
        <p:txBody>
          <a:bodyPr/>
          <a:lstStyle/>
          <a:p>
            <a:pPr>
              <a:spcAft>
                <a:spcPts val="600"/>
              </a:spcAft>
            </a:pPr>
            <a:r>
              <a:rPr lang="en-US" sz="1800" dirty="0"/>
              <a:t>The oil pump is the heart of the lubricating system.</a:t>
            </a:r>
          </a:p>
          <a:p>
            <a:pPr>
              <a:spcAft>
                <a:spcPts val="600"/>
              </a:spcAft>
            </a:pPr>
            <a:r>
              <a:rPr lang="en-US" sz="1800" dirty="0"/>
              <a:t>The oil pump pulls oil from the oil pan through a pickup tube.</a:t>
            </a:r>
          </a:p>
          <a:p>
            <a:pPr>
              <a:spcAft>
                <a:spcPts val="600"/>
              </a:spcAft>
            </a:pPr>
            <a:r>
              <a:rPr lang="en-US" sz="1800" dirty="0"/>
              <a:t>The part of the tube that is in the oil pan has a filter screen, which is submerged in the oil and keeps large particles from entering the oil pump.</a:t>
            </a:r>
          </a:p>
          <a:p>
            <a:pPr>
              <a:spcAft>
                <a:spcPts val="600"/>
              </a:spcAft>
            </a:pPr>
            <a:r>
              <a:rPr lang="en-US" sz="1800" dirty="0"/>
              <a:t>The pickup may also contain a bypass valve that allows oil to enter the pump if the screen becomes totally plugged.</a:t>
            </a:r>
          </a:p>
          <a:p>
            <a:pPr>
              <a:spcAft>
                <a:spcPts val="600"/>
              </a:spcAft>
            </a:pPr>
            <a:r>
              <a:rPr lang="en-US" sz="1800" dirty="0"/>
              <a:t>The pump is normally driven by the crankshaft and creates suction to draw oil from the oil pan through a strainer and then forces the oil through the oil filter and to various passages throughout the engine. The oil then returns to the oil pan.</a:t>
            </a:r>
          </a:p>
          <a:p>
            <a:pPr>
              <a:spcAft>
                <a:spcPts val="600"/>
              </a:spcAft>
            </a:pPr>
            <a:r>
              <a:rPr lang="en-US" sz="1800" dirty="0"/>
              <a:t>An oil pump does not create oil pressure; it merely moves oil from one place to another. Oil pumps are positive displacement pumps; that is, the amount of oil that leaves the pump is the same amount that enters it. Output volume is proportional to pump speed.</a:t>
            </a:r>
          </a:p>
        </p:txBody>
      </p:sp>
    </p:spTree>
    <p:extLst>
      <p:ext uri="{BB962C8B-B14F-4D97-AF65-F5344CB8AC3E}">
        <p14:creationId xmlns:p14="http://schemas.microsoft.com/office/powerpoint/2010/main" val="2645130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5BF3B-7AF6-0EC5-2236-6D6DAFB8900B}"/>
              </a:ext>
            </a:extLst>
          </p:cNvPr>
          <p:cNvSpPr>
            <a:spLocks noGrp="1"/>
          </p:cNvSpPr>
          <p:nvPr>
            <p:ph type="title"/>
          </p:nvPr>
        </p:nvSpPr>
        <p:spPr/>
        <p:txBody>
          <a:bodyPr/>
          <a:lstStyle/>
          <a:p>
            <a:r>
              <a:rPr lang="en-US" dirty="0"/>
              <a:t>Lubrication System (3 of 3)</a:t>
            </a:r>
          </a:p>
        </p:txBody>
      </p:sp>
      <p:sp>
        <p:nvSpPr>
          <p:cNvPr id="3" name="Text Placeholder 2">
            <a:extLst>
              <a:ext uri="{FF2B5EF4-FFF2-40B4-BE49-F238E27FC236}">
                <a16:creationId xmlns:a16="http://schemas.microsoft.com/office/drawing/2014/main" id="{A25B7632-F201-5C41-3A11-2F095BDF8A15}"/>
              </a:ext>
            </a:extLst>
          </p:cNvPr>
          <p:cNvSpPr>
            <a:spLocks noGrp="1"/>
          </p:cNvSpPr>
          <p:nvPr>
            <p:ph type="body" idx="1"/>
          </p:nvPr>
        </p:nvSpPr>
        <p:spPr/>
        <p:txBody>
          <a:bodyPr/>
          <a:lstStyle/>
          <a:p>
            <a:pPr>
              <a:spcAft>
                <a:spcPts val="600"/>
              </a:spcAft>
            </a:pPr>
            <a:r>
              <a:rPr lang="en-US" sz="2000" dirty="0"/>
              <a:t>As engine rpm increases, pump output also increases.</a:t>
            </a:r>
          </a:p>
          <a:p>
            <a:pPr>
              <a:spcAft>
                <a:spcPts val="600"/>
              </a:spcAft>
            </a:pPr>
            <a:r>
              <a:rPr lang="en-US" sz="2000" dirty="0"/>
              <a:t>As the oil leaves the pump, it passes through many passages which restrict oil flow. </a:t>
            </a:r>
          </a:p>
          <a:p>
            <a:pPr>
              <a:spcAft>
                <a:spcPts val="600"/>
              </a:spcAft>
            </a:pPr>
            <a:r>
              <a:rPr lang="en-US" sz="2000" dirty="0"/>
              <a:t>These restrictions are what cause oil pressure.</a:t>
            </a:r>
          </a:p>
          <a:p>
            <a:pPr>
              <a:spcAft>
                <a:spcPts val="600"/>
              </a:spcAft>
            </a:pPr>
            <a:r>
              <a:rPr lang="en-US" sz="2000" dirty="0"/>
              <a:t>Small passages cause the pressure to increase; larger ones decrease the pressure. </a:t>
            </a:r>
          </a:p>
          <a:p>
            <a:pPr>
              <a:spcAft>
                <a:spcPts val="600"/>
              </a:spcAft>
            </a:pPr>
            <a:r>
              <a:rPr lang="en-US" sz="2000" dirty="0"/>
              <a:t>This is why excessive bearing clearances will decrease oil pressure.</a:t>
            </a:r>
          </a:p>
          <a:p>
            <a:pPr>
              <a:spcAft>
                <a:spcPts val="600"/>
              </a:spcAft>
            </a:pPr>
            <a:r>
              <a:rPr lang="en-US" sz="2000" dirty="0"/>
              <a:t>The increased clearances reduce the resistance to oil flow and, consequently, increase the volume of oil circulating through the engine.</a:t>
            </a:r>
          </a:p>
          <a:p>
            <a:pPr>
              <a:spcAft>
                <a:spcPts val="600"/>
              </a:spcAft>
            </a:pPr>
            <a:r>
              <a:rPr lang="en-US" sz="2000" dirty="0"/>
              <a:t>This decreased resistance and increased volume lower the pressure of the oil.</a:t>
            </a:r>
          </a:p>
          <a:p>
            <a:pPr>
              <a:spcAft>
                <a:spcPts val="600"/>
              </a:spcAft>
            </a:pPr>
            <a:r>
              <a:rPr lang="en-US" sz="2000" dirty="0"/>
              <a:t>Oil pressure is also determined by the viscosity, temperature, and condition of the oil. High-viscosity oil has more flow resistance than low-viscosity oil.</a:t>
            </a:r>
          </a:p>
        </p:txBody>
      </p:sp>
    </p:spTree>
    <p:extLst>
      <p:ext uri="{BB962C8B-B14F-4D97-AF65-F5344CB8AC3E}">
        <p14:creationId xmlns:p14="http://schemas.microsoft.com/office/powerpoint/2010/main" val="6062805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33885D-69AA-9067-234E-195C86AFEA0D}"/>
              </a:ext>
            </a:extLst>
          </p:cNvPr>
          <p:cNvSpPr>
            <a:spLocks noGrp="1"/>
          </p:cNvSpPr>
          <p:nvPr>
            <p:ph type="title"/>
          </p:nvPr>
        </p:nvSpPr>
        <p:spPr/>
        <p:txBody>
          <a:bodyPr/>
          <a:lstStyle/>
          <a:p>
            <a:r>
              <a:rPr lang="en-US" dirty="0"/>
              <a:t>Types of Oil Pumps</a:t>
            </a:r>
          </a:p>
        </p:txBody>
      </p:sp>
      <p:sp>
        <p:nvSpPr>
          <p:cNvPr id="5" name="Text Placeholder 4">
            <a:extLst>
              <a:ext uri="{FF2B5EF4-FFF2-40B4-BE49-F238E27FC236}">
                <a16:creationId xmlns:a16="http://schemas.microsoft.com/office/drawing/2014/main" id="{01C276D9-ADF6-E62D-843A-566452D048CA}"/>
              </a:ext>
            </a:extLst>
          </p:cNvPr>
          <p:cNvSpPr>
            <a:spLocks noGrp="1"/>
          </p:cNvSpPr>
          <p:nvPr>
            <p:ph type="body" idx="1"/>
          </p:nvPr>
        </p:nvSpPr>
        <p:spPr>
          <a:xfrm>
            <a:off x="476843" y="1471263"/>
            <a:ext cx="11241915" cy="4636025"/>
          </a:xfrm>
        </p:spPr>
        <p:txBody>
          <a:bodyPr/>
          <a:lstStyle/>
          <a:p>
            <a:pPr>
              <a:spcAft>
                <a:spcPts val="600"/>
              </a:spcAft>
            </a:pPr>
            <a:r>
              <a:rPr lang="en-US" dirty="0"/>
              <a:t>Oil pumps are driven by the camshaft or crankshaft and how the pump is driven is dictated by the location of the pump.</a:t>
            </a:r>
          </a:p>
          <a:p>
            <a:pPr>
              <a:spcAft>
                <a:spcPts val="600"/>
              </a:spcAft>
            </a:pPr>
            <a:r>
              <a:rPr lang="en-US" dirty="0"/>
              <a:t>Two basic types of oil pumps are used in today’s engines.</a:t>
            </a:r>
          </a:p>
          <a:p>
            <a:pPr>
              <a:spcAft>
                <a:spcPts val="600"/>
              </a:spcAft>
            </a:pPr>
            <a:r>
              <a:rPr lang="en-US" dirty="0"/>
              <a:t>A </a:t>
            </a:r>
            <a:r>
              <a:rPr lang="en-US" b="1" dirty="0"/>
              <a:t>rotor-type oil pump </a:t>
            </a:r>
            <a:r>
              <a:rPr lang="en-US" dirty="0"/>
              <a:t>has an inner rotor and an outer rotor.</a:t>
            </a:r>
          </a:p>
          <a:p>
            <a:pPr>
              <a:spcAft>
                <a:spcPts val="600"/>
              </a:spcAft>
            </a:pPr>
            <a:r>
              <a:rPr lang="en-US" dirty="0"/>
              <a:t>Gear-type pumps use a drive gear, connected to an input shaft, and a driven gear.</a:t>
            </a:r>
          </a:p>
          <a:p>
            <a:pPr>
              <a:spcAft>
                <a:spcPts val="600"/>
              </a:spcAft>
            </a:pPr>
            <a:endParaRPr lang="en-US" dirty="0"/>
          </a:p>
        </p:txBody>
      </p:sp>
    </p:spTree>
    <p:extLst>
      <p:ext uri="{BB962C8B-B14F-4D97-AF65-F5344CB8AC3E}">
        <p14:creationId xmlns:p14="http://schemas.microsoft.com/office/powerpoint/2010/main" val="37562774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8D8AC-233D-AAC0-A769-101D94C8F63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C360F11-159F-B27B-FF1B-0BFDBB1571FE}"/>
              </a:ext>
            </a:extLst>
          </p:cNvPr>
          <p:cNvSpPr>
            <a:spLocks noGrp="1"/>
          </p:cNvSpPr>
          <p:nvPr>
            <p:ph type="title"/>
          </p:nvPr>
        </p:nvSpPr>
        <p:spPr/>
        <p:txBody>
          <a:bodyPr/>
          <a:lstStyle/>
          <a:p>
            <a:r>
              <a:rPr lang="en-US" dirty="0"/>
              <a:t>Rotor Type Oil Pumps</a:t>
            </a:r>
          </a:p>
        </p:txBody>
      </p:sp>
      <p:sp>
        <p:nvSpPr>
          <p:cNvPr id="5" name="Text Placeholder 4">
            <a:extLst>
              <a:ext uri="{FF2B5EF4-FFF2-40B4-BE49-F238E27FC236}">
                <a16:creationId xmlns:a16="http://schemas.microsoft.com/office/drawing/2014/main" id="{A9367011-57A2-0B65-2562-46575F5C4B92}"/>
              </a:ext>
            </a:extLst>
          </p:cNvPr>
          <p:cNvSpPr>
            <a:spLocks noGrp="1"/>
          </p:cNvSpPr>
          <p:nvPr>
            <p:ph type="body" idx="1"/>
          </p:nvPr>
        </p:nvSpPr>
        <p:spPr>
          <a:xfrm>
            <a:off x="138025" y="1471263"/>
            <a:ext cx="6176511" cy="4636025"/>
          </a:xfrm>
        </p:spPr>
        <p:txBody>
          <a:bodyPr/>
          <a:lstStyle/>
          <a:p>
            <a:pPr marL="814388" marR="0" lvl="1" indent="-357188" algn="l" defTabSz="914400" rtl="0" eaLnBrk="1" fontAlgn="auto" latinLnBrk="0" hangingPunct="1">
              <a:lnSpc>
                <a:spcPct val="107000"/>
              </a:lnSpc>
              <a:spcBef>
                <a:spcPts val="0"/>
              </a:spcBef>
              <a:spcAft>
                <a:spcPts val="0"/>
              </a:spcAft>
              <a:buClr>
                <a:schemeClr val="dk1"/>
              </a:buClr>
              <a:buSzPts val="2800"/>
              <a:buFont typeface="Arial"/>
              <a:buChar char="•"/>
              <a:tabLst/>
              <a:defRPr/>
            </a:pPr>
            <a:r>
              <a:rPr lang="en-US" sz="2400" dirty="0"/>
              <a:t>When the rotors turn and the rotors’ lobes </a:t>
            </a:r>
            <a:r>
              <a:rPr lang="en-US" sz="2400" dirty="0" err="1"/>
              <a:t>unmesh</a:t>
            </a:r>
            <a:r>
              <a:rPr lang="en-US" sz="2400" dirty="0"/>
              <a:t>, oil is drawn into that space. </a:t>
            </a:r>
          </a:p>
          <a:p>
            <a:pPr marL="814388" marR="0" lvl="1" indent="-357188" algn="l" defTabSz="914400" rtl="0" eaLnBrk="1" fontAlgn="auto" latinLnBrk="0" hangingPunct="1">
              <a:lnSpc>
                <a:spcPct val="107000"/>
              </a:lnSpc>
              <a:spcBef>
                <a:spcPts val="0"/>
              </a:spcBef>
              <a:spcAft>
                <a:spcPts val="0"/>
              </a:spcAft>
              <a:buClr>
                <a:schemeClr val="dk1"/>
              </a:buClr>
              <a:buSzPts val="2800"/>
              <a:buFont typeface="Arial"/>
              <a:buChar char="•"/>
              <a:tabLst/>
              <a:defRPr/>
            </a:pPr>
            <a:r>
              <a:rPr lang="en-US" sz="2400" dirty="0"/>
              <a:t>As the rotors continue to turn, oil becomes trapped between the lobes, cover plate, and top of the pump cavity. </a:t>
            </a:r>
          </a:p>
          <a:p>
            <a:pPr marL="814388" marR="0" lvl="1" indent="-357188" algn="l" defTabSz="914400" rtl="0" eaLnBrk="1" fontAlgn="auto" latinLnBrk="0" hangingPunct="1">
              <a:lnSpc>
                <a:spcPct val="107000"/>
              </a:lnSpc>
              <a:spcBef>
                <a:spcPts val="0"/>
              </a:spcBef>
              <a:spcAft>
                <a:spcPts val="0"/>
              </a:spcAft>
              <a:buClr>
                <a:schemeClr val="dk1"/>
              </a:buClr>
              <a:buSzPts val="2800"/>
              <a:buFont typeface="Arial"/>
              <a:buChar char="•"/>
              <a:tabLst/>
              <a:defRPr/>
            </a:pPr>
            <a:r>
              <a:rPr lang="en-US" sz="2400" dirty="0"/>
              <a:t>It is then forced out of the pump body by the meshing of the lobes. </a:t>
            </a:r>
          </a:p>
        </p:txBody>
      </p:sp>
      <p:pic>
        <p:nvPicPr>
          <p:cNvPr id="6" name="Picture Placeholder 6" descr="A technician holds a gear-type oil pump, with an inner rotor and an outer rotor.">
            <a:extLst>
              <a:ext uri="{FF2B5EF4-FFF2-40B4-BE49-F238E27FC236}">
                <a16:creationId xmlns:a16="http://schemas.microsoft.com/office/drawing/2014/main" id="{3C077E8F-571B-0FB4-E709-5865AB1CC49C}"/>
              </a:ext>
            </a:extLst>
          </p:cNvPr>
          <p:cNvPicPr>
            <a:picLocks noGrp="1" noChangeAspect="1"/>
          </p:cNvPicPr>
          <p:nvPr>
            <p:ph type="pic" sz="quarter" idx="10"/>
          </p:nvPr>
        </p:nvPicPr>
        <p:blipFill>
          <a:blip r:embed="rId3"/>
          <a:srcRect b="7244"/>
          <a:stretch/>
        </p:blipFill>
        <p:spPr>
          <a:xfrm>
            <a:off x="6998898" y="1481918"/>
            <a:ext cx="5055078" cy="3775996"/>
          </a:xfrm>
          <a:prstGeom prst="rect">
            <a:avLst/>
          </a:prstGeom>
        </p:spPr>
      </p:pic>
    </p:spTree>
    <p:extLst>
      <p:ext uri="{BB962C8B-B14F-4D97-AF65-F5344CB8AC3E}">
        <p14:creationId xmlns:p14="http://schemas.microsoft.com/office/powerpoint/2010/main" val="4033082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4D449-6203-10CC-44BF-A540FBA1F5F3}"/>
              </a:ext>
            </a:extLst>
          </p:cNvPr>
          <p:cNvSpPr>
            <a:spLocks noGrp="1"/>
          </p:cNvSpPr>
          <p:nvPr>
            <p:ph type="title"/>
          </p:nvPr>
        </p:nvSpPr>
        <p:spPr/>
        <p:txBody>
          <a:bodyPr/>
          <a:lstStyle/>
          <a:p>
            <a:r>
              <a:rPr lang="en-US" dirty="0"/>
              <a:t>Gear Type Oil Pumps </a:t>
            </a:r>
          </a:p>
        </p:txBody>
      </p:sp>
      <p:sp>
        <p:nvSpPr>
          <p:cNvPr id="3" name="Text Placeholder 2">
            <a:extLst>
              <a:ext uri="{FF2B5EF4-FFF2-40B4-BE49-F238E27FC236}">
                <a16:creationId xmlns:a16="http://schemas.microsoft.com/office/drawing/2014/main" id="{A9BF542B-358F-B7C4-AEB8-EA1A6FCC8621}"/>
              </a:ext>
            </a:extLst>
          </p:cNvPr>
          <p:cNvSpPr>
            <a:spLocks noGrp="1"/>
          </p:cNvSpPr>
          <p:nvPr>
            <p:ph type="body" idx="1"/>
          </p:nvPr>
        </p:nvSpPr>
        <p:spPr>
          <a:xfrm>
            <a:off x="476843" y="1471264"/>
            <a:ext cx="7091399" cy="4658603"/>
          </a:xfrm>
        </p:spPr>
        <p:txBody>
          <a:bodyPr/>
          <a:lstStyle/>
          <a:p>
            <a:pPr>
              <a:spcAft>
                <a:spcPts val="600"/>
              </a:spcAft>
            </a:pPr>
            <a:r>
              <a:rPr lang="en-US" dirty="0"/>
              <a:t>Both gears trap oil between their teeth and the pump cavity wall. As the gears rotate, oil is forced out as the gear teeth </a:t>
            </a:r>
            <a:r>
              <a:rPr lang="en-US" dirty="0" err="1"/>
              <a:t>unmesh</a:t>
            </a:r>
            <a:r>
              <a:rPr lang="en-US" dirty="0"/>
              <a:t>.</a:t>
            </a:r>
          </a:p>
          <a:p>
            <a:pPr>
              <a:spcAft>
                <a:spcPts val="600"/>
              </a:spcAft>
            </a:pPr>
            <a:r>
              <a:rPr lang="en-US" dirty="0"/>
              <a:t>The output volume per revolution depends on the length and depth of the gear teeth.</a:t>
            </a:r>
          </a:p>
          <a:p>
            <a:pPr>
              <a:spcAft>
                <a:spcPts val="600"/>
              </a:spcAft>
            </a:pPr>
            <a:r>
              <a:rPr lang="en-US" dirty="0"/>
              <a:t>Another style of gear-type oil pump uses an idler gear with internal teeth that spins around the drive gear.</a:t>
            </a:r>
          </a:p>
        </p:txBody>
      </p:sp>
      <p:pic>
        <p:nvPicPr>
          <p:cNvPr id="5" name="Picture Placeholder 4" descr="A rotor-type oil pump with the parts arranged from left to right as follows: Pump housing, inner rotor, outer rotor, and pump cover. The parts in the pump housing, arranged from top to bottom are as follows: relief valve, spring, O-ring, and spring seat.">
            <a:extLst>
              <a:ext uri="{FF2B5EF4-FFF2-40B4-BE49-F238E27FC236}">
                <a16:creationId xmlns:a16="http://schemas.microsoft.com/office/drawing/2014/main" id="{59672020-BABA-8E92-CB36-F009F47DE9BB}"/>
              </a:ext>
            </a:extLst>
          </p:cNvPr>
          <p:cNvPicPr>
            <a:picLocks noGrp="1" noChangeAspect="1"/>
          </p:cNvPicPr>
          <p:nvPr>
            <p:ph type="pic" sz="quarter" idx="10"/>
          </p:nvPr>
        </p:nvPicPr>
        <p:blipFill>
          <a:blip r:embed="rId2"/>
          <a:srcRect b="4451"/>
          <a:stretch/>
        </p:blipFill>
        <p:spPr>
          <a:xfrm>
            <a:off x="7947805" y="1584673"/>
            <a:ext cx="3709386" cy="4468445"/>
          </a:xfrm>
          <a:prstGeom prst="rect">
            <a:avLst/>
          </a:prstGeom>
        </p:spPr>
      </p:pic>
    </p:spTree>
    <p:extLst>
      <p:ext uri="{BB962C8B-B14F-4D97-AF65-F5344CB8AC3E}">
        <p14:creationId xmlns:p14="http://schemas.microsoft.com/office/powerpoint/2010/main" val="2063753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Oil Pan or Sump</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594713" cy="4703758"/>
          </a:xfrm>
        </p:spPr>
        <p:txBody>
          <a:bodyPr/>
          <a:lstStyle/>
          <a:p>
            <a:r>
              <a:rPr lang="en-US" sz="2000" dirty="0"/>
              <a:t>The oil pan serves as the reservoir for the engine’s oil and is designed to hold a certain amount of oil.</a:t>
            </a:r>
          </a:p>
          <a:p>
            <a:pPr lvl="1"/>
            <a:r>
              <a:rPr lang="en-US" sz="1800" dirty="0"/>
              <a:t>Oil is drawn out by the oil pump.</a:t>
            </a:r>
          </a:p>
          <a:p>
            <a:pPr lvl="1"/>
            <a:r>
              <a:rPr lang="en-US" sz="1800" dirty="0"/>
              <a:t>After the oil moves through the engine’s lubrication circuits, it drains back into the pan.</a:t>
            </a:r>
          </a:p>
          <a:p>
            <a:r>
              <a:rPr lang="en-US" sz="2000" dirty="0"/>
              <a:t>This describes a wet sump oil system because the sump always has oil in it.</a:t>
            </a:r>
          </a:p>
          <a:p>
            <a:r>
              <a:rPr lang="en-US" sz="2000" dirty="0"/>
              <a:t>With a wet sump, oil can slosh around during hard cornering or braking which makes it is possible for the oil to move away from the oil pump’s pickup.</a:t>
            </a:r>
          </a:p>
          <a:p>
            <a:r>
              <a:rPr lang="en-US" sz="2000" dirty="0"/>
              <a:t>This will cause a temporary halt in oil flow through the engine, which can destroy it. To help prevent sloshing, many engines have baffles (windage trays) in the oil pan to limit the movement of the oil.</a:t>
            </a:r>
          </a:p>
        </p:txBody>
      </p:sp>
      <p:pic>
        <p:nvPicPr>
          <p:cNvPr id="5" name="Picture Placeholder 4" descr="A photo shows windage tray within an oil pan.">
            <a:extLst>
              <a:ext uri="{FF2B5EF4-FFF2-40B4-BE49-F238E27FC236}">
                <a16:creationId xmlns:a16="http://schemas.microsoft.com/office/drawing/2014/main" id="{E3D2C249-60FE-26E9-0349-D1D476D4C0B9}"/>
              </a:ext>
            </a:extLst>
          </p:cNvPr>
          <p:cNvPicPr>
            <a:picLocks noGrp="1" noChangeAspect="1"/>
          </p:cNvPicPr>
          <p:nvPr>
            <p:ph type="pic" sz="quarter" idx="10"/>
          </p:nvPr>
        </p:nvPicPr>
        <p:blipFill>
          <a:blip r:embed="rId2"/>
          <a:srcRect b="14141"/>
          <a:stretch/>
        </p:blipFill>
        <p:spPr>
          <a:xfrm>
            <a:off x="8218272" y="2582509"/>
            <a:ext cx="3657600" cy="2575118"/>
          </a:xfrm>
          <a:prstGeom prst="rect">
            <a:avLst/>
          </a:prstGeom>
        </p:spPr>
      </p:pic>
    </p:spTree>
    <p:extLst>
      <p:ext uri="{BB962C8B-B14F-4D97-AF65-F5344CB8AC3E}">
        <p14:creationId xmlns:p14="http://schemas.microsoft.com/office/powerpoint/2010/main" val="32327470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Oil Filter</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5"/>
            <a:ext cx="7521263" cy="4628594"/>
          </a:xfrm>
        </p:spPr>
        <p:txBody>
          <a:bodyPr/>
          <a:lstStyle/>
          <a:p>
            <a:pPr>
              <a:spcAft>
                <a:spcPts val="600"/>
              </a:spcAft>
            </a:pPr>
            <a:r>
              <a:rPr lang="en-US" sz="1800" dirty="0"/>
              <a:t>As the oil leaves the oil pump, it flows through an oil filter which prevents small particles of dirt and metal suspended in the oil from reaching the close-fitting engine parts.</a:t>
            </a:r>
          </a:p>
          <a:p>
            <a:pPr>
              <a:spcAft>
                <a:spcPts val="600"/>
              </a:spcAft>
            </a:pPr>
            <a:r>
              <a:rPr lang="en-US" sz="1800" dirty="0"/>
              <a:t>If the impurities are not filtered from the oil, the engine will wear prematurely and excessively.</a:t>
            </a:r>
          </a:p>
          <a:p>
            <a:pPr>
              <a:spcAft>
                <a:spcPts val="600"/>
              </a:spcAft>
            </a:pPr>
            <a:r>
              <a:rPr lang="en-US" sz="1800" dirty="0"/>
              <a:t>The oil filter is typically a disposable metal container filled with a special type of treated paper or other filter substance (cotton, felt, and the like).</a:t>
            </a:r>
          </a:p>
          <a:p>
            <a:pPr>
              <a:spcAft>
                <a:spcPts val="600"/>
              </a:spcAft>
            </a:pPr>
            <a:r>
              <a:rPr lang="en-US" sz="1800" dirty="0"/>
              <a:t>All of the oil going through the engine goes through the filter first. However, on cold engine startup, or if the filter becomes plugged, a relief valve in the filter will open and allow oil to bypass and go directly to the engine’s oil passages.</a:t>
            </a:r>
          </a:p>
          <a:p>
            <a:pPr>
              <a:spcAft>
                <a:spcPts val="600"/>
              </a:spcAft>
            </a:pPr>
            <a:r>
              <a:rPr lang="en-US" sz="1800" dirty="0"/>
              <a:t>This provides the engine with necessary, though unfiltered.</a:t>
            </a:r>
          </a:p>
        </p:txBody>
      </p:sp>
      <p:pic>
        <p:nvPicPr>
          <p:cNvPr id="5" name="Picture Placeholder 4" descr="An oil filter assembly of a disposable metal container filled with a special type of filter substance.">
            <a:extLst>
              <a:ext uri="{FF2B5EF4-FFF2-40B4-BE49-F238E27FC236}">
                <a16:creationId xmlns:a16="http://schemas.microsoft.com/office/drawing/2014/main" id="{6B429D83-E661-5D6F-FEDD-CF062B934A39}"/>
              </a:ext>
            </a:extLst>
          </p:cNvPr>
          <p:cNvPicPr>
            <a:picLocks noGrp="1" noChangeAspect="1"/>
          </p:cNvPicPr>
          <p:nvPr>
            <p:ph type="pic" sz="quarter" idx="10"/>
          </p:nvPr>
        </p:nvPicPr>
        <p:blipFill rotWithShape="1">
          <a:blip r:embed="rId2"/>
          <a:srcRect b="8313"/>
          <a:stretch/>
        </p:blipFill>
        <p:spPr>
          <a:xfrm>
            <a:off x="8238815" y="1575769"/>
            <a:ext cx="3365556" cy="4146938"/>
          </a:xfrm>
          <a:prstGeom prst="rect">
            <a:avLst/>
          </a:prstGeom>
        </p:spPr>
      </p:pic>
    </p:spTree>
    <p:extLst>
      <p:ext uri="{BB962C8B-B14F-4D97-AF65-F5344CB8AC3E}">
        <p14:creationId xmlns:p14="http://schemas.microsoft.com/office/powerpoint/2010/main" val="1571957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Oil Coolers </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503375" cy="4674893"/>
          </a:xfrm>
        </p:spPr>
        <p:txBody>
          <a:bodyPr/>
          <a:lstStyle/>
          <a:p>
            <a:pPr marL="357188" indent="-357188">
              <a:lnSpc>
                <a:spcPct val="107000"/>
              </a:lnSpc>
              <a:spcAft>
                <a:spcPts val="600"/>
              </a:spcAft>
            </a:pPr>
            <a:r>
              <a:rPr lang="en-US" sz="1800" dirty="0">
                <a:solidFill>
                  <a:schemeClr val="accent1"/>
                </a:solidFill>
              </a:rPr>
              <a:t>To control oil temperature, many diesel, high-performance, and super- or turbocharged engines have an external engine oil cooler.</a:t>
            </a:r>
          </a:p>
          <a:p>
            <a:pPr marL="357188" indent="-357188">
              <a:lnSpc>
                <a:spcPct val="107000"/>
              </a:lnSpc>
              <a:spcAft>
                <a:spcPts val="600"/>
              </a:spcAft>
            </a:pPr>
            <a:r>
              <a:rPr lang="en-US" sz="1800" dirty="0">
                <a:solidFill>
                  <a:schemeClr val="accent1"/>
                </a:solidFill>
              </a:rPr>
              <a:t>Hot oil mixed with oxygen breaks down (oxidizes) and forms carbon and varnish.</a:t>
            </a:r>
          </a:p>
          <a:p>
            <a:pPr marL="357188" indent="-357188">
              <a:lnSpc>
                <a:spcPct val="107000"/>
              </a:lnSpc>
              <a:spcAft>
                <a:spcPts val="600"/>
              </a:spcAft>
            </a:pPr>
            <a:r>
              <a:rPr lang="en-US" sz="1800" dirty="0">
                <a:solidFill>
                  <a:schemeClr val="accent1"/>
                </a:solidFill>
              </a:rPr>
              <a:t>The higher the temperature, the faster these deposits build.</a:t>
            </a:r>
          </a:p>
          <a:p>
            <a:pPr marL="357188" indent="-357188">
              <a:lnSpc>
                <a:spcPct val="107000"/>
              </a:lnSpc>
              <a:spcAft>
                <a:spcPts val="600"/>
              </a:spcAft>
            </a:pPr>
            <a:r>
              <a:rPr lang="en-US" sz="1800" dirty="0">
                <a:solidFill>
                  <a:schemeClr val="accent1"/>
                </a:solidFill>
              </a:rPr>
              <a:t>Oil flows from the pump through the cooler and then to the engine.</a:t>
            </a:r>
          </a:p>
          <a:p>
            <a:pPr marL="357188" indent="-357188">
              <a:lnSpc>
                <a:spcPct val="107000"/>
              </a:lnSpc>
              <a:spcAft>
                <a:spcPts val="600"/>
              </a:spcAft>
            </a:pPr>
            <a:r>
              <a:rPr lang="en-US" sz="1800" dirty="0">
                <a:solidFill>
                  <a:schemeClr val="accent1"/>
                </a:solidFill>
              </a:rPr>
              <a:t>An oil cooler is a small radiator mounted near the front of the engine or within the radiator.</a:t>
            </a:r>
          </a:p>
          <a:p>
            <a:pPr marL="357188" indent="-357188">
              <a:lnSpc>
                <a:spcPct val="107000"/>
              </a:lnSpc>
              <a:spcAft>
                <a:spcPts val="600"/>
              </a:spcAft>
            </a:pPr>
            <a:r>
              <a:rPr lang="en-US" sz="1800" dirty="0">
                <a:solidFill>
                  <a:schemeClr val="accent1"/>
                </a:solidFill>
              </a:rPr>
              <a:t>Heat is removed from the oil as engine coolant flows around the cooler and air passes through it.</a:t>
            </a:r>
          </a:p>
        </p:txBody>
      </p:sp>
      <p:pic>
        <p:nvPicPr>
          <p:cNvPr id="5" name="Picture Placeholder 4" descr="An oil filter is attached to an oil cooler that resembles a small radiator and is mounted near the front of the engine.">
            <a:extLst>
              <a:ext uri="{FF2B5EF4-FFF2-40B4-BE49-F238E27FC236}">
                <a16:creationId xmlns:a16="http://schemas.microsoft.com/office/drawing/2014/main" id="{A555AB9D-F5DA-744C-9B43-1D1CDADBBF63}"/>
              </a:ext>
            </a:extLst>
          </p:cNvPr>
          <p:cNvPicPr>
            <a:picLocks noGrp="1" noChangeAspect="1"/>
          </p:cNvPicPr>
          <p:nvPr>
            <p:ph type="pic" sz="quarter" idx="10"/>
          </p:nvPr>
        </p:nvPicPr>
        <p:blipFill rotWithShape="1">
          <a:blip r:embed="rId2"/>
          <a:srcRect b="7667"/>
          <a:stretch/>
        </p:blipFill>
        <p:spPr>
          <a:xfrm>
            <a:off x="8200969" y="1551086"/>
            <a:ext cx="3811734" cy="3986685"/>
          </a:xfrm>
          <a:prstGeom prst="rect">
            <a:avLst/>
          </a:prstGeom>
        </p:spPr>
      </p:pic>
    </p:spTree>
    <p:extLst>
      <p:ext uri="{BB962C8B-B14F-4D97-AF65-F5344CB8AC3E}">
        <p14:creationId xmlns:p14="http://schemas.microsoft.com/office/powerpoint/2010/main" val="3968315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Oil Pressure Indicator </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614971" cy="4466692"/>
          </a:xfrm>
        </p:spPr>
        <p:txBody>
          <a:bodyPr/>
          <a:lstStyle/>
          <a:p>
            <a:pPr marL="357188" indent="-357188">
              <a:lnSpc>
                <a:spcPct val="107000"/>
              </a:lnSpc>
            </a:pPr>
            <a:r>
              <a:rPr lang="en-US" sz="1800" dirty="0"/>
              <a:t>Oil gauges are either mechanically or electrically operated and display the actual oil pressure of the engine.</a:t>
            </a:r>
          </a:p>
          <a:p>
            <a:pPr marL="357188" indent="-357188">
              <a:lnSpc>
                <a:spcPct val="107000"/>
              </a:lnSpc>
            </a:pPr>
            <a:r>
              <a:rPr lang="en-US" sz="1800" dirty="0"/>
              <a:t>The indicator light warns the driver of low oil pressure.</a:t>
            </a:r>
          </a:p>
          <a:p>
            <a:pPr marL="357188" indent="-357188">
              <a:lnSpc>
                <a:spcPct val="107000"/>
              </a:lnSpc>
            </a:pPr>
            <a:r>
              <a:rPr lang="en-US" sz="1800" dirty="0"/>
              <a:t>In a mechanical gauge, oil travels up to the back of the gauge where a flexible, hollow tube, called a Bourdon tube, uncoils as the pressure increases.</a:t>
            </a:r>
          </a:p>
          <a:p>
            <a:pPr marL="357188" indent="-357188">
              <a:lnSpc>
                <a:spcPct val="107000"/>
              </a:lnSpc>
            </a:pPr>
            <a:r>
              <a:rPr lang="en-US" sz="1800" dirty="0"/>
              <a:t>Most pressure gauges are electrically controlled. </a:t>
            </a:r>
          </a:p>
          <a:p>
            <a:pPr marL="357188" indent="-357188">
              <a:lnSpc>
                <a:spcPct val="107000"/>
              </a:lnSpc>
            </a:pPr>
            <a:r>
              <a:rPr lang="en-US" sz="1800" dirty="0"/>
              <a:t>An oil pressure sensor or sending unit is screwed into an oil gallery. As oil passes through an oil pressure sender, it moves a diaphragm, which is connected to a variable resistor. This resistor changes the amount of current passing through the circuit. The gauge then reacts to the current and moves a needle over a scale to indicate the oil pressure, or the current is translated into a digital reading on the gauge.</a:t>
            </a:r>
          </a:p>
        </p:txBody>
      </p:sp>
      <p:pic>
        <p:nvPicPr>
          <p:cNvPr id="5" name="Picture Placeholder 4" descr="A schematic diagram depicts how the sensor output changes as the oil pressure changes. A powertrain control module is at the top. An engine oil pressure sensor and instrument panel are below the powertrain control module. The 5 V terminal of the control module connects to the engine oil pressure sensor. Another point from a grounded component inside the control module also connects to the pressure sensor. Another terminal from the pressure sensor is grounded inside the control module. A C2 module is attached to the lower part of the powertrain control module. A component with bidirectional arrows connects the powertrain control module and the instrument panel. The instrument panel consists of meters for battery, coolant, fuel, oil pressure, R P M, speed, and a Driver information center.">
            <a:extLst>
              <a:ext uri="{FF2B5EF4-FFF2-40B4-BE49-F238E27FC236}">
                <a16:creationId xmlns:a16="http://schemas.microsoft.com/office/drawing/2014/main" id="{269423A9-9C43-C67D-F835-8893080913E8}"/>
              </a:ext>
            </a:extLst>
          </p:cNvPr>
          <p:cNvPicPr>
            <a:picLocks noGrp="1" noChangeAspect="1"/>
          </p:cNvPicPr>
          <p:nvPr>
            <p:ph type="pic" sz="quarter" idx="10"/>
          </p:nvPr>
        </p:nvPicPr>
        <p:blipFill rotWithShape="1">
          <a:blip r:embed="rId2"/>
          <a:srcRect b="6560"/>
          <a:stretch/>
        </p:blipFill>
        <p:spPr>
          <a:xfrm>
            <a:off x="8214471" y="2058527"/>
            <a:ext cx="3660345" cy="2922168"/>
          </a:xfrm>
          <a:prstGeom prst="rect">
            <a:avLst/>
          </a:prstGeom>
        </p:spPr>
      </p:pic>
    </p:spTree>
    <p:extLst>
      <p:ext uri="{BB962C8B-B14F-4D97-AF65-F5344CB8AC3E}">
        <p14:creationId xmlns:p14="http://schemas.microsoft.com/office/powerpoint/2010/main" val="39052279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824A7C-8CE9-EC14-C0BA-198263BA463F}"/>
              </a:ext>
            </a:extLst>
          </p:cNvPr>
          <p:cNvSpPr>
            <a:spLocks noGrp="1"/>
          </p:cNvSpPr>
          <p:nvPr>
            <p:ph type="title"/>
          </p:nvPr>
        </p:nvSpPr>
        <p:spPr/>
        <p:txBody>
          <a:bodyPr/>
          <a:lstStyle/>
          <a:p>
            <a:r>
              <a:rPr lang="en-US" dirty="0"/>
              <a:t>Oil Consumption</a:t>
            </a:r>
          </a:p>
        </p:txBody>
      </p:sp>
      <p:sp>
        <p:nvSpPr>
          <p:cNvPr id="6" name="Text Placeholder 5">
            <a:extLst>
              <a:ext uri="{FF2B5EF4-FFF2-40B4-BE49-F238E27FC236}">
                <a16:creationId xmlns:a16="http://schemas.microsoft.com/office/drawing/2014/main" id="{B804C920-732A-4C6C-F103-61EDDAADA00D}"/>
              </a:ext>
            </a:extLst>
          </p:cNvPr>
          <p:cNvSpPr>
            <a:spLocks noGrp="1"/>
          </p:cNvSpPr>
          <p:nvPr>
            <p:ph type="body" idx="1"/>
          </p:nvPr>
        </p:nvSpPr>
        <p:spPr>
          <a:xfrm>
            <a:off x="476844" y="1437397"/>
            <a:ext cx="11037824" cy="4760203"/>
          </a:xfrm>
        </p:spPr>
        <p:txBody>
          <a:bodyPr/>
          <a:lstStyle/>
          <a:p>
            <a:r>
              <a:rPr lang="en-US" sz="1600" dirty="0"/>
              <a:t>Excessive oil consumption can result from external and internal leaks or worn or stuck piston rings, valve seals, or valve guides.</a:t>
            </a:r>
          </a:p>
          <a:p>
            <a:r>
              <a:rPr lang="en-US" sz="1600" dirty="0"/>
              <a:t>Internal leaks allow oil to enter the combustion chamber where it is burned. </a:t>
            </a:r>
          </a:p>
          <a:p>
            <a:r>
              <a:rPr lang="en-US" sz="1600" dirty="0"/>
              <a:t>Blue exhaust smoke is an indication that an engine is burning oil.</a:t>
            </a:r>
          </a:p>
          <a:p>
            <a:r>
              <a:rPr lang="en-US" sz="1600" dirty="0"/>
              <a:t>If the valve guides are worn or the valve seals are worn, cracked, or improperly installed, oil will be drawn into the cylinder during the intake stroke.</a:t>
            </a:r>
          </a:p>
          <a:p>
            <a:r>
              <a:rPr lang="en-US" sz="1600" dirty="0"/>
              <a:t>If there are worn or broken piston rings or worn cylinder walls, the affected cylinders will have low compression.</a:t>
            </a:r>
          </a:p>
          <a:p>
            <a:r>
              <a:rPr lang="en-US" sz="1600" dirty="0"/>
              <a:t>The oil in the cylinder also tends to foul the spark plugs, which will cause misfires, high emissions, and possible damage to the catalytic converter.</a:t>
            </a:r>
          </a:p>
          <a:p>
            <a:r>
              <a:rPr lang="en-US" sz="1600" dirty="0"/>
              <a:t>External leaks are a common cause of excessive oil consumption.</a:t>
            </a:r>
          </a:p>
          <a:p>
            <a:r>
              <a:rPr lang="en-US" sz="1600" dirty="0"/>
              <a:t>These leaks can occur at the valve or cam cover gasket, head gasket, oil filter, front and rear seals, oil pan gasket, and timing gear cover.</a:t>
            </a:r>
          </a:p>
          <a:p>
            <a:r>
              <a:rPr lang="en-US" sz="1600" dirty="0"/>
              <a:t>Pressure develops when the positive crankcase ventilation (PCV) system is not working properly and can cause various oil leaks.</a:t>
            </a:r>
          </a:p>
        </p:txBody>
      </p:sp>
    </p:spTree>
    <p:extLst>
      <p:ext uri="{BB962C8B-B14F-4D97-AF65-F5344CB8AC3E}">
        <p14:creationId xmlns:p14="http://schemas.microsoft.com/office/powerpoint/2010/main" val="24600305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Sludge</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503375" cy="4636025"/>
          </a:xfrm>
        </p:spPr>
        <p:txBody>
          <a:bodyPr/>
          <a:lstStyle/>
          <a:p>
            <a:pPr marL="357188" indent="-357188">
              <a:lnSpc>
                <a:spcPct val="107000"/>
              </a:lnSpc>
            </a:pPr>
            <a:r>
              <a:rPr lang="en-US" sz="1800" dirty="0"/>
              <a:t>A typical sign of poor maintenance is the buildup of yellow sludge inside the engine. </a:t>
            </a:r>
          </a:p>
          <a:p>
            <a:pPr marL="357188" indent="-357188">
              <a:lnSpc>
                <a:spcPct val="107000"/>
              </a:lnSpc>
            </a:pPr>
            <a:r>
              <a:rPr lang="en-US" sz="1800" b="1" dirty="0"/>
              <a:t>Sludge</a:t>
            </a:r>
            <a:r>
              <a:rPr lang="en-US" sz="1800" dirty="0"/>
              <a:t> results from the oxidation of oil. When oil oxidizes, chemical compounds in the oil begin to break down and solidify, forming a gel substance.</a:t>
            </a:r>
          </a:p>
          <a:p>
            <a:pPr marL="357188" indent="-357188">
              <a:lnSpc>
                <a:spcPct val="107000"/>
              </a:lnSpc>
            </a:pPr>
            <a:r>
              <a:rPr lang="en-US" sz="1800" dirty="0"/>
              <a:t>The gelled oil cannot circulate through the engine and collects on engine parts. This buildup of sludge can also block normal lubrication paths.</a:t>
            </a:r>
          </a:p>
          <a:p>
            <a:pPr marL="357188" indent="-357188">
              <a:lnSpc>
                <a:spcPct val="107000"/>
              </a:lnSpc>
            </a:pPr>
            <a:r>
              <a:rPr lang="en-US" sz="1800" dirty="0"/>
              <a:t>If the sludge on the filler cap is white, suspect a blown head gasket. The whitish gel is caused by coolant mixing with the oil.</a:t>
            </a:r>
          </a:p>
          <a:p>
            <a:pPr marL="357188" indent="-357188">
              <a:lnSpc>
                <a:spcPct val="107000"/>
              </a:lnSpc>
            </a:pPr>
            <a:r>
              <a:rPr lang="en-US" sz="1800" dirty="0"/>
              <a:t>Often, sludge can be removed by flushing the system. However, if the buildup is great, the engine should be torn down and cleaned.</a:t>
            </a:r>
          </a:p>
        </p:txBody>
      </p:sp>
      <p:pic>
        <p:nvPicPr>
          <p:cNvPr id="5" name="Picture Placeholder 4" descr="A buildup of yellow oily sludge inside an engine.">
            <a:extLst>
              <a:ext uri="{FF2B5EF4-FFF2-40B4-BE49-F238E27FC236}">
                <a16:creationId xmlns:a16="http://schemas.microsoft.com/office/drawing/2014/main" id="{198AE753-B44F-D7EE-B7AF-54A44B20F566}"/>
              </a:ext>
            </a:extLst>
          </p:cNvPr>
          <p:cNvPicPr>
            <a:picLocks noGrp="1" noChangeAspect="1"/>
          </p:cNvPicPr>
          <p:nvPr>
            <p:ph type="pic" sz="quarter" idx="10"/>
          </p:nvPr>
        </p:nvPicPr>
        <p:blipFill>
          <a:blip r:embed="rId2"/>
          <a:srcRect b="9689"/>
          <a:stretch/>
        </p:blipFill>
        <p:spPr>
          <a:xfrm>
            <a:off x="8088427" y="2174414"/>
            <a:ext cx="3691611" cy="3144486"/>
          </a:xfrm>
          <a:prstGeom prst="rect">
            <a:avLst/>
          </a:prstGeom>
        </p:spPr>
      </p:pic>
    </p:spTree>
    <p:extLst>
      <p:ext uri="{BB962C8B-B14F-4D97-AF65-F5344CB8AC3E}">
        <p14:creationId xmlns:p14="http://schemas.microsoft.com/office/powerpoint/2010/main" val="420488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D242297-5186-02CD-9207-AB1E91A99B9C}"/>
              </a:ext>
            </a:extLst>
          </p:cNvPr>
          <p:cNvSpPr>
            <a:spLocks noGrp="1"/>
          </p:cNvSpPr>
          <p:nvPr>
            <p:ph type="title"/>
          </p:nvPr>
        </p:nvSpPr>
        <p:spPr/>
        <p:txBody>
          <a:bodyPr/>
          <a:lstStyle/>
          <a:p>
            <a:r>
              <a:rPr lang="en-US" dirty="0"/>
              <a:t>Flushing the System</a:t>
            </a:r>
          </a:p>
        </p:txBody>
      </p:sp>
      <p:sp>
        <p:nvSpPr>
          <p:cNvPr id="6" name="Text Placeholder 5">
            <a:extLst>
              <a:ext uri="{FF2B5EF4-FFF2-40B4-BE49-F238E27FC236}">
                <a16:creationId xmlns:a16="http://schemas.microsoft.com/office/drawing/2014/main" id="{744F6A84-BF52-9744-0C35-82B29786BD23}"/>
              </a:ext>
            </a:extLst>
          </p:cNvPr>
          <p:cNvSpPr>
            <a:spLocks noGrp="1"/>
          </p:cNvSpPr>
          <p:nvPr>
            <p:ph type="body" idx="1"/>
          </p:nvPr>
        </p:nvSpPr>
        <p:spPr>
          <a:xfrm>
            <a:off x="476843" y="1471264"/>
            <a:ext cx="11241915" cy="4681180"/>
          </a:xfrm>
        </p:spPr>
        <p:txBody>
          <a:bodyPr/>
          <a:lstStyle/>
          <a:p>
            <a:pPr marL="0" indent="0">
              <a:buNone/>
            </a:pPr>
            <a:r>
              <a:rPr lang="en-US" sz="1600" b="1" dirty="0"/>
              <a:t>14.02 Explain the process of flushing the lubrication system.</a:t>
            </a:r>
          </a:p>
          <a:p>
            <a:r>
              <a:rPr lang="en-US" sz="1600" dirty="0"/>
              <a:t>Flushing the lubrication system periodically is recommended by some manufacturers. However, there are others that do not recommend flushing the engine.</a:t>
            </a:r>
          </a:p>
          <a:p>
            <a:r>
              <a:rPr lang="en-US" sz="1600" dirty="0"/>
              <a:t>It involves running a solvent through the engine and then draining the system.</a:t>
            </a:r>
          </a:p>
          <a:p>
            <a:r>
              <a:rPr lang="en-US" sz="1600" dirty="0"/>
              <a:t>The concern of those who do not recommend flushing is simply that the solvents may loosen up some dirt or sludge that will not drain out with the oil.</a:t>
            </a:r>
          </a:p>
          <a:p>
            <a:r>
              <a:rPr lang="en-US" sz="1600" dirty="0"/>
              <a:t>These contaminants can block oil ring return holes and restrict oil flow. Oil flushing solvents can be added to the engine’s oil before an oil change.</a:t>
            </a:r>
          </a:p>
          <a:p>
            <a:r>
              <a:rPr lang="en-US" sz="1600" dirty="0"/>
              <a:t>Flushing machines connect to the filter housing and the drain plug port after the old oil has been drained.</a:t>
            </a:r>
          </a:p>
          <a:p>
            <a:r>
              <a:rPr lang="en-US" sz="1600" dirty="0"/>
              <a:t>A heated solution is pumped through the oil reservoir, passages, oil pump, and up into the valve train.</a:t>
            </a:r>
          </a:p>
          <a:p>
            <a:r>
              <a:rPr lang="en-US" sz="1600" dirty="0"/>
              <a:t>Solvent back flushes the oil pump and pickup screen, breaks up, and dissolves the sludge.</a:t>
            </a:r>
          </a:p>
          <a:p>
            <a:r>
              <a:rPr lang="en-US" sz="1600" dirty="0"/>
              <a:t>The remains are drawn out by a vacuum.</a:t>
            </a:r>
          </a:p>
          <a:p>
            <a:r>
              <a:rPr lang="en-US" sz="1600" dirty="0"/>
              <a:t>After flushing, a new oil filter and clean oil are put into the engine.</a:t>
            </a:r>
          </a:p>
        </p:txBody>
      </p:sp>
    </p:spTree>
    <p:extLst>
      <p:ext uri="{BB962C8B-B14F-4D97-AF65-F5344CB8AC3E}">
        <p14:creationId xmlns:p14="http://schemas.microsoft.com/office/powerpoint/2010/main" val="1754901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BF1C8B-256A-D357-E46F-ABB01F9E4FA4}"/>
              </a:ext>
            </a:extLst>
          </p:cNvPr>
          <p:cNvSpPr>
            <a:spLocks noGrp="1"/>
          </p:cNvSpPr>
          <p:nvPr>
            <p:ph type="title"/>
          </p:nvPr>
        </p:nvSpPr>
        <p:spPr/>
        <p:txBody>
          <a:bodyPr/>
          <a:lstStyle/>
          <a:p>
            <a:r>
              <a:rPr lang="en-US" dirty="0"/>
              <a:t>Discussion</a:t>
            </a:r>
          </a:p>
        </p:txBody>
      </p:sp>
      <p:sp>
        <p:nvSpPr>
          <p:cNvPr id="6" name="Text Placeholder 5">
            <a:extLst>
              <a:ext uri="{FF2B5EF4-FFF2-40B4-BE49-F238E27FC236}">
                <a16:creationId xmlns:a16="http://schemas.microsoft.com/office/drawing/2014/main" id="{BCB2A80B-7E9E-6BF6-5410-8C88F9D50EF3}"/>
              </a:ext>
            </a:extLst>
          </p:cNvPr>
          <p:cNvSpPr>
            <a:spLocks noGrp="1"/>
          </p:cNvSpPr>
          <p:nvPr>
            <p:ph type="body" idx="1"/>
          </p:nvPr>
        </p:nvSpPr>
        <p:spPr/>
        <p:txBody>
          <a:bodyPr/>
          <a:lstStyle/>
          <a:p>
            <a:pPr>
              <a:spcAft>
                <a:spcPts val="600"/>
              </a:spcAft>
            </a:pPr>
            <a:r>
              <a:rPr lang="en-US" dirty="0"/>
              <a:t>Now that you have learned about the lubrication system, have a discussion with your class.</a:t>
            </a:r>
          </a:p>
          <a:p>
            <a:pPr>
              <a:spcAft>
                <a:spcPts val="600"/>
              </a:spcAft>
            </a:pPr>
            <a:r>
              <a:rPr lang="en-US" dirty="0"/>
              <a:t>Name the parts and components of the lubrication system. Discuss their function. Discuss some of the possible symptoms that a failure of each of these components would cause.</a:t>
            </a:r>
          </a:p>
        </p:txBody>
      </p:sp>
    </p:spTree>
    <p:extLst>
      <p:ext uri="{BB962C8B-B14F-4D97-AF65-F5344CB8AC3E}">
        <p14:creationId xmlns:p14="http://schemas.microsoft.com/office/powerpoint/2010/main" val="42183465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511DC5-7D87-FE1F-7989-A05E199B1F41}"/>
              </a:ext>
            </a:extLst>
          </p:cNvPr>
          <p:cNvSpPr>
            <a:spLocks noGrp="1"/>
          </p:cNvSpPr>
          <p:nvPr>
            <p:ph type="title"/>
          </p:nvPr>
        </p:nvSpPr>
        <p:spPr/>
        <p:txBody>
          <a:bodyPr/>
          <a:lstStyle/>
          <a:p>
            <a:r>
              <a:rPr lang="en-US" dirty="0"/>
              <a:t>Cooling Systems (1 of 2)</a:t>
            </a:r>
          </a:p>
        </p:txBody>
      </p:sp>
      <p:sp>
        <p:nvSpPr>
          <p:cNvPr id="6" name="Text Placeholder 5">
            <a:extLst>
              <a:ext uri="{FF2B5EF4-FFF2-40B4-BE49-F238E27FC236}">
                <a16:creationId xmlns:a16="http://schemas.microsoft.com/office/drawing/2014/main" id="{A9129777-550B-51BF-C6E5-C06D5BBB394E}"/>
              </a:ext>
            </a:extLst>
          </p:cNvPr>
          <p:cNvSpPr>
            <a:spLocks noGrp="1"/>
          </p:cNvSpPr>
          <p:nvPr>
            <p:ph type="body" idx="1"/>
          </p:nvPr>
        </p:nvSpPr>
        <p:spPr/>
        <p:txBody>
          <a:bodyPr/>
          <a:lstStyle/>
          <a:p>
            <a:pPr marL="0" indent="0">
              <a:spcAft>
                <a:spcPts val="400"/>
              </a:spcAft>
              <a:buNone/>
            </a:pPr>
            <a:r>
              <a:rPr lang="en-US" sz="1800" b="1" dirty="0"/>
              <a:t>14.03 Describe the operation of the cooling system.</a:t>
            </a:r>
          </a:p>
          <a:p>
            <a:pPr>
              <a:spcAft>
                <a:spcPts val="400"/>
              </a:spcAft>
            </a:pPr>
            <a:r>
              <a:rPr lang="en-US" sz="1800" dirty="0"/>
              <a:t>Today’s engines create a tremendous amount of heat, most of  which is generated during combustion.</a:t>
            </a:r>
          </a:p>
          <a:p>
            <a:pPr>
              <a:spcAft>
                <a:spcPts val="400"/>
              </a:spcAft>
            </a:pPr>
            <a:r>
              <a:rPr lang="en-US" sz="1800" dirty="0"/>
              <a:t>Metal temperatures around the combustion chamber can run as high as 1,000 °F.</a:t>
            </a:r>
          </a:p>
          <a:p>
            <a:pPr>
              <a:spcAft>
                <a:spcPts val="400"/>
              </a:spcAft>
            </a:pPr>
            <a:r>
              <a:rPr lang="en-US" sz="1800" dirty="0"/>
              <a:t>This heat can destroy the engine and must be removed which is the purpose of the engine’s cooling system.</a:t>
            </a:r>
          </a:p>
          <a:p>
            <a:pPr>
              <a:spcAft>
                <a:spcPts val="400"/>
              </a:spcAft>
            </a:pPr>
            <a:r>
              <a:rPr lang="en-US" sz="1800" dirty="0"/>
              <a:t>The system must also allow the engine to quickly warm up to a desired operating temperature and keep it there regardless of operating conditions.</a:t>
            </a:r>
          </a:p>
          <a:p>
            <a:pPr>
              <a:spcAft>
                <a:spcPts val="400"/>
              </a:spcAft>
            </a:pPr>
            <a:r>
              <a:rPr lang="en-US" sz="1800" dirty="0"/>
              <a:t>Heat is removed by a heat-absorbing liquid (coolant) circulating inside the engine. Coolant then flows to the radiator where its heat is transferred to the outside air.</a:t>
            </a:r>
          </a:p>
          <a:p>
            <a:pPr>
              <a:spcAft>
                <a:spcPts val="400"/>
              </a:spcAft>
            </a:pPr>
            <a:r>
              <a:rPr lang="en-US" sz="1800" dirty="0"/>
              <a:t>A pump moves the coolant through the engine block and then through the cylinder head.</a:t>
            </a:r>
          </a:p>
          <a:p>
            <a:pPr>
              <a:spcAft>
                <a:spcPts val="400"/>
              </a:spcAft>
            </a:pPr>
            <a:r>
              <a:rPr lang="en-US" sz="1800" dirty="0"/>
              <a:t>The coolant flows to the top of the radiator and loses heat as it flows down through the radiator where airflow from the cooling fan carries heat away.</a:t>
            </a:r>
          </a:p>
        </p:txBody>
      </p:sp>
    </p:spTree>
    <p:extLst>
      <p:ext uri="{BB962C8B-B14F-4D97-AF65-F5344CB8AC3E}">
        <p14:creationId xmlns:p14="http://schemas.microsoft.com/office/powerpoint/2010/main" val="2308443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Cooling Systems (2 of 2)</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503375" cy="4605445"/>
          </a:xfrm>
        </p:spPr>
        <p:txBody>
          <a:bodyPr/>
          <a:lstStyle/>
          <a:p>
            <a:pPr marL="0" indent="0">
              <a:buNone/>
            </a:pPr>
            <a:r>
              <a:rPr lang="en-US" sz="1800" b="1" dirty="0"/>
              <a:t>14.04 List and describe the major components of the cooling system.</a:t>
            </a:r>
          </a:p>
          <a:p>
            <a:r>
              <a:rPr lang="en-US" sz="1800" dirty="0"/>
              <a:t>The </a:t>
            </a:r>
            <a:r>
              <a:rPr lang="en-US" sz="1800" b="1" dirty="0"/>
              <a:t>thermostat </a:t>
            </a:r>
            <a:r>
              <a:rPr lang="en-US" sz="1800" dirty="0"/>
              <a:t>controls the minimum operating temperature of the engine. </a:t>
            </a:r>
          </a:p>
          <a:p>
            <a:r>
              <a:rPr lang="en-US" sz="1800" dirty="0"/>
              <a:t>A thermostat is a temperature-responsive coolant flow control valve. It controls the temperature and amount of coolant entering the radiator.</a:t>
            </a:r>
          </a:p>
          <a:p>
            <a:r>
              <a:rPr lang="en-US" sz="1800" dirty="0"/>
              <a:t>While the engine is cold, the thermostat is closed, allowing coolant to only circulate in the engine. This allows the engine to uniformly warm up.</a:t>
            </a:r>
          </a:p>
          <a:p>
            <a:r>
              <a:rPr lang="en-US" sz="1800" dirty="0"/>
              <a:t>When the coolant reaches a specified temperature, the thermostat opens and allows coolant to flow to the radiator.</a:t>
            </a:r>
          </a:p>
          <a:p>
            <a:r>
              <a:rPr lang="en-US" sz="1800" dirty="0"/>
              <a:t>The hotter the coolant gets, the more the thermostat opens, sending more coolant to the radiator.</a:t>
            </a:r>
          </a:p>
        </p:txBody>
      </p:sp>
      <p:pic>
        <p:nvPicPr>
          <p:cNvPr id="5" name="Picture Placeholder 4" descr="A cooling system (a) with the parts labeled are as follows: Piston, Body, Poppet, Spring, Lower bracket, Guide, Antichafe ring, Bag, cup, and pellet material. The cooling system (a) shows the closed thermostat where the thermostat valve fits to the body by blocking the coolant from entering the radiator. ">
            <a:extLst>
              <a:ext uri="{FF2B5EF4-FFF2-40B4-BE49-F238E27FC236}">
                <a16:creationId xmlns:a16="http://schemas.microsoft.com/office/drawing/2014/main" id="{054E8244-AB38-76A5-62FE-0C3508BAC125}"/>
              </a:ext>
            </a:extLst>
          </p:cNvPr>
          <p:cNvPicPr>
            <a:picLocks noGrp="1" noChangeAspect="1"/>
          </p:cNvPicPr>
          <p:nvPr>
            <p:ph type="pic" sz="quarter" idx="10"/>
          </p:nvPr>
        </p:nvPicPr>
        <p:blipFill rotWithShape="1">
          <a:blip r:embed="rId2"/>
          <a:srcRect r="49562" b="8502"/>
          <a:stretch/>
        </p:blipFill>
        <p:spPr>
          <a:xfrm>
            <a:off x="8038098" y="2038522"/>
            <a:ext cx="3978249" cy="2980045"/>
          </a:xfrm>
          <a:prstGeom prst="rect">
            <a:avLst/>
          </a:prstGeom>
        </p:spPr>
      </p:pic>
    </p:spTree>
    <p:extLst>
      <p:ext uri="{BB962C8B-B14F-4D97-AF65-F5344CB8AC3E}">
        <p14:creationId xmlns:p14="http://schemas.microsoft.com/office/powerpoint/2010/main" val="1199703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1B89FE9-68A4-70D4-073C-290CA0746196}"/>
              </a:ext>
            </a:extLst>
          </p:cNvPr>
          <p:cNvSpPr>
            <a:spLocks noGrp="1"/>
          </p:cNvSpPr>
          <p:nvPr>
            <p:ph type="title"/>
          </p:nvPr>
        </p:nvSpPr>
        <p:spPr/>
        <p:txBody>
          <a:bodyPr/>
          <a:lstStyle/>
          <a:p>
            <a:r>
              <a:rPr lang="en-US" dirty="0"/>
              <a:t>Thermostat</a:t>
            </a:r>
          </a:p>
        </p:txBody>
      </p:sp>
      <p:sp>
        <p:nvSpPr>
          <p:cNvPr id="6" name="Text Placeholder 5">
            <a:extLst>
              <a:ext uri="{FF2B5EF4-FFF2-40B4-BE49-F238E27FC236}">
                <a16:creationId xmlns:a16="http://schemas.microsoft.com/office/drawing/2014/main" id="{7F885834-F9EC-A2AF-F708-A37548154E0B}"/>
              </a:ext>
            </a:extLst>
          </p:cNvPr>
          <p:cNvSpPr>
            <a:spLocks noGrp="1"/>
          </p:cNvSpPr>
          <p:nvPr>
            <p:ph type="body" idx="1"/>
          </p:nvPr>
        </p:nvSpPr>
        <p:spPr/>
        <p:txBody>
          <a:bodyPr/>
          <a:lstStyle/>
          <a:p>
            <a:pPr>
              <a:spcAft>
                <a:spcPts val="400"/>
              </a:spcAft>
            </a:pPr>
            <a:r>
              <a:rPr lang="en-US" sz="1800" dirty="0"/>
              <a:t>Once the coolant passes through the radiator, it reenters the water pump.</a:t>
            </a:r>
          </a:p>
          <a:p>
            <a:pPr>
              <a:spcAft>
                <a:spcPts val="400"/>
              </a:spcAft>
            </a:pPr>
            <a:r>
              <a:rPr lang="en-US" sz="1800" dirty="0"/>
              <a:t>From there, it is pushed through the engine and the cycle starts again.</a:t>
            </a:r>
          </a:p>
          <a:p>
            <a:pPr>
              <a:spcAft>
                <a:spcPts val="400"/>
              </a:spcAft>
            </a:pPr>
            <a:r>
              <a:rPr lang="en-US" sz="1800" dirty="0"/>
              <a:t>The thermostat permits fast engine warmup. Slow warmup causes condensation in the crankcase, which can cause sludge.</a:t>
            </a:r>
          </a:p>
          <a:p>
            <a:pPr>
              <a:spcAft>
                <a:spcPts val="400"/>
              </a:spcAft>
            </a:pPr>
            <a:r>
              <a:rPr lang="en-US" sz="1800" dirty="0"/>
              <a:t>Today’s thermostats have a specially formulated wax and powdered metal pellet contained in a heat-conducting copper cup that has a piston inside a rubber boot. Heat causes the wax to expand, forcing the piston outward, which opens the thermostat’s valve. The pellet responds to temperature changes and moves the valve to control coolant temperature and flow.</a:t>
            </a:r>
          </a:p>
          <a:p>
            <a:pPr>
              <a:spcAft>
                <a:spcPts val="400"/>
              </a:spcAft>
            </a:pPr>
            <a:r>
              <a:rPr lang="en-US" sz="1800" dirty="0"/>
              <a:t>Thermostats are also designed to slow the flow of coolant when they are open. This prevents the coolant from moving too quickly through the engine. Fast-moving coolant may not have enough time to absorb heat,</a:t>
            </a:r>
            <a:r>
              <a:rPr lang="en-US" sz="1800" b="1" dirty="0"/>
              <a:t> </a:t>
            </a:r>
            <a:r>
              <a:rPr lang="en-US" sz="1800" dirty="0"/>
              <a:t>and</a:t>
            </a:r>
            <a:r>
              <a:rPr lang="en-US" sz="1800" b="1" dirty="0"/>
              <a:t> </a:t>
            </a:r>
            <a:r>
              <a:rPr lang="en-US" sz="1800" dirty="0"/>
              <a:t>therefore, overheating can result.</a:t>
            </a:r>
          </a:p>
          <a:p>
            <a:pPr>
              <a:spcAft>
                <a:spcPts val="400"/>
              </a:spcAft>
            </a:pPr>
            <a:r>
              <a:rPr lang="en-US" sz="1800" dirty="0"/>
              <a:t>Modern diesel engines may have two thermostats to control engine temperature more precisely. One thermostat has an opening temperature slightly above the other, such as 180 °F (82.2 °C) and 185 °F (85 °C).</a:t>
            </a:r>
          </a:p>
        </p:txBody>
      </p:sp>
    </p:spTree>
    <p:extLst>
      <p:ext uri="{BB962C8B-B14F-4D97-AF65-F5344CB8AC3E}">
        <p14:creationId xmlns:p14="http://schemas.microsoft.com/office/powerpoint/2010/main" val="34207201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Water Pump</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502236" cy="4636025"/>
          </a:xfrm>
        </p:spPr>
        <p:txBody>
          <a:bodyPr/>
          <a:lstStyle/>
          <a:p>
            <a:pPr>
              <a:spcAft>
                <a:spcPts val="600"/>
              </a:spcAft>
            </a:pPr>
            <a:r>
              <a:rPr lang="en-US" dirty="0"/>
              <a:t>Water Pump </a:t>
            </a:r>
          </a:p>
          <a:p>
            <a:pPr lvl="1">
              <a:spcAft>
                <a:spcPts val="600"/>
              </a:spcAft>
            </a:pPr>
            <a:r>
              <a:rPr lang="en-US" dirty="0"/>
              <a:t>The heart of the cooling system is the water pump.</a:t>
            </a:r>
          </a:p>
          <a:p>
            <a:pPr lvl="1">
              <a:spcAft>
                <a:spcPts val="600"/>
              </a:spcAft>
            </a:pPr>
            <a:r>
              <a:rPr lang="en-US" dirty="0"/>
              <a:t>Its job is to move the coolant through the system.</a:t>
            </a:r>
          </a:p>
          <a:p>
            <a:pPr lvl="1">
              <a:spcAft>
                <a:spcPts val="600"/>
              </a:spcAft>
            </a:pPr>
            <a:r>
              <a:rPr lang="en-US" dirty="0"/>
              <a:t>Typically, the water pump is driven by the crankshaft through pulleys and a drive belt.</a:t>
            </a:r>
          </a:p>
          <a:p>
            <a:pPr lvl="1">
              <a:spcAft>
                <a:spcPts val="600"/>
              </a:spcAft>
            </a:pPr>
            <a:r>
              <a:rPr lang="en-US" dirty="0"/>
              <a:t>The pumps are centrifugal-type pumps with a rotating impeller to move the coolant.</a:t>
            </a:r>
          </a:p>
        </p:txBody>
      </p:sp>
      <p:pic>
        <p:nvPicPr>
          <p:cNvPr id="5" name="Picture Placeholder 4" descr="The front part of an engine is mounted with a water pump using a bolt.">
            <a:extLst>
              <a:ext uri="{FF2B5EF4-FFF2-40B4-BE49-F238E27FC236}">
                <a16:creationId xmlns:a16="http://schemas.microsoft.com/office/drawing/2014/main" id="{C72F6D1C-68E0-102E-BB60-57557AAF26DE}"/>
              </a:ext>
            </a:extLst>
          </p:cNvPr>
          <p:cNvPicPr>
            <a:picLocks noGrp="1" noChangeAspect="1"/>
          </p:cNvPicPr>
          <p:nvPr>
            <p:ph type="pic" sz="quarter" idx="10"/>
          </p:nvPr>
        </p:nvPicPr>
        <p:blipFill>
          <a:blip r:embed="rId2"/>
          <a:srcRect b="7787"/>
          <a:stretch/>
        </p:blipFill>
        <p:spPr>
          <a:xfrm>
            <a:off x="7985144" y="2018276"/>
            <a:ext cx="3952159" cy="2985239"/>
          </a:xfrm>
          <a:prstGeom prst="rect">
            <a:avLst/>
          </a:prstGeom>
        </p:spPr>
      </p:pic>
    </p:spTree>
    <p:extLst>
      <p:ext uri="{BB962C8B-B14F-4D97-AF65-F5344CB8AC3E}">
        <p14:creationId xmlns:p14="http://schemas.microsoft.com/office/powerpoint/2010/main" val="886581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Radiator</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396108"/>
            <a:ext cx="7880080" cy="4663318"/>
          </a:xfrm>
        </p:spPr>
        <p:txBody>
          <a:bodyPr/>
          <a:lstStyle/>
          <a:p>
            <a:r>
              <a:rPr lang="en-US" sz="2000" dirty="0"/>
              <a:t>The radiator is a heat exchanger, transferring heat from the engine to the air passing through it.</a:t>
            </a:r>
          </a:p>
          <a:p>
            <a:r>
              <a:rPr lang="en-US" sz="2000" dirty="0"/>
              <a:t>The radiator is a series of tubes and fins (collectively called the core) that expose the coolant’s heat to as much surface area as possible.</a:t>
            </a:r>
          </a:p>
          <a:p>
            <a:r>
              <a:rPr lang="en-US" sz="2000" dirty="0"/>
              <a:t>Attached to the sides or top and bottom of the core are plastic or aluminum tanks (Figure 14–24). One tank holds hot coolant and the other holds the cooled coolant.</a:t>
            </a:r>
          </a:p>
          <a:p>
            <a:r>
              <a:rPr lang="en-US" sz="2000" dirty="0"/>
              <a:t>Cores are normally composed of flattened aluminum tubes surrounded by thin aluminum fins. The fins conduct the heat from the tubes to the air flowing through the radiator. Most radiators have drain petcocks or plugs near the bottom. </a:t>
            </a:r>
          </a:p>
          <a:p>
            <a:r>
              <a:rPr lang="en-US" sz="2000" dirty="0"/>
              <a:t>Coolant is added at the radiator cap or the recovery tank.</a:t>
            </a:r>
          </a:p>
        </p:txBody>
      </p:sp>
      <p:pic>
        <p:nvPicPr>
          <p:cNvPr id="5" name="Picture Placeholder 4" descr="A close up view of a radiator core, exposing a series of tubes and fins in a crisscross pattern.">
            <a:extLst>
              <a:ext uri="{FF2B5EF4-FFF2-40B4-BE49-F238E27FC236}">
                <a16:creationId xmlns:a16="http://schemas.microsoft.com/office/drawing/2014/main" id="{234D89FF-2F70-1932-106F-B6041FFDBD0B}"/>
              </a:ext>
            </a:extLst>
          </p:cNvPr>
          <p:cNvPicPr>
            <a:picLocks noGrp="1" noChangeAspect="1"/>
          </p:cNvPicPr>
          <p:nvPr>
            <p:ph type="pic" sz="quarter" idx="10"/>
          </p:nvPr>
        </p:nvPicPr>
        <p:blipFill>
          <a:blip r:embed="rId2"/>
          <a:srcRect b="13205"/>
          <a:stretch/>
        </p:blipFill>
        <p:spPr>
          <a:xfrm>
            <a:off x="8480667" y="1596370"/>
            <a:ext cx="3489831" cy="3468790"/>
          </a:xfrm>
          <a:prstGeom prst="rect">
            <a:avLst/>
          </a:prstGeom>
        </p:spPr>
      </p:pic>
    </p:spTree>
    <p:extLst>
      <p:ext uri="{BB962C8B-B14F-4D97-AF65-F5344CB8AC3E}">
        <p14:creationId xmlns:p14="http://schemas.microsoft.com/office/powerpoint/2010/main" val="35549600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Hoses and Pipes </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4" y="1471264"/>
            <a:ext cx="6988828" cy="4605445"/>
          </a:xfrm>
        </p:spPr>
        <p:txBody>
          <a:bodyPr/>
          <a:lstStyle/>
          <a:p>
            <a:pPr>
              <a:spcAft>
                <a:spcPts val="600"/>
              </a:spcAft>
            </a:pPr>
            <a:r>
              <a:rPr lang="en-US" sz="2000" dirty="0"/>
              <a:t>Coolant flows from the engine to the radiator and from the radiator to the engine through radiator hoses.</a:t>
            </a:r>
          </a:p>
          <a:p>
            <a:pPr>
              <a:spcAft>
                <a:spcPts val="600"/>
              </a:spcAft>
            </a:pPr>
            <a:r>
              <a:rPr lang="en-US" sz="2000" dirty="0"/>
              <a:t>The hoses are usually made of butyl or neoprene rubber hoses to cushion engine vibrations and prevent damage to the radiator.</a:t>
            </a:r>
          </a:p>
          <a:p>
            <a:pPr>
              <a:spcAft>
                <a:spcPts val="600"/>
              </a:spcAft>
            </a:pPr>
            <a:r>
              <a:rPr lang="en-US" sz="2000" dirty="0"/>
              <a:t>Pipes, typically made from steel, are used to route coolant flow around the inside or outside of an engine, to the heater core, and other places depending on the type of system.</a:t>
            </a:r>
          </a:p>
          <a:p>
            <a:pPr>
              <a:spcAft>
                <a:spcPts val="600"/>
              </a:spcAft>
            </a:pPr>
            <a:r>
              <a:rPr lang="en-US" sz="2000" dirty="0"/>
              <a:t>A hose is typically made up of three parts: an inner rubber tube, some reinforcement material, and an outer rubber cover.</a:t>
            </a:r>
          </a:p>
        </p:txBody>
      </p:sp>
      <p:pic>
        <p:nvPicPr>
          <p:cNvPr id="5" name="Picture Placeholder 4" descr="An illustration depicts the flow of coolants through the cooling system hoses. The parts labeled are as follows: Overflow recovery tank, Radiator cap, Radiator hose, Thermostat, Heater control, Heater core, Heater hoses, Radiator, and Water pump. The inset view of the cylinder shows the combustion chamber and water jacket. The air flows into the system through the radiator and then passes toward the cylinders through the water pump, heater core, and heater hoses. The air flows back from the cylinders towards the radiator through the radiator hose.">
            <a:extLst>
              <a:ext uri="{FF2B5EF4-FFF2-40B4-BE49-F238E27FC236}">
                <a16:creationId xmlns:a16="http://schemas.microsoft.com/office/drawing/2014/main" id="{D5BC47DE-4AAC-1770-0C1C-4E695C1843F0}"/>
              </a:ext>
            </a:extLst>
          </p:cNvPr>
          <p:cNvPicPr>
            <a:picLocks noGrp="1" noChangeAspect="1"/>
          </p:cNvPicPr>
          <p:nvPr>
            <p:ph type="pic" sz="quarter" idx="10"/>
          </p:nvPr>
        </p:nvPicPr>
        <p:blipFill rotWithShape="1">
          <a:blip r:embed="rId2"/>
          <a:srcRect b="4685"/>
          <a:stretch/>
        </p:blipFill>
        <p:spPr>
          <a:xfrm>
            <a:off x="7376392" y="2000194"/>
            <a:ext cx="4678012" cy="2859482"/>
          </a:xfrm>
          <a:prstGeom prst="rect">
            <a:avLst/>
          </a:prstGeom>
        </p:spPr>
      </p:pic>
    </p:spTree>
    <p:extLst>
      <p:ext uri="{BB962C8B-B14F-4D97-AF65-F5344CB8AC3E}">
        <p14:creationId xmlns:p14="http://schemas.microsoft.com/office/powerpoint/2010/main" val="13057884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40C2214-3A29-E5E2-4765-906A220BED42}"/>
              </a:ext>
            </a:extLst>
          </p:cNvPr>
          <p:cNvSpPr>
            <a:spLocks noGrp="1"/>
          </p:cNvSpPr>
          <p:nvPr>
            <p:ph type="title"/>
          </p:nvPr>
        </p:nvSpPr>
        <p:spPr/>
        <p:txBody>
          <a:bodyPr/>
          <a:lstStyle/>
          <a:p>
            <a:r>
              <a:rPr lang="en-US" dirty="0"/>
              <a:t>Cooling Fans</a:t>
            </a:r>
          </a:p>
        </p:txBody>
      </p:sp>
      <p:sp>
        <p:nvSpPr>
          <p:cNvPr id="6" name="Text Placeholder 5">
            <a:extLst>
              <a:ext uri="{FF2B5EF4-FFF2-40B4-BE49-F238E27FC236}">
                <a16:creationId xmlns:a16="http://schemas.microsoft.com/office/drawing/2014/main" id="{3BA106B7-E36E-E382-BCEB-634BF393BD93}"/>
              </a:ext>
            </a:extLst>
          </p:cNvPr>
          <p:cNvSpPr>
            <a:spLocks noGrp="1"/>
          </p:cNvSpPr>
          <p:nvPr>
            <p:ph type="body" idx="1"/>
          </p:nvPr>
        </p:nvSpPr>
        <p:spPr/>
        <p:txBody>
          <a:bodyPr/>
          <a:lstStyle/>
          <a:p>
            <a:pPr>
              <a:spcAft>
                <a:spcPts val="600"/>
              </a:spcAft>
            </a:pPr>
            <a:r>
              <a:rPr lang="en-US" sz="1800" dirty="0"/>
              <a:t>The efficiency of the cooling system depends on the amount of heat that can be removed from the system and transferred to the air.</a:t>
            </a:r>
          </a:p>
          <a:p>
            <a:pPr>
              <a:spcAft>
                <a:spcPts val="600"/>
              </a:spcAft>
            </a:pPr>
            <a:r>
              <a:rPr lang="en-US" sz="1800" dirty="0"/>
              <a:t>At highway speeds, the ram air through the radiator should be sufficient to maintain proper cooling.</a:t>
            </a:r>
          </a:p>
          <a:p>
            <a:pPr>
              <a:spcAft>
                <a:spcPts val="600"/>
              </a:spcAft>
            </a:pPr>
            <a:r>
              <a:rPr lang="en-US" sz="1800" dirty="0"/>
              <a:t>At low speeds, the system needs additional air which is delivered by a fan.</a:t>
            </a:r>
          </a:p>
          <a:p>
            <a:pPr>
              <a:spcAft>
                <a:spcPts val="600"/>
              </a:spcAft>
            </a:pPr>
            <a:r>
              <a:rPr lang="en-US" sz="1800" dirty="0"/>
              <a:t>The fan may be driven by the engine, via a belt, driven by an electric motor, or hydraulically through the power-steering system.</a:t>
            </a:r>
          </a:p>
          <a:p>
            <a:pPr>
              <a:spcAft>
                <a:spcPts val="600"/>
              </a:spcAft>
            </a:pPr>
            <a:r>
              <a:rPr lang="en-US" sz="1800" dirty="0"/>
              <a:t>A belt-driven fan is bolted to a pulley on the water pump and turns constantly with the engine. Thus, belt-driven fans always draw air through the radiator from the rear.</a:t>
            </a:r>
          </a:p>
          <a:p>
            <a:pPr>
              <a:spcAft>
                <a:spcPts val="600"/>
              </a:spcAft>
            </a:pPr>
            <a:r>
              <a:rPr lang="en-US" sz="1800" dirty="0"/>
              <a:t>Engine drive fans utilize a </a:t>
            </a:r>
            <a:r>
              <a:rPr lang="en-US" sz="1800" b="1" dirty="0"/>
              <a:t>fan clutch </a:t>
            </a:r>
            <a:r>
              <a:rPr lang="en-US" sz="1800" dirty="0"/>
              <a:t>located between the water pump pulley and the fan. When the engine and fan clutch are cold, the fan moves independently from the clutch and moves little air. The clutch locks the fan to its hub when the temperature of the air around the fan reaches a particular point.</a:t>
            </a:r>
          </a:p>
        </p:txBody>
      </p:sp>
    </p:spTree>
    <p:extLst>
      <p:ext uri="{BB962C8B-B14F-4D97-AF65-F5344CB8AC3E}">
        <p14:creationId xmlns:p14="http://schemas.microsoft.com/office/powerpoint/2010/main" val="5283734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7D341CC-FD49-19B5-7BCA-BB02AD7515A7}"/>
              </a:ext>
            </a:extLst>
          </p:cNvPr>
          <p:cNvSpPr>
            <a:spLocks noGrp="1"/>
          </p:cNvSpPr>
          <p:nvPr>
            <p:ph type="title"/>
          </p:nvPr>
        </p:nvSpPr>
        <p:spPr/>
        <p:txBody>
          <a:bodyPr/>
          <a:lstStyle/>
          <a:p>
            <a:r>
              <a:rPr lang="en-US" dirty="0"/>
              <a:t>Cooling System Diagnosis (1 of 2)</a:t>
            </a:r>
          </a:p>
        </p:txBody>
      </p:sp>
      <p:sp>
        <p:nvSpPr>
          <p:cNvPr id="6" name="Text Placeholder 5">
            <a:extLst>
              <a:ext uri="{FF2B5EF4-FFF2-40B4-BE49-F238E27FC236}">
                <a16:creationId xmlns:a16="http://schemas.microsoft.com/office/drawing/2014/main" id="{7605E72D-2F81-8808-530B-EE50A844DB17}"/>
              </a:ext>
            </a:extLst>
          </p:cNvPr>
          <p:cNvSpPr>
            <a:spLocks noGrp="1"/>
          </p:cNvSpPr>
          <p:nvPr>
            <p:ph type="body" idx="1"/>
          </p:nvPr>
        </p:nvSpPr>
        <p:spPr>
          <a:xfrm>
            <a:off x="476843" y="1471264"/>
            <a:ext cx="11241915" cy="4658603"/>
          </a:xfrm>
        </p:spPr>
        <p:txBody>
          <a:bodyPr/>
          <a:lstStyle/>
          <a:p>
            <a:pPr marL="0" indent="0">
              <a:spcAft>
                <a:spcPts val="600"/>
              </a:spcAft>
              <a:buNone/>
            </a:pPr>
            <a:r>
              <a:rPr lang="en-US" sz="2400" b="1" dirty="0"/>
              <a:t>14.05 Inspect the cooling system.</a:t>
            </a:r>
          </a:p>
          <a:p>
            <a:pPr>
              <a:spcAft>
                <a:spcPts val="600"/>
              </a:spcAft>
            </a:pPr>
            <a:r>
              <a:rPr lang="en-US" sz="2400" dirty="0"/>
              <a:t>The cooling system must be inspected and serviced as a system.</a:t>
            </a:r>
          </a:p>
          <a:p>
            <a:pPr>
              <a:spcAft>
                <a:spcPts val="600"/>
              </a:spcAft>
            </a:pPr>
            <a:r>
              <a:rPr lang="en-US" sz="2400" dirty="0"/>
              <a:t>Replacing one damaged part while leaving others dirty or clogged will not increase system efficiency.</a:t>
            </a:r>
          </a:p>
          <a:p>
            <a:pPr>
              <a:spcAft>
                <a:spcPts val="600"/>
              </a:spcAft>
            </a:pPr>
            <a:r>
              <a:rPr lang="en-US" sz="2400" dirty="0"/>
              <a:t>Diagnosis of the system involves both a visual inspection of the parts, simple checks and tests, and leak testing.</a:t>
            </a:r>
          </a:p>
          <a:p>
            <a:pPr>
              <a:spcAft>
                <a:spcPts val="600"/>
              </a:spcAft>
            </a:pPr>
            <a:r>
              <a:rPr lang="en-US" sz="2400" dirty="0"/>
              <a:t>One of the first checks of the cooling system is the checking of coolant level and condition.</a:t>
            </a:r>
          </a:p>
          <a:p>
            <a:pPr>
              <a:spcAft>
                <a:spcPts val="600"/>
              </a:spcAft>
            </a:pPr>
            <a:r>
              <a:rPr lang="en-US" sz="2400" dirty="0"/>
              <a:t>These checks should be done during normal preventive maintenance and when there is a problem.</a:t>
            </a:r>
          </a:p>
        </p:txBody>
      </p:sp>
    </p:spTree>
    <p:extLst>
      <p:ext uri="{BB962C8B-B14F-4D97-AF65-F5344CB8AC3E}">
        <p14:creationId xmlns:p14="http://schemas.microsoft.com/office/powerpoint/2010/main" val="27257975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EE62A18-CC1E-49CE-C96C-090A48C3ABC7}"/>
              </a:ext>
            </a:extLst>
          </p:cNvPr>
          <p:cNvSpPr>
            <a:spLocks noGrp="1"/>
          </p:cNvSpPr>
          <p:nvPr>
            <p:ph type="title"/>
          </p:nvPr>
        </p:nvSpPr>
        <p:spPr/>
        <p:txBody>
          <a:bodyPr/>
          <a:lstStyle/>
          <a:p>
            <a:r>
              <a:rPr lang="en-US" dirty="0"/>
              <a:t>Cooling System Diagnosis (2 of 2)</a:t>
            </a:r>
          </a:p>
        </p:txBody>
      </p:sp>
      <p:sp>
        <p:nvSpPr>
          <p:cNvPr id="6" name="Text Placeholder 5">
            <a:extLst>
              <a:ext uri="{FF2B5EF4-FFF2-40B4-BE49-F238E27FC236}">
                <a16:creationId xmlns:a16="http://schemas.microsoft.com/office/drawing/2014/main" id="{665BEF9B-9EFD-0A11-5123-FDF6A2641531}"/>
              </a:ext>
            </a:extLst>
          </p:cNvPr>
          <p:cNvSpPr>
            <a:spLocks noGrp="1"/>
          </p:cNvSpPr>
          <p:nvPr>
            <p:ph type="body" idx="1"/>
          </p:nvPr>
        </p:nvSpPr>
        <p:spPr/>
        <p:txBody>
          <a:bodyPr/>
          <a:lstStyle/>
          <a:p>
            <a:pPr>
              <a:spcAft>
                <a:spcPts val="600"/>
              </a:spcAft>
            </a:pPr>
            <a:r>
              <a:rPr lang="en-US" sz="2000" dirty="0"/>
              <a:t>Testing for Electrolysis in Cooling Systems.</a:t>
            </a:r>
          </a:p>
          <a:p>
            <a:pPr>
              <a:spcAft>
                <a:spcPts val="600"/>
              </a:spcAft>
            </a:pPr>
            <a:r>
              <a:rPr lang="en-US" sz="2000" dirty="0"/>
              <a:t>Electrolysis is a process in which an electrical current is passed through water, causing the separation of hydrogen and oxygen molecules.</a:t>
            </a:r>
          </a:p>
          <a:p>
            <a:pPr>
              <a:spcAft>
                <a:spcPts val="600"/>
              </a:spcAft>
            </a:pPr>
            <a:r>
              <a:rPr lang="en-US" sz="2000" dirty="0"/>
              <a:t>In older vehicles with cast iron engines and copper and brass radiators, electrolysis can be a concern. In a cooling system, electrolysis removes the protective layer on the inside of the radiator tubes. It also can cause serious engine failures.</a:t>
            </a:r>
          </a:p>
          <a:p>
            <a:pPr>
              <a:spcAft>
                <a:spcPts val="600"/>
              </a:spcAft>
            </a:pPr>
            <a:r>
              <a:rPr lang="en-US" sz="2000" dirty="0"/>
              <a:t>Electrolysis occurs when there is improper grounding of electrical accessories and equipment or static electricity buildup allows the current to flow through the cooling system.</a:t>
            </a:r>
          </a:p>
          <a:p>
            <a:pPr>
              <a:spcAft>
                <a:spcPts val="600"/>
              </a:spcAft>
            </a:pPr>
            <a:r>
              <a:rPr lang="en-US" sz="2000" dirty="0"/>
              <a:t>Modern radiators typically mount on rubber bushings which isolate the radiator from the electrical system. If electrolysis is suspected, use a voltmeter that is capable of measuring AC and DC voltage.</a:t>
            </a:r>
          </a:p>
        </p:txBody>
      </p:sp>
    </p:spTree>
    <p:extLst>
      <p:ext uri="{BB962C8B-B14F-4D97-AF65-F5344CB8AC3E}">
        <p14:creationId xmlns:p14="http://schemas.microsoft.com/office/powerpoint/2010/main" val="703159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E253C41-D228-4EEF-6FE7-05C228822CCA}"/>
              </a:ext>
            </a:extLst>
          </p:cNvPr>
          <p:cNvSpPr>
            <a:spLocks noGrp="1"/>
          </p:cNvSpPr>
          <p:nvPr>
            <p:ph type="title"/>
          </p:nvPr>
        </p:nvSpPr>
        <p:spPr/>
        <p:txBody>
          <a:bodyPr/>
          <a:lstStyle/>
          <a:p>
            <a:r>
              <a:rPr lang="en-US" dirty="0"/>
              <a:t>Inspection of Cooling System (1 of 3)</a:t>
            </a:r>
          </a:p>
        </p:txBody>
      </p:sp>
      <p:sp>
        <p:nvSpPr>
          <p:cNvPr id="6" name="Text Placeholder 5">
            <a:extLst>
              <a:ext uri="{FF2B5EF4-FFF2-40B4-BE49-F238E27FC236}">
                <a16:creationId xmlns:a16="http://schemas.microsoft.com/office/drawing/2014/main" id="{B07D9D60-842D-753A-5BB5-46E515215101}"/>
              </a:ext>
            </a:extLst>
          </p:cNvPr>
          <p:cNvSpPr>
            <a:spLocks noGrp="1"/>
          </p:cNvSpPr>
          <p:nvPr>
            <p:ph type="body" idx="1"/>
          </p:nvPr>
        </p:nvSpPr>
        <p:spPr/>
        <p:txBody>
          <a:bodyPr/>
          <a:lstStyle/>
          <a:p>
            <a:r>
              <a:rPr lang="en-US" sz="2000" dirty="0"/>
              <a:t>The most common cooling system problem is overheating which can be caused my many different things.</a:t>
            </a:r>
          </a:p>
          <a:p>
            <a:r>
              <a:rPr lang="en-US" sz="2000" dirty="0"/>
              <a:t>Diagnosis of this condition involves many steps, simply because many things can cause this problem.</a:t>
            </a:r>
          </a:p>
          <a:p>
            <a:r>
              <a:rPr lang="en-US" sz="2000" dirty="0"/>
              <a:t>Basically, overheating can be caused by anything that decreases the cooling system’s ability to absorb, transport, and dissipate heat:</a:t>
            </a:r>
          </a:p>
          <a:p>
            <a:pPr lvl="1"/>
            <a:r>
              <a:rPr lang="en-US" sz="1800" dirty="0"/>
              <a:t>The first step is to determine whether the engine is indeed overheating. An overheating concern normally begins with high readings on the vehicle’s temperature gauge or the illumination of the temperature warning lamp.</a:t>
            </a:r>
          </a:p>
          <a:p>
            <a:pPr lvl="1"/>
            <a:r>
              <a:rPr lang="en-US" sz="1800" dirty="0"/>
              <a:t>These can be caused by a cooling system problem or a faulty temperature sensor, although when the engine is greatly overheating, it is obvious by the steam emitted by the system or by smell.</a:t>
            </a:r>
          </a:p>
          <a:p>
            <a:pPr lvl="1"/>
            <a:r>
              <a:rPr lang="en-US" sz="1800" dirty="0"/>
              <a:t>The best way to check the accuracy of the temperature indicators is to measure the temperature of the coolant.</a:t>
            </a:r>
          </a:p>
        </p:txBody>
      </p:sp>
    </p:spTree>
    <p:extLst>
      <p:ext uri="{BB962C8B-B14F-4D97-AF65-F5344CB8AC3E}">
        <p14:creationId xmlns:p14="http://schemas.microsoft.com/office/powerpoint/2010/main" val="41340854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Inspection of Cooling System (2 of 3)</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786623" cy="4568292"/>
          </a:xfrm>
        </p:spPr>
        <p:txBody>
          <a:bodyPr/>
          <a:lstStyle/>
          <a:p>
            <a:pPr>
              <a:spcAft>
                <a:spcPts val="600"/>
              </a:spcAft>
            </a:pPr>
            <a:r>
              <a:rPr lang="en-US" dirty="0"/>
              <a:t>Checking Hoses </a:t>
            </a:r>
          </a:p>
          <a:p>
            <a:pPr lvl="1">
              <a:spcAft>
                <a:spcPts val="600"/>
              </a:spcAft>
            </a:pPr>
            <a:r>
              <a:rPr lang="en-US" dirty="0"/>
              <a:t>Carefully check all cooling hoses for leakage, swelling, and chafing.</a:t>
            </a:r>
          </a:p>
          <a:p>
            <a:pPr lvl="1">
              <a:spcAft>
                <a:spcPts val="600"/>
              </a:spcAft>
            </a:pPr>
            <a:r>
              <a:rPr lang="en-US" dirty="0"/>
              <a:t>Also replace any hose that feels mushy or extremely brittle when squeezed firmly.</a:t>
            </a:r>
          </a:p>
          <a:p>
            <a:pPr lvl="1">
              <a:spcAft>
                <a:spcPts val="600"/>
              </a:spcAft>
            </a:pPr>
            <a:r>
              <a:rPr lang="en-US" dirty="0"/>
              <a:t>When a hose becomes soft, it is deteriorating and should be replaced before more serious problems result.</a:t>
            </a:r>
          </a:p>
          <a:p>
            <a:pPr lvl="1">
              <a:spcAft>
                <a:spcPts val="600"/>
              </a:spcAft>
            </a:pPr>
            <a:r>
              <a:rPr lang="en-US" dirty="0"/>
              <a:t>Hard hoses will resist flexing and may crack rather than bend and should be replaced.</a:t>
            </a:r>
          </a:p>
        </p:txBody>
      </p:sp>
      <p:pic>
        <p:nvPicPr>
          <p:cNvPr id="5" name="Picture Placeholder 4" descr="Five illustrations are shown. The first illustration shows a person’s hand holding a squeeze hose with a wire-type clamp is tied at either side. The second illustration shows a swollen cooling hose. The third illustration shows soft cooling hose. The fourth illustration shows a chafed cooling hose. The fifth illustration shows a hardened cooling hose.">
            <a:extLst>
              <a:ext uri="{FF2B5EF4-FFF2-40B4-BE49-F238E27FC236}">
                <a16:creationId xmlns:a16="http://schemas.microsoft.com/office/drawing/2014/main" id="{78AF729E-447B-FC43-5225-CC01B109E2A4}"/>
              </a:ext>
            </a:extLst>
          </p:cNvPr>
          <p:cNvPicPr>
            <a:picLocks noGrp="1" noChangeAspect="1"/>
          </p:cNvPicPr>
          <p:nvPr>
            <p:ph type="pic" sz="quarter" idx="10"/>
          </p:nvPr>
        </p:nvPicPr>
        <p:blipFill>
          <a:blip r:embed="rId2"/>
          <a:srcRect b="8253"/>
          <a:stretch/>
        </p:blipFill>
        <p:spPr>
          <a:xfrm>
            <a:off x="8355124" y="1585910"/>
            <a:ext cx="3316253" cy="3982683"/>
          </a:xfrm>
          <a:prstGeom prst="rect">
            <a:avLst/>
          </a:prstGeom>
        </p:spPr>
      </p:pic>
    </p:spTree>
    <p:extLst>
      <p:ext uri="{BB962C8B-B14F-4D97-AF65-F5344CB8AC3E}">
        <p14:creationId xmlns:p14="http://schemas.microsoft.com/office/powerpoint/2010/main" val="21094165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Inspection of Cooling System (3 of 3)</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5"/>
            <a:ext cx="7035127" cy="4420250"/>
          </a:xfrm>
        </p:spPr>
        <p:txBody>
          <a:bodyPr/>
          <a:lstStyle/>
          <a:p>
            <a:r>
              <a:rPr lang="en-US" sz="2000" dirty="0"/>
              <a:t>Thermostats are often the cause of overheating or poor heater performance.</a:t>
            </a:r>
          </a:p>
          <a:p>
            <a:r>
              <a:rPr lang="en-US" sz="2000" dirty="0"/>
              <a:t>They can also cause an increase in fuel consumption and poor engine performance.</a:t>
            </a:r>
          </a:p>
          <a:p>
            <a:r>
              <a:rPr lang="en-US" sz="2000" dirty="0"/>
              <a:t>If the thermostat is stuck open, the coolant may not reach the desired temperature because it is cooled before it gets hot.</a:t>
            </a:r>
          </a:p>
          <a:p>
            <a:r>
              <a:rPr lang="en-US" sz="2000" dirty="0"/>
              <a:t>Often, a P0128 DTC will be stored in the PCM if the thermostat is stuck open or opens too soon.</a:t>
            </a:r>
          </a:p>
          <a:p>
            <a:r>
              <a:rPr lang="en-US" sz="2000" dirty="0"/>
              <a:t>The best way to check thermostat operation is to measure engine temperature with an infrared thermometer. However, you can use your hand to feel the temperature.</a:t>
            </a:r>
          </a:p>
        </p:txBody>
      </p:sp>
      <p:pic>
        <p:nvPicPr>
          <p:cNvPr id="5" name="Picture Placeholder 4" descr="A technician checks the operation of a thermostat using an infrared thermometer.">
            <a:extLst>
              <a:ext uri="{FF2B5EF4-FFF2-40B4-BE49-F238E27FC236}">
                <a16:creationId xmlns:a16="http://schemas.microsoft.com/office/drawing/2014/main" id="{C3445FCE-06F0-7036-0B7E-3A2633929688}"/>
              </a:ext>
            </a:extLst>
          </p:cNvPr>
          <p:cNvPicPr>
            <a:picLocks noGrp="1" noChangeAspect="1"/>
          </p:cNvPicPr>
          <p:nvPr>
            <p:ph type="pic" sz="quarter" idx="10"/>
          </p:nvPr>
        </p:nvPicPr>
        <p:blipFill>
          <a:blip r:embed="rId2"/>
          <a:srcRect b="12303"/>
          <a:stretch/>
        </p:blipFill>
        <p:spPr>
          <a:xfrm>
            <a:off x="7496214" y="1862893"/>
            <a:ext cx="4501995" cy="3366653"/>
          </a:xfrm>
          <a:prstGeom prst="rect">
            <a:avLst/>
          </a:prstGeom>
        </p:spPr>
      </p:pic>
    </p:spTree>
    <p:extLst>
      <p:ext uri="{BB962C8B-B14F-4D97-AF65-F5344CB8AC3E}">
        <p14:creationId xmlns:p14="http://schemas.microsoft.com/office/powerpoint/2010/main" val="40908327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E84DB5-7A0F-6617-00A6-0D8AC667195D}"/>
              </a:ext>
            </a:extLst>
          </p:cNvPr>
          <p:cNvSpPr>
            <a:spLocks noGrp="1"/>
          </p:cNvSpPr>
          <p:nvPr>
            <p:ph type="title"/>
          </p:nvPr>
        </p:nvSpPr>
        <p:spPr/>
        <p:txBody>
          <a:bodyPr/>
          <a:lstStyle/>
          <a:p>
            <a:r>
              <a:rPr lang="en-US"/>
              <a:t>Knowledge Check (1 of 2)</a:t>
            </a:r>
            <a:endParaRPr lang="en-US" dirty="0"/>
          </a:p>
        </p:txBody>
      </p:sp>
      <p:sp>
        <p:nvSpPr>
          <p:cNvPr id="6" name="Text Placeholder 5">
            <a:extLst>
              <a:ext uri="{FF2B5EF4-FFF2-40B4-BE49-F238E27FC236}">
                <a16:creationId xmlns:a16="http://schemas.microsoft.com/office/drawing/2014/main" id="{A62A6D1A-BE3A-CE49-8C82-8E33A3C3CE9E}"/>
              </a:ext>
            </a:extLst>
          </p:cNvPr>
          <p:cNvSpPr>
            <a:spLocks noGrp="1"/>
          </p:cNvSpPr>
          <p:nvPr>
            <p:ph type="body" idx="1"/>
          </p:nvPr>
        </p:nvSpPr>
        <p:spPr/>
        <p:txBody>
          <a:bodyPr/>
          <a:lstStyle/>
          <a:p>
            <a:pPr marL="0" indent="0">
              <a:buNone/>
            </a:pPr>
            <a:r>
              <a:rPr lang="en-US" dirty="0"/>
              <a:t>What is the job of the water pump?</a:t>
            </a:r>
          </a:p>
        </p:txBody>
      </p:sp>
    </p:spTree>
    <p:extLst>
      <p:ext uri="{BB962C8B-B14F-4D97-AF65-F5344CB8AC3E}">
        <p14:creationId xmlns:p14="http://schemas.microsoft.com/office/powerpoint/2010/main" val="3600390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EE84DB5-7A0F-6617-00A6-0D8AC667195D}"/>
              </a:ext>
            </a:extLst>
          </p:cNvPr>
          <p:cNvSpPr>
            <a:spLocks noGrp="1"/>
          </p:cNvSpPr>
          <p:nvPr>
            <p:ph type="title"/>
          </p:nvPr>
        </p:nvSpPr>
        <p:spPr/>
        <p:txBody>
          <a:bodyPr/>
          <a:lstStyle/>
          <a:p>
            <a:r>
              <a:rPr lang="en-US" dirty="0"/>
              <a:t>Knowledge </a:t>
            </a:r>
            <a:r>
              <a:rPr lang="en-US"/>
              <a:t>Check Answer (1 of 2)</a:t>
            </a:r>
            <a:endParaRPr lang="en-US" dirty="0"/>
          </a:p>
        </p:txBody>
      </p:sp>
      <p:sp>
        <p:nvSpPr>
          <p:cNvPr id="6" name="Text Placeholder 5">
            <a:extLst>
              <a:ext uri="{FF2B5EF4-FFF2-40B4-BE49-F238E27FC236}">
                <a16:creationId xmlns:a16="http://schemas.microsoft.com/office/drawing/2014/main" id="{A62A6D1A-BE3A-CE49-8C82-8E33A3C3CE9E}"/>
              </a:ext>
            </a:extLst>
          </p:cNvPr>
          <p:cNvSpPr>
            <a:spLocks noGrp="1"/>
          </p:cNvSpPr>
          <p:nvPr>
            <p:ph type="body" idx="1"/>
          </p:nvPr>
        </p:nvSpPr>
        <p:spPr/>
        <p:txBody>
          <a:bodyPr/>
          <a:lstStyle/>
          <a:p>
            <a:pPr marL="0" indent="0">
              <a:buNone/>
            </a:pPr>
            <a:r>
              <a:rPr lang="en-US" b="1" dirty="0"/>
              <a:t>Answer</a:t>
            </a:r>
            <a:r>
              <a:rPr lang="en-US" dirty="0"/>
              <a:t>: Its job is to move the coolant through the system.</a:t>
            </a:r>
          </a:p>
        </p:txBody>
      </p:sp>
    </p:spTree>
    <p:extLst>
      <p:ext uri="{BB962C8B-B14F-4D97-AF65-F5344CB8AC3E}">
        <p14:creationId xmlns:p14="http://schemas.microsoft.com/office/powerpoint/2010/main" val="55451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07E790-8F7B-596B-BFD9-8C01862F133A}"/>
              </a:ext>
            </a:extLst>
          </p:cNvPr>
          <p:cNvSpPr>
            <a:spLocks noGrp="1"/>
          </p:cNvSpPr>
          <p:nvPr>
            <p:ph type="title"/>
          </p:nvPr>
        </p:nvSpPr>
        <p:spPr/>
        <p:txBody>
          <a:bodyPr/>
          <a:lstStyle/>
          <a:p>
            <a:r>
              <a:rPr lang="en-US" dirty="0"/>
              <a:t>Testing for Leaks (1 of 2)</a:t>
            </a:r>
          </a:p>
        </p:txBody>
      </p:sp>
      <p:sp>
        <p:nvSpPr>
          <p:cNvPr id="6" name="Text Placeholder 5">
            <a:extLst>
              <a:ext uri="{FF2B5EF4-FFF2-40B4-BE49-F238E27FC236}">
                <a16:creationId xmlns:a16="http://schemas.microsoft.com/office/drawing/2014/main" id="{58FDABCC-CD31-D906-0691-B24D5527D8BB}"/>
              </a:ext>
            </a:extLst>
          </p:cNvPr>
          <p:cNvSpPr>
            <a:spLocks noGrp="1"/>
          </p:cNvSpPr>
          <p:nvPr>
            <p:ph type="body" idx="1"/>
          </p:nvPr>
        </p:nvSpPr>
        <p:spPr/>
        <p:txBody>
          <a:bodyPr/>
          <a:lstStyle/>
          <a:p>
            <a:pPr marL="0" indent="0">
              <a:buNone/>
            </a:pPr>
            <a:r>
              <a:rPr lang="en-US" sz="1800" b="1" dirty="0"/>
              <a:t>14.06 Test the cooling system for leaks.</a:t>
            </a:r>
          </a:p>
          <a:p>
            <a:r>
              <a:rPr lang="en-US" sz="1800" dirty="0"/>
              <a:t>A radiator pressure tester is a common tool used to test a cooling system.</a:t>
            </a:r>
          </a:p>
          <a:p>
            <a:r>
              <a:rPr lang="en-US" sz="1800" dirty="0"/>
              <a:t>It is extremely handy for finding the source of any leak in the cooling system. The tester applies pressure to the entire cooling system.</a:t>
            </a:r>
          </a:p>
          <a:p>
            <a:r>
              <a:rPr lang="en-US" sz="1800" dirty="0"/>
              <a:t>A good cooling system should be able to hold its rated pressure for 15 minutes or more without losing pressure.</a:t>
            </a:r>
          </a:p>
          <a:p>
            <a:r>
              <a:rPr lang="en-US" sz="1800" dirty="0"/>
              <a:t>The tester is fastened to the radiator filler neck or degas bottle. The engine runs until it is warm.</a:t>
            </a:r>
          </a:p>
          <a:p>
            <a:r>
              <a:rPr lang="en-US" sz="1800" dirty="0"/>
              <a:t>If the pressure drops off, there is a leak. Carefully check the hoses, radiator, heater core, and water pump for leaks.</a:t>
            </a:r>
          </a:p>
          <a:p>
            <a:r>
              <a:rPr lang="en-US" sz="1800" dirty="0"/>
              <a:t>Often, the leak will initially be obvious because coolant will spray out of the leak. Also look for bulges in the hoses.</a:t>
            </a:r>
          </a:p>
          <a:p>
            <a:r>
              <a:rPr lang="en-US" sz="1800" dirty="0"/>
              <a:t>The source of internal leaks is found through additional testing. An internal leak caused by a bad head gasket can be verified with the tester.</a:t>
            </a:r>
          </a:p>
        </p:txBody>
      </p:sp>
    </p:spTree>
    <p:extLst>
      <p:ext uri="{BB962C8B-B14F-4D97-AF65-F5344CB8AC3E}">
        <p14:creationId xmlns:p14="http://schemas.microsoft.com/office/powerpoint/2010/main" val="41225359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Testing for Leaks (2 of 2)</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809201" cy="4590869"/>
          </a:xfrm>
        </p:spPr>
        <p:txBody>
          <a:bodyPr/>
          <a:lstStyle/>
          <a:p>
            <a:r>
              <a:rPr lang="en-US" sz="2000" dirty="0"/>
              <a:t>The opening pressure of the radiator cap should be measured and the cap checked for gasket cracking, brittleness, or deterioration.</a:t>
            </a:r>
          </a:p>
          <a:p>
            <a:r>
              <a:rPr lang="en-US" sz="2000" dirty="0"/>
              <a:t>Also check the sealing surfaces in the radiator filler neck.</a:t>
            </a:r>
          </a:p>
          <a:p>
            <a:r>
              <a:rPr lang="en-US" sz="2000" dirty="0"/>
              <a:t>Over time, the spring in the cap can weaken and that will lower the coolant’s boiling point.</a:t>
            </a:r>
          </a:p>
          <a:p>
            <a:r>
              <a:rPr lang="en-US" sz="2000" dirty="0"/>
              <a:t>This will cause the engine to lose coolant through the overflow tube whenever it gets hot.</a:t>
            </a:r>
          </a:p>
          <a:p>
            <a:r>
              <a:rPr lang="en-US" sz="2000" dirty="0"/>
              <a:t>To check the cap, install the correct cap adapter and the radiator’s pressure cap to the tester head. Pump the tester until the gauge reads the pressure rating of the cap. </a:t>
            </a:r>
          </a:p>
          <a:p>
            <a:r>
              <a:rPr lang="en-US" sz="2000" dirty="0"/>
              <a:t>The cap should hold that pressure for at least 1 minute.</a:t>
            </a:r>
          </a:p>
        </p:txBody>
      </p:sp>
      <p:pic>
        <p:nvPicPr>
          <p:cNvPr id="5" name="Picture Placeholder 4" descr="A radiator cap is placed open for inspection, exposing the coolant.">
            <a:extLst>
              <a:ext uri="{FF2B5EF4-FFF2-40B4-BE49-F238E27FC236}">
                <a16:creationId xmlns:a16="http://schemas.microsoft.com/office/drawing/2014/main" id="{27A23696-3CEF-ED07-D7EA-FF05B5CBE885}"/>
              </a:ext>
            </a:extLst>
          </p:cNvPr>
          <p:cNvPicPr>
            <a:picLocks noGrp="1" noChangeAspect="1"/>
          </p:cNvPicPr>
          <p:nvPr>
            <p:ph type="pic" sz="quarter" idx="10"/>
          </p:nvPr>
        </p:nvPicPr>
        <p:blipFill>
          <a:blip r:embed="rId2"/>
          <a:srcRect b="8474"/>
          <a:stretch/>
        </p:blipFill>
        <p:spPr>
          <a:xfrm>
            <a:off x="8431811" y="2375337"/>
            <a:ext cx="3580649" cy="2556259"/>
          </a:xfrm>
          <a:prstGeom prst="rect">
            <a:avLst/>
          </a:prstGeom>
        </p:spPr>
      </p:pic>
    </p:spTree>
    <p:extLst>
      <p:ext uri="{BB962C8B-B14F-4D97-AF65-F5344CB8AC3E}">
        <p14:creationId xmlns:p14="http://schemas.microsoft.com/office/powerpoint/2010/main" val="2429068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Cooling System Service (1 of 4)</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718890" cy="4669892"/>
          </a:xfrm>
        </p:spPr>
        <p:txBody>
          <a:bodyPr/>
          <a:lstStyle/>
          <a:p>
            <a:r>
              <a:rPr lang="en-US" sz="2200" dirty="0"/>
              <a:t>Hoses must be made of the right material and have the correct diameter, length, and shape.</a:t>
            </a:r>
          </a:p>
          <a:p>
            <a:r>
              <a:rPr lang="en-US" sz="2200" dirty="0"/>
              <a:t>The hose’s part number is often printed on the outside of the hose</a:t>
            </a:r>
            <a:r>
              <a:rPr lang="en-US" sz="2200" b="1" dirty="0"/>
              <a:t>,</a:t>
            </a:r>
            <a:r>
              <a:rPr lang="en-US" sz="2200" dirty="0"/>
              <a:t> and replacement hoses should correspond to those numbers.</a:t>
            </a:r>
          </a:p>
          <a:p>
            <a:r>
              <a:rPr lang="en-US" sz="2200" dirty="0"/>
              <a:t>Nearly all OEM hoses are of the molded, curved design. Molded hoses designed to fit many applications are often sold.</a:t>
            </a:r>
          </a:p>
          <a:p>
            <a:r>
              <a:rPr lang="en-US" sz="2200" dirty="0"/>
              <a:t>Aftermarket hoses are either molded or flex types.</a:t>
            </a:r>
          </a:p>
          <a:p>
            <a:r>
              <a:rPr lang="en-US" sz="2200" dirty="0"/>
              <a:t>A flex-type hose allows greater vehicle coverage per part number.</a:t>
            </a:r>
          </a:p>
          <a:p>
            <a:r>
              <a:rPr lang="en-US" sz="2200" dirty="0"/>
              <a:t>Do not reuse clamps, even if they look good.</a:t>
            </a:r>
          </a:p>
        </p:txBody>
      </p:sp>
      <p:pic>
        <p:nvPicPr>
          <p:cNvPr id="5" name="Picture Placeholder 4" descr="A radiator hose with a part number painted on the outside of the hose is fixed in a vehicle's cooling system.">
            <a:extLst>
              <a:ext uri="{FF2B5EF4-FFF2-40B4-BE49-F238E27FC236}">
                <a16:creationId xmlns:a16="http://schemas.microsoft.com/office/drawing/2014/main" id="{2279A5B1-8FA6-A595-14B1-168D3DF50E5E}"/>
              </a:ext>
            </a:extLst>
          </p:cNvPr>
          <p:cNvPicPr>
            <a:picLocks noGrp="1" noChangeAspect="1"/>
          </p:cNvPicPr>
          <p:nvPr>
            <p:ph type="pic" sz="quarter" idx="10"/>
          </p:nvPr>
        </p:nvPicPr>
        <p:blipFill>
          <a:blip r:embed="rId2"/>
          <a:srcRect b="14775"/>
          <a:stretch/>
        </p:blipFill>
        <p:spPr>
          <a:xfrm>
            <a:off x="8195733" y="2076200"/>
            <a:ext cx="3830467" cy="2917040"/>
          </a:xfrm>
          <a:prstGeom prst="rect">
            <a:avLst/>
          </a:prstGeom>
        </p:spPr>
      </p:pic>
    </p:spTree>
    <p:extLst>
      <p:ext uri="{BB962C8B-B14F-4D97-AF65-F5344CB8AC3E}">
        <p14:creationId xmlns:p14="http://schemas.microsoft.com/office/powerpoint/2010/main" val="35094500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Cooling System Service (2 of 4)</a:t>
            </a:r>
          </a:p>
        </p:txBody>
      </p:sp>
      <p:pic>
        <p:nvPicPr>
          <p:cNvPr id="5" name="Picture Placeholder 4" descr="A technician is scraping off the mating surfaces on the housing before placing a new thermostat gasket and housing.">
            <a:extLst>
              <a:ext uri="{FF2B5EF4-FFF2-40B4-BE49-F238E27FC236}">
                <a16:creationId xmlns:a16="http://schemas.microsoft.com/office/drawing/2014/main" id="{525E06E9-E48A-1690-BFCB-BF44A57A5E28}"/>
              </a:ext>
            </a:extLst>
          </p:cNvPr>
          <p:cNvPicPr>
            <a:picLocks noGrp="1" noChangeAspect="1"/>
          </p:cNvPicPr>
          <p:nvPr>
            <p:ph type="pic" sz="quarter" idx="10"/>
          </p:nvPr>
        </p:nvPicPr>
        <p:blipFill>
          <a:blip r:embed="rId2"/>
          <a:srcRect b="14508"/>
          <a:stretch/>
        </p:blipFill>
        <p:spPr>
          <a:xfrm>
            <a:off x="467915" y="1784121"/>
            <a:ext cx="4855580" cy="3178297"/>
          </a:xfrm>
          <a:prstGeom prst="rect">
            <a:avLst/>
          </a:prstGeom>
        </p:spPr>
      </p:pic>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5429955" y="1319832"/>
            <a:ext cx="6117551" cy="4731012"/>
          </a:xfrm>
        </p:spPr>
        <p:txBody>
          <a:bodyPr/>
          <a:lstStyle/>
          <a:p>
            <a:pPr>
              <a:spcAft>
                <a:spcPts val="600"/>
              </a:spcAft>
            </a:pPr>
            <a:r>
              <a:rPr lang="en-US" dirty="0"/>
              <a:t>Thermostat</a:t>
            </a:r>
          </a:p>
          <a:p>
            <a:pPr lvl="1">
              <a:spcAft>
                <a:spcPts val="600"/>
              </a:spcAft>
            </a:pPr>
            <a:r>
              <a:rPr lang="en-US" dirty="0"/>
              <a:t>When replacing the thermostat, the replacement should always have the same temperature rating as the original.</a:t>
            </a:r>
          </a:p>
          <a:p>
            <a:pPr lvl="1">
              <a:spcAft>
                <a:spcPts val="600"/>
              </a:spcAft>
            </a:pPr>
            <a:r>
              <a:rPr lang="en-US" dirty="0"/>
              <a:t>Also replace the gasket that seals the thermostat in place and is positioned between the thermostat housing and the block.</a:t>
            </a:r>
          </a:p>
          <a:p>
            <a:pPr lvl="1">
              <a:spcAft>
                <a:spcPts val="600"/>
              </a:spcAft>
            </a:pPr>
            <a:r>
              <a:rPr lang="en-US" dirty="0"/>
              <a:t>Make sure the mating surfaces on the housing and block are clean.</a:t>
            </a:r>
          </a:p>
        </p:txBody>
      </p:sp>
    </p:spTree>
    <p:extLst>
      <p:ext uri="{BB962C8B-B14F-4D97-AF65-F5344CB8AC3E}">
        <p14:creationId xmlns:p14="http://schemas.microsoft.com/office/powerpoint/2010/main" val="30144811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B95819-696A-92BA-A430-A1FCF4F2CDA0}"/>
              </a:ext>
            </a:extLst>
          </p:cNvPr>
          <p:cNvSpPr>
            <a:spLocks noGrp="1"/>
          </p:cNvSpPr>
          <p:nvPr>
            <p:ph type="title"/>
          </p:nvPr>
        </p:nvSpPr>
        <p:spPr/>
        <p:txBody>
          <a:bodyPr/>
          <a:lstStyle/>
          <a:p>
            <a:r>
              <a:rPr lang="en-US" dirty="0"/>
              <a:t>Cooling System Service (3 of 4)</a:t>
            </a:r>
          </a:p>
        </p:txBody>
      </p:sp>
      <p:sp>
        <p:nvSpPr>
          <p:cNvPr id="6" name="Text Placeholder 5">
            <a:extLst>
              <a:ext uri="{FF2B5EF4-FFF2-40B4-BE49-F238E27FC236}">
                <a16:creationId xmlns:a16="http://schemas.microsoft.com/office/drawing/2014/main" id="{E229A708-35D2-795F-49B5-BB9A43BA1336}"/>
              </a:ext>
            </a:extLst>
          </p:cNvPr>
          <p:cNvSpPr>
            <a:spLocks noGrp="1"/>
          </p:cNvSpPr>
          <p:nvPr>
            <p:ph type="body" idx="1"/>
          </p:nvPr>
        </p:nvSpPr>
        <p:spPr/>
        <p:txBody>
          <a:bodyPr/>
          <a:lstStyle/>
          <a:p>
            <a:r>
              <a:rPr lang="en-US" sz="2000" dirty="0"/>
              <a:t>Repairing and Replacing Radiators</a:t>
            </a:r>
          </a:p>
          <a:p>
            <a:r>
              <a:rPr lang="en-US" sz="2000" dirty="0"/>
              <a:t>Most radiator leak repairs require the removal and replacement of the radiator.</a:t>
            </a:r>
          </a:p>
          <a:p>
            <a:r>
              <a:rPr lang="en-US" sz="2000" dirty="0"/>
              <a:t>Many vehicles with automatic transmissions have fluid cooler lines attached to the radiator. Place a separate drain pan under the transmission cooler lines when removing.</a:t>
            </a:r>
          </a:p>
          <a:p>
            <a:r>
              <a:rPr lang="en-US" sz="2000" dirty="0"/>
              <a:t>Remember to check and top off the transmission fluid after the cooling system is repaired. Many of today’s radiators have aluminum cores and plastic tanks, which are not repaired. If these tanks leak, they are replaced.</a:t>
            </a:r>
          </a:p>
          <a:p>
            <a:r>
              <a:rPr lang="en-US" sz="2000" dirty="0"/>
              <a:t>If the radiator is badly damaged, it should be replaced.</a:t>
            </a:r>
          </a:p>
          <a:p>
            <a:r>
              <a:rPr lang="en-US" sz="2000" dirty="0"/>
              <a:t>The actual radiator repair procedures depend on its construction and the type of damage. Most repairs are made by radiator specialty shops whose technicians have knowledge of such work.</a:t>
            </a:r>
          </a:p>
          <a:p>
            <a:r>
              <a:rPr lang="en-US" sz="2000" dirty="0"/>
              <a:t>Exercise caution when working with radiators, the aluminum is very sharp.</a:t>
            </a:r>
          </a:p>
        </p:txBody>
      </p:sp>
    </p:spTree>
    <p:extLst>
      <p:ext uri="{BB962C8B-B14F-4D97-AF65-F5344CB8AC3E}">
        <p14:creationId xmlns:p14="http://schemas.microsoft.com/office/powerpoint/2010/main" val="3480387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2B2E79A-6C13-BC17-BF87-1D7C944CC720}"/>
              </a:ext>
            </a:extLst>
          </p:cNvPr>
          <p:cNvSpPr>
            <a:spLocks noGrp="1"/>
          </p:cNvSpPr>
          <p:nvPr>
            <p:ph type="title"/>
          </p:nvPr>
        </p:nvSpPr>
        <p:spPr/>
        <p:txBody>
          <a:bodyPr/>
          <a:lstStyle/>
          <a:p>
            <a:r>
              <a:rPr lang="en-US" dirty="0"/>
              <a:t>Cooling System Service (4 of 4)</a:t>
            </a:r>
          </a:p>
        </p:txBody>
      </p:sp>
      <p:sp>
        <p:nvSpPr>
          <p:cNvPr id="6" name="Text Placeholder 5">
            <a:extLst>
              <a:ext uri="{FF2B5EF4-FFF2-40B4-BE49-F238E27FC236}">
                <a16:creationId xmlns:a16="http://schemas.microsoft.com/office/drawing/2014/main" id="{0D7BE6CC-B793-8577-1A42-C9A972469452}"/>
              </a:ext>
            </a:extLst>
          </p:cNvPr>
          <p:cNvSpPr>
            <a:spLocks noGrp="1"/>
          </p:cNvSpPr>
          <p:nvPr>
            <p:ph type="body" idx="1"/>
          </p:nvPr>
        </p:nvSpPr>
        <p:spPr>
          <a:xfrm>
            <a:off x="476843" y="1396108"/>
            <a:ext cx="11241915" cy="4715047"/>
          </a:xfrm>
        </p:spPr>
        <p:txBody>
          <a:bodyPr/>
          <a:lstStyle/>
          <a:p>
            <a:r>
              <a:rPr lang="en-US" sz="1800" dirty="0"/>
              <a:t>When replacing a water pump, make sure the replacement is the correct one.</a:t>
            </a:r>
          </a:p>
          <a:p>
            <a:r>
              <a:rPr lang="en-US" sz="1800" dirty="0"/>
              <a:t>Before replacing a water pump, the cooling system should be drained. Remove all parts that will interfere with the removal of the pump. This includes the drive belts, fan, fan clutch, fan shroud, and pump pulley. Special fan clutch tools are often required to remove the fan from water pump shaft.</a:t>
            </a:r>
          </a:p>
          <a:p>
            <a:r>
              <a:rPr lang="en-US" sz="1800" dirty="0"/>
              <a:t>Most pumps are bolted to the block. Loosen and remove the bolts in a crisscross pattern from the center outward. Insert a rag into the block opening and scrape off any remains of the old gasket.</a:t>
            </a:r>
          </a:p>
          <a:p>
            <a:r>
              <a:rPr lang="en-US" sz="1800" dirty="0"/>
              <a:t>When replacing a water pump, always follow the procedures given by the manufacturer.</a:t>
            </a:r>
          </a:p>
          <a:p>
            <a:r>
              <a:rPr lang="en-US" sz="1800" dirty="0"/>
              <a:t>Most often, a coating of adhesive is applied to a new gasket before it is placed into position on the water pump.</a:t>
            </a:r>
          </a:p>
          <a:p>
            <a:r>
              <a:rPr lang="en-US" sz="1800" dirty="0"/>
              <a:t>Some pumps are sealed to the block with an O-ring. Make sure the O-ring groove in the block is clean. When installing the O-ring, make sure it is totally inserted in the groove. Lubricate the O-ring to prevent it from tearing during installation.</a:t>
            </a:r>
          </a:p>
          <a:p>
            <a:r>
              <a:rPr lang="en-US" sz="1800" dirty="0"/>
              <a:t>Install the bolts and tighten them evenly in a sequence to the torque specification.</a:t>
            </a:r>
          </a:p>
        </p:txBody>
      </p:sp>
    </p:spTree>
    <p:extLst>
      <p:ext uri="{BB962C8B-B14F-4D97-AF65-F5344CB8AC3E}">
        <p14:creationId xmlns:p14="http://schemas.microsoft.com/office/powerpoint/2010/main" val="8184681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Draining the Coolant </a:t>
            </a:r>
          </a:p>
        </p:txBody>
      </p:sp>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476843" y="1471264"/>
            <a:ext cx="7151508" cy="4669892"/>
          </a:xfrm>
        </p:spPr>
        <p:txBody>
          <a:bodyPr/>
          <a:lstStyle/>
          <a:p>
            <a:pPr>
              <a:spcAft>
                <a:spcPts val="600"/>
              </a:spcAft>
            </a:pPr>
            <a:r>
              <a:rPr lang="en-US" sz="2000" dirty="0"/>
              <a:t>Part of a preventive maintenance program is changing the engine’s coolant which is done to prevent the coolant from breaking down chemically.</a:t>
            </a:r>
          </a:p>
          <a:p>
            <a:pPr>
              <a:spcAft>
                <a:spcPts val="600"/>
              </a:spcAft>
            </a:pPr>
            <a:r>
              <a:rPr lang="en-US" sz="2000" dirty="0"/>
              <a:t>Most radiators have a drain plug located in the lower part of a tank. Some have a petcock valve.</a:t>
            </a:r>
          </a:p>
          <a:p>
            <a:pPr>
              <a:spcAft>
                <a:spcPts val="600"/>
              </a:spcAft>
            </a:pPr>
            <a:r>
              <a:rPr lang="en-US" sz="2000" dirty="0"/>
              <a:t>If the radiator does not have a drain plug, remove the lower radiator hose. Be careful not to force the hose away from the radiator.</a:t>
            </a:r>
          </a:p>
          <a:p>
            <a:pPr>
              <a:spcAft>
                <a:spcPts val="600"/>
              </a:spcAft>
            </a:pPr>
            <a:r>
              <a:rPr lang="en-US" sz="2000" dirty="0"/>
              <a:t>Additional coolant can be drained through drain plugs in the engine block. </a:t>
            </a:r>
          </a:p>
          <a:p>
            <a:pPr>
              <a:spcAft>
                <a:spcPts val="600"/>
              </a:spcAft>
            </a:pPr>
            <a:r>
              <a:rPr lang="en-US" sz="2000" dirty="0"/>
              <a:t>Place the catch can below the drain plug and remove the plug.</a:t>
            </a:r>
          </a:p>
        </p:txBody>
      </p:sp>
      <p:pic>
        <p:nvPicPr>
          <p:cNvPr id="5" name="Picture Placeholder 4" descr="A technician uses a spanner to loosen a drain plug in the engine block.">
            <a:extLst>
              <a:ext uri="{FF2B5EF4-FFF2-40B4-BE49-F238E27FC236}">
                <a16:creationId xmlns:a16="http://schemas.microsoft.com/office/drawing/2014/main" id="{08F781F9-C86B-47FD-901A-D1741ECF8BC2}"/>
              </a:ext>
            </a:extLst>
          </p:cNvPr>
          <p:cNvPicPr>
            <a:picLocks noGrp="1" noChangeAspect="1"/>
          </p:cNvPicPr>
          <p:nvPr>
            <p:ph type="pic" sz="quarter" idx="10"/>
          </p:nvPr>
        </p:nvPicPr>
        <p:blipFill>
          <a:blip r:embed="rId2"/>
          <a:srcRect b="13315"/>
          <a:stretch/>
        </p:blipFill>
        <p:spPr>
          <a:xfrm>
            <a:off x="7584474" y="1953658"/>
            <a:ext cx="4480048" cy="2977938"/>
          </a:xfrm>
          <a:prstGeom prst="rect">
            <a:avLst/>
          </a:prstGeom>
        </p:spPr>
      </p:pic>
    </p:spTree>
    <p:extLst>
      <p:ext uri="{BB962C8B-B14F-4D97-AF65-F5344CB8AC3E}">
        <p14:creationId xmlns:p14="http://schemas.microsoft.com/office/powerpoint/2010/main" val="4274359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CE3CAD0-7300-737F-64FA-94EC9C268D25}"/>
              </a:ext>
            </a:extLst>
          </p:cNvPr>
          <p:cNvSpPr>
            <a:spLocks noGrp="1"/>
          </p:cNvSpPr>
          <p:nvPr>
            <p:ph type="title"/>
          </p:nvPr>
        </p:nvSpPr>
        <p:spPr/>
        <p:txBody>
          <a:bodyPr/>
          <a:lstStyle/>
          <a:p>
            <a:r>
              <a:rPr lang="en-US" dirty="0"/>
              <a:t>Refilling and Bleeding</a:t>
            </a:r>
          </a:p>
        </p:txBody>
      </p:sp>
      <p:sp>
        <p:nvSpPr>
          <p:cNvPr id="6" name="Text Placeholder 5">
            <a:extLst>
              <a:ext uri="{FF2B5EF4-FFF2-40B4-BE49-F238E27FC236}">
                <a16:creationId xmlns:a16="http://schemas.microsoft.com/office/drawing/2014/main" id="{4C29293B-7FB1-DB34-1C64-9431CA20207B}"/>
              </a:ext>
            </a:extLst>
          </p:cNvPr>
          <p:cNvSpPr>
            <a:spLocks noGrp="1"/>
          </p:cNvSpPr>
          <p:nvPr>
            <p:ph type="body" idx="1"/>
          </p:nvPr>
        </p:nvSpPr>
        <p:spPr/>
        <p:txBody>
          <a:bodyPr/>
          <a:lstStyle/>
          <a:p>
            <a:r>
              <a:rPr lang="en-US" sz="1800" dirty="0"/>
              <a:t>After the cooling system has been drained and all services performed, the system needs to be refilled with the proper type and mixture of coolant.</a:t>
            </a:r>
            <a:br>
              <a:rPr lang="en-US" sz="1800" dirty="0"/>
            </a:br>
            <a:r>
              <a:rPr lang="en-US" sz="1800" dirty="0"/>
              <a:t>It is important that the correct type is put into the system, and the color of the coolant does not necessarily indicate its purpose.</a:t>
            </a:r>
          </a:p>
          <a:p>
            <a:r>
              <a:rPr lang="en-US" sz="1800" dirty="0"/>
              <a:t>Fill the system with the correct coolant, then loosely install the radiator cap. Run the engine until it reaches operating temperature.</a:t>
            </a:r>
          </a:p>
          <a:p>
            <a:r>
              <a:rPr lang="en-US" sz="1800" dirty="0"/>
              <a:t>Then turn it off and correct the level of the coolant. Tighten the radiator cap and run the engine again and check for leaks. When refilling the system, be sure you get it completely full. </a:t>
            </a:r>
          </a:p>
          <a:p>
            <a:r>
              <a:rPr lang="en-US" sz="1800" dirty="0"/>
              <a:t>Some systems are difficult to fill without trapping air. Air pockets in the head(s), heater core, and below the thermostat can prevent proper coolant flow and cooling.</a:t>
            </a:r>
          </a:p>
          <a:p>
            <a:r>
              <a:rPr lang="en-US" sz="1800" dirty="0"/>
              <a:t>Sometimes jacking up the front of the car will raise the radiator cap higher than the rest of the cooling system which helps to bleed air out of stubborn systems.</a:t>
            </a:r>
          </a:p>
          <a:p>
            <a:r>
              <a:rPr lang="en-US" sz="1800" dirty="0"/>
              <a:t>Each vehicle may its own specific bleeding procedure.</a:t>
            </a:r>
          </a:p>
          <a:p>
            <a:r>
              <a:rPr lang="en-US" sz="1800" dirty="0"/>
              <a:t>Some engines have air bleed valves located at the high point in the system.</a:t>
            </a:r>
          </a:p>
        </p:txBody>
      </p:sp>
    </p:spTree>
    <p:extLst>
      <p:ext uri="{BB962C8B-B14F-4D97-AF65-F5344CB8AC3E}">
        <p14:creationId xmlns:p14="http://schemas.microsoft.com/office/powerpoint/2010/main" val="388816644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B6714C-4BD0-33CB-605C-796699DF0AC6}"/>
              </a:ext>
            </a:extLst>
          </p:cNvPr>
          <p:cNvSpPr>
            <a:spLocks noGrp="1"/>
          </p:cNvSpPr>
          <p:nvPr>
            <p:ph type="title"/>
          </p:nvPr>
        </p:nvSpPr>
        <p:spPr/>
        <p:txBody>
          <a:bodyPr/>
          <a:lstStyle/>
          <a:p>
            <a:r>
              <a:rPr lang="en-US" dirty="0"/>
              <a:t>Special Precautions for Hybrid and Electric Vehicles</a:t>
            </a:r>
          </a:p>
        </p:txBody>
      </p:sp>
      <p:sp>
        <p:nvSpPr>
          <p:cNvPr id="6" name="Text Placeholder 5">
            <a:extLst>
              <a:ext uri="{FF2B5EF4-FFF2-40B4-BE49-F238E27FC236}">
                <a16:creationId xmlns:a16="http://schemas.microsoft.com/office/drawing/2014/main" id="{EFB6B823-C499-1E09-5D38-A6B99BF742BE}"/>
              </a:ext>
            </a:extLst>
          </p:cNvPr>
          <p:cNvSpPr>
            <a:spLocks noGrp="1"/>
          </p:cNvSpPr>
          <p:nvPr>
            <p:ph type="body" idx="1"/>
          </p:nvPr>
        </p:nvSpPr>
        <p:spPr/>
        <p:txBody>
          <a:bodyPr/>
          <a:lstStyle/>
          <a:p>
            <a:pPr>
              <a:spcAft>
                <a:spcPts val="600"/>
              </a:spcAft>
            </a:pPr>
            <a:r>
              <a:rPr lang="en-US" sz="1800" dirty="0"/>
              <a:t>Special coolants are required in most hybrids which often have two different cooling system circuits.</a:t>
            </a:r>
          </a:p>
          <a:p>
            <a:pPr>
              <a:spcAft>
                <a:spcPts val="600"/>
              </a:spcAft>
            </a:pPr>
            <a:r>
              <a:rPr lang="en-US" sz="1800" dirty="0"/>
              <a:t>On some, one coolant cools both the engine and the converter/inverter assembly.</a:t>
            </a:r>
          </a:p>
          <a:p>
            <a:pPr>
              <a:spcAft>
                <a:spcPts val="600"/>
              </a:spcAft>
            </a:pPr>
            <a:r>
              <a:rPr lang="en-US" sz="1800" dirty="0"/>
              <a:t>Cooling the converter/ inverter is important, and checking its coolant condition and level is an additional check during preventive maintenance.</a:t>
            </a:r>
          </a:p>
          <a:p>
            <a:pPr>
              <a:spcAft>
                <a:spcPts val="600"/>
              </a:spcAft>
            </a:pPr>
            <a:r>
              <a:rPr lang="en-US" sz="1800" dirty="0"/>
              <a:t>The cooling systems used in some hybrids feature electric pumps and storage tanks. The tanks store heated coolant and can cause injury if the technician is not aware of how to carefully check them.</a:t>
            </a:r>
          </a:p>
          <a:p>
            <a:pPr>
              <a:spcAft>
                <a:spcPts val="600"/>
              </a:spcAft>
            </a:pPr>
            <a:r>
              <a:rPr lang="en-US" sz="1800" dirty="0"/>
              <a:t>To properly service the cooling systems on many hybrid vehicles, you will need a scan tool and the correct service information to perform even a coolant drain and refill.</a:t>
            </a:r>
          </a:p>
          <a:p>
            <a:pPr>
              <a:spcAft>
                <a:spcPts val="600"/>
              </a:spcAft>
            </a:pPr>
            <a:r>
              <a:rPr lang="en-US" sz="1800" dirty="0"/>
              <a:t>Battery cooling systems on electric vehicles (EVs) do not require the same service as those for combustion engines but do require knowledge of how the systems operate and proper service procedures.</a:t>
            </a:r>
          </a:p>
        </p:txBody>
      </p:sp>
    </p:spTree>
    <p:extLst>
      <p:ext uri="{BB962C8B-B14F-4D97-AF65-F5344CB8AC3E}">
        <p14:creationId xmlns:p14="http://schemas.microsoft.com/office/powerpoint/2010/main" val="1457660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1314516-526D-113F-1A60-34B5E8DC6208}"/>
              </a:ext>
            </a:extLst>
          </p:cNvPr>
          <p:cNvSpPr>
            <a:spLocks noGrp="1"/>
          </p:cNvSpPr>
          <p:nvPr>
            <p:ph type="title"/>
          </p:nvPr>
        </p:nvSpPr>
        <p:spPr/>
        <p:txBody>
          <a:bodyPr/>
          <a:lstStyle/>
          <a:p>
            <a:r>
              <a:rPr lang="en-US" dirty="0"/>
              <a:t>Knowledge </a:t>
            </a:r>
            <a:r>
              <a:rPr lang="en-US"/>
              <a:t>Check (2 of 2)</a:t>
            </a:r>
            <a:endParaRPr lang="en-US" dirty="0"/>
          </a:p>
        </p:txBody>
      </p:sp>
      <p:sp>
        <p:nvSpPr>
          <p:cNvPr id="6" name="Text Placeholder 5">
            <a:extLst>
              <a:ext uri="{FF2B5EF4-FFF2-40B4-BE49-F238E27FC236}">
                <a16:creationId xmlns:a16="http://schemas.microsoft.com/office/drawing/2014/main" id="{48E95911-44C3-ACCC-9281-60F416A389F1}"/>
              </a:ext>
            </a:extLst>
          </p:cNvPr>
          <p:cNvSpPr>
            <a:spLocks noGrp="1"/>
          </p:cNvSpPr>
          <p:nvPr>
            <p:ph type="body" idx="1"/>
          </p:nvPr>
        </p:nvSpPr>
        <p:spPr/>
        <p:txBody>
          <a:bodyPr/>
          <a:lstStyle/>
          <a:p>
            <a:r>
              <a:rPr lang="en-US" dirty="0"/>
              <a:t>What would be the likely symptom of a vehicle with a stuck open thermostat?</a:t>
            </a:r>
          </a:p>
        </p:txBody>
      </p:sp>
    </p:spTree>
    <p:extLst>
      <p:ext uri="{BB962C8B-B14F-4D97-AF65-F5344CB8AC3E}">
        <p14:creationId xmlns:p14="http://schemas.microsoft.com/office/powerpoint/2010/main" val="31208757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D6C41E-3204-B87F-6944-90FB1346770F}"/>
              </a:ext>
            </a:extLst>
          </p:cNvPr>
          <p:cNvSpPr>
            <a:spLocks noGrp="1"/>
          </p:cNvSpPr>
          <p:nvPr>
            <p:ph type="title"/>
          </p:nvPr>
        </p:nvSpPr>
        <p:spPr/>
        <p:txBody>
          <a:bodyPr/>
          <a:lstStyle/>
          <a:p>
            <a:r>
              <a:rPr lang="en-US" dirty="0"/>
              <a:t>Knowledge Check </a:t>
            </a:r>
            <a:r>
              <a:rPr lang="en-US"/>
              <a:t>Answer (2 of 2)</a:t>
            </a:r>
            <a:endParaRPr lang="en-US" dirty="0"/>
          </a:p>
        </p:txBody>
      </p:sp>
      <p:sp>
        <p:nvSpPr>
          <p:cNvPr id="6" name="Text Placeholder 5">
            <a:extLst>
              <a:ext uri="{FF2B5EF4-FFF2-40B4-BE49-F238E27FC236}">
                <a16:creationId xmlns:a16="http://schemas.microsoft.com/office/drawing/2014/main" id="{DC06906C-5586-C1A7-6E7B-7B676429E32F}"/>
              </a:ext>
            </a:extLst>
          </p:cNvPr>
          <p:cNvSpPr>
            <a:spLocks noGrp="1"/>
          </p:cNvSpPr>
          <p:nvPr>
            <p:ph type="body" idx="1"/>
          </p:nvPr>
        </p:nvSpPr>
        <p:spPr/>
        <p:txBody>
          <a:bodyPr/>
          <a:lstStyle/>
          <a:p>
            <a:pPr>
              <a:spcAft>
                <a:spcPts val="600"/>
              </a:spcAft>
            </a:pPr>
            <a:r>
              <a:rPr lang="en-US" sz="2400" dirty="0"/>
              <a:t>It would not reach full operating temperature, and the heat may blow cold inside the vehicle.</a:t>
            </a:r>
          </a:p>
          <a:p>
            <a:pPr>
              <a:spcAft>
                <a:spcPts val="600"/>
              </a:spcAft>
            </a:pPr>
            <a:r>
              <a:rPr lang="en-US" sz="2400" dirty="0"/>
              <a:t>Thermostats are often the cause of overheating or poor heater performance.</a:t>
            </a:r>
          </a:p>
          <a:p>
            <a:pPr>
              <a:spcAft>
                <a:spcPts val="600"/>
              </a:spcAft>
            </a:pPr>
            <a:r>
              <a:rPr lang="en-US" sz="2400" dirty="0"/>
              <a:t>They can also cause an increase in fuel consumption and poor engine performance.</a:t>
            </a:r>
          </a:p>
          <a:p>
            <a:pPr>
              <a:spcAft>
                <a:spcPts val="600"/>
              </a:spcAft>
            </a:pPr>
            <a:r>
              <a:rPr lang="en-US" sz="2400" dirty="0"/>
              <a:t>If the thermostat is stuck open, the coolant may not reach the desired temperature because it is cooled before it gets hot.</a:t>
            </a:r>
          </a:p>
          <a:p>
            <a:pPr>
              <a:spcAft>
                <a:spcPts val="600"/>
              </a:spcAft>
            </a:pPr>
            <a:r>
              <a:rPr lang="en-US" sz="2400" dirty="0"/>
              <a:t>Often, a P0128 DTC will be stored in the PCM if the thermostat is stuck open or opens too soon.</a:t>
            </a:r>
          </a:p>
        </p:txBody>
      </p:sp>
    </p:spTree>
    <p:extLst>
      <p:ext uri="{BB962C8B-B14F-4D97-AF65-F5344CB8AC3E}">
        <p14:creationId xmlns:p14="http://schemas.microsoft.com/office/powerpoint/2010/main" val="297439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0E833-15F2-628E-C755-B1A137D764B0}"/>
              </a:ext>
            </a:extLst>
          </p:cNvPr>
          <p:cNvSpPr>
            <a:spLocks noGrp="1"/>
          </p:cNvSpPr>
          <p:nvPr>
            <p:ph type="title"/>
          </p:nvPr>
        </p:nvSpPr>
        <p:spPr/>
        <p:txBody>
          <a:bodyPr/>
          <a:lstStyle/>
          <a:p>
            <a:r>
              <a:rPr lang="en-US" dirty="0"/>
              <a:t>Coolant Exchangers</a:t>
            </a:r>
          </a:p>
        </p:txBody>
      </p:sp>
      <p:pic>
        <p:nvPicPr>
          <p:cNvPr id="5" name="Picture Placeholder 4" descr="A technician uses a coolant exchanger with two large cans of used coolant and new coolant, connected to the exchanger by a hose.">
            <a:extLst>
              <a:ext uri="{FF2B5EF4-FFF2-40B4-BE49-F238E27FC236}">
                <a16:creationId xmlns:a16="http://schemas.microsoft.com/office/drawing/2014/main" id="{BA173796-7781-095D-522B-3B3CA9242332}"/>
              </a:ext>
            </a:extLst>
          </p:cNvPr>
          <p:cNvPicPr>
            <a:picLocks noGrp="1" noChangeAspect="1"/>
          </p:cNvPicPr>
          <p:nvPr>
            <p:ph type="pic" sz="quarter" idx="10"/>
          </p:nvPr>
        </p:nvPicPr>
        <p:blipFill>
          <a:blip r:embed="rId2"/>
          <a:srcRect b="10204"/>
          <a:stretch/>
        </p:blipFill>
        <p:spPr>
          <a:xfrm>
            <a:off x="447419" y="1717455"/>
            <a:ext cx="4629411" cy="3738123"/>
          </a:xfrm>
          <a:prstGeom prst="rect">
            <a:avLst/>
          </a:prstGeom>
        </p:spPr>
      </p:pic>
      <p:sp>
        <p:nvSpPr>
          <p:cNvPr id="3" name="Text Placeholder 2">
            <a:extLst>
              <a:ext uri="{FF2B5EF4-FFF2-40B4-BE49-F238E27FC236}">
                <a16:creationId xmlns:a16="http://schemas.microsoft.com/office/drawing/2014/main" id="{C77CB4A8-37D5-0222-CEC9-5244960DBAD2}"/>
              </a:ext>
            </a:extLst>
          </p:cNvPr>
          <p:cNvSpPr>
            <a:spLocks noGrp="1"/>
          </p:cNvSpPr>
          <p:nvPr>
            <p:ph type="body" idx="1"/>
          </p:nvPr>
        </p:nvSpPr>
        <p:spPr>
          <a:xfrm>
            <a:off x="5249333" y="1471264"/>
            <a:ext cx="6321777" cy="4545714"/>
          </a:xfrm>
        </p:spPr>
        <p:txBody>
          <a:bodyPr/>
          <a:lstStyle/>
          <a:p>
            <a:pPr>
              <a:spcAft>
                <a:spcPts val="600"/>
              </a:spcAft>
            </a:pPr>
            <a:r>
              <a:rPr lang="en-US" dirty="0"/>
              <a:t>A coolant exchanger is used to remove old coolant from the system and replace it with new coolant at the correct mixture.</a:t>
            </a:r>
          </a:p>
          <a:p>
            <a:pPr>
              <a:spcAft>
                <a:spcPts val="600"/>
              </a:spcAft>
            </a:pPr>
            <a:r>
              <a:rPr lang="en-US" dirty="0"/>
              <a:t>Some coolant exchangers will also leak test the system and flush it.</a:t>
            </a:r>
          </a:p>
          <a:p>
            <a:pPr>
              <a:spcAft>
                <a:spcPts val="600"/>
              </a:spcAft>
            </a:pPr>
            <a:r>
              <a:rPr lang="en-US" dirty="0"/>
              <a:t>Coolant exchangers are normally powered by shop air.</a:t>
            </a:r>
          </a:p>
          <a:p>
            <a:pPr>
              <a:spcAft>
                <a:spcPts val="600"/>
              </a:spcAft>
            </a:pPr>
            <a:r>
              <a:rPr lang="en-US" dirty="0"/>
              <a:t>Most exchangers move through their cycles with the engine off.</a:t>
            </a:r>
          </a:p>
        </p:txBody>
      </p:sp>
    </p:spTree>
    <p:extLst>
      <p:ext uri="{BB962C8B-B14F-4D97-AF65-F5344CB8AC3E}">
        <p14:creationId xmlns:p14="http://schemas.microsoft.com/office/powerpoint/2010/main" val="33488212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F58288E-077F-840D-6461-1AE5AC409398}"/>
              </a:ext>
            </a:extLst>
          </p:cNvPr>
          <p:cNvSpPr>
            <a:spLocks noGrp="1"/>
          </p:cNvSpPr>
          <p:nvPr>
            <p:ph type="title"/>
          </p:nvPr>
        </p:nvSpPr>
        <p:spPr/>
        <p:txBody>
          <a:bodyPr/>
          <a:lstStyle/>
          <a:p>
            <a:r>
              <a:rPr lang="en-US" dirty="0"/>
              <a:t>Chapter Reflection </a:t>
            </a:r>
          </a:p>
        </p:txBody>
      </p:sp>
      <p:sp>
        <p:nvSpPr>
          <p:cNvPr id="9" name="Text Placeholder 8">
            <a:extLst>
              <a:ext uri="{FF2B5EF4-FFF2-40B4-BE49-F238E27FC236}">
                <a16:creationId xmlns:a16="http://schemas.microsoft.com/office/drawing/2014/main" id="{3E2A7700-8B19-E5D6-4007-2105DE13DBB0}"/>
              </a:ext>
            </a:extLst>
          </p:cNvPr>
          <p:cNvSpPr>
            <a:spLocks noGrp="1"/>
          </p:cNvSpPr>
          <p:nvPr>
            <p:ph type="body" idx="1"/>
          </p:nvPr>
        </p:nvSpPr>
        <p:spPr/>
        <p:txBody>
          <a:bodyPr/>
          <a:lstStyle/>
          <a:p>
            <a:pPr marL="0" indent="0">
              <a:spcAft>
                <a:spcPts val="600"/>
              </a:spcAft>
              <a:buNone/>
            </a:pPr>
            <a:r>
              <a:rPr lang="en-US" dirty="0"/>
              <a:t>Please take a moment to compare your perception of the cooling and lubrication systems before and after studying this chapter. Respond to the following questions in one or two paragraphs. Use 150</a:t>
            </a:r>
            <a:r>
              <a:rPr lang="en-US" b="1" dirty="0"/>
              <a:t>–</a:t>
            </a:r>
            <a:r>
              <a:rPr lang="en-US" dirty="0"/>
              <a:t>200 words in your reflection.</a:t>
            </a:r>
          </a:p>
          <a:p>
            <a:pPr>
              <a:spcAft>
                <a:spcPts val="600"/>
              </a:spcAft>
            </a:pPr>
            <a:r>
              <a:rPr lang="en-US" dirty="0"/>
              <a:t>Did you find anything about the lubrication system difficult to understand? How will you better your understanding?</a:t>
            </a:r>
          </a:p>
          <a:p>
            <a:pPr>
              <a:spcAft>
                <a:spcPts val="600"/>
              </a:spcAft>
            </a:pPr>
            <a:r>
              <a:rPr lang="en-US" dirty="0"/>
              <a:t>Did you find anything about the cooling system difficult to understand? How will you better your understanding?</a:t>
            </a:r>
          </a:p>
        </p:txBody>
      </p:sp>
    </p:spTree>
    <p:extLst>
      <p:ext uri="{BB962C8B-B14F-4D97-AF65-F5344CB8AC3E}">
        <p14:creationId xmlns:p14="http://schemas.microsoft.com/office/powerpoint/2010/main" val="223350066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4873</TotalTime>
  <Words>5039</Words>
  <Application>Microsoft Office PowerPoint</Application>
  <PresentationFormat>Widescreen</PresentationFormat>
  <Paragraphs>277</Paragraphs>
  <Slides>44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Work Sans</vt:lpstr>
      <vt:lpstr>Arial</vt:lpstr>
      <vt:lpstr>Calibri</vt:lpstr>
      <vt:lpstr>Optimized Template Master</vt:lpstr>
      <vt:lpstr>Automotive Technology: A Systems Approach, 8e</vt:lpstr>
      <vt:lpstr>Chapter Objectives (1 of 2)</vt:lpstr>
      <vt:lpstr>Chapter Objectives (2 of 2)</vt:lpstr>
      <vt:lpstr>Lubrication System (1 of 3)</vt:lpstr>
      <vt:lpstr>Lubrication System (2 of 3)</vt:lpstr>
      <vt:lpstr>Lubrication System (3 of 3)</vt:lpstr>
      <vt:lpstr>Types of Oil Pumps</vt:lpstr>
      <vt:lpstr>Rotor Type Oil Pumps</vt:lpstr>
      <vt:lpstr>Gear Type Oil Pumps </vt:lpstr>
      <vt:lpstr>Oil Pan or Sump</vt:lpstr>
      <vt:lpstr>Oil Filter</vt:lpstr>
      <vt:lpstr>Oil Coolers </vt:lpstr>
      <vt:lpstr>Oil Pressure Indicator </vt:lpstr>
      <vt:lpstr>Oil Consumption</vt:lpstr>
      <vt:lpstr>Sludge</vt:lpstr>
      <vt:lpstr>Flushing the System</vt:lpstr>
      <vt:lpstr>Discussion</vt:lpstr>
      <vt:lpstr>Cooling Systems (1 of 2)</vt:lpstr>
      <vt:lpstr>Cooling Systems (2 of 2)</vt:lpstr>
      <vt:lpstr>Thermostat</vt:lpstr>
      <vt:lpstr>Water Pump</vt:lpstr>
      <vt:lpstr>Radiator</vt:lpstr>
      <vt:lpstr>Hoses and Pipes </vt:lpstr>
      <vt:lpstr>Cooling Fans</vt:lpstr>
      <vt:lpstr>Cooling System Diagnosis (1 of 2)</vt:lpstr>
      <vt:lpstr>Cooling System Diagnosis (2 of 2)</vt:lpstr>
      <vt:lpstr>Inspection of Cooling System (1 of 3)</vt:lpstr>
      <vt:lpstr>Inspection of Cooling System (2 of 3)</vt:lpstr>
      <vt:lpstr>Inspection of Cooling System (3 of 3)</vt:lpstr>
      <vt:lpstr>Knowledge Check (1 of 2)</vt:lpstr>
      <vt:lpstr>Knowledge Check Answer (1 of 2)</vt:lpstr>
      <vt:lpstr>Testing for Leaks (1 of 2)</vt:lpstr>
      <vt:lpstr>Testing for Leaks (2 of 2)</vt:lpstr>
      <vt:lpstr>Cooling System Service (1 of 4)</vt:lpstr>
      <vt:lpstr>Cooling System Service (2 of 4)</vt:lpstr>
      <vt:lpstr>Cooling System Service (3 of 4)</vt:lpstr>
      <vt:lpstr>Cooling System Service (4 of 4)</vt:lpstr>
      <vt:lpstr>Draining the Coolant </vt:lpstr>
      <vt:lpstr>Refilling and Bleeding</vt:lpstr>
      <vt:lpstr>Special Precautions for Hybrid and Electric Vehicles</vt:lpstr>
      <vt:lpstr>Knowledge Check (2 of 2)</vt:lpstr>
      <vt:lpstr>Knowledge Check Answer (2 of 2)</vt:lpstr>
      <vt:lpstr>Coolant Exchangers</vt:lpstr>
      <vt:lpstr>Chapter Reflection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dc:title>
  <dc:creator>Owner</dc:creator>
  <cp:lastModifiedBy>DiCaterino, Kara</cp:lastModifiedBy>
  <cp:revision>171</cp:revision>
  <dcterms:created xsi:type="dcterms:W3CDTF">2021-12-10T16:21:02Z</dcterms:created>
  <dcterms:modified xsi:type="dcterms:W3CDTF">2024-10-24T13:06:07Z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