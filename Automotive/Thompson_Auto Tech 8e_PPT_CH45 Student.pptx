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49"/>
  </p:notesMasterIdLst>
  <p:handoutMasterIdLst>
    <p:handoutMasterId r:id="rId50"/>
  </p:handoutMasterIdLst>
  <p:sldIdLst>
    <p:sldId id="386" r:id="rId2"/>
    <p:sldId id="363" r:id="rId3"/>
    <p:sldId id="364" r:id="rId4"/>
    <p:sldId id="257" r:id="rId5"/>
    <p:sldId id="259" r:id="rId6"/>
    <p:sldId id="261" r:id="rId7"/>
    <p:sldId id="262" r:id="rId8"/>
    <p:sldId id="267" r:id="rId9"/>
    <p:sldId id="268" r:id="rId10"/>
    <p:sldId id="274" r:id="rId11"/>
    <p:sldId id="275" r:id="rId12"/>
    <p:sldId id="277" r:id="rId13"/>
    <p:sldId id="365" r:id="rId14"/>
    <p:sldId id="278" r:id="rId15"/>
    <p:sldId id="280" r:id="rId16"/>
    <p:sldId id="281" r:id="rId17"/>
    <p:sldId id="371" r:id="rId18"/>
    <p:sldId id="284" r:id="rId19"/>
    <p:sldId id="285" r:id="rId20"/>
    <p:sldId id="287" r:id="rId21"/>
    <p:sldId id="290" r:id="rId22"/>
    <p:sldId id="292" r:id="rId23"/>
    <p:sldId id="294" r:id="rId24"/>
    <p:sldId id="296" r:id="rId25"/>
    <p:sldId id="298" r:id="rId26"/>
    <p:sldId id="300" r:id="rId27"/>
    <p:sldId id="302" r:id="rId28"/>
    <p:sldId id="303" r:id="rId29"/>
    <p:sldId id="304" r:id="rId30"/>
    <p:sldId id="366" r:id="rId31"/>
    <p:sldId id="305" r:id="rId32"/>
    <p:sldId id="307" r:id="rId33"/>
    <p:sldId id="308" r:id="rId34"/>
    <p:sldId id="312" r:id="rId35"/>
    <p:sldId id="315" r:id="rId36"/>
    <p:sldId id="316" r:id="rId37"/>
    <p:sldId id="320" r:id="rId38"/>
    <p:sldId id="323" r:id="rId39"/>
    <p:sldId id="325" r:id="rId40"/>
    <p:sldId id="329" r:id="rId41"/>
    <p:sldId id="331" r:id="rId42"/>
    <p:sldId id="367" r:id="rId43"/>
    <p:sldId id="368" r:id="rId44"/>
    <p:sldId id="333" r:id="rId45"/>
    <p:sldId id="337" r:id="rId46"/>
    <p:sldId id="342" r:id="rId47"/>
    <p:sldId id="370" r:id="rId4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E" initials="CE" lastIdx="2" clrIdx="0">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2" autoAdjust="0"/>
    <p:restoredTop sz="85357" autoAdjust="0"/>
  </p:normalViewPr>
  <p:slideViewPr>
    <p:cSldViewPr>
      <p:cViewPr varScale="1">
        <p:scale>
          <a:sx n="63" d="100"/>
          <a:sy n="63" d="100"/>
        </p:scale>
        <p:origin x="780" y="56"/>
      </p:cViewPr>
      <p:guideLst>
        <p:guide orient="horz" pos="2160"/>
        <p:guide pos="3840"/>
      </p:guideLst>
    </p:cSldViewPr>
  </p:slideViewPr>
  <p:outlineViewPr>
    <p:cViewPr>
      <p:scale>
        <a:sx n="33" d="100"/>
        <a:sy n="33" d="100"/>
      </p:scale>
      <p:origin x="0" y="-2011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6035" cy="456873"/>
          </a:xfrm>
          <a:prstGeom prst="rect">
            <a:avLst/>
          </a:prstGeom>
          <a:noFill/>
          <a:ln>
            <a:noFill/>
          </a:ln>
        </p:spPr>
        <p:txBody>
          <a:bodyPr vert="horz" wrap="none" lIns="80766" tIns="40383" rIns="80766" bIns="40383" anchorCtr="0" compatLnSpc="0"/>
          <a:lstStyle/>
          <a:p>
            <a:pPr hangingPunct="0">
              <a:defRPr sz="1400"/>
            </a:pPr>
            <a:endParaRPr lang="en-US" sz="1300">
              <a:latin typeface="Arial" pitchFamily="18"/>
              <a:ea typeface="Microsoft YaHei" pitchFamily="2"/>
              <a:cs typeface="Mangal" pitchFamily="2"/>
            </a:endParaRPr>
          </a:p>
        </p:txBody>
      </p:sp>
      <p:sp>
        <p:nvSpPr>
          <p:cNvPr id="3" name="Date Placeholder 2"/>
          <p:cNvSpPr txBox="1">
            <a:spLocks noGrp="1"/>
          </p:cNvSpPr>
          <p:nvPr>
            <p:ph type="dt" sz="quarter" idx="1"/>
          </p:nvPr>
        </p:nvSpPr>
        <p:spPr>
          <a:xfrm>
            <a:off x="3881647" y="0"/>
            <a:ext cx="2976035" cy="456873"/>
          </a:xfrm>
          <a:prstGeom prst="rect">
            <a:avLst/>
          </a:prstGeom>
          <a:noFill/>
          <a:ln>
            <a:noFill/>
          </a:ln>
        </p:spPr>
        <p:txBody>
          <a:bodyPr vert="horz" wrap="none" lIns="80766" tIns="40383" rIns="80766" bIns="40383" anchorCtr="0" compatLnSpc="0"/>
          <a:lstStyle/>
          <a:p>
            <a:pPr algn="r" hangingPunct="0">
              <a:defRPr sz="1400"/>
            </a:pPr>
            <a:fld id="{D2DCF9B2-3170-4ED3-95E4-A82F7E37C9DA}" type="datetimeFigureOut">
              <a:t>12/4/2024</a:t>
            </a:fld>
            <a:endParaRPr lang="en-US" sz="1300">
              <a:latin typeface="Arial" pitchFamily="18"/>
              <a:ea typeface="Microsoft YaHei" pitchFamily="2"/>
              <a:cs typeface="Mangal" pitchFamily="2"/>
            </a:endParaRPr>
          </a:p>
        </p:txBody>
      </p:sp>
      <p:sp>
        <p:nvSpPr>
          <p:cNvPr id="4" name="Footer Placeholder 3"/>
          <p:cNvSpPr txBox="1">
            <a:spLocks noGrp="1"/>
          </p:cNvSpPr>
          <p:nvPr>
            <p:ph type="ftr" sz="quarter" idx="2"/>
          </p:nvPr>
        </p:nvSpPr>
        <p:spPr>
          <a:xfrm>
            <a:off x="0" y="8686800"/>
            <a:ext cx="2976035" cy="456873"/>
          </a:xfrm>
          <a:prstGeom prst="rect">
            <a:avLst/>
          </a:prstGeom>
          <a:noFill/>
          <a:ln>
            <a:noFill/>
          </a:ln>
        </p:spPr>
        <p:txBody>
          <a:bodyPr vert="horz" wrap="none" lIns="80766" tIns="40383" rIns="80766" bIns="40383" anchor="b" anchorCtr="0" compatLnSpc="0"/>
          <a:lstStyle/>
          <a:p>
            <a:pPr hangingPunct="0">
              <a:defRPr sz="1400"/>
            </a:pPr>
            <a:endParaRPr lang="en-US" sz="1300">
              <a:latin typeface="Arial" pitchFamily="18"/>
              <a:ea typeface="Microsoft YaHei" pitchFamily="2"/>
              <a:cs typeface="Mangal" pitchFamily="2"/>
            </a:endParaRPr>
          </a:p>
        </p:txBody>
      </p:sp>
      <p:sp>
        <p:nvSpPr>
          <p:cNvPr id="5" name="Slide Number Placeholder 4"/>
          <p:cNvSpPr txBox="1">
            <a:spLocks noGrp="1"/>
          </p:cNvSpPr>
          <p:nvPr>
            <p:ph type="sldNum" sz="quarter" idx="3"/>
          </p:nvPr>
        </p:nvSpPr>
        <p:spPr>
          <a:xfrm>
            <a:off x="3881647" y="8686800"/>
            <a:ext cx="2976035" cy="456873"/>
          </a:xfrm>
          <a:prstGeom prst="rect">
            <a:avLst/>
          </a:prstGeom>
          <a:noFill/>
          <a:ln>
            <a:noFill/>
          </a:ln>
        </p:spPr>
        <p:txBody>
          <a:bodyPr vert="horz" wrap="none" lIns="80766" tIns="40383" rIns="80766" bIns="40383" anchor="b" anchorCtr="0" compatLnSpc="0"/>
          <a:lstStyle/>
          <a:p>
            <a:pPr algn="r" hangingPunct="0">
              <a:defRPr sz="1400"/>
            </a:pPr>
            <a:fld id="{599D1AD4-7094-41FE-B446-67F459FA778A}" type="slidenum">
              <a:t>‹#›</a:t>
            </a:fld>
            <a:endParaRPr lang="en-US" sz="1300">
              <a:latin typeface="Arial" pitchFamily="18"/>
              <a:ea typeface="Microsoft YaHei" pitchFamily="2"/>
              <a:cs typeface="Mangal" pitchFamily="2"/>
            </a:endParaRPr>
          </a:p>
        </p:txBody>
      </p:sp>
    </p:spTree>
    <p:extLst>
      <p:ext uri="{BB962C8B-B14F-4D97-AF65-F5344CB8AC3E}">
        <p14:creationId xmlns:p14="http://schemas.microsoft.com/office/powerpoint/2010/main" val="11228575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533400" y="763588"/>
            <a:ext cx="6705600" cy="3771900"/>
          </a:xfrm>
          <a:prstGeom prst="rect">
            <a:avLst/>
          </a:prstGeom>
          <a:noFill/>
          <a:ln>
            <a:noFill/>
            <a:prstDash val="solid"/>
          </a:ln>
        </p:spPr>
      </p:sp>
      <p:sp>
        <p:nvSpPr>
          <p:cNvPr id="3" name="Notes Placeholder 2"/>
          <p:cNvSpPr txBox="1">
            <a:spLocks noGrp="1"/>
          </p:cNvSpPr>
          <p:nvPr>
            <p:ph type="body" sz="quarter" idx="3"/>
          </p:nvPr>
        </p:nvSpPr>
        <p:spPr>
          <a:xfrm>
            <a:off x="777239" y="4777560"/>
            <a:ext cx="6217560" cy="4525920"/>
          </a:xfrm>
          <a:prstGeom prst="rect">
            <a:avLst/>
          </a:prstGeom>
          <a:noFill/>
          <a:ln>
            <a:noFill/>
          </a:ln>
        </p:spPr>
        <p:txBody>
          <a:bodyPr lIns="0" tIns="0" rIns="0" bIns="0"/>
          <a:lstStyle/>
          <a:p>
            <a:endParaRPr lang="en-US"/>
          </a:p>
        </p:txBody>
      </p:sp>
      <p:sp>
        <p:nvSpPr>
          <p:cNvPr id="4" name="Header Placeholder 3"/>
          <p:cNvSpPr txBox="1">
            <a:spLocks noGrp="1"/>
          </p:cNvSpPr>
          <p:nvPr>
            <p:ph type="hdr" sz="quarter"/>
          </p:nvPr>
        </p:nvSpPr>
        <p:spPr>
          <a:xfrm>
            <a:off x="0" y="0"/>
            <a:ext cx="3372840" cy="502560"/>
          </a:xfrm>
          <a:prstGeom prst="rect">
            <a:avLst/>
          </a:prstGeom>
          <a:noFill/>
          <a:ln>
            <a:noFill/>
          </a:ln>
        </p:spPr>
        <p:txBody>
          <a:bodyPr lIns="0" tIns="0" rIns="0" bIns="0"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5" name="Date Placeholder 4"/>
          <p:cNvSpPr txBox="1">
            <a:spLocks noGrp="1"/>
          </p:cNvSpPr>
          <p:nvPr>
            <p:ph type="dt" idx="1"/>
          </p:nvPr>
        </p:nvSpPr>
        <p:spPr>
          <a:xfrm>
            <a:off x="4399200" y="0"/>
            <a:ext cx="3372840" cy="502560"/>
          </a:xfrm>
          <a:prstGeom prst="rect">
            <a:avLst/>
          </a:prstGeom>
          <a:noFill/>
          <a:ln>
            <a:noFill/>
          </a:ln>
        </p:spPr>
        <p:txBody>
          <a:bodyPr lIns="0" tIns="0" rIns="0" bIns="0" anchorCtr="0"/>
          <a:lstStyle>
            <a:lvl1pPr lvl="0" algn="r" rtl="0" hangingPunct="0">
              <a:buNone/>
              <a:tabLst/>
              <a:defRPr lang="en-US" sz="1400" kern="1200">
                <a:latin typeface="Times New Roman" pitchFamily="18"/>
                <a:ea typeface="Lucida Sans Unicode" pitchFamily="2"/>
                <a:cs typeface="Tahoma" pitchFamily="2"/>
              </a:defRPr>
            </a:lvl1pPr>
          </a:lstStyle>
          <a:p>
            <a:pPr lvl="0"/>
            <a:fld id="{B660FEDF-4D64-4783-AB6A-B3B00269DE4C}" type="datetimeFigureOut">
              <a:t>12/4/2024</a:t>
            </a:fld>
            <a:endParaRPr lang="en-US"/>
          </a:p>
        </p:txBody>
      </p:sp>
      <p:sp>
        <p:nvSpPr>
          <p:cNvPr id="6" name="Footer Placeholder 5"/>
          <p:cNvSpPr txBox="1">
            <a:spLocks noGrp="1"/>
          </p:cNvSpPr>
          <p:nvPr>
            <p:ph type="ftr" sz="quarter" idx="4"/>
          </p:nvPr>
        </p:nvSpPr>
        <p:spPr>
          <a:xfrm>
            <a:off x="0" y="9555480"/>
            <a:ext cx="3372840" cy="502560"/>
          </a:xfrm>
          <a:prstGeom prst="rect">
            <a:avLst/>
          </a:prstGeom>
          <a:noFill/>
          <a:ln>
            <a:noFill/>
          </a:ln>
        </p:spPr>
        <p:txBody>
          <a:bodyPr lIns="0" tIns="0" rIns="0" bIns="0" anchor="b"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7" name="Slide Number Placeholder 6"/>
          <p:cNvSpPr txBox="1">
            <a:spLocks noGrp="1"/>
          </p:cNvSpPr>
          <p:nvPr>
            <p:ph type="sldNum" sz="quarter" idx="5"/>
          </p:nvPr>
        </p:nvSpPr>
        <p:spPr>
          <a:xfrm>
            <a:off x="4399200" y="9555480"/>
            <a:ext cx="3372840" cy="502560"/>
          </a:xfrm>
          <a:prstGeom prst="rect">
            <a:avLst/>
          </a:prstGeom>
          <a:noFill/>
          <a:ln>
            <a:noFill/>
          </a:ln>
        </p:spPr>
        <p:txBody>
          <a:bodyPr lIns="0" tIns="0" rIns="0" bIns="0" anchor="b" anchorCtr="0"/>
          <a:lstStyle>
            <a:lvl1pPr lvl="0" algn="r" rtl="0" hangingPunct="0">
              <a:buNone/>
              <a:tabLst/>
              <a:defRPr lang="en-US" sz="1400" kern="1200">
                <a:latin typeface="Times New Roman" pitchFamily="18"/>
                <a:ea typeface="Lucida Sans Unicode" pitchFamily="2"/>
                <a:cs typeface="Tahoma" pitchFamily="2"/>
              </a:defRPr>
            </a:lvl1pPr>
          </a:lstStyle>
          <a:p>
            <a:pPr lvl="0"/>
            <a:fld id="{75510A24-E925-41F4-A0EA-2FCEA8C15814}" type="slidenum">
              <a:t>‹#›</a:t>
            </a:fld>
            <a:endParaRPr lang="en-US"/>
          </a:p>
        </p:txBody>
      </p:sp>
    </p:spTree>
    <p:extLst>
      <p:ext uri="{BB962C8B-B14F-4D97-AF65-F5344CB8AC3E}">
        <p14:creationId xmlns:p14="http://schemas.microsoft.com/office/powerpoint/2010/main" val="1199003142"/>
      </p:ext>
    </p:extLst>
  </p:cSld>
  <p:clrMap bg1="lt1" tx1="dk1" bg2="lt2" tx2="dk2" accent1="accent1" accent2="accent2" accent3="accent3" accent4="accent4" accent5="accent5" accent6="accent6" hlink="hlink" folHlink="folHlink"/>
  <p:notesStyle>
    <a:lvl1pPr marL="216000" marR="0" indent="-216000" rtl="0" hangingPunct="0">
      <a:tabLst/>
      <a:defRPr lang="en-US" sz="2000" b="0" i="0" u="none" strike="noStrike" kern="1200">
        <a:ln>
          <a:noFill/>
        </a:ln>
        <a:latin typeface="Arial" pitchFamily="18"/>
        <a:ea typeface="Microsoft YaHei"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113220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349209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719896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3555268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735810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332255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037828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634377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2697F704-F49E-4430-B974-0EF5B1DB5A17}" type="slidenum">
              <a:t>12</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40026979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2697F704-F49E-4430-B974-0EF5B1DB5A17}" type="slidenum">
              <a:t>13</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3462008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4472449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8439989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7245038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7317293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4686053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7844303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1098623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7116158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4257430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5871846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5498705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6421874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0193896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3261976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041608B1-1051-4A6D-BD3B-AF423DC0E2BC}" type="slidenum">
              <a:t>29</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11113592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041608B1-1051-4A6D-BD3B-AF423DC0E2BC}" type="slidenum">
              <a:t>30</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15330940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6572343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33862096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7187016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965779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4369742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6213246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5668720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0771787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7558179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344001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E6093406-D690-4404-B536-9B4BCD9A75A2}" type="slidenum">
              <a:t>41</a:t>
            </a:fld>
            <a:endParaRPr lang="en-US" sz="1800" dirty="0">
              <a:solidFill>
                <a:srgbClr val="000000"/>
              </a:solidFill>
              <a:ea typeface="+mn-ea" pitchFamily="2"/>
              <a:cs typeface="+mn-cs" pitchFamily="2"/>
            </a:endParaRPr>
          </a:p>
        </p:txBody>
      </p:sp>
      <p:sp>
        <p:nvSpPr>
          <p:cNvPr id="3" name="Slide Image Placeholder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4"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latin typeface="Times New Roman" pitchFamily="18"/>
            </a:endParaRPr>
          </a:p>
        </p:txBody>
      </p:sp>
    </p:spTree>
    <p:extLst>
      <p:ext uri="{BB962C8B-B14F-4D97-AF65-F5344CB8AC3E}">
        <p14:creationId xmlns:p14="http://schemas.microsoft.com/office/powerpoint/2010/main" val="31838481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13AAB6D2-F17A-4286-A13B-97A619D253A8}" type="slidenum">
              <a:t>42</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39235898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13AAB6D2-F17A-4286-A13B-97A619D253A8}" type="slidenum">
              <a:t>43</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31034718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7334253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5928178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98631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044143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709216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fld id="{25A87261-E110-45D5-BFAE-C8B19E3F8448}" type="datetime1">
              <a:rPr lang="en-US" smtClean="0"/>
              <a:pPr lvl="0"/>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pPr lvl="0"/>
            <a:fld id="{4C2B892A-786F-4AF3-8B9B-68EBAC62345B}" type="slidenum">
              <a:rPr lang="en-US" smtClean="0"/>
              <a:t>‹#›</a:t>
            </a:fld>
            <a:endParaRPr lang="en-US"/>
          </a:p>
        </p:txBody>
      </p:sp>
    </p:spTree>
    <p:extLst>
      <p:ext uri="{BB962C8B-B14F-4D97-AF65-F5344CB8AC3E}">
        <p14:creationId xmlns:p14="http://schemas.microsoft.com/office/powerpoint/2010/main" val="2963560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350"/>
          </a:p>
        </p:txBody>
      </p:sp>
    </p:spTree>
    <p:extLst>
      <p:ext uri="{BB962C8B-B14F-4D97-AF65-F5344CB8AC3E}">
        <p14:creationId xmlns:p14="http://schemas.microsoft.com/office/powerpoint/2010/main" val="3269318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495029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2825725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549188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169419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349232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935594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127476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708306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411429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9375619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Figur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399" y="457200"/>
            <a:ext cx="10362719" cy="1104072"/>
          </a:xfrm>
        </p:spPr>
        <p:txBody>
          <a:bodyPr anchor="ctr"/>
          <a:lstStyle>
            <a:lvl1pPr>
              <a:buNone/>
              <a:defRPr sz="4000"/>
            </a:lvl1pPr>
          </a:lstStyle>
          <a:p>
            <a:r>
              <a:rPr lang="en-US"/>
              <a:t>Click to edit Master title style</a:t>
            </a:r>
            <a:endParaRPr lang="ru-RU"/>
          </a:p>
        </p:txBody>
      </p:sp>
      <p:sp>
        <p:nvSpPr>
          <p:cNvPr id="3" name="Content Placeholder 2"/>
          <p:cNvSpPr>
            <a:spLocks noGrp="1"/>
          </p:cNvSpPr>
          <p:nvPr>
            <p:ph idx="1"/>
          </p:nvPr>
        </p:nvSpPr>
        <p:spPr>
          <a:xfrm>
            <a:off x="609600" y="1604520"/>
            <a:ext cx="10972320" cy="19768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ru-RU" dirty="0"/>
          </a:p>
        </p:txBody>
      </p:sp>
      <p:sp>
        <p:nvSpPr>
          <p:cNvPr id="4" name="Date Placeholder 3"/>
          <p:cNvSpPr>
            <a:spLocks noGrp="1"/>
          </p:cNvSpPr>
          <p:nvPr>
            <p:ph type="dt" sz="half" idx="10"/>
          </p:nvPr>
        </p:nvSpPr>
        <p:spPr/>
        <p:txBody>
          <a:bodyPr/>
          <a:lstStyle/>
          <a:p>
            <a:pPr lvl="0"/>
            <a:fld id="{25A87261-E110-45D5-BFAE-C8B19E3F8448}" type="datetime1">
              <a:rPr lang="en-US" smtClean="0"/>
              <a:pPr lvl="0"/>
              <a:t>12/4/2024</a:t>
            </a:fld>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4C2B892A-786F-4AF3-8B9B-68EBAC62345B}" type="slidenum">
              <a:t>‹#›</a:t>
            </a:fld>
            <a:endParaRPr lang="en-US"/>
          </a:p>
        </p:txBody>
      </p:sp>
      <p:sp>
        <p:nvSpPr>
          <p:cNvPr id="8" name="Picture Placeholder 7"/>
          <p:cNvSpPr>
            <a:spLocks noGrp="1"/>
          </p:cNvSpPr>
          <p:nvPr>
            <p:ph type="pic" sz="quarter" idx="13"/>
          </p:nvPr>
        </p:nvSpPr>
        <p:spPr>
          <a:xfrm>
            <a:off x="711200" y="3657600"/>
            <a:ext cx="2844800" cy="609600"/>
          </a:xfrm>
        </p:spPr>
        <p:txBody>
          <a:bodyPr/>
          <a:lstStyle/>
          <a:p>
            <a:endParaRPr lang="en-US"/>
          </a:p>
        </p:txBody>
      </p:sp>
      <p:sp>
        <p:nvSpPr>
          <p:cNvPr id="10" name="Picture Placeholder 9"/>
          <p:cNvSpPr>
            <a:spLocks noGrp="1"/>
          </p:cNvSpPr>
          <p:nvPr>
            <p:ph type="pic" sz="quarter" idx="14"/>
          </p:nvPr>
        </p:nvSpPr>
        <p:spPr>
          <a:xfrm>
            <a:off x="3962400" y="3733800"/>
            <a:ext cx="4267200" cy="609600"/>
          </a:xfrm>
        </p:spPr>
        <p:txBody>
          <a:bodyPr/>
          <a:lstStyle/>
          <a:p>
            <a:endParaRPr lang="en-US"/>
          </a:p>
        </p:txBody>
      </p:sp>
      <p:sp>
        <p:nvSpPr>
          <p:cNvPr id="12" name="Picture Placeholder 11"/>
          <p:cNvSpPr>
            <a:spLocks noGrp="1"/>
          </p:cNvSpPr>
          <p:nvPr>
            <p:ph type="pic" sz="quarter" idx="15"/>
          </p:nvPr>
        </p:nvSpPr>
        <p:spPr>
          <a:xfrm>
            <a:off x="8534400" y="3657600"/>
            <a:ext cx="2946400" cy="609600"/>
          </a:xfrm>
        </p:spPr>
        <p:txBody>
          <a:bodyPr/>
          <a:lstStyle/>
          <a:p>
            <a:endParaRPr lang="en-US"/>
          </a:p>
        </p:txBody>
      </p:sp>
      <p:sp>
        <p:nvSpPr>
          <p:cNvPr id="16" name="Content Placeholder 15"/>
          <p:cNvSpPr>
            <a:spLocks noGrp="1"/>
          </p:cNvSpPr>
          <p:nvPr>
            <p:ph sz="quarter" idx="17"/>
          </p:nvPr>
        </p:nvSpPr>
        <p:spPr>
          <a:xfrm>
            <a:off x="609600" y="5181600"/>
            <a:ext cx="11074400" cy="83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p:cNvSpPr>
            <a:spLocks noGrp="1"/>
          </p:cNvSpPr>
          <p:nvPr>
            <p:ph type="pic" sz="quarter" idx="18"/>
          </p:nvPr>
        </p:nvSpPr>
        <p:spPr>
          <a:xfrm>
            <a:off x="711200" y="4343400"/>
            <a:ext cx="1524000" cy="457200"/>
          </a:xfrm>
        </p:spPr>
        <p:txBody>
          <a:bodyPr/>
          <a:lstStyle/>
          <a:p>
            <a:endParaRPr lang="en-US"/>
          </a:p>
        </p:txBody>
      </p:sp>
      <p:sp>
        <p:nvSpPr>
          <p:cNvPr id="20" name="Picture Placeholder 19"/>
          <p:cNvSpPr>
            <a:spLocks noGrp="1"/>
          </p:cNvSpPr>
          <p:nvPr>
            <p:ph type="pic" sz="quarter" idx="19"/>
          </p:nvPr>
        </p:nvSpPr>
        <p:spPr>
          <a:xfrm>
            <a:off x="2743200" y="4419600"/>
            <a:ext cx="1727200" cy="457200"/>
          </a:xfrm>
        </p:spPr>
        <p:txBody>
          <a:bodyPr/>
          <a:lstStyle/>
          <a:p>
            <a:endParaRPr lang="en-US"/>
          </a:p>
        </p:txBody>
      </p:sp>
      <p:sp>
        <p:nvSpPr>
          <p:cNvPr id="22" name="Picture Placeholder 21"/>
          <p:cNvSpPr>
            <a:spLocks noGrp="1"/>
          </p:cNvSpPr>
          <p:nvPr>
            <p:ph type="pic" sz="quarter" idx="20"/>
          </p:nvPr>
        </p:nvSpPr>
        <p:spPr>
          <a:xfrm>
            <a:off x="4876800" y="4495800"/>
            <a:ext cx="2336800" cy="457200"/>
          </a:xfrm>
        </p:spPr>
        <p:txBody>
          <a:bodyPr/>
          <a:lstStyle/>
          <a:p>
            <a:endParaRPr lang="en-US"/>
          </a:p>
        </p:txBody>
      </p:sp>
      <p:sp>
        <p:nvSpPr>
          <p:cNvPr id="24" name="Picture Placeholder 23"/>
          <p:cNvSpPr>
            <a:spLocks noGrp="1"/>
          </p:cNvSpPr>
          <p:nvPr>
            <p:ph type="pic" sz="quarter" idx="21"/>
          </p:nvPr>
        </p:nvSpPr>
        <p:spPr>
          <a:xfrm>
            <a:off x="7823200" y="4572000"/>
            <a:ext cx="2133600" cy="381000"/>
          </a:xfrm>
        </p:spPr>
        <p:txBody>
          <a:bodyPr/>
          <a:lstStyle/>
          <a:p>
            <a:endParaRPr lang="en-US"/>
          </a:p>
        </p:txBody>
      </p:sp>
      <p:sp>
        <p:nvSpPr>
          <p:cNvPr id="26" name="Picture Placeholder 25"/>
          <p:cNvSpPr>
            <a:spLocks noGrp="1"/>
          </p:cNvSpPr>
          <p:nvPr>
            <p:ph type="pic" sz="quarter" idx="22"/>
          </p:nvPr>
        </p:nvSpPr>
        <p:spPr>
          <a:xfrm>
            <a:off x="10363200" y="4419600"/>
            <a:ext cx="1422400" cy="457200"/>
          </a:xfrm>
        </p:spPr>
        <p:txBody>
          <a:bodyPr/>
          <a:lstStyle/>
          <a:p>
            <a:endParaRPr lang="en-US"/>
          </a:p>
        </p:txBody>
      </p:sp>
    </p:spTree>
    <p:extLst>
      <p:ext uri="{BB962C8B-B14F-4D97-AF65-F5344CB8AC3E}">
        <p14:creationId xmlns:p14="http://schemas.microsoft.com/office/powerpoint/2010/main" val="8203323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2"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27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2"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563"/>
              </a:spcBef>
              <a:spcAft>
                <a:spcPts val="0"/>
              </a:spcAft>
              <a:buSzPts val="3200"/>
              <a:buNone/>
              <a:defRPr sz="1800">
                <a:solidFill>
                  <a:schemeClr val="lt1"/>
                </a:solidFill>
              </a:defRPr>
            </a:lvl1pPr>
            <a:lvl2pPr lvl="1" algn="ctr">
              <a:lnSpc>
                <a:spcPct val="100000"/>
              </a:lnSpc>
              <a:spcBef>
                <a:spcPts val="450"/>
              </a:spcBef>
              <a:spcAft>
                <a:spcPts val="0"/>
              </a:spcAft>
              <a:buSzPts val="2000"/>
              <a:buNone/>
              <a:defRPr sz="1125"/>
            </a:lvl2pPr>
            <a:lvl3pPr lvl="2" algn="ctr">
              <a:lnSpc>
                <a:spcPct val="100000"/>
              </a:lnSpc>
              <a:spcBef>
                <a:spcPts val="450"/>
              </a:spcBef>
              <a:spcAft>
                <a:spcPts val="0"/>
              </a:spcAft>
              <a:buSzPts val="1440"/>
              <a:buNone/>
              <a:defRPr sz="1013"/>
            </a:lvl3pPr>
            <a:lvl4pPr lvl="3" algn="ctr">
              <a:lnSpc>
                <a:spcPct val="90000"/>
              </a:lnSpc>
              <a:spcBef>
                <a:spcPts val="450"/>
              </a:spcBef>
              <a:spcAft>
                <a:spcPts val="0"/>
              </a:spcAft>
              <a:buSzPts val="1600"/>
              <a:buNone/>
              <a:defRPr sz="900"/>
            </a:lvl4pPr>
            <a:lvl5pPr lvl="4" algn="ctr">
              <a:lnSpc>
                <a:spcPct val="90000"/>
              </a:lnSpc>
              <a:spcBef>
                <a:spcPts val="281"/>
              </a:spcBef>
              <a:spcAft>
                <a:spcPts val="0"/>
              </a:spcAft>
              <a:buClr>
                <a:schemeClr val="accent1"/>
              </a:buClr>
              <a:buSzPts val="1600"/>
              <a:buNone/>
              <a:defRPr sz="900"/>
            </a:lvl5pPr>
            <a:lvl6pPr lvl="5" algn="ctr">
              <a:lnSpc>
                <a:spcPct val="90000"/>
              </a:lnSpc>
              <a:spcBef>
                <a:spcPts val="281"/>
              </a:spcBef>
              <a:spcAft>
                <a:spcPts val="0"/>
              </a:spcAft>
              <a:buClr>
                <a:schemeClr val="dk1"/>
              </a:buClr>
              <a:buSzPts val="1600"/>
              <a:buNone/>
              <a:defRPr sz="900"/>
            </a:lvl6pPr>
            <a:lvl7pPr lvl="6" algn="ctr">
              <a:lnSpc>
                <a:spcPct val="90000"/>
              </a:lnSpc>
              <a:spcBef>
                <a:spcPts val="281"/>
              </a:spcBef>
              <a:spcAft>
                <a:spcPts val="0"/>
              </a:spcAft>
              <a:buClr>
                <a:schemeClr val="dk1"/>
              </a:buClr>
              <a:buSzPts val="1600"/>
              <a:buNone/>
              <a:defRPr sz="900"/>
            </a:lvl7pPr>
            <a:lvl8pPr lvl="7" algn="ctr">
              <a:lnSpc>
                <a:spcPct val="90000"/>
              </a:lnSpc>
              <a:spcBef>
                <a:spcPts val="281"/>
              </a:spcBef>
              <a:spcAft>
                <a:spcPts val="0"/>
              </a:spcAft>
              <a:buClr>
                <a:schemeClr val="dk1"/>
              </a:buClr>
              <a:buSzPts val="1600"/>
              <a:buNone/>
              <a:defRPr sz="900"/>
            </a:lvl8pPr>
            <a:lvl9pPr lvl="8" algn="ctr">
              <a:lnSpc>
                <a:spcPct val="90000"/>
              </a:lnSpc>
              <a:spcBef>
                <a:spcPts val="281"/>
              </a:spcBef>
              <a:spcAft>
                <a:spcPts val="0"/>
              </a:spcAft>
              <a:buClr>
                <a:schemeClr val="dk1"/>
              </a:buClr>
              <a:buSzPts val="1600"/>
              <a:buNone/>
              <a:defRPr sz="900"/>
            </a:lvl9pPr>
          </a:lstStyle>
          <a:p>
            <a:r>
              <a:rPr lang="en-US"/>
              <a:t>Click to edit Master subtitle style</a:t>
            </a:r>
            <a:endParaRPr/>
          </a:p>
        </p:txBody>
      </p:sp>
      <p:sp>
        <p:nvSpPr>
          <p:cNvPr id="19" name="Google Shape;19;p48"/>
          <p:cNvSpPr>
            <a:spLocks noGrp="1"/>
          </p:cNvSpPr>
          <p:nvPr>
            <p:ph type="pic" idx="2"/>
          </p:nvPr>
        </p:nvSpPr>
        <p:spPr>
          <a:xfrm>
            <a:off x="475251" y="808041"/>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51427" tIns="25706" rIns="51427" bIns="25706" anchor="ctr" anchorCtr="0">
            <a:noAutofit/>
          </a:bodyPr>
          <a:lstStyle/>
          <a:p>
            <a:pPr marL="0" marR="0" lvl="0" indent="0" algn="r" rtl="0">
              <a:spcBef>
                <a:spcPts val="0"/>
              </a:spcBef>
              <a:spcAft>
                <a:spcPts val="0"/>
              </a:spcAft>
              <a:buNone/>
            </a:pPr>
            <a:fld id="{00000000-1234-1234-1234-123412341234}" type="slidenum">
              <a:rPr lang="en-US" sz="619">
                <a:solidFill>
                  <a:schemeClr val="lt1"/>
                </a:solidFill>
                <a:latin typeface="Work Sans"/>
                <a:ea typeface="Work Sans"/>
                <a:cs typeface="Work Sans"/>
                <a:sym typeface="Work Sans"/>
              </a:rPr>
              <a:pPr marL="0" marR="0" lvl="0" indent="0" algn="r" rtl="0">
                <a:spcBef>
                  <a:spcPts val="0"/>
                </a:spcBef>
                <a:spcAft>
                  <a:spcPts val="0"/>
                </a:spcAft>
                <a:buNone/>
              </a:pPr>
              <a:t>‹#›</a:t>
            </a:fld>
            <a:endParaRPr sz="619">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90" y="6223889"/>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2"/>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5742527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Content" preserve="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sz="4000">
                <a:latin typeface="Work Sans" pitchFamily="2"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Font typeface="Arial" panose="020B0604020202020204" pitchFamily="34" charset="0"/>
              <a:buChar char="•"/>
              <a:defRPr sz="2600"/>
            </a:lvl1pPr>
            <a:lvl2pPr marL="720725" lvl="1" indent="-360363" algn="l">
              <a:lnSpc>
                <a:spcPct val="100000"/>
              </a:lnSpc>
              <a:spcBef>
                <a:spcPts val="624"/>
              </a:spcBef>
              <a:spcAft>
                <a:spcPts val="600"/>
              </a:spcAft>
              <a:buSzPct val="100000"/>
              <a:buFont typeface="Arial" panose="020B0604020202020204" pitchFamily="34" charset="0"/>
              <a:buChar char="–"/>
              <a:defRPr sz="2400" b="0"/>
            </a:lvl2pPr>
            <a:lvl3pPr marL="1081088" lvl="2" indent="-360363" algn="l">
              <a:lnSpc>
                <a:spcPct val="100000"/>
              </a:lnSpc>
              <a:spcBef>
                <a:spcPts val="624"/>
              </a:spcBef>
              <a:spcAft>
                <a:spcPts val="600"/>
              </a:spcAft>
              <a:buClr>
                <a:schemeClr val="tx1"/>
              </a:buClr>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Tree>
    <p:extLst>
      <p:ext uri="{BB962C8B-B14F-4D97-AF65-F5344CB8AC3E}">
        <p14:creationId xmlns:p14="http://schemas.microsoft.com/office/powerpoint/2010/main" val="1704833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sz="4000">
                <a:latin typeface="Work Sans" pitchFamily="2"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7"/>
            <a:ext cx="11241915" cy="2551174"/>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Font typeface="Arial" panose="020B0604020202020204" pitchFamily="34" charset="0"/>
              <a:buChar char="•"/>
              <a:defRPr sz="2600"/>
            </a:lvl1pPr>
            <a:lvl2pPr marL="720725" lvl="1" indent="-360363" algn="l">
              <a:lnSpc>
                <a:spcPct val="100000"/>
              </a:lnSpc>
              <a:spcBef>
                <a:spcPts val="624"/>
              </a:spcBef>
              <a:spcAft>
                <a:spcPts val="600"/>
              </a:spcAft>
              <a:buSzPct val="100000"/>
              <a:buFont typeface="Arial" panose="020B0604020202020204" pitchFamily="34" charset="0"/>
              <a:buChar char="–"/>
              <a:defRPr sz="2400" b="0"/>
            </a:lvl2pPr>
            <a:lvl3pPr marL="1081088" lvl="2" indent="-360363" algn="l">
              <a:lnSpc>
                <a:spcPct val="100000"/>
              </a:lnSpc>
              <a:spcBef>
                <a:spcPts val="624"/>
              </a:spcBef>
              <a:spcAft>
                <a:spcPts val="600"/>
              </a:spcAft>
              <a:buClr>
                <a:schemeClr val="tx1"/>
              </a:buClr>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
        <p:nvSpPr>
          <p:cNvPr id="3" name="Content Placeholder 2">
            <a:extLst>
              <a:ext uri="{FF2B5EF4-FFF2-40B4-BE49-F238E27FC236}">
                <a16:creationId xmlns:a16="http://schemas.microsoft.com/office/drawing/2014/main" id="{433D668B-EAF2-EAA3-4C90-E3D45F08E6DE}"/>
              </a:ext>
            </a:extLst>
          </p:cNvPr>
          <p:cNvSpPr>
            <a:spLocks noGrp="1"/>
          </p:cNvSpPr>
          <p:nvPr>
            <p:ph sz="quarter" idx="10"/>
          </p:nvPr>
        </p:nvSpPr>
        <p:spPr>
          <a:xfrm>
            <a:off x="914400" y="45720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E64DB296-FCEE-8FCE-4CCC-A47EDF439FDF}"/>
              </a:ext>
            </a:extLst>
          </p:cNvPr>
          <p:cNvSpPr>
            <a:spLocks noGrp="1"/>
          </p:cNvSpPr>
          <p:nvPr>
            <p:ph type="pic" sz="quarter" idx="11"/>
          </p:nvPr>
        </p:nvSpPr>
        <p:spPr>
          <a:xfrm>
            <a:off x="2819400" y="4495800"/>
            <a:ext cx="914400" cy="914400"/>
          </a:xfrm>
        </p:spPr>
        <p:txBody>
          <a:bodyPr/>
          <a:lstStyle/>
          <a:p>
            <a:endParaRPr lang="en-IN"/>
          </a:p>
        </p:txBody>
      </p:sp>
      <p:sp>
        <p:nvSpPr>
          <p:cNvPr id="7" name="Picture Placeholder 6">
            <a:extLst>
              <a:ext uri="{FF2B5EF4-FFF2-40B4-BE49-F238E27FC236}">
                <a16:creationId xmlns:a16="http://schemas.microsoft.com/office/drawing/2014/main" id="{5D446BD8-13BD-F538-3D32-16020E7CBB53}"/>
              </a:ext>
            </a:extLst>
          </p:cNvPr>
          <p:cNvSpPr>
            <a:spLocks noGrp="1"/>
          </p:cNvSpPr>
          <p:nvPr>
            <p:ph type="pic" sz="quarter" idx="12"/>
          </p:nvPr>
        </p:nvSpPr>
        <p:spPr>
          <a:xfrm>
            <a:off x="4267200" y="4724400"/>
            <a:ext cx="914400" cy="914400"/>
          </a:xfrm>
        </p:spPr>
        <p:txBody>
          <a:bodyPr/>
          <a:lstStyle/>
          <a:p>
            <a:endParaRPr lang="en-IN"/>
          </a:p>
        </p:txBody>
      </p:sp>
      <p:sp>
        <p:nvSpPr>
          <p:cNvPr id="9" name="Table Placeholder 8">
            <a:extLst>
              <a:ext uri="{FF2B5EF4-FFF2-40B4-BE49-F238E27FC236}">
                <a16:creationId xmlns:a16="http://schemas.microsoft.com/office/drawing/2014/main" id="{592BEA44-0D9F-132E-F610-3B76AC71A1AC}"/>
              </a:ext>
            </a:extLst>
          </p:cNvPr>
          <p:cNvSpPr>
            <a:spLocks noGrp="1"/>
          </p:cNvSpPr>
          <p:nvPr>
            <p:ph type="tbl" sz="quarter" idx="13"/>
          </p:nvPr>
        </p:nvSpPr>
        <p:spPr>
          <a:xfrm>
            <a:off x="6324600" y="4648200"/>
            <a:ext cx="914400" cy="914400"/>
          </a:xfrm>
        </p:spPr>
        <p:txBody>
          <a:bodyPr/>
          <a:lstStyle/>
          <a:p>
            <a:endParaRPr lang="en-IN"/>
          </a:p>
        </p:txBody>
      </p:sp>
    </p:spTree>
    <p:extLst>
      <p:ext uri="{BB962C8B-B14F-4D97-AF65-F5344CB8AC3E}">
        <p14:creationId xmlns:p14="http://schemas.microsoft.com/office/powerpoint/2010/main" val="1401040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0">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C222B6B0-C112-01E4-185E-4AFC7DB2F9DB}"/>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8513308"/>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8" r:id="rId15"/>
    <p:sldLayoutId id="2147483679" r:id="rId16"/>
    <p:sldLayoutId id="2147483680" r:id="rId17"/>
    <p:sldLayoutId id="2147483681" r:id="rId18"/>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45: Tires and Wheels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5E37D-FEAC-CE72-3FDD-2E831537BB34}"/>
              </a:ext>
            </a:extLst>
          </p:cNvPr>
          <p:cNvSpPr>
            <a:spLocks noGrp="1"/>
          </p:cNvSpPr>
          <p:nvPr>
            <p:ph type="title"/>
          </p:nvPr>
        </p:nvSpPr>
        <p:spPr/>
        <p:txBody>
          <a:bodyPr/>
          <a:lstStyle/>
          <a:p>
            <a:r>
              <a:rPr lang="en-US" dirty="0"/>
              <a:t>Chapter Objectives (1 of 2)</a:t>
            </a:r>
          </a:p>
        </p:txBody>
      </p:sp>
      <p:sp>
        <p:nvSpPr>
          <p:cNvPr id="3" name="Text Placeholder 2">
            <a:extLst>
              <a:ext uri="{FF2B5EF4-FFF2-40B4-BE49-F238E27FC236}">
                <a16:creationId xmlns:a16="http://schemas.microsoft.com/office/drawing/2014/main" id="{EDD84C37-00F7-82E6-6D74-52FD8862AE2C}"/>
              </a:ext>
            </a:extLst>
          </p:cNvPr>
          <p:cNvSpPr>
            <a:spLocks noGrp="1"/>
          </p:cNvSpPr>
          <p:nvPr>
            <p:ph type="body" idx="1"/>
          </p:nvPr>
        </p:nvSpPr>
        <p:spPr/>
        <p:txBody>
          <a:bodyPr/>
          <a:lstStyle/>
          <a:p>
            <a:pPr marL="354013" indent="-354013"/>
            <a:r>
              <a:rPr lang="en-US" dirty="0">
                <a:solidFill>
                  <a:schemeClr val="tx1"/>
                </a:solidFill>
                <a:latin typeface="Work Sans" pitchFamily="2" charset="0"/>
              </a:rPr>
              <a:t>45.01 Describe basic wheel and hub design.</a:t>
            </a:r>
          </a:p>
          <a:p>
            <a:pPr marL="354013" indent="-354013"/>
            <a:r>
              <a:rPr lang="en-US" dirty="0">
                <a:solidFill>
                  <a:schemeClr val="tx1"/>
                </a:solidFill>
                <a:latin typeface="Work Sans" pitchFamily="2" charset="0"/>
              </a:rPr>
              <a:t>45.02 Explain the tire ratings and designations in use today.</a:t>
            </a:r>
          </a:p>
          <a:p>
            <a:pPr marL="354013" indent="-354013"/>
            <a:r>
              <a:rPr lang="en-US" dirty="0">
                <a:solidFill>
                  <a:schemeClr val="tx1"/>
                </a:solidFill>
                <a:latin typeface="Work Sans" pitchFamily="2" charset="0"/>
              </a:rPr>
              <a:t>45.03 Describe the operation, diagnosis, and service for a tire pressure monitor.</a:t>
            </a:r>
          </a:p>
          <a:p>
            <a:pPr marL="354013" indent="-354013"/>
            <a:r>
              <a:rPr lang="en-US" dirty="0">
                <a:solidFill>
                  <a:schemeClr val="tx1"/>
                </a:solidFill>
                <a:latin typeface="Work Sans" pitchFamily="2" charset="0"/>
              </a:rPr>
              <a:t>45.04 Inspect the wheel and tire assembly for runout.</a:t>
            </a:r>
          </a:p>
        </p:txBody>
      </p:sp>
    </p:spTree>
    <p:extLst>
      <p:ext uri="{BB962C8B-B14F-4D97-AF65-F5344CB8AC3E}">
        <p14:creationId xmlns:p14="http://schemas.microsoft.com/office/powerpoint/2010/main" val="3740410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5E37D-FEAC-CE72-3FDD-2E831537BB34}"/>
              </a:ext>
            </a:extLst>
          </p:cNvPr>
          <p:cNvSpPr>
            <a:spLocks noGrp="1"/>
          </p:cNvSpPr>
          <p:nvPr>
            <p:ph type="title"/>
          </p:nvPr>
        </p:nvSpPr>
        <p:spPr/>
        <p:txBody>
          <a:bodyPr/>
          <a:lstStyle/>
          <a:p>
            <a:r>
              <a:rPr lang="en-US" dirty="0"/>
              <a:t>Chapter Objectives (2 of 2)</a:t>
            </a:r>
          </a:p>
        </p:txBody>
      </p:sp>
      <p:sp>
        <p:nvSpPr>
          <p:cNvPr id="3" name="Text Placeholder 2">
            <a:extLst>
              <a:ext uri="{FF2B5EF4-FFF2-40B4-BE49-F238E27FC236}">
                <a16:creationId xmlns:a16="http://schemas.microsoft.com/office/drawing/2014/main" id="{EDD84C37-00F7-82E6-6D74-52FD8862AE2C}"/>
              </a:ext>
            </a:extLst>
          </p:cNvPr>
          <p:cNvSpPr>
            <a:spLocks noGrp="1"/>
          </p:cNvSpPr>
          <p:nvPr>
            <p:ph type="body" idx="1"/>
          </p:nvPr>
        </p:nvSpPr>
        <p:spPr/>
        <p:txBody>
          <a:bodyPr/>
          <a:lstStyle/>
          <a:p>
            <a:pPr marL="354013" indent="-354013"/>
            <a:r>
              <a:rPr lang="en-US" dirty="0">
                <a:solidFill>
                  <a:schemeClr val="tx1"/>
                </a:solidFill>
                <a:latin typeface="Work Sans" pitchFamily="2" charset="0"/>
              </a:rPr>
              <a:t>45.05 Remove, replace, and install a wheel and tire assembly.</a:t>
            </a:r>
          </a:p>
          <a:p>
            <a:pPr marL="354013" indent="-354013"/>
            <a:r>
              <a:rPr lang="en-US" dirty="0">
                <a:solidFill>
                  <a:schemeClr val="tx1"/>
                </a:solidFill>
                <a:latin typeface="Work Sans" pitchFamily="2" charset="0"/>
              </a:rPr>
              <a:t>45.06 Perform wheel and tire services and repairs.</a:t>
            </a:r>
          </a:p>
          <a:p>
            <a:pPr marL="354013" indent="-354013"/>
            <a:r>
              <a:rPr lang="en-US" dirty="0">
                <a:solidFill>
                  <a:schemeClr val="tx1"/>
                </a:solidFill>
                <a:latin typeface="Work Sans" pitchFamily="2" charset="0"/>
              </a:rPr>
              <a:t>45.07 Describe and service various types of wheel bearings.</a:t>
            </a:r>
          </a:p>
        </p:txBody>
      </p:sp>
    </p:spTree>
    <p:extLst>
      <p:ext uri="{BB962C8B-B14F-4D97-AF65-F5344CB8AC3E}">
        <p14:creationId xmlns:p14="http://schemas.microsoft.com/office/powerpoint/2010/main" val="1170491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Wheels">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Wheels</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b="1" dirty="0">
                <a:solidFill>
                  <a:schemeClr val="tx1"/>
                </a:solidFill>
                <a:latin typeface="Work Sans" pitchFamily="2" charset="0"/>
                <a:cs typeface="Arial" pitchFamily="34" charset="0"/>
              </a:rPr>
              <a:t>45.01 Describe basic wheel and hub design.</a:t>
            </a:r>
          </a:p>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Can be steel, aluminum, or magnesium.</a:t>
            </a:r>
          </a:p>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Aluminum and alloy wheels are used to reduce weight.</a:t>
            </a:r>
          </a:p>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The wheel is bolted to a hub.</a:t>
            </a:r>
          </a:p>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Replacement wheels must be equal to OE.</a:t>
            </a:r>
          </a:p>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Incorrect wheels can affect bearing life, speedometer readings, and ABS function.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Wheel Dimension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Wheel Dimensions</a:t>
            </a:r>
          </a:p>
        </p:txBody>
      </p:sp>
      <p:sp>
        <p:nvSpPr>
          <p:cNvPr id="2" name="Content Placeholder 3"/>
          <p:cNvSpPr txBox="1">
            <a:spLocks noGrp="1"/>
          </p:cNvSpPr>
          <p:nvPr>
            <p:ph type="body" idx="1"/>
          </p:nvPr>
        </p:nvSpPr>
        <p:spPr>
          <a:xfrm>
            <a:off x="609601" y="2153413"/>
            <a:ext cx="4267200" cy="2551174"/>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Diameter</a:t>
            </a:r>
          </a:p>
          <a:p>
            <a:pPr marL="355600" indent="-355600">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Width</a:t>
            </a:r>
          </a:p>
          <a:p>
            <a:pPr marL="355600" indent="-355600">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Offset</a:t>
            </a:r>
          </a:p>
        </p:txBody>
      </p:sp>
      <p:pic>
        <p:nvPicPr>
          <p:cNvPr id="9" name="Picture Placeholder 8" descr="Two illustrations labeled (A) and (B). Illustration (A) depicts a wheel with the parts labeled as follows: mounting holes, centerbore, spider (center section), and rim. An inset view of the wheel with the parts labeled as follows: spider, rim, drop center section, and tire bead area. Illustration (B) depicts four wheel bolt patterns. The first bolt pattern is a circle with the bolts numbered 6, 2, 7, 3, blank, 1, 8, and 4, in the clockwise direction. A slanting line is drawn between the bolt 4 and bolt 3. The second bolt pattern is a circle with the bolts numbered 6, 8, 4, 10, 2, 5, 7, 3, 9, and 1, in the clockwise direction. A slanting line is drawn between the bolt 1 and bolt 2. The third bolt pattern is a circle with the bolts numbered 4, 1, 3, 5, and 2, in the clockwise direction. A line is drawn from bolt 2 towards both the bolt 1 and bolt 3. The fourth bolt pattern is a circle with the bolts numbered 1, 6, 4, 2, 5, and 3, in the clockwise direction. A vertical line is drawn between bolt 1 and bolt 2.">
            <a:extLst>
              <a:ext uri="{FF2B5EF4-FFF2-40B4-BE49-F238E27FC236}">
                <a16:creationId xmlns:a16="http://schemas.microsoft.com/office/drawing/2014/main" id="{1945663C-999F-DD04-A901-F793A1EF18C4}"/>
              </a:ext>
            </a:extLst>
          </p:cNvPr>
          <p:cNvPicPr>
            <a:picLocks noGrp="1" noChangeAspect="1"/>
          </p:cNvPicPr>
          <p:nvPr>
            <p:ph type="pic" sz="quarter" idx="12"/>
          </p:nvPr>
        </p:nvPicPr>
        <p:blipFill rotWithShape="1">
          <a:blip r:embed="rId3"/>
          <a:srcRect b="5496"/>
          <a:stretch/>
        </p:blipFill>
        <p:spPr>
          <a:xfrm>
            <a:off x="6096000" y="1632080"/>
            <a:ext cx="1981200" cy="43256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ires">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Tires</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Provide traction and absorb road shock.</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Also carry the weight of the vehicle, withstand side thrust, and transfer braking and driving torque.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Traction and friction must be balanced to reduce rolling resistance.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Tubeless Tir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Tubeless Tires</a:t>
            </a:r>
          </a:p>
        </p:txBody>
      </p:sp>
      <p:pic>
        <p:nvPicPr>
          <p:cNvPr id="9" name="Picture Placeholder 8" descr="The construction of a typical tubeless tire. Several layers of rubber-impregnated cords are bonded into a solid unit with the parts labeled as follows: Bead bundle, bead filter, bead assembly, body piles, carcass, undertread, sipes, Tread, Block, Ribs, Dimples, Shoulder, Void ratio, edge cover, sidewall, bead chafer, cap piles, belts, grooving, and inner liner. The edge cover connects the belts with cap piles. The magnified view of the bead assembly has two layers or ply, the bead and the rim cover in a curved manner. The white wall in between the sidewall is at the right end with a veneer covering. Two belts at the top above the layers has a centerline that comprises of tread and base parts. The labeled parts depicted in the magnified view of the bead assembly are as follows; Bead, Filler, Liner, first ply, second ply, first belt, second belt, tread, base, sidewall, veneer, whitewall, rim cushion, and chafer.">
            <a:extLst>
              <a:ext uri="{FF2B5EF4-FFF2-40B4-BE49-F238E27FC236}">
                <a16:creationId xmlns:a16="http://schemas.microsoft.com/office/drawing/2014/main" id="{1C040FA5-AD63-7A1E-DF56-A46F68747305}"/>
              </a:ext>
            </a:extLst>
          </p:cNvPr>
          <p:cNvPicPr>
            <a:picLocks noGrp="1" noChangeAspect="1"/>
          </p:cNvPicPr>
          <p:nvPr>
            <p:ph type="pic" sz="quarter" idx="11"/>
          </p:nvPr>
        </p:nvPicPr>
        <p:blipFill rotWithShape="1">
          <a:blip r:embed="rId3"/>
          <a:srcRect b="4593"/>
          <a:stretch/>
        </p:blipFill>
        <p:spPr>
          <a:xfrm>
            <a:off x="1942852" y="1554480"/>
            <a:ext cx="8306296" cy="435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pecialty Tires">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Specialty Tires</a:t>
            </a:r>
          </a:p>
        </p:txBody>
      </p:sp>
      <p:sp>
        <p:nvSpPr>
          <p:cNvPr id="3" name="Content Placeholder 6"/>
          <p:cNvSpPr txBox="1">
            <a:spLocks noGrp="1"/>
          </p:cNvSpPr>
          <p:nvPr>
            <p:ph sz="quarter" idx="10"/>
          </p:nvPr>
        </p:nvSpPr>
        <p:spPr>
          <a:xfrm>
            <a:off x="609600" y="1600200"/>
            <a:ext cx="6858000" cy="39624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63538" indent="-363538">
              <a:spcBef>
                <a:spcPts val="624"/>
              </a:spcBef>
              <a:spcAft>
                <a:spcPts val="1200"/>
              </a:spcAft>
              <a:buClr>
                <a:schemeClr val="tx1"/>
              </a:buClr>
              <a:buSzPct val="100000"/>
              <a:buFont typeface="Arial" pitchFamily="34" charset="0"/>
              <a:buChar char="•"/>
            </a:pPr>
            <a:r>
              <a:rPr lang="en-US" sz="2600" dirty="0">
                <a:solidFill>
                  <a:schemeClr val="tx1"/>
                </a:solidFill>
                <a:latin typeface="Work Sans" pitchFamily="2" charset="0"/>
                <a:cs typeface="Arial" pitchFamily="34" charset="0"/>
              </a:rPr>
              <a:t>Designed for specific road conditions or applications</a:t>
            </a:r>
          </a:p>
          <a:p>
            <a:pPr marL="715963" lvl="1" indent="-357188">
              <a:spcBef>
                <a:spcPts val="624"/>
              </a:spcBef>
              <a:spcAft>
                <a:spcPts val="1200"/>
              </a:spcAft>
              <a:buSzPct val="100000"/>
              <a:buFont typeface="Arial" panose="020B0604020202020204" pitchFamily="34" charset="0"/>
              <a:buChar char="–"/>
            </a:pPr>
            <a:r>
              <a:rPr lang="en-US" dirty="0">
                <a:solidFill>
                  <a:schemeClr val="tx1"/>
                </a:solidFill>
                <a:latin typeface="Work Sans" pitchFamily="2" charset="0"/>
                <a:cs typeface="Arial" pitchFamily="34" charset="0"/>
              </a:rPr>
              <a:t>All season tires</a:t>
            </a:r>
          </a:p>
          <a:p>
            <a:pPr marL="715963" lvl="1" indent="-357188">
              <a:spcBef>
                <a:spcPts val="624"/>
              </a:spcBef>
              <a:spcAft>
                <a:spcPts val="1200"/>
              </a:spcAft>
              <a:buSzPct val="100000"/>
              <a:buFont typeface="Arial" panose="020B0604020202020204" pitchFamily="34" charset="0"/>
              <a:buChar char="–"/>
            </a:pPr>
            <a:r>
              <a:rPr lang="en-US" dirty="0">
                <a:solidFill>
                  <a:schemeClr val="tx1"/>
                </a:solidFill>
                <a:latin typeface="Work Sans" pitchFamily="2" charset="0"/>
                <a:cs typeface="Arial" pitchFamily="34" charset="0"/>
              </a:rPr>
              <a:t>Snow tires</a:t>
            </a:r>
          </a:p>
          <a:p>
            <a:pPr marL="715963" lvl="1" indent="-357188">
              <a:spcBef>
                <a:spcPts val="624"/>
              </a:spcBef>
              <a:spcAft>
                <a:spcPts val="1200"/>
              </a:spcAft>
              <a:buSzPct val="100000"/>
              <a:buFont typeface="Arial" panose="020B0604020202020204" pitchFamily="34" charset="0"/>
              <a:buChar char="–"/>
            </a:pPr>
            <a:r>
              <a:rPr lang="en-US" dirty="0">
                <a:solidFill>
                  <a:schemeClr val="tx1"/>
                </a:solidFill>
                <a:latin typeface="Work Sans" pitchFamily="2" charset="0"/>
                <a:cs typeface="Arial" pitchFamily="34" charset="0"/>
              </a:rPr>
              <a:t>Studded snow tires</a:t>
            </a:r>
          </a:p>
          <a:p>
            <a:pPr marL="715963" lvl="1" indent="-357188">
              <a:spcBef>
                <a:spcPts val="624"/>
              </a:spcBef>
              <a:spcAft>
                <a:spcPts val="1200"/>
              </a:spcAft>
              <a:buSzPct val="100000"/>
              <a:buFont typeface="Arial" panose="020B0604020202020204" pitchFamily="34" charset="0"/>
              <a:buChar char="–"/>
            </a:pPr>
            <a:r>
              <a:rPr lang="en-US" dirty="0">
                <a:solidFill>
                  <a:schemeClr val="tx1"/>
                </a:solidFill>
                <a:latin typeface="Work Sans" pitchFamily="2" charset="0"/>
                <a:cs typeface="Arial" pitchFamily="34" charset="0"/>
              </a:rPr>
              <a:t>Slicks</a:t>
            </a:r>
          </a:p>
          <a:p>
            <a:pPr marL="715963" lvl="1" indent="-357188">
              <a:spcBef>
                <a:spcPts val="624"/>
              </a:spcBef>
              <a:spcAft>
                <a:spcPts val="1200"/>
              </a:spcAft>
              <a:buSzPct val="100000"/>
              <a:buFont typeface="Arial" panose="020B0604020202020204" pitchFamily="34" charset="0"/>
              <a:buChar char="–"/>
            </a:pPr>
            <a:r>
              <a:rPr lang="en-US" dirty="0">
                <a:solidFill>
                  <a:schemeClr val="tx1"/>
                </a:solidFill>
                <a:latin typeface="Work Sans" pitchFamily="2" charset="0"/>
                <a:cs typeface="Arial" pitchFamily="34" charset="0"/>
              </a:rPr>
              <a:t>Wet surface designs</a:t>
            </a:r>
          </a:p>
        </p:txBody>
      </p:sp>
      <p:pic>
        <p:nvPicPr>
          <p:cNvPr id="9" name="Picture Placeholder 8" descr="An all-season radial special tire.">
            <a:extLst>
              <a:ext uri="{FF2B5EF4-FFF2-40B4-BE49-F238E27FC236}">
                <a16:creationId xmlns:a16="http://schemas.microsoft.com/office/drawing/2014/main" id="{77F82ED7-2F58-57CC-EBF2-719459651938}"/>
              </a:ext>
            </a:extLst>
          </p:cNvPr>
          <p:cNvPicPr>
            <a:picLocks noGrp="1" noChangeAspect="1"/>
          </p:cNvPicPr>
          <p:nvPr>
            <p:ph type="pic" sz="quarter" idx="12"/>
          </p:nvPr>
        </p:nvPicPr>
        <p:blipFill rotWithShape="1">
          <a:blip r:embed="rId3"/>
          <a:srcRect b="6255"/>
          <a:stretch/>
        </p:blipFill>
        <p:spPr>
          <a:xfrm>
            <a:off x="7848600" y="1914202"/>
            <a:ext cx="4020879" cy="380079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Run-Flat Tir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Run-Flat Tires</a:t>
            </a:r>
          </a:p>
        </p:txBody>
      </p:sp>
      <p:pic>
        <p:nvPicPr>
          <p:cNvPr id="9" name="Picture Placeholder 8" descr="A run-flat tire with the parts and their features labeled as follows: Special bead design: Enhanced retention after pressure loss, Acceptable seating pressure; sidewall reinforcement: Flexible low-hysteresis rubber, Thermal-resistive material, Metallic and/or textile tissues; Appropriate summit adjustments: Maintain inflated performance (comfort and handling like standard tires).">
            <a:extLst>
              <a:ext uri="{FF2B5EF4-FFF2-40B4-BE49-F238E27FC236}">
                <a16:creationId xmlns:a16="http://schemas.microsoft.com/office/drawing/2014/main" id="{65CDF775-946C-0025-A256-A5BEFEDD91BE}"/>
              </a:ext>
            </a:extLst>
          </p:cNvPr>
          <p:cNvPicPr>
            <a:picLocks noGrp="1" noChangeAspect="1"/>
          </p:cNvPicPr>
          <p:nvPr>
            <p:ph type="pic" sz="quarter" idx="12"/>
          </p:nvPr>
        </p:nvPicPr>
        <p:blipFill rotWithShape="1">
          <a:blip r:embed="rId3"/>
          <a:srcRect t="-1" b="4616"/>
          <a:stretch/>
        </p:blipFill>
        <p:spPr>
          <a:xfrm>
            <a:off x="1960231" y="1880737"/>
            <a:ext cx="8271539" cy="36818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read Designs (Co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Tread Designs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63538" indent="-363538">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Directional</a:t>
            </a:r>
          </a:p>
          <a:p>
            <a:pPr marL="715963" lvl="1" indent="-357188">
              <a:spcBef>
                <a:spcPts val="624"/>
              </a:spcBef>
              <a:spcAft>
                <a:spcPts val="600"/>
              </a:spcAft>
              <a:buSzPct val="100000"/>
              <a:buFont typeface="Arial" pitchFamily="34" charset="0"/>
              <a:buChar char="–"/>
            </a:pPr>
            <a:r>
              <a:rPr lang="en-US" dirty="0">
                <a:solidFill>
                  <a:schemeClr val="tx1"/>
                </a:solidFill>
                <a:latin typeface="Work Sans" pitchFamily="2" charset="0"/>
                <a:cs typeface="Arial" pitchFamily="34" charset="0"/>
              </a:rPr>
              <a:t>Must revolve in one direction.</a:t>
            </a:r>
          </a:p>
          <a:p>
            <a:pPr marL="363538" indent="-363538">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Nondirectional</a:t>
            </a:r>
          </a:p>
          <a:p>
            <a:pPr marL="715963" lvl="1" indent="-357188">
              <a:spcBef>
                <a:spcPts val="624"/>
              </a:spcBef>
              <a:spcAft>
                <a:spcPts val="600"/>
              </a:spcAft>
              <a:buSzPct val="100000"/>
              <a:buFont typeface="Arial" pitchFamily="34" charset="0"/>
              <a:buChar char="–"/>
            </a:pPr>
            <a:r>
              <a:rPr lang="en-US" dirty="0">
                <a:solidFill>
                  <a:schemeClr val="tx1"/>
                </a:solidFill>
                <a:latin typeface="Work Sans" pitchFamily="2" charset="0"/>
                <a:cs typeface="Arial" pitchFamily="34" charset="0"/>
              </a:rPr>
              <a:t>Can revolve either direction.</a:t>
            </a:r>
          </a:p>
          <a:p>
            <a:pPr marL="363538" indent="-363538">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Symmetric</a:t>
            </a:r>
          </a:p>
          <a:p>
            <a:pPr marL="715963" lvl="1" indent="-357188">
              <a:spcBef>
                <a:spcPts val="624"/>
              </a:spcBef>
              <a:spcAft>
                <a:spcPts val="600"/>
              </a:spcAft>
              <a:buSzPct val="100000"/>
              <a:buFont typeface="Arial" pitchFamily="34" charset="0"/>
              <a:buChar char="–"/>
            </a:pPr>
            <a:r>
              <a:rPr lang="en-US" dirty="0">
                <a:solidFill>
                  <a:schemeClr val="tx1"/>
                </a:solidFill>
                <a:latin typeface="Work Sans" pitchFamily="2" charset="0"/>
                <a:cs typeface="Arial" pitchFamily="34" charset="0"/>
              </a:rPr>
              <a:t>Tread pattern is the same across the tire.</a:t>
            </a:r>
          </a:p>
          <a:p>
            <a:pPr marL="363538" indent="-363538">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Asymmetric</a:t>
            </a:r>
          </a:p>
          <a:p>
            <a:pPr marL="715963" lvl="1" indent="-357188">
              <a:spcBef>
                <a:spcPts val="624"/>
              </a:spcBef>
              <a:spcAft>
                <a:spcPts val="600"/>
              </a:spcAft>
              <a:buSzPct val="100000"/>
              <a:buFont typeface="Arial" pitchFamily="34" charset="0"/>
              <a:buChar char="–"/>
            </a:pPr>
            <a:r>
              <a:rPr lang="en-US" dirty="0">
                <a:solidFill>
                  <a:schemeClr val="tx1"/>
                </a:solidFill>
                <a:latin typeface="Work Sans" pitchFamily="2" charset="0"/>
                <a:cs typeface="Arial" pitchFamily="34" charset="0"/>
              </a:rPr>
              <a:t>Tread is different from inside to outside.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Directional Tir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Directional Tire</a:t>
            </a:r>
          </a:p>
        </p:txBody>
      </p:sp>
      <p:sp>
        <p:nvSpPr>
          <p:cNvPr id="4" name="Content Placeholder 4"/>
          <p:cNvSpPr txBox="1">
            <a:spLocks noGrp="1"/>
          </p:cNvSpPr>
          <p:nvPr>
            <p:ph sz="quarter" idx="10"/>
          </p:nvPr>
        </p:nvSpPr>
        <p:spPr>
          <a:xfrm>
            <a:off x="685800" y="1600200"/>
            <a:ext cx="6629400" cy="28194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Made to rotate in one direction.</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Must be mounted on wheel correctly and installed on the correct side of the vehicle.</a:t>
            </a:r>
          </a:p>
        </p:txBody>
      </p:sp>
      <p:pic>
        <p:nvPicPr>
          <p:cNvPr id="9" name="Picture Placeholder 8" descr="Tread designs (A) and (B) for modern vehicles. (A) A tire depicts a directional tread design. (B) The side wall of a tire depicts a directional arrow.">
            <a:extLst>
              <a:ext uri="{FF2B5EF4-FFF2-40B4-BE49-F238E27FC236}">
                <a16:creationId xmlns:a16="http://schemas.microsoft.com/office/drawing/2014/main" id="{DAB50D22-C08F-527F-F509-A3B63C8C2778}"/>
              </a:ext>
            </a:extLst>
          </p:cNvPr>
          <p:cNvPicPr>
            <a:picLocks noGrp="1" noChangeAspect="1"/>
          </p:cNvPicPr>
          <p:nvPr>
            <p:ph type="pic" sz="quarter" idx="12"/>
          </p:nvPr>
        </p:nvPicPr>
        <p:blipFill rotWithShape="1">
          <a:blip r:embed="rId3"/>
          <a:srcRect b="10490"/>
          <a:stretch/>
        </p:blipFill>
        <p:spPr>
          <a:xfrm>
            <a:off x="7563996" y="1682906"/>
            <a:ext cx="3027804" cy="44130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Knowledge Check (1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spcBef>
                <a:spcPts val="624"/>
              </a:spcBef>
              <a:spcAft>
                <a:spcPts val="600"/>
              </a:spcAft>
              <a:buNone/>
            </a:pPr>
            <a:r>
              <a:rPr lang="en-US" sz="2600" dirty="0">
                <a:solidFill>
                  <a:schemeClr val="tx1"/>
                </a:solidFill>
                <a:latin typeface="Work Sans" pitchFamily="2" charset="0"/>
                <a:cs typeface="Arial" pitchFamily="34" charset="0"/>
              </a:rPr>
              <a:t>Technician A says a </a:t>
            </a:r>
            <a:r>
              <a:rPr lang="en-US" sz="2600" dirty="0">
                <a:solidFill>
                  <a:schemeClr val="tx1"/>
                </a:solidFill>
                <a:latin typeface="Work Sans" pitchFamily="2" charset="0"/>
              </a:rPr>
              <a:t>symmetric tire has a tread design that is different from one side of the tire to the other.</a:t>
            </a:r>
          </a:p>
          <a:p>
            <a:pPr marL="108000" indent="0">
              <a:spcBef>
                <a:spcPts val="624"/>
              </a:spcBef>
              <a:spcAft>
                <a:spcPts val="600"/>
              </a:spcAft>
              <a:buNone/>
            </a:pPr>
            <a:r>
              <a:rPr lang="en-US" sz="2600" dirty="0">
                <a:solidFill>
                  <a:schemeClr val="tx1"/>
                </a:solidFill>
                <a:latin typeface="Work Sans" pitchFamily="2" charset="0"/>
                <a:cs typeface="Arial" pitchFamily="34" charset="0"/>
              </a:rPr>
              <a:t>Technician B says </a:t>
            </a:r>
            <a:r>
              <a:rPr lang="en-US" sz="2600" dirty="0">
                <a:solidFill>
                  <a:schemeClr val="tx1"/>
                </a:solidFill>
                <a:latin typeface="Work Sans" pitchFamily="2" charset="0"/>
              </a:rPr>
              <a:t>a symmetric tire has the same tread pattern on both sides of the tire. </a:t>
            </a:r>
          </a:p>
          <a:p>
            <a:pPr marL="108000" indent="0">
              <a:spcBef>
                <a:spcPts val="624"/>
              </a:spcBef>
              <a:spcAft>
                <a:spcPts val="600"/>
              </a:spcAft>
              <a:buNone/>
            </a:pPr>
            <a:r>
              <a:rPr lang="en-US" sz="2600" dirty="0">
                <a:solidFill>
                  <a:schemeClr val="tx1"/>
                </a:solidFill>
                <a:latin typeface="Work Sans" pitchFamily="2" charset="0"/>
              </a:rPr>
              <a:t>Who is correct?</a:t>
            </a:r>
            <a:endParaRPr lang="en-US" sz="2600" dirty="0">
              <a:solidFill>
                <a:schemeClr val="tx1"/>
              </a:solidFill>
              <a:latin typeface="Work Sans" pitchFamily="2" charset="0"/>
              <a:cs typeface="Arial"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Knowledge Check Answer (1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spcBef>
                <a:spcPts val="624"/>
              </a:spcBef>
              <a:spcAft>
                <a:spcPts val="600"/>
              </a:spcAft>
              <a:buNone/>
            </a:pPr>
            <a:r>
              <a:rPr lang="en-US" sz="2600" dirty="0">
                <a:solidFill>
                  <a:schemeClr val="tx1"/>
                </a:solidFill>
                <a:latin typeface="Work Sans" pitchFamily="2" charset="0"/>
                <a:cs typeface="Arial" pitchFamily="34" charset="0"/>
              </a:rPr>
              <a:t>Technician A says a </a:t>
            </a:r>
            <a:r>
              <a:rPr lang="en-US" sz="2600" dirty="0">
                <a:solidFill>
                  <a:schemeClr val="tx1"/>
                </a:solidFill>
                <a:latin typeface="Work Sans" pitchFamily="2" charset="0"/>
              </a:rPr>
              <a:t>symmetric tire has a tread design that is different from one side of the tire to the other.</a:t>
            </a:r>
          </a:p>
          <a:p>
            <a:pPr marL="108000" indent="0">
              <a:spcBef>
                <a:spcPts val="624"/>
              </a:spcBef>
              <a:spcAft>
                <a:spcPts val="600"/>
              </a:spcAft>
              <a:buNone/>
            </a:pPr>
            <a:r>
              <a:rPr lang="en-US" sz="2600" dirty="0">
                <a:solidFill>
                  <a:schemeClr val="tx1"/>
                </a:solidFill>
                <a:latin typeface="Work Sans" pitchFamily="2" charset="0"/>
                <a:cs typeface="Arial" pitchFamily="34" charset="0"/>
              </a:rPr>
              <a:t>Technician B says </a:t>
            </a:r>
            <a:r>
              <a:rPr lang="en-US" sz="2600" dirty="0">
                <a:solidFill>
                  <a:schemeClr val="tx1"/>
                </a:solidFill>
                <a:latin typeface="Work Sans" pitchFamily="2" charset="0"/>
              </a:rPr>
              <a:t>a symmetric tire has the same tread pattern on both sides of the tire.</a:t>
            </a:r>
          </a:p>
          <a:p>
            <a:pPr marL="108000" indent="0">
              <a:spcBef>
                <a:spcPts val="624"/>
              </a:spcBef>
              <a:spcAft>
                <a:spcPts val="600"/>
              </a:spcAft>
              <a:buNone/>
            </a:pPr>
            <a:r>
              <a:rPr lang="en-US" sz="2600" dirty="0">
                <a:solidFill>
                  <a:schemeClr val="tx1"/>
                </a:solidFill>
                <a:latin typeface="Work Sans" pitchFamily="2" charset="0"/>
              </a:rPr>
              <a:t>Who is correct?</a:t>
            </a:r>
          </a:p>
          <a:p>
            <a:pPr marL="108000" indent="0">
              <a:spcBef>
                <a:spcPts val="624"/>
              </a:spcBef>
              <a:spcAft>
                <a:spcPts val="600"/>
              </a:spcAft>
              <a:buNone/>
            </a:pPr>
            <a:r>
              <a:rPr lang="en-US" sz="2600" b="1" dirty="0">
                <a:solidFill>
                  <a:schemeClr val="tx1"/>
                </a:solidFill>
                <a:latin typeface="Work Sans" pitchFamily="2" charset="0"/>
                <a:cs typeface="Arial" pitchFamily="34" charset="0"/>
              </a:rPr>
              <a:t>Answer: </a:t>
            </a:r>
            <a:r>
              <a:rPr lang="en-US" sz="2600" dirty="0">
                <a:solidFill>
                  <a:schemeClr val="tx1"/>
                </a:solidFill>
                <a:latin typeface="Work Sans" pitchFamily="2" charset="0"/>
                <a:cs typeface="Arial" pitchFamily="34" charset="0"/>
              </a:rPr>
              <a:t>Technician B only</a:t>
            </a:r>
          </a:p>
        </p:txBody>
      </p:sp>
    </p:spTree>
    <p:extLst>
      <p:ext uri="{BB962C8B-B14F-4D97-AF65-F5344CB8AC3E}">
        <p14:creationId xmlns:p14="http://schemas.microsoft.com/office/powerpoint/2010/main" val="1745483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pare Tir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Spare Tires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Can be a full size replacement tire.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Many vehicles have compact spare tires.</a:t>
            </a:r>
          </a:p>
          <a:p>
            <a:pPr marL="715963" lvl="1" indent="-357188">
              <a:spcBef>
                <a:spcPts val="624"/>
              </a:spcBef>
              <a:spcAft>
                <a:spcPts val="600"/>
              </a:spcAft>
              <a:buSzPct val="100000"/>
            </a:pPr>
            <a:r>
              <a:rPr lang="en-US" dirty="0">
                <a:solidFill>
                  <a:schemeClr val="tx1"/>
                </a:solidFill>
                <a:latin typeface="Work Sans" pitchFamily="2" charset="0"/>
                <a:cs typeface="Arial" pitchFamily="34" charset="0"/>
              </a:rPr>
              <a:t>High-pressure mini spare</a:t>
            </a:r>
          </a:p>
          <a:p>
            <a:pPr marL="715963" lvl="1" indent="-357188">
              <a:spcBef>
                <a:spcPts val="624"/>
              </a:spcBef>
              <a:spcAft>
                <a:spcPts val="600"/>
              </a:spcAft>
              <a:buSzPct val="100000"/>
            </a:pPr>
            <a:r>
              <a:rPr lang="en-US" dirty="0">
                <a:solidFill>
                  <a:schemeClr val="tx1"/>
                </a:solidFill>
                <a:latin typeface="Work Sans" pitchFamily="2" charset="0"/>
                <a:cs typeface="Arial" pitchFamily="34" charset="0"/>
              </a:rPr>
              <a:t>Space-saver spare</a:t>
            </a:r>
          </a:p>
          <a:p>
            <a:pPr marL="715963" lvl="1" indent="-357188">
              <a:spcBef>
                <a:spcPts val="624"/>
              </a:spcBef>
              <a:spcAft>
                <a:spcPts val="600"/>
              </a:spcAft>
              <a:buSzPct val="100000"/>
            </a:pPr>
            <a:r>
              <a:rPr lang="en-US" dirty="0">
                <a:solidFill>
                  <a:schemeClr val="tx1"/>
                </a:solidFill>
                <a:latin typeface="Work Sans" pitchFamily="2" charset="0"/>
                <a:cs typeface="Arial" pitchFamily="34" charset="0"/>
              </a:rPr>
              <a:t>Lightweight skin spare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Some vehicles without run-flat tires have no spare.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No Spar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Temporary Spare Tire</a:t>
            </a:r>
          </a:p>
        </p:txBody>
      </p:sp>
      <p:pic>
        <p:nvPicPr>
          <p:cNvPr id="9" name="Picture Placeholder 8" descr="A temporary spare tire in its case with numbers 80 and 50, and several warnings affixed to the tire.">
            <a:extLst>
              <a:ext uri="{FF2B5EF4-FFF2-40B4-BE49-F238E27FC236}">
                <a16:creationId xmlns:a16="http://schemas.microsoft.com/office/drawing/2014/main" id="{0ABDE3BC-A45F-45DA-C187-EEBA796D53C0}"/>
              </a:ext>
            </a:extLst>
          </p:cNvPr>
          <p:cNvPicPr>
            <a:picLocks noGrp="1" noChangeAspect="1"/>
          </p:cNvPicPr>
          <p:nvPr>
            <p:ph type="pic" sz="quarter" idx="12"/>
          </p:nvPr>
        </p:nvPicPr>
        <p:blipFill rotWithShape="1">
          <a:blip r:embed="rId3"/>
          <a:srcRect b="11241"/>
          <a:stretch/>
        </p:blipFill>
        <p:spPr>
          <a:xfrm>
            <a:off x="3250457" y="1514812"/>
            <a:ext cx="5691087" cy="43525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Tire Ratings and Designation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Tire Ratings and Designations</a:t>
            </a:r>
          </a:p>
        </p:txBody>
      </p:sp>
      <p:sp>
        <p:nvSpPr>
          <p:cNvPr id="2" name="Text Placeholder 1">
            <a:extLst>
              <a:ext uri="{FF2B5EF4-FFF2-40B4-BE49-F238E27FC236}">
                <a16:creationId xmlns:a16="http://schemas.microsoft.com/office/drawing/2014/main" id="{135837EF-80FF-656B-7DB0-FD1399D4CAEC}"/>
              </a:ext>
            </a:extLst>
          </p:cNvPr>
          <p:cNvSpPr>
            <a:spLocks noGrp="1"/>
          </p:cNvSpPr>
          <p:nvPr>
            <p:ph type="body" idx="1"/>
          </p:nvPr>
        </p:nvSpPr>
        <p:spPr>
          <a:xfrm>
            <a:off x="476844" y="1563627"/>
            <a:ext cx="11241915" cy="798573"/>
          </a:xfrm>
        </p:spPr>
        <p:txBody>
          <a:bodyPr/>
          <a:lstStyle/>
          <a:p>
            <a:pPr marL="0" indent="0">
              <a:buNone/>
            </a:pPr>
            <a:r>
              <a:rPr lang="en-US" b="1" dirty="0">
                <a:solidFill>
                  <a:schemeClr val="tx1"/>
                </a:solidFill>
                <a:latin typeface="Work Sans" pitchFamily="2" charset="0"/>
              </a:rPr>
              <a:t>45.02 Explain the tire ratings and designations in use today</a:t>
            </a:r>
            <a:r>
              <a:rPr lang="en-US" dirty="0">
                <a:solidFill>
                  <a:schemeClr val="tx1"/>
                </a:solidFill>
                <a:latin typeface="Work Sans" pitchFamily="2" charset="0"/>
              </a:rPr>
              <a:t>.</a:t>
            </a:r>
          </a:p>
        </p:txBody>
      </p:sp>
      <p:pic>
        <p:nvPicPr>
          <p:cNvPr id="10" name="Picture Placeholder 9" descr="Three illustrations depict the cross-sectional view of a tire. In the first illustration, the section width of the tire is 10 inches and the section height is 7 inches. The vertical dimension is 70 percent of the horizontal dimension. The second illustration depicts a tire with 60-series and “60” profile ratio. The height is 60 percent of the width. The third illustration depicts a tire with 50-series and “50” profile ratio. The height is 50 percent of the width.">
            <a:extLst>
              <a:ext uri="{FF2B5EF4-FFF2-40B4-BE49-F238E27FC236}">
                <a16:creationId xmlns:a16="http://schemas.microsoft.com/office/drawing/2014/main" id="{6EFCD031-BF39-1EDA-BAF7-7668C27ABD98}"/>
              </a:ext>
            </a:extLst>
          </p:cNvPr>
          <p:cNvPicPr>
            <a:picLocks noGrp="1" noChangeAspect="1"/>
          </p:cNvPicPr>
          <p:nvPr>
            <p:ph type="pic" sz="quarter" idx="12"/>
          </p:nvPr>
        </p:nvPicPr>
        <p:blipFill rotWithShape="1">
          <a:blip r:embed="rId3"/>
          <a:srcRect b="10774"/>
          <a:stretch/>
        </p:blipFill>
        <p:spPr>
          <a:xfrm>
            <a:off x="2138237" y="2463704"/>
            <a:ext cx="7915527" cy="349602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FAE86-8AC9-C225-8CD1-A5D3D769FEE1}"/>
              </a:ext>
            </a:extLst>
          </p:cNvPr>
          <p:cNvSpPr>
            <a:spLocks noGrp="1"/>
          </p:cNvSpPr>
          <p:nvPr>
            <p:ph type="title"/>
          </p:nvPr>
        </p:nvSpPr>
        <p:spPr/>
        <p:txBody>
          <a:bodyPr/>
          <a:lstStyle/>
          <a:p>
            <a:r>
              <a:rPr lang="en-US" dirty="0"/>
              <a:t>Tire Sidewall Information</a:t>
            </a:r>
          </a:p>
        </p:txBody>
      </p:sp>
      <p:pic>
        <p:nvPicPr>
          <p:cNvPr id="8" name="Content Placeholder 12" descr="A tire on its sidewall consists of the parts labeled as follows: brand, speed rating, load index, diameter of wheel in inches, radial, aspect ratio (ratio of width to height), width of tire in millimeters, P = passenger car tire, model, maximum inflation, treadwear, traction, temperature, maximum load, D O T data code, D O T type code, D O T size code, and tire ply composition and materials used. Treadwear, traction, and temperature represent U T Q G ratings.">
            <a:extLst>
              <a:ext uri="{FF2B5EF4-FFF2-40B4-BE49-F238E27FC236}">
                <a16:creationId xmlns:a16="http://schemas.microsoft.com/office/drawing/2014/main" id="{5DFC1925-7E7F-33E3-BA24-BDCFF19CA720}"/>
              </a:ext>
            </a:extLst>
          </p:cNvPr>
          <p:cNvPicPr>
            <a:picLocks noGrp="1" noChangeAspect="1"/>
          </p:cNvPicPr>
          <p:nvPr>
            <p:ph type="pic" sz="quarter" idx="12"/>
          </p:nvPr>
        </p:nvPicPr>
        <p:blipFill rotWithShape="1">
          <a:blip r:embed="rId2"/>
          <a:srcRect b="4500"/>
          <a:stretch/>
        </p:blipFill>
        <p:spPr>
          <a:xfrm>
            <a:off x="2298612" y="1728071"/>
            <a:ext cx="7594777" cy="3892449"/>
          </a:xfrm>
          <a:prstGeom prst="rect">
            <a:avLst/>
          </a:prstGeom>
        </p:spPr>
      </p:pic>
    </p:spTree>
    <p:extLst>
      <p:ext uri="{BB962C8B-B14F-4D97-AF65-F5344CB8AC3E}">
        <p14:creationId xmlns:p14="http://schemas.microsoft.com/office/powerpoint/2010/main" val="1704717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Other Informati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Other Information (1 of 2)</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DOT information</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Tire serial number.</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UTQG rating</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Uniform Tire Quality Grade.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Tread Wear</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200 should last longer than 100.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Other Information (Co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Other Information (2 of 2) </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Work Sans" pitchFamily="2" charset="0"/>
              <a:buChar char="•"/>
            </a:pPr>
            <a:r>
              <a:rPr lang="en-US" sz="2600" dirty="0">
                <a:solidFill>
                  <a:schemeClr val="tx1"/>
                </a:solidFill>
                <a:latin typeface="Work Sans" pitchFamily="2" charset="0"/>
                <a:cs typeface="Arial" pitchFamily="34" charset="0"/>
              </a:rPr>
              <a:t>Traction</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Based on wet stopping distances.</a:t>
            </a:r>
          </a:p>
          <a:p>
            <a:pPr marL="358775" indent="-358775">
              <a:spcBef>
                <a:spcPts val="624"/>
              </a:spcBef>
              <a:spcAft>
                <a:spcPts val="600"/>
              </a:spcAft>
              <a:buSzPct val="100000"/>
              <a:buFont typeface="Work Sans" pitchFamily="2" charset="0"/>
              <a:buChar char="•"/>
            </a:pPr>
            <a:r>
              <a:rPr lang="en-US" sz="2600" dirty="0">
                <a:solidFill>
                  <a:schemeClr val="tx1"/>
                </a:solidFill>
                <a:latin typeface="Work Sans" pitchFamily="2" charset="0"/>
                <a:cs typeface="Arial" pitchFamily="34" charset="0"/>
              </a:rPr>
              <a:t>Temperature resistance</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Heat dissipation.</a:t>
            </a:r>
          </a:p>
          <a:p>
            <a:pPr marL="358775" indent="-358775">
              <a:spcBef>
                <a:spcPts val="624"/>
              </a:spcBef>
              <a:spcAft>
                <a:spcPts val="600"/>
              </a:spcAft>
              <a:buSzPct val="100000"/>
              <a:buFont typeface="Work Sans" pitchFamily="2" charset="0"/>
              <a:buChar char="•"/>
            </a:pPr>
            <a:r>
              <a:rPr lang="en-US" sz="2600" dirty="0">
                <a:solidFill>
                  <a:schemeClr val="tx1"/>
                </a:solidFill>
                <a:latin typeface="Work Sans" pitchFamily="2" charset="0"/>
                <a:cs typeface="Arial" pitchFamily="34" charset="0"/>
              </a:rPr>
              <a:t>Inflation information</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Maximum cold inflation pressures and loading.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Tire Placard">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Tire Placard</a:t>
            </a:r>
          </a:p>
        </p:txBody>
      </p:sp>
      <p:sp>
        <p:nvSpPr>
          <p:cNvPr id="3" name="Content Placeholder 6"/>
          <p:cNvSpPr txBox="1">
            <a:spLocks noGrp="1"/>
          </p:cNvSpPr>
          <p:nvPr>
            <p:ph type="body" idx="1"/>
          </p:nvPr>
        </p:nvSpPr>
        <p:spPr>
          <a:xfrm>
            <a:off x="476844" y="1563627"/>
            <a:ext cx="11241915" cy="6461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Can be found on door jamb, glove box, fuel door, or console lid.</a:t>
            </a:r>
          </a:p>
        </p:txBody>
      </p:sp>
      <p:pic>
        <p:nvPicPr>
          <p:cNvPr id="9" name="Picture Placeholder 8" descr="A tire placard on a door jamb reads the following title: Tire and loading information renseignements sur les pneus et le chargement. The text on the tire placard reads, Seating capacity/Nombre de places - Total 5, Front/avant 2, and Rear/arriere 3. The combined weight of occupants and cargo should never exceed 375 kilograms or 826 pounds. A table in two rows and four columns lists tire, size, and cold inflation pressure. The column header reads, Tire/PNEU, Front/avant, Rear/arriere, and Spare/de secours, in order from left to right. Row 1. Tire, Original Tire size; Front, 235/35 R 20; Rear, 235/35 R 20; Spare, None. Row 2. Tire, Cold tire pressure; Front, 290 k Pa, 42 p s i; Rear, 290 k Pa, 42 ps i; Spare, None. The text at the bottom of the table reads, See owners manual for additional information.">
            <a:extLst>
              <a:ext uri="{FF2B5EF4-FFF2-40B4-BE49-F238E27FC236}">
                <a16:creationId xmlns:a16="http://schemas.microsoft.com/office/drawing/2014/main" id="{F5F775D8-BE21-DB21-C2F8-8D80AE5A48BF}"/>
              </a:ext>
            </a:extLst>
          </p:cNvPr>
          <p:cNvPicPr>
            <a:picLocks noGrp="1" noChangeAspect="1"/>
          </p:cNvPicPr>
          <p:nvPr>
            <p:ph type="pic" sz="quarter" idx="12"/>
          </p:nvPr>
        </p:nvPicPr>
        <p:blipFill rotWithShape="1">
          <a:blip r:embed="rId3"/>
          <a:srcRect b="10927"/>
          <a:stretch/>
        </p:blipFill>
        <p:spPr>
          <a:xfrm>
            <a:off x="2389011" y="2533288"/>
            <a:ext cx="7413979" cy="325791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Inflation Pressure">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Inflation Pressure</a:t>
            </a:r>
          </a:p>
        </p:txBody>
      </p:sp>
      <p:pic>
        <p:nvPicPr>
          <p:cNvPr id="9" name="Picture Placeholder 8" descr="A table depicts the three conditions of the effect and cause of inflation on tread contact and wear. The first condition is Rapid wear at the center, the effect of the tire layers in an irregular pattern. The tire cause of this condition is overinflation or lack of rotation and the depth tread is labeled as a contact patch area. The second condition is Rapid wear at the shoulder, the effect of the tire layers in a regular pattern. The tire cause of this condition is inflation or lack of rotation and the tread of the tire is labeled as a contact patch area. The third condition is cracked treads, the effect of the tire layers in a cracked pattern and the cause of this condition is underinflation or excessive speed. The corrections for the above conditions are adjusting the pressure to specifications, and rotating the tires when they are cool.">
            <a:extLst>
              <a:ext uri="{FF2B5EF4-FFF2-40B4-BE49-F238E27FC236}">
                <a16:creationId xmlns:a16="http://schemas.microsoft.com/office/drawing/2014/main" id="{0AB1324E-26F4-AA19-6890-ABFC5D7CA9CC}"/>
              </a:ext>
            </a:extLst>
          </p:cNvPr>
          <p:cNvPicPr>
            <a:picLocks noGrp="1" noChangeAspect="1"/>
          </p:cNvPicPr>
          <p:nvPr>
            <p:ph type="pic" sz="quarter" idx="12"/>
          </p:nvPr>
        </p:nvPicPr>
        <p:blipFill rotWithShape="1">
          <a:blip r:embed="rId3"/>
          <a:srcRect b="4591"/>
          <a:stretch/>
        </p:blipFill>
        <p:spPr>
          <a:xfrm>
            <a:off x="3740313" y="1497325"/>
            <a:ext cx="4711375" cy="445012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Tire Rotati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Tire Rotation</a:t>
            </a:r>
          </a:p>
        </p:txBody>
      </p:sp>
      <p:pic>
        <p:nvPicPr>
          <p:cNvPr id="8" name="Picture Placeholder 7" descr="A set of seven illustrations depicts cross patterns of F W D car. The first illustration (A) depicts a forward cross pattern and the text reads: primary pattern for front-wheel drive vehicles. The second illustration (B) depicts an X-pattern and the text reads: alternate pattern. The third illustration (C) depicts a rearward cross and the text reads: primary pattern for rear and four-wheel drive vehicles. The fourth illustration (D) depicts a front-to-rear pattern and the text reads: same size directional wheels or tires. The fifth illustration (E) depicts a side-to-side pattern and the text reads: differently sized non-directional wheels or tires. The sixth illustration (F) is a forward cross pattern and the text reads: front wheel drive vehicles w/full-size matching spare. The seventh illustration (G) depicts a rearward cross pattern and the text reads: rear and four-wheel drive vehicles with full-size matching spare.">
            <a:extLst>
              <a:ext uri="{FF2B5EF4-FFF2-40B4-BE49-F238E27FC236}">
                <a16:creationId xmlns:a16="http://schemas.microsoft.com/office/drawing/2014/main" id="{04D42BE9-B308-BA1C-7936-E75278D1DBC6}"/>
              </a:ext>
            </a:extLst>
          </p:cNvPr>
          <p:cNvPicPr>
            <a:picLocks noGrp="1" noChangeAspect="1"/>
          </p:cNvPicPr>
          <p:nvPr>
            <p:ph type="pic" sz="quarter" idx="12"/>
          </p:nvPr>
        </p:nvPicPr>
        <p:blipFill rotWithShape="1">
          <a:blip r:embed="rId3"/>
          <a:srcRect b="16642"/>
          <a:stretch/>
        </p:blipFill>
        <p:spPr>
          <a:xfrm>
            <a:off x="2706553" y="1530036"/>
            <a:ext cx="6778894" cy="446407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age39">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cs typeface="Arial" pitchFamily="34" charset="0"/>
              </a:rPr>
              <a:t>Tread Depth</a:t>
            </a:r>
          </a:p>
        </p:txBody>
      </p:sp>
      <p:pic>
        <p:nvPicPr>
          <p:cNvPr id="9" name="Picture Placeholder 8" descr="Two illustrations (A) and (B). The first illustration (A) depicts the tread depth wear bars of a tire. The second illustration (B) depicts an instrument placed between the treads to measure the tread depth of the tire.">
            <a:extLst>
              <a:ext uri="{FF2B5EF4-FFF2-40B4-BE49-F238E27FC236}">
                <a16:creationId xmlns:a16="http://schemas.microsoft.com/office/drawing/2014/main" id="{F2B8815C-12D2-08E5-2A3F-001FE6F7B6C9}"/>
              </a:ext>
            </a:extLst>
          </p:cNvPr>
          <p:cNvPicPr>
            <a:picLocks noGrp="1" noChangeAspect="1"/>
          </p:cNvPicPr>
          <p:nvPr>
            <p:ph type="pic" sz="quarter" idx="12"/>
          </p:nvPr>
        </p:nvPicPr>
        <p:blipFill rotWithShape="1">
          <a:blip r:embed="rId3"/>
          <a:srcRect b="8090"/>
          <a:stretch/>
        </p:blipFill>
        <p:spPr>
          <a:xfrm>
            <a:off x="4341155" y="1535774"/>
            <a:ext cx="3841762" cy="440782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Tire Pressure Monitor (TPM)">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Tire Pressure Monitor (TPM)</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spcBef>
                <a:spcPts val="624"/>
              </a:spcBef>
              <a:spcAft>
                <a:spcPts val="600"/>
              </a:spcAft>
              <a:buNone/>
            </a:pPr>
            <a:r>
              <a:rPr lang="en-US" sz="2600" b="1" dirty="0">
                <a:solidFill>
                  <a:schemeClr val="tx1"/>
                </a:solidFill>
                <a:latin typeface="Work Sans" pitchFamily="2" charset="0"/>
              </a:rPr>
              <a:t>45.03 Describe the operation, diagnosis, and service for a tire pressure monitor</a:t>
            </a:r>
            <a:r>
              <a:rPr lang="en-US" sz="2600" dirty="0">
                <a:solidFill>
                  <a:schemeClr val="tx1"/>
                </a:solidFill>
                <a:latin typeface="Work Sans" pitchFamily="2" charset="0"/>
              </a:rPr>
              <a:t>.</a:t>
            </a:r>
            <a:endParaRPr lang="en-US" sz="2600" dirty="0">
              <a:solidFill>
                <a:schemeClr val="tx1"/>
              </a:solidFill>
              <a:latin typeface="Work Sans" pitchFamily="2" charset="0"/>
              <a:cs typeface="Arial" pitchFamily="34" charset="0"/>
            </a:endParaRPr>
          </a:p>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Standard on all 2007 and newer passenger vehicles 10,000 pounds or less.</a:t>
            </a:r>
          </a:p>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Must illuminate a warning light if pressure is 25 percent below recommended cold pressure.</a:t>
            </a:r>
          </a:p>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Two systems used</a:t>
            </a:r>
          </a:p>
          <a:p>
            <a:pPr marL="715963" lvl="1" indent="-357188">
              <a:spcBef>
                <a:spcPts val="624"/>
              </a:spcBef>
              <a:spcAft>
                <a:spcPts val="600"/>
              </a:spcAft>
              <a:buSzPct val="100000"/>
              <a:buFont typeface="Arial" panose="020B0604020202020204" pitchFamily="34" charset="0"/>
              <a:buChar char="–"/>
              <a:tabLst>
                <a:tab pos="715963" algn="l"/>
              </a:tabLst>
            </a:pPr>
            <a:r>
              <a:rPr lang="en-US" dirty="0">
                <a:solidFill>
                  <a:schemeClr val="tx1"/>
                </a:solidFill>
                <a:latin typeface="Work Sans" pitchFamily="2" charset="0"/>
                <a:cs typeface="Arial" pitchFamily="34" charset="0"/>
              </a:rPr>
              <a:t>Direct</a:t>
            </a:r>
          </a:p>
          <a:p>
            <a:pPr marL="715963" lvl="1" indent="-357188">
              <a:spcBef>
                <a:spcPts val="624"/>
              </a:spcBef>
              <a:spcAft>
                <a:spcPts val="600"/>
              </a:spcAft>
              <a:buSzPct val="100000"/>
              <a:buFont typeface="Arial" panose="020B0604020202020204" pitchFamily="34" charset="0"/>
              <a:buChar char="–"/>
              <a:tabLst>
                <a:tab pos="715963" algn="l"/>
              </a:tabLst>
            </a:pPr>
            <a:r>
              <a:rPr lang="en-US" dirty="0">
                <a:solidFill>
                  <a:schemeClr val="tx1"/>
                </a:solidFill>
                <a:latin typeface="Work Sans" pitchFamily="2" charset="0"/>
                <a:cs typeface="Arial" pitchFamily="34" charset="0"/>
              </a:rPr>
              <a:t>Indirect</a:t>
            </a:r>
            <a:endParaRPr lang="en-US" sz="2000" dirty="0">
              <a:solidFill>
                <a:schemeClr val="tx1"/>
              </a:solidFill>
              <a:latin typeface="Work Sans" pitchFamily="2" charset="0"/>
              <a:cs typeface="Arial"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Direct TPM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Direct TPMS</a:t>
            </a:r>
          </a:p>
        </p:txBody>
      </p:sp>
      <p:sp>
        <p:nvSpPr>
          <p:cNvPr id="3" name="Content Placeholder 2"/>
          <p:cNvSpPr txBox="1">
            <a:spLocks noGrp="1"/>
          </p:cNvSpPr>
          <p:nvPr>
            <p:ph type="body" idx="1"/>
          </p:nvPr>
        </p:nvSpPr>
        <p:spPr>
          <a:xfrm>
            <a:off x="476845" y="1563626"/>
            <a:ext cx="5009555" cy="37703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Use pressure sensors in each wheel to transmit pressure.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Sensors may be part of valve stem or strapped to wheel drop center.</a:t>
            </a:r>
          </a:p>
        </p:txBody>
      </p:sp>
      <p:pic>
        <p:nvPicPr>
          <p:cNvPr id="9" name="Picture Placeholder 8" descr="A tire rim depicts a pressure monitor and air valve affixed to it.">
            <a:extLst>
              <a:ext uri="{FF2B5EF4-FFF2-40B4-BE49-F238E27FC236}">
                <a16:creationId xmlns:a16="http://schemas.microsoft.com/office/drawing/2014/main" id="{0ABAC39D-A310-7C03-221C-8B1CFEB76899}"/>
              </a:ext>
            </a:extLst>
          </p:cNvPr>
          <p:cNvPicPr>
            <a:picLocks noGrp="1" noChangeAspect="1"/>
          </p:cNvPicPr>
          <p:nvPr>
            <p:ph type="pic" sz="quarter" idx="12"/>
          </p:nvPr>
        </p:nvPicPr>
        <p:blipFill rotWithShape="1">
          <a:blip r:embed="rId3"/>
          <a:srcRect b="11196"/>
          <a:stretch/>
        </p:blipFill>
        <p:spPr>
          <a:xfrm>
            <a:off x="6073036" y="1752600"/>
            <a:ext cx="5553742" cy="424970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Indirect TPMS">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Indirect TPMS</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Meets standard at lower cost.</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Use input from ABS wheel speed sensors.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A tire with low pressure will have a different number of revolutions per mile.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Indirect systems not as accurate.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Do not tell driver which tire is low.</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TPMS Testing (Cont.)">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TPMS Scan Tool Data</a:t>
            </a:r>
          </a:p>
        </p:txBody>
      </p:sp>
      <p:pic>
        <p:nvPicPr>
          <p:cNvPr id="9" name="Picture Placeholder 8" descr="A screenshot depicts T P M data on a scan tool. The screenshot has a table in three columns labeled Porsche v7.00 with seven buttons beside, and a search button at the right end. Row-wise data are as follows; row 1. Identification (wheel electronics) front left with a drop-down button, 1008661487, blank; row 2. front left wheel actual pressure with a drop-down button, 40.248, p s i; row 3. front left wheel temperature with a drop-down button, 78.8, degree Fahrenheit; row 4. Setpoint pressure (20 degrees Celsius/ 68 degree Fahrenheit), front left with a drop-down button, 30.458, p s i; row 5. Remaining battery life (wheel electronics), front left with a drop-down button, 120, month; row 6. Status of the front left wheel electronics with a drop-down button, active, blank. A blank checkbox is at the left end of each row.">
            <a:extLst>
              <a:ext uri="{FF2B5EF4-FFF2-40B4-BE49-F238E27FC236}">
                <a16:creationId xmlns:a16="http://schemas.microsoft.com/office/drawing/2014/main" id="{33E90ABC-CC54-26FA-E217-5A1186BB5B2F}"/>
              </a:ext>
            </a:extLst>
          </p:cNvPr>
          <p:cNvPicPr>
            <a:picLocks noGrp="1" noChangeAspect="1"/>
          </p:cNvPicPr>
          <p:nvPr>
            <p:ph type="pic" sz="quarter" idx="12"/>
          </p:nvPr>
        </p:nvPicPr>
        <p:blipFill rotWithShape="1">
          <a:blip r:embed="rId3"/>
          <a:srcRect b="9351"/>
          <a:stretch/>
        </p:blipFill>
        <p:spPr>
          <a:xfrm>
            <a:off x="1705797" y="1678890"/>
            <a:ext cx="8780406" cy="411231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TPMS Testing (Co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TPMS Test Tool</a:t>
            </a:r>
          </a:p>
        </p:txBody>
      </p:sp>
      <p:sp>
        <p:nvSpPr>
          <p:cNvPr id="3" name="Content Placeholder 2"/>
          <p:cNvSpPr txBox="1">
            <a:spLocks noGrp="1"/>
          </p:cNvSpPr>
          <p:nvPr>
            <p:ph sz="quarter" idx="10"/>
          </p:nvPr>
        </p:nvSpPr>
        <p:spPr>
          <a:xfrm>
            <a:off x="685800" y="1524000"/>
            <a:ext cx="6705600" cy="23622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 TPM sensor tool is a wireless tool that may be used with a scan tool for diagnosing sensors and allowing the system to relearn when a part has been replaced.</a:t>
            </a:r>
            <a:endParaRPr lang="en-US" sz="2600" dirty="0">
              <a:solidFill>
                <a:schemeClr val="tx1"/>
              </a:solidFill>
              <a:latin typeface="Work Sans" pitchFamily="2" charset="0"/>
              <a:cs typeface="Arial" pitchFamily="34" charset="0"/>
            </a:endParaRPr>
          </a:p>
        </p:txBody>
      </p:sp>
      <p:pic>
        <p:nvPicPr>
          <p:cNvPr id="9" name="Picture Placeholder 8" descr="A tire pressure wireless monitor tester of the brand, Tech 400, with various buttons for its operation is placed near a tire air valve.">
            <a:extLst>
              <a:ext uri="{FF2B5EF4-FFF2-40B4-BE49-F238E27FC236}">
                <a16:creationId xmlns:a16="http://schemas.microsoft.com/office/drawing/2014/main" id="{75014D6A-0084-94FE-009E-FCAE648BB1B3}"/>
              </a:ext>
            </a:extLst>
          </p:cNvPr>
          <p:cNvPicPr>
            <a:picLocks noGrp="1" noChangeAspect="1"/>
          </p:cNvPicPr>
          <p:nvPr>
            <p:ph type="pic" sz="quarter" idx="12"/>
          </p:nvPr>
        </p:nvPicPr>
        <p:blipFill rotWithShape="1">
          <a:blip r:embed="rId3"/>
          <a:srcRect b="5703"/>
          <a:stretch/>
        </p:blipFill>
        <p:spPr>
          <a:xfrm>
            <a:off x="7871723" y="1477734"/>
            <a:ext cx="3817765" cy="454206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Knowledge Check (2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dirty="0">
                <a:solidFill>
                  <a:schemeClr val="tx1"/>
                </a:solidFill>
                <a:latin typeface="Work Sans" pitchFamily="2" charset="0"/>
                <a:cs typeface="Arial" pitchFamily="34" charset="0"/>
              </a:rPr>
              <a:t>Technician A says vehicles with TPM systems may require special tire service procedures.</a:t>
            </a:r>
          </a:p>
          <a:p>
            <a:pPr marL="0" indent="0">
              <a:spcBef>
                <a:spcPts val="624"/>
              </a:spcBef>
              <a:spcAft>
                <a:spcPts val="600"/>
              </a:spcAft>
              <a:buSzPct val="100000"/>
              <a:buNone/>
            </a:pPr>
            <a:r>
              <a:rPr lang="en-US" sz="2600" dirty="0">
                <a:solidFill>
                  <a:schemeClr val="tx1"/>
                </a:solidFill>
                <a:latin typeface="Work Sans" pitchFamily="2" charset="0"/>
                <a:cs typeface="Arial" pitchFamily="34" charset="0"/>
              </a:rPr>
              <a:t>Technician B says the TPM system may need to relearn sensor location after a tire rotation.</a:t>
            </a:r>
          </a:p>
          <a:p>
            <a:pPr marL="0" indent="0">
              <a:spcBef>
                <a:spcPts val="624"/>
              </a:spcBef>
              <a:spcAft>
                <a:spcPts val="600"/>
              </a:spcAft>
              <a:buSzPct val="100000"/>
              <a:buNone/>
            </a:pPr>
            <a:r>
              <a:rPr lang="en-US" sz="2600" dirty="0">
                <a:solidFill>
                  <a:schemeClr val="tx1"/>
                </a:solidFill>
                <a:latin typeface="Work Sans" pitchFamily="2" charset="0"/>
                <a:cs typeface="Arial" pitchFamily="34" charset="0"/>
              </a:rPr>
              <a:t>Who is correct?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Knowledge Check Answer (2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dirty="0">
                <a:solidFill>
                  <a:schemeClr val="tx1"/>
                </a:solidFill>
                <a:latin typeface="Work Sans" pitchFamily="2" charset="0"/>
                <a:cs typeface="Arial" pitchFamily="34" charset="0"/>
              </a:rPr>
              <a:t>Technician A says vehicles with TPM systems may require special tire service procedures. </a:t>
            </a:r>
          </a:p>
          <a:p>
            <a:pPr marL="0" indent="0">
              <a:spcBef>
                <a:spcPts val="624"/>
              </a:spcBef>
              <a:spcAft>
                <a:spcPts val="600"/>
              </a:spcAft>
              <a:buSzPct val="100000"/>
              <a:buNone/>
            </a:pPr>
            <a:r>
              <a:rPr lang="en-US" sz="2600" dirty="0">
                <a:solidFill>
                  <a:schemeClr val="tx1"/>
                </a:solidFill>
                <a:latin typeface="Work Sans" pitchFamily="2" charset="0"/>
                <a:cs typeface="Arial" pitchFamily="34" charset="0"/>
              </a:rPr>
              <a:t>Technician B says the TPM system may need to relearn sensor location after a tire rotation. </a:t>
            </a:r>
          </a:p>
          <a:p>
            <a:pPr marL="0" indent="0">
              <a:spcBef>
                <a:spcPts val="624"/>
              </a:spcBef>
              <a:spcAft>
                <a:spcPts val="600"/>
              </a:spcAft>
              <a:buSzPct val="100000"/>
              <a:buNone/>
            </a:pPr>
            <a:r>
              <a:rPr lang="en-US" sz="2600" dirty="0">
                <a:solidFill>
                  <a:schemeClr val="tx1"/>
                </a:solidFill>
                <a:latin typeface="Work Sans" pitchFamily="2" charset="0"/>
                <a:cs typeface="Arial" pitchFamily="34" charset="0"/>
              </a:rPr>
              <a:t>Who is correct?</a:t>
            </a:r>
          </a:p>
          <a:p>
            <a:pPr marL="0" indent="0">
              <a:spcBef>
                <a:spcPts val="624"/>
              </a:spcBef>
              <a:spcAft>
                <a:spcPts val="600"/>
              </a:spcAft>
              <a:buSzPct val="100000"/>
              <a:buNone/>
            </a:pPr>
            <a:r>
              <a:rPr lang="en-US" sz="2600" b="1" dirty="0">
                <a:solidFill>
                  <a:schemeClr val="tx1"/>
                </a:solidFill>
                <a:latin typeface="Work Sans" pitchFamily="2" charset="0"/>
                <a:cs typeface="Arial" pitchFamily="34" charset="0"/>
              </a:rPr>
              <a:t>Answer: </a:t>
            </a:r>
            <a:r>
              <a:rPr lang="en-US" sz="2600" dirty="0">
                <a:solidFill>
                  <a:schemeClr val="tx1"/>
                </a:solidFill>
                <a:latin typeface="Work Sans" pitchFamily="2" charset="0"/>
                <a:cs typeface="Arial" pitchFamily="34" charset="0"/>
              </a:rPr>
              <a:t>Both Technicians A and B</a:t>
            </a:r>
          </a:p>
        </p:txBody>
      </p:sp>
    </p:spTree>
    <p:extLst>
      <p:ext uri="{BB962C8B-B14F-4D97-AF65-F5344CB8AC3E}">
        <p14:creationId xmlns:p14="http://schemas.microsoft.com/office/powerpoint/2010/main" val="3332533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Tire/Wheel Runou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Tire/Wheel </a:t>
            </a:r>
            <a:r>
              <a:rPr lang="en-US" dirty="0" err="1">
                <a:cs typeface="Arial" pitchFamily="34" charset="0"/>
              </a:rPr>
              <a:t>Runout</a:t>
            </a:r>
            <a:endParaRPr lang="en-US" dirty="0">
              <a:cs typeface="Arial" pitchFamily="34" charset="0"/>
            </a:endParaRPr>
          </a:p>
        </p:txBody>
      </p:sp>
      <p:sp>
        <p:nvSpPr>
          <p:cNvPr id="3" name="Content Placeholder 2"/>
          <p:cNvSpPr txBox="1">
            <a:spLocks noGrp="1"/>
          </p:cNvSpPr>
          <p:nvPr>
            <p:ph type="body" idx="1"/>
          </p:nvPr>
        </p:nvSpPr>
        <p:spPr>
          <a:xfrm>
            <a:off x="476845" y="1563626"/>
            <a:ext cx="6914556" cy="39989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b="1" dirty="0">
                <a:solidFill>
                  <a:schemeClr val="tx1"/>
                </a:solidFill>
                <a:latin typeface="Work Sans" pitchFamily="2" charset="0"/>
                <a:cs typeface="Arial" pitchFamily="34" charset="0"/>
              </a:rPr>
              <a:t>45.04 Inspect the wheel and tire assembly for runout.</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An out-of-round tire/wheel has radial runout.</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A tire/wheel that wobbles side-to-side has lateral </a:t>
            </a:r>
            <a:r>
              <a:rPr lang="en-US" sz="2600" dirty="0" err="1">
                <a:solidFill>
                  <a:schemeClr val="tx1"/>
                </a:solidFill>
                <a:latin typeface="Work Sans" pitchFamily="2" charset="0"/>
                <a:cs typeface="Arial" pitchFamily="34" charset="0"/>
              </a:rPr>
              <a:t>runout</a:t>
            </a:r>
            <a:r>
              <a:rPr lang="en-US" sz="2600" dirty="0">
                <a:solidFill>
                  <a:schemeClr val="tx1"/>
                </a:solidFill>
                <a:latin typeface="Work Sans" pitchFamily="2" charset="0"/>
                <a:cs typeface="Arial" pitchFamily="34" charset="0"/>
              </a:rPr>
              <a:t>.</a:t>
            </a:r>
          </a:p>
        </p:txBody>
      </p:sp>
      <p:pic>
        <p:nvPicPr>
          <p:cNvPr id="10" name="Picture Placeholder 9" descr="Two illustrations. The first illustration depicts the tire radial run out. Two dial indicators are fixed in the bead of the tire. The upward dial indicator is labeled as Front and rear wheel radial run out and the leftward dial indicator is labeled as Front and rear wheel lateral run out. The second illustration depicts a rotated wheel assembly fixed on a tire and an arrow pointing toward the measuring dial is labeled as a dial indicator.">
            <a:extLst>
              <a:ext uri="{FF2B5EF4-FFF2-40B4-BE49-F238E27FC236}">
                <a16:creationId xmlns:a16="http://schemas.microsoft.com/office/drawing/2014/main" id="{1C758C20-6F83-5AB8-F6B0-7168B1D87663}"/>
              </a:ext>
            </a:extLst>
          </p:cNvPr>
          <p:cNvPicPr>
            <a:picLocks noGrp="1" noChangeAspect="1"/>
          </p:cNvPicPr>
          <p:nvPr>
            <p:ph type="pic" sz="quarter" idx="12"/>
          </p:nvPr>
        </p:nvPicPr>
        <p:blipFill rotWithShape="1">
          <a:blip r:embed="rId3"/>
          <a:srcRect b="4123"/>
          <a:stretch/>
        </p:blipFill>
        <p:spPr>
          <a:xfrm>
            <a:off x="7918673" y="1789729"/>
            <a:ext cx="3463837" cy="430627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Tire Pull">
    <p:spTree>
      <p:nvGrpSpPr>
        <p:cNvPr id="1" name=""/>
        <p:cNvGrpSpPr/>
        <p:nvPr/>
      </p:nvGrpSpPr>
      <p:grpSpPr>
        <a:xfrm>
          <a:off x="0" y="0"/>
          <a:ext cx="0" cy="0"/>
          <a:chOff x="0" y="0"/>
          <a:chExt cx="0" cy="0"/>
        </a:xfrm>
      </p:grpSpPr>
      <p:sp>
        <p:nvSpPr>
          <p:cNvPr id="2" name="Title 2"/>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Tire Pull</a:t>
            </a:r>
          </a:p>
        </p:txBody>
      </p:sp>
      <p:sp>
        <p:nvSpPr>
          <p:cNvPr id="3"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A tire can cause a pull while driving.</a:t>
            </a:r>
          </a:p>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Developed during tire manufacturing.</a:t>
            </a:r>
          </a:p>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Rotate tires to reduce or eliminate the pull.</a:t>
            </a:r>
          </a:p>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May require tire replacement.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Tire Replacement">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Tire Replacement</a:t>
            </a:r>
          </a:p>
        </p:txBody>
      </p:sp>
      <p:sp>
        <p:nvSpPr>
          <p:cNvPr id="2" name="Content Placeholder 3"/>
          <p:cNvSpPr txBox="1">
            <a:spLocks noGrp="1"/>
          </p:cNvSpPr>
          <p:nvPr>
            <p:ph type="body" idx="1"/>
          </p:nvPr>
        </p:nvSpPr>
        <p:spPr>
          <a:xfrm>
            <a:off x="476844" y="1335026"/>
            <a:ext cx="11241915" cy="4684774"/>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spcBef>
                <a:spcPts val="624"/>
              </a:spcBef>
              <a:spcAft>
                <a:spcPts val="600"/>
              </a:spcAft>
              <a:buNone/>
            </a:pPr>
            <a:r>
              <a:rPr lang="en-US" sz="2600" b="1" dirty="0">
                <a:solidFill>
                  <a:schemeClr val="tx1"/>
                </a:solidFill>
                <a:latin typeface="Work Sans" pitchFamily="2" charset="0"/>
              </a:rPr>
              <a:t>45.05 Remove, replace, and install a wheel and tire assembly.</a:t>
            </a:r>
            <a:endParaRPr lang="en-US" sz="2600" dirty="0">
              <a:solidFill>
                <a:schemeClr val="tx1"/>
              </a:solidFill>
              <a:latin typeface="Work Sans" pitchFamily="2" charset="0"/>
              <a:cs typeface="Arial" pitchFamily="34" charset="0"/>
            </a:endParaRP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Choose a tire that matches the original tires.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Conditions that require replacement</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Blisters or bulges.</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Ply separation.</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Broken or cracked beads.</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Fabric cracks or cuts.</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Wear indicators showing.</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Punctures larger than 1/4 inch (6 mm).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Changing Tire and/or Wheel Siz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Changing Tire and/or Wheel Size </a:t>
            </a:r>
          </a:p>
        </p:txBody>
      </p:sp>
      <p:pic>
        <p:nvPicPr>
          <p:cNvPr id="9" name="Picture Placeholder 8" descr="Four different diameters of tire with their side views. The first 195/75-14 model tire is mounted on height 14 of 6 inches, the diameter of the tire is 25.5 inches and the side view of this tire width is 195 millimeters. The second 205/65 model tire is mounted on height 15 of 7 inches, the diameter of the tire is 25.5 inches and the side view of this tire's width is 205 millimeters. The third 255/55-16 model tire is mounted on height 16 of 7.5 inches, the diameter of the tire is 25.7 inches and the side view of this tire width is 225 millimeters. The fourth 235/45-17 model tire is mounted on a height of 17 of 8 inches, the diameter of the tire is 25.3 inches and the side of view of this tire width is 235 millimeters.">
            <a:extLst>
              <a:ext uri="{FF2B5EF4-FFF2-40B4-BE49-F238E27FC236}">
                <a16:creationId xmlns:a16="http://schemas.microsoft.com/office/drawing/2014/main" id="{D88F67D6-ABFA-D318-CD0C-E73366ED8922}"/>
              </a:ext>
            </a:extLst>
          </p:cNvPr>
          <p:cNvPicPr>
            <a:picLocks noGrp="1" noChangeAspect="1"/>
          </p:cNvPicPr>
          <p:nvPr>
            <p:ph type="pic" sz="quarter" idx="12"/>
          </p:nvPr>
        </p:nvPicPr>
        <p:blipFill rotWithShape="1">
          <a:blip r:embed="rId3"/>
          <a:srcRect b="8437"/>
          <a:stretch/>
        </p:blipFill>
        <p:spPr>
          <a:xfrm>
            <a:off x="1354521" y="2053971"/>
            <a:ext cx="9482958" cy="251802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Calculating Tire Dimension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Calculating Tire Dimensions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63538" indent="-363538">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To determine section height</a:t>
            </a:r>
          </a:p>
          <a:p>
            <a:pPr marL="444500" indent="12700">
              <a:spcBef>
                <a:spcPts val="624"/>
              </a:spcBef>
              <a:spcAft>
                <a:spcPts val="600"/>
              </a:spcAft>
              <a:buSzPct val="100000"/>
              <a:buNone/>
            </a:pPr>
            <a:r>
              <a:rPr lang="en-US" sz="2600" dirty="0">
                <a:solidFill>
                  <a:schemeClr val="tx1"/>
                </a:solidFill>
                <a:latin typeface="Work Sans" pitchFamily="2" charset="0"/>
                <a:cs typeface="Arial" pitchFamily="34" charset="0"/>
              </a:rPr>
              <a:t>Width  x  aspect ratio = section height</a:t>
            </a:r>
          </a:p>
          <a:p>
            <a:pPr marL="363538" indent="-363538">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To determine overall diameter.</a:t>
            </a:r>
          </a:p>
          <a:p>
            <a:pPr marL="363538" indent="-363538">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Combined section height (sectional height x 2)</a:t>
            </a:r>
          </a:p>
          <a:p>
            <a:pPr marL="444500" indent="0">
              <a:spcBef>
                <a:spcPts val="624"/>
              </a:spcBef>
              <a:spcAft>
                <a:spcPts val="600"/>
              </a:spcAft>
              <a:buSzPct val="100000"/>
              <a:buNone/>
            </a:pPr>
            <a:r>
              <a:rPr lang="en-US" sz="2600" dirty="0">
                <a:solidFill>
                  <a:schemeClr val="tx1"/>
                </a:solidFill>
                <a:latin typeface="Work Sans" pitchFamily="2" charset="0"/>
                <a:cs typeface="Arial" pitchFamily="34" charset="0"/>
              </a:rPr>
              <a:t> + wheel diameter = tire diameter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Tire Repai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Tire Repair</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None/>
            </a:pPr>
            <a:r>
              <a:rPr lang="en-US" sz="2600" b="1" dirty="0">
                <a:solidFill>
                  <a:schemeClr val="tx1"/>
                </a:solidFill>
                <a:latin typeface="Work Sans" pitchFamily="2" charset="0"/>
              </a:rPr>
              <a:t>45.06 Perform wheel and tire services and repairs.</a:t>
            </a:r>
            <a:endParaRPr lang="en-US" sz="2600" dirty="0">
              <a:solidFill>
                <a:schemeClr val="tx1"/>
              </a:solidFill>
              <a:latin typeface="Work Sans" pitchFamily="2" charset="0"/>
              <a:cs typeface="Arial" pitchFamily="34" charset="0"/>
            </a:endParaRP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Most punctures can be repaired.</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Sealants may seal but may not</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Never use sealants on sidewall punctures.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Inflate to proper pressure and spray with soapy water.</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If the tire has a TPMS sensor, unbolt the sensor and allow it drop into the tire before attempting to dismount the tire.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Repair Method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Repair Methods</a:t>
            </a:r>
          </a:p>
        </p:txBody>
      </p:sp>
      <p:sp>
        <p:nvSpPr>
          <p:cNvPr id="2"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Head-Type Plug</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A plug is inserted into the puncture from the inside.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Cold Patch Repair</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A patch is glued to the inside of the tire.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Hot Patch Repair</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Similar to a cold patch, but heat is used to make it adhere to the tire.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Inflati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Inflation</a:t>
            </a:r>
          </a:p>
        </p:txBody>
      </p:sp>
      <p:sp>
        <p:nvSpPr>
          <p:cNvPr id="3" name="Content Placeholder 2"/>
          <p:cNvSpPr txBox="1">
            <a:spLocks noGrp="1"/>
          </p:cNvSpPr>
          <p:nvPr>
            <p:ph type="body" idx="1"/>
          </p:nvPr>
        </p:nvSpPr>
        <p:spPr>
          <a:xfrm>
            <a:off x="476845" y="1563626"/>
            <a:ext cx="6304956" cy="39227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Inflate to recommend pressure and check for leaks around beads and point of repair.</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Some vehicles have tires inflated with nitrogen.</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More consistent pressure.</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Look for green valve stem caps.</a:t>
            </a:r>
          </a:p>
        </p:txBody>
      </p:sp>
      <p:pic>
        <p:nvPicPr>
          <p:cNvPr id="9" name="Picture Placeholder 8" descr="A nitrogen gas filling unit to inflate the tires. The machine is labeled Pure Nitro Tire Inflator with dial pressure indicators and buttons.">
            <a:extLst>
              <a:ext uri="{FF2B5EF4-FFF2-40B4-BE49-F238E27FC236}">
                <a16:creationId xmlns:a16="http://schemas.microsoft.com/office/drawing/2014/main" id="{ABFF3F32-9C62-1F2E-85B1-0A491F5A93DA}"/>
              </a:ext>
            </a:extLst>
          </p:cNvPr>
          <p:cNvPicPr>
            <a:picLocks noGrp="1" noChangeAspect="1"/>
          </p:cNvPicPr>
          <p:nvPr>
            <p:ph type="pic" sz="quarter" idx="12"/>
          </p:nvPr>
        </p:nvPicPr>
        <p:blipFill rotWithShape="1">
          <a:blip r:embed="rId3"/>
          <a:srcRect b="2890"/>
          <a:stretch/>
        </p:blipFill>
        <p:spPr>
          <a:xfrm>
            <a:off x="7514599" y="1600200"/>
            <a:ext cx="2696201" cy="4422757"/>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Installation on the Vehicl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Tire Installation </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Carefully inspect the wheel, hub, lug nuts and studs.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Check wheel bearings.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Clean hub flange and wheel bore.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Coat flange with disc brake grease or similar.</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Install, center, and seat wheel.</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Torque to specifications.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Tire/Wheel Balance">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Tire/Wheel Balance</a:t>
            </a:r>
          </a:p>
        </p:txBody>
      </p:sp>
      <p:sp>
        <p:nvSpPr>
          <p:cNvPr id="2"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46075" indent="-3460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Static Balance</a:t>
            </a:r>
          </a:p>
          <a:p>
            <a:pPr marL="715963" lvl="1"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cs typeface="Arial" pitchFamily="34" charset="0"/>
              </a:rPr>
              <a:t>Is the equal distribution of weight around the wheel.</a:t>
            </a:r>
          </a:p>
          <a:p>
            <a:pPr marL="715963" lvl="1"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cs typeface="Arial" pitchFamily="34" charset="0"/>
              </a:rPr>
              <a:t>Static unbalance causes wheel tramp.</a:t>
            </a:r>
          </a:p>
          <a:p>
            <a:pPr marL="346075" indent="-3460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Dynamic Balance</a:t>
            </a:r>
          </a:p>
          <a:p>
            <a:pPr marL="715963" lvl="1"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cs typeface="Arial" pitchFamily="34" charset="0"/>
              </a:rPr>
              <a:t>Is the equal distribution of weight on either side of the centerline.</a:t>
            </a:r>
          </a:p>
          <a:p>
            <a:pPr marL="715963" lvl="1"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cs typeface="Arial" pitchFamily="34" charset="0"/>
              </a:rPr>
              <a:t>Dynamic unbalance causes wheel shimmy.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Dynamic Balance">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Dynamic Balance</a:t>
            </a:r>
          </a:p>
        </p:txBody>
      </p:sp>
      <p:pic>
        <p:nvPicPr>
          <p:cNvPr id="9" name="Picture Placeholder 8" descr="A dynamic wheel balance calls for a weight to be attached to the wheel to compensate for a heavy spot on a wheel. On the left is the plan view of the wheel which has both static and dynamic imbalance with the weight placed on the bottom edge. The right side depicts the side view of the wheel with the weight placed on the bottom center. Two arrows are at the bottom. One arrow labeled kick of spindle points toward the center of the wheel. The other arrow labeled Heavy spot wheel shimmy points toward the weight on both sides of the wheel.">
            <a:extLst>
              <a:ext uri="{FF2B5EF4-FFF2-40B4-BE49-F238E27FC236}">
                <a16:creationId xmlns:a16="http://schemas.microsoft.com/office/drawing/2014/main" id="{194A88BD-AE02-E072-EABA-1126743BCB18}"/>
              </a:ext>
            </a:extLst>
          </p:cNvPr>
          <p:cNvPicPr>
            <a:picLocks noGrp="1" noChangeAspect="1"/>
          </p:cNvPicPr>
          <p:nvPr>
            <p:ph type="pic" sz="quarter" idx="12"/>
          </p:nvPr>
        </p:nvPicPr>
        <p:blipFill rotWithShape="1">
          <a:blip r:embed="rId3"/>
          <a:srcRect b="12666"/>
          <a:stretch/>
        </p:blipFill>
        <p:spPr>
          <a:xfrm>
            <a:off x="2425714" y="1824372"/>
            <a:ext cx="7340573" cy="381442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Knowledge Check (3 of 3)  </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dirty="0">
                <a:solidFill>
                  <a:schemeClr val="tx1"/>
                </a:solidFill>
                <a:latin typeface="Work Sans" pitchFamily="2" charset="0"/>
                <a:cs typeface="Arial" pitchFamily="34" charset="0"/>
              </a:rPr>
              <a:t>Technician A says static unbalance can cause Shimmy. Technician B says dynamic unbalance can cause wheel tramp.</a:t>
            </a:r>
          </a:p>
          <a:p>
            <a:pPr marL="0" indent="0">
              <a:spcBef>
                <a:spcPts val="624"/>
              </a:spcBef>
              <a:spcAft>
                <a:spcPts val="600"/>
              </a:spcAft>
              <a:buSzPct val="100000"/>
              <a:buNone/>
            </a:pPr>
            <a:r>
              <a:rPr lang="en-US" sz="2600" dirty="0">
                <a:solidFill>
                  <a:schemeClr val="tx1"/>
                </a:solidFill>
                <a:latin typeface="Work Sans" pitchFamily="2" charset="0"/>
                <a:cs typeface="Arial" pitchFamily="34" charset="0"/>
              </a:rPr>
              <a:t>Who is correct?</a:t>
            </a:r>
          </a:p>
        </p:txBody>
      </p:sp>
    </p:spTree>
    <p:extLst>
      <p:ext uri="{BB962C8B-B14F-4D97-AF65-F5344CB8AC3E}">
        <p14:creationId xmlns:p14="http://schemas.microsoft.com/office/powerpoint/2010/main" val="35503966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Knowledge Check Answer (3 of 3)</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buSzPct val="100000"/>
              <a:buNone/>
            </a:pPr>
            <a:r>
              <a:rPr lang="en-US" sz="2600" dirty="0">
                <a:solidFill>
                  <a:schemeClr val="tx1"/>
                </a:solidFill>
                <a:latin typeface="Work Sans" pitchFamily="2" charset="0"/>
                <a:cs typeface="Arial" pitchFamily="34" charset="0"/>
              </a:rPr>
              <a:t>Technician A says static unbalance can cause Shimmy. Technician B says dynamic unbalance can cause wheel tramp. </a:t>
            </a:r>
          </a:p>
          <a:p>
            <a:pPr marL="0" indent="0">
              <a:spcBef>
                <a:spcPts val="624"/>
              </a:spcBef>
              <a:spcAft>
                <a:spcPts val="1800"/>
              </a:spcAft>
              <a:buSzPct val="100000"/>
              <a:buNone/>
            </a:pPr>
            <a:r>
              <a:rPr lang="en-US" sz="2600" dirty="0">
                <a:solidFill>
                  <a:schemeClr val="tx1"/>
                </a:solidFill>
                <a:latin typeface="Work Sans" pitchFamily="2" charset="0"/>
                <a:cs typeface="Arial" pitchFamily="34" charset="0"/>
              </a:rPr>
              <a:t>Who is correct?</a:t>
            </a:r>
          </a:p>
          <a:p>
            <a:pPr marL="715963" indent="0">
              <a:spcBef>
                <a:spcPts val="624"/>
              </a:spcBef>
              <a:buSzPct val="100000"/>
              <a:buNone/>
            </a:pPr>
            <a:r>
              <a:rPr lang="en-US" sz="2600" b="1" dirty="0">
                <a:solidFill>
                  <a:schemeClr val="tx1"/>
                </a:solidFill>
                <a:latin typeface="Work Sans" pitchFamily="2" charset="0"/>
                <a:cs typeface="Arial" pitchFamily="34" charset="0"/>
              </a:rPr>
              <a:t>Answer: </a:t>
            </a:r>
            <a:r>
              <a:rPr lang="en-US" sz="2600" dirty="0">
                <a:solidFill>
                  <a:schemeClr val="tx1"/>
                </a:solidFill>
                <a:latin typeface="Work Sans" pitchFamily="2" charset="0"/>
                <a:cs typeface="Arial" pitchFamily="34" charset="0"/>
              </a:rPr>
              <a:t>Neither Technicians A and B</a:t>
            </a:r>
          </a:p>
        </p:txBody>
      </p:sp>
    </p:spTree>
    <p:extLst>
      <p:ext uri="{BB962C8B-B14F-4D97-AF65-F5344CB8AC3E}">
        <p14:creationId xmlns:p14="http://schemas.microsoft.com/office/powerpoint/2010/main" val="24506108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Wheel Bearing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Wheel Bearings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b="1" dirty="0">
                <a:solidFill>
                  <a:schemeClr val="tx1"/>
                </a:solidFill>
                <a:latin typeface="Work Sans" pitchFamily="2" charset="0"/>
                <a:cs typeface="Arial" pitchFamily="34" charset="0"/>
              </a:rPr>
              <a:t>45.07 Describe and service various types of wheel bearings.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Typically, on driving axles, the wheel is mounted on the hub of an axle shaft and the shaft rotates on an axle bearing.</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On non-driving wheels, the wheel hub rotates on bearings on a spindle shaft.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Front Wheel Hubs">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Front Wheel Hubs</a:t>
            </a:r>
          </a:p>
        </p:txBody>
      </p:sp>
      <p:sp>
        <p:nvSpPr>
          <p:cNvPr id="3" name="Content Placeholder 4"/>
          <p:cNvSpPr txBox="1">
            <a:spLocks noGrp="1"/>
          </p:cNvSpPr>
          <p:nvPr>
            <p:ph sz="quarter" idx="10"/>
          </p:nvPr>
        </p:nvSpPr>
        <p:spPr>
          <a:xfrm>
            <a:off x="619896" y="1524000"/>
            <a:ext cx="6085703" cy="22860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Most are sealed and lubricated for life.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Replaced as an assembly.</a:t>
            </a:r>
          </a:p>
        </p:txBody>
      </p:sp>
      <p:pic>
        <p:nvPicPr>
          <p:cNvPr id="9" name="Picture Placeholder 8" descr="A front wheel hub depicts the bolts to hold the wheel bearing to the knuckle, and its components. The bolts are for one-time use only.">
            <a:extLst>
              <a:ext uri="{FF2B5EF4-FFF2-40B4-BE49-F238E27FC236}">
                <a16:creationId xmlns:a16="http://schemas.microsoft.com/office/drawing/2014/main" id="{F42B8858-B88B-7D86-3352-52EB078D1375}"/>
              </a:ext>
            </a:extLst>
          </p:cNvPr>
          <p:cNvPicPr>
            <a:picLocks noGrp="1" noChangeAspect="1"/>
          </p:cNvPicPr>
          <p:nvPr>
            <p:ph type="pic" sz="quarter" idx="12"/>
          </p:nvPr>
        </p:nvPicPr>
        <p:blipFill rotWithShape="1">
          <a:blip r:embed="rId3"/>
          <a:srcRect b="13900"/>
          <a:stretch/>
        </p:blipFill>
        <p:spPr>
          <a:xfrm>
            <a:off x="6781799" y="1529310"/>
            <a:ext cx="4633877" cy="410948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FWD and 4WD Vehicl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cs typeface="Arial" pitchFamily="34" charset="0"/>
              </a:rPr>
              <a:t>FWD and 4WD Vehicles</a:t>
            </a:r>
          </a:p>
        </p:txBody>
      </p:sp>
      <p:sp>
        <p:nvSpPr>
          <p:cNvPr id="3" name="Content Placeholder 2"/>
          <p:cNvSpPr txBox="1">
            <a:spLocks noGrp="1"/>
          </p:cNvSpPr>
          <p:nvPr>
            <p:ph sz="quarter" idx="10"/>
          </p:nvPr>
        </p:nvSpPr>
        <p:spPr>
          <a:xfrm>
            <a:off x="685800" y="1676400"/>
            <a:ext cx="5562600" cy="30480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Typically not serviceable.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Pressed in and out of the hub.</a:t>
            </a:r>
          </a:p>
        </p:txBody>
      </p:sp>
      <p:pic>
        <p:nvPicPr>
          <p:cNvPr id="9" name="Picture Placeholder 8" descr="A bearing in which a hub flange back is pressed into it with the parts labeled as follows: knuckle, wheel hub, and puller.">
            <a:extLst>
              <a:ext uri="{FF2B5EF4-FFF2-40B4-BE49-F238E27FC236}">
                <a16:creationId xmlns:a16="http://schemas.microsoft.com/office/drawing/2014/main" id="{9F58BB5A-E265-2BDD-246A-9080DAD621B9}"/>
              </a:ext>
            </a:extLst>
          </p:cNvPr>
          <p:cNvPicPr>
            <a:picLocks noGrp="1" noChangeAspect="1"/>
          </p:cNvPicPr>
          <p:nvPr>
            <p:ph type="pic" sz="quarter" idx="12"/>
          </p:nvPr>
        </p:nvPicPr>
        <p:blipFill rotWithShape="1">
          <a:blip r:embed="rId3"/>
          <a:srcRect b="6003"/>
          <a:stretch/>
        </p:blipFill>
        <p:spPr>
          <a:xfrm>
            <a:off x="6408443" y="1754587"/>
            <a:ext cx="5342259" cy="380801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457200"/>
            <a:r>
              <a:rPr lang="en-US" sz="2600" dirty="0">
                <a:solidFill>
                  <a:schemeClr val="tx1"/>
                </a:solidFill>
                <a:latin typeface="Work Sans" pitchFamily="2" charset="0"/>
              </a:rPr>
              <a:t>Describe a concept from this chapter that challenged you the most.</a:t>
            </a:r>
          </a:p>
          <a:p>
            <a:pPr marL="457200"/>
            <a:r>
              <a:rPr lang="en-US" sz="2600" dirty="0">
                <a:solidFill>
                  <a:schemeClr val="tx1"/>
                </a:solidFill>
                <a:latin typeface="Work Sans" pitchFamily="2" charset="0"/>
              </a:rPr>
              <a:t>Describe what made the concept difficult for you and the steps you took to improve your understanding.</a:t>
            </a:r>
          </a:p>
          <a:p>
            <a:pPr marL="457200">
              <a:spcAft>
                <a:spcPts val="1800"/>
              </a:spcAft>
            </a:pPr>
            <a:r>
              <a:rPr lang="en-US" sz="2600" dirty="0">
                <a:solidFill>
                  <a:schemeClr val="tx1"/>
                </a:solidFill>
                <a:latin typeface="Work Sans" pitchFamily="2" charset="0"/>
              </a:rPr>
              <a:t>How could you help another learner who was struggling with the same concept.</a:t>
            </a:r>
          </a:p>
          <a:p>
            <a:pPr marL="152400" indent="0">
              <a:buNone/>
            </a:pPr>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Theme1">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786B50EC-0E90-4224-924C-D5942CBE133C}" vid="{954A26D9-52F7-41AC-9392-BD72CE4284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541</TotalTime>
  <Words>1459</Words>
  <Application>Microsoft Office PowerPoint</Application>
  <PresentationFormat>Widescreen</PresentationFormat>
  <Paragraphs>205</Paragraphs>
  <Slides>47</Slides>
  <Notes>43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Calibri</vt:lpstr>
      <vt:lpstr>Times New Roman</vt:lpstr>
      <vt:lpstr>Work Sans</vt:lpstr>
      <vt:lpstr>Theme1</vt:lpstr>
      <vt:lpstr>Automotive Technology: A Systems Approach, 8e</vt:lpstr>
      <vt:lpstr>Chapter Objectives (1 of 2)</vt:lpstr>
      <vt:lpstr>Chapter Objectives (2 of 2)</vt:lpstr>
      <vt:lpstr>Wheels</vt:lpstr>
      <vt:lpstr>Wheel Dimensions</vt:lpstr>
      <vt:lpstr>Tires</vt:lpstr>
      <vt:lpstr>Tubeless Tires</vt:lpstr>
      <vt:lpstr>Specialty Tires</vt:lpstr>
      <vt:lpstr>Run-Flat Tires</vt:lpstr>
      <vt:lpstr>Tread Designs</vt:lpstr>
      <vt:lpstr>Directional Tire</vt:lpstr>
      <vt:lpstr>Knowledge Check (1 of 3)</vt:lpstr>
      <vt:lpstr>Knowledge Check Answer (1 of 3)</vt:lpstr>
      <vt:lpstr>Spare Tires</vt:lpstr>
      <vt:lpstr>Temporary Spare Tire</vt:lpstr>
      <vt:lpstr>Tire Ratings and Designations</vt:lpstr>
      <vt:lpstr>Tire Sidewall Information</vt:lpstr>
      <vt:lpstr>Other Information (1 of 2)</vt:lpstr>
      <vt:lpstr>Other Information (2 of 2) </vt:lpstr>
      <vt:lpstr>Tire Placard</vt:lpstr>
      <vt:lpstr>Inflation Pressure</vt:lpstr>
      <vt:lpstr>Tire Rotation</vt:lpstr>
      <vt:lpstr>Tread Depth</vt:lpstr>
      <vt:lpstr>Tire Pressure Monitor (TPM)</vt:lpstr>
      <vt:lpstr>Direct TPMS</vt:lpstr>
      <vt:lpstr>Indirect TPMS</vt:lpstr>
      <vt:lpstr>TPMS Scan Tool Data</vt:lpstr>
      <vt:lpstr>TPMS Test Tool</vt:lpstr>
      <vt:lpstr>Knowledge Check (2 of 3)</vt:lpstr>
      <vt:lpstr>Knowledge Check Answer (2 of 3)</vt:lpstr>
      <vt:lpstr>Tire/Wheel Runout</vt:lpstr>
      <vt:lpstr>Tire Pull</vt:lpstr>
      <vt:lpstr>Tire Replacement</vt:lpstr>
      <vt:lpstr>Changing Tire and/or Wheel Size </vt:lpstr>
      <vt:lpstr>Calculating Tire Dimensions</vt:lpstr>
      <vt:lpstr>Tire Repair</vt:lpstr>
      <vt:lpstr>Repair Methods</vt:lpstr>
      <vt:lpstr>Inflation</vt:lpstr>
      <vt:lpstr>Tire Installation </vt:lpstr>
      <vt:lpstr>Tire/Wheel Balance</vt:lpstr>
      <vt:lpstr>Dynamic Balance</vt:lpstr>
      <vt:lpstr>Knowledge Check (3 of 3)  </vt:lpstr>
      <vt:lpstr>Knowledge Check Answer (3 of 3)</vt:lpstr>
      <vt:lpstr>Wheel Bearings</vt:lpstr>
      <vt:lpstr>Front Wheel Hubs</vt:lpstr>
      <vt:lpstr>FWD and 4WD Vehicles</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45 Tires and Wheels</dc:title>
  <dc:creator>Erjavec</dc:creator>
  <cp:lastModifiedBy>DiCaterino, Kara</cp:lastModifiedBy>
  <cp:revision>217</cp:revision>
  <dcterms:modified xsi:type="dcterms:W3CDTF">2024-12-04T16:28:32Z</dcterms:modified>
</cp:coreProperties>
</file>