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350" r:id="rId2"/>
    <p:sldId id="257" r:id="rId3"/>
    <p:sldId id="486" r:id="rId4"/>
    <p:sldId id="461" r:id="rId5"/>
    <p:sldId id="574" r:id="rId6"/>
    <p:sldId id="548" r:id="rId7"/>
    <p:sldId id="549" r:id="rId8"/>
    <p:sldId id="550" r:id="rId9"/>
    <p:sldId id="551" r:id="rId10"/>
    <p:sldId id="552" r:id="rId11"/>
    <p:sldId id="553" r:id="rId12"/>
    <p:sldId id="554" r:id="rId13"/>
    <p:sldId id="284" r:id="rId14"/>
    <p:sldId id="285" r:id="rId15"/>
    <p:sldId id="555" r:id="rId16"/>
    <p:sldId id="556" r:id="rId17"/>
    <p:sldId id="557" r:id="rId18"/>
    <p:sldId id="558" r:id="rId19"/>
    <p:sldId id="560" r:id="rId20"/>
    <p:sldId id="559" r:id="rId21"/>
    <p:sldId id="561" r:id="rId22"/>
    <p:sldId id="562" r:id="rId23"/>
    <p:sldId id="276" r:id="rId24"/>
    <p:sldId id="563" r:id="rId25"/>
    <p:sldId id="565" r:id="rId26"/>
    <p:sldId id="566" r:id="rId27"/>
    <p:sldId id="568" r:id="rId28"/>
    <p:sldId id="569" r:id="rId29"/>
    <p:sldId id="570" r:id="rId30"/>
    <p:sldId id="572" r:id="rId31"/>
    <p:sldId id="571" r:id="rId32"/>
    <p:sldId id="575" r:id="rId33"/>
    <p:sldId id="573" r:id="rId34"/>
    <p:sldId id="293" r:id="rId35"/>
    <p:sldId id="294" r:id="rId36"/>
    <p:sldId id="301" r:id="rId37"/>
  </p:sldIdLst>
  <p:sldSz cx="12192000" cy="6858000"/>
  <p:notesSz cx="6858000" cy="9144000"/>
  <p:embeddedFontLst>
    <p:embeddedFont>
      <p:font typeface="Work Sans"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35" autoAdjust="0"/>
    <p:restoredTop sz="81664" autoAdjust="0"/>
  </p:normalViewPr>
  <p:slideViewPr>
    <p:cSldViewPr snapToGrid="0">
      <p:cViewPr varScale="1">
        <p:scale>
          <a:sx n="48" d="100"/>
          <a:sy n="48" d="100"/>
        </p:scale>
        <p:origin x="184" y="40"/>
      </p:cViewPr>
      <p:guideLst>
        <p:guide orient="horz" pos="2160"/>
        <p:guide pos="3840"/>
      </p:guideLst>
    </p:cSldViewPr>
  </p:slideViewPr>
  <p:outlineViewPr>
    <p:cViewPr>
      <p:scale>
        <a:sx n="33" d="100"/>
        <a:sy n="33" d="100"/>
      </p:scale>
      <p:origin x="0" y="-2641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40715481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709356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833260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0154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4189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6176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038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0421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8162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34383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6345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033559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002208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36202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5586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1187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6471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2605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1823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9071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8786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455962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0135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9081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96812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44753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2765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7986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54170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44655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4985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87581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5844127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7737182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1182187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1740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ts val="26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0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1740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5"/>
            <a:ext cx="11241915" cy="255117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ts val="26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0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A4C7C0FF-1EFF-DCF5-E6F8-1C437B2ECFA5}"/>
              </a:ext>
            </a:extLst>
          </p:cNvPr>
          <p:cNvSpPr>
            <a:spLocks noGrp="1"/>
          </p:cNvSpPr>
          <p:nvPr>
            <p:ph sz="quarter" idx="10"/>
          </p:nvPr>
        </p:nvSpPr>
        <p:spPr>
          <a:xfrm>
            <a:off x="676275" y="43053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E8E8E265-347B-AD19-5478-0C4E0C1CB598}"/>
              </a:ext>
            </a:extLst>
          </p:cNvPr>
          <p:cNvSpPr>
            <a:spLocks noGrp="1"/>
          </p:cNvSpPr>
          <p:nvPr>
            <p:ph sz="quarter" idx="11"/>
          </p:nvPr>
        </p:nvSpPr>
        <p:spPr>
          <a:xfrm>
            <a:off x="2400300" y="43815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CEDF41EE-7DBC-44F9-03DA-D343A52AF913}"/>
              </a:ext>
            </a:extLst>
          </p:cNvPr>
          <p:cNvSpPr>
            <a:spLocks noGrp="1"/>
          </p:cNvSpPr>
          <p:nvPr>
            <p:ph type="pic" sz="quarter" idx="12"/>
          </p:nvPr>
        </p:nvSpPr>
        <p:spPr>
          <a:xfrm>
            <a:off x="4067175" y="4486275"/>
            <a:ext cx="914400" cy="914400"/>
          </a:xfrm>
        </p:spPr>
        <p:txBody>
          <a:bodyPr/>
          <a:lstStyle/>
          <a:p>
            <a:endParaRPr lang="en-IN"/>
          </a:p>
        </p:txBody>
      </p:sp>
      <p:sp>
        <p:nvSpPr>
          <p:cNvPr id="9" name="Table Placeholder 8">
            <a:extLst>
              <a:ext uri="{FF2B5EF4-FFF2-40B4-BE49-F238E27FC236}">
                <a16:creationId xmlns:a16="http://schemas.microsoft.com/office/drawing/2014/main" id="{21E4CEEC-F09D-F0FF-134E-F5DCEB9EC14F}"/>
              </a:ext>
            </a:extLst>
          </p:cNvPr>
          <p:cNvSpPr>
            <a:spLocks noGrp="1"/>
          </p:cNvSpPr>
          <p:nvPr>
            <p:ph type="tbl" sz="quarter" idx="13"/>
          </p:nvPr>
        </p:nvSpPr>
        <p:spPr>
          <a:xfrm>
            <a:off x="7467600" y="4486275"/>
            <a:ext cx="914400" cy="914400"/>
          </a:xfrm>
        </p:spPr>
        <p:txBody>
          <a:bodyPr/>
          <a:lstStyle/>
          <a:p>
            <a:endParaRPr lang="en-IN"/>
          </a:p>
        </p:txBody>
      </p:sp>
      <p:sp>
        <p:nvSpPr>
          <p:cNvPr id="11" name="Picture Placeholder 10">
            <a:extLst>
              <a:ext uri="{FF2B5EF4-FFF2-40B4-BE49-F238E27FC236}">
                <a16:creationId xmlns:a16="http://schemas.microsoft.com/office/drawing/2014/main" id="{CBC0C098-25FE-737E-BF3B-A4B28424E86C}"/>
              </a:ext>
            </a:extLst>
          </p:cNvPr>
          <p:cNvSpPr>
            <a:spLocks noGrp="1"/>
          </p:cNvSpPr>
          <p:nvPr>
            <p:ph type="pic" sz="quarter" idx="14"/>
          </p:nvPr>
        </p:nvSpPr>
        <p:spPr>
          <a:xfrm>
            <a:off x="5905500" y="4591050"/>
            <a:ext cx="914400" cy="914400"/>
          </a:xfrm>
        </p:spPr>
        <p:txBody>
          <a:bodyPr/>
          <a:lstStyle/>
          <a:p>
            <a:endParaRPr lang="en-IN"/>
          </a:p>
        </p:txBody>
      </p:sp>
    </p:spTree>
    <p:extLst>
      <p:ext uri="{BB962C8B-B14F-4D97-AF65-F5344CB8AC3E}">
        <p14:creationId xmlns:p14="http://schemas.microsoft.com/office/powerpoint/2010/main" val="2932359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6223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BA2EC521-6804-737C-6E6F-AD3C6600B612}"/>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29: Fuel Delivery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29.01 Explain the safety precautions for working with gasoline and fuel systems.</a:t>
            </a:r>
          </a:p>
          <a:p>
            <a:pPr marL="357188" marR="0" lvl="0" indent="-357188" algn="l" rtl="0">
              <a:buChar char="•"/>
            </a:pPr>
            <a:r>
              <a:rPr lang="en-US" dirty="0"/>
              <a:t>29.02 Inspect and service fuel tanks.</a:t>
            </a:r>
          </a:p>
          <a:p>
            <a:pPr marL="357188" marR="0" lvl="0" indent="-357188" algn="l" rtl="0">
              <a:buChar char="•"/>
            </a:pPr>
            <a:r>
              <a:rPr lang="en-US" dirty="0"/>
              <a:t>29.03 Conduct a visual inspection of a fuel system.</a:t>
            </a:r>
          </a:p>
          <a:p>
            <a:pPr marL="357188" marR="0" lvl="0" indent="-357188" algn="l" rtl="0">
              <a:buChar char="•"/>
            </a:pPr>
            <a:r>
              <a:rPr lang="en-US" dirty="0"/>
              <a:t>29.04 Explain the function of the fuel filler cap and its function as an emission control device.</a:t>
            </a:r>
          </a:p>
          <a:p>
            <a:pPr marL="357188" marR="0" lvl="0" indent="-357188" algn="l" rtl="0">
              <a:buChar char="•"/>
            </a:pPr>
            <a:r>
              <a:rPr lang="en-US" dirty="0"/>
              <a:t>29.05 Inspect and service fuel lines and tubing.</a:t>
            </a:r>
          </a:p>
          <a:p>
            <a:pPr marL="357188" marR="0" lvl="0" indent="-357188" algn="l" rtl="0">
              <a:buChar char="•"/>
            </a:pPr>
            <a:r>
              <a:rPr lang="en-US" dirty="0"/>
              <a:t>29.06 Relieve fuel system pressure.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29.07 Describe the different fuel filter designs and mountings.</a:t>
            </a:r>
          </a:p>
          <a:p>
            <a:pPr marL="357188" marR="0" lvl="0" indent="-357188" algn="l" rtl="0">
              <a:buChar char="•"/>
            </a:pPr>
            <a:r>
              <a:rPr lang="en-US" dirty="0"/>
              <a:t>29.08 Remove and replace fuel filters.</a:t>
            </a:r>
          </a:p>
          <a:p>
            <a:pPr marL="357188" marR="0" lvl="0" indent="-357188" algn="l" rtl="0">
              <a:buChar char="•"/>
            </a:pPr>
            <a:r>
              <a:rPr lang="en-US" dirty="0"/>
              <a:t>29.09 Explain how common electric fuel pump circuits work.</a:t>
            </a:r>
          </a:p>
          <a:p>
            <a:pPr marL="357188" marR="0" lvl="0" indent="-357188" algn="l" rtl="0">
              <a:buChar char="•"/>
            </a:pPr>
            <a:r>
              <a:rPr lang="en-US" dirty="0"/>
              <a:t>29.10 Conduct a pressure and volume output test on an electric fuel pump.</a:t>
            </a:r>
          </a:p>
          <a:p>
            <a:pPr marL="357188" marR="0" lvl="0" indent="-357188" algn="l" rtl="0">
              <a:buChar char="•"/>
            </a:pPr>
            <a:r>
              <a:rPr lang="en-US" dirty="0"/>
              <a:t>29.11 Service and test electric fuel pumps.</a:t>
            </a:r>
          </a:p>
        </p:txBody>
      </p:sp>
    </p:spTree>
    <p:extLst>
      <p:ext uri="{BB962C8B-B14F-4D97-AF65-F5344CB8AC3E}">
        <p14:creationId xmlns:p14="http://schemas.microsoft.com/office/powerpoint/2010/main" val="371054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Guidelines for Safely Working on Fuel Systems (1 of 2)</a:t>
            </a:r>
            <a:endParaRPr dirty="0"/>
          </a:p>
        </p:txBody>
      </p:sp>
      <p:sp>
        <p:nvSpPr>
          <p:cNvPr id="145" name="Google Shape;145;p4"/>
          <p:cNvSpPr txBox="1">
            <a:spLocks noGrp="1"/>
          </p:cNvSpPr>
          <p:nvPr>
            <p:ph type="body" idx="1"/>
          </p:nvPr>
        </p:nvSpPr>
        <p:spPr>
          <a:xfrm>
            <a:off x="476844" y="1563624"/>
            <a:ext cx="7328686" cy="4584513"/>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solidFill>
                  <a:schemeClr val="tx1"/>
                </a:solidFill>
              </a:rPr>
              <a:t>29.01 Explain the safety precautions for working with gasoline and fuel systems.</a:t>
            </a:r>
          </a:p>
          <a:p>
            <a:pPr marL="342900" indent="-342900">
              <a:spcAft>
                <a:spcPts val="0"/>
              </a:spcAft>
            </a:pPr>
            <a:r>
              <a:rPr lang="en-US" sz="2000" dirty="0">
                <a:solidFill>
                  <a:schemeClr val="tx1"/>
                </a:solidFill>
              </a:rPr>
              <a:t>Fuel in vapor and liquid form presents many potential hazards.</a:t>
            </a:r>
          </a:p>
          <a:p>
            <a:pPr marL="342900" indent="-342900">
              <a:spcAft>
                <a:spcPts val="0"/>
              </a:spcAft>
            </a:pPr>
            <a:r>
              <a:rPr lang="en-US" sz="2000" dirty="0">
                <a:solidFill>
                  <a:schemeClr val="tx1"/>
                </a:solidFill>
              </a:rPr>
              <a:t>When a fuel line that has pressurized fuel in it is loosened, the fuel will spray uncontrollably as soon as it can.</a:t>
            </a:r>
          </a:p>
          <a:p>
            <a:pPr marL="342900" indent="-342900">
              <a:spcAft>
                <a:spcPts val="0"/>
              </a:spcAft>
            </a:pPr>
            <a:r>
              <a:rPr lang="en-US" sz="2000" dirty="0">
                <a:solidFill>
                  <a:schemeClr val="tx1"/>
                </a:solidFill>
              </a:rPr>
              <a:t>The fuel can spray on something hot and cause a fire or spray into your eyes and cause a serious injury.</a:t>
            </a:r>
          </a:p>
          <a:p>
            <a:pPr marL="342900" indent="-342900">
              <a:spcAft>
                <a:spcPts val="0"/>
              </a:spcAft>
            </a:pPr>
            <a:r>
              <a:rPr lang="en-US" sz="2000" dirty="0">
                <a:solidFill>
                  <a:schemeClr val="tx1"/>
                </a:solidFill>
              </a:rPr>
              <a:t>Most port fuel injection fuel rails have a fuel pressure test port (often referred to as the Schrader valve) on the fuel rail.</a:t>
            </a:r>
          </a:p>
          <a:p>
            <a:pPr marL="342900" indent="-342900">
              <a:spcAft>
                <a:spcPts val="0"/>
              </a:spcAft>
            </a:pPr>
            <a:r>
              <a:rPr lang="en-US" sz="2000" dirty="0">
                <a:solidFill>
                  <a:schemeClr val="tx1"/>
                </a:solidFill>
              </a:rPr>
              <a:t>The pressure can be relieved at this port.</a:t>
            </a:r>
            <a:endParaRPr lang="en-US" sz="1100" dirty="0">
              <a:solidFill>
                <a:schemeClr val="tx1"/>
              </a:solidFill>
            </a:endParaRPr>
          </a:p>
        </p:txBody>
      </p:sp>
      <p:pic>
        <p:nvPicPr>
          <p:cNvPr id="8" name="Picture Placeholder 7" descr="An illustration depicts a fuel pressure test port. The labeled parts are as follows: Damper and Fuel pressure test point.">
            <a:extLst>
              <a:ext uri="{FF2B5EF4-FFF2-40B4-BE49-F238E27FC236}">
                <a16:creationId xmlns:a16="http://schemas.microsoft.com/office/drawing/2014/main" id="{39129903-EE7C-713C-82D2-D871EACF84CA}"/>
              </a:ext>
            </a:extLst>
          </p:cNvPr>
          <p:cNvPicPr>
            <a:picLocks noGrp="1" noChangeAspect="1"/>
          </p:cNvPicPr>
          <p:nvPr>
            <p:ph type="pic" sz="quarter" idx="14"/>
          </p:nvPr>
        </p:nvPicPr>
        <p:blipFill>
          <a:blip r:embed="rId3"/>
          <a:srcRect b="18864"/>
          <a:stretch/>
        </p:blipFill>
        <p:spPr>
          <a:xfrm>
            <a:off x="8169657" y="2602340"/>
            <a:ext cx="3744047" cy="1588252"/>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Guidelines for Safely Working on Fuel Systems (2 of 2)</a:t>
            </a:r>
            <a:endParaRPr dirty="0"/>
          </a:p>
        </p:txBody>
      </p:sp>
      <p:sp>
        <p:nvSpPr>
          <p:cNvPr id="145" name="Google Shape;145;p4"/>
          <p:cNvSpPr txBox="1">
            <a:spLocks noGrp="1"/>
          </p:cNvSpPr>
          <p:nvPr>
            <p:ph type="body" idx="1"/>
          </p:nvPr>
        </p:nvSpPr>
        <p:spPr>
          <a:xfrm>
            <a:off x="476843" y="1563624"/>
            <a:ext cx="11241915" cy="4632639"/>
          </a:xfrm>
          <a:prstGeom prst="rect">
            <a:avLst/>
          </a:prstGeom>
          <a:noFill/>
          <a:ln>
            <a:noFill/>
          </a:ln>
        </p:spPr>
        <p:txBody>
          <a:bodyPr spcFirstLastPara="1" wrap="square" lIns="91425" tIns="45700" rIns="91425" bIns="45700" anchor="t" anchorCtr="0">
            <a:noAutofit/>
          </a:bodyPr>
          <a:lstStyle/>
          <a:p>
            <a:pPr marL="360363" indent="-360363">
              <a:spcAft>
                <a:spcPts val="400"/>
              </a:spcAft>
            </a:pPr>
            <a:r>
              <a:rPr lang="en-US" sz="2000" dirty="0"/>
              <a:t>Here are a few safety guidelines to follow:</a:t>
            </a:r>
          </a:p>
          <a:p>
            <a:pPr marL="722313" lvl="1" indent="-361950">
              <a:spcAft>
                <a:spcPts val="400"/>
              </a:spcAft>
              <a:buSzPct val="100000"/>
            </a:pPr>
            <a:r>
              <a:rPr lang="en-US" sz="1800" dirty="0"/>
              <a:t>Pay strict attention to any and all warning labels located near the fuel system.</a:t>
            </a:r>
          </a:p>
          <a:p>
            <a:pPr marL="722313" lvl="1" indent="-361950">
              <a:spcAft>
                <a:spcPts val="400"/>
              </a:spcAft>
              <a:buSzPct val="100000"/>
            </a:pPr>
            <a:r>
              <a:rPr lang="en-US" sz="1800" dirty="0"/>
              <a:t>Always wear eye protection and nitrile gloves when working with fuels.</a:t>
            </a:r>
          </a:p>
          <a:p>
            <a:pPr marL="722313" lvl="1" indent="-361950">
              <a:spcAft>
                <a:spcPts val="400"/>
              </a:spcAft>
              <a:buSzPct val="100000"/>
            </a:pPr>
            <a:r>
              <a:rPr lang="en-US" sz="1800" dirty="0"/>
              <a:t>Follow all other safety rules to prevent injury to yourself or others when servicing fuel systems.</a:t>
            </a:r>
          </a:p>
          <a:p>
            <a:pPr marL="722313" lvl="1" indent="-361950">
              <a:spcAft>
                <a:spcPts val="400"/>
              </a:spcAft>
              <a:buSzPct val="100000"/>
            </a:pPr>
            <a:r>
              <a:rPr lang="en-US" sz="1800" dirty="0"/>
              <a:t>When working on a fuel system in the engine compartment, disconnect the negative cable of the battery. An electrical spark may cause a fire or explosion.</a:t>
            </a:r>
          </a:p>
          <a:p>
            <a:pPr marL="722313" lvl="1" indent="-361950">
              <a:spcAft>
                <a:spcPts val="400"/>
              </a:spcAft>
              <a:buSzPct val="100000"/>
            </a:pPr>
            <a:r>
              <a:rPr lang="en-US" sz="1800" dirty="0"/>
              <a:t>Slowly remove the fuel filler cap. If the cap is venting vapor or if you hear a hissing sound, wait until it stops before completely removing the cap.</a:t>
            </a:r>
          </a:p>
          <a:p>
            <a:pPr marL="722313" lvl="1" indent="-361950">
              <a:spcAft>
                <a:spcPts val="400"/>
              </a:spcAft>
              <a:buSzPct val="100000"/>
            </a:pPr>
            <a:r>
              <a:rPr lang="en-US" sz="1800" dirty="0"/>
              <a:t>Do not smoke when working on or near any fuel-related component.</a:t>
            </a:r>
          </a:p>
          <a:p>
            <a:pPr marL="722313" lvl="1" indent="-361950">
              <a:spcAft>
                <a:spcPts val="400"/>
              </a:spcAft>
              <a:buSzPct val="100000"/>
            </a:pPr>
            <a:r>
              <a:rPr lang="en-US" sz="1800" dirty="0"/>
              <a:t>Do not allow heat or flames to be near while working on or near the fuel system.</a:t>
            </a:r>
          </a:p>
          <a:p>
            <a:pPr marL="722313" lvl="1" indent="-361950">
              <a:spcAft>
                <a:spcPts val="400"/>
              </a:spcAft>
              <a:buSzPct val="100000"/>
            </a:pPr>
            <a:r>
              <a:rPr lang="en-US" sz="1800" dirty="0"/>
              <a:t>Handle and store all fuels with the utmost caution.</a:t>
            </a:r>
          </a:p>
        </p:txBody>
      </p:sp>
    </p:spTree>
    <p:extLst>
      <p:ext uri="{BB962C8B-B14F-4D97-AF65-F5344CB8AC3E}">
        <p14:creationId xmlns:p14="http://schemas.microsoft.com/office/powerpoint/2010/main" val="764178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Tanks (1 of 3)</a:t>
            </a:r>
            <a:endParaRPr sz="3600" dirty="0"/>
          </a:p>
        </p:txBody>
      </p:sp>
      <p:sp>
        <p:nvSpPr>
          <p:cNvPr id="145" name="Google Shape;145;p4"/>
          <p:cNvSpPr txBox="1">
            <a:spLocks noGrp="1"/>
          </p:cNvSpPr>
          <p:nvPr>
            <p:ph type="body" idx="1"/>
          </p:nvPr>
        </p:nvSpPr>
        <p:spPr>
          <a:xfrm>
            <a:off x="476844" y="1563625"/>
            <a:ext cx="6986637" cy="4627110"/>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1800" b="1" dirty="0"/>
              <a:t>29.02 Inspect and service fuel tanks.</a:t>
            </a:r>
          </a:p>
          <a:p>
            <a:pPr marL="342900" indent="-342900">
              <a:spcAft>
                <a:spcPts val="400"/>
              </a:spcAft>
            </a:pPr>
            <a:r>
              <a:rPr lang="en-US" sz="1800" dirty="0"/>
              <a:t>Fuel tanks include devices that prevent vapors from leaving the tank.</a:t>
            </a:r>
          </a:p>
          <a:p>
            <a:pPr marL="342900" indent="-342900">
              <a:spcAft>
                <a:spcPts val="400"/>
              </a:spcAft>
            </a:pPr>
            <a:r>
              <a:rPr lang="en-US" sz="1800" dirty="0"/>
              <a:t>All fuel tank designs provide some control of fuel height when the tank is filled.</a:t>
            </a:r>
          </a:p>
          <a:p>
            <a:pPr marL="342900" indent="-342900">
              <a:spcAft>
                <a:spcPts val="400"/>
              </a:spcAft>
            </a:pPr>
            <a:r>
              <a:rPr lang="en-US" sz="1800" dirty="0"/>
              <a:t>Frequently, this control is achieved by using vent lines with the filler tube or tank.</a:t>
            </a:r>
          </a:p>
          <a:p>
            <a:pPr marL="342900" indent="-342900">
              <a:spcAft>
                <a:spcPts val="400"/>
              </a:spcAft>
            </a:pPr>
            <a:r>
              <a:rPr lang="en-US" sz="1800" dirty="0"/>
              <a:t>These fuel height controls allow only 90 percent of the tank to be filled.</a:t>
            </a:r>
          </a:p>
          <a:p>
            <a:pPr marL="342900" indent="-342900">
              <a:spcAft>
                <a:spcPts val="400"/>
              </a:spcAft>
            </a:pPr>
            <a:r>
              <a:rPr lang="en-US" sz="1800" dirty="0"/>
              <a:t>The remaining 10 percent is for expansion during hot weather.</a:t>
            </a:r>
          </a:p>
          <a:p>
            <a:pPr marL="342900" indent="-342900">
              <a:spcAft>
                <a:spcPts val="400"/>
              </a:spcAft>
            </a:pPr>
            <a:r>
              <a:rPr lang="en-US" sz="1800" dirty="0"/>
              <a:t>Some fuel tanks have an overfill limiting valve to prevent overfilling of the tank.</a:t>
            </a:r>
          </a:p>
        </p:txBody>
      </p:sp>
      <p:pic>
        <p:nvPicPr>
          <p:cNvPr id="8" name="Picture Placeholder 7" descr="An illustration depicts the fuel system with parts labeled as follows: Fuel tank connected to Filler tube through a Vent line, and a Cap in front.">
            <a:extLst>
              <a:ext uri="{FF2B5EF4-FFF2-40B4-BE49-F238E27FC236}">
                <a16:creationId xmlns:a16="http://schemas.microsoft.com/office/drawing/2014/main" id="{69A5E2EF-3CBB-CB67-FF5E-F70861480303}"/>
              </a:ext>
            </a:extLst>
          </p:cNvPr>
          <p:cNvPicPr>
            <a:picLocks noGrp="1" noChangeAspect="1"/>
          </p:cNvPicPr>
          <p:nvPr>
            <p:ph type="pic" sz="quarter" idx="14"/>
          </p:nvPr>
        </p:nvPicPr>
        <p:blipFill rotWithShape="1">
          <a:blip r:embed="rId3"/>
          <a:srcRect b="15623"/>
          <a:stretch/>
        </p:blipFill>
        <p:spPr>
          <a:xfrm>
            <a:off x="7593408" y="2522558"/>
            <a:ext cx="4443017" cy="2142207"/>
          </a:xfrm>
          <a:prstGeom prst="rect">
            <a:avLst/>
          </a:prstGeom>
        </p:spPr>
      </p:pic>
    </p:spTree>
    <p:extLst>
      <p:ext uri="{BB962C8B-B14F-4D97-AF65-F5344CB8AC3E}">
        <p14:creationId xmlns:p14="http://schemas.microsoft.com/office/powerpoint/2010/main" val="1788061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Tanks (2 of 3)</a:t>
            </a:r>
            <a:endParaRPr sz="3600" dirty="0"/>
          </a:p>
        </p:txBody>
      </p:sp>
      <p:sp>
        <p:nvSpPr>
          <p:cNvPr id="145" name="Google Shape;145;p4"/>
          <p:cNvSpPr txBox="1">
            <a:spLocks noGrp="1"/>
          </p:cNvSpPr>
          <p:nvPr>
            <p:ph type="body" idx="1"/>
          </p:nvPr>
        </p:nvSpPr>
        <p:spPr>
          <a:xfrm>
            <a:off x="476843" y="1563624"/>
            <a:ext cx="11241915" cy="4725965"/>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29.03 Conduct a visual inspection of a fuel system.</a:t>
            </a:r>
          </a:p>
          <a:p>
            <a:pPr marL="285750" indent="-285750"/>
            <a:r>
              <a:rPr lang="en-US" sz="1800" dirty="0"/>
              <a:t>Inspection</a:t>
            </a:r>
          </a:p>
          <a:p>
            <a:pPr marL="715963" lvl="1" indent="-357188">
              <a:buSzPct val="100000"/>
            </a:pPr>
            <a:r>
              <a:rPr lang="en-US" sz="1600" dirty="0"/>
              <a:t>Fuel tanks should be inspected for leaks; road damage; corrosion and rust on metal tanks; loose, damaged, or defective seams; loose mounting bolts; and damaged mounting straps.</a:t>
            </a:r>
          </a:p>
          <a:p>
            <a:pPr marL="715963" lvl="1" indent="-357188">
              <a:buSzPct val="100000"/>
            </a:pPr>
            <a:r>
              <a:rPr lang="en-US" sz="1600" dirty="0"/>
              <a:t>Leaks in the fuel tank, lines, or filter may cause a gasoline odor in and around the vehicle, especially during low-speed driving and idling.</a:t>
            </a:r>
          </a:p>
          <a:p>
            <a:pPr marL="715963" lvl="1" indent="-357188">
              <a:buSzPct val="100000"/>
            </a:pPr>
            <a:r>
              <a:rPr lang="en-US" sz="1600" dirty="0"/>
              <a:t>A weak seam, rust, or road damage can cause leaks in the metal fuel tank.</a:t>
            </a:r>
          </a:p>
          <a:p>
            <a:pPr marL="715963" lvl="1" indent="-357188">
              <a:buSzPct val="100000"/>
            </a:pPr>
            <a:r>
              <a:rPr lang="en-US" sz="1600" dirty="0"/>
              <a:t>The best method of permanently solving this problem is to replace the tank.</a:t>
            </a:r>
          </a:p>
          <a:p>
            <a:pPr marL="715963" lvl="1" indent="-357188">
              <a:buSzPct val="100000"/>
            </a:pPr>
            <a:r>
              <a:rPr lang="en-US" sz="1600" dirty="0"/>
              <a:t>Another method is to remove the tank and steam clean or boil it in a caustic solution to remove the gasoline residue.</a:t>
            </a:r>
          </a:p>
          <a:p>
            <a:pPr marL="715963" lvl="1" indent="-357188">
              <a:buSzPct val="100000"/>
            </a:pPr>
            <a:r>
              <a:rPr lang="en-US" sz="1600" dirty="0"/>
              <a:t>After this has been done, the leak can be soldered or brazed by an appropriately equipped specialty shop.</a:t>
            </a:r>
          </a:p>
          <a:p>
            <a:pPr marL="715963" lvl="1" indent="-357188">
              <a:buSzPct val="100000"/>
            </a:pPr>
            <a:r>
              <a:rPr lang="en-US" sz="1600" dirty="0"/>
              <a:t>Be sure to follow manufacturer’s instructions when doing the repair.</a:t>
            </a:r>
          </a:p>
        </p:txBody>
      </p:sp>
    </p:spTree>
    <p:extLst>
      <p:ext uri="{BB962C8B-B14F-4D97-AF65-F5344CB8AC3E}">
        <p14:creationId xmlns:p14="http://schemas.microsoft.com/office/powerpoint/2010/main" val="3255685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Tanks (3 of 3)</a:t>
            </a:r>
            <a:endParaRPr sz="3600" dirty="0"/>
          </a:p>
        </p:txBody>
      </p:sp>
      <p:sp>
        <p:nvSpPr>
          <p:cNvPr id="145" name="Google Shape;145;p4"/>
          <p:cNvSpPr txBox="1">
            <a:spLocks noGrp="1"/>
          </p:cNvSpPr>
          <p:nvPr>
            <p:ph type="body" idx="1"/>
          </p:nvPr>
        </p:nvSpPr>
        <p:spPr>
          <a:xfrm>
            <a:off x="476843" y="1401108"/>
            <a:ext cx="11241915" cy="4704832"/>
          </a:xfrm>
          <a:prstGeom prst="rect">
            <a:avLst/>
          </a:prstGeom>
          <a:noFill/>
          <a:ln>
            <a:noFill/>
          </a:ln>
        </p:spPr>
        <p:txBody>
          <a:bodyPr spcFirstLastPara="1" wrap="square" lIns="91425" tIns="45700" rIns="91425" bIns="45700" anchor="t" anchorCtr="0">
            <a:noAutofit/>
          </a:bodyPr>
          <a:lstStyle/>
          <a:p>
            <a:pPr marL="342900" indent="-342900">
              <a:spcAft>
                <a:spcPts val="400"/>
              </a:spcAft>
            </a:pPr>
            <a:r>
              <a:rPr lang="en-US" sz="2000" dirty="0"/>
              <a:t>Fuel Tank Service</a:t>
            </a:r>
          </a:p>
          <a:p>
            <a:pPr marL="722313" lvl="1" indent="-361950">
              <a:spcAft>
                <a:spcPts val="400"/>
              </a:spcAft>
              <a:buSzPct val="100000"/>
            </a:pPr>
            <a:r>
              <a:rPr lang="en-US" sz="1800" dirty="0"/>
              <a:t>To reinstall a repaired or new fuel tank, reverse the removal procedure.</a:t>
            </a:r>
          </a:p>
          <a:p>
            <a:pPr marL="722313" lvl="1" indent="-361950">
              <a:spcAft>
                <a:spcPts val="400"/>
              </a:spcAft>
              <a:buSzPct val="100000"/>
            </a:pPr>
            <a:r>
              <a:rPr lang="en-US" sz="1800" dirty="0"/>
              <a:t>Be sure that all the rubber or felt tank insulators are in place.</a:t>
            </a:r>
          </a:p>
          <a:p>
            <a:pPr marL="722313" lvl="1" indent="-361950">
              <a:spcAft>
                <a:spcPts val="400"/>
              </a:spcAft>
              <a:buSzPct val="100000"/>
            </a:pPr>
            <a:r>
              <a:rPr lang="en-US" sz="1800" dirty="0"/>
              <a:t>Then, with the tank straps in place, position the tank. Loosely fit the tank straps around the tank, but do not tighten them.</a:t>
            </a:r>
          </a:p>
          <a:p>
            <a:pPr marL="722313" lvl="1" indent="-361950">
              <a:spcAft>
                <a:spcPts val="400"/>
              </a:spcAft>
              <a:buSzPct val="100000"/>
            </a:pPr>
            <a:r>
              <a:rPr lang="en-US" sz="1800" dirty="0"/>
              <a:t>Make sure that the hoses, wires, and vent tubes are connected properly. Check the filler neck for alignment and for insertion into the tank.</a:t>
            </a:r>
          </a:p>
          <a:p>
            <a:pPr marL="722313" lvl="1" indent="-361950">
              <a:spcAft>
                <a:spcPts val="400"/>
              </a:spcAft>
              <a:buSzPct val="100000"/>
            </a:pPr>
            <a:r>
              <a:rPr lang="en-US" sz="1800" dirty="0"/>
              <a:t>Tighten the strap bolts and secure the tank to the car.</a:t>
            </a:r>
          </a:p>
          <a:p>
            <a:pPr marL="722313" lvl="1" indent="-361950">
              <a:spcAft>
                <a:spcPts val="400"/>
              </a:spcAft>
              <a:buSzPct val="100000"/>
            </a:pPr>
            <a:r>
              <a:rPr lang="en-US" sz="1800" dirty="0"/>
              <a:t>Install all of the tank accessories (vent line, sending unit wires, ground wire, and filler tube).</a:t>
            </a:r>
          </a:p>
          <a:p>
            <a:pPr marL="722313" lvl="1" indent="-361950">
              <a:spcAft>
                <a:spcPts val="400"/>
              </a:spcAft>
              <a:buSzPct val="100000"/>
            </a:pPr>
            <a:r>
              <a:rPr lang="en-US" sz="1800" dirty="0"/>
              <a:t>Fill the tank with fuel and check it for leaks, especially around the filler neck and the pickup assembly.</a:t>
            </a:r>
          </a:p>
          <a:p>
            <a:pPr marL="722313" lvl="1" indent="-361950">
              <a:spcAft>
                <a:spcPts val="400"/>
              </a:spcAft>
              <a:buSzPct val="100000"/>
            </a:pPr>
            <a:r>
              <a:rPr lang="en-US" sz="1800" dirty="0"/>
              <a:t>Reconnect the battery and check the fuel gauge for proper operation.</a:t>
            </a:r>
          </a:p>
        </p:txBody>
      </p:sp>
    </p:spTree>
    <p:extLst>
      <p:ext uri="{BB962C8B-B14F-4D97-AF65-F5344CB8AC3E}">
        <p14:creationId xmlns:p14="http://schemas.microsoft.com/office/powerpoint/2010/main" val="4127142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Filler Caps</a:t>
            </a:r>
            <a:endParaRPr sz="3600" dirty="0"/>
          </a:p>
        </p:txBody>
      </p:sp>
      <p:sp>
        <p:nvSpPr>
          <p:cNvPr id="145" name="Google Shape;145;p4"/>
          <p:cNvSpPr txBox="1">
            <a:spLocks noGrp="1"/>
          </p:cNvSpPr>
          <p:nvPr>
            <p:ph type="body" idx="1"/>
          </p:nvPr>
        </p:nvSpPr>
        <p:spPr>
          <a:xfrm>
            <a:off x="476844" y="1563625"/>
            <a:ext cx="7406767" cy="4528256"/>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29.04 Explain the function of the fuel filler cap and its function as an emission control device.</a:t>
            </a:r>
          </a:p>
          <a:p>
            <a:pPr marL="342900" indent="-342900"/>
            <a:r>
              <a:rPr lang="en-US" sz="2000" dirty="0"/>
              <a:t>Filler tube caps (commonly called gas or fuel caps) seal the fuel tank while allowing refilling of the tank.</a:t>
            </a:r>
          </a:p>
          <a:p>
            <a:pPr marL="342900" indent="-342900"/>
            <a:r>
              <a:rPr lang="en-US" sz="2000" dirty="0"/>
              <a:t>Filler caps are </a:t>
            </a:r>
            <a:r>
              <a:rPr lang="en-US" sz="2000" dirty="0" err="1"/>
              <a:t>nonventing</a:t>
            </a:r>
            <a:r>
              <a:rPr lang="en-US" sz="2000" dirty="0"/>
              <a:t> and have some type of pressure-vacuum relief valve arrangement.</a:t>
            </a:r>
          </a:p>
          <a:p>
            <a:pPr marL="342900" indent="-342900"/>
            <a:r>
              <a:rPr lang="en-US" sz="2000" dirty="0"/>
              <a:t>Under normal conditions, the valve is closed.</a:t>
            </a:r>
          </a:p>
          <a:p>
            <a:pPr marL="342900" indent="-342900"/>
            <a:r>
              <a:rPr lang="en-US" sz="2000" dirty="0"/>
              <a:t>When extreme pressure or vacuum is present, the relief valve opens to prevent the tank from ballooning or collapsing.</a:t>
            </a:r>
          </a:p>
          <a:p>
            <a:pPr marL="342900" indent="-342900"/>
            <a:r>
              <a:rPr lang="en-US" sz="2000" dirty="0"/>
              <a:t>Once the pressure or vacuum is relieved, the valve closes.</a:t>
            </a:r>
            <a:endParaRPr lang="en-US" sz="1700" dirty="0"/>
          </a:p>
        </p:txBody>
      </p:sp>
      <p:pic>
        <p:nvPicPr>
          <p:cNvPr id="8" name="Picture Placeholder 7" descr="A typical pressure vacuum gasoline filler tube cap with a pressure-vacuum relief valve arrangement seals the fuel tank while refilling the tank.">
            <a:extLst>
              <a:ext uri="{FF2B5EF4-FFF2-40B4-BE49-F238E27FC236}">
                <a16:creationId xmlns:a16="http://schemas.microsoft.com/office/drawing/2014/main" id="{68210006-D4DE-2D7B-93AE-1C86F816CFFD}"/>
              </a:ext>
            </a:extLst>
          </p:cNvPr>
          <p:cNvPicPr>
            <a:picLocks noGrp="1" noChangeAspect="1"/>
          </p:cNvPicPr>
          <p:nvPr>
            <p:ph type="pic" sz="quarter" idx="14"/>
          </p:nvPr>
        </p:nvPicPr>
        <p:blipFill rotWithShape="1">
          <a:blip r:embed="rId3"/>
          <a:srcRect b="13449"/>
          <a:stretch/>
        </p:blipFill>
        <p:spPr>
          <a:xfrm>
            <a:off x="7883611" y="2503525"/>
            <a:ext cx="4109606" cy="2729584"/>
          </a:xfrm>
          <a:prstGeom prst="rect">
            <a:avLst/>
          </a:prstGeom>
        </p:spPr>
      </p:pic>
    </p:spTree>
    <p:extLst>
      <p:ext uri="{BB962C8B-B14F-4D97-AF65-F5344CB8AC3E}">
        <p14:creationId xmlns:p14="http://schemas.microsoft.com/office/powerpoint/2010/main" val="1001153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Monitor</a:t>
            </a:r>
            <a:endParaRPr sz="3600" dirty="0"/>
          </a:p>
        </p:txBody>
      </p:sp>
      <p:sp>
        <p:nvSpPr>
          <p:cNvPr id="145" name="Google Shape;145;p4"/>
          <p:cNvSpPr txBox="1">
            <a:spLocks noGrp="1"/>
          </p:cNvSpPr>
          <p:nvPr>
            <p:ph type="body" idx="1"/>
          </p:nvPr>
        </p:nvSpPr>
        <p:spPr>
          <a:xfrm>
            <a:off x="476843" y="1563624"/>
            <a:ext cx="6344087" cy="4503543"/>
          </a:xfrm>
          <a:prstGeom prst="rect">
            <a:avLst/>
          </a:prstGeom>
          <a:noFill/>
          <a:ln>
            <a:noFill/>
          </a:ln>
        </p:spPr>
        <p:txBody>
          <a:bodyPr spcFirstLastPara="1" wrap="square" lIns="91425" tIns="45700" rIns="91425" bIns="45700" anchor="t" anchorCtr="0">
            <a:noAutofit/>
          </a:bodyPr>
          <a:lstStyle/>
          <a:p>
            <a:pPr marL="358775" indent="-358775"/>
            <a:r>
              <a:rPr lang="en-US" sz="1800" dirty="0"/>
              <a:t>If the gas cap or missing, the ECM/PCM will detect an evaporative system leak and will illuminate a warning message.</a:t>
            </a:r>
          </a:p>
          <a:p>
            <a:pPr marL="358775" indent="-358775"/>
            <a:r>
              <a:rPr lang="en-US" sz="1800" dirty="0"/>
              <a:t>On some vehicles, the “Check fuel cap” message will appear each time the engine is started until the system turns the message off.</a:t>
            </a:r>
          </a:p>
          <a:p>
            <a:pPr marL="358775" indent="-358775"/>
            <a:r>
              <a:rPr lang="en-US" sz="1800" dirty="0"/>
              <a:t>The message may turn off after the cap is replaced or tightened until at least one click is heard.</a:t>
            </a:r>
          </a:p>
          <a:p>
            <a:pPr marL="358775" indent="-358775"/>
            <a:r>
              <a:rPr lang="en-US" sz="1800" dirty="0"/>
              <a:t>If the message does not turn off, there be a leak in the system or the circuit for the message is faulty. </a:t>
            </a:r>
          </a:p>
          <a:p>
            <a:pPr marL="358775" indent="-358775"/>
            <a:r>
              <a:rPr lang="en-US" sz="1800" dirty="0"/>
              <a:t>A fuel tank pressure (FTP) sensor is a transducer that converts the absolute pressure in the fuel tank into an input for the PCM.</a:t>
            </a:r>
            <a:endParaRPr lang="en-US" sz="1600" dirty="0"/>
          </a:p>
        </p:txBody>
      </p:sp>
      <p:pic>
        <p:nvPicPr>
          <p:cNvPr id="8" name="Picture Placeholder 7" descr="A typical fuel tank pressure sensor, that converts the absolute pressure in the fuel tank into an input for the P C M.">
            <a:extLst>
              <a:ext uri="{FF2B5EF4-FFF2-40B4-BE49-F238E27FC236}">
                <a16:creationId xmlns:a16="http://schemas.microsoft.com/office/drawing/2014/main" id="{7F5E69B7-135A-8E26-7880-3BBFFFEA06F3}"/>
              </a:ext>
            </a:extLst>
          </p:cNvPr>
          <p:cNvPicPr>
            <a:picLocks noGrp="1" noChangeAspect="1"/>
          </p:cNvPicPr>
          <p:nvPr>
            <p:ph type="pic" sz="quarter" idx="14"/>
          </p:nvPr>
        </p:nvPicPr>
        <p:blipFill rotWithShape="1">
          <a:blip r:embed="rId3"/>
          <a:srcRect b="7679"/>
          <a:stretch/>
        </p:blipFill>
        <p:spPr>
          <a:xfrm>
            <a:off x="7118042" y="1839418"/>
            <a:ext cx="4742654" cy="3498702"/>
          </a:xfrm>
          <a:prstGeom prst="rect">
            <a:avLst/>
          </a:prstGeom>
        </p:spPr>
      </p:pic>
    </p:spTree>
    <p:extLst>
      <p:ext uri="{BB962C8B-B14F-4D97-AF65-F5344CB8AC3E}">
        <p14:creationId xmlns:p14="http://schemas.microsoft.com/office/powerpoint/2010/main" val="2463098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Cap Testing</a:t>
            </a:r>
            <a:endParaRPr sz="3600" dirty="0"/>
          </a:p>
        </p:txBody>
      </p:sp>
      <p:pic>
        <p:nvPicPr>
          <p:cNvPr id="8" name="Picture Placeholder 7" descr="A typical fuel cap tester, F P T 27 depicts the various components including the adapters, along with the quick operating instructions.">
            <a:extLst>
              <a:ext uri="{FF2B5EF4-FFF2-40B4-BE49-F238E27FC236}">
                <a16:creationId xmlns:a16="http://schemas.microsoft.com/office/drawing/2014/main" id="{28F9296A-3A16-ED89-D77F-9DFA4C74E9FA}"/>
              </a:ext>
            </a:extLst>
          </p:cNvPr>
          <p:cNvPicPr>
            <a:picLocks noGrp="1" noChangeAspect="1"/>
          </p:cNvPicPr>
          <p:nvPr>
            <p:ph type="pic" sz="quarter" idx="12"/>
          </p:nvPr>
        </p:nvPicPr>
        <p:blipFill rotWithShape="1">
          <a:blip r:embed="rId3"/>
          <a:srcRect b="8016"/>
          <a:stretch/>
        </p:blipFill>
        <p:spPr>
          <a:xfrm>
            <a:off x="638471" y="1765004"/>
            <a:ext cx="4250504" cy="3946683"/>
          </a:xfrm>
          <a:prstGeom prst="rect">
            <a:avLst/>
          </a:prstGeom>
        </p:spPr>
      </p:pic>
      <p:sp>
        <p:nvSpPr>
          <p:cNvPr id="145" name="Google Shape;145;p4"/>
          <p:cNvSpPr txBox="1">
            <a:spLocks noGrp="1"/>
          </p:cNvSpPr>
          <p:nvPr>
            <p:ph type="body" idx="1"/>
          </p:nvPr>
        </p:nvSpPr>
        <p:spPr>
          <a:xfrm>
            <a:off x="5221356" y="1452411"/>
            <a:ext cx="6652591" cy="4676540"/>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2000" dirty="0"/>
              <a:t>A gas cap should be checked whenever the PCM detects a leak in the evaporative system and the cap is securely fastened.</a:t>
            </a:r>
          </a:p>
          <a:p>
            <a:pPr marL="357188" indent="-357188">
              <a:spcAft>
                <a:spcPts val="400"/>
              </a:spcAft>
            </a:pPr>
            <a:r>
              <a:rPr lang="en-US" sz="2000" dirty="0"/>
              <a:t>Also, some states, such as California, mandate a gas cap check as part of the annual emissions tests.</a:t>
            </a:r>
          </a:p>
          <a:p>
            <a:pPr marL="357188" indent="-357188">
              <a:spcAft>
                <a:spcPts val="400"/>
              </a:spcAft>
            </a:pPr>
            <a:r>
              <a:rPr lang="en-US" sz="2000" dirty="0"/>
              <a:t>A gas cap is checked with a special tester.</a:t>
            </a:r>
          </a:p>
          <a:p>
            <a:pPr marL="357188" indent="-357188">
              <a:spcAft>
                <a:spcPts val="400"/>
              </a:spcAft>
            </a:pPr>
            <a:r>
              <a:rPr lang="en-US" sz="2000" dirty="0"/>
              <a:t>The cap is connected to the tester by an adapter specifically designed for the cap.</a:t>
            </a:r>
          </a:p>
          <a:p>
            <a:pPr marL="357188" indent="-357188">
              <a:spcAft>
                <a:spcPts val="400"/>
              </a:spcAft>
            </a:pPr>
            <a:r>
              <a:rPr lang="en-US" sz="2000" dirty="0"/>
              <a:t>The tester then applies pressure to the cap and monitors its ability to hold the pressure.</a:t>
            </a:r>
          </a:p>
          <a:p>
            <a:pPr marL="357188" indent="-357188">
              <a:spcAft>
                <a:spcPts val="400"/>
              </a:spcAft>
            </a:pPr>
            <a:r>
              <a:rPr lang="en-US" sz="2000" dirty="0"/>
              <a:t>The readout on the tester simply says PASS or FAIL. </a:t>
            </a:r>
          </a:p>
        </p:txBody>
      </p:sp>
    </p:spTree>
    <p:extLst>
      <p:ext uri="{BB962C8B-B14F-4D97-AF65-F5344CB8AC3E}">
        <p14:creationId xmlns:p14="http://schemas.microsoft.com/office/powerpoint/2010/main" val="2533634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Capless Fuel System </a:t>
            </a:r>
            <a:endParaRPr sz="3600" dirty="0"/>
          </a:p>
        </p:txBody>
      </p:sp>
      <p:pic>
        <p:nvPicPr>
          <p:cNvPr id="9" name="Picture Placeholder 8" descr="A typical capless fuel filler tube with a flapper valve reduces the time the fuel vapors can escape during the refueling.">
            <a:extLst>
              <a:ext uri="{FF2B5EF4-FFF2-40B4-BE49-F238E27FC236}">
                <a16:creationId xmlns:a16="http://schemas.microsoft.com/office/drawing/2014/main" id="{4800413F-CDBD-8D72-DE15-348914CCC892}"/>
              </a:ext>
            </a:extLst>
          </p:cNvPr>
          <p:cNvPicPr>
            <a:picLocks noGrp="1" noChangeAspect="1"/>
          </p:cNvPicPr>
          <p:nvPr>
            <p:ph type="pic" sz="quarter" idx="12"/>
          </p:nvPr>
        </p:nvPicPr>
        <p:blipFill rotWithShape="1">
          <a:blip r:embed="rId3"/>
          <a:srcRect b="14382"/>
          <a:stretch/>
        </p:blipFill>
        <p:spPr>
          <a:xfrm>
            <a:off x="341762" y="2257125"/>
            <a:ext cx="4058738" cy="2603525"/>
          </a:xfrm>
          <a:prstGeom prst="rect">
            <a:avLst/>
          </a:prstGeom>
        </p:spPr>
      </p:pic>
      <p:sp>
        <p:nvSpPr>
          <p:cNvPr id="145" name="Google Shape;145;p4"/>
          <p:cNvSpPr txBox="1">
            <a:spLocks noGrp="1"/>
          </p:cNvSpPr>
          <p:nvPr>
            <p:ph type="body" idx="1"/>
          </p:nvPr>
        </p:nvSpPr>
        <p:spPr>
          <a:xfrm>
            <a:off x="4707924" y="1437055"/>
            <a:ext cx="7010834" cy="4700672"/>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1800" dirty="0"/>
              <a:t>This technology is used on many 2008 and newer Fords as well as other vehicles.</a:t>
            </a:r>
          </a:p>
          <a:p>
            <a:pPr marL="357188" indent="-357188">
              <a:spcAft>
                <a:spcPts val="400"/>
              </a:spcAft>
            </a:pPr>
            <a:r>
              <a:rPr lang="en-US" sz="1800" dirty="0"/>
              <a:t>A spring-loaded flapper valve is positioned at the opening for the filler neck.</a:t>
            </a:r>
          </a:p>
          <a:p>
            <a:pPr marL="357188" indent="-357188">
              <a:spcAft>
                <a:spcPts val="400"/>
              </a:spcAft>
            </a:pPr>
            <a:r>
              <a:rPr lang="en-US" sz="1800" dirty="0"/>
              <a:t>This valve tightly seals the tank until a fuel nozzle is inserted into the opening.</a:t>
            </a:r>
          </a:p>
          <a:p>
            <a:pPr marL="357188" indent="-357188">
              <a:spcAft>
                <a:spcPts val="400"/>
              </a:spcAft>
            </a:pPr>
            <a:r>
              <a:rPr lang="en-US" sz="1800" dirty="0"/>
              <a:t>The nozzle opens the valve and allows for the refilling of fuel.</a:t>
            </a:r>
          </a:p>
          <a:p>
            <a:pPr marL="357188" indent="-357188">
              <a:spcAft>
                <a:spcPts val="400"/>
              </a:spcAft>
            </a:pPr>
            <a:r>
              <a:rPr lang="en-US" sz="1800" dirty="0"/>
              <a:t>As soon as the nozzle is removed, the valve is shut by the springs.</a:t>
            </a:r>
          </a:p>
          <a:p>
            <a:pPr marL="357188" indent="-357188">
              <a:spcAft>
                <a:spcPts val="400"/>
              </a:spcAft>
            </a:pPr>
            <a:r>
              <a:rPr lang="en-US" sz="1800" dirty="0"/>
              <a:t>A capless fuel system reduces the time the fuel vapors can escape during refueling.</a:t>
            </a:r>
          </a:p>
          <a:p>
            <a:pPr marL="357188" indent="-357188">
              <a:spcAft>
                <a:spcPts val="400"/>
              </a:spcAft>
            </a:pPr>
            <a:r>
              <a:rPr lang="en-US" sz="1800" dirty="0"/>
              <a:t>It also makes it more convenient for the consumer, because there is no cap to tighten.</a:t>
            </a:r>
          </a:p>
        </p:txBody>
      </p:sp>
    </p:spTree>
    <p:extLst>
      <p:ext uri="{BB962C8B-B14F-4D97-AF65-F5344CB8AC3E}">
        <p14:creationId xmlns:p14="http://schemas.microsoft.com/office/powerpoint/2010/main" val="2945404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A gas cap left off or loose on an modern vehicle is likely to cause what symptom?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91A492B9-6B32-316A-43B8-02A2BEE22A03}"/>
              </a:ext>
            </a:extLst>
          </p:cNvPr>
          <p:cNvSpPr>
            <a:spLocks noGrp="1"/>
          </p:cNvSpPr>
          <p:nvPr>
            <p:ph type="body" idx="1"/>
          </p:nvPr>
        </p:nvSpPr>
        <p:spPr/>
        <p:txBody>
          <a:bodyPr/>
          <a:lstStyle/>
          <a:p>
            <a:pPr marL="0" lvl="1" indent="0">
              <a:buNone/>
            </a:pPr>
            <a:r>
              <a:rPr lang="en-US" sz="2600" b="1" dirty="0"/>
              <a:t>Answer</a:t>
            </a:r>
            <a:r>
              <a:rPr lang="en-US" sz="2600" dirty="0"/>
              <a:t>: If the gas cap or missing, the ECM/PCM will detect an evaporative system leak and will illuminate a warning message.</a:t>
            </a:r>
          </a:p>
          <a:p>
            <a:pPr marL="0" lvl="1" indent="0">
              <a:buNone/>
            </a:pPr>
            <a:r>
              <a:rPr lang="en-US" sz="2600" dirty="0"/>
              <a:t>On some vehicles, the “Check fuel cap” message will appear each time the engine is started until the system turns the message off.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Lines and Fittings</a:t>
            </a:r>
            <a:endParaRPr sz="3600" dirty="0"/>
          </a:p>
        </p:txBody>
      </p:sp>
      <p:sp>
        <p:nvSpPr>
          <p:cNvPr id="145" name="Google Shape;145;p4"/>
          <p:cNvSpPr txBox="1">
            <a:spLocks noGrp="1"/>
          </p:cNvSpPr>
          <p:nvPr>
            <p:ph type="body" idx="1"/>
          </p:nvPr>
        </p:nvSpPr>
        <p:spPr>
          <a:xfrm>
            <a:off x="476844" y="1563624"/>
            <a:ext cx="6924854" cy="4342905"/>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29.05 Inspect and service fuel lines and tubing.</a:t>
            </a:r>
          </a:p>
          <a:p>
            <a:pPr marL="285750" indent="-285750"/>
            <a:r>
              <a:rPr lang="en-US" sz="2000" dirty="0"/>
              <a:t>The fuel lines carry fuel from the tank to the fuel filter and fuel injection assembly.</a:t>
            </a:r>
          </a:p>
          <a:p>
            <a:pPr marL="285750" indent="-285750"/>
            <a:r>
              <a:rPr lang="en-US" sz="2000" dirty="0"/>
              <a:t>Fuel lines can be made of either metal tubing or flexible nylon or synthetic rubber hose.</a:t>
            </a:r>
          </a:p>
          <a:p>
            <a:pPr marL="285750" indent="-285750"/>
            <a:r>
              <a:rPr lang="en-US" sz="2000" dirty="0"/>
              <a:t>The hoses must also be nonpermeable, so gas and gas vapors cannot evaporate through the hose.</a:t>
            </a:r>
          </a:p>
          <a:p>
            <a:pPr marL="285750" indent="-285750"/>
            <a:r>
              <a:rPr lang="en-US" sz="2000" dirty="0"/>
              <a:t>Only hoses made for fuel systems should be used. </a:t>
            </a:r>
          </a:p>
          <a:p>
            <a:pPr marL="285750" indent="-285750"/>
            <a:r>
              <a:rPr lang="en-US" sz="2000" dirty="0"/>
              <a:t>Fuel supply lines from the tank to the injectors are routed to follow the frame along the under chassis of the vehicle.</a:t>
            </a:r>
            <a:endParaRPr lang="en-US" sz="1300" dirty="0"/>
          </a:p>
        </p:txBody>
      </p:sp>
      <p:pic>
        <p:nvPicPr>
          <p:cNvPr id="8" name="Picture Placeholder 7" descr="An illustration depicts an outline of a car and a layout of the fuel line from the fuel tank to a fuel filler and fuel injectors. The fuel from the fuel pump is flowing toward the fuel lines through the fuel feed pipe. The fuel indicator is connected through a fuel feed pipe. A two-way valve is connected to charcoal canister through a fuel vapor pipe. The fuel from the pressure regulator is flowing back to fuel pump through a fuel return pipe. The labeled parts as follows: Fuel pump, two-way valve, fuel tank, fuel filter, fuel return pipe, pressure regulator, fuel injectors, charcoal canister, fuel vapor pipe, and fuel feed pipe.">
            <a:extLst>
              <a:ext uri="{FF2B5EF4-FFF2-40B4-BE49-F238E27FC236}">
                <a16:creationId xmlns:a16="http://schemas.microsoft.com/office/drawing/2014/main" id="{317A004A-3215-EC39-5849-DBE25F202C6F}"/>
              </a:ext>
            </a:extLst>
          </p:cNvPr>
          <p:cNvPicPr>
            <a:picLocks noGrp="1" noChangeAspect="1"/>
          </p:cNvPicPr>
          <p:nvPr>
            <p:ph type="pic" sz="quarter" idx="14"/>
          </p:nvPr>
        </p:nvPicPr>
        <p:blipFill rotWithShape="1">
          <a:blip r:embed="rId3"/>
          <a:srcRect b="10321"/>
          <a:stretch/>
        </p:blipFill>
        <p:spPr>
          <a:xfrm>
            <a:off x="7501463" y="2636098"/>
            <a:ext cx="4340721" cy="2227449"/>
          </a:xfrm>
          <a:prstGeom prst="rect">
            <a:avLst/>
          </a:prstGeom>
        </p:spPr>
      </p:pic>
    </p:spTree>
    <p:extLst>
      <p:ext uri="{BB962C8B-B14F-4D97-AF65-F5344CB8AC3E}">
        <p14:creationId xmlns:p14="http://schemas.microsoft.com/office/powerpoint/2010/main" val="850113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Fittings </a:t>
            </a:r>
            <a:endParaRPr sz="3600" dirty="0"/>
          </a:p>
        </p:txBody>
      </p:sp>
      <p:sp>
        <p:nvSpPr>
          <p:cNvPr id="145" name="Google Shape;145;p4"/>
          <p:cNvSpPr txBox="1">
            <a:spLocks noGrp="1"/>
          </p:cNvSpPr>
          <p:nvPr>
            <p:ph type="body" idx="1"/>
          </p:nvPr>
        </p:nvSpPr>
        <p:spPr>
          <a:xfrm>
            <a:off x="476843" y="1563624"/>
            <a:ext cx="7530335" cy="4355261"/>
          </a:xfrm>
          <a:prstGeom prst="rect">
            <a:avLst/>
          </a:prstGeom>
          <a:noFill/>
          <a:ln>
            <a:noFill/>
          </a:ln>
        </p:spPr>
        <p:txBody>
          <a:bodyPr spcFirstLastPara="1" wrap="square" lIns="91425" tIns="45700" rIns="91425" bIns="45700" anchor="t" anchorCtr="0">
            <a:noAutofit/>
          </a:bodyPr>
          <a:lstStyle/>
          <a:p>
            <a:pPr marL="358775" indent="-358775">
              <a:lnSpc>
                <a:spcPct val="107000"/>
              </a:lnSpc>
            </a:pPr>
            <a:r>
              <a:rPr lang="en-US" sz="2000" dirty="0"/>
              <a:t>Sections of fuel line are assembled together by fittings.</a:t>
            </a:r>
          </a:p>
          <a:p>
            <a:pPr marL="358775" indent="-358775">
              <a:lnSpc>
                <a:spcPct val="107000"/>
              </a:lnSpc>
            </a:pPr>
            <a:r>
              <a:rPr lang="en-US" sz="2000" dirty="0"/>
              <a:t>Some of these fittings are a threaded-type fitting, while most are a quick-release design.</a:t>
            </a:r>
          </a:p>
          <a:p>
            <a:pPr marL="358775" indent="-358775">
              <a:lnSpc>
                <a:spcPct val="107000"/>
              </a:lnSpc>
            </a:pPr>
            <a:r>
              <a:rPr lang="en-US" sz="2000" dirty="0"/>
              <a:t>Many fuel lines have quick-disconnect fittings with a unique female socket and a compatible male connector.</a:t>
            </a:r>
          </a:p>
          <a:p>
            <a:pPr marL="358775" indent="-358775">
              <a:lnSpc>
                <a:spcPct val="107000"/>
              </a:lnSpc>
            </a:pPr>
            <a:r>
              <a:rPr lang="en-US" sz="2000" dirty="0"/>
              <a:t>These quick-disconnect fittings are sealed by an O-ring inside the female connector.</a:t>
            </a:r>
          </a:p>
          <a:p>
            <a:pPr marL="358775" indent="-358775">
              <a:lnSpc>
                <a:spcPct val="107000"/>
              </a:lnSpc>
            </a:pPr>
            <a:r>
              <a:rPr lang="en-US" sz="2000" dirty="0"/>
              <a:t>Some of these quick-disconnect fittings have hand-releasable locking tabs, while others require a special tool to release the fitting.</a:t>
            </a:r>
            <a:endParaRPr lang="en-US" sz="1300" dirty="0"/>
          </a:p>
        </p:txBody>
      </p:sp>
      <p:pic>
        <p:nvPicPr>
          <p:cNvPr id="8" name="Picture Placeholder 7" descr="An illustration depicts two types of releasing the fuel line. The first type shows the rotate to release type and the second type shows the squeeze to release type.">
            <a:extLst>
              <a:ext uri="{FF2B5EF4-FFF2-40B4-BE49-F238E27FC236}">
                <a16:creationId xmlns:a16="http://schemas.microsoft.com/office/drawing/2014/main" id="{4201917C-FB3D-FEE9-7C94-5B1641F25AA5}"/>
              </a:ext>
            </a:extLst>
          </p:cNvPr>
          <p:cNvPicPr>
            <a:picLocks noGrp="1" noChangeAspect="1"/>
          </p:cNvPicPr>
          <p:nvPr>
            <p:ph type="pic" sz="quarter" idx="14"/>
          </p:nvPr>
        </p:nvPicPr>
        <p:blipFill rotWithShape="1">
          <a:blip r:embed="rId3"/>
          <a:srcRect l="10446" r="9983" b="13285"/>
          <a:stretch/>
        </p:blipFill>
        <p:spPr>
          <a:xfrm>
            <a:off x="8322365" y="1906540"/>
            <a:ext cx="3480485" cy="3579860"/>
          </a:xfrm>
          <a:prstGeom prst="rect">
            <a:avLst/>
          </a:prstGeom>
        </p:spPr>
      </p:pic>
    </p:spTree>
    <p:extLst>
      <p:ext uri="{BB962C8B-B14F-4D97-AF65-F5344CB8AC3E}">
        <p14:creationId xmlns:p14="http://schemas.microsoft.com/office/powerpoint/2010/main" val="1876346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Inspection</a:t>
            </a:r>
            <a:endParaRPr sz="3600" dirty="0"/>
          </a:p>
        </p:txBody>
      </p:sp>
      <p:pic>
        <p:nvPicPr>
          <p:cNvPr id="8" name="Picture Placeholder 7" descr="A typical section of rubber and steel fuel line is to be inspected for leaks and damages.">
            <a:extLst>
              <a:ext uri="{FF2B5EF4-FFF2-40B4-BE49-F238E27FC236}">
                <a16:creationId xmlns:a16="http://schemas.microsoft.com/office/drawing/2014/main" id="{44C6A986-A52D-49B6-5C78-EBA699BC676F}"/>
              </a:ext>
            </a:extLst>
          </p:cNvPr>
          <p:cNvPicPr>
            <a:picLocks noGrp="1" noChangeAspect="1"/>
          </p:cNvPicPr>
          <p:nvPr>
            <p:ph type="pic" sz="quarter" idx="12"/>
          </p:nvPr>
        </p:nvPicPr>
        <p:blipFill rotWithShape="1">
          <a:blip r:embed="rId3"/>
          <a:srcRect b="11059"/>
          <a:stretch/>
        </p:blipFill>
        <p:spPr>
          <a:xfrm>
            <a:off x="435454" y="2333407"/>
            <a:ext cx="4345433" cy="2437376"/>
          </a:xfrm>
          <a:prstGeom prst="rect">
            <a:avLst/>
          </a:prstGeom>
        </p:spPr>
      </p:pic>
      <p:sp>
        <p:nvSpPr>
          <p:cNvPr id="145" name="Google Shape;145;p4"/>
          <p:cNvSpPr txBox="1">
            <a:spLocks noGrp="1"/>
          </p:cNvSpPr>
          <p:nvPr>
            <p:ph type="body" idx="1"/>
          </p:nvPr>
        </p:nvSpPr>
        <p:spPr>
          <a:xfrm>
            <a:off x="4937508" y="1421432"/>
            <a:ext cx="6887265" cy="4664181"/>
          </a:xfrm>
          <a:prstGeom prst="rect">
            <a:avLst/>
          </a:prstGeom>
          <a:noFill/>
          <a:ln>
            <a:noFill/>
          </a:ln>
        </p:spPr>
        <p:txBody>
          <a:bodyPr spcFirstLastPara="1" wrap="square" lIns="91425" tIns="45700" rIns="91425" bIns="45700" anchor="t" anchorCtr="0">
            <a:noAutofit/>
          </a:bodyPr>
          <a:lstStyle/>
          <a:p>
            <a:pPr marL="342900" indent="-342900"/>
            <a:r>
              <a:rPr lang="en-US" sz="1800" dirty="0"/>
              <a:t>All fuel lines should occasionally be inspected for holes, cracks, leaks, kinks, or dents.</a:t>
            </a:r>
          </a:p>
          <a:p>
            <a:pPr marL="342900" indent="-342900"/>
            <a:r>
              <a:rPr lang="en-US" sz="1800" dirty="0"/>
              <a:t>Rubber fuel hoses should be inspected for leaks, cracks, cuts, kinks, oil soaking, and soft spots or deterioration.</a:t>
            </a:r>
          </a:p>
          <a:p>
            <a:pPr marL="342900" indent="-342900"/>
            <a:r>
              <a:rPr lang="en-US" sz="1800" dirty="0"/>
              <a:t>If any of these conditions is found, the fuel hose should be replaced.</a:t>
            </a:r>
          </a:p>
          <a:p>
            <a:pPr marL="342900" indent="-342900"/>
            <a:r>
              <a:rPr lang="en-US" sz="1800" dirty="0"/>
              <a:t>When a rubber fuel hose is installed, the hose should be installed to the proper depth on the metal fitting or line.</a:t>
            </a:r>
          </a:p>
          <a:p>
            <a:pPr marL="342900" indent="-342900"/>
            <a:r>
              <a:rPr lang="en-US" sz="1800" dirty="0"/>
              <a:t>Steel tubing should be inspected for leaks, kinks, and deformation.</a:t>
            </a:r>
          </a:p>
          <a:p>
            <a:pPr marL="342900" indent="-342900"/>
            <a:r>
              <a:rPr lang="en-US" sz="1800" dirty="0"/>
              <a:t>Tubing should also be checked for loose connections and proper clamping to the chassis.</a:t>
            </a:r>
            <a:endParaRPr lang="en-US" sz="1200" dirty="0"/>
          </a:p>
        </p:txBody>
      </p:sp>
    </p:spTree>
    <p:extLst>
      <p:ext uri="{BB962C8B-B14F-4D97-AF65-F5344CB8AC3E}">
        <p14:creationId xmlns:p14="http://schemas.microsoft.com/office/powerpoint/2010/main" val="1658784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Line Replacement</a:t>
            </a:r>
            <a:endParaRPr sz="3600" dirty="0"/>
          </a:p>
        </p:txBody>
      </p:sp>
      <p:pic>
        <p:nvPicPr>
          <p:cNvPr id="9" name="Picture Placeholder 8" descr="Two illustrations. The first illustration depicts a tube is bent by using the spring tubing bender to obtain a gentle curve. The second illustration depicts a tube bent by using the wrench to avoid kinking.">
            <a:extLst>
              <a:ext uri="{FF2B5EF4-FFF2-40B4-BE49-F238E27FC236}">
                <a16:creationId xmlns:a16="http://schemas.microsoft.com/office/drawing/2014/main" id="{EE5CA5B8-1902-4D84-8FB6-368A0A00A19A}"/>
              </a:ext>
            </a:extLst>
          </p:cNvPr>
          <p:cNvPicPr>
            <a:picLocks noGrp="1" noChangeAspect="1"/>
          </p:cNvPicPr>
          <p:nvPr>
            <p:ph type="pic" sz="quarter" idx="12"/>
          </p:nvPr>
        </p:nvPicPr>
        <p:blipFill rotWithShape="1">
          <a:blip r:embed="rId3"/>
          <a:srcRect b="10819"/>
          <a:stretch/>
        </p:blipFill>
        <p:spPr>
          <a:xfrm>
            <a:off x="689819" y="2032794"/>
            <a:ext cx="3880048" cy="3307832"/>
          </a:xfrm>
          <a:prstGeom prst="rect">
            <a:avLst/>
          </a:prstGeom>
        </p:spPr>
      </p:pic>
      <p:sp>
        <p:nvSpPr>
          <p:cNvPr id="145" name="Google Shape;145;p4"/>
          <p:cNvSpPr txBox="1">
            <a:spLocks noGrp="1"/>
          </p:cNvSpPr>
          <p:nvPr>
            <p:ph type="body" idx="1"/>
          </p:nvPr>
        </p:nvSpPr>
        <p:spPr>
          <a:xfrm>
            <a:off x="4876800" y="1563624"/>
            <a:ext cx="6841958" cy="4392333"/>
          </a:xfrm>
          <a:prstGeom prst="rect">
            <a:avLst/>
          </a:prstGeom>
          <a:noFill/>
          <a:ln>
            <a:noFill/>
          </a:ln>
        </p:spPr>
        <p:txBody>
          <a:bodyPr spcFirstLastPara="1" wrap="square" lIns="91425" tIns="45700" rIns="91425" bIns="45700" anchor="t" anchorCtr="0">
            <a:noAutofit/>
          </a:bodyPr>
          <a:lstStyle/>
          <a:p>
            <a:pPr marL="342900" indent="-342900"/>
            <a:r>
              <a:rPr lang="en-US" sz="2000" dirty="0"/>
              <a:t>Any damaged or leaking fuel line must be replaced.</a:t>
            </a:r>
          </a:p>
          <a:p>
            <a:pPr marL="357188" indent="-357188"/>
            <a:r>
              <a:rPr lang="en-US" sz="2000" dirty="0"/>
              <a:t>To fabricate a new fuel line, select the correct tube and fitting dimension and start with a length that is slightly longer than the old line.</a:t>
            </a:r>
          </a:p>
          <a:p>
            <a:pPr marL="357188" indent="-357188"/>
            <a:r>
              <a:rPr lang="en-US" sz="2000" dirty="0"/>
              <a:t>With the old line as a reference, use a tubing bender to form the same bends in the new line as those that exist in the old.</a:t>
            </a:r>
          </a:p>
          <a:p>
            <a:pPr marL="357188" indent="-357188"/>
            <a:r>
              <a:rPr lang="en-US" sz="2000" dirty="0"/>
              <a:t>Although steel tubing can be bent by hand to obtain a gentle curve, any attempt to bend a tight curve by hand usually kinks the tubing.</a:t>
            </a:r>
          </a:p>
          <a:p>
            <a:pPr marL="357188" indent="-357188"/>
            <a:r>
              <a:rPr lang="en-US" sz="2000" dirty="0"/>
              <a:t>To avoid kinking, always use a bending tool.</a:t>
            </a:r>
          </a:p>
        </p:txBody>
      </p:sp>
    </p:spTree>
    <p:extLst>
      <p:ext uri="{BB962C8B-B14F-4D97-AF65-F5344CB8AC3E}">
        <p14:creationId xmlns:p14="http://schemas.microsoft.com/office/powerpoint/2010/main" val="2897703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Filters (1 of 2)</a:t>
            </a:r>
            <a:endParaRPr sz="3600" dirty="0"/>
          </a:p>
        </p:txBody>
      </p:sp>
      <p:sp>
        <p:nvSpPr>
          <p:cNvPr id="145" name="Google Shape;145;p4"/>
          <p:cNvSpPr txBox="1">
            <a:spLocks noGrp="1"/>
          </p:cNvSpPr>
          <p:nvPr>
            <p:ph type="body" idx="1"/>
          </p:nvPr>
        </p:nvSpPr>
        <p:spPr>
          <a:xfrm>
            <a:off x="476844" y="1563624"/>
            <a:ext cx="6937210" cy="4577683"/>
          </a:xfrm>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1800" b="1" dirty="0"/>
              <a:t>29.07 Describe the different fuel filter designs and mountings.</a:t>
            </a:r>
          </a:p>
          <a:p>
            <a:r>
              <a:rPr lang="en-US" sz="1800" dirty="0"/>
              <a:t>Automobiles and light trucks have an in-tank strainer and a gasoline filter.</a:t>
            </a:r>
          </a:p>
          <a:p>
            <a:r>
              <a:rPr lang="en-US" sz="1800" dirty="0"/>
              <a:t>A fuel filter may be in the tank or in the fuel line between the fuel tank and the engine.</a:t>
            </a:r>
          </a:p>
          <a:p>
            <a:r>
              <a:rPr lang="en-US" sz="1800" dirty="0"/>
              <a:t>Most modern vehicles have eliminated the inline filter and use only the filter in the tank.</a:t>
            </a:r>
          </a:p>
          <a:p>
            <a:r>
              <a:rPr lang="en-US" sz="1800" dirty="0"/>
              <a:t>This is in part due to the use of plastic fuel tanks and the goal of reducing maintenance costs.</a:t>
            </a:r>
          </a:p>
          <a:p>
            <a:r>
              <a:rPr lang="en-US" sz="1800" dirty="0"/>
              <a:t>Many of these inline filters are mounted under the vehicle, and others are mounted in the engine compartment.</a:t>
            </a:r>
            <a:endParaRPr lang="en-US" sz="1200" dirty="0"/>
          </a:p>
        </p:txBody>
      </p:sp>
      <p:pic>
        <p:nvPicPr>
          <p:cNvPr id="8" name="Picture Placeholder 7" descr="A typical ink-tank fuel filter is assembled between the fuel tank and the engine.">
            <a:extLst>
              <a:ext uri="{FF2B5EF4-FFF2-40B4-BE49-F238E27FC236}">
                <a16:creationId xmlns:a16="http://schemas.microsoft.com/office/drawing/2014/main" id="{883D9F8A-0D73-6A5F-DCC8-2A05C6AD2394}"/>
              </a:ext>
            </a:extLst>
          </p:cNvPr>
          <p:cNvPicPr>
            <a:picLocks noGrp="1" noChangeAspect="1"/>
          </p:cNvPicPr>
          <p:nvPr>
            <p:ph type="pic" sz="quarter" idx="14"/>
          </p:nvPr>
        </p:nvPicPr>
        <p:blipFill rotWithShape="1">
          <a:blip r:embed="rId3"/>
          <a:srcRect b="9340"/>
          <a:stretch/>
        </p:blipFill>
        <p:spPr>
          <a:xfrm>
            <a:off x="7244812" y="2066365"/>
            <a:ext cx="4635943" cy="2982713"/>
          </a:xfrm>
          <a:prstGeom prst="rect">
            <a:avLst/>
          </a:prstGeom>
        </p:spPr>
      </p:pic>
    </p:spTree>
    <p:extLst>
      <p:ext uri="{BB962C8B-B14F-4D97-AF65-F5344CB8AC3E}">
        <p14:creationId xmlns:p14="http://schemas.microsoft.com/office/powerpoint/2010/main" val="2761250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Filters (2 of 2)</a:t>
            </a:r>
            <a:endParaRPr sz="28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1800" b="1" dirty="0"/>
              <a:t>29.08 Remove and replace fuel filters.</a:t>
            </a:r>
          </a:p>
          <a:p>
            <a:pPr marL="285750" indent="-285750">
              <a:spcAft>
                <a:spcPts val="0"/>
              </a:spcAft>
            </a:pPr>
            <a:r>
              <a:rPr lang="en-US" sz="1800" dirty="0"/>
              <a:t>Servicing Filters</a:t>
            </a:r>
          </a:p>
          <a:p>
            <a:pPr marL="715963" lvl="1" indent="-357188">
              <a:spcAft>
                <a:spcPts val="0"/>
              </a:spcAft>
              <a:buSzPct val="100000"/>
            </a:pPr>
            <a:r>
              <a:rPr lang="en-US" sz="1600" dirty="0"/>
              <a:t>To install a new filter, begin by wiping the male tube ends of the new filter.</a:t>
            </a:r>
          </a:p>
          <a:p>
            <a:pPr marL="715963" lvl="1" indent="-357188">
              <a:spcAft>
                <a:spcPts val="0"/>
              </a:spcAft>
              <a:buSzPct val="100000"/>
            </a:pPr>
            <a:r>
              <a:rPr lang="en-US" sz="1600" dirty="0"/>
              <a:t>Apply a few drops of clean engine oil to the male tube ends on the filter.</a:t>
            </a:r>
          </a:p>
          <a:p>
            <a:pPr marL="715963" lvl="1" indent="-357188">
              <a:spcAft>
                <a:spcPts val="0"/>
              </a:spcAft>
              <a:buSzPct val="100000"/>
            </a:pPr>
            <a:r>
              <a:rPr lang="en-US" sz="1600" dirty="0"/>
              <a:t>Check the quick connectors to be sure the large collar on each connector has rotated back to the original position.</a:t>
            </a:r>
          </a:p>
          <a:p>
            <a:pPr marL="715963" lvl="1" indent="-357188">
              <a:spcAft>
                <a:spcPts val="0"/>
              </a:spcAft>
              <a:buSzPct val="100000"/>
            </a:pPr>
            <a:r>
              <a:rPr lang="en-US" sz="1600" dirty="0"/>
              <a:t>The springs must be visible on the inside diameter of each quick connector.</a:t>
            </a:r>
          </a:p>
          <a:p>
            <a:pPr marL="715963" lvl="1" indent="-357188">
              <a:spcAft>
                <a:spcPts val="0"/>
              </a:spcAft>
              <a:buSzPct val="100000"/>
            </a:pPr>
            <a:r>
              <a:rPr lang="en-US" sz="1600" dirty="0"/>
              <a:t>Then install the filter and leave the mounting bolt slightly loose.</a:t>
            </a:r>
          </a:p>
          <a:p>
            <a:pPr marL="715963" lvl="1" indent="-357188">
              <a:spcAft>
                <a:spcPts val="0"/>
              </a:spcAft>
              <a:buSzPct val="100000"/>
            </a:pPr>
            <a:r>
              <a:rPr lang="en-US" sz="1600" dirty="0"/>
              <a:t>Install the outlet connector onto the filter outlet tube and press the connector firmly in place until the spring snaps into position.</a:t>
            </a:r>
          </a:p>
          <a:p>
            <a:pPr marL="715963" lvl="1" indent="-357188">
              <a:spcAft>
                <a:spcPts val="0"/>
              </a:spcAft>
              <a:buSzPct val="100000"/>
            </a:pPr>
            <a:r>
              <a:rPr lang="en-US" sz="1600" dirty="0"/>
              <a:t>Grasp the fuel line and try to pull this line from the filter to be sure the quick connector is locked in place.</a:t>
            </a:r>
          </a:p>
          <a:p>
            <a:pPr marL="715963" lvl="1" indent="-357188">
              <a:spcAft>
                <a:spcPts val="0"/>
              </a:spcAft>
              <a:buSzPct val="100000"/>
            </a:pPr>
            <a:r>
              <a:rPr lang="en-US" sz="1600" dirty="0"/>
              <a:t>Then do the same with the inlet connector.</a:t>
            </a:r>
          </a:p>
          <a:p>
            <a:pPr marL="715963" lvl="1" indent="-357188">
              <a:spcAft>
                <a:spcPts val="0"/>
              </a:spcAft>
              <a:buSzPct val="100000"/>
            </a:pPr>
            <a:r>
              <a:rPr lang="en-US" sz="1600" dirty="0"/>
              <a:t>Now tighten the filter-retaining bolt to the specified torque.</a:t>
            </a:r>
          </a:p>
        </p:txBody>
      </p:sp>
    </p:spTree>
    <p:extLst>
      <p:ext uri="{BB962C8B-B14F-4D97-AF65-F5344CB8AC3E}">
        <p14:creationId xmlns:p14="http://schemas.microsoft.com/office/powerpoint/2010/main" val="3551914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Pumps</a:t>
            </a:r>
            <a:endParaRPr sz="3600" dirty="0"/>
          </a:p>
        </p:txBody>
      </p:sp>
      <p:sp>
        <p:nvSpPr>
          <p:cNvPr id="145" name="Google Shape;145;p4"/>
          <p:cNvSpPr txBox="1">
            <a:spLocks noGrp="1"/>
          </p:cNvSpPr>
          <p:nvPr>
            <p:ph type="body" idx="1"/>
          </p:nvPr>
        </p:nvSpPr>
        <p:spPr>
          <a:xfrm>
            <a:off x="476844" y="1563625"/>
            <a:ext cx="7703329" cy="4429402"/>
          </a:xfrm>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1800" b="1" dirty="0"/>
              <a:t>29.09 Explain how common electric fuel pump circuits work.</a:t>
            </a:r>
            <a:endParaRPr lang="en-US" sz="1800" dirty="0"/>
          </a:p>
          <a:p>
            <a:pPr marL="357188" indent="-357188"/>
            <a:r>
              <a:rPr lang="en-US" sz="1800" dirty="0"/>
              <a:t>A fuel pump draws fuel from the fuel tank and pushes it through fuel lines to the engine’s injection system.</a:t>
            </a:r>
          </a:p>
          <a:p>
            <a:pPr marL="357188" indent="-357188"/>
            <a:r>
              <a:rPr lang="en-US" sz="1800" dirty="0"/>
              <a:t>All current vehicles use an electric fuel pump.</a:t>
            </a:r>
          </a:p>
          <a:p>
            <a:pPr marL="357188" indent="-357188"/>
            <a:r>
              <a:rPr lang="en-US" sz="1800" dirty="0"/>
              <a:t>For vehicles with gasoline direct injection, two fuel pumps are used.</a:t>
            </a:r>
          </a:p>
          <a:p>
            <a:pPr marL="357188" indent="-357188"/>
            <a:r>
              <a:rPr lang="en-US" sz="1800" dirty="0"/>
              <a:t>An in-tank electric supply pump delivers fuel to the engine.</a:t>
            </a:r>
          </a:p>
          <a:p>
            <a:pPr marL="357188" indent="-357188"/>
            <a:r>
              <a:rPr lang="en-US" sz="1800" dirty="0"/>
              <a:t>Mounted to the engine is a mechanical pump used to raise fuel pressure to between 1,500 and 2,500 psi depending on the system.</a:t>
            </a:r>
          </a:p>
          <a:p>
            <a:pPr marL="357188" indent="-357188"/>
            <a:r>
              <a:rPr lang="en-US" sz="1800" dirty="0"/>
              <a:t>When the ignition is turned on, the pump starts to run and shuts off automatically when the fuel line is pressurized.</a:t>
            </a:r>
            <a:endParaRPr lang="en-US" sz="1200" dirty="0"/>
          </a:p>
        </p:txBody>
      </p:sp>
      <p:pic>
        <p:nvPicPr>
          <p:cNvPr id="8" name="Picture Placeholder 7" descr="A fuel pump mounted to a gasoline direct injection engine.">
            <a:extLst>
              <a:ext uri="{FF2B5EF4-FFF2-40B4-BE49-F238E27FC236}">
                <a16:creationId xmlns:a16="http://schemas.microsoft.com/office/drawing/2014/main" id="{89EF272D-4D18-7CD4-E7A8-61E560E0D34D}"/>
              </a:ext>
            </a:extLst>
          </p:cNvPr>
          <p:cNvPicPr>
            <a:picLocks noGrp="1" noChangeAspect="1"/>
          </p:cNvPicPr>
          <p:nvPr>
            <p:ph type="pic" sz="quarter" idx="14"/>
          </p:nvPr>
        </p:nvPicPr>
        <p:blipFill rotWithShape="1">
          <a:blip r:embed="rId3"/>
          <a:srcRect b="16671"/>
          <a:stretch/>
        </p:blipFill>
        <p:spPr>
          <a:xfrm>
            <a:off x="8234503" y="2367024"/>
            <a:ext cx="3761536" cy="2708559"/>
          </a:xfrm>
          <a:prstGeom prst="rect">
            <a:avLst/>
          </a:prstGeom>
        </p:spPr>
      </p:pic>
    </p:spTree>
    <p:extLst>
      <p:ext uri="{BB962C8B-B14F-4D97-AF65-F5344CB8AC3E}">
        <p14:creationId xmlns:p14="http://schemas.microsoft.com/office/powerpoint/2010/main" val="119264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Pump Circuits</a:t>
            </a:r>
            <a:endParaRPr sz="3600" dirty="0"/>
          </a:p>
        </p:txBody>
      </p:sp>
      <p:sp>
        <p:nvSpPr>
          <p:cNvPr id="145" name="Google Shape;145;p4"/>
          <p:cNvSpPr txBox="1">
            <a:spLocks noGrp="1"/>
          </p:cNvSpPr>
          <p:nvPr>
            <p:ph type="body" idx="1"/>
          </p:nvPr>
        </p:nvSpPr>
        <p:spPr>
          <a:xfrm>
            <a:off x="476844" y="1563624"/>
            <a:ext cx="7233772" cy="4404690"/>
          </a:xfrm>
          <a:prstGeom prst="rect">
            <a:avLst/>
          </a:prstGeom>
          <a:noFill/>
          <a:ln>
            <a:noFill/>
          </a:ln>
        </p:spPr>
        <p:txBody>
          <a:bodyPr spcFirstLastPara="1" wrap="square" lIns="91425" tIns="45700" rIns="91425" bIns="45700" anchor="t" anchorCtr="0">
            <a:noAutofit/>
          </a:bodyPr>
          <a:lstStyle/>
          <a:p>
            <a:pPr marL="342900" indent="-342900"/>
            <a:r>
              <a:rPr lang="en-US" sz="2000" dirty="0"/>
              <a:t>Electric fuel pump circuits vary depending on the vehicle’s make and year.</a:t>
            </a:r>
          </a:p>
          <a:p>
            <a:pPr marL="357188" indent="-357188"/>
            <a:r>
              <a:rPr lang="en-US" sz="2000" dirty="0"/>
              <a:t>All fuel pumps on late-model vehicles are controlled by the PCM or through a designated electronic control unit tied into the PCM.</a:t>
            </a:r>
          </a:p>
          <a:p>
            <a:pPr marL="357188" indent="-357188"/>
            <a:r>
              <a:rPr lang="en-US" sz="2000" dirty="0"/>
              <a:t>In most </a:t>
            </a:r>
            <a:r>
              <a:rPr lang="en-US" sz="2000" dirty="0" err="1"/>
              <a:t>returnless</a:t>
            </a:r>
            <a:r>
              <a:rPr lang="en-US" sz="2000" dirty="0"/>
              <a:t> systems, the output of the pump is controlled by the PCM through pulse-width modulation.</a:t>
            </a:r>
          </a:p>
          <a:p>
            <a:pPr marL="357188" indent="-357188"/>
            <a:r>
              <a:rPr lang="en-US" sz="2000" dirty="0"/>
              <a:t>In these systems, the pump’s output during closed loop is monitored by a fuel rail pressure sensor.</a:t>
            </a:r>
          </a:p>
          <a:p>
            <a:pPr marL="357188" indent="-357188"/>
            <a:r>
              <a:rPr lang="en-US" sz="2000" dirty="0"/>
              <a:t>Many direct injection systems use a fuel pump driver module to control pump operation.</a:t>
            </a:r>
          </a:p>
        </p:txBody>
      </p:sp>
      <p:pic>
        <p:nvPicPr>
          <p:cNvPr id="8" name="Picture Placeholder 7" descr="An illustration of a circuit of an electric fuel pump. The circuit consists of a fuel pump relay, an oil pressure switch, a battery, a F P. Fuse of (20 amperes), a P C M (Powertrain Control Module), a test term, and a fuel pump. The P C M consists of three modules and they are in the order of 12 that is Ground, 18 that is Relay, and 17 that is F P. signal. The fuel pump relay and the oil pressure switch are connected in parallel. The oil pressure switch consists of two open switches. One end of the first switch is connected to an oil pressure indicator and the other end of the switch is grounded. One end of the second switch is connected to the fuel pump, test term, and the fourth knob of the fuel pump relay, and to module number 17 which is F P. signal. The one end of the F P. fuse is connected to the battery. The other end of the fuse is connected to the first knob of the fuel pump relay and the other end of the second switch. The fuel pump relay consists of a switch, an inductor, and a resistor. The inductor and resistor are connected in parallel. One end of the parallel connection is given to the second knob and the other end of the parallel connection is given to the third knob. One end of the switch in the fuel pump relay is connected to the first knob and the other end is connected to the fourth knob. Module 12 which is Ground is connected to the second knob, Module 18 which is Relay, is connected to the third knob, and Module 17 which is F P. signal, is connected to the fourth knob of the fuel pump relay. Module 12 which is Ground, of P C M is grounded.">
            <a:extLst>
              <a:ext uri="{FF2B5EF4-FFF2-40B4-BE49-F238E27FC236}">
                <a16:creationId xmlns:a16="http://schemas.microsoft.com/office/drawing/2014/main" id="{328908C4-5037-61B7-F17C-04A0DA205B30}"/>
              </a:ext>
            </a:extLst>
          </p:cNvPr>
          <p:cNvPicPr>
            <a:picLocks noGrp="1" noChangeAspect="1"/>
          </p:cNvPicPr>
          <p:nvPr>
            <p:ph type="pic" sz="quarter" idx="14"/>
          </p:nvPr>
        </p:nvPicPr>
        <p:blipFill rotWithShape="1">
          <a:blip r:embed="rId3"/>
          <a:srcRect b="6593"/>
          <a:stretch/>
        </p:blipFill>
        <p:spPr>
          <a:xfrm>
            <a:off x="7942512" y="2047811"/>
            <a:ext cx="3814704" cy="3730137"/>
          </a:xfrm>
          <a:prstGeom prst="rect">
            <a:avLst/>
          </a:prstGeom>
        </p:spPr>
      </p:pic>
    </p:spTree>
    <p:extLst>
      <p:ext uri="{BB962C8B-B14F-4D97-AF65-F5344CB8AC3E}">
        <p14:creationId xmlns:p14="http://schemas.microsoft.com/office/powerpoint/2010/main" val="4231652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US" dirty="0"/>
              <a:t>Fuel pumps controlled by the PCM by pulse-width modulation can speed up and slow down based on fuel demand while the PCM references a fuel rail pressure sensor.</a:t>
            </a:r>
          </a:p>
          <a:p>
            <a:r>
              <a:rPr lang="en-US" dirty="0"/>
              <a:t>Have a class discussion about this system operation. Describe the fuel pump changes, the changes in fuel pressure, what the conditions are, and similar.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Return Type</a:t>
            </a:r>
            <a:endParaRPr sz="3600" dirty="0"/>
          </a:p>
        </p:txBody>
      </p:sp>
      <p:sp>
        <p:nvSpPr>
          <p:cNvPr id="145" name="Google Shape;145;p4"/>
          <p:cNvSpPr txBox="1">
            <a:spLocks noGrp="1"/>
          </p:cNvSpPr>
          <p:nvPr>
            <p:ph type="body" idx="1"/>
          </p:nvPr>
        </p:nvSpPr>
        <p:spPr>
          <a:xfrm>
            <a:off x="476844" y="1563625"/>
            <a:ext cx="7023708" cy="4515900"/>
          </a:xfrm>
          <a:prstGeom prst="rect">
            <a:avLst/>
          </a:prstGeom>
          <a:noFill/>
          <a:ln>
            <a:noFill/>
          </a:ln>
        </p:spPr>
        <p:txBody>
          <a:bodyPr spcFirstLastPara="1" wrap="square" lIns="91425" tIns="45700" rIns="91425" bIns="45700" anchor="t" anchorCtr="0">
            <a:noAutofit/>
          </a:bodyPr>
          <a:lstStyle/>
          <a:p>
            <a:pPr>
              <a:buFont typeface="Work Sans" pitchFamily="2" charset="0"/>
              <a:buChar char="•"/>
            </a:pPr>
            <a:r>
              <a:rPr lang="en-US" sz="1800" dirty="0"/>
              <a:t>In a GM fuel pump circuit (other manufacturers use similar systems), the PCM supplies voltage to the winding of the fuel pump relay when the ignition switch is turned on.</a:t>
            </a:r>
          </a:p>
          <a:p>
            <a:pPr>
              <a:buFont typeface="Work Sans" pitchFamily="2" charset="0"/>
              <a:buChar char="•"/>
            </a:pPr>
            <a:r>
              <a:rPr lang="en-US" sz="1800" dirty="0"/>
              <a:t>This action closes the relay contacts and voltage is supplied through the relay to the fuel pump.</a:t>
            </a:r>
          </a:p>
          <a:p>
            <a:pPr>
              <a:buFont typeface="Work Sans" pitchFamily="2" charset="0"/>
              <a:buChar char="•"/>
            </a:pPr>
            <a:r>
              <a:rPr lang="en-US" sz="1800" dirty="0"/>
              <a:t>The fuel pump remains on while the engine is cranking or running.</a:t>
            </a:r>
          </a:p>
          <a:p>
            <a:pPr>
              <a:buFont typeface="Work Sans" pitchFamily="2" charset="0"/>
              <a:buChar char="•"/>
            </a:pPr>
            <a:r>
              <a:rPr lang="en-US" sz="1800" dirty="0"/>
              <a:t>If the ignition switch is on for 2 seconds and the engine is not cranked, the PCM turns off the voltage to the fuel pump relay to stop the pump.</a:t>
            </a:r>
          </a:p>
          <a:p>
            <a:pPr>
              <a:buFont typeface="Work Sans" pitchFamily="2" charset="0"/>
              <a:buChar char="•"/>
            </a:pPr>
            <a:r>
              <a:rPr lang="en-US" sz="1800" dirty="0"/>
              <a:t>The fuel pump relay in Chrysler EFI systems is referred to as an automatic shutdown (ASD) relay.</a:t>
            </a:r>
          </a:p>
        </p:txBody>
      </p:sp>
      <p:pic>
        <p:nvPicPr>
          <p:cNvPr id="8" name="Picture Placeholder 7" descr="An illustration of a circuit for a Chrysler fuel pump. The circuit consists of a battery, an F P. fuse, A S D relay (Automatic Shutdown), a P C M (Powertrain Control Module), and a fuel pump. The A S D relay consists of an inductor, a resistor, an open switch, and four knobs. The P C M consists of three modules in an order of 3 that is Battery, 51 that is Ground, and 9 that is Relay. One end of the fuse is connected to the battery. The other end of the fuse is connected to one end of the switch in the A S D relay through the first knob. The other end of the switch is connected to the fuel pump and to the ignition coil, oxygen sensor, and injectors through the fourth knob. The other connection from the fuel pump is grounded. In the A S D relay, the inductor and the resistor are connected in parallel. One end of the parallel connection leads to the module 51 which is Ground of P C M through the second knob of A S D. The other end of the parallel connection leads to the module 9 which is Relay of PCM through the third knob of A S D.">
            <a:extLst>
              <a:ext uri="{FF2B5EF4-FFF2-40B4-BE49-F238E27FC236}">
                <a16:creationId xmlns:a16="http://schemas.microsoft.com/office/drawing/2014/main" id="{AF9CA68B-AE81-CF91-FA36-3C578CD339EB}"/>
              </a:ext>
            </a:extLst>
          </p:cNvPr>
          <p:cNvPicPr>
            <a:picLocks noGrp="1" noChangeAspect="1"/>
          </p:cNvPicPr>
          <p:nvPr>
            <p:ph type="pic" sz="quarter" idx="14"/>
          </p:nvPr>
        </p:nvPicPr>
        <p:blipFill rotWithShape="1">
          <a:blip r:embed="rId3"/>
          <a:srcRect b="8614"/>
          <a:stretch/>
        </p:blipFill>
        <p:spPr>
          <a:xfrm>
            <a:off x="7771353" y="1913226"/>
            <a:ext cx="4080347" cy="3811713"/>
          </a:xfrm>
          <a:prstGeom prst="rect">
            <a:avLst/>
          </a:prstGeom>
        </p:spPr>
      </p:pic>
    </p:spTree>
    <p:extLst>
      <p:ext uri="{BB962C8B-B14F-4D97-AF65-F5344CB8AC3E}">
        <p14:creationId xmlns:p14="http://schemas.microsoft.com/office/powerpoint/2010/main" val="2930556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err="1"/>
              <a:t>Returnless</a:t>
            </a:r>
            <a:r>
              <a:rPr lang="en-US" dirty="0"/>
              <a:t> Systems</a:t>
            </a:r>
            <a:endParaRPr lang="en-US" sz="3600" dirty="0"/>
          </a:p>
        </p:txBody>
      </p:sp>
      <p:pic>
        <p:nvPicPr>
          <p:cNvPr id="8" name="Picture Placeholder 7" descr="An illustration of a fuel pump circuit for a direct-injection engine with six components interconnected. The Data bus Network is inside Fuel pump module at the bottom, and a B positive on the left end inside the Fuel pump module is connected to FPM 20 Ampere module at the top left. IGN inside Fuel pump module is connected to IGN PWR 10 Ampere module at the top. The Data bus network model is connected to Fuel Pump Assembly at the top, consisting of Fuel pump M, grounded inside the Fuel pump module. A shield on the right is also grounded inside the Fuel pump module, with all two grounded lines and the line to Fuel pump encircled together. A component inside the fuel pump module on the right end is grounded and connected to the ECM module which has the FPM Driver on the left, and 5 V, Signal, and a grounded line on the right which are connected individually to the Fuel pressure sensor at the bottom right.">
            <a:extLst>
              <a:ext uri="{FF2B5EF4-FFF2-40B4-BE49-F238E27FC236}">
                <a16:creationId xmlns:a16="http://schemas.microsoft.com/office/drawing/2014/main" id="{A0BFBE6F-89EE-A3BA-027E-6FE76509C917}"/>
              </a:ext>
            </a:extLst>
          </p:cNvPr>
          <p:cNvPicPr>
            <a:picLocks noGrp="1" noChangeAspect="1"/>
          </p:cNvPicPr>
          <p:nvPr>
            <p:ph type="pic" sz="quarter" idx="12"/>
          </p:nvPr>
        </p:nvPicPr>
        <p:blipFill rotWithShape="1">
          <a:blip r:embed="rId3"/>
          <a:srcRect b="8439"/>
          <a:stretch/>
        </p:blipFill>
        <p:spPr>
          <a:xfrm>
            <a:off x="209527" y="2195926"/>
            <a:ext cx="5369638" cy="2874176"/>
          </a:xfrm>
          <a:prstGeom prst="rect">
            <a:avLst/>
          </a:prstGeom>
        </p:spPr>
      </p:pic>
      <p:sp>
        <p:nvSpPr>
          <p:cNvPr id="145" name="Google Shape;145;p4"/>
          <p:cNvSpPr txBox="1">
            <a:spLocks noGrp="1"/>
          </p:cNvSpPr>
          <p:nvPr>
            <p:ph type="body" idx="1"/>
          </p:nvPr>
        </p:nvSpPr>
        <p:spPr>
          <a:xfrm>
            <a:off x="5923721" y="1663802"/>
            <a:ext cx="6058751" cy="4352685"/>
          </a:xfrm>
          <a:prstGeom prst="rect">
            <a:avLst/>
          </a:prstGeom>
          <a:noFill/>
          <a:ln>
            <a:noFill/>
          </a:ln>
        </p:spPr>
        <p:txBody>
          <a:bodyPr spcFirstLastPara="1" wrap="square" lIns="91425" tIns="45700" rIns="91425" bIns="45700" anchor="t" anchorCtr="0">
            <a:noAutofit/>
          </a:bodyPr>
          <a:lstStyle/>
          <a:p>
            <a:pPr marL="357188" indent="-357188"/>
            <a:r>
              <a:rPr lang="en-US" sz="2000" dirty="0"/>
              <a:t>In a mechanical </a:t>
            </a:r>
            <a:r>
              <a:rPr lang="en-US" sz="2000" dirty="0" err="1"/>
              <a:t>returnless</a:t>
            </a:r>
            <a:r>
              <a:rPr lang="en-US" sz="2000" dirty="0"/>
              <a:t> system, fuel pressure is maintained by a fuel pressure regulator located in the fuel tank.</a:t>
            </a:r>
          </a:p>
          <a:p>
            <a:pPr marL="357188" indent="-357188"/>
            <a:r>
              <a:rPr lang="en-US" sz="2000" dirty="0"/>
              <a:t>Electronic </a:t>
            </a:r>
            <a:r>
              <a:rPr lang="en-US" sz="2000" dirty="0" err="1"/>
              <a:t>returnless</a:t>
            </a:r>
            <a:r>
              <a:rPr lang="en-US" sz="2000" dirty="0"/>
              <a:t> systems control fuel pressure by using pulse-width modulation (PWM) of the fuel pump’s power circuit.</a:t>
            </a:r>
          </a:p>
          <a:p>
            <a:pPr marL="357188" indent="-357188"/>
            <a:r>
              <a:rPr lang="en-US" sz="2000" dirty="0"/>
              <a:t>These systems may use the PCM to directly control the pump or a separate fuel pump driver module may be used.</a:t>
            </a:r>
          </a:p>
          <a:p>
            <a:pPr marL="357188" indent="-357188"/>
            <a:r>
              <a:rPr lang="en-US" sz="2000" dirty="0"/>
              <a:t>In either system, the fuel pump speed is controlled by rapidly turning the fuel pump circuit on and off.</a:t>
            </a:r>
            <a:endParaRPr lang="en-US" sz="1500" dirty="0"/>
          </a:p>
        </p:txBody>
      </p:sp>
    </p:spTree>
    <p:extLst>
      <p:ext uri="{BB962C8B-B14F-4D97-AF65-F5344CB8AC3E}">
        <p14:creationId xmlns:p14="http://schemas.microsoft.com/office/powerpoint/2010/main" val="599198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Troubleshooting</a:t>
            </a:r>
            <a:endParaRPr sz="3600" dirty="0"/>
          </a:p>
        </p:txBody>
      </p:sp>
      <p:sp>
        <p:nvSpPr>
          <p:cNvPr id="145" name="Google Shape;145;p4"/>
          <p:cNvSpPr txBox="1">
            <a:spLocks noGrp="1"/>
          </p:cNvSpPr>
          <p:nvPr>
            <p:ph type="body" idx="1"/>
          </p:nvPr>
        </p:nvSpPr>
        <p:spPr>
          <a:xfrm>
            <a:off x="476844" y="1563624"/>
            <a:ext cx="7011351" cy="4565327"/>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1800" b="1" dirty="0"/>
              <a:t>29.10 Conduct a pressure and volume output test on an electric fuel pump.</a:t>
            </a:r>
          </a:p>
          <a:p>
            <a:pPr marL="342900" indent="-342900">
              <a:spcAft>
                <a:spcPts val="400"/>
              </a:spcAft>
            </a:pPr>
            <a:r>
              <a:rPr lang="en-US" sz="1800" dirty="0"/>
              <a:t>The fuel pressure test is the commonly used test for the fuel pump and related parts.</a:t>
            </a:r>
          </a:p>
          <a:p>
            <a:pPr marL="342900" indent="-342900">
              <a:spcAft>
                <a:spcPts val="400"/>
              </a:spcAft>
            </a:pPr>
            <a:r>
              <a:rPr lang="en-US" sz="1800" dirty="0"/>
              <a:t>Before connecting this test, carefully inspect the system for leaks and repair them before continuing.</a:t>
            </a:r>
          </a:p>
          <a:p>
            <a:pPr marL="342900" indent="-342900">
              <a:spcAft>
                <a:spcPts val="400"/>
              </a:spcAft>
            </a:pPr>
            <a:r>
              <a:rPr lang="en-US" sz="1800" dirty="0"/>
              <a:t>Then relieve the pressure in the system.</a:t>
            </a:r>
          </a:p>
          <a:p>
            <a:pPr marL="342900" indent="-342900">
              <a:spcAft>
                <a:spcPts val="400"/>
              </a:spcAft>
            </a:pPr>
            <a:r>
              <a:rPr lang="en-US" sz="1800" dirty="0"/>
              <a:t>To conduct this test on specific fuel injection systems, refer to the service information for instructions.</a:t>
            </a:r>
          </a:p>
          <a:p>
            <a:pPr marL="342900" indent="-342900">
              <a:spcAft>
                <a:spcPts val="400"/>
              </a:spcAft>
            </a:pPr>
            <a:r>
              <a:rPr lang="en-US" sz="1800" dirty="0"/>
              <a:t>Most domestic systems have a Schrader valve on the fuel rail, which can connect the fuel pressure gauge.</a:t>
            </a:r>
          </a:p>
          <a:p>
            <a:pPr marL="342900" indent="-342900">
              <a:spcAft>
                <a:spcPts val="400"/>
              </a:spcAft>
            </a:pPr>
            <a:r>
              <a:rPr lang="en-US" sz="1800" dirty="0"/>
              <a:t>If the system does not have a Schrader valve, a tee should be installed in the fuel supply line.</a:t>
            </a:r>
            <a:endParaRPr lang="en-US" sz="1400" dirty="0"/>
          </a:p>
        </p:txBody>
      </p:sp>
      <p:pic>
        <p:nvPicPr>
          <p:cNvPr id="8" name="Picture Placeholder 7" descr="An illustration of a pressure gauge with a tee fit, which also represents a magnified view of the tee fit with bolt and nuts.">
            <a:extLst>
              <a:ext uri="{FF2B5EF4-FFF2-40B4-BE49-F238E27FC236}">
                <a16:creationId xmlns:a16="http://schemas.microsoft.com/office/drawing/2014/main" id="{4CD25494-B65D-08C0-3415-1E1B26CF78E8}"/>
              </a:ext>
            </a:extLst>
          </p:cNvPr>
          <p:cNvPicPr>
            <a:picLocks noGrp="1" noChangeAspect="1"/>
          </p:cNvPicPr>
          <p:nvPr>
            <p:ph type="pic" sz="quarter" idx="12"/>
          </p:nvPr>
        </p:nvPicPr>
        <p:blipFill rotWithShape="1">
          <a:blip r:embed="rId3"/>
          <a:srcRect l="14214" r="7069" b="27273"/>
          <a:stretch/>
        </p:blipFill>
        <p:spPr>
          <a:xfrm>
            <a:off x="7682863" y="2385391"/>
            <a:ext cx="4172510" cy="2557671"/>
          </a:xfrm>
          <a:prstGeom prst="rect">
            <a:avLst/>
          </a:prstGeom>
        </p:spPr>
      </p:pic>
    </p:spTree>
    <p:extLst>
      <p:ext uri="{BB962C8B-B14F-4D97-AF65-F5344CB8AC3E}">
        <p14:creationId xmlns:p14="http://schemas.microsoft.com/office/powerpoint/2010/main" val="2329659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a:tabLst>
                <a:tab pos="4398963" algn="l"/>
              </a:tabLst>
            </a:pPr>
            <a:r>
              <a:rPr lang="en-US" dirty="0"/>
              <a:t>Residual Pressure</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spcAft>
                <a:spcPts val="0"/>
              </a:spcAft>
              <a:buSzPts val="2800"/>
              <a:buNone/>
            </a:pPr>
            <a:r>
              <a:rPr lang="en-US" sz="1800" b="1" dirty="0">
                <a:solidFill>
                  <a:schemeClr val="accent1"/>
                </a:solidFill>
              </a:rPr>
              <a:t>29.11 Service and test electric fuel pumps.</a:t>
            </a:r>
          </a:p>
          <a:p>
            <a:pPr marL="357188" marR="0" lvl="0" indent="-357188" algn="l" rtl="0">
              <a:spcAft>
                <a:spcPts val="0"/>
              </a:spcAft>
              <a:buChar char="•"/>
            </a:pPr>
            <a:r>
              <a:rPr lang="en-US" sz="1800" dirty="0">
                <a:solidFill>
                  <a:schemeClr val="accent1"/>
                </a:solidFill>
              </a:rPr>
              <a:t>Often, the cause of poor starting is the lack of residual pressure in the system.</a:t>
            </a:r>
          </a:p>
          <a:p>
            <a:pPr marL="357188" marR="0" lvl="0" indent="-357188" algn="l" rtl="0">
              <a:spcAft>
                <a:spcPts val="0"/>
              </a:spcAft>
              <a:buChar char="•"/>
            </a:pPr>
            <a:r>
              <a:rPr lang="en-US" sz="1800" dirty="0">
                <a:solidFill>
                  <a:schemeClr val="accent1"/>
                </a:solidFill>
              </a:rPr>
              <a:t>This can be checked by looking at the pressure after the engine has been run and then turned off.</a:t>
            </a:r>
          </a:p>
          <a:p>
            <a:pPr marL="357188" marR="0" lvl="0" indent="-357188" algn="l" rtl="0">
              <a:spcAft>
                <a:spcPts val="0"/>
              </a:spcAft>
              <a:buChar char="•"/>
            </a:pPr>
            <a:r>
              <a:rPr lang="en-US" sz="1800" dirty="0">
                <a:solidFill>
                  <a:schemeClr val="accent1"/>
                </a:solidFill>
              </a:rPr>
              <a:t>Using a pressure transducer and GMM or DSO allows you to monitor system pressure over a period of time without having to actually wait and watch a fuel pressure gauge.</a:t>
            </a:r>
          </a:p>
          <a:p>
            <a:pPr marL="357188" marR="0" lvl="0" indent="-357188" algn="l" rtl="0">
              <a:spcAft>
                <a:spcPts val="0"/>
              </a:spcAft>
              <a:buChar char="•"/>
            </a:pPr>
            <a:r>
              <a:rPr lang="en-US" sz="1800" dirty="0">
                <a:solidFill>
                  <a:schemeClr val="accent1"/>
                </a:solidFill>
              </a:rPr>
              <a:t>The system should hold about the same pressure, for about 5 minutes, as it did during the pressure test.</a:t>
            </a:r>
          </a:p>
          <a:p>
            <a:pPr marL="357188" marR="0" lvl="0" indent="-357188" algn="l" rtl="0">
              <a:spcAft>
                <a:spcPts val="0"/>
              </a:spcAft>
              <a:buChar char="•"/>
            </a:pPr>
            <a:r>
              <a:rPr lang="en-US" sz="1800" dirty="0">
                <a:solidFill>
                  <a:schemeClr val="accent1"/>
                </a:solidFill>
              </a:rPr>
              <a:t>If the pressure drops off quickly after the engine and ignition are turned off, there is a leakage problem in an injector, fuel pump, connectors, hoses, or pressure regulator.</a:t>
            </a:r>
          </a:p>
          <a:p>
            <a:pPr marL="357188" marR="0" lvl="0" indent="-357188" algn="l" rtl="0">
              <a:spcAft>
                <a:spcPts val="0"/>
              </a:spcAft>
              <a:buChar char="•"/>
            </a:pPr>
            <a:r>
              <a:rPr lang="en-US" sz="1800" dirty="0">
                <a:solidFill>
                  <a:schemeClr val="accent1"/>
                </a:solidFill>
              </a:rPr>
              <a:t>To test if the pump is the cause of the dropping fuel pressure, pinch off the return hose with a pair of hose-pinching pliers.</a:t>
            </a:r>
          </a:p>
          <a:p>
            <a:pPr marL="357188" marR="0" lvl="0" indent="-357188" algn="l" rtl="0">
              <a:spcAft>
                <a:spcPts val="0"/>
              </a:spcAft>
              <a:buChar char="•"/>
            </a:pPr>
            <a:r>
              <a:rPr lang="en-US" sz="1800" dirty="0">
                <a:solidFill>
                  <a:schemeClr val="accent1"/>
                </a:solidFill>
              </a:rPr>
              <a:t>Note that this can only be done on a section of rubber fuel hose.</a:t>
            </a:r>
          </a:p>
          <a:p>
            <a:pPr marL="357188" marR="0" lvl="0" indent="-357188" algn="l" rtl="0">
              <a:spcAft>
                <a:spcPts val="0"/>
              </a:spcAft>
              <a:buChar char="•"/>
            </a:pPr>
            <a:r>
              <a:rPr lang="en-US" sz="1800" dirty="0">
                <a:solidFill>
                  <a:schemeClr val="accent1"/>
                </a:solidFill>
              </a:rPr>
              <a:t>Shut the engine off and immediately pinch off the return hose.</a:t>
            </a:r>
          </a:p>
        </p:txBody>
      </p:sp>
    </p:spTree>
    <p:extLst>
      <p:ext uri="{BB962C8B-B14F-4D97-AF65-F5344CB8AC3E}">
        <p14:creationId xmlns:p14="http://schemas.microsoft.com/office/powerpoint/2010/main" val="1569803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Volume Test</a:t>
            </a:r>
            <a:endParaRPr sz="3600" dirty="0"/>
          </a:p>
        </p:txBody>
      </p:sp>
      <p:sp>
        <p:nvSpPr>
          <p:cNvPr id="145" name="Google Shape;145;p4"/>
          <p:cNvSpPr txBox="1">
            <a:spLocks noGrp="1"/>
          </p:cNvSpPr>
          <p:nvPr>
            <p:ph type="body" idx="1"/>
          </p:nvPr>
        </p:nvSpPr>
        <p:spPr>
          <a:xfrm>
            <a:off x="476843" y="1563625"/>
            <a:ext cx="7382054" cy="4268764"/>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This test measures the flow rate of the pump and can help isolate fuel system restrictions or weak pumps.</a:t>
            </a:r>
          </a:p>
          <a:p>
            <a:pPr marL="357188" marR="0" lvl="0" indent="-357188" algn="l" rtl="0">
              <a:buChar char="•"/>
            </a:pPr>
            <a:r>
              <a:rPr lang="en-US" sz="2000" dirty="0"/>
              <a:t>The test is conducted by collecting the fuel dispensed during a period of time, which is normally 30 seconds.</a:t>
            </a:r>
          </a:p>
          <a:p>
            <a:pPr marL="357188" marR="0" lvl="0" indent="-357188" algn="l" rtl="0">
              <a:buChar char="•"/>
            </a:pPr>
            <a:r>
              <a:rPr lang="en-US" sz="2000" dirty="0"/>
              <a:t>Disconnect the return line on returnable systems or the supply line on </a:t>
            </a:r>
            <a:r>
              <a:rPr lang="en-US" sz="2000" dirty="0" err="1"/>
              <a:t>returnless</a:t>
            </a:r>
            <a:r>
              <a:rPr lang="en-US" sz="2000" dirty="0"/>
              <a:t> systems and connect a hose to end of the line.</a:t>
            </a:r>
          </a:p>
          <a:p>
            <a:pPr marL="357188" marR="0" lvl="0" indent="-357188" algn="l" rtl="0">
              <a:buChar char="•"/>
            </a:pPr>
            <a:r>
              <a:rPr lang="en-US" sz="2000" dirty="0"/>
              <a:t>Put the other end of the hose into a graduated container.</a:t>
            </a:r>
          </a:p>
          <a:p>
            <a:pPr marL="357188" marR="0" lvl="0" indent="-357188" algn="l" rtl="0">
              <a:buChar char="•"/>
            </a:pPr>
            <a:r>
              <a:rPr lang="en-US" sz="2000" dirty="0"/>
              <a:t>Turn on the fuel pump for about 30 seconds and measure the amount of fuel in the container.</a:t>
            </a:r>
            <a:endParaRPr lang="en-US" sz="2000" b="1" dirty="0"/>
          </a:p>
        </p:txBody>
      </p:sp>
      <p:pic>
        <p:nvPicPr>
          <p:cNvPr id="8" name="Picture Placeholder 7" descr="A photo depicts a close-up of a person’s hand holding a fuel pressure gauge connected to a measurement jar that is filled with fuel.">
            <a:extLst>
              <a:ext uri="{FF2B5EF4-FFF2-40B4-BE49-F238E27FC236}">
                <a16:creationId xmlns:a16="http://schemas.microsoft.com/office/drawing/2014/main" id="{59FA9B18-C4EB-0C6A-EEE1-4C0C97C911F1}"/>
              </a:ext>
            </a:extLst>
          </p:cNvPr>
          <p:cNvPicPr>
            <a:picLocks noGrp="1" noChangeAspect="1"/>
          </p:cNvPicPr>
          <p:nvPr>
            <p:ph type="pic" sz="quarter" idx="14"/>
          </p:nvPr>
        </p:nvPicPr>
        <p:blipFill rotWithShape="1">
          <a:blip r:embed="rId3"/>
          <a:srcRect b="7101"/>
          <a:stretch/>
        </p:blipFill>
        <p:spPr>
          <a:xfrm>
            <a:off x="8225773" y="1730292"/>
            <a:ext cx="3489384" cy="4170757"/>
          </a:xfrm>
          <a:prstGeom prst="rect">
            <a:avLst/>
          </a:prstGeom>
        </p:spPr>
      </p:pic>
    </p:spTree>
    <p:extLst>
      <p:ext uri="{BB962C8B-B14F-4D97-AF65-F5344CB8AC3E}">
        <p14:creationId xmlns:p14="http://schemas.microsoft.com/office/powerpoint/2010/main" val="3490586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Using a Lab Scope</a:t>
            </a:r>
            <a:endParaRPr sz="3600" dirty="0"/>
          </a:p>
        </p:txBody>
      </p:sp>
      <p:pic>
        <p:nvPicPr>
          <p:cNvPr id="8" name="Picture Placeholder 7" descr="A screenshot of a graph while monitoring a fuel pump with a lab scope or G M M depicting a worn pump, evidencing irregular voltage spikes. The graph has a waveform that goes down to the right, spikes to the height of the start point, goes down and spikes, and proceeds similarly as it goes rightward.">
            <a:extLst>
              <a:ext uri="{FF2B5EF4-FFF2-40B4-BE49-F238E27FC236}">
                <a16:creationId xmlns:a16="http://schemas.microsoft.com/office/drawing/2014/main" id="{B9D633FF-8597-F20D-A0D5-6A0F50A647AE}"/>
              </a:ext>
            </a:extLst>
          </p:cNvPr>
          <p:cNvPicPr>
            <a:picLocks noGrp="1" noChangeAspect="1"/>
          </p:cNvPicPr>
          <p:nvPr>
            <p:ph type="pic" sz="quarter" idx="12"/>
          </p:nvPr>
        </p:nvPicPr>
        <p:blipFill rotWithShape="1">
          <a:blip r:embed="rId3"/>
          <a:srcRect b="11203"/>
          <a:stretch/>
        </p:blipFill>
        <p:spPr>
          <a:xfrm>
            <a:off x="473242" y="2118531"/>
            <a:ext cx="4728864" cy="2983556"/>
          </a:xfrm>
          <a:prstGeom prst="rect">
            <a:avLst/>
          </a:prstGeom>
        </p:spPr>
      </p:pic>
      <p:sp>
        <p:nvSpPr>
          <p:cNvPr id="145" name="Google Shape;145;p4"/>
          <p:cNvSpPr txBox="1">
            <a:spLocks noGrp="1"/>
          </p:cNvSpPr>
          <p:nvPr>
            <p:ph type="body" idx="1"/>
          </p:nvPr>
        </p:nvSpPr>
        <p:spPr>
          <a:xfrm>
            <a:off x="5499652" y="1563624"/>
            <a:ext cx="6219106" cy="4478830"/>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Monitoring the voltage and current to the fuel pump with a lab scope or GMM can give an idea of how well the pump is working.</a:t>
            </a:r>
          </a:p>
          <a:p>
            <a:pPr marL="357188" marR="0" lvl="0" indent="-357188" algn="l" rtl="0">
              <a:buChar char="•"/>
            </a:pPr>
            <a:r>
              <a:rPr lang="en-US" sz="2000" dirty="0"/>
              <a:t>The voltage traces show the voltage needed to establish current flow in the pump’s windings and should be consistent throughout the time period set on the scope.</a:t>
            </a:r>
          </a:p>
          <a:p>
            <a:pPr marL="357188" marR="0" lvl="0" indent="-357188" algn="l" rtl="0">
              <a:buChar char="•"/>
            </a:pPr>
            <a:r>
              <a:rPr lang="en-US" sz="2000" dirty="0"/>
              <a:t>The current pattern is made up of a series of small humps.</a:t>
            </a:r>
          </a:p>
          <a:p>
            <a:pPr marL="357188" marR="0" lvl="0" indent="-357188" algn="l" rtl="0">
              <a:buChar char="•"/>
            </a:pPr>
            <a:r>
              <a:rPr lang="en-US" sz="2000" dirty="0"/>
              <a:t>Each of the humps represents one commutator segment in the motor.</a:t>
            </a:r>
          </a:p>
          <a:p>
            <a:pPr marL="357188" marR="0" lvl="0" indent="-357188" algn="l" rtl="0">
              <a:buChar char="•"/>
            </a:pPr>
            <a:r>
              <a:rPr lang="en-US" sz="2000" dirty="0"/>
              <a:t>Each of the humps should look the same.</a:t>
            </a:r>
            <a:endParaRPr lang="en-US" sz="2000" b="1" dirty="0"/>
          </a:p>
        </p:txBody>
      </p:sp>
    </p:spTree>
    <p:extLst>
      <p:ext uri="{BB962C8B-B14F-4D97-AF65-F5344CB8AC3E}">
        <p14:creationId xmlns:p14="http://schemas.microsoft.com/office/powerpoint/2010/main" val="4258506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No-Start Diagnosis</a:t>
            </a:r>
            <a:endParaRPr sz="3600" dirty="0"/>
          </a:p>
        </p:txBody>
      </p:sp>
      <p:sp>
        <p:nvSpPr>
          <p:cNvPr id="145" name="Google Shape;145;p4"/>
          <p:cNvSpPr txBox="1">
            <a:spLocks noGrp="1"/>
          </p:cNvSpPr>
          <p:nvPr>
            <p:ph type="body" idx="1"/>
          </p:nvPr>
        </p:nvSpPr>
        <p:spPr>
          <a:xfrm>
            <a:off x="476843" y="1563624"/>
            <a:ext cx="11241915" cy="4565327"/>
          </a:xfrm>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1800" dirty="0"/>
              <a:t>When an engine fails to start because there is no fuel delivery, the first check is the fuel gauge.</a:t>
            </a:r>
          </a:p>
          <a:p>
            <a:pPr marL="357188" marR="0" lvl="0" indent="-357188" algn="l" rtl="0">
              <a:spcAft>
                <a:spcPts val="0"/>
              </a:spcAft>
              <a:buChar char="•"/>
            </a:pPr>
            <a:r>
              <a:rPr lang="en-US" sz="1800" dirty="0"/>
              <a:t>A gauge that reads higher than a half tank probably means there is fuel in the tank, but not always.</a:t>
            </a:r>
          </a:p>
          <a:p>
            <a:pPr marL="357188" marR="0" lvl="0" indent="-357188" algn="l" rtl="0">
              <a:spcAft>
                <a:spcPts val="0"/>
              </a:spcAft>
              <a:buChar char="•"/>
            </a:pPr>
            <a:r>
              <a:rPr lang="en-US" sz="1800" dirty="0"/>
              <a:t>A defective sending unit or faulty gauge might be giving a false indication.</a:t>
            </a:r>
          </a:p>
          <a:p>
            <a:pPr marL="357188" marR="0" lvl="0" indent="-357188" algn="l" rtl="0">
              <a:spcAft>
                <a:spcPts val="0"/>
              </a:spcAft>
              <a:buChar char="•"/>
            </a:pPr>
            <a:r>
              <a:rPr lang="en-US" sz="1800" dirty="0"/>
              <a:t>Sticking a wire or dowel rod down the fuel tank filler pipe tells whether there really is fuel in the tank. </a:t>
            </a:r>
          </a:p>
          <a:p>
            <a:pPr marL="357188" marR="0" lvl="0" indent="-357188" algn="l" rtl="0">
              <a:spcAft>
                <a:spcPts val="0"/>
              </a:spcAft>
              <a:buChar char="•"/>
            </a:pPr>
            <a:r>
              <a:rPr lang="en-US" sz="1800" dirty="0"/>
              <a:t>If the gauge is faulty, repair or replace it. Listen for pump noise.</a:t>
            </a:r>
          </a:p>
          <a:p>
            <a:pPr marL="357188" marR="0" lvl="0" indent="-357188" algn="l" rtl="0">
              <a:spcAft>
                <a:spcPts val="0"/>
              </a:spcAft>
              <a:buChar char="•"/>
            </a:pPr>
            <a:r>
              <a:rPr lang="en-US" sz="1800" dirty="0"/>
              <a:t>When the key is turned on, the pump should hum for a couple of seconds to build system pressure.</a:t>
            </a:r>
          </a:p>
          <a:p>
            <a:pPr marL="357188" marR="0" lvl="0" indent="-357188" algn="l" rtl="0">
              <a:spcAft>
                <a:spcPts val="0"/>
              </a:spcAft>
              <a:buChar char="•"/>
            </a:pPr>
            <a:r>
              <a:rPr lang="en-US" sz="1800" dirty="0"/>
              <a:t>On Ford vehicles, make sure the inertia switch has not been tripped. Hitting a large enough pothole can cause the inertia switch to open, shutting off the fuel pump.</a:t>
            </a:r>
          </a:p>
          <a:p>
            <a:pPr marL="357188" marR="0" lvl="0" indent="-357188" algn="l" rtl="0">
              <a:spcAft>
                <a:spcPts val="0"/>
              </a:spcAft>
              <a:buChar char="•"/>
            </a:pPr>
            <a:r>
              <a:rPr lang="en-US" sz="1800" dirty="0"/>
              <a:t>The pump may be energized through an oil-pressure switch (the purpose of which is to shut off the flow of fuel in case of an accident that stalls the engine).</a:t>
            </a:r>
            <a:endParaRPr lang="en-US" sz="1050" b="1" dirty="0"/>
          </a:p>
        </p:txBody>
      </p:sp>
    </p:spTree>
    <p:extLst>
      <p:ext uri="{BB962C8B-B14F-4D97-AF65-F5344CB8AC3E}">
        <p14:creationId xmlns:p14="http://schemas.microsoft.com/office/powerpoint/2010/main" val="782102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Replacement (1 of 2)</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When replacing an electric pump, be sure that the new or rebuilt replacement unit meets the minimum requirements of pressure and volume for that particular vehicle.</a:t>
            </a:r>
          </a:p>
          <a:p>
            <a:pPr marL="357188" marR="0" lvl="0" indent="-357188" algn="l" rtl="0">
              <a:buChar char="•"/>
            </a:pPr>
            <a:r>
              <a:rPr lang="en-US" dirty="0"/>
              <a:t>This information can be found in the service information.</a:t>
            </a:r>
          </a:p>
          <a:p>
            <a:pPr marL="357188" marR="0" lvl="0" indent="-357188" algn="l" rtl="0">
              <a:buChar char="•"/>
            </a:pPr>
            <a:r>
              <a:rPr lang="en-US" dirty="0"/>
              <a:t>If the fuel pump is mounted in the fuel tank, the procedure for replacement is different than if the unit is external to the tank.</a:t>
            </a:r>
          </a:p>
        </p:txBody>
      </p:sp>
    </p:spTree>
    <p:extLst>
      <p:ext uri="{BB962C8B-B14F-4D97-AF65-F5344CB8AC3E}">
        <p14:creationId xmlns:p14="http://schemas.microsoft.com/office/powerpoint/2010/main" val="3617709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Replacement (2 of 2)</a:t>
            </a:r>
            <a:endParaRPr sz="3600" dirty="0"/>
          </a:p>
        </p:txBody>
      </p:sp>
      <p:sp>
        <p:nvSpPr>
          <p:cNvPr id="145" name="Google Shape;145;p4"/>
          <p:cNvSpPr txBox="1">
            <a:spLocks noGrp="1"/>
          </p:cNvSpPr>
          <p:nvPr>
            <p:ph type="body" idx="1"/>
          </p:nvPr>
        </p:nvSpPr>
        <p:spPr>
          <a:xfrm>
            <a:off x="476843" y="1563625"/>
            <a:ext cx="7394948" cy="4379976"/>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Internal Fuel Pump</a:t>
            </a:r>
          </a:p>
          <a:p>
            <a:pPr marL="715963" lvl="1" indent="-357188">
              <a:buSzPct val="100000"/>
            </a:pPr>
            <a:r>
              <a:rPr lang="en-US" sz="1800" dirty="0"/>
              <a:t>On many vehicles, the fuel tank must be removed to replace the fuel pump and/or fuel gauge sending unit. </a:t>
            </a:r>
          </a:p>
          <a:p>
            <a:pPr marL="715963" lvl="1" indent="-357188">
              <a:buSzPct val="100000"/>
            </a:pPr>
            <a:r>
              <a:rPr lang="en-US" sz="1800" dirty="0"/>
              <a:t>On other vehicles, the unit can be serviced through an opening under the rear seat or in the vehicle’s trunk.</a:t>
            </a:r>
          </a:p>
          <a:p>
            <a:pPr marL="715963" lvl="1" indent="-357188">
              <a:buSzPct val="100000"/>
            </a:pPr>
            <a:r>
              <a:rPr lang="en-US" sz="1800" dirty="0"/>
              <a:t>Some vehicles have a separate fuel pump and gauge sending unit, while others have both contained in a single unit. Once the fuel tank is empty and out of the vehicle, if necessary, remove the unit from the tank.</a:t>
            </a:r>
          </a:p>
          <a:p>
            <a:pPr marL="715963" lvl="1" indent="-357188">
              <a:buSzPct val="100000"/>
            </a:pPr>
            <a:r>
              <a:rPr lang="en-US" sz="1800" dirty="0"/>
              <a:t>These units are often held in the tank by either a retaining ring or screws.</a:t>
            </a:r>
            <a:endParaRPr lang="en-US" sz="1800" b="1" dirty="0"/>
          </a:p>
        </p:txBody>
      </p:sp>
      <p:pic>
        <p:nvPicPr>
          <p:cNvPr id="8" name="Picture Placeholder 7" descr="An internal fuel pump is accessed through an opening under the rear seat.">
            <a:extLst>
              <a:ext uri="{FF2B5EF4-FFF2-40B4-BE49-F238E27FC236}">
                <a16:creationId xmlns:a16="http://schemas.microsoft.com/office/drawing/2014/main" id="{5A414120-16F2-4CD8-5847-3C987B9CE7DC}"/>
              </a:ext>
            </a:extLst>
          </p:cNvPr>
          <p:cNvPicPr>
            <a:picLocks noGrp="1" noChangeAspect="1"/>
          </p:cNvPicPr>
          <p:nvPr>
            <p:ph type="pic" sz="quarter" idx="14"/>
          </p:nvPr>
        </p:nvPicPr>
        <p:blipFill rotWithShape="1">
          <a:blip r:embed="rId3"/>
          <a:srcRect l="13751" b="13804"/>
          <a:stretch/>
        </p:blipFill>
        <p:spPr>
          <a:xfrm>
            <a:off x="8176590" y="1815192"/>
            <a:ext cx="3661951" cy="3976007"/>
          </a:xfrm>
          <a:prstGeom prst="rect">
            <a:avLst/>
          </a:prstGeom>
        </p:spPr>
      </p:pic>
    </p:spTree>
    <p:extLst>
      <p:ext uri="{BB962C8B-B14F-4D97-AF65-F5344CB8AC3E}">
        <p14:creationId xmlns:p14="http://schemas.microsoft.com/office/powerpoint/2010/main" val="3079786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GDI High-Pressure Pump (HPFP) Inspection and Replacement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2000" dirty="0"/>
              <a:t>General HPFP replacement steps are:</a:t>
            </a:r>
          </a:p>
          <a:p>
            <a:pPr marL="715963" lvl="1" indent="-357188">
              <a:spcAft>
                <a:spcPts val="0"/>
              </a:spcAft>
              <a:buSzPct val="100000"/>
            </a:pPr>
            <a:r>
              <a:rPr lang="en-US" sz="1800" dirty="0"/>
              <a:t>Relieve system pressure before removing any fasteners or components.</a:t>
            </a:r>
          </a:p>
          <a:p>
            <a:pPr marL="715963" lvl="1" indent="-357188">
              <a:spcAft>
                <a:spcPts val="0"/>
              </a:spcAft>
              <a:buSzPct val="100000"/>
            </a:pPr>
            <a:r>
              <a:rPr lang="en-US" sz="1800" dirty="0"/>
              <a:t>Remove any covers, the old pump, and high-pressure fuel supply line(s).</a:t>
            </a:r>
          </a:p>
          <a:p>
            <a:pPr marL="715963" lvl="1" indent="-357188">
              <a:spcAft>
                <a:spcPts val="0"/>
              </a:spcAft>
              <a:buSzPct val="100000"/>
            </a:pPr>
            <a:r>
              <a:rPr lang="en-US" sz="1800" dirty="0"/>
              <a:t>Make sure the camshaft lobe is down or at its lowest position.</a:t>
            </a:r>
          </a:p>
          <a:p>
            <a:pPr marL="715963" lvl="1" indent="-357188">
              <a:spcAft>
                <a:spcPts val="0"/>
              </a:spcAft>
              <a:buSzPct val="100000"/>
            </a:pPr>
            <a:r>
              <a:rPr lang="en-US" sz="1800" dirty="0"/>
              <a:t>Apply a light coat of oil to the O-ring that seals the pump to the engine, the roller tappet, and cam lobe.</a:t>
            </a:r>
          </a:p>
          <a:p>
            <a:pPr marL="715963" lvl="1" indent="-357188">
              <a:spcAft>
                <a:spcPts val="0"/>
              </a:spcAft>
              <a:buSzPct val="100000"/>
            </a:pPr>
            <a:r>
              <a:rPr lang="en-US" sz="1800" dirty="0"/>
              <a:t>Set the new HPFP in place and start the mounting bolts by hand and then torque them to specification.</a:t>
            </a:r>
          </a:p>
          <a:p>
            <a:pPr marL="715963" lvl="1" indent="-357188">
              <a:spcAft>
                <a:spcPts val="0"/>
              </a:spcAft>
              <a:buSzPct val="100000"/>
            </a:pPr>
            <a:r>
              <a:rPr lang="en-US" sz="1800" dirty="0"/>
              <a:t>Make sure the low-pressure supply line is fully attached to the pump. A new O-ring may be required.</a:t>
            </a:r>
          </a:p>
          <a:p>
            <a:pPr marL="715963" lvl="1" indent="-357188">
              <a:spcAft>
                <a:spcPts val="0"/>
              </a:spcAft>
              <a:buSzPct val="100000"/>
            </a:pPr>
            <a:r>
              <a:rPr lang="en-US" sz="1800" dirty="0"/>
              <a:t>Install and tighten the high-pressure fuel line(s). Torque the fittings to spec.</a:t>
            </a:r>
          </a:p>
          <a:p>
            <a:pPr marL="715963" lvl="1" indent="-357188">
              <a:spcAft>
                <a:spcPts val="0"/>
              </a:spcAft>
              <a:buSzPct val="100000"/>
            </a:pPr>
            <a:r>
              <a:rPr lang="en-US" sz="1800" dirty="0"/>
              <a:t>Start the engine and check for leaks. Ensure fuel pressure is correct.</a:t>
            </a:r>
          </a:p>
          <a:p>
            <a:pPr marL="715963" lvl="1" indent="-357188">
              <a:spcAft>
                <a:spcPts val="0"/>
              </a:spcAft>
              <a:buSzPct val="100000"/>
            </a:pPr>
            <a:r>
              <a:rPr lang="en-US" sz="1800" dirty="0"/>
              <a:t>Reinstall any noise dampening covers that may have been removed.</a:t>
            </a:r>
            <a:endParaRPr lang="en-US" sz="1800" b="1" dirty="0"/>
          </a:p>
        </p:txBody>
      </p:sp>
    </p:spTree>
    <p:extLst>
      <p:ext uri="{BB962C8B-B14F-4D97-AF65-F5344CB8AC3E}">
        <p14:creationId xmlns:p14="http://schemas.microsoft.com/office/powerpoint/2010/main" val="1412612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To replace the fuel pump on many vehicles, the fuel tank needs to be removed. What other methods may be used on some vehicles when replacing the fuel pump?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2B58FC37-C02C-A4FF-7BDB-347FA5A1BF81}"/>
              </a:ext>
            </a:extLst>
          </p:cNvPr>
          <p:cNvSpPr>
            <a:spLocks noGrp="1"/>
          </p:cNvSpPr>
          <p:nvPr>
            <p:ph type="body" idx="1"/>
          </p:nvPr>
        </p:nvSpPr>
        <p:spPr/>
        <p:txBody>
          <a:bodyPr/>
          <a:lstStyle/>
          <a:p>
            <a:pPr marL="457200" lvl="0" indent="-381000">
              <a:buClr>
                <a:srgbClr val="282F7C"/>
              </a:buClr>
              <a:buSzPts val="2400"/>
              <a:defRPr/>
            </a:pPr>
            <a:r>
              <a:rPr lang="en-US" dirty="0"/>
              <a:t>On other vehicles, the unit can be serviced through an opening under the rear seat or in the vehicle’s trunk.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solidFill>
                  <a:schemeClr val="accent1"/>
                </a:solidFill>
              </a:rPr>
              <a:t>Please take a moment to compare your understanding of the fuel delivery system. Then respond to the following questions in one or two paragraphs. Use 150–200 words in your reflection.</a:t>
            </a:r>
            <a:endParaRPr dirty="0">
              <a:solidFill>
                <a:schemeClr val="accent1"/>
              </a:solidFill>
            </a:endParaRPr>
          </a:p>
          <a:p>
            <a:pPr marL="360363" lvl="0" indent="-360363" algn="l" rtl="0">
              <a:lnSpc>
                <a:spcPct val="100000"/>
              </a:lnSpc>
              <a:buFont typeface="Arial"/>
              <a:buChar char="•"/>
            </a:pPr>
            <a:r>
              <a:rPr lang="en-US" dirty="0">
                <a:solidFill>
                  <a:schemeClr val="accent1"/>
                </a:solidFill>
              </a:rPr>
              <a:t>Did parts of the fuel delivery system seem difficult to understand? How will you ensure you better your understanding of these systems?</a:t>
            </a:r>
            <a:endParaRPr dirty="0">
              <a:solidFill>
                <a:schemeClr val="accent1"/>
              </a:solidFill>
            </a:endParaRPr>
          </a:p>
          <a:p>
            <a:pPr marL="360363" lvl="0" indent="-360363" algn="l" rtl="0">
              <a:lnSpc>
                <a:spcPct val="100000"/>
              </a:lnSpc>
              <a:buFont typeface="Arial"/>
              <a:buChar char="•"/>
            </a:pPr>
            <a:r>
              <a:rPr lang="en-US" dirty="0">
                <a:solidFill>
                  <a:schemeClr val="accent1"/>
                </a:solidFill>
              </a:rPr>
              <a:t>Considering all you have learned, do you feel you are prepared to perform diagnosis and service on the fuel delivery system in the shop or lab setting? How can you become more prepared?</a:t>
            </a:r>
            <a:endParaRPr dirty="0">
              <a:solidFill>
                <a:schemeClr val="accent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12266</TotalTime>
  <Words>3749</Words>
  <Application>Microsoft Office PowerPoint</Application>
  <PresentationFormat>Widescreen</PresentationFormat>
  <Paragraphs>244</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Work Sans</vt:lpstr>
      <vt:lpstr>Optimized Template Master</vt:lpstr>
      <vt:lpstr>Automotive Technology: A Systems Approach, 8e</vt:lpstr>
      <vt:lpstr>Chapter Objectives (1 of 2)  </vt:lpstr>
      <vt:lpstr>Chapter Objectives (2 of 2)  </vt:lpstr>
      <vt:lpstr>Guidelines for Safely Working on Fuel Systems (1 of 2)</vt:lpstr>
      <vt:lpstr>Guidelines for Safely Working on Fuel Systems (2 of 2)</vt:lpstr>
      <vt:lpstr>Fuel Tanks (1 of 3)</vt:lpstr>
      <vt:lpstr>Fuel Tanks (2 of 3)</vt:lpstr>
      <vt:lpstr>Fuel Tanks (3 of 3)</vt:lpstr>
      <vt:lpstr>Filler Caps</vt:lpstr>
      <vt:lpstr>OBD II Monitor</vt:lpstr>
      <vt:lpstr>Fuel Cap Testing</vt:lpstr>
      <vt:lpstr>Capless Fuel System </vt:lpstr>
      <vt:lpstr>Knowledge Check (1 of 2)</vt:lpstr>
      <vt:lpstr>Knowledge Check Answer (1 of 2)</vt:lpstr>
      <vt:lpstr>Fuel Lines and Fittings</vt:lpstr>
      <vt:lpstr>Fittings </vt:lpstr>
      <vt:lpstr>Inspection</vt:lpstr>
      <vt:lpstr>Line Replacement</vt:lpstr>
      <vt:lpstr>Fuel Filters (1 of 2)</vt:lpstr>
      <vt:lpstr>Fuel Filters (2 of 2)</vt:lpstr>
      <vt:lpstr>Fuel Pumps</vt:lpstr>
      <vt:lpstr>Fuel Pump Circuits</vt:lpstr>
      <vt:lpstr>Discussion</vt:lpstr>
      <vt:lpstr>Return Type</vt:lpstr>
      <vt:lpstr>Returnless Systems</vt:lpstr>
      <vt:lpstr>Troubleshooting</vt:lpstr>
      <vt:lpstr>Residual Pressure</vt:lpstr>
      <vt:lpstr>Fuel Volume Test</vt:lpstr>
      <vt:lpstr>Using a Lab Scope</vt:lpstr>
      <vt:lpstr>No-Start Diagnosis</vt:lpstr>
      <vt:lpstr>Replacement (1 of 2)</vt:lpstr>
      <vt:lpstr>Replacement (2 of 2)</vt:lpstr>
      <vt:lpstr>GDI High-Pressure Pump (HPFP) Inspection and Replacement</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237</cp:revision>
  <dcterms:created xsi:type="dcterms:W3CDTF">2021-12-10T16:21:02Z</dcterms:created>
  <dcterms:modified xsi:type="dcterms:W3CDTF">2024-11-20T06:43:56Z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