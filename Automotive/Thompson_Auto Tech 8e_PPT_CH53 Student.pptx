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52"/>
  </p:notesMasterIdLst>
  <p:sldIdLst>
    <p:sldId id="344" r:id="rId3"/>
    <p:sldId id="340" r:id="rId4"/>
    <p:sldId id="337" r:id="rId5"/>
    <p:sldId id="258" r:id="rId6"/>
    <p:sldId id="259" r:id="rId7"/>
    <p:sldId id="260" r:id="rId8"/>
    <p:sldId id="263" r:id="rId9"/>
    <p:sldId id="341" r:id="rId10"/>
    <p:sldId id="264" r:id="rId11"/>
    <p:sldId id="265" r:id="rId12"/>
    <p:sldId id="266" r:id="rId13"/>
    <p:sldId id="269" r:id="rId14"/>
    <p:sldId id="270" r:id="rId15"/>
    <p:sldId id="272" r:id="rId16"/>
    <p:sldId id="273" r:id="rId17"/>
    <p:sldId id="274" r:id="rId18"/>
    <p:sldId id="275" r:id="rId19"/>
    <p:sldId id="276" r:id="rId20"/>
    <p:sldId id="278" r:id="rId21"/>
    <p:sldId id="279" r:id="rId22"/>
    <p:sldId id="280" r:id="rId23"/>
    <p:sldId id="281" r:id="rId24"/>
    <p:sldId id="282" r:id="rId25"/>
    <p:sldId id="287" r:id="rId26"/>
    <p:sldId id="288" r:id="rId27"/>
    <p:sldId id="342" r:id="rId28"/>
    <p:sldId id="289" r:id="rId29"/>
    <p:sldId id="290" r:id="rId30"/>
    <p:sldId id="291" r:id="rId31"/>
    <p:sldId id="292" r:id="rId32"/>
    <p:sldId id="293" r:id="rId33"/>
    <p:sldId id="294" r:id="rId34"/>
    <p:sldId id="295" r:id="rId35"/>
    <p:sldId id="296" r:id="rId36"/>
    <p:sldId id="298" r:id="rId37"/>
    <p:sldId id="299" r:id="rId38"/>
    <p:sldId id="300" r:id="rId39"/>
    <p:sldId id="301" r:id="rId40"/>
    <p:sldId id="302" r:id="rId41"/>
    <p:sldId id="303" r:id="rId42"/>
    <p:sldId id="305" r:id="rId43"/>
    <p:sldId id="307" r:id="rId44"/>
    <p:sldId id="308" r:id="rId45"/>
    <p:sldId id="310" r:id="rId46"/>
    <p:sldId id="315" r:id="rId47"/>
    <p:sldId id="343" r:id="rId48"/>
    <p:sldId id="316" r:id="rId49"/>
    <p:sldId id="318" r:id="rId50"/>
    <p:sldId id="334"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8B88F2-E8A7-4193-8DDF-7A658F75461D}" v="10" dt="2024-11-22T17:00:54.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39" autoAdjust="0"/>
    <p:restoredTop sz="86331" autoAdjust="0"/>
  </p:normalViewPr>
  <p:slideViewPr>
    <p:cSldViewPr snapToGrid="0" snapToObjects="1" showGuides="1">
      <p:cViewPr varScale="1">
        <p:scale>
          <a:sx n="64" d="100"/>
          <a:sy n="64" d="100"/>
        </p:scale>
        <p:origin x="488" y="40"/>
      </p:cViewPr>
      <p:guideLst>
        <p:guide orient="horz" pos="168"/>
        <p:guide pos="3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microsoft.com/office/2016/11/relationships/changesInfo" Target="changesInfos/changesInfo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gopal Loganathan" userId="EaSm3crqCl59iHUciktDee7zyU+rF3MDLbCEjhOn3WE=" providerId="None" clId="Web-{498B88F2-E8A7-4193-8DDF-7A658F75461D}"/>
    <pc:docChg chg="modSld">
      <pc:chgData name="venugopal Loganathan" userId="EaSm3crqCl59iHUciktDee7zyU+rF3MDLbCEjhOn3WE=" providerId="None" clId="Web-{498B88F2-E8A7-4193-8DDF-7A658F75461D}" dt="2024-11-22T17:00:52.893" v="7" actId="20577"/>
      <pc:docMkLst>
        <pc:docMk/>
      </pc:docMkLst>
      <pc:sldChg chg="modSp">
        <pc:chgData name="venugopal Loganathan" userId="EaSm3crqCl59iHUciktDee7zyU+rF3MDLbCEjhOn3WE=" providerId="None" clId="Web-{498B88F2-E8A7-4193-8DDF-7A658F75461D}" dt="2024-11-22T17:00:52.893" v="7" actId="20577"/>
        <pc:sldMkLst>
          <pc:docMk/>
          <pc:sldMk cId="2019470206" sldId="337"/>
        </pc:sldMkLst>
        <pc:spChg chg="mod">
          <ac:chgData name="venugopal Loganathan" userId="EaSm3crqCl59iHUciktDee7zyU+rF3MDLbCEjhOn3WE=" providerId="None" clId="Web-{498B88F2-E8A7-4193-8DDF-7A658F75461D}" dt="2024-11-22T17:00:52.893" v="7" actId="20577"/>
          <ac:spMkLst>
            <pc:docMk/>
            <pc:sldMk cId="2019470206" sldId="337"/>
            <ac:spMk id="3" creationId="{3267FE25-D13F-212B-0552-FAA3C5F3171B}"/>
          </ac:spMkLst>
        </pc:spChg>
      </pc:sldChg>
      <pc:sldChg chg="modSp">
        <pc:chgData name="venugopal Loganathan" userId="EaSm3crqCl59iHUciktDee7zyU+rF3MDLbCEjhOn3WE=" providerId="None" clId="Web-{498B88F2-E8A7-4193-8DDF-7A658F75461D}" dt="2024-11-22T17:00:45.893" v="4" actId="20577"/>
        <pc:sldMkLst>
          <pc:docMk/>
          <pc:sldMk cId="639811492" sldId="340"/>
        </pc:sldMkLst>
        <pc:spChg chg="mod">
          <ac:chgData name="venugopal Loganathan" userId="EaSm3crqCl59iHUciktDee7zyU+rF3MDLbCEjhOn3WE=" providerId="None" clId="Web-{498B88F2-E8A7-4193-8DDF-7A658F75461D}" dt="2024-11-22T17:00:45.893" v="4" actId="20577"/>
          <ac:spMkLst>
            <pc:docMk/>
            <pc:sldMk cId="639811492" sldId="340"/>
            <ac:spMk id="3" creationId="{3267FE25-D13F-212B-0552-FAA3C5F317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11/22/2024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381000" y="685800"/>
            <a:ext cx="6096000" cy="3429000"/>
          </a:xfrm>
          <a:ln/>
        </p:spPr>
      </p:sp>
      <p:sp>
        <p:nvSpPr>
          <p:cNvPr id="634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90745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381000" y="685800"/>
            <a:ext cx="6096000" cy="3429000"/>
          </a:xfrm>
          <a:ln/>
        </p:spPr>
      </p:sp>
      <p:sp>
        <p:nvSpPr>
          <p:cNvPr id="6451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100178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381000" y="685800"/>
            <a:ext cx="6096000" cy="3429000"/>
          </a:xfrm>
          <a:ln/>
        </p:spPr>
      </p:sp>
      <p:sp>
        <p:nvSpPr>
          <p:cNvPr id="655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04458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BAFDA4-BA11-413D-97BB-7F192F882F9C}" type="slidenum">
              <a:rPr lang="en-US" smtClean="0"/>
              <a:pPr/>
              <a:t>7</a:t>
            </a:fld>
            <a:endParaRPr lang="en-US" dirty="0"/>
          </a:p>
        </p:txBody>
      </p:sp>
    </p:spTree>
    <p:extLst>
      <p:ext uri="{BB962C8B-B14F-4D97-AF65-F5344CB8AC3E}">
        <p14:creationId xmlns:p14="http://schemas.microsoft.com/office/powerpoint/2010/main" val="4204235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BAFDA4-BA11-413D-97BB-7F192F882F9C}" type="slidenum">
              <a:rPr lang="en-US" smtClean="0"/>
              <a:pPr/>
              <a:t>8</a:t>
            </a:fld>
            <a:endParaRPr lang="en-US" dirty="0"/>
          </a:p>
        </p:txBody>
      </p:sp>
    </p:spTree>
    <p:extLst>
      <p:ext uri="{BB962C8B-B14F-4D97-AF65-F5344CB8AC3E}">
        <p14:creationId xmlns:p14="http://schemas.microsoft.com/office/powerpoint/2010/main" val="869122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381000" y="685800"/>
            <a:ext cx="6096000" cy="3429000"/>
          </a:xfrm>
          <a:ln/>
        </p:spPr>
      </p:sp>
      <p:sp>
        <p:nvSpPr>
          <p:cNvPr id="686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64809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381000" y="685800"/>
            <a:ext cx="6096000" cy="3429000"/>
          </a:xfrm>
          <a:ln/>
        </p:spPr>
      </p:sp>
      <p:sp>
        <p:nvSpPr>
          <p:cNvPr id="696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1969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381000" y="685800"/>
            <a:ext cx="6096000" cy="3429000"/>
          </a:xfrm>
          <a:ln/>
        </p:spPr>
      </p:sp>
      <p:sp>
        <p:nvSpPr>
          <p:cNvPr id="706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61846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73240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381000" y="685800"/>
            <a:ext cx="6096000" cy="3429000"/>
          </a:xfrm>
          <a:ln/>
        </p:spPr>
      </p:sp>
      <p:sp>
        <p:nvSpPr>
          <p:cNvPr id="757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87088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61978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989316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381000" y="685800"/>
            <a:ext cx="6096000" cy="3429000"/>
          </a:xfrm>
          <a:ln/>
        </p:spPr>
      </p:sp>
      <p:sp>
        <p:nvSpPr>
          <p:cNvPr id="778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887201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381000" y="685800"/>
            <a:ext cx="6096000" cy="3429000"/>
          </a:xfrm>
          <a:ln/>
        </p:spPr>
      </p:sp>
      <p:sp>
        <p:nvSpPr>
          <p:cNvPr id="788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4115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381000" y="685800"/>
            <a:ext cx="6096000" cy="3429000"/>
          </a:xfrm>
          <a:ln/>
        </p:spPr>
      </p:sp>
      <p:sp>
        <p:nvSpPr>
          <p:cNvPr id="7987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20784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1000" y="685800"/>
            <a:ext cx="6096000" cy="3429000"/>
          </a:xfrm>
          <a:ln/>
        </p:spPr>
      </p:sp>
      <p:sp>
        <p:nvSpPr>
          <p:cNvPr id="8192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88962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381000" y="685800"/>
            <a:ext cx="6096000" cy="3429000"/>
          </a:xfrm>
          <a:ln/>
        </p:spPr>
      </p:sp>
      <p:sp>
        <p:nvSpPr>
          <p:cNvPr id="829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035144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698933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381000" y="685800"/>
            <a:ext cx="6096000" cy="3429000"/>
          </a:xfrm>
          <a:ln/>
        </p:spPr>
      </p:sp>
      <p:sp>
        <p:nvSpPr>
          <p:cNvPr id="860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924107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1000" y="685800"/>
            <a:ext cx="6096000" cy="3429000"/>
          </a:xfrm>
          <a:ln/>
        </p:spPr>
      </p:sp>
      <p:sp>
        <p:nvSpPr>
          <p:cNvPr id="8704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66388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381000" y="685800"/>
            <a:ext cx="6096000" cy="3429000"/>
          </a:xfrm>
          <a:ln/>
        </p:spPr>
      </p:sp>
      <p:sp>
        <p:nvSpPr>
          <p:cNvPr id="9011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262192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BAFDA4-BA11-413D-97BB-7F192F882F9C}" type="slidenum">
              <a:rPr lang="en-US" smtClean="0"/>
              <a:pPr/>
              <a:t>25</a:t>
            </a:fld>
            <a:endParaRPr lang="en-US" dirty="0"/>
          </a:p>
        </p:txBody>
      </p:sp>
    </p:spTree>
    <p:extLst>
      <p:ext uri="{BB962C8B-B14F-4D97-AF65-F5344CB8AC3E}">
        <p14:creationId xmlns:p14="http://schemas.microsoft.com/office/powerpoint/2010/main" val="21215693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BAFDA4-BA11-413D-97BB-7F192F882F9C}" type="slidenum">
              <a:rPr lang="en-US" smtClean="0"/>
              <a:pPr/>
              <a:t>26</a:t>
            </a:fld>
            <a:endParaRPr lang="en-US" dirty="0"/>
          </a:p>
        </p:txBody>
      </p:sp>
    </p:spTree>
    <p:extLst>
      <p:ext uri="{BB962C8B-B14F-4D97-AF65-F5344CB8AC3E}">
        <p14:creationId xmlns:p14="http://schemas.microsoft.com/office/powerpoint/2010/main" val="1836932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2243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34734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886639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381000" y="685800"/>
            <a:ext cx="6096000" cy="3429000"/>
          </a:xfrm>
          <a:ln/>
        </p:spPr>
      </p:sp>
      <p:sp>
        <p:nvSpPr>
          <p:cNvPr id="962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98099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230504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381000" y="685800"/>
            <a:ext cx="6096000" cy="3429000"/>
          </a:xfrm>
          <a:ln/>
        </p:spPr>
      </p:sp>
      <p:sp>
        <p:nvSpPr>
          <p:cNvPr id="9830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07267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381000" y="685800"/>
            <a:ext cx="6096000" cy="3429000"/>
          </a:xfrm>
          <a:ln/>
        </p:spPr>
      </p:sp>
      <p:sp>
        <p:nvSpPr>
          <p:cNvPr id="1003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021595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81000" y="685800"/>
            <a:ext cx="6096000" cy="3429000"/>
          </a:xfrm>
          <a:ln/>
        </p:spPr>
      </p:sp>
      <p:sp>
        <p:nvSpPr>
          <p:cNvPr id="1013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0711116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381000" y="685800"/>
            <a:ext cx="6096000" cy="3429000"/>
          </a:xfrm>
          <a:ln/>
        </p:spPr>
      </p:sp>
      <p:sp>
        <p:nvSpPr>
          <p:cNvPr id="1034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30571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381000" y="685800"/>
            <a:ext cx="6096000" cy="3429000"/>
          </a:xfrm>
          <a:ln/>
        </p:spPr>
      </p:sp>
      <p:sp>
        <p:nvSpPr>
          <p:cNvPr id="1044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996461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381000" y="685800"/>
            <a:ext cx="6096000" cy="3429000"/>
          </a:xfrm>
          <a:ln/>
        </p:spPr>
      </p:sp>
      <p:sp>
        <p:nvSpPr>
          <p:cNvPr id="10547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5027012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381000" y="685800"/>
            <a:ext cx="6096000" cy="3429000"/>
          </a:xfrm>
          <a:ln/>
        </p:spPr>
      </p:sp>
      <p:sp>
        <p:nvSpPr>
          <p:cNvPr id="1064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6661834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381000" y="685800"/>
            <a:ext cx="6096000" cy="3429000"/>
          </a:xfrm>
          <a:ln/>
        </p:spPr>
      </p:sp>
      <p:sp>
        <p:nvSpPr>
          <p:cNvPr id="10752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207809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81000" y="685800"/>
            <a:ext cx="6096000" cy="3429000"/>
          </a:xfrm>
          <a:ln/>
        </p:spPr>
      </p:sp>
      <p:sp>
        <p:nvSpPr>
          <p:cNvPr id="1085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912663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381000" y="685800"/>
            <a:ext cx="6096000" cy="3429000"/>
          </a:xfrm>
          <a:ln/>
        </p:spPr>
      </p:sp>
      <p:sp>
        <p:nvSpPr>
          <p:cNvPr id="10957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5462215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81000" y="685800"/>
            <a:ext cx="6096000" cy="3429000"/>
          </a:xfrm>
          <a:ln/>
        </p:spPr>
      </p:sp>
      <p:sp>
        <p:nvSpPr>
          <p:cNvPr id="1116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28582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381000" y="685800"/>
            <a:ext cx="6096000" cy="3429000"/>
          </a:xfrm>
          <a:ln/>
        </p:spPr>
      </p:sp>
      <p:sp>
        <p:nvSpPr>
          <p:cNvPr id="1136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566118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381000" y="685800"/>
            <a:ext cx="6096000" cy="3429000"/>
          </a:xfrm>
          <a:ln/>
        </p:spPr>
      </p:sp>
      <p:sp>
        <p:nvSpPr>
          <p:cNvPr id="11571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450226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BAFDA4-BA11-413D-97BB-7F192F882F9C}" type="slidenum">
              <a:rPr lang="en-US" smtClean="0"/>
              <a:pPr/>
              <a:t>45</a:t>
            </a:fld>
            <a:endParaRPr lang="en-US" dirty="0"/>
          </a:p>
        </p:txBody>
      </p:sp>
    </p:spTree>
    <p:extLst>
      <p:ext uri="{BB962C8B-B14F-4D97-AF65-F5344CB8AC3E}">
        <p14:creationId xmlns:p14="http://schemas.microsoft.com/office/powerpoint/2010/main" val="19831755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BAFDA4-BA11-413D-97BB-7F192F882F9C}" type="slidenum">
              <a:rPr lang="en-US" smtClean="0"/>
              <a:pPr/>
              <a:t>46</a:t>
            </a:fld>
            <a:endParaRPr lang="en-US" dirty="0"/>
          </a:p>
        </p:txBody>
      </p:sp>
    </p:spTree>
    <p:extLst>
      <p:ext uri="{BB962C8B-B14F-4D97-AF65-F5344CB8AC3E}">
        <p14:creationId xmlns:p14="http://schemas.microsoft.com/office/powerpoint/2010/main" val="25062817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381000" y="685800"/>
            <a:ext cx="6096000" cy="3429000"/>
          </a:xfrm>
          <a:ln/>
        </p:spPr>
      </p:sp>
      <p:sp>
        <p:nvSpPr>
          <p:cNvPr id="11878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87384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454449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2583501"/>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A96884BE-67B2-A9A3-6C11-3C3D70A4F5CA}"/>
              </a:ext>
            </a:extLst>
          </p:cNvPr>
          <p:cNvSpPr>
            <a:spLocks noGrp="1"/>
          </p:cNvSpPr>
          <p:nvPr>
            <p:ph sz="quarter" idx="10"/>
          </p:nvPr>
        </p:nvSpPr>
        <p:spPr>
          <a:xfrm>
            <a:off x="803275" y="435927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B66E2E00-331B-FEC6-946A-7D35AC0837E3}"/>
              </a:ext>
            </a:extLst>
          </p:cNvPr>
          <p:cNvSpPr>
            <a:spLocks noGrp="1"/>
          </p:cNvSpPr>
          <p:nvPr>
            <p:ph type="pic" sz="quarter" idx="11"/>
          </p:nvPr>
        </p:nvSpPr>
        <p:spPr>
          <a:xfrm>
            <a:off x="2992438" y="4362450"/>
            <a:ext cx="914400" cy="914400"/>
          </a:xfrm>
        </p:spPr>
        <p:txBody>
          <a:bodyPr/>
          <a:lstStyle/>
          <a:p>
            <a:endParaRPr lang="en-IN"/>
          </a:p>
        </p:txBody>
      </p:sp>
      <p:sp>
        <p:nvSpPr>
          <p:cNvPr id="7" name="Picture Placeholder 6">
            <a:extLst>
              <a:ext uri="{FF2B5EF4-FFF2-40B4-BE49-F238E27FC236}">
                <a16:creationId xmlns:a16="http://schemas.microsoft.com/office/drawing/2014/main" id="{7C4505D8-459C-E8D4-5EC1-61BAAEDF1F91}"/>
              </a:ext>
            </a:extLst>
          </p:cNvPr>
          <p:cNvSpPr>
            <a:spLocks noGrp="1"/>
          </p:cNvSpPr>
          <p:nvPr>
            <p:ph type="pic" sz="quarter" idx="12"/>
          </p:nvPr>
        </p:nvSpPr>
        <p:spPr>
          <a:xfrm>
            <a:off x="5005388" y="4451350"/>
            <a:ext cx="914400" cy="914400"/>
          </a:xfrm>
        </p:spPr>
        <p:txBody>
          <a:bodyPr/>
          <a:lstStyle/>
          <a:p>
            <a:endParaRPr lang="en-IN"/>
          </a:p>
        </p:txBody>
      </p:sp>
      <p:sp>
        <p:nvSpPr>
          <p:cNvPr id="9" name="Table Placeholder 8">
            <a:extLst>
              <a:ext uri="{FF2B5EF4-FFF2-40B4-BE49-F238E27FC236}">
                <a16:creationId xmlns:a16="http://schemas.microsoft.com/office/drawing/2014/main" id="{616AEF0A-0436-2448-617B-2D654C19AC74}"/>
              </a:ext>
            </a:extLst>
          </p:cNvPr>
          <p:cNvSpPr>
            <a:spLocks noGrp="1"/>
          </p:cNvSpPr>
          <p:nvPr>
            <p:ph type="tbl" sz="quarter" idx="13"/>
          </p:nvPr>
        </p:nvSpPr>
        <p:spPr>
          <a:xfrm>
            <a:off x="6834188" y="4581525"/>
            <a:ext cx="914400" cy="914400"/>
          </a:xfrm>
        </p:spPr>
        <p:txBody>
          <a:bodyPr/>
          <a:lstStyle/>
          <a:p>
            <a:endParaRPr lang="en-IN"/>
          </a:p>
        </p:txBody>
      </p:sp>
    </p:spTree>
    <p:extLst>
      <p:ext uri="{BB962C8B-B14F-4D97-AF65-F5344CB8AC3E}">
        <p14:creationId xmlns:p14="http://schemas.microsoft.com/office/powerpoint/2010/main" val="2446454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53177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0D336FE-50F2-43B1-8E29-DA1489046407}" type="datetimeFigureOut">
              <a:rPr lang="en-US" smtClean="0"/>
              <a:pPr/>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5088FE4E-7896-42C2-A565-469234630387}" type="slidenum">
              <a:rPr lang="en-US" smtClean="0"/>
              <a:pPr/>
              <a:t>‹#›</a:t>
            </a:fld>
            <a:endParaRPr lang="en-US"/>
          </a:p>
        </p:txBody>
      </p:sp>
    </p:spTree>
    <p:extLst>
      <p:ext uri="{BB962C8B-B14F-4D97-AF65-F5344CB8AC3E}">
        <p14:creationId xmlns:p14="http://schemas.microsoft.com/office/powerpoint/2010/main" val="2286428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378758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685727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343735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923744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06330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479091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8933834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622200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258815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174832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9380255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9801688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1493025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11650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11/22/2024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0">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5F15C129-5164-5BDB-E011-DE073C132177}"/>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321565496"/>
      </p:ext>
    </p:extLst>
  </p:cSld>
  <p:clrMap bg1="lt1" tx1="dk1" bg2="dk2" tx2="lt2" accent1="accent1" accent2="accent2" accent3="accent3" accent4="accent4" accent5="accent5" accent6="accent6" hlink="hlink" folHlink="folHlink"/>
  <p:sldLayoutIdLst>
    <p:sldLayoutId id="2147483686" r:id="rId1"/>
    <p:sldLayoutId id="2147483704"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2" r:id="rId17"/>
    <p:sldLayoutId id="2147483703" r:id="rId1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53: </a:t>
            </a:r>
            <a:r>
              <a:rPr lang="en-US" sz="3200" dirty="0">
                <a:solidFill>
                  <a:srgbClr val="FFFFFF"/>
                </a:solidFill>
                <a:latin typeface="Work Sans" pitchFamily="2" charset="0"/>
                <a:ea typeface="Arial"/>
                <a:cs typeface="Arial"/>
                <a:sym typeface="Arial"/>
              </a:rPr>
              <a:t>Antilock Brake, Traction Control, and Stability Control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971A7-453D-FA4E-46D8-9F62AE1C1A37}"/>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3267FE25-D13F-212B-0552-FAA3C5F3171B}"/>
              </a:ext>
            </a:extLst>
          </p:cNvPr>
          <p:cNvSpPr>
            <a:spLocks noGrp="1"/>
          </p:cNvSpPr>
          <p:nvPr>
            <p:ph type="body" idx="1"/>
          </p:nvPr>
        </p:nvSpPr>
        <p:spPr/>
        <p:txBody>
          <a:bodyPr/>
          <a:lstStyle/>
          <a:p>
            <a:pPr marL="363220" indent="-363220">
              <a:spcAft>
                <a:spcPts val="1800"/>
              </a:spcAft>
              <a:buFont typeface="Arial" panose="020B0604020202020204" pitchFamily="34" charset="0"/>
              <a:buChar char="•"/>
              <a:tabLst>
                <a:tab pos="228600" algn="l"/>
              </a:tabLst>
            </a:pPr>
            <a:r>
              <a:rPr lang="en-US" dirty="0">
                <a:solidFill>
                  <a:schemeClr val="tx1"/>
                </a:solidFill>
                <a:ea typeface="Times New Roman" panose="02020603050405020304" pitchFamily="18" charset="0"/>
                <a:cs typeface="HelveticaNeueLTStd-Cn"/>
              </a:rPr>
              <a:t>53.01</a:t>
            </a:r>
            <a:r>
              <a:rPr lang="en-US" sz="2600" dirty="0">
                <a:solidFill>
                  <a:schemeClr val="tx1"/>
                </a:solidFill>
                <a:ea typeface="Times New Roman" panose="02020603050405020304" pitchFamily="18" charset="0"/>
                <a:cs typeface="HelveticaNeueLTStd-Cn"/>
              </a:rPr>
              <a:t> Explain how antilock brake systems work to bring a vehicle to a controlled stop.</a:t>
            </a:r>
            <a:endParaRPr lang="en-US">
              <a:solidFill>
                <a:schemeClr val="tx1"/>
              </a:solidFill>
            </a:endParaRPr>
          </a:p>
          <a:p>
            <a:pPr marL="363220" indent="-363220">
              <a:spcAft>
                <a:spcPts val="1800"/>
              </a:spcAft>
              <a:buFont typeface="Arial" panose="020B0604020202020204" pitchFamily="34" charset="0"/>
              <a:buChar char="•"/>
              <a:tabLst>
                <a:tab pos="228600" algn="l"/>
              </a:tabLst>
            </a:pPr>
            <a:r>
              <a:rPr lang="en-US" dirty="0">
                <a:solidFill>
                  <a:schemeClr val="tx1"/>
                </a:solidFill>
                <a:ea typeface="Times New Roman" panose="02020603050405020304" pitchFamily="18" charset="0"/>
                <a:cs typeface="HelveticaNeueLTStd-Cn"/>
              </a:rPr>
              <a:t>53.02</a:t>
            </a:r>
            <a:r>
              <a:rPr lang="en-US" sz="2600" dirty="0">
                <a:solidFill>
                  <a:schemeClr val="tx1"/>
                </a:solidFill>
                <a:ea typeface="Times New Roman" panose="02020603050405020304" pitchFamily="18" charset="0"/>
                <a:cs typeface="HelveticaNeueLTStd-Cn"/>
              </a:rPr>
              <a:t> Describe the differences between an integrated and a nonintegrated antilock brake system.</a:t>
            </a:r>
          </a:p>
          <a:p>
            <a:pPr marL="363220" indent="-363220">
              <a:spcAft>
                <a:spcPts val="1800"/>
              </a:spcAft>
              <a:buFont typeface="Arial" panose="020B0604020202020204" pitchFamily="34" charset="0"/>
              <a:buChar char="•"/>
              <a:tabLst>
                <a:tab pos="228600" algn="l"/>
              </a:tabLst>
            </a:pPr>
            <a:r>
              <a:rPr lang="en-US" dirty="0">
                <a:solidFill>
                  <a:schemeClr val="tx1"/>
                </a:solidFill>
                <a:ea typeface="Times New Roman" panose="02020603050405020304" pitchFamily="18" charset="0"/>
                <a:cs typeface="HelveticaNeueLTStd-Cn"/>
              </a:rPr>
              <a:t>53.03</a:t>
            </a:r>
            <a:r>
              <a:rPr lang="en-US" sz="2600" dirty="0">
                <a:solidFill>
                  <a:schemeClr val="tx1"/>
                </a:solidFill>
                <a:ea typeface="Times New Roman" panose="02020603050405020304" pitchFamily="18" charset="0"/>
                <a:cs typeface="HelveticaNeueLTStd-Cn"/>
              </a:rPr>
              <a:t> Describe the operation of the major components of an antilock brake system.</a:t>
            </a:r>
          </a:p>
        </p:txBody>
      </p:sp>
    </p:spTree>
    <p:extLst>
      <p:ext uri="{BB962C8B-B14F-4D97-AF65-F5344CB8AC3E}">
        <p14:creationId xmlns:p14="http://schemas.microsoft.com/office/powerpoint/2010/main" val="639811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971A7-453D-FA4E-46D8-9F62AE1C1A37}"/>
              </a:ext>
            </a:extLst>
          </p:cNvPr>
          <p:cNvSpPr>
            <a:spLocks noGrp="1"/>
          </p:cNvSpPr>
          <p:nvPr>
            <p:ph type="title"/>
          </p:nvPr>
        </p:nvSpPr>
        <p:spPr/>
        <p:txBody>
          <a:bodyPr/>
          <a:lstStyle/>
          <a:p>
            <a:r>
              <a:rPr lang="en-US" dirty="0"/>
              <a:t>Chapter Objectives (2 of 2) </a:t>
            </a:r>
          </a:p>
        </p:txBody>
      </p:sp>
      <p:sp>
        <p:nvSpPr>
          <p:cNvPr id="3" name="Text Placeholder 2">
            <a:extLst>
              <a:ext uri="{FF2B5EF4-FFF2-40B4-BE49-F238E27FC236}">
                <a16:creationId xmlns:a16="http://schemas.microsoft.com/office/drawing/2014/main" id="{3267FE25-D13F-212B-0552-FAA3C5F3171B}"/>
              </a:ext>
            </a:extLst>
          </p:cNvPr>
          <p:cNvSpPr>
            <a:spLocks noGrp="1"/>
          </p:cNvSpPr>
          <p:nvPr>
            <p:ph type="body" idx="1"/>
          </p:nvPr>
        </p:nvSpPr>
        <p:spPr/>
        <p:txBody>
          <a:bodyPr/>
          <a:lstStyle/>
          <a:p>
            <a:pPr marL="363220" indent="-363220">
              <a:spcAft>
                <a:spcPts val="1800"/>
              </a:spcAft>
              <a:buSzPct val="100000"/>
              <a:buFont typeface="Arial" panose="020B0604020202020204" pitchFamily="34" charset="0"/>
              <a:buChar char="•"/>
              <a:tabLst>
                <a:tab pos="228600" algn="l"/>
              </a:tabLst>
            </a:pPr>
            <a:r>
              <a:rPr lang="en-US">
                <a:solidFill>
                  <a:schemeClr val="tx1"/>
                </a:solidFill>
                <a:ea typeface="Times New Roman" panose="02020603050405020304" pitchFamily="18" charset="0"/>
                <a:cs typeface="HelveticaNeueLTStd-Cn"/>
              </a:rPr>
              <a:t>53.04</a:t>
            </a:r>
            <a:r>
              <a:rPr lang="en-US" sz="2600">
                <a:solidFill>
                  <a:schemeClr val="tx1"/>
                </a:solidFill>
                <a:ea typeface="Times New Roman" panose="02020603050405020304" pitchFamily="18" charset="0"/>
                <a:cs typeface="HelveticaNeueLTStd-Cn"/>
              </a:rPr>
              <a:t> Describe the operation of the major components of </a:t>
            </a:r>
            <a:r>
              <a:rPr lang="en-US" sz="2600" dirty="0">
                <a:solidFill>
                  <a:schemeClr val="tx1"/>
                </a:solidFill>
                <a:ea typeface="Times New Roman" panose="02020603050405020304" pitchFamily="18" charset="0"/>
                <a:cs typeface="HelveticaNeueLTStd-Cn"/>
              </a:rPr>
              <a:t>automatic traction and stability control systems.</a:t>
            </a:r>
            <a:endParaRPr lang="en-US">
              <a:solidFill>
                <a:schemeClr val="tx1"/>
              </a:solidFill>
            </a:endParaRPr>
          </a:p>
          <a:p>
            <a:pPr marL="363220" indent="-363220">
              <a:spcAft>
                <a:spcPts val="1800"/>
              </a:spcAft>
              <a:buSzPct val="100000"/>
              <a:buFont typeface="Arial" panose="020B0604020202020204" pitchFamily="34" charset="0"/>
              <a:buChar char="•"/>
              <a:tabLst>
                <a:tab pos="228600" algn="l"/>
              </a:tabLst>
            </a:pPr>
            <a:r>
              <a:rPr lang="en-US">
                <a:solidFill>
                  <a:schemeClr val="tx1"/>
                </a:solidFill>
                <a:ea typeface="Times New Roman" panose="02020603050405020304" pitchFamily="18" charset="0"/>
                <a:cs typeface="HelveticaNeueLTStd-Cn"/>
              </a:rPr>
              <a:t>53.05</a:t>
            </a:r>
            <a:r>
              <a:rPr lang="en-US" sz="2600">
                <a:solidFill>
                  <a:schemeClr val="tx1"/>
                </a:solidFill>
                <a:ea typeface="Times New Roman" panose="02020603050405020304" pitchFamily="18" charset="0"/>
                <a:cs typeface="HelveticaNeueLTStd-Cn"/>
              </a:rPr>
              <a:t> List the precautions to follow when working on an antilock </a:t>
            </a:r>
            <a:r>
              <a:rPr lang="en-US" sz="2600" dirty="0">
                <a:solidFill>
                  <a:schemeClr val="tx1"/>
                </a:solidFill>
                <a:ea typeface="Times New Roman" panose="02020603050405020304" pitchFamily="18" charset="0"/>
                <a:cs typeface="HelveticaNeueLTStd-Cn"/>
              </a:rPr>
              <a:t>brake system.</a:t>
            </a:r>
          </a:p>
          <a:p>
            <a:pPr marL="363220" indent="-363220">
              <a:spcAft>
                <a:spcPts val="1800"/>
              </a:spcAft>
              <a:buSzPct val="100000"/>
              <a:buFont typeface="Arial" panose="020B0604020202020204" pitchFamily="34" charset="0"/>
              <a:buChar char="•"/>
              <a:tabLst>
                <a:tab pos="228600" algn="l"/>
              </a:tabLst>
            </a:pPr>
            <a:r>
              <a:rPr lang="en-US" dirty="0">
                <a:solidFill>
                  <a:schemeClr val="tx1"/>
                </a:solidFill>
                <a:ea typeface="Times New Roman" panose="02020603050405020304" pitchFamily="18" charset="0"/>
                <a:cs typeface="HelveticaNeueLTStd-Cn"/>
              </a:rPr>
              <a:t>53.06</a:t>
            </a:r>
            <a:r>
              <a:rPr lang="en-US" sz="2600" dirty="0">
                <a:solidFill>
                  <a:schemeClr val="tx1"/>
                </a:solidFill>
                <a:ea typeface="Times New Roman" panose="02020603050405020304" pitchFamily="18" charset="0"/>
                <a:cs typeface="HelveticaNeueLTStd-Cn"/>
              </a:rPr>
              <a:t> Explain the common procedures for finding ABS faults.</a:t>
            </a:r>
          </a:p>
        </p:txBody>
      </p:sp>
    </p:spTree>
    <p:extLst>
      <p:ext uri="{BB962C8B-B14F-4D97-AF65-F5344CB8AC3E}">
        <p14:creationId xmlns:p14="http://schemas.microsoft.com/office/powerpoint/2010/main" val="2019470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158C9A-53F4-CF10-5B7D-7EF2F6A1C9AE}"/>
              </a:ext>
            </a:extLst>
          </p:cNvPr>
          <p:cNvSpPr>
            <a:spLocks noGrp="1"/>
          </p:cNvSpPr>
          <p:nvPr>
            <p:ph type="title"/>
          </p:nvPr>
        </p:nvSpPr>
        <p:spPr/>
        <p:txBody>
          <a:bodyPr/>
          <a:lstStyle/>
          <a:p>
            <a:r>
              <a:rPr lang="en-US" dirty="0"/>
              <a:t>Basic ABS Brakes</a:t>
            </a:r>
          </a:p>
        </p:txBody>
      </p:sp>
      <p:pic>
        <p:nvPicPr>
          <p:cNvPr id="9" name="Picture Placeholder 8" descr="A common four-wheel antilock brake system. The labeled parts are as follows: Brake warning lamp (red), Right rear W S S circuit, Left rear W S S circuit, Left front W S S circuit, A B S control unit, Right front W S S circuit, Hydraulic unit, E B C M, Pump relay, Main relay, and Antilock warning lamp (amber). Blue dashed lines from the hydraulic unit go to the Right front W S S circuit, A B S control unit, the Right rear W S S circuit, Antilock warning lamp (amber), and Brake warning lamp (red). Red lines go from the hydraulic unit and all four wheels. Light blue dashed lines go between E B C M and A B S control units. The key indicates blue dotted lines as Electrical harnesses and red as Hydraulic lines.">
            <a:extLst>
              <a:ext uri="{FF2B5EF4-FFF2-40B4-BE49-F238E27FC236}">
                <a16:creationId xmlns:a16="http://schemas.microsoft.com/office/drawing/2014/main" id="{799389DD-E993-C837-583E-F17CE88AEF26}"/>
              </a:ext>
            </a:extLst>
          </p:cNvPr>
          <p:cNvPicPr>
            <a:picLocks noGrp="1" noChangeAspect="1"/>
          </p:cNvPicPr>
          <p:nvPr>
            <p:ph type="pic" sz="quarter" idx="11"/>
          </p:nvPr>
        </p:nvPicPr>
        <p:blipFill>
          <a:blip r:embed="rId3"/>
          <a:srcRect b="5383"/>
          <a:stretch/>
        </p:blipFill>
        <p:spPr>
          <a:xfrm>
            <a:off x="2876097" y="1669697"/>
            <a:ext cx="6439806" cy="39605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Antilock Brakes</a:t>
            </a:r>
          </a:p>
        </p:txBody>
      </p:sp>
      <p:sp>
        <p:nvSpPr>
          <p:cNvPr id="4099" name="Rectangle 3"/>
          <p:cNvSpPr>
            <a:spLocks noGrp="1" noChangeArrowheads="1"/>
          </p:cNvSpPr>
          <p:nvPr>
            <p:ph type="body" idx="1"/>
          </p:nvPr>
        </p:nvSpPr>
        <p:spPr/>
        <p:txBody>
          <a:bodyPr/>
          <a:lstStyle/>
          <a:p>
            <a:pPr marL="85725" indent="0">
              <a:buNone/>
            </a:pPr>
            <a:r>
              <a:rPr lang="en-US" b="1" dirty="0">
                <a:solidFill>
                  <a:schemeClr val="tx1"/>
                </a:solidFill>
                <a:latin typeface="Work Sans" pitchFamily="2" charset="0"/>
                <a:ea typeface="Times New Roman" panose="02020603050405020304" pitchFamily="18" charset="0"/>
                <a:cs typeface="HelveticaNeueLTStd-Cn"/>
              </a:rPr>
              <a:t>53-01 Explain how antilock brake systems work to bring a vehicle to a controlled stop.</a:t>
            </a:r>
            <a:endParaRPr lang="en-US" b="1" dirty="0">
              <a:solidFill>
                <a:schemeClr val="tx1"/>
              </a:solidFill>
            </a:endParaRPr>
          </a:p>
          <a:p>
            <a:r>
              <a:rPr lang="en-US" dirty="0">
                <a:solidFill>
                  <a:schemeClr val="tx1"/>
                </a:solidFill>
              </a:rPr>
              <a:t>The ABS system pulses the brakes more rapidly than the driver can.</a:t>
            </a:r>
          </a:p>
          <a:p>
            <a:r>
              <a:rPr lang="en-US" dirty="0">
                <a:solidFill>
                  <a:schemeClr val="tx1"/>
                </a:solidFill>
              </a:rPr>
              <a:t>Pulsing the brakes prevents wheel lockup.</a:t>
            </a:r>
          </a:p>
          <a:p>
            <a:r>
              <a:rPr lang="en-US" dirty="0">
                <a:solidFill>
                  <a:schemeClr val="tx1"/>
                </a:solidFill>
              </a:rPr>
              <a:t>Preventing wheel lockup provides for more stable stopping.</a:t>
            </a:r>
          </a:p>
          <a:p>
            <a:r>
              <a:rPr lang="en-US" dirty="0">
                <a:solidFill>
                  <a:schemeClr val="tx1"/>
                </a:solidFill>
              </a:rPr>
              <a:t>Preventing wheel slip allows the wheels to turn as directed.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
          <p:cNvSpPr>
            <a:spLocks noGrp="1"/>
          </p:cNvSpPr>
          <p:nvPr>
            <p:ph type="title"/>
          </p:nvPr>
        </p:nvSpPr>
        <p:spPr/>
        <p:txBody>
          <a:bodyPr/>
          <a:lstStyle/>
          <a:p>
            <a:r>
              <a:rPr lang="en-US" dirty="0"/>
              <a:t>Pressure Modulation</a:t>
            </a:r>
          </a:p>
        </p:txBody>
      </p:sp>
      <p:sp>
        <p:nvSpPr>
          <p:cNvPr id="5123" name="Content Placeholder 6"/>
          <p:cNvSpPr>
            <a:spLocks noGrp="1"/>
          </p:cNvSpPr>
          <p:nvPr>
            <p:ph type="body" idx="1"/>
          </p:nvPr>
        </p:nvSpPr>
        <p:spPr/>
        <p:txBody>
          <a:bodyPr/>
          <a:lstStyle/>
          <a:p>
            <a:r>
              <a:rPr lang="en-US" sz="2600" dirty="0">
                <a:solidFill>
                  <a:schemeClr val="tx1"/>
                </a:solidFill>
              </a:rPr>
              <a:t>If the wheels lock, the vehicle will slide.</a:t>
            </a:r>
          </a:p>
          <a:p>
            <a:r>
              <a:rPr lang="en-US" sz="2600" dirty="0">
                <a:solidFill>
                  <a:schemeClr val="tx1"/>
                </a:solidFill>
              </a:rPr>
              <a:t>Pumping the brakes allows the driver to maintain control.</a:t>
            </a:r>
          </a:p>
          <a:p>
            <a:r>
              <a:rPr lang="en-US" sz="2600" dirty="0">
                <a:solidFill>
                  <a:schemeClr val="tx1"/>
                </a:solidFill>
              </a:rPr>
              <a:t>When the ABS pumps the brakes, it is called pressure modulation.</a:t>
            </a:r>
          </a:p>
          <a:p>
            <a:r>
              <a:rPr lang="en-US" sz="2600" dirty="0">
                <a:solidFill>
                  <a:schemeClr val="tx1"/>
                </a:solidFill>
              </a:rPr>
              <a:t>The ABS can modulate brake pressure up to 15 times per second.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(1 of 3)</a:t>
            </a:r>
          </a:p>
        </p:txBody>
      </p:sp>
      <p:sp>
        <p:nvSpPr>
          <p:cNvPr id="4" name="Content Placeholder 3"/>
          <p:cNvSpPr>
            <a:spLocks noGrp="1"/>
          </p:cNvSpPr>
          <p:nvPr>
            <p:ph type="body" idx="1"/>
          </p:nvPr>
        </p:nvSpPr>
        <p:spPr/>
        <p:txBody>
          <a:bodyPr/>
          <a:lstStyle/>
          <a:p>
            <a:r>
              <a:rPr lang="en-US" sz="2600" dirty="0">
                <a:solidFill>
                  <a:schemeClr val="tx1"/>
                </a:solidFill>
              </a:rPr>
              <a:t>Technician A says a wheel with 0 percent slip is locked up. </a:t>
            </a:r>
          </a:p>
          <a:p>
            <a:r>
              <a:rPr lang="en-US" sz="2600" dirty="0">
                <a:solidFill>
                  <a:schemeClr val="tx1"/>
                </a:solidFill>
              </a:rPr>
              <a:t>Technician B says a wheel with 100 percent slip is locked up. </a:t>
            </a:r>
          </a:p>
          <a:p>
            <a:pPr marL="85725" indent="0">
              <a:buNone/>
            </a:pPr>
            <a:r>
              <a:rPr lang="en-US" sz="2600" dirty="0">
                <a:solidFill>
                  <a:schemeClr val="tx1"/>
                </a:solidFill>
              </a:rPr>
              <a:t>Who is correct?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Answer (1 of 3)</a:t>
            </a:r>
          </a:p>
        </p:txBody>
      </p:sp>
      <p:sp>
        <p:nvSpPr>
          <p:cNvPr id="4" name="Content Placeholder 3"/>
          <p:cNvSpPr>
            <a:spLocks noGrp="1"/>
          </p:cNvSpPr>
          <p:nvPr>
            <p:ph type="body" idx="1"/>
          </p:nvPr>
        </p:nvSpPr>
        <p:spPr/>
        <p:txBody>
          <a:bodyPr/>
          <a:lstStyle/>
          <a:p>
            <a:r>
              <a:rPr lang="en-US" sz="2600" dirty="0">
                <a:solidFill>
                  <a:schemeClr val="tx1"/>
                </a:solidFill>
              </a:rPr>
              <a:t>Technician A says a wheel with 0 percent slip is locked up. </a:t>
            </a:r>
          </a:p>
          <a:p>
            <a:r>
              <a:rPr lang="en-US" sz="2600" dirty="0">
                <a:solidFill>
                  <a:schemeClr val="tx1"/>
                </a:solidFill>
              </a:rPr>
              <a:t>Technician B says a wheel with 100 percent slip is locked up. </a:t>
            </a:r>
          </a:p>
          <a:p>
            <a:pPr marL="85725" indent="0">
              <a:spcAft>
                <a:spcPts val="1800"/>
              </a:spcAft>
              <a:buNone/>
            </a:pPr>
            <a:r>
              <a:rPr lang="en-US" sz="2600" dirty="0">
                <a:solidFill>
                  <a:schemeClr val="tx1"/>
                </a:solidFill>
              </a:rPr>
              <a:t>Who is correct?</a:t>
            </a:r>
          </a:p>
          <a:p>
            <a:pPr marL="85725" indent="0">
              <a:buNone/>
            </a:pPr>
            <a:r>
              <a:rPr lang="en-US" sz="2600" dirty="0">
                <a:solidFill>
                  <a:schemeClr val="tx1"/>
                </a:solidFill>
              </a:rPr>
              <a:t>	Answer: Technician B only</a:t>
            </a:r>
          </a:p>
        </p:txBody>
      </p:sp>
    </p:spTree>
    <p:extLst>
      <p:ext uri="{BB962C8B-B14F-4D97-AF65-F5344CB8AC3E}">
        <p14:creationId xmlns:p14="http://schemas.microsoft.com/office/powerpoint/2010/main" val="1777728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Pedal Feel</a:t>
            </a:r>
          </a:p>
        </p:txBody>
      </p:sp>
      <p:sp>
        <p:nvSpPr>
          <p:cNvPr id="8195" name="Content Placeholder 2"/>
          <p:cNvSpPr>
            <a:spLocks noGrp="1"/>
          </p:cNvSpPr>
          <p:nvPr>
            <p:ph type="body" idx="1"/>
          </p:nvPr>
        </p:nvSpPr>
        <p:spPr/>
        <p:txBody>
          <a:bodyPr/>
          <a:lstStyle/>
          <a:p>
            <a:r>
              <a:rPr lang="en-US" sz="2600" dirty="0"/>
              <a:t>Different than a non-ABS equipped vehicle</a:t>
            </a:r>
          </a:p>
          <a:p>
            <a:r>
              <a:rPr lang="en-US" sz="2600" dirty="0"/>
              <a:t>When the ABS activates, a small bump followed by rapid pedal pulsations</a:t>
            </a:r>
          </a:p>
          <a:p>
            <a:r>
              <a:rPr lang="en-US" sz="2600" dirty="0"/>
              <a:t>The pedal may drop lower than normal under ABS braking.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a:t>Hydraulic Components</a:t>
            </a:r>
          </a:p>
        </p:txBody>
      </p:sp>
      <p:sp>
        <p:nvSpPr>
          <p:cNvPr id="9219" name="Content Placeholder 2"/>
          <p:cNvSpPr>
            <a:spLocks noGrp="1"/>
          </p:cNvSpPr>
          <p:nvPr>
            <p:ph type="body" idx="1"/>
          </p:nvPr>
        </p:nvSpPr>
        <p:spPr/>
        <p:txBody>
          <a:bodyPr/>
          <a:lstStyle/>
          <a:p>
            <a:pPr marL="0" indent="0">
              <a:spcAft>
                <a:spcPts val="400"/>
              </a:spcAft>
              <a:buNone/>
            </a:pPr>
            <a:r>
              <a:rPr lang="en-US" sz="2400" b="1" dirty="0">
                <a:solidFill>
                  <a:schemeClr val="tx1"/>
                </a:solidFill>
                <a:latin typeface="Work Sans" pitchFamily="2" charset="0"/>
                <a:ea typeface="Times New Roman" panose="02020603050405020304" pitchFamily="18" charset="0"/>
                <a:cs typeface="HelveticaNeueLTStd-Cn"/>
              </a:rPr>
              <a:t>53-03 Describe the operation of the major components of an antilock brake system.</a:t>
            </a:r>
            <a:endParaRPr lang="en-US" sz="2400" b="1" dirty="0">
              <a:solidFill>
                <a:schemeClr val="tx1"/>
              </a:solidFill>
            </a:endParaRPr>
          </a:p>
          <a:p>
            <a:pPr>
              <a:spcAft>
                <a:spcPts val="400"/>
              </a:spcAft>
            </a:pPr>
            <a:r>
              <a:rPr lang="en-US" sz="2400" dirty="0">
                <a:solidFill>
                  <a:schemeClr val="tx1"/>
                </a:solidFill>
              </a:rPr>
              <a:t>Accumulator</a:t>
            </a:r>
          </a:p>
          <a:p>
            <a:pPr lvl="1">
              <a:spcAft>
                <a:spcPts val="400"/>
              </a:spcAft>
            </a:pPr>
            <a:r>
              <a:rPr lang="en-US" sz="2200" dirty="0">
                <a:solidFill>
                  <a:schemeClr val="tx1"/>
                </a:solidFill>
              </a:rPr>
              <a:t>Stores fluid to maintain high pressure and provide residual pressure for power-assist</a:t>
            </a:r>
          </a:p>
          <a:p>
            <a:pPr>
              <a:spcAft>
                <a:spcPts val="400"/>
              </a:spcAft>
            </a:pPr>
            <a:r>
              <a:rPr lang="en-US" sz="2400" dirty="0">
                <a:solidFill>
                  <a:schemeClr val="tx1"/>
                </a:solidFill>
              </a:rPr>
              <a:t>Control Valve Assembly</a:t>
            </a:r>
          </a:p>
          <a:p>
            <a:pPr lvl="1">
              <a:spcAft>
                <a:spcPts val="400"/>
              </a:spcAft>
            </a:pPr>
            <a:r>
              <a:rPr lang="en-US" sz="2200" dirty="0">
                <a:solidFill>
                  <a:schemeClr val="tx1"/>
                </a:solidFill>
              </a:rPr>
              <a:t>Controls the release and application of brake system pressure to the wheel brake assemblies</a:t>
            </a:r>
          </a:p>
          <a:p>
            <a:pPr>
              <a:spcAft>
                <a:spcPts val="400"/>
              </a:spcAft>
            </a:pPr>
            <a:r>
              <a:rPr lang="en-US" sz="2400" dirty="0">
                <a:solidFill>
                  <a:schemeClr val="tx1"/>
                </a:solidFill>
              </a:rPr>
              <a:t>Booster Pump</a:t>
            </a:r>
          </a:p>
          <a:p>
            <a:pPr lvl="1">
              <a:spcAft>
                <a:spcPts val="400"/>
              </a:spcAft>
            </a:pPr>
            <a:r>
              <a:rPr lang="en-US" sz="2200" dirty="0">
                <a:solidFill>
                  <a:schemeClr val="tx1"/>
                </a:solidFill>
              </a:rPr>
              <a:t>Provides pressurized hydraulic fluid for the ABS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Accumulators</a:t>
            </a:r>
          </a:p>
        </p:txBody>
      </p:sp>
      <p:pic>
        <p:nvPicPr>
          <p:cNvPr id="10" name="Picture Placeholder 9" descr="An accumulator in a vehicle consists of a master brake cylinder connected to an electric pump through multiple cables.">
            <a:extLst>
              <a:ext uri="{FF2B5EF4-FFF2-40B4-BE49-F238E27FC236}">
                <a16:creationId xmlns:a16="http://schemas.microsoft.com/office/drawing/2014/main" id="{FB60C752-28EE-4974-6484-B5AC0E5B96A5}"/>
              </a:ext>
            </a:extLst>
          </p:cNvPr>
          <p:cNvPicPr>
            <a:picLocks noGrp="1" noChangeAspect="1"/>
          </p:cNvPicPr>
          <p:nvPr>
            <p:ph type="pic" sz="quarter" idx="11"/>
          </p:nvPr>
        </p:nvPicPr>
        <p:blipFill>
          <a:blip r:embed="rId3"/>
          <a:srcRect b="12348"/>
          <a:stretch/>
        </p:blipFill>
        <p:spPr>
          <a:xfrm>
            <a:off x="3262363" y="1618771"/>
            <a:ext cx="5667274" cy="42968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Hydraulic </a:t>
            </a:r>
            <a:r>
              <a:rPr lang="en-US"/>
              <a:t>Components (1 of 2)</a:t>
            </a:r>
            <a:endParaRPr lang="en-US" dirty="0"/>
          </a:p>
        </p:txBody>
      </p:sp>
      <p:sp>
        <p:nvSpPr>
          <p:cNvPr id="13315" name="Rectangle 3"/>
          <p:cNvSpPr>
            <a:spLocks noGrp="1" noChangeArrowheads="1"/>
          </p:cNvSpPr>
          <p:nvPr>
            <p:ph type="body" idx="1"/>
          </p:nvPr>
        </p:nvSpPr>
        <p:spPr/>
        <p:txBody>
          <a:bodyPr/>
          <a:lstStyle/>
          <a:p>
            <a:r>
              <a:rPr lang="en-US" sz="2600" dirty="0"/>
              <a:t>Fluid Accumulator</a:t>
            </a:r>
          </a:p>
          <a:p>
            <a:pPr lvl="1"/>
            <a:r>
              <a:rPr lang="en-US" dirty="0"/>
              <a:t>Stores fluid that is removed from the wheel circuits during the ABS cycle</a:t>
            </a:r>
          </a:p>
          <a:p>
            <a:r>
              <a:rPr lang="en-US" sz="2600" dirty="0"/>
              <a:t>Hydraulic Control Unit</a:t>
            </a:r>
          </a:p>
          <a:p>
            <a:pPr lvl="1"/>
            <a:r>
              <a:rPr lang="en-US" dirty="0"/>
              <a:t>Contains solenoid valves, fluid accumulators, pump, and electric motor in one unit</a:t>
            </a:r>
          </a:p>
          <a:p>
            <a:r>
              <a:rPr lang="en-US" sz="2600" dirty="0"/>
              <a:t>Booster/Master Cylinder Assembly</a:t>
            </a:r>
          </a:p>
          <a:p>
            <a:pPr lvl="1"/>
            <a:r>
              <a:rPr lang="en-US" dirty="0"/>
              <a:t>Contains the valves and pistons used to modulate hydraulic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Hydraulic </a:t>
            </a:r>
            <a:r>
              <a:rPr lang="en-US"/>
              <a:t>Components (2 of 2) </a:t>
            </a:r>
            <a:endParaRPr lang="en-US" dirty="0"/>
          </a:p>
        </p:txBody>
      </p:sp>
      <p:sp>
        <p:nvSpPr>
          <p:cNvPr id="15363" name="Rectangle 3"/>
          <p:cNvSpPr>
            <a:spLocks noGrp="1" noChangeArrowheads="1"/>
          </p:cNvSpPr>
          <p:nvPr>
            <p:ph type="body" idx="1"/>
          </p:nvPr>
        </p:nvSpPr>
        <p:spPr/>
        <p:txBody>
          <a:bodyPr/>
          <a:lstStyle/>
          <a:p>
            <a:r>
              <a:rPr lang="en-US" sz="2600" dirty="0">
                <a:solidFill>
                  <a:schemeClr val="tx1"/>
                </a:solidFill>
              </a:rPr>
              <a:t>Modulator Unit</a:t>
            </a:r>
          </a:p>
          <a:p>
            <a:pPr lvl="1"/>
            <a:r>
              <a:rPr lang="en-US" dirty="0">
                <a:solidFill>
                  <a:schemeClr val="tx1"/>
                </a:solidFill>
              </a:rPr>
              <a:t>Controls the flow of fluid to the individual wheel circuits</a:t>
            </a:r>
          </a:p>
          <a:p>
            <a:r>
              <a:rPr lang="en-US" sz="2600" dirty="0">
                <a:solidFill>
                  <a:schemeClr val="tx1"/>
                </a:solidFill>
              </a:rPr>
              <a:t>Hydraulic Valves</a:t>
            </a:r>
          </a:p>
          <a:p>
            <a:pPr lvl="1"/>
            <a:r>
              <a:rPr lang="en-US" dirty="0">
                <a:solidFill>
                  <a:schemeClr val="tx1"/>
                </a:solidFill>
              </a:rPr>
              <a:t>Control and direct hydraulic pressure</a:t>
            </a:r>
          </a:p>
          <a:p>
            <a:pPr marL="1079500" lvl="2" indent="-355600">
              <a:buSzPct val="100000"/>
            </a:pPr>
            <a:r>
              <a:rPr lang="en-US" dirty="0">
                <a:solidFill>
                  <a:schemeClr val="tx1"/>
                </a:solidFill>
              </a:rPr>
              <a:t>Solenoid valves</a:t>
            </a:r>
          </a:p>
          <a:p>
            <a:pPr marL="1079500" lvl="2" indent="-355600">
              <a:buSzPct val="100000"/>
            </a:pPr>
            <a:r>
              <a:rPr lang="en-US" dirty="0">
                <a:solidFill>
                  <a:schemeClr val="tx1"/>
                </a:solidFill>
              </a:rPr>
              <a:t>Main valve</a:t>
            </a:r>
          </a:p>
          <a:p>
            <a:pPr marL="1079500" lvl="2" indent="-355600">
              <a:buSzPct val="100000"/>
            </a:pPr>
            <a:r>
              <a:rPr lang="en-US" dirty="0">
                <a:solidFill>
                  <a:schemeClr val="tx1"/>
                </a:solidFill>
              </a:rPr>
              <a:t>Wheel circuit valves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dirty="0"/>
              <a:t>Electrical/Electronic Components (1 of 5)</a:t>
            </a:r>
          </a:p>
        </p:txBody>
      </p:sp>
      <p:sp>
        <p:nvSpPr>
          <p:cNvPr id="16387" name="Rectangle 3"/>
          <p:cNvSpPr>
            <a:spLocks noGrp="1" noChangeArrowheads="1"/>
          </p:cNvSpPr>
          <p:nvPr>
            <p:ph type="body" idx="1"/>
          </p:nvPr>
        </p:nvSpPr>
        <p:spPr>
          <a:xfrm>
            <a:off x="476845" y="1791463"/>
            <a:ext cx="6241455" cy="3275073"/>
          </a:xfrm>
        </p:spPr>
        <p:txBody>
          <a:bodyPr>
            <a:normAutofit/>
          </a:bodyPr>
          <a:lstStyle/>
          <a:p>
            <a:r>
              <a:rPr lang="en-US" sz="2600" dirty="0">
                <a:solidFill>
                  <a:schemeClr val="tx1"/>
                </a:solidFill>
              </a:rPr>
              <a:t>Control Module</a:t>
            </a:r>
          </a:p>
          <a:p>
            <a:pPr lvl="1"/>
            <a:r>
              <a:rPr lang="en-US" dirty="0">
                <a:solidFill>
                  <a:schemeClr val="tx1"/>
                </a:solidFill>
              </a:rPr>
              <a:t>Controls ABS operation and monitors the system</a:t>
            </a:r>
          </a:p>
        </p:txBody>
      </p:sp>
      <p:pic>
        <p:nvPicPr>
          <p:cNvPr id="8" name="Picture Placeholder 7" descr="An A B S control module is mounted to the Hydraulic control unit.">
            <a:extLst>
              <a:ext uri="{FF2B5EF4-FFF2-40B4-BE49-F238E27FC236}">
                <a16:creationId xmlns:a16="http://schemas.microsoft.com/office/drawing/2014/main" id="{8F563198-022F-BD19-331E-8221918948D0}"/>
              </a:ext>
            </a:extLst>
          </p:cNvPr>
          <p:cNvPicPr>
            <a:picLocks noGrp="1" noChangeAspect="1"/>
          </p:cNvPicPr>
          <p:nvPr>
            <p:ph type="pic" sz="quarter" idx="11"/>
          </p:nvPr>
        </p:nvPicPr>
        <p:blipFill>
          <a:blip r:embed="rId3"/>
          <a:srcRect b="9420"/>
          <a:stretch/>
        </p:blipFill>
        <p:spPr>
          <a:xfrm>
            <a:off x="7109975" y="1719353"/>
            <a:ext cx="3915651" cy="37773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Electrical/Electronic Components (2 of 5)</a:t>
            </a:r>
          </a:p>
        </p:txBody>
      </p:sp>
      <p:sp>
        <p:nvSpPr>
          <p:cNvPr id="16387" name="Rectangle 3"/>
          <p:cNvSpPr>
            <a:spLocks noGrp="1" noChangeArrowheads="1"/>
          </p:cNvSpPr>
          <p:nvPr>
            <p:ph type="body" idx="1"/>
          </p:nvPr>
        </p:nvSpPr>
        <p:spPr/>
        <p:txBody>
          <a:bodyPr/>
          <a:lstStyle/>
          <a:p>
            <a:r>
              <a:rPr lang="en-US" sz="2600" dirty="0">
                <a:solidFill>
                  <a:schemeClr val="tx1"/>
                </a:solidFill>
              </a:rPr>
              <a:t>Brake Pedal Sensor</a:t>
            </a:r>
          </a:p>
          <a:p>
            <a:pPr lvl="1"/>
            <a:r>
              <a:rPr lang="en-US" dirty="0">
                <a:solidFill>
                  <a:schemeClr val="tx1"/>
                </a:solidFill>
              </a:rPr>
              <a:t>Signals the control module when the brake is applied</a:t>
            </a:r>
          </a:p>
          <a:p>
            <a:r>
              <a:rPr lang="en-US" sz="2600" dirty="0">
                <a:solidFill>
                  <a:schemeClr val="tx1"/>
                </a:solidFill>
              </a:rPr>
              <a:t>Data Link Connector (DLC)</a:t>
            </a:r>
          </a:p>
          <a:p>
            <a:pPr lvl="1"/>
            <a:r>
              <a:rPr lang="en-US" dirty="0">
                <a:solidFill>
                  <a:schemeClr val="tx1"/>
                </a:solidFill>
              </a:rPr>
              <a:t>Provides access to and/or control of vehicle information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a:spLocks noGrp="1"/>
          </p:cNvSpPr>
          <p:nvPr>
            <p:ph type="title"/>
          </p:nvPr>
        </p:nvSpPr>
        <p:spPr/>
        <p:txBody>
          <a:bodyPr>
            <a:noAutofit/>
          </a:bodyPr>
          <a:lstStyle/>
          <a:p>
            <a:r>
              <a:rPr lang="en-US" dirty="0"/>
              <a:t>Electrical/Electronic Components (3 of 5)</a:t>
            </a:r>
          </a:p>
        </p:txBody>
      </p:sp>
      <p:sp>
        <p:nvSpPr>
          <p:cNvPr id="17411" name="Rectangle 3"/>
          <p:cNvSpPr>
            <a:spLocks noGrp="1" noChangeArrowheads="1"/>
          </p:cNvSpPr>
          <p:nvPr>
            <p:ph type="body" idx="1"/>
          </p:nvPr>
        </p:nvSpPr>
        <p:spPr/>
        <p:txBody>
          <a:bodyPr/>
          <a:lstStyle/>
          <a:p>
            <a:r>
              <a:rPr lang="en-US" sz="2600" dirty="0">
                <a:solidFill>
                  <a:schemeClr val="tx1"/>
                </a:solidFill>
              </a:rPr>
              <a:t>Indicator Lights</a:t>
            </a:r>
          </a:p>
          <a:p>
            <a:pPr lvl="1"/>
            <a:r>
              <a:rPr lang="en-US" dirty="0">
                <a:solidFill>
                  <a:schemeClr val="tx1"/>
                </a:solidFill>
              </a:rPr>
              <a:t>All vehicles have a red brake.</a:t>
            </a:r>
          </a:p>
          <a:p>
            <a:pPr lvl="1"/>
            <a:r>
              <a:rPr lang="en-US" dirty="0">
                <a:solidFill>
                  <a:schemeClr val="tx1"/>
                </a:solidFill>
              </a:rPr>
              <a:t>A separate light is used for ABS faults.</a:t>
            </a:r>
          </a:p>
          <a:p>
            <a:r>
              <a:rPr lang="en-US" sz="2600" dirty="0">
                <a:solidFill>
                  <a:schemeClr val="tx1"/>
                </a:solidFill>
              </a:rPr>
              <a:t>Lateral Position Sensor</a:t>
            </a:r>
          </a:p>
          <a:p>
            <a:pPr lvl="1"/>
            <a:r>
              <a:rPr lang="en-US" dirty="0">
                <a:solidFill>
                  <a:schemeClr val="tx1"/>
                </a:solidFill>
              </a:rPr>
              <a:t>Is used on some systems to monitor sideways movement of the vehicle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1BF8-F42B-B6A3-AC65-C0A52A5679EA}"/>
              </a:ext>
            </a:extLst>
          </p:cNvPr>
          <p:cNvSpPr>
            <a:spLocks noGrp="1"/>
          </p:cNvSpPr>
          <p:nvPr>
            <p:ph type="title"/>
          </p:nvPr>
        </p:nvSpPr>
        <p:spPr/>
        <p:txBody>
          <a:bodyPr/>
          <a:lstStyle/>
          <a:p>
            <a:r>
              <a:rPr lang="en-US" dirty="0"/>
              <a:t>Electrical/Electronic Components (4 of 5)</a:t>
            </a:r>
            <a:endParaRPr lang="en-IN" dirty="0"/>
          </a:p>
        </p:txBody>
      </p:sp>
      <p:pic>
        <p:nvPicPr>
          <p:cNvPr id="9" name="Picture Placeholder 8" descr="An amber warning lamp lights when there is a fault in the A B S. A circular warning lamp with divisions ranging from 0 to 160, in the clockwise direction, with increments of 20, in meters per hour. Another smaller circular reading with divisions from 0 to 260, in increments of 20, in kilometers per hour. The needle points at 0 on the outer circle. The A B S, BRAKE, signs are highlighted on the warning lamp.">
            <a:extLst>
              <a:ext uri="{FF2B5EF4-FFF2-40B4-BE49-F238E27FC236}">
                <a16:creationId xmlns:a16="http://schemas.microsoft.com/office/drawing/2014/main" id="{5263459C-407B-DF7A-6DC1-5DA9C91292DE}"/>
              </a:ext>
            </a:extLst>
          </p:cNvPr>
          <p:cNvPicPr>
            <a:picLocks noGrp="1" noChangeAspect="1"/>
          </p:cNvPicPr>
          <p:nvPr>
            <p:ph type="pic" sz="quarter" idx="11"/>
          </p:nvPr>
        </p:nvPicPr>
        <p:blipFill>
          <a:blip r:embed="rId3"/>
          <a:srcRect b="19598"/>
          <a:stretch/>
        </p:blipFill>
        <p:spPr>
          <a:xfrm>
            <a:off x="4012095" y="1701675"/>
            <a:ext cx="4167808" cy="41174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a:spLocks noGrp="1"/>
          </p:cNvSpPr>
          <p:nvPr>
            <p:ph type="title"/>
          </p:nvPr>
        </p:nvSpPr>
        <p:spPr/>
        <p:txBody>
          <a:bodyPr>
            <a:noAutofit/>
          </a:bodyPr>
          <a:lstStyle/>
          <a:p>
            <a:r>
              <a:rPr lang="en-US" dirty="0"/>
              <a:t>Electrical/Electronic Components (5 of 5)  </a:t>
            </a:r>
          </a:p>
        </p:txBody>
      </p:sp>
      <p:sp>
        <p:nvSpPr>
          <p:cNvPr id="19459" name="Rectangle 3"/>
          <p:cNvSpPr>
            <a:spLocks noGrp="1" noChangeArrowheads="1"/>
          </p:cNvSpPr>
          <p:nvPr>
            <p:ph type="body" idx="1"/>
          </p:nvPr>
        </p:nvSpPr>
        <p:spPr/>
        <p:txBody>
          <a:bodyPr/>
          <a:lstStyle/>
          <a:p>
            <a:r>
              <a:rPr lang="en-US" dirty="0"/>
              <a:t>Pressure Switch</a:t>
            </a:r>
          </a:p>
          <a:p>
            <a:pPr lvl="1"/>
            <a:r>
              <a:rPr lang="en-US" dirty="0"/>
              <a:t>Controls pump operation and the low pressure warning lamp</a:t>
            </a:r>
          </a:p>
          <a:p>
            <a:r>
              <a:rPr lang="en-US" dirty="0"/>
              <a:t>Pressure Differential Switch</a:t>
            </a:r>
          </a:p>
          <a:p>
            <a:pPr lvl="1"/>
            <a:r>
              <a:rPr lang="en-US" dirty="0"/>
              <a:t>Sends a signal to the control module when there is an undesirable difference of pressure at the wheel brake units</a:t>
            </a:r>
          </a:p>
          <a:p>
            <a:r>
              <a:rPr lang="en-US" dirty="0"/>
              <a:t>Wheel Speed Sensors</a:t>
            </a:r>
          </a:p>
          <a:p>
            <a:pPr lvl="1"/>
            <a:r>
              <a:rPr lang="en-US" dirty="0"/>
              <a:t>Sends wheel speed information to the ABS module</a:t>
            </a:r>
          </a:p>
          <a:p>
            <a:pPr lvl="1"/>
            <a:r>
              <a:rPr lang="en-US" dirty="0"/>
              <a:t>May generate an AC or DC signal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Wheel Speed Sensors</a:t>
            </a:r>
          </a:p>
        </p:txBody>
      </p:sp>
      <p:pic>
        <p:nvPicPr>
          <p:cNvPr id="9" name="Picture Placeholder 8" descr="A wheel-speed sensor is mounted close to toothed rings of drive shafts and gears.">
            <a:extLst>
              <a:ext uri="{FF2B5EF4-FFF2-40B4-BE49-F238E27FC236}">
                <a16:creationId xmlns:a16="http://schemas.microsoft.com/office/drawing/2014/main" id="{1C6F8585-12C6-BE0D-11E6-E8D744F95B08}"/>
              </a:ext>
            </a:extLst>
          </p:cNvPr>
          <p:cNvPicPr>
            <a:picLocks noGrp="1" noChangeAspect="1"/>
          </p:cNvPicPr>
          <p:nvPr>
            <p:ph type="pic" sz="quarter" idx="11"/>
          </p:nvPr>
        </p:nvPicPr>
        <p:blipFill>
          <a:blip r:embed="rId3"/>
          <a:srcRect b="12227"/>
          <a:stretch/>
        </p:blipFill>
        <p:spPr>
          <a:xfrm>
            <a:off x="3610081" y="1809296"/>
            <a:ext cx="4971838" cy="377477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8B51C-A7F2-25DB-B4DB-AFE65EA6691E}"/>
              </a:ext>
            </a:extLst>
          </p:cNvPr>
          <p:cNvSpPr>
            <a:spLocks noGrp="1"/>
          </p:cNvSpPr>
          <p:nvPr>
            <p:ph type="title"/>
          </p:nvPr>
        </p:nvSpPr>
        <p:spPr/>
        <p:txBody>
          <a:bodyPr/>
          <a:lstStyle/>
          <a:p>
            <a:r>
              <a:rPr lang="en-IN" dirty="0"/>
              <a:t>Active Sensors</a:t>
            </a:r>
          </a:p>
        </p:txBody>
      </p:sp>
      <p:pic>
        <p:nvPicPr>
          <p:cNvPr id="9" name="Picture Placeholder 8" descr="Active sensors have two or three wires and are either Hall-effect that produces a square-wave digital signal. The first one depicts the teeth aligned with the sensor. A dashed horizontal line is along the teeth and the sensor. A controller unit is adjacent to the sensor. The controller has three connections. The first one is labeled 12 Volts outside the controller. The second and third are as labeled within it: 5 Volts reference and Return signal (14 m A, 1.65 volts). The connections from the sensor go to the 5 Volts and Return signal. The second one depicts the teeth away from the sensor. A dashed horizontal line goes along the groove and the sensor. A controller unit is adjacent to the sensor. The controller has three connections. The first one is labeled 12 Volts outside the controller. The second and third are as labeled within it: 5 Volts reference and Return signal (7 m A, 0.9 volt). The connections from the sensor go to the 5 Volts and Return signal.">
            <a:extLst>
              <a:ext uri="{FF2B5EF4-FFF2-40B4-BE49-F238E27FC236}">
                <a16:creationId xmlns:a16="http://schemas.microsoft.com/office/drawing/2014/main" id="{2FF01250-39E9-E230-4B9E-DCE5F951D30C}"/>
              </a:ext>
            </a:extLst>
          </p:cNvPr>
          <p:cNvPicPr>
            <a:picLocks noGrp="1" noChangeAspect="1"/>
          </p:cNvPicPr>
          <p:nvPr>
            <p:ph type="pic" sz="quarter" idx="11"/>
          </p:nvPr>
        </p:nvPicPr>
        <p:blipFill>
          <a:blip r:embed="rId3"/>
          <a:srcRect b="15428"/>
          <a:stretch/>
        </p:blipFill>
        <p:spPr>
          <a:xfrm>
            <a:off x="3238500" y="1749341"/>
            <a:ext cx="5715000" cy="421304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a:bodyPr>
          <a:lstStyle/>
          <a:p>
            <a:r>
              <a:rPr lang="en-US" dirty="0">
                <a:solidFill>
                  <a:schemeClr val="tx1"/>
                </a:solidFill>
              </a:rPr>
              <a:t>ABS Is Part of the CAN Network</a:t>
            </a:r>
          </a:p>
        </p:txBody>
      </p:sp>
      <p:pic>
        <p:nvPicPr>
          <p:cNvPr id="8" name="Picture Placeholder 7" descr="An electronic circuit and wiring of an A B S control unit tied to the C A N Network. The circuit depicts a Data Link connector (D L C) having connections numbered from 1 to 16. Connections in data link connector are in 2 rows of 8 connections, 4 in each row. Connections 4 and 5 are grounded with the labels G 200 and G 101. 3 and 11 are connected to two Module communications network labeled B and A respectively. 13 is connected to a Powertrain control (P C M) module numbered 44. 14 is connected to 3 parallel modules. The first module is labeled Transmission assembly. The connecting points are numbered 2 and 6 and the C A N network between them is labeled C 199. Both 2 and 6 are further connected to a Powertrain control (P C M) module and the connecting points are numbered 23 and 11 and the C A N network between them is labeled C 175 B. The connection between 14 and the Transmission assembly is labeled V D B 05. The second parallel module from 14 is connected to a Restraints control module. The connecting points are numbered 17 and 18 and the C A N network between them is labeled C 310 B. The communication between 14 and the Restraints control module is labeled H S C A N minus. Both 17 and 18 are further connected to an A B S control module and the communication points are numbered 13 and 12, and the C A N network between them is labeled C 155. The third parallel module from 14 is connected to a Four-wheel-drive control module. The connecting points are numbered 1 and 2, and the C A N network between them is labeled C 281 B . Both 1 and 2 are further connected to an Occupant classification sensor (O C S) and the communication points are numbered 9 and 18, and the C A N network between them is labeled C 3159. The connection labeled 14 also communicates with an instrument cluster module through a communication point numbered 8 at one end, enroute to its communication with the four-wheel-drive control module. Connection 16 of D L C communicates with two fuses in series before terminating in a battery. The fuses are labeled Smart junction box F 4 (50 A) and Battery junction box F 3 (50 A). Connection 6 of the D L C communicates with the instrument cluster module through the communication point numbered 7 and the C A N labeled C 220 through V D B 04 and H S C A N plus.">
            <a:extLst>
              <a:ext uri="{FF2B5EF4-FFF2-40B4-BE49-F238E27FC236}">
                <a16:creationId xmlns:a16="http://schemas.microsoft.com/office/drawing/2014/main" id="{DE98A8C0-114D-FC5C-78FE-CD9E68A824C3}"/>
              </a:ext>
            </a:extLst>
          </p:cNvPr>
          <p:cNvPicPr>
            <a:picLocks noGrp="1" noChangeAspect="1"/>
          </p:cNvPicPr>
          <p:nvPr>
            <p:ph type="pic" sz="quarter" idx="11"/>
          </p:nvPr>
        </p:nvPicPr>
        <p:blipFill>
          <a:blip r:embed="rId3"/>
          <a:srcRect b="6045"/>
          <a:stretch/>
        </p:blipFill>
        <p:spPr>
          <a:xfrm>
            <a:off x="3250457" y="1513323"/>
            <a:ext cx="5691087" cy="436677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Basic ABS Operation</a:t>
            </a:r>
          </a:p>
        </p:txBody>
      </p:sp>
      <p:sp>
        <p:nvSpPr>
          <p:cNvPr id="25603" name="Content Placeholder 2"/>
          <p:cNvSpPr>
            <a:spLocks noGrp="1"/>
          </p:cNvSpPr>
          <p:nvPr>
            <p:ph type="body" idx="1"/>
          </p:nvPr>
        </p:nvSpPr>
        <p:spPr/>
        <p:txBody>
          <a:bodyPr/>
          <a:lstStyle/>
          <a:p>
            <a:r>
              <a:rPr lang="en-US" sz="2600" dirty="0">
                <a:solidFill>
                  <a:schemeClr val="tx1"/>
                </a:solidFill>
                <a:latin typeface="Work Sans" pitchFamily="2" charset="0"/>
              </a:rPr>
              <a:t>The ABS control module calculates the slip rate of the wheels and controls the brake fluid pressure to certain wheel brakes to reach the target slip rate.</a:t>
            </a:r>
          </a:p>
          <a:p>
            <a:pPr algn="l"/>
            <a:r>
              <a:rPr lang="en-US" sz="2600" dirty="0">
                <a:solidFill>
                  <a:schemeClr val="tx1"/>
                </a:solidFill>
                <a:latin typeface="Work Sans" pitchFamily="2" charset="0"/>
              </a:rPr>
              <a:t>If the control module senses that a wheel is about to lock, based on input sensor data, it pulses the normally open inlet solenoid valve closed for that circuit.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ABS Types</a:t>
            </a:r>
          </a:p>
        </p:txBody>
      </p:sp>
      <p:sp>
        <p:nvSpPr>
          <p:cNvPr id="26627" name="Rectangle 3"/>
          <p:cNvSpPr>
            <a:spLocks noGrp="1" noChangeArrowheads="1"/>
          </p:cNvSpPr>
          <p:nvPr>
            <p:ph type="body" idx="1"/>
          </p:nvPr>
        </p:nvSpPr>
        <p:spPr/>
        <p:txBody>
          <a:bodyPr/>
          <a:lstStyle/>
          <a:p>
            <a:pPr marL="85725" indent="0">
              <a:buNone/>
            </a:pPr>
            <a:r>
              <a:rPr lang="en-US" b="1" dirty="0">
                <a:solidFill>
                  <a:schemeClr val="tx1"/>
                </a:solidFill>
                <a:latin typeface="Work Sans" pitchFamily="2" charset="0"/>
                <a:ea typeface="Times New Roman" panose="02020603050405020304" pitchFamily="18" charset="0"/>
                <a:cs typeface="HelveticaNeueLTStd-Cn"/>
              </a:rPr>
              <a:t>53-02 Describe the differences between an integrated and a nonintegrated antilock brake system.</a:t>
            </a:r>
          </a:p>
          <a:p>
            <a:r>
              <a:rPr lang="en-US" sz="2600" dirty="0">
                <a:solidFill>
                  <a:schemeClr val="tx1"/>
                </a:solidFill>
              </a:rPr>
              <a:t>Integral</a:t>
            </a:r>
          </a:p>
          <a:p>
            <a:pPr lvl="1"/>
            <a:r>
              <a:rPr lang="en-US" dirty="0">
                <a:solidFill>
                  <a:schemeClr val="tx1"/>
                </a:solidFill>
              </a:rPr>
              <a:t>Combines the master cylinder, power booster, and ABS hydraulic circuitry in one unit</a:t>
            </a:r>
          </a:p>
          <a:p>
            <a:r>
              <a:rPr lang="en-US" sz="2600" dirty="0">
                <a:solidFill>
                  <a:schemeClr val="tx1"/>
                </a:solidFill>
              </a:rPr>
              <a:t>Non-Integral</a:t>
            </a:r>
          </a:p>
          <a:p>
            <a:pPr lvl="1"/>
            <a:r>
              <a:rPr lang="en-US" dirty="0">
                <a:solidFill>
                  <a:schemeClr val="tx1"/>
                </a:solidFill>
              </a:rPr>
              <a:t>Uses a conventional power booster and master cylinder</a:t>
            </a:r>
          </a:p>
          <a:p>
            <a:pPr lvl="1"/>
            <a:r>
              <a:rPr lang="en-US" dirty="0">
                <a:solidFill>
                  <a:schemeClr val="tx1"/>
                </a:solidFill>
              </a:rPr>
              <a:t>The electrohydraulic control unit may be mounted to the master cylinder or remotely.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Typical Four-Wheel ABS System</a:t>
            </a:r>
          </a:p>
        </p:txBody>
      </p:sp>
      <p:pic>
        <p:nvPicPr>
          <p:cNvPr id="9" name="Picture Placeholder 8" descr="The basic electrical and hydraulic components of a four-wheel antilock brake system. The labeled parts are as follows: Brake warning lamp (red), Right rear W S S circuit, Left rear W S S circuit, Left front W S S circuit, A B S control unit, Right front W S S circuit, Hydraulic unit, Pump relay, Main relay, and Antilock warning lamp (amber). Blue dashed lines go from the hydraulic unit to the Right front W S S circuit, A B S control unit, Right rear W S S circuit, Antilock warning lamp (amber), and Brake warning lamp (red). Red lines go from the hydraulic unit and all four wheels. The key indicates blue dashed lines as Electrical harnesses and red lines as Hydraulic lines.">
            <a:extLst>
              <a:ext uri="{FF2B5EF4-FFF2-40B4-BE49-F238E27FC236}">
                <a16:creationId xmlns:a16="http://schemas.microsoft.com/office/drawing/2014/main" id="{C4EFACCF-7DA9-801F-E6F3-8FA1D88C456C}"/>
              </a:ext>
            </a:extLst>
          </p:cNvPr>
          <p:cNvPicPr>
            <a:picLocks noGrp="1" noChangeAspect="1"/>
          </p:cNvPicPr>
          <p:nvPr>
            <p:ph type="pic" sz="quarter" idx="11"/>
          </p:nvPr>
        </p:nvPicPr>
        <p:blipFill>
          <a:blip r:embed="rId3"/>
          <a:srcRect b="7977"/>
          <a:stretch/>
        </p:blipFill>
        <p:spPr>
          <a:xfrm>
            <a:off x="3560114" y="2014342"/>
            <a:ext cx="5071772" cy="349260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(2 of 3)</a:t>
            </a:r>
          </a:p>
        </p:txBody>
      </p:sp>
      <p:sp>
        <p:nvSpPr>
          <p:cNvPr id="4" name="Content Placeholder 3"/>
          <p:cNvSpPr>
            <a:spLocks noGrp="1"/>
          </p:cNvSpPr>
          <p:nvPr>
            <p:ph type="body" idx="1"/>
          </p:nvPr>
        </p:nvSpPr>
        <p:spPr/>
        <p:txBody>
          <a:bodyPr/>
          <a:lstStyle/>
          <a:p>
            <a:r>
              <a:rPr lang="en-US" sz="2600" dirty="0"/>
              <a:t>Which of the following is not a common ABS configuration?</a:t>
            </a:r>
          </a:p>
          <a:p>
            <a:pPr lvl="1"/>
            <a:r>
              <a:rPr lang="en-US" dirty="0"/>
              <a:t>One-Channel</a:t>
            </a:r>
          </a:p>
          <a:p>
            <a:pPr lvl="1"/>
            <a:r>
              <a:rPr lang="en-US" dirty="0"/>
              <a:t>Two-Channel</a:t>
            </a:r>
          </a:p>
          <a:p>
            <a:pPr lvl="1"/>
            <a:r>
              <a:rPr lang="en-US" dirty="0"/>
              <a:t>Three-Channel</a:t>
            </a:r>
          </a:p>
          <a:p>
            <a:pPr lvl="1"/>
            <a:r>
              <a:rPr lang="en-US" dirty="0"/>
              <a:t>Four-Channel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Answer (2 of 3)</a:t>
            </a:r>
          </a:p>
        </p:txBody>
      </p:sp>
      <p:sp>
        <p:nvSpPr>
          <p:cNvPr id="4" name="Content Placeholder 3"/>
          <p:cNvSpPr>
            <a:spLocks noGrp="1"/>
          </p:cNvSpPr>
          <p:nvPr>
            <p:ph type="body" idx="1"/>
          </p:nvPr>
        </p:nvSpPr>
        <p:spPr/>
        <p:txBody>
          <a:bodyPr/>
          <a:lstStyle/>
          <a:p>
            <a:pPr>
              <a:spcAft>
                <a:spcPts val="0"/>
              </a:spcAft>
            </a:pPr>
            <a:r>
              <a:rPr lang="en-US" sz="2600" dirty="0"/>
              <a:t>Which of the following is not a common ABS configuration?</a:t>
            </a:r>
          </a:p>
          <a:p>
            <a:pPr lvl="1">
              <a:spcAft>
                <a:spcPts val="0"/>
              </a:spcAft>
            </a:pPr>
            <a:r>
              <a:rPr lang="en-US" dirty="0"/>
              <a:t>One-Channel</a:t>
            </a:r>
          </a:p>
          <a:p>
            <a:pPr lvl="1">
              <a:spcAft>
                <a:spcPts val="0"/>
              </a:spcAft>
            </a:pPr>
            <a:r>
              <a:rPr lang="en-US" dirty="0"/>
              <a:t>Two-Channel</a:t>
            </a:r>
          </a:p>
          <a:p>
            <a:pPr lvl="1">
              <a:spcAft>
                <a:spcPts val="0"/>
              </a:spcAft>
            </a:pPr>
            <a:r>
              <a:rPr lang="en-US" dirty="0"/>
              <a:t>Three-Channel</a:t>
            </a:r>
          </a:p>
          <a:p>
            <a:pPr lvl="1">
              <a:spcAft>
                <a:spcPts val="2400"/>
              </a:spcAft>
            </a:pPr>
            <a:r>
              <a:rPr lang="en-US" dirty="0"/>
              <a:t>Four-Channel</a:t>
            </a:r>
          </a:p>
          <a:p>
            <a:pPr marL="428625" lvl="1" indent="0">
              <a:spcAft>
                <a:spcPts val="0"/>
              </a:spcAft>
              <a:buNone/>
            </a:pPr>
            <a:r>
              <a:rPr lang="en-US" sz="2600" dirty="0"/>
              <a:t>Answer: Two-Channel</a:t>
            </a:r>
          </a:p>
        </p:txBody>
      </p:sp>
    </p:spTree>
    <p:extLst>
      <p:ext uri="{BB962C8B-B14F-4D97-AF65-F5344CB8AC3E}">
        <p14:creationId xmlns:p14="http://schemas.microsoft.com/office/powerpoint/2010/main" val="2301324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ABS Operating Modes</a:t>
            </a:r>
          </a:p>
        </p:txBody>
      </p:sp>
      <p:sp>
        <p:nvSpPr>
          <p:cNvPr id="30723" name="Rectangle 3"/>
          <p:cNvSpPr>
            <a:spLocks noGrp="1" noChangeArrowheads="1"/>
          </p:cNvSpPr>
          <p:nvPr>
            <p:ph type="body" idx="1"/>
          </p:nvPr>
        </p:nvSpPr>
        <p:spPr/>
        <p:txBody>
          <a:bodyPr/>
          <a:lstStyle/>
          <a:p>
            <a:r>
              <a:rPr lang="en-US" sz="2600" dirty="0"/>
              <a:t>Pressure Hold (retaining)</a:t>
            </a:r>
          </a:p>
          <a:p>
            <a:pPr lvl="1"/>
            <a:r>
              <a:rPr lang="en-US" dirty="0"/>
              <a:t>No additional pressure is allowed to reach the brake.</a:t>
            </a:r>
          </a:p>
          <a:p>
            <a:r>
              <a:rPr lang="en-US" sz="2600" dirty="0"/>
              <a:t>Pressure Release (decrease)</a:t>
            </a:r>
          </a:p>
          <a:p>
            <a:pPr lvl="1"/>
            <a:r>
              <a:rPr lang="en-US" dirty="0"/>
              <a:t>Pressure is released so the wheel can turn.</a:t>
            </a:r>
          </a:p>
          <a:p>
            <a:r>
              <a:rPr lang="en-US" sz="2600" dirty="0"/>
              <a:t>Pressure Apply (increase)</a:t>
            </a:r>
          </a:p>
          <a:p>
            <a:pPr lvl="1"/>
            <a:r>
              <a:rPr lang="en-US" dirty="0"/>
              <a:t>Brake pressure is reapplied to the affected brake.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Adaptive Braking</a:t>
            </a:r>
          </a:p>
        </p:txBody>
      </p:sp>
      <p:sp>
        <p:nvSpPr>
          <p:cNvPr id="33795" name="Content Placeholder 2"/>
          <p:cNvSpPr>
            <a:spLocks noGrp="1"/>
          </p:cNvSpPr>
          <p:nvPr>
            <p:ph type="body" idx="1"/>
          </p:nvPr>
        </p:nvSpPr>
        <p:spPr/>
        <p:txBody>
          <a:bodyPr/>
          <a:lstStyle/>
          <a:p>
            <a:r>
              <a:rPr lang="en-US" sz="2600" dirty="0">
                <a:solidFill>
                  <a:schemeClr val="tx1"/>
                </a:solidFill>
              </a:rPr>
              <a:t>Many vehicles are equipped with an electronic brake-assist system.</a:t>
            </a:r>
          </a:p>
          <a:p>
            <a:pPr lvl="1"/>
            <a:r>
              <a:rPr lang="en-US" b="0" i="0" u="none" strike="noStrike" baseline="0" dirty="0">
                <a:solidFill>
                  <a:schemeClr val="tx1"/>
                </a:solidFill>
                <a:latin typeface="Work Sans" pitchFamily="2" charset="0"/>
              </a:rPr>
              <a:t>Can prepare or apply the brakes based on operating conditions.</a:t>
            </a:r>
            <a:endParaRPr lang="en-US" dirty="0">
              <a:solidFill>
                <a:schemeClr val="tx1"/>
              </a:solidFill>
              <a:latin typeface="Work Sans" pitchFamily="2" charset="0"/>
            </a:endParaRPr>
          </a:p>
          <a:p>
            <a:pPr algn="l"/>
            <a:r>
              <a:rPr lang="en-US" sz="2600" dirty="0">
                <a:solidFill>
                  <a:schemeClr val="tx1"/>
                </a:solidFill>
                <a:latin typeface="Work Sans" pitchFamily="2" charset="0"/>
              </a:rPr>
              <a:t>Many systems can determine if an emergency braking event is occurring.</a:t>
            </a:r>
          </a:p>
          <a:p>
            <a:pPr lvl="1"/>
            <a:r>
              <a:rPr lang="en-US" b="0" i="0" u="none" strike="noStrike" baseline="0" dirty="0">
                <a:solidFill>
                  <a:schemeClr val="tx1"/>
                </a:solidFill>
                <a:latin typeface="Work Sans" pitchFamily="2" charset="0"/>
              </a:rPr>
              <a:t>Uses input from multi-axis</a:t>
            </a:r>
            <a:r>
              <a:rPr lang="en-US" dirty="0">
                <a:solidFill>
                  <a:schemeClr val="tx1"/>
                </a:solidFill>
                <a:latin typeface="Work Sans" pitchFamily="2" charset="0"/>
              </a:rPr>
              <a:t> </a:t>
            </a:r>
            <a:r>
              <a:rPr lang="en-US" b="0" i="0" u="none" strike="noStrike" baseline="0" dirty="0">
                <a:solidFill>
                  <a:schemeClr val="tx1"/>
                </a:solidFill>
                <a:latin typeface="Work Sans" pitchFamily="2" charset="0"/>
              </a:rPr>
              <a:t>acceleration sensors, forward-facing cameras, and/or radar signals</a:t>
            </a:r>
            <a:endParaRPr lang="en-US" dirty="0">
              <a:solidFill>
                <a:schemeClr val="tx1"/>
              </a:solidFill>
              <a:latin typeface="Work Sans" pitchFamily="2"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Automatic Traction Control (ATC) (1 of 2)</a:t>
            </a:r>
          </a:p>
        </p:txBody>
      </p:sp>
      <p:sp>
        <p:nvSpPr>
          <p:cNvPr id="34819" name="Content Placeholder 2"/>
          <p:cNvSpPr>
            <a:spLocks noGrp="1"/>
          </p:cNvSpPr>
          <p:nvPr>
            <p:ph type="body" idx="1"/>
          </p:nvPr>
        </p:nvSpPr>
        <p:spPr/>
        <p:txBody>
          <a:bodyPr/>
          <a:lstStyle/>
          <a:p>
            <a:pPr marL="85725" indent="0">
              <a:buNone/>
            </a:pPr>
            <a:r>
              <a:rPr lang="en-US" b="1" dirty="0">
                <a:solidFill>
                  <a:schemeClr val="tx1"/>
                </a:solidFill>
                <a:latin typeface="Work Sans" pitchFamily="2" charset="0"/>
                <a:ea typeface="Times New Roman" panose="02020603050405020304" pitchFamily="18" charset="0"/>
                <a:cs typeface="HelveticaNeueLTStd-Cn"/>
              </a:rPr>
              <a:t>53-04 Describe the operation of the major components of automatic traction and stability control systems.</a:t>
            </a:r>
            <a:endParaRPr lang="en-US" b="1" dirty="0">
              <a:solidFill>
                <a:schemeClr val="tx1"/>
              </a:solidFill>
            </a:endParaRPr>
          </a:p>
          <a:p>
            <a:r>
              <a:rPr lang="en-US" dirty="0">
                <a:solidFill>
                  <a:schemeClr val="tx1"/>
                </a:solidFill>
              </a:rPr>
              <a:t>ATC systems apply the brakes when a drive wheel attempts to spin or lose traction.</a:t>
            </a:r>
          </a:p>
          <a:p>
            <a:r>
              <a:rPr lang="en-US" dirty="0">
                <a:solidFill>
                  <a:schemeClr val="tx1"/>
                </a:solidFill>
              </a:rPr>
              <a:t>ABS controls negative wheel slip.</a:t>
            </a:r>
          </a:p>
          <a:p>
            <a:r>
              <a:rPr lang="en-US" dirty="0">
                <a:solidFill>
                  <a:schemeClr val="tx1"/>
                </a:solidFill>
              </a:rPr>
              <a:t>ATC controls positive wheel slip.</a:t>
            </a:r>
          </a:p>
          <a:p>
            <a:r>
              <a:rPr lang="en-US" dirty="0">
                <a:solidFill>
                  <a:schemeClr val="tx1"/>
                </a:solidFill>
              </a:rPr>
              <a:t>ATC is most helpful on four-wheel and all-wheel drive vehicles.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Automatic Traction Control System</a:t>
            </a:r>
          </a:p>
        </p:txBody>
      </p:sp>
      <p:pic>
        <p:nvPicPr>
          <p:cNvPr id="9" name="Picture Placeholder 8" descr="A typical A T C system. The parts labeled are as follows: A B S and T R A C E C M, T R A C cut switch, Lateral accelerometer, Right rear wheel sensor, Left rear wheel sensor, T R A C actuator, Left front wheel sensor, T R A C pump, Right front wheel sensor, A B S solenoid relay, A B S actuator, T R A C E C M, and E C M. A brake is applied when a drive wheel attempts to spin and lose traction.">
            <a:extLst>
              <a:ext uri="{FF2B5EF4-FFF2-40B4-BE49-F238E27FC236}">
                <a16:creationId xmlns:a16="http://schemas.microsoft.com/office/drawing/2014/main" id="{8B3E6489-20BE-DC80-7020-8B29516D030D}"/>
              </a:ext>
            </a:extLst>
          </p:cNvPr>
          <p:cNvPicPr>
            <a:picLocks noGrp="1" noChangeAspect="1"/>
          </p:cNvPicPr>
          <p:nvPr>
            <p:ph type="pic" sz="quarter" idx="11"/>
          </p:nvPr>
        </p:nvPicPr>
        <p:blipFill>
          <a:blip r:embed="rId3"/>
          <a:srcRect b="4930"/>
          <a:stretch/>
        </p:blipFill>
        <p:spPr>
          <a:xfrm>
            <a:off x="3548624" y="1622840"/>
            <a:ext cx="5094753" cy="405830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a:t>Automatic Traction Control (ATC) (2 of 2)</a:t>
            </a:r>
          </a:p>
        </p:txBody>
      </p:sp>
      <p:sp>
        <p:nvSpPr>
          <p:cNvPr id="36867" name="Content Placeholder 2"/>
          <p:cNvSpPr>
            <a:spLocks noGrp="1"/>
          </p:cNvSpPr>
          <p:nvPr>
            <p:ph type="body" idx="1"/>
          </p:nvPr>
        </p:nvSpPr>
        <p:spPr/>
        <p:txBody>
          <a:bodyPr/>
          <a:lstStyle/>
          <a:p>
            <a:r>
              <a:rPr lang="en-US" sz="2600" dirty="0">
                <a:solidFill>
                  <a:schemeClr val="tx1"/>
                </a:solidFill>
              </a:rPr>
              <a:t>Monitors wheel speed sensors.</a:t>
            </a:r>
          </a:p>
          <a:p>
            <a:r>
              <a:rPr lang="en-US" sz="2600" dirty="0">
                <a:solidFill>
                  <a:schemeClr val="tx1"/>
                </a:solidFill>
              </a:rPr>
              <a:t>If a wheel loses traction, the ATC module applies braking force to that wheel.</a:t>
            </a:r>
          </a:p>
          <a:p>
            <a:r>
              <a:rPr lang="en-US" sz="2600" dirty="0">
                <a:solidFill>
                  <a:schemeClr val="tx1"/>
                </a:solidFill>
              </a:rPr>
              <a:t>May use separate hydraulic controls than the ABS or may be integrated with ABS</a:t>
            </a:r>
          </a:p>
          <a:p>
            <a:r>
              <a:rPr lang="en-US" sz="2600" dirty="0">
                <a:solidFill>
                  <a:schemeClr val="tx1"/>
                </a:solidFill>
              </a:rPr>
              <a:t>Some ATC systems only function at low speed.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5"/>
          <p:cNvSpPr>
            <a:spLocks noGrp="1"/>
          </p:cNvSpPr>
          <p:nvPr>
            <p:ph type="title"/>
          </p:nvPr>
        </p:nvSpPr>
        <p:spPr/>
        <p:txBody>
          <a:bodyPr/>
          <a:lstStyle/>
          <a:p>
            <a:r>
              <a:rPr lang="en-US" dirty="0"/>
              <a:t>Engine Controls</a:t>
            </a:r>
          </a:p>
        </p:txBody>
      </p:sp>
      <p:sp>
        <p:nvSpPr>
          <p:cNvPr id="37891" name="Content Placeholder 6"/>
          <p:cNvSpPr>
            <a:spLocks noGrp="1"/>
          </p:cNvSpPr>
          <p:nvPr>
            <p:ph type="body" idx="1"/>
          </p:nvPr>
        </p:nvSpPr>
        <p:spPr/>
        <p:txBody>
          <a:bodyPr/>
          <a:lstStyle/>
          <a:p>
            <a:r>
              <a:rPr lang="en-US" dirty="0">
                <a:solidFill>
                  <a:schemeClr val="tx1"/>
                </a:solidFill>
              </a:rPr>
              <a:t>More advanced ATC systems work at high speeds.</a:t>
            </a:r>
          </a:p>
          <a:p>
            <a:r>
              <a:rPr lang="en-US" dirty="0">
                <a:solidFill>
                  <a:schemeClr val="tx1"/>
                </a:solidFill>
              </a:rPr>
              <a:t>If wheel slip is detected, the PCM may reduce torque to the drive wheels by</a:t>
            </a:r>
          </a:p>
          <a:p>
            <a:pPr lvl="1"/>
            <a:r>
              <a:rPr lang="en-US" dirty="0"/>
              <a:t>Retarding spark timing</a:t>
            </a:r>
          </a:p>
          <a:p>
            <a:pPr lvl="1"/>
            <a:r>
              <a:rPr lang="en-US" dirty="0"/>
              <a:t>Reducing or cutting of fuel injectors</a:t>
            </a:r>
          </a:p>
          <a:p>
            <a:pPr lvl="1"/>
            <a:r>
              <a:rPr lang="en-US" dirty="0"/>
              <a:t>Increasing EGR flow</a:t>
            </a:r>
          </a:p>
          <a:p>
            <a:pPr lvl="1"/>
            <a:r>
              <a:rPr lang="en-US" dirty="0"/>
              <a:t>Upshifting the transmission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dirty="0"/>
              <a:t>Driver Controls and Indicators</a:t>
            </a:r>
          </a:p>
        </p:txBody>
      </p:sp>
      <p:sp>
        <p:nvSpPr>
          <p:cNvPr id="39939" name="Content Placeholder 2"/>
          <p:cNvSpPr>
            <a:spLocks noGrp="1"/>
          </p:cNvSpPr>
          <p:nvPr>
            <p:ph type="body" idx="1"/>
          </p:nvPr>
        </p:nvSpPr>
        <p:spPr>
          <a:xfrm>
            <a:off x="476845" y="1563626"/>
            <a:ext cx="5962056" cy="3998974"/>
          </a:xfrm>
        </p:spPr>
        <p:txBody>
          <a:bodyPr/>
          <a:lstStyle/>
          <a:p>
            <a:r>
              <a:rPr lang="en-US" sz="2600" dirty="0"/>
              <a:t>Most have two warning lights.</a:t>
            </a:r>
          </a:p>
          <a:p>
            <a:pPr lvl="1"/>
            <a:r>
              <a:rPr lang="en-US" sz="2600" dirty="0"/>
              <a:t>If an ABS disabling fault occurs, the ATC is also disabled.</a:t>
            </a:r>
          </a:p>
          <a:p>
            <a:r>
              <a:rPr lang="en-US" sz="2600" dirty="0"/>
              <a:t>Some vehicles have an ATC cut-off switch.</a:t>
            </a:r>
          </a:p>
        </p:txBody>
      </p:sp>
      <p:pic>
        <p:nvPicPr>
          <p:cNvPr id="7" name="Picture Placeholder 6" descr="The Electronic Stability Control (E S C) warning light on a car's dashboard is on, that resembles a swerving car icon.">
            <a:extLst>
              <a:ext uri="{FF2B5EF4-FFF2-40B4-BE49-F238E27FC236}">
                <a16:creationId xmlns:a16="http://schemas.microsoft.com/office/drawing/2014/main" id="{F7E48D76-C1A2-ED9A-EEA5-19F248D26B07}"/>
              </a:ext>
            </a:extLst>
          </p:cNvPr>
          <p:cNvPicPr>
            <a:picLocks noGrp="1" noChangeAspect="1"/>
          </p:cNvPicPr>
          <p:nvPr>
            <p:ph type="pic" sz="quarter" idx="11"/>
          </p:nvPr>
        </p:nvPicPr>
        <p:blipFill>
          <a:blip r:embed="rId3"/>
          <a:srcRect b="8410"/>
          <a:stretch/>
        </p:blipFill>
        <p:spPr>
          <a:xfrm>
            <a:off x="6892726" y="1747236"/>
            <a:ext cx="4591410" cy="328710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Automatic Stability Control or Electronic Stability Control (ESC)</a:t>
            </a:r>
          </a:p>
        </p:txBody>
      </p:sp>
      <p:sp>
        <p:nvSpPr>
          <p:cNvPr id="40963" name="Content Placeholder 2"/>
          <p:cNvSpPr>
            <a:spLocks noGrp="1"/>
          </p:cNvSpPr>
          <p:nvPr>
            <p:ph type="body" idx="1"/>
          </p:nvPr>
        </p:nvSpPr>
        <p:spPr/>
        <p:txBody>
          <a:bodyPr/>
          <a:lstStyle/>
          <a:p>
            <a:r>
              <a:rPr lang="en-US" dirty="0"/>
              <a:t>Linked with the ABS</a:t>
            </a:r>
          </a:p>
          <a:p>
            <a:r>
              <a:rPr lang="en-US" dirty="0"/>
              <a:t>May be linked with the electronic suspension system</a:t>
            </a:r>
          </a:p>
          <a:p>
            <a:r>
              <a:rPr lang="en-US" dirty="0"/>
              <a:t>Helps prevent skids, swerves, and rollovers by helping the driver maintain control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dirty="0"/>
              <a:t>Electronic Stability Control Operation</a:t>
            </a:r>
          </a:p>
        </p:txBody>
      </p:sp>
      <p:sp>
        <p:nvSpPr>
          <p:cNvPr id="43011" name="Content Placeholder 2"/>
          <p:cNvSpPr>
            <a:spLocks noGrp="1"/>
          </p:cNvSpPr>
          <p:nvPr>
            <p:ph type="body" idx="1"/>
          </p:nvPr>
        </p:nvSpPr>
        <p:spPr>
          <a:xfrm>
            <a:off x="476845" y="1563627"/>
            <a:ext cx="4896822" cy="2643256"/>
          </a:xfrm>
        </p:spPr>
        <p:txBody>
          <a:bodyPr/>
          <a:lstStyle/>
          <a:p>
            <a:r>
              <a:rPr lang="en-US" dirty="0"/>
              <a:t>The control unit monitors lateral acceleration, yaw rate, and brake pressure.</a:t>
            </a:r>
          </a:p>
        </p:txBody>
      </p:sp>
      <p:pic>
        <p:nvPicPr>
          <p:cNvPr id="7" name="Picture Placeholder 6" descr="The effects of a stability control (E S P = Electronic Stability Program) system depicts Critical maneuver with or without E S P. The trajectory of a car along a road is depicted with a red car moving on the road. A yellow car comes from behind. The positions of the yellow car when it meets the red car are depicted at different points numbered from 1 to 3. A similar comparison is made with a dark-colored car numbered from 2 to 4. The positions of the yellow and dark-colored cars on the road are different. The key indicates the yellow car as Without E S P and the dark-colored car as With E S P. The text for the position of the Vehicle without E S P reads, 1. Vehicle approaches an obstacle, 2. Vehicle goes off course, enters oncoming traffic lane and the driver loses control, 3. Countersteering causes the vehicle to go into a skid. The text for the position of the vehicle with E S P reads, 1. Vehicle approaches an obstacle, 2. Vehicle threatens to break away. E S P intervenes and restores full steerability, 3. Countersteer results in the threat of renewed breakaway. E S P intervenes again, 4. Vehicle is stabilized.">
            <a:extLst>
              <a:ext uri="{FF2B5EF4-FFF2-40B4-BE49-F238E27FC236}">
                <a16:creationId xmlns:a16="http://schemas.microsoft.com/office/drawing/2014/main" id="{5F3E2EEE-3683-BAB9-B451-0D37A588B9DE}"/>
              </a:ext>
            </a:extLst>
          </p:cNvPr>
          <p:cNvPicPr>
            <a:picLocks noGrp="1" noChangeAspect="1"/>
          </p:cNvPicPr>
          <p:nvPr>
            <p:ph type="pic" sz="quarter" idx="11"/>
          </p:nvPr>
        </p:nvPicPr>
        <p:blipFill>
          <a:blip r:embed="rId3"/>
          <a:srcRect b="11730"/>
          <a:stretch/>
        </p:blipFill>
        <p:spPr>
          <a:xfrm>
            <a:off x="6201704" y="1719728"/>
            <a:ext cx="5375200" cy="386999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
          <p:cNvSpPr>
            <a:spLocks noGrp="1"/>
          </p:cNvSpPr>
          <p:nvPr>
            <p:ph type="title"/>
          </p:nvPr>
        </p:nvSpPr>
        <p:spPr/>
        <p:txBody>
          <a:bodyPr/>
          <a:lstStyle/>
          <a:p>
            <a:r>
              <a:rPr lang="en-US" dirty="0"/>
              <a:t>ABS Service</a:t>
            </a:r>
          </a:p>
        </p:txBody>
      </p:sp>
      <p:sp>
        <p:nvSpPr>
          <p:cNvPr id="44035" name="Content Placeholder 5"/>
          <p:cNvSpPr>
            <a:spLocks noGrp="1"/>
          </p:cNvSpPr>
          <p:nvPr>
            <p:ph type="body" idx="1"/>
          </p:nvPr>
        </p:nvSpPr>
        <p:spPr/>
        <p:txBody>
          <a:bodyPr/>
          <a:lstStyle/>
          <a:p>
            <a:pPr marL="85725" indent="0">
              <a:buNone/>
            </a:pPr>
            <a:r>
              <a:rPr lang="en-US" b="1" dirty="0">
                <a:solidFill>
                  <a:schemeClr val="tx1"/>
                </a:solidFill>
                <a:latin typeface="Work Sans" pitchFamily="2" charset="0"/>
                <a:ea typeface="Times New Roman" panose="02020603050405020304" pitchFamily="18" charset="0"/>
                <a:cs typeface="HelveticaNeueLTStd-Cn"/>
              </a:rPr>
              <a:t>53-05 List the precautions to follow when working on an antilock brake system.</a:t>
            </a:r>
            <a:endParaRPr lang="en-US" b="1" dirty="0">
              <a:solidFill>
                <a:schemeClr val="tx1"/>
              </a:solidFill>
            </a:endParaRPr>
          </a:p>
          <a:p>
            <a:r>
              <a:rPr lang="en-US" dirty="0">
                <a:solidFill>
                  <a:schemeClr val="tx1"/>
                </a:solidFill>
              </a:rPr>
              <a:t>Most service is identical as with a conventional brake system.</a:t>
            </a:r>
          </a:p>
          <a:p>
            <a:r>
              <a:rPr lang="en-US" dirty="0">
                <a:solidFill>
                  <a:schemeClr val="tx1"/>
                </a:solidFill>
              </a:rPr>
              <a:t>Always refer to the recommended procedures before attempting to service brakes on an ABS-equipped vehicle.</a:t>
            </a:r>
          </a:p>
          <a:p>
            <a:r>
              <a:rPr lang="en-US" dirty="0">
                <a:solidFill>
                  <a:schemeClr val="tx1"/>
                </a:solidFill>
              </a:rPr>
              <a:t>Normal brake repairs are performed as usual.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Service Safety Precautions (1 of 2)</a:t>
            </a:r>
          </a:p>
        </p:txBody>
      </p:sp>
      <p:sp>
        <p:nvSpPr>
          <p:cNvPr id="45059" name="Rectangle 3"/>
          <p:cNvSpPr>
            <a:spLocks noGrp="1" noChangeArrowheads="1"/>
          </p:cNvSpPr>
          <p:nvPr>
            <p:ph type="body" idx="1"/>
          </p:nvPr>
        </p:nvSpPr>
        <p:spPr/>
        <p:txBody>
          <a:bodyPr>
            <a:normAutofit/>
          </a:bodyPr>
          <a:lstStyle/>
          <a:p>
            <a:r>
              <a:rPr lang="en-US" dirty="0">
                <a:solidFill>
                  <a:schemeClr val="tx1"/>
                </a:solidFill>
              </a:rPr>
              <a:t>Always use lines and hoses designed for ABS vehicles.</a:t>
            </a:r>
          </a:p>
          <a:p>
            <a:r>
              <a:rPr lang="en-US" dirty="0">
                <a:solidFill>
                  <a:schemeClr val="tx1"/>
                </a:solidFill>
              </a:rPr>
              <a:t>Never use silicone brake fluid in an ABS system.</a:t>
            </a:r>
          </a:p>
          <a:p>
            <a:r>
              <a:rPr lang="en-US" dirty="0">
                <a:solidFill>
                  <a:schemeClr val="tx1"/>
                </a:solidFill>
              </a:rPr>
              <a:t>Always follow the proper bleeding procedure.</a:t>
            </a:r>
          </a:p>
          <a:p>
            <a:r>
              <a:rPr lang="en-US" dirty="0">
                <a:solidFill>
                  <a:schemeClr val="tx1"/>
                </a:solidFill>
              </a:rPr>
              <a:t>Never open a bleeder screw with the system pressurized.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US" dirty="0"/>
              <a:t>Service Safety Precautions (2 of 2)</a:t>
            </a:r>
          </a:p>
        </p:txBody>
      </p:sp>
      <p:sp>
        <p:nvSpPr>
          <p:cNvPr id="46083" name="Rectangle 3"/>
          <p:cNvSpPr>
            <a:spLocks noGrp="1" noChangeArrowheads="1"/>
          </p:cNvSpPr>
          <p:nvPr>
            <p:ph type="body" idx="1"/>
          </p:nvPr>
        </p:nvSpPr>
        <p:spPr/>
        <p:txBody>
          <a:bodyPr/>
          <a:lstStyle/>
          <a:p>
            <a:r>
              <a:rPr lang="en-US" dirty="0">
                <a:solidFill>
                  <a:schemeClr val="tx1"/>
                </a:solidFill>
              </a:rPr>
              <a:t>Never disconnect or reconnect electrical connectors with the ignition switch on.</a:t>
            </a:r>
          </a:p>
          <a:p>
            <a:r>
              <a:rPr lang="en-US" dirty="0">
                <a:solidFill>
                  <a:schemeClr val="tx1"/>
                </a:solidFill>
              </a:rPr>
              <a:t>Do not install electronic accessories near any control module.</a:t>
            </a:r>
          </a:p>
          <a:p>
            <a:r>
              <a:rPr lang="en-US" dirty="0">
                <a:solidFill>
                  <a:schemeClr val="tx1"/>
                </a:solidFill>
              </a:rPr>
              <a:t>Keep the wheel speed sensors clean.</a:t>
            </a:r>
          </a:p>
          <a:p>
            <a:r>
              <a:rPr lang="en-US" dirty="0">
                <a:solidFill>
                  <a:schemeClr val="tx1"/>
                </a:solidFill>
              </a:rPr>
              <a:t>Never use a hammer to install speed sensor toothed rings.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dirty="0"/>
              <a:t>Relieving Accumulator Pressure</a:t>
            </a:r>
          </a:p>
        </p:txBody>
      </p:sp>
      <p:sp>
        <p:nvSpPr>
          <p:cNvPr id="47107" name="Content Placeholder 2"/>
          <p:cNvSpPr>
            <a:spLocks noGrp="1"/>
          </p:cNvSpPr>
          <p:nvPr>
            <p:ph type="body" idx="1"/>
          </p:nvPr>
        </p:nvSpPr>
        <p:spPr/>
        <p:txBody>
          <a:bodyPr>
            <a:normAutofit/>
          </a:bodyPr>
          <a:lstStyle/>
          <a:p>
            <a:r>
              <a:rPr lang="en-US" dirty="0">
                <a:solidFill>
                  <a:schemeClr val="tx1"/>
                </a:solidFill>
              </a:rPr>
              <a:t>Accumulator pressure can be as high as 2,800 psi (19,300 </a:t>
            </a:r>
            <a:r>
              <a:rPr lang="en-US" dirty="0" err="1">
                <a:solidFill>
                  <a:schemeClr val="tx1"/>
                </a:solidFill>
              </a:rPr>
              <a:t>kPa</a:t>
            </a:r>
            <a:r>
              <a:rPr lang="en-US" dirty="0">
                <a:solidFill>
                  <a:schemeClr val="tx1"/>
                </a:solidFill>
              </a:rPr>
              <a:t>).</a:t>
            </a:r>
          </a:p>
          <a:p>
            <a:r>
              <a:rPr lang="en-US" dirty="0">
                <a:solidFill>
                  <a:schemeClr val="tx1"/>
                </a:solidFill>
              </a:rPr>
              <a:t>Before servicing, relieve system pressure</a:t>
            </a:r>
          </a:p>
          <a:p>
            <a:r>
              <a:rPr lang="en-US" dirty="0">
                <a:solidFill>
                  <a:schemeClr val="tx1"/>
                </a:solidFill>
              </a:rPr>
              <a:t>Common method includes</a:t>
            </a:r>
          </a:p>
          <a:p>
            <a:pPr lvl="1"/>
            <a:r>
              <a:rPr lang="en-US" dirty="0">
                <a:solidFill>
                  <a:schemeClr val="tx1"/>
                </a:solidFill>
              </a:rPr>
              <a:t>Turn the ignition off</a:t>
            </a:r>
          </a:p>
          <a:p>
            <a:pPr lvl="1"/>
            <a:r>
              <a:rPr lang="en-US" dirty="0">
                <a:solidFill>
                  <a:schemeClr val="tx1"/>
                </a:solidFill>
              </a:rPr>
              <a:t>Pump the brake pedal 25 to 50 times</a:t>
            </a:r>
          </a:p>
          <a:p>
            <a:r>
              <a:rPr lang="en-US" dirty="0">
                <a:solidFill>
                  <a:schemeClr val="tx1"/>
                </a:solidFill>
              </a:rPr>
              <a:t>Procedures vary—always refer to the service manual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Diagnosis and Testing</a:t>
            </a:r>
          </a:p>
        </p:txBody>
      </p:sp>
      <p:sp>
        <p:nvSpPr>
          <p:cNvPr id="48131" name="Rectangle 3"/>
          <p:cNvSpPr>
            <a:spLocks noGrp="1" noChangeArrowheads="1"/>
          </p:cNvSpPr>
          <p:nvPr>
            <p:ph type="body" idx="1"/>
          </p:nvPr>
        </p:nvSpPr>
        <p:spPr/>
        <p:txBody>
          <a:bodyPr/>
          <a:lstStyle/>
          <a:p>
            <a:pPr marL="85725" indent="0">
              <a:buSzPct val="100000"/>
              <a:buNone/>
            </a:pPr>
            <a:r>
              <a:rPr lang="en-US" sz="2400" b="1" dirty="0">
                <a:solidFill>
                  <a:schemeClr val="tx1"/>
                </a:solidFill>
                <a:latin typeface="Work Sans" pitchFamily="2" charset="0"/>
                <a:ea typeface="Times New Roman" panose="02020603050405020304" pitchFamily="18" charset="0"/>
                <a:cs typeface="HelveticaNeueLTStd-Cn"/>
              </a:rPr>
              <a:t>53-06 Explain the common procedures for finding ABS faults.</a:t>
            </a:r>
            <a:endParaRPr lang="en-US" sz="2400" b="1" dirty="0">
              <a:solidFill>
                <a:schemeClr val="tx1"/>
              </a:solidFill>
              <a:latin typeface="Work Sans" pitchFamily="2" charset="0"/>
            </a:endParaRPr>
          </a:p>
          <a:p>
            <a:pPr>
              <a:buSzPct val="100000"/>
              <a:buFont typeface="Arial" panose="020B0604020202020204" pitchFamily="34" charset="0"/>
              <a:buChar char="•"/>
            </a:pPr>
            <a:r>
              <a:rPr lang="en-US" sz="2400" dirty="0">
                <a:solidFill>
                  <a:schemeClr val="tx1"/>
                </a:solidFill>
                <a:latin typeface="Work Sans" pitchFamily="2" charset="0"/>
              </a:rPr>
              <a:t>Types of testing may include the following:</a:t>
            </a:r>
          </a:p>
          <a:p>
            <a:pPr lvl="1">
              <a:buSzPct val="100000"/>
            </a:pPr>
            <a:r>
              <a:rPr lang="en-US" sz="2200" dirty="0">
                <a:solidFill>
                  <a:schemeClr val="tx1"/>
                </a:solidFill>
              </a:rPr>
              <a:t>Pre-diagnostic inspections and test drive</a:t>
            </a:r>
          </a:p>
          <a:p>
            <a:pPr lvl="1">
              <a:buSzPct val="100000"/>
            </a:pPr>
            <a:r>
              <a:rPr lang="en-US" sz="2200" dirty="0">
                <a:solidFill>
                  <a:schemeClr val="tx1"/>
                </a:solidFill>
              </a:rPr>
              <a:t>Warning light symptom troubleshooting</a:t>
            </a:r>
          </a:p>
          <a:p>
            <a:pPr lvl="1">
              <a:buSzPct val="100000"/>
            </a:pPr>
            <a:r>
              <a:rPr lang="en-US" sz="2200" dirty="0">
                <a:solidFill>
                  <a:schemeClr val="tx1"/>
                </a:solidFill>
              </a:rPr>
              <a:t>On-board ABS control module (trouble code) testing</a:t>
            </a:r>
          </a:p>
          <a:p>
            <a:pPr lvl="1">
              <a:buSzPct val="100000"/>
            </a:pPr>
            <a:r>
              <a:rPr lang="en-US" sz="2200" dirty="0">
                <a:solidFill>
                  <a:schemeClr val="tx1"/>
                </a:solidFill>
              </a:rPr>
              <a:t>Individual trouble code and component testing</a:t>
            </a:r>
          </a:p>
          <a:p>
            <a:pPr algn="l"/>
            <a:r>
              <a:rPr lang="en-US" sz="2400" dirty="0">
                <a:solidFill>
                  <a:schemeClr val="tx1"/>
                </a:solidFill>
                <a:latin typeface="Work Sans" pitchFamily="2" charset="0"/>
              </a:rPr>
              <a:t>Following the wrong sequence or bypassing steps may lead to unnecessary replacement of parts or incorrect resolution of the symptom.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dirty="0"/>
              <a:t>Prediagnostic Inspection</a:t>
            </a:r>
          </a:p>
        </p:txBody>
      </p:sp>
      <p:sp>
        <p:nvSpPr>
          <p:cNvPr id="49155" name="Rectangle 3"/>
          <p:cNvSpPr>
            <a:spLocks noGrp="1" noChangeArrowheads="1"/>
          </p:cNvSpPr>
          <p:nvPr>
            <p:ph type="body" idx="1"/>
          </p:nvPr>
        </p:nvSpPr>
        <p:spPr>
          <a:xfrm>
            <a:off x="603845" y="1703326"/>
            <a:ext cx="5619156" cy="3948174"/>
          </a:xfrm>
        </p:spPr>
        <p:txBody>
          <a:bodyPr>
            <a:noAutofit/>
          </a:bodyPr>
          <a:lstStyle/>
          <a:p>
            <a:r>
              <a:rPr lang="en-US" dirty="0">
                <a:solidFill>
                  <a:schemeClr val="tx1"/>
                </a:solidFill>
              </a:rPr>
              <a:t>Observe the red brake and amber ABS lights.</a:t>
            </a:r>
          </a:p>
          <a:p>
            <a:r>
              <a:rPr lang="en-US" dirty="0">
                <a:solidFill>
                  <a:schemeClr val="tx1"/>
                </a:solidFill>
              </a:rPr>
              <a:t>Check fluid level.</a:t>
            </a:r>
          </a:p>
          <a:p>
            <a:r>
              <a:rPr lang="en-US" dirty="0">
                <a:solidFill>
                  <a:schemeClr val="tx1"/>
                </a:solidFill>
              </a:rPr>
              <a:t>Inspect hoses, lines, and fitting for leaks or damage.</a:t>
            </a:r>
          </a:p>
          <a:p>
            <a:r>
              <a:rPr lang="en-US" dirty="0">
                <a:solidFill>
                  <a:schemeClr val="tx1"/>
                </a:solidFill>
              </a:rPr>
              <a:t>Inspect all brake components.</a:t>
            </a:r>
          </a:p>
          <a:p>
            <a:r>
              <a:rPr lang="en-US" dirty="0">
                <a:solidFill>
                  <a:schemeClr val="tx1"/>
                </a:solidFill>
              </a:rPr>
              <a:t>Check for loose wheel bearings.</a:t>
            </a:r>
          </a:p>
        </p:txBody>
      </p:sp>
      <p:sp>
        <p:nvSpPr>
          <p:cNvPr id="49156" name="Rectangle 4"/>
          <p:cNvSpPr>
            <a:spLocks noGrp="1" noChangeArrowheads="1"/>
          </p:cNvSpPr>
          <p:nvPr>
            <p:ph sz="quarter" idx="10"/>
          </p:nvPr>
        </p:nvSpPr>
        <p:spPr>
          <a:xfrm>
            <a:off x="6464300" y="1703326"/>
            <a:ext cx="4584699" cy="3948174"/>
          </a:xfrm>
        </p:spPr>
        <p:txBody>
          <a:bodyPr>
            <a:noAutofit/>
          </a:bodyPr>
          <a:lstStyle/>
          <a:p>
            <a:pPr marL="355600" indent="-355600">
              <a:spcBef>
                <a:spcPts val="624"/>
              </a:spcBef>
              <a:spcAft>
                <a:spcPts val="600"/>
              </a:spcAft>
            </a:pPr>
            <a:r>
              <a:rPr lang="en-US" sz="2600" dirty="0">
                <a:solidFill>
                  <a:schemeClr val="tx1"/>
                </a:solidFill>
              </a:rPr>
              <a:t>Check outer CV joint alignment.</a:t>
            </a:r>
          </a:p>
          <a:p>
            <a:pPr marL="355600" indent="-355600">
              <a:spcBef>
                <a:spcPts val="624"/>
              </a:spcBef>
              <a:spcAft>
                <a:spcPts val="600"/>
              </a:spcAft>
            </a:pPr>
            <a:r>
              <a:rPr lang="en-US" sz="2600" dirty="0">
                <a:solidFill>
                  <a:schemeClr val="tx1"/>
                </a:solidFill>
              </a:rPr>
              <a:t>Check tire tread depth.</a:t>
            </a:r>
          </a:p>
          <a:p>
            <a:pPr marL="355600" indent="-355600">
              <a:spcBef>
                <a:spcPts val="624"/>
              </a:spcBef>
              <a:spcAft>
                <a:spcPts val="600"/>
              </a:spcAft>
            </a:pPr>
            <a:r>
              <a:rPr lang="en-US" sz="2600" dirty="0">
                <a:solidFill>
                  <a:schemeClr val="tx1"/>
                </a:solidFill>
              </a:rPr>
              <a:t>Check electrical connections for corrosion and damage.</a:t>
            </a:r>
          </a:p>
          <a:p>
            <a:pPr marL="355600" indent="-355600">
              <a:spcBef>
                <a:spcPts val="624"/>
              </a:spcBef>
              <a:spcAft>
                <a:spcPts val="600"/>
              </a:spcAft>
            </a:pPr>
            <a:r>
              <a:rPr lang="en-US" sz="2600" dirty="0">
                <a:solidFill>
                  <a:schemeClr val="tx1"/>
                </a:solidFill>
              </a:rPr>
              <a:t>Inspect wheel sensors and wiring.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3"/>
          <p:cNvSpPr>
            <a:spLocks noGrp="1"/>
          </p:cNvSpPr>
          <p:nvPr>
            <p:ph type="title"/>
          </p:nvPr>
        </p:nvSpPr>
        <p:spPr/>
        <p:txBody>
          <a:bodyPr/>
          <a:lstStyle/>
          <a:p>
            <a:r>
              <a:rPr lang="en-US" dirty="0"/>
              <a:t>Self-Diagnostics</a:t>
            </a:r>
          </a:p>
        </p:txBody>
      </p:sp>
      <p:sp>
        <p:nvSpPr>
          <p:cNvPr id="51203" name="Content Placeholder 4"/>
          <p:cNvSpPr>
            <a:spLocks noGrp="1"/>
          </p:cNvSpPr>
          <p:nvPr>
            <p:ph type="body" idx="1"/>
          </p:nvPr>
        </p:nvSpPr>
        <p:spPr/>
        <p:txBody>
          <a:bodyPr/>
          <a:lstStyle/>
          <a:p>
            <a:r>
              <a:rPr lang="en-US" sz="2600" dirty="0">
                <a:solidFill>
                  <a:schemeClr val="tx1"/>
                </a:solidFill>
              </a:rPr>
              <a:t>A malfunction will cause the control module to shut off the ABS system.</a:t>
            </a:r>
          </a:p>
          <a:p>
            <a:r>
              <a:rPr lang="en-US" sz="2600" dirty="0">
                <a:solidFill>
                  <a:schemeClr val="tx1"/>
                </a:solidFill>
              </a:rPr>
              <a:t>A self check is performed at each start-up.</a:t>
            </a:r>
          </a:p>
          <a:p>
            <a:r>
              <a:rPr lang="en-US" sz="2600" dirty="0">
                <a:solidFill>
                  <a:schemeClr val="tx1"/>
                </a:solidFill>
              </a:rPr>
              <a:t>Each system has specific diagnostic modes and procedures.</a:t>
            </a:r>
          </a:p>
          <a:p>
            <a:r>
              <a:rPr lang="en-US" sz="2600" dirty="0">
                <a:solidFill>
                  <a:schemeClr val="tx1"/>
                </a:solidFill>
              </a:rPr>
              <a:t>Always refer to the manufacturers service information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3"/>
          <p:cNvSpPr>
            <a:spLocks noGrp="1"/>
          </p:cNvSpPr>
          <p:nvPr>
            <p:ph type="title"/>
          </p:nvPr>
        </p:nvSpPr>
        <p:spPr/>
        <p:txBody>
          <a:bodyPr/>
          <a:lstStyle/>
          <a:p>
            <a:r>
              <a:rPr lang="en-US" dirty="0"/>
              <a:t>Testing with a Lab Scope</a:t>
            </a:r>
          </a:p>
        </p:txBody>
      </p:sp>
      <p:sp>
        <p:nvSpPr>
          <p:cNvPr id="53251" name="Content Placeholder 4"/>
          <p:cNvSpPr>
            <a:spLocks noGrp="1"/>
          </p:cNvSpPr>
          <p:nvPr>
            <p:ph type="body" idx="1"/>
          </p:nvPr>
        </p:nvSpPr>
        <p:spPr>
          <a:xfrm>
            <a:off x="476844" y="1563627"/>
            <a:ext cx="11241915" cy="2386074"/>
          </a:xfrm>
        </p:spPr>
        <p:txBody>
          <a:bodyPr/>
          <a:lstStyle/>
          <a:p>
            <a:r>
              <a:rPr lang="en-US" dirty="0">
                <a:solidFill>
                  <a:schemeClr val="tx1"/>
                </a:solidFill>
              </a:rPr>
              <a:t>A critical ABS and TCS input is the wheel speed sensor signal.</a:t>
            </a:r>
          </a:p>
          <a:p>
            <a:r>
              <a:rPr lang="en-US" dirty="0">
                <a:solidFill>
                  <a:schemeClr val="tx1"/>
                </a:solidFill>
              </a:rPr>
              <a:t>AC generators should produce even and clean AC signals at each wheel.</a:t>
            </a:r>
          </a:p>
          <a:p>
            <a:r>
              <a:rPr lang="en-US" dirty="0">
                <a:solidFill>
                  <a:schemeClr val="tx1"/>
                </a:solidFill>
              </a:rPr>
              <a:t>Some vehicles use Hall-effect wheel speed sensors that produce digital square wave signals.</a:t>
            </a:r>
          </a:p>
        </p:txBody>
      </p:sp>
      <p:pic>
        <p:nvPicPr>
          <p:cNvPr id="7" name="Picture Placeholder 6" descr="Two parts of an illustration depict the output signal from a wheel-speed sensor. The first part titled Half-wave depicts the teeth of the ring facing the sensor. Dashed, curved lines are between the teeth and the sensor. The ring rotates in a clockwise direction. The top of the sensor is positive while the bottom is negative. A crest is next to the positive charge. The second part titled Half Wave depicts the teeth of the ring away from the sensor. Dashed curved lines are in front of the sensor and into the groove. The ring rotates in a clockwise direction. The top of the sensor is negative while the bottom is positive. A trough is next to the positive charge. The sum of the half waves crest and trough is titled full wave.">
            <a:extLst>
              <a:ext uri="{FF2B5EF4-FFF2-40B4-BE49-F238E27FC236}">
                <a16:creationId xmlns:a16="http://schemas.microsoft.com/office/drawing/2014/main" id="{CEA045F9-CBE9-D797-E0ED-E003604FCFAC}"/>
              </a:ext>
            </a:extLst>
          </p:cNvPr>
          <p:cNvPicPr>
            <a:picLocks noGrp="1" noChangeAspect="1"/>
          </p:cNvPicPr>
          <p:nvPr>
            <p:ph type="pic" sz="quarter" idx="11"/>
          </p:nvPr>
        </p:nvPicPr>
        <p:blipFill>
          <a:blip r:embed="rId3"/>
          <a:srcRect b="8624"/>
          <a:stretch/>
        </p:blipFill>
        <p:spPr>
          <a:xfrm>
            <a:off x="3629780" y="4133695"/>
            <a:ext cx="4932441" cy="17328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3"/>
          <p:cNvSpPr>
            <a:spLocks noGrp="1"/>
          </p:cNvSpPr>
          <p:nvPr>
            <p:ph type="title"/>
          </p:nvPr>
        </p:nvSpPr>
        <p:spPr/>
        <p:txBody>
          <a:bodyPr/>
          <a:lstStyle/>
          <a:p>
            <a:r>
              <a:rPr lang="en-US" dirty="0"/>
              <a:t>Wheel Speed Sensor Service</a:t>
            </a:r>
          </a:p>
        </p:txBody>
      </p:sp>
      <p:sp>
        <p:nvSpPr>
          <p:cNvPr id="55299" name="Content Placeholder 4"/>
          <p:cNvSpPr>
            <a:spLocks noGrp="1"/>
          </p:cNvSpPr>
          <p:nvPr>
            <p:ph type="body" idx="1"/>
          </p:nvPr>
        </p:nvSpPr>
        <p:spPr/>
        <p:txBody>
          <a:bodyPr/>
          <a:lstStyle/>
          <a:p>
            <a:r>
              <a:rPr lang="en-US" sz="2600" dirty="0">
                <a:solidFill>
                  <a:schemeClr val="tx1"/>
                </a:solidFill>
              </a:rPr>
              <a:t>Inspect for chipped or crack </a:t>
            </a:r>
            <a:r>
              <a:rPr lang="en-US" sz="2600" dirty="0" err="1">
                <a:solidFill>
                  <a:schemeClr val="tx1"/>
                </a:solidFill>
              </a:rPr>
              <a:t>pulser</a:t>
            </a:r>
            <a:r>
              <a:rPr lang="en-US" sz="2600" dirty="0">
                <a:solidFill>
                  <a:schemeClr val="tx1"/>
                </a:solidFill>
              </a:rPr>
              <a:t> teeth.</a:t>
            </a:r>
          </a:p>
          <a:p>
            <a:r>
              <a:rPr lang="en-US" sz="2600" dirty="0">
                <a:solidFill>
                  <a:schemeClr val="tx1"/>
                </a:solidFill>
              </a:rPr>
              <a:t>Use a feeler gauge to measure the air gap.</a:t>
            </a:r>
          </a:p>
          <a:p>
            <a:r>
              <a:rPr lang="en-US" sz="2600" dirty="0">
                <a:solidFill>
                  <a:schemeClr val="tx1"/>
                </a:solidFill>
              </a:rPr>
              <a:t>Inspect for rust and metal buildup on the sensor.</a:t>
            </a:r>
          </a:p>
          <a:p>
            <a:r>
              <a:rPr lang="en-US" sz="2600" dirty="0">
                <a:solidFill>
                  <a:schemeClr val="tx1"/>
                </a:solidFill>
              </a:rPr>
              <a:t>PM generator sensor wiring is twisted pair and not serviceable.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(3 of 3)</a:t>
            </a:r>
          </a:p>
        </p:txBody>
      </p:sp>
      <p:sp>
        <p:nvSpPr>
          <p:cNvPr id="3" name="Content Placeholder 2"/>
          <p:cNvSpPr>
            <a:spLocks noGrp="1"/>
          </p:cNvSpPr>
          <p:nvPr>
            <p:ph type="body" idx="1"/>
          </p:nvPr>
        </p:nvSpPr>
        <p:spPr/>
        <p:txBody>
          <a:bodyPr/>
          <a:lstStyle/>
          <a:p>
            <a:r>
              <a:rPr lang="en-US" sz="2600" dirty="0">
                <a:solidFill>
                  <a:schemeClr val="tx1"/>
                </a:solidFill>
              </a:rPr>
              <a:t>Technician A says ABS systems may require special bleeding procedures.</a:t>
            </a:r>
          </a:p>
          <a:p>
            <a:r>
              <a:rPr lang="en-US" sz="2600" dirty="0">
                <a:solidFill>
                  <a:schemeClr val="tx1"/>
                </a:solidFill>
              </a:rPr>
              <a:t>Technician B says integral systems may require depressurizing the system before service.</a:t>
            </a:r>
          </a:p>
          <a:p>
            <a:pPr marL="85725" indent="0">
              <a:buNone/>
            </a:pPr>
            <a:r>
              <a:rPr lang="en-US" sz="2600" dirty="0">
                <a:solidFill>
                  <a:schemeClr val="tx1"/>
                </a:solidFill>
              </a:rPr>
              <a:t>Who is correct?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(3 of 3)</a:t>
            </a:r>
          </a:p>
        </p:txBody>
      </p:sp>
      <p:sp>
        <p:nvSpPr>
          <p:cNvPr id="3" name="Content Placeholder 2"/>
          <p:cNvSpPr>
            <a:spLocks noGrp="1"/>
          </p:cNvSpPr>
          <p:nvPr>
            <p:ph type="body" idx="1"/>
          </p:nvPr>
        </p:nvSpPr>
        <p:spPr/>
        <p:txBody>
          <a:bodyPr/>
          <a:lstStyle/>
          <a:p>
            <a:r>
              <a:rPr lang="en-US" sz="2600" dirty="0">
                <a:solidFill>
                  <a:schemeClr val="tx1"/>
                </a:solidFill>
              </a:rPr>
              <a:t>Technician A says ABS systems may require special bleeding procedures.</a:t>
            </a:r>
          </a:p>
          <a:p>
            <a:r>
              <a:rPr lang="en-US" sz="2600" dirty="0">
                <a:solidFill>
                  <a:schemeClr val="tx1"/>
                </a:solidFill>
              </a:rPr>
              <a:t>Technician B says integral systems may require depressurizing the system before service.</a:t>
            </a:r>
          </a:p>
          <a:p>
            <a:pPr marL="85725" indent="0">
              <a:spcAft>
                <a:spcPts val="2400"/>
              </a:spcAft>
              <a:buNone/>
            </a:pPr>
            <a:r>
              <a:rPr lang="en-US" sz="2600" dirty="0">
                <a:solidFill>
                  <a:schemeClr val="tx1"/>
                </a:solidFill>
              </a:rPr>
              <a:t>Who is correct?</a:t>
            </a:r>
          </a:p>
          <a:p>
            <a:pPr marL="1079500" indent="0">
              <a:buNone/>
            </a:pPr>
            <a:r>
              <a:rPr lang="en-US" sz="2600" dirty="0">
                <a:solidFill>
                  <a:schemeClr val="tx1"/>
                </a:solidFill>
              </a:rPr>
              <a:t>Answer: Both Technicians A and B</a:t>
            </a:r>
          </a:p>
        </p:txBody>
      </p:sp>
    </p:spTree>
    <p:extLst>
      <p:ext uri="{BB962C8B-B14F-4D97-AF65-F5344CB8AC3E}">
        <p14:creationId xmlns:p14="http://schemas.microsoft.com/office/powerpoint/2010/main" val="3991596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New Trends</a:t>
            </a:r>
          </a:p>
        </p:txBody>
      </p:sp>
      <p:sp>
        <p:nvSpPr>
          <p:cNvPr id="58371" name="Content Placeholder 2"/>
          <p:cNvSpPr>
            <a:spLocks noGrp="1"/>
          </p:cNvSpPr>
          <p:nvPr>
            <p:ph type="body" idx="1"/>
          </p:nvPr>
        </p:nvSpPr>
        <p:spPr/>
        <p:txBody>
          <a:bodyPr>
            <a:noAutofit/>
          </a:bodyPr>
          <a:lstStyle/>
          <a:p>
            <a:r>
              <a:rPr lang="en-US" sz="2600" dirty="0">
                <a:solidFill>
                  <a:schemeClr val="tx1"/>
                </a:solidFill>
              </a:rPr>
              <a:t>Electric Calipers</a:t>
            </a:r>
          </a:p>
          <a:p>
            <a:pPr lvl="1"/>
            <a:r>
              <a:rPr lang="en-US" dirty="0">
                <a:solidFill>
                  <a:schemeClr val="tx1"/>
                </a:solidFill>
              </a:rPr>
              <a:t>Computer controlled to evenly distribute braking power to all four wheels</a:t>
            </a:r>
          </a:p>
          <a:p>
            <a:r>
              <a:rPr lang="en-US" sz="2600" dirty="0">
                <a:solidFill>
                  <a:schemeClr val="tx1"/>
                </a:solidFill>
              </a:rPr>
              <a:t>Brake-by-wire</a:t>
            </a:r>
          </a:p>
          <a:p>
            <a:pPr lvl="1"/>
            <a:r>
              <a:rPr lang="en-US" dirty="0">
                <a:solidFill>
                  <a:schemeClr val="tx1"/>
                </a:solidFill>
              </a:rPr>
              <a:t>The braking command is electronically processed and the master cylinder controlled</a:t>
            </a:r>
          </a:p>
          <a:p>
            <a:r>
              <a:rPr lang="en-US" sz="2600" dirty="0">
                <a:solidFill>
                  <a:schemeClr val="tx1"/>
                </a:solidFill>
              </a:rPr>
              <a:t>Electronic Wedge Brake (EWB)</a:t>
            </a:r>
          </a:p>
          <a:p>
            <a:pPr lvl="1"/>
            <a:r>
              <a:rPr lang="en-US" dirty="0">
                <a:solidFill>
                  <a:schemeClr val="tx1"/>
                </a:solidFill>
              </a:rPr>
              <a:t>Completely electronic</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Brake-by-Wire</a:t>
            </a:r>
          </a:p>
        </p:txBody>
      </p:sp>
      <p:sp>
        <p:nvSpPr>
          <p:cNvPr id="4" name="Content Placeholder 3"/>
          <p:cNvSpPr>
            <a:spLocks noGrp="1"/>
          </p:cNvSpPr>
          <p:nvPr>
            <p:ph type="body" idx="1"/>
          </p:nvPr>
        </p:nvSpPr>
        <p:spPr>
          <a:xfrm>
            <a:off x="476845" y="1563626"/>
            <a:ext cx="5619156" cy="3960874"/>
          </a:xfrm>
        </p:spPr>
        <p:txBody>
          <a:bodyPr/>
          <a:lstStyle/>
          <a:p>
            <a:r>
              <a:rPr lang="en-US" sz="2600" dirty="0">
                <a:solidFill>
                  <a:schemeClr val="tx1"/>
                </a:solidFill>
              </a:rPr>
              <a:t>Hybrids and EVs use brake-by-wire technology.</a:t>
            </a:r>
          </a:p>
          <a:p>
            <a:r>
              <a:rPr lang="en-US" sz="2600" dirty="0">
                <a:solidFill>
                  <a:schemeClr val="tx1"/>
                </a:solidFill>
              </a:rPr>
              <a:t>Brake pedal sensors determine driver intent.</a:t>
            </a:r>
          </a:p>
          <a:p>
            <a:r>
              <a:rPr lang="en-US" sz="2600" dirty="0">
                <a:solidFill>
                  <a:schemeClr val="tx1"/>
                </a:solidFill>
              </a:rPr>
              <a:t>Stroke simulators are used to simulate “normal” brake feel.</a:t>
            </a:r>
          </a:p>
        </p:txBody>
      </p:sp>
      <p:pic>
        <p:nvPicPr>
          <p:cNvPr id="9" name="Picture Placeholder 8" descr="The layout for a brake-by-wire system. The heading at the top reads brake-by-wire E M B Elektro-Mechnische Bremse/Electro-mechanical brake followed by a car with its internal components exposed. The components are numbered from 1 to 6 and in different colors. The key indicates 1 (purple) as the Electronic control unit, 2 (light blue) as Pedal simulator, 3 (orange) as 42 Volts (36 Volts), 4 (green) as Actuator/wheel control unit, 5 (yellow) as E M B-signals, and 6 (Red) as power supply. The connections between the components are in different colors. Yellow wires go between components numbered 1 and 4. Orange wires go between 1 and 3. and Pink wires go between 2 and 4. The connection between 2 and 4 (front and rear right wheels) is numbered 6. The yellow connection between 2 and 4 (front and rear right wheels) is numbered 5.">
            <a:extLst>
              <a:ext uri="{FF2B5EF4-FFF2-40B4-BE49-F238E27FC236}">
                <a16:creationId xmlns:a16="http://schemas.microsoft.com/office/drawing/2014/main" id="{4AC80DBC-1BC3-8380-07C6-E284CB13F1B8}"/>
              </a:ext>
            </a:extLst>
          </p:cNvPr>
          <p:cNvPicPr>
            <a:picLocks noGrp="1" noChangeAspect="1"/>
          </p:cNvPicPr>
          <p:nvPr>
            <p:ph type="pic" sz="quarter" idx="11"/>
          </p:nvPr>
        </p:nvPicPr>
        <p:blipFill>
          <a:blip r:embed="rId2"/>
          <a:srcRect b="7829"/>
          <a:stretch/>
        </p:blipFill>
        <p:spPr>
          <a:xfrm>
            <a:off x="6654495" y="1727628"/>
            <a:ext cx="4683697" cy="346082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457200"/>
            <a:r>
              <a:rPr lang="en-US" sz="2600" dirty="0">
                <a:solidFill>
                  <a:schemeClr val="tx1"/>
                </a:solidFill>
                <a:latin typeface="Work Sans" pitchFamily="2" charset="0"/>
              </a:rPr>
              <a:t>State a concept from this chapter that challenged you the most. Describe what made the concept difficult for you and the steps you took to improve your understanding</a:t>
            </a:r>
            <a:r>
              <a:rPr lang="en-US" sz="2600" dirty="0">
                <a:solidFill>
                  <a:schemeClr val="tx1"/>
                </a:solidFill>
              </a:rPr>
              <a:t>.</a:t>
            </a:r>
            <a:r>
              <a:rPr lang="en-US" sz="2600" dirty="0">
                <a:solidFill>
                  <a:schemeClr val="tx1"/>
                </a:solidFill>
                <a:latin typeface="Work Sans" pitchFamily="2" charset="0"/>
              </a:rPr>
              <a:t> How could you help another student who was struggling with the same concept?</a:t>
            </a:r>
          </a:p>
          <a:p>
            <a:pPr marL="457200"/>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1414</TotalTime>
  <Words>1877</Words>
  <Application>Microsoft Office PowerPoint</Application>
  <PresentationFormat>Widescreen</PresentationFormat>
  <Paragraphs>235</Paragraphs>
  <Slides>49</Slides>
  <Notes>45</Notes>
  <HiddenSlides>0</HiddenSlides>
  <MMClips>0</MMClips>
  <ScaleCrop>false</ScaleCrop>
  <HeadingPairs>
    <vt:vector size="4" baseType="variant">
      <vt:variant>
        <vt:lpstr>Theme</vt:lpstr>
      </vt:variant>
      <vt:variant>
        <vt:i4>2</vt:i4>
      </vt:variant>
      <vt:variant>
        <vt:lpstr>Slide Titles</vt:lpstr>
      </vt:variant>
      <vt:variant>
        <vt:i4>49</vt:i4>
      </vt:variant>
    </vt:vector>
  </HeadingPairs>
  <TitlesOfParts>
    <vt:vector size="51" baseType="lpstr">
      <vt:lpstr>Custom Design</vt:lpstr>
      <vt:lpstr>Theme3</vt:lpstr>
      <vt:lpstr>Automotive Technology: A Systems Approach, 8e</vt:lpstr>
      <vt:lpstr>Chapter Objectives (1 of 2)</vt:lpstr>
      <vt:lpstr>Chapter Objectives (2 of 2) </vt:lpstr>
      <vt:lpstr>Basic ABS Brakes</vt:lpstr>
      <vt:lpstr>Antilock Brakes</vt:lpstr>
      <vt:lpstr>Pressure Modulation</vt:lpstr>
      <vt:lpstr>Knowledge Check (1 of 3)</vt:lpstr>
      <vt:lpstr>Knowledge Check Answer (1 of 3)</vt:lpstr>
      <vt:lpstr>Pedal Feel</vt:lpstr>
      <vt:lpstr>Hydraulic Components</vt:lpstr>
      <vt:lpstr>Accumulators</vt:lpstr>
      <vt:lpstr>Hydraulic Components (1 of 2)</vt:lpstr>
      <vt:lpstr>Hydraulic Components (2 of 2) </vt:lpstr>
      <vt:lpstr>Electrical/Electronic Components (1 of 5)</vt:lpstr>
      <vt:lpstr>Electrical/Electronic Components (2 of 5)</vt:lpstr>
      <vt:lpstr>Electrical/Electronic Components (3 of 5)</vt:lpstr>
      <vt:lpstr>Electrical/Electronic Components (4 of 5)</vt:lpstr>
      <vt:lpstr>Electrical/Electronic Components (5 of 5)  </vt:lpstr>
      <vt:lpstr>Wheel Speed Sensors</vt:lpstr>
      <vt:lpstr>Active Sensors</vt:lpstr>
      <vt:lpstr>ABS Is Part of the CAN Network</vt:lpstr>
      <vt:lpstr>Basic ABS Operation</vt:lpstr>
      <vt:lpstr>ABS Types</vt:lpstr>
      <vt:lpstr>Typical Four-Wheel ABS System</vt:lpstr>
      <vt:lpstr>Knowledge Check (2 of 3)</vt:lpstr>
      <vt:lpstr>Knowledge Check Answer (2 of 3)</vt:lpstr>
      <vt:lpstr>ABS Operating Modes</vt:lpstr>
      <vt:lpstr>Adaptive Braking</vt:lpstr>
      <vt:lpstr>Automatic Traction Control (ATC) (1 of 2)</vt:lpstr>
      <vt:lpstr>Automatic Traction Control System</vt:lpstr>
      <vt:lpstr>Automatic Traction Control (ATC) (2 of 2)</vt:lpstr>
      <vt:lpstr>Engine Controls</vt:lpstr>
      <vt:lpstr>Driver Controls and Indicators</vt:lpstr>
      <vt:lpstr>Automatic Stability Control or Electronic Stability Control (ESC)</vt:lpstr>
      <vt:lpstr>Electronic Stability Control Operation</vt:lpstr>
      <vt:lpstr>ABS Service</vt:lpstr>
      <vt:lpstr>Service Safety Precautions (1 of 2)</vt:lpstr>
      <vt:lpstr>Service Safety Precautions (2 of 2)</vt:lpstr>
      <vt:lpstr>Relieving Accumulator Pressure</vt:lpstr>
      <vt:lpstr>Diagnosis and Testing</vt:lpstr>
      <vt:lpstr>Prediagnostic Inspection</vt:lpstr>
      <vt:lpstr>Self-Diagnostics</vt:lpstr>
      <vt:lpstr>Testing with a Lab Scope</vt:lpstr>
      <vt:lpstr>Wheel Speed Sensor Service</vt:lpstr>
      <vt:lpstr>Knowledge Check (3 of 3)</vt:lpstr>
      <vt:lpstr>Knowledge Check Answer (3 of 3)</vt:lpstr>
      <vt:lpstr>New Trends</vt:lpstr>
      <vt:lpstr>Brake-by-Wire</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149</cp:revision>
  <dcterms:created xsi:type="dcterms:W3CDTF">2012-09-04T13:49:02Z</dcterms:created>
  <dcterms:modified xsi:type="dcterms:W3CDTF">2024-11-22T17:00:56Z</dcterms:modified>
</cp:coreProperties>
</file>