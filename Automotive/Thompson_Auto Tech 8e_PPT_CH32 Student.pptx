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350" r:id="rId2"/>
    <p:sldId id="257" r:id="rId3"/>
    <p:sldId id="487" r:id="rId4"/>
    <p:sldId id="461" r:id="rId5"/>
    <p:sldId id="488" r:id="rId6"/>
    <p:sldId id="489" r:id="rId7"/>
    <p:sldId id="490" r:id="rId8"/>
    <p:sldId id="491" r:id="rId9"/>
    <p:sldId id="492" r:id="rId10"/>
    <p:sldId id="493" r:id="rId11"/>
    <p:sldId id="494" r:id="rId12"/>
    <p:sldId id="495" r:id="rId13"/>
    <p:sldId id="496" r:id="rId14"/>
    <p:sldId id="518" r:id="rId15"/>
    <p:sldId id="519" r:id="rId16"/>
    <p:sldId id="497" r:id="rId17"/>
    <p:sldId id="498" r:id="rId18"/>
    <p:sldId id="499" r:id="rId19"/>
    <p:sldId id="500" r:id="rId20"/>
    <p:sldId id="501" r:id="rId21"/>
    <p:sldId id="502" r:id="rId22"/>
    <p:sldId id="503" r:id="rId23"/>
    <p:sldId id="504" r:id="rId24"/>
    <p:sldId id="505" r:id="rId25"/>
    <p:sldId id="506" r:id="rId26"/>
    <p:sldId id="507" r:id="rId27"/>
    <p:sldId id="508" r:id="rId28"/>
    <p:sldId id="520" r:id="rId29"/>
    <p:sldId id="509" r:id="rId30"/>
    <p:sldId id="511" r:id="rId31"/>
    <p:sldId id="512" r:id="rId32"/>
    <p:sldId id="513" r:id="rId33"/>
    <p:sldId id="514" r:id="rId34"/>
    <p:sldId id="515" r:id="rId35"/>
    <p:sldId id="516" r:id="rId36"/>
    <p:sldId id="521" r:id="rId37"/>
    <p:sldId id="522" r:id="rId38"/>
    <p:sldId id="517" r:id="rId39"/>
    <p:sldId id="301" r:id="rId40"/>
  </p:sldIdLst>
  <p:sldSz cx="12192000" cy="6858000"/>
  <p:notesSz cx="6858000" cy="9144000"/>
  <p:embeddedFontLst>
    <p:embeddedFont>
      <p:font typeface="Calibri" panose="020F0502020204030204" pitchFamily="34" charset="0"/>
      <p:regular r:id="rId42"/>
      <p:bold r:id="rId43"/>
      <p:italic r:id="rId44"/>
      <p:boldItalic r:id="rId45"/>
    </p:embeddedFont>
    <p:embeddedFont>
      <p:font typeface="Work Sans" panose="020B060402020202020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39" autoAdjust="0"/>
    <p:restoredTop sz="86375" autoAdjust="0"/>
  </p:normalViewPr>
  <p:slideViewPr>
    <p:cSldViewPr snapToGrid="0">
      <p:cViewPr varScale="1">
        <p:scale>
          <a:sx n="61" d="100"/>
          <a:sy n="61" d="100"/>
        </p:scale>
        <p:origin x="966" y="114"/>
      </p:cViewPr>
      <p:guideLst>
        <p:guide orient="horz" pos="2160"/>
        <p:guide pos="3840"/>
      </p:guideLst>
    </p:cSldViewPr>
  </p:slideViewPr>
  <p:outlineViewPr>
    <p:cViewPr>
      <p:scale>
        <a:sx n="33" d="100"/>
        <a:sy n="33" d="100"/>
      </p:scale>
      <p:origin x="0" y="-3745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183893456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1995974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extLst>
      <p:ext uri="{BB962C8B-B14F-4D97-AF65-F5344CB8AC3E}">
        <p14:creationId xmlns:p14="http://schemas.microsoft.com/office/powerpoint/2010/main" val="4208816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39628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713624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13374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64500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54398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57656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74566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4028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20994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dirty="0"/>
          </a:p>
        </p:txBody>
      </p:sp>
    </p:spTree>
    <p:extLst>
      <p:ext uri="{BB962C8B-B14F-4D97-AF65-F5344CB8AC3E}">
        <p14:creationId xmlns:p14="http://schemas.microsoft.com/office/powerpoint/2010/main" val="41706222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dirty="0"/>
          </a:p>
        </p:txBody>
      </p:sp>
    </p:spTree>
    <p:extLst>
      <p:ext uri="{BB962C8B-B14F-4D97-AF65-F5344CB8AC3E}">
        <p14:creationId xmlns:p14="http://schemas.microsoft.com/office/powerpoint/2010/main" val="13612560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64825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439864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598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2689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775860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8737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97780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4608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54222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51695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83240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124358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dirty="0"/>
          </a:p>
        </p:txBody>
      </p:sp>
    </p:spTree>
    <p:extLst>
      <p:ext uri="{BB962C8B-B14F-4D97-AF65-F5344CB8AC3E}">
        <p14:creationId xmlns:p14="http://schemas.microsoft.com/office/powerpoint/2010/main" val="33170899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316474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93848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28804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884838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5285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507821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870306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36</a:t>
            </a:fld>
            <a:endParaRPr dirty="0"/>
          </a:p>
        </p:txBody>
      </p:sp>
    </p:spTree>
    <p:extLst>
      <p:ext uri="{BB962C8B-B14F-4D97-AF65-F5344CB8AC3E}">
        <p14:creationId xmlns:p14="http://schemas.microsoft.com/office/powerpoint/2010/main" val="164048094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37</a:t>
            </a:fld>
            <a:endParaRPr dirty="0"/>
          </a:p>
        </p:txBody>
      </p:sp>
    </p:spTree>
    <p:extLst>
      <p:ext uri="{BB962C8B-B14F-4D97-AF65-F5344CB8AC3E}">
        <p14:creationId xmlns:p14="http://schemas.microsoft.com/office/powerpoint/2010/main" val="24511780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18870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dirty="0"/>
          </a:p>
        </p:txBody>
      </p:sp>
    </p:spTree>
    <p:extLst>
      <p:ext uri="{BB962C8B-B14F-4D97-AF65-F5344CB8AC3E}">
        <p14:creationId xmlns:p14="http://schemas.microsoft.com/office/powerpoint/2010/main" val="1058645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3068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ts val="2800"/>
              <a:buChar char="•"/>
              <a:defRPr sz="2600"/>
            </a:lvl1pPr>
            <a:lvl2pPr marL="720725" lvl="1" indent="-360363" algn="l">
              <a:lnSpc>
                <a:spcPct val="100000"/>
              </a:lnSpc>
              <a:spcBef>
                <a:spcPts val="624"/>
              </a:spcBef>
              <a:spcAft>
                <a:spcPts val="600"/>
              </a:spcAft>
              <a:buSzPts val="2600"/>
              <a:buFont typeface="Arial" panose="020B0604020202020204" pitchFamily="34" charset="0"/>
              <a:buChar char="–"/>
              <a:defRPr sz="2400" b="0"/>
            </a:lvl2pPr>
            <a:lvl3pPr marL="1081088" lvl="2" indent="-360363"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3068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63624"/>
            <a:ext cx="11241915" cy="2574267"/>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600"/>
              </a:spcAft>
              <a:buSzPts val="2800"/>
              <a:buChar char="•"/>
              <a:defRPr sz="2600"/>
            </a:lvl1pPr>
            <a:lvl2pPr marL="720725" lvl="1" indent="-360363" algn="l">
              <a:lnSpc>
                <a:spcPct val="100000"/>
              </a:lnSpc>
              <a:spcBef>
                <a:spcPts val="624"/>
              </a:spcBef>
              <a:spcAft>
                <a:spcPts val="600"/>
              </a:spcAft>
              <a:buSzPts val="2600"/>
              <a:buFont typeface="Arial" panose="020B0604020202020204" pitchFamily="34" charset="0"/>
              <a:buChar char="–"/>
              <a:defRPr sz="2400" b="0"/>
            </a:lvl2pPr>
            <a:lvl3pPr marL="1081088" lvl="2" indent="-360363" algn="l">
              <a:lnSpc>
                <a:spcPct val="100000"/>
              </a:lnSpc>
              <a:spcBef>
                <a:spcPts val="624"/>
              </a:spcBef>
              <a:spcAft>
                <a:spcPts val="60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3A0107C8-D9EA-536B-6B12-F25DA3933A32}"/>
              </a:ext>
            </a:extLst>
          </p:cNvPr>
          <p:cNvSpPr>
            <a:spLocks noGrp="1"/>
          </p:cNvSpPr>
          <p:nvPr>
            <p:ph sz="quarter" idx="10"/>
          </p:nvPr>
        </p:nvSpPr>
        <p:spPr>
          <a:xfrm>
            <a:off x="730250" y="440531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D41E6568-3827-786F-127C-578766EE1950}"/>
              </a:ext>
            </a:extLst>
          </p:cNvPr>
          <p:cNvSpPr>
            <a:spLocks noGrp="1"/>
          </p:cNvSpPr>
          <p:nvPr>
            <p:ph sz="quarter" idx="11"/>
          </p:nvPr>
        </p:nvSpPr>
        <p:spPr>
          <a:xfrm>
            <a:off x="2216150" y="44243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678133A0-22BA-5F8D-2135-C2A0832DD698}"/>
              </a:ext>
            </a:extLst>
          </p:cNvPr>
          <p:cNvSpPr>
            <a:spLocks noGrp="1"/>
          </p:cNvSpPr>
          <p:nvPr>
            <p:ph type="pic" sz="quarter" idx="12"/>
          </p:nvPr>
        </p:nvSpPr>
        <p:spPr>
          <a:xfrm>
            <a:off x="3952875" y="4424363"/>
            <a:ext cx="914400" cy="914400"/>
          </a:xfrm>
        </p:spPr>
        <p:txBody>
          <a:bodyPr/>
          <a:lstStyle/>
          <a:p>
            <a:endParaRPr lang="en-IN"/>
          </a:p>
        </p:txBody>
      </p:sp>
      <p:sp>
        <p:nvSpPr>
          <p:cNvPr id="9" name="Picture Placeholder 8">
            <a:extLst>
              <a:ext uri="{FF2B5EF4-FFF2-40B4-BE49-F238E27FC236}">
                <a16:creationId xmlns:a16="http://schemas.microsoft.com/office/drawing/2014/main" id="{C9B0256B-6FD9-7C2C-01C1-703B7CF8164C}"/>
              </a:ext>
            </a:extLst>
          </p:cNvPr>
          <p:cNvSpPr>
            <a:spLocks noGrp="1"/>
          </p:cNvSpPr>
          <p:nvPr>
            <p:ph type="pic" sz="quarter" idx="13"/>
          </p:nvPr>
        </p:nvSpPr>
        <p:spPr>
          <a:xfrm>
            <a:off x="5680075" y="4424363"/>
            <a:ext cx="914400" cy="914400"/>
          </a:xfrm>
        </p:spPr>
        <p:txBody>
          <a:bodyPr/>
          <a:lstStyle/>
          <a:p>
            <a:endParaRPr lang="en-IN"/>
          </a:p>
        </p:txBody>
      </p:sp>
      <p:sp>
        <p:nvSpPr>
          <p:cNvPr id="11" name="Table Placeholder 10">
            <a:extLst>
              <a:ext uri="{FF2B5EF4-FFF2-40B4-BE49-F238E27FC236}">
                <a16:creationId xmlns:a16="http://schemas.microsoft.com/office/drawing/2014/main" id="{E6443031-019D-D1D8-DC46-9D616FD23D67}"/>
              </a:ext>
            </a:extLst>
          </p:cNvPr>
          <p:cNvSpPr>
            <a:spLocks noGrp="1"/>
          </p:cNvSpPr>
          <p:nvPr>
            <p:ph type="tbl" sz="quarter" idx="14"/>
          </p:nvPr>
        </p:nvSpPr>
        <p:spPr>
          <a:xfrm>
            <a:off x="7564438" y="4497388"/>
            <a:ext cx="914400" cy="914400"/>
          </a:xfrm>
        </p:spPr>
        <p:txBody>
          <a:bodyPr/>
          <a:lstStyle/>
          <a:p>
            <a:endParaRPr lang="en-IN"/>
          </a:p>
        </p:txBody>
      </p:sp>
    </p:spTree>
    <p:extLst>
      <p:ext uri="{BB962C8B-B14F-4D97-AF65-F5344CB8AC3E}">
        <p14:creationId xmlns:p14="http://schemas.microsoft.com/office/powerpoint/2010/main" val="2066275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95858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dirty="0"/>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88816BC0-3566-DCAB-F3F4-C08CF2F7C9A9}"/>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32: Intake and Exhaust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ts val="2800"/>
              <a:buChar char="•"/>
            </a:pPr>
            <a:r>
              <a:rPr lang="en-US" dirty="0"/>
              <a:t>32.01 Explain the source of engine vacuum and perform engine vacuum tests.</a:t>
            </a:r>
          </a:p>
          <a:p>
            <a:pPr marL="357188" marR="0" lvl="0" indent="-357188" algn="l" rtl="0">
              <a:buSzPts val="2800"/>
              <a:buChar char="•"/>
            </a:pPr>
            <a:r>
              <a:rPr lang="en-US" dirty="0"/>
              <a:t>32.02 Explain the operation of the components in the air induction system, including ductwork, air cleaner/filters, and intake manifolds.</a:t>
            </a:r>
          </a:p>
          <a:p>
            <a:pPr marL="357188" marR="0" lvl="0" indent="-357188" algn="l" rtl="0">
              <a:buSzPts val="2800"/>
              <a:buChar char="•"/>
            </a:pPr>
            <a:r>
              <a:rPr lang="en-US" dirty="0"/>
              <a:t>32.03 Inspect and troubleshoot vacuum and air induction systems.</a:t>
            </a:r>
          </a:p>
          <a:p>
            <a:pPr marL="357188" marR="0" lvl="0" indent="-357188" algn="l" rtl="0">
              <a:buSzPts val="2800"/>
              <a:buChar char="•"/>
            </a:pPr>
            <a:r>
              <a:rPr lang="en-US" dirty="0"/>
              <a:t>32.04 Explain the purpose and operation of forced induction components.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2) </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400" dirty="0"/>
              <a:t>32.05 Inspect a turbocharger and describe some common turbocharger problems.</a:t>
            </a:r>
          </a:p>
          <a:p>
            <a:pPr marL="357188" marR="0" lvl="0" indent="-357188" algn="l" rtl="0">
              <a:buSzPct val="100000"/>
              <a:buChar char="•"/>
            </a:pPr>
            <a:r>
              <a:rPr lang="en-US" sz="2400" dirty="0"/>
              <a:t>32.06 Explain supercharger operation and identify common supercharger problems.</a:t>
            </a:r>
          </a:p>
          <a:p>
            <a:pPr marL="357188" marR="0" lvl="0" indent="-357188" algn="l" rtl="0">
              <a:buSzPct val="100000"/>
              <a:buChar char="•"/>
            </a:pPr>
            <a:r>
              <a:rPr lang="en-US" sz="2400" dirty="0"/>
              <a:t>32.07 Explain the operation of exhaust system components, including the exhaust manifold, gaskets, exhaust pipe and seal, catalytic converter, muffler, resonator, tailpipe, clamps, brackets, and hangers.</a:t>
            </a:r>
          </a:p>
          <a:p>
            <a:pPr marL="357188" marR="0" lvl="0" indent="-357188" algn="l" rtl="0">
              <a:buSzPct val="100000"/>
              <a:buChar char="•"/>
            </a:pPr>
            <a:r>
              <a:rPr lang="en-US" sz="2400" dirty="0"/>
              <a:t>32.08 Properly perform an exhaust system inspection, and service and replace exhaust system components.</a:t>
            </a:r>
          </a:p>
        </p:txBody>
      </p:sp>
    </p:spTree>
    <p:extLst>
      <p:ext uri="{BB962C8B-B14F-4D97-AF65-F5344CB8AC3E}">
        <p14:creationId xmlns:p14="http://schemas.microsoft.com/office/powerpoint/2010/main" val="2794311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Vacuum Systems</a:t>
            </a:r>
            <a:endParaRPr sz="3600" dirty="0"/>
          </a:p>
        </p:txBody>
      </p:sp>
      <p:sp>
        <p:nvSpPr>
          <p:cNvPr id="145" name="Google Shape;145;p4"/>
          <p:cNvSpPr txBox="1">
            <a:spLocks noGrp="1"/>
          </p:cNvSpPr>
          <p:nvPr>
            <p:ph type="body" idx="1"/>
          </p:nvPr>
        </p:nvSpPr>
        <p:spPr>
          <a:xfrm>
            <a:off x="476843" y="1563624"/>
            <a:ext cx="6637941" cy="4280749"/>
          </a:xfrm>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ts val="2800"/>
              <a:buNone/>
            </a:pPr>
            <a:r>
              <a:rPr lang="en-US" sz="2000" b="1" dirty="0"/>
              <a:t>32.01 Explain the source of engine vacuum and perform engine vacuum tests.</a:t>
            </a:r>
          </a:p>
          <a:p>
            <a:pPr marL="285750" indent="-285750">
              <a:lnSpc>
                <a:spcPct val="107000"/>
              </a:lnSpc>
              <a:spcBef>
                <a:spcPts val="0"/>
              </a:spcBef>
              <a:buSzPct val="100000"/>
            </a:pPr>
            <a:r>
              <a:rPr lang="en-US" sz="2000" dirty="0"/>
              <a:t>The vacuum in the intake manifold is created by the pistons pumping air against a restriction (throttle plate).</a:t>
            </a:r>
          </a:p>
          <a:p>
            <a:pPr marL="285750" indent="-285750">
              <a:lnSpc>
                <a:spcPct val="107000"/>
              </a:lnSpc>
              <a:spcBef>
                <a:spcPts val="0"/>
              </a:spcBef>
              <a:buSzPct val="100000"/>
            </a:pPr>
            <a:r>
              <a:rPr lang="en-US" sz="2000" dirty="0"/>
              <a:t>The vacuum draws the air into the cylinders and is used to operate or control many systems, such as emission controls, power brake boosters, parking brake releases, ventilation system components, and cruise control on older vehicles.</a:t>
            </a:r>
          </a:p>
          <a:p>
            <a:pPr marL="285750" indent="-285750">
              <a:lnSpc>
                <a:spcPct val="107000"/>
              </a:lnSpc>
              <a:spcBef>
                <a:spcPts val="0"/>
              </a:spcBef>
              <a:buSzPct val="100000"/>
            </a:pPr>
            <a:r>
              <a:rPr lang="en-US" sz="2000" dirty="0"/>
              <a:t>Vacuum is applied to these systems through a network of hoses, tubes, and control valves.</a:t>
            </a:r>
          </a:p>
        </p:txBody>
      </p:sp>
      <p:pic>
        <p:nvPicPr>
          <p:cNvPr id="8" name="Picture Placeholder 7" descr="The structure of different types of vacuum devices and controls. A fuel pressure regulator is connected to the Manifold vacuum. Manifold absolute pressure sensor (M A P) and E G R vacuum regulator (E V R) lead To manifold vacuum. The combination positive crankcase ventilation valve (P C V) and vacuum connector are connected to the Canister purge solenoid (C A N P/C P R V) which is connected to the Fuel vapor storage canister. A pipe at the bottom leads To fuel tank.">
            <a:extLst>
              <a:ext uri="{FF2B5EF4-FFF2-40B4-BE49-F238E27FC236}">
                <a16:creationId xmlns:a16="http://schemas.microsoft.com/office/drawing/2014/main" id="{3CC25BE8-3A2D-71F8-1A0E-A9003805ECF8}"/>
              </a:ext>
            </a:extLst>
          </p:cNvPr>
          <p:cNvPicPr>
            <a:picLocks noGrp="1" noChangeAspect="1"/>
          </p:cNvPicPr>
          <p:nvPr>
            <p:ph type="pic" sz="quarter" idx="12"/>
          </p:nvPr>
        </p:nvPicPr>
        <p:blipFill rotWithShape="1">
          <a:blip r:embed="rId3"/>
          <a:srcRect b="6318"/>
          <a:stretch/>
        </p:blipFill>
        <p:spPr>
          <a:xfrm>
            <a:off x="7315754" y="2350077"/>
            <a:ext cx="4541773" cy="2522548"/>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Vacuum Basics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spcAft>
                <a:spcPts val="0"/>
              </a:spcAft>
              <a:buSzPct val="100000"/>
            </a:pPr>
            <a:r>
              <a:rPr lang="en-US" sz="1800" dirty="0">
                <a:solidFill>
                  <a:schemeClr val="tx1"/>
                </a:solidFill>
              </a:rPr>
              <a:t>Vacuum is measured in relation to atmospheric pressure.</a:t>
            </a:r>
          </a:p>
          <a:p>
            <a:pPr marL="358775" indent="-358775">
              <a:spcAft>
                <a:spcPts val="0"/>
              </a:spcAft>
              <a:buSzPct val="100000"/>
            </a:pPr>
            <a:r>
              <a:rPr lang="en-US" sz="1800" dirty="0">
                <a:solidFill>
                  <a:schemeClr val="tx1"/>
                </a:solidFill>
              </a:rPr>
              <a:t>At sea level, atmospheric pressure is 14.7 psi and is zero on most pressure gauges.</a:t>
            </a:r>
          </a:p>
          <a:p>
            <a:pPr marL="358775" indent="-358775">
              <a:spcAft>
                <a:spcPts val="0"/>
              </a:spcAft>
              <a:buSzPct val="100000"/>
            </a:pPr>
            <a:r>
              <a:rPr lang="en-US" sz="1800" dirty="0">
                <a:solidFill>
                  <a:schemeClr val="tx1"/>
                </a:solidFill>
              </a:rPr>
              <a:t>This does not mean that there is no pressure; rather, it means the gauge is designed to read pressures greater than atmospheric pressure.</a:t>
            </a:r>
          </a:p>
          <a:p>
            <a:pPr marL="358775" indent="-358775">
              <a:spcAft>
                <a:spcPts val="0"/>
              </a:spcAft>
              <a:buSzPct val="100000"/>
            </a:pPr>
            <a:r>
              <a:rPr lang="en-US" sz="1800" dirty="0">
                <a:solidFill>
                  <a:schemeClr val="tx1"/>
                </a:solidFill>
              </a:rPr>
              <a:t>Measurements taken on this type of gauge are given in pounds per square inch and should be referred to as psig (pounds per square inch gauge).</a:t>
            </a:r>
          </a:p>
          <a:p>
            <a:pPr marL="358775" indent="-358775">
              <a:spcAft>
                <a:spcPts val="0"/>
              </a:spcAft>
              <a:buSzPct val="100000"/>
            </a:pPr>
            <a:r>
              <a:rPr lang="en-US" sz="1800" dirty="0">
                <a:solidFill>
                  <a:schemeClr val="tx1"/>
                </a:solidFill>
              </a:rPr>
              <a:t>Some gauges read in bar, kP, or inches of mercury.</a:t>
            </a:r>
          </a:p>
          <a:p>
            <a:pPr marL="358775" indent="-358775">
              <a:spcAft>
                <a:spcPts val="0"/>
              </a:spcAft>
              <a:buSzPct val="100000"/>
            </a:pPr>
            <a:r>
              <a:rPr lang="en-US" sz="1800" dirty="0">
                <a:solidFill>
                  <a:schemeClr val="tx1"/>
                </a:solidFill>
              </a:rPr>
              <a:t>Gauges and other measuring devices that include atmospheric pressure in their readings also display their measurements in psi.</a:t>
            </a:r>
          </a:p>
          <a:p>
            <a:pPr marL="358775" indent="-358775">
              <a:spcAft>
                <a:spcPts val="0"/>
              </a:spcAft>
              <a:buSzPct val="100000"/>
            </a:pPr>
            <a:r>
              <a:rPr lang="en-US" sz="1800" dirty="0">
                <a:solidFill>
                  <a:schemeClr val="tx1"/>
                </a:solidFill>
              </a:rPr>
              <a:t>However, the measurements on these gauges should be referred to as psia (pounds per square inch absolute).</a:t>
            </a:r>
          </a:p>
          <a:p>
            <a:pPr marL="358775" indent="-358775">
              <a:spcAft>
                <a:spcPts val="0"/>
              </a:spcAft>
              <a:buSzPct val="100000"/>
            </a:pPr>
            <a:r>
              <a:rPr lang="en-US" sz="1800" dirty="0">
                <a:solidFill>
                  <a:schemeClr val="tx1"/>
                </a:solidFill>
              </a:rPr>
              <a:t>There is a big difference between 12 psia and 12 psig—12 psia is less than atmospheric pressure and therefore would represent a vacuum, whereas 12 psig would be approximately 26.7 psia.</a:t>
            </a:r>
          </a:p>
        </p:txBody>
      </p:sp>
    </p:spTree>
    <p:extLst>
      <p:ext uri="{BB962C8B-B14F-4D97-AF65-F5344CB8AC3E}">
        <p14:creationId xmlns:p14="http://schemas.microsoft.com/office/powerpoint/2010/main" val="4161274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Diagnosis and Troubleshooting</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32.03 Inspect and troubleshoot vacuum and air induction systems.</a:t>
            </a:r>
            <a:endParaRPr lang="en-US" sz="2000" dirty="0"/>
          </a:p>
          <a:p>
            <a:pPr marL="358775" indent="-358775">
              <a:buSzPct val="100000"/>
            </a:pPr>
            <a:r>
              <a:rPr lang="en-US" sz="1800" dirty="0"/>
              <a:t>Vacuum problems can produce or contribute to the following driveability symptoms: </a:t>
            </a:r>
          </a:p>
          <a:p>
            <a:pPr marL="358775" indent="-358775">
              <a:buSzPct val="100000"/>
            </a:pPr>
            <a:r>
              <a:rPr lang="en-US" sz="1800" dirty="0"/>
              <a:t>Stalling, poor starting, backfiring, rough idle, poor acceleration, rich or lean stumble, overheating, detonation, rotten eggs exhaust odor, poor fuel economy.</a:t>
            </a:r>
          </a:p>
          <a:p>
            <a:pPr marL="358775" indent="-358775">
              <a:buSzPct val="100000"/>
            </a:pPr>
            <a:r>
              <a:rPr lang="en-US" sz="1800" dirty="0"/>
              <a:t>Whenever there is a driveability problem, especially if lean fuel trim codes are present, here are some of the things to do:</a:t>
            </a:r>
          </a:p>
          <a:p>
            <a:pPr marL="715963" lvl="1" indent="-357188">
              <a:buSzPct val="100000"/>
            </a:pPr>
            <a:r>
              <a:rPr lang="en-US" sz="1600" dirty="0"/>
              <a:t>Inspect vacuum hoses for improper routing or disconnections.</a:t>
            </a:r>
          </a:p>
          <a:p>
            <a:pPr marL="715963" lvl="1" indent="-357188">
              <a:buSzPct val="100000"/>
            </a:pPr>
            <a:r>
              <a:rPr lang="en-US" sz="1600" dirty="0"/>
              <a:t>Look for cut or disconnected hoses that will allow more air into the intake manifold than the engine is calibrated for.</a:t>
            </a:r>
          </a:p>
          <a:p>
            <a:pPr marL="715963" lvl="1" indent="-357188">
              <a:buSzPct val="100000"/>
            </a:pPr>
            <a:r>
              <a:rPr lang="en-US" sz="1600" dirty="0"/>
              <a:t>Look for kinks in the lines and hoses that can cut off vacuum to a component, thereby disabling it.</a:t>
            </a:r>
          </a:p>
          <a:p>
            <a:pPr marL="715963" lvl="1" indent="-357188">
              <a:buSzPct val="100000"/>
            </a:pPr>
            <a:r>
              <a:rPr lang="en-US" sz="1600" dirty="0"/>
              <a:t>Check for vacuum hose routing and wear near hot spots, such as the exhaust manifold or EGR tubes.</a:t>
            </a:r>
          </a:p>
        </p:txBody>
      </p:sp>
    </p:spTree>
    <p:extLst>
      <p:ext uri="{BB962C8B-B14F-4D97-AF65-F5344CB8AC3E}">
        <p14:creationId xmlns:p14="http://schemas.microsoft.com/office/powerpoint/2010/main" val="3519470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Air Induction System</a:t>
            </a:r>
            <a:endParaRPr sz="3600" dirty="0"/>
          </a:p>
        </p:txBody>
      </p:sp>
      <p:sp>
        <p:nvSpPr>
          <p:cNvPr id="145" name="Google Shape;145;p4"/>
          <p:cNvSpPr txBox="1">
            <a:spLocks noGrp="1"/>
          </p:cNvSpPr>
          <p:nvPr>
            <p:ph type="body" idx="1"/>
          </p:nvPr>
        </p:nvSpPr>
        <p:spPr>
          <a:xfrm>
            <a:off x="476844" y="1563625"/>
            <a:ext cx="7351923" cy="4611708"/>
          </a:xfrm>
          <a:prstGeom prst="rect">
            <a:avLst/>
          </a:prstGeom>
          <a:noFill/>
          <a:ln>
            <a:noFill/>
          </a:ln>
        </p:spPr>
        <p:txBody>
          <a:bodyPr spcFirstLastPara="1" wrap="square" lIns="91425" tIns="45700" rIns="91425" bIns="45700" anchor="t" anchorCtr="0">
            <a:noAutofit/>
          </a:bodyPr>
          <a:lstStyle/>
          <a:p>
            <a:pPr marL="0" indent="0">
              <a:buSzPts val="2800"/>
              <a:buNone/>
            </a:pPr>
            <a:r>
              <a:rPr lang="en-US" sz="1800" b="1" dirty="0"/>
              <a:t>32.02 Explain the operation of the components in the air induction system, including ductwork, air cleaner/ filters, and intake manifolds.</a:t>
            </a:r>
            <a:endParaRPr lang="en-US" sz="1800" dirty="0"/>
          </a:p>
          <a:p>
            <a:pPr marL="285750" indent="-285750">
              <a:buSzPct val="100000"/>
            </a:pPr>
            <a:r>
              <a:rPr lang="en-US" sz="1800" dirty="0"/>
              <a:t>The air induction system directs outside air to the engine’s cylinders.</a:t>
            </a:r>
          </a:p>
          <a:p>
            <a:pPr marL="285750" indent="-285750">
              <a:buSzPct val="100000"/>
            </a:pPr>
            <a:r>
              <a:rPr lang="en-US" sz="1800" dirty="0"/>
              <a:t>The induction system comprises ductwork that channels outside air to an air cleaner that removes dirt from the air, ductwork that connects the filter to the throttle body, and an intake manifold that distributes the air to the engine’s cylinders.</a:t>
            </a:r>
          </a:p>
          <a:p>
            <a:pPr marL="285750" indent="-285750">
              <a:buSzPct val="100000"/>
            </a:pPr>
            <a:r>
              <a:rPr lang="en-US" sz="1800" dirty="0"/>
              <a:t>Within the induction system are sensors that measure intake air temperature and airflow.</a:t>
            </a:r>
          </a:p>
          <a:p>
            <a:pPr marL="285750" indent="-285750">
              <a:buSzPct val="100000"/>
            </a:pPr>
            <a:r>
              <a:rPr lang="en-US" sz="1800" dirty="0"/>
              <a:t>An inspection of the air induction system should be part of diagnosing a driveability problem.</a:t>
            </a:r>
          </a:p>
        </p:txBody>
      </p:sp>
      <p:pic>
        <p:nvPicPr>
          <p:cNvPr id="8" name="Picture Placeholder 7" descr="In an induction system for a late-model engine, the outside air passes through the air filter assembly, removing dirt from the air. The ductwork connects the filter to the throttle body, turbocharger, and an intake manifold that distributes the air to the engine’s cylinders.">
            <a:extLst>
              <a:ext uri="{FF2B5EF4-FFF2-40B4-BE49-F238E27FC236}">
                <a16:creationId xmlns:a16="http://schemas.microsoft.com/office/drawing/2014/main" id="{F5F700D4-75E4-0F7C-63FE-8CC47ADD6870}"/>
              </a:ext>
            </a:extLst>
          </p:cNvPr>
          <p:cNvPicPr>
            <a:picLocks noGrp="1" noChangeAspect="1"/>
          </p:cNvPicPr>
          <p:nvPr>
            <p:ph type="pic" sz="quarter" idx="13"/>
          </p:nvPr>
        </p:nvPicPr>
        <p:blipFill rotWithShape="1">
          <a:blip r:embed="rId3"/>
          <a:srcRect b="10726"/>
          <a:stretch/>
        </p:blipFill>
        <p:spPr>
          <a:xfrm>
            <a:off x="7828767" y="2178040"/>
            <a:ext cx="4148696" cy="3116335"/>
          </a:xfrm>
          <a:prstGeom prst="rect">
            <a:avLst/>
          </a:prstGeom>
        </p:spPr>
      </p:pic>
    </p:spTree>
    <p:extLst>
      <p:ext uri="{BB962C8B-B14F-4D97-AF65-F5344CB8AC3E}">
        <p14:creationId xmlns:p14="http://schemas.microsoft.com/office/powerpoint/2010/main" val="34669905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Air Cleaner/Filter</a:t>
            </a:r>
            <a:endParaRPr sz="3600" dirty="0"/>
          </a:p>
        </p:txBody>
      </p:sp>
      <p:sp>
        <p:nvSpPr>
          <p:cNvPr id="145" name="Google Shape;145;p4"/>
          <p:cNvSpPr txBox="1">
            <a:spLocks noGrp="1"/>
          </p:cNvSpPr>
          <p:nvPr>
            <p:ph type="body" idx="1"/>
          </p:nvPr>
        </p:nvSpPr>
        <p:spPr>
          <a:xfrm>
            <a:off x="476843" y="1563625"/>
            <a:ext cx="7493265" cy="4540614"/>
          </a:xfrm>
          <a:prstGeom prst="rect">
            <a:avLst/>
          </a:prstGeom>
          <a:noFill/>
          <a:ln>
            <a:noFill/>
          </a:ln>
        </p:spPr>
        <p:txBody>
          <a:bodyPr spcFirstLastPara="1" wrap="square" lIns="91425" tIns="45700" rIns="91425" bIns="45700" anchor="t" anchorCtr="0">
            <a:noAutofit/>
          </a:bodyPr>
          <a:lstStyle/>
          <a:p>
            <a:pPr marL="285750" indent="-285750">
              <a:buSzPct val="100000"/>
            </a:pPr>
            <a:r>
              <a:rPr lang="en-US" sz="2000" dirty="0"/>
              <a:t>The primary purpose of the air filter is to prevent airborne contaminants and abrasives from entering the cylinders.</a:t>
            </a:r>
          </a:p>
          <a:p>
            <a:pPr marL="285750" indent="-285750">
              <a:buSzPct val="100000"/>
            </a:pPr>
            <a:r>
              <a:rPr lang="en-US" sz="2000" dirty="0"/>
              <a:t>These contaminants can cause serious damage and appreciably shorten engine life. Therefore, all intake air should pass through the filter before entering the engine.</a:t>
            </a:r>
          </a:p>
          <a:p>
            <a:pPr marL="285750" indent="-285750">
              <a:buSzPct val="100000"/>
            </a:pPr>
            <a:r>
              <a:rPr lang="en-US" sz="2000" dirty="0"/>
              <a:t>It is inside a sealed air cleaner assembly.</a:t>
            </a:r>
          </a:p>
          <a:p>
            <a:pPr marL="285750" indent="-285750">
              <a:buSzPct val="100000"/>
            </a:pPr>
            <a:r>
              <a:rPr lang="en-US" sz="2000" dirty="0"/>
              <a:t>This assembly is also used to direct the airflow and reduce the noise caused by the movement of intake air.</a:t>
            </a:r>
          </a:p>
          <a:p>
            <a:pPr marL="285750" indent="-285750">
              <a:buSzPct val="100000"/>
            </a:pPr>
            <a:r>
              <a:rPr lang="en-US" sz="2000" dirty="0"/>
              <a:t>It also provides filtered air to the PCV system and provides engine compartment fire protection.</a:t>
            </a:r>
          </a:p>
        </p:txBody>
      </p:sp>
      <p:pic>
        <p:nvPicPr>
          <p:cNvPr id="8" name="Picture Placeholder 7" descr="An air filter to prevent airborne contaminants and abrasives from entering the cylinders is attached to a current engine.">
            <a:extLst>
              <a:ext uri="{FF2B5EF4-FFF2-40B4-BE49-F238E27FC236}">
                <a16:creationId xmlns:a16="http://schemas.microsoft.com/office/drawing/2014/main" id="{CD72055D-6A33-A814-D008-6A85CB9E11C0}"/>
              </a:ext>
            </a:extLst>
          </p:cNvPr>
          <p:cNvPicPr>
            <a:picLocks noGrp="1" noChangeAspect="1"/>
          </p:cNvPicPr>
          <p:nvPr>
            <p:ph type="pic" sz="quarter" idx="13"/>
          </p:nvPr>
        </p:nvPicPr>
        <p:blipFill rotWithShape="1">
          <a:blip r:embed="rId3"/>
          <a:srcRect b="12942"/>
          <a:stretch/>
        </p:blipFill>
        <p:spPr>
          <a:xfrm>
            <a:off x="8194766" y="2480153"/>
            <a:ext cx="3780776" cy="2462551"/>
          </a:xfrm>
          <a:prstGeom prst="rect">
            <a:avLst/>
          </a:prstGeom>
        </p:spPr>
      </p:pic>
    </p:spTree>
    <p:extLst>
      <p:ext uri="{BB962C8B-B14F-4D97-AF65-F5344CB8AC3E}">
        <p14:creationId xmlns:p14="http://schemas.microsoft.com/office/powerpoint/2010/main" val="717145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Induction Hoses</a:t>
            </a:r>
            <a:endParaRPr sz="3600" dirty="0"/>
          </a:p>
        </p:txBody>
      </p:sp>
      <p:pic>
        <p:nvPicPr>
          <p:cNvPr id="8" name="Picture Placeholder 7" descr="A network of induction hoses and pipes enter a Camaro engine, to route air into the engine.">
            <a:extLst>
              <a:ext uri="{FF2B5EF4-FFF2-40B4-BE49-F238E27FC236}">
                <a16:creationId xmlns:a16="http://schemas.microsoft.com/office/drawing/2014/main" id="{FC5CEB5F-6538-951D-521B-40E5CFF64691}"/>
              </a:ext>
            </a:extLst>
          </p:cNvPr>
          <p:cNvPicPr>
            <a:picLocks noGrp="1" noChangeAspect="1"/>
          </p:cNvPicPr>
          <p:nvPr>
            <p:ph type="pic" sz="quarter" idx="12"/>
          </p:nvPr>
        </p:nvPicPr>
        <p:blipFill rotWithShape="1">
          <a:blip r:embed="rId3"/>
          <a:srcRect b="11913"/>
          <a:stretch/>
        </p:blipFill>
        <p:spPr>
          <a:xfrm>
            <a:off x="734942" y="2322822"/>
            <a:ext cx="3925553" cy="2545740"/>
          </a:xfrm>
          <a:prstGeom prst="rect">
            <a:avLst/>
          </a:prstGeom>
        </p:spPr>
      </p:pic>
      <p:sp>
        <p:nvSpPr>
          <p:cNvPr id="145" name="Google Shape;145;p4"/>
          <p:cNvSpPr txBox="1">
            <a:spLocks noGrp="1"/>
          </p:cNvSpPr>
          <p:nvPr>
            <p:ph type="body" idx="1"/>
          </p:nvPr>
        </p:nvSpPr>
        <p:spPr>
          <a:xfrm>
            <a:off x="4930346" y="1563624"/>
            <a:ext cx="6788411" cy="4466473"/>
          </a:xfrm>
          <a:prstGeom prst="rect">
            <a:avLst/>
          </a:prstGeom>
          <a:noFill/>
          <a:ln>
            <a:noFill/>
          </a:ln>
        </p:spPr>
        <p:txBody>
          <a:bodyPr spcFirstLastPara="1" wrap="square" lIns="91425" tIns="45700" rIns="91425" bIns="45700" anchor="t" anchorCtr="0">
            <a:noAutofit/>
          </a:bodyPr>
          <a:lstStyle/>
          <a:p>
            <a:pPr marL="285750" indent="-285750">
              <a:buSzPct val="100000"/>
            </a:pPr>
            <a:r>
              <a:rPr lang="en-US" sz="1800" dirty="0"/>
              <a:t>To route air into the engine, a network of induction hoses and pipes are used.</a:t>
            </a:r>
          </a:p>
          <a:p>
            <a:pPr marL="285750" indent="-285750">
              <a:buSzPct val="100000"/>
            </a:pPr>
            <a:r>
              <a:rPr lang="en-US" sz="1800" dirty="0"/>
              <a:t>Air enters through the fresh air inlet and passes through induction hoses and pipes.</a:t>
            </a:r>
          </a:p>
          <a:p>
            <a:pPr marL="285750" indent="-285750">
              <a:buSzPct val="100000"/>
            </a:pPr>
            <a:r>
              <a:rPr lang="en-US" sz="1800" dirty="0"/>
              <a:t>Induction hoses are typically flexible rubber hoses.</a:t>
            </a:r>
          </a:p>
          <a:p>
            <a:pPr marL="285750" indent="-285750">
              <a:buSzPct val="100000"/>
            </a:pPr>
            <a:r>
              <a:rPr lang="en-US" sz="1800" dirty="0"/>
              <a:t>Some vehicles use rigid plastic pipes to move air that may also have a Helmholtz chamber or resonator.</a:t>
            </a:r>
          </a:p>
          <a:p>
            <a:pPr marL="285750" indent="-285750">
              <a:buSzPct val="100000"/>
            </a:pPr>
            <a:r>
              <a:rPr lang="en-US" sz="1800" dirty="0"/>
              <a:t>The purpose of the chamber is to reduce noises generated by air moving through the induction system and intake manifold.</a:t>
            </a:r>
          </a:p>
          <a:p>
            <a:pPr marL="285750" indent="-285750">
              <a:buSzPct val="100000"/>
            </a:pPr>
            <a:r>
              <a:rPr lang="en-US" sz="1800" dirty="0"/>
              <a:t>Some vehicles use sound enhancing systems that route hoses from the induction system to the passenger compartment.</a:t>
            </a:r>
          </a:p>
        </p:txBody>
      </p:sp>
    </p:spTree>
    <p:extLst>
      <p:ext uri="{BB962C8B-B14F-4D97-AF65-F5344CB8AC3E}">
        <p14:creationId xmlns:p14="http://schemas.microsoft.com/office/powerpoint/2010/main" val="2687359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Intake Manifolds</a:t>
            </a:r>
            <a:endParaRPr sz="3600" dirty="0"/>
          </a:p>
        </p:txBody>
      </p:sp>
      <p:pic>
        <p:nvPicPr>
          <p:cNvPr id="8" name="Picture Placeholder 7" descr="The structure of a late-model intake manifold for a four-cylinder engine. A Throttle air bypass valve is present above the Throttle position sensor, which is above the Fuel pressure regulator. An Upper intake manifold is present to the left of the Throttle air bypass valve. A Fuel pressure test valve is present on a Fuel rail, which is connected to the Lower intake manifold through Injector.">
            <a:extLst>
              <a:ext uri="{FF2B5EF4-FFF2-40B4-BE49-F238E27FC236}">
                <a16:creationId xmlns:a16="http://schemas.microsoft.com/office/drawing/2014/main" id="{74AC90B9-D144-1AC1-7AC4-C758C4E4DB77}"/>
              </a:ext>
            </a:extLst>
          </p:cNvPr>
          <p:cNvPicPr>
            <a:picLocks noGrp="1" noChangeAspect="1"/>
          </p:cNvPicPr>
          <p:nvPr>
            <p:ph type="pic" sz="quarter" idx="12"/>
          </p:nvPr>
        </p:nvPicPr>
        <p:blipFill rotWithShape="1">
          <a:blip r:embed="rId3"/>
          <a:srcRect b="7310"/>
          <a:stretch/>
        </p:blipFill>
        <p:spPr>
          <a:xfrm>
            <a:off x="736146" y="2045873"/>
            <a:ext cx="4530196" cy="3290214"/>
          </a:xfrm>
          <a:prstGeom prst="rect">
            <a:avLst/>
          </a:prstGeom>
        </p:spPr>
      </p:pic>
      <p:sp>
        <p:nvSpPr>
          <p:cNvPr id="145" name="Google Shape;145;p4"/>
          <p:cNvSpPr txBox="1">
            <a:spLocks noGrp="1"/>
          </p:cNvSpPr>
          <p:nvPr>
            <p:ph type="body" idx="1"/>
          </p:nvPr>
        </p:nvSpPr>
        <p:spPr>
          <a:xfrm>
            <a:off x="5511451" y="1528155"/>
            <a:ext cx="6343231" cy="4625508"/>
          </a:xfrm>
          <a:prstGeom prst="rect">
            <a:avLst/>
          </a:prstGeom>
          <a:noFill/>
          <a:ln>
            <a:noFill/>
          </a:ln>
        </p:spPr>
        <p:txBody>
          <a:bodyPr spcFirstLastPara="1" wrap="square" lIns="91425" tIns="45700" rIns="91425" bIns="45700" anchor="t" anchorCtr="0">
            <a:noAutofit/>
          </a:bodyPr>
          <a:lstStyle/>
          <a:p>
            <a:pPr marL="358775" indent="-358775">
              <a:spcAft>
                <a:spcPts val="0"/>
              </a:spcAft>
              <a:buSzPct val="100000"/>
            </a:pPr>
            <a:r>
              <a:rPr lang="en-US" sz="2000" dirty="0">
                <a:solidFill>
                  <a:schemeClr val="accent1"/>
                </a:solidFill>
              </a:rPr>
              <a:t>An intake manifold distributes the clean air or air–fuel ratio as evenly as possible to each cylinder of the engine.</a:t>
            </a:r>
          </a:p>
          <a:p>
            <a:pPr marL="358775" indent="-358775">
              <a:spcAft>
                <a:spcPts val="0"/>
              </a:spcAft>
              <a:buSzPct val="100000"/>
            </a:pPr>
            <a:r>
              <a:rPr lang="en-US" sz="2000" dirty="0">
                <a:solidFill>
                  <a:schemeClr val="accent1"/>
                </a:solidFill>
              </a:rPr>
              <a:t>Intake manifolds also serve as the mounting point for many intake-related accessories (such as the fuel injectors, fuel rail, and throttle body) and sensors.</a:t>
            </a:r>
          </a:p>
          <a:p>
            <a:pPr marL="358775" indent="-358775">
              <a:spcAft>
                <a:spcPts val="0"/>
              </a:spcAft>
              <a:buSzPct val="100000"/>
            </a:pPr>
            <a:r>
              <a:rPr lang="en-US" sz="2000" dirty="0">
                <a:solidFill>
                  <a:schemeClr val="accent1"/>
                </a:solidFill>
              </a:rPr>
              <a:t>Some include a provision for mounting the thermostat and thermostat housing.</a:t>
            </a:r>
          </a:p>
          <a:p>
            <a:pPr marL="358775" indent="-358775">
              <a:spcAft>
                <a:spcPts val="0"/>
              </a:spcAft>
              <a:buSzPct val="100000"/>
            </a:pPr>
            <a:r>
              <a:rPr lang="en-US" sz="2000" dirty="0">
                <a:solidFill>
                  <a:schemeClr val="accent1"/>
                </a:solidFill>
              </a:rPr>
              <a:t>Intake manifolds for today’s engines are typically made of die-cast aluminum  or more commonly, plastic.</a:t>
            </a:r>
          </a:p>
          <a:p>
            <a:pPr marL="358775" indent="-358775">
              <a:spcAft>
                <a:spcPts val="0"/>
              </a:spcAft>
              <a:buSzPct val="100000"/>
            </a:pPr>
            <a:r>
              <a:rPr lang="en-US" sz="2000" dirty="0">
                <a:solidFill>
                  <a:schemeClr val="accent1"/>
                </a:solidFill>
              </a:rPr>
              <a:t>These materials are used to reduce weight. </a:t>
            </a:r>
          </a:p>
        </p:txBody>
      </p:sp>
    </p:spTree>
    <p:extLst>
      <p:ext uri="{BB962C8B-B14F-4D97-AF65-F5344CB8AC3E}">
        <p14:creationId xmlns:p14="http://schemas.microsoft.com/office/powerpoint/2010/main" val="673132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Design Variations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buSzPct val="100000"/>
            </a:pPr>
            <a:r>
              <a:rPr lang="en-US" sz="2000" dirty="0"/>
              <a:t>Basic manifold design varies with the different types of engine.</a:t>
            </a:r>
          </a:p>
          <a:p>
            <a:pPr marL="358775" indent="-358775">
              <a:buSzPct val="100000"/>
            </a:pPr>
            <a:r>
              <a:rPr lang="en-US" sz="2000" dirty="0"/>
              <a:t>For example, the intake manifold for a four-cylinder engine has either four runners or two runners that break into four near the cylinder head.</a:t>
            </a:r>
          </a:p>
          <a:p>
            <a:pPr marL="358775" indent="-358775">
              <a:buSzPct val="100000"/>
            </a:pPr>
            <a:r>
              <a:rPr lang="en-US" sz="2000" dirty="0"/>
              <a:t>Inline six-cylinder engines have six runners or three that branch off into six near the cylinder head.</a:t>
            </a:r>
          </a:p>
          <a:p>
            <a:pPr marL="358775" indent="-358775">
              <a:buSzPct val="100000"/>
            </a:pPr>
            <a:r>
              <a:rPr lang="en-US" sz="2000" dirty="0"/>
              <a:t>On V-type engines, there are individual runners for each cylinder.</a:t>
            </a:r>
          </a:p>
          <a:p>
            <a:pPr marL="358775" indent="-358775">
              <a:buSzPct val="100000"/>
            </a:pPr>
            <a:r>
              <a:rPr lang="en-US" sz="2000" dirty="0"/>
              <a:t>An intake manifold has two basic components: a plenum area and runners.</a:t>
            </a:r>
          </a:p>
          <a:p>
            <a:pPr marL="358775" indent="-358775">
              <a:buSzPct val="100000"/>
            </a:pPr>
            <a:r>
              <a:rPr lang="en-US" sz="2000" dirty="0"/>
              <a:t>As air first enters the intake manifold, it moves into the plenum.</a:t>
            </a:r>
          </a:p>
          <a:p>
            <a:pPr marL="358775" indent="-358775">
              <a:buSzPct val="100000"/>
            </a:pPr>
            <a:r>
              <a:rPr lang="en-US" sz="2000" dirty="0"/>
              <a:t>The air then moves from the plenum through the runners to the cylinders.</a:t>
            </a:r>
          </a:p>
          <a:p>
            <a:pPr marL="358775" indent="-358775">
              <a:buSzPct val="100000"/>
            </a:pPr>
            <a:r>
              <a:rPr lang="en-US" sz="2000" dirty="0"/>
              <a:t>The size and shape of the plenum and runners are designed for a specific engine and application.</a:t>
            </a:r>
          </a:p>
        </p:txBody>
      </p:sp>
    </p:spTree>
    <p:extLst>
      <p:ext uri="{BB962C8B-B14F-4D97-AF65-F5344CB8AC3E}">
        <p14:creationId xmlns:p14="http://schemas.microsoft.com/office/powerpoint/2010/main" val="460015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Water Injection Systems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buSzPct val="100000"/>
            </a:pPr>
            <a:r>
              <a:rPr lang="en-US" sz="1800" dirty="0"/>
              <a:t>To extract even more power and efficiency from an engine, the twin-turbocharged six-cylinder engine that powers the BMW M4 GTS is fitted with a water injection system that sprays a cooling mist into the intake air.</a:t>
            </a:r>
          </a:p>
          <a:p>
            <a:pPr marL="358775" indent="-358775">
              <a:buSzPct val="100000"/>
            </a:pPr>
            <a:r>
              <a:rPr lang="en-US" sz="1800" dirty="0"/>
              <a:t>This reduces the temperature in the cylinder, which improves combustion and allows the engine to run at higher boost levels by reducing knocking and heat-related stresses.</a:t>
            </a:r>
          </a:p>
          <a:p>
            <a:pPr marL="358775" indent="-358775">
              <a:buSzPct val="100000"/>
            </a:pPr>
            <a:r>
              <a:rPr lang="en-US" sz="1800" dirty="0"/>
              <a:t>A water injection ECM monitors and controls systems operation.</a:t>
            </a:r>
          </a:p>
          <a:p>
            <a:pPr marL="358775" indent="-358775">
              <a:buSzPct val="100000"/>
            </a:pPr>
            <a:r>
              <a:rPr lang="en-US" sz="1800" dirty="0"/>
              <a:t>Once injected into the cylinders, the water quickly evaporates, lowering the temperature of incoming air.</a:t>
            </a:r>
          </a:p>
          <a:p>
            <a:pPr marL="358775" indent="-358775">
              <a:buSzPct val="100000"/>
            </a:pPr>
            <a:r>
              <a:rPr lang="en-US" sz="1800" dirty="0"/>
              <a:t>The system lowers the air temperature more than an intercooler can (by as much as 80 °F or 26.7 °C).</a:t>
            </a:r>
          </a:p>
          <a:p>
            <a:pPr marL="358775" indent="-358775">
              <a:buSzPct val="100000"/>
            </a:pPr>
            <a:r>
              <a:rPr lang="en-US" sz="1800" dirty="0"/>
              <a:t>Therefore, the turbos can provide higher boost levels without causing engine knocking.</a:t>
            </a:r>
          </a:p>
          <a:p>
            <a:pPr marL="358775" indent="-358775">
              <a:buSzPct val="100000"/>
            </a:pPr>
            <a:r>
              <a:rPr lang="en-US" sz="1800" dirty="0"/>
              <a:t>Water injection decreases cylinder temperature and allows advanced ignition timing and higher compression ratios.</a:t>
            </a:r>
          </a:p>
        </p:txBody>
      </p:sp>
    </p:spTree>
    <p:extLst>
      <p:ext uri="{BB962C8B-B14F-4D97-AF65-F5344CB8AC3E}">
        <p14:creationId xmlns:p14="http://schemas.microsoft.com/office/powerpoint/2010/main" val="3135267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Servicing an Intake Manifold</a:t>
            </a:r>
            <a:endParaRPr sz="3600" dirty="0"/>
          </a:p>
        </p:txBody>
      </p:sp>
      <p:sp>
        <p:nvSpPr>
          <p:cNvPr id="145" name="Google Shape;145;p4"/>
          <p:cNvSpPr txBox="1">
            <a:spLocks noGrp="1"/>
          </p:cNvSpPr>
          <p:nvPr>
            <p:ph type="body" idx="1"/>
          </p:nvPr>
        </p:nvSpPr>
        <p:spPr>
          <a:xfrm>
            <a:off x="476843" y="1488468"/>
            <a:ext cx="11241915" cy="4613339"/>
          </a:xfrm>
          <a:prstGeom prst="rect">
            <a:avLst/>
          </a:prstGeom>
          <a:noFill/>
          <a:ln>
            <a:noFill/>
          </a:ln>
        </p:spPr>
        <p:txBody>
          <a:bodyPr spcFirstLastPara="1" wrap="square" lIns="91425" tIns="45700" rIns="91425" bIns="45700" anchor="t" anchorCtr="0">
            <a:noAutofit/>
          </a:bodyPr>
          <a:lstStyle/>
          <a:p>
            <a:pPr marL="358775" indent="-358775">
              <a:buSzPct val="100000"/>
            </a:pPr>
            <a:r>
              <a:rPr lang="en-US" sz="1800" dirty="0"/>
              <a:t>There are few reasons why an intake manifold would need to be replaced or repaired. If the manifold is cracked or the sealing surfaces are severely damaged, it should be replaced.</a:t>
            </a:r>
          </a:p>
          <a:p>
            <a:pPr marL="358775" indent="-358775">
              <a:buSzPct val="100000"/>
            </a:pPr>
            <a:r>
              <a:rPr lang="en-US" sz="1800" dirty="0"/>
              <a:t>When the manifold is removed or there is evidence of a leak between the manifold and the cylinder head, the sealing surfaces should be checked for flatness.</a:t>
            </a:r>
          </a:p>
          <a:p>
            <a:pPr marL="358775" indent="-358775">
              <a:buSzPct val="100000"/>
            </a:pPr>
            <a:r>
              <a:rPr lang="en-US" sz="1800" dirty="0"/>
              <a:t>This check should include coolant and oil passages.</a:t>
            </a:r>
          </a:p>
          <a:p>
            <a:pPr marL="358775" indent="-358775">
              <a:buSzPct val="100000"/>
            </a:pPr>
            <a:r>
              <a:rPr lang="en-US" sz="1800" dirty="0"/>
              <a:t>Minor imperfections on the surface can be filed smooth; however, never try to repair any serious damage.</a:t>
            </a:r>
          </a:p>
          <a:p>
            <a:pPr marL="358775" indent="-358775">
              <a:buSzPct val="100000"/>
            </a:pPr>
            <a:r>
              <a:rPr lang="en-US" sz="1800" dirty="0"/>
              <a:t>A leaking manifold gasket is one of the most common causes of internal coolant leaks.</a:t>
            </a:r>
          </a:p>
          <a:p>
            <a:pPr marL="358775" indent="-358775">
              <a:buSzPct val="100000"/>
            </a:pPr>
            <a:r>
              <a:rPr lang="en-US" sz="1800" dirty="0"/>
              <a:t>A bad gasket can also cause vacuum leaks.</a:t>
            </a:r>
          </a:p>
          <a:p>
            <a:pPr marL="358775" indent="-358775">
              <a:buSzPct val="100000"/>
            </a:pPr>
            <a:r>
              <a:rPr lang="en-US" sz="1800" dirty="0"/>
              <a:t>When installing an intake manifold, use new gaskets and seals.</a:t>
            </a:r>
          </a:p>
          <a:p>
            <a:pPr marL="358775" indent="-358775">
              <a:buSzPct val="100000"/>
            </a:pPr>
            <a:r>
              <a:rPr lang="en-US" sz="1800" dirty="0"/>
              <a:t>Make sure that the manifold and gasket are aligned properly.</a:t>
            </a:r>
          </a:p>
          <a:p>
            <a:pPr marL="358775" indent="-358775">
              <a:buSzPct val="100000"/>
            </a:pPr>
            <a:r>
              <a:rPr lang="en-US" sz="1800" dirty="0"/>
              <a:t>On V-type engines, the use of guide bolts helps to ensure proper alignment.</a:t>
            </a:r>
          </a:p>
        </p:txBody>
      </p:sp>
    </p:spTree>
    <p:extLst>
      <p:ext uri="{BB962C8B-B14F-4D97-AF65-F5344CB8AC3E}">
        <p14:creationId xmlns:p14="http://schemas.microsoft.com/office/powerpoint/2010/main" val="2403288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t>A vacuum leak can be caused by a leaking intake manifold _________.</a:t>
            </a:r>
            <a:endParaRPr lang="en-US" sz="2400" dirty="0"/>
          </a:p>
        </p:txBody>
      </p:sp>
    </p:spTree>
    <p:extLst>
      <p:ext uri="{BB962C8B-B14F-4D97-AF65-F5344CB8AC3E}">
        <p14:creationId xmlns:p14="http://schemas.microsoft.com/office/powerpoint/2010/main" val="23454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437E604C-860F-1F11-6F94-E784426FB77E}"/>
              </a:ext>
            </a:extLst>
          </p:cNvPr>
          <p:cNvSpPr>
            <a:spLocks noGrp="1"/>
          </p:cNvSpPr>
          <p:nvPr>
            <p:ph type="body" idx="1"/>
          </p:nvPr>
        </p:nvSpPr>
        <p:spPr/>
        <p:txBody>
          <a:bodyPr/>
          <a:lstStyle/>
          <a:p>
            <a:pPr marL="360362" lvl="1" indent="0">
              <a:buNone/>
            </a:pPr>
            <a:r>
              <a:rPr lang="en-US" sz="2600" b="1" dirty="0"/>
              <a:t>Answer</a:t>
            </a:r>
            <a:r>
              <a:rPr lang="en-US" sz="2600" dirty="0"/>
              <a:t>: A vacuum leak can be caused by a leaking intake manifold </a:t>
            </a:r>
            <a:r>
              <a:rPr lang="en-US" sz="2600" b="1" u="sng" dirty="0"/>
              <a:t>gasket</a:t>
            </a:r>
            <a:r>
              <a:rPr lang="en-US" sz="2600" dirty="0"/>
              <a:t>.</a:t>
            </a:r>
          </a:p>
        </p:txBody>
      </p:sp>
    </p:spTree>
    <p:extLst>
      <p:ext uri="{BB962C8B-B14F-4D97-AF65-F5344CB8AC3E}">
        <p14:creationId xmlns:p14="http://schemas.microsoft.com/office/powerpoint/2010/main" val="3981133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Forced Induction Systems</a:t>
            </a:r>
            <a:endParaRPr sz="3600" dirty="0"/>
          </a:p>
        </p:txBody>
      </p:sp>
      <p:sp>
        <p:nvSpPr>
          <p:cNvPr id="145" name="Google Shape;145;p4"/>
          <p:cNvSpPr txBox="1">
            <a:spLocks noGrp="1"/>
          </p:cNvSpPr>
          <p:nvPr>
            <p:ph type="body" idx="1"/>
          </p:nvPr>
        </p:nvSpPr>
        <p:spPr>
          <a:xfrm>
            <a:off x="476843" y="1563624"/>
            <a:ext cx="7233773" cy="4441760"/>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t>32.04 Explain the purpose and operation of forced induction components.</a:t>
            </a:r>
          </a:p>
          <a:p>
            <a:pPr marL="285750" indent="-285750">
              <a:buSzPct val="100000"/>
            </a:pPr>
            <a:r>
              <a:rPr lang="en-US" sz="2000" dirty="0"/>
              <a:t>With today’s body styles, hood scoops are not particularly desired because they increase air drag. Therefore, other methods are used to increase the volume of intake air and compression.</a:t>
            </a:r>
          </a:p>
          <a:p>
            <a:pPr marL="285750" indent="-285750">
              <a:buSzPct val="100000"/>
            </a:pPr>
            <a:r>
              <a:rPr lang="en-US" sz="2000" dirty="0"/>
              <a:t>Some manufacturers are exploring variable compression engines but none are yet in production.</a:t>
            </a:r>
          </a:p>
          <a:p>
            <a:pPr marL="285750" indent="-285750">
              <a:buSzPct val="100000"/>
            </a:pPr>
            <a:r>
              <a:rPr lang="en-US" sz="2000" dirty="0"/>
              <a:t>Performance gains have been made through air filter designs.</a:t>
            </a:r>
          </a:p>
          <a:p>
            <a:pPr marL="285750" indent="-285750">
              <a:buSzPct val="100000"/>
            </a:pPr>
            <a:r>
              <a:rPr lang="en-US" sz="2000" dirty="0"/>
              <a:t>The shape of the filter and its direct exposure to the air allow for increased intake flow.</a:t>
            </a:r>
          </a:p>
        </p:txBody>
      </p:sp>
      <p:pic>
        <p:nvPicPr>
          <p:cNvPr id="8" name="Picture Placeholder 7" descr="A specialty cone air filter is attached to a vehicle engine, to increase the engine performance.">
            <a:extLst>
              <a:ext uri="{FF2B5EF4-FFF2-40B4-BE49-F238E27FC236}">
                <a16:creationId xmlns:a16="http://schemas.microsoft.com/office/drawing/2014/main" id="{4BF69350-BF6C-32FB-E684-B4C2F7106121}"/>
              </a:ext>
            </a:extLst>
          </p:cNvPr>
          <p:cNvPicPr>
            <a:picLocks noGrp="1" noChangeAspect="1"/>
          </p:cNvPicPr>
          <p:nvPr>
            <p:ph type="pic" sz="quarter" idx="13"/>
          </p:nvPr>
        </p:nvPicPr>
        <p:blipFill rotWithShape="1">
          <a:blip r:embed="rId3"/>
          <a:srcRect b="12035"/>
          <a:stretch/>
        </p:blipFill>
        <p:spPr>
          <a:xfrm>
            <a:off x="7710616" y="2073809"/>
            <a:ext cx="4162294" cy="3049336"/>
          </a:xfrm>
          <a:prstGeom prst="rect">
            <a:avLst/>
          </a:prstGeom>
        </p:spPr>
      </p:pic>
    </p:spTree>
    <p:extLst>
      <p:ext uri="{BB962C8B-B14F-4D97-AF65-F5344CB8AC3E}">
        <p14:creationId xmlns:p14="http://schemas.microsoft.com/office/powerpoint/2010/main" val="25023026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Intercoolers</a:t>
            </a:r>
            <a:endParaRPr sz="3600" dirty="0"/>
          </a:p>
        </p:txBody>
      </p:sp>
      <p:sp>
        <p:nvSpPr>
          <p:cNvPr id="145" name="Google Shape;145;p4"/>
          <p:cNvSpPr txBox="1">
            <a:spLocks noGrp="1"/>
          </p:cNvSpPr>
          <p:nvPr>
            <p:ph type="body" idx="1"/>
          </p:nvPr>
        </p:nvSpPr>
        <p:spPr>
          <a:xfrm>
            <a:off x="476842" y="1575980"/>
            <a:ext cx="7715179" cy="4565327"/>
          </a:xfrm>
          <a:prstGeom prst="rect">
            <a:avLst/>
          </a:prstGeom>
          <a:noFill/>
          <a:ln>
            <a:noFill/>
          </a:ln>
        </p:spPr>
        <p:txBody>
          <a:bodyPr spcFirstLastPara="1" wrap="square" lIns="91425" tIns="45700" rIns="91425" bIns="45700" anchor="t" anchorCtr="0">
            <a:noAutofit/>
          </a:bodyPr>
          <a:lstStyle/>
          <a:p>
            <a:pPr marL="285750" indent="-285750">
              <a:buSzPts val="2800"/>
            </a:pPr>
            <a:r>
              <a:rPr lang="en-US" sz="2000" dirty="0"/>
              <a:t>The </a:t>
            </a:r>
            <a:r>
              <a:rPr lang="en-US" sz="2000" b="1" dirty="0"/>
              <a:t>intercooler</a:t>
            </a:r>
            <a:r>
              <a:rPr lang="en-US" sz="2000" dirty="0"/>
              <a:t> cools the turbocharged or supercharged air before it reaches the combustion chamber.</a:t>
            </a:r>
          </a:p>
          <a:p>
            <a:pPr marL="285750" indent="-285750">
              <a:buSzPts val="2800"/>
            </a:pPr>
            <a:r>
              <a:rPr lang="en-US" sz="2000" dirty="0"/>
              <a:t>The removal of heat from the pressurized air going into the intercooler increases the density of the air, which improves efficiency, engine horsepower, and torque.</a:t>
            </a:r>
          </a:p>
          <a:p>
            <a:pPr marL="285750" indent="-285750">
              <a:buSzPts val="2800"/>
            </a:pPr>
            <a:r>
              <a:rPr lang="en-US" sz="2000" dirty="0"/>
              <a:t>Intercoolers are actually radiators for the intake air. </a:t>
            </a:r>
          </a:p>
          <a:p>
            <a:pPr marL="285750" indent="-285750">
              <a:buSzPts val="2800"/>
            </a:pPr>
            <a:r>
              <a:rPr lang="en-US" sz="2000" dirty="0"/>
              <a:t>The heat from the compressed air that passes through it is removed and dissipated to the atmosphere.</a:t>
            </a:r>
          </a:p>
          <a:p>
            <a:pPr marL="285750" indent="-285750">
              <a:buSzPts val="2800"/>
            </a:pPr>
            <a:r>
              <a:rPr lang="en-US" sz="2000" dirty="0"/>
              <a:t>An intercooler system may consist of an added radiator in the grill area.</a:t>
            </a:r>
          </a:p>
        </p:txBody>
      </p:sp>
      <p:pic>
        <p:nvPicPr>
          <p:cNvPr id="8" name="Picture Placeholder 7" descr="A twin-turbocharged engine depicts the inter-cooler located in front of it.">
            <a:extLst>
              <a:ext uri="{FF2B5EF4-FFF2-40B4-BE49-F238E27FC236}">
                <a16:creationId xmlns:a16="http://schemas.microsoft.com/office/drawing/2014/main" id="{ABC06F9B-5B1B-47CF-F77D-1B8044536711}"/>
              </a:ext>
            </a:extLst>
          </p:cNvPr>
          <p:cNvPicPr>
            <a:picLocks noGrp="1" noChangeAspect="1"/>
          </p:cNvPicPr>
          <p:nvPr>
            <p:ph type="pic" sz="quarter" idx="13"/>
          </p:nvPr>
        </p:nvPicPr>
        <p:blipFill rotWithShape="1">
          <a:blip r:embed="rId3"/>
          <a:srcRect b="6411"/>
          <a:stretch/>
        </p:blipFill>
        <p:spPr>
          <a:xfrm>
            <a:off x="8710360" y="1688714"/>
            <a:ext cx="2894089" cy="4120485"/>
          </a:xfrm>
          <a:prstGeom prst="rect">
            <a:avLst/>
          </a:prstGeom>
        </p:spPr>
      </p:pic>
    </p:spTree>
    <p:extLst>
      <p:ext uri="{BB962C8B-B14F-4D97-AF65-F5344CB8AC3E}">
        <p14:creationId xmlns:p14="http://schemas.microsoft.com/office/powerpoint/2010/main" val="4020044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Turbochargers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285750" indent="-285750">
              <a:spcAft>
                <a:spcPts val="400"/>
              </a:spcAft>
              <a:buSzPct val="100000"/>
            </a:pPr>
            <a:r>
              <a:rPr lang="en-US" sz="1800" b="1" dirty="0"/>
              <a:t>Turbochargers</a:t>
            </a:r>
            <a:r>
              <a:rPr lang="en-US" sz="1800" dirty="0"/>
              <a:t> are used to increase engine power by compressing intake air before it enters the engine.</a:t>
            </a:r>
          </a:p>
          <a:p>
            <a:pPr marL="285750" indent="-285750">
              <a:spcAft>
                <a:spcPts val="400"/>
              </a:spcAft>
              <a:buSzPct val="100000"/>
            </a:pPr>
            <a:r>
              <a:rPr lang="en-US" sz="1800" dirty="0"/>
              <a:t>Turbochargers are air pumps driven by the engine’s exhaust stream.</a:t>
            </a:r>
          </a:p>
          <a:p>
            <a:pPr marL="285750" indent="-285750">
              <a:spcAft>
                <a:spcPts val="400"/>
              </a:spcAft>
              <a:buSzPct val="100000"/>
            </a:pPr>
            <a:r>
              <a:rPr lang="en-US" sz="1800" dirty="0"/>
              <a:t>The heat and pressure of the exhaust gases spin the turbine blades.</a:t>
            </a:r>
          </a:p>
          <a:p>
            <a:pPr marL="285750" indent="-285750">
              <a:spcAft>
                <a:spcPts val="400"/>
              </a:spcAft>
              <a:buSzPct val="100000"/>
            </a:pPr>
            <a:r>
              <a:rPr lang="en-US" sz="1800" dirty="0"/>
              <a:t>The turbine wheel is connected to a compressor wheel. As the turbine spins, so does the compressor wheel.</a:t>
            </a:r>
          </a:p>
          <a:p>
            <a:pPr marL="285750" indent="-285750">
              <a:spcAft>
                <a:spcPts val="400"/>
              </a:spcAft>
              <a:buSzPct val="100000"/>
            </a:pPr>
            <a:r>
              <a:rPr lang="en-US" sz="1800" dirty="0"/>
              <a:t>The compressor wheel spins at very high speeds and compresses the intake air. The compressed air is then sent to the cylinders.</a:t>
            </a:r>
          </a:p>
          <a:p>
            <a:pPr marL="285750" indent="-285750">
              <a:spcAft>
                <a:spcPts val="400"/>
              </a:spcAft>
              <a:buSzPct val="100000"/>
            </a:pPr>
            <a:r>
              <a:rPr lang="en-US" sz="1800" dirty="0"/>
              <a:t>Because exhaust gas is a waste product, the energy developed by the turbine is said to be free because it theoretically does not use any of the engine’s power it helps to produce.</a:t>
            </a:r>
          </a:p>
          <a:p>
            <a:pPr marL="285750" indent="-285750">
              <a:spcAft>
                <a:spcPts val="400"/>
              </a:spcAft>
              <a:buSzPct val="100000"/>
            </a:pPr>
            <a:r>
              <a:rPr lang="en-US" sz="1800" dirty="0"/>
              <a:t>Turbochargers are used on both diesel and gasoline engines.</a:t>
            </a:r>
          </a:p>
          <a:p>
            <a:pPr marL="285750" indent="-285750">
              <a:spcAft>
                <a:spcPts val="400"/>
              </a:spcAft>
              <a:buSzPct val="100000"/>
            </a:pPr>
            <a:r>
              <a:rPr lang="en-US" sz="1800" dirty="0"/>
              <a:t>The main advantage of their use is that they allow for an increase of power without a substantial decrease in fuel economy.</a:t>
            </a:r>
          </a:p>
        </p:txBody>
      </p:sp>
    </p:spTree>
    <p:extLst>
      <p:ext uri="{BB962C8B-B14F-4D97-AF65-F5344CB8AC3E}">
        <p14:creationId xmlns:p14="http://schemas.microsoft.com/office/powerpoint/2010/main" val="3570024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Construction</a:t>
            </a:r>
            <a:endParaRPr sz="3600" dirty="0"/>
          </a:p>
        </p:txBody>
      </p:sp>
      <p:sp>
        <p:nvSpPr>
          <p:cNvPr id="145" name="Google Shape;145;p4"/>
          <p:cNvSpPr txBox="1">
            <a:spLocks noGrp="1"/>
          </p:cNvSpPr>
          <p:nvPr>
            <p:ph type="body" idx="1"/>
          </p:nvPr>
        </p:nvSpPr>
        <p:spPr>
          <a:xfrm>
            <a:off x="476844" y="1563624"/>
            <a:ext cx="6690075" cy="4590041"/>
          </a:xfrm>
          <a:prstGeom prst="rect">
            <a:avLst/>
          </a:prstGeom>
          <a:noFill/>
          <a:ln>
            <a:noFill/>
          </a:ln>
        </p:spPr>
        <p:txBody>
          <a:bodyPr spcFirstLastPara="1" wrap="square" lIns="91425" tIns="45700" rIns="91425" bIns="45700" anchor="t" anchorCtr="0">
            <a:noAutofit/>
          </a:bodyPr>
          <a:lstStyle/>
          <a:p>
            <a:pPr marL="285750" indent="-285750">
              <a:buSzPct val="100000"/>
            </a:pPr>
            <a:r>
              <a:rPr lang="en-US" sz="1800" dirty="0"/>
              <a:t>A turbocharger is normally located at or close to the exhaust manifold.</a:t>
            </a:r>
          </a:p>
          <a:p>
            <a:pPr marL="285750" indent="-285750">
              <a:buSzPct val="100000"/>
            </a:pPr>
            <a:r>
              <a:rPr lang="en-US" sz="1800" dirty="0"/>
              <a:t>On some engines, the exhaust pipe runs between the exhaust manifold and the turbine housing to carry the exhaust flow to the turbine wheel.</a:t>
            </a:r>
          </a:p>
          <a:p>
            <a:pPr marL="285750" indent="-285750">
              <a:buSzPct val="100000"/>
            </a:pPr>
            <a:r>
              <a:rPr lang="en-US" sz="1800" dirty="0"/>
              <a:t>On some newer engine designs, the exhaust manifold is incorporated into the cylinder head.</a:t>
            </a:r>
          </a:p>
          <a:p>
            <a:pPr marL="285750" indent="-285750">
              <a:buSzPct val="100000"/>
            </a:pPr>
            <a:r>
              <a:rPr lang="en-US" sz="1800" dirty="0"/>
              <a:t>This can significantly increase the efficiency of driving the turbine.</a:t>
            </a:r>
          </a:p>
          <a:p>
            <a:pPr marL="285750" indent="-285750">
              <a:buSzPct val="100000"/>
            </a:pPr>
            <a:r>
              <a:rPr lang="en-US" sz="1800" dirty="0"/>
              <a:t>A typical turbocharger, usually called a turbo, has the following components:</a:t>
            </a:r>
          </a:p>
          <a:p>
            <a:pPr marL="715963" lvl="1" indent="-357188">
              <a:buSzPct val="100000"/>
            </a:pPr>
            <a:r>
              <a:rPr lang="en-US" sz="1600" dirty="0"/>
              <a:t>Turbine wheel, Shaft, Compressor wheel, Center housing and rotating assembly (CHRA), Wastegate valve.</a:t>
            </a:r>
          </a:p>
        </p:txBody>
      </p:sp>
      <p:pic>
        <p:nvPicPr>
          <p:cNvPr id="8" name="Picture Placeholder 7" descr="The cross-section of a turbocharger depicts its labeled components: compressor wheel, wastegate valve, from exhaust, turbine wheel, lubricated shaft, and to intake.">
            <a:extLst>
              <a:ext uri="{FF2B5EF4-FFF2-40B4-BE49-F238E27FC236}">
                <a16:creationId xmlns:a16="http://schemas.microsoft.com/office/drawing/2014/main" id="{13BF0AB3-8906-EF4D-887F-EC48C221E7B8}"/>
              </a:ext>
            </a:extLst>
          </p:cNvPr>
          <p:cNvPicPr>
            <a:picLocks noGrp="1" noChangeAspect="1"/>
          </p:cNvPicPr>
          <p:nvPr>
            <p:ph type="pic" sz="quarter" idx="13"/>
          </p:nvPr>
        </p:nvPicPr>
        <p:blipFill rotWithShape="1">
          <a:blip r:embed="rId3"/>
          <a:srcRect b="14743"/>
          <a:stretch/>
        </p:blipFill>
        <p:spPr>
          <a:xfrm>
            <a:off x="7326978" y="1807916"/>
            <a:ext cx="4531305" cy="3478068"/>
          </a:xfrm>
          <a:prstGeom prst="rect">
            <a:avLst/>
          </a:prstGeom>
        </p:spPr>
      </p:pic>
    </p:spTree>
    <p:extLst>
      <p:ext uri="{BB962C8B-B14F-4D97-AF65-F5344CB8AC3E}">
        <p14:creationId xmlns:p14="http://schemas.microsoft.com/office/powerpoint/2010/main" val="3591805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Wastegate Valve</a:t>
            </a:r>
            <a:endParaRPr sz="3600" dirty="0"/>
          </a:p>
        </p:txBody>
      </p:sp>
      <p:sp>
        <p:nvSpPr>
          <p:cNvPr id="145" name="Google Shape;145;p4"/>
          <p:cNvSpPr txBox="1">
            <a:spLocks noGrp="1"/>
          </p:cNvSpPr>
          <p:nvPr>
            <p:ph type="body" idx="1"/>
          </p:nvPr>
        </p:nvSpPr>
        <p:spPr>
          <a:xfrm>
            <a:off x="476844" y="1563624"/>
            <a:ext cx="7023708" cy="4441760"/>
          </a:xfrm>
          <a:prstGeom prst="rect">
            <a:avLst/>
          </a:prstGeom>
          <a:noFill/>
          <a:ln>
            <a:noFill/>
          </a:ln>
        </p:spPr>
        <p:txBody>
          <a:bodyPr spcFirstLastPara="1" wrap="square" lIns="91425" tIns="45700" rIns="91425" bIns="45700" anchor="t" anchorCtr="0">
            <a:noAutofit/>
          </a:bodyPr>
          <a:lstStyle/>
          <a:p>
            <a:pPr marL="285750" indent="-285750">
              <a:buSzPct val="100000"/>
            </a:pPr>
            <a:r>
              <a:rPr lang="en-US" sz="2000" dirty="0">
                <a:solidFill>
                  <a:schemeClr val="tx1"/>
                </a:solidFill>
              </a:rPr>
              <a:t>If the pressure of the air from a turbocharger becomes too high, knocking occurs, engine output decreases, and the pressure created by the combustion of the air–fuel mixture can become so great that the engine may self-destruct.</a:t>
            </a:r>
          </a:p>
          <a:p>
            <a:pPr marL="285750" indent="-285750">
              <a:buSzPct val="100000"/>
            </a:pPr>
            <a:r>
              <a:rPr lang="en-US" sz="2000" dirty="0">
                <a:solidFill>
                  <a:schemeClr val="tx1"/>
                </a:solidFill>
              </a:rPr>
              <a:t>To prevent this, turbochargers have a wastegate valve.</a:t>
            </a:r>
          </a:p>
          <a:p>
            <a:pPr marL="285750" indent="-285750">
              <a:buSzPct val="100000"/>
            </a:pPr>
            <a:r>
              <a:rPr lang="en-US" sz="2000" dirty="0">
                <a:solidFill>
                  <a:schemeClr val="tx1"/>
                </a:solidFill>
              </a:rPr>
              <a:t>The wastegate valve is part of the turbine housing.</a:t>
            </a:r>
          </a:p>
          <a:p>
            <a:pPr marL="285750" indent="-285750">
              <a:buSzPct val="100000"/>
            </a:pPr>
            <a:r>
              <a:rPr lang="en-US" sz="2000" dirty="0">
                <a:solidFill>
                  <a:schemeClr val="tx1"/>
                </a:solidFill>
              </a:rPr>
              <a:t>It allows a certain amount of exhaust gas to bypass the turbine when the boost pressure exceeds a certain value.</a:t>
            </a:r>
          </a:p>
          <a:p>
            <a:pPr marL="285750" indent="-285750">
              <a:buSzPct val="100000"/>
            </a:pPr>
            <a:r>
              <a:rPr lang="en-US" sz="2000" dirty="0">
                <a:solidFill>
                  <a:schemeClr val="tx1"/>
                </a:solidFill>
              </a:rPr>
              <a:t>This action reduces the pressure.</a:t>
            </a:r>
          </a:p>
        </p:txBody>
      </p:sp>
      <p:pic>
        <p:nvPicPr>
          <p:cNvPr id="8" name="Picture Placeholder 7" descr="The turbine housing depicts the opened wastegate valve to allow the exhaust gases to bypass the turbine.">
            <a:extLst>
              <a:ext uri="{FF2B5EF4-FFF2-40B4-BE49-F238E27FC236}">
                <a16:creationId xmlns:a16="http://schemas.microsoft.com/office/drawing/2014/main" id="{B1973EA1-0126-724A-9FCE-201582299437}"/>
              </a:ext>
            </a:extLst>
          </p:cNvPr>
          <p:cNvPicPr>
            <a:picLocks noGrp="1" noChangeAspect="1"/>
          </p:cNvPicPr>
          <p:nvPr>
            <p:ph type="pic" sz="quarter" idx="13"/>
          </p:nvPr>
        </p:nvPicPr>
        <p:blipFill rotWithShape="1">
          <a:blip r:embed="rId3"/>
          <a:srcRect b="15060"/>
          <a:stretch/>
        </p:blipFill>
        <p:spPr>
          <a:xfrm>
            <a:off x="7597461" y="2292263"/>
            <a:ext cx="4328242" cy="2502159"/>
          </a:xfrm>
          <a:prstGeom prst="rect">
            <a:avLst/>
          </a:prstGeom>
        </p:spPr>
      </p:pic>
    </p:spTree>
    <p:extLst>
      <p:ext uri="{BB962C8B-B14F-4D97-AF65-F5344CB8AC3E}">
        <p14:creationId xmlns:p14="http://schemas.microsoft.com/office/powerpoint/2010/main" val="12916070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Turbo Lubrication and Cooling</a:t>
            </a:r>
            <a:endParaRPr sz="3600" dirty="0"/>
          </a:p>
        </p:txBody>
      </p:sp>
      <p:pic>
        <p:nvPicPr>
          <p:cNvPr id="8" name="Picture Placeholder 7" descr="A liquid-cooled turbo engine depicts its associated components.">
            <a:extLst>
              <a:ext uri="{FF2B5EF4-FFF2-40B4-BE49-F238E27FC236}">
                <a16:creationId xmlns:a16="http://schemas.microsoft.com/office/drawing/2014/main" id="{B8C6CB2C-0AF4-C22F-BCE4-9A1B59F33163}"/>
              </a:ext>
            </a:extLst>
          </p:cNvPr>
          <p:cNvPicPr>
            <a:picLocks noGrp="1" noChangeAspect="1"/>
          </p:cNvPicPr>
          <p:nvPr>
            <p:ph type="pic" sz="quarter" idx="13"/>
          </p:nvPr>
        </p:nvPicPr>
        <p:blipFill rotWithShape="1">
          <a:blip r:embed="rId3"/>
          <a:srcRect b="7850"/>
          <a:stretch/>
        </p:blipFill>
        <p:spPr>
          <a:xfrm>
            <a:off x="473242" y="2352963"/>
            <a:ext cx="4043854" cy="2757656"/>
          </a:xfrm>
          <a:prstGeom prst="rect">
            <a:avLst/>
          </a:prstGeom>
        </p:spPr>
      </p:pic>
      <p:sp>
        <p:nvSpPr>
          <p:cNvPr id="145" name="Google Shape;145;p4"/>
          <p:cNvSpPr txBox="1">
            <a:spLocks noGrp="1"/>
          </p:cNvSpPr>
          <p:nvPr>
            <p:ph type="body" idx="1"/>
          </p:nvPr>
        </p:nvSpPr>
        <p:spPr>
          <a:xfrm>
            <a:off x="4670854" y="1563624"/>
            <a:ext cx="7216346" cy="4503544"/>
          </a:xfrm>
          <a:prstGeom prst="rect">
            <a:avLst/>
          </a:prstGeom>
          <a:noFill/>
          <a:ln>
            <a:noFill/>
          </a:ln>
        </p:spPr>
        <p:txBody>
          <a:bodyPr spcFirstLastPara="1" wrap="square" lIns="91425" tIns="45700" rIns="91425" bIns="45700" anchor="t" anchorCtr="0">
            <a:noAutofit/>
          </a:bodyPr>
          <a:lstStyle/>
          <a:p>
            <a:pPr marL="358775" indent="-358775">
              <a:buSzPct val="100000"/>
            </a:pPr>
            <a:r>
              <a:rPr lang="en-US" sz="1800" dirty="0"/>
              <a:t>The bearings are lubricated by engine oil and rotate freely on the shaft and in the housing.</a:t>
            </a:r>
          </a:p>
          <a:p>
            <a:pPr marL="358775" indent="-358775">
              <a:buSzPct val="100000"/>
            </a:pPr>
            <a:r>
              <a:rPr lang="en-US" sz="1800" dirty="0"/>
              <a:t>Engine oil is delivered to the turbocharger through an oil inlet pipe and then circulated to the bearings.</a:t>
            </a:r>
          </a:p>
          <a:p>
            <a:pPr marL="358775" indent="-358775">
              <a:buSzPct val="100000"/>
            </a:pPr>
            <a:r>
              <a:rPr lang="en-US" sz="1800" dirty="0"/>
              <a:t>The bearings have outer seals to prevent oil leakage. The oil passes over the bearings and returns to the engine’s oil pan through an oil outlet pipe.</a:t>
            </a:r>
          </a:p>
          <a:p>
            <a:pPr marL="358775" indent="-358775">
              <a:buSzPct val="100000"/>
            </a:pPr>
            <a:r>
              <a:rPr lang="en-US" sz="1800" dirty="0"/>
              <a:t>The circulation of the oil cools the turbocharger.</a:t>
            </a:r>
          </a:p>
          <a:p>
            <a:pPr marL="358775" indent="-358775">
              <a:buSzPct val="100000"/>
            </a:pPr>
            <a:r>
              <a:rPr lang="en-US" sz="1800" dirty="0"/>
              <a:t>A turbocharger may be cooled by engine coolant that circulates through coolant channels built into the housing.</a:t>
            </a:r>
          </a:p>
          <a:p>
            <a:pPr marL="358775" indent="-358775">
              <a:buSzPct val="100000"/>
            </a:pPr>
            <a:r>
              <a:rPr lang="en-US" sz="1800" dirty="0"/>
              <a:t>Coolant is sent from the engine’s thermostat housing through a coolant inlet pipe to the turbo. housing.</a:t>
            </a:r>
          </a:p>
        </p:txBody>
      </p:sp>
    </p:spTree>
    <p:extLst>
      <p:ext uri="{BB962C8B-B14F-4D97-AF65-F5344CB8AC3E}">
        <p14:creationId xmlns:p14="http://schemas.microsoft.com/office/powerpoint/2010/main" val="3259502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DualBoost Single Sequential Turbocharger</a:t>
            </a:r>
            <a:endParaRPr dirty="0"/>
          </a:p>
        </p:txBody>
      </p:sp>
      <p:pic>
        <p:nvPicPr>
          <p:cNvPr id="8" name="Picture Placeholder 7" descr="The Cutaway of a dual-boost turbocharger engine depicts two compressor wheels and a turbine wheel.">
            <a:extLst>
              <a:ext uri="{FF2B5EF4-FFF2-40B4-BE49-F238E27FC236}">
                <a16:creationId xmlns:a16="http://schemas.microsoft.com/office/drawing/2014/main" id="{60E21F1D-4B5F-E795-EC5F-6F0BAE7DA2D6}"/>
              </a:ext>
            </a:extLst>
          </p:cNvPr>
          <p:cNvPicPr>
            <a:picLocks noGrp="1" noChangeAspect="1"/>
          </p:cNvPicPr>
          <p:nvPr>
            <p:ph type="pic" sz="quarter" idx="13"/>
          </p:nvPr>
        </p:nvPicPr>
        <p:blipFill rotWithShape="1">
          <a:blip r:embed="rId3"/>
          <a:srcRect b="11789"/>
          <a:stretch/>
        </p:blipFill>
        <p:spPr>
          <a:xfrm>
            <a:off x="347983" y="1921140"/>
            <a:ext cx="4186439" cy="3097289"/>
          </a:xfrm>
          <a:prstGeom prst="rect">
            <a:avLst/>
          </a:prstGeom>
        </p:spPr>
      </p:pic>
      <p:sp>
        <p:nvSpPr>
          <p:cNvPr id="145" name="Google Shape;145;p4"/>
          <p:cNvSpPr txBox="1">
            <a:spLocks noGrp="1"/>
          </p:cNvSpPr>
          <p:nvPr>
            <p:ph type="body" idx="1"/>
          </p:nvPr>
        </p:nvSpPr>
        <p:spPr>
          <a:xfrm>
            <a:off x="4720280" y="1563624"/>
            <a:ext cx="6998477" cy="4528257"/>
          </a:xfrm>
          <a:prstGeom prst="rect">
            <a:avLst/>
          </a:prstGeom>
          <a:noFill/>
          <a:ln>
            <a:noFill/>
          </a:ln>
        </p:spPr>
        <p:txBody>
          <a:bodyPr spcFirstLastPara="1" wrap="square" lIns="91425" tIns="45700" rIns="91425" bIns="45700" anchor="t" anchorCtr="0">
            <a:noAutofit/>
          </a:bodyPr>
          <a:lstStyle/>
          <a:p>
            <a:pPr marL="358775" indent="-358775">
              <a:buSzPct val="100000"/>
            </a:pPr>
            <a:r>
              <a:rPr lang="en-US" sz="1800" dirty="0"/>
              <a:t>In 2011, Ford installed a DualBoost turbocharger on their 6.7-liter </a:t>
            </a:r>
            <a:r>
              <a:rPr lang="en-US" sz="1800" dirty="0" err="1"/>
              <a:t>PowerStroke</a:t>
            </a:r>
            <a:r>
              <a:rPr lang="en-US" sz="1800" dirty="0"/>
              <a:t> diesel engines.</a:t>
            </a:r>
          </a:p>
          <a:p>
            <a:pPr marL="358775" indent="-358775">
              <a:buSzPct val="100000"/>
            </a:pPr>
            <a:r>
              <a:rPr lang="en-US" sz="1800" dirty="0"/>
              <a:t>This turbocharger has two compressor wheels and one turbine wheel.</a:t>
            </a:r>
          </a:p>
          <a:p>
            <a:pPr marL="358775" indent="-358775">
              <a:buSzPct val="100000"/>
            </a:pPr>
            <a:r>
              <a:rPr lang="en-US" sz="1800" dirty="0"/>
              <a:t>The compressor wheels have different shapes and sizes, but they are mounted onto the same shaft.</a:t>
            </a:r>
          </a:p>
          <a:p>
            <a:pPr marL="358775" indent="-358775">
              <a:buSzPct val="100000"/>
            </a:pPr>
            <a:r>
              <a:rPr lang="en-US" sz="1800" dirty="0"/>
              <a:t>The two compressor wheel housings are also different sizes.</a:t>
            </a:r>
          </a:p>
          <a:p>
            <a:pPr marL="358775" indent="-358775">
              <a:buSzPct val="100000"/>
            </a:pPr>
            <a:r>
              <a:rPr lang="en-US" sz="1800" dirty="0"/>
              <a:t>This creates a sequential turbo by allowing fast spooling up of the small compressor followed by increased air volume from the larger wheel.</a:t>
            </a:r>
          </a:p>
          <a:p>
            <a:pPr marL="358775" indent="-358775">
              <a:buSzPct val="100000"/>
            </a:pPr>
            <a:r>
              <a:rPr lang="en-US" sz="1800" dirty="0"/>
              <a:t>The volume of the single exhaust inlet housing is controlled by the vanes of the variable geometry system.</a:t>
            </a:r>
          </a:p>
        </p:txBody>
      </p:sp>
    </p:spTree>
    <p:extLst>
      <p:ext uri="{BB962C8B-B14F-4D97-AF65-F5344CB8AC3E}">
        <p14:creationId xmlns:p14="http://schemas.microsoft.com/office/powerpoint/2010/main" val="11795993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Turbocharger Inspection</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1600" b="1" dirty="0"/>
              <a:t>32.05 Inspect a turbocharger and describe some common turbocharger problems.</a:t>
            </a:r>
          </a:p>
          <a:p>
            <a:pPr marL="285750" indent="-285750">
              <a:buSzPct val="100000"/>
            </a:pPr>
            <a:r>
              <a:rPr lang="en-US" sz="1600" dirty="0"/>
              <a:t>To inspect a turbocharger, start the engine and listen to the sound that the turbo system makes.</a:t>
            </a:r>
          </a:p>
          <a:p>
            <a:pPr marL="285750" indent="-285750">
              <a:buSzPct val="100000"/>
            </a:pPr>
            <a:r>
              <a:rPr lang="en-US" sz="1600" dirty="0"/>
              <a:t>If the turbo sound cycles or changes in intensity, the likely causes are a plugged air cleaner or loose material in the compressor inlet ducts or dirt buildup on the compressor wheel and housing.</a:t>
            </a:r>
          </a:p>
          <a:p>
            <a:pPr marL="285750" indent="-285750">
              <a:buSzPct val="100000"/>
            </a:pPr>
            <a:r>
              <a:rPr lang="en-US" sz="1600" dirty="0"/>
              <a:t>After listening, check the air cleaner and remove the ducting from the air cleaner to turbo and look for dirt buildup or damage from foreign objects.</a:t>
            </a:r>
          </a:p>
          <a:p>
            <a:pPr marL="285750" indent="-285750">
              <a:buSzPct val="100000"/>
            </a:pPr>
            <a:r>
              <a:rPr lang="en-US" sz="1600" dirty="0"/>
              <a:t>Check for loose clamps on the compressor outlet connections and check the engine intake system for loose bolts or leaking gaskets.</a:t>
            </a:r>
          </a:p>
          <a:p>
            <a:pPr marL="285750" indent="-285750">
              <a:buSzPct val="100000"/>
            </a:pPr>
            <a:r>
              <a:rPr lang="en-US" sz="1600" dirty="0"/>
              <a:t>Then disconnect the exhaust pipe and look for restrictions or loose material.</a:t>
            </a:r>
          </a:p>
          <a:p>
            <a:pPr marL="285750" indent="-285750">
              <a:buSzPct val="100000"/>
            </a:pPr>
            <a:r>
              <a:rPr lang="en-US" sz="1600" dirty="0"/>
              <a:t>Examine the exhaust system for cracks, loose nuts, or blown gaskets.</a:t>
            </a:r>
          </a:p>
          <a:p>
            <a:pPr marL="285750" indent="-285750">
              <a:buSzPct val="100000"/>
            </a:pPr>
            <a:r>
              <a:rPr lang="en-US" sz="1600" dirty="0"/>
              <a:t>Rotate the turbo shaft assembly.</a:t>
            </a:r>
          </a:p>
          <a:p>
            <a:pPr marL="285750" indent="-285750">
              <a:buSzPct val="100000"/>
            </a:pPr>
            <a:r>
              <a:rPr lang="en-US" sz="1600" dirty="0"/>
              <a:t>Visually inspect all hoses, gaskets, and tubing for proper fit, damage, and wear.</a:t>
            </a:r>
          </a:p>
        </p:txBody>
      </p:sp>
    </p:spTree>
    <p:extLst>
      <p:ext uri="{BB962C8B-B14F-4D97-AF65-F5344CB8AC3E}">
        <p14:creationId xmlns:p14="http://schemas.microsoft.com/office/powerpoint/2010/main" val="3059861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Replacing a Turbocharger</a:t>
            </a:r>
            <a:endParaRPr sz="3600" dirty="0"/>
          </a:p>
        </p:txBody>
      </p:sp>
      <p:sp>
        <p:nvSpPr>
          <p:cNvPr id="145" name="Google Shape;145;p4"/>
          <p:cNvSpPr txBox="1">
            <a:spLocks noGrp="1"/>
          </p:cNvSpPr>
          <p:nvPr>
            <p:ph type="body" idx="1"/>
          </p:nvPr>
        </p:nvSpPr>
        <p:spPr>
          <a:xfrm>
            <a:off x="476843" y="1403926"/>
            <a:ext cx="11241915" cy="4811523"/>
          </a:xfrm>
          <a:prstGeom prst="rect">
            <a:avLst/>
          </a:prstGeom>
          <a:noFill/>
          <a:ln>
            <a:noFill/>
          </a:ln>
        </p:spPr>
        <p:txBody>
          <a:bodyPr spcFirstLastPara="1" wrap="square" lIns="91425" tIns="45700" rIns="91425" bIns="45700" anchor="t" anchorCtr="0">
            <a:noAutofit/>
          </a:bodyPr>
          <a:lstStyle/>
          <a:p>
            <a:pPr marL="285750" indent="-285750">
              <a:spcAft>
                <a:spcPts val="400"/>
              </a:spcAft>
              <a:buSzPct val="100000"/>
            </a:pPr>
            <a:r>
              <a:rPr lang="en-US" sz="2000" dirty="0"/>
              <a:t>If the turbocharger is faulty, it should be replaced with a new or rebuilt unit.</a:t>
            </a:r>
          </a:p>
          <a:p>
            <a:pPr marL="285750" indent="-285750">
              <a:spcAft>
                <a:spcPts val="400"/>
              </a:spcAft>
              <a:buSzPct val="100000"/>
            </a:pPr>
            <a:r>
              <a:rPr lang="en-US" sz="2000" dirty="0"/>
              <a:t>Always follow the procedure given in the service information.</a:t>
            </a:r>
          </a:p>
          <a:p>
            <a:pPr marL="285750" indent="-285750">
              <a:spcAft>
                <a:spcPts val="400"/>
              </a:spcAft>
              <a:buSzPct val="100000"/>
            </a:pPr>
            <a:r>
              <a:rPr lang="en-US" sz="2000" dirty="0"/>
              <a:t>Before removing the turbocharger, plug the intake and exhaust ports and the oil inlet to prevent the entry of dirt or other foreign material.</a:t>
            </a:r>
          </a:p>
          <a:p>
            <a:pPr marL="285750" indent="-285750">
              <a:spcAft>
                <a:spcPts val="400"/>
              </a:spcAft>
              <a:buSzPct val="100000"/>
            </a:pPr>
            <a:r>
              <a:rPr lang="en-US" sz="2000" dirty="0"/>
              <a:t>While replacing it, check for an accumulation of sludge in the oil pipes and, if necessary, clean or replace the oil pipes.</a:t>
            </a:r>
          </a:p>
          <a:p>
            <a:pPr marL="285750" indent="-285750">
              <a:spcAft>
                <a:spcPts val="400"/>
              </a:spcAft>
              <a:buSzPct val="100000"/>
            </a:pPr>
            <a:r>
              <a:rPr lang="en-US" sz="2000" dirty="0"/>
              <a:t>Do not drop or bang the new unit against anything or grasp it by easily deformed parts. When installing a new turbocharger, put 20 cc (0.68 oz.) of oil into the turbocharger oil inlet and turn the compressor wheel by hand several times to spread oil to the bearings.</a:t>
            </a:r>
          </a:p>
          <a:p>
            <a:pPr marL="285750" indent="-285750">
              <a:spcAft>
                <a:spcPts val="400"/>
              </a:spcAft>
              <a:buSzPct val="100000"/>
            </a:pPr>
            <a:r>
              <a:rPr lang="en-US" sz="2000" dirty="0"/>
              <a:t>After installing the new turbocharger, or after starting an engine that has been unused, there can be a considerable lag after engine startup before the oil pressure is sufficient to deliver oil to the turbo’s bearings.</a:t>
            </a:r>
          </a:p>
        </p:txBody>
      </p:sp>
    </p:spTree>
    <p:extLst>
      <p:ext uri="{BB962C8B-B14F-4D97-AF65-F5344CB8AC3E}">
        <p14:creationId xmlns:p14="http://schemas.microsoft.com/office/powerpoint/2010/main" val="3439469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Superchargers</a:t>
            </a:r>
            <a:endParaRPr sz="3600" dirty="0"/>
          </a:p>
        </p:txBody>
      </p:sp>
      <p:sp>
        <p:nvSpPr>
          <p:cNvPr id="145" name="Google Shape;145;p4"/>
          <p:cNvSpPr txBox="1">
            <a:spLocks noGrp="1"/>
          </p:cNvSpPr>
          <p:nvPr>
            <p:ph type="body" idx="1"/>
          </p:nvPr>
        </p:nvSpPr>
        <p:spPr>
          <a:xfrm>
            <a:off x="476844" y="1563624"/>
            <a:ext cx="6287212" cy="4448869"/>
          </a:xfrm>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solidFill>
                  <a:schemeClr val="accent1"/>
                </a:solidFill>
              </a:rPr>
              <a:t>32.06 Explain supercharger operation and identify common supercharger problems.</a:t>
            </a:r>
            <a:endParaRPr lang="en-US" sz="2000" dirty="0">
              <a:solidFill>
                <a:schemeClr val="accent1"/>
              </a:solidFill>
            </a:endParaRPr>
          </a:p>
          <a:p>
            <a:pPr marL="285750" indent="-285750">
              <a:buSzPct val="100000"/>
            </a:pPr>
            <a:r>
              <a:rPr lang="en-US" sz="2000" dirty="0">
                <a:solidFill>
                  <a:schemeClr val="accent1"/>
                </a:solidFill>
              </a:rPr>
              <a:t>Today, some engines have a supercharger as an alternative to the turbo.</a:t>
            </a:r>
          </a:p>
          <a:p>
            <a:pPr marL="285750" indent="-285750">
              <a:buSzPct val="100000"/>
            </a:pPr>
            <a:r>
              <a:rPr lang="en-US" sz="2000" dirty="0">
                <a:solidFill>
                  <a:schemeClr val="accent1"/>
                </a:solidFill>
              </a:rPr>
              <a:t>Superchargers are positive displacement air pumps driven directly by the engine’s crankshaft via a V-ribbed belt.</a:t>
            </a:r>
          </a:p>
          <a:p>
            <a:pPr marL="285750" indent="-285750">
              <a:buSzPct val="100000"/>
            </a:pPr>
            <a:r>
              <a:rPr lang="en-US" sz="2000" dirty="0">
                <a:solidFill>
                  <a:schemeClr val="accent1"/>
                </a:solidFill>
              </a:rPr>
              <a:t>They improve horsepower and torque by increasing air pressure and density in the intake manifold.</a:t>
            </a:r>
          </a:p>
          <a:p>
            <a:pPr marL="285750" indent="-285750">
              <a:buSzPct val="100000"/>
            </a:pPr>
            <a:r>
              <a:rPr lang="en-US" sz="2000" dirty="0">
                <a:solidFill>
                  <a:schemeClr val="accent1"/>
                </a:solidFill>
              </a:rPr>
              <a:t>The pressure boost is proportional to engine speed.</a:t>
            </a:r>
          </a:p>
        </p:txBody>
      </p:sp>
      <p:pic>
        <p:nvPicPr>
          <p:cNvPr id="8" name="Picture Placeholder 7" descr="A supercharger is being installed on a late-modeled high-performance engine.">
            <a:extLst>
              <a:ext uri="{FF2B5EF4-FFF2-40B4-BE49-F238E27FC236}">
                <a16:creationId xmlns:a16="http://schemas.microsoft.com/office/drawing/2014/main" id="{35929782-3812-7EAC-011F-F1A8CC8B5C7A}"/>
              </a:ext>
            </a:extLst>
          </p:cNvPr>
          <p:cNvPicPr>
            <a:picLocks noGrp="1" noChangeAspect="1"/>
          </p:cNvPicPr>
          <p:nvPr>
            <p:ph type="pic" sz="quarter" idx="13"/>
          </p:nvPr>
        </p:nvPicPr>
        <p:blipFill rotWithShape="1">
          <a:blip r:embed="rId3"/>
          <a:srcRect b="11379"/>
          <a:stretch/>
        </p:blipFill>
        <p:spPr>
          <a:xfrm>
            <a:off x="6889316" y="1924981"/>
            <a:ext cx="4965062" cy="3726153"/>
          </a:xfrm>
          <a:prstGeom prst="rect">
            <a:avLst/>
          </a:prstGeom>
        </p:spPr>
      </p:pic>
    </p:spTree>
    <p:extLst>
      <p:ext uri="{BB962C8B-B14F-4D97-AF65-F5344CB8AC3E}">
        <p14:creationId xmlns:p14="http://schemas.microsoft.com/office/powerpoint/2010/main" val="3573934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Supercharger Operation</a:t>
            </a:r>
            <a:endParaRPr sz="3600" dirty="0"/>
          </a:p>
        </p:txBody>
      </p:sp>
      <p:sp>
        <p:nvSpPr>
          <p:cNvPr id="145" name="Google Shape;145;p4"/>
          <p:cNvSpPr txBox="1">
            <a:spLocks noGrp="1"/>
          </p:cNvSpPr>
          <p:nvPr>
            <p:ph type="body" idx="1"/>
          </p:nvPr>
        </p:nvSpPr>
        <p:spPr>
          <a:xfrm>
            <a:off x="476844" y="1563624"/>
            <a:ext cx="6462575" cy="4565327"/>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The air comes in through the remote-mounted air cleaner and the mass airflow meter.</a:t>
            </a:r>
          </a:p>
          <a:p>
            <a:pPr marL="357188" marR="0" lvl="0" indent="-357188" algn="l" rtl="0">
              <a:buSzPct val="100000"/>
              <a:buChar char="•"/>
            </a:pPr>
            <a:r>
              <a:rPr lang="en-US" sz="2000" dirty="0"/>
              <a:t>It then moves through the throttle plate assembly and passes through the supercharger inlet plenum assembly, which is bolted to the back of the supercharger.</a:t>
            </a:r>
          </a:p>
          <a:p>
            <a:pPr marL="357188" marR="0" lvl="0" indent="-357188" algn="l" rtl="0">
              <a:buSzPct val="100000"/>
              <a:buChar char="•"/>
            </a:pPr>
            <a:r>
              <a:rPr lang="en-US" sz="2000" dirty="0"/>
              <a:t>The air enters the supercharger and is pressurized by the spinning rotors.</a:t>
            </a:r>
          </a:p>
          <a:p>
            <a:pPr marL="357188" marR="0" lvl="0" indent="-357188" algn="l" rtl="0">
              <a:buSzPct val="100000"/>
              <a:buChar char="•"/>
            </a:pPr>
            <a:r>
              <a:rPr lang="en-US" sz="2000" dirty="0"/>
              <a:t>It then exits through the top of the supercharger by way of the air outlet adapter.</a:t>
            </a:r>
          </a:p>
          <a:p>
            <a:pPr marL="357188" marR="0" lvl="0" indent="-357188" algn="l" rtl="0">
              <a:buSzPct val="100000"/>
              <a:buChar char="•"/>
            </a:pPr>
            <a:r>
              <a:rPr lang="en-US" sz="2000" dirty="0"/>
              <a:t>As the air is compressed, its temperature increases.</a:t>
            </a:r>
            <a:endParaRPr lang="en-US" sz="2000" b="1" dirty="0"/>
          </a:p>
        </p:txBody>
      </p:sp>
      <p:pic>
        <p:nvPicPr>
          <p:cNvPr id="8" name="Picture Placeholder 7" descr="The airflow through a supercharger assembly into the engine. The following components are labeled: E G R transducer, Air charge temp sensor, Intercooler, Supercharger, T P S, Throttle body, Intake air, P C V valve, E G R valve assembly, and Pressurized air to cylinders. The direction of airflow is represented as arrows in the structure from the Throttle body through the Intercooler to the Pressurized air to the cylinders.">
            <a:extLst>
              <a:ext uri="{FF2B5EF4-FFF2-40B4-BE49-F238E27FC236}">
                <a16:creationId xmlns:a16="http://schemas.microsoft.com/office/drawing/2014/main" id="{ABB32B53-F39A-9A96-0B49-4DA8780FA64E}"/>
              </a:ext>
            </a:extLst>
          </p:cNvPr>
          <p:cNvPicPr>
            <a:picLocks noGrp="1" noChangeAspect="1"/>
          </p:cNvPicPr>
          <p:nvPr>
            <p:ph type="pic" sz="quarter" idx="13"/>
          </p:nvPr>
        </p:nvPicPr>
        <p:blipFill rotWithShape="1">
          <a:blip r:embed="rId3"/>
          <a:srcRect b="5498"/>
          <a:stretch/>
        </p:blipFill>
        <p:spPr>
          <a:xfrm>
            <a:off x="7139450" y="2077649"/>
            <a:ext cx="4593416" cy="3671798"/>
          </a:xfrm>
          <a:prstGeom prst="rect">
            <a:avLst/>
          </a:prstGeom>
        </p:spPr>
      </p:pic>
    </p:spTree>
    <p:extLst>
      <p:ext uri="{BB962C8B-B14F-4D97-AF65-F5344CB8AC3E}">
        <p14:creationId xmlns:p14="http://schemas.microsoft.com/office/powerpoint/2010/main" val="2297615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Supercharger Problems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dirty="0"/>
              <a:t>Many of the problems and their remedies given for turbochargers hold good for superchargers.</a:t>
            </a:r>
          </a:p>
          <a:p>
            <a:pPr marL="357188" marR="0" lvl="0" indent="-357188" algn="l" rtl="0">
              <a:buSzPct val="100000"/>
              <a:buChar char="•"/>
            </a:pPr>
            <a:r>
              <a:rPr lang="en-US" dirty="0"/>
              <a:t>There are also problems associated specifically with the supercharger.</a:t>
            </a:r>
          </a:p>
          <a:p>
            <a:pPr marL="357188" marR="0" lvl="0" indent="-357188" algn="l" rtl="0">
              <a:buSzPct val="100000"/>
              <a:buChar char="•"/>
            </a:pPr>
            <a:r>
              <a:rPr lang="en-US" dirty="0"/>
              <a:t>Refer to the service information for the symptoms of supercharger failure and a summary of the causes and the recommended repairs.</a:t>
            </a:r>
          </a:p>
          <a:p>
            <a:pPr marL="357188" marR="0" lvl="0" indent="-357188" algn="l" rtl="0">
              <a:buSzPct val="100000"/>
              <a:buChar char="•"/>
            </a:pPr>
            <a:r>
              <a:rPr lang="en-US" dirty="0"/>
              <a:t>Other than replacing the drive belt, cooling and induction hoses, supercharger service requires replacement of the unit itself.</a:t>
            </a:r>
            <a:endParaRPr lang="en-US" b="1" dirty="0"/>
          </a:p>
        </p:txBody>
      </p:sp>
    </p:spTree>
    <p:extLst>
      <p:ext uri="{BB962C8B-B14F-4D97-AF65-F5344CB8AC3E}">
        <p14:creationId xmlns:p14="http://schemas.microsoft.com/office/powerpoint/2010/main" val="2932703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spcBef>
                <a:spcPts val="0"/>
              </a:spcBef>
              <a:spcAft>
                <a:spcPts val="0"/>
              </a:spcAft>
              <a:buSzPts val="2400"/>
              <a:buChar char="•"/>
            </a:pPr>
            <a:r>
              <a:rPr lang="en-US" dirty="0"/>
              <a:t>Turbochargers and superchargers have some similarities but also some substantial differences.</a:t>
            </a:r>
            <a:endParaRPr dirty="0"/>
          </a:p>
          <a:p>
            <a:pPr marL="358775" lvl="0" indent="-358775" algn="l" rtl="0">
              <a:lnSpc>
                <a:spcPct val="100000"/>
              </a:lnSpc>
              <a:spcBef>
                <a:spcPts val="1800"/>
              </a:spcBef>
              <a:spcAft>
                <a:spcPts val="0"/>
              </a:spcAft>
              <a:buSzPts val="2400"/>
              <a:buChar char="•"/>
            </a:pPr>
            <a:r>
              <a:rPr lang="en-US" dirty="0"/>
              <a:t>Have a class discussion while describing the similarities and differences. Include how they are driven, how the pressure is controlled, and similar.</a:t>
            </a:r>
          </a:p>
        </p:txBody>
      </p:sp>
    </p:spTree>
    <p:extLst>
      <p:ext uri="{BB962C8B-B14F-4D97-AF65-F5344CB8AC3E}">
        <p14:creationId xmlns:p14="http://schemas.microsoft.com/office/powerpoint/2010/main" val="39472708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Exhaust System Components</a:t>
            </a:r>
            <a:endParaRPr sz="3600" dirty="0"/>
          </a:p>
        </p:txBody>
      </p:sp>
      <p:pic>
        <p:nvPicPr>
          <p:cNvPr id="8" name="Picture Placeholder 7" descr="The exhaust system for a late-model vehicle with the following components labeled from top to bottom as follows: An exhaust manifold, Exhaust head pipe, Gasket, Upstream H O_2 S sensor (used for fuel control), and Downstream H O_2 S sensor (used for catalyst testing) in a Catalytic converter, Heat insulator, and Intermediate pipe with Resonator, Tailpipe, Muffler, and Hanger.">
            <a:extLst>
              <a:ext uri="{FF2B5EF4-FFF2-40B4-BE49-F238E27FC236}">
                <a16:creationId xmlns:a16="http://schemas.microsoft.com/office/drawing/2014/main" id="{57ECF679-BFE2-53DD-474D-5A64C16229EC}"/>
              </a:ext>
            </a:extLst>
          </p:cNvPr>
          <p:cNvPicPr>
            <a:picLocks noGrp="1" noChangeAspect="1"/>
          </p:cNvPicPr>
          <p:nvPr>
            <p:ph type="pic" sz="quarter" idx="12"/>
          </p:nvPr>
        </p:nvPicPr>
        <p:blipFill rotWithShape="1">
          <a:blip r:embed="rId3"/>
          <a:srcRect b="4071"/>
          <a:stretch/>
        </p:blipFill>
        <p:spPr>
          <a:xfrm>
            <a:off x="892227" y="1789777"/>
            <a:ext cx="4222693" cy="4153823"/>
          </a:xfrm>
          <a:prstGeom prst="rect">
            <a:avLst/>
          </a:prstGeom>
        </p:spPr>
      </p:pic>
      <p:sp>
        <p:nvSpPr>
          <p:cNvPr id="145" name="Google Shape;145;p4"/>
          <p:cNvSpPr txBox="1">
            <a:spLocks noGrp="1"/>
          </p:cNvSpPr>
          <p:nvPr>
            <p:ph type="body" idx="1"/>
          </p:nvPr>
        </p:nvSpPr>
        <p:spPr>
          <a:xfrm>
            <a:off x="5561556" y="1563624"/>
            <a:ext cx="6157202" cy="4379976"/>
          </a:xfrm>
          <a:prstGeom prst="rect">
            <a:avLst/>
          </a:prstGeom>
          <a:noFill/>
          <a:ln>
            <a:noFill/>
          </a:ln>
        </p:spPr>
        <p:txBody>
          <a:bodyPr spcFirstLastPara="1" wrap="square" lIns="91425" tIns="45700" rIns="91425" bIns="45700" anchor="t" anchorCtr="0">
            <a:noAutofit/>
          </a:bodyPr>
          <a:lstStyle/>
          <a:p>
            <a:pPr marL="0" marR="0" lvl="0" indent="0" algn="l" rtl="0">
              <a:buSzPts val="2800"/>
              <a:buNone/>
            </a:pPr>
            <a:r>
              <a:rPr lang="en-US" sz="2000" b="1" dirty="0"/>
              <a:t>32.07 Explain the operation of exhaust system components, including the exhaust manifold, gaskets, exhaust pipe and seal, catalytic converter, muffler, resonator, tailpipe, clamps, brackets, and hangers.</a:t>
            </a:r>
          </a:p>
          <a:p>
            <a:pPr marL="357188" marR="0" lvl="0" indent="-357188" algn="l" rtl="0">
              <a:buSzPct val="100000"/>
              <a:buChar char="•"/>
            </a:pPr>
            <a:r>
              <a:rPr lang="en-US" sz="2000" dirty="0"/>
              <a:t>The various components of the typical exhaust system include the following:</a:t>
            </a:r>
          </a:p>
          <a:p>
            <a:pPr marL="715963" lvl="1" indent="-357188">
              <a:buSzPct val="100000"/>
            </a:pPr>
            <a:r>
              <a:rPr lang="en-US" sz="1800" dirty="0"/>
              <a:t>Exhaust manifold(s), Exhaust pipe and seal, Catalytic converter(s), Muffler(s), Resonator, Tailpipe, Heat shields, Clamps, brackets, and hangers, Exhaust gas oxygen sensors.</a:t>
            </a:r>
            <a:endParaRPr lang="en-US" sz="1800" b="1" dirty="0"/>
          </a:p>
        </p:txBody>
      </p:sp>
    </p:spTree>
    <p:extLst>
      <p:ext uri="{BB962C8B-B14F-4D97-AF65-F5344CB8AC3E}">
        <p14:creationId xmlns:p14="http://schemas.microsoft.com/office/powerpoint/2010/main" val="22127479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Exhaust Manifold</a:t>
            </a:r>
            <a:endParaRPr sz="3600" dirty="0"/>
          </a:p>
        </p:txBody>
      </p:sp>
      <p:pic>
        <p:nvPicPr>
          <p:cNvPr id="8" name="Picture Placeholder 7" descr="Two examples of exhaust manifolds. The first structure is titled High-output and E F I engines and has a Gasket connected to a Muffler inlet pipe bracket through an Exhaust manifold. A note above the gasket reads, Note: nuts driven after heat shroud installation. The second structure is titled Base engine and has a Gasket, Exhaust manifold, and an Attaching nut.">
            <a:extLst>
              <a:ext uri="{FF2B5EF4-FFF2-40B4-BE49-F238E27FC236}">
                <a16:creationId xmlns:a16="http://schemas.microsoft.com/office/drawing/2014/main" id="{F8D3C8C8-85B2-C841-299C-4E4888225EF0}"/>
              </a:ext>
            </a:extLst>
          </p:cNvPr>
          <p:cNvPicPr>
            <a:picLocks noGrp="1" noChangeAspect="1"/>
          </p:cNvPicPr>
          <p:nvPr>
            <p:ph type="pic" sz="quarter" idx="12"/>
          </p:nvPr>
        </p:nvPicPr>
        <p:blipFill>
          <a:blip r:embed="rId3"/>
          <a:stretch>
            <a:fillRect/>
          </a:stretch>
        </p:blipFill>
        <p:spPr>
          <a:xfrm>
            <a:off x="678596" y="2210445"/>
            <a:ext cx="5168028" cy="2737336"/>
          </a:xfrm>
          <a:prstGeom prst="rect">
            <a:avLst/>
          </a:prstGeom>
        </p:spPr>
      </p:pic>
      <p:sp>
        <p:nvSpPr>
          <p:cNvPr id="145" name="Google Shape;145;p4"/>
          <p:cNvSpPr txBox="1">
            <a:spLocks noGrp="1"/>
          </p:cNvSpPr>
          <p:nvPr>
            <p:ph type="body" idx="1"/>
          </p:nvPr>
        </p:nvSpPr>
        <p:spPr>
          <a:xfrm>
            <a:off x="6187857" y="1563624"/>
            <a:ext cx="5432045" cy="4404690"/>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The exhaust manifold collects the burnt gases as they are expelled from the cylinders and directs them to the exhaust pipe.</a:t>
            </a:r>
          </a:p>
          <a:p>
            <a:pPr marL="357188" marR="0" lvl="0" indent="-357188" algn="l" rtl="0">
              <a:buSzPct val="100000"/>
              <a:buChar char="•"/>
            </a:pPr>
            <a:r>
              <a:rPr lang="en-US" sz="2000" dirty="0"/>
              <a:t>Exhaust manifolds for most vehicles are made of cast or nodular iron.</a:t>
            </a:r>
          </a:p>
          <a:p>
            <a:pPr marL="357188" marR="0" lvl="0" indent="-357188" algn="l" rtl="0">
              <a:buSzPct val="100000"/>
              <a:buChar char="•"/>
            </a:pPr>
            <a:r>
              <a:rPr lang="en-US" sz="2000" dirty="0"/>
              <a:t>Many newer-vehicles have stamped, heavy-gauge sheet metal or stainless steel units.</a:t>
            </a:r>
          </a:p>
          <a:p>
            <a:pPr marL="357188" marR="0" lvl="0" indent="-357188" algn="l" rtl="0">
              <a:buSzPct val="100000"/>
              <a:buChar char="•"/>
            </a:pPr>
            <a:r>
              <a:rPr lang="en-US" sz="2000" dirty="0"/>
              <a:t>Many newer turbocharged engines incorporate the exhaust manifold into the design of the cylinder head.</a:t>
            </a:r>
          </a:p>
        </p:txBody>
      </p:sp>
    </p:spTree>
    <p:extLst>
      <p:ext uri="{BB962C8B-B14F-4D97-AF65-F5344CB8AC3E}">
        <p14:creationId xmlns:p14="http://schemas.microsoft.com/office/powerpoint/2010/main" val="2748059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Catalytic Converters</a:t>
            </a:r>
            <a:endParaRPr sz="3600" dirty="0"/>
          </a:p>
        </p:txBody>
      </p:sp>
      <p:sp>
        <p:nvSpPr>
          <p:cNvPr id="145" name="Google Shape;145;p4"/>
          <p:cNvSpPr txBox="1">
            <a:spLocks noGrp="1"/>
          </p:cNvSpPr>
          <p:nvPr>
            <p:ph type="body" idx="1"/>
          </p:nvPr>
        </p:nvSpPr>
        <p:spPr>
          <a:xfrm>
            <a:off x="476844" y="1563624"/>
            <a:ext cx="6562784" cy="4448869"/>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1800" dirty="0"/>
              <a:t>A </a:t>
            </a:r>
            <a:r>
              <a:rPr lang="en-US" sz="1800" b="1" dirty="0"/>
              <a:t>catalytic converter </a:t>
            </a:r>
            <a:r>
              <a:rPr lang="en-US" sz="1800" dirty="0"/>
              <a:t>is part of the exhaust system and a very important part of the emission control system.</a:t>
            </a:r>
          </a:p>
          <a:p>
            <a:pPr marL="357188" marR="0" lvl="0" indent="-357188" algn="l" rtl="0">
              <a:buSzPct val="100000"/>
              <a:buChar char="•"/>
            </a:pPr>
            <a:r>
              <a:rPr lang="en-US" sz="1800" dirty="0"/>
              <a:t>The catalytic converter is located ahead of the muffler in the exhaust system.</a:t>
            </a:r>
          </a:p>
          <a:p>
            <a:pPr marL="357188" marR="0" lvl="0" indent="-357188" algn="l" rtl="0">
              <a:buSzPct val="100000"/>
              <a:buChar char="•"/>
            </a:pPr>
            <a:r>
              <a:rPr lang="en-US" sz="1800" dirty="0"/>
              <a:t>The extreme heat in the converter oxidizes the exhaust that flows out of the engine.</a:t>
            </a:r>
          </a:p>
          <a:p>
            <a:pPr marL="357188" marR="0" lvl="0" indent="-357188" algn="l" rtl="0">
              <a:buSzPct val="100000"/>
              <a:buChar char="•"/>
            </a:pPr>
            <a:r>
              <a:rPr lang="en-US" sz="1800" dirty="0"/>
              <a:t>Because it is part of both systems, it has a role in both.</a:t>
            </a:r>
          </a:p>
          <a:p>
            <a:pPr marL="357188" marR="0" lvl="0" indent="-357188" algn="l" rtl="0">
              <a:buSzPct val="100000"/>
              <a:buChar char="•"/>
            </a:pPr>
            <a:r>
              <a:rPr lang="en-US" sz="1800" dirty="0"/>
              <a:t>As an emission control device, it is responsible for reducing the amount of harmful exhaust emissions.</a:t>
            </a:r>
          </a:p>
          <a:p>
            <a:pPr marL="357188" marR="0" lvl="0" indent="-357188" algn="l" rtl="0">
              <a:buSzPct val="100000"/>
              <a:buChar char="•"/>
            </a:pPr>
            <a:r>
              <a:rPr lang="en-US" sz="1800" dirty="0"/>
              <a:t>As part of the exhaust system, it helps reduce the noise level of the exhaust.</a:t>
            </a:r>
          </a:p>
        </p:txBody>
      </p:sp>
      <p:pic>
        <p:nvPicPr>
          <p:cNvPr id="4" name="Picture Placeholder 3" descr="An illustration shows the structure of a catalytic converter with the following components labeled: ‘Monolith catalyst’, ‘Outer shell’, ‘Insulation’ and ‘Inner shell’. An enlarged view of the monolith catalyst shows a net-like structure.">
            <a:extLst>
              <a:ext uri="{FF2B5EF4-FFF2-40B4-BE49-F238E27FC236}">
                <a16:creationId xmlns:a16="http://schemas.microsoft.com/office/drawing/2014/main" id="{732FB580-BB45-64E6-BCA3-6181F288C0DC}"/>
              </a:ext>
            </a:extLst>
          </p:cNvPr>
          <p:cNvPicPr>
            <a:picLocks noGrp="1" noChangeAspect="1"/>
          </p:cNvPicPr>
          <p:nvPr>
            <p:ph type="pic" sz="quarter" idx="12"/>
          </p:nvPr>
        </p:nvPicPr>
        <p:blipFill>
          <a:blip r:embed="rId3"/>
          <a:stretch>
            <a:fillRect/>
          </a:stretch>
        </p:blipFill>
        <p:spPr>
          <a:xfrm>
            <a:off x="7459779" y="2059692"/>
            <a:ext cx="4255377" cy="3456732"/>
          </a:xfrm>
          <a:prstGeom prst="rect">
            <a:avLst/>
          </a:prstGeom>
        </p:spPr>
      </p:pic>
    </p:spTree>
    <p:extLst>
      <p:ext uri="{BB962C8B-B14F-4D97-AF65-F5344CB8AC3E}">
        <p14:creationId xmlns:p14="http://schemas.microsoft.com/office/powerpoint/2010/main" val="32704730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Mufflers</a:t>
            </a:r>
            <a:endParaRPr sz="3600" dirty="0"/>
          </a:p>
        </p:txBody>
      </p:sp>
      <p:sp>
        <p:nvSpPr>
          <p:cNvPr id="145" name="Google Shape;145;p4"/>
          <p:cNvSpPr txBox="1">
            <a:spLocks noGrp="1"/>
          </p:cNvSpPr>
          <p:nvPr>
            <p:ph type="body" idx="1"/>
          </p:nvPr>
        </p:nvSpPr>
        <p:spPr>
          <a:xfrm>
            <a:off x="476843" y="1563624"/>
            <a:ext cx="6949568" cy="4367619"/>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The</a:t>
            </a:r>
            <a:r>
              <a:rPr lang="en-US" sz="2000" b="1" dirty="0"/>
              <a:t> muffler </a:t>
            </a:r>
            <a:r>
              <a:rPr lang="en-US" sz="2000" dirty="0"/>
              <a:t>is a cylindrical or oval-shaped component, generally about 2 feet (0.6 meter) long, mounted in the exhaust system about midway or toward the rear of the car.</a:t>
            </a:r>
          </a:p>
          <a:p>
            <a:pPr marL="357188" marR="0" lvl="0" indent="-357188" algn="l" rtl="0">
              <a:buSzPct val="100000"/>
              <a:buChar char="•"/>
            </a:pPr>
            <a:r>
              <a:rPr lang="en-US" sz="2000" dirty="0"/>
              <a:t>Inside the muffler is a series of baffles, chambers, tubes, and holes to break up, cancel out, or silence the pressure pulsations that occur each time an exhaust valve opens.</a:t>
            </a:r>
          </a:p>
          <a:p>
            <a:pPr marL="357188" marR="0" lvl="0" indent="-357188" algn="l" rtl="0">
              <a:buSzPct val="100000"/>
              <a:buChar char="•"/>
            </a:pPr>
            <a:r>
              <a:rPr lang="en-US" sz="2000" dirty="0"/>
              <a:t>Two types of mufflers are frequently used on passenger vehicles.</a:t>
            </a:r>
          </a:p>
          <a:p>
            <a:pPr marL="357188" marR="0" lvl="0" indent="-357188" algn="l" rtl="0">
              <a:buSzPct val="100000"/>
              <a:buChar char="•"/>
            </a:pPr>
            <a:r>
              <a:rPr lang="en-US" sz="2000" dirty="0"/>
              <a:t>Reverse-flow mufflers change the direction of the exhaust gas flow through the inside of the unit.</a:t>
            </a:r>
          </a:p>
        </p:txBody>
      </p:sp>
      <p:pic>
        <p:nvPicPr>
          <p:cNvPr id="8" name="Picture Placeholder 7" descr="Two Illustrations labeled (A) and (B). (A) has a reverse-flow muffler, which has a horizontally placed cylinder. Four small rectangular strips are present in alternate up and down positions. Small circles are present in the rectangular strips. Small portions of the rectangular strip at both ends of the cylinder project outside of it. A curved, colored arrow flows through the rectangular strips. (B) has a straight-through muffler, which has a horizontally placed cylinder. A straight rectangular strip is across the entire length of the cylinder. A horizontal, colored arrow is present across the entire length of the strip. Small circles are present above and below the arrow.">
            <a:extLst>
              <a:ext uri="{FF2B5EF4-FFF2-40B4-BE49-F238E27FC236}">
                <a16:creationId xmlns:a16="http://schemas.microsoft.com/office/drawing/2014/main" id="{6793CCD6-FE62-4DC6-FC3F-68EB7F46D60F}"/>
              </a:ext>
            </a:extLst>
          </p:cNvPr>
          <p:cNvPicPr>
            <a:picLocks noGrp="1" noChangeAspect="1"/>
          </p:cNvPicPr>
          <p:nvPr>
            <p:ph type="pic" sz="quarter" idx="13"/>
          </p:nvPr>
        </p:nvPicPr>
        <p:blipFill rotWithShape="1">
          <a:blip r:embed="rId3"/>
          <a:srcRect b="14123"/>
          <a:stretch/>
        </p:blipFill>
        <p:spPr>
          <a:xfrm>
            <a:off x="7601157" y="2183667"/>
            <a:ext cx="4298569" cy="2797443"/>
          </a:xfrm>
          <a:prstGeom prst="rect">
            <a:avLst/>
          </a:prstGeom>
        </p:spPr>
      </p:pic>
    </p:spTree>
    <p:extLst>
      <p:ext uri="{BB962C8B-B14F-4D97-AF65-F5344CB8AC3E}">
        <p14:creationId xmlns:p14="http://schemas.microsoft.com/office/powerpoint/2010/main" val="2673273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Exhaust System Components </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SzPct val="100000"/>
              <a:buChar char="•"/>
            </a:pPr>
            <a:r>
              <a:rPr lang="en-US" sz="1800" dirty="0"/>
              <a:t>Resonator</a:t>
            </a:r>
          </a:p>
          <a:p>
            <a:pPr marL="715963" lvl="1" indent="-357188">
              <a:spcAft>
                <a:spcPts val="400"/>
              </a:spcAft>
              <a:buSzPct val="100000"/>
            </a:pPr>
            <a:r>
              <a:rPr lang="en-US" sz="1800" dirty="0"/>
              <a:t>On some vehicles, there is an additional muffler, known as a </a:t>
            </a:r>
            <a:r>
              <a:rPr lang="en-US" sz="1800" b="1" dirty="0"/>
              <a:t>resonator </a:t>
            </a:r>
            <a:r>
              <a:rPr lang="en-US" sz="1800" dirty="0"/>
              <a:t>or silencer. This unit is designed to further reduce or change the sound level of the exhaust and may be used with low backpressure mufflers.</a:t>
            </a:r>
          </a:p>
          <a:p>
            <a:pPr marL="715963" lvl="1" indent="-357188">
              <a:spcAft>
                <a:spcPts val="400"/>
              </a:spcAft>
              <a:buSzPct val="100000"/>
            </a:pPr>
            <a:r>
              <a:rPr lang="en-US" sz="1800" dirty="0"/>
              <a:t>It is located toward the end of the system and generally looks like a smaller, rounder version of a muffler.</a:t>
            </a:r>
          </a:p>
          <a:p>
            <a:pPr marL="357188" indent="-357188">
              <a:spcAft>
                <a:spcPts val="400"/>
              </a:spcAft>
              <a:buSzPct val="100000"/>
            </a:pPr>
            <a:r>
              <a:rPr lang="en-US" sz="1800" dirty="0"/>
              <a:t>Tailpipe</a:t>
            </a:r>
          </a:p>
          <a:p>
            <a:pPr marL="715963" lvl="1" indent="-357188">
              <a:spcAft>
                <a:spcPts val="400"/>
              </a:spcAft>
              <a:buSzPct val="100000"/>
            </a:pPr>
            <a:r>
              <a:rPr lang="en-US" sz="1800" dirty="0"/>
              <a:t>The </a:t>
            </a:r>
            <a:r>
              <a:rPr lang="en-US" sz="1800" b="1" dirty="0"/>
              <a:t>tailpipe</a:t>
            </a:r>
            <a:r>
              <a:rPr lang="en-US" sz="1800" dirty="0"/>
              <a:t> is the last pipe in the exhaust system. It releases the exhaust fumes into the atmosphere beyond the back end of the car.</a:t>
            </a:r>
          </a:p>
          <a:p>
            <a:pPr marL="357188" indent="-357188">
              <a:spcAft>
                <a:spcPts val="400"/>
              </a:spcAft>
              <a:buSzPct val="100000"/>
            </a:pPr>
            <a:r>
              <a:rPr lang="en-US" sz="1800" dirty="0"/>
              <a:t>Clamps, Brackets, and Hangers Clamps, brackets, and hangers</a:t>
            </a:r>
          </a:p>
          <a:p>
            <a:pPr marL="715963" lvl="1" indent="-357188">
              <a:spcAft>
                <a:spcPts val="400"/>
              </a:spcAft>
              <a:buSzPct val="100000"/>
            </a:pPr>
            <a:r>
              <a:rPr lang="en-US" sz="1800" dirty="0"/>
              <a:t>They are used to properly join and support the various parts of the exhaust system.</a:t>
            </a:r>
          </a:p>
          <a:p>
            <a:pPr marL="715963" lvl="1" indent="-357188">
              <a:spcAft>
                <a:spcPts val="400"/>
              </a:spcAft>
              <a:buSzPct val="100000"/>
            </a:pPr>
            <a:r>
              <a:rPr lang="en-US" sz="1800" dirty="0"/>
              <a:t>These parts also help to isolate exhaust noise by preventing its transfer through the frame or body to the passenger compartment.</a:t>
            </a:r>
          </a:p>
        </p:txBody>
      </p:sp>
    </p:spTree>
    <p:extLst>
      <p:ext uri="{BB962C8B-B14F-4D97-AF65-F5344CB8AC3E}">
        <p14:creationId xmlns:p14="http://schemas.microsoft.com/office/powerpoint/2010/main" val="1048037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Exhaust System Inspection</a:t>
            </a:r>
            <a:endParaRPr sz="3600" dirty="0"/>
          </a:p>
        </p:txBody>
      </p:sp>
      <p:sp>
        <p:nvSpPr>
          <p:cNvPr id="145" name="Google Shape;145;p4"/>
          <p:cNvSpPr txBox="1">
            <a:spLocks noGrp="1"/>
          </p:cNvSpPr>
          <p:nvPr>
            <p:ph type="body" idx="1"/>
          </p:nvPr>
        </p:nvSpPr>
        <p:spPr>
          <a:xfrm>
            <a:off x="476842" y="1563624"/>
            <a:ext cx="7653903" cy="4515900"/>
          </a:xfrm>
          <a:prstGeom prst="rect">
            <a:avLst/>
          </a:prstGeom>
          <a:noFill/>
          <a:ln>
            <a:noFill/>
          </a:ln>
        </p:spPr>
        <p:txBody>
          <a:bodyPr spcFirstLastPara="1" wrap="square" lIns="91425" tIns="45700" rIns="91425" bIns="45700" anchor="t" anchorCtr="0">
            <a:noAutofit/>
          </a:bodyPr>
          <a:lstStyle/>
          <a:p>
            <a:pPr>
              <a:buSzPct val="100000"/>
            </a:pPr>
            <a:r>
              <a:rPr lang="en-US" sz="2000" b="1" dirty="0"/>
              <a:t>32.08 Properly perform an exhaust system inspection, and service and replace exhaust system components.</a:t>
            </a:r>
          </a:p>
          <a:p>
            <a:pPr marL="357188" marR="0" lvl="0" indent="-357188" algn="l" rtl="0">
              <a:buSzPct val="100000"/>
              <a:buChar char="•"/>
            </a:pPr>
            <a:r>
              <a:rPr lang="en-US" sz="2000" dirty="0"/>
              <a:t>Most parts of the exhaust system, particularly the exhaust pipe, muffler, and tailpipe, are subject to rust, corrosion, and cracking.</a:t>
            </a:r>
          </a:p>
          <a:p>
            <a:pPr marL="357188" marR="0" lvl="0" indent="-357188" algn="l" rtl="0">
              <a:buSzPct val="100000"/>
              <a:buChar char="•"/>
            </a:pPr>
            <a:r>
              <a:rPr lang="en-US" sz="2000" dirty="0"/>
              <a:t>Broken or loose clamps and hangers can allow parts to separate or hit the road as the car moves.</a:t>
            </a:r>
          </a:p>
          <a:p>
            <a:pPr marL="357188" marR="0" lvl="0" indent="-357188" algn="l" rtl="0">
              <a:buSzPct val="100000"/>
              <a:buChar char="•"/>
            </a:pPr>
            <a:r>
              <a:rPr lang="en-US" sz="2000" dirty="0"/>
              <a:t>All inspections should include listening for abnormal noises.</a:t>
            </a:r>
          </a:p>
          <a:p>
            <a:pPr marL="357188" marR="0" lvl="0" indent="-357188" algn="l" rtl="0">
              <a:buSzPct val="100000"/>
              <a:buChar char="•"/>
            </a:pPr>
            <a:r>
              <a:rPr lang="en-US" sz="2000" dirty="0"/>
              <a:t>If rattling or knocking noises are heard, check for contact between exhaust pipes and other components, especially if a custom exhaust is installed.</a:t>
            </a:r>
            <a:endParaRPr lang="en-US" sz="2000" b="1" dirty="0"/>
          </a:p>
        </p:txBody>
      </p:sp>
      <p:pic>
        <p:nvPicPr>
          <p:cNvPr id="8" name="Picture Placeholder 7" descr="An exhaust system with rusted and damaged heat shields.">
            <a:extLst>
              <a:ext uri="{FF2B5EF4-FFF2-40B4-BE49-F238E27FC236}">
                <a16:creationId xmlns:a16="http://schemas.microsoft.com/office/drawing/2014/main" id="{F982BF4E-946B-A24F-1538-BA663EC9D651}"/>
              </a:ext>
            </a:extLst>
          </p:cNvPr>
          <p:cNvPicPr>
            <a:picLocks noGrp="1" noChangeAspect="1"/>
          </p:cNvPicPr>
          <p:nvPr>
            <p:ph type="pic" sz="quarter" idx="13"/>
          </p:nvPr>
        </p:nvPicPr>
        <p:blipFill rotWithShape="1">
          <a:blip r:embed="rId3"/>
          <a:srcRect b="8843"/>
          <a:stretch/>
        </p:blipFill>
        <p:spPr>
          <a:xfrm>
            <a:off x="8244971" y="2295525"/>
            <a:ext cx="3742437" cy="2820172"/>
          </a:xfrm>
          <a:prstGeom prst="rect">
            <a:avLst/>
          </a:prstGeom>
        </p:spPr>
      </p:pic>
    </p:spTree>
    <p:extLst>
      <p:ext uri="{BB962C8B-B14F-4D97-AF65-F5344CB8AC3E}">
        <p14:creationId xmlns:p14="http://schemas.microsoft.com/office/powerpoint/2010/main" val="8871482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Exhaust Leaks</a:t>
            </a:r>
            <a:endParaRPr sz="3600" dirty="0"/>
          </a:p>
        </p:txBody>
      </p:sp>
      <p:sp>
        <p:nvSpPr>
          <p:cNvPr id="145" name="Google Shape;145;p4"/>
          <p:cNvSpPr txBox="1">
            <a:spLocks noGrp="1"/>
          </p:cNvSpPr>
          <p:nvPr>
            <p:ph type="body" idx="1"/>
          </p:nvPr>
        </p:nvSpPr>
        <p:spPr>
          <a:xfrm>
            <a:off x="476844" y="1563624"/>
            <a:ext cx="7589917" cy="4461395"/>
          </a:xfrm>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SzPct val="100000"/>
              <a:buChar char="•"/>
            </a:pPr>
            <a:r>
              <a:rPr lang="en-US" sz="2000" dirty="0">
                <a:solidFill>
                  <a:schemeClr val="tx1"/>
                </a:solidFill>
              </a:rPr>
              <a:t>Exhaust leaks are often identified by sound, very small leaks can be difficult to locate.</a:t>
            </a:r>
          </a:p>
          <a:p>
            <a:pPr marL="357188" marR="0" lvl="0" indent="-357188" algn="l" rtl="0">
              <a:spcAft>
                <a:spcPts val="400"/>
              </a:spcAft>
              <a:buSzPct val="100000"/>
              <a:buChar char="•"/>
            </a:pPr>
            <a:r>
              <a:rPr lang="en-US" sz="2000" dirty="0">
                <a:solidFill>
                  <a:schemeClr val="tx1"/>
                </a:solidFill>
              </a:rPr>
              <a:t>Check along the pipes, paying close attention at connections and where hangers or brackets attach, for evidence of a leak.</a:t>
            </a:r>
          </a:p>
          <a:p>
            <a:pPr marL="357188" marR="0" lvl="0" indent="-357188" algn="l" rtl="0">
              <a:spcAft>
                <a:spcPts val="400"/>
              </a:spcAft>
              <a:buSzPct val="100000"/>
              <a:buChar char="•"/>
            </a:pPr>
            <a:r>
              <a:rPr lang="en-US" sz="2000" dirty="0">
                <a:solidFill>
                  <a:schemeClr val="tx1"/>
                </a:solidFill>
              </a:rPr>
              <a:t>Temporarily plugging the tail pipe will cause the exhaust pressure to back up, causing the leak to “hiss,” making it easier to find.</a:t>
            </a:r>
          </a:p>
          <a:p>
            <a:pPr marL="357188" marR="0" lvl="0" indent="-357188" algn="l" rtl="0">
              <a:spcAft>
                <a:spcPts val="400"/>
              </a:spcAft>
              <a:buSzPct val="100000"/>
              <a:buChar char="•"/>
            </a:pPr>
            <a:r>
              <a:rPr lang="en-US" sz="2000" dirty="0">
                <a:solidFill>
                  <a:schemeClr val="tx1"/>
                </a:solidFill>
              </a:rPr>
              <a:t>One of the most effective ways to identify the source of a leak in the system is the use of a smoke machine.</a:t>
            </a:r>
          </a:p>
          <a:p>
            <a:pPr marL="357188" marR="0" lvl="0" indent="-357188" algn="l" rtl="0">
              <a:spcAft>
                <a:spcPts val="400"/>
              </a:spcAft>
              <a:buSzPct val="100000"/>
              <a:buChar char="•"/>
            </a:pPr>
            <a:r>
              <a:rPr lang="en-US" sz="2000" dirty="0">
                <a:solidFill>
                  <a:schemeClr val="tx1"/>
                </a:solidFill>
              </a:rPr>
              <a:t>When smoke is introduced to the exhaust system, a trace of smoke will identify the source of the leak.</a:t>
            </a:r>
            <a:endParaRPr lang="en-US" sz="2000" b="1" dirty="0">
              <a:solidFill>
                <a:schemeClr val="tx1"/>
              </a:solidFill>
            </a:endParaRPr>
          </a:p>
        </p:txBody>
      </p:sp>
      <p:pic>
        <p:nvPicPr>
          <p:cNvPr id="8" name="Picture Placeholder 7" descr="A technician inspects an exhaust system connection points for leaks.">
            <a:extLst>
              <a:ext uri="{FF2B5EF4-FFF2-40B4-BE49-F238E27FC236}">
                <a16:creationId xmlns:a16="http://schemas.microsoft.com/office/drawing/2014/main" id="{CD8F0A61-15CD-4738-81E0-D845CEFBEE06}"/>
              </a:ext>
            </a:extLst>
          </p:cNvPr>
          <p:cNvPicPr>
            <a:picLocks noGrp="1" noChangeAspect="1"/>
          </p:cNvPicPr>
          <p:nvPr>
            <p:ph type="pic" sz="quarter" idx="13"/>
          </p:nvPr>
        </p:nvPicPr>
        <p:blipFill rotWithShape="1">
          <a:blip r:embed="rId3"/>
          <a:srcRect b="6384"/>
          <a:stretch/>
        </p:blipFill>
        <p:spPr>
          <a:xfrm>
            <a:off x="8447552" y="1657047"/>
            <a:ext cx="3159355" cy="4142504"/>
          </a:xfrm>
          <a:prstGeom prst="rect">
            <a:avLst/>
          </a:prstGeom>
        </p:spPr>
      </p:pic>
    </p:spTree>
    <p:extLst>
      <p:ext uri="{BB962C8B-B14F-4D97-AF65-F5344CB8AC3E}">
        <p14:creationId xmlns:p14="http://schemas.microsoft.com/office/powerpoint/2010/main" val="3213570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ts val="2800"/>
            </a:pPr>
            <a:r>
              <a:rPr lang="en-US" dirty="0"/>
              <a:t>Why would a technician introduce white smoke into an exhaust system?</a:t>
            </a:r>
          </a:p>
        </p:txBody>
      </p:sp>
    </p:spTree>
    <p:extLst>
      <p:ext uri="{BB962C8B-B14F-4D97-AF65-F5344CB8AC3E}">
        <p14:creationId xmlns:p14="http://schemas.microsoft.com/office/powerpoint/2010/main" val="2678289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 </a:t>
            </a:r>
            <a:endParaRPr dirty="0"/>
          </a:p>
        </p:txBody>
      </p:sp>
      <p:sp>
        <p:nvSpPr>
          <p:cNvPr id="2" name="Text Placeholder 1">
            <a:extLst>
              <a:ext uri="{FF2B5EF4-FFF2-40B4-BE49-F238E27FC236}">
                <a16:creationId xmlns:a16="http://schemas.microsoft.com/office/drawing/2014/main" id="{25B2DA32-E802-F6F4-6E9D-056FC9541416}"/>
              </a:ext>
            </a:extLst>
          </p:cNvPr>
          <p:cNvSpPr>
            <a:spLocks noGrp="1"/>
          </p:cNvSpPr>
          <p:nvPr>
            <p:ph type="body" idx="1"/>
          </p:nvPr>
        </p:nvSpPr>
        <p:spPr/>
        <p:txBody>
          <a:bodyPr/>
          <a:lstStyle/>
          <a:p>
            <a:pPr marL="363538" indent="-363538">
              <a:spcBef>
                <a:spcPts val="1000"/>
              </a:spcBef>
              <a:spcAft>
                <a:spcPts val="0"/>
              </a:spcAft>
              <a:buClr>
                <a:srgbClr val="282F7C"/>
              </a:buClr>
              <a:buSzPts val="2400"/>
              <a:defRPr/>
            </a:pPr>
            <a:r>
              <a:rPr lang="en-US" b="1" dirty="0"/>
              <a:t>Answer: </a:t>
            </a:r>
            <a:r>
              <a:rPr lang="en-US" dirty="0"/>
              <a:t>To inspect for and locate a leak.</a:t>
            </a:r>
          </a:p>
        </p:txBody>
      </p:sp>
    </p:spTree>
    <p:extLst>
      <p:ext uri="{BB962C8B-B14F-4D97-AF65-F5344CB8AC3E}">
        <p14:creationId xmlns:p14="http://schemas.microsoft.com/office/powerpoint/2010/main" val="40341617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Replacing Exhaust System Components</a:t>
            </a:r>
            <a:endParaRPr sz="3600" dirty="0"/>
          </a:p>
        </p:txBody>
      </p:sp>
      <p:pic>
        <p:nvPicPr>
          <p:cNvPr id="8" name="Picture Placeholder 7" descr="A mini-ductor 2, flameless heat system is used to heat bolts for an exhaust system component replacement.">
            <a:extLst>
              <a:ext uri="{FF2B5EF4-FFF2-40B4-BE49-F238E27FC236}">
                <a16:creationId xmlns:a16="http://schemas.microsoft.com/office/drawing/2014/main" id="{8A2499CC-1EE9-12CE-A7BA-728B8A6745D9}"/>
              </a:ext>
            </a:extLst>
          </p:cNvPr>
          <p:cNvPicPr>
            <a:picLocks noGrp="1" noChangeAspect="1"/>
          </p:cNvPicPr>
          <p:nvPr>
            <p:ph type="pic" sz="quarter" idx="12"/>
          </p:nvPr>
        </p:nvPicPr>
        <p:blipFill rotWithShape="1">
          <a:blip r:embed="rId3"/>
          <a:srcRect b="16135"/>
          <a:stretch/>
        </p:blipFill>
        <p:spPr>
          <a:xfrm>
            <a:off x="702268" y="2017860"/>
            <a:ext cx="4620646" cy="2541614"/>
          </a:xfrm>
          <a:prstGeom prst="rect">
            <a:avLst/>
          </a:prstGeom>
        </p:spPr>
      </p:pic>
      <p:sp>
        <p:nvSpPr>
          <p:cNvPr id="145" name="Google Shape;145;p4"/>
          <p:cNvSpPr txBox="1">
            <a:spLocks noGrp="1"/>
          </p:cNvSpPr>
          <p:nvPr>
            <p:ph type="body" idx="1"/>
          </p:nvPr>
        </p:nvSpPr>
        <p:spPr>
          <a:xfrm>
            <a:off x="5561556" y="1563624"/>
            <a:ext cx="6157202" cy="4429403"/>
          </a:xfrm>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Exhaust system component replacement might require the use of special tools and welding equipment.</a:t>
            </a:r>
          </a:p>
          <a:p>
            <a:pPr marL="357188" marR="0" lvl="0" indent="-357188" algn="l" rtl="0">
              <a:buSzPct val="100000"/>
              <a:buChar char="•"/>
            </a:pPr>
            <a:r>
              <a:rPr lang="en-US" sz="2000" dirty="0"/>
              <a:t>If it is necessary to weld exhaust components together, disconnect the battery negative cable to prevent damage to electronic components.</a:t>
            </a:r>
          </a:p>
          <a:p>
            <a:pPr marL="357188" marR="0" lvl="0" indent="-357188" algn="l" rtl="0">
              <a:buSzPct val="100000"/>
              <a:buChar char="•"/>
            </a:pPr>
            <a:r>
              <a:rPr lang="en-US" sz="2000" dirty="0"/>
              <a:t>A tool that often makes exhaust work easier is the induction heater.</a:t>
            </a:r>
          </a:p>
          <a:p>
            <a:pPr marL="357188" marR="0" lvl="0" indent="-357188" algn="l" rtl="0">
              <a:buSzPct val="100000"/>
              <a:buChar char="•"/>
            </a:pPr>
            <a:r>
              <a:rPr lang="en-US" sz="2000" dirty="0"/>
              <a:t>This tool uses high-frequency magnetic fields to excite and heat ferrous metal parts quickly and safely without a flame.</a:t>
            </a:r>
            <a:endParaRPr lang="en-US" sz="2000" b="1" dirty="0"/>
          </a:p>
        </p:txBody>
      </p:sp>
    </p:spTree>
    <p:extLst>
      <p:ext uri="{BB962C8B-B14F-4D97-AF65-F5344CB8AC3E}">
        <p14:creationId xmlns:p14="http://schemas.microsoft.com/office/powerpoint/2010/main" val="20881890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solidFill>
                  <a:schemeClr val="accent1"/>
                </a:solidFill>
              </a:rPr>
              <a:t>Please take a moment to compare your perception of the intake and exhaust systems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buSzPct val="100000"/>
              <a:buFont typeface="Arial"/>
              <a:buChar char="•"/>
            </a:pPr>
            <a:r>
              <a:rPr lang="en-US" dirty="0">
                <a:solidFill>
                  <a:schemeClr val="accent1"/>
                </a:solidFill>
              </a:rPr>
              <a:t>Did you find any of the concepts difficult to understand? How will you better your understanding of these concepts?</a:t>
            </a:r>
            <a:endParaRPr dirty="0">
              <a:solidFill>
                <a:schemeClr val="accent1"/>
              </a:solidFill>
            </a:endParaRPr>
          </a:p>
          <a:p>
            <a:pPr marL="360363" lvl="0" indent="-360363" algn="l" rtl="0">
              <a:lnSpc>
                <a:spcPct val="100000"/>
              </a:lnSpc>
              <a:buSzPct val="100000"/>
              <a:buFont typeface="Arial"/>
              <a:buChar char="•"/>
            </a:pPr>
            <a:r>
              <a:rPr lang="en-US" dirty="0">
                <a:solidFill>
                  <a:schemeClr val="accent1"/>
                </a:solidFill>
              </a:rPr>
              <a:t>Considering all you have learned, do you feel you are prepared to perform intake and exhaust system service in a shop or lab setting? How will you ensure you are prepared?</a:t>
            </a:r>
            <a:endParaRPr dirty="0">
              <a:solidFill>
                <a:schemeClr val="accent1"/>
              </a:solidFill>
            </a:endParaRP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12708</TotalTime>
  <Words>3784</Words>
  <Application>Microsoft Office PowerPoint</Application>
  <PresentationFormat>Widescreen</PresentationFormat>
  <Paragraphs>241</Paragraphs>
  <Slides>39</Slides>
  <Notes>39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Work Sans</vt:lpstr>
      <vt:lpstr>Noto Sans Symbols</vt:lpstr>
      <vt:lpstr>Optimized Template Master</vt:lpstr>
      <vt:lpstr>Automotive Technology: A Systems Approach, 8e</vt:lpstr>
      <vt:lpstr>Chapter Objectives (1 of 2) </vt:lpstr>
      <vt:lpstr>Chapter Objectives (2 of 2) </vt:lpstr>
      <vt:lpstr>Vacuum Systems</vt:lpstr>
      <vt:lpstr>Vacuum Basics</vt:lpstr>
      <vt:lpstr>Diagnosis and Troubleshooting</vt:lpstr>
      <vt:lpstr>Air Induction System</vt:lpstr>
      <vt:lpstr>Air Cleaner/Filter</vt:lpstr>
      <vt:lpstr>Induction Hoses</vt:lpstr>
      <vt:lpstr>Intake Manifolds</vt:lpstr>
      <vt:lpstr>Design Variations</vt:lpstr>
      <vt:lpstr>Water Injection Systems</vt:lpstr>
      <vt:lpstr>Servicing an Intake Manifold</vt:lpstr>
      <vt:lpstr>Knowledge Check (1 of 2)</vt:lpstr>
      <vt:lpstr>Knowledge Check Answer (1 of 2)</vt:lpstr>
      <vt:lpstr>Forced Induction Systems</vt:lpstr>
      <vt:lpstr>Intercoolers</vt:lpstr>
      <vt:lpstr>Turbochargers</vt:lpstr>
      <vt:lpstr>Construction</vt:lpstr>
      <vt:lpstr>Wastegate Valve</vt:lpstr>
      <vt:lpstr>Turbo Lubrication and Cooling</vt:lpstr>
      <vt:lpstr>DualBoost Single Sequential Turbocharger</vt:lpstr>
      <vt:lpstr>Turbocharger Inspection</vt:lpstr>
      <vt:lpstr>Replacing a Turbocharger</vt:lpstr>
      <vt:lpstr>Superchargers</vt:lpstr>
      <vt:lpstr>Supercharger Operation</vt:lpstr>
      <vt:lpstr>Supercharger Problems</vt:lpstr>
      <vt:lpstr>Discussion</vt:lpstr>
      <vt:lpstr>Exhaust System Components</vt:lpstr>
      <vt:lpstr>Exhaust Manifold</vt:lpstr>
      <vt:lpstr>Catalytic Converters</vt:lpstr>
      <vt:lpstr>Mufflers</vt:lpstr>
      <vt:lpstr>Exhaust System Components </vt:lpstr>
      <vt:lpstr>Exhaust System Inspection</vt:lpstr>
      <vt:lpstr>Exhaust Leaks</vt:lpstr>
      <vt:lpstr>Knowledge Check (2 of 2)</vt:lpstr>
      <vt:lpstr>Knowledge Check Answer (2 of 2) </vt:lpstr>
      <vt:lpstr>Replacing Exhaust System Components</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Venugopal Loganathan</cp:lastModifiedBy>
  <cp:revision>254</cp:revision>
  <dcterms:created xsi:type="dcterms:W3CDTF">2021-12-10T16:21:02Z</dcterms:created>
  <dcterms:modified xsi:type="dcterms:W3CDTF">2024-11-21T14:13:20Z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