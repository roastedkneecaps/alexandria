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6"/>
  </p:notesMasterIdLst>
  <p:sldIdLst>
    <p:sldId id="350" r:id="rId2"/>
    <p:sldId id="257" r:id="rId3"/>
    <p:sldId id="461" r:id="rId4"/>
    <p:sldId id="462" r:id="rId5"/>
    <p:sldId id="489" r:id="rId6"/>
    <p:sldId id="490" r:id="rId7"/>
    <p:sldId id="463" r:id="rId8"/>
    <p:sldId id="464" r:id="rId9"/>
    <p:sldId id="465" r:id="rId10"/>
    <p:sldId id="466" r:id="rId11"/>
    <p:sldId id="467" r:id="rId12"/>
    <p:sldId id="468" r:id="rId13"/>
    <p:sldId id="469" r:id="rId14"/>
    <p:sldId id="470" r:id="rId15"/>
    <p:sldId id="471" r:id="rId16"/>
    <p:sldId id="472" r:id="rId17"/>
    <p:sldId id="473" r:id="rId18"/>
    <p:sldId id="474" r:id="rId19"/>
    <p:sldId id="475" r:id="rId20"/>
    <p:sldId id="476" r:id="rId21"/>
    <p:sldId id="477" r:id="rId22"/>
    <p:sldId id="479" r:id="rId23"/>
    <p:sldId id="481" r:id="rId24"/>
    <p:sldId id="491" r:id="rId25"/>
    <p:sldId id="480" r:id="rId26"/>
    <p:sldId id="482" r:id="rId27"/>
    <p:sldId id="483" r:id="rId28"/>
    <p:sldId id="484" r:id="rId29"/>
    <p:sldId id="485" r:id="rId30"/>
    <p:sldId id="487" r:id="rId31"/>
    <p:sldId id="488" r:id="rId32"/>
    <p:sldId id="293" r:id="rId33"/>
    <p:sldId id="294" r:id="rId34"/>
    <p:sldId id="301" r:id="rId35"/>
  </p:sldIdLst>
  <p:sldSz cx="12192000" cy="6858000"/>
  <p:notesSz cx="6858000" cy="9144000"/>
  <p:embeddedFontLst>
    <p:embeddedFont>
      <p:font typeface="Work Sans"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3" autoAdjust="0"/>
    <p:restoredTop sz="80726" autoAdjust="0"/>
  </p:normalViewPr>
  <p:slideViewPr>
    <p:cSldViewPr snapToGrid="0">
      <p:cViewPr varScale="1">
        <p:scale>
          <a:sx n="48" d="100"/>
          <a:sy n="48" d="100"/>
        </p:scale>
        <p:origin x="1100" y="28"/>
      </p:cViewPr>
      <p:guideLst>
        <p:guide orient="horz" pos="2160"/>
        <p:guide pos="3840"/>
      </p:guideLst>
    </p:cSldViewPr>
  </p:slideViewPr>
  <p:outlineViewPr>
    <p:cViewPr>
      <p:scale>
        <a:sx n="33" d="100"/>
        <a:sy n="33" d="100"/>
      </p:scale>
      <p:origin x="0" y="-3759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59" Type="http://schemas.openxmlformats.org/officeDocument/2006/relationships/viewProps" Target="viewProps.xml"/><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61237556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2277066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6007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dirty="0"/>
          </a:p>
        </p:txBody>
      </p:sp>
    </p:spTree>
    <p:extLst>
      <p:ext uri="{BB962C8B-B14F-4D97-AF65-F5344CB8AC3E}">
        <p14:creationId xmlns:p14="http://schemas.microsoft.com/office/powerpoint/2010/main" val="3605260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dirty="0"/>
          </a:p>
        </p:txBody>
      </p:sp>
    </p:spTree>
    <p:extLst>
      <p:ext uri="{BB962C8B-B14F-4D97-AF65-F5344CB8AC3E}">
        <p14:creationId xmlns:p14="http://schemas.microsoft.com/office/powerpoint/2010/main" val="923423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83962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99740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5765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1986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24475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95427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5123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0127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0636147-47AD-C652-18BC-62069494E401}"/>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E7A77D3D-86BF-281E-BE7A-96CB52D3E29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EB3B145D-A571-EA30-4A2D-5D5BA349DEB8}"/>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1731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6FEFD80-D30B-B84B-EF0B-D33846EF574A}"/>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A3A788B6-5E92-E9C9-4609-6623E4F88DE6}"/>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7C36B03B-8825-2B8B-5DF1-516F6ACDD1A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40263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E8A33C9-33A3-0889-E546-B153FD86B6BB}"/>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7272B35-F010-6CED-DA4C-0B0AA43D0CD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D70D272-0A3B-75D5-5FB4-0FD9A189E0E9}"/>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51932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095ECF6-C6AD-4811-ECCD-26987CC04D20}"/>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7B17D76A-90A3-4715-F5ED-99EAF03E18BD}"/>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BF569AA-20BC-BE38-FE6E-6BA2ADB8716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8015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9F023E5-F06A-1781-E74D-8F64101A327F}"/>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EB337AC1-87AD-66CE-3711-A751FABAB365}"/>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C1577036-CC75-4A87-0EAD-2267CFE8683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626586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3A641FB-3CE9-8D93-1B0E-F5CFFC5AF4BA}"/>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8912930-880F-C573-AD3E-F43ACDD12F1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15A5C66-A577-C213-412E-87C4DA4B69EB}"/>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28133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C4367CE-ECFD-850A-1667-251B29F98262}"/>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75419AD1-1396-FB5D-D857-9DE9EA5A71E0}"/>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3534D85-52CB-5D73-6038-985EE64E5BBD}"/>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558092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4383901-E3DB-35B3-17A6-8329B67B5E2B}"/>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AB463A9-06F4-56BA-EA6E-BA96611DA04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932C1B78-BC84-DBF2-D1D0-06FFC36A7ECA}"/>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56118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FE76A96-1934-C15A-C0C3-528CC1B2D6E6}"/>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5CEF6AB-161A-2ADF-B05D-65CB49F0E405}"/>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E9957507-05C2-5DCA-56BA-C020BB41E228}"/>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80060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042348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7D70A66-39B7-F5D2-7260-67FA1051F5D4}"/>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EA5F5467-6849-492E-D3FD-70E098CA2CC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FCAB1D5C-2B59-CF11-1ED9-E19D3B2D2B1E}"/>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48194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07ED611-BA87-DBD7-C062-1AFBA0D07D2B}"/>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71AC923C-BA63-B960-8CFE-4849709DAB2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8C677ABA-EF9E-7B20-43C1-21F8B341371A}"/>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65236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53DA85F-53E7-5C03-5889-E2EC582E1CF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DD55030F-9831-15ED-F11E-D444E10BA43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B14E0C51-2AC6-9772-4D66-797F164CE4E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7360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532A726-C519-AAAF-6691-39B6CEB0A661}"/>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6EF1D28A-60D7-F832-3BA3-C2D43669626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8A2187DA-B1E3-D784-36D2-3895D7885A82}"/>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898860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D88C958-185D-E463-FD09-27BBF805889C}"/>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A08B1CE6-0CAD-48DE-CEF5-F0F2D8D5EDB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1DEE0E0-5423-BCEF-728A-9A63A522FE4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29993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FD4C94F-11D3-201E-119E-3C33A98D4B01}"/>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6111A88A-03F2-C5AF-83BA-69372D28200E}"/>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453F120-83DA-50E2-08C1-61DB8DA2FD48}"/>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40323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E874488-B6A2-ECD3-ABEB-EFDD73289CFA}"/>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3CB56E8E-4567-FC95-EB7A-665DCDAF3605}"/>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B73D435F-6926-E659-DF06-0BCC0669DD90}"/>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86180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7233847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11193641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1557086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0787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80000"/>
              <a:buChar char="▪"/>
              <a:defRPr sz="20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0787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5"/>
            <a:ext cx="11241915" cy="2513076"/>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80000"/>
              <a:buChar char="▪"/>
              <a:defRPr sz="20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
        <p:nvSpPr>
          <p:cNvPr id="3" name="Content Placeholder 2">
            <a:extLst>
              <a:ext uri="{FF2B5EF4-FFF2-40B4-BE49-F238E27FC236}">
                <a16:creationId xmlns:a16="http://schemas.microsoft.com/office/drawing/2014/main" id="{08888511-0F1A-5512-4AEE-45D34E65D27F}"/>
              </a:ext>
            </a:extLst>
          </p:cNvPr>
          <p:cNvSpPr>
            <a:spLocks noGrp="1"/>
          </p:cNvSpPr>
          <p:nvPr>
            <p:ph sz="quarter" idx="10"/>
          </p:nvPr>
        </p:nvSpPr>
        <p:spPr>
          <a:xfrm>
            <a:off x="666750" y="441007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3CF89C06-B129-590A-7C4C-60B7A6B48CBA}"/>
              </a:ext>
            </a:extLst>
          </p:cNvPr>
          <p:cNvSpPr>
            <a:spLocks noGrp="1"/>
          </p:cNvSpPr>
          <p:nvPr>
            <p:ph sz="quarter" idx="11"/>
          </p:nvPr>
        </p:nvSpPr>
        <p:spPr>
          <a:xfrm>
            <a:off x="2095500" y="443865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3DD83E63-D9D9-3D73-BB09-219594F03E2A}"/>
              </a:ext>
            </a:extLst>
          </p:cNvPr>
          <p:cNvSpPr>
            <a:spLocks noGrp="1"/>
          </p:cNvSpPr>
          <p:nvPr>
            <p:ph type="pic" sz="quarter" idx="12"/>
          </p:nvPr>
        </p:nvSpPr>
        <p:spPr>
          <a:xfrm>
            <a:off x="3876675" y="4581525"/>
            <a:ext cx="914400" cy="914400"/>
          </a:xfrm>
        </p:spPr>
        <p:txBody>
          <a:bodyPr/>
          <a:lstStyle/>
          <a:p>
            <a:endParaRPr lang="en-IN"/>
          </a:p>
        </p:txBody>
      </p:sp>
      <p:sp>
        <p:nvSpPr>
          <p:cNvPr id="9" name="Picture Placeholder 8">
            <a:extLst>
              <a:ext uri="{FF2B5EF4-FFF2-40B4-BE49-F238E27FC236}">
                <a16:creationId xmlns:a16="http://schemas.microsoft.com/office/drawing/2014/main" id="{B907895A-3298-9C5C-3CF9-105790D85752}"/>
              </a:ext>
            </a:extLst>
          </p:cNvPr>
          <p:cNvSpPr>
            <a:spLocks noGrp="1"/>
          </p:cNvSpPr>
          <p:nvPr>
            <p:ph type="pic" sz="quarter" idx="13"/>
          </p:nvPr>
        </p:nvSpPr>
        <p:spPr>
          <a:xfrm>
            <a:off x="5572125" y="4581525"/>
            <a:ext cx="914400" cy="914400"/>
          </a:xfrm>
        </p:spPr>
        <p:txBody>
          <a:bodyPr/>
          <a:lstStyle/>
          <a:p>
            <a:endParaRPr lang="en-IN"/>
          </a:p>
        </p:txBody>
      </p:sp>
      <p:sp>
        <p:nvSpPr>
          <p:cNvPr id="11" name="Table Placeholder 10">
            <a:extLst>
              <a:ext uri="{FF2B5EF4-FFF2-40B4-BE49-F238E27FC236}">
                <a16:creationId xmlns:a16="http://schemas.microsoft.com/office/drawing/2014/main" id="{3B591F3E-10FC-C8C2-DC7D-26BB64BA189B}"/>
              </a:ext>
            </a:extLst>
          </p:cNvPr>
          <p:cNvSpPr>
            <a:spLocks noGrp="1"/>
          </p:cNvSpPr>
          <p:nvPr>
            <p:ph type="tbl" sz="quarter" idx="14"/>
          </p:nvPr>
        </p:nvSpPr>
        <p:spPr>
          <a:xfrm>
            <a:off x="7181850" y="4581525"/>
            <a:ext cx="914400" cy="914400"/>
          </a:xfrm>
        </p:spPr>
        <p:txBody>
          <a:bodyPr/>
          <a:lstStyle/>
          <a:p>
            <a:endParaRPr lang="en-IN"/>
          </a:p>
        </p:txBody>
      </p:sp>
    </p:spTree>
    <p:extLst>
      <p:ext uri="{BB962C8B-B14F-4D97-AF65-F5344CB8AC3E}">
        <p14:creationId xmlns:p14="http://schemas.microsoft.com/office/powerpoint/2010/main" val="2114656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55240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r>
              <a:rPr lang="en-IN" dirty="0"/>
              <a:t>ss</a:t>
            </a:r>
            <a:endParaRPr dirty="0"/>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BC7AFA26-6762-4B37-5E92-8AD0BBF46DAF}"/>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33: Emission Control Systems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33.01 Describe the gases and pollutants present in engine exhaust.</a:t>
            </a:r>
          </a:p>
          <a:p>
            <a:pPr marL="357188" marR="0" lvl="0" indent="-357188" algn="l" rtl="0">
              <a:buChar char="•"/>
            </a:pPr>
            <a:r>
              <a:rPr lang="en-US" dirty="0"/>
              <a:t>33.02 List common types of emission control devices.</a:t>
            </a:r>
          </a:p>
          <a:p>
            <a:pPr marL="357188" marR="0" lvl="0" indent="-357188" algn="l" rtl="0">
              <a:buChar char="•"/>
            </a:pPr>
            <a:r>
              <a:rPr lang="en-US" dirty="0"/>
              <a:t>33.03 Describe the operation of an evaporative control system.</a:t>
            </a:r>
          </a:p>
          <a:p>
            <a:pPr marL="357188" marR="0" lvl="0" indent="-357188" algn="l" rtl="0">
              <a:buChar char="•"/>
            </a:pPr>
            <a:r>
              <a:rPr lang="en-US" dirty="0"/>
              <a:t>33.04 Describe precombustion emission controls.</a:t>
            </a:r>
          </a:p>
          <a:p>
            <a:pPr marL="357188" marR="0" lvl="0" indent="-357188" algn="l" rtl="0">
              <a:buChar char="•"/>
            </a:pPr>
            <a:r>
              <a:rPr lang="en-US" dirty="0"/>
              <a:t>33.05 Describe postcombustion emission controls.</a:t>
            </a:r>
          </a:p>
          <a:p>
            <a:pPr marL="357188" marR="0" lvl="0" indent="-357188" algn="l" rtl="0">
              <a:buChar char="•"/>
            </a:pPr>
            <a:r>
              <a:rPr lang="en-US" dirty="0"/>
              <a:t>33.06 Describe the emission controls commonly found on today’s light-duty diesel engines.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Pollutants (1 of 2)</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t>33.01 Describe the gases and pollutants present in engine exhaust.</a:t>
            </a:r>
            <a:endParaRPr lang="en-US" sz="1800" dirty="0"/>
          </a:p>
          <a:p>
            <a:r>
              <a:rPr lang="en-US" sz="1800" dirty="0"/>
              <a:t>Automotive emissions that are of the most concern to environmentalists, engineers, manufacturers, and technicians are hydrocarbon (HC), carbon monoxide (CO), oxides of nitrogen (NOx), carbon dioxide (CO</a:t>
            </a:r>
            <a:r>
              <a:rPr lang="en-US" sz="1800" baseline="-25000" dirty="0"/>
              <a:t>2</a:t>
            </a:r>
            <a:r>
              <a:rPr lang="en-US" sz="1800" dirty="0"/>
              <a:t>), and oxygen (O</a:t>
            </a:r>
            <a:r>
              <a:rPr lang="en-US" sz="1800" baseline="-25000" dirty="0"/>
              <a:t>2</a:t>
            </a:r>
            <a:r>
              <a:rPr lang="en-US" sz="1800" dirty="0"/>
              <a:t>).</a:t>
            </a:r>
          </a:p>
          <a:p>
            <a:r>
              <a:rPr lang="en-US" sz="1800" dirty="0"/>
              <a:t>These gases contribute to air and water pollution and climate change.</a:t>
            </a:r>
          </a:p>
          <a:p>
            <a:r>
              <a:rPr lang="en-US" sz="1800" dirty="0"/>
              <a:t>The exception to this is O</a:t>
            </a:r>
            <a:r>
              <a:rPr lang="en-US" sz="1800" baseline="-25000" dirty="0"/>
              <a:t>2</a:t>
            </a:r>
            <a:r>
              <a:rPr lang="en-US" sz="1800" dirty="0"/>
              <a:t>, which is not a pollutant.</a:t>
            </a:r>
          </a:p>
          <a:p>
            <a:r>
              <a:rPr lang="en-US" sz="1800" dirty="0"/>
              <a:t>Oxygen emissions are, however, an indication of the completeness of the combustion process. </a:t>
            </a:r>
          </a:p>
          <a:p>
            <a:r>
              <a:rPr lang="en-US" sz="1800" dirty="0"/>
              <a:t>The O</a:t>
            </a:r>
            <a:r>
              <a:rPr lang="en-US" sz="1800" baseline="-25000" dirty="0"/>
              <a:t>2</a:t>
            </a:r>
            <a:r>
              <a:rPr lang="en-US" sz="1800" dirty="0"/>
              <a:t> content in an engine’s exhaust also is monitored during emissions inspections to detect holes in the exhaust pipes or broken pipes.</a:t>
            </a:r>
          </a:p>
          <a:p>
            <a:r>
              <a:rPr lang="en-US" sz="1800" dirty="0"/>
              <a:t>An exhaust gas that is not monitored in most emissions testing is sulfur dioxide (SO</a:t>
            </a:r>
            <a:r>
              <a:rPr lang="en-US" sz="1800" baseline="-25000" dirty="0"/>
              <a:t>2</a:t>
            </a:r>
            <a:r>
              <a:rPr lang="en-US" sz="1800" dirty="0"/>
              <a:t>).</a:t>
            </a:r>
          </a:p>
          <a:p>
            <a:r>
              <a:rPr lang="en-US" sz="1800" dirty="0"/>
              <a:t>It is caused by large amounts of sulfur content in gasoline and is produced by the action of the catalytic converter.</a:t>
            </a:r>
          </a:p>
        </p:txBody>
      </p:sp>
    </p:spTree>
    <p:extLst>
      <p:ext uri="{BB962C8B-B14F-4D97-AF65-F5344CB8AC3E}">
        <p14:creationId xmlns:p14="http://schemas.microsoft.com/office/powerpoint/2010/main" val="236662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t>Pollutants (2 of 2)</a:t>
            </a:r>
            <a:endParaRPr dirty="0"/>
          </a:p>
        </p:txBody>
      </p:sp>
      <p:sp>
        <p:nvSpPr>
          <p:cNvPr id="145" name="Google Shape;145;p4"/>
          <p:cNvSpPr txBox="1">
            <a:spLocks noGrp="1"/>
          </p:cNvSpPr>
          <p:nvPr>
            <p:ph type="body" idx="1"/>
          </p:nvPr>
        </p:nvSpPr>
        <p:spPr>
          <a:xfrm>
            <a:off x="476843" y="1507179"/>
            <a:ext cx="11241915" cy="4679132"/>
          </a:xfrm>
          <a:prstGeom prst="rect">
            <a:avLst/>
          </a:prstGeom>
          <a:noFill/>
          <a:ln>
            <a:noFill/>
          </a:ln>
        </p:spPr>
        <p:txBody>
          <a:bodyPr spcFirstLastPara="1" wrap="square" lIns="91425" tIns="45700" rIns="91425" bIns="45700" anchor="t" anchorCtr="0">
            <a:noAutofit/>
          </a:bodyPr>
          <a:lstStyle/>
          <a:p>
            <a:pPr marL="285750" indent="-285750">
              <a:spcAft>
                <a:spcPts val="0"/>
              </a:spcAft>
            </a:pPr>
            <a:r>
              <a:rPr lang="en-US" sz="2000" dirty="0"/>
              <a:t>Hydrocarbons</a:t>
            </a:r>
          </a:p>
          <a:p>
            <a:pPr marL="800100" lvl="1" indent="-342900">
              <a:spcAft>
                <a:spcPts val="0"/>
              </a:spcAft>
            </a:pPr>
            <a:r>
              <a:rPr lang="en-US" sz="1800" dirty="0"/>
              <a:t>Hydrocarbon (HC) exhaust emissions are caused by incomplete combustion, and these emissions are actually molecules of unburned or partially burned fuel.</a:t>
            </a:r>
          </a:p>
          <a:p>
            <a:pPr marL="800100" lvl="1" indent="-342900">
              <a:spcAft>
                <a:spcPts val="0"/>
              </a:spcAft>
            </a:pPr>
            <a:r>
              <a:rPr lang="en-US" sz="1800" dirty="0"/>
              <a:t>Even an engine in good condition with satisfactory ignition and fuel systems will release some HC.</a:t>
            </a:r>
          </a:p>
          <a:p>
            <a:pPr marL="800100" lvl="1" indent="-342900">
              <a:spcAft>
                <a:spcPts val="0"/>
              </a:spcAft>
            </a:pPr>
            <a:r>
              <a:rPr lang="en-US" sz="1800" dirty="0"/>
              <a:t>Evaporative emissions from the fuel storage and delivery system are also a source of HC emissions.</a:t>
            </a:r>
          </a:p>
          <a:p>
            <a:pPr marL="285750" indent="-285750">
              <a:spcAft>
                <a:spcPts val="0"/>
              </a:spcAft>
            </a:pPr>
            <a:r>
              <a:rPr lang="en-US" sz="2000" dirty="0"/>
              <a:t>Nitrogen Oxides</a:t>
            </a:r>
          </a:p>
          <a:p>
            <a:pPr marL="800100" lvl="1" indent="-342900">
              <a:spcAft>
                <a:spcPts val="0"/>
              </a:spcAft>
            </a:pPr>
            <a:r>
              <a:rPr lang="en-US" sz="1800" dirty="0"/>
              <a:t>Nitrogen oxides (NOx) are the various compounds of nitrogen and O</a:t>
            </a:r>
            <a:r>
              <a:rPr lang="en-US" sz="1800" baseline="-25000" dirty="0"/>
              <a:t>2</a:t>
            </a:r>
            <a:r>
              <a:rPr lang="en-US" sz="1800" dirty="0"/>
              <a:t> formed during the combustion process.</a:t>
            </a:r>
          </a:p>
          <a:p>
            <a:pPr marL="800100" lvl="1" indent="-342900">
              <a:spcAft>
                <a:spcPts val="0"/>
              </a:spcAft>
            </a:pPr>
            <a:r>
              <a:rPr lang="en-US" sz="1800" dirty="0"/>
              <a:t>Both nitrogen and O</a:t>
            </a:r>
            <a:r>
              <a:rPr lang="en-US" sz="1800" baseline="-25000" dirty="0"/>
              <a:t>2</a:t>
            </a:r>
            <a:r>
              <a:rPr lang="en-US" sz="1800" dirty="0"/>
              <a:t> are present in the air used for combustion.</a:t>
            </a:r>
          </a:p>
          <a:p>
            <a:pPr marL="800100" lvl="1" indent="-342900">
              <a:spcAft>
                <a:spcPts val="0"/>
              </a:spcAft>
            </a:pPr>
            <a:r>
              <a:rPr lang="en-US" sz="1800" dirty="0"/>
              <a:t>Exposure to NOx can cause respiratory problems, such as lung irritation, bronchitis, or pneumonia.</a:t>
            </a:r>
          </a:p>
          <a:p>
            <a:pPr marL="800100" lvl="1" indent="-342900">
              <a:spcAft>
                <a:spcPts val="0"/>
              </a:spcAft>
            </a:pPr>
            <a:r>
              <a:rPr lang="en-US" sz="1800" dirty="0"/>
              <a:t>Photochemical smog results when HCs and NOx are combined with sunlight.</a:t>
            </a:r>
          </a:p>
        </p:txBody>
      </p:sp>
    </p:spTree>
    <p:extLst>
      <p:ext uri="{BB962C8B-B14F-4D97-AF65-F5344CB8AC3E}">
        <p14:creationId xmlns:p14="http://schemas.microsoft.com/office/powerpoint/2010/main" val="2880874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t>Which harmful exhaust gas is caused by incomplete combustion?</a:t>
            </a:r>
          </a:p>
        </p:txBody>
      </p:sp>
    </p:spTree>
    <p:extLst>
      <p:ext uri="{BB962C8B-B14F-4D97-AF65-F5344CB8AC3E}">
        <p14:creationId xmlns:p14="http://schemas.microsoft.com/office/powerpoint/2010/main" val="2436619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F6592271-3A96-F0D2-406D-76EC1BB9E54C}"/>
              </a:ext>
            </a:extLst>
          </p:cNvPr>
          <p:cNvSpPr>
            <a:spLocks noGrp="1"/>
          </p:cNvSpPr>
          <p:nvPr>
            <p:ph type="body" idx="1"/>
          </p:nvPr>
        </p:nvSpPr>
        <p:spPr/>
        <p:txBody>
          <a:bodyPr/>
          <a:lstStyle/>
          <a:p>
            <a:pPr marL="361950" lvl="1" indent="0">
              <a:buNone/>
            </a:pPr>
            <a:r>
              <a:rPr lang="en-US" sz="2600" b="1" dirty="0"/>
              <a:t>Answer</a:t>
            </a:r>
            <a:r>
              <a:rPr lang="en-US" sz="2600" dirty="0"/>
              <a:t>: Hydrocarbons or HC</a:t>
            </a:r>
          </a:p>
        </p:txBody>
      </p:sp>
    </p:spTree>
    <p:extLst>
      <p:ext uri="{BB962C8B-B14F-4D97-AF65-F5344CB8AC3E}">
        <p14:creationId xmlns:p14="http://schemas.microsoft.com/office/powerpoint/2010/main" val="3223771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Carbon Dioxide</a:t>
            </a:r>
            <a:endParaRPr dirty="0"/>
          </a:p>
        </p:txBody>
      </p:sp>
      <p:sp>
        <p:nvSpPr>
          <p:cNvPr id="145" name="Google Shape;145;p4"/>
          <p:cNvSpPr txBox="1">
            <a:spLocks noGrp="1"/>
          </p:cNvSpPr>
          <p:nvPr>
            <p:ph type="body" idx="1"/>
          </p:nvPr>
        </p:nvSpPr>
        <p:spPr>
          <a:xfrm>
            <a:off x="476843" y="1563625"/>
            <a:ext cx="6875427" cy="4363042"/>
          </a:xfrm>
          <a:prstGeom prst="rect">
            <a:avLst/>
          </a:prstGeom>
          <a:noFill/>
          <a:ln>
            <a:noFill/>
          </a:ln>
        </p:spPr>
        <p:txBody>
          <a:bodyPr spcFirstLastPara="1" wrap="square" lIns="91425" tIns="45700" rIns="91425" bIns="45700" anchor="t" anchorCtr="0">
            <a:noAutofit/>
          </a:bodyPr>
          <a:lstStyle/>
          <a:p>
            <a:pPr marL="285750" indent="-285750"/>
            <a:r>
              <a:rPr lang="en-US" sz="1800" dirty="0"/>
              <a:t>Carbon dioxide (CO</a:t>
            </a:r>
            <a:r>
              <a:rPr lang="en-US" sz="1800" baseline="-25000" dirty="0"/>
              <a:t>2</a:t>
            </a:r>
            <a:r>
              <a:rPr lang="en-US" sz="1800" dirty="0"/>
              <a:t>) is not a pollutant; however, it has been linked to another environmental concern—the “greenhouse effect.” </a:t>
            </a:r>
          </a:p>
          <a:p>
            <a:pPr marL="285750" indent="-285750"/>
            <a:r>
              <a:rPr lang="en-US" sz="1800" dirty="0"/>
              <a:t>Carbon dioxide is a greenhouse gas and may be a cause of global warming.</a:t>
            </a:r>
          </a:p>
          <a:p>
            <a:pPr marL="285750" indent="-285750"/>
            <a:r>
              <a:rPr lang="en-US" sz="1800" dirty="0"/>
              <a:t>To bring the amount of CO</a:t>
            </a:r>
            <a:r>
              <a:rPr lang="en-US" sz="1800" baseline="-25000" dirty="0"/>
              <a:t>2</a:t>
            </a:r>
            <a:r>
              <a:rPr lang="en-US" sz="1800" dirty="0"/>
              <a:t> in the atmosphere to an acceptable level, we need more plant life, and we need to reduce the amount that is released to the atmosphere.</a:t>
            </a:r>
          </a:p>
          <a:p>
            <a:pPr marL="285750" indent="-285750"/>
            <a:r>
              <a:rPr lang="en-US" sz="1800" dirty="0"/>
              <a:t>A target for reducing CO</a:t>
            </a:r>
            <a:r>
              <a:rPr lang="en-US" sz="1800" baseline="-25000" dirty="0"/>
              <a:t>2</a:t>
            </a:r>
            <a:r>
              <a:rPr lang="en-US" sz="1800" dirty="0"/>
              <a:t> is the automobile.</a:t>
            </a:r>
          </a:p>
          <a:p>
            <a:pPr marL="285750" indent="-285750"/>
            <a:r>
              <a:rPr lang="en-US" sz="1800" dirty="0"/>
              <a:t>There are approximately one billion automobiles on the world’s roads and produce close to 20 percent of the world’s total CO</a:t>
            </a:r>
            <a:r>
              <a:rPr lang="en-US" sz="1800" baseline="-25000" dirty="0"/>
              <a:t>2</a:t>
            </a:r>
            <a:r>
              <a:rPr lang="en-US" sz="1800" dirty="0"/>
              <a:t> emissions from burning fossil fuels.</a:t>
            </a:r>
          </a:p>
        </p:txBody>
      </p:sp>
      <p:pic>
        <p:nvPicPr>
          <p:cNvPr id="8" name="Picture Placeholder 7" descr="A line graph for total worldwide carbon emission from burning fossil fuels. The horizontal axis is labeled year, ranging from 1850 to 2100 in increments of 50 and the vertical axis is labeled tons in billions, ranging from 0 to 18 in increments of 2. The line starts at the point (1850, 0), passes through (1900, 0.1), (1960, 1.8), (2000, 6.5), to reach a point (2050, 16) and then slopes down to reach the point (2100, 14). The year from 2010 to 2100 is labeled as projected w/o control and highlighted. All values are approximated.">
            <a:extLst>
              <a:ext uri="{FF2B5EF4-FFF2-40B4-BE49-F238E27FC236}">
                <a16:creationId xmlns:a16="http://schemas.microsoft.com/office/drawing/2014/main" id="{6B2A632D-1DDD-5299-B40D-31F643785C81}"/>
              </a:ext>
            </a:extLst>
          </p:cNvPr>
          <p:cNvPicPr>
            <a:picLocks noGrp="1" noChangeAspect="1"/>
          </p:cNvPicPr>
          <p:nvPr>
            <p:ph type="pic" sz="quarter" idx="13"/>
          </p:nvPr>
        </p:nvPicPr>
        <p:blipFill rotWithShape="1">
          <a:blip r:embed="rId3"/>
          <a:srcRect l="8950" b="11824"/>
          <a:stretch/>
        </p:blipFill>
        <p:spPr>
          <a:xfrm>
            <a:off x="7765776" y="1829978"/>
            <a:ext cx="4192284" cy="3629917"/>
          </a:xfrm>
          <a:prstGeom prst="rect">
            <a:avLst/>
          </a:prstGeom>
        </p:spPr>
      </p:pic>
    </p:spTree>
    <p:extLst>
      <p:ext uri="{BB962C8B-B14F-4D97-AF65-F5344CB8AC3E}">
        <p14:creationId xmlns:p14="http://schemas.microsoft.com/office/powerpoint/2010/main" val="315485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Diesel Emissions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285750" indent="-285750"/>
            <a:r>
              <a:rPr lang="en-US" sz="1800" dirty="0"/>
              <a:t>Diesel engines are the most efficient of all internal combustion engines.</a:t>
            </a:r>
          </a:p>
          <a:p>
            <a:pPr marL="285750" indent="-285750"/>
            <a:r>
              <a:rPr lang="en-US" sz="1800" dirty="0"/>
              <a:t>They have low fuel consumption rates and produce low amounts of greenhouse gases.</a:t>
            </a:r>
          </a:p>
          <a:p>
            <a:pPr marL="285750" indent="-285750"/>
            <a:r>
              <a:rPr lang="en-US" sz="1800" dirty="0"/>
              <a:t>However, there are exhaust emissions that are of concern. </a:t>
            </a:r>
          </a:p>
          <a:p>
            <a:pPr marL="285750" indent="-285750"/>
            <a:r>
              <a:rPr lang="en-US" sz="1800" dirty="0"/>
              <a:t>Some of these are currently regulated and others will be in the future.</a:t>
            </a:r>
          </a:p>
          <a:p>
            <a:pPr marL="285750" indent="-285750"/>
            <a:r>
              <a:rPr lang="en-US" sz="1800" dirty="0"/>
              <a:t>A typical diesel engine emits:</a:t>
            </a:r>
          </a:p>
          <a:p>
            <a:pPr marL="715963" lvl="1" indent="-357188"/>
            <a:r>
              <a:rPr lang="en-US" sz="1600" dirty="0"/>
              <a:t>Carbon (soot) and various carbon-based compounds, NOx, water, carbon monoxide, sulfur dioxide, and various hydrocarbon-based compounds.</a:t>
            </a:r>
          </a:p>
          <a:p>
            <a:pPr marL="285750" indent="-285750"/>
            <a:r>
              <a:rPr lang="en-US" sz="1800" dirty="0"/>
              <a:t>Soot is the most obvious emission and is often referred to as diesel particulates.</a:t>
            </a:r>
          </a:p>
          <a:p>
            <a:pPr marL="285750" indent="-285750"/>
            <a:r>
              <a:rPr lang="en-US" sz="1800" dirty="0"/>
              <a:t>Particulate emissions are the main obstacle for using diesel engines in passenger cars and light- and medium-duty trucks. California and other states have set a standard for particulate emissions.</a:t>
            </a:r>
          </a:p>
        </p:txBody>
      </p:sp>
    </p:spTree>
    <p:extLst>
      <p:ext uri="{BB962C8B-B14F-4D97-AF65-F5344CB8AC3E}">
        <p14:creationId xmlns:p14="http://schemas.microsoft.com/office/powerpoint/2010/main" val="2127727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Emission Control Devices</a:t>
            </a:r>
            <a:endParaRPr dirty="0"/>
          </a:p>
        </p:txBody>
      </p:sp>
      <p:sp>
        <p:nvSpPr>
          <p:cNvPr id="145" name="Google Shape;145;p4"/>
          <p:cNvSpPr txBox="1">
            <a:spLocks noGrp="1"/>
          </p:cNvSpPr>
          <p:nvPr>
            <p:ph type="body" idx="1"/>
          </p:nvPr>
        </p:nvSpPr>
        <p:spPr>
          <a:xfrm>
            <a:off x="476843" y="1391348"/>
            <a:ext cx="11241915" cy="4613339"/>
          </a:xfrm>
          <a:prstGeom prst="rect">
            <a:avLst/>
          </a:prstGeom>
          <a:noFill/>
          <a:ln>
            <a:noFill/>
          </a:ln>
        </p:spPr>
        <p:txBody>
          <a:bodyPr spcFirstLastPara="1" wrap="square" lIns="91425" tIns="45700" rIns="91425" bIns="45700" anchor="t" anchorCtr="0">
            <a:noAutofit/>
          </a:bodyPr>
          <a:lstStyle/>
          <a:p>
            <a:pPr>
              <a:spcAft>
                <a:spcPts val="400"/>
              </a:spcAft>
            </a:pPr>
            <a:r>
              <a:rPr lang="en-US" sz="2000" b="1" dirty="0"/>
              <a:t>33.02 List common types of emission control devices.</a:t>
            </a:r>
            <a:endParaRPr lang="en-US" sz="2000" dirty="0"/>
          </a:p>
          <a:p>
            <a:pPr marL="358775" indent="-358775">
              <a:spcAft>
                <a:spcPts val="400"/>
              </a:spcAft>
            </a:pPr>
            <a:r>
              <a:rPr lang="en-US" sz="2000" dirty="0"/>
              <a:t>According to a recent document based on a study by the Environmental Protection Agency (EPA), passenger cars are responsible for 17.8 percent of the total hydrocarbon emissions, 30.9 percent of the total carbon monoxide emissions, and 11.1 percent of the oxides of nitrogen emissions.</a:t>
            </a:r>
          </a:p>
          <a:p>
            <a:pPr marL="358775" indent="-358775">
              <a:spcAft>
                <a:spcPts val="400"/>
              </a:spcAft>
            </a:pPr>
            <a:r>
              <a:rPr lang="en-US" sz="2000" dirty="0"/>
              <a:t>After more than 40 years of emission regulations, these figures remain staggering. </a:t>
            </a:r>
          </a:p>
          <a:p>
            <a:pPr marL="358775" indent="-358775">
              <a:spcAft>
                <a:spcPts val="400"/>
              </a:spcAft>
            </a:pPr>
            <a:r>
              <a:rPr lang="en-US" sz="2000" dirty="0"/>
              <a:t>Emission standards have been one of the driving forces behind many of the technological changes in the automotive industry.</a:t>
            </a:r>
          </a:p>
          <a:p>
            <a:pPr marL="358775" indent="-358775">
              <a:spcAft>
                <a:spcPts val="400"/>
              </a:spcAft>
            </a:pPr>
            <a:r>
              <a:rPr lang="en-US" sz="2000" dirty="0"/>
              <a:t>Catalytic converters and other emission systems were installed to meet emission standards.</a:t>
            </a:r>
          </a:p>
          <a:p>
            <a:pPr marL="358775" indent="-358775">
              <a:spcAft>
                <a:spcPts val="400"/>
              </a:spcAft>
            </a:pPr>
            <a:r>
              <a:rPr lang="en-US" sz="2000" dirty="0"/>
              <a:t>These standards have become progressively more stringent through the years, and the engine designs and devices required to meet the standards have become very complex.</a:t>
            </a:r>
          </a:p>
        </p:txBody>
      </p:sp>
    </p:spTree>
    <p:extLst>
      <p:ext uri="{BB962C8B-B14F-4D97-AF65-F5344CB8AC3E}">
        <p14:creationId xmlns:p14="http://schemas.microsoft.com/office/powerpoint/2010/main" val="3984460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Inspection and Maintenance Programs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1800" dirty="0"/>
              <a:t>Emission standards set the maximum allowable amounts of emissions from a new automobile.</a:t>
            </a:r>
          </a:p>
          <a:p>
            <a:pPr marL="358775" indent="-358775"/>
            <a:r>
              <a:rPr lang="en-US" sz="1800" dirty="0"/>
              <a:t>These standards have become stricter through time.</a:t>
            </a:r>
          </a:p>
          <a:p>
            <a:pPr marL="358775" indent="-358775"/>
            <a:r>
              <a:rPr lang="en-US" sz="1800" dirty="0"/>
              <a:t>Amendments to the acts called for emission testing of vehicles on the road.</a:t>
            </a:r>
          </a:p>
          <a:p>
            <a:pPr marL="358775" indent="-358775"/>
            <a:r>
              <a:rPr lang="en-US" sz="1800" dirty="0"/>
              <a:t>These periodic tests are part of the inspection and maintenance (I/M) program.</a:t>
            </a:r>
          </a:p>
          <a:p>
            <a:pPr marL="358775" indent="-358775"/>
            <a:r>
              <a:rPr lang="en-US" sz="1800" dirty="0"/>
              <a:t>The purpose of these inspections is simply to identify those vehicles that have been tampered with or have not received good maintenance.</a:t>
            </a:r>
          </a:p>
          <a:p>
            <a:pPr marL="358775" indent="-358775"/>
            <a:r>
              <a:rPr lang="en-US" sz="1800" dirty="0"/>
              <a:t>Studies have shown that 20 percent of the vehicles on the road are not being properly maintained, and those vehicles account for more than 90 percent of the emissions from automobiles.</a:t>
            </a:r>
          </a:p>
          <a:p>
            <a:pPr marL="358775" indent="-358775"/>
            <a:r>
              <a:rPr lang="en-US" sz="1800" dirty="0"/>
              <a:t>I/M programs are designed to identify these vehicles and make the necessary repairs to allow those vehicles to have acceptable amounts of emissions.</a:t>
            </a:r>
          </a:p>
        </p:txBody>
      </p:sp>
    </p:spTree>
    <p:extLst>
      <p:ext uri="{BB962C8B-B14F-4D97-AF65-F5344CB8AC3E}">
        <p14:creationId xmlns:p14="http://schemas.microsoft.com/office/powerpoint/2010/main" val="3578207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r>
              <a:rPr lang="en-US" sz="4000" dirty="0"/>
              <a:t>Vehicle Emission Control Information (VECI)</a:t>
            </a:r>
            <a:endParaRPr dirty="0"/>
          </a:p>
        </p:txBody>
      </p:sp>
      <p:sp>
        <p:nvSpPr>
          <p:cNvPr id="145" name="Google Shape;145;p4"/>
          <p:cNvSpPr txBox="1">
            <a:spLocks noGrp="1"/>
          </p:cNvSpPr>
          <p:nvPr>
            <p:ph type="body" idx="1"/>
          </p:nvPr>
        </p:nvSpPr>
        <p:spPr>
          <a:xfrm>
            <a:off x="476843" y="1563625"/>
            <a:ext cx="5619157" cy="4590040"/>
          </a:xfrm>
          <a:prstGeom prst="rect">
            <a:avLst/>
          </a:prstGeom>
          <a:noFill/>
          <a:ln>
            <a:noFill/>
          </a:ln>
        </p:spPr>
        <p:txBody>
          <a:bodyPr spcFirstLastPara="1" wrap="square" lIns="91425" tIns="45700" rIns="91425" bIns="45700" anchor="t" anchorCtr="0">
            <a:noAutofit/>
          </a:bodyPr>
          <a:lstStyle/>
          <a:p>
            <a:pPr marL="285750" indent="-285750"/>
            <a:r>
              <a:rPr lang="en-US" sz="2000" dirty="0"/>
              <a:t>All vehicles have a </a:t>
            </a:r>
            <a:r>
              <a:rPr lang="en-US" sz="2000" b="1" dirty="0"/>
              <a:t>vehicle emission control information (VECI) decal </a:t>
            </a:r>
            <a:r>
              <a:rPr lang="en-US" sz="2000" dirty="0"/>
              <a:t>that gives specific emission control information for that vehicle and engine.</a:t>
            </a:r>
          </a:p>
          <a:p>
            <a:pPr marL="285750" indent="-285750"/>
            <a:r>
              <a:rPr lang="en-US" sz="2000" dirty="0"/>
              <a:t>These decals are normally located on the underside of the hood or on the radiator support frame.</a:t>
            </a:r>
          </a:p>
          <a:p>
            <a:pPr marL="285750" indent="-285750"/>
            <a:r>
              <a:rPr lang="en-US" sz="2000" dirty="0"/>
              <a:t>The information contained on the VECI is important when conducting an I/M test and when diagnosing or repairing an emissions-related problem.</a:t>
            </a:r>
          </a:p>
          <a:p>
            <a:pPr marL="285750" indent="-285750"/>
            <a:r>
              <a:rPr lang="en-US" sz="2000" dirty="0"/>
              <a:t>Most of the information contained on the decal is expressed by acronyms.</a:t>
            </a:r>
          </a:p>
        </p:txBody>
      </p:sp>
      <p:pic>
        <p:nvPicPr>
          <p:cNvPr id="8" name="Picture Placeholder 7" descr="The label of V E C I. The header reads MERCEDES-BENZ A G VEHICLE EMISSION CONTROL INFORMATION. The text reads as follows. Line 1. Conforms to regulations: 2023 M Y, Fuel: Gasoline. Line 2. U.S. E P A Class or s t d s: L D V/ Tier 3 BIN 70; O B D: C A O B D 2. Line 3. California class or s t d s: P C or U LE V 70; O B D: C A O B D 2. Line 4. No adjustments are needed. D F I/ T C/ C A C/ W R- H O 2 S/ H O 2 S/ H O 2 S/ T W C. Line 5. Group: P M B X V O 2. O U 3 A, EVAP, P M B X R O O 9 5 L N A. Line 6. Remarks: n/ a, A 2 602213000."/>
          <p:cNvPicPr>
            <a:picLocks noGrp="1" noChangeAspect="1"/>
          </p:cNvPicPr>
          <p:nvPr>
            <p:ph type="pic" sz="quarter" idx="13"/>
          </p:nvPr>
        </p:nvPicPr>
        <p:blipFill rotWithShape="1">
          <a:blip r:embed="rId3"/>
          <a:srcRect b="13867"/>
          <a:stretch/>
        </p:blipFill>
        <p:spPr>
          <a:xfrm>
            <a:off x="6197457" y="2625726"/>
            <a:ext cx="5857987" cy="2873926"/>
          </a:xfrm>
          <a:prstGeom prst="rect">
            <a:avLst/>
          </a:prstGeom>
        </p:spPr>
      </p:pic>
    </p:spTree>
    <p:extLst>
      <p:ext uri="{BB962C8B-B14F-4D97-AF65-F5344CB8AC3E}">
        <p14:creationId xmlns:p14="http://schemas.microsoft.com/office/powerpoint/2010/main" val="3644223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Classifications of Emission Control Devices</a:t>
            </a:r>
            <a:endParaRPr dirty="0"/>
          </a:p>
        </p:txBody>
      </p:sp>
      <p:sp>
        <p:nvSpPr>
          <p:cNvPr id="145" name="Google Shape;145;p4"/>
          <p:cNvSpPr txBox="1">
            <a:spLocks noGrp="1"/>
          </p:cNvSpPr>
          <p:nvPr>
            <p:ph type="body" idx="1"/>
          </p:nvPr>
        </p:nvSpPr>
        <p:spPr>
          <a:xfrm>
            <a:off x="476843" y="1396718"/>
            <a:ext cx="11241915" cy="4775394"/>
          </a:xfrm>
          <a:prstGeom prst="rect">
            <a:avLst/>
          </a:prstGeom>
          <a:noFill/>
          <a:ln>
            <a:noFill/>
          </a:ln>
        </p:spPr>
        <p:txBody>
          <a:bodyPr spcFirstLastPara="1" wrap="square" lIns="91425" tIns="45700" rIns="91425" bIns="45700" anchor="t" anchorCtr="0">
            <a:noAutofit/>
          </a:bodyPr>
          <a:lstStyle/>
          <a:p>
            <a:pPr marL="358775" indent="-358775">
              <a:spcAft>
                <a:spcPts val="400"/>
              </a:spcAft>
            </a:pPr>
            <a:r>
              <a:rPr lang="en-US" sz="2000" dirty="0"/>
              <a:t>All emission control systems fall into one of three classifications: evaporative control systems, precombustion, and </a:t>
            </a:r>
            <a:r>
              <a:rPr lang="en-US" sz="2000" dirty="0" err="1"/>
              <a:t>postcombustion</a:t>
            </a:r>
            <a:r>
              <a:rPr lang="en-US" sz="2000" dirty="0"/>
              <a:t>.</a:t>
            </a:r>
          </a:p>
          <a:p>
            <a:pPr marL="358775" indent="-358775">
              <a:spcAft>
                <a:spcPts val="400"/>
              </a:spcAft>
            </a:pPr>
            <a:r>
              <a:rPr lang="en-US" sz="2000" dirty="0"/>
              <a:t>Most pollution control systems used today prevent emissions from being created in the engine, either during or before the combustion cycle.</a:t>
            </a:r>
          </a:p>
          <a:p>
            <a:pPr marL="358775" indent="-358775">
              <a:spcAft>
                <a:spcPts val="400"/>
              </a:spcAft>
            </a:pPr>
            <a:r>
              <a:rPr lang="en-US" sz="2000" dirty="0"/>
              <a:t>The common precombustion control systems are the PCV, engine modifications, spark control, and exhaust gas recirculation (EGR) systems.</a:t>
            </a:r>
          </a:p>
          <a:p>
            <a:pPr marL="358775" indent="-358775">
              <a:spcAft>
                <a:spcPts val="400"/>
              </a:spcAft>
            </a:pPr>
            <a:r>
              <a:rPr lang="en-US" sz="2000" dirty="0"/>
              <a:t>Postcombustion control systems clean up the exhaust gases after the fuel has been burned.</a:t>
            </a:r>
          </a:p>
          <a:p>
            <a:pPr marL="358775" indent="-358775">
              <a:spcAft>
                <a:spcPts val="400"/>
              </a:spcAft>
            </a:pPr>
            <a:r>
              <a:rPr lang="en-US" sz="2000" dirty="0"/>
              <a:t>Secondary air or air injector systems put fresh air into the exhaust to reduce HC and CO to harmless water vapor and carbon dioxide by a chemical (thermal) reaction with oxygen in the air.</a:t>
            </a:r>
          </a:p>
          <a:p>
            <a:pPr marL="358775" indent="-358775">
              <a:spcAft>
                <a:spcPts val="400"/>
              </a:spcAft>
            </a:pPr>
            <a:r>
              <a:rPr lang="en-US" sz="2000" dirty="0"/>
              <a:t>Catalytic converters are the most effective postcombustion emission control; they reduce NOx , HC, and CO emissions.</a:t>
            </a:r>
          </a:p>
        </p:txBody>
      </p:sp>
    </p:spTree>
    <p:extLst>
      <p:ext uri="{BB962C8B-B14F-4D97-AF65-F5344CB8AC3E}">
        <p14:creationId xmlns:p14="http://schemas.microsoft.com/office/powerpoint/2010/main" val="949144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Evaporative Emission Control Systems</a:t>
            </a:r>
            <a:endParaRPr dirty="0"/>
          </a:p>
        </p:txBody>
      </p:sp>
      <p:sp>
        <p:nvSpPr>
          <p:cNvPr id="145" name="Google Shape;145;p4"/>
          <p:cNvSpPr txBox="1">
            <a:spLocks noGrp="1"/>
          </p:cNvSpPr>
          <p:nvPr>
            <p:ph type="body" idx="1"/>
          </p:nvPr>
        </p:nvSpPr>
        <p:spPr>
          <a:xfrm>
            <a:off x="476843" y="1497364"/>
            <a:ext cx="11241915" cy="4613339"/>
          </a:xfrm>
          <a:prstGeom prst="rect">
            <a:avLst/>
          </a:prstGeom>
          <a:noFill/>
          <a:ln>
            <a:noFill/>
          </a:ln>
        </p:spPr>
        <p:txBody>
          <a:bodyPr spcFirstLastPara="1" wrap="square" lIns="91425" tIns="45700" rIns="91425" bIns="45700" anchor="t" anchorCtr="0">
            <a:noAutofit/>
          </a:bodyPr>
          <a:lstStyle/>
          <a:p>
            <a:pPr marL="358775" indent="-358775"/>
            <a:r>
              <a:rPr lang="en-US" sz="1800" dirty="0">
                <a:solidFill>
                  <a:schemeClr val="tx1"/>
                </a:solidFill>
              </a:rPr>
              <a:t>Fuel vapors from the gasoline tank and the carburetor float bowl were brought under control with the introduction of EVAP systems.</a:t>
            </a:r>
          </a:p>
          <a:p>
            <a:pPr marL="358775" indent="-358775"/>
            <a:r>
              <a:rPr lang="en-US" sz="1800" dirty="0">
                <a:solidFill>
                  <a:schemeClr val="tx1"/>
                </a:solidFill>
              </a:rPr>
              <a:t>These systems were first installed in 1970 model cars sold in California.</a:t>
            </a:r>
          </a:p>
          <a:p>
            <a:pPr marL="358775" indent="-358775"/>
            <a:r>
              <a:rPr lang="en-US" sz="1800" dirty="0">
                <a:solidFill>
                  <a:schemeClr val="tx1"/>
                </a:solidFill>
              </a:rPr>
              <a:t>Through the years, EVAP emissions have been closely monitored and the control systems modified to minimize the chances of vapors entering the atmosphere.</a:t>
            </a:r>
          </a:p>
          <a:p>
            <a:pPr marL="358775" indent="-358775"/>
            <a:r>
              <a:rPr lang="en-US" sz="1800" dirty="0">
                <a:solidFill>
                  <a:schemeClr val="tx1"/>
                </a:solidFill>
              </a:rPr>
              <a:t>EVAP emissions are limited by law, and the current limit in the United States is 2 grams of HC per hour.</a:t>
            </a:r>
          </a:p>
          <a:p>
            <a:pPr marL="358775" indent="-358775"/>
            <a:r>
              <a:rPr lang="en-US" sz="1800" dirty="0">
                <a:solidFill>
                  <a:schemeClr val="tx1"/>
                </a:solidFill>
              </a:rPr>
              <a:t>Current systems are computer controlled and are monitored by the OBD II system.</a:t>
            </a:r>
          </a:p>
          <a:p>
            <a:pPr marL="358775" indent="-358775"/>
            <a:r>
              <a:rPr lang="en-US" sz="1800" dirty="0">
                <a:solidFill>
                  <a:schemeClr val="tx1"/>
                </a:solidFill>
              </a:rPr>
              <a:t>Most current EVAP systems include the following components:</a:t>
            </a:r>
          </a:p>
          <a:p>
            <a:pPr marL="358775" indent="-358775"/>
            <a:r>
              <a:rPr lang="en-US" sz="1800" dirty="0">
                <a:solidFill>
                  <a:schemeClr val="tx1"/>
                </a:solidFill>
              </a:rPr>
              <a:t>Domed fuel tank, Canister vent solenoid valve, A special filler design to limit the amount of fuel that can be put in the tank, Fuel tank vacuum or pressure sensor, Fuel lines, Vapor lines, Fuel tank cap, A vapor separator in the top of the fuel tank, Charcoal (EVAP) canister, Purge lines, and Purge solenoid valve (vapor management valve).</a:t>
            </a:r>
          </a:p>
        </p:txBody>
      </p:sp>
    </p:spTree>
    <p:extLst>
      <p:ext uri="{BB962C8B-B14F-4D97-AF65-F5344CB8AC3E}">
        <p14:creationId xmlns:p14="http://schemas.microsoft.com/office/powerpoint/2010/main" val="4173278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r>
              <a:rPr lang="en-US" sz="4000" dirty="0"/>
              <a:t>Enhanced Evaporative Emission (EVAP) System</a:t>
            </a:r>
            <a:endParaRPr dirty="0"/>
          </a:p>
        </p:txBody>
      </p:sp>
      <p:sp>
        <p:nvSpPr>
          <p:cNvPr id="145" name="Google Shape;145;p4"/>
          <p:cNvSpPr txBox="1">
            <a:spLocks noGrp="1"/>
          </p:cNvSpPr>
          <p:nvPr>
            <p:ph type="body" idx="1"/>
          </p:nvPr>
        </p:nvSpPr>
        <p:spPr>
          <a:xfrm>
            <a:off x="476843" y="1563624"/>
            <a:ext cx="6356443" cy="4590041"/>
          </a:xfrm>
          <a:prstGeom prst="rect">
            <a:avLst/>
          </a:prstGeom>
          <a:noFill/>
          <a:ln>
            <a:noFill/>
          </a:ln>
        </p:spPr>
        <p:txBody>
          <a:bodyPr spcFirstLastPara="1" wrap="square" lIns="91425" tIns="45700" rIns="91425" bIns="45700" anchor="t" anchorCtr="0">
            <a:noAutofit/>
          </a:bodyPr>
          <a:lstStyle/>
          <a:p>
            <a:r>
              <a:rPr lang="en-US" sz="2000" b="1" dirty="0"/>
              <a:t>33.03 Describe the operation of an evaporative control system.</a:t>
            </a:r>
            <a:endParaRPr lang="en-US" sz="2000" dirty="0"/>
          </a:p>
          <a:p>
            <a:r>
              <a:rPr lang="en-US" sz="2000" dirty="0"/>
              <a:t>To meet OBD II regulations, late-model vehicles have an enhanced EVAP system.</a:t>
            </a:r>
          </a:p>
          <a:p>
            <a:r>
              <a:rPr lang="en-US" sz="2000" dirty="0"/>
              <a:t>Enhanced EVAP systems operate in much the same way as previous PCM-controlled EVAP systems, but they also conduct tests that can detect small, 0.020 inch (0.5 mm) system leaks and monitor canister purge flow.</a:t>
            </a:r>
          </a:p>
          <a:p>
            <a:r>
              <a:rPr lang="en-US" sz="2000" dirty="0"/>
              <a:t>These systems have a fuel tank pressure (FTP) sensor and EVAP canister vent (CV) solenoid in addition to typical EVAP components.</a:t>
            </a:r>
          </a:p>
        </p:txBody>
      </p:sp>
      <p:pic>
        <p:nvPicPr>
          <p:cNvPr id="8" name="Picture Placeholder 7" descr="Enhanced E V A P system. The throttle body is connected to the canister purge solenoid valve, which is connected to hash 4 fuse 15A and P S C (control) further connected to E C M/P C M. The Canister purge solenoid valve is again connected to the E V A P canister, which is connected to the positive power supply (B positive) and E V A P canister through a vent shut valve. E V A P canister is connected to the F T P sensor. The F T P sensor passes V C C (control), F T P (signal), and S G towards E C M/P C M. Vent shut valve passes V S V (control) towards E C M/P C M. E V A P canister is connected to the fuel tank through vapor control valve, vapor recirculation tube, and fill cap. Vapor is present in the upper part of the fuel tank.">
            <a:extLst>
              <a:ext uri="{FF2B5EF4-FFF2-40B4-BE49-F238E27FC236}">
                <a16:creationId xmlns:a16="http://schemas.microsoft.com/office/drawing/2014/main" id="{8E1CD62F-301E-66A6-611B-81557876B27B}"/>
              </a:ext>
            </a:extLst>
          </p:cNvPr>
          <p:cNvPicPr>
            <a:picLocks noGrp="1" noChangeAspect="1"/>
          </p:cNvPicPr>
          <p:nvPr>
            <p:ph type="pic" sz="quarter" idx="12"/>
          </p:nvPr>
        </p:nvPicPr>
        <p:blipFill rotWithShape="1">
          <a:blip r:embed="rId3"/>
          <a:srcRect b="6154"/>
          <a:stretch/>
        </p:blipFill>
        <p:spPr>
          <a:xfrm>
            <a:off x="6833286" y="1962601"/>
            <a:ext cx="5191713" cy="3629816"/>
          </a:xfrm>
          <a:prstGeom prst="rect">
            <a:avLst/>
          </a:prstGeom>
        </p:spPr>
      </p:pic>
    </p:spTree>
    <p:extLst>
      <p:ext uri="{BB962C8B-B14F-4D97-AF65-F5344CB8AC3E}">
        <p14:creationId xmlns:p14="http://schemas.microsoft.com/office/powerpoint/2010/main" val="775412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C6BA6D2-31F6-DC87-D0FE-CA04E5CB8067}"/>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69E0D06-36E5-E78D-47A5-C3D35B4303FE}"/>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Precombustion Systems</a:t>
            </a:r>
            <a:endParaRPr dirty="0"/>
          </a:p>
        </p:txBody>
      </p:sp>
      <p:sp>
        <p:nvSpPr>
          <p:cNvPr id="145" name="Google Shape;145;p4">
            <a:extLst>
              <a:ext uri="{FF2B5EF4-FFF2-40B4-BE49-F238E27FC236}">
                <a16:creationId xmlns:a16="http://schemas.microsoft.com/office/drawing/2014/main" id="{46271F9C-64E9-109E-8AD5-1F515785F457}"/>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r>
              <a:rPr lang="en-US" b="1" dirty="0"/>
              <a:t>33.04 Describe precombustion emission controls.</a:t>
            </a:r>
            <a:endParaRPr lang="en-US" dirty="0"/>
          </a:p>
          <a:p>
            <a:pPr marL="358775" indent="-358775"/>
            <a:r>
              <a:rPr lang="en-US" dirty="0"/>
              <a:t>Systems designed to prevent or limit the amount of pollutants produced by an engine are called precombustion emission control devices.</a:t>
            </a:r>
          </a:p>
          <a:p>
            <a:pPr marL="358775" indent="-358775"/>
            <a:r>
              <a:rPr lang="en-US" dirty="0"/>
              <a:t>Although there are specific systems and engine designs that are classified this way, anything that makes an engine more efficient can be categorized as a precombustion emission control device.</a:t>
            </a:r>
          </a:p>
        </p:txBody>
      </p:sp>
    </p:spTree>
    <p:extLst>
      <p:ext uri="{BB962C8B-B14F-4D97-AF65-F5344CB8AC3E}">
        <p14:creationId xmlns:p14="http://schemas.microsoft.com/office/powerpoint/2010/main" val="4107716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BE572FF-1AC1-2899-0C52-A24748A584F1}"/>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2D377222-BA9B-4891-0D6F-2AB2E6EDECFC}"/>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Engine Design Changes</a:t>
            </a:r>
            <a:endParaRPr dirty="0"/>
          </a:p>
        </p:txBody>
      </p:sp>
      <p:sp>
        <p:nvSpPr>
          <p:cNvPr id="145" name="Google Shape;145;p4">
            <a:extLst>
              <a:ext uri="{FF2B5EF4-FFF2-40B4-BE49-F238E27FC236}">
                <a16:creationId xmlns:a16="http://schemas.microsoft.com/office/drawing/2014/main" id="{0EFCFA12-ECA1-8DB1-721D-77AE7FA4EF70}"/>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400"/>
              </a:spcAft>
            </a:pPr>
            <a:r>
              <a:rPr lang="en-US" sz="1800" dirty="0"/>
              <a:t>The basic engine has been modified through the years to increase its overall efficiency. </a:t>
            </a:r>
          </a:p>
          <a:p>
            <a:pPr marL="358775" indent="-358775">
              <a:spcAft>
                <a:spcPts val="400"/>
              </a:spcAft>
            </a:pPr>
            <a:r>
              <a:rPr lang="en-US" sz="1800" dirty="0"/>
              <a:t>The result of these changes is improved performance and </a:t>
            </a:r>
            <a:r>
              <a:rPr lang="en-US" sz="1800" dirty="0" err="1"/>
              <a:t>driveability</a:t>
            </a:r>
            <a:r>
              <a:rPr lang="en-US" sz="1800" dirty="0"/>
              <a:t> and a decrease in exhaust emissions. </a:t>
            </a:r>
          </a:p>
          <a:p>
            <a:pPr marL="358775" indent="-358775">
              <a:spcAft>
                <a:spcPts val="400"/>
              </a:spcAft>
            </a:pPr>
            <a:r>
              <a:rPr lang="en-US" sz="1800" dirty="0"/>
              <a:t>The following is some of those changes:</a:t>
            </a:r>
          </a:p>
          <a:p>
            <a:pPr marL="715963" lvl="1" indent="-357188">
              <a:spcAft>
                <a:spcPts val="400"/>
              </a:spcAft>
            </a:pPr>
            <a:r>
              <a:rPr lang="en-US" sz="1600" dirty="0"/>
              <a:t>Better sealing pistons</a:t>
            </a:r>
          </a:p>
          <a:p>
            <a:pPr marL="715963" lvl="1" indent="-357188">
              <a:spcAft>
                <a:spcPts val="400"/>
              </a:spcAft>
            </a:pPr>
            <a:r>
              <a:rPr lang="en-US" sz="1600" dirty="0"/>
              <a:t>Combustion chamber designs</a:t>
            </a:r>
          </a:p>
          <a:p>
            <a:pPr marL="715963" lvl="1" indent="-357188">
              <a:spcAft>
                <a:spcPts val="400"/>
              </a:spcAft>
            </a:pPr>
            <a:r>
              <a:rPr lang="en-US" sz="1600" dirty="0"/>
              <a:t>Lower compression</a:t>
            </a:r>
          </a:p>
          <a:p>
            <a:pPr marL="715963" lvl="1" indent="-357188">
              <a:spcAft>
                <a:spcPts val="400"/>
              </a:spcAft>
            </a:pPr>
            <a:r>
              <a:rPr lang="en-US" sz="1600" dirty="0"/>
              <a:t>Higher compression</a:t>
            </a:r>
          </a:p>
          <a:p>
            <a:pPr marL="715963" lvl="1" indent="-357188">
              <a:spcAft>
                <a:spcPts val="400"/>
              </a:spcAft>
            </a:pPr>
            <a:r>
              <a:rPr lang="en-US" sz="1600" dirty="0"/>
              <a:t>Decreased friction</a:t>
            </a:r>
          </a:p>
          <a:p>
            <a:pPr marL="715963" lvl="1" indent="-357188">
              <a:spcAft>
                <a:spcPts val="400"/>
              </a:spcAft>
            </a:pPr>
            <a:r>
              <a:rPr lang="en-US" sz="1600" dirty="0"/>
              <a:t>Intake manifold designs</a:t>
            </a:r>
          </a:p>
          <a:p>
            <a:pPr marL="715963" lvl="1" indent="-357188">
              <a:spcAft>
                <a:spcPts val="400"/>
              </a:spcAft>
            </a:pPr>
            <a:r>
              <a:rPr lang="en-US" sz="1600" dirty="0"/>
              <a:t>Improved cooling systems</a:t>
            </a:r>
          </a:p>
          <a:p>
            <a:pPr marL="715963" lvl="1" indent="-357188">
              <a:spcAft>
                <a:spcPts val="400"/>
              </a:spcAft>
            </a:pPr>
            <a:r>
              <a:rPr lang="en-US" sz="1600" dirty="0"/>
              <a:t>Spark control systems</a:t>
            </a:r>
          </a:p>
        </p:txBody>
      </p:sp>
    </p:spTree>
    <p:extLst>
      <p:ext uri="{BB962C8B-B14F-4D97-AF65-F5344CB8AC3E}">
        <p14:creationId xmlns:p14="http://schemas.microsoft.com/office/powerpoint/2010/main" val="771810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EC5A9B2-3DB4-E60B-F10E-BB11664A470A}"/>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FD9B4E0E-2DF4-5BD7-1A7D-36520E9877B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PCV Systems</a:t>
            </a:r>
            <a:endParaRPr dirty="0"/>
          </a:p>
        </p:txBody>
      </p:sp>
      <p:sp>
        <p:nvSpPr>
          <p:cNvPr id="145" name="Google Shape;145;p4">
            <a:extLst>
              <a:ext uri="{FF2B5EF4-FFF2-40B4-BE49-F238E27FC236}">
                <a16:creationId xmlns:a16="http://schemas.microsoft.com/office/drawing/2014/main" id="{786D3ABE-D9EC-883F-324C-F20EDCB54D42}"/>
              </a:ext>
            </a:extLst>
          </p:cNvPr>
          <p:cNvSpPr txBox="1">
            <a:spLocks noGrp="1"/>
          </p:cNvSpPr>
          <p:nvPr>
            <p:ph type="body" idx="1"/>
          </p:nvPr>
        </p:nvSpPr>
        <p:spPr>
          <a:xfrm>
            <a:off x="476843" y="1563624"/>
            <a:ext cx="11241915" cy="4701251"/>
          </a:xfrm>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t>During combustion some unburned fuel and other products of combustion leak past the piston rings and move into the crankcase.</a:t>
            </a:r>
          </a:p>
          <a:p>
            <a:pPr marL="358775" indent="-358775">
              <a:spcAft>
                <a:spcPts val="0"/>
              </a:spcAft>
            </a:pPr>
            <a:r>
              <a:rPr lang="en-US" sz="1800" dirty="0"/>
              <a:t>This leakage is called blowby. Blowby gases are largely HC gases.</a:t>
            </a:r>
          </a:p>
          <a:p>
            <a:pPr marL="358775" indent="-358775">
              <a:spcAft>
                <a:spcPts val="0"/>
              </a:spcAft>
            </a:pPr>
            <a:r>
              <a:rPr lang="en-US" sz="1800" dirty="0"/>
              <a:t>The PCV systems route the gases, which are mixed with outside air, into the engine’s intake. </a:t>
            </a:r>
          </a:p>
          <a:p>
            <a:pPr marL="358775" indent="-358775">
              <a:spcAft>
                <a:spcPts val="0"/>
              </a:spcAft>
            </a:pPr>
            <a:r>
              <a:rPr lang="en-US" sz="1800" dirty="0"/>
              <a:t>From there the gases are drawn into the cylinders and burned.</a:t>
            </a:r>
          </a:p>
          <a:p>
            <a:pPr marL="358775" indent="-358775">
              <a:spcAft>
                <a:spcPts val="0"/>
              </a:spcAft>
            </a:pPr>
            <a:r>
              <a:rPr lang="en-US" sz="1800" dirty="0"/>
              <a:t>PCV systems were installed on all cars beginning with the 1963 models.</a:t>
            </a:r>
          </a:p>
          <a:p>
            <a:pPr marL="358775" indent="-358775">
              <a:spcAft>
                <a:spcPts val="0"/>
              </a:spcAft>
            </a:pPr>
            <a:r>
              <a:rPr lang="en-US" sz="1800" dirty="0"/>
              <a:t>Blowby must be removed from the engine before it condenses in the crankcase and reacts with the oil to form sludge.</a:t>
            </a:r>
          </a:p>
          <a:p>
            <a:pPr marL="358775" indent="-358775">
              <a:spcAft>
                <a:spcPts val="0"/>
              </a:spcAft>
            </a:pPr>
            <a:r>
              <a:rPr lang="en-US" sz="1800" dirty="0"/>
              <a:t>Sludge, if allowed to circulate with engine oil, corrodes and accelerates the wear of pistons, piston rings, valves, bearings, and other internal parts of the engine.</a:t>
            </a:r>
          </a:p>
          <a:p>
            <a:pPr marL="358775" indent="-358775">
              <a:spcAft>
                <a:spcPts val="0"/>
              </a:spcAft>
            </a:pPr>
            <a:r>
              <a:rPr lang="en-US" sz="1800" dirty="0"/>
              <a:t>Blowby also carries some unburned fuel into the crankcase.</a:t>
            </a:r>
          </a:p>
          <a:p>
            <a:pPr marL="358775" indent="-358775">
              <a:spcAft>
                <a:spcPts val="0"/>
              </a:spcAft>
            </a:pPr>
            <a:r>
              <a:rPr lang="en-US" sz="1800" dirty="0"/>
              <a:t>If not removed, the unburned fuel dilutes the engine’s oil.</a:t>
            </a:r>
          </a:p>
          <a:p>
            <a:pPr marL="358775" indent="-358775">
              <a:spcAft>
                <a:spcPts val="0"/>
              </a:spcAft>
            </a:pPr>
            <a:r>
              <a:rPr lang="en-US" sz="1800" dirty="0"/>
              <a:t>Blowby gases must also be removed from the crankcase to prevent premature oil leaks.</a:t>
            </a:r>
          </a:p>
        </p:txBody>
      </p:sp>
    </p:spTree>
    <p:extLst>
      <p:ext uri="{BB962C8B-B14F-4D97-AF65-F5344CB8AC3E}">
        <p14:creationId xmlns:p14="http://schemas.microsoft.com/office/powerpoint/2010/main" val="331166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954F68D-BE45-3016-6B0E-B823A6E07377}"/>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94CD282C-3640-A740-D516-4EB51D46618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EGR Systems</a:t>
            </a:r>
            <a:endParaRPr dirty="0"/>
          </a:p>
        </p:txBody>
      </p:sp>
      <p:sp>
        <p:nvSpPr>
          <p:cNvPr id="145" name="Google Shape;145;p4">
            <a:extLst>
              <a:ext uri="{FF2B5EF4-FFF2-40B4-BE49-F238E27FC236}">
                <a16:creationId xmlns:a16="http://schemas.microsoft.com/office/drawing/2014/main" id="{D7D1F095-B6D3-69D9-E64D-40BCFE46034A}"/>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solidFill>
                  <a:schemeClr val="tx1"/>
                </a:solidFill>
              </a:rPr>
              <a:t>The EGR system releases a sample of exhaust gases into the intake’s air–fuel mixture.</a:t>
            </a:r>
          </a:p>
          <a:p>
            <a:pPr marL="358775" indent="-358775">
              <a:spcAft>
                <a:spcPts val="0"/>
              </a:spcAft>
            </a:pPr>
            <a:r>
              <a:rPr lang="en-US" sz="1800" dirty="0">
                <a:solidFill>
                  <a:schemeClr val="tx1"/>
                </a:solidFill>
              </a:rPr>
              <a:t>This lowers the peak temperature of combustion and therefore reduces the chances of NOx being formed. </a:t>
            </a:r>
          </a:p>
          <a:p>
            <a:pPr marL="358775" indent="-358775">
              <a:spcAft>
                <a:spcPts val="0"/>
              </a:spcAft>
            </a:pPr>
            <a:r>
              <a:rPr lang="en-US" sz="1800" dirty="0">
                <a:solidFill>
                  <a:schemeClr val="tx1"/>
                </a:solidFill>
              </a:rPr>
              <a:t>The recirculated exhaust gas dilutes the air–fuel mixture. Because exhaust gas does not burn, this lowers the combustion temperature and reduces NOx emissions.</a:t>
            </a:r>
          </a:p>
          <a:p>
            <a:pPr marL="358775" indent="-358775">
              <a:spcAft>
                <a:spcPts val="0"/>
              </a:spcAft>
            </a:pPr>
            <a:r>
              <a:rPr lang="en-US" sz="1800" dirty="0" err="1">
                <a:solidFill>
                  <a:schemeClr val="tx1"/>
                </a:solidFill>
              </a:rPr>
              <a:t>Driveability</a:t>
            </a:r>
            <a:r>
              <a:rPr lang="en-US" sz="1800" dirty="0">
                <a:solidFill>
                  <a:schemeClr val="tx1"/>
                </a:solidFill>
              </a:rPr>
              <a:t> problems can result from having too much recirculated exhaust gas in the combustion chamber.</a:t>
            </a:r>
          </a:p>
          <a:p>
            <a:pPr marL="358775" indent="-358775">
              <a:spcAft>
                <a:spcPts val="0"/>
              </a:spcAft>
            </a:pPr>
            <a:r>
              <a:rPr lang="en-US" sz="1800" dirty="0">
                <a:solidFill>
                  <a:schemeClr val="tx1"/>
                </a:solidFill>
              </a:rPr>
              <a:t>This is especially true when there is a high demand for engine power.</a:t>
            </a:r>
          </a:p>
          <a:p>
            <a:pPr marL="358775" indent="-358775">
              <a:spcAft>
                <a:spcPts val="0"/>
              </a:spcAft>
            </a:pPr>
            <a:r>
              <a:rPr lang="en-US" sz="1800" dirty="0">
                <a:solidFill>
                  <a:schemeClr val="tx1"/>
                </a:solidFill>
              </a:rPr>
              <a:t>Also, poor control of EGR flow can cause starting and idling problems.</a:t>
            </a:r>
          </a:p>
          <a:p>
            <a:pPr marL="358775" indent="-358775">
              <a:spcAft>
                <a:spcPts val="0"/>
              </a:spcAft>
            </a:pPr>
            <a:r>
              <a:rPr lang="en-US" sz="1800" dirty="0">
                <a:solidFill>
                  <a:schemeClr val="tx1"/>
                </a:solidFill>
              </a:rPr>
              <a:t>This is why EGR flow is disabled during cold starting, at idle, and at throttle openings of more than 50 percent.</a:t>
            </a:r>
          </a:p>
          <a:p>
            <a:pPr marL="358775" indent="-358775">
              <a:spcAft>
                <a:spcPts val="0"/>
              </a:spcAft>
            </a:pPr>
            <a:r>
              <a:rPr lang="en-US" sz="1800" dirty="0">
                <a:solidFill>
                  <a:schemeClr val="tx1"/>
                </a:solidFill>
              </a:rPr>
              <a:t>Many late-model engines do not have an EGR system.</a:t>
            </a:r>
          </a:p>
          <a:p>
            <a:pPr marL="358775" indent="-358775">
              <a:spcAft>
                <a:spcPts val="0"/>
              </a:spcAft>
            </a:pPr>
            <a:r>
              <a:rPr lang="en-US" sz="1800" dirty="0">
                <a:solidFill>
                  <a:schemeClr val="tx1"/>
                </a:solidFill>
              </a:rPr>
              <a:t>Rather, they rely on variable valve timing to prevent all of the exhaust gases from leaving the cylinder during the exhaust stroke during some operating conditions.</a:t>
            </a:r>
          </a:p>
        </p:txBody>
      </p:sp>
    </p:spTree>
    <p:extLst>
      <p:ext uri="{BB962C8B-B14F-4D97-AF65-F5344CB8AC3E}">
        <p14:creationId xmlns:p14="http://schemas.microsoft.com/office/powerpoint/2010/main" val="3896134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AB33F7A-7B43-6F6C-34B5-43D0C0518FFA}"/>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E128858D-BEB0-1808-9166-847457B599B5}"/>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Intake Heat Control Systems</a:t>
            </a:r>
            <a:endParaRPr dirty="0"/>
          </a:p>
        </p:txBody>
      </p:sp>
      <p:sp>
        <p:nvSpPr>
          <p:cNvPr id="145" name="Google Shape;145;p4">
            <a:extLst>
              <a:ext uri="{FF2B5EF4-FFF2-40B4-BE49-F238E27FC236}">
                <a16:creationId xmlns:a16="http://schemas.microsoft.com/office/drawing/2014/main" id="{613CA1D1-9259-AF4E-D938-5A66DD2A41D4}"/>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400"/>
              </a:spcAft>
            </a:pPr>
            <a:r>
              <a:rPr lang="en-US" sz="1800" dirty="0"/>
              <a:t>HC and CO exhaust emissions are highest when the engine is cold.</a:t>
            </a:r>
          </a:p>
          <a:p>
            <a:pPr marL="358775" indent="-358775">
              <a:spcAft>
                <a:spcPts val="400"/>
              </a:spcAft>
            </a:pPr>
            <a:r>
              <a:rPr lang="en-US" sz="1800" dirty="0"/>
              <a:t>The introduction of warm combustion air improves the vaporization of the fuel in the fuel injector throttle body or intake manifold.</a:t>
            </a:r>
          </a:p>
          <a:p>
            <a:pPr marL="358775" indent="-358775">
              <a:spcAft>
                <a:spcPts val="400"/>
              </a:spcAft>
            </a:pPr>
            <a:r>
              <a:rPr lang="en-US" sz="1800" dirty="0"/>
              <a:t>On older engines equipped with a throttle body injection (TBI) unit, the fuel is delivered above the throttles, and the intake manifold is filled with a mixture of air and gasoline vapor.</a:t>
            </a:r>
          </a:p>
          <a:p>
            <a:pPr marL="358775" indent="-358775">
              <a:spcAft>
                <a:spcPts val="400"/>
              </a:spcAft>
            </a:pPr>
            <a:r>
              <a:rPr lang="en-US" sz="1800" dirty="0"/>
              <a:t>Some intake manifold heating is required to prevent fuel condensation, especially when the intake manifold is cool or cold.</a:t>
            </a:r>
          </a:p>
          <a:p>
            <a:pPr marL="358775" indent="-358775">
              <a:spcAft>
                <a:spcPts val="400"/>
              </a:spcAft>
            </a:pPr>
            <a:r>
              <a:rPr lang="en-US" sz="1800" dirty="0"/>
              <a:t>Therefore, these engines have intake manifold heat control devices such as heated air inlet systems, manifold heat control valves, and early fuel evaporation (EFE) heaters.</a:t>
            </a:r>
          </a:p>
          <a:p>
            <a:pPr marL="358775" indent="-358775">
              <a:spcAft>
                <a:spcPts val="400"/>
              </a:spcAft>
            </a:pPr>
            <a:r>
              <a:rPr lang="en-US" sz="1800" dirty="0"/>
              <a:t>A heated air inlet control may be used on engines with TBI.</a:t>
            </a:r>
          </a:p>
          <a:p>
            <a:pPr marL="358775" indent="-358775">
              <a:spcAft>
                <a:spcPts val="400"/>
              </a:spcAft>
            </a:pPr>
            <a:r>
              <a:rPr lang="en-US" sz="1800" dirty="0"/>
              <a:t>This system controls the temperature of the air on its way to the throttle body.</a:t>
            </a:r>
          </a:p>
          <a:p>
            <a:pPr marL="358775" indent="-358775">
              <a:spcAft>
                <a:spcPts val="400"/>
              </a:spcAft>
            </a:pPr>
            <a:r>
              <a:rPr lang="en-US" sz="1800" dirty="0"/>
              <a:t>Another system used is an exhaust manifold heat control valve that routes exhaust gases to warm the intake manifold when the engine is cold.</a:t>
            </a:r>
          </a:p>
        </p:txBody>
      </p:sp>
    </p:spTree>
    <p:extLst>
      <p:ext uri="{BB962C8B-B14F-4D97-AF65-F5344CB8AC3E}">
        <p14:creationId xmlns:p14="http://schemas.microsoft.com/office/powerpoint/2010/main" val="2988654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EE55D3B2-B6B3-3F87-E539-17FEF9EC6999}"/>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78FE6A7-4CF1-D8C7-DE3F-AF41A21713F5}"/>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Postcombustion Systems</a:t>
            </a:r>
            <a:endParaRPr dirty="0"/>
          </a:p>
        </p:txBody>
      </p:sp>
      <p:sp>
        <p:nvSpPr>
          <p:cNvPr id="145" name="Google Shape;145;p4">
            <a:extLst>
              <a:ext uri="{FF2B5EF4-FFF2-40B4-BE49-F238E27FC236}">
                <a16:creationId xmlns:a16="http://schemas.microsoft.com/office/drawing/2014/main" id="{919CD340-8EEE-74B7-2382-1A4672CD927B}"/>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2200" b="1" dirty="0"/>
              <a:t>33.05 Describe postcombustion emission controls.</a:t>
            </a:r>
            <a:endParaRPr lang="en-US" sz="2200" dirty="0"/>
          </a:p>
          <a:p>
            <a:pPr marL="358775" indent="-358775"/>
            <a:r>
              <a:rPr lang="en-US" sz="2200" dirty="0">
                <a:solidFill>
                  <a:schemeClr val="tx1"/>
                </a:solidFill>
              </a:rPr>
              <a:t>Postcombustion emission control devices clean up the exhaust after the fuel has been burned but before the gases exit the vehicle’s tailpipe.</a:t>
            </a:r>
          </a:p>
          <a:p>
            <a:pPr marL="358775" indent="-358775"/>
            <a:r>
              <a:rPr lang="en-US" sz="2200" dirty="0">
                <a:solidFill>
                  <a:schemeClr val="tx1"/>
                </a:solidFill>
              </a:rPr>
              <a:t>An excellent example of this is the catalytic converter.</a:t>
            </a:r>
          </a:p>
          <a:p>
            <a:pPr marL="358775" indent="-358775"/>
            <a:r>
              <a:rPr lang="en-US" sz="2200" dirty="0">
                <a:solidFill>
                  <a:schemeClr val="tx1"/>
                </a:solidFill>
              </a:rPr>
              <a:t>A converter is one of the most effective emission control devices on a vehicle for reducing HC, CO, and NOx .</a:t>
            </a:r>
          </a:p>
          <a:p>
            <a:pPr marL="358775" indent="-358775"/>
            <a:r>
              <a:rPr lang="en-US" sz="2200" dirty="0">
                <a:solidFill>
                  <a:schemeClr val="tx1"/>
                </a:solidFill>
              </a:rPr>
              <a:t>Another </a:t>
            </a:r>
            <a:r>
              <a:rPr lang="en-US" sz="2200" dirty="0" err="1">
                <a:solidFill>
                  <a:schemeClr val="tx1"/>
                </a:solidFill>
              </a:rPr>
              <a:t>postcombustion</a:t>
            </a:r>
            <a:r>
              <a:rPr lang="en-US" sz="2200" dirty="0">
                <a:solidFill>
                  <a:schemeClr val="tx1"/>
                </a:solidFill>
              </a:rPr>
              <a:t> system is the secondary air or air injection system. </a:t>
            </a:r>
          </a:p>
          <a:p>
            <a:pPr marL="358775" indent="-358775"/>
            <a:r>
              <a:rPr lang="en-US" sz="2200" dirty="0">
                <a:solidFill>
                  <a:schemeClr val="tx1"/>
                </a:solidFill>
              </a:rPr>
              <a:t>This system forces fresh air into the exhaust stream to cause a secondary combustion and reduce HC and CO emissions.</a:t>
            </a:r>
          </a:p>
        </p:txBody>
      </p:sp>
    </p:spTree>
    <p:extLst>
      <p:ext uri="{BB962C8B-B14F-4D97-AF65-F5344CB8AC3E}">
        <p14:creationId xmlns:p14="http://schemas.microsoft.com/office/powerpoint/2010/main" val="3633204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BC9064E-C1E1-F78B-C3E0-CCD536531417}"/>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5BFDBE3B-618D-B646-D023-D89AC83B015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Catalytic Converters (1 of 2)</a:t>
            </a:r>
            <a:endParaRPr dirty="0"/>
          </a:p>
        </p:txBody>
      </p:sp>
      <p:sp>
        <p:nvSpPr>
          <p:cNvPr id="145" name="Google Shape;145;p4">
            <a:extLst>
              <a:ext uri="{FF2B5EF4-FFF2-40B4-BE49-F238E27FC236}">
                <a16:creationId xmlns:a16="http://schemas.microsoft.com/office/drawing/2014/main" id="{BF4BAD79-5A7F-7606-89CD-0B26F6BB0348}"/>
              </a:ext>
            </a:extLst>
          </p:cNvPr>
          <p:cNvSpPr txBox="1">
            <a:spLocks noGrp="1"/>
          </p:cNvSpPr>
          <p:nvPr>
            <p:ph type="body" idx="1"/>
          </p:nvPr>
        </p:nvSpPr>
        <p:spPr>
          <a:xfrm>
            <a:off x="476844" y="1563624"/>
            <a:ext cx="7555048" cy="4602398"/>
          </a:xfrm>
          <a:prstGeom prst="rect">
            <a:avLst/>
          </a:prstGeom>
          <a:noFill/>
          <a:ln>
            <a:noFill/>
          </a:ln>
        </p:spPr>
        <p:txBody>
          <a:bodyPr spcFirstLastPara="1" wrap="square" lIns="91425" tIns="45700" rIns="91425" bIns="45700" anchor="t" anchorCtr="0">
            <a:noAutofit/>
          </a:bodyPr>
          <a:lstStyle/>
          <a:p>
            <a:pPr marL="285750" indent="-285750"/>
            <a:r>
              <a:rPr lang="en-US" sz="1800" dirty="0"/>
              <a:t>Today’s catalytic converters are extremely effective in reducing the amount of HC, CO, and NOx emitted from a vehicle’s tailpipe.</a:t>
            </a:r>
          </a:p>
          <a:p>
            <a:pPr marL="285750" indent="-285750"/>
            <a:r>
              <a:rPr lang="en-US" sz="1800" dirty="0"/>
              <a:t>Most current vehicles have two converters in each exhaust stream.</a:t>
            </a:r>
          </a:p>
          <a:p>
            <a:pPr marL="285750" indent="-285750"/>
            <a:r>
              <a:rPr lang="en-US" sz="1800" dirty="0"/>
              <a:t>If the engine has more than one exhaust manifold, there is an exhaust stream from each, and each of those streams has two converters.</a:t>
            </a:r>
          </a:p>
          <a:p>
            <a:pPr marL="285750" indent="-285750"/>
            <a:r>
              <a:rPr lang="en-US" sz="1800" dirty="0"/>
              <a:t>The first converter is located close to the exhaust manifold. Because the effectiveness of a converter depends on its temperature, placing a converter close to the manifold allows it to warm up quickly.</a:t>
            </a:r>
          </a:p>
          <a:p>
            <a:pPr marL="285750" indent="-285750"/>
            <a:r>
              <a:rPr lang="en-US" sz="1800" dirty="0"/>
              <a:t>These converters are called light-up or warm-up converters, or </a:t>
            </a:r>
            <a:r>
              <a:rPr lang="en-US" sz="1800" dirty="0" err="1"/>
              <a:t>precats</a:t>
            </a:r>
            <a:r>
              <a:rPr lang="en-US" sz="1800" dirty="0"/>
              <a:t>.</a:t>
            </a:r>
          </a:p>
        </p:txBody>
      </p:sp>
      <p:pic>
        <p:nvPicPr>
          <p:cNvPr id="8" name="Picture Placeholder 7" descr="A catalytic converter or precat is located close to the exhaust manifold.">
            <a:extLst>
              <a:ext uri="{FF2B5EF4-FFF2-40B4-BE49-F238E27FC236}">
                <a16:creationId xmlns:a16="http://schemas.microsoft.com/office/drawing/2014/main" id="{8E2DC5DB-7AE9-9181-C114-455742562F11}"/>
              </a:ext>
            </a:extLst>
          </p:cNvPr>
          <p:cNvPicPr>
            <a:picLocks noGrp="1" noChangeAspect="1"/>
          </p:cNvPicPr>
          <p:nvPr>
            <p:ph type="pic" sz="quarter" idx="13"/>
          </p:nvPr>
        </p:nvPicPr>
        <p:blipFill rotWithShape="1">
          <a:blip r:embed="rId3"/>
          <a:srcRect b="8279"/>
          <a:stretch/>
        </p:blipFill>
        <p:spPr>
          <a:xfrm>
            <a:off x="8115433" y="2128608"/>
            <a:ext cx="3907803" cy="2893966"/>
          </a:xfrm>
          <a:prstGeom prst="rect">
            <a:avLst/>
          </a:prstGeom>
        </p:spPr>
      </p:pic>
    </p:spTree>
    <p:extLst>
      <p:ext uri="{BB962C8B-B14F-4D97-AF65-F5344CB8AC3E}">
        <p14:creationId xmlns:p14="http://schemas.microsoft.com/office/powerpoint/2010/main" val="1692858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5460B42-B56F-FA60-B05A-72FD07C30E4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C75F8C9-E05E-C905-DA8C-08715127110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Catalytic Converters (2 of 2)</a:t>
            </a:r>
            <a:endParaRPr dirty="0"/>
          </a:p>
        </p:txBody>
      </p:sp>
      <p:sp>
        <p:nvSpPr>
          <p:cNvPr id="145" name="Google Shape;145;p4">
            <a:extLst>
              <a:ext uri="{FF2B5EF4-FFF2-40B4-BE49-F238E27FC236}">
                <a16:creationId xmlns:a16="http://schemas.microsoft.com/office/drawing/2014/main" id="{F8E76FA2-6969-7F07-3FC6-BDE0C7660DDE}"/>
              </a:ext>
            </a:extLst>
          </p:cNvPr>
          <p:cNvSpPr txBox="1">
            <a:spLocks noGrp="1"/>
          </p:cNvSpPr>
          <p:nvPr>
            <p:ph type="body" idx="1"/>
          </p:nvPr>
        </p:nvSpPr>
        <p:spPr>
          <a:xfrm>
            <a:off x="476844" y="1563625"/>
            <a:ext cx="6732339" cy="4503543"/>
          </a:xfrm>
          <a:prstGeom prst="rect">
            <a:avLst/>
          </a:prstGeom>
          <a:noFill/>
          <a:ln>
            <a:noFill/>
          </a:ln>
        </p:spPr>
        <p:txBody>
          <a:bodyPr spcFirstLastPara="1" wrap="square" lIns="91425" tIns="45700" rIns="91425" bIns="45700" anchor="t" anchorCtr="0">
            <a:noAutofit/>
          </a:bodyPr>
          <a:lstStyle/>
          <a:p>
            <a:pPr marL="285750" indent="-285750"/>
            <a:r>
              <a:rPr lang="en-US" sz="1800" dirty="0"/>
              <a:t>Prior to OBD II, catalytic converters contained two different types of catalysts: a </a:t>
            </a:r>
            <a:r>
              <a:rPr lang="en-US" sz="1800" b="1" dirty="0"/>
              <a:t>reduction catalyst </a:t>
            </a:r>
            <a:r>
              <a:rPr lang="en-US" sz="1800" dirty="0"/>
              <a:t>and an </a:t>
            </a:r>
            <a:r>
              <a:rPr lang="en-US" sz="1800" b="1" dirty="0"/>
              <a:t>oxidation catalyst</a:t>
            </a:r>
            <a:r>
              <a:rPr lang="en-US" sz="1800" dirty="0"/>
              <a:t>.</a:t>
            </a:r>
          </a:p>
          <a:p>
            <a:pPr marL="285750" indent="-285750"/>
            <a:r>
              <a:rPr lang="en-US" sz="1800" dirty="0"/>
              <a:t>The two separate catalysts created a dual-bed converter. </a:t>
            </a:r>
          </a:p>
          <a:p>
            <a:pPr marL="285750" indent="-285750"/>
            <a:r>
              <a:rPr lang="en-US" sz="1800" dirty="0"/>
              <a:t>Exhaust gases passed over the first or reduction bed where NOx emissions were eliminated.</a:t>
            </a:r>
          </a:p>
          <a:p>
            <a:pPr marL="285750" indent="-285750"/>
            <a:r>
              <a:rPr lang="en-US" sz="1800" dirty="0"/>
              <a:t>Then the exhaust passed to the second where they were oxidized to eliminate CO and HC emissions.</a:t>
            </a:r>
          </a:p>
          <a:p>
            <a:pPr marL="285750" indent="-285750"/>
            <a:r>
              <a:rPr lang="en-US" sz="1800" dirty="0"/>
              <a:t>All late-model vehicles use a three-way converter (TWC) that decreases HC, CO, and NOx emissions.</a:t>
            </a:r>
          </a:p>
          <a:p>
            <a:pPr marL="285750" indent="-285750"/>
            <a:r>
              <a:rPr lang="en-US" sz="1800" dirty="0"/>
              <a:t>The catalyst used in the reduction bed is either platinum or rhodium.</a:t>
            </a:r>
          </a:p>
        </p:txBody>
      </p:sp>
      <p:pic>
        <p:nvPicPr>
          <p:cNvPr id="8" name="Picture Placeholder 7" descr="An illustration shows three-way catalytic converter. The parts are labeled as follows: three-way catalyst and Housing.">
            <a:extLst>
              <a:ext uri="{FF2B5EF4-FFF2-40B4-BE49-F238E27FC236}">
                <a16:creationId xmlns:a16="http://schemas.microsoft.com/office/drawing/2014/main" id="{726F6F4D-D9F9-8748-EA93-2DCCCA245485}"/>
              </a:ext>
            </a:extLst>
          </p:cNvPr>
          <p:cNvPicPr>
            <a:picLocks noGrp="1" noChangeAspect="1"/>
          </p:cNvPicPr>
          <p:nvPr>
            <p:ph type="pic" sz="quarter" idx="13"/>
          </p:nvPr>
        </p:nvPicPr>
        <p:blipFill rotWithShape="1">
          <a:blip r:embed="rId3"/>
          <a:srcRect b="10593"/>
          <a:stretch/>
        </p:blipFill>
        <p:spPr>
          <a:xfrm>
            <a:off x="7209183" y="2160730"/>
            <a:ext cx="4625008" cy="3163674"/>
          </a:xfrm>
          <a:prstGeom prst="rect">
            <a:avLst/>
          </a:prstGeom>
        </p:spPr>
      </p:pic>
    </p:spTree>
    <p:extLst>
      <p:ext uri="{BB962C8B-B14F-4D97-AF65-F5344CB8AC3E}">
        <p14:creationId xmlns:p14="http://schemas.microsoft.com/office/powerpoint/2010/main" val="302481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2C862E3-2D31-ECDA-7708-78D94CF1644C}"/>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A6596578-216E-869F-2D8E-9E5AEA35E78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Air Injection Systems</a:t>
            </a:r>
            <a:endParaRPr dirty="0"/>
          </a:p>
        </p:txBody>
      </p:sp>
      <p:sp>
        <p:nvSpPr>
          <p:cNvPr id="145" name="Google Shape;145;p4">
            <a:extLst>
              <a:ext uri="{FF2B5EF4-FFF2-40B4-BE49-F238E27FC236}">
                <a16:creationId xmlns:a16="http://schemas.microsoft.com/office/drawing/2014/main" id="{744BB7AD-46C3-41FB-E051-1805B27EDC62}"/>
              </a:ext>
            </a:extLst>
          </p:cNvPr>
          <p:cNvSpPr txBox="1">
            <a:spLocks noGrp="1"/>
          </p:cNvSpPr>
          <p:nvPr>
            <p:ph type="body" idx="1"/>
          </p:nvPr>
        </p:nvSpPr>
        <p:spPr>
          <a:xfrm>
            <a:off x="476843" y="1452411"/>
            <a:ext cx="11241915" cy="4750681"/>
          </a:xfrm>
          <a:prstGeom prst="rect">
            <a:avLst/>
          </a:prstGeom>
          <a:noFill/>
          <a:ln>
            <a:noFill/>
          </a:ln>
        </p:spPr>
        <p:txBody>
          <a:bodyPr spcFirstLastPara="1" wrap="square" lIns="91425" tIns="45700" rIns="91425" bIns="45700" anchor="t" anchorCtr="0">
            <a:noAutofit/>
          </a:bodyPr>
          <a:lstStyle/>
          <a:p>
            <a:pPr marL="358775" indent="-358775">
              <a:spcAft>
                <a:spcPts val="400"/>
              </a:spcAft>
            </a:pPr>
            <a:r>
              <a:rPr lang="en-US" sz="1800" dirty="0"/>
              <a:t>An </a:t>
            </a:r>
            <a:r>
              <a:rPr lang="en-US" sz="1800" b="1" dirty="0"/>
              <a:t>air injection reactor (AIR) system </a:t>
            </a:r>
            <a:r>
              <a:rPr lang="en-US" sz="1800" dirty="0"/>
              <a:t>was built into cars and light trucks sold in California in 1966 and used in all automobiles for several years.</a:t>
            </a:r>
          </a:p>
          <a:p>
            <a:pPr marL="358775" indent="-358775">
              <a:spcAft>
                <a:spcPts val="400"/>
              </a:spcAft>
            </a:pPr>
            <a:r>
              <a:rPr lang="en-US" sz="1800" dirty="0"/>
              <a:t>The AIR system reduced the amounts of HC and CO in the exhaust.</a:t>
            </a:r>
          </a:p>
          <a:p>
            <a:pPr marL="358775" indent="-358775">
              <a:spcAft>
                <a:spcPts val="400"/>
              </a:spcAft>
            </a:pPr>
            <a:r>
              <a:rPr lang="en-US" sz="1800" dirty="0"/>
              <a:t>The air caused combustion of the gases in the exhaust manifolds and pipes, thereby reducing the amount of the gases emitted from the tailpipe.</a:t>
            </a:r>
          </a:p>
          <a:p>
            <a:pPr marL="358775" indent="-358775">
              <a:spcAft>
                <a:spcPts val="400"/>
              </a:spcAft>
            </a:pPr>
            <a:r>
              <a:rPr lang="en-US" sz="1800" dirty="0"/>
              <a:t>As manufacturers gained more control over emissions through engine design and advanced emission control systems, the purpose of the AIR system changed.</a:t>
            </a:r>
          </a:p>
          <a:p>
            <a:pPr marL="358775" indent="-358775">
              <a:spcAft>
                <a:spcPts val="400"/>
              </a:spcAft>
            </a:pPr>
            <a:r>
              <a:rPr lang="en-US" sz="1800" dirty="0"/>
              <a:t>It became known as the secondary air injection system and was modified to allow catalytic converters to operate more efficiently.</a:t>
            </a:r>
          </a:p>
          <a:p>
            <a:pPr marL="358775" indent="-358775">
              <a:spcAft>
                <a:spcPts val="400"/>
              </a:spcAft>
            </a:pPr>
            <a:r>
              <a:rPr lang="en-US" sz="1800" dirty="0"/>
              <a:t>The system injected air into the catalytic converter.</a:t>
            </a:r>
          </a:p>
          <a:p>
            <a:pPr marL="358775" indent="-358775">
              <a:spcAft>
                <a:spcPts val="400"/>
              </a:spcAft>
            </a:pPr>
            <a:r>
              <a:rPr lang="en-US" sz="1800" dirty="0"/>
              <a:t>This helped the converter oxidize and reduce the gases entering into it.</a:t>
            </a:r>
          </a:p>
          <a:p>
            <a:pPr marL="358775" indent="-358775">
              <a:spcAft>
                <a:spcPts val="400"/>
              </a:spcAft>
            </a:pPr>
            <a:r>
              <a:rPr lang="en-US" sz="1800" dirty="0"/>
              <a:t>AIR systems are not commonly used today.</a:t>
            </a:r>
          </a:p>
          <a:p>
            <a:pPr marL="358775" indent="-358775">
              <a:spcAft>
                <a:spcPts val="400"/>
              </a:spcAft>
            </a:pPr>
            <a:r>
              <a:rPr lang="en-US" sz="1800" dirty="0"/>
              <a:t>Improved combustion and better catalytic converters have eliminated their need.</a:t>
            </a:r>
          </a:p>
        </p:txBody>
      </p:sp>
    </p:spTree>
    <p:extLst>
      <p:ext uri="{BB962C8B-B14F-4D97-AF65-F5344CB8AC3E}">
        <p14:creationId xmlns:p14="http://schemas.microsoft.com/office/powerpoint/2010/main" val="2863362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lgn="l" rtl="0">
              <a:lnSpc>
                <a:spcPct val="100000"/>
              </a:lnSpc>
              <a:buSzPts val="2400"/>
              <a:buChar char="•"/>
            </a:pPr>
            <a:r>
              <a:rPr lang="en-US" dirty="0"/>
              <a:t>There are many different emissions control devices and systems.</a:t>
            </a:r>
            <a:endParaRPr dirty="0"/>
          </a:p>
          <a:p>
            <a:pPr marL="358775" lvl="0" indent="-358775" algn="l" rtl="0">
              <a:lnSpc>
                <a:spcPct val="100000"/>
              </a:lnSpc>
              <a:buSzPts val="2400"/>
              <a:buChar char="•"/>
            </a:pPr>
            <a:r>
              <a:rPr lang="en-US" dirty="0"/>
              <a:t>Have a class discussion while providing several examples of the system or device, how it works, and what harmful emission it is designed to decrease.</a:t>
            </a:r>
          </a:p>
        </p:txBody>
      </p:sp>
    </p:spTree>
    <p:extLst>
      <p:ext uri="{BB962C8B-B14F-4D97-AF65-F5344CB8AC3E}">
        <p14:creationId xmlns:p14="http://schemas.microsoft.com/office/powerpoint/2010/main" val="3301430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AEA692A-2A0D-9D93-40E4-F2C9249A4506}"/>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07D1E4CF-E3BB-CD3F-D9E3-C1E4C2586E58}"/>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Diesel Emission Controls</a:t>
            </a:r>
            <a:endParaRPr dirty="0"/>
          </a:p>
        </p:txBody>
      </p:sp>
      <p:sp>
        <p:nvSpPr>
          <p:cNvPr id="145" name="Google Shape;145;p4">
            <a:extLst>
              <a:ext uri="{FF2B5EF4-FFF2-40B4-BE49-F238E27FC236}">
                <a16:creationId xmlns:a16="http://schemas.microsoft.com/office/drawing/2014/main" id="{9BEFDE5F-5958-5608-5ABF-2EDA26A38285}"/>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t>33.06 Describe the emission controls commonly found on today’s light-duty diesel engines.</a:t>
            </a:r>
            <a:endParaRPr lang="en-US" sz="1800" dirty="0"/>
          </a:p>
          <a:p>
            <a:pPr marL="358775" indent="-358775"/>
            <a:r>
              <a:rPr lang="en-US" sz="1800" dirty="0"/>
              <a:t>The use of cleaner fuels and new technologies, such as PCM-controlled fuel injection systems, allows today’s diesel engines to have emission levels that match those of gasoline engines.</a:t>
            </a:r>
          </a:p>
          <a:p>
            <a:pPr marL="358775" indent="-358775"/>
            <a:r>
              <a:rPr lang="en-US" sz="1800" dirty="0"/>
              <a:t>Clean diesel exhaust is further possible because the vehicles can be fitted with EGR and PCV valves, catalytic converters, and particulate filters.</a:t>
            </a:r>
          </a:p>
          <a:p>
            <a:pPr marL="358775" indent="-358775"/>
            <a:r>
              <a:rPr lang="en-US" sz="1800" dirty="0"/>
              <a:t>Technology has also allowed diesel engines to run quietly.</a:t>
            </a:r>
          </a:p>
          <a:p>
            <a:pPr marL="358775" indent="-358775"/>
            <a:r>
              <a:rPr lang="en-US" sz="1800" dirty="0"/>
              <a:t>Today’s diesel engines are fitted with OBD systems similar to those found on gasoline engines. </a:t>
            </a:r>
          </a:p>
          <a:p>
            <a:pPr marL="358775" indent="-358775"/>
            <a:r>
              <a:rPr lang="en-US" sz="1800" dirty="0"/>
              <a:t>These systems monitor the effectiveness of various emission-related devices, such as the fuel system, EGR system, catalyst, oxidation catalyst, particulate filter, and PCV system.</a:t>
            </a:r>
          </a:p>
          <a:p>
            <a:pPr marL="358775" indent="-358775"/>
            <a:r>
              <a:rPr lang="en-US" sz="1800" dirty="0"/>
              <a:t>They also have misfire and comprehensive component monitors</a:t>
            </a:r>
          </a:p>
        </p:txBody>
      </p:sp>
    </p:spTree>
    <p:extLst>
      <p:ext uri="{BB962C8B-B14F-4D97-AF65-F5344CB8AC3E}">
        <p14:creationId xmlns:p14="http://schemas.microsoft.com/office/powerpoint/2010/main" val="3804528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AD54EDB-68A1-051B-9988-8E005D9C4192}"/>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41A0E874-11A7-F14B-FB5E-D4BBA2B6549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Low-Sulfur Fuel</a:t>
            </a:r>
            <a:endParaRPr dirty="0"/>
          </a:p>
        </p:txBody>
      </p:sp>
      <p:sp>
        <p:nvSpPr>
          <p:cNvPr id="145" name="Google Shape;145;p4">
            <a:extLst>
              <a:ext uri="{FF2B5EF4-FFF2-40B4-BE49-F238E27FC236}">
                <a16:creationId xmlns:a16="http://schemas.microsoft.com/office/drawing/2014/main" id="{95E9893A-6DA1-2699-CF2A-E0576AC7E19C}"/>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lnSpc>
                <a:spcPct val="107000"/>
              </a:lnSpc>
              <a:spcBef>
                <a:spcPts val="0"/>
              </a:spcBef>
            </a:pPr>
            <a:r>
              <a:rPr lang="en-US" sz="2400" dirty="0">
                <a:solidFill>
                  <a:schemeClr val="accent1"/>
                </a:solidFill>
              </a:rPr>
              <a:t>Legislation has required fuel suppliers to remove nearly all sulfur from most of the diesel fuel they produce for on-highway use.</a:t>
            </a:r>
          </a:p>
          <a:p>
            <a:pPr marL="358775" indent="-358775">
              <a:lnSpc>
                <a:spcPct val="107000"/>
              </a:lnSpc>
              <a:spcBef>
                <a:spcPts val="0"/>
              </a:spcBef>
            </a:pPr>
            <a:r>
              <a:rPr lang="en-US" sz="2400" dirty="0">
                <a:solidFill>
                  <a:schemeClr val="accent1"/>
                </a:solidFill>
              </a:rPr>
              <a:t>Previously, up to 500 ppm were allowed.</a:t>
            </a:r>
          </a:p>
          <a:p>
            <a:pPr marL="358775" indent="-358775">
              <a:lnSpc>
                <a:spcPct val="107000"/>
              </a:lnSpc>
              <a:spcBef>
                <a:spcPts val="0"/>
              </a:spcBef>
            </a:pPr>
            <a:r>
              <a:rPr lang="en-US" sz="2400" dirty="0">
                <a:solidFill>
                  <a:schemeClr val="accent1"/>
                </a:solidFill>
              </a:rPr>
              <a:t>The limit for 2007 and newer diesel engines is 15 ppm.</a:t>
            </a:r>
          </a:p>
          <a:p>
            <a:pPr marL="358775" indent="-358775">
              <a:lnSpc>
                <a:spcPct val="107000"/>
              </a:lnSpc>
              <a:spcBef>
                <a:spcPts val="0"/>
              </a:spcBef>
            </a:pPr>
            <a:r>
              <a:rPr lang="en-US" sz="2400" dirty="0">
                <a:solidFill>
                  <a:schemeClr val="accent1"/>
                </a:solidFill>
              </a:rPr>
              <a:t>The use of this fuel not only reduces sulfur-related emissions, but it also allows diesel engines to be equipped with typically sulfur-intolerant exhaust emission controls, such as particulate filters and NOx catalysts.</a:t>
            </a:r>
          </a:p>
          <a:p>
            <a:pPr marL="358775" indent="-358775">
              <a:lnSpc>
                <a:spcPct val="107000"/>
              </a:lnSpc>
              <a:spcBef>
                <a:spcPts val="0"/>
              </a:spcBef>
            </a:pPr>
            <a:r>
              <a:rPr lang="en-US" sz="2400" dirty="0">
                <a:solidFill>
                  <a:schemeClr val="accent1"/>
                </a:solidFill>
              </a:rPr>
              <a:t>This means diesel exhaust now has the capability to be as clean as that from a gasoline engine.</a:t>
            </a:r>
          </a:p>
        </p:txBody>
      </p:sp>
    </p:spTree>
    <p:extLst>
      <p:ext uri="{BB962C8B-B14F-4D97-AF65-F5344CB8AC3E}">
        <p14:creationId xmlns:p14="http://schemas.microsoft.com/office/powerpoint/2010/main" val="525520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189405E-704B-6D35-041B-28997563E827}"/>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255501DF-C9EA-C2F2-2CA9-BF74893278B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Diesel Fuel Injection</a:t>
            </a:r>
            <a:endParaRPr dirty="0"/>
          </a:p>
        </p:txBody>
      </p:sp>
      <p:sp>
        <p:nvSpPr>
          <p:cNvPr id="145" name="Google Shape;145;p4">
            <a:extLst>
              <a:ext uri="{FF2B5EF4-FFF2-40B4-BE49-F238E27FC236}">
                <a16:creationId xmlns:a16="http://schemas.microsoft.com/office/drawing/2014/main" id="{5A43EB58-18F9-C223-373C-59FB088D2314}"/>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t>Most current light-duty diesel engines use a common rail injection system.</a:t>
            </a:r>
          </a:p>
          <a:p>
            <a:pPr marL="358775" indent="-358775">
              <a:spcAft>
                <a:spcPts val="0"/>
              </a:spcAft>
            </a:pPr>
            <a:r>
              <a:rPr lang="en-US" sz="1800" dirty="0"/>
              <a:t>These systems use high pressure and this pressure is provided equally to all injectors.</a:t>
            </a:r>
          </a:p>
          <a:p>
            <a:pPr marL="358775" indent="-358775">
              <a:spcAft>
                <a:spcPts val="0"/>
              </a:spcAft>
            </a:pPr>
            <a:r>
              <a:rPr lang="en-US" sz="1800" dirty="0"/>
              <a:t>This allows the PCM to precisely control and monitor the amount of fuel injected into the cylinders.</a:t>
            </a:r>
          </a:p>
          <a:p>
            <a:pPr marL="358775" indent="-358775">
              <a:spcAft>
                <a:spcPts val="0"/>
              </a:spcAft>
            </a:pPr>
            <a:r>
              <a:rPr lang="en-US" sz="1800" dirty="0"/>
              <a:t>The introduction of highly pressurized fuel into the cylinders provides improved atomization of the fuel.</a:t>
            </a:r>
          </a:p>
          <a:p>
            <a:pPr marL="715963" lvl="1" indent="-357188">
              <a:spcAft>
                <a:spcPts val="0"/>
              </a:spcAft>
            </a:pPr>
            <a:r>
              <a:rPr lang="en-US" sz="1600" dirty="0">
                <a:solidFill>
                  <a:schemeClr val="tx1"/>
                </a:solidFill>
              </a:rPr>
              <a:t>This, along with precise timing, allows the engines to run cleaner and quieter.</a:t>
            </a:r>
          </a:p>
          <a:p>
            <a:pPr marL="358775" indent="-358775">
              <a:spcAft>
                <a:spcPts val="0"/>
              </a:spcAft>
            </a:pPr>
            <a:r>
              <a:rPr lang="en-US" sz="1800" dirty="0"/>
              <a:t>Common rail systems use solenoid-operated or piezo-inline injectors.</a:t>
            </a:r>
          </a:p>
          <a:p>
            <a:pPr marL="358775" indent="-358775">
              <a:spcAft>
                <a:spcPts val="0"/>
              </a:spcAft>
            </a:pPr>
            <a:r>
              <a:rPr lang="en-US" sz="1800" dirty="0"/>
              <a:t>The use of piezoelectric injectors increases the PCM’s ability to control injection timing. New common rail designs have injectors that are activated by hundreds of thin piezo crystal wafers.</a:t>
            </a:r>
          </a:p>
          <a:p>
            <a:pPr marL="358775" indent="-358775">
              <a:spcAft>
                <a:spcPts val="0"/>
              </a:spcAft>
            </a:pPr>
            <a:r>
              <a:rPr lang="en-US" sz="1800" dirty="0"/>
              <a:t>Piezo crystals expand quickly when a current is applied to them.</a:t>
            </a:r>
          </a:p>
          <a:p>
            <a:pPr marL="358775" indent="-358775">
              <a:spcAft>
                <a:spcPts val="0"/>
              </a:spcAft>
            </a:pPr>
            <a:r>
              <a:rPr lang="en-US" sz="1800" dirty="0"/>
              <a:t>The ability of these injectors to quickly respond also allows the PCM to control several injector firings in a single combustion stroke.</a:t>
            </a:r>
          </a:p>
        </p:txBody>
      </p:sp>
    </p:spTree>
    <p:extLst>
      <p:ext uri="{BB962C8B-B14F-4D97-AF65-F5344CB8AC3E}">
        <p14:creationId xmlns:p14="http://schemas.microsoft.com/office/powerpoint/2010/main" val="2392103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B751D08-D7DC-E22B-D6D7-1F22FD427DA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53F0AF53-E889-D9DA-253F-41826AC35C3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PCV System</a:t>
            </a:r>
            <a:endParaRPr dirty="0"/>
          </a:p>
        </p:txBody>
      </p:sp>
      <p:sp>
        <p:nvSpPr>
          <p:cNvPr id="145" name="Google Shape;145;p4">
            <a:extLst>
              <a:ext uri="{FF2B5EF4-FFF2-40B4-BE49-F238E27FC236}">
                <a16:creationId xmlns:a16="http://schemas.microsoft.com/office/drawing/2014/main" id="{5D73860E-60D8-2490-E6CD-C1B102488D34}"/>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285750" indent="-285750">
              <a:spcAft>
                <a:spcPts val="400"/>
              </a:spcAft>
            </a:pPr>
            <a:r>
              <a:rPr lang="en-US" sz="1600" dirty="0"/>
              <a:t>Diesel engines emit crankcase gases just like gasoline engines.</a:t>
            </a:r>
          </a:p>
          <a:p>
            <a:pPr marL="285750" indent="-285750">
              <a:spcAft>
                <a:spcPts val="400"/>
              </a:spcAft>
            </a:pPr>
            <a:r>
              <a:rPr lang="en-US" sz="1600" dirty="0"/>
              <a:t>However, control of these gases is much different in diesel engines because they produce very little vacuum and, therefore, conventional PCV systems do not work.</a:t>
            </a:r>
          </a:p>
          <a:p>
            <a:pPr marL="285750" indent="-285750">
              <a:spcAft>
                <a:spcPts val="400"/>
              </a:spcAft>
            </a:pPr>
            <a:r>
              <a:rPr lang="en-US" sz="1600" dirty="0"/>
              <a:t>Vacuum is produced in a diesel engine in the opposite way as a gasoline engine—little to no vacuum at idle with an increase as engine speed increases.</a:t>
            </a:r>
          </a:p>
          <a:p>
            <a:pPr marL="285750" indent="-285750">
              <a:spcAft>
                <a:spcPts val="400"/>
              </a:spcAft>
            </a:pPr>
            <a:r>
              <a:rPr lang="en-US" sz="1600" dirty="0"/>
              <a:t>Therefore, a conventional PCV system cannot work on a diesel engine.</a:t>
            </a:r>
          </a:p>
          <a:p>
            <a:pPr marL="285750" indent="-285750">
              <a:spcAft>
                <a:spcPts val="400"/>
              </a:spcAft>
            </a:pPr>
            <a:r>
              <a:rPr lang="en-US" sz="1600" dirty="0"/>
              <a:t>Many diesel engines release these gases to the atmosphere through a crankcase breather or downdraft tube just like early gasoline engines.</a:t>
            </a:r>
          </a:p>
          <a:p>
            <a:pPr marL="285750" indent="-285750">
              <a:spcAft>
                <a:spcPts val="400"/>
              </a:spcAft>
            </a:pPr>
            <a:r>
              <a:rPr lang="en-US" sz="1600" dirty="0"/>
              <a:t>Both are a source of HC and PM emissions and are undesirable.</a:t>
            </a:r>
          </a:p>
          <a:p>
            <a:pPr marL="285750" indent="-285750">
              <a:spcAft>
                <a:spcPts val="400"/>
              </a:spcAft>
            </a:pPr>
            <a:r>
              <a:rPr lang="en-US" sz="1600" dirty="0"/>
              <a:t>Some systems have a PM filter that reduces those emissions but do not allow the engine to meet emission standards.</a:t>
            </a:r>
          </a:p>
          <a:p>
            <a:pPr marL="285750" indent="-285750">
              <a:spcAft>
                <a:spcPts val="400"/>
              </a:spcAft>
            </a:pPr>
            <a:r>
              <a:rPr lang="en-US" sz="1600" dirty="0"/>
              <a:t>The industry has taken many different steps to control these emissions. </a:t>
            </a:r>
          </a:p>
          <a:p>
            <a:pPr marL="285750" indent="-285750">
              <a:spcAft>
                <a:spcPts val="400"/>
              </a:spcAft>
            </a:pPr>
            <a:r>
              <a:rPr lang="en-US" sz="1600" dirty="0"/>
              <a:t>One of these steps is the installation of a multistage filter system that is designed to collect, coalesce, and return the emitted crankcase oils to the oil sump.</a:t>
            </a:r>
          </a:p>
        </p:txBody>
      </p:sp>
    </p:spTree>
    <p:extLst>
      <p:ext uri="{BB962C8B-B14F-4D97-AF65-F5344CB8AC3E}">
        <p14:creationId xmlns:p14="http://schemas.microsoft.com/office/powerpoint/2010/main" val="2887184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C0E3C99-09F2-400D-22E0-051A0F22A4F4}"/>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5935D0A-E949-BA35-7042-6011D10378C8}"/>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Catalytic Converters</a:t>
            </a:r>
            <a:endParaRPr dirty="0"/>
          </a:p>
        </p:txBody>
      </p:sp>
      <p:sp>
        <p:nvSpPr>
          <p:cNvPr id="145" name="Google Shape;145;p4">
            <a:extLst>
              <a:ext uri="{FF2B5EF4-FFF2-40B4-BE49-F238E27FC236}">
                <a16:creationId xmlns:a16="http://schemas.microsoft.com/office/drawing/2014/main" id="{178CD851-3C84-C93E-6004-E401CE7CCDF2}"/>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2200" dirty="0"/>
              <a:t>The most common catalytic converter for diesel engines is an oxidation catalyst.</a:t>
            </a:r>
          </a:p>
          <a:p>
            <a:pPr marL="358775" indent="-358775"/>
            <a:r>
              <a:rPr lang="en-US" sz="2200" dirty="0"/>
              <a:t>This converter uses the O</a:t>
            </a:r>
            <a:r>
              <a:rPr lang="en-US" sz="2200" baseline="-25000" dirty="0"/>
              <a:t>2</a:t>
            </a:r>
            <a:r>
              <a:rPr lang="en-US" sz="2200" dirty="0"/>
              <a:t> in the exhaust to oxidize CO to form CO</a:t>
            </a:r>
            <a:r>
              <a:rPr lang="en-US" sz="2200" baseline="-25000" dirty="0"/>
              <a:t>2</a:t>
            </a:r>
            <a:r>
              <a:rPr lang="en-US" sz="2200" dirty="0"/>
              <a:t> and oxidize HC to form H</a:t>
            </a:r>
            <a:r>
              <a:rPr lang="en-US" sz="2200" baseline="-25000" dirty="0"/>
              <a:t>2</a:t>
            </a:r>
            <a:r>
              <a:rPr lang="en-US" sz="2200" dirty="0"/>
              <a:t>O and CO</a:t>
            </a:r>
            <a:r>
              <a:rPr lang="en-US" sz="2200" baseline="-25000" dirty="0"/>
              <a:t>2</a:t>
            </a:r>
            <a:r>
              <a:rPr lang="en-US" sz="2200" dirty="0"/>
              <a:t>.</a:t>
            </a:r>
          </a:p>
          <a:p>
            <a:pPr marL="358775" indent="-358775"/>
            <a:r>
              <a:rPr lang="en-US" sz="2200" dirty="0"/>
              <a:t>The converter also reduces the amount of soot.</a:t>
            </a:r>
          </a:p>
          <a:p>
            <a:pPr marL="358775" indent="-358775"/>
            <a:r>
              <a:rPr lang="en-US" sz="2200" dirty="0"/>
              <a:t>Some engines are fitted with diesel particulate filters that capture the remaining soot.</a:t>
            </a:r>
          </a:p>
          <a:p>
            <a:pPr marL="358775" indent="-358775"/>
            <a:r>
              <a:rPr lang="en-US" sz="2200" dirty="0"/>
              <a:t>To control NOx emissions, engines may also have a NOx adsorber catalyst built into the oxidation converter or as a separate unit.</a:t>
            </a:r>
          </a:p>
          <a:p>
            <a:pPr marL="358775" indent="-358775"/>
            <a:r>
              <a:rPr lang="en-US" sz="2200" dirty="0"/>
              <a:t>This converter is comprised of an alkaline metal (typically barium) to store NOx and a NOx reduction catalyst.</a:t>
            </a:r>
          </a:p>
        </p:txBody>
      </p:sp>
    </p:spTree>
    <p:extLst>
      <p:ext uri="{BB962C8B-B14F-4D97-AF65-F5344CB8AC3E}">
        <p14:creationId xmlns:p14="http://schemas.microsoft.com/office/powerpoint/2010/main" val="2137287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3A0BAD3-A3EE-EEA4-B074-B521069042A3}"/>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98712451-229C-AA57-70AB-61D913D5D5A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Particulate Filter</a:t>
            </a:r>
            <a:endParaRPr dirty="0"/>
          </a:p>
        </p:txBody>
      </p:sp>
      <p:sp>
        <p:nvSpPr>
          <p:cNvPr id="145" name="Google Shape;145;p4">
            <a:extLst>
              <a:ext uri="{FF2B5EF4-FFF2-40B4-BE49-F238E27FC236}">
                <a16:creationId xmlns:a16="http://schemas.microsoft.com/office/drawing/2014/main" id="{76AE6F36-3714-0F3E-B21D-55E40DF0B9A5}"/>
              </a:ext>
            </a:extLst>
          </p:cNvPr>
          <p:cNvSpPr txBox="1">
            <a:spLocks noGrp="1"/>
          </p:cNvSpPr>
          <p:nvPr>
            <p:ph type="body" idx="1"/>
          </p:nvPr>
        </p:nvSpPr>
        <p:spPr>
          <a:xfrm>
            <a:off x="476844" y="1575981"/>
            <a:ext cx="6281766" cy="4417045"/>
          </a:xfrm>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2000" dirty="0"/>
              <a:t>Soot can be controlled by running the engine on a lean mixture and using a high-pressure common rail injection system.</a:t>
            </a:r>
          </a:p>
          <a:p>
            <a:pPr marL="358775" indent="-358775">
              <a:spcAft>
                <a:spcPts val="0"/>
              </a:spcAft>
            </a:pPr>
            <a:r>
              <a:rPr lang="en-US" sz="2000" dirty="0"/>
              <a:t>This brings soot emissions down significantly, as does the oxidizing catalytic converter. However, to meet EPA emission standards for PM emissions, late-model vehicles also have a particulate filter. Particulate filters are placed into the exhaust system after the catalytic converter.</a:t>
            </a:r>
          </a:p>
          <a:p>
            <a:pPr marL="358775" indent="-358775">
              <a:spcAft>
                <a:spcPts val="0"/>
              </a:spcAft>
            </a:pPr>
            <a:r>
              <a:rPr lang="en-US" sz="2000" dirty="0"/>
              <a:t>Sometimes, the PM filter is part of the converter assembly.</a:t>
            </a:r>
          </a:p>
          <a:p>
            <a:pPr marL="358775" indent="-358775">
              <a:spcAft>
                <a:spcPts val="0"/>
              </a:spcAft>
            </a:pPr>
            <a:r>
              <a:rPr lang="en-US" sz="2000" dirty="0"/>
              <a:t>Particulate filters are designed to trap PM.</a:t>
            </a:r>
          </a:p>
        </p:txBody>
      </p:sp>
      <p:pic>
        <p:nvPicPr>
          <p:cNvPr id="8" name="Picture Placeholder 7" descr="Continuous-regenerative diesel particulate catalyst assembly. The catalysts flow from the left towards the oxidizing catalyst (breaks down S O F) and towards the filter (traps and burns soot). P M is scattered prior to the oxidizing catalyst. In oxidizing catalyst, the soot and S O F are formed. During the filter phase, soot is filtered. In the output of catalyst assembly, P M is reduced, exhaust gases are reduced and made harmless (converted into H_2 O and C O_2). S O F (Soluble organic fraction: unburnt fuel and oil) is represented by a large orange sphere, P M is represented by a large sphere attached to two smaller, differently colored spheres, Soot is represented by a small sphere of the same color as before, and a forward arrow represents emission flow.">
            <a:extLst>
              <a:ext uri="{FF2B5EF4-FFF2-40B4-BE49-F238E27FC236}">
                <a16:creationId xmlns:a16="http://schemas.microsoft.com/office/drawing/2014/main" id="{5BABBE8C-944B-A870-E8F1-F21D7B31848E}"/>
              </a:ext>
            </a:extLst>
          </p:cNvPr>
          <p:cNvPicPr>
            <a:picLocks noGrp="1" noChangeAspect="1"/>
          </p:cNvPicPr>
          <p:nvPr>
            <p:ph type="pic" sz="quarter" idx="12"/>
          </p:nvPr>
        </p:nvPicPr>
        <p:blipFill rotWithShape="1">
          <a:blip r:embed="rId3"/>
          <a:srcRect b="9122"/>
          <a:stretch/>
        </p:blipFill>
        <p:spPr>
          <a:xfrm>
            <a:off x="7001618" y="2678417"/>
            <a:ext cx="4925339" cy="2376669"/>
          </a:xfrm>
          <a:prstGeom prst="rect">
            <a:avLst/>
          </a:prstGeom>
        </p:spPr>
      </p:pic>
    </p:spTree>
    <p:extLst>
      <p:ext uri="{BB962C8B-B14F-4D97-AF65-F5344CB8AC3E}">
        <p14:creationId xmlns:p14="http://schemas.microsoft.com/office/powerpoint/2010/main" val="33543182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3E223E9-6A48-175D-0F21-C52658BA98B3}"/>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F965D3D7-C2DC-0529-7687-D9874C6805A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Selective Catalytic Reduction (SCR) Systems</a:t>
            </a:r>
            <a:endParaRPr dirty="0"/>
          </a:p>
        </p:txBody>
      </p:sp>
      <p:sp>
        <p:nvSpPr>
          <p:cNvPr id="145" name="Google Shape;145;p4">
            <a:extLst>
              <a:ext uri="{FF2B5EF4-FFF2-40B4-BE49-F238E27FC236}">
                <a16:creationId xmlns:a16="http://schemas.microsoft.com/office/drawing/2014/main" id="{93156944-D984-4D94-661C-0F7B7D43C90E}"/>
              </a:ext>
            </a:extLst>
          </p:cNvPr>
          <p:cNvSpPr txBox="1">
            <a:spLocks noGrp="1"/>
          </p:cNvSpPr>
          <p:nvPr>
            <p:ph type="body" idx="1"/>
          </p:nvPr>
        </p:nvSpPr>
        <p:spPr>
          <a:xfrm>
            <a:off x="476844" y="1563624"/>
            <a:ext cx="10965514" cy="4613339"/>
          </a:xfrm>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t>To reduce NOx emissions from a diesel vehicle, two separate technologies are used: selective catalytic reduction (SCR) and NOx traps or adsorbers.</a:t>
            </a:r>
          </a:p>
          <a:p>
            <a:pPr marL="358775" indent="-358775">
              <a:spcAft>
                <a:spcPts val="0"/>
              </a:spcAft>
            </a:pPr>
            <a:r>
              <a:rPr lang="en-US" sz="1800" dirty="0"/>
              <a:t>Conventional reduction catalytic converters do not work well on diesel engines.</a:t>
            </a:r>
          </a:p>
          <a:p>
            <a:pPr marL="358775" indent="-358775">
              <a:spcAft>
                <a:spcPts val="0"/>
              </a:spcAft>
            </a:pPr>
            <a:r>
              <a:rPr lang="en-US" sz="1800" dirty="0"/>
              <a:t>This is because the O</a:t>
            </a:r>
            <a:r>
              <a:rPr lang="en-US" sz="1800" baseline="-25000" dirty="0"/>
              <a:t>2</a:t>
            </a:r>
            <a:r>
              <a:rPr lang="en-US" sz="1800" dirty="0"/>
              <a:t> content in the exhaust is high, and their converters operate at a low temperature.</a:t>
            </a:r>
          </a:p>
          <a:p>
            <a:pPr marL="358775" indent="-358775">
              <a:spcAft>
                <a:spcPts val="0"/>
              </a:spcAft>
            </a:pPr>
            <a:r>
              <a:rPr lang="en-US" sz="1800" dirty="0"/>
              <a:t>This means a reduction converter would not be very effective.</a:t>
            </a:r>
          </a:p>
          <a:p>
            <a:pPr marL="358775" indent="-358775">
              <a:spcAft>
                <a:spcPts val="0"/>
              </a:spcAft>
            </a:pPr>
            <a:r>
              <a:rPr lang="en-US" sz="1800" dirty="0"/>
              <a:t>The common reductants used in SCR systems are ammonia and urea water solutions. The reductant is injected in the exhaust stream over a catalyst.</a:t>
            </a:r>
          </a:p>
          <a:p>
            <a:pPr marL="358775" indent="-358775">
              <a:spcAft>
                <a:spcPts val="0"/>
              </a:spcAft>
            </a:pPr>
            <a:r>
              <a:rPr lang="en-US" sz="1800" dirty="0"/>
              <a:t>These special catalytic converters work well only when they are within a specific temperature range.</a:t>
            </a:r>
          </a:p>
          <a:p>
            <a:pPr marL="358775" indent="-358775">
              <a:spcAft>
                <a:spcPts val="0"/>
              </a:spcAft>
            </a:pPr>
            <a:r>
              <a:rPr lang="en-US" sz="1800" dirty="0"/>
              <a:t>The engine’s control unit is programmed to keep the temperature of the exhaust within that range.</a:t>
            </a:r>
          </a:p>
          <a:p>
            <a:pPr marL="358775" indent="-358775">
              <a:spcAft>
                <a:spcPts val="0"/>
              </a:spcAft>
            </a:pPr>
            <a:r>
              <a:rPr lang="en-US" sz="1800" dirty="0"/>
              <a:t>Also, the amount of reductant sprayed into the exhaust must be proportioned to the amount of exhaust flow.</a:t>
            </a:r>
          </a:p>
        </p:txBody>
      </p:sp>
    </p:spTree>
    <p:extLst>
      <p:ext uri="{BB962C8B-B14F-4D97-AF65-F5344CB8AC3E}">
        <p14:creationId xmlns:p14="http://schemas.microsoft.com/office/powerpoint/2010/main" val="2621918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t>What is the purpose of a particulate filter?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2" name="Text Placeholder 1">
            <a:extLst>
              <a:ext uri="{FF2B5EF4-FFF2-40B4-BE49-F238E27FC236}">
                <a16:creationId xmlns:a16="http://schemas.microsoft.com/office/drawing/2014/main" id="{D6E50C43-9D7A-FB7D-6A9F-F9416260F15D}"/>
              </a:ext>
            </a:extLst>
          </p:cNvPr>
          <p:cNvSpPr>
            <a:spLocks noGrp="1"/>
          </p:cNvSpPr>
          <p:nvPr>
            <p:ph type="body" idx="1"/>
          </p:nvPr>
        </p:nvSpPr>
        <p:spPr/>
        <p:txBody>
          <a:bodyPr/>
          <a:lstStyle/>
          <a:p>
            <a:pPr marL="457200" lvl="0" indent="-381000">
              <a:buClr>
                <a:srgbClr val="282F7C"/>
              </a:buClr>
              <a:buSzPts val="2400"/>
              <a:defRPr/>
            </a:pPr>
            <a:r>
              <a:rPr lang="en-US" sz="2800" b="1" dirty="0"/>
              <a:t>Answer: </a:t>
            </a:r>
            <a:r>
              <a:rPr lang="en-US" sz="2800" dirty="0"/>
              <a:t>The diesel particulate filter or DPF is designed to decrease particulate matter from the exhaust.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t>Please take a moment to compare your perception of emissions systems before and after you studied this chapter. Then respond to the following questions in one or two paragraphs. Use 150–200 words in your reflection.</a:t>
            </a:r>
            <a:endParaRPr dirty="0"/>
          </a:p>
          <a:p>
            <a:pPr marL="360363" lvl="0" indent="-360363" algn="l" rtl="0">
              <a:lnSpc>
                <a:spcPct val="100000"/>
              </a:lnSpc>
              <a:buFont typeface="Arial"/>
              <a:buChar char="•"/>
            </a:pPr>
            <a:r>
              <a:rPr lang="en-US" dirty="0"/>
              <a:t>Were there any concepts in this chapter that you struggled to understand? What will you do to improve your understanding?</a:t>
            </a:r>
            <a:endParaRPr dirty="0"/>
          </a:p>
          <a:p>
            <a:pPr marL="360363" lvl="0" indent="-360363" algn="l" rtl="0">
              <a:lnSpc>
                <a:spcPct val="100000"/>
              </a:lnSpc>
              <a:buFont typeface="Arial"/>
              <a:buChar char="•"/>
            </a:pPr>
            <a:r>
              <a:rPr lang="en-US" dirty="0"/>
              <a:t>Which of the emissions control systems did you find the most difficult to understand? How will you increase your level of understanding of this system?</a:t>
            </a:r>
            <a:endParaRPr dirty="0"/>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13110</TotalTime>
  <Words>3694</Words>
  <Application>Microsoft Office PowerPoint</Application>
  <PresentationFormat>Widescreen</PresentationFormat>
  <Paragraphs>238</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Work Sans</vt:lpstr>
      <vt:lpstr>Optimized Template Master</vt:lpstr>
      <vt:lpstr>Automotive Technology: A Systems Approach, 8e</vt:lpstr>
      <vt:lpstr>Chapter Objectives </vt:lpstr>
      <vt:lpstr>Pollutants (1 of 2)</vt:lpstr>
      <vt:lpstr>Pollutants (2 of 2)</vt:lpstr>
      <vt:lpstr>Knowledge Check (1 of 2)</vt:lpstr>
      <vt:lpstr>Knowledge Check Answer (1 of 2)</vt:lpstr>
      <vt:lpstr>Carbon Dioxide</vt:lpstr>
      <vt:lpstr>Diesel Emissions</vt:lpstr>
      <vt:lpstr>Emission Control Devices</vt:lpstr>
      <vt:lpstr>Inspection and Maintenance Programs</vt:lpstr>
      <vt:lpstr>Vehicle Emission Control Information (VECI)</vt:lpstr>
      <vt:lpstr>Classifications of Emission Control Devices</vt:lpstr>
      <vt:lpstr>Evaporative Emission Control Systems</vt:lpstr>
      <vt:lpstr>Enhanced Evaporative Emission (EVAP) System</vt:lpstr>
      <vt:lpstr>Precombustion Systems</vt:lpstr>
      <vt:lpstr>Engine Design Changes</vt:lpstr>
      <vt:lpstr>PCV Systems</vt:lpstr>
      <vt:lpstr>EGR Systems</vt:lpstr>
      <vt:lpstr>Intake Heat Control Systems</vt:lpstr>
      <vt:lpstr>Postcombustion Systems</vt:lpstr>
      <vt:lpstr>Catalytic Converters (1 of 2)</vt:lpstr>
      <vt:lpstr>Catalytic Converters (2 of 2)</vt:lpstr>
      <vt:lpstr>Air Injection Systems</vt:lpstr>
      <vt:lpstr>Discussion</vt:lpstr>
      <vt:lpstr>Diesel Emission Controls</vt:lpstr>
      <vt:lpstr>Low-Sulfur Fuel</vt:lpstr>
      <vt:lpstr>Diesel Fuel Injection</vt:lpstr>
      <vt:lpstr>PCV System</vt:lpstr>
      <vt:lpstr>Catalytic Converters</vt:lpstr>
      <vt:lpstr>Particulate Filter</vt:lpstr>
      <vt:lpstr>Selective Catalytic Reduction (SCR) Systems</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CD</cp:lastModifiedBy>
  <cp:revision>263</cp:revision>
  <dcterms:created xsi:type="dcterms:W3CDTF">2021-12-10T16:21:02Z</dcterms:created>
  <dcterms:modified xsi:type="dcterms:W3CDTF">2024-11-20T07:33:04Z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