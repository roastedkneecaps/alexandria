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403" r:id="rId2"/>
    <p:sldId id="257" r:id="rId3"/>
    <p:sldId id="258" r:id="rId4"/>
    <p:sldId id="259" r:id="rId5"/>
    <p:sldId id="372" r:id="rId6"/>
    <p:sldId id="373" r:id="rId7"/>
    <p:sldId id="374" r:id="rId8"/>
    <p:sldId id="400" r:id="rId9"/>
    <p:sldId id="401" r:id="rId10"/>
    <p:sldId id="375" r:id="rId11"/>
    <p:sldId id="376" r:id="rId12"/>
    <p:sldId id="377" r:id="rId13"/>
    <p:sldId id="378" r:id="rId14"/>
    <p:sldId id="379" r:id="rId15"/>
    <p:sldId id="381" r:id="rId16"/>
    <p:sldId id="382" r:id="rId17"/>
    <p:sldId id="383" r:id="rId18"/>
    <p:sldId id="384" r:id="rId19"/>
    <p:sldId id="385" r:id="rId20"/>
    <p:sldId id="276" r:id="rId21"/>
    <p:sldId id="386" r:id="rId22"/>
    <p:sldId id="387" r:id="rId23"/>
    <p:sldId id="388" r:id="rId24"/>
    <p:sldId id="284" r:id="rId25"/>
    <p:sldId id="285" r:id="rId26"/>
    <p:sldId id="389" r:id="rId27"/>
    <p:sldId id="390" r:id="rId28"/>
    <p:sldId id="391" r:id="rId29"/>
    <p:sldId id="392" r:id="rId30"/>
    <p:sldId id="393" r:id="rId31"/>
    <p:sldId id="394" r:id="rId32"/>
    <p:sldId id="395" r:id="rId33"/>
    <p:sldId id="396" r:id="rId34"/>
    <p:sldId id="397" r:id="rId35"/>
    <p:sldId id="398" r:id="rId36"/>
    <p:sldId id="399" r:id="rId37"/>
    <p:sldId id="293" r:id="rId38"/>
    <p:sldId id="294" r:id="rId39"/>
    <p:sldId id="301" r:id="rId40"/>
  </p:sldIdLst>
  <p:sldSz cx="12192000" cy="6858000"/>
  <p:notesSz cx="6858000" cy="9144000"/>
  <p:embeddedFontLst>
    <p:embeddedFont>
      <p:font typeface="Work Sans"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29"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0" autoAdjust="0"/>
    <p:restoredTop sz="93405" autoAdjust="0"/>
  </p:normalViewPr>
  <p:slideViewPr>
    <p:cSldViewPr snapToGrid="0">
      <p:cViewPr varScale="1">
        <p:scale>
          <a:sx n="101" d="100"/>
          <a:sy n="101" d="100"/>
        </p:scale>
        <p:origin x="876" y="96"/>
      </p:cViewPr>
      <p:guideLst>
        <p:guide orient="horz" pos="2160"/>
        <p:guide pos="3840"/>
      </p:guideLst>
    </p:cSldViewPr>
  </p:slideViewPr>
  <p:outlineViewPr>
    <p:cViewPr>
      <p:scale>
        <a:sx n="33" d="100"/>
        <a:sy n="33" d="100"/>
      </p:scale>
      <p:origin x="0" y="-5407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5101283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1113041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35" name="Google Shape;135;p3: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6" name="Google Shape;136;p3: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3366266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8639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5217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64155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6862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3361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2988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85010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4454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6139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7030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1894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3467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7102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38774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309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2224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dirty="0"/>
          </a:p>
        </p:txBody>
      </p:sp>
    </p:spTree>
    <p:extLst>
      <p:ext uri="{BB962C8B-B14F-4D97-AF65-F5344CB8AC3E}">
        <p14:creationId xmlns:p14="http://schemas.microsoft.com/office/powerpoint/2010/main" val="2619419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4008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9082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2721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dirty="0"/>
          </a:p>
        </p:txBody>
      </p:sp>
    </p:spTree>
    <p:extLst>
      <p:ext uri="{BB962C8B-B14F-4D97-AF65-F5344CB8AC3E}">
        <p14:creationId xmlns:p14="http://schemas.microsoft.com/office/powerpoint/2010/main" val="800523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dirty="0"/>
          </a:p>
        </p:txBody>
      </p:sp>
    </p:spTree>
    <p:extLst>
      <p:ext uri="{BB962C8B-B14F-4D97-AF65-F5344CB8AC3E}">
        <p14:creationId xmlns:p14="http://schemas.microsoft.com/office/powerpoint/2010/main" val="31120829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9261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1413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4036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9529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56538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1640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3777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25009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4861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25786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16356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dirty="0"/>
          </a:p>
        </p:txBody>
      </p:sp>
    </p:spTree>
    <p:extLst>
      <p:ext uri="{BB962C8B-B14F-4D97-AF65-F5344CB8AC3E}">
        <p14:creationId xmlns:p14="http://schemas.microsoft.com/office/powerpoint/2010/main" val="764959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dirty="0"/>
          </a:p>
        </p:txBody>
      </p:sp>
    </p:spTree>
    <p:extLst>
      <p:ext uri="{BB962C8B-B14F-4D97-AF65-F5344CB8AC3E}">
        <p14:creationId xmlns:p14="http://schemas.microsoft.com/office/powerpoint/2010/main" val="42103895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dirty="0"/>
          </a:p>
        </p:txBody>
      </p:sp>
    </p:spTree>
    <p:extLst>
      <p:ext uri="{BB962C8B-B14F-4D97-AF65-F5344CB8AC3E}">
        <p14:creationId xmlns:p14="http://schemas.microsoft.com/office/powerpoint/2010/main" val="4123805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8449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ts val="2800"/>
              <a:buChar char="•"/>
              <a:defRPr sz="2600"/>
            </a:lvl1pPr>
            <a:lvl2pPr marL="720725" lvl="1" indent="-360363" algn="l">
              <a:lnSpc>
                <a:spcPct val="100000"/>
              </a:lnSpc>
              <a:spcBef>
                <a:spcPts val="624"/>
              </a:spcBef>
              <a:spcAft>
                <a:spcPts val="0"/>
              </a:spcAft>
              <a:buSzPts val="260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5"/>
            <a:ext cx="11241915" cy="88449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hasCustomPrompt="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ts val="2800"/>
              <a:buChar char="•"/>
              <a:defRPr sz="2600"/>
            </a:lvl1pPr>
            <a:lvl2pPr marL="720725" lvl="1" indent="-360363" algn="l">
              <a:lnSpc>
                <a:spcPct val="100000"/>
              </a:lnSpc>
              <a:spcBef>
                <a:spcPts val="624"/>
              </a:spcBef>
              <a:spcAft>
                <a:spcPts val="0"/>
              </a:spcAft>
              <a:buSzPts val="260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3256417988"/>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7">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221C327C-C386-8DB8-8C8C-8BA1FEAC04A9}"/>
              </a:ext>
            </a:extLst>
          </p:cNvPr>
          <p:cNvSpPr txBox="1">
            <a:spLocks/>
          </p:cNvSpPr>
          <p:nvPr userDrawn="1"/>
        </p:nvSpPr>
        <p:spPr>
          <a:xfrm>
            <a:off x="2019935"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7: Working Safely in the Shop</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07.01 Explain the basic principles of personal safety, including protective eyewear, clothing, gloves, shoes, and hearing protection.</a:t>
            </a:r>
          </a:p>
          <a:p>
            <a:pPr marL="357188" marR="0" lvl="0" indent="-357188" algn="l" rtl="0">
              <a:spcAft>
                <a:spcPts val="600"/>
              </a:spcAft>
              <a:buSzPct val="100000"/>
              <a:buChar char="•"/>
            </a:pPr>
            <a:r>
              <a:rPr lang="en-US" dirty="0"/>
              <a:t>07.02 Explain the procedures and precautions for safely using tools and equipment.</a:t>
            </a:r>
          </a:p>
          <a:p>
            <a:pPr marL="357188" marR="0" lvl="0" indent="-357188" algn="l" rtl="0">
              <a:spcAft>
                <a:spcPts val="600"/>
              </a:spcAft>
              <a:buSzPct val="100000"/>
              <a:buChar char="•"/>
            </a:pPr>
            <a:r>
              <a:rPr lang="en-US" dirty="0"/>
              <a:t>07.03 Explain the precautions that need to be followed to safely raise a vehicle on a lift.</a:t>
            </a:r>
          </a:p>
          <a:p>
            <a:pPr marL="357188" marR="0" lvl="0" indent="-357188" algn="l" rtl="0">
              <a:spcAft>
                <a:spcPts val="600"/>
              </a:spcAft>
              <a:buSzPct val="100000"/>
              <a:buChar char="•"/>
            </a:pPr>
            <a:r>
              <a:rPr lang="en-US" dirty="0"/>
              <a:t>07.04 Understand the importance of safety and accident prevention in an automotive shop.</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139" name="Google Shape;139;p3"/>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lgn="l" rtl="0">
              <a:spcAft>
                <a:spcPts val="600"/>
              </a:spcAft>
              <a:buSzPct val="100000"/>
              <a:buChar char="•"/>
            </a:pPr>
            <a:r>
              <a:rPr lang="en-US" dirty="0"/>
              <a:t>07.05 Explain manufacturer and government warnings and regulations.</a:t>
            </a:r>
          </a:p>
          <a:p>
            <a:pPr marL="357188" lvl="0" indent="-357188" algn="l" rtl="0">
              <a:spcAft>
                <a:spcPts val="600"/>
              </a:spcAft>
              <a:buSzPct val="100000"/>
              <a:buChar char="•"/>
            </a:pPr>
            <a:r>
              <a:rPr lang="en-US" dirty="0"/>
              <a:t>07.06 Identify the purpose and scope of OSHA’s responsibilities. </a:t>
            </a:r>
          </a:p>
          <a:p>
            <a:pPr marL="357188" lvl="0" indent="-357188" algn="l" rtl="0">
              <a:spcAft>
                <a:spcPts val="600"/>
              </a:spcAft>
              <a:buSzPct val="100000"/>
              <a:buChar char="•"/>
            </a:pPr>
            <a:r>
              <a:rPr lang="en-US" dirty="0"/>
              <a:t>07.07 Explain what should be done to maintain a safe working area in a shop.</a:t>
            </a:r>
          </a:p>
          <a:p>
            <a:pPr marL="357188" lvl="0" indent="-357188" algn="l" rtl="0">
              <a:spcAft>
                <a:spcPts val="600"/>
              </a:spcAft>
              <a:buSzPct val="100000"/>
              <a:buChar char="•"/>
            </a:pPr>
            <a:r>
              <a:rPr lang="en-US" dirty="0"/>
              <a:t>07.08 Describe the purpose of the laws concerning hazardous wastes and materials, including the Right-To-Know laws. </a:t>
            </a:r>
          </a:p>
          <a:p>
            <a:pPr marL="357188" lvl="0" indent="-357188" algn="l" rtl="0">
              <a:spcAft>
                <a:spcPts val="600"/>
              </a:spcAft>
              <a:buSzPct val="100000"/>
              <a:buChar char="•"/>
            </a:pPr>
            <a:r>
              <a:rPr lang="en-US" dirty="0"/>
              <a:t>07.09 Describe your rights, as an employee and/or student, to have a safe place to work.</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Personal Safety (1 of 3)</a:t>
            </a:r>
            <a:endParaRPr dirty="0"/>
          </a:p>
        </p:txBody>
      </p:sp>
      <p:sp>
        <p:nvSpPr>
          <p:cNvPr id="145" name="Google Shape;145;p4"/>
          <p:cNvSpPr txBox="1">
            <a:spLocks noGrp="1"/>
          </p:cNvSpPr>
          <p:nvPr>
            <p:ph type="body" idx="1"/>
          </p:nvPr>
        </p:nvSpPr>
        <p:spPr>
          <a:xfrm>
            <a:off x="476844" y="1508125"/>
            <a:ext cx="6312840" cy="4545834"/>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SzPts val="2800"/>
              <a:buNone/>
            </a:pPr>
            <a:r>
              <a:rPr lang="en-US" sz="2400" b="1" dirty="0"/>
              <a:t>07.01 Explain the basic principles of personal safety, including protective eyewear, clothing, gloves, shoes, and hearing protection.</a:t>
            </a:r>
          </a:p>
          <a:p>
            <a:pPr>
              <a:buSzPct val="100000"/>
            </a:pPr>
            <a:r>
              <a:rPr lang="en-US" sz="2400" dirty="0"/>
              <a:t>Eye Protection</a:t>
            </a:r>
          </a:p>
          <a:p>
            <a:pPr lvl="1">
              <a:buSzPct val="100000"/>
            </a:pPr>
            <a:r>
              <a:rPr lang="en-US" sz="2200" dirty="0"/>
              <a:t>To be safe, wear suitable eye protection whenever you are working in the shop.</a:t>
            </a:r>
          </a:p>
          <a:p>
            <a:pPr lvl="1">
              <a:buSzPct val="100000"/>
            </a:pPr>
            <a:r>
              <a:rPr lang="en-US" sz="2200" dirty="0"/>
              <a:t>In most shops, this is not an option—you must wear eye protection.</a:t>
            </a:r>
          </a:p>
          <a:p>
            <a:pPr lvl="1">
              <a:buSzPct val="100000"/>
            </a:pPr>
            <a:r>
              <a:rPr lang="en-US" sz="2200" dirty="0"/>
              <a:t>There are many types of eye protection available.</a:t>
            </a:r>
          </a:p>
        </p:txBody>
      </p:sp>
      <p:pic>
        <p:nvPicPr>
          <p:cNvPr id="7" name="Picture Placeholder 6" descr="Safety goggles, a face shield, and safety glasses placed next to each other.">
            <a:extLst>
              <a:ext uri="{FF2B5EF4-FFF2-40B4-BE49-F238E27FC236}">
                <a16:creationId xmlns:a16="http://schemas.microsoft.com/office/drawing/2014/main" id="{FADDB7EC-2295-0F86-951C-47EA818924CF}"/>
              </a:ext>
            </a:extLst>
          </p:cNvPr>
          <p:cNvPicPr>
            <a:picLocks noGrp="1" noChangeAspect="1"/>
          </p:cNvPicPr>
          <p:nvPr>
            <p:ph type="pic" idx="2"/>
          </p:nvPr>
        </p:nvPicPr>
        <p:blipFill>
          <a:blip r:embed="rId3"/>
          <a:srcRect b="13671"/>
          <a:stretch/>
        </p:blipFill>
        <p:spPr>
          <a:xfrm>
            <a:off x="7034340" y="2010765"/>
            <a:ext cx="4425696" cy="30565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Personal Safety (2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000" dirty="0"/>
              <a:t>Clothing that hangs out freely, such as shirttails, can create a safety hazard and cause serious injury.</a:t>
            </a:r>
          </a:p>
          <a:p>
            <a:pPr marL="357188" marR="0" lvl="0" indent="-357188" algn="l" rtl="0">
              <a:spcAft>
                <a:spcPts val="600"/>
              </a:spcAft>
              <a:buSzPct val="100000"/>
              <a:buChar char="•"/>
            </a:pPr>
            <a:r>
              <a:rPr lang="en-US" sz="2000" dirty="0"/>
              <a:t>Long hair and loose, hanging jewelry can create the same type of hazard as loose-fitting clothing.</a:t>
            </a:r>
          </a:p>
          <a:p>
            <a:pPr marL="357188" marR="0" lvl="0" indent="-357188" algn="l" rtl="0">
              <a:spcAft>
                <a:spcPts val="600"/>
              </a:spcAft>
              <a:buSzPct val="100000"/>
              <a:buChar char="•"/>
            </a:pPr>
            <a:r>
              <a:rPr lang="en-US" sz="2000" dirty="0"/>
              <a:t>Boots or shoes made of leather, or a material that approaches the strength of leather, offer good  protection from falling objects.</a:t>
            </a:r>
          </a:p>
          <a:p>
            <a:pPr marL="357188" indent="-357188">
              <a:spcAft>
                <a:spcPts val="600"/>
              </a:spcAft>
              <a:buSzPct val="100000"/>
            </a:pPr>
            <a:r>
              <a:rPr lang="en-US" sz="2000" dirty="0"/>
              <a:t>Never smoke while working on a vehicle or while working in the shop.</a:t>
            </a:r>
          </a:p>
          <a:p>
            <a:pPr marL="357188" indent="-357188">
              <a:spcAft>
                <a:spcPts val="600"/>
              </a:spcAft>
              <a:buSzPct val="100000"/>
            </a:pPr>
            <a:r>
              <a:rPr lang="en-US" sz="2000" dirty="0"/>
              <a:t>Playing around or “horseplay” is not fun when it sends someone to the hospital. </a:t>
            </a:r>
          </a:p>
          <a:p>
            <a:pPr marL="357188" indent="-357188">
              <a:spcAft>
                <a:spcPts val="600"/>
              </a:spcAft>
              <a:buSzPct val="100000"/>
            </a:pPr>
            <a:r>
              <a:rPr lang="en-US" sz="2000" dirty="0"/>
              <a:t>To prevent serious burns, keep your skin away from hot metal parts.</a:t>
            </a:r>
          </a:p>
          <a:p>
            <a:pPr marL="357188" indent="-357188">
              <a:spcAft>
                <a:spcPts val="600"/>
              </a:spcAft>
              <a:buSzPct val="100000"/>
            </a:pPr>
            <a:r>
              <a:rPr lang="en-US" sz="2000" dirty="0"/>
              <a:t>Keep your work area clean and uncluttered. Make sure you clean up all spills before continuing to work.</a:t>
            </a:r>
          </a:p>
        </p:txBody>
      </p:sp>
    </p:spTree>
    <p:extLst>
      <p:ext uri="{BB962C8B-B14F-4D97-AF65-F5344CB8AC3E}">
        <p14:creationId xmlns:p14="http://schemas.microsoft.com/office/powerpoint/2010/main" val="3446769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Personal Safety (3 of 3)</a:t>
            </a:r>
            <a:endParaRPr dirty="0"/>
          </a:p>
        </p:txBody>
      </p:sp>
      <p:sp>
        <p:nvSpPr>
          <p:cNvPr id="145" name="Google Shape;145;p4"/>
          <p:cNvSpPr txBox="1">
            <a:spLocks noGrp="1"/>
          </p:cNvSpPr>
          <p:nvPr>
            <p:ph type="body" idx="1"/>
          </p:nvPr>
        </p:nvSpPr>
        <p:spPr>
          <a:xfrm>
            <a:off x="476844" y="1508124"/>
            <a:ext cx="6617640" cy="4524813"/>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Technicians often work with chemicals that have toxic fumes.</a:t>
            </a:r>
          </a:p>
          <a:p>
            <a:pPr marL="357188" marR="0" lvl="0" indent="-357188" algn="l" rtl="0">
              <a:spcAft>
                <a:spcPts val="600"/>
              </a:spcAft>
              <a:buSzPct val="100000"/>
              <a:buChar char="•"/>
            </a:pPr>
            <a:r>
              <a:rPr lang="en-US" dirty="0"/>
              <a:t>Air or respiratory masks should be worn whenever you are exposed to toxic fumes.</a:t>
            </a:r>
          </a:p>
          <a:p>
            <a:pPr marL="357188" marR="0" lvl="0" indent="-357188" algn="l" rtl="0">
              <a:spcAft>
                <a:spcPts val="600"/>
              </a:spcAft>
              <a:buSzPct val="100000"/>
              <a:buChar char="•"/>
            </a:pPr>
            <a:r>
              <a:rPr lang="en-US" dirty="0"/>
              <a:t>Cleaning parts with solvents and painting are examples of when respiratory masks should be worn.</a:t>
            </a:r>
          </a:p>
        </p:txBody>
      </p:sp>
      <p:pic>
        <p:nvPicPr>
          <p:cNvPr id="7" name="Picture Placeholder 6" descr="A respirator with the following labeled components: Breathe air in, Air out, and Cartridge.">
            <a:extLst>
              <a:ext uri="{FF2B5EF4-FFF2-40B4-BE49-F238E27FC236}">
                <a16:creationId xmlns:a16="http://schemas.microsoft.com/office/drawing/2014/main" id="{CC66620E-EBCD-7110-3CD9-3B95C5CBF2C6}"/>
              </a:ext>
            </a:extLst>
          </p:cNvPr>
          <p:cNvPicPr>
            <a:picLocks noGrp="1" noChangeAspect="1"/>
          </p:cNvPicPr>
          <p:nvPr>
            <p:ph type="pic" idx="2"/>
          </p:nvPr>
        </p:nvPicPr>
        <p:blipFill>
          <a:blip r:embed="rId3"/>
          <a:srcRect b="13793"/>
          <a:stretch/>
        </p:blipFill>
        <p:spPr>
          <a:xfrm>
            <a:off x="7355727" y="1993088"/>
            <a:ext cx="4359430" cy="2950387"/>
          </a:xfrm>
          <a:prstGeom prst="rect">
            <a:avLst/>
          </a:prstGeom>
        </p:spPr>
      </p:pic>
    </p:spTree>
    <p:extLst>
      <p:ext uri="{BB962C8B-B14F-4D97-AF65-F5344CB8AC3E}">
        <p14:creationId xmlns:p14="http://schemas.microsoft.com/office/powerpoint/2010/main" val="1993403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Lifting and Carrying (1 of 3)</a:t>
            </a:r>
          </a:p>
        </p:txBody>
      </p:sp>
      <p:sp>
        <p:nvSpPr>
          <p:cNvPr id="145" name="Google Shape;145;p4"/>
          <p:cNvSpPr txBox="1">
            <a:spLocks noGrp="1"/>
          </p:cNvSpPr>
          <p:nvPr>
            <p:ph type="body" idx="1"/>
          </p:nvPr>
        </p:nvSpPr>
        <p:spPr>
          <a:xfrm>
            <a:off x="476843" y="1508125"/>
            <a:ext cx="7321833" cy="4493282"/>
          </a:xfrm>
          <a:prstGeom prst="rect">
            <a:avLst/>
          </a:prstGeom>
          <a:noFill/>
          <a:ln>
            <a:noFill/>
          </a:ln>
        </p:spPr>
        <p:txBody>
          <a:bodyPr spcFirstLastPara="1" wrap="square" lIns="91425" tIns="45700" rIns="91425" bIns="45700" anchor="t" anchorCtr="0">
            <a:noAutofit/>
          </a:bodyPr>
          <a:lstStyle/>
          <a:p>
            <a:pPr marL="357188" lvl="0" indent="-357188">
              <a:spcAft>
                <a:spcPts val="600"/>
              </a:spcAft>
              <a:buSzPct val="100000"/>
            </a:pPr>
            <a:r>
              <a:rPr lang="en-US" sz="2400" dirty="0"/>
              <a:t>Follow these steps:</a:t>
            </a:r>
          </a:p>
          <a:p>
            <a:pPr marL="814387" lvl="1" indent="-457200">
              <a:spcAft>
                <a:spcPts val="600"/>
              </a:spcAft>
              <a:buSzPct val="100000"/>
              <a:buFont typeface="+mj-lt"/>
              <a:buAutoNum type="arabicPeriod"/>
            </a:pPr>
            <a:r>
              <a:rPr lang="en-US" sz="2200" dirty="0"/>
              <a:t>Place your feet close to the object. Position your feet so you will be able to maintain a good balance.</a:t>
            </a:r>
          </a:p>
          <a:p>
            <a:pPr marL="814387" lvl="1" indent="-457200">
              <a:spcAft>
                <a:spcPts val="600"/>
              </a:spcAft>
              <a:buSzPct val="100000"/>
              <a:buFont typeface="+mj-lt"/>
              <a:buAutoNum type="arabicPeriod"/>
            </a:pPr>
            <a:r>
              <a:rPr lang="en-US" sz="2200" dirty="0"/>
              <a:t>Keep your back and elbows as straight as possible. Bend your knees until your hands reach the best place to get a strong grip on the object.</a:t>
            </a:r>
          </a:p>
          <a:p>
            <a:pPr marL="814387" lvl="1" indent="-457200">
              <a:spcAft>
                <a:spcPts val="600"/>
              </a:spcAft>
              <a:buSzPct val="100000"/>
              <a:buFont typeface="+mj-lt"/>
              <a:buAutoNum type="arabicPeriod"/>
            </a:pPr>
            <a:r>
              <a:rPr lang="en-US" sz="2200" dirty="0"/>
              <a:t>If the part is in a cardboard box, make sure the box is in good condition. Old, damp, or poorly sealed boxes will tear and the part will fall out.</a:t>
            </a:r>
          </a:p>
        </p:txBody>
      </p:sp>
      <p:pic>
        <p:nvPicPr>
          <p:cNvPr id="7" name="Picture Placeholder 6" descr="An illustration depicts how to lift a heavy object in two parts. In the first part a man in a squatting position keeping the load close to his knees in an attempt to lift it from the floor. The instructions are labeled as follows: “Position body over load,” “Keep back as erect as possible,” and “Use leg muscles.” The second part depicts the structure of the man. The instructions are labeled as follows: “Keep weight close to body,” “Straight back” with a downward arrow pointing from the neck to the lower back, and “Legs bent” with an upward arrow pointing from the spine to the head. The starting positions of the knee, elbow, and the back are represented by circles. Plate-like structures cover the following regions: from the back to the lower back, from the elbow to the hip, from the hip to the knee, and from the knee to the ankle.">
            <a:extLst>
              <a:ext uri="{FF2B5EF4-FFF2-40B4-BE49-F238E27FC236}">
                <a16:creationId xmlns:a16="http://schemas.microsoft.com/office/drawing/2014/main" id="{D1EE1B56-F9C7-42AE-DE06-0C2A962CDB8E}"/>
              </a:ext>
            </a:extLst>
          </p:cNvPr>
          <p:cNvPicPr>
            <a:picLocks noGrp="1" noChangeAspect="1"/>
          </p:cNvPicPr>
          <p:nvPr>
            <p:ph type="pic" idx="2"/>
          </p:nvPr>
        </p:nvPicPr>
        <p:blipFill>
          <a:blip r:embed="rId3"/>
          <a:srcRect b="13354"/>
          <a:stretch/>
        </p:blipFill>
        <p:spPr>
          <a:xfrm>
            <a:off x="8057557" y="2170293"/>
            <a:ext cx="3657600" cy="2677932"/>
          </a:xfrm>
          <a:prstGeom prst="rect">
            <a:avLst/>
          </a:prstGeom>
        </p:spPr>
      </p:pic>
    </p:spTree>
    <p:extLst>
      <p:ext uri="{BB962C8B-B14F-4D97-AF65-F5344CB8AC3E}">
        <p14:creationId xmlns:p14="http://schemas.microsoft.com/office/powerpoint/2010/main" val="2238245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Lifting and Carrying (2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lnSpc>
                <a:spcPct val="107000"/>
              </a:lnSpc>
              <a:spcAft>
                <a:spcPts val="1800"/>
              </a:spcAft>
              <a:buSzPct val="100000"/>
              <a:buChar char="•"/>
            </a:pPr>
            <a:r>
              <a:rPr lang="en-US" dirty="0"/>
              <a:t>Follow these steps continued:</a:t>
            </a:r>
          </a:p>
          <a:p>
            <a:pPr marL="814387" lvl="1" indent="-457200">
              <a:lnSpc>
                <a:spcPct val="107000"/>
              </a:lnSpc>
              <a:buSzPct val="100000"/>
              <a:buFont typeface="+mj-lt"/>
              <a:buAutoNum type="arabicPeriod" startAt="4"/>
            </a:pPr>
            <a:r>
              <a:rPr lang="en-US" dirty="0"/>
              <a:t>Firmly grasp the object or container. Never try to change your grip as you move the load.</a:t>
            </a:r>
          </a:p>
          <a:p>
            <a:pPr marL="814387" lvl="1" indent="-457200">
              <a:lnSpc>
                <a:spcPct val="107000"/>
              </a:lnSpc>
              <a:buSzPct val="100000"/>
              <a:buFont typeface="+mj-lt"/>
              <a:buAutoNum type="arabicPeriod" startAt="4"/>
            </a:pPr>
            <a:r>
              <a:rPr lang="en-US" dirty="0"/>
              <a:t>Keep the object close to your body, and lift it up by straightening your legs. Use your leg muscles, not your back muscles.</a:t>
            </a:r>
          </a:p>
          <a:p>
            <a:pPr marL="814387" lvl="1" indent="-457200">
              <a:lnSpc>
                <a:spcPct val="107000"/>
              </a:lnSpc>
              <a:buSzPct val="100000"/>
              <a:buFont typeface="+mj-lt"/>
              <a:buAutoNum type="arabicPeriod" startAt="4"/>
            </a:pPr>
            <a:r>
              <a:rPr lang="en-US" dirty="0"/>
              <a:t>If you must change your direction of travel, never twist your body. Turn your whole body, including your feet.</a:t>
            </a:r>
          </a:p>
          <a:p>
            <a:pPr marL="814387" lvl="1" indent="-457200">
              <a:lnSpc>
                <a:spcPct val="107000"/>
              </a:lnSpc>
              <a:buSzPct val="100000"/>
              <a:buFont typeface="+mj-lt"/>
              <a:buAutoNum type="arabicPeriod" startAt="4"/>
            </a:pPr>
            <a:r>
              <a:rPr lang="en-US" dirty="0"/>
              <a:t>When placing the object on a shelf or counter, do not bend forward. Place the edge of the load on the shelf and slide it forward. Be careful not to pinch your fingers.</a:t>
            </a:r>
          </a:p>
        </p:txBody>
      </p:sp>
    </p:spTree>
    <p:extLst>
      <p:ext uri="{BB962C8B-B14F-4D97-AF65-F5344CB8AC3E}">
        <p14:creationId xmlns:p14="http://schemas.microsoft.com/office/powerpoint/2010/main" val="1904245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Lifting and Carrying (3 of </a:t>
            </a:r>
            <a:r>
              <a:rPr lang="en-US"/>
              <a:t>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1800"/>
              </a:spcAft>
              <a:buSzPct val="100000"/>
              <a:buChar char="•"/>
            </a:pPr>
            <a:r>
              <a:rPr lang="en-US" dirty="0"/>
              <a:t>Follow these steps continued:</a:t>
            </a:r>
          </a:p>
          <a:p>
            <a:pPr marL="814387" lvl="1" indent="-457200">
              <a:buSzPct val="100000"/>
              <a:buFont typeface="+mj-lt"/>
              <a:buAutoNum type="arabicPeriod" startAt="8"/>
            </a:pPr>
            <a:r>
              <a:rPr lang="en-US" dirty="0"/>
              <a:t>When setting down a load, bend your knees and keep your back straight. Never bend forward. This strains the back muscles. </a:t>
            </a:r>
          </a:p>
          <a:p>
            <a:pPr marL="814387" lvl="1" indent="-457200">
              <a:buSzPct val="100000"/>
              <a:buFont typeface="+mj-lt"/>
              <a:buAutoNum type="arabicPeriod" startAt="8"/>
            </a:pPr>
            <a:r>
              <a:rPr lang="en-US" dirty="0"/>
              <a:t>When lowering something heavy to the floor, set the object on blocks of wood to protect your fingers. You should also use back-protection devices when you lift heavy objects. Always lift and work within your ability and ask others (or use a hoist) to help when you are not sure whether you can handle the size or weight of an object. Even small, compact parts can be surprisingly heavy or unbalanced. Think about how you are going to lift something before beginning.</a:t>
            </a:r>
          </a:p>
        </p:txBody>
      </p:sp>
    </p:spTree>
    <p:extLst>
      <p:ext uri="{BB962C8B-B14F-4D97-AF65-F5344CB8AC3E}">
        <p14:creationId xmlns:p14="http://schemas.microsoft.com/office/powerpoint/2010/main" val="249610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a:t>Professional Behavior</a:t>
            </a:r>
            <a:endParaRPr lang="en-US" dirty="0"/>
          </a:p>
        </p:txBody>
      </p:sp>
      <p:sp>
        <p:nvSpPr>
          <p:cNvPr id="145" name="Google Shape;145;p4"/>
          <p:cNvSpPr txBox="1">
            <a:spLocks noGrp="1"/>
          </p:cNvSpPr>
          <p:nvPr>
            <p:ph type="body" idx="1"/>
          </p:nvPr>
        </p:nvSpPr>
        <p:spPr>
          <a:xfrm>
            <a:off x="476843" y="1529334"/>
            <a:ext cx="11241915" cy="4613339"/>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dirty="0"/>
              <a:t>Accidents can be prevented simply by the way you behave. </a:t>
            </a:r>
          </a:p>
          <a:p>
            <a:pPr marL="357188" indent="-357188">
              <a:spcAft>
                <a:spcPts val="600"/>
              </a:spcAft>
              <a:buSzPct val="100000"/>
            </a:pPr>
            <a:r>
              <a:rPr lang="en-US" dirty="0"/>
              <a:t>The following list does not include everything you should or should not do; it merely gives some things to think about: </a:t>
            </a:r>
          </a:p>
          <a:p>
            <a:pPr marL="714375" lvl="1" indent="-357188">
              <a:spcAft>
                <a:spcPts val="600"/>
              </a:spcAft>
              <a:buSzPct val="100000"/>
            </a:pPr>
            <a:r>
              <a:rPr lang="en-US" dirty="0"/>
              <a:t>Never smoke while working on a vehicle or while working in the shop.</a:t>
            </a:r>
          </a:p>
          <a:p>
            <a:pPr marL="714375" lvl="1" indent="-357188">
              <a:spcAft>
                <a:spcPts val="600"/>
              </a:spcAft>
              <a:buSzPct val="100000"/>
            </a:pPr>
            <a:r>
              <a:rPr lang="en-US" dirty="0"/>
              <a:t>Playing around or “horseplay” is not fun when it sends someone to the hospital. </a:t>
            </a:r>
          </a:p>
          <a:p>
            <a:pPr marL="714375" lvl="1" indent="-357188">
              <a:spcAft>
                <a:spcPts val="600"/>
              </a:spcAft>
              <a:buSzPct val="100000"/>
            </a:pPr>
            <a:r>
              <a:rPr lang="en-US" dirty="0"/>
              <a:t>To prevent serious burns, keep your skin away from hot metal parts.</a:t>
            </a:r>
          </a:p>
          <a:p>
            <a:pPr marL="714375" lvl="1" indent="-357188">
              <a:spcAft>
                <a:spcPts val="600"/>
              </a:spcAft>
              <a:buSzPct val="100000"/>
            </a:pPr>
            <a:r>
              <a:rPr lang="en-US" dirty="0"/>
              <a:t>Keep your work area clean and uncluttered. Make sure you clean up all spills before continuing to work.</a:t>
            </a:r>
          </a:p>
        </p:txBody>
      </p:sp>
    </p:spTree>
    <p:extLst>
      <p:ext uri="{BB962C8B-B14F-4D97-AF65-F5344CB8AC3E}">
        <p14:creationId xmlns:p14="http://schemas.microsoft.com/office/powerpoint/2010/main" val="174077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(1 of 12)</a:t>
            </a:r>
            <a:endParaRPr dirty="0">
              <a:solidFill>
                <a:schemeClr val="accent1"/>
              </a:solidFill>
            </a:endParaRPr>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2200" b="1" dirty="0"/>
              <a:t>07.02 Explain the procedures and precautions for safely using tools and equipment.</a:t>
            </a:r>
          </a:p>
          <a:p>
            <a:pPr marL="357188" marR="0" lvl="0" indent="-357188" algn="l" rtl="0">
              <a:spcAft>
                <a:spcPts val="400"/>
              </a:spcAft>
              <a:buSzPct val="100000"/>
              <a:buChar char="•"/>
            </a:pPr>
            <a:r>
              <a:rPr lang="en-US" sz="2200" dirty="0"/>
              <a:t>Hand Tool Safety</a:t>
            </a:r>
          </a:p>
          <a:p>
            <a:pPr marL="357188" indent="-357188">
              <a:spcAft>
                <a:spcPts val="400"/>
              </a:spcAft>
              <a:buSzPct val="100000"/>
            </a:pPr>
            <a:r>
              <a:rPr lang="en-US" sz="2200" dirty="0"/>
              <a:t>Here are some of the following tips when using hand tools:</a:t>
            </a:r>
          </a:p>
          <a:p>
            <a:pPr marL="714375" lvl="1" indent="-357188">
              <a:spcAft>
                <a:spcPts val="400"/>
              </a:spcAft>
              <a:buSzPct val="100000"/>
            </a:pPr>
            <a:r>
              <a:rPr lang="en-US" sz="2000" dirty="0"/>
              <a:t>Keep all tools grease-free.</a:t>
            </a:r>
          </a:p>
          <a:p>
            <a:pPr marL="714375" lvl="1" indent="-357188">
              <a:spcAft>
                <a:spcPts val="400"/>
              </a:spcAft>
              <a:buSzPct val="100000"/>
            </a:pPr>
            <a:r>
              <a:rPr lang="en-US" sz="2000" dirty="0"/>
              <a:t>Inspect your tools for cracks, broken parts, or other dangerous conditions before you use them. Never use broken or damaged tools.</a:t>
            </a:r>
          </a:p>
          <a:p>
            <a:pPr marL="714375" lvl="1" indent="-357188">
              <a:spcAft>
                <a:spcPts val="400"/>
              </a:spcAft>
              <a:buSzPct val="100000"/>
            </a:pPr>
            <a:r>
              <a:rPr lang="en-US" sz="2000" dirty="0"/>
              <a:t>Hand tools should only be used for the purpose they were designed for. Use the right tool for the job.</a:t>
            </a:r>
          </a:p>
          <a:p>
            <a:pPr marL="714375" lvl="1" indent="-357188">
              <a:spcAft>
                <a:spcPts val="400"/>
              </a:spcAft>
              <a:buSzPct val="100000"/>
            </a:pPr>
            <a:r>
              <a:rPr lang="en-US" sz="2000" dirty="0"/>
              <a:t>Make sure the tool is of professional quality.</a:t>
            </a:r>
          </a:p>
          <a:p>
            <a:pPr marL="714375" lvl="1" indent="-357188">
              <a:spcAft>
                <a:spcPts val="400"/>
              </a:spcAft>
              <a:buSzPct val="100000"/>
            </a:pPr>
            <a:r>
              <a:rPr lang="en-US" sz="2000" dirty="0"/>
              <a:t>Always use the correct size of wrench.</a:t>
            </a:r>
          </a:p>
        </p:txBody>
      </p:sp>
    </p:spTree>
    <p:extLst>
      <p:ext uri="{BB962C8B-B14F-4D97-AF65-F5344CB8AC3E}">
        <p14:creationId xmlns:p14="http://schemas.microsoft.com/office/powerpoint/2010/main" val="3754597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(2 of 12)</a:t>
            </a:r>
            <a:endParaRPr dirty="0">
              <a:solidFill>
                <a:schemeClr val="accent1"/>
              </a:solidFill>
            </a:endParaRPr>
          </a:p>
        </p:txBody>
      </p:sp>
      <p:sp>
        <p:nvSpPr>
          <p:cNvPr id="145" name="Google Shape;145;p4"/>
          <p:cNvSpPr txBox="1">
            <a:spLocks noGrp="1"/>
          </p:cNvSpPr>
          <p:nvPr>
            <p:ph type="body" idx="1"/>
          </p:nvPr>
        </p:nvSpPr>
        <p:spPr>
          <a:xfrm>
            <a:off x="476843" y="1508125"/>
            <a:ext cx="7204117" cy="4556344"/>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Power Tool Safety</a:t>
            </a:r>
          </a:p>
          <a:p>
            <a:pPr>
              <a:spcAft>
                <a:spcPts val="600"/>
              </a:spcAft>
              <a:buSzPct val="100000"/>
            </a:pPr>
            <a:r>
              <a:rPr lang="en-US" sz="2200" dirty="0"/>
              <a:t>Working within or even near these areas often requires additional PPE over and above standard safety glasses, uniforms, and boots. For example, when using a bench grinder, a full face shield should be used to prevent debris from flying into your face.</a:t>
            </a:r>
          </a:p>
          <a:p>
            <a:pPr>
              <a:spcAft>
                <a:spcPts val="600"/>
              </a:spcAft>
              <a:buSzPct val="100000"/>
            </a:pPr>
            <a:r>
              <a:rPr lang="en-US" sz="2200" dirty="0"/>
              <a:t>Be sure to identify what forms of PPE are necessary when working in and around these areas. Power tools are operated by an outside power source, such as electricity, compressed air, or hydraulic pressure.</a:t>
            </a:r>
          </a:p>
        </p:txBody>
      </p:sp>
      <p:pic>
        <p:nvPicPr>
          <p:cNvPr id="7" name="Picture Placeholder 6" descr="A partial view of two cars elevated from the floor level. Many safety equipment are placed against the walls.">
            <a:extLst>
              <a:ext uri="{FF2B5EF4-FFF2-40B4-BE49-F238E27FC236}">
                <a16:creationId xmlns:a16="http://schemas.microsoft.com/office/drawing/2014/main" id="{6CB68B50-140D-ED82-E867-37C7B617C752}"/>
              </a:ext>
            </a:extLst>
          </p:cNvPr>
          <p:cNvPicPr>
            <a:picLocks noGrp="1" noChangeAspect="1"/>
          </p:cNvPicPr>
          <p:nvPr>
            <p:ph type="pic" idx="2"/>
          </p:nvPr>
        </p:nvPicPr>
        <p:blipFill>
          <a:blip r:embed="rId3"/>
          <a:srcRect b="13140"/>
          <a:stretch/>
        </p:blipFill>
        <p:spPr>
          <a:xfrm>
            <a:off x="7874677" y="2112630"/>
            <a:ext cx="4023360" cy="3040395"/>
          </a:xfrm>
          <a:prstGeom prst="rect">
            <a:avLst/>
          </a:prstGeom>
        </p:spPr>
      </p:pic>
    </p:spTree>
    <p:extLst>
      <p:ext uri="{BB962C8B-B14F-4D97-AF65-F5344CB8AC3E}">
        <p14:creationId xmlns:p14="http://schemas.microsoft.com/office/powerpoint/2010/main" val="400786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(3 of 12)</a:t>
            </a:r>
            <a:endParaRPr dirty="0">
              <a:solidFill>
                <a:schemeClr val="accent1"/>
              </a:solidFill>
            </a:endParaRPr>
          </a:p>
        </p:txBody>
      </p:sp>
      <p:sp>
        <p:nvSpPr>
          <p:cNvPr id="145" name="Google Shape;145;p4"/>
          <p:cNvSpPr txBox="1">
            <a:spLocks noGrp="1"/>
          </p:cNvSpPr>
          <p:nvPr>
            <p:ph type="body" idx="1"/>
          </p:nvPr>
        </p:nvSpPr>
        <p:spPr>
          <a:xfrm>
            <a:off x="476844" y="1508124"/>
            <a:ext cx="7375566" cy="4587875"/>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Electrical Tools</a:t>
            </a:r>
          </a:p>
          <a:p>
            <a:pPr>
              <a:spcAft>
                <a:spcPts val="600"/>
              </a:spcAft>
              <a:buSzPct val="100000"/>
            </a:pPr>
            <a:r>
              <a:rPr lang="en-US" sz="2400" dirty="0"/>
              <a:t>When using an electrically powered tool, make sure it is properly grounded. Check power cords for insulation cracks, as well as bare wires, before using it.</a:t>
            </a:r>
          </a:p>
          <a:p>
            <a:pPr>
              <a:spcAft>
                <a:spcPts val="600"/>
              </a:spcAft>
              <a:buSzPct val="100000"/>
            </a:pPr>
            <a:r>
              <a:rPr lang="en-US" sz="2400" dirty="0"/>
              <a:t>When using a bench or floor grinding wheel, check the machine and the grinding wheels for signs of damage before using them. If the wheels are damaged, they should be replaced before using the machine. Be sure to place all safety guards in position.</a:t>
            </a:r>
          </a:p>
        </p:txBody>
      </p:sp>
      <p:pic>
        <p:nvPicPr>
          <p:cNvPr id="7" name="Picture Placeholder 6" descr="A bench grinder consisting of a cylindrical motor and two grinding wheels on both sides of the motor. The grinding wheels are covered with wheel covers. Eye shields, guards, and tool rest are attached to the wheel covers."/>
          <p:cNvPicPr>
            <a:picLocks noGrp="1" noChangeAspect="1"/>
          </p:cNvPicPr>
          <p:nvPr>
            <p:ph type="pic" idx="2"/>
          </p:nvPr>
        </p:nvPicPr>
        <p:blipFill>
          <a:blip r:embed="rId3"/>
          <a:srcRect b="9411"/>
          <a:stretch/>
        </p:blipFill>
        <p:spPr>
          <a:xfrm>
            <a:off x="7987418" y="2345367"/>
            <a:ext cx="3905250" cy="2455233"/>
          </a:xfrm>
          <a:prstGeom prst="rect">
            <a:avLst/>
          </a:prstGeom>
        </p:spPr>
      </p:pic>
    </p:spTree>
    <p:extLst>
      <p:ext uri="{BB962C8B-B14F-4D97-AF65-F5344CB8AC3E}">
        <p14:creationId xmlns:p14="http://schemas.microsoft.com/office/powerpoint/2010/main" val="2086827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(4 of 12)</a:t>
            </a:r>
            <a:endParaRPr dirty="0">
              <a:solidFill>
                <a:schemeClr val="accent1"/>
              </a:solidFill>
            </a:endParaRPr>
          </a:p>
        </p:txBody>
      </p:sp>
      <p:sp>
        <p:nvSpPr>
          <p:cNvPr id="145" name="Google Shape;145;p4"/>
          <p:cNvSpPr txBox="1">
            <a:spLocks noGrp="1"/>
          </p:cNvSpPr>
          <p:nvPr>
            <p:ph type="body" idx="1"/>
          </p:nvPr>
        </p:nvSpPr>
        <p:spPr>
          <a:xfrm>
            <a:off x="476843" y="1517904"/>
            <a:ext cx="11241915" cy="4613339"/>
          </a:xfrm>
          <a:prstGeom prst="rect">
            <a:avLst/>
          </a:prstGeom>
          <a:noFill/>
          <a:ln>
            <a:noFill/>
          </a:ln>
        </p:spPr>
        <p:txBody>
          <a:bodyPr spcFirstLastPara="1" wrap="square" lIns="91425" tIns="45700" rIns="91425" bIns="45700" anchor="t" anchorCtr="0">
            <a:noAutofit/>
          </a:bodyPr>
          <a:lstStyle/>
          <a:p>
            <a:pPr>
              <a:spcAft>
                <a:spcPts val="400"/>
              </a:spcAft>
              <a:buSzPct val="100000"/>
            </a:pPr>
            <a:r>
              <a:rPr lang="en-US" sz="2400" dirty="0"/>
              <a:t>Compressed Air Tools</a:t>
            </a:r>
          </a:p>
          <a:p>
            <a:pPr>
              <a:spcAft>
                <a:spcPts val="400"/>
              </a:spcAft>
              <a:buSzPct val="100000"/>
            </a:pPr>
            <a:r>
              <a:rPr lang="en-US" sz="2400" dirty="0"/>
              <a:t>Tools that use compressed air are called pneumatic tools. Compressed air is used to inflate tires, apply paint, and drive tools, such as air ratchets and impact wrenches.</a:t>
            </a:r>
          </a:p>
          <a:p>
            <a:pPr>
              <a:spcAft>
                <a:spcPts val="400"/>
              </a:spcAft>
              <a:buSzPct val="100000"/>
            </a:pPr>
            <a:r>
              <a:rPr lang="en-US" sz="2400" dirty="0"/>
              <a:t>Before using a pneumatic tool, check all hose connections for leaks and the air line for damage.</a:t>
            </a:r>
          </a:p>
          <a:p>
            <a:pPr>
              <a:spcAft>
                <a:spcPts val="400"/>
              </a:spcAft>
              <a:buSzPct val="100000"/>
            </a:pPr>
            <a:r>
              <a:rPr lang="en-US" sz="2400" dirty="0"/>
              <a:t>When using an air nozzle, wear safety glasses and/or a face shield. Particles of dirt and pieces of metal, blown by the high-pressure air, can penetrate your skin or get into your eyes.</a:t>
            </a:r>
          </a:p>
          <a:p>
            <a:pPr>
              <a:spcAft>
                <a:spcPts val="400"/>
              </a:spcAft>
              <a:buSzPct val="100000"/>
            </a:pPr>
            <a:r>
              <a:rPr lang="en-US" sz="2400" dirty="0"/>
              <a:t>Never use compressed air to blow dirt from your clothes or hair or use compressed air to clean the floor or workbench.</a:t>
            </a:r>
          </a:p>
        </p:txBody>
      </p:sp>
    </p:spTree>
    <p:extLst>
      <p:ext uri="{BB962C8B-B14F-4D97-AF65-F5344CB8AC3E}">
        <p14:creationId xmlns:p14="http://schemas.microsoft.com/office/powerpoint/2010/main" val="609052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(5 of 12)</a:t>
            </a:r>
            <a:endParaRPr dirty="0">
              <a:solidFill>
                <a:schemeClr val="accent1"/>
              </a:solidFill>
            </a:endParaRPr>
          </a:p>
        </p:txBody>
      </p:sp>
      <p:pic>
        <p:nvPicPr>
          <p:cNvPr id="7" name="Picture Placeholder 6" descr="The typical lifting points for frame and unibody cars in two diagrams labeled (A) and (B). Diagram (A). The structure of the chassis with the frame not engaged to the front of the car. A drive-on lift is positioned on the wheels, a frame engaging lift on the front frame ends and the rear leaf spring ends, and a two-post suspension lift on the front coil springs and the top and bottom of the rear axle. A callout pointing from the rear axis reads, “Do not lift or support on the track bar.” Diagram (B). A single structure comprising the frame and the chassis. A drive-on lift is positioned on the wheels, a frame engaging lift on the front and rear leaf spring ends, and a two-post suspension lift on the front steering shaft end and the rear axle end.">
            <a:extLst>
              <a:ext uri="{FF2B5EF4-FFF2-40B4-BE49-F238E27FC236}">
                <a16:creationId xmlns:a16="http://schemas.microsoft.com/office/drawing/2014/main" id="{D598F2E1-5932-29C2-438D-7AED7856E77C}"/>
              </a:ext>
            </a:extLst>
          </p:cNvPr>
          <p:cNvPicPr>
            <a:picLocks noGrp="1" noChangeAspect="1"/>
          </p:cNvPicPr>
          <p:nvPr>
            <p:ph type="pic" idx="2"/>
          </p:nvPr>
        </p:nvPicPr>
        <p:blipFill>
          <a:blip r:embed="rId3"/>
          <a:srcRect b="10580"/>
          <a:stretch/>
        </p:blipFill>
        <p:spPr>
          <a:xfrm>
            <a:off x="1390600" y="1868632"/>
            <a:ext cx="3527550" cy="3856347"/>
          </a:xfrm>
          <a:prstGeom prst="rect">
            <a:avLst/>
          </a:prstGeom>
        </p:spPr>
      </p:pic>
      <p:sp>
        <p:nvSpPr>
          <p:cNvPr id="145" name="Google Shape;145;p4"/>
          <p:cNvSpPr txBox="1">
            <a:spLocks noGrp="1"/>
          </p:cNvSpPr>
          <p:nvPr>
            <p:ph type="body" idx="1"/>
          </p:nvPr>
        </p:nvSpPr>
        <p:spPr>
          <a:xfrm>
            <a:off x="5323163" y="1508124"/>
            <a:ext cx="6533557" cy="4577365"/>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Lift Safety</a:t>
            </a:r>
          </a:p>
          <a:p>
            <a:pPr lvl="1">
              <a:spcAft>
                <a:spcPts val="600"/>
              </a:spcAft>
              <a:buSzPct val="100000"/>
            </a:pPr>
            <a:r>
              <a:rPr lang="en-US" dirty="0"/>
              <a:t>Always be careful when raising a vehicle on a lift or a hoist.</a:t>
            </a:r>
          </a:p>
          <a:p>
            <a:pPr lvl="1">
              <a:spcAft>
                <a:spcPts val="600"/>
              </a:spcAft>
              <a:buSzPct val="100000"/>
            </a:pPr>
            <a:r>
              <a:rPr lang="en-US" dirty="0"/>
              <a:t>Adapters and hoist plates must be positioned correctly on lifts.</a:t>
            </a:r>
          </a:p>
          <a:p>
            <a:pPr lvl="1">
              <a:spcAft>
                <a:spcPts val="600"/>
              </a:spcAft>
              <a:buSzPct val="100000"/>
            </a:pPr>
            <a:r>
              <a:rPr lang="en-US" dirty="0"/>
              <a:t>There are specific lift points.</a:t>
            </a:r>
          </a:p>
          <a:p>
            <a:pPr lvl="1">
              <a:spcAft>
                <a:spcPts val="600"/>
              </a:spcAft>
              <a:buSzPct val="100000"/>
            </a:pPr>
            <a:r>
              <a:rPr lang="en-US" dirty="0"/>
              <a:t>These points allow the weight of the vehicle to be evenly supported by the adapters or hoist plates.</a:t>
            </a:r>
          </a:p>
        </p:txBody>
      </p:sp>
    </p:spTree>
    <p:extLst>
      <p:ext uri="{BB962C8B-B14F-4D97-AF65-F5344CB8AC3E}">
        <p14:creationId xmlns:p14="http://schemas.microsoft.com/office/powerpoint/2010/main" val="2387231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(6 of 12)</a:t>
            </a:r>
            <a:endParaRPr dirty="0">
              <a:solidFill>
                <a:schemeClr val="accent1"/>
              </a:solidFill>
            </a:endParaRPr>
          </a:p>
        </p:txBody>
      </p:sp>
      <p:sp>
        <p:nvSpPr>
          <p:cNvPr id="145" name="Google Shape;145;p4"/>
          <p:cNvSpPr txBox="1">
            <a:spLocks noGrp="1"/>
          </p:cNvSpPr>
          <p:nvPr>
            <p:ph type="body" idx="1"/>
          </p:nvPr>
        </p:nvSpPr>
        <p:spPr>
          <a:xfrm>
            <a:off x="476843" y="1508125"/>
            <a:ext cx="6659681" cy="4493282"/>
          </a:xfrm>
          <a:prstGeom prst="rect">
            <a:avLst/>
          </a:prstGeom>
          <a:noFill/>
          <a:ln>
            <a:noFill/>
          </a:ln>
        </p:spPr>
        <p:txBody>
          <a:bodyPr spcFirstLastPara="1" wrap="square" lIns="91425" tIns="45700" rIns="91425" bIns="45700" anchor="t" anchorCtr="0">
            <a:noAutofit/>
          </a:bodyPr>
          <a:lstStyle/>
          <a:p>
            <a:pPr>
              <a:spcAft>
                <a:spcPts val="400"/>
              </a:spcAft>
              <a:buSzPct val="100000"/>
            </a:pPr>
            <a:r>
              <a:rPr lang="en-US" sz="2400" dirty="0">
                <a:solidFill>
                  <a:schemeClr val="accent1"/>
                </a:solidFill>
              </a:rPr>
              <a:t>Jack and Jack Stand Safety</a:t>
            </a:r>
          </a:p>
          <a:p>
            <a:pPr>
              <a:spcAft>
                <a:spcPts val="400"/>
              </a:spcAft>
              <a:buSzPct val="100000"/>
            </a:pPr>
            <a:r>
              <a:rPr lang="en-US" sz="2400" dirty="0">
                <a:solidFill>
                  <a:schemeClr val="accent1"/>
                </a:solidFill>
              </a:rPr>
              <a:t>A vehicle can be raised by a hydraulic jack.</a:t>
            </a:r>
          </a:p>
          <a:p>
            <a:pPr>
              <a:spcAft>
                <a:spcPts val="400"/>
              </a:spcAft>
              <a:buSzPct val="100000"/>
            </a:pPr>
            <a:r>
              <a:rPr lang="en-US" sz="2400" dirty="0">
                <a:solidFill>
                  <a:schemeClr val="accent1"/>
                </a:solidFill>
              </a:rPr>
              <a:t>Always the manufacturer’s recommended lift points.</a:t>
            </a:r>
          </a:p>
          <a:p>
            <a:pPr>
              <a:spcAft>
                <a:spcPts val="400"/>
              </a:spcAft>
              <a:buSzPct val="100000"/>
            </a:pPr>
            <a:r>
              <a:rPr lang="en-US" sz="2400" dirty="0">
                <a:solidFill>
                  <a:schemeClr val="accent1"/>
                </a:solidFill>
              </a:rPr>
              <a:t>Safety stands, also called jack stand, are supports of various heights that sit on the floor and must be used.</a:t>
            </a:r>
          </a:p>
          <a:p>
            <a:pPr>
              <a:spcAft>
                <a:spcPts val="400"/>
              </a:spcAft>
              <a:buSzPct val="100000"/>
            </a:pPr>
            <a:r>
              <a:rPr lang="en-US" sz="2400" dirty="0">
                <a:solidFill>
                  <a:schemeClr val="accent1"/>
                </a:solidFill>
              </a:rPr>
              <a:t>Like jacks, jack stands also have a capacity rating. Always use a jack stand of the correct rating.</a:t>
            </a:r>
          </a:p>
        </p:txBody>
      </p:sp>
      <p:pic>
        <p:nvPicPr>
          <p:cNvPr id="7" name="Picture Placeholder 6" descr="A close-up view of a jack stand fitted to one of the wheels of a vehicle, beneath which a technician’s hand holds a large spanner.">
            <a:extLst>
              <a:ext uri="{FF2B5EF4-FFF2-40B4-BE49-F238E27FC236}">
                <a16:creationId xmlns:a16="http://schemas.microsoft.com/office/drawing/2014/main" id="{9ED05573-D5E5-9571-B222-A99B9AECBB26}"/>
              </a:ext>
            </a:extLst>
          </p:cNvPr>
          <p:cNvPicPr>
            <a:picLocks noGrp="1" noChangeAspect="1"/>
          </p:cNvPicPr>
          <p:nvPr>
            <p:ph type="pic" idx="2"/>
          </p:nvPr>
        </p:nvPicPr>
        <p:blipFill>
          <a:blip r:embed="rId3"/>
          <a:srcRect b="12770"/>
          <a:stretch/>
        </p:blipFill>
        <p:spPr>
          <a:xfrm>
            <a:off x="7381754" y="2279085"/>
            <a:ext cx="4333403" cy="2951362"/>
          </a:xfrm>
          <a:prstGeom prst="rect">
            <a:avLst/>
          </a:prstGeom>
        </p:spPr>
      </p:pic>
    </p:spTree>
    <p:extLst>
      <p:ext uri="{BB962C8B-B14F-4D97-AF65-F5344CB8AC3E}">
        <p14:creationId xmlns:p14="http://schemas.microsoft.com/office/powerpoint/2010/main" val="1070549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(7 of 12)</a:t>
            </a:r>
            <a:endParaRPr dirty="0">
              <a:solidFill>
                <a:schemeClr val="accent1"/>
              </a:solidFill>
            </a:endParaRPr>
          </a:p>
        </p:txBody>
      </p:sp>
      <p:sp>
        <p:nvSpPr>
          <p:cNvPr id="145" name="Google Shape;145;p4"/>
          <p:cNvSpPr txBox="1">
            <a:spLocks noGrp="1"/>
          </p:cNvSpPr>
          <p:nvPr>
            <p:ph type="body" idx="1"/>
          </p:nvPr>
        </p:nvSpPr>
        <p:spPr>
          <a:xfrm>
            <a:off x="476843" y="1508125"/>
            <a:ext cx="6941227" cy="461940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solidFill>
                  <a:schemeClr val="accent1"/>
                </a:solidFill>
              </a:rPr>
              <a:t>Cleaning Equipment Safety</a:t>
            </a:r>
          </a:p>
          <a:p>
            <a:pPr lvl="1">
              <a:spcAft>
                <a:spcPts val="600"/>
              </a:spcAft>
              <a:buSzPct val="100000"/>
            </a:pPr>
            <a:r>
              <a:rPr lang="en-US" dirty="0">
                <a:solidFill>
                  <a:schemeClr val="accent1"/>
                </a:solidFill>
              </a:rPr>
              <a:t>Cleaning automotive parts can be divided into three basic categories.</a:t>
            </a:r>
          </a:p>
          <a:p>
            <a:pPr lvl="2">
              <a:spcAft>
                <a:spcPts val="600"/>
              </a:spcAft>
              <a:buSzPct val="100000"/>
            </a:pPr>
            <a:r>
              <a:rPr lang="en-US" b="1" dirty="0">
                <a:solidFill>
                  <a:schemeClr val="accent1"/>
                </a:solidFill>
              </a:rPr>
              <a:t>Chemical cleaning </a:t>
            </a:r>
            <a:r>
              <a:rPr lang="en-US" dirty="0">
                <a:solidFill>
                  <a:schemeClr val="accent1"/>
                </a:solidFill>
              </a:rPr>
              <a:t>relies on chemical action to remove dirt, grease, scale, paint, or rust.</a:t>
            </a:r>
          </a:p>
          <a:p>
            <a:pPr lvl="2">
              <a:spcAft>
                <a:spcPts val="600"/>
              </a:spcAft>
              <a:buSzPct val="100000"/>
            </a:pPr>
            <a:r>
              <a:rPr lang="en-US" b="1" dirty="0">
                <a:solidFill>
                  <a:schemeClr val="accent1"/>
                </a:solidFill>
              </a:rPr>
              <a:t>Thermal cleaning </a:t>
            </a:r>
            <a:r>
              <a:rPr lang="en-US" dirty="0">
                <a:solidFill>
                  <a:schemeClr val="accent1"/>
                </a:solidFill>
              </a:rPr>
              <a:t>relies on heat, which bakes off or oxidizes the dirt.</a:t>
            </a:r>
          </a:p>
          <a:p>
            <a:pPr lvl="2">
              <a:spcAft>
                <a:spcPts val="600"/>
              </a:spcAft>
              <a:buSzPct val="100000"/>
            </a:pPr>
            <a:r>
              <a:rPr lang="en-US" b="1" dirty="0">
                <a:solidFill>
                  <a:schemeClr val="accent1"/>
                </a:solidFill>
              </a:rPr>
              <a:t>Abrasive cleaning </a:t>
            </a:r>
            <a:r>
              <a:rPr lang="en-US" dirty="0">
                <a:solidFill>
                  <a:schemeClr val="accent1"/>
                </a:solidFill>
              </a:rPr>
              <a:t>relies on physical abrasion to clean the surface.</a:t>
            </a:r>
          </a:p>
        </p:txBody>
      </p:sp>
      <p:pic>
        <p:nvPicPr>
          <p:cNvPr id="7" name="Picture Placeholder 6" descr="A parts washer, utilizing an aqueous solvent mounted against a rigid wall.">
            <a:extLst>
              <a:ext uri="{FF2B5EF4-FFF2-40B4-BE49-F238E27FC236}">
                <a16:creationId xmlns:a16="http://schemas.microsoft.com/office/drawing/2014/main" id="{7C38ED3A-7617-CC39-CD9E-7B6B5AA27A10}"/>
              </a:ext>
            </a:extLst>
          </p:cNvPr>
          <p:cNvPicPr>
            <a:picLocks noGrp="1" noChangeAspect="1"/>
          </p:cNvPicPr>
          <p:nvPr>
            <p:ph type="pic" idx="2"/>
          </p:nvPr>
        </p:nvPicPr>
        <p:blipFill>
          <a:blip r:embed="rId3"/>
          <a:srcRect b="8178"/>
          <a:stretch/>
        </p:blipFill>
        <p:spPr>
          <a:xfrm>
            <a:off x="7358196" y="1791980"/>
            <a:ext cx="4320390" cy="3274041"/>
          </a:xfrm>
          <a:prstGeom prst="rect">
            <a:avLst/>
          </a:prstGeom>
        </p:spPr>
      </p:pic>
    </p:spTree>
    <p:extLst>
      <p:ext uri="{BB962C8B-B14F-4D97-AF65-F5344CB8AC3E}">
        <p14:creationId xmlns:p14="http://schemas.microsoft.com/office/powerpoint/2010/main" val="2898755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solidFill>
                  <a:schemeClr val="accent1"/>
                </a:solidFill>
              </a:rPr>
              <a:t>Tool Safety and Equipment (8 of 12)</a:t>
            </a:r>
            <a:endParaRPr dirty="0">
              <a:solidFill>
                <a:schemeClr val="accent1"/>
              </a:solidFill>
            </a:endParaRPr>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t>Vehicle Operation</a:t>
            </a:r>
          </a:p>
          <a:p>
            <a:pPr>
              <a:spcAft>
                <a:spcPts val="600"/>
              </a:spcAft>
              <a:buSzPct val="100000"/>
            </a:pPr>
            <a:r>
              <a:rPr lang="en-US" sz="2000" dirty="0"/>
              <a:t>When a customer brings a vehicle in for service, it is expected that it will be returned at least as clean as when it was brought in, if not even cleaner.</a:t>
            </a:r>
          </a:p>
          <a:p>
            <a:pPr>
              <a:spcAft>
                <a:spcPts val="600"/>
              </a:spcAft>
              <a:buSzPct val="100000"/>
            </a:pPr>
            <a:r>
              <a:rPr lang="en-US" sz="2000" dirty="0"/>
              <a:t>As part of your job, you will be required to drive vehicles in and around the shop, and out on the road for test drives. This means certain driving rules should be followed to ensure your safety and the safety of those around you.</a:t>
            </a:r>
          </a:p>
          <a:p>
            <a:pPr>
              <a:spcAft>
                <a:spcPts val="600"/>
              </a:spcAft>
              <a:buSzPct val="100000"/>
            </a:pPr>
            <a:r>
              <a:rPr lang="en-US" sz="2000" dirty="0"/>
              <a:t>Make sure no one is near, the way is clear, and there are no tools or parts under the car before you start the engine. Check the brakes before putting the vehicle in gear. Then, drive slowly and carefully in and around the shop. When approaching blind spots or driving through garage doors, sound the horn to let others know that a vehicle is approaching.</a:t>
            </a:r>
          </a:p>
          <a:p>
            <a:pPr>
              <a:spcAft>
                <a:spcPts val="600"/>
              </a:spcAft>
              <a:buSzPct val="100000"/>
            </a:pPr>
            <a:r>
              <a:rPr lang="en-US" sz="2000" dirty="0"/>
              <a:t>When road testing the car, obey all traffic laws and drive carefully.</a:t>
            </a:r>
          </a:p>
        </p:txBody>
      </p:sp>
    </p:spTree>
    <p:extLst>
      <p:ext uri="{BB962C8B-B14F-4D97-AF65-F5344CB8AC3E}">
        <p14:creationId xmlns:p14="http://schemas.microsoft.com/office/powerpoint/2010/main" val="993840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Tool Safety and Equipment (9 of 12)</a:t>
            </a:r>
            <a:endParaRPr dirty="0"/>
          </a:p>
        </p:txBody>
      </p:sp>
      <p:sp>
        <p:nvSpPr>
          <p:cNvPr id="145" name="Google Shape;145;p4"/>
          <p:cNvSpPr txBox="1">
            <a:spLocks noGrp="1"/>
          </p:cNvSpPr>
          <p:nvPr>
            <p:ph type="body" idx="1"/>
          </p:nvPr>
        </p:nvSpPr>
        <p:spPr>
          <a:xfrm>
            <a:off x="476843" y="1508124"/>
            <a:ext cx="7216729" cy="4587875"/>
          </a:xfrm>
          <a:prstGeom prst="rect">
            <a:avLst/>
          </a:prstGeom>
          <a:noFill/>
          <a:ln>
            <a:noFill/>
          </a:ln>
        </p:spPr>
        <p:txBody>
          <a:bodyPr spcFirstLastPara="1" wrap="square" lIns="91425" tIns="45700" rIns="91425" bIns="45700" anchor="t" anchorCtr="0">
            <a:noAutofit/>
          </a:bodyPr>
          <a:lstStyle/>
          <a:p>
            <a:pPr>
              <a:spcAft>
                <a:spcPts val="400"/>
              </a:spcAft>
              <a:buSzPct val="100000"/>
            </a:pPr>
            <a:r>
              <a:rPr lang="en-US" dirty="0"/>
              <a:t>Venting the Engine’s Exhaust</a:t>
            </a:r>
          </a:p>
          <a:p>
            <a:pPr lvl="1">
              <a:spcAft>
                <a:spcPts val="400"/>
              </a:spcAft>
              <a:buSzPct val="100000"/>
            </a:pPr>
            <a:r>
              <a:rPr lang="en-US" dirty="0"/>
              <a:t>Whenever you need to have the engine running for diagnosis or service, the engine’s exhaust must be vented to the outside.</a:t>
            </a:r>
          </a:p>
          <a:p>
            <a:pPr lvl="1">
              <a:spcAft>
                <a:spcPts val="400"/>
              </a:spcAft>
              <a:buSzPct val="100000"/>
            </a:pPr>
            <a:r>
              <a:rPr lang="en-US" dirty="0"/>
              <a:t>Carbon monoxide (CO) is present in the exhaust.</a:t>
            </a:r>
          </a:p>
          <a:p>
            <a:pPr lvl="2">
              <a:spcAft>
                <a:spcPts val="400"/>
              </a:spcAft>
              <a:buSzPct val="100000"/>
            </a:pPr>
            <a:r>
              <a:rPr lang="en-US" dirty="0"/>
              <a:t>CO is an odorless, tasteless, and colorless deadly gas.</a:t>
            </a:r>
          </a:p>
          <a:p>
            <a:pPr lvl="1">
              <a:spcAft>
                <a:spcPts val="400"/>
              </a:spcAft>
              <a:buSzPct val="100000"/>
            </a:pPr>
            <a:r>
              <a:rPr lang="en-US" dirty="0"/>
              <a:t>Most shops have an exhaust ventilation system.</a:t>
            </a:r>
          </a:p>
        </p:txBody>
      </p:sp>
      <p:pic>
        <p:nvPicPr>
          <p:cNvPr id="7" name="Picture Placeholder 6" descr="A wheel and a small portion of the bottom of a vehicle from where the exhaust is let on the floor.">
            <a:extLst>
              <a:ext uri="{FF2B5EF4-FFF2-40B4-BE49-F238E27FC236}">
                <a16:creationId xmlns:a16="http://schemas.microsoft.com/office/drawing/2014/main" id="{D2340C98-F9D8-76FD-6607-DBF9B62DF82C}"/>
              </a:ext>
            </a:extLst>
          </p:cNvPr>
          <p:cNvPicPr>
            <a:picLocks noGrp="1" noChangeAspect="1"/>
          </p:cNvPicPr>
          <p:nvPr>
            <p:ph type="pic" idx="2"/>
          </p:nvPr>
        </p:nvPicPr>
        <p:blipFill>
          <a:blip r:embed="rId3"/>
          <a:srcRect b="19738"/>
          <a:stretch/>
        </p:blipFill>
        <p:spPr>
          <a:xfrm>
            <a:off x="7584938" y="2177822"/>
            <a:ext cx="4326896" cy="2851378"/>
          </a:xfrm>
          <a:prstGeom prst="rect">
            <a:avLst/>
          </a:prstGeom>
        </p:spPr>
      </p:pic>
    </p:spTree>
    <p:extLst>
      <p:ext uri="{BB962C8B-B14F-4D97-AF65-F5344CB8AC3E}">
        <p14:creationId xmlns:p14="http://schemas.microsoft.com/office/powerpoint/2010/main" val="2043786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lgn="l" rtl="0">
              <a:lnSpc>
                <a:spcPct val="100000"/>
              </a:lnSpc>
              <a:spcAft>
                <a:spcPts val="600"/>
              </a:spcAft>
              <a:buSzPct val="100000"/>
              <a:buChar char="•"/>
            </a:pPr>
            <a:r>
              <a:rPr lang="en-US" dirty="0"/>
              <a:t>You have learned much about how to operate a vehicle in the shop and on a road test.</a:t>
            </a:r>
            <a:endParaRPr dirty="0"/>
          </a:p>
          <a:p>
            <a:pPr marL="357188" lvl="0" indent="-357188" algn="l" rtl="0">
              <a:lnSpc>
                <a:spcPct val="100000"/>
              </a:lnSpc>
              <a:spcAft>
                <a:spcPts val="600"/>
              </a:spcAft>
              <a:buSzPct val="100000"/>
              <a:buChar char="•"/>
            </a:pPr>
            <a:r>
              <a:rPr lang="en-US" dirty="0"/>
              <a:t>Have a class discussion while providing several examples of how you can be as safe as possible, and examples of how things could go wrong. </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Tool Safety and Equipment (10 of 12)</a:t>
            </a:r>
            <a:endParaRPr dirty="0"/>
          </a:p>
        </p:txBody>
      </p:sp>
      <p:sp>
        <p:nvSpPr>
          <p:cNvPr id="145" name="Google Shape;145;p4"/>
          <p:cNvSpPr txBox="1">
            <a:spLocks noGrp="1"/>
          </p:cNvSpPr>
          <p:nvPr>
            <p:ph type="body" idx="1"/>
          </p:nvPr>
        </p:nvSpPr>
        <p:spPr>
          <a:xfrm>
            <a:off x="476843" y="1508125"/>
            <a:ext cx="7395405" cy="4503792"/>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Electrical Safety</a:t>
            </a:r>
          </a:p>
          <a:p>
            <a:pPr>
              <a:spcAft>
                <a:spcPts val="600"/>
              </a:spcAft>
              <a:buSzPct val="100000"/>
            </a:pPr>
            <a:r>
              <a:rPr lang="en-US" sz="2400" dirty="0"/>
              <a:t>To prevent personal injury or damage to the vehicle, you should always take the necessary precautions before working on or around a vehicle’s electrical system.</a:t>
            </a:r>
          </a:p>
          <a:p>
            <a:pPr>
              <a:spcAft>
                <a:spcPts val="600"/>
              </a:spcAft>
              <a:buSzPct val="100000"/>
            </a:pPr>
            <a:r>
              <a:rPr lang="en-US" sz="2400" dirty="0"/>
              <a:t>Disconnect the negative or ground cable first, then disconnect the positive cable. Because electrical circuits require a ground to be complete, by removing the ground cable you eliminate the possibility of a circuit accidentally becoming completed.</a:t>
            </a:r>
          </a:p>
        </p:txBody>
      </p:sp>
      <p:pic>
        <p:nvPicPr>
          <p:cNvPr id="7" name="Picture Placeholder 6" descr="A close-up view of the battery of a vehicle whose negative lead is disconnected by a technician using a wrench and diagonal pliers.">
            <a:extLst>
              <a:ext uri="{FF2B5EF4-FFF2-40B4-BE49-F238E27FC236}">
                <a16:creationId xmlns:a16="http://schemas.microsoft.com/office/drawing/2014/main" id="{9A1F1750-6B54-0FA7-AD34-8618FA6C713B}"/>
              </a:ext>
            </a:extLst>
          </p:cNvPr>
          <p:cNvPicPr>
            <a:picLocks noGrp="1" noChangeAspect="1"/>
          </p:cNvPicPr>
          <p:nvPr>
            <p:ph type="pic" idx="2"/>
          </p:nvPr>
        </p:nvPicPr>
        <p:blipFill>
          <a:blip r:embed="rId3"/>
          <a:srcRect b="17412"/>
          <a:stretch/>
        </p:blipFill>
        <p:spPr>
          <a:xfrm>
            <a:off x="7874677" y="2189086"/>
            <a:ext cx="4023360" cy="2868690"/>
          </a:xfrm>
          <a:prstGeom prst="rect">
            <a:avLst/>
          </a:prstGeom>
        </p:spPr>
      </p:pic>
    </p:spTree>
    <p:extLst>
      <p:ext uri="{BB962C8B-B14F-4D97-AF65-F5344CB8AC3E}">
        <p14:creationId xmlns:p14="http://schemas.microsoft.com/office/powerpoint/2010/main" val="391125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Tool Safety and Equipment (11 of 12)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Battery Precautions</a:t>
            </a:r>
          </a:p>
          <a:p>
            <a:pPr lvl="1">
              <a:spcAft>
                <a:spcPts val="600"/>
              </a:spcAft>
              <a:buSzPct val="100000"/>
            </a:pPr>
            <a:r>
              <a:rPr lang="en-US" dirty="0"/>
              <a:t>Here are some of the general precautions for batteries.</a:t>
            </a:r>
          </a:p>
          <a:p>
            <a:pPr lvl="2">
              <a:spcAft>
                <a:spcPts val="600"/>
              </a:spcAft>
              <a:buSzPct val="100000"/>
            </a:pPr>
            <a:r>
              <a:rPr lang="en-US" dirty="0"/>
              <a:t>Make sure you are wearing safety glasses (preferably a face shield) and protective clothing when working around and with batteries.</a:t>
            </a:r>
          </a:p>
          <a:p>
            <a:pPr lvl="2">
              <a:spcAft>
                <a:spcPts val="600"/>
              </a:spcAft>
              <a:buSzPct val="100000"/>
            </a:pPr>
            <a:r>
              <a:rPr lang="en-US" dirty="0"/>
              <a:t>Keep all flames, sparks, and excessive heat away from the battery at all times, especially when it is being charged.</a:t>
            </a:r>
          </a:p>
          <a:p>
            <a:pPr lvl="2">
              <a:spcAft>
                <a:spcPts val="600"/>
              </a:spcAft>
              <a:buSzPct val="100000"/>
            </a:pPr>
            <a:r>
              <a:rPr lang="en-US" dirty="0"/>
              <a:t>Never lay metal tools or other objects on the battery because a short circuit across the terminals can result.</a:t>
            </a:r>
          </a:p>
          <a:p>
            <a:pPr lvl="2">
              <a:spcAft>
                <a:spcPts val="600"/>
              </a:spcAft>
              <a:buSzPct val="100000"/>
            </a:pPr>
            <a:r>
              <a:rPr lang="en-US" dirty="0"/>
              <a:t>Always charge a battery in well-ventilated areas.</a:t>
            </a:r>
          </a:p>
        </p:txBody>
      </p:sp>
    </p:spTree>
    <p:extLst>
      <p:ext uri="{BB962C8B-B14F-4D97-AF65-F5344CB8AC3E}">
        <p14:creationId xmlns:p14="http://schemas.microsoft.com/office/powerpoint/2010/main" val="1137477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Tool Safety and Equipment (12 of 12)</a:t>
            </a:r>
            <a:endParaRPr dirty="0"/>
          </a:p>
        </p:txBody>
      </p:sp>
      <p:sp>
        <p:nvSpPr>
          <p:cNvPr id="145" name="Google Shape;145;p4"/>
          <p:cNvSpPr txBox="1">
            <a:spLocks noGrp="1"/>
          </p:cNvSpPr>
          <p:nvPr>
            <p:ph type="body" idx="1"/>
          </p:nvPr>
        </p:nvSpPr>
        <p:spPr>
          <a:xfrm>
            <a:off x="476844" y="1508124"/>
            <a:ext cx="7375566" cy="4472261"/>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600" dirty="0"/>
              <a:t>High-Voltage Systems</a:t>
            </a:r>
          </a:p>
          <a:p>
            <a:pPr>
              <a:spcAft>
                <a:spcPts val="600"/>
              </a:spcAft>
              <a:buSzPct val="100000"/>
            </a:pPr>
            <a:r>
              <a:rPr lang="en-US" sz="2600" dirty="0"/>
              <a:t>Electric drive vehicles (battery-operated, hybrid, and fuel cell electric vehicles) have high-voltage electrical systems (from 42 volts to 800 volts).</a:t>
            </a:r>
          </a:p>
          <a:p>
            <a:pPr>
              <a:spcAft>
                <a:spcPts val="600"/>
              </a:spcAft>
              <a:buSzPct val="100000"/>
            </a:pPr>
            <a:r>
              <a:rPr lang="en-US" sz="2600" dirty="0"/>
              <a:t>These high voltages can kill you! Fortunately, most high-voltage circuits are identifiable by size and color. The cables have thicker insulation and are typically colored orange.</a:t>
            </a:r>
          </a:p>
        </p:txBody>
      </p:sp>
      <p:pic>
        <p:nvPicPr>
          <p:cNvPr id="7" name="Picture Placeholder 6" descr="Several high-voltage cables, colored orange, are mounted in the casing.">
            <a:extLst>
              <a:ext uri="{FF2B5EF4-FFF2-40B4-BE49-F238E27FC236}">
                <a16:creationId xmlns:a16="http://schemas.microsoft.com/office/drawing/2014/main" id="{D13279F1-4C5E-86B5-5F72-077E5F7B44CD}"/>
              </a:ext>
            </a:extLst>
          </p:cNvPr>
          <p:cNvPicPr>
            <a:picLocks noGrp="1" noChangeAspect="1"/>
          </p:cNvPicPr>
          <p:nvPr>
            <p:ph type="pic" idx="2"/>
          </p:nvPr>
        </p:nvPicPr>
        <p:blipFill>
          <a:blip r:embed="rId3"/>
          <a:srcRect b="15149"/>
          <a:stretch/>
        </p:blipFill>
        <p:spPr>
          <a:xfrm>
            <a:off x="7685087" y="1936797"/>
            <a:ext cx="4287856" cy="3235278"/>
          </a:xfrm>
          <a:prstGeom prst="rect">
            <a:avLst/>
          </a:prstGeom>
        </p:spPr>
      </p:pic>
    </p:spTree>
    <p:extLst>
      <p:ext uri="{BB962C8B-B14F-4D97-AF65-F5344CB8AC3E}">
        <p14:creationId xmlns:p14="http://schemas.microsoft.com/office/powerpoint/2010/main" val="7521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lgn="ctr">
              <a:buNone/>
            </a:pPr>
            <a:r>
              <a:rPr lang="en-US" sz="2600" dirty="0">
                <a:solidFill>
                  <a:schemeClr val="accent1"/>
                </a:solidFill>
              </a:rPr>
              <a:t>What color are high-voltage wires and connectors found on hybrid and electric vehicles?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317" name="Google Shape;3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lgn="ctr">
              <a:spcAft>
                <a:spcPts val="2400"/>
              </a:spcAft>
              <a:buNone/>
            </a:pPr>
            <a:r>
              <a:rPr lang="en-US" sz="2600" dirty="0">
                <a:solidFill>
                  <a:schemeClr val="accent1"/>
                </a:solidFill>
              </a:rPr>
              <a:t>What color are high-voltage wires and connectors found on hybrid and electric vehicles?</a:t>
            </a:r>
          </a:p>
          <a:p>
            <a:pPr marL="0" lvl="1" indent="0" algn="ctr">
              <a:buNone/>
            </a:pPr>
            <a:r>
              <a:rPr lang="en-US" sz="2600" b="1" dirty="0">
                <a:solidFill>
                  <a:schemeClr val="accent1"/>
                </a:solidFill>
              </a:rPr>
              <a:t>Answer</a:t>
            </a:r>
            <a:r>
              <a:rPr lang="en-US" sz="2600" dirty="0">
                <a:solidFill>
                  <a:schemeClr val="accent1"/>
                </a:solidFill>
              </a:rPr>
              <a:t>: Orange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Work Area Safety </a:t>
            </a:r>
            <a:r>
              <a:rPr lang="en-US" dirty="0"/>
              <a:t>(1 of 5)</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300"/>
              </a:spcAft>
              <a:buNone/>
            </a:pPr>
            <a:r>
              <a:rPr lang="en-US" sz="2200" b="1" dirty="0">
                <a:solidFill>
                  <a:schemeClr val="accent1"/>
                </a:solidFill>
              </a:rPr>
              <a:t>07.04 Understand the importance of safety and accident prevention in an automotive shop.</a:t>
            </a:r>
          </a:p>
          <a:p>
            <a:pPr>
              <a:spcAft>
                <a:spcPts val="300"/>
              </a:spcAft>
              <a:buSzPct val="100000"/>
            </a:pPr>
            <a:r>
              <a:rPr lang="en-US" sz="2200" dirty="0">
                <a:solidFill>
                  <a:schemeClr val="accent1"/>
                </a:solidFill>
              </a:rPr>
              <a:t>The floor of your work area and bench tops should be kept clean, dry, and orderly.</a:t>
            </a:r>
          </a:p>
          <a:p>
            <a:pPr>
              <a:spcAft>
                <a:spcPts val="300"/>
              </a:spcAft>
              <a:buSzPct val="100000"/>
            </a:pPr>
            <a:r>
              <a:rPr lang="en-US" sz="2200" dirty="0">
                <a:solidFill>
                  <a:schemeClr val="accent1"/>
                </a:solidFill>
              </a:rPr>
              <a:t>Keep all water off the floor. Water is slippery on smooth floors, and electricity flows well through water.</a:t>
            </a:r>
          </a:p>
          <a:p>
            <a:pPr>
              <a:spcAft>
                <a:spcPts val="300"/>
              </a:spcAft>
              <a:buSzPct val="100000"/>
            </a:pPr>
            <a:r>
              <a:rPr lang="en-US" sz="2200" dirty="0">
                <a:solidFill>
                  <a:schemeClr val="accent1"/>
                </a:solidFill>
              </a:rPr>
              <a:t>Aisles and walkways should be kept clean and wide enough to easily move through.</a:t>
            </a:r>
          </a:p>
          <a:p>
            <a:pPr>
              <a:spcAft>
                <a:spcPts val="300"/>
              </a:spcAft>
              <a:buSzPct val="100000"/>
            </a:pPr>
            <a:r>
              <a:rPr lang="en-US" sz="2200" dirty="0">
                <a:solidFill>
                  <a:schemeClr val="accent1"/>
                </a:solidFill>
              </a:rPr>
              <a:t>Make sure the work areas around machines are large enough to safely operate the machine.</a:t>
            </a:r>
          </a:p>
          <a:p>
            <a:pPr>
              <a:spcAft>
                <a:spcPts val="300"/>
              </a:spcAft>
              <a:buSzPct val="100000"/>
            </a:pPr>
            <a:r>
              <a:rPr lang="en-US" sz="2200" dirty="0">
                <a:solidFill>
                  <a:schemeClr val="accent1"/>
                </a:solidFill>
              </a:rPr>
              <a:t>Keep a list of emergency telephone numbers clearly posted.</a:t>
            </a:r>
          </a:p>
        </p:txBody>
      </p:sp>
    </p:spTree>
    <p:extLst>
      <p:ext uri="{BB962C8B-B14F-4D97-AF65-F5344CB8AC3E}">
        <p14:creationId xmlns:p14="http://schemas.microsoft.com/office/powerpoint/2010/main" val="756070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Work Area Safety </a:t>
            </a:r>
            <a:r>
              <a:rPr lang="en-US" dirty="0"/>
              <a:t>(2 of 5)</a:t>
            </a:r>
            <a:endParaRPr dirty="0"/>
          </a:p>
        </p:txBody>
      </p:sp>
      <p:sp>
        <p:nvSpPr>
          <p:cNvPr id="145" name="Google Shape;145;p4"/>
          <p:cNvSpPr txBox="1">
            <a:spLocks noGrp="1"/>
          </p:cNvSpPr>
          <p:nvPr>
            <p:ph type="body" idx="1"/>
          </p:nvPr>
        </p:nvSpPr>
        <p:spPr>
          <a:xfrm>
            <a:off x="476844" y="1508124"/>
            <a:ext cx="7699594" cy="4541801"/>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Fire Hazards and Prevention</a:t>
            </a:r>
          </a:p>
          <a:p>
            <a:pPr>
              <a:spcAft>
                <a:spcPts val="600"/>
              </a:spcAft>
              <a:buSzPct val="100000"/>
            </a:pPr>
            <a:r>
              <a:rPr lang="en-US" sz="2200" dirty="0"/>
              <a:t>Something that is flammable catches fire and burns easily.</a:t>
            </a:r>
          </a:p>
          <a:p>
            <a:pPr>
              <a:spcAft>
                <a:spcPts val="600"/>
              </a:spcAft>
              <a:buSzPct val="100000"/>
            </a:pPr>
            <a:r>
              <a:rPr lang="en-US" sz="2200" dirty="0"/>
              <a:t>A volatile liquid is one that vaporizes very quickly.</a:t>
            </a:r>
          </a:p>
          <a:p>
            <a:pPr>
              <a:spcAft>
                <a:spcPts val="600"/>
              </a:spcAft>
              <a:buSzPct val="100000"/>
            </a:pPr>
            <a:r>
              <a:rPr lang="en-US" sz="2200" dirty="0"/>
              <a:t>Flammable volatile liquids are potential fire bombs. Always keep gasoline, ethanol, or diesel fuel in an approved safety can, and never use gasoline to clean your hands or tools.</a:t>
            </a:r>
          </a:p>
          <a:p>
            <a:pPr>
              <a:spcAft>
                <a:spcPts val="600"/>
              </a:spcAft>
              <a:buSzPct val="100000"/>
            </a:pPr>
            <a:r>
              <a:rPr lang="en-US" sz="2200" dirty="0"/>
              <a:t>A slight spark or an increase in heat can cause a fire or explosion.</a:t>
            </a:r>
          </a:p>
        </p:txBody>
      </p:sp>
      <p:pic>
        <p:nvPicPr>
          <p:cNvPr id="7" name="Picture Placeholder 6" descr="A close-up view of an Inapa safety can with the text Danger Extremely Flammable – Vapors Can Explode; Harmful OR Fatal If Swallowed.">
            <a:extLst>
              <a:ext uri="{FF2B5EF4-FFF2-40B4-BE49-F238E27FC236}">
                <a16:creationId xmlns:a16="http://schemas.microsoft.com/office/drawing/2014/main" id="{A7D6C25A-6E3C-928E-FDD4-9476AFBE118E}"/>
              </a:ext>
            </a:extLst>
          </p:cNvPr>
          <p:cNvPicPr>
            <a:picLocks noGrp="1" noChangeAspect="1"/>
          </p:cNvPicPr>
          <p:nvPr>
            <p:ph type="pic" idx="2"/>
          </p:nvPr>
        </p:nvPicPr>
        <p:blipFill>
          <a:blip r:embed="rId3"/>
          <a:srcRect b="10682"/>
          <a:stretch/>
        </p:blipFill>
        <p:spPr>
          <a:xfrm>
            <a:off x="8424210" y="1783017"/>
            <a:ext cx="3290947" cy="3741484"/>
          </a:xfrm>
          <a:prstGeom prst="rect">
            <a:avLst/>
          </a:prstGeom>
        </p:spPr>
      </p:pic>
    </p:spTree>
    <p:extLst>
      <p:ext uri="{BB962C8B-B14F-4D97-AF65-F5344CB8AC3E}">
        <p14:creationId xmlns:p14="http://schemas.microsoft.com/office/powerpoint/2010/main" val="3288547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Work Area Safety </a:t>
            </a:r>
            <a:r>
              <a:rPr lang="en-US" dirty="0"/>
              <a:t>(3 of 5)</a:t>
            </a:r>
            <a:endParaRPr dirty="0"/>
          </a:p>
        </p:txBody>
      </p:sp>
      <p:sp>
        <p:nvSpPr>
          <p:cNvPr id="145" name="Google Shape;145;p4"/>
          <p:cNvSpPr txBox="1">
            <a:spLocks noGrp="1"/>
          </p:cNvSpPr>
          <p:nvPr>
            <p:ph type="body" idx="1"/>
          </p:nvPr>
        </p:nvSpPr>
        <p:spPr>
          <a:xfrm>
            <a:off x="476843" y="1552194"/>
            <a:ext cx="11241915" cy="4613339"/>
          </a:xfrm>
          <a:prstGeom prst="rect">
            <a:avLst/>
          </a:prstGeom>
          <a:noFill/>
          <a:ln>
            <a:noFill/>
          </a:ln>
        </p:spPr>
        <p:txBody>
          <a:bodyPr spcFirstLastPara="1" wrap="square" lIns="91425" tIns="45700" rIns="91425" bIns="45700" anchor="t" anchorCtr="0">
            <a:noAutofit/>
          </a:bodyPr>
          <a:lstStyle/>
          <a:p>
            <a:pPr>
              <a:spcAft>
                <a:spcPts val="400"/>
              </a:spcAft>
              <a:buSzPct val="100000"/>
            </a:pPr>
            <a:r>
              <a:rPr lang="en-US" sz="2200" dirty="0"/>
              <a:t>Ethanol</a:t>
            </a:r>
          </a:p>
          <a:p>
            <a:pPr lvl="1">
              <a:spcAft>
                <a:spcPts val="400"/>
              </a:spcAft>
              <a:buSzPct val="100000"/>
            </a:pPr>
            <a:r>
              <a:rPr lang="en-US" sz="2000" dirty="0"/>
              <a:t>Ethanol is a non-petroleum-based fuel and is used as an alternative fuel to gasoline. It is very volatile.</a:t>
            </a:r>
            <a:endParaRPr lang="en-US" sz="2200" dirty="0"/>
          </a:p>
          <a:p>
            <a:pPr>
              <a:spcAft>
                <a:spcPts val="400"/>
              </a:spcAft>
              <a:buSzPct val="100000"/>
            </a:pPr>
            <a:r>
              <a:rPr lang="en-US" sz="2200" dirty="0"/>
              <a:t>Diesel Fuel</a:t>
            </a:r>
          </a:p>
          <a:p>
            <a:pPr lvl="1">
              <a:spcAft>
                <a:spcPts val="400"/>
              </a:spcAft>
              <a:buSzPct val="100000"/>
            </a:pPr>
            <a:r>
              <a:rPr lang="en-US" sz="2000" dirty="0"/>
              <a:t>Diesel fuel is not as volatile as gasoline but should be stored and handled in the same way.</a:t>
            </a:r>
          </a:p>
          <a:p>
            <a:pPr>
              <a:spcAft>
                <a:spcPts val="400"/>
              </a:spcAft>
              <a:buSzPct val="100000"/>
            </a:pPr>
            <a:r>
              <a:rPr lang="en-US" sz="2200" dirty="0"/>
              <a:t>Solvents</a:t>
            </a:r>
          </a:p>
          <a:p>
            <a:pPr lvl="1">
              <a:spcAft>
                <a:spcPts val="400"/>
              </a:spcAft>
              <a:buSzPct val="100000"/>
            </a:pPr>
            <a:r>
              <a:rPr lang="en-US" sz="2000" dirty="0"/>
              <a:t>Solvent and other combustible materials are flammable and must be stored in approved and designated storage cabinets or rooms.</a:t>
            </a:r>
          </a:p>
          <a:p>
            <a:pPr>
              <a:spcAft>
                <a:spcPts val="400"/>
              </a:spcAft>
              <a:buSzPct val="100000"/>
            </a:pPr>
            <a:r>
              <a:rPr lang="en-US" sz="2200" dirty="0"/>
              <a:t>Rags</a:t>
            </a:r>
          </a:p>
          <a:p>
            <a:pPr lvl="1">
              <a:spcAft>
                <a:spcPts val="400"/>
              </a:spcAft>
              <a:buSzPct val="100000"/>
            </a:pPr>
            <a:r>
              <a:rPr lang="en-US" sz="2000" dirty="0"/>
              <a:t>Oily or greasy rags should be stored in an approved container.</a:t>
            </a:r>
          </a:p>
        </p:txBody>
      </p:sp>
    </p:spTree>
    <p:extLst>
      <p:ext uri="{BB962C8B-B14F-4D97-AF65-F5344CB8AC3E}">
        <p14:creationId xmlns:p14="http://schemas.microsoft.com/office/powerpoint/2010/main" val="3129369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Work Area Safety </a:t>
            </a:r>
            <a:r>
              <a:rPr lang="en-US" dirty="0"/>
              <a:t>(4 of 5)</a:t>
            </a:r>
            <a:endParaRPr dirty="0"/>
          </a:p>
        </p:txBody>
      </p:sp>
      <p:pic>
        <p:nvPicPr>
          <p:cNvPr id="7" name="Picture Placeholder 6" descr="Three fire extinguishers of varying sizes and types, each labeled with instructions, are placed on the floor.">
            <a:extLst>
              <a:ext uri="{FF2B5EF4-FFF2-40B4-BE49-F238E27FC236}">
                <a16:creationId xmlns:a16="http://schemas.microsoft.com/office/drawing/2014/main" id="{3B7842E3-160E-19E8-2B57-9E5DE9047784}"/>
              </a:ext>
            </a:extLst>
          </p:cNvPr>
          <p:cNvPicPr>
            <a:picLocks noGrp="1" noChangeAspect="1"/>
          </p:cNvPicPr>
          <p:nvPr>
            <p:ph type="pic" idx="2"/>
          </p:nvPr>
        </p:nvPicPr>
        <p:blipFill>
          <a:blip r:embed="rId3"/>
          <a:srcRect b="12512"/>
          <a:stretch/>
        </p:blipFill>
        <p:spPr>
          <a:xfrm>
            <a:off x="533682" y="1840373"/>
            <a:ext cx="4425696" cy="3245978"/>
          </a:xfrm>
          <a:prstGeom prst="rect">
            <a:avLst/>
          </a:prstGeom>
        </p:spPr>
      </p:pic>
      <p:sp>
        <p:nvSpPr>
          <p:cNvPr id="145" name="Google Shape;145;p4"/>
          <p:cNvSpPr txBox="1">
            <a:spLocks noGrp="1"/>
          </p:cNvSpPr>
          <p:nvPr>
            <p:ph type="body" idx="1"/>
          </p:nvPr>
        </p:nvSpPr>
        <p:spPr>
          <a:xfrm>
            <a:off x="5052060" y="1508124"/>
            <a:ext cx="6666698" cy="459496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Fire Extinguishers</a:t>
            </a:r>
          </a:p>
          <a:p>
            <a:pPr lvl="1">
              <a:spcAft>
                <a:spcPts val="600"/>
              </a:spcAft>
              <a:buSzPct val="100000"/>
            </a:pPr>
            <a:r>
              <a:rPr lang="en-US" dirty="0"/>
              <a:t>Know the location of all fire extinguishers and fire alarms in the shop and how to use them before you need one.</a:t>
            </a:r>
          </a:p>
          <a:p>
            <a:pPr lvl="1">
              <a:spcAft>
                <a:spcPts val="600"/>
              </a:spcAft>
              <a:buSzPct val="100000"/>
            </a:pPr>
            <a:r>
              <a:rPr lang="en-US" dirty="0"/>
              <a:t>Be aware of the different types of fires and fire extinguishers.</a:t>
            </a:r>
          </a:p>
          <a:p>
            <a:pPr lvl="1">
              <a:spcAft>
                <a:spcPts val="600"/>
              </a:spcAft>
              <a:buSzPct val="100000"/>
            </a:pPr>
            <a:r>
              <a:rPr lang="en-US" dirty="0"/>
              <a:t>All extinguishers are marked with a symbol or letter signifying the class of fire for which they are intended.</a:t>
            </a:r>
          </a:p>
        </p:txBody>
      </p:sp>
    </p:spTree>
    <p:extLst>
      <p:ext uri="{BB962C8B-B14F-4D97-AF65-F5344CB8AC3E}">
        <p14:creationId xmlns:p14="http://schemas.microsoft.com/office/powerpoint/2010/main" val="221645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Work Area Safety </a:t>
            </a:r>
            <a:r>
              <a:rPr lang="en-US" dirty="0"/>
              <a:t>(5 of 5)</a:t>
            </a:r>
            <a:endParaRPr dirty="0"/>
          </a:p>
        </p:txBody>
      </p:sp>
      <p:pic>
        <p:nvPicPr>
          <p:cNvPr id="7" name="Picture Placeholder 6" descr="A close-up view of gas from a fire extinguisher sprayed at the base of fire in an open area.">
            <a:extLst>
              <a:ext uri="{FF2B5EF4-FFF2-40B4-BE49-F238E27FC236}">
                <a16:creationId xmlns:a16="http://schemas.microsoft.com/office/drawing/2014/main" id="{E24B74F4-291B-D002-4294-8A1B44D4F4F3}"/>
              </a:ext>
            </a:extLst>
          </p:cNvPr>
          <p:cNvPicPr>
            <a:picLocks noGrp="1" noChangeAspect="1"/>
          </p:cNvPicPr>
          <p:nvPr>
            <p:ph type="pic" idx="2"/>
          </p:nvPr>
        </p:nvPicPr>
        <p:blipFill>
          <a:blip r:embed="rId3"/>
          <a:srcRect b="12196"/>
          <a:stretch/>
        </p:blipFill>
        <p:spPr>
          <a:xfrm>
            <a:off x="634957" y="1770731"/>
            <a:ext cx="4425696" cy="3296570"/>
          </a:xfrm>
          <a:prstGeom prst="rect">
            <a:avLst/>
          </a:prstGeom>
        </p:spPr>
      </p:pic>
      <p:sp>
        <p:nvSpPr>
          <p:cNvPr id="145" name="Google Shape;145;p4"/>
          <p:cNvSpPr txBox="1">
            <a:spLocks noGrp="1"/>
          </p:cNvSpPr>
          <p:nvPr>
            <p:ph type="body" idx="1"/>
          </p:nvPr>
        </p:nvSpPr>
        <p:spPr>
          <a:xfrm>
            <a:off x="5246370" y="1508125"/>
            <a:ext cx="6472388" cy="456306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Using a Fire Extinguisher</a:t>
            </a:r>
          </a:p>
          <a:p>
            <a:pPr lvl="1">
              <a:spcAft>
                <a:spcPts val="600"/>
              </a:spcAft>
              <a:buSzPct val="100000"/>
            </a:pPr>
            <a:r>
              <a:rPr lang="en-US" dirty="0"/>
              <a:t>To extinguish a fire, stand 6 to 10 feet from the fire.</a:t>
            </a:r>
          </a:p>
          <a:p>
            <a:pPr lvl="1">
              <a:spcAft>
                <a:spcPts val="600"/>
              </a:spcAft>
              <a:buSzPct val="100000"/>
            </a:pPr>
            <a:r>
              <a:rPr lang="en-US" dirty="0"/>
              <a:t>Before releasing the agent from the extinguisher, hold the extinguisher firmly in an upright position.</a:t>
            </a:r>
          </a:p>
          <a:p>
            <a:pPr lvl="1">
              <a:spcAft>
                <a:spcPts val="600"/>
              </a:spcAft>
              <a:buSzPct val="100000"/>
            </a:pPr>
            <a:r>
              <a:rPr lang="en-US" dirty="0"/>
              <a:t>Aim the nozzle at the base and use a side-to-side motion, sweeping the entire width of the fire.</a:t>
            </a:r>
          </a:p>
        </p:txBody>
      </p:sp>
    </p:spTree>
    <p:extLst>
      <p:ext uri="{BB962C8B-B14F-4D97-AF65-F5344CB8AC3E}">
        <p14:creationId xmlns:p14="http://schemas.microsoft.com/office/powerpoint/2010/main" val="2436151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Manufacturers’ Warnings and Government Regulations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spcAft>
                <a:spcPts val="600"/>
              </a:spcAft>
              <a:buNone/>
            </a:pPr>
            <a:r>
              <a:rPr lang="en-US" sz="2400" b="1" dirty="0"/>
              <a:t>07.05 Explain manufacturer and government warnings and regulations.</a:t>
            </a:r>
          </a:p>
          <a:p>
            <a:pPr>
              <a:spcAft>
                <a:spcPts val="600"/>
              </a:spcAft>
              <a:buSzPct val="100000"/>
            </a:pPr>
            <a:r>
              <a:rPr lang="en-US" sz="2400" dirty="0"/>
              <a:t>These are the categories of hazards that are found it a typical shop:</a:t>
            </a:r>
          </a:p>
          <a:p>
            <a:pPr lvl="1">
              <a:spcAft>
                <a:spcPts val="600"/>
              </a:spcAft>
              <a:buSzPct val="100000"/>
            </a:pPr>
            <a:r>
              <a:rPr lang="en-US" sz="2200" dirty="0"/>
              <a:t>Chemical hazards—caused by high concentrations of vapors, gases, or dust.</a:t>
            </a:r>
          </a:p>
          <a:p>
            <a:pPr lvl="1">
              <a:spcAft>
                <a:spcPts val="600"/>
              </a:spcAft>
              <a:buSzPct val="100000"/>
            </a:pPr>
            <a:r>
              <a:rPr lang="en-US" sz="2200" dirty="0"/>
              <a:t>Hazardous wastes—those substances that are the result of a service</a:t>
            </a:r>
            <a:r>
              <a:rPr lang="en-US" sz="2200" dirty="0">
                <a:solidFill>
                  <a:srgbClr val="FF0000"/>
                </a:solidFill>
              </a:rPr>
              <a:t>.</a:t>
            </a:r>
            <a:endParaRPr lang="en-US" sz="2200" dirty="0"/>
          </a:p>
          <a:p>
            <a:pPr lvl="1">
              <a:spcAft>
                <a:spcPts val="600"/>
              </a:spcAft>
              <a:buSzPct val="100000"/>
            </a:pPr>
            <a:r>
              <a:rPr lang="en-US" sz="2200" dirty="0"/>
              <a:t>Physical hazards—include excessive noise, vibration, pressures, and temperatures.</a:t>
            </a:r>
          </a:p>
          <a:p>
            <a:pPr lvl="1">
              <a:spcAft>
                <a:spcPts val="600"/>
              </a:spcAft>
              <a:buSzPct val="100000"/>
            </a:pPr>
            <a:r>
              <a:rPr lang="en-US" sz="2200" dirty="0"/>
              <a:t>Ergonomic hazards—conditions that impede normal body position and motion.</a:t>
            </a:r>
          </a:p>
        </p:txBody>
      </p:sp>
    </p:spTree>
    <p:extLst>
      <p:ext uri="{BB962C8B-B14F-4D97-AF65-F5344CB8AC3E}">
        <p14:creationId xmlns:p14="http://schemas.microsoft.com/office/powerpoint/2010/main" val="1209267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Manufacturers’ Warnings and Government Regulations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OSHA</a:t>
            </a:r>
          </a:p>
          <a:p>
            <a:pPr>
              <a:spcAft>
                <a:spcPts val="600"/>
              </a:spcAft>
              <a:buSzPct val="100000"/>
            </a:pPr>
            <a:r>
              <a:rPr lang="en-US" sz="2400" dirty="0"/>
              <a:t>In 1970, OSHA was formed to “assure safe and healthful working conditions for workers by authorizing enforcement of the standards developed under the Act and by assisting and encouraging the States in their efforts to assure safe and healthful working conditions by providing research, information, education, and training in the field of occupational safety and health.”</a:t>
            </a:r>
          </a:p>
          <a:p>
            <a:pPr>
              <a:spcAft>
                <a:spcPts val="600"/>
              </a:spcAft>
              <a:buSzPct val="100000"/>
            </a:pPr>
            <a:r>
              <a:rPr lang="en-US" sz="2400" dirty="0"/>
              <a:t>The established safety standards are consistent across the country. It is the employer’s responsibility to provide a place of employment free from all recognized hazards. All automotive industry safety and health issues are controlled by OSHA.</a:t>
            </a:r>
          </a:p>
        </p:txBody>
      </p:sp>
    </p:spTree>
    <p:extLst>
      <p:ext uri="{BB962C8B-B14F-4D97-AF65-F5344CB8AC3E}">
        <p14:creationId xmlns:p14="http://schemas.microsoft.com/office/powerpoint/2010/main" val="162529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sz="4000" dirty="0"/>
              <a:t>Right-To-Know Law and Right-To-Understand</a:t>
            </a:r>
            <a:endParaRPr dirty="0"/>
          </a:p>
        </p:txBody>
      </p:sp>
      <p:sp>
        <p:nvSpPr>
          <p:cNvPr id="145" name="Google Shape;145;p4"/>
          <p:cNvSpPr txBox="1">
            <a:spLocks noGrp="1"/>
          </p:cNvSpPr>
          <p:nvPr>
            <p:ph type="body" idx="1"/>
          </p:nvPr>
        </p:nvSpPr>
        <p:spPr>
          <a:xfrm>
            <a:off x="476843" y="1508125"/>
            <a:ext cx="5817631" cy="4648126"/>
          </a:xfrm>
          <a:prstGeom prst="rect">
            <a:avLst/>
          </a:prstGeom>
          <a:noFill/>
          <a:ln>
            <a:noFill/>
          </a:ln>
        </p:spPr>
        <p:txBody>
          <a:bodyPr spcFirstLastPara="1" wrap="square" lIns="91425" tIns="45700" rIns="91425" bIns="45700" anchor="t" anchorCtr="0">
            <a:noAutofit/>
          </a:bodyPr>
          <a:lstStyle/>
          <a:p>
            <a:pPr>
              <a:buSzPct val="100000"/>
            </a:pPr>
            <a:r>
              <a:rPr lang="en-US" sz="2200" dirty="0"/>
              <a:t>All employees are protected by </a:t>
            </a:r>
            <a:r>
              <a:rPr lang="en-US" sz="2200" b="1" dirty="0"/>
              <a:t>Right-To-Know Laws </a:t>
            </a:r>
            <a:r>
              <a:rPr lang="en-US" sz="2200" dirty="0"/>
              <a:t>concerning all potentially hazardous materials.</a:t>
            </a:r>
          </a:p>
          <a:p>
            <a:pPr>
              <a:buSzPct val="100000"/>
            </a:pPr>
            <a:r>
              <a:rPr lang="en-US" sz="2200" dirty="0"/>
              <a:t>The general intent of Right-To-Know Laws is for employers to provide their employees with a safe working place.</a:t>
            </a:r>
          </a:p>
          <a:p>
            <a:pPr>
              <a:buSzPct val="100000"/>
            </a:pPr>
            <a:r>
              <a:rPr lang="en-US" sz="2200" dirty="0"/>
              <a:t>All information about each chemical must be posted on </a:t>
            </a:r>
            <a:r>
              <a:rPr lang="en-US" sz="2200" b="1" dirty="0"/>
              <a:t>safety data sheets (SDS</a:t>
            </a:r>
            <a:r>
              <a:rPr lang="en-US" sz="2200" dirty="0"/>
              <a:t>), which detail the chemical composition and precautionary information for all products that can present a health or safety hazard.</a:t>
            </a:r>
          </a:p>
        </p:txBody>
      </p:sp>
      <p:pic>
        <p:nvPicPr>
          <p:cNvPr id="7" name="Picture Placeholder 6" descr="A modern safety data sheet. The line at the top reads 16. Other information, including date of preparation or last revision. The entries given below are as follows: Issue date, 01-20-2016; Prepared by, Allison Cho; Version number, 01; Further information, Chemfree number SW-1; HMIS with registered mark rating, Health:1 Flammability: 0 Physical hazard: 0 Personal protection: B; NFPA ratings, Health: 1 Flammability: 0 Instability:0,a 45-degree rotated square is classified into four equal sections, where the left, top, and right sub-squares are filled with 1, 0, 0, respectively.; Disclaimer, The information contained in this document applies to this specific material as supplied. It may not be valid for this material if it is used in combination with any other materials. This information is accurate to the best of ChemFree Corporation’s knowledge or obtained from sources believed by ChemFree to be accurate. Before using any product, read all warnings and directions on the label. For further clarification of any information contained on this (M)SDS consult your supervisor, a health &amp; safety professional, or ChemFree Corporation.">
            <a:extLst>
              <a:ext uri="{FF2B5EF4-FFF2-40B4-BE49-F238E27FC236}">
                <a16:creationId xmlns:a16="http://schemas.microsoft.com/office/drawing/2014/main" id="{D0A18943-09EF-9FFB-EB84-A1F8F74A1735}"/>
              </a:ext>
            </a:extLst>
          </p:cNvPr>
          <p:cNvPicPr>
            <a:picLocks noGrp="1" noChangeAspect="1"/>
          </p:cNvPicPr>
          <p:nvPr>
            <p:ph type="pic" idx="2"/>
          </p:nvPr>
        </p:nvPicPr>
        <p:blipFill>
          <a:blip r:embed="rId3"/>
          <a:srcRect b="7489"/>
          <a:stretch/>
        </p:blipFill>
        <p:spPr>
          <a:xfrm>
            <a:off x="6445595" y="2310847"/>
            <a:ext cx="5355093" cy="2642154"/>
          </a:xfrm>
          <a:prstGeom prst="rect">
            <a:avLst/>
          </a:prstGeom>
        </p:spPr>
      </p:pic>
    </p:spTree>
    <p:extLst>
      <p:ext uri="{BB962C8B-B14F-4D97-AF65-F5344CB8AC3E}">
        <p14:creationId xmlns:p14="http://schemas.microsoft.com/office/powerpoint/2010/main" val="2968227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Hazardous Wastes</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solidFill>
                  <a:schemeClr val="accent1"/>
                </a:solidFill>
              </a:rPr>
              <a:t>Many repair and service procedures generate hazardous wastes.</a:t>
            </a:r>
          </a:p>
          <a:p>
            <a:pPr>
              <a:spcAft>
                <a:spcPts val="600"/>
              </a:spcAft>
              <a:buSzPct val="100000"/>
            </a:pPr>
            <a:r>
              <a:rPr lang="en-US" dirty="0">
                <a:solidFill>
                  <a:schemeClr val="accent1"/>
                </a:solidFill>
              </a:rPr>
              <a:t>Something is classified as a </a:t>
            </a:r>
            <a:r>
              <a:rPr lang="en-US" b="1" dirty="0">
                <a:solidFill>
                  <a:schemeClr val="accent1"/>
                </a:solidFill>
              </a:rPr>
              <a:t>hazardous waste </a:t>
            </a:r>
            <a:r>
              <a:rPr lang="en-US" dirty="0">
                <a:solidFill>
                  <a:schemeClr val="accent1"/>
                </a:solidFill>
              </a:rPr>
              <a:t>by the EPA if it is on its list of known harmful materials.</a:t>
            </a:r>
          </a:p>
          <a:p>
            <a:pPr>
              <a:spcAft>
                <a:spcPts val="600"/>
              </a:spcAft>
              <a:buSzPct val="100000"/>
            </a:pPr>
            <a:r>
              <a:rPr lang="en-US" dirty="0">
                <a:solidFill>
                  <a:schemeClr val="accent1"/>
                </a:solidFill>
              </a:rPr>
              <a:t>A complete EPA list of hazardous wastes can be found in the Code of Federal Regulations.</a:t>
            </a:r>
          </a:p>
          <a:p>
            <a:pPr>
              <a:spcAft>
                <a:spcPts val="600"/>
              </a:spcAft>
              <a:buSzPct val="100000"/>
            </a:pPr>
            <a:r>
              <a:rPr lang="en-US" dirty="0">
                <a:solidFill>
                  <a:schemeClr val="accent1"/>
                </a:solidFill>
              </a:rPr>
              <a:t>A material is only considered a hazardous waste when the shop is ready to dispose of it.</a:t>
            </a:r>
          </a:p>
          <a:p>
            <a:pPr>
              <a:spcAft>
                <a:spcPts val="600"/>
              </a:spcAft>
              <a:buSzPct val="100000"/>
            </a:pPr>
            <a:r>
              <a:rPr lang="en-US" dirty="0">
                <a:solidFill>
                  <a:schemeClr val="accent1"/>
                </a:solidFill>
              </a:rPr>
              <a:t>Always keep hazardous waste separate from other wastes.</a:t>
            </a:r>
          </a:p>
          <a:p>
            <a:pPr lvl="1">
              <a:spcAft>
                <a:spcPts val="600"/>
              </a:spcAft>
              <a:buSzPct val="100000"/>
            </a:pPr>
            <a:r>
              <a:rPr lang="en-US" dirty="0">
                <a:solidFill>
                  <a:schemeClr val="accent1"/>
                </a:solidFill>
              </a:rPr>
              <a:t>Properly label and seal them in the recommended containers.</a:t>
            </a:r>
          </a:p>
        </p:txBody>
      </p:sp>
    </p:spTree>
    <p:extLst>
      <p:ext uri="{BB962C8B-B14F-4D97-AF65-F5344CB8AC3E}">
        <p14:creationId xmlns:p14="http://schemas.microsoft.com/office/powerpoint/2010/main" val="3073088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3600" dirty="0"/>
              <a:t>Guidelines for Handling Shop Wastes (1 of 2)</a:t>
            </a:r>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Some of the common hazardous wastes and what you should do:</a:t>
            </a:r>
          </a:p>
          <a:p>
            <a:pPr>
              <a:spcAft>
                <a:spcPts val="600"/>
              </a:spcAft>
              <a:buSzPct val="100000"/>
            </a:pPr>
            <a:r>
              <a:rPr lang="en-US" sz="2400" dirty="0"/>
              <a:t>Oil</a:t>
            </a:r>
          </a:p>
          <a:p>
            <a:pPr lvl="1">
              <a:spcAft>
                <a:spcPts val="600"/>
              </a:spcAft>
              <a:buSzPct val="100000"/>
            </a:pPr>
            <a:r>
              <a:rPr lang="en-US" sz="2200" dirty="0"/>
              <a:t>Recycle oil. Set up equipment, such as a drip table or screen table with a used-oil collection bucket, to collect oil that drips off parts.</a:t>
            </a:r>
          </a:p>
          <a:p>
            <a:pPr>
              <a:spcAft>
                <a:spcPts val="600"/>
              </a:spcAft>
              <a:buSzPct val="100000"/>
            </a:pPr>
            <a:r>
              <a:rPr lang="en-US" sz="2400" dirty="0"/>
              <a:t>Oil Filters</a:t>
            </a:r>
          </a:p>
          <a:p>
            <a:pPr lvl="1">
              <a:spcAft>
                <a:spcPts val="600"/>
              </a:spcAft>
              <a:buSzPct val="100000"/>
            </a:pPr>
            <a:r>
              <a:rPr lang="en-US" sz="2200" dirty="0"/>
              <a:t>Drain for at least 24 hours, crush and recycle used oil filters.</a:t>
            </a:r>
          </a:p>
          <a:p>
            <a:pPr>
              <a:spcAft>
                <a:spcPts val="600"/>
              </a:spcAft>
              <a:buSzPct val="100000"/>
            </a:pPr>
            <a:r>
              <a:rPr lang="en-US" sz="2400" dirty="0"/>
              <a:t>Batteries</a:t>
            </a:r>
          </a:p>
          <a:p>
            <a:pPr lvl="1">
              <a:spcAft>
                <a:spcPts val="600"/>
              </a:spcAft>
              <a:buSzPct val="100000"/>
            </a:pPr>
            <a:r>
              <a:rPr lang="en-US" sz="2200" dirty="0"/>
              <a:t>Recycle batteries by sending them to a reclaimer or back to the distributor. Store batteries in a watertight, acid-resistant container.</a:t>
            </a:r>
          </a:p>
        </p:txBody>
      </p:sp>
    </p:spTree>
    <p:extLst>
      <p:ext uri="{BB962C8B-B14F-4D97-AF65-F5344CB8AC3E}">
        <p14:creationId xmlns:p14="http://schemas.microsoft.com/office/powerpoint/2010/main" val="3521264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lvl="0"/>
            <a:r>
              <a:rPr lang="en-US" dirty="0"/>
              <a:t>Guidelines for Handling Shop Wastes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Metal Residue from Machining</a:t>
            </a:r>
          </a:p>
          <a:p>
            <a:pPr lvl="1">
              <a:spcAft>
                <a:spcPts val="600"/>
              </a:spcAft>
              <a:buSzPct val="100000"/>
            </a:pPr>
            <a:r>
              <a:rPr lang="en-US" dirty="0"/>
              <a:t>Collect metal filings from machining metal parts and recycle them.</a:t>
            </a:r>
          </a:p>
          <a:p>
            <a:pPr>
              <a:spcAft>
                <a:spcPts val="600"/>
              </a:spcAft>
              <a:buSzPct val="100000"/>
            </a:pPr>
            <a:r>
              <a:rPr lang="en-US" dirty="0"/>
              <a:t>Refrigerants</a:t>
            </a:r>
          </a:p>
          <a:p>
            <a:pPr lvl="1">
              <a:spcAft>
                <a:spcPts val="600"/>
              </a:spcAft>
              <a:buSzPct val="100000"/>
            </a:pPr>
            <a:r>
              <a:rPr lang="en-US" dirty="0"/>
              <a:t>Recover and/or recycle refrigerants during the servicing of air-conditioning systems.</a:t>
            </a:r>
          </a:p>
          <a:p>
            <a:pPr>
              <a:spcAft>
                <a:spcPts val="600"/>
              </a:spcAft>
              <a:buSzPct val="100000"/>
            </a:pPr>
            <a:r>
              <a:rPr lang="en-US" dirty="0"/>
              <a:t>Solvents</a:t>
            </a:r>
          </a:p>
          <a:p>
            <a:pPr lvl="1">
              <a:spcAft>
                <a:spcPts val="600"/>
              </a:spcAft>
              <a:buSzPct val="100000"/>
            </a:pPr>
            <a:r>
              <a:rPr lang="en-US" dirty="0"/>
              <a:t>Replace hazardous chemicals with less toxic alternatives.</a:t>
            </a:r>
          </a:p>
          <a:p>
            <a:pPr lvl="1">
              <a:spcAft>
                <a:spcPts val="600"/>
              </a:spcAft>
              <a:buSzPct val="100000"/>
            </a:pPr>
            <a:r>
              <a:rPr lang="en-US" dirty="0"/>
              <a:t>To reduce the amount of solvent used when cleaning parts, use a two-stage process: dirty solvent followed by fresh solvent.</a:t>
            </a:r>
          </a:p>
        </p:txBody>
      </p:sp>
    </p:spTree>
    <p:extLst>
      <p:ext uri="{BB962C8B-B14F-4D97-AF65-F5344CB8AC3E}">
        <p14:creationId xmlns:p14="http://schemas.microsoft.com/office/powerpoint/2010/main" val="408359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400"/>
              <a:buNone/>
            </a:pPr>
            <a:r>
              <a:rPr lang="en-US" dirty="0"/>
              <a:t>Describe how to properly use a fire extinguisher.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2)</a:t>
            </a:r>
            <a:endParaRPr dirty="0"/>
          </a:p>
        </p:txBody>
      </p:sp>
      <p:sp>
        <p:nvSpPr>
          <p:cNvPr id="384" name="Google Shape;384;p3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gn="ctr">
              <a:spcAft>
                <a:spcPts val="1800"/>
              </a:spcAft>
              <a:buSzPts val="2400"/>
              <a:buNone/>
            </a:pPr>
            <a:r>
              <a:rPr lang="en-US" dirty="0"/>
              <a:t>Describe how to properly use a fire extinguisher.</a:t>
            </a:r>
          </a:p>
          <a:p>
            <a:pPr marL="0" lvl="0" indent="0" algn="ctr">
              <a:spcBef>
                <a:spcPts val="0"/>
              </a:spcBef>
              <a:buNone/>
            </a:pPr>
            <a:r>
              <a:rPr lang="en-US" b="1" dirty="0"/>
              <a:t>Answer</a:t>
            </a:r>
            <a:r>
              <a:rPr lang="en-US" dirty="0"/>
              <a:t>:</a:t>
            </a:r>
          </a:p>
          <a:p>
            <a:pPr marL="361950" lvl="0" indent="-361950">
              <a:spcBef>
                <a:spcPts val="1000"/>
              </a:spcBef>
              <a:buClr>
                <a:srgbClr val="282F7C"/>
              </a:buClr>
              <a:buSzPct val="100000"/>
              <a:defRPr/>
            </a:pPr>
            <a:r>
              <a:rPr lang="en-US" dirty="0">
                <a:solidFill>
                  <a:srgbClr val="282F7C"/>
                </a:solidFill>
              </a:rPr>
              <a:t>Using a Fire Extinguisher</a:t>
            </a:r>
          </a:p>
          <a:p>
            <a:pPr marL="712788" lvl="1" indent="-350838">
              <a:spcBef>
                <a:spcPts val="800"/>
              </a:spcBef>
              <a:buClr>
                <a:srgbClr val="282F7C"/>
              </a:buClr>
              <a:buSzPct val="100000"/>
              <a:defRPr/>
            </a:pPr>
            <a:r>
              <a:rPr lang="en-US" dirty="0">
                <a:solidFill>
                  <a:srgbClr val="282F7C"/>
                </a:solidFill>
              </a:rPr>
              <a:t>To extinguish a fire, stand 6 to 10 feet from the fire.</a:t>
            </a:r>
          </a:p>
          <a:p>
            <a:pPr marL="712788" lvl="1" indent="-350838">
              <a:spcBef>
                <a:spcPts val="800"/>
              </a:spcBef>
              <a:buClr>
                <a:srgbClr val="282F7C"/>
              </a:buClr>
              <a:buSzPct val="100000"/>
              <a:defRPr/>
            </a:pPr>
            <a:r>
              <a:rPr lang="en-US" dirty="0">
                <a:solidFill>
                  <a:srgbClr val="282F7C"/>
                </a:solidFill>
              </a:rPr>
              <a:t>Before releasing the agent from the extinguisher, hold the extinguisher firmly in an upright position.</a:t>
            </a:r>
          </a:p>
          <a:p>
            <a:pPr marL="712788" lvl="1" indent="-350838">
              <a:spcBef>
                <a:spcPts val="800"/>
              </a:spcBef>
              <a:buClr>
                <a:srgbClr val="282F7C"/>
              </a:buClr>
              <a:buSzPct val="100000"/>
              <a:defRPr/>
            </a:pPr>
            <a:r>
              <a:rPr lang="en-US" dirty="0">
                <a:solidFill>
                  <a:srgbClr val="282F7C"/>
                </a:solidFill>
              </a:rPr>
              <a:t>Aim the nozzle at the base and use a side-to-side motion, sweeping the entire width of the fire.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ct val="100000"/>
              <a:buFont typeface="Arial"/>
              <a:buChar char="•"/>
            </a:pPr>
            <a:r>
              <a:rPr lang="en-US" dirty="0">
                <a:solidFill>
                  <a:schemeClr val="accent1"/>
                </a:solidFill>
              </a:rPr>
              <a:t>Did anything in this chapter catch you by surprise? Anything that you did not realize was unsafe?</a:t>
            </a:r>
            <a:endParaRPr dirty="0">
              <a:solidFill>
                <a:schemeClr val="accent1"/>
              </a:solidFill>
            </a:endParaRPr>
          </a:p>
          <a:p>
            <a:pPr marL="360363" lvl="0" indent="-360363" algn="l" rtl="0">
              <a:lnSpc>
                <a:spcPct val="100000"/>
              </a:lnSpc>
              <a:spcAft>
                <a:spcPts val="600"/>
              </a:spcAft>
              <a:buSzPct val="100000"/>
              <a:buFont typeface="Arial"/>
              <a:buChar char="•"/>
            </a:pPr>
            <a:r>
              <a:rPr lang="en-US" dirty="0">
                <a:solidFill>
                  <a:schemeClr val="accent1"/>
                </a:solidFill>
              </a:rPr>
              <a:t>Considering all you have learned, do you feel you will be able to work on a day to day basis in a shop environment safely? Anything you feel you can improve upon?</a:t>
            </a:r>
            <a:endParaRPr dirty="0">
              <a:solidFill>
                <a:schemeClr val="accen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1541</TotalTime>
  <Words>3240</Words>
  <Application>Microsoft Office PowerPoint</Application>
  <PresentationFormat>Widescreen</PresentationFormat>
  <Paragraphs>222</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Work Sans</vt:lpstr>
      <vt:lpstr>Arial</vt:lpstr>
      <vt:lpstr>Calibri</vt:lpstr>
      <vt:lpstr>Optimized Template Master</vt:lpstr>
      <vt:lpstr>Automotive Technology:  A Systems Approach, 8e</vt:lpstr>
      <vt:lpstr>Chapter Objectives (1 of 2)</vt:lpstr>
      <vt:lpstr>Chapter Objectives (2 of 2)</vt:lpstr>
      <vt:lpstr>Personal Safety (1 of 3)</vt:lpstr>
      <vt:lpstr>Personal Safety (2 of 3)</vt:lpstr>
      <vt:lpstr>Personal Safety (3 of 3)</vt:lpstr>
      <vt:lpstr>Lifting and Carrying (1 of 3)</vt:lpstr>
      <vt:lpstr>Lifting and Carrying (2 of 3)</vt:lpstr>
      <vt:lpstr>Lifting and Carrying (3 of 3)</vt:lpstr>
      <vt:lpstr>Professional Behavior</vt:lpstr>
      <vt:lpstr>Tool Safety and Equipment (1 of 12)</vt:lpstr>
      <vt:lpstr>Tool Safety and Equipment (2 of 12)</vt:lpstr>
      <vt:lpstr>Tool Safety and Equipment (3 of 12)</vt:lpstr>
      <vt:lpstr>Tool Safety and Equipment (4 of 12)</vt:lpstr>
      <vt:lpstr>Tool Safety and Equipment (5 of 12)</vt:lpstr>
      <vt:lpstr>Tool Safety and Equipment (6 of 12)</vt:lpstr>
      <vt:lpstr>Tool Safety and Equipment (7 of 12)</vt:lpstr>
      <vt:lpstr>Tool Safety and Equipment (8 of 12)</vt:lpstr>
      <vt:lpstr>Tool Safety and Equipment (9 of 12)</vt:lpstr>
      <vt:lpstr>Discussion</vt:lpstr>
      <vt:lpstr>Tool Safety and Equipment (10 of 12)</vt:lpstr>
      <vt:lpstr>Tool Safety and Equipment (11 of 12)</vt:lpstr>
      <vt:lpstr>Tool Safety and Equipment (12 of 12)</vt:lpstr>
      <vt:lpstr>Knowledge Check (1 of 2)</vt:lpstr>
      <vt:lpstr>Knowledge Check Answer (1 of 2)</vt:lpstr>
      <vt:lpstr>Work Area Safety (1 of 5)</vt:lpstr>
      <vt:lpstr>Work Area Safety (2 of 5)</vt:lpstr>
      <vt:lpstr>Work Area Safety (3 of 5)</vt:lpstr>
      <vt:lpstr>Work Area Safety (4 of 5)</vt:lpstr>
      <vt:lpstr>Work Area Safety (5 of 5)</vt:lpstr>
      <vt:lpstr>Manufacturers’ Warnings and Government Regulations (1 of 2)</vt:lpstr>
      <vt:lpstr>Manufacturers’ Warnings and Government Regulations (2 of 2)</vt:lpstr>
      <vt:lpstr>Right-To-Know Law and Right-To-Understand</vt:lpstr>
      <vt:lpstr>Hazardous Wastes</vt:lpstr>
      <vt:lpstr>Guidelines for Handling Shop Wastes (1 of 2)</vt:lpstr>
      <vt:lpstr>Guidelines for Handling Shop Wastes (2 of 2)</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dc:title>
  <dc:creator>Owner</dc:creator>
  <cp:lastModifiedBy>Muthukrishnan, Keerthi -</cp:lastModifiedBy>
  <cp:revision>94</cp:revision>
  <dcterms:created xsi:type="dcterms:W3CDTF">2021-12-10T16:21:02Z</dcterms:created>
  <dcterms:modified xsi:type="dcterms:W3CDTF">2024-10-18T14:24:33Z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