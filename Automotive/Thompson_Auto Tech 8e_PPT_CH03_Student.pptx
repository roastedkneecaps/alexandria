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notesSlides/notesSlide1.xml" ContentType="application/vnd.openxmlformats-officedocument.presentationml.notesSlide+xml"/>
  <Override PartName="/ppt/tags/tag19.xml" ContentType="application/vnd.openxmlformats-officedocument.presentationml.tags+xml"/>
  <Override PartName="/ppt/notesSlides/notesSlide2.xml" ContentType="application/vnd.openxmlformats-officedocument.presentationml.notesSlide+xml"/>
  <Override PartName="/ppt/tags/tag2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21.xml" ContentType="application/vnd.openxmlformats-officedocument.presentationml.tags+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51"/>
  </p:notesMasterIdLst>
  <p:handoutMasterIdLst>
    <p:handoutMasterId r:id="rId52"/>
  </p:handoutMasterIdLst>
  <p:sldIdLst>
    <p:sldId id="403" r:id="rId5"/>
    <p:sldId id="430" r:id="rId6"/>
    <p:sldId id="431" r:id="rId7"/>
    <p:sldId id="379" r:id="rId8"/>
    <p:sldId id="400" r:id="rId9"/>
    <p:sldId id="432" r:id="rId10"/>
    <p:sldId id="433" r:id="rId11"/>
    <p:sldId id="404" r:id="rId12"/>
    <p:sldId id="405" r:id="rId13"/>
    <p:sldId id="434" r:id="rId14"/>
    <p:sldId id="406" r:id="rId15"/>
    <p:sldId id="435" r:id="rId16"/>
    <p:sldId id="407" r:id="rId17"/>
    <p:sldId id="408" r:id="rId18"/>
    <p:sldId id="436" r:id="rId19"/>
    <p:sldId id="437" r:id="rId20"/>
    <p:sldId id="387" r:id="rId21"/>
    <p:sldId id="438" r:id="rId22"/>
    <p:sldId id="409" r:id="rId23"/>
    <p:sldId id="439" r:id="rId24"/>
    <p:sldId id="264" r:id="rId25"/>
    <p:sldId id="389" r:id="rId26"/>
    <p:sldId id="413" r:id="rId27"/>
    <p:sldId id="440" r:id="rId28"/>
    <p:sldId id="390" r:id="rId29"/>
    <p:sldId id="414" r:id="rId30"/>
    <p:sldId id="441" r:id="rId31"/>
    <p:sldId id="415" r:id="rId32"/>
    <p:sldId id="421" r:id="rId33"/>
    <p:sldId id="422" r:id="rId34"/>
    <p:sldId id="392" r:id="rId35"/>
    <p:sldId id="417" r:id="rId36"/>
    <p:sldId id="418" r:id="rId37"/>
    <p:sldId id="442" r:id="rId38"/>
    <p:sldId id="267" r:id="rId39"/>
    <p:sldId id="443" r:id="rId40"/>
    <p:sldId id="444" r:id="rId41"/>
    <p:sldId id="445" r:id="rId42"/>
    <p:sldId id="446" r:id="rId43"/>
    <p:sldId id="447" r:id="rId44"/>
    <p:sldId id="448" r:id="rId45"/>
    <p:sldId id="449" r:id="rId46"/>
    <p:sldId id="450" r:id="rId47"/>
    <p:sldId id="451" r:id="rId48"/>
    <p:sldId id="452" r:id="rId49"/>
    <p:sldId id="453" r:id="rId50"/>
  </p:sldIdLst>
  <p:sldSz cx="12192000" cy="6858000"/>
  <p:notesSz cx="6858000" cy="9144000"/>
  <p:custDataLst>
    <p:tags r:id="rId53"/>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 id="3" name="Jonathan Mastro" initials="JM" lastIdx="15" clrIdx="2">
    <p:extLst>
      <p:ext uri="{19B8F6BF-5375-455C-9EA6-DF929625EA0E}">
        <p15:presenceInfo xmlns:p15="http://schemas.microsoft.com/office/powerpoint/2012/main" userId="Jonathan Mastro" providerId="None"/>
      </p:ext>
    </p:extLst>
  </p:cmAuthor>
  <p:cmAuthor id="4" name="Paul Kelley" initials="PK" lastIdx="26" clrIdx="3">
    <p:extLst>
      <p:ext uri="{19B8F6BF-5375-455C-9EA6-DF929625EA0E}">
        <p15:presenceInfo xmlns:p15="http://schemas.microsoft.com/office/powerpoint/2012/main" userId="782a4b9ae50330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292F7C"/>
    <a:srgbClr val="F2F2F2"/>
    <a:srgbClr val="0098D4"/>
    <a:srgbClr val="003865"/>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91" autoAdjust="0"/>
    <p:restoredTop sz="94365" autoAdjust="0"/>
  </p:normalViewPr>
  <p:slideViewPr>
    <p:cSldViewPr snapToGrid="0" snapToObjects="1">
      <p:cViewPr varScale="1">
        <p:scale>
          <a:sx n="102" d="100"/>
          <a:sy n="102" d="100"/>
        </p:scale>
        <p:origin x="888" y="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7.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3884880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3594490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780514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2284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93593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76177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685663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352718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393864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37374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466781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7749532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44708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2360535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8992482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175697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415543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44898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41367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21</a:t>
            </a:fld>
            <a:endParaRPr lang="en-US"/>
          </a:p>
        </p:txBody>
      </p:sp>
    </p:spTree>
    <p:extLst>
      <p:ext uri="{BB962C8B-B14F-4D97-AF65-F5344CB8AC3E}">
        <p14:creationId xmlns:p14="http://schemas.microsoft.com/office/powerpoint/2010/main" val="31654035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3929777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7438014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4633318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771651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940206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479148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115704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29</a:t>
            </a:fld>
            <a:endParaRPr lang="en-US"/>
          </a:p>
        </p:txBody>
      </p:sp>
    </p:spTree>
    <p:extLst>
      <p:ext uri="{BB962C8B-B14F-4D97-AF65-F5344CB8AC3E}">
        <p14:creationId xmlns:p14="http://schemas.microsoft.com/office/powerpoint/2010/main" val="40454184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30</a:t>
            </a:fld>
            <a:endParaRPr lang="en-US"/>
          </a:p>
        </p:txBody>
      </p:sp>
    </p:spTree>
    <p:extLst>
      <p:ext uri="{BB962C8B-B14F-4D97-AF65-F5344CB8AC3E}">
        <p14:creationId xmlns:p14="http://schemas.microsoft.com/office/powerpoint/2010/main" val="9780818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042979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211190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429501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685800" y="630238"/>
            <a:ext cx="3778250" cy="2125662"/>
          </a:xfrm>
          <a:ln/>
        </p:spPr>
      </p:sp>
      <p:sp>
        <p:nvSpPr>
          <p:cNvPr id="1945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652548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244459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717763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524208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38</a:t>
            </a:fld>
            <a:endParaRPr lang="en-US"/>
          </a:p>
        </p:txBody>
      </p:sp>
    </p:spTree>
    <p:extLst>
      <p:ext uri="{BB962C8B-B14F-4D97-AF65-F5344CB8AC3E}">
        <p14:creationId xmlns:p14="http://schemas.microsoft.com/office/powerpoint/2010/main" val="37939328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B70A21-416F-40DA-8B51-451180C29984}" type="slidenum">
              <a:rPr lang="en-US" smtClean="0"/>
              <a:pPr/>
              <a:t>39</a:t>
            </a:fld>
            <a:endParaRPr lang="en-US"/>
          </a:p>
        </p:txBody>
      </p:sp>
    </p:spTree>
    <p:extLst>
      <p:ext uri="{BB962C8B-B14F-4D97-AF65-F5344CB8AC3E}">
        <p14:creationId xmlns:p14="http://schemas.microsoft.com/office/powerpoint/2010/main" val="37130756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361968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729760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0674421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6743630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6813620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685800" y="630238"/>
            <a:ext cx="3778250" cy="2125662"/>
          </a:xfrm>
          <a:ln/>
        </p:spPr>
      </p:sp>
      <p:sp>
        <p:nvSpPr>
          <p:cNvPr id="245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6977532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46</a:t>
            </a:fld>
            <a:endParaRPr lang="en-US" dirty="0"/>
          </a:p>
        </p:txBody>
      </p:sp>
    </p:spTree>
    <p:extLst>
      <p:ext uri="{BB962C8B-B14F-4D97-AF65-F5344CB8AC3E}">
        <p14:creationId xmlns:p14="http://schemas.microsoft.com/office/powerpoint/2010/main" val="29639470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3F58AFA5-9C8F-1A9F-940F-BCADBC6EE40E}"/>
              </a:ext>
            </a:extLst>
          </p:cNvPr>
          <p:cNvSpPr>
            <a:spLocks noGrp="1"/>
          </p:cNvSpPr>
          <p:nvPr>
            <p:ph sz="quarter" idx="12"/>
          </p:nvPr>
        </p:nvSpPr>
        <p:spPr>
          <a:xfrm>
            <a:off x="2003425" y="6345238"/>
            <a:ext cx="9197975" cy="36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2170826813"/>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pic>
        <p:nvPicPr>
          <p:cNvPr id="17" name="Picture 16">
            <a:extLst>
              <a:ext uri="{FF2B5EF4-FFF2-40B4-BE49-F238E27FC236}">
                <a16:creationId xmlns:a16="http://schemas.microsoft.com/office/drawing/2014/main" id="{EAF0C6CA-9F2E-439D-8A9B-5B8BD35A9360}"/>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5" name="TextBox 4">
            <a:extLst>
              <a:ext uri="{FF2B5EF4-FFF2-40B4-BE49-F238E27FC236}">
                <a16:creationId xmlns:a16="http://schemas.microsoft.com/office/drawing/2014/main" id="{0AC82444-0955-4D27-B77E-A9BCEA7A20A2}"/>
              </a:ext>
            </a:extLst>
          </p:cNvPr>
          <p:cNvSpPr txBox="1"/>
          <p:nvPr userDrawn="1"/>
        </p:nvSpPr>
        <p:spPr>
          <a:xfrm>
            <a:off x="2322513" y="6393561"/>
            <a:ext cx="8677275"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Rob Thompson and Jack Erjavec</a:t>
            </a:r>
            <a:r>
              <a:rPr lang="en-US" sz="1200" kern="1200" dirty="0">
                <a:solidFill>
                  <a:schemeClr val="bg1"/>
                </a:solidFill>
                <a:latin typeface="Arial" panose="020B0604020202020204" pitchFamily="34" charset="0"/>
                <a:cs typeface="Arial" panose="020B0604020202020204" pitchFamily="34" charset="0"/>
              </a:rPr>
              <a:t>, Automotive Technology: A Systems Approach, 8</a:t>
            </a:r>
            <a:r>
              <a:rPr lang="en-US" sz="1200" kern="1200" baseline="30000" dirty="0">
                <a:solidFill>
                  <a:schemeClr val="bg1"/>
                </a:solidFill>
                <a:latin typeface="Arial" panose="020B0604020202020204" pitchFamily="34" charset="0"/>
                <a:cs typeface="Arial" panose="020B0604020202020204" pitchFamily="34" charset="0"/>
              </a:rPr>
              <a:t>th</a:t>
            </a:r>
            <a:r>
              <a:rPr lang="en-US" sz="1200" kern="1200" dirty="0">
                <a:solidFill>
                  <a:schemeClr val="bg1"/>
                </a:solidFill>
                <a:latin typeface="Arial" panose="020B0604020202020204" pitchFamily="34" charset="0"/>
                <a:cs typeface="Arial" panose="020B0604020202020204" pitchFamily="34" charset="0"/>
              </a:rPr>
              <a:t> Edition. © 2025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5"/>
            <a:ext cx="11241915" cy="888829"/>
          </a:xfrm>
        </p:spPr>
        <p:txBody>
          <a:bodyPr anchor="ctr"/>
          <a:lstStyle>
            <a:lvl1pPr>
              <a:defRPr/>
            </a:lvl1pPr>
          </a:lstStyle>
          <a:p>
            <a:r>
              <a:rPr lang="en-US" dirty="0"/>
              <a:t>Slide Title</a:t>
            </a:r>
          </a:p>
        </p:txBody>
      </p:sp>
      <p:sp>
        <p:nvSpPr>
          <p:cNvPr id="3" name="Content Placeholder"/>
          <p:cNvSpPr>
            <a:spLocks noGrp="1"/>
          </p:cNvSpPr>
          <p:nvPr>
            <p:ph idx="1" hasCustomPrompt="1"/>
          </p:nvPr>
        </p:nvSpPr>
        <p:spPr>
          <a:xfrm>
            <a:off x="476843" y="1563624"/>
            <a:ext cx="11241915" cy="4613339"/>
          </a:xfrm>
        </p:spPr>
        <p:txBody>
          <a:bodyPr/>
          <a:lstStyle>
            <a:lvl1pPr marL="357188" indent="-357188">
              <a:lnSpc>
                <a:spcPct val="100000"/>
              </a:lnSpc>
              <a:spcBef>
                <a:spcPts val="624"/>
              </a:spcBef>
              <a:spcAft>
                <a:spcPts val="0"/>
              </a:spcAft>
              <a:defRPr sz="2600"/>
            </a:lvl1pPr>
            <a:lvl2pPr marL="714375" indent="-357188">
              <a:lnSpc>
                <a:spcPct val="100000"/>
              </a:lnSpc>
              <a:spcBef>
                <a:spcPts val="624"/>
              </a:spcBef>
              <a:spcAft>
                <a:spcPts val="0"/>
              </a:spcAft>
              <a:defRPr sz="2400" b="0"/>
            </a:lvl2pPr>
            <a:lvl3pPr marL="1079500" indent="-366713">
              <a:lnSpc>
                <a:spcPct val="100000"/>
              </a:lnSpc>
              <a:spcBef>
                <a:spcPts val="624"/>
              </a:spcBef>
              <a:spcAft>
                <a:spcPts val="0"/>
              </a:spcAft>
              <a:defRPr sz="2200" b="0"/>
            </a:lvl3pPr>
            <a:lvl4pPr marL="1371600" marR="0" indent="0" algn="l" defTabSz="914400" rtl="0" eaLnBrk="1" fontAlgn="auto" latinLnBrk="0" hangingPunct="1">
              <a:lnSpc>
                <a:spcPct val="100000"/>
              </a:lnSpc>
              <a:spcBef>
                <a:spcPts val="624"/>
              </a:spcBef>
              <a:spcAft>
                <a:spcPts val="60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6"/>
            <a:ext cx="11241915" cy="822154"/>
          </a:xfrm>
        </p:spPr>
        <p:txBody>
          <a:bodyPr anchor="ctr"/>
          <a:lstStyle>
            <a:lvl1pPr>
              <a:defRPr/>
            </a:lvl1pPr>
          </a:lstStyle>
          <a:p>
            <a:r>
              <a:rPr lang="en-US" dirty="0"/>
              <a:t>Slide Title</a:t>
            </a:r>
          </a:p>
        </p:txBody>
      </p:sp>
      <p:sp>
        <p:nvSpPr>
          <p:cNvPr id="3" name="Content Placeholder"/>
          <p:cNvSpPr>
            <a:spLocks noGrp="1"/>
          </p:cNvSpPr>
          <p:nvPr>
            <p:ph idx="1" hasCustomPrompt="1"/>
          </p:nvPr>
        </p:nvSpPr>
        <p:spPr>
          <a:xfrm>
            <a:off x="476843" y="1508125"/>
            <a:ext cx="8429413" cy="1920876"/>
          </a:xfrm>
        </p:spPr>
        <p:txBody>
          <a:bodyPr/>
          <a:lstStyle>
            <a:lvl1pPr marL="357188" indent="-357188">
              <a:lnSpc>
                <a:spcPct val="100000"/>
              </a:lnSpc>
              <a:spcBef>
                <a:spcPts val="624"/>
              </a:spcBef>
              <a:spcAft>
                <a:spcPts val="0"/>
              </a:spcAft>
              <a:defRPr sz="2600"/>
            </a:lvl1pPr>
            <a:lvl2pPr marL="714375" indent="-357188">
              <a:lnSpc>
                <a:spcPct val="100000"/>
              </a:lnSpc>
              <a:spcBef>
                <a:spcPts val="624"/>
              </a:spcBef>
              <a:spcAft>
                <a:spcPts val="0"/>
              </a:spcAft>
              <a:defRPr sz="2400" b="0"/>
            </a:lvl2pPr>
            <a:lvl3pPr marL="1079500" indent="-366713">
              <a:lnSpc>
                <a:spcPct val="100000"/>
              </a:lnSpc>
              <a:spcBef>
                <a:spcPts val="624"/>
              </a:spcBef>
              <a:spcAft>
                <a:spcPts val="0"/>
              </a:spcAft>
              <a:defRPr sz="2200" b="0"/>
            </a:lvl3pPr>
            <a:lvl4pPr marL="1371600" marR="0" indent="0" algn="l" defTabSz="914400" rtl="0" eaLnBrk="1" fontAlgn="auto" latinLnBrk="0" hangingPunct="1">
              <a:lnSpc>
                <a:spcPct val="100000"/>
              </a:lnSpc>
              <a:spcBef>
                <a:spcPts val="624"/>
              </a:spcBef>
              <a:spcAft>
                <a:spcPts val="60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p:txBody>
      </p:sp>
      <p:sp>
        <p:nvSpPr>
          <p:cNvPr id="5" name="Picture Placeholder 4">
            <a:extLst>
              <a:ext uri="{FF2B5EF4-FFF2-40B4-BE49-F238E27FC236}">
                <a16:creationId xmlns:a16="http://schemas.microsoft.com/office/drawing/2014/main" id="{E47313B8-53B1-7A6A-8F77-4F4E24937793}"/>
              </a:ext>
            </a:extLst>
          </p:cNvPr>
          <p:cNvSpPr>
            <a:spLocks noGrp="1"/>
          </p:cNvSpPr>
          <p:nvPr>
            <p:ph type="pic" sz="quarter" idx="10"/>
          </p:nvPr>
        </p:nvSpPr>
        <p:spPr>
          <a:xfrm>
            <a:off x="712788" y="3713163"/>
            <a:ext cx="3640137" cy="1636712"/>
          </a:xfrm>
        </p:spPr>
        <p:txBody>
          <a:bodyPr/>
          <a:lstStyle/>
          <a:p>
            <a:endParaRPr lang="en-IN"/>
          </a:p>
        </p:txBody>
      </p:sp>
      <p:sp>
        <p:nvSpPr>
          <p:cNvPr id="7" name="Picture Placeholder 6">
            <a:extLst>
              <a:ext uri="{FF2B5EF4-FFF2-40B4-BE49-F238E27FC236}">
                <a16:creationId xmlns:a16="http://schemas.microsoft.com/office/drawing/2014/main" id="{105267F2-31F2-77F2-A27F-B56E94585FF8}"/>
              </a:ext>
            </a:extLst>
          </p:cNvPr>
          <p:cNvSpPr>
            <a:spLocks noGrp="1"/>
          </p:cNvSpPr>
          <p:nvPr>
            <p:ph type="pic" sz="quarter" idx="11"/>
          </p:nvPr>
        </p:nvSpPr>
        <p:spPr>
          <a:xfrm>
            <a:off x="5157788" y="3713163"/>
            <a:ext cx="3062287" cy="1343025"/>
          </a:xfrm>
        </p:spPr>
        <p:txBody>
          <a:bodyPr/>
          <a:lstStyle/>
          <a:p>
            <a:endParaRPr lang="en-IN"/>
          </a:p>
        </p:txBody>
      </p:sp>
      <p:sp>
        <p:nvSpPr>
          <p:cNvPr id="9" name="Text Placeholder 8">
            <a:extLst>
              <a:ext uri="{FF2B5EF4-FFF2-40B4-BE49-F238E27FC236}">
                <a16:creationId xmlns:a16="http://schemas.microsoft.com/office/drawing/2014/main" id="{BDAE2A21-8E1D-3072-D9D5-B4ABBD4288E5}"/>
              </a:ext>
            </a:extLst>
          </p:cNvPr>
          <p:cNvSpPr>
            <a:spLocks noGrp="1"/>
          </p:cNvSpPr>
          <p:nvPr>
            <p:ph type="body" sz="quarter" idx="12"/>
          </p:nvPr>
        </p:nvSpPr>
        <p:spPr>
          <a:xfrm>
            <a:off x="7839075" y="2259013"/>
            <a:ext cx="3408363" cy="1454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Content Placeholder 5">
            <a:extLst>
              <a:ext uri="{FF2B5EF4-FFF2-40B4-BE49-F238E27FC236}">
                <a16:creationId xmlns:a16="http://schemas.microsoft.com/office/drawing/2014/main" id="{81AE453B-F2D5-46C4-9D84-9D0B64FA7F94}"/>
              </a:ext>
            </a:extLst>
          </p:cNvPr>
          <p:cNvSpPr>
            <a:spLocks noGrp="1"/>
          </p:cNvSpPr>
          <p:nvPr>
            <p:ph sz="quarter" idx="13"/>
          </p:nvPr>
        </p:nvSpPr>
        <p:spPr>
          <a:xfrm>
            <a:off x="8494713" y="485616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1801015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Content and image caption">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6"/>
            <a:ext cx="11241915" cy="710096"/>
          </a:xfrm>
        </p:spPr>
        <p:txBody>
          <a:bodyPr/>
          <a:lstStyle>
            <a:lvl1pPr>
              <a:defRPr/>
            </a:lvl1pPr>
          </a:lstStyle>
          <a:p>
            <a:r>
              <a:rPr lang="en-US" dirty="0"/>
              <a:t>Slide Title</a:t>
            </a:r>
          </a:p>
        </p:txBody>
      </p:sp>
      <p:sp>
        <p:nvSpPr>
          <p:cNvPr id="3" name="Content Placeholder"/>
          <p:cNvSpPr>
            <a:spLocks noGrp="1"/>
          </p:cNvSpPr>
          <p:nvPr>
            <p:ph idx="1" hasCustomPrompt="1"/>
          </p:nvPr>
        </p:nvSpPr>
        <p:spPr>
          <a:xfrm>
            <a:off x="476843" y="1280161"/>
            <a:ext cx="11241915" cy="1775012"/>
          </a:xfrm>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4">
            <a:extLst>
              <a:ext uri="{FF2B5EF4-FFF2-40B4-BE49-F238E27FC236}">
                <a16:creationId xmlns:a16="http://schemas.microsoft.com/office/drawing/2014/main" id="{1AC100CB-6DA0-4C44-8AA9-EF1047C778AB}"/>
              </a:ext>
            </a:extLst>
          </p:cNvPr>
          <p:cNvSpPr>
            <a:spLocks noGrp="1"/>
          </p:cNvSpPr>
          <p:nvPr>
            <p:ph sz="quarter" idx="10"/>
          </p:nvPr>
        </p:nvSpPr>
        <p:spPr>
          <a:xfrm>
            <a:off x="476250" y="3184525"/>
            <a:ext cx="4525963" cy="61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Content Placeholder 6">
            <a:extLst>
              <a:ext uri="{FF2B5EF4-FFF2-40B4-BE49-F238E27FC236}">
                <a16:creationId xmlns:a16="http://schemas.microsoft.com/office/drawing/2014/main" id="{1F7CD4DC-2798-4D91-B8F0-39A1E2678118}"/>
              </a:ext>
            </a:extLst>
          </p:cNvPr>
          <p:cNvSpPr>
            <a:spLocks noGrp="1"/>
          </p:cNvSpPr>
          <p:nvPr>
            <p:ph sz="quarter" idx="11"/>
          </p:nvPr>
        </p:nvSpPr>
        <p:spPr>
          <a:xfrm>
            <a:off x="476250" y="3925888"/>
            <a:ext cx="4525963" cy="61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Picture Placeholder 8">
            <a:extLst>
              <a:ext uri="{FF2B5EF4-FFF2-40B4-BE49-F238E27FC236}">
                <a16:creationId xmlns:a16="http://schemas.microsoft.com/office/drawing/2014/main" id="{CECB35C0-7E7B-4B64-AB45-C70040E7FA29}"/>
              </a:ext>
            </a:extLst>
          </p:cNvPr>
          <p:cNvSpPr>
            <a:spLocks noGrp="1"/>
          </p:cNvSpPr>
          <p:nvPr>
            <p:ph type="pic" sz="quarter" idx="12"/>
          </p:nvPr>
        </p:nvSpPr>
        <p:spPr>
          <a:xfrm>
            <a:off x="5745163" y="3313113"/>
            <a:ext cx="2484437" cy="1054100"/>
          </a:xfrm>
        </p:spPr>
        <p:txBody>
          <a:bodyPr/>
          <a:lstStyle/>
          <a:p>
            <a:endParaRPr lang="en-IN"/>
          </a:p>
        </p:txBody>
      </p:sp>
      <p:sp>
        <p:nvSpPr>
          <p:cNvPr id="11" name="Table Placeholder 10">
            <a:extLst>
              <a:ext uri="{FF2B5EF4-FFF2-40B4-BE49-F238E27FC236}">
                <a16:creationId xmlns:a16="http://schemas.microsoft.com/office/drawing/2014/main" id="{2B7EAAD5-547E-45DC-AFA3-8EB40988EED3}"/>
              </a:ext>
            </a:extLst>
          </p:cNvPr>
          <p:cNvSpPr>
            <a:spLocks noGrp="1"/>
          </p:cNvSpPr>
          <p:nvPr>
            <p:ph type="tbl" sz="quarter" idx="13"/>
          </p:nvPr>
        </p:nvSpPr>
        <p:spPr>
          <a:xfrm>
            <a:off x="8756650" y="3313113"/>
            <a:ext cx="2398713" cy="903287"/>
          </a:xfrm>
        </p:spPr>
        <p:txBody>
          <a:bodyPr/>
          <a:lstStyle/>
          <a:p>
            <a:endParaRPr lang="en-IN"/>
          </a:p>
        </p:txBody>
      </p:sp>
      <p:sp>
        <p:nvSpPr>
          <p:cNvPr id="13" name="Picture Placeholder 12">
            <a:extLst>
              <a:ext uri="{FF2B5EF4-FFF2-40B4-BE49-F238E27FC236}">
                <a16:creationId xmlns:a16="http://schemas.microsoft.com/office/drawing/2014/main" id="{A7F819D0-A76F-44C0-AE24-4C6C01B1D4A3}"/>
              </a:ext>
            </a:extLst>
          </p:cNvPr>
          <p:cNvSpPr>
            <a:spLocks noGrp="1"/>
          </p:cNvSpPr>
          <p:nvPr>
            <p:ph type="pic" sz="quarter" idx="14"/>
          </p:nvPr>
        </p:nvSpPr>
        <p:spPr>
          <a:xfrm>
            <a:off x="5948363" y="4538663"/>
            <a:ext cx="2033587" cy="754062"/>
          </a:xfrm>
        </p:spPr>
        <p:txBody>
          <a:bodyPr/>
          <a:lstStyle/>
          <a:p>
            <a:endParaRPr lang="en-IN"/>
          </a:p>
        </p:txBody>
      </p:sp>
    </p:spTree>
    <p:custDataLst>
      <p:tags r:id="rId1"/>
    </p:custDataLst>
    <p:extLst>
      <p:ext uri="{BB962C8B-B14F-4D97-AF65-F5344CB8AC3E}">
        <p14:creationId xmlns:p14="http://schemas.microsoft.com/office/powerpoint/2010/main" val="3642035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76843" y="473245"/>
            <a:ext cx="11241915" cy="514307"/>
          </a:xfrm>
        </p:spPr>
        <p:txBody>
          <a:bodyPr/>
          <a:lstStyle>
            <a:lvl1pPr>
              <a:defRPr sz="3200">
                <a:latin typeface="Arial" panose="020B0604020202020204" pitchFamily="34" charset="0"/>
                <a:cs typeface="Arial" panose="020B0604020202020204" pitchFamily="34" charset="0"/>
              </a:defRPr>
            </a:lvl1pPr>
          </a:lstStyle>
          <a:p>
            <a:r>
              <a:rPr lang="en-US" dirty="0"/>
              <a:t>Slide Title</a:t>
            </a:r>
          </a:p>
        </p:txBody>
      </p:sp>
      <p:sp>
        <p:nvSpPr>
          <p:cNvPr id="3" name="Content Placeholder 1"/>
          <p:cNvSpPr>
            <a:spLocks noGrp="1"/>
          </p:cNvSpPr>
          <p:nvPr>
            <p:ph idx="1" hasCustomPrompt="1"/>
          </p:nvPr>
        </p:nvSpPr>
        <p:spPr>
          <a:xfrm>
            <a:off x="480446" y="1176279"/>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6090" y="1176279"/>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5498" y="1185185"/>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5518" y="1185185"/>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80445" y="3359963"/>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6089" y="3359963"/>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5497" y="3368869"/>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5517" y="3368869"/>
            <a:ext cx="2563241" cy="2024480"/>
          </a:xfrm>
        </p:spPr>
        <p:txBody>
          <a:bodyPr/>
          <a:lstStyle>
            <a:lvl1pPr marL="0" indent="0" algn="ctr">
              <a:buNone/>
              <a:defRPr/>
            </a:lvl1pPr>
          </a:lstStyle>
          <a:p>
            <a:pPr lvl="0"/>
            <a:r>
              <a:rPr lang="en-US" dirty="0"/>
              <a:t>Insert here 8</a:t>
            </a:r>
          </a:p>
        </p:txBody>
      </p:sp>
      <p:sp>
        <p:nvSpPr>
          <p:cNvPr id="5" name="Content Placeholder 4">
            <a:extLst>
              <a:ext uri="{FF2B5EF4-FFF2-40B4-BE49-F238E27FC236}">
                <a16:creationId xmlns:a16="http://schemas.microsoft.com/office/drawing/2014/main" id="{35C72E4F-A7C3-409B-BAF8-F0E298B159F3}"/>
              </a:ext>
            </a:extLst>
          </p:cNvPr>
          <p:cNvSpPr>
            <a:spLocks noGrp="1"/>
          </p:cNvSpPr>
          <p:nvPr>
            <p:ph sz="quarter" idx="17"/>
          </p:nvPr>
        </p:nvSpPr>
        <p:spPr>
          <a:xfrm>
            <a:off x="741363" y="5549900"/>
            <a:ext cx="1909762" cy="430213"/>
          </a:xfrm>
        </p:spPr>
        <p:txBody>
          <a:bodyPr/>
          <a:lstStyle>
            <a:lvl1pPr marL="0" indent="0">
              <a:buNone/>
              <a:defRPr/>
            </a:lvl1pPr>
          </a:lstStyle>
          <a:p>
            <a:pPr lvl="0"/>
            <a:endParaRPr lang="en-IN" dirty="0"/>
          </a:p>
        </p:txBody>
      </p:sp>
      <p:sp>
        <p:nvSpPr>
          <p:cNvPr id="7" name="Content Placeholder 6">
            <a:extLst>
              <a:ext uri="{FF2B5EF4-FFF2-40B4-BE49-F238E27FC236}">
                <a16:creationId xmlns:a16="http://schemas.microsoft.com/office/drawing/2014/main" id="{6F86A118-C12B-4436-85D9-DB750AEF2CBF}"/>
              </a:ext>
            </a:extLst>
          </p:cNvPr>
          <p:cNvSpPr>
            <a:spLocks noGrp="1"/>
          </p:cNvSpPr>
          <p:nvPr>
            <p:ph sz="quarter" idx="18"/>
          </p:nvPr>
        </p:nvSpPr>
        <p:spPr>
          <a:xfrm>
            <a:off x="3305175" y="5549900"/>
            <a:ext cx="2562225" cy="430213"/>
          </a:xfrm>
        </p:spPr>
        <p:txBody>
          <a:bodyPr/>
          <a:lstStyle>
            <a:lvl1pPr marL="0" indent="0">
              <a:buNone/>
              <a:defRPr/>
            </a:lvl1pPr>
          </a:lstStyle>
          <a:p>
            <a:pPr lvl="0"/>
            <a:endParaRPr lang="en-IN" dirty="0"/>
          </a:p>
        </p:txBody>
      </p:sp>
      <p:sp>
        <p:nvSpPr>
          <p:cNvPr id="10" name="Content Placeholder 9">
            <a:extLst>
              <a:ext uri="{FF2B5EF4-FFF2-40B4-BE49-F238E27FC236}">
                <a16:creationId xmlns:a16="http://schemas.microsoft.com/office/drawing/2014/main" id="{C14BA7D1-7A46-4063-9F1E-B1AB6EAC6240}"/>
              </a:ext>
            </a:extLst>
          </p:cNvPr>
          <p:cNvSpPr>
            <a:spLocks noGrp="1"/>
          </p:cNvSpPr>
          <p:nvPr>
            <p:ph sz="quarter" idx="19"/>
          </p:nvPr>
        </p:nvSpPr>
        <p:spPr>
          <a:xfrm>
            <a:off x="6181725" y="5543550"/>
            <a:ext cx="2562225" cy="514350"/>
          </a:xfrm>
        </p:spPr>
        <p:txBody>
          <a:bodyPr/>
          <a:lstStyle>
            <a:lvl1pPr marL="0" indent="0">
              <a:buNone/>
              <a:defRPr/>
            </a:lvl1pPr>
          </a:lstStyle>
          <a:p>
            <a:pPr lvl="0"/>
            <a:endParaRPr lang="en-IN" dirty="0"/>
          </a:p>
        </p:txBody>
      </p:sp>
      <p:sp>
        <p:nvSpPr>
          <p:cNvPr id="21" name="Content Placeholder 9">
            <a:extLst>
              <a:ext uri="{FF2B5EF4-FFF2-40B4-BE49-F238E27FC236}">
                <a16:creationId xmlns:a16="http://schemas.microsoft.com/office/drawing/2014/main" id="{787F1E92-A8FA-4566-BE3E-EAA135FDBA53}"/>
              </a:ext>
            </a:extLst>
          </p:cNvPr>
          <p:cNvSpPr>
            <a:spLocks noGrp="1"/>
          </p:cNvSpPr>
          <p:nvPr>
            <p:ph sz="quarter" idx="20"/>
          </p:nvPr>
        </p:nvSpPr>
        <p:spPr>
          <a:xfrm>
            <a:off x="9156533" y="5549900"/>
            <a:ext cx="2562225" cy="514350"/>
          </a:xfrm>
        </p:spPr>
        <p:txBody>
          <a:bodyPr/>
          <a:lstStyle>
            <a:lvl1pPr marL="0" indent="0">
              <a:buNone/>
              <a:defRPr/>
            </a:lvl1pPr>
          </a:lstStyle>
          <a:p>
            <a:pPr lvl="0"/>
            <a:endParaRPr lang="en-IN" dirty="0"/>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0B94EA-E0FC-45F7-8A06-3CE9694ED2AD}" type="datetimeFigureOut">
              <a:rPr lang="en-US" smtClean="0"/>
              <a:pPr/>
              <a:t>10/18/2024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464818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176964"/>
            <a:ext cx="12192000" cy="6810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pic>
        <p:nvPicPr>
          <p:cNvPr id="14" name="Picture 13">
            <a:extLst>
              <a:ext uri="{FF2B5EF4-FFF2-40B4-BE49-F238E27FC236}">
                <a16:creationId xmlns:a16="http://schemas.microsoft.com/office/drawing/2014/main" id="{E7C5765A-7DA4-4F63-BBF6-FDB000C6FC14}"/>
              </a:ext>
              <a:ext uri="{C183D7F6-B498-43B3-948B-1728B52AA6E4}">
                <adec:decorative xmlns:adec="http://schemas.microsoft.com/office/drawing/2017/decorative" val="1"/>
              </a:ext>
            </a:extLst>
          </p:cNvPr>
          <p:cNvPicPr>
            <a:picLocks noChangeAspect="1"/>
          </p:cNvPicPr>
          <p:nvPr userDrawn="1"/>
        </p:nvPicPr>
        <p:blipFill>
          <a:blip r:embed="rId18"/>
          <a:stretch>
            <a:fillRect/>
          </a:stretch>
        </p:blipFill>
        <p:spPr>
          <a:xfrm>
            <a:off x="183087" y="6223885"/>
            <a:ext cx="1820281" cy="610675"/>
          </a:xfrm>
          <a:prstGeom prst="rect">
            <a:avLst/>
          </a:prstGeom>
        </p:spPr>
      </p:pic>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4" name="Content Placeholder 4">
            <a:extLst>
              <a:ext uri="{FF2B5EF4-FFF2-40B4-BE49-F238E27FC236}">
                <a16:creationId xmlns:a16="http://schemas.microsoft.com/office/drawing/2014/main" id="{2AECD483-4982-9714-8C62-7F08C80D6575}"/>
              </a:ext>
            </a:extLst>
          </p:cNvPr>
          <p:cNvSpPr txBox="1">
            <a:spLocks/>
          </p:cNvSpPr>
          <p:nvPr userDrawn="1"/>
        </p:nvSpPr>
        <p:spPr>
          <a:xfrm>
            <a:off x="2017717" y="6329045"/>
            <a:ext cx="9345472" cy="461665"/>
          </a:xfrm>
          <a:prstGeom prst="rect">
            <a:avLst/>
          </a:prstGeom>
          <a:noFill/>
        </p:spPr>
        <p:txBody>
          <a:bodyPr wrap="square" rtlCol="0">
            <a:spAutoFit/>
          </a:bodyPr>
          <a:lst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en-US" sz="1200">
                <a:solidFill>
                  <a:schemeClr val="bg1"/>
                </a:solidFill>
                <a:cs typeface="Arial" panose="020B0604020202020204" pitchFamily="34" charset="0"/>
              </a:rPr>
              <a:t>Rob Thompson and Jack Erjavec, Automotive Technology: A Systems Approach, 8</a:t>
            </a:r>
            <a:r>
              <a:rPr lang="en-US" sz="1200" baseline="30000">
                <a:solidFill>
                  <a:schemeClr val="bg1"/>
                </a:solidFill>
                <a:cs typeface="Arial" panose="020B0604020202020204" pitchFamily="34" charset="0"/>
              </a:rPr>
              <a:t>th</a:t>
            </a:r>
            <a:r>
              <a:rPr lang="en-US" sz="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dirty="0">
              <a:solidFill>
                <a:schemeClr val="bg1"/>
              </a:solidFill>
              <a:cs typeface="Arial" panose="020B0604020202020204" pitchFamily="34" charset="0"/>
            </a:endParaRPr>
          </a:p>
        </p:txBody>
      </p:sp>
    </p:spTree>
    <p:custDataLst>
      <p:tags r:id="rId17"/>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67" r:id="rId4"/>
    <p:sldLayoutId id="2147483766" r:id="rId5"/>
    <p:sldLayoutId id="2147483728" r:id="rId6"/>
    <p:sldLayoutId id="2147483736" r:id="rId7"/>
    <p:sldLayoutId id="2147483729" r:id="rId8"/>
    <p:sldLayoutId id="2147483760" r:id="rId9"/>
    <p:sldLayoutId id="2147483730" r:id="rId10"/>
    <p:sldLayoutId id="2147483732" r:id="rId11"/>
    <p:sldLayoutId id="2147483761" r:id="rId12"/>
    <p:sldLayoutId id="2147483737" r:id="rId13"/>
    <p:sldLayoutId id="2147483762" r:id="rId14"/>
    <p:sldLayoutId id="2147483769" r:id="rId15"/>
  </p:sldLayoutIdLst>
  <p:hf sldNum="0" hd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8.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3.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t>
            </a:r>
            <a:br>
              <a:rPr lang="en-US" sz="4000" dirty="0">
                <a:cs typeface="Arial" panose="020B0604020202020204" pitchFamily="34" charset="0"/>
              </a:rPr>
            </a:br>
            <a:r>
              <a:rPr lang="en-US" sz="4000" dirty="0">
                <a:cs typeface="Arial" panose="020B0604020202020204" pitchFamily="34" charset="0"/>
              </a:rPr>
              <a:t>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3: Basic Theories and Math</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7717" y="6329045"/>
            <a:ext cx="9345472" cy="461665"/>
          </a:xfrm>
          <a:prstGeom prst="rect">
            <a:avLst/>
          </a:prstGeom>
          <a:noFill/>
        </p:spPr>
        <p:txBody>
          <a:bodyPr wrap="square" rtlCol="0">
            <a:spAutoFit/>
          </a:bodyPr>
          <a:lstStyle/>
          <a:p>
            <a:pPr marL="0" indent="0">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BCA28CB-E86D-4243-9B4B-3C703AE85185}"/>
              </a:ext>
            </a:extLst>
          </p:cNvPr>
          <p:cNvSpPr>
            <a:spLocks noGrp="1"/>
          </p:cNvSpPr>
          <p:nvPr>
            <p:ph type="title"/>
          </p:nvPr>
        </p:nvSpPr>
        <p:spPr/>
        <p:txBody>
          <a:bodyPr/>
          <a:lstStyle/>
          <a:p>
            <a:r>
              <a:rPr lang="en-US" dirty="0"/>
              <a:t>Chapter Objectives (1 of 2)</a:t>
            </a:r>
            <a:endParaRPr lang="en-IN" dirty="0"/>
          </a:p>
        </p:txBody>
      </p:sp>
      <p:sp>
        <p:nvSpPr>
          <p:cNvPr id="4" name="Content Placeholder 3">
            <a:extLst>
              <a:ext uri="{FF2B5EF4-FFF2-40B4-BE49-F238E27FC236}">
                <a16:creationId xmlns:a16="http://schemas.microsoft.com/office/drawing/2014/main" id="{5537EF08-0DB3-438B-A55D-5E2D3A18F40B}"/>
              </a:ext>
            </a:extLst>
          </p:cNvPr>
          <p:cNvSpPr>
            <a:spLocks noGrp="1"/>
          </p:cNvSpPr>
          <p:nvPr>
            <p:ph idx="1"/>
          </p:nvPr>
        </p:nvSpPr>
        <p:spPr/>
        <p:txBody>
          <a:bodyPr/>
          <a:lstStyle/>
          <a:p>
            <a:pPr marR="0" lvl="0">
              <a:spcAft>
                <a:spcPts val="600"/>
              </a:spcAft>
            </a:pPr>
            <a:r>
              <a:rPr lang="en-US" dirty="0"/>
              <a:t>03.01 Describe the states in which all matter exists.</a:t>
            </a:r>
          </a:p>
          <a:p>
            <a:pPr marR="0" lvl="0">
              <a:spcAft>
                <a:spcPts val="600"/>
              </a:spcAft>
            </a:pPr>
            <a:r>
              <a:rPr lang="en-US" dirty="0"/>
              <a:t>03.02 Explain what energy is and how energy is converted.</a:t>
            </a:r>
          </a:p>
          <a:p>
            <a:pPr marR="0" lvl="0">
              <a:spcAft>
                <a:spcPts val="600"/>
              </a:spcAft>
            </a:pPr>
            <a:r>
              <a:rPr lang="en-US" dirty="0"/>
              <a:t>03.03 Explain how volume, ratios, and proportions are used in automotive service.</a:t>
            </a:r>
          </a:p>
          <a:p>
            <a:pPr marR="0" lvl="0">
              <a:spcAft>
                <a:spcPts val="600"/>
              </a:spcAft>
            </a:pPr>
            <a:r>
              <a:rPr lang="en-US" dirty="0"/>
              <a:t>03.04 Explain the forces that influence the design and operation of an automobile.</a:t>
            </a:r>
          </a:p>
          <a:p>
            <a:pPr marR="0" lvl="0">
              <a:spcAft>
                <a:spcPts val="600"/>
              </a:spcAft>
            </a:pPr>
            <a:r>
              <a:rPr lang="en-US" dirty="0"/>
              <a:t>03.05 Describe and apply Newton's laws of motion to an automobile.</a:t>
            </a:r>
          </a:p>
          <a:p>
            <a:pPr marR="0" lvl="0">
              <a:spcAft>
                <a:spcPts val="600"/>
              </a:spcAft>
            </a:pPr>
            <a:r>
              <a:rPr lang="en-US" dirty="0"/>
              <a:t>03.06 Define work and how it applies to vehicle </a:t>
            </a:r>
            <a:r>
              <a:rPr lang="en-US"/>
              <a:t>operation.</a:t>
            </a:r>
            <a:endParaRPr lang="en-US" dirty="0"/>
          </a:p>
        </p:txBody>
      </p:sp>
    </p:spTree>
    <p:custDataLst>
      <p:tags r:id="rId1"/>
    </p:custDataLst>
    <p:extLst>
      <p:ext uri="{BB962C8B-B14F-4D97-AF65-F5344CB8AC3E}">
        <p14:creationId xmlns:p14="http://schemas.microsoft.com/office/powerpoint/2010/main" val="448804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BCA28CB-E86D-4243-9B4B-3C703AE85185}"/>
              </a:ext>
            </a:extLst>
          </p:cNvPr>
          <p:cNvSpPr>
            <a:spLocks noGrp="1"/>
          </p:cNvSpPr>
          <p:nvPr>
            <p:ph type="title"/>
          </p:nvPr>
        </p:nvSpPr>
        <p:spPr/>
        <p:txBody>
          <a:bodyPr/>
          <a:lstStyle/>
          <a:p>
            <a:r>
              <a:rPr lang="en-US" dirty="0"/>
              <a:t>Chapter Objectives (2 of 2)</a:t>
            </a:r>
            <a:endParaRPr lang="en-IN" dirty="0"/>
          </a:p>
        </p:txBody>
      </p:sp>
      <p:sp>
        <p:nvSpPr>
          <p:cNvPr id="4" name="Content Placeholder 3">
            <a:extLst>
              <a:ext uri="{FF2B5EF4-FFF2-40B4-BE49-F238E27FC236}">
                <a16:creationId xmlns:a16="http://schemas.microsoft.com/office/drawing/2014/main" id="{5537EF08-0DB3-438B-A55D-5E2D3A18F40B}"/>
              </a:ext>
            </a:extLst>
          </p:cNvPr>
          <p:cNvSpPr>
            <a:spLocks noGrp="1"/>
          </p:cNvSpPr>
          <p:nvPr>
            <p:ph idx="1"/>
          </p:nvPr>
        </p:nvSpPr>
        <p:spPr/>
        <p:txBody>
          <a:bodyPr/>
          <a:lstStyle/>
          <a:p>
            <a:pPr lvl="0">
              <a:spcAft>
                <a:spcPts val="600"/>
              </a:spcAft>
            </a:pPr>
            <a:r>
              <a:rPr lang="en-US" dirty="0"/>
              <a:t>03.07 Describe the origins of sound, noise, and vibration.</a:t>
            </a:r>
          </a:p>
          <a:p>
            <a:pPr>
              <a:spcAft>
                <a:spcPts val="600"/>
              </a:spcAft>
            </a:pPr>
            <a:r>
              <a:rPr lang="en-US" dirty="0"/>
              <a:t>03.08 Explain the laws of hydraulics.</a:t>
            </a:r>
          </a:p>
          <a:p>
            <a:pPr>
              <a:spcAft>
                <a:spcPts val="600"/>
              </a:spcAft>
            </a:pPr>
            <a:r>
              <a:rPr lang="en-US" dirty="0"/>
              <a:t>03.09 Explain the behavior of gases.</a:t>
            </a:r>
          </a:p>
          <a:p>
            <a:pPr>
              <a:spcAft>
                <a:spcPts val="600"/>
              </a:spcAft>
            </a:pPr>
            <a:r>
              <a:rPr lang="en-US" dirty="0"/>
              <a:t>03.10 Identify types of heat transfer.</a:t>
            </a:r>
          </a:p>
          <a:p>
            <a:pPr>
              <a:spcAft>
                <a:spcPts val="600"/>
              </a:spcAft>
            </a:pPr>
            <a:r>
              <a:rPr lang="en-US" dirty="0"/>
              <a:t>03.11 Explain how chemical properties relate to automotive systems.</a:t>
            </a:r>
          </a:p>
          <a:p>
            <a:pPr>
              <a:spcAft>
                <a:spcPts val="600"/>
              </a:spcAft>
            </a:pPr>
            <a:r>
              <a:rPr lang="en-US" dirty="0"/>
              <a:t>03.12 Describe the properties of electricity and </a:t>
            </a:r>
            <a:r>
              <a:rPr lang="en-US"/>
              <a:t>electromagnetism.</a:t>
            </a:r>
            <a:endParaRPr lang="en-US" dirty="0"/>
          </a:p>
        </p:txBody>
      </p:sp>
    </p:spTree>
    <p:custDataLst>
      <p:tags r:id="rId1"/>
    </p:custDataLst>
    <p:extLst>
      <p:ext uri="{BB962C8B-B14F-4D97-AF65-F5344CB8AC3E}">
        <p14:creationId xmlns:p14="http://schemas.microsoft.com/office/powerpoint/2010/main" val="1942070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Matter</a:t>
            </a:r>
          </a:p>
        </p:txBody>
      </p:sp>
      <p:sp>
        <p:nvSpPr>
          <p:cNvPr id="3075" name="Content Placeholder 2"/>
          <p:cNvSpPr>
            <a:spLocks noGrp="1"/>
          </p:cNvSpPr>
          <p:nvPr>
            <p:ph idx="1"/>
          </p:nvPr>
        </p:nvSpPr>
        <p:spPr>
          <a:xfrm>
            <a:off x="476844" y="1508124"/>
            <a:ext cx="7718000" cy="4587875"/>
          </a:xfrm>
        </p:spPr>
        <p:txBody>
          <a:bodyPr>
            <a:noAutofit/>
          </a:bodyPr>
          <a:lstStyle/>
          <a:p>
            <a:pPr>
              <a:spcAft>
                <a:spcPts val="600"/>
              </a:spcAft>
            </a:pPr>
            <a:r>
              <a:rPr lang="en-US" b="1" dirty="0">
                <a:solidFill>
                  <a:schemeClr val="accent1"/>
                </a:solidFill>
              </a:rPr>
              <a:t>Matter</a:t>
            </a:r>
            <a:r>
              <a:rPr lang="en-US" dirty="0">
                <a:solidFill>
                  <a:schemeClr val="accent1"/>
                </a:solidFill>
              </a:rPr>
              <a:t> is anything that occupies </a:t>
            </a:r>
            <a:r>
              <a:rPr lang="en-US">
                <a:solidFill>
                  <a:schemeClr val="accent1"/>
                </a:solidFill>
              </a:rPr>
              <a:t>space.</a:t>
            </a:r>
            <a:endParaRPr lang="en-US" dirty="0">
              <a:solidFill>
                <a:schemeClr val="accent1"/>
              </a:solidFill>
            </a:endParaRPr>
          </a:p>
          <a:p>
            <a:pPr>
              <a:spcAft>
                <a:spcPts val="600"/>
              </a:spcAft>
            </a:pPr>
            <a:r>
              <a:rPr lang="en-US" dirty="0">
                <a:solidFill>
                  <a:schemeClr val="accent1"/>
                </a:solidFill>
              </a:rPr>
              <a:t>All matter is made up of countless tiny particles called </a:t>
            </a:r>
            <a:r>
              <a:rPr lang="en-US" b="1" dirty="0">
                <a:solidFill>
                  <a:schemeClr val="accent1"/>
                </a:solidFill>
              </a:rPr>
              <a:t>atoms.</a:t>
            </a:r>
          </a:p>
          <a:p>
            <a:pPr>
              <a:spcAft>
                <a:spcPts val="600"/>
              </a:spcAft>
            </a:pPr>
            <a:r>
              <a:rPr lang="en-US" dirty="0">
                <a:solidFill>
                  <a:schemeClr val="accent1"/>
                </a:solidFill>
              </a:rPr>
              <a:t>A substance with only one type of atom is referred to as an </a:t>
            </a:r>
            <a:r>
              <a:rPr lang="en-US" b="1">
                <a:solidFill>
                  <a:schemeClr val="accent1"/>
                </a:solidFill>
              </a:rPr>
              <a:t>element.</a:t>
            </a:r>
            <a:endParaRPr lang="en-US" b="1" dirty="0">
              <a:solidFill>
                <a:schemeClr val="accent1"/>
              </a:solidFill>
            </a:endParaRPr>
          </a:p>
          <a:p>
            <a:pPr>
              <a:spcAft>
                <a:spcPts val="600"/>
              </a:spcAft>
            </a:pPr>
            <a:r>
              <a:rPr lang="en-US" dirty="0">
                <a:solidFill>
                  <a:schemeClr val="accent1"/>
                </a:solidFill>
              </a:rPr>
              <a:t>Atomic structure</a:t>
            </a:r>
          </a:p>
          <a:p>
            <a:pPr lvl="1">
              <a:spcAft>
                <a:spcPts val="600"/>
              </a:spcAft>
            </a:pPr>
            <a:r>
              <a:rPr lang="en-US" dirty="0">
                <a:solidFill>
                  <a:schemeClr val="accent1"/>
                </a:solidFill>
              </a:rPr>
              <a:t>Protons are positively charged particles.</a:t>
            </a:r>
          </a:p>
          <a:p>
            <a:pPr lvl="1">
              <a:spcAft>
                <a:spcPts val="600"/>
              </a:spcAft>
            </a:pPr>
            <a:r>
              <a:rPr lang="en-US" dirty="0">
                <a:solidFill>
                  <a:schemeClr val="accent1"/>
                </a:solidFill>
              </a:rPr>
              <a:t>Electrons are negatively charged particles.</a:t>
            </a:r>
          </a:p>
          <a:p>
            <a:pPr lvl="1">
              <a:spcAft>
                <a:spcPts val="600"/>
              </a:spcAft>
            </a:pPr>
            <a:r>
              <a:rPr lang="en-US" dirty="0">
                <a:solidFill>
                  <a:schemeClr val="accent1"/>
                </a:solidFill>
              </a:rPr>
              <a:t>Neutrons have no electrical charge.</a:t>
            </a:r>
          </a:p>
        </p:txBody>
      </p:sp>
      <p:pic>
        <p:nvPicPr>
          <p:cNvPr id="8" name="Picture Placeholder 7" descr="A hydrogen atom with neutrons and protons at the center of the atom and electron at the outer layer of the atom. Electron is represented by small green sphere, electron is represented by small red sphere, and neutron is represented by small yellow sphere."/>
          <p:cNvPicPr>
            <a:picLocks noGrp="1" noChangeAspect="1"/>
          </p:cNvPicPr>
          <p:nvPr>
            <p:ph type="pic" sz="quarter" idx="10"/>
          </p:nvPr>
        </p:nvPicPr>
        <p:blipFill>
          <a:blip r:embed="rId3"/>
          <a:srcRect b="20660"/>
          <a:stretch/>
        </p:blipFill>
        <p:spPr>
          <a:xfrm>
            <a:off x="8100476" y="1274561"/>
            <a:ext cx="3739944" cy="1770297"/>
          </a:xfrm>
          <a:prstGeom prst="rect">
            <a:avLst/>
          </a:prstGeom>
        </p:spPr>
      </p:pic>
      <p:pic>
        <p:nvPicPr>
          <p:cNvPr id="9" name="Picture Placeholder 8" descr="An atom of water molecule that has two hydrogen atoms and one oxygen atom. Each of the hydrogen has protons at the center of the atom represented by a brown sphere marked as plus. The oxygen atom has two shells with protons at the center of the atom, two electrons in the first shell, and eight electrons in the outer shell. Two hydrogen atoms share two electrons in the outermost shell of the oxygen atom."/>
          <p:cNvPicPr>
            <a:picLocks noGrp="1" noChangeAspect="1"/>
          </p:cNvPicPr>
          <p:nvPr>
            <p:ph type="pic" sz="quarter" idx="11"/>
          </p:nvPr>
        </p:nvPicPr>
        <p:blipFill>
          <a:blip r:embed="rId4"/>
          <a:srcRect b="12370"/>
          <a:stretch/>
        </p:blipFill>
        <p:spPr>
          <a:xfrm>
            <a:off x="8144849" y="3596793"/>
            <a:ext cx="3651199" cy="21441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Behavior of the States</a:t>
            </a:r>
          </a:p>
        </p:txBody>
      </p:sp>
      <p:sp>
        <p:nvSpPr>
          <p:cNvPr id="3075" name="Content Placeholder 2"/>
          <p:cNvSpPr>
            <a:spLocks noGrp="1"/>
          </p:cNvSpPr>
          <p:nvPr>
            <p:ph idx="1"/>
          </p:nvPr>
        </p:nvSpPr>
        <p:spPr/>
        <p:txBody>
          <a:bodyPr>
            <a:noAutofit/>
          </a:bodyPr>
          <a:lstStyle/>
          <a:p>
            <a:pPr marL="0" indent="0">
              <a:spcAft>
                <a:spcPts val="600"/>
              </a:spcAft>
              <a:buNone/>
            </a:pPr>
            <a:r>
              <a:rPr lang="en-US" sz="2200" b="1" dirty="0"/>
              <a:t>03-01 Describe the states in which all matter exits.</a:t>
            </a:r>
          </a:p>
          <a:p>
            <a:pPr>
              <a:spcAft>
                <a:spcPts val="600"/>
              </a:spcAft>
            </a:pPr>
            <a:r>
              <a:rPr lang="en-US" sz="2200" dirty="0"/>
              <a:t>The particles of a solid are held together in a rigid structure.</a:t>
            </a:r>
          </a:p>
          <a:p>
            <a:pPr>
              <a:spcAft>
                <a:spcPts val="600"/>
              </a:spcAft>
            </a:pPr>
            <a:r>
              <a:rPr lang="en-US" sz="2200" dirty="0"/>
              <a:t>When a solid dissolves into a liquid, its particles break away from the solid structure and mix evenly in a liquid, forming a solution.</a:t>
            </a:r>
          </a:p>
          <a:p>
            <a:pPr>
              <a:spcAft>
                <a:spcPts val="600"/>
              </a:spcAft>
            </a:pPr>
            <a:r>
              <a:rPr lang="en-US" sz="2200" dirty="0"/>
              <a:t>When a liquid is heated, most will </a:t>
            </a:r>
            <a:r>
              <a:rPr lang="en-US" sz="2200" b="1" dirty="0"/>
              <a:t>evaporate</a:t>
            </a:r>
            <a:r>
              <a:rPr lang="en-US" sz="2200" dirty="0"/>
              <a:t>, which means atoms or molecules break free from the body of liquid to become gas particles. </a:t>
            </a:r>
          </a:p>
          <a:p>
            <a:pPr>
              <a:spcAft>
                <a:spcPts val="600"/>
              </a:spcAft>
            </a:pPr>
            <a:r>
              <a:rPr lang="en-US" sz="2200" dirty="0"/>
              <a:t>Absorption and Adsorption</a:t>
            </a:r>
          </a:p>
          <a:p>
            <a:pPr lvl="1">
              <a:spcAft>
                <a:spcPts val="600"/>
              </a:spcAft>
            </a:pPr>
            <a:r>
              <a:rPr lang="en-US" sz="2000" dirty="0"/>
              <a:t>Not all solids dis­solve in a liquid; rather, the liquid is either absorbed or adsorbed.</a:t>
            </a:r>
          </a:p>
          <a:p>
            <a:pPr lvl="1">
              <a:spcAft>
                <a:spcPts val="600"/>
              </a:spcAft>
            </a:pPr>
            <a:r>
              <a:rPr lang="en-US" sz="2000" dirty="0"/>
              <a:t>his is adsorption. Materi­als that absorb fluids are </a:t>
            </a:r>
            <a:r>
              <a:rPr lang="en-US" sz="2000" b="1" dirty="0"/>
              <a:t>permeable</a:t>
            </a:r>
            <a:r>
              <a:rPr lang="en-US" sz="2000" dirty="0"/>
              <a:t> substances. </a:t>
            </a:r>
            <a:r>
              <a:rPr lang="en-US" sz="2000" b="1" dirty="0"/>
              <a:t>Impermeable</a:t>
            </a:r>
            <a:r>
              <a:rPr lang="en-US" sz="2000" dirty="0"/>
              <a:t> substances, such as glass, adsorb fluids.</a:t>
            </a:r>
          </a:p>
        </p:txBody>
      </p:sp>
    </p:spTree>
    <p:extLst>
      <p:ext uri="{BB962C8B-B14F-4D97-AF65-F5344CB8AC3E}">
        <p14:creationId xmlns:p14="http://schemas.microsoft.com/office/powerpoint/2010/main" val="4155666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Energy (1 of 2)</a:t>
            </a:r>
          </a:p>
        </p:txBody>
      </p:sp>
      <p:sp>
        <p:nvSpPr>
          <p:cNvPr id="3075" name="Content Placeholder 2"/>
          <p:cNvSpPr>
            <a:spLocks noGrp="1"/>
          </p:cNvSpPr>
          <p:nvPr>
            <p:ph idx="1"/>
          </p:nvPr>
        </p:nvSpPr>
        <p:spPr/>
        <p:txBody>
          <a:bodyPr>
            <a:noAutofit/>
          </a:bodyPr>
          <a:lstStyle/>
          <a:p>
            <a:pPr marL="0" indent="0">
              <a:spcAft>
                <a:spcPts val="600"/>
              </a:spcAft>
              <a:buNone/>
            </a:pPr>
            <a:r>
              <a:rPr lang="en-US" b="1" dirty="0"/>
              <a:t>03-02 Explain what energy is and how energy is converted.</a:t>
            </a:r>
          </a:p>
          <a:p>
            <a:pPr>
              <a:spcAft>
                <a:spcPts val="600"/>
              </a:spcAft>
            </a:pPr>
            <a:r>
              <a:rPr lang="en-US" dirty="0"/>
              <a:t>Energy may be defined as the ability to do work.</a:t>
            </a:r>
          </a:p>
          <a:p>
            <a:pPr>
              <a:spcAft>
                <a:spcPts val="600"/>
              </a:spcAft>
            </a:pPr>
            <a:r>
              <a:rPr lang="en-US" dirty="0"/>
              <a:t>Because all matter consists of atoms and molecules in constant motion, all matter has energy.</a:t>
            </a:r>
          </a:p>
          <a:p>
            <a:pPr>
              <a:spcAft>
                <a:spcPts val="600"/>
              </a:spcAft>
            </a:pPr>
            <a:r>
              <a:rPr lang="en-US" dirty="0"/>
              <a:t>Energy is not matter, but it affects the behavior of mat­ter and everything that happens requires energy, and energy comes in many forms.</a:t>
            </a:r>
          </a:p>
        </p:txBody>
      </p:sp>
    </p:spTree>
    <p:extLst>
      <p:ext uri="{BB962C8B-B14F-4D97-AF65-F5344CB8AC3E}">
        <p14:creationId xmlns:p14="http://schemas.microsoft.com/office/powerpoint/2010/main" val="996635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Energy (2 of 2)</a:t>
            </a:r>
          </a:p>
        </p:txBody>
      </p:sp>
      <p:sp>
        <p:nvSpPr>
          <p:cNvPr id="3075" name="Content Placeholder 2"/>
          <p:cNvSpPr>
            <a:spLocks noGrp="1"/>
          </p:cNvSpPr>
          <p:nvPr>
            <p:ph idx="1"/>
          </p:nvPr>
        </p:nvSpPr>
        <p:spPr>
          <a:xfrm>
            <a:off x="476843" y="1508124"/>
            <a:ext cx="7275085" cy="4537075"/>
          </a:xfrm>
        </p:spPr>
        <p:txBody>
          <a:bodyPr>
            <a:noAutofit/>
          </a:bodyPr>
          <a:lstStyle/>
          <a:p>
            <a:pPr>
              <a:spcAft>
                <a:spcPts val="200"/>
              </a:spcAft>
            </a:pPr>
            <a:r>
              <a:rPr lang="en-US" b="1" dirty="0">
                <a:solidFill>
                  <a:schemeClr val="accent1"/>
                </a:solidFill>
              </a:rPr>
              <a:t>Engine efficiency</a:t>
            </a:r>
            <a:r>
              <a:rPr lang="en-US" dirty="0">
                <a:solidFill>
                  <a:schemeClr val="accent1"/>
                </a:solidFill>
              </a:rPr>
              <a:t> is a measurement of the amount of energy put into the engine and the amount of energy available from the engine.</a:t>
            </a:r>
          </a:p>
          <a:p>
            <a:pPr>
              <a:spcAft>
                <a:spcPts val="200"/>
              </a:spcAft>
            </a:pPr>
            <a:r>
              <a:rPr lang="en-US" dirty="0">
                <a:solidFill>
                  <a:schemeClr val="accent1"/>
                </a:solidFill>
              </a:rPr>
              <a:t>In a typical gasoline engine:</a:t>
            </a:r>
          </a:p>
          <a:p>
            <a:pPr lvl="1">
              <a:spcAft>
                <a:spcPts val="200"/>
              </a:spcAft>
            </a:pPr>
            <a:r>
              <a:rPr lang="en-US" dirty="0">
                <a:solidFill>
                  <a:schemeClr val="accent1"/>
                </a:solidFill>
              </a:rPr>
              <a:t>Thirty-three percent of energy is lost to heat through radiator.</a:t>
            </a:r>
          </a:p>
          <a:p>
            <a:pPr lvl="1">
              <a:spcAft>
                <a:spcPts val="200"/>
              </a:spcAft>
            </a:pPr>
            <a:r>
              <a:rPr lang="en-US" dirty="0">
                <a:solidFill>
                  <a:schemeClr val="accent1"/>
                </a:solidFill>
              </a:rPr>
              <a:t>Thirty-three percent of energy is lost to heat through exhaust.</a:t>
            </a:r>
          </a:p>
          <a:p>
            <a:pPr lvl="1">
              <a:spcAft>
                <a:spcPts val="200"/>
              </a:spcAft>
            </a:pPr>
            <a:r>
              <a:rPr lang="en-US" dirty="0">
                <a:solidFill>
                  <a:schemeClr val="accent1"/>
                </a:solidFill>
              </a:rPr>
              <a:t>Twenty-five percent of the energy is useful for movement.</a:t>
            </a:r>
          </a:p>
        </p:txBody>
      </p:sp>
      <p:pic>
        <p:nvPicPr>
          <p:cNvPr id="7" name="Picture Placeholder 6" descr="The structure of a gasoline engine has the following components labeled: Input, gasoline 100 percent, Radiant loss = 1/10, Output = approximately 1/4 of input, Exhaust loss 1/3 of input, and Radiator loss 1/3 of input. Small red, wavy lines surround the top of the gasoline engine structure. A small, curved red arrow is at the right end of the illustration with the arrowhead towards the gasoline engine indicating Output."/>
          <p:cNvPicPr>
            <a:picLocks noGrp="1" noChangeAspect="1"/>
          </p:cNvPicPr>
          <p:nvPr>
            <p:ph type="pic" sz="quarter" idx="10"/>
          </p:nvPr>
        </p:nvPicPr>
        <p:blipFill>
          <a:blip r:embed="rId3"/>
          <a:srcRect b="12668"/>
          <a:stretch/>
        </p:blipFill>
        <p:spPr>
          <a:xfrm>
            <a:off x="7908749" y="1969287"/>
            <a:ext cx="3948545" cy="3092907"/>
          </a:xfrm>
          <a:prstGeom prst="rect">
            <a:avLst/>
          </a:prstGeom>
        </p:spPr>
      </p:pic>
    </p:spTree>
    <p:extLst>
      <p:ext uri="{BB962C8B-B14F-4D97-AF65-F5344CB8AC3E}">
        <p14:creationId xmlns:p14="http://schemas.microsoft.com/office/powerpoint/2010/main" val="403539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Kinetic and </a:t>
            </a:r>
            <a:r>
              <a:rPr lang="en-US"/>
              <a:t>Potential Energy</a:t>
            </a:r>
            <a:endParaRPr lang="en-US" dirty="0"/>
          </a:p>
        </p:txBody>
      </p:sp>
      <p:pic>
        <p:nvPicPr>
          <p:cNvPr id="7" name="Picture Placeholder 6" descr="Two sections in an illustration. In the first section, a car is moving forward at 30 miles per hour with the energy of 2,000 pounds, which releases 60,200 foot-pounds of energy. In the second section, the car is moving forward at 60 miles per hour with the energy of 2,000 pounds, which releases 240,802 pounds of energy."/>
          <p:cNvPicPr>
            <a:picLocks noGrp="1" noChangeAspect="1"/>
          </p:cNvPicPr>
          <p:nvPr>
            <p:ph type="pic" sz="quarter" idx="10"/>
          </p:nvPr>
        </p:nvPicPr>
        <p:blipFill>
          <a:blip r:embed="rId3"/>
          <a:srcRect b="12983"/>
          <a:stretch/>
        </p:blipFill>
        <p:spPr>
          <a:xfrm>
            <a:off x="574530" y="1693604"/>
            <a:ext cx="4934903" cy="3236616"/>
          </a:xfrm>
          <a:prstGeom prst="rect">
            <a:avLst/>
          </a:prstGeom>
        </p:spPr>
      </p:pic>
      <p:sp>
        <p:nvSpPr>
          <p:cNvPr id="3075" name="Content Placeholder 2"/>
          <p:cNvSpPr>
            <a:spLocks noGrp="1"/>
          </p:cNvSpPr>
          <p:nvPr>
            <p:ph idx="1"/>
          </p:nvPr>
        </p:nvSpPr>
        <p:spPr>
          <a:xfrm>
            <a:off x="5715000" y="1508124"/>
            <a:ext cx="6003758" cy="4562475"/>
          </a:xfrm>
        </p:spPr>
        <p:txBody>
          <a:bodyPr>
            <a:noAutofit/>
          </a:bodyPr>
          <a:lstStyle/>
          <a:p>
            <a:pPr>
              <a:spcAft>
                <a:spcPts val="600"/>
              </a:spcAft>
            </a:pPr>
            <a:r>
              <a:rPr lang="en-US" dirty="0"/>
              <a:t>When energy is released to do work, it is called kinetic energy. </a:t>
            </a:r>
          </a:p>
          <a:p>
            <a:pPr>
              <a:spcAft>
                <a:spcPts val="600"/>
              </a:spcAft>
            </a:pPr>
            <a:r>
              <a:rPr lang="en-US" b="1" dirty="0"/>
              <a:t>Kinetic energy</a:t>
            </a:r>
            <a:r>
              <a:rPr lang="en-US" dirty="0"/>
              <a:t> may also be referred to as energy in motion.</a:t>
            </a:r>
          </a:p>
          <a:p>
            <a:pPr>
              <a:spcAft>
                <a:spcPts val="600"/>
              </a:spcAft>
            </a:pPr>
            <a:r>
              <a:rPr lang="en-US" dirty="0"/>
              <a:t>Stored energy is called </a:t>
            </a:r>
            <a:r>
              <a:rPr lang="en-US" b="1" dirty="0"/>
              <a:t>potential energy</a:t>
            </a:r>
            <a:r>
              <a:rPr lang="en-US" dirty="0"/>
              <a:t>.</a:t>
            </a:r>
          </a:p>
        </p:txBody>
      </p:sp>
    </p:spTree>
    <p:extLst>
      <p:ext uri="{BB962C8B-B14F-4D97-AF65-F5344CB8AC3E}">
        <p14:creationId xmlns:p14="http://schemas.microsoft.com/office/powerpoint/2010/main" val="2721209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Energy Conversion (1 of 2)</a:t>
            </a:r>
          </a:p>
        </p:txBody>
      </p:sp>
      <p:sp>
        <p:nvSpPr>
          <p:cNvPr id="5" name="Content Placeholder 2"/>
          <p:cNvSpPr>
            <a:spLocks noGrp="1"/>
          </p:cNvSpPr>
          <p:nvPr>
            <p:ph idx="1"/>
          </p:nvPr>
        </p:nvSpPr>
        <p:spPr/>
        <p:txBody>
          <a:bodyPr>
            <a:noAutofit/>
          </a:bodyPr>
          <a:lstStyle/>
          <a:p>
            <a:pPr>
              <a:spcAft>
                <a:spcPts val="600"/>
              </a:spcAft>
            </a:pPr>
            <a:r>
              <a:rPr lang="en-US" sz="2200" b="1" dirty="0">
                <a:solidFill>
                  <a:schemeClr val="accent1"/>
                </a:solidFill>
              </a:rPr>
              <a:t>Chemical to Thermal Energy</a:t>
            </a:r>
            <a:r>
              <a:rPr lang="en-US" sz="2200" dirty="0">
                <a:solidFill>
                  <a:schemeClr val="accent1"/>
                </a:solidFill>
              </a:rPr>
              <a:t>:</a:t>
            </a:r>
            <a:r>
              <a:rPr lang="en-US" sz="2200" b="1" dirty="0">
                <a:solidFill>
                  <a:schemeClr val="accent1"/>
                </a:solidFill>
              </a:rPr>
              <a:t> </a:t>
            </a:r>
            <a:r>
              <a:rPr lang="en-US" sz="2200" dirty="0">
                <a:solidFill>
                  <a:schemeClr val="accent1"/>
                </a:solidFill>
              </a:rPr>
              <a:t>Chemical energy in gasoline or diesel fuel is converted to thermal energy when the fuel burns in the engine cylinders.</a:t>
            </a:r>
          </a:p>
          <a:p>
            <a:pPr>
              <a:spcAft>
                <a:spcPts val="600"/>
              </a:spcAft>
            </a:pPr>
            <a:r>
              <a:rPr lang="en-US" sz="2200" b="1" dirty="0">
                <a:solidFill>
                  <a:schemeClr val="accent1"/>
                </a:solidFill>
              </a:rPr>
              <a:t>Chemical to Electrical Energy</a:t>
            </a:r>
            <a:r>
              <a:rPr lang="en-US" sz="2200" dirty="0">
                <a:solidFill>
                  <a:schemeClr val="accent1"/>
                </a:solidFill>
              </a:rPr>
              <a:t>:</a:t>
            </a:r>
            <a:r>
              <a:rPr lang="en-US" sz="2200" b="1" dirty="0">
                <a:solidFill>
                  <a:schemeClr val="accent1"/>
                </a:solidFill>
              </a:rPr>
              <a:t> </a:t>
            </a:r>
            <a:r>
              <a:rPr lang="en-US" sz="2200" dirty="0">
                <a:solidFill>
                  <a:schemeClr val="accent1"/>
                </a:solidFill>
              </a:rPr>
              <a:t>The chemical energy in a battery is converted to electrical energy to power many of the accessories on an automobile.</a:t>
            </a:r>
          </a:p>
          <a:p>
            <a:pPr>
              <a:spcAft>
                <a:spcPts val="600"/>
              </a:spcAft>
            </a:pPr>
            <a:r>
              <a:rPr lang="en-US" sz="2200" b="1" dirty="0">
                <a:solidFill>
                  <a:schemeClr val="accent1"/>
                </a:solidFill>
              </a:rPr>
              <a:t>Electrical to Mechanical Energy</a:t>
            </a:r>
            <a:r>
              <a:rPr lang="en-US" sz="2200" dirty="0">
                <a:solidFill>
                  <a:schemeClr val="accent1"/>
                </a:solidFill>
              </a:rPr>
              <a:t>:</a:t>
            </a:r>
            <a:r>
              <a:rPr lang="en-US" sz="2200" b="1" dirty="0">
                <a:solidFill>
                  <a:schemeClr val="accent1"/>
                </a:solidFill>
              </a:rPr>
              <a:t> </a:t>
            </a:r>
            <a:r>
              <a:rPr lang="en-US" sz="2200" dirty="0">
                <a:solidFill>
                  <a:schemeClr val="accent1"/>
                </a:solidFill>
              </a:rPr>
              <a:t>In an automo­bile, the battery supplies electrical energy to the starting motor, and this motor converts the electrical energy to mechanical energy to crank the engine.</a:t>
            </a:r>
          </a:p>
          <a:p>
            <a:pPr>
              <a:spcAft>
                <a:spcPts val="600"/>
              </a:spcAft>
            </a:pPr>
            <a:r>
              <a:rPr lang="en-US" sz="2200" b="1" dirty="0">
                <a:solidFill>
                  <a:schemeClr val="accent1"/>
                </a:solidFill>
              </a:rPr>
              <a:t>Thermal to Mechanical Energy</a:t>
            </a:r>
            <a:r>
              <a:rPr lang="en-US" sz="2200" dirty="0">
                <a:solidFill>
                  <a:schemeClr val="accent1"/>
                </a:solidFill>
              </a:rPr>
              <a:t>:</a:t>
            </a:r>
            <a:r>
              <a:rPr lang="en-US" sz="2200" b="1" dirty="0">
                <a:solidFill>
                  <a:schemeClr val="accent1"/>
                </a:solidFill>
              </a:rPr>
              <a:t> </a:t>
            </a:r>
            <a:r>
              <a:rPr lang="en-US" sz="2200" dirty="0">
                <a:solidFill>
                  <a:schemeClr val="accent1"/>
                </a:solidFill>
              </a:rPr>
              <a:t>The thermal energy that results from the burning of the fuel is converted to mechanical energy, which is used to move the vehicle.</a:t>
            </a:r>
          </a:p>
        </p:txBody>
      </p:sp>
    </p:spTree>
    <p:extLst>
      <p:ext uri="{BB962C8B-B14F-4D97-AF65-F5344CB8AC3E}">
        <p14:creationId xmlns:p14="http://schemas.microsoft.com/office/powerpoint/2010/main" val="70578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Energy Conversion (2 of 2)</a:t>
            </a:r>
          </a:p>
        </p:txBody>
      </p:sp>
      <p:sp>
        <p:nvSpPr>
          <p:cNvPr id="5" name="Content Placeholder 2"/>
          <p:cNvSpPr>
            <a:spLocks noGrp="1"/>
          </p:cNvSpPr>
          <p:nvPr>
            <p:ph idx="1"/>
          </p:nvPr>
        </p:nvSpPr>
        <p:spPr>
          <a:xfrm>
            <a:off x="476843" y="1481736"/>
            <a:ext cx="11241915" cy="4613339"/>
          </a:xfrm>
        </p:spPr>
        <p:txBody>
          <a:bodyPr>
            <a:noAutofit/>
          </a:bodyPr>
          <a:lstStyle/>
          <a:p>
            <a:pPr>
              <a:spcAft>
                <a:spcPts val="200"/>
              </a:spcAft>
            </a:pPr>
            <a:r>
              <a:rPr lang="en-US" sz="2400" b="1" dirty="0">
                <a:solidFill>
                  <a:schemeClr val="accent1"/>
                </a:solidFill>
              </a:rPr>
              <a:t>Mechanical to Electrical Energy</a:t>
            </a:r>
            <a:r>
              <a:rPr lang="en-US" sz="2400" dirty="0">
                <a:solidFill>
                  <a:schemeClr val="accent1"/>
                </a:solidFill>
              </a:rPr>
              <a:t>: The generator is driven by the mechanical energy of the engine. The generator converts this energy to electrical energy to power the vehicle's electrical accessories and recharges the </a:t>
            </a:r>
            <a:r>
              <a:rPr lang="en-US" sz="2400">
                <a:solidFill>
                  <a:schemeClr val="accent1"/>
                </a:solidFill>
              </a:rPr>
              <a:t>battery.</a:t>
            </a:r>
            <a:endParaRPr lang="en-US" sz="2400" dirty="0">
              <a:solidFill>
                <a:schemeClr val="accent1"/>
              </a:solidFill>
            </a:endParaRPr>
          </a:p>
          <a:p>
            <a:pPr>
              <a:spcAft>
                <a:spcPts val="200"/>
              </a:spcAft>
            </a:pPr>
            <a:r>
              <a:rPr lang="en-US" sz="2400" b="1" dirty="0">
                <a:solidFill>
                  <a:schemeClr val="accent1"/>
                </a:solidFill>
              </a:rPr>
              <a:t>Electrical to Radiant Energy</a:t>
            </a:r>
            <a:r>
              <a:rPr lang="en-US" sz="2400" dirty="0">
                <a:solidFill>
                  <a:schemeClr val="accent1"/>
                </a:solidFill>
              </a:rPr>
              <a:t>: Radiant energy is light energy. Electrical energy is converted to ther­mal energy to heat up a filament inside a light bulb to illuminate it and release radiant </a:t>
            </a:r>
            <a:r>
              <a:rPr lang="en-US" sz="2400">
                <a:solidFill>
                  <a:schemeClr val="accent1"/>
                </a:solidFill>
              </a:rPr>
              <a:t>energy.</a:t>
            </a:r>
            <a:endParaRPr lang="en-US" sz="2400" dirty="0">
              <a:solidFill>
                <a:schemeClr val="accent1"/>
              </a:solidFill>
            </a:endParaRPr>
          </a:p>
          <a:p>
            <a:pPr>
              <a:spcAft>
                <a:spcPts val="200"/>
              </a:spcAft>
            </a:pPr>
            <a:r>
              <a:rPr lang="en-US" sz="2400" b="1" dirty="0">
                <a:solidFill>
                  <a:schemeClr val="accent1"/>
                </a:solidFill>
              </a:rPr>
              <a:t>Kinetic to Mechanical to Electrical Energy</a:t>
            </a:r>
            <a:r>
              <a:rPr lang="en-US" sz="2400" dirty="0">
                <a:solidFill>
                  <a:schemeClr val="accent1"/>
                </a:solidFill>
              </a:rPr>
              <a:t>: Hybrid vehicles have a system, called regenerative braking, that uses the energy of the moving vehicle (kinetic) to rotate a generator. The mechanical energy used to operate the generator is used to provide elec­trical energy to charge the batteries or power the electric drive </a:t>
            </a:r>
            <a:r>
              <a:rPr lang="en-US" sz="2400">
                <a:solidFill>
                  <a:schemeClr val="accent1"/>
                </a:solidFill>
              </a:rPr>
              <a:t>motor.</a:t>
            </a:r>
            <a:endParaRPr lang="en-US" sz="2400" dirty="0">
              <a:solidFill>
                <a:schemeClr val="accent1"/>
              </a:solidFill>
            </a:endParaRPr>
          </a:p>
        </p:txBody>
      </p:sp>
    </p:spTree>
    <p:extLst>
      <p:ext uri="{BB962C8B-B14F-4D97-AF65-F5344CB8AC3E}">
        <p14:creationId xmlns:p14="http://schemas.microsoft.com/office/powerpoint/2010/main" val="1040095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Volume and Ratios (1 of 2)</a:t>
            </a:r>
          </a:p>
        </p:txBody>
      </p:sp>
      <p:sp>
        <p:nvSpPr>
          <p:cNvPr id="3075" name="Content Placeholder 2"/>
          <p:cNvSpPr>
            <a:spLocks noGrp="1"/>
          </p:cNvSpPr>
          <p:nvPr>
            <p:ph idx="1"/>
          </p:nvPr>
        </p:nvSpPr>
        <p:spPr/>
        <p:txBody>
          <a:bodyPr>
            <a:noAutofit/>
          </a:bodyPr>
          <a:lstStyle/>
          <a:p>
            <a:pPr marL="0" indent="0">
              <a:spcAft>
                <a:spcPts val="600"/>
              </a:spcAft>
              <a:buNone/>
            </a:pPr>
            <a:r>
              <a:rPr lang="en-US" b="1" dirty="0">
                <a:solidFill>
                  <a:schemeClr val="accent1"/>
                </a:solidFill>
              </a:rPr>
              <a:t>03.03 Explain how volume, ratios, and proportions are used in automotive service.</a:t>
            </a:r>
          </a:p>
          <a:p>
            <a:pPr marL="0" indent="0">
              <a:spcAft>
                <a:spcPts val="600"/>
              </a:spcAft>
              <a:buNone/>
            </a:pPr>
            <a:r>
              <a:rPr lang="en-US" b="1" dirty="0">
                <a:solidFill>
                  <a:schemeClr val="accent1"/>
                </a:solidFill>
              </a:rPr>
              <a:t>Volume</a:t>
            </a:r>
            <a:r>
              <a:rPr lang="en-US" dirty="0">
                <a:solidFill>
                  <a:schemeClr val="accent1"/>
                </a:solidFill>
              </a:rPr>
              <a:t> is a measurement of size and is related to mass and weight. Volume is the amount of space occupied by an object in three dimensions: length, width, and height.</a:t>
            </a:r>
          </a:p>
          <a:p>
            <a:pPr marL="0" indent="0">
              <a:spcAft>
                <a:spcPts val="600"/>
              </a:spcAft>
              <a:buNone/>
            </a:pPr>
            <a:r>
              <a:rPr lang="en-US" dirty="0">
                <a:solidFill>
                  <a:schemeClr val="accent1"/>
                </a:solidFill>
              </a:rPr>
              <a:t>Often, automotive features are expressed as ratios. A </a:t>
            </a:r>
            <a:r>
              <a:rPr lang="en-US" b="1" dirty="0">
                <a:solidFill>
                  <a:schemeClr val="accent1"/>
                </a:solidFill>
              </a:rPr>
              <a:t>ratio</a:t>
            </a:r>
            <a:r>
              <a:rPr lang="en-US" dirty="0">
                <a:solidFill>
                  <a:schemeClr val="accent1"/>
                </a:solidFill>
              </a:rPr>
              <a:t> expresses the relationship between two things.</a:t>
            </a:r>
          </a:p>
          <a:p>
            <a:pPr marL="0" indent="0">
              <a:spcAft>
                <a:spcPts val="600"/>
              </a:spcAft>
              <a:buNone/>
            </a:pPr>
            <a:r>
              <a:rPr lang="en-US" dirty="0">
                <a:solidFill>
                  <a:schemeClr val="accent1"/>
                </a:solidFill>
              </a:rPr>
              <a:t>An engine's compression ratio expresses how much the air and fuel mixture is compressed as a cylinder's piston moves from the bottom (BDC) to the top (TDC) of the cylinder.</a:t>
            </a:r>
          </a:p>
        </p:txBody>
      </p:sp>
    </p:spTree>
    <p:extLst>
      <p:ext uri="{BB962C8B-B14F-4D97-AF65-F5344CB8AC3E}">
        <p14:creationId xmlns:p14="http://schemas.microsoft.com/office/powerpoint/2010/main" val="106843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Volume and Ratios (2 of 2)</a:t>
            </a:r>
          </a:p>
        </p:txBody>
      </p:sp>
      <p:sp>
        <p:nvSpPr>
          <p:cNvPr id="3075" name="Content Placeholder 2"/>
          <p:cNvSpPr>
            <a:spLocks noGrp="1"/>
          </p:cNvSpPr>
          <p:nvPr>
            <p:ph idx="1"/>
          </p:nvPr>
        </p:nvSpPr>
        <p:spPr>
          <a:xfrm>
            <a:off x="476843" y="1508125"/>
            <a:ext cx="11241915" cy="1108075"/>
          </a:xfrm>
        </p:spPr>
        <p:txBody>
          <a:bodyPr>
            <a:noAutofit/>
          </a:bodyPr>
          <a:lstStyle/>
          <a:p>
            <a:pPr marL="0" indent="0">
              <a:buNone/>
            </a:pPr>
            <a:r>
              <a:rPr lang="en-US" dirty="0">
                <a:solidFill>
                  <a:schemeClr val="accent1"/>
                </a:solidFill>
              </a:rPr>
              <a:t>The formula for calculating the compression ratio is as follows: volume above the piston at BDC/volume above the piston at TDC</a:t>
            </a:r>
            <a:endParaRPr lang="en-US" u="sng" dirty="0">
              <a:solidFill>
                <a:schemeClr val="accent1"/>
              </a:solidFill>
            </a:endParaRPr>
          </a:p>
        </p:txBody>
      </p:sp>
      <p:pic>
        <p:nvPicPr>
          <p:cNvPr id="7" name="Picture Placeholder 6" descr="An engine’s compression ratio: is 8 to 1, depicted in two structures. The first structure labeled Volume before compression: 480 cylinder capacity has a cylinder in which the piston at the bottom is labeled B D C. The second structure labeled Volume after Compression: 60-cylinder capacity has a cylinder in which the piston at the top is labeled T D C."/>
          <p:cNvPicPr>
            <a:picLocks noGrp="1" noChangeAspect="1"/>
          </p:cNvPicPr>
          <p:nvPr>
            <p:ph type="pic" sz="quarter" idx="10"/>
          </p:nvPr>
        </p:nvPicPr>
        <p:blipFill>
          <a:blip r:embed="rId3"/>
          <a:srcRect b="21543"/>
          <a:stretch/>
        </p:blipFill>
        <p:spPr>
          <a:xfrm>
            <a:off x="3612309" y="2832030"/>
            <a:ext cx="4967383" cy="2938780"/>
          </a:xfrm>
          <a:prstGeom prst="rect">
            <a:avLst/>
          </a:prstGeom>
        </p:spPr>
      </p:pic>
    </p:spTree>
    <p:extLst>
      <p:ext uri="{BB962C8B-B14F-4D97-AF65-F5344CB8AC3E}">
        <p14:creationId xmlns:p14="http://schemas.microsoft.com/office/powerpoint/2010/main" val="685752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Proportions and Percentages</a:t>
            </a:r>
          </a:p>
        </p:txBody>
      </p:sp>
      <p:sp>
        <p:nvSpPr>
          <p:cNvPr id="3075" name="Content Placeholder 2"/>
          <p:cNvSpPr>
            <a:spLocks noGrp="1"/>
          </p:cNvSpPr>
          <p:nvPr>
            <p:ph idx="1"/>
          </p:nvPr>
        </p:nvSpPr>
        <p:spPr>
          <a:xfrm>
            <a:off x="476843" y="1508124"/>
            <a:ext cx="6838357" cy="4359275"/>
          </a:xfrm>
        </p:spPr>
        <p:txBody>
          <a:bodyPr>
            <a:noAutofit/>
          </a:bodyPr>
          <a:lstStyle/>
          <a:p>
            <a:pPr marL="0" indent="0">
              <a:buNone/>
            </a:pPr>
            <a:r>
              <a:rPr lang="en-US" dirty="0"/>
              <a:t>Ratios are also used to express the correct mixture for something. For example, engine coolant should typically be mixed with 50 percent coolant and 50 percent water when the cooling system is refilled. This is a 1 :1 ratio.</a:t>
            </a:r>
          </a:p>
        </p:txBody>
      </p:sp>
      <p:pic>
        <p:nvPicPr>
          <p:cNvPr id="7" name="Picture Placeholder 6" descr="A line graph depicts the relationship between the percentage of antifreeze to the freezing and boiling points of the engine’s coolant. The horizontal axis represents Antifreeze/coolant ranging from 0 to 100, in increments of 10. The vertical axis to the left represents the Freezing point degree Fahrenheit, 0 PSIG ranging from negative 100 to 40, in increments of 10. The vertical axis to the right represents the Boiling point degree Fahrenheit, 0 PSIG ranging from 212 to 238, in increments of 2. A red dashed line labeled Boiling starts at (0, negative 90) slopes up and to the right till (52, negative 20), then slopes up and to the right steeply and proceeds up further to end at (60, 20). A blue dashed line labeled Freezing rapidly decreases at the freezing point (0, 30) and reaches the freezing point of negative 90 and coolant of 70. The curve then suddenly increases linearly to reach the freezing point of negative 3 and coolant of 100. All values are estimated."/>
          <p:cNvPicPr>
            <a:picLocks noGrp="1" noChangeAspect="1"/>
          </p:cNvPicPr>
          <p:nvPr>
            <p:ph type="pic" sz="quarter" idx="10"/>
          </p:nvPr>
        </p:nvPicPr>
        <p:blipFill>
          <a:blip r:embed="rId3"/>
          <a:srcRect b="8696"/>
          <a:stretch/>
        </p:blipFill>
        <p:spPr>
          <a:xfrm>
            <a:off x="7716917" y="1915926"/>
            <a:ext cx="3447893" cy="3759011"/>
          </a:xfrm>
          <a:prstGeom prst="rect">
            <a:avLst/>
          </a:prstGeom>
        </p:spPr>
      </p:pic>
    </p:spTree>
    <p:extLst>
      <p:ext uri="{BB962C8B-B14F-4D97-AF65-F5344CB8AC3E}">
        <p14:creationId xmlns:p14="http://schemas.microsoft.com/office/powerpoint/2010/main" val="2842853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Automotive Forces (1 of 3)</a:t>
            </a:r>
          </a:p>
        </p:txBody>
      </p:sp>
      <p:sp>
        <p:nvSpPr>
          <p:cNvPr id="3075" name="Content Placeholder 2"/>
          <p:cNvSpPr>
            <a:spLocks noGrp="1"/>
          </p:cNvSpPr>
          <p:nvPr>
            <p:ph idx="1"/>
          </p:nvPr>
        </p:nvSpPr>
        <p:spPr/>
        <p:txBody>
          <a:bodyPr>
            <a:noAutofit/>
          </a:bodyPr>
          <a:lstStyle/>
          <a:p>
            <a:pPr marL="0" lvl="0" indent="0">
              <a:spcAft>
                <a:spcPts val="600"/>
              </a:spcAft>
              <a:buNone/>
            </a:pPr>
            <a:r>
              <a:rPr lang="en-US" b="1" dirty="0">
                <a:solidFill>
                  <a:schemeClr val="accent1"/>
                </a:solidFill>
              </a:rPr>
              <a:t>03.04 Explain the forces that influence the design and operation of an automobile.</a:t>
            </a:r>
            <a:endParaRPr lang="en-US" b="1" dirty="0">
              <a:solidFill>
                <a:schemeClr val="accent1"/>
              </a:solidFill>
              <a:ea typeface="MS Mincho" panose="02020609040205080304" pitchFamily="49" charset="-128"/>
              <a:cs typeface="Times New Roman" panose="02020603050405020304" pitchFamily="18" charset="0"/>
            </a:endParaRPr>
          </a:p>
          <a:p>
            <a:pPr marL="0" indent="0">
              <a:spcAft>
                <a:spcPts val="600"/>
              </a:spcAft>
              <a:buNone/>
            </a:pPr>
            <a:r>
              <a:rPr lang="en-US" dirty="0">
                <a:solidFill>
                  <a:schemeClr val="accent1"/>
                </a:solidFill>
              </a:rPr>
              <a:t>A </a:t>
            </a:r>
            <a:r>
              <a:rPr lang="en-US" b="1" dirty="0">
                <a:solidFill>
                  <a:schemeClr val="accent1"/>
                </a:solidFill>
              </a:rPr>
              <a:t>force</a:t>
            </a:r>
            <a:r>
              <a:rPr lang="en-US" dirty="0">
                <a:solidFill>
                  <a:schemeClr val="accent1"/>
                </a:solidFill>
              </a:rPr>
              <a:t> is a push or pull and can be large or small. Automotive forces include:</a:t>
            </a:r>
          </a:p>
          <a:p>
            <a:pPr>
              <a:spcAft>
                <a:spcPts val="600"/>
              </a:spcAft>
            </a:pPr>
            <a:r>
              <a:rPr lang="en-US" dirty="0">
                <a:solidFill>
                  <a:schemeClr val="accent1"/>
                </a:solidFill>
              </a:rPr>
              <a:t>Forces on wheels and tires—tilting tires will result in movement and generation of force, this is the principle of resultant forces which is the basis for precise wheel alignment.</a:t>
            </a:r>
          </a:p>
          <a:p>
            <a:pPr>
              <a:spcAft>
                <a:spcPts val="600"/>
              </a:spcAft>
            </a:pPr>
            <a:r>
              <a:rPr lang="en-US" dirty="0" err="1">
                <a:solidFill>
                  <a:schemeClr val="accent1"/>
                </a:solidFill>
              </a:rPr>
              <a:t>Cetrifugal</a:t>
            </a:r>
            <a:r>
              <a:rPr lang="en-US" dirty="0">
                <a:solidFill>
                  <a:schemeClr val="accent1"/>
                </a:solidFill>
              </a:rPr>
              <a:t>/centripetal forces—</a:t>
            </a:r>
            <a:r>
              <a:rPr lang="en-US" b="1" dirty="0">
                <a:solidFill>
                  <a:schemeClr val="accent1"/>
                </a:solidFill>
              </a:rPr>
              <a:t>Centripetal</a:t>
            </a:r>
            <a:r>
              <a:rPr lang="en-US" dirty="0">
                <a:solidFill>
                  <a:schemeClr val="accent1"/>
                </a:solidFill>
              </a:rPr>
              <a:t> force tends to pull the object toward the center of the circle. </a:t>
            </a:r>
            <a:r>
              <a:rPr lang="en-US" b="1" dirty="0">
                <a:solidFill>
                  <a:schemeClr val="accent1"/>
                </a:solidFill>
              </a:rPr>
              <a:t>Centrifugal</a:t>
            </a:r>
            <a:r>
              <a:rPr lang="en-US" dirty="0">
                <a:solidFill>
                  <a:schemeClr val="accent1"/>
                </a:solidFill>
              </a:rPr>
              <a:t> force tends to push the object away from the center.</a:t>
            </a:r>
          </a:p>
        </p:txBody>
      </p:sp>
    </p:spTree>
    <p:extLst>
      <p:ext uri="{BB962C8B-B14F-4D97-AF65-F5344CB8AC3E}">
        <p14:creationId xmlns:p14="http://schemas.microsoft.com/office/powerpoint/2010/main" val="1185004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Automotive Forces (2 of 3)</a:t>
            </a:r>
          </a:p>
        </p:txBody>
      </p:sp>
      <p:sp>
        <p:nvSpPr>
          <p:cNvPr id="3075" name="Content Placeholder 2"/>
          <p:cNvSpPr>
            <a:spLocks noGrp="1"/>
          </p:cNvSpPr>
          <p:nvPr>
            <p:ph idx="1"/>
          </p:nvPr>
        </p:nvSpPr>
        <p:spPr>
          <a:xfrm>
            <a:off x="476843" y="1508124"/>
            <a:ext cx="6114457" cy="4537075"/>
          </a:xfrm>
        </p:spPr>
        <p:txBody>
          <a:bodyPr>
            <a:noAutofit/>
          </a:bodyPr>
          <a:lstStyle/>
          <a:p>
            <a:r>
              <a:rPr lang="en-US" dirty="0">
                <a:solidFill>
                  <a:schemeClr val="accent1"/>
                </a:solidFill>
              </a:rPr>
              <a:t>Wheel and tire balance—When the weight of a wheel and tire assembly is dis­tributed equally around the center of wheel rotation, the wheel and tire have proper static </a:t>
            </a:r>
            <a:r>
              <a:rPr lang="en-US">
                <a:solidFill>
                  <a:schemeClr val="accent1"/>
                </a:solidFill>
              </a:rPr>
              <a:t>balance.</a:t>
            </a:r>
            <a:endParaRPr lang="en-US" dirty="0">
              <a:solidFill>
                <a:schemeClr val="accent1"/>
              </a:solidFill>
            </a:endParaRPr>
          </a:p>
          <a:p>
            <a:r>
              <a:rPr lang="en-US" b="1" dirty="0">
                <a:solidFill>
                  <a:schemeClr val="accent1"/>
                </a:solidFill>
              </a:rPr>
              <a:t>Pressure</a:t>
            </a:r>
            <a:r>
              <a:rPr lang="en-US" dirty="0">
                <a:solidFill>
                  <a:schemeClr val="accent1"/>
                </a:solidFill>
              </a:rPr>
              <a:t> is a force applied against an object and is measured in units of force per unit of surface area such as tire pressure in </a:t>
            </a:r>
            <a:r>
              <a:rPr lang="en-US">
                <a:solidFill>
                  <a:schemeClr val="accent1"/>
                </a:solidFill>
              </a:rPr>
              <a:t>psi.</a:t>
            </a:r>
            <a:endParaRPr lang="en-US" dirty="0">
              <a:solidFill>
                <a:schemeClr val="accent1"/>
              </a:solidFill>
            </a:endParaRPr>
          </a:p>
        </p:txBody>
      </p:sp>
      <p:pic>
        <p:nvPicPr>
          <p:cNvPr id="7" name="Picture Placeholder 6" descr="A wheel tramp is depicted through a circle with a plus sign at the center that indicates a spindle. Four straight lines are drawn from the plus sign in all four directions crossing the circumference of the circle. Two dotted circles in red arc are drawn around the first circle intersecting the lines radiating on the left and right along its circumference. A small yellow arc is drawn at the bottom on the inner side of the first circle intersecting its circumference and bottom vertical line from the plus sign. The arc divides the bottom vertical line and is labeled, heavy spot."/>
          <p:cNvPicPr>
            <a:picLocks noGrp="1" noChangeAspect="1"/>
          </p:cNvPicPr>
          <p:nvPr>
            <p:ph type="pic" sz="quarter" idx="10"/>
          </p:nvPr>
        </p:nvPicPr>
        <p:blipFill>
          <a:blip r:embed="rId3"/>
          <a:srcRect b="16350"/>
          <a:stretch/>
        </p:blipFill>
        <p:spPr>
          <a:xfrm>
            <a:off x="6658456" y="2111223"/>
            <a:ext cx="5094161" cy="2988678"/>
          </a:xfrm>
          <a:prstGeom prst="rect">
            <a:avLst/>
          </a:prstGeom>
        </p:spPr>
      </p:pic>
    </p:spTree>
    <p:extLst>
      <p:ext uri="{BB962C8B-B14F-4D97-AF65-F5344CB8AC3E}">
        <p14:creationId xmlns:p14="http://schemas.microsoft.com/office/powerpoint/2010/main" val="2690553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Automotive </a:t>
            </a:r>
            <a:r>
              <a:rPr lang="en-US"/>
              <a:t>Forces (3 </a:t>
            </a:r>
            <a:r>
              <a:rPr lang="en-US" dirty="0"/>
              <a:t>of 3)</a:t>
            </a:r>
          </a:p>
        </p:txBody>
      </p:sp>
      <p:sp>
        <p:nvSpPr>
          <p:cNvPr id="3075" name="Content Placeholder 2"/>
          <p:cNvSpPr>
            <a:spLocks noGrp="1"/>
          </p:cNvSpPr>
          <p:nvPr>
            <p:ph idx="1"/>
          </p:nvPr>
        </p:nvSpPr>
        <p:spPr>
          <a:xfrm>
            <a:off x="476843" y="1440792"/>
            <a:ext cx="11241915" cy="4613339"/>
          </a:xfrm>
        </p:spPr>
        <p:txBody>
          <a:bodyPr>
            <a:noAutofit/>
          </a:bodyPr>
          <a:lstStyle/>
          <a:p>
            <a:pPr>
              <a:spcAft>
                <a:spcPts val="600"/>
              </a:spcAft>
            </a:pPr>
            <a:r>
              <a:rPr lang="en-US" dirty="0">
                <a:solidFill>
                  <a:schemeClr val="accent1"/>
                </a:solidFill>
              </a:rPr>
              <a:t>Motion—when the forces on an object do not cancel each other out, they will change the objects speed, direction of motion, or </a:t>
            </a:r>
            <a:r>
              <a:rPr lang="en-US">
                <a:solidFill>
                  <a:schemeClr val="accent1"/>
                </a:solidFill>
              </a:rPr>
              <a:t>both.</a:t>
            </a:r>
            <a:endParaRPr lang="en-US" dirty="0">
              <a:solidFill>
                <a:schemeClr val="accent1"/>
              </a:solidFill>
            </a:endParaRPr>
          </a:p>
          <a:p>
            <a:pPr>
              <a:spcAft>
                <a:spcPts val="600"/>
              </a:spcAft>
            </a:pPr>
            <a:r>
              <a:rPr lang="en-US" dirty="0">
                <a:solidFill>
                  <a:schemeClr val="accent1"/>
                </a:solidFill>
              </a:rPr>
              <a:t>Inertia—the resistance to change in motion is called </a:t>
            </a:r>
            <a:r>
              <a:rPr lang="en-US" b="1" dirty="0">
                <a:solidFill>
                  <a:schemeClr val="accent1"/>
                </a:solidFill>
              </a:rPr>
              <a:t>inertia. </a:t>
            </a:r>
            <a:r>
              <a:rPr lang="en-US" dirty="0">
                <a:solidFill>
                  <a:schemeClr val="accent1"/>
                </a:solidFill>
              </a:rPr>
              <a:t>Another way to describe inertia is to say it is the tendency of an object at rest to remain at rest, or the tendency of an object in motion to stay in </a:t>
            </a:r>
            <a:r>
              <a:rPr lang="en-US">
                <a:solidFill>
                  <a:schemeClr val="accent1"/>
                </a:solidFill>
              </a:rPr>
              <a:t>motion.</a:t>
            </a:r>
            <a:endParaRPr lang="en-US" dirty="0">
              <a:solidFill>
                <a:schemeClr val="accent1"/>
              </a:solidFill>
            </a:endParaRPr>
          </a:p>
          <a:p>
            <a:pPr>
              <a:spcAft>
                <a:spcPts val="600"/>
              </a:spcAft>
            </a:pPr>
            <a:r>
              <a:rPr lang="en-US" b="1" dirty="0">
                <a:solidFill>
                  <a:schemeClr val="accent1"/>
                </a:solidFill>
              </a:rPr>
              <a:t>Speed</a:t>
            </a:r>
            <a:r>
              <a:rPr lang="en-US" dirty="0">
                <a:solidFill>
                  <a:schemeClr val="accent1"/>
                </a:solidFill>
              </a:rPr>
              <a:t>—The distance an object travels in a set amount of time. </a:t>
            </a:r>
            <a:r>
              <a:rPr lang="en-US" b="1" dirty="0">
                <a:solidFill>
                  <a:schemeClr val="accent1"/>
                </a:solidFill>
              </a:rPr>
              <a:t>Velocity</a:t>
            </a:r>
            <a:r>
              <a:rPr lang="en-US" dirty="0">
                <a:solidFill>
                  <a:schemeClr val="accent1"/>
                </a:solidFill>
              </a:rPr>
              <a:t> is the speed of an object in a particular direction. </a:t>
            </a:r>
            <a:r>
              <a:rPr lang="en-US" b="1" dirty="0">
                <a:solidFill>
                  <a:schemeClr val="accent1"/>
                </a:solidFill>
              </a:rPr>
              <a:t>Acceleration</a:t>
            </a:r>
            <a:r>
              <a:rPr lang="en-US" dirty="0">
                <a:solidFill>
                  <a:schemeClr val="accent1"/>
                </a:solidFill>
              </a:rPr>
              <a:t> is the rate of increase in speed. </a:t>
            </a:r>
            <a:r>
              <a:rPr lang="en-US" b="1" dirty="0">
                <a:solidFill>
                  <a:schemeClr val="accent1"/>
                </a:solidFill>
              </a:rPr>
              <a:t>Deceleration</a:t>
            </a:r>
            <a:r>
              <a:rPr lang="en-US" dirty="0">
                <a:solidFill>
                  <a:schemeClr val="accent1"/>
                </a:solidFill>
              </a:rPr>
              <a:t> is the rate of decrease in </a:t>
            </a:r>
            <a:r>
              <a:rPr lang="en-US">
                <a:solidFill>
                  <a:schemeClr val="accent1"/>
                </a:solidFill>
              </a:rPr>
              <a:t>speed.</a:t>
            </a:r>
            <a:endParaRPr lang="en-US" dirty="0">
              <a:solidFill>
                <a:schemeClr val="accent1"/>
              </a:solidFill>
            </a:endParaRPr>
          </a:p>
        </p:txBody>
      </p:sp>
    </p:spTree>
    <p:extLst>
      <p:ext uri="{BB962C8B-B14F-4D97-AF65-F5344CB8AC3E}">
        <p14:creationId xmlns:p14="http://schemas.microsoft.com/office/powerpoint/2010/main" val="3349994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a:t>Newton's Laws of Motion (1 of 2)</a:t>
            </a:r>
          </a:p>
        </p:txBody>
      </p:sp>
      <p:sp>
        <p:nvSpPr>
          <p:cNvPr id="3075" name="Content Placeholder 2"/>
          <p:cNvSpPr>
            <a:spLocks noGrp="1"/>
          </p:cNvSpPr>
          <p:nvPr>
            <p:ph idx="1"/>
          </p:nvPr>
        </p:nvSpPr>
        <p:spPr/>
        <p:txBody>
          <a:bodyPr/>
          <a:lstStyle/>
          <a:p>
            <a:pPr marL="0" indent="0">
              <a:buNone/>
            </a:pPr>
            <a:r>
              <a:rPr lang="en-US" sz="2400" b="1" dirty="0">
                <a:solidFill>
                  <a:schemeClr val="accent1"/>
                </a:solidFill>
              </a:rPr>
              <a:t>03.05 Describe and apply Newton’s laws of motion to an automobile.</a:t>
            </a:r>
          </a:p>
          <a:p>
            <a:r>
              <a:rPr lang="en-US" sz="2400" dirty="0">
                <a:solidFill>
                  <a:schemeClr val="accent1"/>
                </a:solidFill>
              </a:rPr>
              <a:t>Newton's first law: An object at rest tends to remain at rest and an object in motion tends to remain in motion, unless some force acts on it. </a:t>
            </a:r>
          </a:p>
          <a:p>
            <a:pPr lvl="1"/>
            <a:r>
              <a:rPr lang="en-US" sz="2200" dirty="0">
                <a:solidFill>
                  <a:schemeClr val="accent1"/>
                </a:solidFill>
              </a:rPr>
              <a:t>When a car is parked on a level street, it remains stationary unless it is driven or pushed. </a:t>
            </a:r>
          </a:p>
          <a:p>
            <a:r>
              <a:rPr lang="en-US" sz="2400" dirty="0">
                <a:solidFill>
                  <a:schemeClr val="accent1"/>
                </a:solidFill>
              </a:rPr>
              <a:t>Newton's second law: When a force acts on an object, the motion of the object will change. This change is equal to the size of the force divided by the object's mass. </a:t>
            </a:r>
          </a:p>
          <a:p>
            <a:pPr lvl="1"/>
            <a:r>
              <a:rPr lang="en-US" sz="2200" dirty="0">
                <a:solidFill>
                  <a:schemeClr val="accent1"/>
                </a:solidFill>
              </a:rPr>
              <a:t>Trucks have a greater mass than cars. Because a large mass requires a larger force to produce a given acceleration, a truck needs a more powerful engine than a car.</a:t>
            </a:r>
          </a:p>
        </p:txBody>
      </p:sp>
    </p:spTree>
    <p:extLst>
      <p:ext uri="{BB962C8B-B14F-4D97-AF65-F5344CB8AC3E}">
        <p14:creationId xmlns:p14="http://schemas.microsoft.com/office/powerpoint/2010/main" val="2094940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a:t>Newton's Laws of Motion (2 of 2)</a:t>
            </a:r>
          </a:p>
        </p:txBody>
      </p:sp>
      <p:sp>
        <p:nvSpPr>
          <p:cNvPr id="3075" name="Content Placeholder 2"/>
          <p:cNvSpPr>
            <a:spLocks noGrp="1"/>
          </p:cNvSpPr>
          <p:nvPr>
            <p:ph idx="1"/>
          </p:nvPr>
        </p:nvSpPr>
        <p:spPr/>
        <p:txBody>
          <a:bodyPr/>
          <a:lstStyle/>
          <a:p>
            <a:pPr>
              <a:spcAft>
                <a:spcPts val="600"/>
              </a:spcAft>
            </a:pPr>
            <a:r>
              <a:rPr lang="en-US" dirty="0">
                <a:solidFill>
                  <a:schemeClr val="accent1"/>
                </a:solidFill>
              </a:rPr>
              <a:t>Newton's third law: for every action, there is an equal and opposite reaction. A practical application of this occurs when the wheel strikes a bump in the road.</a:t>
            </a:r>
          </a:p>
          <a:p>
            <a:pPr lvl="1">
              <a:spcAft>
                <a:spcPts val="600"/>
              </a:spcAft>
            </a:pPr>
            <a:r>
              <a:rPr lang="en-US" dirty="0">
                <a:solidFill>
                  <a:schemeClr val="accent1"/>
                </a:solidFill>
              </a:rPr>
              <a:t>This action drives the wheel and suspension upward with a certain force, and a spe­cific amount of energy is stored in the spring. After this, the spring forces the wheel and suspension downward with a force equal to the initial upward force caused by the bump.</a:t>
            </a:r>
          </a:p>
        </p:txBody>
      </p:sp>
    </p:spTree>
    <p:extLst>
      <p:ext uri="{BB962C8B-B14F-4D97-AF65-F5344CB8AC3E}">
        <p14:creationId xmlns:p14="http://schemas.microsoft.com/office/powerpoint/2010/main" val="3360363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a:t>Work (1 of 2)</a:t>
            </a:r>
          </a:p>
        </p:txBody>
      </p:sp>
      <p:sp>
        <p:nvSpPr>
          <p:cNvPr id="7" name="Content Placeholder 2"/>
          <p:cNvSpPr>
            <a:spLocks noGrp="1"/>
          </p:cNvSpPr>
          <p:nvPr>
            <p:ph idx="1"/>
          </p:nvPr>
        </p:nvSpPr>
        <p:spPr>
          <a:xfrm>
            <a:off x="476843" y="1508124"/>
            <a:ext cx="6633641" cy="4473575"/>
          </a:xfrm>
        </p:spPr>
        <p:txBody>
          <a:bodyPr/>
          <a:lstStyle/>
          <a:p>
            <a:pPr marL="0" indent="0">
              <a:spcAft>
                <a:spcPts val="600"/>
              </a:spcAft>
              <a:buNone/>
            </a:pPr>
            <a:r>
              <a:rPr lang="en-US" b="1" dirty="0">
                <a:solidFill>
                  <a:schemeClr val="accent1"/>
                </a:solidFill>
              </a:rPr>
              <a:t>03.06 Define work and how it applies to vehicle operation.</a:t>
            </a:r>
          </a:p>
          <a:p>
            <a:pPr>
              <a:spcAft>
                <a:spcPts val="600"/>
              </a:spcAft>
            </a:pPr>
            <a:r>
              <a:rPr lang="en-US" dirty="0">
                <a:solidFill>
                  <a:schemeClr val="accent1"/>
                </a:solidFill>
              </a:rPr>
              <a:t>When a force moves a mass a specific distance, work is a done.</a:t>
            </a:r>
          </a:p>
          <a:p>
            <a:pPr>
              <a:spcAft>
                <a:spcPts val="600"/>
              </a:spcAft>
            </a:pPr>
            <a:r>
              <a:rPr lang="en-US" dirty="0">
                <a:solidFill>
                  <a:schemeClr val="accent1"/>
                </a:solidFill>
              </a:rPr>
              <a:t>When work is accomplished, a mass may be lifted or pushed against a resistance or opposing force.</a:t>
            </a:r>
          </a:p>
          <a:p>
            <a:pPr>
              <a:spcAft>
                <a:spcPts val="600"/>
              </a:spcAft>
            </a:pPr>
            <a:r>
              <a:rPr lang="en-US" b="1" dirty="0">
                <a:solidFill>
                  <a:schemeClr val="accent1"/>
                </a:solidFill>
              </a:rPr>
              <a:t>Work </a:t>
            </a:r>
            <a:r>
              <a:rPr lang="en-US" dirty="0">
                <a:solidFill>
                  <a:schemeClr val="accent1"/>
                </a:solidFill>
              </a:rPr>
              <a:t>is equal to the applied force multiplied by the distance the object is moved (force x distance = work).</a:t>
            </a:r>
            <a:endParaRPr lang="en-US" b="1" dirty="0">
              <a:solidFill>
                <a:schemeClr val="accent1"/>
              </a:solidFill>
            </a:endParaRPr>
          </a:p>
        </p:txBody>
      </p:sp>
      <p:pic>
        <p:nvPicPr>
          <p:cNvPr id="8" name="Picture Placeholder 7" descr="An illustration titled ‘Work = force times distance’ has 2 cubes labeled ‘mass’. The first cube titled, ’Lifted’ has an arrow labeled ‘Force’ below it pointing upwards. The vertical distance from the base of the arrow till the base of the cube is labeled ‘Distance’. The second cube titled, ‘Slid’ has an arrow labeled ‘Force’ pointing sideways. The horizontal distance from the base of the arrow till the base of the cube is labeled ‘Distance’."/>
          <p:cNvPicPr>
            <a:picLocks noGrp="1" noChangeAspect="1"/>
          </p:cNvPicPr>
          <p:nvPr>
            <p:ph type="pic" sz="quarter" idx="10"/>
          </p:nvPr>
        </p:nvPicPr>
        <p:blipFill>
          <a:blip r:embed="rId3"/>
          <a:srcRect b="14417"/>
          <a:stretch/>
        </p:blipFill>
        <p:spPr>
          <a:xfrm>
            <a:off x="7505296" y="2072745"/>
            <a:ext cx="4348477" cy="2712511"/>
          </a:xfrm>
          <a:prstGeom prst="rect">
            <a:avLst/>
          </a:prstGeom>
        </p:spPr>
      </p:pic>
    </p:spTree>
    <p:extLst>
      <p:ext uri="{BB962C8B-B14F-4D97-AF65-F5344CB8AC3E}">
        <p14:creationId xmlns:p14="http://schemas.microsoft.com/office/powerpoint/2010/main" val="3425013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a:t>Work (2 of 2)</a:t>
            </a:r>
          </a:p>
        </p:txBody>
      </p:sp>
      <p:sp>
        <p:nvSpPr>
          <p:cNvPr id="7" name="Content Placeholder 2"/>
          <p:cNvSpPr>
            <a:spLocks noGrp="1"/>
          </p:cNvSpPr>
          <p:nvPr>
            <p:ph idx="1"/>
          </p:nvPr>
        </p:nvSpPr>
        <p:spPr>
          <a:xfrm>
            <a:off x="476843" y="1508125"/>
            <a:ext cx="11241915" cy="1920876"/>
          </a:xfrm>
        </p:spPr>
        <p:txBody>
          <a:bodyPr/>
          <a:lstStyle/>
          <a:p>
            <a:r>
              <a:rPr lang="en-US" dirty="0"/>
              <a:t>Work is measured in foot-pounds, watts, or Newton-meters. </a:t>
            </a:r>
          </a:p>
          <a:p>
            <a:r>
              <a:rPr lang="en-US" dirty="0"/>
              <a:t>For example, if a force moves a 3,000-pound car 50 feet, 150,000 foot-pounds of work was done.</a:t>
            </a:r>
          </a:p>
          <a:p>
            <a:r>
              <a:rPr lang="en-US" dirty="0"/>
              <a:t>Or another example as shown below, 20 pounds moved 50 feet illustrates 1,000 foot-pounds of work.</a:t>
            </a:r>
          </a:p>
        </p:txBody>
      </p:sp>
      <p:pic>
        <p:nvPicPr>
          <p:cNvPr id="8" name="Picture Placeholder 7" descr="Two cars are parked one behind the other between some distance. A backward arrow indicates Force, 20 pounds is applied towards the rear of the first car. The horizontal distance between the front of the first car and the front portion of the second car is labeled 50 feet. The calculation below the illustration reads, Work equals force times distance; Work equals 20 times 50; Work equals 1000 feet-pounds."/>
          <p:cNvPicPr>
            <a:picLocks noGrp="1" noChangeAspect="1"/>
          </p:cNvPicPr>
          <p:nvPr>
            <p:ph type="pic" sz="quarter" idx="10"/>
          </p:nvPr>
        </p:nvPicPr>
        <p:blipFill rotWithShape="1">
          <a:blip r:embed="rId3"/>
          <a:srcRect b="19269"/>
          <a:stretch/>
        </p:blipFill>
        <p:spPr>
          <a:xfrm>
            <a:off x="3599746" y="4026265"/>
            <a:ext cx="4992508" cy="1790074"/>
          </a:xfrm>
          <a:prstGeom prst="rect">
            <a:avLst/>
          </a:prstGeom>
        </p:spPr>
      </p:pic>
    </p:spTree>
    <p:extLst>
      <p:ext uri="{BB962C8B-B14F-4D97-AF65-F5344CB8AC3E}">
        <p14:creationId xmlns:p14="http://schemas.microsoft.com/office/powerpoint/2010/main" val="2080321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a:t>
            </a:r>
          </a:p>
        </p:txBody>
      </p:sp>
      <p:sp>
        <p:nvSpPr>
          <p:cNvPr id="3" name="Content Placeholder 2"/>
          <p:cNvSpPr>
            <a:spLocks noGrp="1"/>
          </p:cNvSpPr>
          <p:nvPr>
            <p:ph idx="1"/>
          </p:nvPr>
        </p:nvSpPr>
        <p:spPr/>
        <p:txBody>
          <a:bodyPr/>
          <a:lstStyle/>
          <a:p>
            <a:pPr>
              <a:spcAft>
                <a:spcPts val="600"/>
              </a:spcAft>
            </a:pPr>
            <a:r>
              <a:rPr lang="en-US" dirty="0"/>
              <a:t>Newton's first law: An object at rest tends to remain at rest and an object in motion tends to remain in motion, unless some force acts on it.</a:t>
            </a:r>
          </a:p>
          <a:p>
            <a:pPr>
              <a:spcAft>
                <a:spcPts val="600"/>
              </a:spcAft>
            </a:pPr>
            <a:r>
              <a:rPr lang="en-US" dirty="0"/>
              <a:t>Have a class discussion while providing several examples of how this law applies to automobiles and how it is used.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Simple Machines</a:t>
            </a:r>
          </a:p>
        </p:txBody>
      </p:sp>
      <p:sp>
        <p:nvSpPr>
          <p:cNvPr id="3075" name="Content Placeholder 2"/>
          <p:cNvSpPr>
            <a:spLocks noGrp="1"/>
          </p:cNvSpPr>
          <p:nvPr>
            <p:ph idx="1"/>
          </p:nvPr>
        </p:nvSpPr>
        <p:spPr>
          <a:xfrm>
            <a:off x="476843" y="1508124"/>
            <a:ext cx="5987457" cy="4625975"/>
          </a:xfrm>
        </p:spPr>
        <p:txBody>
          <a:bodyPr>
            <a:normAutofit/>
          </a:bodyPr>
          <a:lstStyle/>
          <a:p>
            <a:pPr>
              <a:spcAft>
                <a:spcPts val="600"/>
              </a:spcAft>
            </a:pPr>
            <a:r>
              <a:rPr lang="en-US" sz="2600" dirty="0"/>
              <a:t>A machine is any device used to transmit a force, and in doing so, changes the amount of force and/or its direction. Common examples in automotive include:</a:t>
            </a:r>
          </a:p>
          <a:p>
            <a:pPr lvl="1">
              <a:spcAft>
                <a:spcPts val="600"/>
              </a:spcAft>
            </a:pPr>
            <a:r>
              <a:rPr lang="en-US" dirty="0"/>
              <a:t>Pulleys</a:t>
            </a:r>
          </a:p>
          <a:p>
            <a:pPr lvl="1">
              <a:spcAft>
                <a:spcPts val="600"/>
              </a:spcAft>
            </a:pPr>
            <a:r>
              <a:rPr lang="en-US" dirty="0"/>
              <a:t>Levers</a:t>
            </a:r>
          </a:p>
          <a:p>
            <a:pPr lvl="1">
              <a:spcAft>
                <a:spcPts val="600"/>
              </a:spcAft>
            </a:pPr>
            <a:r>
              <a:rPr lang="en-US" dirty="0"/>
              <a:t>Gears</a:t>
            </a:r>
          </a:p>
          <a:p>
            <a:pPr lvl="1">
              <a:spcAft>
                <a:spcPts val="600"/>
              </a:spcAft>
            </a:pPr>
            <a:r>
              <a:rPr lang="en-US" dirty="0"/>
              <a:t>Wheels and axles</a:t>
            </a:r>
          </a:p>
        </p:txBody>
      </p:sp>
      <p:pic>
        <p:nvPicPr>
          <p:cNvPr id="7" name="Picture Placeholder 6" descr="A brake pedal assemble has the following components labeled : ‘Brake pedal pivot (fulcrum)’, ‘Lever’ and ‘Brake pedal’. A small horizontal line is at the point of ‘Brake pedal pivot (fulcrum)’. At a distance 2 inches below this, is another small horizontal line. An arrow pointing to the second horizontal line is labeled ‘250 pounds of force’. The third horizontal line is along the Brake pedal. An arrow pointing to the third horizontal line is labeled ‘50 pounds of force’. The vertical distance between the first and second arrow is labeled ‘10 inches’."/>
          <p:cNvPicPr>
            <a:picLocks noGrp="1" noChangeAspect="1"/>
          </p:cNvPicPr>
          <p:nvPr>
            <p:ph type="pic" sz="quarter" idx="10"/>
          </p:nvPr>
        </p:nvPicPr>
        <p:blipFill>
          <a:blip r:embed="rId3"/>
          <a:srcRect b="12152"/>
          <a:stretch/>
        </p:blipFill>
        <p:spPr>
          <a:xfrm>
            <a:off x="6679557" y="1566860"/>
            <a:ext cx="5062236" cy="3724280"/>
          </a:xfrm>
          <a:prstGeom prst="rect">
            <a:avLst/>
          </a:prstGeom>
        </p:spPr>
      </p:pic>
    </p:spTree>
    <p:extLst>
      <p:ext uri="{BB962C8B-B14F-4D97-AF65-F5344CB8AC3E}">
        <p14:creationId xmlns:p14="http://schemas.microsoft.com/office/powerpoint/2010/main" val="2971656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Torque</a:t>
            </a:r>
          </a:p>
        </p:txBody>
      </p:sp>
      <p:pic>
        <p:nvPicPr>
          <p:cNvPr id="7" name="Picture Placeholder 6" descr="Two wrenches hold a bolt each. A downward arrow pointing to the tail of the first wrench is labeled ‘Force in pounds’. The horizontal distance between the center of the bolt till the end of the wrench is labeled ‘1 foot radius’. The calculation given below reads, ‘Torque = 1 foot times 10 pounds; 10 pound-feet’. A downward arrow pointing to the tail of the second wrench is labeled ‘Force in pounds’. The horizontal distance between the center of the bolt till the end of the wrench is labeled ‘2 foot radius’. The calculation given below reads, ‘Torque = 2 feet times 10 pounds; 20 pound-feet’. Two arrows pointing to the bolts in both the wrenches are commonly labeled ‘Torque exerted on bolt’."/>
          <p:cNvPicPr>
            <a:picLocks noGrp="1" noChangeAspect="1"/>
          </p:cNvPicPr>
          <p:nvPr>
            <p:ph type="pic" sz="quarter" idx="10"/>
          </p:nvPr>
        </p:nvPicPr>
        <p:blipFill>
          <a:blip r:embed="rId3"/>
          <a:srcRect b="11969"/>
          <a:stretch/>
        </p:blipFill>
        <p:spPr>
          <a:xfrm>
            <a:off x="323489" y="1569111"/>
            <a:ext cx="5020399" cy="3719778"/>
          </a:xfrm>
          <a:prstGeom prst="rect">
            <a:avLst/>
          </a:prstGeom>
        </p:spPr>
      </p:pic>
      <p:sp>
        <p:nvSpPr>
          <p:cNvPr id="3075" name="Content Placeholder 2"/>
          <p:cNvSpPr>
            <a:spLocks noGrp="1"/>
          </p:cNvSpPr>
          <p:nvPr>
            <p:ph idx="1"/>
          </p:nvPr>
        </p:nvSpPr>
        <p:spPr>
          <a:xfrm>
            <a:off x="5575300" y="1508124"/>
            <a:ext cx="6143458" cy="4549775"/>
          </a:xfrm>
        </p:spPr>
        <p:txBody>
          <a:bodyPr>
            <a:noAutofit/>
          </a:bodyPr>
          <a:lstStyle/>
          <a:p>
            <a:pPr>
              <a:spcAft>
                <a:spcPts val="600"/>
              </a:spcAft>
            </a:pPr>
            <a:r>
              <a:rPr lang="en-US" sz="2400" b="1" dirty="0"/>
              <a:t>Torque</a:t>
            </a:r>
            <a:r>
              <a:rPr lang="en-US" sz="2400" dirty="0"/>
              <a:t> is a force that rotates or turns things and is measured by the force applied and the distance trav­eled.</a:t>
            </a:r>
          </a:p>
          <a:p>
            <a:pPr>
              <a:spcAft>
                <a:spcPts val="600"/>
              </a:spcAft>
            </a:pPr>
            <a:r>
              <a:rPr lang="en-US" sz="2400" dirty="0"/>
              <a:t>The technically correct unit of measurement for torque is pounds per foot (</a:t>
            </a:r>
            <a:r>
              <a:rPr lang="en-US" sz="2400" dirty="0" err="1"/>
              <a:t>lb</a:t>
            </a:r>
            <a:r>
              <a:rPr lang="en-US" sz="2400" dirty="0"/>
              <a:t>-ft.). However, it is rather common to see torque stated as foot-pounds (ft.-</a:t>
            </a:r>
            <a:r>
              <a:rPr lang="en-US" sz="2400" dirty="0" err="1"/>
              <a:t>lb</a:t>
            </a:r>
            <a:r>
              <a:rPr lang="en-US" sz="2400" dirty="0"/>
              <a:t>). In the metric, or SI, system, torque is stated in Newton-meters (N-m) or kilogram-meters (kg-m).</a:t>
            </a:r>
          </a:p>
        </p:txBody>
      </p:sp>
    </p:spTree>
    <p:extLst>
      <p:ext uri="{BB962C8B-B14F-4D97-AF65-F5344CB8AC3E}">
        <p14:creationId xmlns:p14="http://schemas.microsoft.com/office/powerpoint/2010/main" val="720839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Horsepower</a:t>
            </a:r>
          </a:p>
        </p:txBody>
      </p:sp>
      <p:sp>
        <p:nvSpPr>
          <p:cNvPr id="3075" name="Content Placeholder 2"/>
          <p:cNvSpPr>
            <a:spLocks noGrp="1"/>
          </p:cNvSpPr>
          <p:nvPr>
            <p:ph idx="1"/>
          </p:nvPr>
        </p:nvSpPr>
        <p:spPr>
          <a:xfrm>
            <a:off x="476843" y="1508124"/>
            <a:ext cx="5974757" cy="4537075"/>
          </a:xfrm>
        </p:spPr>
        <p:txBody>
          <a:bodyPr>
            <a:normAutofit/>
          </a:bodyPr>
          <a:lstStyle/>
          <a:p>
            <a:pPr>
              <a:spcAft>
                <a:spcPts val="600"/>
              </a:spcAft>
            </a:pPr>
            <a:r>
              <a:rPr lang="en-US" b="1" dirty="0">
                <a:solidFill>
                  <a:schemeClr val="accent1"/>
                </a:solidFill>
              </a:rPr>
              <a:t>Horsepower </a:t>
            </a:r>
            <a:r>
              <a:rPr lang="en-US" dirty="0">
                <a:solidFill>
                  <a:schemeClr val="accent1"/>
                </a:solidFill>
              </a:rPr>
              <a:t>is the rate at which torque is produced. James Watt is credited with being the first person to calculate horsepower and power.</a:t>
            </a:r>
          </a:p>
          <a:p>
            <a:pPr>
              <a:spcAft>
                <a:spcPts val="600"/>
              </a:spcAft>
            </a:pPr>
            <a:r>
              <a:rPr lang="en-US" dirty="0">
                <a:solidFill>
                  <a:schemeClr val="accent1"/>
                </a:solidFill>
              </a:rPr>
              <a:t>He measured the amount of work a horse could do within a specific time. A horse could move 330 pounds 100 feet in 1 minute.</a:t>
            </a:r>
          </a:p>
        </p:txBody>
      </p:sp>
      <p:pic>
        <p:nvPicPr>
          <p:cNvPr id="7" name="Picture Placeholder 6" descr="A rope of a pulley tied to the horse neck is stable. The other end of the rope is tied to an object weighing ‘330 pounds’ backward arrow behind the horse indicates the horse is moving forward. An upward arrow labeled ‘100 feet’ below the object indicates the distance of the object from the ground level. A timer labeled ‘1 minute’ has its needle pointing to vertically upward below the horse."/>
          <p:cNvPicPr>
            <a:picLocks noGrp="1" noChangeAspect="1"/>
          </p:cNvPicPr>
          <p:nvPr>
            <p:ph type="pic" sz="quarter" idx="10"/>
          </p:nvPr>
        </p:nvPicPr>
        <p:blipFill>
          <a:blip r:embed="rId3"/>
          <a:srcRect b="16889"/>
          <a:stretch/>
        </p:blipFill>
        <p:spPr>
          <a:xfrm>
            <a:off x="6563704" y="1695088"/>
            <a:ext cx="5246318" cy="3467825"/>
          </a:xfrm>
          <a:prstGeom prst="rect">
            <a:avLst/>
          </a:prstGeom>
        </p:spPr>
      </p:pic>
    </p:spTree>
    <p:extLst>
      <p:ext uri="{BB962C8B-B14F-4D97-AF65-F5344CB8AC3E}">
        <p14:creationId xmlns:p14="http://schemas.microsoft.com/office/powerpoint/2010/main" val="2741112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Vibrations</a:t>
            </a:r>
          </a:p>
        </p:txBody>
      </p:sp>
      <p:sp>
        <p:nvSpPr>
          <p:cNvPr id="3075" name="Content Placeholder 2"/>
          <p:cNvSpPr>
            <a:spLocks noGrp="1"/>
          </p:cNvSpPr>
          <p:nvPr>
            <p:ph idx="1"/>
          </p:nvPr>
        </p:nvSpPr>
        <p:spPr>
          <a:xfrm>
            <a:off x="476843" y="1508124"/>
            <a:ext cx="6254157" cy="4486275"/>
          </a:xfrm>
        </p:spPr>
        <p:txBody>
          <a:bodyPr>
            <a:noAutofit/>
          </a:bodyPr>
          <a:lstStyle/>
          <a:p>
            <a:pPr>
              <a:spcAft>
                <a:spcPts val="600"/>
              </a:spcAft>
            </a:pPr>
            <a:r>
              <a:rPr lang="en-US" dirty="0"/>
              <a:t>When an object oscillates, it </a:t>
            </a:r>
            <a:r>
              <a:rPr lang="en-US"/>
              <a:t>vibrates.</a:t>
            </a:r>
            <a:endParaRPr lang="en-US" dirty="0"/>
          </a:p>
          <a:p>
            <a:pPr>
              <a:spcAft>
                <a:spcPts val="600"/>
              </a:spcAft>
            </a:pPr>
            <a:r>
              <a:rPr lang="en-US" dirty="0"/>
              <a:t>How many times the vibration occurs in 1 second is called </a:t>
            </a:r>
            <a:r>
              <a:rPr lang="en-US" b="1" dirty="0"/>
              <a:t>frequency </a:t>
            </a:r>
            <a:r>
              <a:rPr lang="en-US" dirty="0"/>
              <a:t>expressed in </a:t>
            </a:r>
            <a:r>
              <a:rPr lang="en-US" b="1" dirty="0"/>
              <a:t>hertz (Hz).</a:t>
            </a:r>
          </a:p>
          <a:p>
            <a:pPr>
              <a:spcAft>
                <a:spcPts val="600"/>
              </a:spcAft>
            </a:pPr>
            <a:r>
              <a:rPr lang="en-US" dirty="0"/>
              <a:t>The </a:t>
            </a:r>
            <a:r>
              <a:rPr lang="en-US" b="1" dirty="0"/>
              <a:t>amplitude</a:t>
            </a:r>
            <a:r>
              <a:rPr lang="en-US" dirty="0"/>
              <a:t> of the vibration it its intensity or strength. </a:t>
            </a:r>
          </a:p>
          <a:p>
            <a:pPr>
              <a:spcAft>
                <a:spcPts val="600"/>
              </a:spcAft>
            </a:pPr>
            <a:r>
              <a:rPr lang="en-US" dirty="0"/>
              <a:t>Vibrations occur in vehicles and may be serviced for vibration </a:t>
            </a:r>
            <a:r>
              <a:rPr lang="en-US"/>
              <a:t>concerns.</a:t>
            </a:r>
            <a:endParaRPr lang="en-US" dirty="0"/>
          </a:p>
        </p:txBody>
      </p:sp>
      <p:pic>
        <p:nvPicPr>
          <p:cNvPr id="7" name="Picture Placeholder 6" descr="A yardstick is placed on a flat surface held between 2 clamps. More than a quarter of the yardstick is outside the flat surface. The portion outside the surface is split both upwards and downwards with a couple of outlines of the yardstick in between them."/>
          <p:cNvPicPr>
            <a:picLocks noGrp="1" noChangeAspect="1"/>
          </p:cNvPicPr>
          <p:nvPr>
            <p:ph type="pic" sz="quarter" idx="10"/>
          </p:nvPr>
        </p:nvPicPr>
        <p:blipFill>
          <a:blip r:embed="rId3"/>
          <a:srcRect b="14657"/>
          <a:stretch/>
        </p:blipFill>
        <p:spPr>
          <a:xfrm>
            <a:off x="6781906" y="1713989"/>
            <a:ext cx="5031555" cy="3430023"/>
          </a:xfrm>
          <a:prstGeom prst="rect">
            <a:avLst/>
          </a:prstGeom>
        </p:spPr>
      </p:pic>
    </p:spTree>
    <p:extLst>
      <p:ext uri="{BB962C8B-B14F-4D97-AF65-F5344CB8AC3E}">
        <p14:creationId xmlns:p14="http://schemas.microsoft.com/office/powerpoint/2010/main" val="27276501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Sound (1 of 2)</a:t>
            </a:r>
          </a:p>
        </p:txBody>
      </p:sp>
      <p:sp>
        <p:nvSpPr>
          <p:cNvPr id="3075" name="Content Placeholder 2"/>
          <p:cNvSpPr>
            <a:spLocks noGrp="1"/>
          </p:cNvSpPr>
          <p:nvPr>
            <p:ph idx="1"/>
          </p:nvPr>
        </p:nvSpPr>
        <p:spPr/>
        <p:txBody>
          <a:bodyPr>
            <a:normAutofit/>
          </a:bodyPr>
          <a:lstStyle/>
          <a:p>
            <a:pPr marL="0" indent="0">
              <a:spcAft>
                <a:spcPts val="600"/>
              </a:spcAft>
              <a:buNone/>
            </a:pPr>
            <a:r>
              <a:rPr lang="en-US" b="1" dirty="0">
                <a:solidFill>
                  <a:schemeClr val="accent1"/>
                </a:solidFill>
              </a:rPr>
              <a:t>03.07 Describe the origins of sound, noise, and vibration.</a:t>
            </a:r>
          </a:p>
          <a:p>
            <a:pPr>
              <a:spcAft>
                <a:spcPts val="600"/>
              </a:spcAft>
            </a:pPr>
            <a:r>
              <a:rPr lang="en-US" dirty="0">
                <a:solidFill>
                  <a:schemeClr val="accent1"/>
                </a:solidFill>
              </a:rPr>
              <a:t>Vibration results in the phenomenon of sound.</a:t>
            </a:r>
          </a:p>
          <a:p>
            <a:pPr>
              <a:spcAft>
                <a:spcPts val="600"/>
              </a:spcAft>
            </a:pPr>
            <a:r>
              <a:rPr lang="en-US" dirty="0">
                <a:solidFill>
                  <a:schemeClr val="accent1"/>
                </a:solidFill>
              </a:rPr>
              <a:t>In air, the vibrations that cause sound are trans­mitted as a wave between air molecules; many other substances transmit sound in a similar way. A vibrating object causes pressure variations in the surrounding air.</a:t>
            </a:r>
          </a:p>
          <a:p>
            <a:pPr>
              <a:spcAft>
                <a:spcPts val="600"/>
              </a:spcAft>
            </a:pPr>
            <a:r>
              <a:rPr lang="en-US" dirty="0">
                <a:solidFill>
                  <a:schemeClr val="accent1"/>
                </a:solidFill>
              </a:rPr>
              <a:t>The distance between each compression of a sound wave is called its </a:t>
            </a:r>
            <a:r>
              <a:rPr lang="en-US" b="1" dirty="0">
                <a:solidFill>
                  <a:schemeClr val="accent1"/>
                </a:solidFill>
              </a:rPr>
              <a:t>wavelength</a:t>
            </a:r>
            <a:r>
              <a:rPr lang="en-US" dirty="0">
                <a:solidFill>
                  <a:schemeClr val="accent1"/>
                </a:solidFill>
              </a:rPr>
              <a:t>.</a:t>
            </a:r>
          </a:p>
        </p:txBody>
      </p:sp>
    </p:spTree>
    <p:extLst>
      <p:ext uri="{BB962C8B-B14F-4D97-AF65-F5344CB8AC3E}">
        <p14:creationId xmlns:p14="http://schemas.microsoft.com/office/powerpoint/2010/main" val="1376441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Sound (2 of 2)</a:t>
            </a:r>
          </a:p>
        </p:txBody>
      </p:sp>
      <p:sp>
        <p:nvSpPr>
          <p:cNvPr id="3075" name="Content Placeholder 2"/>
          <p:cNvSpPr>
            <a:spLocks noGrp="1"/>
          </p:cNvSpPr>
          <p:nvPr>
            <p:ph idx="1"/>
          </p:nvPr>
        </p:nvSpPr>
        <p:spPr/>
        <p:txBody>
          <a:bodyPr>
            <a:normAutofit/>
          </a:bodyPr>
          <a:lstStyle/>
          <a:p>
            <a:pPr>
              <a:spcAft>
                <a:spcPts val="600"/>
              </a:spcAft>
            </a:pPr>
            <a:r>
              <a:rPr lang="en-US" dirty="0"/>
              <a:t>Certain terms are used to describe sound:</a:t>
            </a:r>
          </a:p>
          <a:p>
            <a:pPr lvl="1">
              <a:spcAft>
                <a:spcPts val="600"/>
              </a:spcAft>
            </a:pPr>
            <a:r>
              <a:rPr lang="en-US" dirty="0"/>
              <a:t>The pitch of a sound is based on its frequency. The greater the frequency, the higher the pitch.</a:t>
            </a:r>
          </a:p>
          <a:p>
            <a:pPr lvl="1">
              <a:spcAft>
                <a:spcPts val="600"/>
              </a:spcAft>
            </a:pPr>
            <a:r>
              <a:rPr lang="en-US" dirty="0"/>
              <a:t>A decibel is a numerical expression of the loud­ness of a sound.</a:t>
            </a:r>
          </a:p>
          <a:p>
            <a:pPr lvl="1">
              <a:spcAft>
                <a:spcPts val="600"/>
              </a:spcAft>
            </a:pPr>
            <a:r>
              <a:rPr lang="en-US" dirty="0"/>
              <a:t>An overtone is an additional tone that is heard because of the air waves of the original tone.</a:t>
            </a:r>
          </a:p>
          <a:p>
            <a:pPr lvl="1">
              <a:spcAft>
                <a:spcPts val="600"/>
              </a:spcAft>
            </a:pPr>
            <a:r>
              <a:rPr lang="en-US" dirty="0"/>
              <a:t>Harmonics result from the presence of two or more tones at the same time.</a:t>
            </a:r>
          </a:p>
        </p:txBody>
      </p:sp>
    </p:spTree>
    <p:extLst>
      <p:ext uri="{BB962C8B-B14F-4D97-AF65-F5344CB8AC3E}">
        <p14:creationId xmlns:p14="http://schemas.microsoft.com/office/powerpoint/2010/main" val="2318382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t">
            <a:normAutofit/>
          </a:bodyPr>
          <a:lstStyle/>
          <a:p>
            <a:r>
              <a:rPr lang="en-US" dirty="0"/>
              <a:t>Noise</a:t>
            </a:r>
          </a:p>
        </p:txBody>
      </p:sp>
      <p:sp>
        <p:nvSpPr>
          <p:cNvPr id="3075" name="Content Placeholder 2"/>
          <p:cNvSpPr>
            <a:spLocks noGrp="1"/>
          </p:cNvSpPr>
          <p:nvPr>
            <p:ph idx="1"/>
          </p:nvPr>
        </p:nvSpPr>
        <p:spPr/>
        <p:txBody>
          <a:bodyPr>
            <a:normAutofit/>
          </a:bodyPr>
          <a:lstStyle/>
          <a:p>
            <a:pPr>
              <a:spcAft>
                <a:spcPts val="600"/>
              </a:spcAft>
            </a:pPr>
            <a:r>
              <a:rPr lang="en-US" dirty="0"/>
              <a:t>Noise is any unwanted signal or sound.</a:t>
            </a:r>
          </a:p>
          <a:p>
            <a:pPr>
              <a:spcAft>
                <a:spcPts val="600"/>
              </a:spcAft>
            </a:pPr>
            <a:r>
              <a:rPr lang="en-US" dirty="0"/>
              <a:t>It can be random or periodic.</a:t>
            </a:r>
          </a:p>
          <a:p>
            <a:pPr>
              <a:spcAft>
                <a:spcPts val="600"/>
              </a:spcAft>
            </a:pPr>
            <a:r>
              <a:rPr lang="en-US" dirty="0"/>
              <a:t>To identify the source of a noise, it is important to remember that sound or noise is a vibration and the vibration may be traveling through other components. Therefore, the source of the noise is not always where it may appear.</a:t>
            </a:r>
          </a:p>
          <a:p>
            <a:pPr>
              <a:spcAft>
                <a:spcPts val="600"/>
              </a:spcAft>
            </a:pPr>
            <a:r>
              <a:rPr lang="en-US" dirty="0"/>
              <a:t>In automotive we may prevent or reduce noise by making the component make less noise, or by more high tech methods such as noise cancelation systems which produce a similar sound but out of phase with the unwanted noise.</a:t>
            </a:r>
          </a:p>
        </p:txBody>
      </p:sp>
    </p:spTree>
    <p:extLst>
      <p:ext uri="{BB962C8B-B14F-4D97-AF65-F5344CB8AC3E}">
        <p14:creationId xmlns:p14="http://schemas.microsoft.com/office/powerpoint/2010/main" val="4048829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Knowledge Check (1 of 2)</a:t>
            </a:r>
            <a:endParaRPr lang="en-US" dirty="0"/>
          </a:p>
        </p:txBody>
      </p:sp>
      <p:sp>
        <p:nvSpPr>
          <p:cNvPr id="3" name="Content Placeholder 2"/>
          <p:cNvSpPr>
            <a:spLocks noGrp="1"/>
          </p:cNvSpPr>
          <p:nvPr>
            <p:ph idx="1"/>
          </p:nvPr>
        </p:nvSpPr>
        <p:spPr/>
        <p:txBody>
          <a:bodyPr/>
          <a:lstStyle/>
          <a:p>
            <a:pPr marL="0" indent="0" algn="ctr">
              <a:buNone/>
            </a:pPr>
            <a:r>
              <a:rPr lang="en-US" dirty="0"/>
              <a:t>What is the difference between a sound and a noise?</a:t>
            </a:r>
          </a:p>
        </p:txBody>
      </p:sp>
    </p:spTree>
    <p:extLst>
      <p:ext uri="{BB962C8B-B14F-4D97-AF65-F5344CB8AC3E}">
        <p14:creationId xmlns:p14="http://schemas.microsoft.com/office/powerpoint/2010/main" val="28700493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a:t>
            </a:r>
            <a:r>
              <a:rPr lang="en-US"/>
              <a:t>Check Answer (1 of 2)</a:t>
            </a:r>
            <a:endParaRPr lang="en-US" dirty="0"/>
          </a:p>
        </p:txBody>
      </p:sp>
      <p:sp>
        <p:nvSpPr>
          <p:cNvPr id="3" name="Content Placeholder 2"/>
          <p:cNvSpPr>
            <a:spLocks noGrp="1"/>
          </p:cNvSpPr>
          <p:nvPr>
            <p:ph idx="1"/>
          </p:nvPr>
        </p:nvSpPr>
        <p:spPr/>
        <p:txBody>
          <a:bodyPr/>
          <a:lstStyle/>
          <a:p>
            <a:pPr marL="0" indent="0" algn="ctr">
              <a:spcAft>
                <a:spcPts val="5400"/>
              </a:spcAft>
              <a:buNone/>
            </a:pPr>
            <a:r>
              <a:rPr lang="en-US" dirty="0"/>
              <a:t>What is the difference between a sound and a noise?</a:t>
            </a:r>
          </a:p>
          <a:p>
            <a:pPr marL="0" indent="0" algn="ctr">
              <a:buNone/>
            </a:pPr>
            <a:r>
              <a:rPr lang="en-US" b="1" dirty="0"/>
              <a:t>Answer: </a:t>
            </a:r>
            <a:r>
              <a:rPr lang="en-US" dirty="0"/>
              <a:t>A noise is specifically defined as an unwanted sound.</a:t>
            </a:r>
          </a:p>
        </p:txBody>
      </p:sp>
    </p:spTree>
    <p:extLst>
      <p:ext uri="{BB962C8B-B14F-4D97-AF65-F5344CB8AC3E}">
        <p14:creationId xmlns:p14="http://schemas.microsoft.com/office/powerpoint/2010/main" val="3811455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Laws of Hydraulics</a:t>
            </a:r>
          </a:p>
        </p:txBody>
      </p:sp>
      <p:sp>
        <p:nvSpPr>
          <p:cNvPr id="3075" name="Content Placeholder 2"/>
          <p:cNvSpPr>
            <a:spLocks noGrp="1"/>
          </p:cNvSpPr>
          <p:nvPr>
            <p:ph idx="1"/>
          </p:nvPr>
        </p:nvSpPr>
        <p:spPr/>
        <p:txBody>
          <a:bodyPr>
            <a:normAutofit/>
          </a:bodyPr>
          <a:lstStyle/>
          <a:p>
            <a:r>
              <a:rPr lang="en-US" b="1" dirty="0">
                <a:solidFill>
                  <a:schemeClr val="accent1"/>
                </a:solidFill>
              </a:rPr>
              <a:t>03.08 Explain the laws of hydraulics.</a:t>
            </a:r>
          </a:p>
          <a:p>
            <a:r>
              <a:rPr lang="en-US" dirty="0">
                <a:solidFill>
                  <a:schemeClr val="accent1"/>
                </a:solidFill>
              </a:rPr>
              <a:t>Hydraulics is the study of liquids in motion. Liquids will predictably respond to pressures put on them which allows hydraulics to do work.</a:t>
            </a:r>
          </a:p>
          <a:p>
            <a:r>
              <a:rPr lang="en-US" dirty="0">
                <a:solidFill>
                  <a:schemeClr val="accent1"/>
                </a:solidFill>
              </a:rPr>
              <a:t>Over 300 years ago a French scientist, Blaise Pascal, determined that if you had a liquid-filled container with only one opening and applied force to the liquid through that opening, the force would be evenly distributed throughout the liquid.</a:t>
            </a:r>
          </a:p>
        </p:txBody>
      </p:sp>
    </p:spTree>
    <p:extLst>
      <p:ext uri="{BB962C8B-B14F-4D97-AF65-F5344CB8AC3E}">
        <p14:creationId xmlns:p14="http://schemas.microsoft.com/office/powerpoint/2010/main" val="39397310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Mechanical Advantage with Hydraulics</a:t>
            </a:r>
          </a:p>
        </p:txBody>
      </p:sp>
      <p:sp>
        <p:nvSpPr>
          <p:cNvPr id="3075" name="Content Placeholder 2"/>
          <p:cNvSpPr>
            <a:spLocks noGrp="1"/>
          </p:cNvSpPr>
          <p:nvPr>
            <p:ph idx="1"/>
          </p:nvPr>
        </p:nvSpPr>
        <p:spPr>
          <a:xfrm>
            <a:off x="367661" y="1696794"/>
            <a:ext cx="7135325" cy="4349164"/>
          </a:xfrm>
        </p:spPr>
        <p:txBody>
          <a:bodyPr>
            <a:normAutofit/>
          </a:bodyPr>
          <a:lstStyle/>
          <a:p>
            <a:pPr>
              <a:spcAft>
                <a:spcPts val="600"/>
              </a:spcAft>
            </a:pPr>
            <a:r>
              <a:rPr lang="en-US" sz="2400" dirty="0"/>
              <a:t>Pascal found he could increase the force available to do work just as could be done with levers or gears.</a:t>
            </a:r>
          </a:p>
          <a:p>
            <a:pPr>
              <a:spcAft>
                <a:spcPts val="600"/>
              </a:spcAft>
            </a:pPr>
            <a:r>
              <a:rPr lang="en-US" sz="2400" dirty="0"/>
              <a:t>If 200 pounds is applied to a 20 square inch input piston (A), an output piston with 50 square inches would produce 500 pounds of force, although the distance traveled will be proportionally decreased.</a:t>
            </a:r>
          </a:p>
          <a:p>
            <a:pPr>
              <a:spcAft>
                <a:spcPts val="600"/>
              </a:spcAft>
            </a:pPr>
            <a:r>
              <a:rPr lang="en-US" sz="2400" dirty="0"/>
              <a:t>These findings are used in several automotive systems.</a:t>
            </a:r>
          </a:p>
        </p:txBody>
      </p:sp>
      <p:pic>
        <p:nvPicPr>
          <p:cNvPr id="7" name="Picture Placeholder 6" descr="Two pistons in the form of chamber labeled, piston A and piston B. Piston ‘A’ is narrower than Piston ‘B’. The level of liquid in both the pistons are the same. A downward arrow pointing to the first piston indicates ‘100 pounds’ pressure is applied. The connection between the two pistons is labeled ‘Pipe’. An upward arrow in the second piston indicates a weight of ‘100 pounds.’"/>
          <p:cNvPicPr>
            <a:picLocks noGrp="1" noChangeAspect="1"/>
          </p:cNvPicPr>
          <p:nvPr>
            <p:ph type="pic" sz="quarter" idx="10"/>
          </p:nvPr>
        </p:nvPicPr>
        <p:blipFill rotWithShape="1">
          <a:blip r:embed="rId3"/>
          <a:srcRect b="19641"/>
          <a:stretch/>
        </p:blipFill>
        <p:spPr>
          <a:xfrm>
            <a:off x="7612168" y="2137015"/>
            <a:ext cx="4102989" cy="2583970"/>
          </a:xfrm>
          <a:prstGeom prst="rect">
            <a:avLst/>
          </a:prstGeom>
        </p:spPr>
      </p:pic>
    </p:spTree>
    <p:extLst>
      <p:ext uri="{BB962C8B-B14F-4D97-AF65-F5344CB8AC3E}">
        <p14:creationId xmlns:p14="http://schemas.microsoft.com/office/powerpoint/2010/main" val="31518767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Behavior of Gases (1 of 2)</a:t>
            </a:r>
          </a:p>
        </p:txBody>
      </p:sp>
      <p:sp>
        <p:nvSpPr>
          <p:cNvPr id="3075" name="Content Placeholder 2"/>
          <p:cNvSpPr>
            <a:spLocks noGrp="1"/>
          </p:cNvSpPr>
          <p:nvPr>
            <p:ph idx="1"/>
          </p:nvPr>
        </p:nvSpPr>
        <p:spPr/>
        <p:txBody>
          <a:bodyPr>
            <a:normAutofit/>
          </a:bodyPr>
          <a:lstStyle/>
          <a:p>
            <a:r>
              <a:rPr lang="en-US" b="1" dirty="0">
                <a:solidFill>
                  <a:schemeClr val="accent1"/>
                </a:solidFill>
              </a:rPr>
              <a:t>03.09 Explain the behavior of gases.</a:t>
            </a:r>
          </a:p>
          <a:p>
            <a:r>
              <a:rPr lang="en-US" dirty="0">
                <a:solidFill>
                  <a:schemeClr val="accent1"/>
                </a:solidFill>
              </a:rPr>
              <a:t>Three simple laws describe the predictable behavior of gases:</a:t>
            </a:r>
          </a:p>
          <a:p>
            <a:pPr lvl="1"/>
            <a:r>
              <a:rPr lang="en-US" dirty="0">
                <a:solidFill>
                  <a:schemeClr val="accent1"/>
                </a:solidFill>
              </a:rPr>
              <a:t>Boyle's law</a:t>
            </a:r>
          </a:p>
          <a:p>
            <a:pPr lvl="1"/>
            <a:r>
              <a:rPr lang="en-US" dirty="0">
                <a:solidFill>
                  <a:schemeClr val="accent1"/>
                </a:solidFill>
              </a:rPr>
              <a:t>Charles' law</a:t>
            </a:r>
          </a:p>
          <a:p>
            <a:pPr lvl="1"/>
            <a:r>
              <a:rPr lang="en-US" dirty="0">
                <a:solidFill>
                  <a:schemeClr val="accent1"/>
                </a:solidFill>
              </a:rPr>
              <a:t>The pres­sure (ideal gas) law</a:t>
            </a:r>
          </a:p>
          <a:p>
            <a:r>
              <a:rPr lang="en-US" dirty="0">
                <a:solidFill>
                  <a:schemeClr val="accent1"/>
                </a:solidFill>
              </a:rPr>
              <a:t>Each of these laws describes a relationship between the pressure, volume, and temperature of a gas.</a:t>
            </a:r>
          </a:p>
        </p:txBody>
      </p:sp>
    </p:spTree>
    <p:extLst>
      <p:ext uri="{BB962C8B-B14F-4D97-AF65-F5344CB8AC3E}">
        <p14:creationId xmlns:p14="http://schemas.microsoft.com/office/powerpoint/2010/main" val="30420456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chor="ctr">
            <a:normAutofit/>
          </a:bodyPr>
          <a:lstStyle/>
          <a:p>
            <a:r>
              <a:rPr lang="en-US" dirty="0"/>
              <a:t>Behavior of Gases (2 of 2)</a:t>
            </a:r>
          </a:p>
        </p:txBody>
      </p:sp>
      <p:sp>
        <p:nvSpPr>
          <p:cNvPr id="3075" name="Content Placeholder 2"/>
          <p:cNvSpPr>
            <a:spLocks noGrp="1"/>
          </p:cNvSpPr>
          <p:nvPr>
            <p:ph idx="1"/>
          </p:nvPr>
        </p:nvSpPr>
        <p:spPr/>
        <p:txBody>
          <a:bodyPr>
            <a:normAutofit/>
          </a:bodyPr>
          <a:lstStyle/>
          <a:p>
            <a:r>
              <a:rPr lang="en-US" dirty="0"/>
              <a:t>Boyle's law: The volume and pressure of a mass of gas at a fixed temperature are inversely proportional. If the pressure on a gas increases, its volume will decrease; likewise if the volume is increased, the pressure will decrease.</a:t>
            </a:r>
          </a:p>
          <a:p>
            <a:r>
              <a:rPr lang="en-US" dirty="0"/>
              <a:t>Charles' law: The volume of a gas depends on its temperature. Therefore, at a con­stant pressure, the volume of a gas will increase or decrease in relationship to its temperature. If you increase one, you increase the other.</a:t>
            </a:r>
          </a:p>
          <a:p>
            <a:r>
              <a:rPr lang="en-US" dirty="0"/>
              <a:t>The pres­sure (ideal gas) law: A high pressure always moves to a lower pressure.</a:t>
            </a:r>
          </a:p>
        </p:txBody>
      </p:sp>
    </p:spTree>
    <p:extLst>
      <p:ext uri="{BB962C8B-B14F-4D97-AF65-F5344CB8AC3E}">
        <p14:creationId xmlns:p14="http://schemas.microsoft.com/office/powerpoint/2010/main" val="30780793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Air Pressure</a:t>
            </a:r>
            <a:endParaRPr lang="en-US" sz="4000" b="1" kern="1200" dirty="0">
              <a:latin typeface="+mj-lt"/>
              <a:ea typeface="+mj-ea"/>
              <a:cs typeface="+mj-cs"/>
            </a:endParaRPr>
          </a:p>
        </p:txBody>
      </p:sp>
      <p:sp>
        <p:nvSpPr>
          <p:cNvPr id="8195" name="Rectangle 3"/>
          <p:cNvSpPr>
            <a:spLocks noGrp="1" noChangeArrowheads="1"/>
          </p:cNvSpPr>
          <p:nvPr>
            <p:ph idx="1"/>
          </p:nvPr>
        </p:nvSpPr>
        <p:spPr>
          <a:xfrm>
            <a:off x="476843" y="1563624"/>
            <a:ext cx="11369414" cy="4613339"/>
          </a:xfrm>
        </p:spPr>
        <p:txBody>
          <a:bodyPr vert="horz" lIns="91440" tIns="45720" rIns="91440" bIns="45720" rtlCol="0">
            <a:noAutofit/>
          </a:bodyPr>
          <a:lstStyle/>
          <a:p>
            <a:pPr>
              <a:spcAft>
                <a:spcPts val="600"/>
              </a:spcAft>
            </a:pPr>
            <a:r>
              <a:rPr lang="en-US" sz="2400" dirty="0">
                <a:solidFill>
                  <a:schemeClr val="accent1"/>
                </a:solidFill>
              </a:rPr>
              <a:t>Because air is gaseous matter with mass and weight, it exerts pressure on the earth's surface. A 1-square-inch column of air extending from the earth's surface to the outer edge of the atmosphere weighs 14.7 psi at sea level. Therefore, atmospheric pressure is 14. 7 psi at sea level.</a:t>
            </a:r>
          </a:p>
          <a:p>
            <a:pPr>
              <a:spcAft>
                <a:spcPts val="600"/>
              </a:spcAft>
            </a:pPr>
            <a:r>
              <a:rPr lang="en-US" sz="2400" b="1" dirty="0">
                <a:solidFill>
                  <a:schemeClr val="accent1"/>
                </a:solidFill>
              </a:rPr>
              <a:t>Atmospheric</a:t>
            </a:r>
            <a:r>
              <a:rPr lang="en-US" sz="2400" dirty="0">
                <a:solidFill>
                  <a:schemeClr val="accent1"/>
                </a:solidFill>
              </a:rPr>
              <a:t> pressure may be defined as the total weight of the earth's atmosphere.</a:t>
            </a:r>
          </a:p>
          <a:p>
            <a:pPr>
              <a:spcAft>
                <a:spcPts val="600"/>
              </a:spcAft>
            </a:pPr>
            <a:r>
              <a:rPr lang="en-US" sz="2400" dirty="0">
                <a:solidFill>
                  <a:schemeClr val="accent1"/>
                </a:solidFill>
              </a:rPr>
              <a:t>The change in atmospheric pressure is measured with a barometer and is called </a:t>
            </a:r>
            <a:r>
              <a:rPr lang="en-US" sz="2400" b="1" dirty="0">
                <a:solidFill>
                  <a:schemeClr val="accent1"/>
                </a:solidFill>
              </a:rPr>
              <a:t>barometric pressure</a:t>
            </a:r>
            <a:r>
              <a:rPr lang="en-US" sz="2400" dirty="0">
                <a:solidFill>
                  <a:schemeClr val="accent1"/>
                </a:solidFill>
              </a:rPr>
              <a:t>.</a:t>
            </a:r>
          </a:p>
          <a:p>
            <a:pPr>
              <a:spcAft>
                <a:spcPts val="600"/>
              </a:spcAft>
            </a:pPr>
            <a:r>
              <a:rPr lang="en-US" sz="2400" b="1" dirty="0">
                <a:solidFill>
                  <a:schemeClr val="accent1"/>
                </a:solidFill>
              </a:rPr>
              <a:t>Vacuum</a:t>
            </a:r>
            <a:r>
              <a:rPr lang="en-US" sz="2400" dirty="0">
                <a:solidFill>
                  <a:schemeClr val="accent1"/>
                </a:solidFill>
              </a:rPr>
              <a:t> is defined as the absence of atmospheric pressure. However, it is commonly used to refer to any pressure less than atmospheric pressure.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476250" y="473075"/>
            <a:ext cx="11242675" cy="889000"/>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Heat</a:t>
            </a:r>
            <a:endParaRPr lang="en-US" sz="4000" b="1" kern="1200" dirty="0">
              <a:latin typeface="+mj-lt"/>
              <a:ea typeface="+mj-ea"/>
              <a:cs typeface="+mj-cs"/>
            </a:endParaRPr>
          </a:p>
        </p:txBody>
      </p:sp>
      <p:sp>
        <p:nvSpPr>
          <p:cNvPr id="8195" name="Rectangle 3"/>
          <p:cNvSpPr>
            <a:spLocks noGrp="1" noChangeArrowheads="1"/>
          </p:cNvSpPr>
          <p:nvPr>
            <p:ph idx="1"/>
          </p:nvPr>
        </p:nvSpPr>
        <p:spPr/>
        <p:txBody>
          <a:bodyPr vert="horz" lIns="91440" tIns="45720" rIns="91440" bIns="45720" rtlCol="0">
            <a:normAutofit/>
          </a:bodyPr>
          <a:lstStyle/>
          <a:p>
            <a:pPr>
              <a:spcAft>
                <a:spcPts val="600"/>
              </a:spcAft>
            </a:pPr>
            <a:r>
              <a:rPr lang="en-US" b="1" dirty="0"/>
              <a:t>Heat</a:t>
            </a:r>
            <a:r>
              <a:rPr lang="en-US" dirty="0"/>
              <a:t> is a form of energy. The main sources of heat are the sun, the earth, chemical reactions, electric­ity, friction, and nuclear energy.</a:t>
            </a:r>
          </a:p>
          <a:p>
            <a:pPr>
              <a:spcAft>
                <a:spcPts val="600"/>
              </a:spcAft>
            </a:pPr>
            <a:r>
              <a:rPr lang="en-US" dirty="0"/>
              <a:t>Temperature is an indication of an object's kinetic energy. </a:t>
            </a:r>
          </a:p>
          <a:p>
            <a:pPr>
              <a:spcAft>
                <a:spcPts val="600"/>
              </a:spcAft>
            </a:pPr>
            <a:r>
              <a:rPr lang="en-US" dirty="0"/>
              <a:t>The temperature of an object is a statement of how cold or hot an object is which is different than how much heat energy the object contains.</a:t>
            </a:r>
          </a:p>
          <a:p>
            <a:pPr>
              <a:spcAft>
                <a:spcPts val="600"/>
              </a:spcAft>
            </a:pPr>
            <a:r>
              <a:rPr lang="en-US" dirty="0"/>
              <a:t>Heat is measured in British thermal units (</a:t>
            </a:r>
            <a:r>
              <a:rPr lang="en-US" dirty="0" err="1"/>
              <a:t>Btus</a:t>
            </a:r>
            <a:r>
              <a:rPr lang="en-US" dirty="0"/>
              <a:t>) and calories. One Btu is the amount of heat required to heat 1 pound of water by 1 degree Fahrenheit.</a:t>
            </a:r>
          </a:p>
        </p:txBody>
      </p:sp>
    </p:spTree>
    <p:extLst>
      <p:ext uri="{BB962C8B-B14F-4D97-AF65-F5344CB8AC3E}">
        <p14:creationId xmlns:p14="http://schemas.microsoft.com/office/powerpoint/2010/main" val="10371898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476250" y="473075"/>
            <a:ext cx="11242675" cy="889000"/>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Heat Transfer</a:t>
            </a:r>
            <a:endParaRPr lang="en-US" sz="4000" b="1" kern="1200" dirty="0">
              <a:latin typeface="+mj-lt"/>
              <a:ea typeface="+mj-ea"/>
              <a:cs typeface="+mj-cs"/>
            </a:endParaRPr>
          </a:p>
        </p:txBody>
      </p:sp>
      <p:sp>
        <p:nvSpPr>
          <p:cNvPr id="8195" name="Rectangle 3"/>
          <p:cNvSpPr>
            <a:spLocks noGrp="1" noChangeArrowheads="1"/>
          </p:cNvSpPr>
          <p:nvPr>
            <p:ph idx="1"/>
          </p:nvPr>
        </p:nvSpPr>
        <p:spPr/>
        <p:txBody>
          <a:bodyPr vert="horz" lIns="91440" tIns="45720" rIns="91440" bIns="45720" rtlCol="0">
            <a:noAutofit/>
          </a:bodyPr>
          <a:lstStyle/>
          <a:p>
            <a:pPr marL="0" indent="0">
              <a:spcAft>
                <a:spcPts val="600"/>
              </a:spcAft>
              <a:buNone/>
            </a:pPr>
            <a:r>
              <a:rPr lang="en-US" sz="2000" b="1" dirty="0">
                <a:solidFill>
                  <a:schemeClr val="accent1"/>
                </a:solidFill>
              </a:rPr>
              <a:t>03.10 Identify types of heat transfer.</a:t>
            </a:r>
          </a:p>
          <a:p>
            <a:pPr>
              <a:spcAft>
                <a:spcPts val="600"/>
              </a:spcAft>
            </a:pPr>
            <a:r>
              <a:rPr lang="en-US" sz="2000" b="1" dirty="0">
                <a:solidFill>
                  <a:schemeClr val="accent1"/>
                </a:solidFill>
              </a:rPr>
              <a:t>Convection</a:t>
            </a:r>
            <a:r>
              <a:rPr lang="en-US" sz="2000" dirty="0">
                <a:solidFill>
                  <a:schemeClr val="accent1"/>
                </a:solidFill>
              </a:rPr>
              <a:t>: The transfer of heat by the movement of a heated object. Convection can be easily seen by watching a pot of water on a stove, the warm water at the bottom of the pot circulates and heats the cooler water near the top.</a:t>
            </a:r>
          </a:p>
          <a:p>
            <a:pPr>
              <a:spcAft>
                <a:spcPts val="600"/>
              </a:spcAft>
            </a:pPr>
            <a:r>
              <a:rPr lang="en-US" sz="2000" b="1" dirty="0">
                <a:solidFill>
                  <a:schemeClr val="accent1"/>
                </a:solidFill>
              </a:rPr>
              <a:t>Conduction</a:t>
            </a:r>
            <a:r>
              <a:rPr lang="en-US" sz="2000" dirty="0">
                <a:solidFill>
                  <a:schemeClr val="accent1"/>
                </a:solidFill>
              </a:rPr>
              <a:t>: The movement of heat through a material. The immense heat that results from com­bustion is absorbed by the engine and is used to push the pistons down, that heat is later transferred into the cooling system through direct contact.</a:t>
            </a:r>
          </a:p>
          <a:p>
            <a:pPr>
              <a:spcAft>
                <a:spcPts val="600"/>
              </a:spcAft>
            </a:pPr>
            <a:r>
              <a:rPr lang="en-US" sz="2000" b="1" dirty="0">
                <a:solidFill>
                  <a:schemeClr val="accent1"/>
                </a:solidFill>
              </a:rPr>
              <a:t>Radiation</a:t>
            </a:r>
            <a:r>
              <a:rPr lang="en-US" sz="2000" dirty="0">
                <a:solidFill>
                  <a:schemeClr val="accent1"/>
                </a:solidFill>
              </a:rPr>
              <a:t>: Does not rely on another material to transfer heat. The moving atoms and molecules within an object create waves of radiant energy. These waves are typically called infrared rays. You can feel this simply by putting your hand near something that is hot, the energy will be transferred into your hand.</a:t>
            </a:r>
          </a:p>
        </p:txBody>
      </p:sp>
    </p:spTree>
    <p:extLst>
      <p:ext uri="{BB962C8B-B14F-4D97-AF65-F5344CB8AC3E}">
        <p14:creationId xmlns:p14="http://schemas.microsoft.com/office/powerpoint/2010/main" val="10343773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Knowledge Check (2 of 2) </a:t>
            </a:r>
            <a:endParaRPr lang="en-US" dirty="0"/>
          </a:p>
        </p:txBody>
      </p:sp>
      <p:sp>
        <p:nvSpPr>
          <p:cNvPr id="3" name="Content Placeholder 2"/>
          <p:cNvSpPr>
            <a:spLocks noGrp="1"/>
          </p:cNvSpPr>
          <p:nvPr>
            <p:ph idx="1"/>
          </p:nvPr>
        </p:nvSpPr>
        <p:spPr/>
        <p:txBody>
          <a:bodyPr/>
          <a:lstStyle/>
          <a:p>
            <a:pPr marL="0" indent="0" algn="ctr">
              <a:buNone/>
            </a:pPr>
            <a:r>
              <a:rPr lang="en-US" dirty="0"/>
              <a:t>What type of heat transfer is the cooling system radiator passing heat from the coolant into the surrounding air?</a:t>
            </a:r>
          </a:p>
        </p:txBody>
      </p:sp>
    </p:spTree>
    <p:extLst>
      <p:ext uri="{BB962C8B-B14F-4D97-AF65-F5344CB8AC3E}">
        <p14:creationId xmlns:p14="http://schemas.microsoft.com/office/powerpoint/2010/main" val="29545475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a:t>
            </a:r>
            <a:r>
              <a:rPr lang="en-US"/>
              <a:t>Check Answer (2 of 2) </a:t>
            </a:r>
            <a:endParaRPr lang="en-US" dirty="0"/>
          </a:p>
        </p:txBody>
      </p:sp>
      <p:sp>
        <p:nvSpPr>
          <p:cNvPr id="3" name="Content Placeholder 2"/>
          <p:cNvSpPr>
            <a:spLocks noGrp="1"/>
          </p:cNvSpPr>
          <p:nvPr>
            <p:ph idx="1"/>
          </p:nvPr>
        </p:nvSpPr>
        <p:spPr/>
        <p:txBody>
          <a:bodyPr/>
          <a:lstStyle/>
          <a:p>
            <a:pPr marL="0" indent="0" algn="ctr">
              <a:spcAft>
                <a:spcPts val="2400"/>
              </a:spcAft>
              <a:buNone/>
            </a:pPr>
            <a:r>
              <a:rPr lang="en-US" dirty="0"/>
              <a:t>What type of heat transfer is the cooling system radiator passing heat from the coolant into the surrounding air?</a:t>
            </a:r>
          </a:p>
          <a:p>
            <a:pPr marL="0" indent="0" algn="ctr">
              <a:buNone/>
            </a:pPr>
            <a:r>
              <a:rPr lang="en-US" b="1"/>
              <a:t>Answer: </a:t>
            </a:r>
            <a:r>
              <a:rPr lang="en-US"/>
              <a:t>Radiation. The coolant contacts the metal in the radiator, transferring heat into the metal, then from the metal into the air that is contacting the metal.</a:t>
            </a:r>
          </a:p>
        </p:txBody>
      </p:sp>
    </p:spTree>
    <p:extLst>
      <p:ext uri="{BB962C8B-B14F-4D97-AF65-F5344CB8AC3E}">
        <p14:creationId xmlns:p14="http://schemas.microsoft.com/office/powerpoint/2010/main" val="596487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476250" y="473075"/>
            <a:ext cx="11242675" cy="889000"/>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Chemical Properties</a:t>
            </a:r>
            <a:endParaRPr lang="en-US" sz="4000" b="1" kern="1200" dirty="0">
              <a:latin typeface="+mj-lt"/>
              <a:ea typeface="+mj-ea"/>
              <a:cs typeface="+mj-cs"/>
            </a:endParaRPr>
          </a:p>
        </p:txBody>
      </p:sp>
      <p:sp>
        <p:nvSpPr>
          <p:cNvPr id="8195" name="Rectangle 3"/>
          <p:cNvSpPr>
            <a:spLocks noGrp="1" noChangeArrowheads="1"/>
          </p:cNvSpPr>
          <p:nvPr>
            <p:ph idx="1"/>
          </p:nvPr>
        </p:nvSpPr>
        <p:spPr/>
        <p:txBody>
          <a:bodyPr vert="horz" lIns="91440" tIns="45720" rIns="91440" bIns="45720" rtlCol="0">
            <a:noAutofit/>
          </a:bodyPr>
          <a:lstStyle/>
          <a:p>
            <a:pPr>
              <a:spcAft>
                <a:spcPts val="600"/>
              </a:spcAft>
            </a:pPr>
            <a:r>
              <a:rPr lang="en-US" sz="2400" b="1" dirty="0">
                <a:solidFill>
                  <a:schemeClr val="accent1"/>
                </a:solidFill>
              </a:rPr>
              <a:t>03.11 Explain how chemical properties relate to automotive systems.</a:t>
            </a:r>
          </a:p>
          <a:p>
            <a:pPr>
              <a:spcAft>
                <a:spcPts val="600"/>
              </a:spcAft>
            </a:pPr>
            <a:r>
              <a:rPr lang="en-US" sz="2400" dirty="0">
                <a:solidFill>
                  <a:schemeClr val="accent1"/>
                </a:solidFill>
              </a:rPr>
              <a:t>A </a:t>
            </a:r>
            <a:r>
              <a:rPr lang="en-US" sz="2400" b="1" dirty="0">
                <a:solidFill>
                  <a:schemeClr val="accent1"/>
                </a:solidFill>
              </a:rPr>
              <a:t>catalyst</a:t>
            </a:r>
            <a:r>
              <a:rPr lang="en-US" sz="2400" dirty="0">
                <a:solidFill>
                  <a:schemeClr val="accent1"/>
                </a:solidFill>
              </a:rPr>
              <a:t> is any substance that affects the speed of a reaction without itself being consumed or changed. Catalysts tend to be highly specific, reacting with one substance or a small set of substances. In a car's catalytic converter, the platinum catalyst converts unburned hydrocarbons and nitrogen compounds into products that are harmless to the environment.</a:t>
            </a:r>
          </a:p>
          <a:p>
            <a:pPr>
              <a:spcAft>
                <a:spcPts val="600"/>
              </a:spcAft>
            </a:pPr>
            <a:r>
              <a:rPr lang="en-US" sz="2400" b="1" dirty="0">
                <a:solidFill>
                  <a:schemeClr val="accent1"/>
                </a:solidFill>
              </a:rPr>
              <a:t>Acids</a:t>
            </a:r>
            <a:r>
              <a:rPr lang="en-US" sz="2400" dirty="0">
                <a:solidFill>
                  <a:schemeClr val="accent1"/>
                </a:solidFill>
              </a:rPr>
              <a:t> are compounds that break into hydrogen (H+) ions and another compound when placed in an aqueous (water) solution.</a:t>
            </a:r>
          </a:p>
          <a:p>
            <a:pPr>
              <a:spcAft>
                <a:spcPts val="600"/>
              </a:spcAft>
            </a:pPr>
            <a:r>
              <a:rPr lang="en-US" sz="2400" dirty="0">
                <a:solidFill>
                  <a:schemeClr val="accent1"/>
                </a:solidFill>
              </a:rPr>
              <a:t>Alkalis (bases) are compounds that release hydroxide ions (OH</a:t>
            </a:r>
            <a:r>
              <a:rPr lang="en-CA" sz="2400" dirty="0">
                <a:solidFill>
                  <a:schemeClr val="accent1"/>
                </a:solidFill>
                <a:ea typeface="Calibri" panose="020F0502020204030204" pitchFamily="34" charset="0"/>
                <a:cs typeface="Times New Roman" panose="02020603050405020304" pitchFamily="18" charset="0"/>
              </a:rPr>
              <a:t>−</a:t>
            </a:r>
            <a:r>
              <a:rPr lang="en-US" sz="2400" dirty="0">
                <a:solidFill>
                  <a:schemeClr val="accent1"/>
                </a:solidFill>
              </a:rPr>
              <a:t>) and react with H+ ions to pro­duce water, thus neutralizing each other.</a:t>
            </a:r>
          </a:p>
        </p:txBody>
      </p:sp>
    </p:spTree>
    <p:extLst>
      <p:ext uri="{BB962C8B-B14F-4D97-AF65-F5344CB8AC3E}">
        <p14:creationId xmlns:p14="http://schemas.microsoft.com/office/powerpoint/2010/main" val="31527881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476250" y="473075"/>
            <a:ext cx="11242675" cy="889000"/>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Metallurgy (1 of 2)</a:t>
            </a:r>
            <a:endParaRPr lang="en-US" sz="4000" b="1" kern="1200" dirty="0">
              <a:latin typeface="+mj-lt"/>
              <a:ea typeface="+mj-ea"/>
              <a:cs typeface="+mj-cs"/>
            </a:endParaRPr>
          </a:p>
        </p:txBody>
      </p:sp>
      <p:sp>
        <p:nvSpPr>
          <p:cNvPr id="8195" name="Rectangle 3"/>
          <p:cNvSpPr>
            <a:spLocks noGrp="1" noChangeArrowheads="1"/>
          </p:cNvSpPr>
          <p:nvPr>
            <p:ph idx="1"/>
          </p:nvPr>
        </p:nvSpPr>
        <p:spPr/>
        <p:txBody>
          <a:bodyPr vert="horz" lIns="91440" tIns="45720" rIns="91440" bIns="45720" rtlCol="0">
            <a:noAutofit/>
          </a:bodyPr>
          <a:lstStyle/>
          <a:p>
            <a:pPr>
              <a:spcAft>
                <a:spcPts val="600"/>
              </a:spcAft>
            </a:pPr>
            <a:r>
              <a:rPr lang="en-US" dirty="0"/>
              <a:t>Metallurgy is the art and science of extracting met­als from their ores and modifying them for a partic­ular </a:t>
            </a:r>
            <a:r>
              <a:rPr lang="en-US"/>
              <a:t>use.</a:t>
            </a:r>
            <a:endParaRPr lang="en-US" dirty="0"/>
          </a:p>
          <a:p>
            <a:pPr>
              <a:spcAft>
                <a:spcPts val="600"/>
              </a:spcAft>
            </a:pPr>
            <a:r>
              <a:rPr lang="en-US" dirty="0"/>
              <a:t>An </a:t>
            </a:r>
            <a:r>
              <a:rPr lang="en-US" b="1" dirty="0"/>
              <a:t>alloy</a:t>
            </a:r>
            <a:r>
              <a:rPr lang="en-US" dirty="0"/>
              <a:t> is a mixture of two or more metals. Steel is an alloy of iron plus carbon and other elements.</a:t>
            </a:r>
          </a:p>
          <a:p>
            <a:pPr>
              <a:spcAft>
                <a:spcPts val="600"/>
              </a:spcAft>
            </a:pPr>
            <a:r>
              <a:rPr lang="en-US" dirty="0"/>
              <a:t>The rusting of iron is an exam­ple of oxidation. Unlike fire, rusting occurs so slowly that little heat is produced. Iron combines with oxygen to form rust.</a:t>
            </a:r>
          </a:p>
        </p:txBody>
      </p:sp>
    </p:spTree>
    <p:extLst>
      <p:ext uri="{BB962C8B-B14F-4D97-AF65-F5344CB8AC3E}">
        <p14:creationId xmlns:p14="http://schemas.microsoft.com/office/powerpoint/2010/main" val="39475896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476250" y="473075"/>
            <a:ext cx="11242675" cy="889000"/>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Metallurgy (2 of 2)</a:t>
            </a:r>
            <a:endParaRPr lang="en-US" sz="4000" b="1" kern="1200" dirty="0">
              <a:latin typeface="+mj-lt"/>
              <a:ea typeface="+mj-ea"/>
              <a:cs typeface="+mj-cs"/>
            </a:endParaRPr>
          </a:p>
        </p:txBody>
      </p:sp>
      <p:sp>
        <p:nvSpPr>
          <p:cNvPr id="8195" name="Rectangle 3"/>
          <p:cNvSpPr>
            <a:spLocks noGrp="1" noChangeArrowheads="1"/>
          </p:cNvSpPr>
          <p:nvPr>
            <p:ph idx="1"/>
          </p:nvPr>
        </p:nvSpPr>
        <p:spPr/>
        <p:txBody>
          <a:bodyPr vert="horz" lIns="91440" tIns="45720" rIns="91440" bIns="45720" rtlCol="0">
            <a:noAutofit/>
          </a:bodyPr>
          <a:lstStyle/>
          <a:p>
            <a:pPr>
              <a:spcAft>
                <a:spcPts val="600"/>
              </a:spcAft>
            </a:pPr>
            <a:r>
              <a:rPr lang="en-US" b="1" dirty="0"/>
              <a:t>Hardening</a:t>
            </a:r>
            <a:r>
              <a:rPr lang="en-US" dirty="0"/>
              <a:t> is a process that increases the hardness of a metal, deliberately or accidentally, by hammering, rolling, carburizing, heat treating, tempering, or other </a:t>
            </a:r>
            <a:r>
              <a:rPr lang="en-US"/>
              <a:t>processes.</a:t>
            </a:r>
            <a:endParaRPr lang="en-US" dirty="0"/>
          </a:p>
          <a:p>
            <a:pPr>
              <a:spcAft>
                <a:spcPts val="600"/>
              </a:spcAft>
            </a:pPr>
            <a:r>
              <a:rPr lang="en-US" b="1" dirty="0"/>
              <a:t>Carburizing</a:t>
            </a:r>
            <a:r>
              <a:rPr lang="en-US" dirty="0"/>
              <a:t> hardens the surface of steel with heat. It increases the hardness of the outer sur­face while leaving the core relatively soft.</a:t>
            </a:r>
          </a:p>
          <a:p>
            <a:pPr>
              <a:spcAft>
                <a:spcPts val="600"/>
              </a:spcAft>
            </a:pPr>
            <a:r>
              <a:rPr lang="en-US" b="1" dirty="0"/>
              <a:t>Heat treating</a:t>
            </a:r>
            <a:r>
              <a:rPr lang="en-US" dirty="0"/>
              <a:t> changes the properties of a metal by using heat.</a:t>
            </a:r>
          </a:p>
          <a:p>
            <a:pPr>
              <a:spcAft>
                <a:spcPts val="600"/>
              </a:spcAft>
            </a:pPr>
            <a:r>
              <a:rPr lang="en-US" b="1" dirty="0"/>
              <a:t>Tempering</a:t>
            </a:r>
            <a:r>
              <a:rPr lang="en-US" dirty="0"/>
              <a:t> is the heat treating of metal alloys, particularly steel.</a:t>
            </a:r>
          </a:p>
        </p:txBody>
      </p:sp>
    </p:spTree>
    <p:extLst>
      <p:ext uri="{BB962C8B-B14F-4D97-AF65-F5344CB8AC3E}">
        <p14:creationId xmlns:p14="http://schemas.microsoft.com/office/powerpoint/2010/main" val="36259283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476250" y="473075"/>
            <a:ext cx="11242675" cy="889000"/>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Electricity and Electromagnetism</a:t>
            </a:r>
            <a:endParaRPr lang="en-US" sz="4000" b="1" kern="1200" dirty="0">
              <a:latin typeface="+mj-lt"/>
              <a:ea typeface="+mj-ea"/>
              <a:cs typeface="+mj-cs"/>
            </a:endParaRPr>
          </a:p>
        </p:txBody>
      </p:sp>
      <p:sp>
        <p:nvSpPr>
          <p:cNvPr id="8195" name="Rectangle 3"/>
          <p:cNvSpPr>
            <a:spLocks noGrp="1" noChangeArrowheads="1"/>
          </p:cNvSpPr>
          <p:nvPr>
            <p:ph idx="1"/>
          </p:nvPr>
        </p:nvSpPr>
        <p:spPr/>
        <p:txBody>
          <a:bodyPr vert="horz" lIns="91440" tIns="45720" rIns="91440" bIns="45720" rtlCol="0">
            <a:noAutofit/>
          </a:bodyPr>
          <a:lstStyle/>
          <a:p>
            <a:pPr marL="0" indent="0">
              <a:spcAft>
                <a:spcPts val="600"/>
              </a:spcAft>
              <a:buNone/>
            </a:pPr>
            <a:r>
              <a:rPr lang="en-US" b="1" dirty="0">
                <a:solidFill>
                  <a:schemeClr val="accent1"/>
                </a:solidFill>
              </a:rPr>
              <a:t>03.12 Describe the properties of electricity and electromagnetism.</a:t>
            </a:r>
          </a:p>
          <a:p>
            <a:pPr>
              <a:spcAft>
                <a:spcPts val="600"/>
              </a:spcAft>
            </a:pPr>
            <a:r>
              <a:rPr lang="en-US" dirty="0">
                <a:solidFill>
                  <a:schemeClr val="accent1"/>
                </a:solidFill>
              </a:rPr>
              <a:t>An electric circuit is simply the path in which an elec­tric current flows. Electrons can be moved around a circuit by electrostatic forces.</a:t>
            </a:r>
          </a:p>
          <a:p>
            <a:pPr>
              <a:spcAft>
                <a:spcPts val="600"/>
              </a:spcAft>
            </a:pPr>
            <a:r>
              <a:rPr lang="en-US" dirty="0">
                <a:solidFill>
                  <a:schemeClr val="accent1"/>
                </a:solidFill>
              </a:rPr>
              <a:t>A circuit usually con­sists of a conductive material, such as a metal, where the electrons are held very loosely to their atoms, thus making electron movement possible.</a:t>
            </a:r>
          </a:p>
          <a:p>
            <a:pPr>
              <a:spcAft>
                <a:spcPts val="600"/>
              </a:spcAft>
            </a:pPr>
            <a:r>
              <a:rPr lang="en-US" dirty="0">
                <a:solidFill>
                  <a:schemeClr val="accent1"/>
                </a:solidFill>
              </a:rPr>
              <a:t>There are three terms every technician must understand with regard to electricity; voltage, current, and resistance.</a:t>
            </a:r>
          </a:p>
        </p:txBody>
      </p:sp>
    </p:spTree>
    <p:extLst>
      <p:ext uri="{BB962C8B-B14F-4D97-AF65-F5344CB8AC3E}">
        <p14:creationId xmlns:p14="http://schemas.microsoft.com/office/powerpoint/2010/main" val="26736831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476250" y="473075"/>
            <a:ext cx="11242675" cy="889000"/>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Electricity</a:t>
            </a:r>
            <a:endParaRPr lang="en-US" sz="4000" b="1" kern="1200" dirty="0">
              <a:latin typeface="+mj-lt"/>
              <a:ea typeface="+mj-ea"/>
              <a:cs typeface="+mj-cs"/>
            </a:endParaRPr>
          </a:p>
        </p:txBody>
      </p:sp>
      <p:sp>
        <p:nvSpPr>
          <p:cNvPr id="8195" name="Rectangle 3"/>
          <p:cNvSpPr>
            <a:spLocks noGrp="1" noChangeArrowheads="1"/>
          </p:cNvSpPr>
          <p:nvPr>
            <p:ph idx="1"/>
          </p:nvPr>
        </p:nvSpPr>
        <p:spPr/>
        <p:txBody>
          <a:bodyPr vert="horz" lIns="91440" tIns="45720" rIns="91440" bIns="45720" rtlCol="0">
            <a:noAutofit/>
          </a:bodyPr>
          <a:lstStyle/>
          <a:p>
            <a:pPr>
              <a:spcAft>
                <a:spcPts val="600"/>
              </a:spcAft>
            </a:pPr>
            <a:r>
              <a:rPr lang="en-US" dirty="0"/>
              <a:t>Voltage: The strength of the electrostatic </a:t>
            </a:r>
            <a:r>
              <a:rPr lang="en-US"/>
              <a:t>force.</a:t>
            </a:r>
            <a:endParaRPr lang="en-US" dirty="0"/>
          </a:p>
          <a:p>
            <a:pPr>
              <a:spcAft>
                <a:spcPts val="600"/>
              </a:spcAft>
            </a:pPr>
            <a:r>
              <a:rPr lang="en-US" dirty="0"/>
              <a:t>Current: The movement of the electric charge. The higher the voltage, the greater the current will be. But the current also depends on the thickness, length, temperature, and nature of the materials used as a conductor. </a:t>
            </a:r>
          </a:p>
          <a:p>
            <a:pPr>
              <a:spcAft>
                <a:spcPts val="600"/>
              </a:spcAft>
            </a:pPr>
            <a:r>
              <a:rPr lang="en-US" dirty="0"/>
              <a:t>Resistance: Electrical resis­tance opposes the flow of electric current.</a:t>
            </a:r>
          </a:p>
        </p:txBody>
      </p:sp>
    </p:spTree>
    <p:extLst>
      <p:ext uri="{BB962C8B-B14F-4D97-AF65-F5344CB8AC3E}">
        <p14:creationId xmlns:p14="http://schemas.microsoft.com/office/powerpoint/2010/main" val="20703004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noGrp="1"/>
          </p:cNvSpPr>
          <p:nvPr>
            <p:ph type="title"/>
          </p:nvPr>
        </p:nvSpPr>
        <p:spPr>
          <a:xfrm>
            <a:off x="476250" y="473075"/>
            <a:ext cx="11242675" cy="822325"/>
          </a:xfrm>
          <a:prstGeom prst="rect">
            <a:avLst/>
          </a:prstGeom>
        </p:spPr>
        <p:txBody>
          <a:bodyPr vert="horz" lIns="91440" tIns="45720" rIns="91440" bIns="45720" rtlCol="0" anchor="ctr">
            <a:normAutofit/>
          </a:bodyPr>
          <a:lstStyle/>
          <a:p>
            <a:pPr lvl="0" algn="ctr" eaLnBrk="1" hangingPunct="1">
              <a:lnSpc>
                <a:spcPct val="90000"/>
              </a:lnSpc>
              <a:spcAft>
                <a:spcPts val="600"/>
              </a:spcAft>
            </a:pPr>
            <a:r>
              <a:rPr lang="en-US" sz="4000" b="1" dirty="0">
                <a:latin typeface="+mj-lt"/>
                <a:ea typeface="+mj-ea"/>
                <a:cs typeface="+mj-cs"/>
              </a:rPr>
              <a:t>Electromagnetism</a:t>
            </a:r>
            <a:endParaRPr lang="en-US" sz="4000" b="1" kern="1200" dirty="0">
              <a:latin typeface="+mj-lt"/>
              <a:ea typeface="+mj-ea"/>
              <a:cs typeface="+mj-cs"/>
            </a:endParaRPr>
          </a:p>
        </p:txBody>
      </p:sp>
      <p:sp>
        <p:nvSpPr>
          <p:cNvPr id="8195" name="Rectangle 3"/>
          <p:cNvSpPr>
            <a:spLocks noGrp="1" noChangeArrowheads="1"/>
          </p:cNvSpPr>
          <p:nvPr>
            <p:ph idx="1"/>
          </p:nvPr>
        </p:nvSpPr>
        <p:spPr>
          <a:xfrm>
            <a:off x="476843" y="1508124"/>
            <a:ext cx="7193957" cy="4689475"/>
          </a:xfrm>
        </p:spPr>
        <p:txBody>
          <a:bodyPr vert="horz" lIns="91440" tIns="45720" rIns="91440" bIns="45720" rtlCol="0">
            <a:noAutofit/>
          </a:bodyPr>
          <a:lstStyle/>
          <a:p>
            <a:pPr>
              <a:spcAft>
                <a:spcPts val="600"/>
              </a:spcAft>
            </a:pPr>
            <a:r>
              <a:rPr lang="en-US" dirty="0"/>
              <a:t>Electrical current will produce magnetism that affects other objects in the same way as permanent </a:t>
            </a:r>
            <a:r>
              <a:rPr lang="en-US"/>
              <a:t>magnets.</a:t>
            </a:r>
            <a:endParaRPr lang="en-US" dirty="0"/>
          </a:p>
          <a:p>
            <a:pPr>
              <a:spcAft>
                <a:spcPts val="600"/>
              </a:spcAft>
            </a:pPr>
            <a:r>
              <a:rPr lang="en-US" dirty="0"/>
              <a:t>The arrangement of force lines around a current-carrying conductor, its magnetic field, is circular.</a:t>
            </a:r>
          </a:p>
          <a:p>
            <a:pPr>
              <a:spcAft>
                <a:spcPts val="600"/>
              </a:spcAft>
            </a:pPr>
            <a:r>
              <a:rPr lang="en-US" dirty="0"/>
              <a:t>When a coil of wire is wrapped around an iron bar, it is called an </a:t>
            </a:r>
            <a:r>
              <a:rPr lang="en-US" b="1" dirty="0"/>
              <a:t>electromagnet</a:t>
            </a:r>
            <a:r>
              <a:rPr lang="en-US" dirty="0"/>
              <a:t>.</a:t>
            </a:r>
          </a:p>
        </p:txBody>
      </p:sp>
      <p:pic>
        <p:nvPicPr>
          <p:cNvPr id="10" name="Picture Placeholder 9" descr="Four wires. The first wire has a pointer pointing to the base and another pointer pointing away from its top. A magnet with its north pole facing the wire is drawn next to it. Circular arrows in pairs in clockwise motion are drawn around the wire. A right angle is drawn at the base of the wire. The second wire has a pointer pointing to the top and another pointer pointing away from its base. A magnet with its south pole facing the wire is drawn next to it. Circular arrows in pairs in counter-clockwise motion are drawn around the wire. The third wire has a pointer pointing to the base and another pointer pointing away from its top. A magnet with its north pole facing the wire is drawn next to it. Circular arrows in clockwise motion are drawn around the wire. The fourth wire has a pointer pointing to the top and another pointer pointing away from its base. A magnet with its south pole facing the wire is drawn next to it. Circular arrows in counter-clockwise motion are drawn around the wire."/>
          <p:cNvPicPr>
            <a:picLocks noGrp="1" noChangeAspect="1"/>
          </p:cNvPicPr>
          <p:nvPr>
            <p:ph type="pic" sz="quarter" idx="10"/>
          </p:nvPr>
        </p:nvPicPr>
        <p:blipFill>
          <a:blip r:embed="rId3"/>
          <a:srcRect b="15099"/>
          <a:stretch/>
        </p:blipFill>
        <p:spPr>
          <a:xfrm>
            <a:off x="7833803" y="1825219"/>
            <a:ext cx="4120278" cy="3207562"/>
          </a:xfrm>
          <a:prstGeom prst="rect">
            <a:avLst/>
          </a:prstGeom>
        </p:spPr>
      </p:pic>
    </p:spTree>
    <p:extLst>
      <p:ext uri="{BB962C8B-B14F-4D97-AF65-F5344CB8AC3E}">
        <p14:creationId xmlns:p14="http://schemas.microsoft.com/office/powerpoint/2010/main" val="11096671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BCA28CB-E86D-4243-9B4B-3C703AE85185}"/>
              </a:ext>
            </a:extLst>
          </p:cNvPr>
          <p:cNvSpPr>
            <a:spLocks noGrp="1"/>
          </p:cNvSpPr>
          <p:nvPr>
            <p:ph type="title"/>
          </p:nvPr>
        </p:nvSpPr>
        <p:spPr/>
        <p:txBody>
          <a:bodyPr/>
          <a:lstStyle/>
          <a:p>
            <a:r>
              <a:rPr lang="en-GB" dirty="0"/>
              <a:t>Chapter Reflection</a:t>
            </a:r>
            <a:endParaRPr lang="en-IN" dirty="0"/>
          </a:p>
        </p:txBody>
      </p:sp>
      <p:sp>
        <p:nvSpPr>
          <p:cNvPr id="4" name="Content Placeholder 3">
            <a:extLst>
              <a:ext uri="{FF2B5EF4-FFF2-40B4-BE49-F238E27FC236}">
                <a16:creationId xmlns:a16="http://schemas.microsoft.com/office/drawing/2014/main" id="{5537EF08-0DB3-438B-A55D-5E2D3A18F40B}"/>
              </a:ext>
            </a:extLst>
          </p:cNvPr>
          <p:cNvSpPr>
            <a:spLocks noGrp="1"/>
          </p:cNvSpPr>
          <p:nvPr>
            <p:ph idx="1"/>
          </p:nvPr>
        </p:nvSpPr>
        <p:spPr/>
        <p:txBody>
          <a:bodyPr/>
          <a:lstStyle/>
          <a:p>
            <a:pPr marL="0" indent="0">
              <a:spcBef>
                <a:spcPct val="20000"/>
              </a:spcBef>
              <a:spcAft>
                <a:spcPts val="600"/>
              </a:spcAft>
              <a:buNone/>
            </a:pPr>
            <a:r>
              <a:rPr lang="en-US" dirty="0">
                <a:solidFill>
                  <a:schemeClr val="accent1"/>
                </a:solidFill>
              </a:rPr>
              <a:t>Please take a moment to compare your perception of the automotive industry before and after you studied this chapter. Then respond to the following questions in one or two paragraphs. Use 150–200 words in your reflection.</a:t>
            </a:r>
          </a:p>
          <a:p>
            <a:pPr marL="360363" indent="-360363">
              <a:spcBef>
                <a:spcPct val="20000"/>
              </a:spcBef>
              <a:spcAft>
                <a:spcPts val="600"/>
              </a:spcAft>
              <a:buFont typeface="Arial" pitchFamily="34" charset="0"/>
              <a:buChar char="•"/>
            </a:pPr>
            <a:r>
              <a:rPr lang="en-US" dirty="0">
                <a:solidFill>
                  <a:schemeClr val="accent1"/>
                </a:solidFill>
              </a:rPr>
              <a:t>Did anything in this chapter change your thinking about automotive careers? Describe any of the basic theories and math that interest you most.</a:t>
            </a:r>
          </a:p>
          <a:p>
            <a:pPr marL="360363" indent="-360363">
              <a:spcBef>
                <a:spcPct val="20000"/>
              </a:spcBef>
              <a:spcAft>
                <a:spcPts val="600"/>
              </a:spcAft>
              <a:buFont typeface="Arial" pitchFamily="34" charset="0"/>
              <a:buChar char="•"/>
            </a:pPr>
            <a:r>
              <a:rPr lang="en-US" dirty="0">
                <a:solidFill>
                  <a:schemeClr val="accent1"/>
                </a:solidFill>
              </a:rPr>
              <a:t>Considering all you have learned, do you feel you are able to apply basic theories and math to automotive specific </a:t>
            </a:r>
            <a:r>
              <a:rPr lang="en-US">
                <a:solidFill>
                  <a:schemeClr val="accent1"/>
                </a:solidFill>
              </a:rPr>
              <a:t>systems?</a:t>
            </a:r>
            <a:endParaRPr lang="en-US" dirty="0">
              <a:solidFill>
                <a:schemeClr val="accent1"/>
              </a:solidFill>
            </a:endParaRPr>
          </a:p>
        </p:txBody>
      </p:sp>
    </p:spTree>
    <p:custDataLst>
      <p:tags r:id="rId1"/>
    </p:custDataLst>
    <p:extLst>
      <p:ext uri="{BB962C8B-B14F-4D97-AF65-F5344CB8AC3E}">
        <p14:creationId xmlns:p14="http://schemas.microsoft.com/office/powerpoint/2010/main" val="18024416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A72290BDFA7C44CB3A669C535D7775C" ma:contentTypeVersion="6" ma:contentTypeDescription="Create a new document." ma:contentTypeScope="" ma:versionID="97880c4d28887ebfb4b36432ea450809">
  <xsd:schema xmlns:xsd="http://www.w3.org/2001/XMLSchema" xmlns:xs="http://www.w3.org/2001/XMLSchema" xmlns:p="http://schemas.microsoft.com/office/2006/metadata/properties" xmlns:ns2="e4cbcfe0-9d9b-4b65-9b1a-e9a94908661b" xmlns:ns3="3db7a360-adc4-468e-a7a4-aedd9af1b4ce" targetNamespace="http://schemas.microsoft.com/office/2006/metadata/properties" ma:root="true" ma:fieldsID="8599bfbb83744fc14c5dfbcd5b864898" ns2:_="" ns3:_="">
    <xsd:import namespace="e4cbcfe0-9d9b-4b65-9b1a-e9a94908661b"/>
    <xsd:import namespace="3db7a360-adc4-468e-a7a4-aedd9af1b4ce"/>
    <xsd:element name="properties">
      <xsd:complexType>
        <xsd:sequence>
          <xsd:element name="documentManagement">
            <xsd:complexType>
              <xsd:all>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cbcfe0-9d9b-4b65-9b1a-e9a94908661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9813c7c6-b368-4d0a-9b29-2e74b134ed1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db7a360-adc4-468e-a7a4-aedd9af1b4ce"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ab1c66ef-6276-4f1a-9819-eb42e753d24e}" ma:internalName="TaxCatchAll" ma:showField="CatchAllData" ma:web="3db7a360-adc4-468e-a7a4-aedd9af1b4c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4cbcfe0-9d9b-4b65-9b1a-e9a94908661b">
      <Terms xmlns="http://schemas.microsoft.com/office/infopath/2007/PartnerControls"/>
    </lcf76f155ced4ddcb4097134ff3c332f>
    <TaxCatchAll xmlns="3db7a360-adc4-468e-a7a4-aedd9af1b4c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AF9BA56-B2EB-43C0-A8EE-001E552C79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cbcfe0-9d9b-4b65-9b1a-e9a94908661b"/>
    <ds:schemaRef ds:uri="3db7a360-adc4-468e-a7a4-aedd9af1b4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3db7a360-adc4-468e-a7a4-aedd9af1b4ce"/>
    <ds:schemaRef ds:uri="http://www.w3.org/XML/1998/namespace"/>
    <ds:schemaRef ds:uri="http://purl.org/dc/dcmitype/"/>
    <ds:schemaRef ds:uri="http://purl.org/dc/terms/"/>
    <ds:schemaRef ds:uri="http://schemas.microsoft.com/office/2006/metadata/properties"/>
    <ds:schemaRef ds:uri="http://schemas.openxmlformats.org/package/2006/metadata/core-properties"/>
    <ds:schemaRef ds:uri="http://schemas.microsoft.com/office/2006/documentManagement/types"/>
    <ds:schemaRef ds:uri="http://schemas.microsoft.com/office/infopath/2007/PartnerControls"/>
    <ds:schemaRef ds:uri="e4cbcfe0-9d9b-4b65-9b1a-e9a94908661b"/>
    <ds:schemaRef ds:uri="http://purl.org/dc/elements/1.1/"/>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18185</TotalTime>
  <Words>3674</Words>
  <Application>Microsoft Office PowerPoint</Application>
  <PresentationFormat>Widescreen</PresentationFormat>
  <Paragraphs>216</Paragraphs>
  <Slides>46</Slides>
  <Notes>46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MS Mincho</vt:lpstr>
      <vt:lpstr>Arial</vt:lpstr>
      <vt:lpstr>Calibri</vt:lpstr>
      <vt:lpstr>Courier New</vt:lpstr>
      <vt:lpstr>Wingdings</vt:lpstr>
      <vt:lpstr>Work Sans</vt:lpstr>
      <vt:lpstr>Work Sans </vt:lpstr>
      <vt:lpstr>Optimized Template Master</vt:lpstr>
      <vt:lpstr>Automotive Technology:  A Systems Approach, 8e</vt:lpstr>
      <vt:lpstr>Chapter Objectives (1 of 2)</vt:lpstr>
      <vt:lpstr>Chapter Objectives (2 of 2)</vt:lpstr>
      <vt:lpstr>Matter</vt:lpstr>
      <vt:lpstr>Behavior of the States</vt:lpstr>
      <vt:lpstr>Energy (1 of 2)</vt:lpstr>
      <vt:lpstr>Energy (2 of 2)</vt:lpstr>
      <vt:lpstr>Kinetic and Potential Energy</vt:lpstr>
      <vt:lpstr>Energy Conversion (1 of 2)</vt:lpstr>
      <vt:lpstr>Energy Conversion (2 of 2)</vt:lpstr>
      <vt:lpstr>Volume and Ratios (1 of 2)</vt:lpstr>
      <vt:lpstr>Volume and Ratios (2 of 2)</vt:lpstr>
      <vt:lpstr>Proportions and Percentages</vt:lpstr>
      <vt:lpstr>Automotive Forces (1 of 3)</vt:lpstr>
      <vt:lpstr>Automotive Forces (2 of 3)</vt:lpstr>
      <vt:lpstr>Automotive Forces (3 of 3)</vt:lpstr>
      <vt:lpstr>Newton's Laws of Motion (1 of 2)</vt:lpstr>
      <vt:lpstr>Newton's Laws of Motion (2 of 2)</vt:lpstr>
      <vt:lpstr>Work (1 of 2)</vt:lpstr>
      <vt:lpstr>Work (2 of 2)</vt:lpstr>
      <vt:lpstr>Discussion</vt:lpstr>
      <vt:lpstr>Simple Machines</vt:lpstr>
      <vt:lpstr>Torque</vt:lpstr>
      <vt:lpstr>Horsepower</vt:lpstr>
      <vt:lpstr>Vibrations</vt:lpstr>
      <vt:lpstr>Sound (1 of 2)</vt:lpstr>
      <vt:lpstr>Sound (2 of 2)</vt:lpstr>
      <vt:lpstr>Noise</vt:lpstr>
      <vt:lpstr>Knowledge Check (1 of 2)</vt:lpstr>
      <vt:lpstr>Knowledge Check Answer (1 of 2)</vt:lpstr>
      <vt:lpstr>Laws of Hydraulics</vt:lpstr>
      <vt:lpstr>Mechanical Advantage with Hydraulics</vt:lpstr>
      <vt:lpstr>Behavior of Gases (1 of 2)</vt:lpstr>
      <vt:lpstr>Behavior of Gases (2 of 2)</vt:lpstr>
      <vt:lpstr>Air Pressure</vt:lpstr>
      <vt:lpstr>Heat</vt:lpstr>
      <vt:lpstr>Heat Transfer</vt:lpstr>
      <vt:lpstr>Knowledge Check (2 of 2) </vt:lpstr>
      <vt:lpstr>Knowledge Check Answer (2 of 2) </vt:lpstr>
      <vt:lpstr>Chemical Properties</vt:lpstr>
      <vt:lpstr>Metallurgy (1 of 2)</vt:lpstr>
      <vt:lpstr>Metallurgy (2 of 2)</vt:lpstr>
      <vt:lpstr>Electricity and Electromagnetism</vt:lpstr>
      <vt:lpstr>Electricity</vt:lpstr>
      <vt:lpstr>Electromagnetism</vt:lpstr>
      <vt:lpstr>Chapter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Owner</dc:creator>
  <cp:lastModifiedBy>Muthukrishnan, Keerthi -</cp:lastModifiedBy>
  <cp:revision>476</cp:revision>
  <cp:lastPrinted>2016-10-03T15:29:39Z</cp:lastPrinted>
  <dcterms:created xsi:type="dcterms:W3CDTF">2021-12-10T16:21:02Z</dcterms:created>
  <dcterms:modified xsi:type="dcterms:W3CDTF">2024-10-18T14:00:32Z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