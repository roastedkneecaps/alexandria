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4"/>
  </p:notesMasterIdLst>
  <p:sldIdLst>
    <p:sldId id="350" r:id="rId2"/>
    <p:sldId id="257" r:id="rId3"/>
    <p:sldId id="551" r:id="rId4"/>
    <p:sldId id="586" r:id="rId5"/>
    <p:sldId id="461" r:id="rId6"/>
    <p:sldId id="552" r:id="rId7"/>
    <p:sldId id="553" r:id="rId8"/>
    <p:sldId id="554" r:id="rId9"/>
    <p:sldId id="555" r:id="rId10"/>
    <p:sldId id="556" r:id="rId11"/>
    <p:sldId id="557" r:id="rId12"/>
    <p:sldId id="558" r:id="rId13"/>
    <p:sldId id="559" r:id="rId14"/>
    <p:sldId id="560" r:id="rId15"/>
    <p:sldId id="561" r:id="rId16"/>
    <p:sldId id="284" r:id="rId17"/>
    <p:sldId id="285" r:id="rId18"/>
    <p:sldId id="562" r:id="rId19"/>
    <p:sldId id="563" r:id="rId20"/>
    <p:sldId id="564" r:id="rId21"/>
    <p:sldId id="565" r:id="rId22"/>
    <p:sldId id="566" r:id="rId23"/>
    <p:sldId id="567" r:id="rId24"/>
    <p:sldId id="568" r:id="rId25"/>
    <p:sldId id="276" r:id="rId26"/>
    <p:sldId id="569" r:id="rId27"/>
    <p:sldId id="587" r:id="rId28"/>
    <p:sldId id="570" r:id="rId29"/>
    <p:sldId id="572" r:id="rId30"/>
    <p:sldId id="573" r:id="rId31"/>
    <p:sldId id="576" r:id="rId32"/>
    <p:sldId id="577" r:id="rId33"/>
    <p:sldId id="579" r:id="rId34"/>
    <p:sldId id="578" r:id="rId35"/>
    <p:sldId id="580" r:id="rId36"/>
    <p:sldId id="581" r:id="rId37"/>
    <p:sldId id="582" r:id="rId38"/>
    <p:sldId id="583" r:id="rId39"/>
    <p:sldId id="293" r:id="rId40"/>
    <p:sldId id="294" r:id="rId41"/>
    <p:sldId id="585" r:id="rId42"/>
    <p:sldId id="301" r:id="rId43"/>
  </p:sldIdLst>
  <p:sldSz cx="12192000" cy="6858000"/>
  <p:notesSz cx="6858000" cy="9144000"/>
  <p:embeddedFontLst>
    <p:embeddedFont>
      <p:font typeface="Work Sans"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 id="2" name="Paul Kelley" initials="PK [2]" lastIdx="1" clrIdx="2">
    <p:extLst>
      <p:ext uri="{19B8F6BF-5375-455C-9EA6-DF929625EA0E}">
        <p15:presenceInfo xmlns:p15="http://schemas.microsoft.com/office/powerpoint/2012/main" userId="S::pkelley@cypresscollege.edu::777b1eff-b158-40c1-ad7d-9b6a685db862" providerId="AD"/>
      </p:ext>
    </p:extLst>
  </p:cmAuthor>
  <p:cmAuthor id="3" name="Paul Kelley" initials="PK [3]" lastIdx="1" clrIdx="3">
    <p:extLst>
      <p:ext uri="{19B8F6BF-5375-455C-9EA6-DF929625EA0E}">
        <p15:presenceInfo xmlns:p15="http://schemas.microsoft.com/office/powerpoint/2012/main" userId="782a4b9ae503304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26" autoAdjust="0"/>
    <p:restoredTop sz="86375" autoAdjust="0"/>
  </p:normalViewPr>
  <p:slideViewPr>
    <p:cSldViewPr snapToGrid="0">
      <p:cViewPr varScale="1">
        <p:scale>
          <a:sx n="51" d="100"/>
          <a:sy n="51" d="100"/>
        </p:scale>
        <p:origin x="252" y="48"/>
      </p:cViewPr>
      <p:guideLst>
        <p:guide orient="horz" pos="2160"/>
        <p:guide pos="3840"/>
      </p:guideLst>
    </p:cSldViewPr>
  </p:slideViewPr>
  <p:outlineViewPr>
    <p:cViewPr>
      <p:scale>
        <a:sx n="33" d="100"/>
        <a:sy n="33" d="100"/>
      </p:scale>
      <p:origin x="0" y="-3746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30501277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34426946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108048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08162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8264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58320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72238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95738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2876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0841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199859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32941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024008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42378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531943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9863069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15873478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63356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481357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374122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232806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373962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31305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872644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13934814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188937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42918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825554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919018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726175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009660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412555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54280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742200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355770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964963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843785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856518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extLst>
      <p:ext uri="{BB962C8B-B14F-4D97-AF65-F5344CB8AC3E}">
        <p14:creationId xmlns:p14="http://schemas.microsoft.com/office/powerpoint/2010/main" val="15934689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36564012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219673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227539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8449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480499"/>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720725" lvl="1" indent="-360363" algn="l">
              <a:lnSpc>
                <a:spcPct val="100000"/>
              </a:lnSpc>
              <a:spcBef>
                <a:spcPts val="624"/>
              </a:spcBef>
              <a:spcAft>
                <a:spcPts val="600"/>
              </a:spcAft>
              <a:buSzPct val="100000"/>
              <a:buFont typeface="Arial" panose="020B0604020202020204" pitchFamily="34" charset="0"/>
              <a:buChar char="–"/>
              <a:defRPr sz="2400" b="0"/>
            </a:lvl2pPr>
            <a:lvl3pPr marL="1081088" lvl="2" indent="-360363" algn="l">
              <a:lnSpc>
                <a:spcPct val="100000"/>
              </a:lnSpc>
              <a:spcBef>
                <a:spcPts val="624"/>
              </a:spcBef>
              <a:spcAft>
                <a:spcPts val="60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8449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480500"/>
            <a:ext cx="11241915" cy="2666628"/>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ct val="100000"/>
              <a:buChar char="•"/>
              <a:defRPr sz="2600"/>
            </a:lvl1pPr>
            <a:lvl2pPr marL="720725" lvl="1" indent="-360363" algn="l">
              <a:lnSpc>
                <a:spcPct val="100000"/>
              </a:lnSpc>
              <a:spcBef>
                <a:spcPts val="624"/>
              </a:spcBef>
              <a:spcAft>
                <a:spcPts val="600"/>
              </a:spcAft>
              <a:buSzPct val="100000"/>
              <a:buFont typeface="Arial" panose="020B0604020202020204" pitchFamily="34" charset="0"/>
              <a:buChar char="–"/>
              <a:defRPr sz="2400" b="0"/>
            </a:lvl2pPr>
            <a:lvl3pPr marL="1081088" lvl="2" indent="-360363" algn="l">
              <a:lnSpc>
                <a:spcPct val="100000"/>
              </a:lnSpc>
              <a:spcBef>
                <a:spcPts val="624"/>
              </a:spcBef>
              <a:spcAft>
                <a:spcPts val="60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
        <p:nvSpPr>
          <p:cNvPr id="3" name="Content Placeholder 2">
            <a:extLst>
              <a:ext uri="{FF2B5EF4-FFF2-40B4-BE49-F238E27FC236}">
                <a16:creationId xmlns:a16="http://schemas.microsoft.com/office/drawing/2014/main" id="{BA6B5B62-00F1-3A3A-44F7-831DBF1890F3}"/>
              </a:ext>
            </a:extLst>
          </p:cNvPr>
          <p:cNvSpPr>
            <a:spLocks noGrp="1"/>
          </p:cNvSpPr>
          <p:nvPr>
            <p:ph sz="quarter" idx="10"/>
          </p:nvPr>
        </p:nvSpPr>
        <p:spPr>
          <a:xfrm>
            <a:off x="1163638" y="4516438"/>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a:extLst>
              <a:ext uri="{FF2B5EF4-FFF2-40B4-BE49-F238E27FC236}">
                <a16:creationId xmlns:a16="http://schemas.microsoft.com/office/drawing/2014/main" id="{AEAA2B08-0A46-E9A6-D8C9-70B07D46B2A4}"/>
              </a:ext>
            </a:extLst>
          </p:cNvPr>
          <p:cNvSpPr>
            <a:spLocks noGrp="1"/>
          </p:cNvSpPr>
          <p:nvPr>
            <p:ph sz="quarter" idx="11"/>
          </p:nvPr>
        </p:nvSpPr>
        <p:spPr>
          <a:xfrm>
            <a:off x="2724150" y="4525963"/>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Picture Placeholder 6">
            <a:extLst>
              <a:ext uri="{FF2B5EF4-FFF2-40B4-BE49-F238E27FC236}">
                <a16:creationId xmlns:a16="http://schemas.microsoft.com/office/drawing/2014/main" id="{F878947F-6C85-BAD7-EC2A-993A573CDBAB}"/>
              </a:ext>
            </a:extLst>
          </p:cNvPr>
          <p:cNvSpPr>
            <a:spLocks noGrp="1"/>
          </p:cNvSpPr>
          <p:nvPr>
            <p:ph type="pic" sz="quarter" idx="12"/>
          </p:nvPr>
        </p:nvSpPr>
        <p:spPr>
          <a:xfrm>
            <a:off x="4470400" y="4525963"/>
            <a:ext cx="914400" cy="914400"/>
          </a:xfrm>
        </p:spPr>
        <p:txBody>
          <a:bodyPr/>
          <a:lstStyle/>
          <a:p>
            <a:endParaRPr lang="en-IN"/>
          </a:p>
        </p:txBody>
      </p:sp>
      <p:sp>
        <p:nvSpPr>
          <p:cNvPr id="9" name="Picture Placeholder 8">
            <a:extLst>
              <a:ext uri="{FF2B5EF4-FFF2-40B4-BE49-F238E27FC236}">
                <a16:creationId xmlns:a16="http://schemas.microsoft.com/office/drawing/2014/main" id="{299C2138-AD4D-68EC-4464-D068CDE61769}"/>
              </a:ext>
            </a:extLst>
          </p:cNvPr>
          <p:cNvSpPr>
            <a:spLocks noGrp="1"/>
          </p:cNvSpPr>
          <p:nvPr>
            <p:ph type="pic" sz="quarter" idx="13"/>
          </p:nvPr>
        </p:nvSpPr>
        <p:spPr>
          <a:xfrm>
            <a:off x="6299200" y="4414838"/>
            <a:ext cx="914400" cy="914400"/>
          </a:xfrm>
        </p:spPr>
        <p:txBody>
          <a:bodyPr/>
          <a:lstStyle/>
          <a:p>
            <a:endParaRPr lang="en-IN"/>
          </a:p>
        </p:txBody>
      </p:sp>
      <p:sp>
        <p:nvSpPr>
          <p:cNvPr id="11" name="Table Placeholder 10">
            <a:extLst>
              <a:ext uri="{FF2B5EF4-FFF2-40B4-BE49-F238E27FC236}">
                <a16:creationId xmlns:a16="http://schemas.microsoft.com/office/drawing/2014/main" id="{1DC1F150-B0D1-813E-6E7F-6D807CA55937}"/>
              </a:ext>
            </a:extLst>
          </p:cNvPr>
          <p:cNvSpPr>
            <a:spLocks noGrp="1"/>
          </p:cNvSpPr>
          <p:nvPr>
            <p:ph type="tbl" sz="quarter" idx="14"/>
          </p:nvPr>
        </p:nvSpPr>
        <p:spPr>
          <a:xfrm>
            <a:off x="7980363" y="4525963"/>
            <a:ext cx="914400" cy="914400"/>
          </a:xfrm>
        </p:spPr>
        <p:txBody>
          <a:bodyPr/>
          <a:lstStyle/>
          <a:p>
            <a:endParaRPr lang="en-IN"/>
          </a:p>
        </p:txBody>
      </p:sp>
    </p:spTree>
    <p:extLst>
      <p:ext uri="{BB962C8B-B14F-4D97-AF65-F5344CB8AC3E}">
        <p14:creationId xmlns:p14="http://schemas.microsoft.com/office/powerpoint/2010/main" val="4272715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021895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8">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6444A7D0-9F68-591C-1254-BB28E219541E}"/>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 bg1="lt1" tx1="dk1" bg2="dk2" tx2="lt2" accent1="accent1" accent2="accent2" accent3="accent3" accent4="accent4" accent5="accent5" accent6="accent6" hlink="hlink" folHlink="folHlink"/>
  <p:sldLayoutIdLst>
    <p:sldLayoutId id="2147483650" r:id="rId1"/>
    <p:sldLayoutId id="2147483665"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25: Detailed Diagnosis and Sensors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2)  </a:t>
            </a:r>
            <a:endParaRPr dirty="0"/>
          </a:p>
        </p:txBody>
      </p:sp>
      <p:sp>
        <p:nvSpPr>
          <p:cNvPr id="132" name="Google Shape;132;p2"/>
          <p:cNvSpPr txBox="1">
            <a:spLocks noGrp="1"/>
          </p:cNvSpPr>
          <p:nvPr>
            <p:ph type="body" idx="1"/>
          </p:nvPr>
        </p:nvSpPr>
        <p:spPr>
          <a:xfrm>
            <a:off x="475042" y="1480499"/>
            <a:ext cx="11241915" cy="4613339"/>
          </a:xfrm>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dirty="0"/>
              <a:t>25.01 Perform a scan tester diagnosis on various vehicles.</a:t>
            </a:r>
          </a:p>
          <a:p>
            <a:pPr marL="357188" marR="0" lvl="0" indent="-357188" algn="l" rtl="0">
              <a:buChar char="•"/>
            </a:pPr>
            <a:r>
              <a:rPr lang="en-US" dirty="0"/>
              <a:t>25.02 Conduct symptom-based diagnostics on an OBD II system.</a:t>
            </a:r>
          </a:p>
          <a:p>
            <a:pPr marL="357188" marR="0" lvl="0" indent="-357188" algn="l" rtl="0">
              <a:buChar char="•"/>
            </a:pPr>
            <a:r>
              <a:rPr lang="en-US" dirty="0"/>
              <a:t>25.03 Perform basic tests on sensors.</a:t>
            </a:r>
          </a:p>
          <a:p>
            <a:pPr marL="357188" marR="0" lvl="0" indent="-357188" algn="l" rtl="0">
              <a:buChar char="•"/>
            </a:pPr>
            <a:r>
              <a:rPr lang="en-US" dirty="0"/>
              <a:t>25.04 Diagnose computer voltage supply and ground wires.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2)  </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dirty="0"/>
              <a:t>25.05 Test and diagnose switch-type input sensors.</a:t>
            </a:r>
          </a:p>
          <a:p>
            <a:pPr marL="357188" marR="0" lvl="0" indent="-357188" algn="l" rtl="0">
              <a:buChar char="•"/>
            </a:pPr>
            <a:r>
              <a:rPr lang="en-US" dirty="0"/>
              <a:t>25.06 Test and diagnose variable resistance-type input sensors.</a:t>
            </a:r>
          </a:p>
          <a:p>
            <a:pPr marL="357188" marR="0" lvl="0" indent="-357188" algn="l" rtl="0">
              <a:buChar char="•"/>
            </a:pPr>
            <a:r>
              <a:rPr lang="en-US" dirty="0"/>
              <a:t>25.07 Test and diagnose voltage-generating-type input sensors.</a:t>
            </a:r>
          </a:p>
          <a:p>
            <a:pPr marL="357188" marR="0" lvl="0" indent="-357188" algn="l" rtl="0">
              <a:buChar char="•"/>
            </a:pPr>
            <a:r>
              <a:rPr lang="en-US" dirty="0"/>
              <a:t>25.08 Test and diagnose output devices (actuators).</a:t>
            </a:r>
          </a:p>
        </p:txBody>
      </p:sp>
    </p:spTree>
    <p:extLst>
      <p:ext uri="{BB962C8B-B14F-4D97-AF65-F5344CB8AC3E}">
        <p14:creationId xmlns:p14="http://schemas.microsoft.com/office/powerpoint/2010/main" val="3858929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400" dirty="0"/>
              <a:t>Using Scan Tool Data</a:t>
            </a:r>
            <a:endParaRPr dirty="0"/>
          </a:p>
        </p:txBody>
      </p:sp>
      <p:sp>
        <p:nvSpPr>
          <p:cNvPr id="145" name="Google Shape;145;p4"/>
          <p:cNvSpPr txBox="1">
            <a:spLocks noGrp="1"/>
          </p:cNvSpPr>
          <p:nvPr>
            <p:ph type="body" idx="1"/>
          </p:nvPr>
        </p:nvSpPr>
        <p:spPr>
          <a:xfrm>
            <a:off x="476844" y="1480499"/>
            <a:ext cx="7018978" cy="4688653"/>
          </a:xfrm>
          <a:prstGeom prst="rect">
            <a:avLst/>
          </a:prstGeom>
          <a:noFill/>
          <a:ln>
            <a:noFill/>
          </a:ln>
        </p:spPr>
        <p:txBody>
          <a:bodyPr spcFirstLastPara="1" wrap="square" lIns="91425" tIns="45700" rIns="91425" bIns="45700" anchor="t" anchorCtr="0">
            <a:noAutofit/>
          </a:bodyPr>
          <a:lstStyle/>
          <a:p>
            <a:r>
              <a:rPr lang="en-US" sz="2000" b="1" dirty="0"/>
              <a:t>25.01 Perform a scan tester diagnosis on various vehicles.</a:t>
            </a:r>
          </a:p>
          <a:p>
            <a:pPr marL="357188" indent="-357188"/>
            <a:r>
              <a:rPr lang="en-US" sz="2000" dirty="0"/>
              <a:t>The engine control module (ECM) or PCM constantly monitors information from various switches, sensors, and other control modules. </a:t>
            </a:r>
          </a:p>
          <a:p>
            <a:pPr marL="357188" indent="-357188"/>
            <a:r>
              <a:rPr lang="en-US" sz="2000" dirty="0"/>
              <a:t>It controls the operation of systems that affect vehicle performance and emission levels and monitors emission-related systems for deterioration.</a:t>
            </a:r>
          </a:p>
          <a:p>
            <a:pPr marL="357188" indent="-357188"/>
            <a:r>
              <a:rPr lang="en-US" sz="2000" dirty="0"/>
              <a:t>OBD II monitors set a DTC when the performance of a system can cause elevated emissions.</a:t>
            </a:r>
          </a:p>
          <a:p>
            <a:pPr marL="357188" indent="-357188"/>
            <a:r>
              <a:rPr lang="en-US" sz="2000" dirty="0"/>
              <a:t>The PCM also alerts the driver of emission-related concerns by illuminating the MIL.</a:t>
            </a:r>
          </a:p>
        </p:txBody>
      </p:sp>
      <p:pic>
        <p:nvPicPr>
          <p:cNvPr id="8" name="Picture Placeholder 7" descr="A screenshot depicts a D T C that causes the M I L to light, listed on a scan tool. The header reads, Chevrolet 1981 – 2010. The text reads as follows: Line 1. P 1174 fuel trim cylinder balance B 1 (symptom 00); Line 2. P 1400 Cold start emission reduction control system (symptom 00); Line 3. P 2270 B 1S 2 sensor Rich/ Lean switch signal malfunction (symptom 00); Line 4. P 2271 B1 S1 Sensor Rich/ Lean switch signal malfunction (symptom 00); Line 5. P 2 A 00 H O_2 S Ckt Closed Loop Performance B1 S1 (symptom 00); Line 6. U 0121 No CAN Bus C O M with A B S/ T C/ E S P/ C C (Symptom 00) (highlighted). Four blank checkboxes 1, 2, 3, and 4 are at the bottom of the screen.">
            <a:extLst>
              <a:ext uri="{FF2B5EF4-FFF2-40B4-BE49-F238E27FC236}">
                <a16:creationId xmlns:a16="http://schemas.microsoft.com/office/drawing/2014/main" id="{4FC018A5-7A04-3B66-0606-BDEDE2291799}"/>
              </a:ext>
            </a:extLst>
          </p:cNvPr>
          <p:cNvPicPr>
            <a:picLocks noGrp="1" noChangeAspect="1"/>
          </p:cNvPicPr>
          <p:nvPr>
            <p:ph type="pic" sz="quarter" idx="12"/>
          </p:nvPr>
        </p:nvPicPr>
        <p:blipFill>
          <a:blip r:embed="rId3"/>
          <a:srcRect b="9428"/>
          <a:stretch/>
        </p:blipFill>
        <p:spPr>
          <a:xfrm>
            <a:off x="7530724" y="2311348"/>
            <a:ext cx="4152064" cy="3077516"/>
          </a:xfrm>
          <a:prstGeom prst="rect">
            <a:avLst/>
          </a:prstGeom>
        </p:spPr>
      </p:pic>
    </p:spTree>
    <p:extLst>
      <p:ext uri="{BB962C8B-B14F-4D97-AF65-F5344CB8AC3E}">
        <p14:creationId xmlns:p14="http://schemas.microsoft.com/office/powerpoint/2010/main" val="780142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DTCs and Service Information</a:t>
            </a:r>
            <a:endParaRPr sz="3600" dirty="0"/>
          </a:p>
        </p:txBody>
      </p:sp>
      <p:sp>
        <p:nvSpPr>
          <p:cNvPr id="145" name="Google Shape;145;p4"/>
          <p:cNvSpPr txBox="1">
            <a:spLocks noGrp="1"/>
          </p:cNvSpPr>
          <p:nvPr>
            <p:ph type="body" idx="1"/>
          </p:nvPr>
        </p:nvSpPr>
        <p:spPr>
          <a:xfrm>
            <a:off x="476843" y="1480500"/>
            <a:ext cx="11241915" cy="3029716"/>
          </a:xfrm>
          <a:prstGeom prst="rect">
            <a:avLst/>
          </a:prstGeom>
          <a:noFill/>
          <a:ln>
            <a:noFill/>
          </a:ln>
        </p:spPr>
        <p:txBody>
          <a:bodyPr spcFirstLastPara="1" wrap="square" lIns="91425" tIns="45700" rIns="91425" bIns="45700" anchor="t" anchorCtr="0">
            <a:noAutofit/>
          </a:bodyPr>
          <a:lstStyle/>
          <a:p>
            <a:pPr marL="342900" indent="-342900">
              <a:spcAft>
                <a:spcPts val="0"/>
              </a:spcAft>
              <a:buSzPts val="2800"/>
              <a:buFont typeface="Arial" panose="020B0604020202020204" pitchFamily="34" charset="0"/>
              <a:buChar char="•"/>
            </a:pPr>
            <a:r>
              <a:rPr lang="en-US" sz="2000" dirty="0">
                <a:solidFill>
                  <a:schemeClr val="tx1"/>
                </a:solidFill>
              </a:rPr>
              <a:t>To access stored diagnostic trouble codes (DTCs), the scan tool requests data using Mode $03. Depending on the scan tool, a description of the DTC may be provided on the scan tool. </a:t>
            </a:r>
          </a:p>
          <a:p>
            <a:pPr marL="342900" indent="-342900">
              <a:spcAft>
                <a:spcPts val="0"/>
              </a:spcAft>
              <a:buSzPts val="2800"/>
              <a:buFont typeface="Arial" panose="020B0604020202020204" pitchFamily="34" charset="0"/>
              <a:buChar char="•"/>
            </a:pPr>
            <a:r>
              <a:rPr lang="en-US" sz="2000" dirty="0">
                <a:solidFill>
                  <a:schemeClr val="tx1"/>
                </a:solidFill>
              </a:rPr>
              <a:t>If the scan tool does not provide this information, you will need to find the details using the service information. </a:t>
            </a:r>
          </a:p>
          <a:p>
            <a:pPr marL="342900" indent="-342900">
              <a:spcAft>
                <a:spcPts val="0"/>
              </a:spcAft>
              <a:buSzPts val="2800"/>
              <a:buFont typeface="Arial" panose="020B0604020202020204" pitchFamily="34" charset="0"/>
              <a:buChar char="•"/>
            </a:pPr>
            <a:r>
              <a:rPr lang="en-US" sz="2000" dirty="0">
                <a:solidFill>
                  <a:schemeClr val="tx1"/>
                </a:solidFill>
              </a:rPr>
              <a:t>Check for current, pending, and history DTCs stored in memory. After retrieving the DTCs, find their descriptions in the service information. </a:t>
            </a:r>
          </a:p>
          <a:p>
            <a:pPr marL="342900" indent="-342900">
              <a:spcAft>
                <a:spcPts val="0"/>
              </a:spcAft>
              <a:buSzPts val="2800"/>
              <a:buFont typeface="Arial" panose="020B0604020202020204" pitchFamily="34" charset="0"/>
              <a:buChar char="•"/>
            </a:pPr>
            <a:r>
              <a:rPr lang="en-US" sz="2000" dirty="0">
                <a:solidFill>
                  <a:schemeClr val="tx1"/>
                </a:solidFill>
              </a:rPr>
              <a:t>Normally, the descriptions are followed by additional information to help diagnosis. </a:t>
            </a:r>
            <a:endParaRPr lang="en-US" sz="2300" dirty="0">
              <a:solidFill>
                <a:schemeClr val="tx1"/>
              </a:solidFill>
            </a:endParaRPr>
          </a:p>
        </p:txBody>
      </p:sp>
      <p:pic>
        <p:nvPicPr>
          <p:cNvPr id="8" name="Picture Placeholder 7" descr="A table in three rows depicts the D T C s and service information. The table is titled P 0117, Engine coolant temperature (E C T) Sensor 1 Circuit Low. The row-wise data are as follows: (row 1) Description: Indicates the sensor signal is less than the self-test minimum. The E C T sensor minimum is 0.2 volt or 121 degrees Celsius (250 degrees Fahrenheit). (row 2) Possible causes: Grounded circuit in the harness, damaged sensor, incorrect harness connection. (row 3) Diagnostic Aids: A concern is present if an E C T P I D reading less than 0.2 volt with the key ON engine OFF or during any engine operating mode.">
            <a:extLst>
              <a:ext uri="{FF2B5EF4-FFF2-40B4-BE49-F238E27FC236}">
                <a16:creationId xmlns:a16="http://schemas.microsoft.com/office/drawing/2014/main" id="{F513486E-EB8B-FAFF-2B31-F5E00E33D288}"/>
              </a:ext>
            </a:extLst>
          </p:cNvPr>
          <p:cNvPicPr>
            <a:picLocks noGrp="1" noChangeAspect="1"/>
          </p:cNvPicPr>
          <p:nvPr>
            <p:ph type="pic" sz="quarter" idx="12"/>
          </p:nvPr>
        </p:nvPicPr>
        <p:blipFill rotWithShape="1">
          <a:blip r:embed="rId3"/>
          <a:srcRect b="14133"/>
          <a:stretch/>
        </p:blipFill>
        <p:spPr>
          <a:xfrm>
            <a:off x="3034013" y="4468363"/>
            <a:ext cx="6123975" cy="1556933"/>
          </a:xfrm>
          <a:prstGeom prst="rect">
            <a:avLst/>
          </a:prstGeom>
        </p:spPr>
      </p:pic>
    </p:spTree>
    <p:extLst>
      <p:ext uri="{BB962C8B-B14F-4D97-AF65-F5344CB8AC3E}">
        <p14:creationId xmlns:p14="http://schemas.microsoft.com/office/powerpoint/2010/main" val="2366623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Freeze Frame Data</a:t>
            </a:r>
            <a:endParaRPr sz="3600" dirty="0"/>
          </a:p>
        </p:txBody>
      </p:sp>
      <p:sp>
        <p:nvSpPr>
          <p:cNvPr id="145" name="Google Shape;145;p4"/>
          <p:cNvSpPr txBox="1">
            <a:spLocks noGrp="1"/>
          </p:cNvSpPr>
          <p:nvPr>
            <p:ph type="body" idx="1"/>
          </p:nvPr>
        </p:nvSpPr>
        <p:spPr>
          <a:xfrm>
            <a:off x="476843" y="1480499"/>
            <a:ext cx="11241915" cy="4710236"/>
          </a:xfrm>
          <a:prstGeom prst="rect">
            <a:avLst/>
          </a:prstGeom>
          <a:noFill/>
          <a:ln>
            <a:noFill/>
          </a:ln>
        </p:spPr>
        <p:txBody>
          <a:bodyPr spcFirstLastPara="1" wrap="square" lIns="91425" tIns="45700" rIns="91425" bIns="45700" anchor="t" anchorCtr="0">
            <a:noAutofit/>
          </a:bodyPr>
          <a:lstStyle/>
          <a:p>
            <a:pPr marL="342900" indent="-342900">
              <a:spcAft>
                <a:spcPts val="400"/>
              </a:spcAft>
              <a:buFont typeface="Arial" panose="020B0604020202020204" pitchFamily="34" charset="0"/>
              <a:buChar char="•"/>
            </a:pPr>
            <a:r>
              <a:rPr lang="en-US" sz="2000" dirty="0"/>
              <a:t>Freeze frame data associated with a DTC should also be retrieved.</a:t>
            </a:r>
          </a:p>
          <a:p>
            <a:pPr marL="357188" indent="-357188">
              <a:spcAft>
                <a:spcPts val="400"/>
              </a:spcAft>
            </a:pPr>
            <a:r>
              <a:rPr lang="en-US" sz="2000" dirty="0"/>
              <a:t>This data contains values from specific generic PIDs that provide information about the operating conditions present when the code was set.</a:t>
            </a:r>
          </a:p>
          <a:p>
            <a:pPr marL="357188" indent="-357188">
              <a:spcAft>
                <a:spcPts val="400"/>
              </a:spcAft>
            </a:pPr>
            <a:r>
              <a:rPr lang="en-US" sz="2000" dirty="0"/>
              <a:t>It can also be used to identify components that should be tested.</a:t>
            </a:r>
          </a:p>
          <a:p>
            <a:pPr marL="357188" indent="-357188">
              <a:spcAft>
                <a:spcPts val="400"/>
              </a:spcAft>
            </a:pPr>
            <a:r>
              <a:rPr lang="en-US" sz="2000" dirty="0"/>
              <a:t>Misfire freeze frame (MFF) data contains some unique PIDs.</a:t>
            </a:r>
          </a:p>
          <a:p>
            <a:pPr marL="715963" lvl="1" indent="-357188">
              <a:spcAft>
                <a:spcPts val="400"/>
              </a:spcAft>
            </a:pPr>
            <a:r>
              <a:rPr lang="en-US" sz="1800" dirty="0"/>
              <a:t>MFF data is not part of freeze frame data that is stored with a DTC.</a:t>
            </a:r>
          </a:p>
          <a:p>
            <a:pPr marL="715963" lvl="1" indent="-357188">
              <a:spcAft>
                <a:spcPts val="400"/>
              </a:spcAft>
            </a:pPr>
            <a:r>
              <a:rPr lang="en-US" sz="1800" dirty="0"/>
              <a:t>It is used only for identifying the cause of a misfire.</a:t>
            </a:r>
          </a:p>
          <a:p>
            <a:pPr marL="357188" indent="-357188">
              <a:spcAft>
                <a:spcPts val="400"/>
              </a:spcAft>
            </a:pPr>
            <a:r>
              <a:rPr lang="en-US" sz="2000" dirty="0"/>
              <a:t>Generic freeze frame data is also captured when a misfire occurs. </a:t>
            </a:r>
          </a:p>
          <a:p>
            <a:pPr marL="357188" indent="-357188">
              <a:spcAft>
                <a:spcPts val="400"/>
              </a:spcAft>
            </a:pPr>
            <a:r>
              <a:rPr lang="en-US" sz="2000" dirty="0"/>
              <a:t>However, that data will not represent what happened at the time of the misfire; rather, it will show what happened after the misfire.</a:t>
            </a:r>
          </a:p>
          <a:p>
            <a:pPr marL="357188" indent="-357188">
              <a:spcAft>
                <a:spcPts val="400"/>
              </a:spcAft>
            </a:pPr>
            <a:r>
              <a:rPr lang="en-US" sz="2000" dirty="0"/>
              <a:t>MFF data is captured at the time of the highest rate of misfire and not when the DTC is set.</a:t>
            </a:r>
          </a:p>
        </p:txBody>
      </p:sp>
    </p:spTree>
    <p:extLst>
      <p:ext uri="{BB962C8B-B14F-4D97-AF65-F5344CB8AC3E}">
        <p14:creationId xmlns:p14="http://schemas.microsoft.com/office/powerpoint/2010/main" val="4212338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Mode $06 Data</a:t>
            </a:r>
            <a:endParaRPr sz="3600" dirty="0"/>
          </a:p>
        </p:txBody>
      </p:sp>
      <p:sp>
        <p:nvSpPr>
          <p:cNvPr id="145" name="Google Shape;145;p4"/>
          <p:cNvSpPr txBox="1">
            <a:spLocks noGrp="1"/>
          </p:cNvSpPr>
          <p:nvPr>
            <p:ph type="body" idx="1"/>
          </p:nvPr>
        </p:nvSpPr>
        <p:spPr>
          <a:xfrm>
            <a:off x="476844" y="1480499"/>
            <a:ext cx="6949568" cy="4265393"/>
          </a:xfrm>
          <a:prstGeom prst="rect">
            <a:avLst/>
          </a:prstGeom>
          <a:noFill/>
          <a:ln>
            <a:noFill/>
          </a:ln>
        </p:spPr>
        <p:txBody>
          <a:bodyPr spcFirstLastPara="1" wrap="square" lIns="91425" tIns="45700" rIns="91425" bIns="45700" anchor="t" anchorCtr="0">
            <a:noAutofit/>
          </a:bodyPr>
          <a:lstStyle/>
          <a:p>
            <a:pPr>
              <a:lnSpc>
                <a:spcPct val="107000"/>
              </a:lnSpc>
              <a:spcBef>
                <a:spcPts val="0"/>
              </a:spcBef>
              <a:buFont typeface="Arial" panose="020B0604020202020204" pitchFamily="34" charset="0"/>
              <a:buChar char="•"/>
            </a:pPr>
            <a:r>
              <a:rPr lang="en-US" sz="2200" dirty="0">
                <a:solidFill>
                  <a:schemeClr val="tx1"/>
                </a:solidFill>
              </a:rPr>
              <a:t>The data available in Mode $06 can also be used to identify the cause of a concern.</a:t>
            </a:r>
          </a:p>
          <a:p>
            <a:pPr>
              <a:lnSpc>
                <a:spcPct val="107000"/>
              </a:lnSpc>
              <a:spcBef>
                <a:spcPts val="0"/>
              </a:spcBef>
              <a:buFont typeface="Arial" panose="020B0604020202020204" pitchFamily="34" charset="0"/>
              <a:buChar char="•"/>
            </a:pPr>
            <a:r>
              <a:rPr lang="en-US" sz="2200" dirty="0">
                <a:solidFill>
                  <a:schemeClr val="tx1"/>
                </a:solidFill>
              </a:rPr>
              <a:t>Mode $06 allows access to the results of the various monitor diagnostic tests.</a:t>
            </a:r>
          </a:p>
          <a:p>
            <a:pPr>
              <a:lnSpc>
                <a:spcPct val="107000"/>
              </a:lnSpc>
              <a:spcBef>
                <a:spcPts val="0"/>
              </a:spcBef>
              <a:buFont typeface="Arial" panose="020B0604020202020204" pitchFamily="34" charset="0"/>
              <a:buChar char="•"/>
            </a:pPr>
            <a:r>
              <a:rPr lang="en-US" sz="2200" dirty="0">
                <a:solidFill>
                  <a:schemeClr val="tx1"/>
                </a:solidFill>
              </a:rPr>
              <a:t>These values are stored when a specific monitor has completed a test. In addition to providing specific test results, Mode $06 data can be used to determine component condition and misfire rates.</a:t>
            </a:r>
          </a:p>
          <a:p>
            <a:pPr>
              <a:lnSpc>
                <a:spcPct val="107000"/>
              </a:lnSpc>
              <a:spcBef>
                <a:spcPts val="0"/>
              </a:spcBef>
              <a:buFont typeface="Arial" panose="020B0604020202020204" pitchFamily="34" charset="0"/>
              <a:buChar char="•"/>
            </a:pPr>
            <a:r>
              <a:rPr lang="en-US" sz="2200" dirty="0">
                <a:solidFill>
                  <a:schemeClr val="tx1"/>
                </a:solidFill>
              </a:rPr>
              <a:t>In some cases, Mode $06 data can also help determine that a component is near failure.</a:t>
            </a:r>
          </a:p>
        </p:txBody>
      </p:sp>
      <p:pic>
        <p:nvPicPr>
          <p:cNvPr id="8" name="Picture Placeholder 7" descr="Close up view of several wires and cables emerging from an engine part. These wires need to be checked for damage or burns.">
            <a:extLst>
              <a:ext uri="{FF2B5EF4-FFF2-40B4-BE49-F238E27FC236}">
                <a16:creationId xmlns:a16="http://schemas.microsoft.com/office/drawing/2014/main" id="{A21AC8A2-49E1-472E-D2EE-8C2840B86A4E}"/>
              </a:ext>
            </a:extLst>
          </p:cNvPr>
          <p:cNvPicPr>
            <a:picLocks noGrp="1" noChangeAspect="1"/>
          </p:cNvPicPr>
          <p:nvPr>
            <p:ph type="pic" sz="quarter" idx="13"/>
          </p:nvPr>
        </p:nvPicPr>
        <p:blipFill rotWithShape="1">
          <a:blip r:embed="rId3"/>
          <a:srcRect b="12688"/>
          <a:stretch/>
        </p:blipFill>
        <p:spPr>
          <a:xfrm>
            <a:off x="7570656" y="1814298"/>
            <a:ext cx="4393048" cy="2970644"/>
          </a:xfrm>
          <a:prstGeom prst="rect">
            <a:avLst/>
          </a:prstGeom>
        </p:spPr>
      </p:pic>
    </p:spTree>
    <p:extLst>
      <p:ext uri="{BB962C8B-B14F-4D97-AF65-F5344CB8AC3E}">
        <p14:creationId xmlns:p14="http://schemas.microsoft.com/office/powerpoint/2010/main" val="2080212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Symptom-Based Diagnosis (1 of 2)</a:t>
            </a:r>
            <a:endParaRPr sz="3600" dirty="0"/>
          </a:p>
        </p:txBody>
      </p:sp>
      <p:sp>
        <p:nvSpPr>
          <p:cNvPr id="145" name="Google Shape;145;p4"/>
          <p:cNvSpPr txBox="1">
            <a:spLocks noGrp="1"/>
          </p:cNvSpPr>
          <p:nvPr>
            <p:ph type="body" idx="1"/>
          </p:nvPr>
        </p:nvSpPr>
        <p:spPr>
          <a:xfrm>
            <a:off x="476843" y="1480499"/>
            <a:ext cx="11241915" cy="4685523"/>
          </a:xfrm>
          <a:prstGeom prst="rect">
            <a:avLst/>
          </a:prstGeom>
          <a:noFill/>
          <a:ln>
            <a:noFill/>
          </a:ln>
        </p:spPr>
        <p:txBody>
          <a:bodyPr spcFirstLastPara="1" wrap="square" lIns="91425" tIns="45700" rIns="91425" bIns="45700" anchor="t" anchorCtr="0">
            <a:noAutofit/>
          </a:bodyPr>
          <a:lstStyle/>
          <a:p>
            <a:pPr marL="0" indent="0">
              <a:lnSpc>
                <a:spcPct val="107000"/>
              </a:lnSpc>
              <a:spcBef>
                <a:spcPts val="0"/>
              </a:spcBef>
              <a:buSzPts val="2800"/>
              <a:buNone/>
            </a:pPr>
            <a:r>
              <a:rPr lang="en-US" sz="2400" b="1" dirty="0"/>
              <a:t>25.02 Conduct symptom-based diagnostics on an OBD II system.</a:t>
            </a:r>
            <a:endParaRPr lang="en-US" sz="1800" dirty="0"/>
          </a:p>
          <a:p>
            <a:pPr marL="357188" indent="-357188">
              <a:lnSpc>
                <a:spcPct val="107000"/>
              </a:lnSpc>
              <a:spcBef>
                <a:spcPts val="0"/>
              </a:spcBef>
            </a:pPr>
            <a:r>
              <a:rPr lang="en-US" sz="2000" dirty="0"/>
              <a:t>Common Symptoms</a:t>
            </a:r>
          </a:p>
          <a:p>
            <a:pPr marL="715963" lvl="1" indent="-357188">
              <a:lnSpc>
                <a:spcPct val="107000"/>
              </a:lnSpc>
              <a:spcBef>
                <a:spcPts val="0"/>
              </a:spcBef>
            </a:pPr>
            <a:r>
              <a:rPr lang="en-US" sz="1800" dirty="0"/>
              <a:t>Repair manuals typically have a section dedicated to symptom-based diagnosis.</a:t>
            </a:r>
          </a:p>
          <a:p>
            <a:pPr marL="715963" lvl="1" indent="-357188">
              <a:lnSpc>
                <a:spcPct val="107000"/>
              </a:lnSpc>
              <a:spcBef>
                <a:spcPts val="0"/>
              </a:spcBef>
            </a:pPr>
            <a:r>
              <a:rPr lang="en-US" sz="1800" dirty="0"/>
              <a:t>Although a customer may describe a problem in nontechnical terms, you should summarize the concern to match one or more of the various symptoms listed by the manufacturer.</a:t>
            </a:r>
          </a:p>
          <a:p>
            <a:pPr marL="715963" lvl="1" indent="-357188">
              <a:lnSpc>
                <a:spcPct val="107000"/>
              </a:lnSpc>
              <a:spcBef>
                <a:spcPts val="0"/>
              </a:spcBef>
            </a:pPr>
            <a:r>
              <a:rPr lang="en-US" sz="1800" dirty="0"/>
              <a:t>Following are a few common </a:t>
            </a:r>
            <a:r>
              <a:rPr lang="en-US" sz="1800" dirty="0" err="1"/>
              <a:t>driveability</a:t>
            </a:r>
            <a:r>
              <a:rPr lang="en-US" sz="1800" dirty="0"/>
              <a:t> symptoms and a brief description of each:</a:t>
            </a:r>
          </a:p>
          <a:p>
            <a:pPr marL="1074738" lvl="2" indent="-358775">
              <a:lnSpc>
                <a:spcPct val="107000"/>
              </a:lnSpc>
              <a:spcBef>
                <a:spcPts val="0"/>
              </a:spcBef>
              <a:buSzPct val="100000"/>
            </a:pPr>
            <a:r>
              <a:rPr lang="en-US" sz="1600" dirty="0"/>
              <a:t>Hard Start/Long Crank Hard Start: Engine cranks OK, but it does not start unless it is cranked for a long time. Once running, it may run normally or immediately stall.</a:t>
            </a:r>
          </a:p>
          <a:p>
            <a:pPr marL="1074738" lvl="2" indent="-358775">
              <a:lnSpc>
                <a:spcPct val="107000"/>
              </a:lnSpc>
              <a:spcBef>
                <a:spcPts val="0"/>
              </a:spcBef>
              <a:buSzPct val="100000"/>
            </a:pPr>
            <a:r>
              <a:rPr lang="en-US" sz="1600" dirty="0"/>
              <a:t>No Crank: The starting system does not turn the engine over.</a:t>
            </a:r>
          </a:p>
          <a:p>
            <a:pPr marL="1074738" lvl="2" indent="-358775">
              <a:lnSpc>
                <a:spcPct val="107000"/>
              </a:lnSpc>
              <a:spcBef>
                <a:spcPts val="0"/>
              </a:spcBef>
              <a:buSzPct val="100000"/>
            </a:pPr>
            <a:r>
              <a:rPr lang="en-US" sz="1600" dirty="0"/>
              <a:t>No Start (Engine Cranks): The engine turns over normally but does not start even after a prolonged cranking</a:t>
            </a:r>
          </a:p>
          <a:p>
            <a:pPr marL="1074738" lvl="2" indent="-358775">
              <a:lnSpc>
                <a:spcPct val="107000"/>
              </a:lnSpc>
              <a:spcBef>
                <a:spcPts val="0"/>
              </a:spcBef>
              <a:buSzPct val="100000"/>
            </a:pPr>
            <a:r>
              <a:rPr lang="en-US" sz="1600" dirty="0"/>
              <a:t>Slow Return to Idle: When the accelerator pedal is released</a:t>
            </a:r>
            <a:r>
              <a:rPr lang="en-US" sz="1600" dirty="0">
                <a:solidFill>
                  <a:srgbClr val="FF0000"/>
                </a:solidFill>
              </a:rPr>
              <a:t>,</a:t>
            </a:r>
            <a:r>
              <a:rPr lang="en-US" sz="1600" dirty="0"/>
              <a:t> it takes some time for the engine to return to its normal idle speed.</a:t>
            </a:r>
          </a:p>
        </p:txBody>
      </p:sp>
    </p:spTree>
    <p:extLst>
      <p:ext uri="{BB962C8B-B14F-4D97-AF65-F5344CB8AC3E}">
        <p14:creationId xmlns:p14="http://schemas.microsoft.com/office/powerpoint/2010/main" val="209487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Symptom-Based Diagnosis (2 of 2)</a:t>
            </a:r>
            <a:endParaRPr sz="3600" dirty="0"/>
          </a:p>
        </p:txBody>
      </p:sp>
      <p:sp>
        <p:nvSpPr>
          <p:cNvPr id="145" name="Google Shape;145;p4"/>
          <p:cNvSpPr txBox="1">
            <a:spLocks noGrp="1"/>
          </p:cNvSpPr>
          <p:nvPr>
            <p:ph type="body" idx="1"/>
          </p:nvPr>
        </p:nvSpPr>
        <p:spPr>
          <a:xfrm>
            <a:off x="476843" y="1480499"/>
            <a:ext cx="11241915" cy="2364991"/>
          </a:xfrm>
          <a:prstGeom prst="rect">
            <a:avLst/>
          </a:prstGeom>
          <a:noFill/>
          <a:ln>
            <a:noFill/>
          </a:ln>
        </p:spPr>
        <p:txBody>
          <a:bodyPr spcFirstLastPara="1" wrap="square" lIns="91425" tIns="45700" rIns="91425" bIns="45700" anchor="t" anchorCtr="0">
            <a:noAutofit/>
          </a:bodyPr>
          <a:lstStyle/>
          <a:p>
            <a:pPr marL="357188" indent="-357188">
              <a:lnSpc>
                <a:spcPct val="107000"/>
              </a:lnSpc>
              <a:spcBef>
                <a:spcPts val="0"/>
              </a:spcBef>
            </a:pPr>
            <a:r>
              <a:rPr lang="en-US" sz="2000" dirty="0"/>
              <a:t>Figure 25–7 is a symptom chart for common concerns that may not set a DTC and the component or system that could cause the problem.</a:t>
            </a:r>
          </a:p>
          <a:p>
            <a:pPr marL="357188" indent="-357188">
              <a:lnSpc>
                <a:spcPct val="107000"/>
              </a:lnSpc>
              <a:spcBef>
                <a:spcPts val="0"/>
              </a:spcBef>
            </a:pPr>
            <a:r>
              <a:rPr lang="en-US" sz="2000" dirty="0"/>
              <a:t>Each potential problem area should be checked.</a:t>
            </a:r>
          </a:p>
          <a:p>
            <a:pPr marL="357188" indent="-357188">
              <a:lnSpc>
                <a:spcPct val="107000"/>
              </a:lnSpc>
              <a:spcBef>
                <a:spcPts val="0"/>
              </a:spcBef>
            </a:pPr>
            <a:r>
              <a:rPr lang="en-US" sz="2000" dirty="0"/>
              <a:t>It is important to realize that some problems may cause more than one symptom.</a:t>
            </a:r>
          </a:p>
          <a:p>
            <a:pPr marL="357188" indent="-357188">
              <a:lnSpc>
                <a:spcPct val="107000"/>
              </a:lnSpc>
              <a:spcBef>
                <a:spcPts val="0"/>
              </a:spcBef>
            </a:pPr>
            <a:r>
              <a:rPr lang="en-US" sz="2000" dirty="0"/>
              <a:t>In addition, remember to check if new software calibrations are available before attempting to solve a problem based on symptoms only.</a:t>
            </a:r>
          </a:p>
        </p:txBody>
      </p:sp>
      <p:pic>
        <p:nvPicPr>
          <p:cNvPr id="8" name="Picture Placeholder 7" descr="A table in three columns depicts a chart that lists the concerns, components, and possible causes. The column headers read, Concern, Component or System, and Possible Cause. The column-wise data are as follows: (Column 1) Concern, Hard start, or Long crank. (column 2) Component or system: 1. starting system, 2. fuel or ignition or computer, 3. Intake air system, 4. M A F Sensor, 5. Exhaust system, 6. P C V system, 7. E V A P system. (column 3) 1. Weak battery, poor battery connections, defective starter, 2. Low fuel pressure or volume, weak spark, incorrect spark timing, T P, E C T, M A F or M A P sensor faults, 3. Restriction in intake air system, plugged air filter, induction air leak, 4. Dirty, misreading, or defective M A F sensor, 5. Restricted exhaust system, 6. Damaged or disconnected P C V hose, 7. Fuel vapor purge during cranking.">
            <a:extLst>
              <a:ext uri="{FF2B5EF4-FFF2-40B4-BE49-F238E27FC236}">
                <a16:creationId xmlns:a16="http://schemas.microsoft.com/office/drawing/2014/main" id="{A619C127-720A-D8B7-8DCC-FB8B272EF714}"/>
              </a:ext>
            </a:extLst>
          </p:cNvPr>
          <p:cNvPicPr>
            <a:picLocks noGrp="1" noChangeAspect="1"/>
          </p:cNvPicPr>
          <p:nvPr>
            <p:ph type="pic" sz="quarter" idx="12"/>
          </p:nvPr>
        </p:nvPicPr>
        <p:blipFill rotWithShape="1">
          <a:blip r:embed="rId3"/>
          <a:srcRect b="8726"/>
          <a:stretch/>
        </p:blipFill>
        <p:spPr>
          <a:xfrm>
            <a:off x="2141997" y="3753288"/>
            <a:ext cx="7591863" cy="2333174"/>
          </a:xfrm>
          <a:prstGeom prst="rect">
            <a:avLst/>
          </a:prstGeom>
        </p:spPr>
      </p:pic>
    </p:spTree>
    <p:extLst>
      <p:ext uri="{BB962C8B-B14F-4D97-AF65-F5344CB8AC3E}">
        <p14:creationId xmlns:p14="http://schemas.microsoft.com/office/powerpoint/2010/main" val="3337530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solidFill>
                  <a:schemeClr val="tx1"/>
                </a:solidFill>
              </a:rPr>
              <a:t>Testing Sensors</a:t>
            </a:r>
            <a:endParaRPr sz="3600" dirty="0">
              <a:solidFill>
                <a:schemeClr val="tx1"/>
              </a:solidFill>
            </a:endParaRPr>
          </a:p>
        </p:txBody>
      </p:sp>
      <p:sp>
        <p:nvSpPr>
          <p:cNvPr id="145" name="Google Shape;145;p4"/>
          <p:cNvSpPr txBox="1">
            <a:spLocks noGrp="1"/>
          </p:cNvSpPr>
          <p:nvPr>
            <p:ph type="body" idx="1"/>
          </p:nvPr>
        </p:nvSpPr>
        <p:spPr>
          <a:xfrm>
            <a:off x="476844" y="1357744"/>
            <a:ext cx="6988668" cy="4783564"/>
          </a:xfrm>
          <a:prstGeom prst="rect">
            <a:avLst/>
          </a:prstGeom>
          <a:noFill/>
          <a:ln>
            <a:noFill/>
          </a:ln>
        </p:spPr>
        <p:txBody>
          <a:bodyPr spcFirstLastPara="1" wrap="square" lIns="91425" tIns="45700" rIns="91425" bIns="45700" anchor="t" anchorCtr="0">
            <a:noAutofit/>
          </a:bodyPr>
          <a:lstStyle/>
          <a:p>
            <a:pPr marL="0" indent="0">
              <a:spcAft>
                <a:spcPts val="0"/>
              </a:spcAft>
              <a:buSzPts val="2800"/>
              <a:buNone/>
            </a:pPr>
            <a:r>
              <a:rPr lang="en-US" sz="2000" b="1" dirty="0"/>
              <a:t>25.03 Perform basic tests on sensors.</a:t>
            </a:r>
          </a:p>
          <a:p>
            <a:pPr marL="357188" indent="-357188">
              <a:spcAft>
                <a:spcPts val="0"/>
              </a:spcAft>
            </a:pPr>
            <a:r>
              <a:rPr lang="en-US" sz="2000" dirty="0"/>
              <a:t>If a DTC directs you to a faulty sensor or sensor circuit, or if you suspect a faulty sensor, it should be tested.</a:t>
            </a:r>
          </a:p>
          <a:p>
            <a:pPr marL="357188" indent="-357188">
              <a:spcAft>
                <a:spcPts val="0"/>
              </a:spcAft>
            </a:pPr>
            <a:r>
              <a:rPr lang="en-US" sz="2000" dirty="0"/>
              <a:t>Always follow the procedures outlined by the manufacturer when testing sensors and other electronic components.</a:t>
            </a:r>
          </a:p>
          <a:p>
            <a:pPr marL="357188" indent="-357188">
              <a:spcAft>
                <a:spcPts val="0"/>
              </a:spcAft>
            </a:pPr>
            <a:r>
              <a:rPr lang="en-US" sz="2000" dirty="0"/>
              <a:t>Also, make sure you have the correct specifications for each part tested.</a:t>
            </a:r>
          </a:p>
          <a:p>
            <a:pPr marL="357188" indent="-357188">
              <a:spcAft>
                <a:spcPts val="0"/>
              </a:spcAft>
            </a:pPr>
            <a:r>
              <a:rPr lang="en-US" sz="2000" dirty="0"/>
              <a:t>Sensors are tested with a DMM, scan tool, and/or lab scope or GMM.</a:t>
            </a:r>
          </a:p>
          <a:p>
            <a:pPr marL="357188" indent="-357188">
              <a:spcAft>
                <a:spcPts val="0"/>
              </a:spcAft>
            </a:pPr>
            <a:r>
              <a:rPr lang="en-US" sz="2000" dirty="0"/>
              <a:t>Software packages, often programmed in a lab scope or GMM, are available to help you properly interpret scope patterns and set up a lab scope.</a:t>
            </a:r>
          </a:p>
        </p:txBody>
      </p:sp>
      <p:pic>
        <p:nvPicPr>
          <p:cNvPr id="8" name="Picture Placeholder 7" descr="A sensor inside an engine control system is tested using a lab scope or G M M.">
            <a:extLst>
              <a:ext uri="{FF2B5EF4-FFF2-40B4-BE49-F238E27FC236}">
                <a16:creationId xmlns:a16="http://schemas.microsoft.com/office/drawing/2014/main" id="{EE942B24-D3BE-BABE-9F25-D4112389148B}"/>
              </a:ext>
            </a:extLst>
          </p:cNvPr>
          <p:cNvPicPr>
            <a:picLocks noGrp="1" noChangeAspect="1"/>
          </p:cNvPicPr>
          <p:nvPr>
            <p:ph type="pic" sz="quarter" idx="12"/>
          </p:nvPr>
        </p:nvPicPr>
        <p:blipFill rotWithShape="1">
          <a:blip r:embed="rId3"/>
          <a:srcRect l="33152" t="40184" r="32426" b="16643"/>
          <a:stretch/>
        </p:blipFill>
        <p:spPr>
          <a:xfrm>
            <a:off x="7738697" y="2369883"/>
            <a:ext cx="4004406" cy="3053532"/>
          </a:xfrm>
          <a:prstGeom prst="rect">
            <a:avLst/>
          </a:prstGeom>
        </p:spPr>
      </p:pic>
    </p:spTree>
    <p:extLst>
      <p:ext uri="{BB962C8B-B14F-4D97-AF65-F5344CB8AC3E}">
        <p14:creationId xmlns:p14="http://schemas.microsoft.com/office/powerpoint/2010/main" val="2328061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400" dirty="0"/>
              <a:t>Diagnosis of Computer Voltage Supply and Ground Wires</a:t>
            </a:r>
            <a:endParaRPr dirty="0"/>
          </a:p>
        </p:txBody>
      </p:sp>
      <p:pic>
        <p:nvPicPr>
          <p:cNvPr id="8" name="Picture Placeholder 7" descr="An illustration depicts a P C M unit with four ports. The positive terminal and negative terminal of digital multimeter is connected to fourth port using backprobe adapters.">
            <a:extLst>
              <a:ext uri="{FF2B5EF4-FFF2-40B4-BE49-F238E27FC236}">
                <a16:creationId xmlns:a16="http://schemas.microsoft.com/office/drawing/2014/main" id="{59DCD2EB-D740-07C6-012A-78D4CE3C6A7E}"/>
              </a:ext>
            </a:extLst>
          </p:cNvPr>
          <p:cNvPicPr>
            <a:picLocks noGrp="1" noChangeAspect="1"/>
          </p:cNvPicPr>
          <p:nvPr>
            <p:ph type="pic" sz="quarter" idx="12"/>
          </p:nvPr>
        </p:nvPicPr>
        <p:blipFill rotWithShape="1">
          <a:blip r:embed="rId3"/>
          <a:srcRect l="17343" b="10317"/>
          <a:stretch/>
        </p:blipFill>
        <p:spPr>
          <a:xfrm>
            <a:off x="473242" y="1700644"/>
            <a:ext cx="4019037" cy="3950856"/>
          </a:xfrm>
          <a:prstGeom prst="rect">
            <a:avLst/>
          </a:prstGeom>
        </p:spPr>
      </p:pic>
      <p:sp>
        <p:nvSpPr>
          <p:cNvPr id="145" name="Google Shape;145;p4"/>
          <p:cNvSpPr txBox="1">
            <a:spLocks noGrp="1"/>
          </p:cNvSpPr>
          <p:nvPr>
            <p:ph type="body" idx="1"/>
          </p:nvPr>
        </p:nvSpPr>
        <p:spPr>
          <a:xfrm>
            <a:off x="4843849" y="1480499"/>
            <a:ext cx="6874909" cy="4388959"/>
          </a:xfrm>
          <a:prstGeom prst="rect">
            <a:avLst/>
          </a:prstGeom>
          <a:noFill/>
          <a:ln>
            <a:noFill/>
          </a:ln>
        </p:spPr>
        <p:txBody>
          <a:bodyPr spcFirstLastPara="1" wrap="square" lIns="91425" tIns="45700" rIns="91425" bIns="45700" anchor="t" anchorCtr="0">
            <a:noAutofit/>
          </a:bodyPr>
          <a:lstStyle/>
          <a:p>
            <a:pPr marL="0" indent="0">
              <a:lnSpc>
                <a:spcPct val="107000"/>
              </a:lnSpc>
              <a:spcBef>
                <a:spcPts val="0"/>
              </a:spcBef>
              <a:buSzPts val="2800"/>
              <a:buNone/>
            </a:pPr>
            <a:r>
              <a:rPr lang="en-US" sz="2000" b="1" dirty="0"/>
              <a:t>25.04 Diagnose computer voltage supply and ground wires.</a:t>
            </a:r>
            <a:endParaRPr lang="en-US" sz="2000" dirty="0"/>
          </a:p>
          <a:p>
            <a:pPr marL="357188" indent="-357188"/>
            <a:r>
              <a:rPr lang="en-US" sz="2000" dirty="0"/>
              <a:t>PCMs (OBD II and earlier designs) cannot operate properly unless they have good ground connections and the correct voltage at the required terminals.</a:t>
            </a:r>
          </a:p>
          <a:p>
            <a:pPr marL="357188" indent="-357188"/>
            <a:r>
              <a:rPr lang="en-US" sz="2000" dirty="0"/>
              <a:t>A wiring diagram for the vehicle being tested must be used for these tests.</a:t>
            </a:r>
          </a:p>
          <a:p>
            <a:pPr marL="357188" indent="-357188"/>
            <a:r>
              <a:rPr lang="en-US" sz="2000" dirty="0" err="1"/>
              <a:t>Backprobe</a:t>
            </a:r>
            <a:r>
              <a:rPr lang="en-US" sz="2000" dirty="0"/>
              <a:t> the battery terminal at the PCM and connect a digital voltmeter from this terminal to ground.</a:t>
            </a:r>
          </a:p>
          <a:p>
            <a:pPr marL="357188" indent="-357188"/>
            <a:r>
              <a:rPr lang="en-US" sz="2000" dirty="0"/>
              <a:t>Always use a good engine ground.</a:t>
            </a:r>
            <a:endParaRPr lang="en-US" sz="1600" dirty="0"/>
          </a:p>
        </p:txBody>
      </p:sp>
    </p:spTree>
    <p:extLst>
      <p:ext uri="{BB962C8B-B14F-4D97-AF65-F5344CB8AC3E}">
        <p14:creationId xmlns:p14="http://schemas.microsoft.com/office/powerpoint/2010/main" val="1633774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Switches</a:t>
            </a:r>
            <a:endParaRPr sz="3600" dirty="0"/>
          </a:p>
        </p:txBody>
      </p:sp>
      <p:sp>
        <p:nvSpPr>
          <p:cNvPr id="145" name="Google Shape;145;p4"/>
          <p:cNvSpPr txBox="1">
            <a:spLocks noGrp="1"/>
          </p:cNvSpPr>
          <p:nvPr>
            <p:ph type="body" idx="1"/>
          </p:nvPr>
        </p:nvSpPr>
        <p:spPr>
          <a:xfrm>
            <a:off x="476843" y="1480499"/>
            <a:ext cx="11241915" cy="4628201"/>
          </a:xfrm>
          <a:prstGeom prst="rect">
            <a:avLst/>
          </a:prstGeom>
          <a:noFill/>
          <a:ln>
            <a:noFill/>
          </a:ln>
        </p:spPr>
        <p:txBody>
          <a:bodyPr spcFirstLastPara="1" wrap="square" lIns="91425" tIns="45700" rIns="91425" bIns="45700" anchor="t" anchorCtr="0">
            <a:noAutofit/>
          </a:bodyPr>
          <a:lstStyle/>
          <a:p>
            <a:pPr marL="0" indent="0">
              <a:spcBef>
                <a:spcPts val="0"/>
              </a:spcBef>
              <a:buSzPts val="2800"/>
              <a:buNone/>
            </a:pPr>
            <a:r>
              <a:rPr lang="en-US" sz="1800" b="1" dirty="0"/>
              <a:t>25.05 Test and diagnose switch-type input sensors.</a:t>
            </a:r>
            <a:endParaRPr lang="en-US" sz="1800" dirty="0"/>
          </a:p>
          <a:p>
            <a:pPr marL="357188" indent="-357188">
              <a:spcBef>
                <a:spcPts val="0"/>
              </a:spcBef>
            </a:pPr>
            <a:r>
              <a:rPr lang="en-US" sz="1800" dirty="0"/>
              <a:t>Switches are turned on and off through an action of a device or by the actions of the driver. </a:t>
            </a:r>
          </a:p>
          <a:p>
            <a:pPr marL="357188" indent="-357188">
              <a:spcBef>
                <a:spcPts val="0"/>
              </a:spcBef>
            </a:pPr>
            <a:r>
              <a:rPr lang="en-US" sz="1800" dirty="0"/>
              <a:t>Switches are either normally open or normally closed. </a:t>
            </a:r>
          </a:p>
          <a:p>
            <a:pPr marL="357188" indent="-357188">
              <a:spcBef>
                <a:spcPts val="0"/>
              </a:spcBef>
            </a:pPr>
            <a:r>
              <a:rPr lang="en-US" sz="1800" dirty="0"/>
              <a:t>Switches send a digital signal to the PCM; they are either open or closed. </a:t>
            </a:r>
          </a:p>
          <a:p>
            <a:pPr marL="357188" indent="-357188">
              <a:spcBef>
                <a:spcPts val="0"/>
              </a:spcBef>
            </a:pPr>
            <a:r>
              <a:rPr lang="en-US" sz="1800" dirty="0"/>
              <a:t>Some switches are provided with a reference voltage of 5 or 12 volts by the PCM. </a:t>
            </a:r>
          </a:p>
          <a:p>
            <a:pPr marL="357188" indent="-357188">
              <a:spcBef>
                <a:spcPts val="0"/>
              </a:spcBef>
            </a:pPr>
            <a:r>
              <a:rPr lang="en-US" sz="1800" dirty="0"/>
              <a:t>Here are a few of the common grounding switches:</a:t>
            </a:r>
          </a:p>
          <a:p>
            <a:pPr marL="715963" lvl="1" indent="-357188">
              <a:spcBef>
                <a:spcPts val="0"/>
              </a:spcBef>
            </a:pPr>
            <a:r>
              <a:rPr lang="en-US" sz="1600" dirty="0"/>
              <a:t>Idle tracking switch</a:t>
            </a:r>
          </a:p>
          <a:p>
            <a:pPr marL="715963" lvl="1" indent="-357188">
              <a:spcBef>
                <a:spcPts val="0"/>
              </a:spcBef>
            </a:pPr>
            <a:r>
              <a:rPr lang="en-US" sz="1600" dirty="0"/>
              <a:t>Overdrive switch</a:t>
            </a:r>
          </a:p>
          <a:p>
            <a:pPr marL="715963" lvl="1" indent="-357188">
              <a:spcBef>
                <a:spcPts val="0"/>
              </a:spcBef>
            </a:pPr>
            <a:r>
              <a:rPr lang="en-US" sz="1600" dirty="0"/>
              <a:t>Clutch pedal position switch or power side switches</a:t>
            </a:r>
          </a:p>
          <a:p>
            <a:pPr marL="357188" indent="-357188">
              <a:spcBef>
                <a:spcPts val="0"/>
              </a:spcBef>
            </a:pPr>
            <a:r>
              <a:rPr lang="en-US" sz="1800" dirty="0"/>
              <a:t>Here are a few of the common supply side switches:</a:t>
            </a:r>
          </a:p>
          <a:p>
            <a:pPr marL="715963" lvl="1" indent="-357188">
              <a:spcBef>
                <a:spcPts val="0"/>
              </a:spcBef>
            </a:pPr>
            <a:r>
              <a:rPr lang="en-US" sz="1600" dirty="0"/>
              <a:t>Ignition switch</a:t>
            </a:r>
          </a:p>
          <a:p>
            <a:pPr marL="715963" lvl="1" indent="-357188">
              <a:spcBef>
                <a:spcPts val="0"/>
              </a:spcBef>
            </a:pPr>
            <a:r>
              <a:rPr lang="en-US" sz="1600" dirty="0"/>
              <a:t>Park/neutral switch</a:t>
            </a:r>
          </a:p>
          <a:p>
            <a:pPr marL="715963" lvl="1" indent="-357188">
              <a:spcBef>
                <a:spcPts val="0"/>
              </a:spcBef>
            </a:pPr>
            <a:r>
              <a:rPr lang="en-US" sz="1600" dirty="0"/>
              <a:t>Air-conditioning (A/C) demand sensor</a:t>
            </a:r>
          </a:p>
        </p:txBody>
      </p:sp>
    </p:spTree>
    <p:extLst>
      <p:ext uri="{BB962C8B-B14F-4D97-AF65-F5344CB8AC3E}">
        <p14:creationId xmlns:p14="http://schemas.microsoft.com/office/powerpoint/2010/main" val="2370534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Testing Switches</a:t>
            </a:r>
            <a:endParaRPr sz="3600" dirty="0"/>
          </a:p>
        </p:txBody>
      </p:sp>
      <p:sp>
        <p:nvSpPr>
          <p:cNvPr id="145" name="Google Shape;145;p4"/>
          <p:cNvSpPr txBox="1">
            <a:spLocks noGrp="1"/>
          </p:cNvSpPr>
          <p:nvPr>
            <p:ph type="body" idx="1"/>
          </p:nvPr>
        </p:nvSpPr>
        <p:spPr>
          <a:xfrm>
            <a:off x="476844" y="1480499"/>
            <a:ext cx="7480908" cy="4697879"/>
          </a:xfrm>
          <a:prstGeom prst="rect">
            <a:avLst/>
          </a:prstGeom>
          <a:noFill/>
          <a:ln>
            <a:noFill/>
          </a:ln>
        </p:spPr>
        <p:txBody>
          <a:bodyPr spcFirstLastPara="1" wrap="square" lIns="91425" tIns="45700" rIns="91425" bIns="45700" anchor="t" anchorCtr="0">
            <a:noAutofit/>
          </a:bodyPr>
          <a:lstStyle/>
          <a:p>
            <a:pPr marL="357188" indent="-357188"/>
            <a:r>
              <a:rPr lang="en-US" sz="2000" dirty="0"/>
              <a:t>A switch connected to a module can be tested by watching its status with a scan tool. Locate the data and activate the switch several times.</a:t>
            </a:r>
          </a:p>
          <a:p>
            <a:pPr marL="357188" indent="-357188"/>
            <a:r>
              <a:rPr lang="en-US" sz="2000" dirty="0"/>
              <a:t>The PID should change state each time the switch is turned on and off.</a:t>
            </a:r>
          </a:p>
          <a:p>
            <a:pPr marL="357188" indent="-357188"/>
            <a:r>
              <a:rPr lang="en-US" sz="2000" dirty="0"/>
              <a:t>A switch can be easily tested with an ohmmeter.</a:t>
            </a:r>
          </a:p>
          <a:p>
            <a:pPr marL="357188" indent="-357188"/>
            <a:r>
              <a:rPr lang="en-US" sz="2000" dirty="0"/>
              <a:t>Disconnect the connector at the switch.</a:t>
            </a:r>
          </a:p>
          <a:p>
            <a:pPr marL="357188" indent="-357188"/>
            <a:r>
              <a:rPr lang="en-US" sz="2000" dirty="0"/>
              <a:t>Refer to the wiring diagram to identify the terminals at the switch if there are more than two.</a:t>
            </a:r>
          </a:p>
          <a:p>
            <a:pPr marL="357188" indent="-357188"/>
            <a:r>
              <a:rPr lang="en-US" sz="2000" dirty="0"/>
              <a:t>Connect the ohmmeter across the switch’s terminals.</a:t>
            </a:r>
          </a:p>
          <a:p>
            <a:pPr marL="357188" indent="-357188"/>
            <a:r>
              <a:rPr lang="en-US" sz="2000" dirty="0"/>
              <a:t>Perform whatever action is necessary to open and close the switch.</a:t>
            </a:r>
            <a:endParaRPr lang="en-US" sz="1200" dirty="0"/>
          </a:p>
        </p:txBody>
      </p:sp>
      <p:pic>
        <p:nvPicPr>
          <p:cNvPr id="8" name="Picture Placeholder 7" descr="Two illustrations and a table for check the service information for the proper testing points for a switch. The first illustration depicts a switch. A short vertical line is at the edge of the switch pin. A right double arrow from the vertical line represents pushed, and a left arrow from the vertical line represents not pushed. The second illustration depicts the electrical terminals of the switch in two rows. The terminals in the first row from left to right are labeled, 2 and 1 and the terminals in the second row from left to right are labeled, 4 and 3. The table has two rows and three columns. The column header reads the tester connection, switch condition, and specified value. The row-wise data are as follows; Row 1. Tester connection: 1-2, switch condition: switch pin released switch pin pushed in, Specified value: Below 1 ohm- 10 k ohm or higher. Row 2. Tester connection: 3-4, switch condition: switch pin released switch pin pushed in, Specified value: 10 k ohm or higher Below 1 ohm.">
            <a:extLst>
              <a:ext uri="{FF2B5EF4-FFF2-40B4-BE49-F238E27FC236}">
                <a16:creationId xmlns:a16="http://schemas.microsoft.com/office/drawing/2014/main" id="{BC962D9B-A4B8-FCE2-C6A3-383B4DC90C02}"/>
              </a:ext>
            </a:extLst>
          </p:cNvPr>
          <p:cNvPicPr>
            <a:picLocks noGrp="1" noChangeAspect="1"/>
          </p:cNvPicPr>
          <p:nvPr>
            <p:ph type="pic" sz="quarter" idx="13"/>
          </p:nvPr>
        </p:nvPicPr>
        <p:blipFill rotWithShape="1">
          <a:blip r:embed="rId3"/>
          <a:srcRect b="14445"/>
          <a:stretch/>
        </p:blipFill>
        <p:spPr>
          <a:xfrm>
            <a:off x="8104018" y="2286000"/>
            <a:ext cx="3797573" cy="2323070"/>
          </a:xfrm>
          <a:prstGeom prst="rect">
            <a:avLst/>
          </a:prstGeom>
        </p:spPr>
      </p:pic>
    </p:spTree>
    <p:extLst>
      <p:ext uri="{BB962C8B-B14F-4D97-AF65-F5344CB8AC3E}">
        <p14:creationId xmlns:p14="http://schemas.microsoft.com/office/powerpoint/2010/main" val="1506855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400" dirty="0"/>
              <a:t>Engine Coolant Temperature (ECT) Sensor </a:t>
            </a:r>
            <a:endParaRPr dirty="0"/>
          </a:p>
        </p:txBody>
      </p:sp>
      <p:pic>
        <p:nvPicPr>
          <p:cNvPr id="8" name="Picture Placeholder 7" descr="A typical engine coolant temperature, E C T sensor, is located in an engine coolant passage just before the thermostat and gives the engine temperature.">
            <a:extLst>
              <a:ext uri="{FF2B5EF4-FFF2-40B4-BE49-F238E27FC236}">
                <a16:creationId xmlns:a16="http://schemas.microsoft.com/office/drawing/2014/main" id="{1C9DEC91-7AD6-272D-BB1C-4967476029F2}"/>
              </a:ext>
            </a:extLst>
          </p:cNvPr>
          <p:cNvPicPr>
            <a:picLocks noGrp="1" noChangeAspect="1"/>
          </p:cNvPicPr>
          <p:nvPr>
            <p:ph type="pic" sz="quarter" idx="12"/>
          </p:nvPr>
        </p:nvPicPr>
        <p:blipFill rotWithShape="1">
          <a:blip r:embed="rId3"/>
          <a:srcRect b="9882"/>
          <a:stretch/>
        </p:blipFill>
        <p:spPr>
          <a:xfrm>
            <a:off x="321645" y="2512758"/>
            <a:ext cx="3595312" cy="2704492"/>
          </a:xfrm>
          <a:prstGeom prst="rect">
            <a:avLst/>
          </a:prstGeom>
        </p:spPr>
      </p:pic>
      <p:sp>
        <p:nvSpPr>
          <p:cNvPr id="145" name="Google Shape;145;p4"/>
          <p:cNvSpPr txBox="1">
            <a:spLocks noGrp="1"/>
          </p:cNvSpPr>
          <p:nvPr>
            <p:ph type="body" idx="1"/>
          </p:nvPr>
        </p:nvSpPr>
        <p:spPr>
          <a:xfrm>
            <a:off x="3991232" y="1480499"/>
            <a:ext cx="7727526" cy="4673165"/>
          </a:xfrm>
          <a:prstGeom prst="rect">
            <a:avLst/>
          </a:prstGeom>
          <a:noFill/>
          <a:ln>
            <a:noFill/>
          </a:ln>
        </p:spPr>
        <p:txBody>
          <a:bodyPr spcFirstLastPara="1" wrap="square" lIns="91425" tIns="45700" rIns="91425" bIns="45700" anchor="t" anchorCtr="0">
            <a:noAutofit/>
          </a:bodyPr>
          <a:lstStyle/>
          <a:p>
            <a:pPr marL="357188" indent="-357188"/>
            <a:r>
              <a:rPr lang="en-US" sz="1800" dirty="0"/>
              <a:t>The engine coolant temperature (ECT) sensor is a thermistor.</a:t>
            </a:r>
          </a:p>
          <a:p>
            <a:pPr marL="357188" indent="-357188"/>
            <a:r>
              <a:rPr lang="en-US" sz="1800" dirty="0"/>
              <a:t>By measuring ECT, the PCM knows the average temperature of the engine.</a:t>
            </a:r>
          </a:p>
          <a:p>
            <a:pPr marL="357188" indent="-357188"/>
            <a:r>
              <a:rPr lang="en-US" sz="1800" dirty="0"/>
              <a:t>Temperature is used to regulate many engine functions, such as the fuel injection system.</a:t>
            </a:r>
          </a:p>
          <a:p>
            <a:pPr marL="357188" indent="-357188"/>
            <a:r>
              <a:rPr lang="en-US" sz="1800" dirty="0"/>
              <a:t>The ECT sensor is normally located in an engine coolant passage just before the thermostat.</a:t>
            </a:r>
          </a:p>
          <a:p>
            <a:pPr marL="357188" indent="-357188"/>
            <a:r>
              <a:rPr lang="en-US" sz="1800" dirty="0"/>
              <a:t>A faulty ECT sensor or sensor circuit can cause a variety of problems.</a:t>
            </a:r>
          </a:p>
          <a:p>
            <a:pPr marL="357188" indent="-357188"/>
            <a:r>
              <a:rPr lang="en-US" sz="1800" dirty="0"/>
              <a:t>The most common is the failure to switch to the closed-loop mode once the engine is warm.</a:t>
            </a:r>
          </a:p>
          <a:p>
            <a:pPr marL="357188" indent="-357188"/>
            <a:r>
              <a:rPr lang="en-US" sz="1800" dirty="0"/>
              <a:t>ECT sensor problems are often caused by wiring faults or loose or corroded connections.</a:t>
            </a:r>
            <a:endParaRPr lang="en-US" sz="1100" dirty="0"/>
          </a:p>
        </p:txBody>
      </p:sp>
    </p:spTree>
    <p:extLst>
      <p:ext uri="{BB962C8B-B14F-4D97-AF65-F5344CB8AC3E}">
        <p14:creationId xmlns:p14="http://schemas.microsoft.com/office/powerpoint/2010/main" val="24156494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Pressure Sensors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r>
              <a:rPr lang="en-US" sz="1800" dirty="0"/>
              <a:t>Wheatstone bridges are used as variable resistance sensors.</a:t>
            </a:r>
          </a:p>
          <a:p>
            <a:pPr marL="357188" indent="-357188"/>
            <a:r>
              <a:rPr lang="en-US" sz="1800" dirty="0"/>
              <a:t>These are typically constructed of four resistors, connected in series-parallel between an input terminal and a ground terminal.</a:t>
            </a:r>
          </a:p>
          <a:p>
            <a:pPr marL="357188" indent="-357188"/>
            <a:r>
              <a:rPr lang="en-US" sz="1800" dirty="0"/>
              <a:t>Three of the resistors are kept at the same value</a:t>
            </a:r>
            <a:r>
              <a:rPr lang="en-US" sz="1800" dirty="0">
                <a:solidFill>
                  <a:srgbClr val="FF0000"/>
                </a:solidFill>
              </a:rPr>
              <a:t>,</a:t>
            </a:r>
            <a:r>
              <a:rPr lang="en-US" sz="1800" dirty="0"/>
              <a:t> and the fourth is a sensing resistor.</a:t>
            </a:r>
          </a:p>
          <a:p>
            <a:pPr marL="357188" indent="-357188"/>
            <a:r>
              <a:rPr lang="en-US" sz="1800" dirty="0"/>
              <a:t>When all four of the resistors have the same value, the bridge is balanced, and the voltage sensor will have a value of 0 volts.</a:t>
            </a:r>
          </a:p>
          <a:p>
            <a:pPr marL="357188" indent="-357188"/>
            <a:r>
              <a:rPr lang="en-US" sz="1800" dirty="0"/>
              <a:t>If the sensing resistor changes value, a change occurs in the circuit’s balance.</a:t>
            </a:r>
          </a:p>
          <a:p>
            <a:pPr marL="357188" indent="-357188"/>
            <a:r>
              <a:rPr lang="en-US" sz="1800" dirty="0"/>
              <a:t>The sensing circuit will receive a voltage reading proportional to the amount of resistance change.</a:t>
            </a:r>
          </a:p>
          <a:p>
            <a:pPr marL="357188" indent="-357188"/>
            <a:r>
              <a:rPr lang="en-US" sz="1800" dirty="0"/>
              <a:t>If the Wheatstone bridge is used to measure temperature, temperature changes are indicated as a change in voltage by the sensing circuit.</a:t>
            </a:r>
          </a:p>
          <a:p>
            <a:pPr marL="357188" indent="-357188"/>
            <a:r>
              <a:rPr lang="en-US" sz="1800" dirty="0"/>
              <a:t>Wheatstone bridges are also used to measure pressure (piezoresistive) and mechanical strain.</a:t>
            </a:r>
          </a:p>
        </p:txBody>
      </p:sp>
    </p:spTree>
    <p:extLst>
      <p:ext uri="{BB962C8B-B14F-4D97-AF65-F5344CB8AC3E}">
        <p14:creationId xmlns:p14="http://schemas.microsoft.com/office/powerpoint/2010/main" val="839244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(1 of 2)</a:t>
            </a:r>
            <a:endParaRPr dirty="0"/>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ts val="2800"/>
            </a:pPr>
            <a:r>
              <a:rPr lang="en-US" dirty="0">
                <a:solidFill>
                  <a:schemeClr val="tx1"/>
                </a:solidFill>
              </a:rPr>
              <a:t>A sensor that is a thermistor type and is normally located in an engine coolant passage is called the ____________.</a:t>
            </a:r>
            <a:endParaRPr lang="en-US" sz="2400"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(1 of 2)</a:t>
            </a:r>
            <a:endParaRPr dirty="0"/>
          </a:p>
        </p:txBody>
      </p:sp>
      <p:sp>
        <p:nvSpPr>
          <p:cNvPr id="2" name="Text Placeholder 1">
            <a:extLst>
              <a:ext uri="{FF2B5EF4-FFF2-40B4-BE49-F238E27FC236}">
                <a16:creationId xmlns:a16="http://schemas.microsoft.com/office/drawing/2014/main" id="{AE3EF211-3C39-EC48-6B1B-009A1E115B96}"/>
              </a:ext>
            </a:extLst>
          </p:cNvPr>
          <p:cNvSpPr>
            <a:spLocks noGrp="1"/>
          </p:cNvSpPr>
          <p:nvPr>
            <p:ph type="body" idx="1"/>
          </p:nvPr>
        </p:nvSpPr>
        <p:spPr/>
        <p:txBody>
          <a:bodyPr/>
          <a:lstStyle/>
          <a:p>
            <a:pPr marL="360362" lvl="1" indent="0">
              <a:buNone/>
            </a:pPr>
            <a:r>
              <a:rPr lang="en-US" b="1" dirty="0"/>
              <a:t>Answer</a:t>
            </a:r>
            <a:r>
              <a:rPr lang="en-US" dirty="0"/>
              <a:t>: A sensor that is a thermistor type and is normally located in an engine coolant passage is called the Engine Coolant Temperature Sensor.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400" dirty="0"/>
              <a:t>Manifold Absolute Pressure (MAP) Sensor</a:t>
            </a:r>
            <a:endParaRPr dirty="0"/>
          </a:p>
        </p:txBody>
      </p:sp>
      <p:sp>
        <p:nvSpPr>
          <p:cNvPr id="145" name="Google Shape;145;p4"/>
          <p:cNvSpPr txBox="1">
            <a:spLocks noGrp="1"/>
          </p:cNvSpPr>
          <p:nvPr>
            <p:ph type="body" idx="1"/>
          </p:nvPr>
        </p:nvSpPr>
        <p:spPr>
          <a:xfrm>
            <a:off x="476843" y="1480499"/>
            <a:ext cx="6974281" cy="4648451"/>
          </a:xfrm>
          <a:prstGeom prst="rect">
            <a:avLst/>
          </a:prstGeom>
          <a:noFill/>
          <a:ln>
            <a:noFill/>
          </a:ln>
        </p:spPr>
        <p:txBody>
          <a:bodyPr spcFirstLastPara="1" wrap="square" lIns="91425" tIns="45700" rIns="91425" bIns="45700" anchor="t" anchorCtr="0">
            <a:noAutofit/>
          </a:bodyPr>
          <a:lstStyle/>
          <a:p>
            <a:pPr marL="357188" indent="-357188">
              <a:lnSpc>
                <a:spcPct val="107000"/>
              </a:lnSpc>
              <a:spcBef>
                <a:spcPts val="0"/>
              </a:spcBef>
            </a:pPr>
            <a:r>
              <a:rPr lang="en-US" sz="2000" dirty="0"/>
              <a:t>A manifold absolute pressure (MAP) sensor senses air pressure or vacuum in the intake manifold.</a:t>
            </a:r>
          </a:p>
          <a:p>
            <a:pPr marL="357188" indent="-357188">
              <a:lnSpc>
                <a:spcPct val="107000"/>
              </a:lnSpc>
              <a:spcBef>
                <a:spcPts val="0"/>
              </a:spcBef>
            </a:pPr>
            <a:r>
              <a:rPr lang="en-US" sz="2000" dirty="0"/>
              <a:t>The sensor measures manifold air pressure against an absolute pressure.</a:t>
            </a:r>
          </a:p>
          <a:p>
            <a:pPr marL="357188" indent="-357188">
              <a:lnSpc>
                <a:spcPct val="107000"/>
              </a:lnSpc>
              <a:spcBef>
                <a:spcPts val="0"/>
              </a:spcBef>
            </a:pPr>
            <a:r>
              <a:rPr lang="en-US" sz="2000" dirty="0"/>
              <a:t>The MAP sensor uses a perfect vacuum as a reference pressure.</a:t>
            </a:r>
          </a:p>
          <a:p>
            <a:pPr marL="357188" indent="-357188">
              <a:lnSpc>
                <a:spcPct val="107000"/>
              </a:lnSpc>
              <a:spcBef>
                <a:spcPts val="0"/>
              </a:spcBef>
            </a:pPr>
            <a:r>
              <a:rPr lang="en-US" sz="2000" dirty="0"/>
              <a:t>The MAP sensor measures changes in the intake manifold pressure that result from changes in engine load, speed, and boost.</a:t>
            </a:r>
          </a:p>
          <a:p>
            <a:pPr marL="357188" indent="-357188">
              <a:lnSpc>
                <a:spcPct val="107000"/>
              </a:lnSpc>
              <a:spcBef>
                <a:spcPts val="0"/>
              </a:spcBef>
            </a:pPr>
            <a:r>
              <a:rPr lang="en-US" sz="2000" dirty="0"/>
              <a:t>Engines with exhaust gas recirculation valves (EGR) that route exhaust gas into the intake manifold use the MAP sensor to monitor system performance.</a:t>
            </a:r>
            <a:endParaRPr lang="en-US" sz="1200" dirty="0"/>
          </a:p>
        </p:txBody>
      </p:sp>
      <p:pic>
        <p:nvPicPr>
          <p:cNvPr id="8" name="Picture Placeholder 7" descr="A manifold absolute pressure sensor that senses air pressure or vacuum in the intake manifold, and monitors system performance.">
            <a:extLst>
              <a:ext uri="{FF2B5EF4-FFF2-40B4-BE49-F238E27FC236}">
                <a16:creationId xmlns:a16="http://schemas.microsoft.com/office/drawing/2014/main" id="{4896E2CF-0996-D527-1A3A-4C85F7D40B7F}"/>
              </a:ext>
            </a:extLst>
          </p:cNvPr>
          <p:cNvPicPr>
            <a:picLocks noGrp="1" noChangeAspect="1"/>
          </p:cNvPicPr>
          <p:nvPr>
            <p:ph type="pic" sz="quarter" idx="13"/>
          </p:nvPr>
        </p:nvPicPr>
        <p:blipFill rotWithShape="1">
          <a:blip r:embed="rId3"/>
          <a:srcRect b="9836"/>
          <a:stretch/>
        </p:blipFill>
        <p:spPr>
          <a:xfrm>
            <a:off x="7804957" y="1913422"/>
            <a:ext cx="4158443" cy="3029281"/>
          </a:xfrm>
          <a:prstGeom prst="rect">
            <a:avLst/>
          </a:prstGeom>
        </p:spPr>
      </p:pic>
    </p:spTree>
    <p:extLst>
      <p:ext uri="{BB962C8B-B14F-4D97-AF65-F5344CB8AC3E}">
        <p14:creationId xmlns:p14="http://schemas.microsoft.com/office/powerpoint/2010/main" val="3039709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Mass Airflow (MAF) Sensors</a:t>
            </a:r>
            <a:endParaRPr sz="3600" dirty="0"/>
          </a:p>
        </p:txBody>
      </p:sp>
      <p:sp>
        <p:nvSpPr>
          <p:cNvPr id="145" name="Google Shape;145;p4"/>
          <p:cNvSpPr txBox="1">
            <a:spLocks noGrp="1"/>
          </p:cNvSpPr>
          <p:nvPr>
            <p:ph type="body" idx="1"/>
          </p:nvPr>
        </p:nvSpPr>
        <p:spPr>
          <a:xfrm>
            <a:off x="476844" y="1480499"/>
            <a:ext cx="7011352" cy="4574311"/>
          </a:xfrm>
          <a:prstGeom prst="rect">
            <a:avLst/>
          </a:prstGeom>
          <a:noFill/>
          <a:ln>
            <a:noFill/>
          </a:ln>
        </p:spPr>
        <p:txBody>
          <a:bodyPr spcFirstLastPara="1" wrap="square" lIns="91425" tIns="45700" rIns="91425" bIns="45700" anchor="t" anchorCtr="0">
            <a:noAutofit/>
          </a:bodyPr>
          <a:lstStyle/>
          <a:p>
            <a:pPr marL="357188" indent="-357188"/>
            <a:r>
              <a:rPr lang="en-US" sz="2200" dirty="0"/>
              <a:t>The </a:t>
            </a:r>
            <a:r>
              <a:rPr lang="en-US" sz="2200" b="1" dirty="0"/>
              <a:t>mass airflow (MAF) sensor </a:t>
            </a:r>
            <a:r>
              <a:rPr lang="en-US" sz="2200" dirty="0"/>
              <a:t>measures the flow of air entering the engine.</a:t>
            </a:r>
          </a:p>
          <a:p>
            <a:pPr marL="357188" indent="-357188"/>
            <a:r>
              <a:rPr lang="en-US" sz="2200" dirty="0"/>
              <a:t>This measurement of intake air volume is used to calculate engine load (throttle opening and air volume).</a:t>
            </a:r>
          </a:p>
          <a:p>
            <a:pPr marL="357188" indent="-357188"/>
            <a:r>
              <a:rPr lang="en-US" sz="2200" dirty="0"/>
              <a:t>It is similar to the relationship of engine load to MAP or vacuum sensor signal.</a:t>
            </a:r>
          </a:p>
          <a:p>
            <a:pPr marL="357188" indent="-357188"/>
            <a:r>
              <a:rPr lang="en-US" sz="2200" dirty="0"/>
              <a:t>The MAF typically also contains intake air temperature and humidity sensors.</a:t>
            </a:r>
          </a:p>
          <a:p>
            <a:pPr marL="357188" indent="-357188"/>
            <a:r>
              <a:rPr lang="en-US" sz="2200" dirty="0"/>
              <a:t>There are different types of MAF sensors.</a:t>
            </a:r>
          </a:p>
          <a:p>
            <a:pPr marL="357188" indent="-357188"/>
            <a:r>
              <a:rPr lang="en-US" sz="2200" dirty="0"/>
              <a:t>A commonly used design is the hot-wire MAF. </a:t>
            </a:r>
          </a:p>
        </p:txBody>
      </p:sp>
      <p:pic>
        <p:nvPicPr>
          <p:cNvPr id="8" name="Picture Placeholder 7" descr="Mass Airflow sensor depicts a hot wire that measures air flow entering the engine.">
            <a:extLst>
              <a:ext uri="{FF2B5EF4-FFF2-40B4-BE49-F238E27FC236}">
                <a16:creationId xmlns:a16="http://schemas.microsoft.com/office/drawing/2014/main" id="{42E031EC-59B8-7D0D-7FD9-5E0ED9D188E1}"/>
              </a:ext>
            </a:extLst>
          </p:cNvPr>
          <p:cNvPicPr>
            <a:picLocks noGrp="1" noChangeAspect="1"/>
          </p:cNvPicPr>
          <p:nvPr>
            <p:ph type="pic" sz="quarter" idx="13"/>
          </p:nvPr>
        </p:nvPicPr>
        <p:blipFill rotWithShape="1">
          <a:blip r:embed="rId3"/>
          <a:srcRect b="6521"/>
          <a:stretch/>
        </p:blipFill>
        <p:spPr>
          <a:xfrm>
            <a:off x="7625147" y="2107330"/>
            <a:ext cx="4320833" cy="3328270"/>
          </a:xfrm>
          <a:prstGeom prst="rect">
            <a:avLst/>
          </a:prstGeom>
        </p:spPr>
      </p:pic>
    </p:spTree>
    <p:extLst>
      <p:ext uri="{BB962C8B-B14F-4D97-AF65-F5344CB8AC3E}">
        <p14:creationId xmlns:p14="http://schemas.microsoft.com/office/powerpoint/2010/main" val="31650855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Testing a MAF Sensor</a:t>
            </a:r>
            <a:endParaRPr sz="3600" dirty="0"/>
          </a:p>
        </p:txBody>
      </p:sp>
      <p:pic>
        <p:nvPicPr>
          <p:cNvPr id="8" name="Picture Placeholder 7" descr="A line graph depicts satisfactory and unsatisfactory M A F sensor frequency readings. The horizontal axis is labeled frequency and the vertical axis is labeled R P M. In the satisfactory (good) M A F sensor graph, a straight diagonal line is present. In the unsatisfactory (bad) M A F sensor graph, an irregular straight diagonal line is present.">
            <a:extLst>
              <a:ext uri="{FF2B5EF4-FFF2-40B4-BE49-F238E27FC236}">
                <a16:creationId xmlns:a16="http://schemas.microsoft.com/office/drawing/2014/main" id="{FA1974F4-1B08-25F2-CF82-6D7348941AD6}"/>
              </a:ext>
            </a:extLst>
          </p:cNvPr>
          <p:cNvPicPr>
            <a:picLocks noGrp="1" noChangeAspect="1"/>
          </p:cNvPicPr>
          <p:nvPr>
            <p:ph type="pic" sz="quarter" idx="12"/>
          </p:nvPr>
        </p:nvPicPr>
        <p:blipFill rotWithShape="1">
          <a:blip r:embed="rId3"/>
          <a:srcRect b="10733"/>
          <a:stretch/>
        </p:blipFill>
        <p:spPr>
          <a:xfrm>
            <a:off x="473242" y="2410849"/>
            <a:ext cx="4656815" cy="1576951"/>
          </a:xfrm>
          <a:prstGeom prst="rect">
            <a:avLst/>
          </a:prstGeom>
        </p:spPr>
      </p:pic>
      <p:sp>
        <p:nvSpPr>
          <p:cNvPr id="145" name="Google Shape;145;p4"/>
          <p:cNvSpPr txBox="1">
            <a:spLocks noGrp="1"/>
          </p:cNvSpPr>
          <p:nvPr>
            <p:ph type="body" idx="1"/>
          </p:nvPr>
        </p:nvSpPr>
        <p:spPr>
          <a:xfrm>
            <a:off x="5245100" y="1480500"/>
            <a:ext cx="6473658" cy="4697878"/>
          </a:xfrm>
          <a:prstGeom prst="rect">
            <a:avLst/>
          </a:prstGeom>
          <a:noFill/>
          <a:ln>
            <a:noFill/>
          </a:ln>
        </p:spPr>
        <p:txBody>
          <a:bodyPr spcFirstLastPara="1" wrap="square" lIns="91425" tIns="45700" rIns="91425" bIns="45700" anchor="t" anchorCtr="0">
            <a:noAutofit/>
          </a:bodyPr>
          <a:lstStyle/>
          <a:p>
            <a:pPr marL="357188" indent="-357188"/>
            <a:r>
              <a:rPr lang="en-US" sz="1800" dirty="0"/>
              <a:t>The test procedure for hot-wire MAF sensors varies with the vehicle make and year.</a:t>
            </a:r>
          </a:p>
          <a:p>
            <a:pPr marL="357188" indent="-357188"/>
            <a:r>
              <a:rPr lang="en-US" sz="1800" dirty="0"/>
              <a:t>Some MAF sensors output a digital frequency signal.</a:t>
            </a:r>
          </a:p>
          <a:p>
            <a:pPr marL="357188" indent="-357188"/>
            <a:r>
              <a:rPr lang="en-US" sz="1800" dirty="0"/>
              <a:t>To check, set the DMM so that it can read the frequency of DC voltage.</a:t>
            </a:r>
          </a:p>
          <a:p>
            <a:pPr marL="357188" indent="-357188"/>
            <a:r>
              <a:rPr lang="en-US" sz="1800" dirty="0"/>
              <a:t>With it still connected to the signal wire and ground, the meter should read about 30 Hz with the engine idling.</a:t>
            </a:r>
          </a:p>
          <a:p>
            <a:pPr marL="357188" indent="-357188"/>
            <a:r>
              <a:rPr lang="en-US" sz="1800" dirty="0"/>
              <a:t>Now increase the engine speed and record the meter reading at various speeds.</a:t>
            </a:r>
          </a:p>
          <a:p>
            <a:pPr marL="357188" indent="-357188"/>
            <a:r>
              <a:rPr lang="en-US" sz="1800" dirty="0"/>
              <a:t>Graph the frequency readings.</a:t>
            </a:r>
          </a:p>
          <a:p>
            <a:pPr marL="357188" indent="-357188"/>
            <a:r>
              <a:rPr lang="en-US" sz="1800" dirty="0"/>
              <a:t>The MAF sensor frequency should increase smoothly and gradually in relation to engine speed.</a:t>
            </a:r>
            <a:endParaRPr lang="en-US" sz="1100" dirty="0"/>
          </a:p>
        </p:txBody>
      </p:sp>
    </p:spTree>
    <p:extLst>
      <p:ext uri="{BB962C8B-B14F-4D97-AF65-F5344CB8AC3E}">
        <p14:creationId xmlns:p14="http://schemas.microsoft.com/office/powerpoint/2010/main" val="1461036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Oxygen Sensors</a:t>
            </a:r>
            <a:endParaRPr sz="3600" dirty="0"/>
          </a:p>
        </p:txBody>
      </p:sp>
      <p:pic>
        <p:nvPicPr>
          <p:cNvPr id="8" name="Picture Placeholder 7" descr="An exhaust gas oxygen sensor in a closed-loop mode has a cable with a threaded end that fits into the exhaust manifold.">
            <a:extLst>
              <a:ext uri="{FF2B5EF4-FFF2-40B4-BE49-F238E27FC236}">
                <a16:creationId xmlns:a16="http://schemas.microsoft.com/office/drawing/2014/main" id="{DBACD4D7-1E12-7877-D671-C7A3D1FCF42C}"/>
              </a:ext>
            </a:extLst>
          </p:cNvPr>
          <p:cNvPicPr>
            <a:picLocks noGrp="1" noChangeAspect="1"/>
          </p:cNvPicPr>
          <p:nvPr>
            <p:ph type="pic" sz="quarter" idx="12"/>
          </p:nvPr>
        </p:nvPicPr>
        <p:blipFill rotWithShape="1">
          <a:blip r:embed="rId3"/>
          <a:srcRect b="10612"/>
          <a:stretch/>
        </p:blipFill>
        <p:spPr>
          <a:xfrm>
            <a:off x="476843" y="2127805"/>
            <a:ext cx="4029797" cy="2602389"/>
          </a:xfrm>
          <a:prstGeom prst="rect">
            <a:avLst/>
          </a:prstGeom>
        </p:spPr>
      </p:pic>
      <p:sp>
        <p:nvSpPr>
          <p:cNvPr id="145" name="Google Shape;145;p4"/>
          <p:cNvSpPr txBox="1">
            <a:spLocks noGrp="1"/>
          </p:cNvSpPr>
          <p:nvPr>
            <p:ph type="body" idx="1"/>
          </p:nvPr>
        </p:nvSpPr>
        <p:spPr>
          <a:xfrm>
            <a:off x="4876800" y="1480499"/>
            <a:ext cx="6968958" cy="4512527"/>
          </a:xfrm>
          <a:prstGeom prst="rect">
            <a:avLst/>
          </a:prstGeom>
          <a:noFill/>
          <a:ln>
            <a:noFill/>
          </a:ln>
        </p:spPr>
        <p:txBody>
          <a:bodyPr spcFirstLastPara="1" wrap="square" lIns="91425" tIns="45700" rIns="91425" bIns="45700" anchor="t" anchorCtr="0">
            <a:noAutofit/>
          </a:bodyPr>
          <a:lstStyle/>
          <a:p>
            <a:pPr marL="357188" indent="-357188">
              <a:spcAft>
                <a:spcPts val="0"/>
              </a:spcAft>
            </a:pPr>
            <a:r>
              <a:rPr lang="en-US" sz="2200" dirty="0">
                <a:solidFill>
                  <a:schemeClr val="tx1"/>
                </a:solidFill>
              </a:rPr>
              <a:t>The exhaust gas oxygen sensor (O</a:t>
            </a:r>
            <a:r>
              <a:rPr lang="en-US" sz="2200" baseline="-25000" dirty="0">
                <a:solidFill>
                  <a:schemeClr val="tx1"/>
                </a:solidFill>
              </a:rPr>
              <a:t>2</a:t>
            </a:r>
            <a:r>
              <a:rPr lang="en-US" sz="2200" dirty="0">
                <a:solidFill>
                  <a:schemeClr val="tx1"/>
                </a:solidFill>
              </a:rPr>
              <a:t>S) or air–fuel ratio sensor, is the key sensor in the closed-loop mode.</a:t>
            </a:r>
          </a:p>
          <a:p>
            <a:pPr marL="357188" indent="-357188">
              <a:spcAft>
                <a:spcPts val="0"/>
              </a:spcAft>
            </a:pPr>
            <a:r>
              <a:rPr lang="en-US" sz="2200" dirty="0">
                <a:solidFill>
                  <a:schemeClr val="tx1"/>
                </a:solidFill>
              </a:rPr>
              <a:t>The O</a:t>
            </a:r>
            <a:r>
              <a:rPr lang="en-US" sz="2200" baseline="-25000" dirty="0">
                <a:solidFill>
                  <a:schemeClr val="tx1"/>
                </a:solidFill>
              </a:rPr>
              <a:t>2</a:t>
            </a:r>
            <a:r>
              <a:rPr lang="en-US" sz="2200" dirty="0">
                <a:solidFill>
                  <a:schemeClr val="tx1"/>
                </a:solidFill>
              </a:rPr>
              <a:t>S is threaded into the exhaust manifold or into the exhaust pipe near the engine.</a:t>
            </a:r>
          </a:p>
          <a:p>
            <a:pPr marL="357188" indent="-357188">
              <a:spcAft>
                <a:spcPts val="0"/>
              </a:spcAft>
            </a:pPr>
            <a:r>
              <a:rPr lang="en-US" sz="2200" dirty="0">
                <a:solidFill>
                  <a:schemeClr val="tx1"/>
                </a:solidFill>
              </a:rPr>
              <a:t>The PCM uses an O</a:t>
            </a:r>
            <a:r>
              <a:rPr lang="en-US" sz="2200" baseline="-25000" dirty="0">
                <a:solidFill>
                  <a:schemeClr val="tx1"/>
                </a:solidFill>
              </a:rPr>
              <a:t>2</a:t>
            </a:r>
            <a:r>
              <a:rPr lang="en-US" sz="2200" dirty="0">
                <a:solidFill>
                  <a:schemeClr val="tx1"/>
                </a:solidFill>
              </a:rPr>
              <a:t>S to ensure that the air–fuel ratio is correct for the catalytic converter.</a:t>
            </a:r>
          </a:p>
          <a:p>
            <a:pPr marL="357188" indent="-357188">
              <a:spcAft>
                <a:spcPts val="0"/>
              </a:spcAft>
            </a:pPr>
            <a:r>
              <a:rPr lang="en-US" sz="2200" dirty="0">
                <a:solidFill>
                  <a:schemeClr val="tx1"/>
                </a:solidFill>
              </a:rPr>
              <a:t>The PCM adjusts the amount of fuel injected into the cylinders based on the O</a:t>
            </a:r>
            <a:r>
              <a:rPr lang="en-US" sz="2200" baseline="-25000" dirty="0">
                <a:solidFill>
                  <a:schemeClr val="tx1"/>
                </a:solidFill>
              </a:rPr>
              <a:t>2</a:t>
            </a:r>
            <a:r>
              <a:rPr lang="en-US" sz="2200" dirty="0">
                <a:solidFill>
                  <a:schemeClr val="tx1"/>
                </a:solidFill>
              </a:rPr>
              <a:t>S signal.</a:t>
            </a:r>
          </a:p>
          <a:p>
            <a:pPr marL="357188" indent="-357188">
              <a:spcAft>
                <a:spcPts val="0"/>
              </a:spcAft>
            </a:pPr>
            <a:r>
              <a:rPr lang="en-US" sz="2200" dirty="0">
                <a:solidFill>
                  <a:schemeClr val="tx1"/>
                </a:solidFill>
              </a:rPr>
              <a:t>OBD II standards require an </a:t>
            </a:r>
            <a:r>
              <a:rPr lang="en-US" sz="2200" dirty="0" err="1">
                <a:solidFill>
                  <a:schemeClr val="tx1"/>
                </a:solidFill>
              </a:rPr>
              <a:t>O</a:t>
            </a:r>
            <a:r>
              <a:rPr lang="en-US" sz="2200" baseline="-25000" dirty="0" err="1">
                <a:solidFill>
                  <a:schemeClr val="tx1"/>
                </a:solidFill>
              </a:rPr>
              <a:t>2</a:t>
            </a:r>
            <a:r>
              <a:rPr lang="en-US" sz="2200" dirty="0" err="1">
                <a:solidFill>
                  <a:schemeClr val="tx1"/>
                </a:solidFill>
              </a:rPr>
              <a:t>S</a:t>
            </a:r>
            <a:r>
              <a:rPr lang="en-US" sz="2200" dirty="0">
                <a:solidFill>
                  <a:schemeClr val="tx1"/>
                </a:solidFill>
              </a:rPr>
              <a:t> before and after the catalytic converter.</a:t>
            </a:r>
          </a:p>
        </p:txBody>
      </p:sp>
    </p:spTree>
    <p:extLst>
      <p:ext uri="{BB962C8B-B14F-4D97-AF65-F5344CB8AC3E}">
        <p14:creationId xmlns:p14="http://schemas.microsoft.com/office/powerpoint/2010/main" val="4116707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Heated Oxygen Sensors</a:t>
            </a:r>
            <a:endParaRPr sz="3600" dirty="0"/>
          </a:p>
        </p:txBody>
      </p:sp>
      <p:sp>
        <p:nvSpPr>
          <p:cNvPr id="145" name="Google Shape;145;p4"/>
          <p:cNvSpPr txBox="1">
            <a:spLocks noGrp="1"/>
          </p:cNvSpPr>
          <p:nvPr>
            <p:ph type="body" idx="1"/>
          </p:nvPr>
        </p:nvSpPr>
        <p:spPr>
          <a:xfrm>
            <a:off x="476843" y="1480499"/>
            <a:ext cx="11241915" cy="4685523"/>
          </a:xfrm>
          <a:prstGeom prst="rect">
            <a:avLst/>
          </a:prstGeom>
          <a:noFill/>
          <a:ln>
            <a:noFill/>
          </a:ln>
        </p:spPr>
        <p:txBody>
          <a:bodyPr spcFirstLastPara="1" wrap="square" lIns="91425" tIns="45700" rIns="91425" bIns="45700" anchor="t" anchorCtr="0">
            <a:noAutofit/>
          </a:bodyPr>
          <a:lstStyle/>
          <a:p>
            <a:pPr marL="357188" indent="-357188"/>
            <a:r>
              <a:rPr lang="en-US" sz="1800" dirty="0">
                <a:solidFill>
                  <a:schemeClr val="tx1"/>
                </a:solidFill>
              </a:rPr>
              <a:t>To generate an accurate signal, an O</a:t>
            </a:r>
            <a:r>
              <a:rPr lang="en-US" sz="1800" baseline="-25000" dirty="0">
                <a:solidFill>
                  <a:schemeClr val="tx1"/>
                </a:solidFill>
              </a:rPr>
              <a:t>2</a:t>
            </a:r>
            <a:r>
              <a:rPr lang="en-US" sz="1800" dirty="0">
                <a:solidFill>
                  <a:schemeClr val="tx1"/>
                </a:solidFill>
              </a:rPr>
              <a:t>S must operate at a minimum temperature of 750 ºF (400 ºC).</a:t>
            </a:r>
          </a:p>
          <a:p>
            <a:pPr marL="357188" indent="-357188"/>
            <a:r>
              <a:rPr lang="en-US" sz="1800" dirty="0">
                <a:solidFill>
                  <a:schemeClr val="tx1"/>
                </a:solidFill>
              </a:rPr>
              <a:t>Current O</a:t>
            </a:r>
            <a:r>
              <a:rPr lang="en-US" sz="1800" baseline="-25000" dirty="0">
                <a:solidFill>
                  <a:schemeClr val="tx1"/>
                </a:solidFill>
              </a:rPr>
              <a:t>2</a:t>
            </a:r>
            <a:r>
              <a:rPr lang="en-US" sz="1800" dirty="0">
                <a:solidFill>
                  <a:schemeClr val="tx1"/>
                </a:solidFill>
              </a:rPr>
              <a:t>S have a built-in heating element to quickly heat them and keep them hot at idle and light load conditions.</a:t>
            </a:r>
          </a:p>
          <a:p>
            <a:pPr marL="357188" indent="-357188"/>
            <a:r>
              <a:rPr lang="en-US" sz="1800" dirty="0">
                <a:solidFill>
                  <a:schemeClr val="tx1"/>
                </a:solidFill>
              </a:rPr>
              <a:t>The heater is controlled by the PCM.</a:t>
            </a:r>
          </a:p>
          <a:p>
            <a:pPr marL="357188" indent="-357188"/>
            <a:r>
              <a:rPr lang="en-US" sz="1800" dirty="0">
                <a:solidFill>
                  <a:schemeClr val="tx1"/>
                </a:solidFill>
              </a:rPr>
              <a:t>Early O</a:t>
            </a:r>
            <a:r>
              <a:rPr lang="en-US" sz="1800" baseline="-25000" dirty="0">
                <a:solidFill>
                  <a:schemeClr val="tx1"/>
                </a:solidFill>
              </a:rPr>
              <a:t>2</a:t>
            </a:r>
            <a:r>
              <a:rPr lang="en-US" sz="1800" dirty="0">
                <a:solidFill>
                  <a:schemeClr val="tx1"/>
                </a:solidFill>
              </a:rPr>
              <a:t>S did not have a heater and required some time for the exhaust to warm them.</a:t>
            </a:r>
          </a:p>
          <a:p>
            <a:pPr marL="357188" indent="-357188"/>
            <a:r>
              <a:rPr lang="en-US" sz="1800" b="1" dirty="0">
                <a:solidFill>
                  <a:schemeClr val="tx1"/>
                </a:solidFill>
              </a:rPr>
              <a:t>Heated oxygen sensors (HO</a:t>
            </a:r>
            <a:r>
              <a:rPr lang="en-US" sz="1800" b="1" baseline="-25000" dirty="0">
                <a:solidFill>
                  <a:schemeClr val="tx1"/>
                </a:solidFill>
              </a:rPr>
              <a:t>2</a:t>
            </a:r>
            <a:r>
              <a:rPr lang="en-US" sz="1800" b="1" dirty="0">
                <a:solidFill>
                  <a:schemeClr val="tx1"/>
                </a:solidFill>
              </a:rPr>
              <a:t>S) </a:t>
            </a:r>
            <a:r>
              <a:rPr lang="en-US" sz="1800" dirty="0">
                <a:solidFill>
                  <a:schemeClr val="tx1"/>
                </a:solidFill>
              </a:rPr>
              <a:t>have three or four wires connected to them.</a:t>
            </a:r>
          </a:p>
          <a:p>
            <a:pPr marL="357188" indent="-357188"/>
            <a:r>
              <a:rPr lang="en-US" sz="1800" dirty="0">
                <a:solidFill>
                  <a:schemeClr val="tx1"/>
                </a:solidFill>
              </a:rPr>
              <a:t>The additional wires provide voltage for the internal heater in the sensors.</a:t>
            </a:r>
          </a:p>
          <a:p>
            <a:pPr marL="357188" indent="-357188"/>
            <a:r>
              <a:rPr lang="en-US" sz="1800" dirty="0">
                <a:solidFill>
                  <a:schemeClr val="tx1"/>
                </a:solidFill>
              </a:rPr>
              <a:t>HO</a:t>
            </a:r>
            <a:r>
              <a:rPr lang="en-US" sz="1800" baseline="-25000" dirty="0">
                <a:solidFill>
                  <a:schemeClr val="tx1"/>
                </a:solidFill>
              </a:rPr>
              <a:t>2</a:t>
            </a:r>
            <a:r>
              <a:rPr lang="en-US" sz="1800" dirty="0">
                <a:solidFill>
                  <a:schemeClr val="tx1"/>
                </a:solidFill>
              </a:rPr>
              <a:t>S are sometimes referred to as heated exhaust gas sensors (HEGOs).</a:t>
            </a:r>
          </a:p>
          <a:p>
            <a:pPr marL="357188" indent="-357188"/>
            <a:r>
              <a:rPr lang="en-US" sz="1800" dirty="0">
                <a:solidFill>
                  <a:schemeClr val="tx1"/>
                </a:solidFill>
              </a:rPr>
              <a:t>The PCM controls the ground for the heater circuit as needed.</a:t>
            </a:r>
          </a:p>
          <a:p>
            <a:pPr marL="357188" indent="-357188"/>
            <a:r>
              <a:rPr lang="en-US" sz="1800" dirty="0">
                <a:solidFill>
                  <a:schemeClr val="tx1"/>
                </a:solidFill>
              </a:rPr>
              <a:t>The cycling of current to the heater protects the ceramic material of the heater from being overheated, which would cause it to break.</a:t>
            </a:r>
          </a:p>
        </p:txBody>
      </p:sp>
    </p:spTree>
    <p:extLst>
      <p:ext uri="{BB962C8B-B14F-4D97-AF65-F5344CB8AC3E}">
        <p14:creationId xmlns:p14="http://schemas.microsoft.com/office/powerpoint/2010/main" val="29166849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Checking Oxygen Sensors and Circuits</a:t>
            </a:r>
            <a:endParaRPr sz="3600" dirty="0"/>
          </a:p>
        </p:txBody>
      </p:sp>
      <p:sp>
        <p:nvSpPr>
          <p:cNvPr id="145" name="Google Shape;145;p4"/>
          <p:cNvSpPr txBox="1">
            <a:spLocks noGrp="1"/>
          </p:cNvSpPr>
          <p:nvPr>
            <p:ph type="body" idx="1"/>
          </p:nvPr>
        </p:nvSpPr>
        <p:spPr>
          <a:xfrm>
            <a:off x="476843" y="1480499"/>
            <a:ext cx="11346857" cy="4513901"/>
          </a:xfrm>
          <a:prstGeom prst="rect">
            <a:avLst/>
          </a:prstGeom>
          <a:noFill/>
          <a:ln>
            <a:noFill/>
          </a:ln>
        </p:spPr>
        <p:txBody>
          <a:bodyPr spcFirstLastPara="1" wrap="square" lIns="91425" tIns="45700" rIns="91425" bIns="45700" anchor="t" anchorCtr="0">
            <a:noAutofit/>
          </a:bodyPr>
          <a:lstStyle/>
          <a:p>
            <a:pPr marL="357188" indent="-357188">
              <a:spcAft>
                <a:spcPts val="400"/>
              </a:spcAft>
            </a:pPr>
            <a:r>
              <a:rPr lang="en-US" sz="1800" dirty="0"/>
              <a:t>Common causes of abnormal O</a:t>
            </a:r>
            <a:r>
              <a:rPr lang="en-US" sz="1800" baseline="-25000" dirty="0"/>
              <a:t>2</a:t>
            </a:r>
            <a:r>
              <a:rPr lang="en-US" sz="1800" dirty="0"/>
              <a:t>S operation include incorrect fuel pressure, a malfunctioning AIR system, an EGR leak, a leaking injector, a vacuum leak, an exhaust leak, and a contaminated MAF sensor.</a:t>
            </a:r>
          </a:p>
          <a:p>
            <a:pPr marL="357188" indent="-357188">
              <a:spcAft>
                <a:spcPts val="400"/>
              </a:spcAft>
            </a:pPr>
            <a:r>
              <a:rPr lang="en-US" sz="1800" dirty="0"/>
              <a:t>It is important to determine if it is the O</a:t>
            </a:r>
            <a:r>
              <a:rPr lang="en-US" sz="1800" baseline="-25000" dirty="0"/>
              <a:t>2</a:t>
            </a:r>
            <a:r>
              <a:rPr lang="en-US" sz="1800" dirty="0"/>
              <a:t>S itself or some other factor that is causing the O</a:t>
            </a:r>
            <a:r>
              <a:rPr lang="en-US" sz="1800" baseline="-25000" dirty="0"/>
              <a:t>2</a:t>
            </a:r>
            <a:r>
              <a:rPr lang="en-US" sz="1800" dirty="0"/>
              <a:t>S to behave abnormally.</a:t>
            </a:r>
          </a:p>
          <a:p>
            <a:pPr marL="357188" indent="-357188">
              <a:spcAft>
                <a:spcPts val="400"/>
              </a:spcAft>
            </a:pPr>
            <a:r>
              <a:rPr lang="en-US" sz="1800" dirty="0"/>
              <a:t>The accuracy of the O</a:t>
            </a:r>
            <a:r>
              <a:rPr lang="en-US" sz="1800" baseline="-25000" dirty="0"/>
              <a:t>2</a:t>
            </a:r>
            <a:r>
              <a:rPr lang="en-US" sz="1800" dirty="0"/>
              <a:t>S reading can be affected by air leaks in the intake or exhaust manifold.</a:t>
            </a:r>
          </a:p>
          <a:p>
            <a:pPr marL="357188" indent="-357188">
              <a:spcAft>
                <a:spcPts val="400"/>
              </a:spcAft>
            </a:pPr>
            <a:r>
              <a:rPr lang="en-US" sz="1800" dirty="0"/>
              <a:t>A misfiring spark plug that allows unburned oxygen to pass into the exhaust also causes the sensor to give a false lean reading.</a:t>
            </a:r>
          </a:p>
          <a:p>
            <a:pPr marL="357188" indent="-357188">
              <a:spcAft>
                <a:spcPts val="400"/>
              </a:spcAft>
            </a:pPr>
            <a:r>
              <a:rPr lang="en-US" sz="1800" dirty="0"/>
              <a:t>An O</a:t>
            </a:r>
            <a:r>
              <a:rPr lang="en-US" sz="1800" baseline="-25000" dirty="0"/>
              <a:t>2</a:t>
            </a:r>
            <a:r>
              <a:rPr lang="en-US" sz="1800" dirty="0"/>
              <a:t>S can be contaminated and become lazy.</a:t>
            </a:r>
          </a:p>
          <a:p>
            <a:pPr marL="357188" indent="-357188">
              <a:spcAft>
                <a:spcPts val="400"/>
              </a:spcAft>
            </a:pPr>
            <a:r>
              <a:rPr lang="en-US" sz="1800" dirty="0"/>
              <a:t>Lazy is a term used to describe a common symptom; it takes a longer-than-normal time for the sensor to switch from lean to rich or rich to lean.</a:t>
            </a:r>
          </a:p>
          <a:p>
            <a:pPr marL="357188" indent="-357188">
              <a:spcAft>
                <a:spcPts val="400"/>
              </a:spcAft>
            </a:pPr>
            <a:r>
              <a:rPr lang="en-US" sz="1800" dirty="0"/>
              <a:t>A contaminated sensor may stop switching and provide a continuously low or high signal as well.</a:t>
            </a:r>
          </a:p>
        </p:txBody>
      </p:sp>
    </p:spTree>
    <p:extLst>
      <p:ext uri="{BB962C8B-B14F-4D97-AF65-F5344CB8AC3E}">
        <p14:creationId xmlns:p14="http://schemas.microsoft.com/office/powerpoint/2010/main" val="38325921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solidFill>
                  <a:schemeClr val="tx1"/>
                </a:solidFill>
              </a:rPr>
              <a:t>Testing Air–Fuel Ratio (A/F) Sensors</a:t>
            </a:r>
            <a:endParaRPr sz="3600" dirty="0">
              <a:solidFill>
                <a:schemeClr val="tx1"/>
              </a:solidFill>
            </a:endParaRPr>
          </a:p>
        </p:txBody>
      </p:sp>
      <p:sp>
        <p:nvSpPr>
          <p:cNvPr id="145" name="Google Shape;145;p4"/>
          <p:cNvSpPr txBox="1">
            <a:spLocks noGrp="1"/>
          </p:cNvSpPr>
          <p:nvPr>
            <p:ph type="body" idx="1"/>
          </p:nvPr>
        </p:nvSpPr>
        <p:spPr>
          <a:xfrm>
            <a:off x="476843" y="1404299"/>
            <a:ext cx="6673257" cy="4673165"/>
          </a:xfrm>
          <a:prstGeom prst="rect">
            <a:avLst/>
          </a:prstGeom>
          <a:noFill/>
          <a:ln>
            <a:noFill/>
          </a:ln>
        </p:spPr>
        <p:txBody>
          <a:bodyPr spcFirstLastPara="1" wrap="square" lIns="91425" tIns="45700" rIns="91425" bIns="45700" anchor="t" anchorCtr="0">
            <a:noAutofit/>
          </a:bodyPr>
          <a:lstStyle/>
          <a:p>
            <a:pPr marL="357188" indent="-357188">
              <a:spcAft>
                <a:spcPts val="0"/>
              </a:spcAft>
            </a:pPr>
            <a:r>
              <a:rPr lang="en-US" sz="2000" dirty="0"/>
              <a:t>A/F sensors cannot be tested in the same way as an O</a:t>
            </a:r>
            <a:r>
              <a:rPr lang="en-US" sz="2000" baseline="-25000" dirty="0"/>
              <a:t>2</a:t>
            </a:r>
            <a:r>
              <a:rPr lang="en-US" sz="2000" dirty="0"/>
              <a:t>S.</a:t>
            </a:r>
          </a:p>
          <a:p>
            <a:pPr marL="357188" indent="-357188">
              <a:spcAft>
                <a:spcPts val="0"/>
              </a:spcAft>
            </a:pPr>
            <a:r>
              <a:rPr lang="en-US" sz="2000" dirty="0"/>
              <a:t>The A/F sensor has two signal wires.</a:t>
            </a:r>
          </a:p>
          <a:p>
            <a:pPr marL="357188" indent="-357188">
              <a:spcAft>
                <a:spcPts val="0"/>
              </a:spcAft>
            </a:pPr>
            <a:r>
              <a:rPr lang="en-US" sz="2000" dirty="0"/>
              <a:t>The PCM supplies 3 volts to one wire and 3.3 volts to the other.</a:t>
            </a:r>
          </a:p>
          <a:p>
            <a:pPr marL="357188" indent="-357188">
              <a:spcAft>
                <a:spcPts val="0"/>
              </a:spcAft>
            </a:pPr>
            <a:r>
              <a:rPr lang="en-US" sz="2000" dirty="0"/>
              <a:t>If a voltmeter is connected across these two wires, the difference in potential will be measured.</a:t>
            </a:r>
          </a:p>
          <a:p>
            <a:pPr marL="357188" indent="-357188">
              <a:spcAft>
                <a:spcPts val="0"/>
              </a:spcAft>
            </a:pPr>
            <a:r>
              <a:rPr lang="en-US" sz="2000" dirty="0"/>
              <a:t>This reading has no meaning because the 0.3-volt difference will always be there regardless of the oxygen content.</a:t>
            </a:r>
          </a:p>
          <a:p>
            <a:pPr marL="357188" indent="-357188">
              <a:spcAft>
                <a:spcPts val="0"/>
              </a:spcAft>
            </a:pPr>
            <a:r>
              <a:rPr lang="en-US" sz="2000" dirty="0"/>
              <a:t>The heater circuit can be checked with a voltmeter, and the heater can be checked with an ohmmeter.</a:t>
            </a:r>
            <a:endParaRPr lang="en-US" sz="1500" dirty="0"/>
          </a:p>
        </p:txBody>
      </p:sp>
      <p:pic>
        <p:nvPicPr>
          <p:cNvPr id="8" name="Picture Placeholder 7" descr="A screenshot with the output of Wide-band sensors. The wave, labeled as B 1 S 1 wide band O 2 sensor 2 current: negative 0.75, flows constantly with small deviations. The wave, labeled as B 2 S 1 wide band O2 sensor 2 current: negative 0.59, flows constantly with small deviations. The wave, labeled as engine R P M: 744.00, shows an irregular step wave. The wave, labeled as air flow rate from mass air flow sensor: 0.75, flows constantly with two irregular square waves far from each other.">
            <a:extLst>
              <a:ext uri="{FF2B5EF4-FFF2-40B4-BE49-F238E27FC236}">
                <a16:creationId xmlns:a16="http://schemas.microsoft.com/office/drawing/2014/main" id="{1ACD469C-B1FF-800C-2B4E-E91906CF572B}"/>
              </a:ext>
            </a:extLst>
          </p:cNvPr>
          <p:cNvPicPr>
            <a:picLocks noGrp="1" noChangeAspect="1"/>
          </p:cNvPicPr>
          <p:nvPr>
            <p:ph type="pic" sz="quarter" idx="12"/>
          </p:nvPr>
        </p:nvPicPr>
        <p:blipFill rotWithShape="1">
          <a:blip r:embed="rId3"/>
          <a:srcRect b="9199"/>
          <a:stretch/>
        </p:blipFill>
        <p:spPr>
          <a:xfrm>
            <a:off x="7274430" y="2189924"/>
            <a:ext cx="4792658" cy="2521775"/>
          </a:xfrm>
          <a:prstGeom prst="rect">
            <a:avLst/>
          </a:prstGeom>
        </p:spPr>
      </p:pic>
    </p:spTree>
    <p:extLst>
      <p:ext uri="{BB962C8B-B14F-4D97-AF65-F5344CB8AC3E}">
        <p14:creationId xmlns:p14="http://schemas.microsoft.com/office/powerpoint/2010/main" val="3745614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lvl="0" indent="-358775" algn="l" rtl="0">
              <a:lnSpc>
                <a:spcPct val="100000"/>
              </a:lnSpc>
              <a:buSzPts val="2400"/>
              <a:buChar char="•"/>
            </a:pPr>
            <a:r>
              <a:rPr lang="en-US" dirty="0"/>
              <a:t>Oxygen sensors are not effective at measuring exhaust oxygen content until warped up.</a:t>
            </a:r>
            <a:endParaRPr dirty="0"/>
          </a:p>
          <a:p>
            <a:pPr marL="358775" lvl="0" indent="-358775" algn="l" rtl="0">
              <a:lnSpc>
                <a:spcPct val="100000"/>
              </a:lnSpc>
              <a:buSzPts val="2400"/>
              <a:buChar char="•"/>
            </a:pPr>
            <a:r>
              <a:rPr lang="en-US" dirty="0"/>
              <a:t>Have a class discussion about what temperature needs to be reached, how the temperature is reached, and what happens once the sensor is warmed up.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Position Sensors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buSzPts val="2800"/>
              <a:buNone/>
            </a:pPr>
            <a:r>
              <a:rPr lang="en-US" sz="2000" b="1" dirty="0">
                <a:solidFill>
                  <a:schemeClr val="tx1"/>
                </a:solidFill>
              </a:rPr>
              <a:t>25.06 Test and diagnose variable resistance-type input sensors.</a:t>
            </a:r>
          </a:p>
          <a:p>
            <a:pPr marL="342900" indent="-342900"/>
            <a:r>
              <a:rPr lang="en-US" sz="2000" dirty="0">
                <a:solidFill>
                  <a:schemeClr val="tx1"/>
                </a:solidFill>
              </a:rPr>
              <a:t>Position sensors are used to monitor the position of something from totally closed to totally open positions.</a:t>
            </a:r>
          </a:p>
          <a:p>
            <a:pPr marL="342900" indent="-342900"/>
            <a:r>
              <a:rPr lang="en-US" sz="2000" dirty="0">
                <a:solidFill>
                  <a:schemeClr val="tx1"/>
                </a:solidFill>
              </a:rPr>
              <a:t>They are basically potentiometers.</a:t>
            </a:r>
          </a:p>
          <a:p>
            <a:pPr marL="342900" indent="-342900"/>
            <a:r>
              <a:rPr lang="en-US" sz="2000" dirty="0">
                <a:solidFill>
                  <a:schemeClr val="tx1"/>
                </a:solidFill>
              </a:rPr>
              <a:t>A wiper arm is connected to a moving part on one end, and the other end is in contact with a resistor; the resistor is supplied with a reference voltage.</a:t>
            </a:r>
          </a:p>
          <a:p>
            <a:pPr marL="342900" indent="-342900"/>
            <a:r>
              <a:rPr lang="en-US" sz="2000" dirty="0">
                <a:solidFill>
                  <a:schemeClr val="tx1"/>
                </a:solidFill>
              </a:rPr>
              <a:t>As the part moves, so does the wiper arm.</a:t>
            </a:r>
          </a:p>
          <a:p>
            <a:pPr marL="342900" indent="-342900"/>
            <a:r>
              <a:rPr lang="en-US" sz="2000" dirty="0">
                <a:solidFill>
                  <a:schemeClr val="tx1"/>
                </a:solidFill>
              </a:rPr>
              <a:t>As the wiper arm moves on the resistor, the voltage changes and the available voltage at the point where the wiper arm contacts the resistor is the signal voltage sent to the PCM.</a:t>
            </a:r>
          </a:p>
          <a:p>
            <a:pPr marL="342900" indent="-342900"/>
            <a:r>
              <a:rPr lang="en-US" sz="2000" dirty="0">
                <a:solidFill>
                  <a:schemeClr val="tx1"/>
                </a:solidFill>
              </a:rPr>
              <a:t>The PCM then interprets the part’s position according to the voltage.</a:t>
            </a:r>
            <a:endParaRPr lang="en-US" sz="2000" b="1" dirty="0">
              <a:solidFill>
                <a:schemeClr val="tx1"/>
              </a:solidFill>
            </a:endParaRPr>
          </a:p>
        </p:txBody>
      </p:sp>
    </p:spTree>
    <p:extLst>
      <p:ext uri="{BB962C8B-B14F-4D97-AF65-F5344CB8AC3E}">
        <p14:creationId xmlns:p14="http://schemas.microsoft.com/office/powerpoint/2010/main" val="8402386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Position Sensors </a:t>
            </a:r>
            <a:endParaRPr sz="3600" dirty="0"/>
          </a:p>
        </p:txBody>
      </p:sp>
      <p:sp>
        <p:nvSpPr>
          <p:cNvPr id="145" name="Google Shape;145;p4"/>
          <p:cNvSpPr txBox="1">
            <a:spLocks noGrp="1"/>
          </p:cNvSpPr>
          <p:nvPr>
            <p:ph type="body" idx="1"/>
          </p:nvPr>
        </p:nvSpPr>
        <p:spPr>
          <a:xfrm>
            <a:off x="476843" y="1480499"/>
            <a:ext cx="11241915" cy="4994442"/>
          </a:xfrm>
          <a:prstGeom prst="rect">
            <a:avLst/>
          </a:prstGeom>
          <a:noFill/>
          <a:ln>
            <a:noFill/>
          </a:ln>
        </p:spPr>
        <p:txBody>
          <a:bodyPr spcFirstLastPara="1" wrap="square" lIns="91425" tIns="45700" rIns="91425" bIns="45700" anchor="t" anchorCtr="0">
            <a:noAutofit/>
          </a:bodyPr>
          <a:lstStyle/>
          <a:p>
            <a:pPr marL="0" indent="0">
              <a:lnSpc>
                <a:spcPct val="107000"/>
              </a:lnSpc>
              <a:spcBef>
                <a:spcPts val="0"/>
              </a:spcBef>
              <a:spcAft>
                <a:spcPts val="600"/>
              </a:spcAft>
              <a:buSzPts val="2800"/>
              <a:buNone/>
            </a:pPr>
            <a:r>
              <a:rPr lang="en-US" sz="1800" b="1" dirty="0"/>
              <a:t>25.06 Test and diagnose variable resistance-type input sensors.</a:t>
            </a:r>
            <a:endParaRPr lang="en-US" sz="1800" dirty="0"/>
          </a:p>
          <a:p>
            <a:pPr marL="357188" indent="-357188">
              <a:spcBef>
                <a:spcPts val="624"/>
              </a:spcBef>
              <a:spcAft>
                <a:spcPts val="600"/>
              </a:spcAft>
              <a:buSzPct val="100000"/>
            </a:pPr>
            <a:r>
              <a:rPr lang="en-US" sz="1800" dirty="0"/>
              <a:t>Reference Voltage Sensors</a:t>
            </a:r>
          </a:p>
          <a:p>
            <a:pPr marL="357188" indent="-357188">
              <a:spcBef>
                <a:spcPts val="624"/>
              </a:spcBef>
              <a:spcAft>
                <a:spcPts val="600"/>
              </a:spcAft>
              <a:buSzPct val="100000"/>
            </a:pPr>
            <a:r>
              <a:rPr lang="en-US" sz="1800" dirty="0"/>
              <a:t>To get an exact look at what is happening in a system, the computer sends a constant, predetermined voltage signal to a sensor. The sensor reacts to operating conditions and sends a voltage signal back to the computer. This type of sensor is called a </a:t>
            </a:r>
            <a:r>
              <a:rPr lang="en-US" sz="1800" b="1" dirty="0"/>
              <a:t>reference voltage (</a:t>
            </a:r>
            <a:r>
              <a:rPr lang="en-US" sz="1800" b="1" dirty="0" err="1"/>
              <a:t>Vref</a:t>
            </a:r>
            <a:r>
              <a:rPr lang="en-US" sz="1800" b="1" dirty="0"/>
              <a:t>) sensor</a:t>
            </a:r>
            <a:r>
              <a:rPr lang="en-US" sz="1800" dirty="0"/>
              <a:t>. The voltage sent out by the computer is called the reference voltage and normally has a value of 5 to 9 volts. The reference voltage is sent out to a sensor through a reference voltage regulator in the computer. The regulator keeps the reference voltage at a predetermined value. Because the computer knows that a certain voltage value has been sent out, it can indirectly interpret things like motion, temperature, and component position, based on what comes back. Most reference voltage sensors are variable resistors or potentiometers. They modify the reference voltage and the return voltage represents a condition. The computer will use the return voltage to calculate the condition and order changes to system operation, if necessary</a:t>
            </a:r>
          </a:p>
        </p:txBody>
      </p:sp>
    </p:spTree>
    <p:extLst>
      <p:ext uri="{BB962C8B-B14F-4D97-AF65-F5344CB8AC3E}">
        <p14:creationId xmlns:p14="http://schemas.microsoft.com/office/powerpoint/2010/main" val="10253015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Throttle Position (TP) Sensor </a:t>
            </a:r>
            <a:endParaRPr sz="3600" dirty="0"/>
          </a:p>
        </p:txBody>
      </p:sp>
      <p:pic>
        <p:nvPicPr>
          <p:cNvPr id="8" name="Picture Placeholder 7" descr="An illustration of the basic circuit for a T P sensor. T P sensor has four terminals and P C M has four terminals. The first terminal of T P sensor is interconnected to the fourth terminal of T P sensor through a variable resistor. The signal from the second terminal of T P sensor passes to the resistor. An idle switch is between the third and fourth terminals of T P sensor. 5 V reference voltage flows from the first terminal of P C M to the first terminal of T P sensor. Signal flows between the second terminal of T P sensor and the second terminal of P C M. The second terminal of P C M is connected to two resistors. One of the resistors and the fourth terminal of P C M are together connected to a ground state. The third terminal of P C M is connected to a diode, which is further connected to two resistors. One of the resistors is further connected to a Positive B terminal. The third terminal of T P sensor is connected to the third terminal of P C M and the fourth terminal of T P sensor is connected to the fourth terminal of P C M.">
            <a:extLst>
              <a:ext uri="{FF2B5EF4-FFF2-40B4-BE49-F238E27FC236}">
                <a16:creationId xmlns:a16="http://schemas.microsoft.com/office/drawing/2014/main" id="{363E263A-0F71-454B-EAD1-3D2C3F07CD97}"/>
              </a:ext>
            </a:extLst>
          </p:cNvPr>
          <p:cNvPicPr>
            <a:picLocks noGrp="1" noChangeAspect="1"/>
          </p:cNvPicPr>
          <p:nvPr>
            <p:ph type="pic" sz="quarter" idx="12"/>
          </p:nvPr>
        </p:nvPicPr>
        <p:blipFill rotWithShape="1">
          <a:blip r:embed="rId3"/>
          <a:srcRect b="11105"/>
          <a:stretch/>
        </p:blipFill>
        <p:spPr>
          <a:xfrm>
            <a:off x="623767" y="1938169"/>
            <a:ext cx="3684272" cy="2421708"/>
          </a:xfrm>
          <a:prstGeom prst="rect">
            <a:avLst/>
          </a:prstGeom>
        </p:spPr>
      </p:pic>
      <p:sp>
        <p:nvSpPr>
          <p:cNvPr id="145" name="Google Shape;145;p4"/>
          <p:cNvSpPr txBox="1">
            <a:spLocks noGrp="1"/>
          </p:cNvSpPr>
          <p:nvPr>
            <p:ph type="body" idx="1"/>
          </p:nvPr>
        </p:nvSpPr>
        <p:spPr>
          <a:xfrm>
            <a:off x="4683211" y="1480499"/>
            <a:ext cx="7035547" cy="4611381"/>
          </a:xfrm>
          <a:prstGeom prst="rect">
            <a:avLst/>
          </a:prstGeom>
          <a:noFill/>
          <a:ln>
            <a:noFill/>
          </a:ln>
        </p:spPr>
        <p:txBody>
          <a:bodyPr spcFirstLastPara="1" wrap="square" lIns="91425" tIns="45700" rIns="91425" bIns="45700" anchor="t" anchorCtr="0">
            <a:noAutofit/>
          </a:bodyPr>
          <a:lstStyle/>
          <a:p>
            <a:pPr marL="357188" indent="-357188"/>
            <a:r>
              <a:rPr lang="en-US" sz="2000" dirty="0">
                <a:solidFill>
                  <a:schemeClr val="tx1"/>
                </a:solidFill>
              </a:rPr>
              <a:t>Throttle position (TP) sensors send a signal to the PCM regarding the rate of throttle opening and the relative throttle position.</a:t>
            </a:r>
          </a:p>
          <a:p>
            <a:pPr marL="357188" indent="-357188"/>
            <a:r>
              <a:rPr lang="en-US" sz="2000" dirty="0">
                <a:solidFill>
                  <a:schemeClr val="tx1"/>
                </a:solidFill>
              </a:rPr>
              <a:t>The wiper arm in the sensor is rotated by the throttle shaft .</a:t>
            </a:r>
          </a:p>
          <a:p>
            <a:pPr marL="357188" indent="-357188"/>
            <a:r>
              <a:rPr lang="en-US" sz="2000" dirty="0">
                <a:solidFill>
                  <a:schemeClr val="tx1"/>
                </a:solidFill>
              </a:rPr>
              <a:t>As the throttle shaft moves, the wiper arm moves to a new location on the resistor.</a:t>
            </a:r>
          </a:p>
          <a:p>
            <a:pPr marL="357188" indent="-357188"/>
            <a:r>
              <a:rPr lang="en-US" sz="2000" dirty="0">
                <a:solidFill>
                  <a:schemeClr val="tx1"/>
                </a:solidFill>
              </a:rPr>
              <a:t>The return voltage signal tells the PCM how much the throttle plates are open.</a:t>
            </a:r>
          </a:p>
          <a:p>
            <a:pPr marL="357188" indent="-357188"/>
            <a:r>
              <a:rPr lang="en-US" sz="2000" dirty="0">
                <a:solidFill>
                  <a:schemeClr val="tx1"/>
                </a:solidFill>
              </a:rPr>
              <a:t>As the signal tells the PCM that the throttle is opening, the PCM enriches the air–fuel mixture to maintain the proper air–fuel ratio.</a:t>
            </a:r>
            <a:endParaRPr lang="en-US" sz="1500" dirty="0">
              <a:solidFill>
                <a:schemeClr val="tx1"/>
              </a:solidFill>
            </a:endParaRPr>
          </a:p>
        </p:txBody>
      </p:sp>
    </p:spTree>
    <p:extLst>
      <p:ext uri="{BB962C8B-B14F-4D97-AF65-F5344CB8AC3E}">
        <p14:creationId xmlns:p14="http://schemas.microsoft.com/office/powerpoint/2010/main" val="27738188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Testing a TP or APP Sensor</a:t>
            </a:r>
            <a:endParaRPr sz="3600" dirty="0"/>
          </a:p>
        </p:txBody>
      </p:sp>
      <p:pic>
        <p:nvPicPr>
          <p:cNvPr id="8" name="Picture Placeholder 7" descr="A technician loosens the mounting screws of a T P sensor, with the help of a screwdriver.">
            <a:extLst>
              <a:ext uri="{FF2B5EF4-FFF2-40B4-BE49-F238E27FC236}">
                <a16:creationId xmlns:a16="http://schemas.microsoft.com/office/drawing/2014/main" id="{18263C97-C3CA-B3B9-00B8-5D662CFDA94C}"/>
              </a:ext>
            </a:extLst>
          </p:cNvPr>
          <p:cNvPicPr>
            <a:picLocks noGrp="1" noChangeAspect="1"/>
          </p:cNvPicPr>
          <p:nvPr>
            <p:ph type="pic" sz="quarter" idx="12"/>
          </p:nvPr>
        </p:nvPicPr>
        <p:blipFill rotWithShape="1">
          <a:blip r:embed="rId3"/>
          <a:srcRect l="8591" b="14883"/>
          <a:stretch/>
        </p:blipFill>
        <p:spPr>
          <a:xfrm>
            <a:off x="647700" y="2087692"/>
            <a:ext cx="4029136" cy="2204908"/>
          </a:xfrm>
          <a:prstGeom prst="rect">
            <a:avLst/>
          </a:prstGeom>
        </p:spPr>
      </p:pic>
      <p:sp>
        <p:nvSpPr>
          <p:cNvPr id="145" name="Google Shape;145;p4"/>
          <p:cNvSpPr txBox="1">
            <a:spLocks noGrp="1"/>
          </p:cNvSpPr>
          <p:nvPr>
            <p:ph type="body" idx="1"/>
          </p:nvPr>
        </p:nvSpPr>
        <p:spPr>
          <a:xfrm>
            <a:off x="4782065" y="1480499"/>
            <a:ext cx="6936693" cy="4388959"/>
          </a:xfrm>
          <a:prstGeom prst="rect">
            <a:avLst/>
          </a:prstGeom>
          <a:noFill/>
          <a:ln>
            <a:noFill/>
          </a:ln>
        </p:spPr>
        <p:txBody>
          <a:bodyPr spcFirstLastPara="1" wrap="square" lIns="91425" tIns="45700" rIns="91425" bIns="45700" anchor="t" anchorCtr="0">
            <a:noAutofit/>
          </a:bodyPr>
          <a:lstStyle/>
          <a:p>
            <a:pPr marL="357188" indent="-357188"/>
            <a:r>
              <a:rPr lang="en-US" sz="2000" dirty="0"/>
              <a:t>Follow these steps to adjust a typical TP sensor:</a:t>
            </a:r>
          </a:p>
          <a:p>
            <a:pPr marL="715963" lvl="1" indent="-357188"/>
            <a:r>
              <a:rPr lang="en-US" sz="1800" dirty="0" err="1"/>
              <a:t>Backprobe</a:t>
            </a:r>
            <a:r>
              <a:rPr lang="en-US" sz="1800" dirty="0"/>
              <a:t> the TP sensor signal wire and connect a voltmeter from this wire to ground.</a:t>
            </a:r>
          </a:p>
          <a:p>
            <a:pPr marL="715963" lvl="1" indent="-357188"/>
            <a:r>
              <a:rPr lang="en-US" sz="1800" dirty="0"/>
              <a:t>Turn on the ignition switch and observe the voltmeter reading with the throttle in the idle position.</a:t>
            </a:r>
          </a:p>
          <a:p>
            <a:pPr marL="715963" lvl="1" indent="-357188"/>
            <a:r>
              <a:rPr lang="en-US" sz="1800" dirty="0"/>
              <a:t>If the TP sensor does not provide the specified voltage, loosen the TP sensor mounting bolts and move the sensor housing until the specified voltage is indicated on the voltmeter.</a:t>
            </a:r>
          </a:p>
          <a:p>
            <a:pPr marL="715963" lvl="1" indent="-357188"/>
            <a:r>
              <a:rPr lang="en-US" sz="1800" dirty="0"/>
              <a:t>Hold the sensor in this position and tighten the mounting bolts to the specified torque.</a:t>
            </a:r>
            <a:endParaRPr lang="en-US" sz="1400" dirty="0"/>
          </a:p>
        </p:txBody>
      </p:sp>
    </p:spTree>
    <p:extLst>
      <p:ext uri="{BB962C8B-B14F-4D97-AF65-F5344CB8AC3E}">
        <p14:creationId xmlns:p14="http://schemas.microsoft.com/office/powerpoint/2010/main" val="31597199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Position and Speed Sensor Types</a:t>
            </a:r>
            <a:endParaRPr sz="3600" dirty="0"/>
          </a:p>
        </p:txBody>
      </p:sp>
      <p:sp>
        <p:nvSpPr>
          <p:cNvPr id="145" name="Google Shape;145;p4"/>
          <p:cNvSpPr txBox="1">
            <a:spLocks noGrp="1"/>
          </p:cNvSpPr>
          <p:nvPr>
            <p:ph type="body" idx="1"/>
          </p:nvPr>
        </p:nvSpPr>
        <p:spPr>
          <a:xfrm>
            <a:off x="476843" y="1416999"/>
            <a:ext cx="11241915" cy="4759663"/>
          </a:xfrm>
          <a:prstGeom prst="rect">
            <a:avLst/>
          </a:prstGeom>
          <a:noFill/>
          <a:ln>
            <a:noFill/>
          </a:ln>
        </p:spPr>
        <p:txBody>
          <a:bodyPr spcFirstLastPara="1" wrap="square" lIns="91425" tIns="45700" rIns="91425" bIns="45700" anchor="t" anchorCtr="0">
            <a:noAutofit/>
          </a:bodyPr>
          <a:lstStyle/>
          <a:p>
            <a:pPr marL="357188" indent="-357188">
              <a:spcAft>
                <a:spcPts val="400"/>
              </a:spcAft>
            </a:pPr>
            <a:r>
              <a:rPr lang="en-US" sz="2000" dirty="0"/>
              <a:t>Position sensors are used to detect the precise position of something, such as crankshafts and camshafts, while speed sensors measure the rotational speed of something.</a:t>
            </a:r>
          </a:p>
          <a:p>
            <a:pPr marL="357188" indent="-357188">
              <a:spcAft>
                <a:spcPts val="400"/>
              </a:spcAft>
            </a:pPr>
            <a:r>
              <a:rPr lang="en-US" sz="2000" dirty="0"/>
              <a:t>Sometimes, a </a:t>
            </a:r>
            <a:r>
              <a:rPr lang="en-US" sz="2000" dirty="0">
                <a:solidFill>
                  <a:schemeClr val="accent1"/>
                </a:solidFill>
              </a:rPr>
              <a:t>sensor does both, such as with the crankshaft position sensor.</a:t>
            </a:r>
          </a:p>
          <a:p>
            <a:pPr marL="357188" indent="-357188">
              <a:spcAft>
                <a:spcPts val="400"/>
              </a:spcAft>
            </a:pPr>
            <a:r>
              <a:rPr lang="en-US" sz="2000" dirty="0">
                <a:solidFill>
                  <a:schemeClr val="accent1"/>
                </a:solidFill>
              </a:rPr>
              <a:t>The PCM uses these signals in a number of ways, depending on the system.</a:t>
            </a:r>
          </a:p>
          <a:p>
            <a:pPr marL="357188" indent="-357188">
              <a:spcAft>
                <a:spcPts val="400"/>
              </a:spcAft>
            </a:pPr>
            <a:r>
              <a:rPr lang="en-US" sz="2000" dirty="0">
                <a:solidFill>
                  <a:schemeClr val="accent1"/>
                </a:solidFill>
              </a:rPr>
              <a:t>There are three commonly used sensor types: </a:t>
            </a:r>
            <a:r>
              <a:rPr lang="en-US" sz="2000" dirty="0" err="1">
                <a:solidFill>
                  <a:schemeClr val="accent1"/>
                </a:solidFill>
              </a:rPr>
              <a:t>magnetoresistive</a:t>
            </a:r>
            <a:r>
              <a:rPr lang="en-US" sz="2000" dirty="0">
                <a:solidFill>
                  <a:schemeClr val="accent1"/>
                </a:solidFill>
              </a:rPr>
              <a:t> sensors, permanent magnet pulse generators (PM generators), or Hall-effect switches/sensors.</a:t>
            </a:r>
          </a:p>
          <a:p>
            <a:pPr marL="357188" indent="-357188">
              <a:spcAft>
                <a:spcPts val="400"/>
              </a:spcAft>
            </a:pPr>
            <a:r>
              <a:rPr lang="en-US" sz="2000" dirty="0">
                <a:solidFill>
                  <a:schemeClr val="accent1"/>
                </a:solidFill>
              </a:rPr>
              <a:t>Identifying the type of sensor used in a particular application dictates how the sensor should be tested.</a:t>
            </a:r>
          </a:p>
          <a:p>
            <a:pPr marL="357188" indent="-357188">
              <a:spcAft>
                <a:spcPts val="400"/>
              </a:spcAft>
            </a:pPr>
            <a:r>
              <a:rPr lang="en-US" sz="2000" b="1" dirty="0" err="1">
                <a:solidFill>
                  <a:schemeClr val="accent1"/>
                </a:solidFill>
              </a:rPr>
              <a:t>Magnetoresistive</a:t>
            </a:r>
            <a:r>
              <a:rPr lang="en-US" sz="2000" b="1" dirty="0">
                <a:solidFill>
                  <a:schemeClr val="accent1"/>
                </a:solidFill>
              </a:rPr>
              <a:t> (MR) sensors </a:t>
            </a:r>
            <a:r>
              <a:rPr lang="en-US" sz="2000" dirty="0">
                <a:solidFill>
                  <a:schemeClr val="accent1"/>
                </a:solidFill>
              </a:rPr>
              <a:t>and PM generators are similar in appearance, to magnetic pulse generators, each having only two wires, but differ in operation. MR sensors have two wires, one for reference voltage supplied to the sensor and the other is a signal return wire.</a:t>
            </a:r>
            <a:endParaRPr lang="en-US" sz="1400" dirty="0">
              <a:solidFill>
                <a:schemeClr val="accent1"/>
              </a:solidFill>
            </a:endParaRPr>
          </a:p>
        </p:txBody>
      </p:sp>
    </p:spTree>
    <p:extLst>
      <p:ext uri="{BB962C8B-B14F-4D97-AF65-F5344CB8AC3E}">
        <p14:creationId xmlns:p14="http://schemas.microsoft.com/office/powerpoint/2010/main" val="11236497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Crankshaft Position (CKP) Sensor</a:t>
            </a:r>
            <a:endParaRPr sz="3600" dirty="0"/>
          </a:p>
        </p:txBody>
      </p:sp>
      <p:sp>
        <p:nvSpPr>
          <p:cNvPr id="145" name="Google Shape;145;p4"/>
          <p:cNvSpPr txBox="1">
            <a:spLocks noGrp="1"/>
          </p:cNvSpPr>
          <p:nvPr>
            <p:ph type="body" idx="1"/>
          </p:nvPr>
        </p:nvSpPr>
        <p:spPr>
          <a:xfrm>
            <a:off x="476844" y="1480499"/>
            <a:ext cx="7011352" cy="4636096"/>
          </a:xfrm>
          <a:prstGeom prst="rect">
            <a:avLst/>
          </a:prstGeom>
          <a:noFill/>
          <a:ln>
            <a:noFill/>
          </a:ln>
        </p:spPr>
        <p:txBody>
          <a:bodyPr spcFirstLastPara="1" wrap="square" lIns="91425" tIns="45700" rIns="91425" bIns="45700" anchor="t" anchorCtr="0">
            <a:noAutofit/>
          </a:bodyPr>
          <a:lstStyle/>
          <a:p>
            <a:pPr marL="357188" indent="-357188">
              <a:lnSpc>
                <a:spcPct val="107000"/>
              </a:lnSpc>
              <a:spcBef>
                <a:spcPts val="0"/>
              </a:spcBef>
            </a:pPr>
            <a:r>
              <a:rPr lang="en-US" sz="2200" dirty="0"/>
              <a:t>The rotor for a </a:t>
            </a:r>
            <a:r>
              <a:rPr lang="en-US" sz="2200" b="1" dirty="0"/>
              <a:t>crankshaft position (CKP) sensor </a:t>
            </a:r>
            <a:r>
              <a:rPr lang="en-US" sz="2200" dirty="0"/>
              <a:t>has several teeth (the number varies with application) equally spaced around the outside of the rotor.</a:t>
            </a:r>
          </a:p>
          <a:p>
            <a:pPr marL="357188" indent="-357188">
              <a:lnSpc>
                <a:spcPct val="107000"/>
              </a:lnSpc>
              <a:spcBef>
                <a:spcPts val="0"/>
              </a:spcBef>
            </a:pPr>
            <a:r>
              <a:rPr lang="en-US" sz="2200" dirty="0"/>
              <a:t>One or more teeth are missing at fixed locations.</a:t>
            </a:r>
          </a:p>
          <a:p>
            <a:pPr marL="357188" indent="-357188">
              <a:lnSpc>
                <a:spcPct val="107000"/>
              </a:lnSpc>
              <a:spcBef>
                <a:spcPts val="0"/>
              </a:spcBef>
            </a:pPr>
            <a:r>
              <a:rPr lang="en-US" sz="2200" dirty="0"/>
              <a:t>These missing teeth provide a reference point for the PCM to determine crankshaft position.</a:t>
            </a:r>
          </a:p>
          <a:p>
            <a:pPr marL="357188" indent="-357188">
              <a:lnSpc>
                <a:spcPct val="107000"/>
              </a:lnSpc>
              <a:spcBef>
                <a:spcPts val="0"/>
              </a:spcBef>
            </a:pPr>
            <a:r>
              <a:rPr lang="en-US" sz="2200" dirty="0"/>
              <a:t>Input from the CKP is critical to the operation of the ignition system.</a:t>
            </a:r>
          </a:p>
          <a:p>
            <a:pPr marL="357188" indent="-357188">
              <a:lnSpc>
                <a:spcPct val="107000"/>
              </a:lnSpc>
              <a:spcBef>
                <a:spcPts val="0"/>
              </a:spcBef>
            </a:pPr>
            <a:r>
              <a:rPr lang="en-US" sz="2200" dirty="0"/>
              <a:t>This input is also used by the PCM to help determine if a misfire has occurred.</a:t>
            </a:r>
          </a:p>
        </p:txBody>
      </p:sp>
      <p:pic>
        <p:nvPicPr>
          <p:cNvPr id="8" name="Picture Placeholder 7" descr="Two illustrations (a and b). The first illustration depicts sensor activity monitoring crankshaft speed and position with the parts labeled are as follows: crankshaft pulse ring and crankshaft position sensor. The second illustration depicts a crankshaft wheel (reluctor) with one missing tooth rotating in a clockwise reaction. The result of scope for the crankshaft wheel with one missing tooth shows triangular waves with a deviation in a particular triangle.">
            <a:extLst>
              <a:ext uri="{FF2B5EF4-FFF2-40B4-BE49-F238E27FC236}">
                <a16:creationId xmlns:a16="http://schemas.microsoft.com/office/drawing/2014/main" id="{4D15A744-AD4C-6972-8AB2-3CBEA7C82372}"/>
              </a:ext>
            </a:extLst>
          </p:cNvPr>
          <p:cNvPicPr>
            <a:picLocks noGrp="1" noChangeAspect="1"/>
          </p:cNvPicPr>
          <p:nvPr>
            <p:ph type="pic" sz="quarter" idx="12"/>
          </p:nvPr>
        </p:nvPicPr>
        <p:blipFill rotWithShape="1">
          <a:blip r:embed="rId3"/>
          <a:srcRect b="17719"/>
          <a:stretch/>
        </p:blipFill>
        <p:spPr>
          <a:xfrm>
            <a:off x="7614156" y="2657974"/>
            <a:ext cx="4234944" cy="1629821"/>
          </a:xfrm>
          <a:prstGeom prst="rect">
            <a:avLst/>
          </a:prstGeom>
        </p:spPr>
      </p:pic>
    </p:spTree>
    <p:extLst>
      <p:ext uri="{BB962C8B-B14F-4D97-AF65-F5344CB8AC3E}">
        <p14:creationId xmlns:p14="http://schemas.microsoft.com/office/powerpoint/2010/main" val="4198075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Camshaft Position (CMP) Sensors</a:t>
            </a:r>
            <a:endParaRPr sz="3600" dirty="0"/>
          </a:p>
        </p:txBody>
      </p:sp>
      <p:sp>
        <p:nvSpPr>
          <p:cNvPr id="145" name="Google Shape;145;p4"/>
          <p:cNvSpPr txBox="1">
            <a:spLocks noGrp="1"/>
          </p:cNvSpPr>
          <p:nvPr>
            <p:ph type="body" idx="1"/>
          </p:nvPr>
        </p:nvSpPr>
        <p:spPr>
          <a:xfrm>
            <a:off x="476843" y="1429700"/>
            <a:ext cx="7232057" cy="4697878"/>
          </a:xfrm>
          <a:prstGeom prst="rect">
            <a:avLst/>
          </a:prstGeom>
          <a:noFill/>
          <a:ln>
            <a:noFill/>
          </a:ln>
        </p:spPr>
        <p:txBody>
          <a:bodyPr spcFirstLastPara="1" wrap="square" lIns="91425" tIns="45700" rIns="91425" bIns="45700" anchor="t" anchorCtr="0">
            <a:noAutofit/>
          </a:bodyPr>
          <a:lstStyle/>
          <a:p>
            <a:pPr marL="357188" indent="-357188">
              <a:spcAft>
                <a:spcPts val="400"/>
              </a:spcAft>
            </a:pPr>
            <a:r>
              <a:rPr lang="en-US" sz="2000" dirty="0"/>
              <a:t>The camshaft position (CMP) sensors monitor the position of the camshafts.</a:t>
            </a:r>
          </a:p>
          <a:p>
            <a:pPr marL="357188" indent="-357188">
              <a:spcAft>
                <a:spcPts val="400"/>
              </a:spcAft>
            </a:pPr>
            <a:r>
              <a:rPr lang="en-US" sz="2000" dirty="0"/>
              <a:t>The CMP’s output is used with the CKP to determine when cylinder number 1 is on its compression stroke.</a:t>
            </a:r>
          </a:p>
          <a:p>
            <a:pPr marL="357188" indent="-357188">
              <a:spcAft>
                <a:spcPts val="400"/>
              </a:spcAft>
            </a:pPr>
            <a:r>
              <a:rPr lang="en-US" sz="2000" dirty="0"/>
              <a:t>This information is used for control of the fuel injection, direct ignition, and variable valve timing systems.</a:t>
            </a:r>
          </a:p>
          <a:p>
            <a:pPr marL="357188" indent="-357188">
              <a:spcAft>
                <a:spcPts val="400"/>
              </a:spcAft>
            </a:pPr>
            <a:r>
              <a:rPr lang="en-US" sz="2000" dirty="0"/>
              <a:t>Engines with variable valve timing typically have two CMPs, one for each engine bank.</a:t>
            </a:r>
          </a:p>
          <a:p>
            <a:pPr marL="357188" indent="-357188">
              <a:spcAft>
                <a:spcPts val="400"/>
              </a:spcAft>
            </a:pPr>
            <a:r>
              <a:rPr lang="en-US" sz="2000" dirty="0"/>
              <a:t>On some engines, a bad CMP will prevent the misfire monitor from completing.</a:t>
            </a:r>
          </a:p>
          <a:p>
            <a:pPr marL="357188" indent="-357188">
              <a:spcAft>
                <a:spcPts val="400"/>
              </a:spcAft>
            </a:pPr>
            <a:r>
              <a:rPr lang="en-US" sz="2000" dirty="0"/>
              <a:t>CMP sensors can be magnetic pulse generators or Hall effect.</a:t>
            </a:r>
            <a:endParaRPr lang="en-US" sz="1500" dirty="0"/>
          </a:p>
        </p:txBody>
      </p:sp>
      <p:pic>
        <p:nvPicPr>
          <p:cNvPr id="8" name="Picture Placeholder 7" descr="Camshaft position sensors are mounted to the ends of the intake and exhaust camshafts.">
            <a:extLst>
              <a:ext uri="{FF2B5EF4-FFF2-40B4-BE49-F238E27FC236}">
                <a16:creationId xmlns:a16="http://schemas.microsoft.com/office/drawing/2014/main" id="{6FD8CB98-32DB-7E5A-37EF-C39C77CCAF0E}"/>
              </a:ext>
            </a:extLst>
          </p:cNvPr>
          <p:cNvPicPr>
            <a:picLocks noGrp="1" noChangeAspect="1"/>
          </p:cNvPicPr>
          <p:nvPr>
            <p:ph type="pic" sz="quarter" idx="13"/>
          </p:nvPr>
        </p:nvPicPr>
        <p:blipFill rotWithShape="1">
          <a:blip r:embed="rId3"/>
          <a:srcRect b="10770"/>
          <a:stretch/>
        </p:blipFill>
        <p:spPr>
          <a:xfrm>
            <a:off x="7899204" y="1947666"/>
            <a:ext cx="4093755" cy="3373634"/>
          </a:xfrm>
          <a:prstGeom prst="rect">
            <a:avLst/>
          </a:prstGeom>
        </p:spPr>
      </p:pic>
    </p:spTree>
    <p:extLst>
      <p:ext uri="{BB962C8B-B14F-4D97-AF65-F5344CB8AC3E}">
        <p14:creationId xmlns:p14="http://schemas.microsoft.com/office/powerpoint/2010/main" val="28146200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Knock Sensor (KS)</a:t>
            </a:r>
            <a:endParaRPr sz="3600" dirty="0"/>
          </a:p>
        </p:txBody>
      </p:sp>
      <p:pic>
        <p:nvPicPr>
          <p:cNvPr id="8" name="Picture Placeholder 7" descr="A knock sensor in an engine block converts engine knock vibrations into a voltage signal and is depicted by an arrow pointer.">
            <a:extLst>
              <a:ext uri="{FF2B5EF4-FFF2-40B4-BE49-F238E27FC236}">
                <a16:creationId xmlns:a16="http://schemas.microsoft.com/office/drawing/2014/main" id="{E842512C-D015-8C5D-1066-0F3E3883FFF4}"/>
              </a:ext>
            </a:extLst>
          </p:cNvPr>
          <p:cNvPicPr>
            <a:picLocks noGrp="1" noChangeAspect="1"/>
          </p:cNvPicPr>
          <p:nvPr>
            <p:ph type="pic" sz="quarter" idx="12"/>
          </p:nvPr>
        </p:nvPicPr>
        <p:blipFill rotWithShape="1">
          <a:blip r:embed="rId3"/>
          <a:srcRect b="9041"/>
          <a:stretch/>
        </p:blipFill>
        <p:spPr>
          <a:xfrm>
            <a:off x="592578" y="1929417"/>
            <a:ext cx="4597354" cy="2999166"/>
          </a:xfrm>
          <a:prstGeom prst="rect">
            <a:avLst/>
          </a:prstGeom>
        </p:spPr>
      </p:pic>
      <p:sp>
        <p:nvSpPr>
          <p:cNvPr id="145" name="Google Shape;145;p4"/>
          <p:cNvSpPr txBox="1">
            <a:spLocks noGrp="1"/>
          </p:cNvSpPr>
          <p:nvPr>
            <p:ph type="body" idx="1"/>
          </p:nvPr>
        </p:nvSpPr>
        <p:spPr>
          <a:xfrm>
            <a:off x="5283200" y="1480500"/>
            <a:ext cx="6435558" cy="4623738"/>
          </a:xfrm>
          <a:prstGeom prst="rect">
            <a:avLst/>
          </a:prstGeom>
          <a:noFill/>
          <a:ln>
            <a:noFill/>
          </a:ln>
        </p:spPr>
        <p:txBody>
          <a:bodyPr spcFirstLastPara="1" wrap="square" lIns="91425" tIns="45700" rIns="91425" bIns="45700" anchor="t" anchorCtr="0">
            <a:noAutofit/>
          </a:bodyPr>
          <a:lstStyle/>
          <a:p>
            <a:pPr marL="357188" indent="-357188"/>
            <a:r>
              <a:rPr lang="en-US" sz="2000" dirty="0"/>
              <a:t>The knock sensor (KS) tells the PCM that detonation is occurring in the cylinders. In turn, the computer retards the timing.</a:t>
            </a:r>
          </a:p>
          <a:p>
            <a:pPr marL="357188" indent="-357188"/>
            <a:r>
              <a:rPr lang="en-US" sz="2000" dirty="0"/>
              <a:t>The KS is a piezoelectric device that works like a microphone and converts engine knock vibrations into a voltage signal.</a:t>
            </a:r>
          </a:p>
          <a:p>
            <a:pPr marL="357188" indent="-357188"/>
            <a:r>
              <a:rPr lang="en-US" sz="2000" dirty="0"/>
              <a:t>Piezoelectric devices generate a voltage when pressure or a vibration is applied to them.</a:t>
            </a:r>
          </a:p>
          <a:p>
            <a:pPr marL="357188" indent="-357188"/>
            <a:r>
              <a:rPr lang="en-US" sz="2000" dirty="0"/>
              <a:t>Engine knock typically is within a specific frequency range, and a KS is set to detect vibrations within that range.</a:t>
            </a:r>
          </a:p>
          <a:p>
            <a:pPr marL="357188" indent="-357188"/>
            <a:r>
              <a:rPr lang="en-US" sz="2000" dirty="0"/>
              <a:t>The KS is located in the engine block, cylinder head, or intake manifold.</a:t>
            </a:r>
          </a:p>
        </p:txBody>
      </p:sp>
    </p:spTree>
    <p:extLst>
      <p:ext uri="{BB962C8B-B14F-4D97-AF65-F5344CB8AC3E}">
        <p14:creationId xmlns:p14="http://schemas.microsoft.com/office/powerpoint/2010/main" val="40611630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Vehicle Speed Sensor (VSS)</a:t>
            </a:r>
            <a:endParaRPr sz="3600" dirty="0"/>
          </a:p>
        </p:txBody>
      </p:sp>
      <p:sp>
        <p:nvSpPr>
          <p:cNvPr id="145" name="Google Shape;145;p4"/>
          <p:cNvSpPr txBox="1">
            <a:spLocks noGrp="1"/>
          </p:cNvSpPr>
          <p:nvPr>
            <p:ph type="body" idx="1"/>
          </p:nvPr>
        </p:nvSpPr>
        <p:spPr>
          <a:xfrm>
            <a:off x="476843" y="1429699"/>
            <a:ext cx="8049319" cy="4648451"/>
          </a:xfrm>
          <a:prstGeom prst="rect">
            <a:avLst/>
          </a:prstGeom>
          <a:noFill/>
          <a:ln>
            <a:noFill/>
          </a:ln>
        </p:spPr>
        <p:txBody>
          <a:bodyPr spcFirstLastPara="1" wrap="square" lIns="91425" tIns="45700" rIns="91425" bIns="45700" anchor="t" anchorCtr="0">
            <a:noAutofit/>
          </a:bodyPr>
          <a:lstStyle/>
          <a:p>
            <a:pPr marL="357188" indent="-357188">
              <a:spcAft>
                <a:spcPts val="400"/>
              </a:spcAft>
            </a:pPr>
            <a:r>
              <a:rPr lang="en-US" sz="2000" dirty="0"/>
              <a:t>The most common </a:t>
            </a:r>
            <a:r>
              <a:rPr lang="en-US" sz="2000" b="1" dirty="0"/>
              <a:t>vehicle speed sensor (VSS</a:t>
            </a:r>
            <a:r>
              <a:rPr lang="en-US" sz="2000" dirty="0"/>
              <a:t>) is a magnetic pulse generator (variable reluctance) sensor.</a:t>
            </a:r>
          </a:p>
          <a:p>
            <a:pPr marL="357188" indent="-357188">
              <a:spcAft>
                <a:spcPts val="400"/>
              </a:spcAft>
            </a:pPr>
            <a:r>
              <a:rPr lang="en-US" sz="2000" dirty="0"/>
              <a:t>However, some use a Hall-effect switch.</a:t>
            </a:r>
          </a:p>
          <a:p>
            <a:pPr marL="357188" indent="-357188">
              <a:spcAft>
                <a:spcPts val="400"/>
              </a:spcAft>
            </a:pPr>
            <a:r>
              <a:rPr lang="en-US" sz="2000" dirty="0"/>
              <a:t>A VSS generates a waveform at a frequency that is proportional to the vehicle’s speed.</a:t>
            </a:r>
          </a:p>
          <a:p>
            <a:pPr marL="357188" indent="-357188">
              <a:spcAft>
                <a:spcPts val="400"/>
              </a:spcAft>
            </a:pPr>
            <a:r>
              <a:rPr lang="en-US" sz="2000" dirty="0"/>
              <a:t>When the vehicle is moving at a low speed, the sensor produces a low-frequency signal.</a:t>
            </a:r>
          </a:p>
          <a:p>
            <a:pPr marL="357188" indent="-357188">
              <a:spcAft>
                <a:spcPts val="400"/>
              </a:spcAft>
            </a:pPr>
            <a:r>
              <a:rPr lang="en-US" sz="2000" dirty="0"/>
              <a:t>As vehicle speed increases, so does the frequency of the signal.</a:t>
            </a:r>
          </a:p>
          <a:p>
            <a:pPr marL="357188" indent="-357188">
              <a:spcAft>
                <a:spcPts val="400"/>
              </a:spcAft>
            </a:pPr>
            <a:r>
              <a:rPr lang="en-US" sz="2000" dirty="0"/>
              <a:t>The PCM uses the VSS signal to help control the injection system, ignition system, cruise control, EGR flow, canister purge, transmission shift timing, variable steering, and torque converter clutch lock-up timing.</a:t>
            </a:r>
          </a:p>
        </p:txBody>
      </p:sp>
      <p:pic>
        <p:nvPicPr>
          <p:cNvPr id="8" name="Picture Placeholder 7" descr="Two illustrations. The first illustration has a rotor rotating in a clockwise direction near a magnet. The magnetic north pole is near the rotor and the South Pole is away from the rotor. A coil is rolled around the magnet and two ends of the coil give the output. The second illustration has a vehicle speed sensor with the parts labeled as follows: permanent magnet on the top, coil in between, and yoke at the bottom.">
            <a:extLst>
              <a:ext uri="{FF2B5EF4-FFF2-40B4-BE49-F238E27FC236}">
                <a16:creationId xmlns:a16="http://schemas.microsoft.com/office/drawing/2014/main" id="{AE1E4DA4-CB14-D469-4359-BF95A2C33CF4}"/>
              </a:ext>
            </a:extLst>
          </p:cNvPr>
          <p:cNvPicPr>
            <a:picLocks noGrp="1" noChangeAspect="1"/>
          </p:cNvPicPr>
          <p:nvPr>
            <p:ph type="pic" sz="quarter" idx="13"/>
          </p:nvPr>
        </p:nvPicPr>
        <p:blipFill rotWithShape="1">
          <a:blip r:embed="rId3"/>
          <a:srcRect b="5134"/>
          <a:stretch/>
        </p:blipFill>
        <p:spPr>
          <a:xfrm>
            <a:off x="8654777" y="1598427"/>
            <a:ext cx="3060380" cy="4335189"/>
          </a:xfrm>
          <a:prstGeom prst="rect">
            <a:avLst/>
          </a:prstGeom>
        </p:spPr>
      </p:pic>
    </p:spTree>
    <p:extLst>
      <p:ext uri="{BB962C8B-B14F-4D97-AF65-F5344CB8AC3E}">
        <p14:creationId xmlns:p14="http://schemas.microsoft.com/office/powerpoint/2010/main" val="39620115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Computer Outputs and Actuators</a:t>
            </a:r>
            <a:endParaRPr sz="3600" dirty="0"/>
          </a:p>
        </p:txBody>
      </p:sp>
      <p:pic>
        <p:nvPicPr>
          <p:cNvPr id="8" name="Picture Placeholder 7" descr="An illustration of Output drivers in the computer usually supplying a ground for the actuator solenoids and relays. The ignition module at the bottom is connected to the Underhood fuse box at the top left. The underhood fuse box has an ignition switch and a 20 A component. The Ignition module has several batteries and is grounded at G 110, labeled B positive at the left. Each battery in the ignition module is connected to the grounds individually in the Engine control module in the middle, which is further connected to S 123 through the Fuel injector 1, fuel injector 2, fuel injector, and fuel injector 4, in order from left to right. S 123 module is also connected to the Underhood at the top and the Ignition module at the bottom, at its left end.">
            <a:extLst>
              <a:ext uri="{FF2B5EF4-FFF2-40B4-BE49-F238E27FC236}">
                <a16:creationId xmlns:a16="http://schemas.microsoft.com/office/drawing/2014/main" id="{7626A7B0-5F09-1F00-2018-20D0097340A7}"/>
              </a:ext>
            </a:extLst>
          </p:cNvPr>
          <p:cNvPicPr>
            <a:picLocks noGrp="1" noChangeAspect="1"/>
          </p:cNvPicPr>
          <p:nvPr>
            <p:ph type="pic" sz="quarter" idx="12"/>
          </p:nvPr>
        </p:nvPicPr>
        <p:blipFill rotWithShape="1">
          <a:blip r:embed="rId3"/>
          <a:srcRect b="7041"/>
          <a:stretch/>
        </p:blipFill>
        <p:spPr>
          <a:xfrm>
            <a:off x="372555" y="2146300"/>
            <a:ext cx="4213861" cy="2844800"/>
          </a:xfrm>
          <a:prstGeom prst="rect">
            <a:avLst/>
          </a:prstGeom>
        </p:spPr>
      </p:pic>
      <p:sp>
        <p:nvSpPr>
          <p:cNvPr id="145" name="Google Shape;145;p4"/>
          <p:cNvSpPr txBox="1">
            <a:spLocks noGrp="1"/>
          </p:cNvSpPr>
          <p:nvPr>
            <p:ph type="body" idx="1"/>
          </p:nvPr>
        </p:nvSpPr>
        <p:spPr>
          <a:xfrm>
            <a:off x="4838700" y="1455100"/>
            <a:ext cx="6980745" cy="4623738"/>
          </a:xfrm>
          <a:prstGeom prst="rect">
            <a:avLst/>
          </a:prstGeom>
          <a:noFill/>
          <a:ln>
            <a:noFill/>
          </a:ln>
        </p:spPr>
        <p:txBody>
          <a:bodyPr spcFirstLastPara="1" wrap="square" lIns="91425" tIns="45700" rIns="91425" bIns="45700" anchor="t" anchorCtr="0">
            <a:noAutofit/>
          </a:bodyPr>
          <a:lstStyle/>
          <a:p>
            <a:pPr marL="357188" indent="-357188">
              <a:spcAft>
                <a:spcPts val="0"/>
              </a:spcAft>
            </a:pPr>
            <a:r>
              <a:rPr lang="en-US" sz="2000" dirty="0"/>
              <a:t>Actuators are electromechanical devices that convert an electrical current into mechanical action.</a:t>
            </a:r>
          </a:p>
          <a:p>
            <a:pPr marL="357188" indent="-357188">
              <a:spcAft>
                <a:spcPts val="0"/>
              </a:spcAft>
            </a:pPr>
            <a:r>
              <a:rPr lang="en-US" sz="2000" dirty="0"/>
              <a:t>This mechanical action can then be used to open and close valves, control vacuum to other components, or open and close switches.</a:t>
            </a:r>
          </a:p>
          <a:p>
            <a:pPr marL="357188" indent="-357188">
              <a:spcAft>
                <a:spcPts val="0"/>
              </a:spcAft>
            </a:pPr>
            <a:r>
              <a:rPr lang="en-US" sz="2000" dirty="0"/>
              <a:t>When the PCM receives an input signal indicating a change in one or more of the operating conditions, the PCM determines the best strategy for handling the conditions.</a:t>
            </a:r>
          </a:p>
          <a:p>
            <a:pPr marL="357188" indent="-357188">
              <a:spcAft>
                <a:spcPts val="0"/>
              </a:spcAft>
            </a:pPr>
            <a:r>
              <a:rPr lang="en-US" sz="2000" dirty="0"/>
              <a:t>The PCM then controls a set of actuators to achieve a desired effect or strategy goal.</a:t>
            </a:r>
          </a:p>
          <a:p>
            <a:pPr marL="357188" indent="-357188">
              <a:spcAft>
                <a:spcPts val="0"/>
              </a:spcAft>
            </a:pPr>
            <a:r>
              <a:rPr lang="en-US" sz="2000" dirty="0"/>
              <a:t>In order for the computer to control an actuator, it must rely on a component called an output driver.</a:t>
            </a:r>
            <a:endParaRPr lang="en-US" sz="1600" dirty="0"/>
          </a:p>
        </p:txBody>
      </p:sp>
    </p:spTree>
    <p:extLst>
      <p:ext uri="{BB962C8B-B14F-4D97-AF65-F5344CB8AC3E}">
        <p14:creationId xmlns:p14="http://schemas.microsoft.com/office/powerpoint/2010/main" val="26470926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Electronic Throttle Control</a:t>
            </a:r>
            <a:endParaRPr sz="3600" dirty="0"/>
          </a:p>
        </p:txBody>
      </p:sp>
      <p:sp>
        <p:nvSpPr>
          <p:cNvPr id="145" name="Google Shape;145;p4"/>
          <p:cNvSpPr txBox="1">
            <a:spLocks noGrp="1"/>
          </p:cNvSpPr>
          <p:nvPr>
            <p:ph type="body" idx="1"/>
          </p:nvPr>
        </p:nvSpPr>
        <p:spPr>
          <a:xfrm>
            <a:off x="476843" y="1480500"/>
            <a:ext cx="6998995" cy="4401316"/>
          </a:xfrm>
          <a:prstGeom prst="rect">
            <a:avLst/>
          </a:prstGeom>
          <a:noFill/>
          <a:ln>
            <a:noFill/>
          </a:ln>
        </p:spPr>
        <p:txBody>
          <a:bodyPr spcFirstLastPara="1" wrap="square" lIns="91425" tIns="45700" rIns="91425" bIns="45700" anchor="t" anchorCtr="0">
            <a:noAutofit/>
          </a:bodyPr>
          <a:lstStyle/>
          <a:p>
            <a:pPr marL="357188" indent="-357188"/>
            <a:r>
              <a:rPr lang="en-US" sz="2200" dirty="0">
                <a:solidFill>
                  <a:schemeClr val="tx1"/>
                </a:solidFill>
              </a:rPr>
              <a:t>Like modern aircraft, the acceleration on some late-model vehicles works on the “drive-by-wire” principle, which is typically called electronic throttle control (ETC).</a:t>
            </a:r>
          </a:p>
          <a:p>
            <a:pPr marL="357188" indent="-357188"/>
            <a:r>
              <a:rPr lang="en-US" sz="2200" dirty="0">
                <a:solidFill>
                  <a:schemeClr val="tx1"/>
                </a:solidFill>
              </a:rPr>
              <a:t>ETC interprets gas pedal movement by the driver and allows for precise throttle control, which helps to improve fuel economy and performance while reducing emissions.</a:t>
            </a:r>
          </a:p>
          <a:p>
            <a:pPr marL="357188" indent="-357188"/>
            <a:r>
              <a:rPr lang="en-US" sz="2200" dirty="0">
                <a:solidFill>
                  <a:schemeClr val="tx1"/>
                </a:solidFill>
              </a:rPr>
              <a:t>Instead of a throttle cable and mechanical linkage to the throttle body, the connection is made through wires.</a:t>
            </a:r>
          </a:p>
        </p:txBody>
      </p:sp>
      <p:pic>
        <p:nvPicPr>
          <p:cNvPr id="8" name="Picture Placeholder 7" descr="Two illustrations. The first illustration depicts an electronic throttle control assembly with the parts labeled as follows: E T C assembly (motor and TP sensors), Throttle body, and Throttle plate. The second illustration depicts the electronic connections of P C M with eight terminals. The first and third terminals together connected to a resistor. The second terminal is connected to a variable resistor. The sixth and eighth terminals are together connected to a resistor. The seventh terminal is connected to a variable resistor. The fourth and fifth resistor is connected to a motor which is between the combination of the first three and last three terminals, labeled as TPS 1 and TPS 2, respectively.">
            <a:extLst>
              <a:ext uri="{FF2B5EF4-FFF2-40B4-BE49-F238E27FC236}">
                <a16:creationId xmlns:a16="http://schemas.microsoft.com/office/drawing/2014/main" id="{9F5EA801-7AAB-BBAD-ED4A-547C4BD044F1}"/>
              </a:ext>
            </a:extLst>
          </p:cNvPr>
          <p:cNvPicPr>
            <a:picLocks noGrp="1" noChangeAspect="1"/>
          </p:cNvPicPr>
          <p:nvPr>
            <p:ph type="pic" sz="quarter" idx="13"/>
          </p:nvPr>
        </p:nvPicPr>
        <p:blipFill rotWithShape="1">
          <a:blip r:embed="rId3"/>
          <a:srcRect b="8029"/>
          <a:stretch/>
        </p:blipFill>
        <p:spPr>
          <a:xfrm>
            <a:off x="8030360" y="1591842"/>
            <a:ext cx="3425039" cy="4303584"/>
          </a:xfrm>
          <a:prstGeom prst="rect">
            <a:avLst/>
          </a:prstGeom>
        </p:spPr>
      </p:pic>
    </p:spTree>
    <p:extLst>
      <p:ext uri="{BB962C8B-B14F-4D97-AF65-F5344CB8AC3E}">
        <p14:creationId xmlns:p14="http://schemas.microsoft.com/office/powerpoint/2010/main" val="20818631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Testing Actuators</a:t>
            </a:r>
            <a:endParaRPr sz="3600" dirty="0"/>
          </a:p>
        </p:txBody>
      </p:sp>
      <p:sp>
        <p:nvSpPr>
          <p:cNvPr id="145" name="Google Shape;145;p4"/>
          <p:cNvSpPr txBox="1">
            <a:spLocks noGrp="1"/>
          </p:cNvSpPr>
          <p:nvPr>
            <p:ph type="body" idx="1"/>
          </p:nvPr>
        </p:nvSpPr>
        <p:spPr>
          <a:xfrm>
            <a:off x="476843" y="1357745"/>
            <a:ext cx="6762157" cy="4709424"/>
          </a:xfrm>
          <a:prstGeom prst="rect">
            <a:avLst/>
          </a:prstGeom>
          <a:noFill/>
          <a:ln>
            <a:noFill/>
          </a:ln>
        </p:spPr>
        <p:txBody>
          <a:bodyPr spcFirstLastPara="1" wrap="square" lIns="91425" tIns="45700" rIns="91425" bIns="45700" anchor="t" anchorCtr="0">
            <a:noAutofit/>
          </a:bodyPr>
          <a:lstStyle/>
          <a:p>
            <a:pPr marL="0" indent="0">
              <a:spcAft>
                <a:spcPts val="0"/>
              </a:spcAft>
              <a:buSzPts val="2800"/>
              <a:buNone/>
            </a:pPr>
            <a:r>
              <a:rPr lang="en-US" sz="2000" b="1" dirty="0"/>
              <a:t>25.08 Test and diagnose output devices (actuators).</a:t>
            </a:r>
          </a:p>
          <a:p>
            <a:pPr marL="357188" indent="-357188">
              <a:spcAft>
                <a:spcPts val="0"/>
              </a:spcAft>
            </a:pPr>
            <a:r>
              <a:rPr lang="en-US" sz="2000" dirty="0"/>
              <a:t>Most systems allow for testing the actuator through a scan tool.</a:t>
            </a:r>
          </a:p>
          <a:p>
            <a:pPr marL="357188" indent="-357188">
              <a:spcAft>
                <a:spcPts val="0"/>
              </a:spcAft>
            </a:pPr>
            <a:r>
              <a:rPr lang="en-US" sz="2000" dirty="0"/>
              <a:t>Actuators that are duty cycled by the computer are more accurately diagnosed through this method.</a:t>
            </a:r>
          </a:p>
          <a:p>
            <a:pPr marL="357188" indent="-357188">
              <a:spcAft>
                <a:spcPts val="0"/>
              </a:spcAft>
            </a:pPr>
            <a:r>
              <a:rPr lang="en-US" sz="2000" dirty="0"/>
              <a:t>Prior to diagnosing an actuator, make sure the engine’s compression, ignition system, and intake system are in good condition.</a:t>
            </a:r>
          </a:p>
          <a:p>
            <a:pPr marL="357188" indent="-357188">
              <a:spcAft>
                <a:spcPts val="0"/>
              </a:spcAft>
            </a:pPr>
            <a:r>
              <a:rPr lang="en-US" sz="2000" dirty="0"/>
              <a:t>Serial data can be used to diagnose outputs using a scanner.</a:t>
            </a:r>
          </a:p>
          <a:p>
            <a:pPr marL="357188" indent="-357188">
              <a:spcAft>
                <a:spcPts val="0"/>
              </a:spcAft>
            </a:pPr>
            <a:r>
              <a:rPr lang="en-US" sz="2000" dirty="0"/>
              <a:t>The displayed data should be compared against specifications to determine the condition of any actuator.</a:t>
            </a:r>
            <a:endParaRPr lang="en-US" sz="1500" dirty="0"/>
          </a:p>
        </p:txBody>
      </p:sp>
      <p:pic>
        <p:nvPicPr>
          <p:cNvPr id="8" name="Picture Placeholder 7" descr="A screenshot depicts output control tests. The header reads, Honda/Acura 1983 – 2012. The text reads as follows: Line 1. Functional Test Menu: Line 2. E C M/P C M Reset. Line 3. E G R Test. Line 4. E T C S (T A C) Test. Line 5. Evap System. Line 6. Fuel Pump ON. Line 7. Fuel pump OFF. Line 8. Idle stop starter counter check. Line 9. Injectors – All. Line 10. Injector – one. Line 11. Radiator fan. Line 12. V T E C test (highlighted). Four blank check boxes at the bottom are numbered 1, 2, 3, and 4.">
            <a:extLst>
              <a:ext uri="{FF2B5EF4-FFF2-40B4-BE49-F238E27FC236}">
                <a16:creationId xmlns:a16="http://schemas.microsoft.com/office/drawing/2014/main" id="{70131440-76A3-A088-E196-CD8482E9A757}"/>
              </a:ext>
            </a:extLst>
          </p:cNvPr>
          <p:cNvPicPr>
            <a:picLocks noGrp="1" noChangeAspect="1"/>
          </p:cNvPicPr>
          <p:nvPr>
            <p:ph type="pic" sz="quarter" idx="12"/>
          </p:nvPr>
        </p:nvPicPr>
        <p:blipFill rotWithShape="1">
          <a:blip r:embed="rId3"/>
          <a:srcRect b="8968"/>
          <a:stretch/>
        </p:blipFill>
        <p:spPr>
          <a:xfrm>
            <a:off x="7560317" y="2094060"/>
            <a:ext cx="4454705" cy="3265340"/>
          </a:xfrm>
          <a:prstGeom prst="rect">
            <a:avLst/>
          </a:prstGeom>
        </p:spPr>
      </p:pic>
    </p:spTree>
    <p:extLst>
      <p:ext uri="{BB962C8B-B14F-4D97-AF65-F5344CB8AC3E}">
        <p14:creationId xmlns:p14="http://schemas.microsoft.com/office/powerpoint/2010/main" val="35412393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Testing Actuators with a Lab Scope </a:t>
            </a:r>
            <a:endParaRPr sz="3600" dirty="0"/>
          </a:p>
        </p:txBody>
      </p:sp>
      <p:sp>
        <p:nvSpPr>
          <p:cNvPr id="145" name="Google Shape;145;p4"/>
          <p:cNvSpPr txBox="1">
            <a:spLocks noGrp="1"/>
          </p:cNvSpPr>
          <p:nvPr>
            <p:ph type="body" idx="1"/>
          </p:nvPr>
        </p:nvSpPr>
        <p:spPr>
          <a:xfrm>
            <a:off x="476843" y="1480499"/>
            <a:ext cx="7320957" cy="4611381"/>
          </a:xfrm>
          <a:prstGeom prst="rect">
            <a:avLst/>
          </a:prstGeom>
          <a:noFill/>
          <a:ln>
            <a:noFill/>
          </a:ln>
        </p:spPr>
        <p:txBody>
          <a:bodyPr spcFirstLastPara="1" wrap="square" lIns="91425" tIns="45700" rIns="91425" bIns="45700" anchor="t" anchorCtr="0">
            <a:noAutofit/>
          </a:bodyPr>
          <a:lstStyle/>
          <a:p>
            <a:pPr marL="357188" indent="-357188">
              <a:spcAft>
                <a:spcPts val="0"/>
              </a:spcAft>
            </a:pPr>
            <a:r>
              <a:rPr lang="en-US" sz="2000" dirty="0"/>
              <a:t>When actuators are faulty, it is because they are electrically faulty or mechanically faulty.</a:t>
            </a:r>
          </a:p>
          <a:p>
            <a:pPr marL="357188" indent="-357188">
              <a:spcAft>
                <a:spcPts val="0"/>
              </a:spcAft>
            </a:pPr>
            <a:r>
              <a:rPr lang="en-US" sz="2000" dirty="0"/>
              <a:t>By observing the action of an actuator on a lab scope, you will be able to watch its electrical activity.</a:t>
            </a:r>
          </a:p>
          <a:p>
            <a:pPr marL="357188" indent="-357188">
              <a:spcAft>
                <a:spcPts val="0"/>
              </a:spcAft>
            </a:pPr>
            <a:r>
              <a:rPr lang="en-US" sz="2000" dirty="0"/>
              <a:t>Normally if there is a mechanical fault, this will affect its electrical activity as well.</a:t>
            </a:r>
          </a:p>
          <a:p>
            <a:pPr marL="357188" indent="-357188">
              <a:spcAft>
                <a:spcPts val="0"/>
              </a:spcAft>
            </a:pPr>
            <a:r>
              <a:rPr lang="en-US" sz="2000" dirty="0"/>
              <a:t>Therefore, you get a good sense of the actuator’s condition by watching it on a lab scope.</a:t>
            </a:r>
          </a:p>
          <a:p>
            <a:pPr marL="357188" indent="-357188">
              <a:spcAft>
                <a:spcPts val="0"/>
              </a:spcAft>
            </a:pPr>
            <a:r>
              <a:rPr lang="en-US" sz="2000" dirty="0"/>
              <a:t>To test an actuator, you need to know what it basically is. </a:t>
            </a:r>
          </a:p>
          <a:p>
            <a:pPr marL="357188" indent="-357188">
              <a:spcAft>
                <a:spcPts val="0"/>
              </a:spcAft>
            </a:pPr>
            <a:r>
              <a:rPr lang="en-US" sz="2000" dirty="0"/>
              <a:t>Most actuators are solenoids.</a:t>
            </a:r>
          </a:p>
          <a:p>
            <a:pPr marL="357188" indent="-357188">
              <a:spcAft>
                <a:spcPts val="0"/>
              </a:spcAft>
            </a:pPr>
            <a:r>
              <a:rPr lang="en-US" sz="2000" dirty="0"/>
              <a:t>The computer controls the action of the solenoid by controlling the pulse width of the control signal.</a:t>
            </a:r>
            <a:endParaRPr lang="en-US" sz="1500" dirty="0"/>
          </a:p>
        </p:txBody>
      </p:sp>
      <p:pic>
        <p:nvPicPr>
          <p:cNvPr id="8" name="Picture Placeholder 7" descr="Graph of an oscilloscope trace of a typical solenoid control signal. A waveform is graphed on an equally spaced grid line, on a coordinate plane. The waveform enters the left of the graph in the third quadrant, goes rightward, then goes vertically up, then slopes down and to the right to a point on the horizontal axis, then goes rightward along the horizontal axis. The waveform then goes vertically down, then goes rightward up to a point in the third quadrant, then goes up vertically up to a point in the second quadrant. The waveform then slopes down and to the right to a point on the horizontal axis, then goes rightward, along the horizontal axis. The waveform then proceeds in the same pattern, as it goes rightward, and exits the bottom right of the graph.">
            <a:extLst>
              <a:ext uri="{FF2B5EF4-FFF2-40B4-BE49-F238E27FC236}">
                <a16:creationId xmlns:a16="http://schemas.microsoft.com/office/drawing/2014/main" id="{85C2B423-2053-76BF-F4E1-9FCA0D513FF4}"/>
              </a:ext>
            </a:extLst>
          </p:cNvPr>
          <p:cNvPicPr>
            <a:picLocks noGrp="1" noChangeAspect="1"/>
          </p:cNvPicPr>
          <p:nvPr>
            <p:ph type="pic" sz="quarter" idx="13"/>
          </p:nvPr>
        </p:nvPicPr>
        <p:blipFill rotWithShape="1">
          <a:blip r:embed="rId3"/>
          <a:srcRect b="11253"/>
          <a:stretch/>
        </p:blipFill>
        <p:spPr>
          <a:xfrm>
            <a:off x="7797800" y="2044360"/>
            <a:ext cx="4157067" cy="3188040"/>
          </a:xfrm>
          <a:prstGeom prst="rect">
            <a:avLst/>
          </a:prstGeom>
        </p:spPr>
      </p:pic>
    </p:spTree>
    <p:extLst>
      <p:ext uri="{BB962C8B-B14F-4D97-AF65-F5344CB8AC3E}">
        <p14:creationId xmlns:p14="http://schemas.microsoft.com/office/powerpoint/2010/main" val="20565330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(2 of 2)</a:t>
            </a:r>
            <a:endParaRPr dirty="0"/>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ts val="2800"/>
            </a:pPr>
            <a:r>
              <a:rPr lang="en-US" dirty="0"/>
              <a:t>What is the most common method for testing an actuator?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(2 of 2)</a:t>
            </a:r>
            <a:endParaRPr dirty="0"/>
          </a:p>
        </p:txBody>
      </p:sp>
      <p:sp>
        <p:nvSpPr>
          <p:cNvPr id="2" name="Text Placeholder 1">
            <a:extLst>
              <a:ext uri="{FF2B5EF4-FFF2-40B4-BE49-F238E27FC236}">
                <a16:creationId xmlns:a16="http://schemas.microsoft.com/office/drawing/2014/main" id="{116AFB50-2391-6114-2027-8DEC9E4A785C}"/>
              </a:ext>
            </a:extLst>
          </p:cNvPr>
          <p:cNvSpPr>
            <a:spLocks noGrp="1"/>
          </p:cNvSpPr>
          <p:nvPr>
            <p:ph type="body" idx="1"/>
          </p:nvPr>
        </p:nvSpPr>
        <p:spPr/>
        <p:txBody>
          <a:bodyPr/>
          <a:lstStyle/>
          <a:p>
            <a:pPr marL="358775" lvl="0" indent="-358775">
              <a:buClr>
                <a:srgbClr val="282F7C"/>
              </a:buClr>
              <a:buSzPts val="2400"/>
              <a:defRPr/>
            </a:pPr>
            <a:r>
              <a:rPr lang="en-US" sz="2800" dirty="0"/>
              <a:t>Most systems allow for testing the actuator through a scan tool.</a:t>
            </a:r>
          </a:p>
          <a:p>
            <a:pPr marL="358775" lvl="0" indent="-358775">
              <a:buClr>
                <a:srgbClr val="282F7C"/>
              </a:buClr>
              <a:buSzPts val="2400"/>
              <a:defRPr/>
            </a:pPr>
            <a:r>
              <a:rPr lang="en-US" sz="2800" dirty="0"/>
              <a:t>Actuators that are duty cycled by the computer are more accurately diagnosed through this method.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Repairing the System</a:t>
            </a:r>
            <a:endParaRPr sz="3600" dirty="0"/>
          </a:p>
        </p:txBody>
      </p:sp>
      <p:sp>
        <p:nvSpPr>
          <p:cNvPr id="145" name="Google Shape;145;p4"/>
          <p:cNvSpPr txBox="1">
            <a:spLocks noGrp="1"/>
          </p:cNvSpPr>
          <p:nvPr>
            <p:ph type="body" idx="1"/>
          </p:nvPr>
        </p:nvSpPr>
        <p:spPr>
          <a:xfrm>
            <a:off x="476843" y="1480499"/>
            <a:ext cx="11241915" cy="4697879"/>
          </a:xfrm>
          <a:prstGeom prst="rect">
            <a:avLst/>
          </a:prstGeom>
          <a:noFill/>
          <a:ln>
            <a:noFill/>
          </a:ln>
        </p:spPr>
        <p:txBody>
          <a:bodyPr spcFirstLastPara="1" wrap="square" lIns="91425" tIns="45700" rIns="91425" bIns="45700" anchor="t" anchorCtr="0">
            <a:noAutofit/>
          </a:bodyPr>
          <a:lstStyle/>
          <a:p>
            <a:pPr marL="357188" indent="-357188"/>
            <a:r>
              <a:rPr lang="en-US" sz="1800" dirty="0"/>
              <a:t>After isolating the source of the problem, the repairs should be made.</a:t>
            </a:r>
          </a:p>
          <a:p>
            <a:pPr marL="357188" indent="-357188"/>
            <a:r>
              <a:rPr lang="en-US" sz="1800" dirty="0"/>
              <a:t>The system should then be rechecked to verify that the repair took care of the problem.</a:t>
            </a:r>
          </a:p>
          <a:p>
            <a:pPr marL="357188" indent="-357188"/>
            <a:r>
              <a:rPr lang="en-US" sz="1800" dirty="0"/>
              <a:t>This may involve road testing the vehicle in order to verify that the complaint has been resolved.</a:t>
            </a:r>
          </a:p>
          <a:p>
            <a:pPr marL="357188" indent="-357188"/>
            <a:r>
              <a:rPr lang="en-US" sz="1800" dirty="0"/>
              <a:t>When servicing or repairing OBD II circuits, here are a few of the important guidelines to follow:</a:t>
            </a:r>
          </a:p>
          <a:p>
            <a:pPr marL="715963" lvl="1" indent="-357188"/>
            <a:r>
              <a:rPr lang="en-US" sz="1600" dirty="0"/>
              <a:t>Do not connect aftermarket accessories into an OBD II circuit.</a:t>
            </a:r>
          </a:p>
          <a:p>
            <a:pPr marL="715963" lvl="1" indent="-357188"/>
            <a:r>
              <a:rPr lang="en-US" sz="1600" dirty="0"/>
              <a:t>Do not move or alter grounds from their original locations.</a:t>
            </a:r>
          </a:p>
          <a:p>
            <a:pPr marL="715963" lvl="1" indent="-357188"/>
            <a:r>
              <a:rPr lang="en-US" sz="1600" dirty="0"/>
              <a:t>Always replace a relay in an OBD II circuit with an exact replacement. Damaged relays should be thrown away, not repaired. Make sure all connector locks are in good condition and are in place.</a:t>
            </a:r>
          </a:p>
          <a:p>
            <a:pPr marL="715963" lvl="1" indent="-357188"/>
            <a:r>
              <a:rPr lang="en-US" sz="1600" dirty="0"/>
              <a:t>After repairing connectors or connector terminals, make sure the terminals are properly retained and the connector is sealed.</a:t>
            </a:r>
            <a:endParaRPr lang="en-US" sz="1050" dirty="0"/>
          </a:p>
        </p:txBody>
      </p:sp>
    </p:spTree>
    <p:extLst>
      <p:ext uri="{BB962C8B-B14F-4D97-AF65-F5344CB8AC3E}">
        <p14:creationId xmlns:p14="http://schemas.microsoft.com/office/powerpoint/2010/main" val="25567423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buSzPts val="2800"/>
              <a:buNone/>
            </a:pPr>
            <a:r>
              <a:rPr lang="en-US" dirty="0">
                <a:solidFill>
                  <a:schemeClr val="tx1"/>
                </a:solidFill>
              </a:rPr>
              <a:t>Please take a moment to compare your understanding of detailed diagnosis and sensors. Then respond to the following questions in one or two paragraphs. Use 150–200 words in your reflection.</a:t>
            </a:r>
            <a:endParaRPr dirty="0">
              <a:solidFill>
                <a:schemeClr val="tx1"/>
              </a:solidFill>
            </a:endParaRPr>
          </a:p>
          <a:p>
            <a:pPr marL="360363" lvl="0" indent="-360363" algn="l" rtl="0">
              <a:lnSpc>
                <a:spcPct val="100000"/>
              </a:lnSpc>
              <a:buFont typeface="Arial"/>
              <a:buChar char="•"/>
            </a:pPr>
            <a:r>
              <a:rPr lang="en-US" dirty="0">
                <a:solidFill>
                  <a:schemeClr val="tx1"/>
                </a:solidFill>
              </a:rPr>
              <a:t>Did you feel you struggled to understand any of the sensors in this chapter? Which sensors were the most difficult to understand?</a:t>
            </a:r>
            <a:endParaRPr dirty="0">
              <a:solidFill>
                <a:schemeClr val="tx1"/>
              </a:solidFill>
            </a:endParaRPr>
          </a:p>
          <a:p>
            <a:pPr marL="360363" lvl="0" indent="-360363" algn="l" rtl="0">
              <a:lnSpc>
                <a:spcPct val="100000"/>
              </a:lnSpc>
              <a:buFont typeface="Arial"/>
              <a:buChar char="•"/>
            </a:pPr>
            <a:r>
              <a:rPr lang="en-US" dirty="0">
                <a:solidFill>
                  <a:schemeClr val="tx1"/>
                </a:solidFill>
              </a:rPr>
              <a:t>Considering all you have learned, do you feel prepared to diagnose and repair these systems in the lab or shop? How can you become more prepared?</a:t>
            </a:r>
          </a:p>
        </p:txBody>
      </p:sp>
    </p:spTree>
  </p:cSld>
  <p:clrMapOvr>
    <a:masterClrMapping/>
  </p:clrMapOvr>
</p:sld>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9969</TotalTime>
  <Words>4210</Words>
  <Application>Microsoft Office PowerPoint</Application>
  <PresentationFormat>Widescreen</PresentationFormat>
  <Paragraphs>274</Paragraphs>
  <Slides>42</Slides>
  <Notes>42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Calibri</vt:lpstr>
      <vt:lpstr>Work Sans</vt:lpstr>
      <vt:lpstr>Optimized Template Master</vt:lpstr>
      <vt:lpstr>Automotive Technology: A Systems Approach, 8e</vt:lpstr>
      <vt:lpstr>Chapter Objectives (1 of 2)  </vt:lpstr>
      <vt:lpstr>Chapter Objectives (2 of 2)  </vt:lpstr>
      <vt:lpstr>Using Scan Tool Data</vt:lpstr>
      <vt:lpstr>DTCs and Service Information</vt:lpstr>
      <vt:lpstr>Freeze Frame Data</vt:lpstr>
      <vt:lpstr>Mode $06 Data</vt:lpstr>
      <vt:lpstr>Symptom-Based Diagnosis (1 of 2)</vt:lpstr>
      <vt:lpstr>Symptom-Based Diagnosis (2 of 2)</vt:lpstr>
      <vt:lpstr>Testing Sensors</vt:lpstr>
      <vt:lpstr>Diagnosis of Computer Voltage Supply and Ground Wires</vt:lpstr>
      <vt:lpstr>Switches</vt:lpstr>
      <vt:lpstr>Testing Switches</vt:lpstr>
      <vt:lpstr>Engine Coolant Temperature (ECT) Sensor </vt:lpstr>
      <vt:lpstr>Pressure Sensors</vt:lpstr>
      <vt:lpstr>Knowledge Check (1 of 2)</vt:lpstr>
      <vt:lpstr>Knowledge Check Answer (1 of 2)</vt:lpstr>
      <vt:lpstr>Manifold Absolute Pressure (MAP) Sensor</vt:lpstr>
      <vt:lpstr>Mass Airflow (MAF) Sensors</vt:lpstr>
      <vt:lpstr>Testing a MAF Sensor</vt:lpstr>
      <vt:lpstr>Oxygen Sensors</vt:lpstr>
      <vt:lpstr>Heated Oxygen Sensors</vt:lpstr>
      <vt:lpstr>Checking Oxygen Sensors and Circuits</vt:lpstr>
      <vt:lpstr>Testing Air–Fuel Ratio (A/F) Sensors</vt:lpstr>
      <vt:lpstr>Discussion</vt:lpstr>
      <vt:lpstr>Position Sensors</vt:lpstr>
      <vt:lpstr>Position Sensors </vt:lpstr>
      <vt:lpstr>Throttle Position (TP) Sensor </vt:lpstr>
      <vt:lpstr>Testing a TP or APP Sensor</vt:lpstr>
      <vt:lpstr>Position and Speed Sensor Types</vt:lpstr>
      <vt:lpstr>Crankshaft Position (CKP) Sensor</vt:lpstr>
      <vt:lpstr>Camshaft Position (CMP) Sensors</vt:lpstr>
      <vt:lpstr>Knock Sensor (KS)</vt:lpstr>
      <vt:lpstr>Vehicle Speed Sensor (VSS)</vt:lpstr>
      <vt:lpstr>Computer Outputs and Actuators</vt:lpstr>
      <vt:lpstr>Electronic Throttle Control</vt:lpstr>
      <vt:lpstr>Testing Actuators</vt:lpstr>
      <vt:lpstr>Testing Actuators with a Lab Scope </vt:lpstr>
      <vt:lpstr>Knowledge Check (2 of 2)</vt:lpstr>
      <vt:lpstr>Knowledge Check Answer (2 of 2)</vt:lpstr>
      <vt:lpstr>Repairing the System</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CD</cp:lastModifiedBy>
  <cp:revision>249</cp:revision>
  <dcterms:created xsi:type="dcterms:W3CDTF">2021-12-10T16:21:02Z</dcterms:created>
  <dcterms:modified xsi:type="dcterms:W3CDTF">2024-11-20T13:19:20Z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