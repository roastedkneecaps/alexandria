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403" r:id="rId2"/>
    <p:sldId id="301" r:id="rId3"/>
    <p:sldId id="302" r:id="rId4"/>
    <p:sldId id="404" r:id="rId5"/>
    <p:sldId id="303" r:id="rId6"/>
    <p:sldId id="405" r:id="rId7"/>
    <p:sldId id="406" r:id="rId8"/>
    <p:sldId id="407"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2" r:id="rId23"/>
    <p:sldId id="423" r:id="rId24"/>
    <p:sldId id="424" r:id="rId25"/>
    <p:sldId id="425" r:id="rId26"/>
    <p:sldId id="426" r:id="rId27"/>
    <p:sldId id="427" r:id="rId28"/>
    <p:sldId id="428" r:id="rId29"/>
    <p:sldId id="429" r:id="rId30"/>
    <p:sldId id="430" r:id="rId31"/>
    <p:sldId id="431" r:id="rId32"/>
    <p:sldId id="432" r:id="rId33"/>
    <p:sldId id="433" r:id="rId34"/>
    <p:sldId id="434" r:id="rId35"/>
    <p:sldId id="435" r:id="rId36"/>
    <p:sldId id="436" r:id="rId37"/>
    <p:sldId id="437" r:id="rId38"/>
    <p:sldId id="438" r:id="rId39"/>
    <p:sldId id="439" r:id="rId40"/>
    <p:sldId id="440" r:id="rId41"/>
    <p:sldId id="441" r:id="rId42"/>
    <p:sldId id="442" r:id="rId43"/>
    <p:sldId id="443" r:id="rId44"/>
    <p:sldId id="444" r:id="rId45"/>
    <p:sldId id="445" r:id="rId46"/>
    <p:sldId id="446" r:id="rId47"/>
    <p:sldId id="447" r:id="rId48"/>
  </p:sldIdLst>
  <p:sldSz cx="12192000" cy="6858000"/>
  <p:notesSz cx="6858000" cy="9144000"/>
  <p:embeddedFontLst>
    <p:embeddedFont>
      <p:font typeface="Work Sans"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86467" autoAdjust="0"/>
  </p:normalViewPr>
  <p:slideViewPr>
    <p:cSldViewPr snapToGrid="0">
      <p:cViewPr varScale="1">
        <p:scale>
          <a:sx n="51" d="100"/>
          <a:sy n="51" d="100"/>
        </p:scale>
        <p:origin x="552" y="48"/>
      </p:cViewPr>
      <p:guideLst>
        <p:guide orient="horz" pos="2160"/>
        <p:guide pos="3840"/>
      </p:guideLst>
    </p:cSldViewPr>
  </p:slideViewPr>
  <p:outlineViewPr>
    <p:cViewPr>
      <p:scale>
        <a:sx n="33" d="100"/>
        <a:sy n="33" d="100"/>
      </p:scale>
      <p:origin x="0" y="-4243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8C7EFF92-4C25-E119-988C-884F7CB3A351}"/>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6F76D6F1-F9DF-EDEC-40F8-56EABA0D407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7ADA47D9-F6DB-BA91-0E67-5C48AB78792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7E17A490-22A4-6037-B838-147FE8987042}"/>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555396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D38D53AE-2764-70D0-32A6-6B415E4C6E6A}"/>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54DC5230-A3A7-B524-2BD4-E13BC1BA559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6BA80804-D7FD-8FCA-E21F-B41286A40C5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3B5E5E3F-34FA-0D1D-4738-9B5B55D1173D}"/>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075796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40F8AD5B-F239-FD0A-49D8-B30AE942A0B6}"/>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9987C33D-2E96-DB4B-CF37-44BFFC3A689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0F75021F-2C8C-59CD-D5E4-B5018F2E4C0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730DE2CE-8D32-E785-13FA-30601B65002B}"/>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063693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FDFBEB84-6CAF-62ED-1098-D7038132BDC9}"/>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7532A045-CF42-4470-5202-9082F824D70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01A2B3CD-8335-9135-6FE9-420F591ACFC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76F86DB5-7C96-41F7-92D0-33DA2214D1C2}"/>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094991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A19A0AA5-7354-B199-CDEB-E8D18229126C}"/>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635633D9-66B9-8BC1-DB68-93AB36956653}"/>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991B638B-D269-5351-1234-C30679406ED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D5FC2D07-774F-2F19-9029-4B3878F30A1A}"/>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185726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AAAE323C-5E57-3AC9-D84B-873814E00497}"/>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D6D57A4F-5562-6010-6CC4-6CECB4A5E94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AF3F19C2-403F-ED3B-C9E7-506DE0360F7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35396432-7E82-A18E-B738-B0CB3BAB0D9F}"/>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188047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DCF951A8-DB03-0AF9-B11F-4AF0808DA2F9}"/>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3C02BE35-BC06-B528-3E3A-E4B0D7B0CC4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375F326E-5C96-D2CA-FB7D-F453DDA414F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53EF2A34-BC43-BF09-F91A-0A49C58165F7}"/>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787814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A7229C8E-D69F-DAC4-5182-AF6A374B58B1}"/>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75B046E7-1DE8-F64C-B854-9B47F7E21B1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6409F708-47B9-7038-A3F2-12D0B161369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1E17E189-BCF5-65C5-564E-8B8786C3019A}"/>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261259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59B954BA-245C-61E6-E4F3-103A9317CB18}"/>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A29E8CCD-0A2E-4F9C-5331-533F2C07FD71}"/>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33ED831A-C61F-06E8-5660-738B1E9CA5A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1382FF2E-265F-AB99-9226-05884C8B0044}"/>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570238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ECBEEDD7-9D78-EE3B-567F-4BE5E1780A5F}"/>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0B33E03B-D28C-107D-FD2D-E5EC9D8FE50F}"/>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3F3C90B4-8994-44B8-991D-08EC2FFD531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288A1697-0A88-09A1-6DC6-D2E69E46FF94}"/>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17720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9A05BCA3-6230-016D-954E-E8FE8B3A025F}"/>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5E2A35D1-696B-049B-9DFE-7161D665D9B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8B7DB532-EC36-8710-BDD1-FDAA47CDBC9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E2819794-6620-9E04-6B87-EE2CBF20441F}"/>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3168391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50E4461E-3E70-724E-6167-D4C92B89AE02}"/>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F994F54C-1AB9-AFBD-26BB-4A70F2DBABF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AB405902-F93D-8CFF-41A0-19E5C8B7EF98}"/>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0F22D4D6-5F07-F00F-CD58-22799F7F9F1B}"/>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799169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39866EE3-ADA1-F12F-767E-FB6B5B499595}"/>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B7DE789A-EF63-9EC7-642A-2E0AA440B8C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66C8BE36-175D-C3A8-9B36-CBBC1CF78AE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572266B9-811B-C5D7-457F-8DA588BA7465}"/>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3539885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EF6154B7-56AF-3B09-A050-55BF648959D3}"/>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CAB6DC73-8C66-2977-1B77-2ACE68D6715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B8E60C7C-DC23-BA22-A5B1-42D28CD27EC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5D494746-6C4A-04F2-EEEA-DA09B5897BF8}"/>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2319875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
        <p:nvSpPr>
          <p:cNvPr id="4" name="Content Placeholder 3">
            <a:extLst>
              <a:ext uri="{FF2B5EF4-FFF2-40B4-BE49-F238E27FC236}">
                <a16:creationId xmlns:a16="http://schemas.microsoft.com/office/drawing/2014/main" id="{D246843D-21DB-A8FA-B9E5-C0023B7FAF78}"/>
              </a:ext>
            </a:extLst>
          </p:cNvPr>
          <p:cNvSpPr>
            <a:spLocks noGrp="1"/>
          </p:cNvSpPr>
          <p:nvPr>
            <p:ph sz="quarter" idx="11"/>
          </p:nvPr>
        </p:nvSpPr>
        <p:spPr>
          <a:xfrm>
            <a:off x="8743949" y="1674813"/>
            <a:ext cx="2971207"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47382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C00BF7F7-FA3F-C71F-08C7-3B6DCF1ACC11}"/>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3621489150"/>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7">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14" name="Google Shape;14;p47"/>
          <p:cNvSpPr txBox="1"/>
          <p:nvPr/>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66"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a:t>
            </a:r>
            <a:r>
              <a:rPr lang="en-US" sz="4000">
                <a:cs typeface="Arial" panose="020B0604020202020204" pitchFamily="34" charset="0"/>
              </a:rPr>
              <a:t>: A </a:t>
            </a:r>
            <a:r>
              <a:rPr lang="en-US" sz="4000" dirty="0">
                <a:cs typeface="Arial" panose="020B0604020202020204" pitchFamily="34" charset="0"/>
              </a:rPr>
              <a:t>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a:cs typeface="Arial" panose="020B0604020202020204" pitchFamily="34" charset="0"/>
              </a:rPr>
              <a:t>Chapter 22: Basics of Electronics and Computer Systems</a:t>
            </a:r>
            <a:endParaRPr lang="en-US" dirty="0">
              <a:cs typeface="Arial" panose="020B0604020202020204" pitchFamily="34" charset="0"/>
            </a:endParaRP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a:t>22.01 Describe the functions and uses of capacitors.</a:t>
            </a:r>
          </a:p>
          <a:p>
            <a:pPr>
              <a:spcAft>
                <a:spcPts val="600"/>
              </a:spcAft>
            </a:pPr>
            <a:r>
              <a:rPr lang="en-US"/>
              <a:t>22.02 Explain what semiconductors are and their uses in automotive electronics.</a:t>
            </a:r>
          </a:p>
          <a:p>
            <a:pPr>
              <a:spcAft>
                <a:spcPts val="600"/>
              </a:spcAft>
            </a:pPr>
            <a:r>
              <a:rPr lang="en-US"/>
              <a:t>22.03 List and describe the functions of the various sensors used by computers.</a:t>
            </a:r>
          </a:p>
          <a:p>
            <a:pPr>
              <a:spcAft>
                <a:spcPts val="600"/>
              </a:spcAft>
            </a:pPr>
            <a:r>
              <a:rPr lang="en-US"/>
              <a:t>22.04 Explain the advantages of using electronic control systems.</a:t>
            </a:r>
          </a:p>
          <a:p>
            <a:pPr>
              <a:spcAft>
                <a:spcPts val="600"/>
              </a:spcAft>
            </a:pPr>
            <a:r>
              <a:rPr lang="en-US"/>
              <a:t>22.05 Explain the principle of multiplexing.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a:t>22.06 Explain the principle of computer communications.</a:t>
            </a:r>
          </a:p>
          <a:p>
            <a:pPr>
              <a:spcAft>
                <a:spcPts val="600"/>
              </a:spcAft>
            </a:pPr>
            <a:r>
              <a:rPr lang="en-US"/>
              <a:t>22.07 List and describe the operation of output actuators.</a:t>
            </a:r>
          </a:p>
          <a:p>
            <a:pPr>
              <a:spcAft>
                <a:spcPts val="600"/>
              </a:spcAft>
            </a:pPr>
            <a:r>
              <a:rPr lang="en-US"/>
              <a:t>22.08 Describe the precautions that must be taken when diagnosing modules and networks.</a:t>
            </a:r>
          </a:p>
          <a:p>
            <a:pPr>
              <a:spcAft>
                <a:spcPts val="600"/>
              </a:spcAft>
            </a:pPr>
            <a:r>
              <a:rPr lang="en-US"/>
              <a:t>22.09 Reprogram a control module in a vehicle.</a:t>
            </a:r>
          </a:p>
          <a:p>
            <a:pPr>
              <a:spcAft>
                <a:spcPts val="600"/>
              </a:spcAft>
            </a:pPr>
            <a:r>
              <a:rPr lang="en-US"/>
              <a:t>22.10 Perform a communications check on a multiplexed system.</a:t>
            </a:r>
          </a:p>
        </p:txBody>
      </p:sp>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07E160EA-6269-384D-E6A7-9B0C0C20719E}"/>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E06B418E-A1CF-DDDF-31E8-39BFC6566A60}"/>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Capacitors (1 of 3)</a:t>
            </a:r>
            <a:endParaRPr dirty="0"/>
          </a:p>
        </p:txBody>
      </p:sp>
      <p:sp>
        <p:nvSpPr>
          <p:cNvPr id="4" name="Text Placeholder 3">
            <a:extLst>
              <a:ext uri="{FF2B5EF4-FFF2-40B4-BE49-F238E27FC236}">
                <a16:creationId xmlns:a16="http://schemas.microsoft.com/office/drawing/2014/main" id="{C4EADFF2-6915-A47A-FD61-E3702155731A}"/>
              </a:ext>
            </a:extLst>
          </p:cNvPr>
          <p:cNvSpPr>
            <a:spLocks noGrp="1"/>
          </p:cNvSpPr>
          <p:nvPr>
            <p:ph type="body" idx="1"/>
          </p:nvPr>
        </p:nvSpPr>
        <p:spPr/>
        <p:txBody>
          <a:bodyPr/>
          <a:lstStyle/>
          <a:p>
            <a:pPr marL="0" indent="0">
              <a:spcAft>
                <a:spcPts val="600"/>
              </a:spcAft>
              <a:buNone/>
            </a:pPr>
            <a:r>
              <a:rPr lang="en-US" sz="1800" b="1"/>
              <a:t>22.01 Describe the functions and uses of capacitors.</a:t>
            </a:r>
          </a:p>
          <a:p>
            <a:pPr>
              <a:spcAft>
                <a:spcPts val="600"/>
              </a:spcAft>
            </a:pPr>
            <a:r>
              <a:rPr lang="en-US" sz="1800"/>
              <a:t>A </a:t>
            </a:r>
            <a:r>
              <a:rPr lang="en-US" sz="1800" b="1"/>
              <a:t>capacitor</a:t>
            </a:r>
            <a:r>
              <a:rPr lang="en-US" sz="1800"/>
              <a:t> is used to store and release electrical energy.</a:t>
            </a:r>
          </a:p>
          <a:p>
            <a:pPr>
              <a:spcAft>
                <a:spcPts val="600"/>
              </a:spcAft>
            </a:pPr>
            <a:r>
              <a:rPr lang="en-US" sz="1800"/>
              <a:t>Capacitors can be used to smooth out current fluctuations, store and release a high voltage, or block DC voltage.</a:t>
            </a:r>
          </a:p>
          <a:p>
            <a:pPr>
              <a:spcAft>
                <a:spcPts val="600"/>
              </a:spcAft>
            </a:pPr>
            <a:r>
              <a:rPr lang="en-US" sz="1800"/>
              <a:t>Capacitors are sometimes called condensers.</a:t>
            </a:r>
          </a:p>
          <a:p>
            <a:pPr>
              <a:spcAft>
                <a:spcPts val="600"/>
              </a:spcAft>
            </a:pPr>
            <a:r>
              <a:rPr lang="en-US" sz="1800"/>
              <a:t>Although a battery and a capacitor store electrical energy, the battery stores the energy chemically.</a:t>
            </a:r>
          </a:p>
          <a:p>
            <a:pPr>
              <a:spcAft>
                <a:spcPts val="600"/>
              </a:spcAft>
            </a:pPr>
            <a:r>
              <a:rPr lang="en-US" sz="1800"/>
              <a:t>A capacitor stores energy in an electrostatic field created between a pair of electrodes.</a:t>
            </a:r>
          </a:p>
          <a:p>
            <a:pPr>
              <a:spcAft>
                <a:spcPts val="600"/>
              </a:spcAft>
            </a:pPr>
            <a:r>
              <a:rPr lang="en-US" sz="1800"/>
              <a:t>A capacitor can release all of its charged energy in an instant, whereas a battery slowly releases its charge.</a:t>
            </a:r>
          </a:p>
          <a:p>
            <a:pPr>
              <a:spcAft>
                <a:spcPts val="600"/>
              </a:spcAft>
            </a:pPr>
            <a:r>
              <a:rPr lang="en-US" sz="1800"/>
              <a:t>A capacitor is quick to discharge and quick to charge.</a:t>
            </a:r>
          </a:p>
        </p:txBody>
      </p:sp>
    </p:spTree>
    <p:extLst>
      <p:ext uri="{BB962C8B-B14F-4D97-AF65-F5344CB8AC3E}">
        <p14:creationId xmlns:p14="http://schemas.microsoft.com/office/powerpoint/2010/main" val="4007906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Capacitors (2 of 3)</a:t>
            </a:r>
            <a:endParaRPr dirty="0"/>
          </a:p>
        </p:txBody>
      </p:sp>
      <p:sp>
        <p:nvSpPr>
          <p:cNvPr id="2" name="Text Placeholder 1">
            <a:extLst>
              <a:ext uri="{FF2B5EF4-FFF2-40B4-BE49-F238E27FC236}">
                <a16:creationId xmlns:a16="http://schemas.microsoft.com/office/drawing/2014/main" id="{78533BFB-0453-D355-5FC2-86593D1D8C37}"/>
              </a:ext>
            </a:extLst>
          </p:cNvPr>
          <p:cNvSpPr>
            <a:spLocks noGrp="1"/>
          </p:cNvSpPr>
          <p:nvPr>
            <p:ph type="body" idx="1"/>
          </p:nvPr>
        </p:nvSpPr>
        <p:spPr>
          <a:xfrm>
            <a:off x="476844" y="1433686"/>
            <a:ext cx="7690126" cy="4649120"/>
          </a:xfrm>
        </p:spPr>
        <p:txBody>
          <a:bodyPr/>
          <a:lstStyle/>
          <a:p>
            <a:r>
              <a:rPr lang="en-US" sz="1800" dirty="0"/>
              <a:t>A capacitor has a positive and a negative terminal.</a:t>
            </a:r>
          </a:p>
          <a:p>
            <a:r>
              <a:rPr lang="en-US" sz="1800" dirty="0"/>
              <a:t>Each terminal is connected to a thin electrode or plate (usually made of metal).</a:t>
            </a:r>
          </a:p>
          <a:p>
            <a:r>
              <a:rPr lang="en-US" sz="1800" dirty="0"/>
              <a:t>The plates are parallel to each other and are separated by an insulating material called a dielectric.</a:t>
            </a:r>
          </a:p>
          <a:p>
            <a:r>
              <a:rPr lang="en-US" sz="1800" dirty="0"/>
              <a:t>The dielectric can be paper, plastic, glass, or anything that does not conduct electricity.</a:t>
            </a:r>
          </a:p>
          <a:p>
            <a:r>
              <a:rPr lang="en-US" sz="1800" dirty="0"/>
              <a:t>Placing a dielectric between the plates allows the plates to be placed close to each other without allowing them to touch.</a:t>
            </a:r>
          </a:p>
          <a:p>
            <a:r>
              <a:rPr lang="en-US" sz="1800" dirty="0"/>
              <a:t>When voltage is applied to a capacitor, the two electrodes receive equal but opposite charges.</a:t>
            </a:r>
          </a:p>
          <a:p>
            <a:r>
              <a:rPr lang="en-US" sz="1800" dirty="0"/>
              <a:t>The negative plate accepts electrons and stores them on its surface.</a:t>
            </a:r>
          </a:p>
          <a:p>
            <a:r>
              <a:rPr lang="en-US" sz="1800" dirty="0"/>
              <a:t>The other plate loses electrons to the power source.</a:t>
            </a:r>
          </a:p>
        </p:txBody>
      </p:sp>
      <p:pic>
        <p:nvPicPr>
          <p:cNvPr id="5" name="Picture Placeholder 4" descr="A photo depicts examples of capacitors that are as follows: ceramic, aluminum, tantalum, trimmer, and thin film.">
            <a:extLst>
              <a:ext uri="{FF2B5EF4-FFF2-40B4-BE49-F238E27FC236}">
                <a16:creationId xmlns:a16="http://schemas.microsoft.com/office/drawing/2014/main" id="{267E77DB-EC7A-4066-6BA6-4608678D9335}"/>
              </a:ext>
            </a:extLst>
          </p:cNvPr>
          <p:cNvPicPr>
            <a:picLocks noGrp="1" noChangeAspect="1"/>
          </p:cNvPicPr>
          <p:nvPr>
            <p:ph type="pic" sz="quarter" idx="10"/>
          </p:nvPr>
        </p:nvPicPr>
        <p:blipFill>
          <a:blip r:embed="rId3"/>
          <a:srcRect b="13732"/>
          <a:stretch/>
        </p:blipFill>
        <p:spPr>
          <a:xfrm>
            <a:off x="8194022" y="2225586"/>
            <a:ext cx="3879273" cy="2644365"/>
          </a:xfrm>
          <a:prstGeom prst="rect">
            <a:avLst/>
          </a:prstGeom>
        </p:spPr>
      </p:pic>
    </p:spTree>
    <p:extLst>
      <p:ext uri="{BB962C8B-B14F-4D97-AF65-F5344CB8AC3E}">
        <p14:creationId xmlns:p14="http://schemas.microsoft.com/office/powerpoint/2010/main" val="144598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5BD26C-8DF0-14E5-451E-D81ADF202D92}"/>
              </a:ext>
            </a:extLst>
          </p:cNvPr>
          <p:cNvSpPr>
            <a:spLocks noGrp="1"/>
          </p:cNvSpPr>
          <p:nvPr>
            <p:ph type="title"/>
          </p:nvPr>
        </p:nvSpPr>
        <p:spPr/>
        <p:txBody>
          <a:bodyPr/>
          <a:lstStyle/>
          <a:p>
            <a:r>
              <a:rPr lang="en-IN"/>
              <a:t>Capacitors (3 of 3)</a:t>
            </a:r>
          </a:p>
        </p:txBody>
      </p:sp>
      <p:sp>
        <p:nvSpPr>
          <p:cNvPr id="6" name="Text Placeholder 5">
            <a:extLst>
              <a:ext uri="{FF2B5EF4-FFF2-40B4-BE49-F238E27FC236}">
                <a16:creationId xmlns:a16="http://schemas.microsoft.com/office/drawing/2014/main" id="{31D0B424-B483-7634-89DA-6C0A1F001BBE}"/>
              </a:ext>
            </a:extLst>
          </p:cNvPr>
          <p:cNvSpPr>
            <a:spLocks noGrp="1"/>
          </p:cNvSpPr>
          <p:nvPr>
            <p:ph type="body" idx="1"/>
          </p:nvPr>
        </p:nvSpPr>
        <p:spPr/>
        <p:txBody>
          <a:bodyPr/>
          <a:lstStyle/>
          <a:p>
            <a:r>
              <a:rPr lang="en-US" sz="1600" dirty="0"/>
              <a:t>A capacitor’s </a:t>
            </a:r>
            <a:r>
              <a:rPr lang="en-US" sz="1600" b="1" dirty="0"/>
              <a:t>capacitance</a:t>
            </a:r>
            <a:r>
              <a:rPr lang="en-US" sz="1600" dirty="0"/>
              <a:t> is directly proportional to the surface areas of the plates and the </a:t>
            </a:r>
            <a:r>
              <a:rPr lang="en-US" sz="1600" dirty="0" err="1"/>
              <a:t>nonconductiveness</a:t>
            </a:r>
            <a:r>
              <a:rPr lang="en-US" sz="1600" dirty="0"/>
              <a:t> of the dielectric and is inversely proportional to the distance between the plates.</a:t>
            </a:r>
          </a:p>
          <a:p>
            <a:r>
              <a:rPr lang="en-US" sz="1600" dirty="0"/>
              <a:t>Most capacitors have a capacitance rating of much less than a </a:t>
            </a:r>
            <a:r>
              <a:rPr lang="en-US" sz="1600" b="1" dirty="0"/>
              <a:t>farad</a:t>
            </a:r>
            <a:r>
              <a:rPr lang="en-US" sz="1600" dirty="0"/>
              <a:t>, and their values are expressed in one of these terms:</a:t>
            </a:r>
          </a:p>
          <a:p>
            <a:pPr lvl="1"/>
            <a:r>
              <a:rPr lang="en-US" sz="1400" dirty="0"/>
              <a:t>Microfarads: </a:t>
            </a:r>
            <a:r>
              <a:rPr lang="en-US" sz="1400" dirty="0" err="1"/>
              <a:t>μF</a:t>
            </a:r>
            <a:r>
              <a:rPr lang="en-US" sz="1400" dirty="0"/>
              <a:t> (1 </a:t>
            </a:r>
            <a:r>
              <a:rPr lang="en-US" sz="1400" dirty="0" err="1"/>
              <a:t>μF</a:t>
            </a:r>
            <a:r>
              <a:rPr lang="en-US" sz="1400" dirty="0"/>
              <a:t> = 10–6 F)</a:t>
            </a:r>
          </a:p>
          <a:p>
            <a:pPr lvl="1"/>
            <a:r>
              <a:rPr lang="en-US" sz="1400" dirty="0" err="1"/>
              <a:t>Nanofarads</a:t>
            </a:r>
            <a:r>
              <a:rPr lang="en-US" sz="1400" dirty="0"/>
              <a:t>: </a:t>
            </a:r>
            <a:r>
              <a:rPr lang="en-US" sz="1400" dirty="0" err="1"/>
              <a:t>nF</a:t>
            </a:r>
            <a:r>
              <a:rPr lang="en-US" sz="1400" dirty="0"/>
              <a:t> (1 </a:t>
            </a:r>
            <a:r>
              <a:rPr lang="en-US" sz="1400" dirty="0" err="1"/>
              <a:t>nF</a:t>
            </a:r>
            <a:r>
              <a:rPr lang="en-US" sz="1400" dirty="0"/>
              <a:t> = 10–9 F)</a:t>
            </a:r>
          </a:p>
          <a:p>
            <a:pPr lvl="1"/>
            <a:r>
              <a:rPr lang="en-US" sz="1400" dirty="0"/>
              <a:t>Picofarads: pF (1 pF = 10–12 F)</a:t>
            </a:r>
          </a:p>
          <a:p>
            <a:r>
              <a:rPr lang="en-US" sz="1600" dirty="0"/>
              <a:t>Capacitors oppose a change of voltage.</a:t>
            </a:r>
          </a:p>
          <a:p>
            <a:r>
              <a:rPr lang="en-US" sz="1600" dirty="0"/>
              <a:t>If a battery is connected to a capacitor, the capacitor will be charged when current flows from the battery to the plates.</a:t>
            </a:r>
          </a:p>
          <a:p>
            <a:r>
              <a:rPr lang="en-US" sz="1600" dirty="0"/>
              <a:t>This current flow will continue until the plates have the same voltage as the battery. </a:t>
            </a:r>
          </a:p>
          <a:p>
            <a:r>
              <a:rPr lang="en-US" sz="1600" dirty="0"/>
              <a:t>At this time, the current flow stops and the capacitor is charged and will remain charged until the circuit voltage drops low, and the capacity will begin to discharge.</a:t>
            </a:r>
          </a:p>
          <a:p>
            <a:r>
              <a:rPr lang="en-US" sz="1600" dirty="0"/>
              <a:t>In this way, the capacitor stabilizes the voltage level.</a:t>
            </a:r>
          </a:p>
        </p:txBody>
      </p:sp>
    </p:spTree>
    <p:extLst>
      <p:ext uri="{BB962C8B-B14F-4D97-AF65-F5344CB8AC3E}">
        <p14:creationId xmlns:p14="http://schemas.microsoft.com/office/powerpoint/2010/main" val="3599826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D27E5-AFC4-B4C4-8B1F-BF9C11DD4E2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D542642-B950-E760-81CE-4EF9A4F5888D}"/>
              </a:ext>
            </a:extLst>
          </p:cNvPr>
          <p:cNvSpPr>
            <a:spLocks noGrp="1"/>
          </p:cNvSpPr>
          <p:nvPr>
            <p:ph type="title"/>
          </p:nvPr>
        </p:nvSpPr>
        <p:spPr/>
        <p:txBody>
          <a:bodyPr/>
          <a:lstStyle/>
          <a:p>
            <a:r>
              <a:rPr lang="en-IN"/>
              <a:t>Semiconductors (1 of 2)</a:t>
            </a:r>
          </a:p>
        </p:txBody>
      </p:sp>
      <p:sp>
        <p:nvSpPr>
          <p:cNvPr id="6" name="Text Placeholder 5">
            <a:extLst>
              <a:ext uri="{FF2B5EF4-FFF2-40B4-BE49-F238E27FC236}">
                <a16:creationId xmlns:a16="http://schemas.microsoft.com/office/drawing/2014/main" id="{AE904DD2-2790-2463-7462-32135434C6CD}"/>
              </a:ext>
            </a:extLst>
          </p:cNvPr>
          <p:cNvSpPr>
            <a:spLocks noGrp="1"/>
          </p:cNvSpPr>
          <p:nvPr>
            <p:ph type="body" idx="1"/>
          </p:nvPr>
        </p:nvSpPr>
        <p:spPr/>
        <p:txBody>
          <a:bodyPr/>
          <a:lstStyle/>
          <a:p>
            <a:pPr marL="0" indent="0">
              <a:buNone/>
            </a:pPr>
            <a:r>
              <a:rPr lang="en-US" sz="1800" b="1"/>
              <a:t>22.02 Explain what semiconductors are and their uses in automotive electronics.</a:t>
            </a:r>
          </a:p>
          <a:p>
            <a:r>
              <a:rPr lang="en-US" sz="1800"/>
              <a:t>A semiconductor is a material or device that can serve as a conductor or an insulator.</a:t>
            </a:r>
          </a:p>
          <a:p>
            <a:r>
              <a:rPr lang="en-US" sz="1800"/>
              <a:t>Semiconductors have no moving parts; therefore, they seldom wear out or need adjustment.</a:t>
            </a:r>
          </a:p>
          <a:p>
            <a:r>
              <a:rPr lang="en-US" sz="1800"/>
              <a:t>Semiconductors, or solid-state devices, are also small, require little power to operate, are reliable, and generate very little heat.</a:t>
            </a:r>
          </a:p>
          <a:p>
            <a:r>
              <a:rPr lang="en-US" sz="1800"/>
              <a:t>For all these reasons, semiconductors are being used in many applications.</a:t>
            </a:r>
          </a:p>
          <a:p>
            <a:r>
              <a:rPr lang="en-US" sz="1800"/>
              <a:t>However, current to them must be limited, as should heat.</a:t>
            </a:r>
          </a:p>
          <a:p>
            <a:r>
              <a:rPr lang="en-US" sz="1800"/>
              <a:t>Because a semiconductor can function as both a conductor and an insulator, it is often used as a switching device.</a:t>
            </a:r>
          </a:p>
          <a:p>
            <a:r>
              <a:rPr lang="en-US" sz="1800"/>
              <a:t>How it behaves depends on what it is made of and which way current flows (or tries to flow) through it.</a:t>
            </a:r>
          </a:p>
          <a:p>
            <a:r>
              <a:rPr lang="en-US" sz="1800"/>
              <a:t>Semiconductor materials have less resistance than an insulator but more resistance than a conductor and also have a crystal structure.</a:t>
            </a:r>
          </a:p>
        </p:txBody>
      </p:sp>
    </p:spTree>
    <p:extLst>
      <p:ext uri="{BB962C8B-B14F-4D97-AF65-F5344CB8AC3E}">
        <p14:creationId xmlns:p14="http://schemas.microsoft.com/office/powerpoint/2010/main" val="2469233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5FF0-7018-D8CC-ACC9-71F3D571E6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A66E29-E5DF-281E-A934-21D04718441F}"/>
              </a:ext>
            </a:extLst>
          </p:cNvPr>
          <p:cNvSpPr>
            <a:spLocks noGrp="1"/>
          </p:cNvSpPr>
          <p:nvPr>
            <p:ph type="title"/>
          </p:nvPr>
        </p:nvSpPr>
        <p:spPr/>
        <p:txBody>
          <a:bodyPr/>
          <a:lstStyle/>
          <a:p>
            <a:r>
              <a:rPr lang="en-IN"/>
              <a:t>Semiconductors (2 of 2)</a:t>
            </a:r>
          </a:p>
        </p:txBody>
      </p:sp>
      <p:sp>
        <p:nvSpPr>
          <p:cNvPr id="6" name="Text Placeholder 5">
            <a:extLst>
              <a:ext uri="{FF2B5EF4-FFF2-40B4-BE49-F238E27FC236}">
                <a16:creationId xmlns:a16="http://schemas.microsoft.com/office/drawing/2014/main" id="{4A4A61A6-169B-6199-CCD5-546AF6B24407}"/>
              </a:ext>
            </a:extLst>
          </p:cNvPr>
          <p:cNvSpPr>
            <a:spLocks noGrp="1"/>
          </p:cNvSpPr>
          <p:nvPr>
            <p:ph type="body" idx="1"/>
          </p:nvPr>
        </p:nvSpPr>
        <p:spPr/>
        <p:txBody>
          <a:bodyPr/>
          <a:lstStyle/>
          <a:p>
            <a:r>
              <a:rPr lang="en-US" sz="1800" dirty="0"/>
              <a:t>Two common semiconductor devices are diodes and transistors.</a:t>
            </a:r>
          </a:p>
          <a:p>
            <a:r>
              <a:rPr lang="en-US" sz="1800" dirty="0"/>
              <a:t>Diodes are used for isolation of circuits, clamping, or rectification of AC to DC.</a:t>
            </a:r>
          </a:p>
          <a:p>
            <a:r>
              <a:rPr lang="en-US" sz="1800" dirty="0"/>
              <a:t>Transistors are used for amplification or switching.</a:t>
            </a:r>
          </a:p>
          <a:p>
            <a:r>
              <a:rPr lang="en-US" sz="1800" dirty="0"/>
              <a:t>The type of impurity determines the type of semiconductor.</a:t>
            </a:r>
          </a:p>
          <a:p>
            <a:r>
              <a:rPr lang="en-US" sz="1800" dirty="0"/>
              <a:t>N-type semiconductors have loose, or excess, electrons.</a:t>
            </a:r>
          </a:p>
          <a:p>
            <a:pPr lvl="1"/>
            <a:r>
              <a:rPr lang="en-US" sz="1600" dirty="0"/>
              <a:t>They have a negative charge and can carry current. N-type semiconductors have an impurity with five electrons in the outer ring (called pentavalent atoms). Four of these electrons fit into the crystal structure, but the fifth is free. This excess of electrons produces the negative charge.</a:t>
            </a:r>
          </a:p>
          <a:p>
            <a:r>
              <a:rPr lang="en-US" sz="1800" dirty="0"/>
              <a:t>P-type semiconductors are positively charged materials.</a:t>
            </a:r>
          </a:p>
          <a:p>
            <a:pPr lvl="1"/>
            <a:r>
              <a:rPr lang="en-US" sz="1600" dirty="0"/>
              <a:t>They are made by adding an impurity with three electrons in the outer ring (trivalent atoms). When this element is added to silicon or germanium, the three outer electrons fit into the pattern of the crystal, leaving a hole where a fourth electron would fit. This hole is actually a positively charged empty space. This hole carries the current in the P-type semiconductor.</a:t>
            </a:r>
          </a:p>
        </p:txBody>
      </p:sp>
    </p:spTree>
    <p:extLst>
      <p:ext uri="{BB962C8B-B14F-4D97-AF65-F5344CB8AC3E}">
        <p14:creationId xmlns:p14="http://schemas.microsoft.com/office/powerpoint/2010/main" val="1028109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66C1FC50-A776-320A-648B-99C272CF74FA}"/>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0D426001-CB4E-B3EC-16EC-93418CD86616}"/>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Diodes (1 of 2)</a:t>
            </a:r>
            <a:endParaRPr dirty="0"/>
          </a:p>
        </p:txBody>
      </p:sp>
      <p:sp>
        <p:nvSpPr>
          <p:cNvPr id="2" name="Text Placeholder 1">
            <a:extLst>
              <a:ext uri="{FF2B5EF4-FFF2-40B4-BE49-F238E27FC236}">
                <a16:creationId xmlns:a16="http://schemas.microsoft.com/office/drawing/2014/main" id="{13AAA8C7-467E-D465-8FD2-8E3AE80EB74A}"/>
              </a:ext>
            </a:extLst>
          </p:cNvPr>
          <p:cNvSpPr>
            <a:spLocks noGrp="1"/>
          </p:cNvSpPr>
          <p:nvPr>
            <p:ph type="body" idx="1"/>
          </p:nvPr>
        </p:nvSpPr>
        <p:spPr>
          <a:xfrm>
            <a:off x="476844" y="1433686"/>
            <a:ext cx="7126032" cy="4649120"/>
          </a:xfrm>
        </p:spPr>
        <p:txBody>
          <a:bodyPr/>
          <a:lstStyle/>
          <a:p>
            <a:r>
              <a:rPr lang="en-US" sz="2000" dirty="0"/>
              <a:t>The most commonly used are regular diodes, LEDs, Zener diodes, clamping diodes, and photo diodes.</a:t>
            </a:r>
          </a:p>
          <a:p>
            <a:r>
              <a:rPr lang="en-US" sz="2000" dirty="0"/>
              <a:t>A diode allows current to flow in one direction; therefore, it can serve as a conductor or insulator, depending on the direction of current flow.</a:t>
            </a:r>
          </a:p>
          <a:p>
            <a:r>
              <a:rPr lang="en-US" sz="2000" dirty="0"/>
              <a:t>In a generator, voltage is rectified by diodes. Diodes are arranged so that current can leave the AC generator in one direction only (as direct current).</a:t>
            </a:r>
          </a:p>
          <a:p>
            <a:r>
              <a:rPr lang="en-US" sz="2000" dirty="0"/>
              <a:t>Inside a diode are positive and negative areas that are separated by a boundary area called the PN junction.</a:t>
            </a:r>
          </a:p>
          <a:p>
            <a:r>
              <a:rPr lang="en-US" sz="2000" dirty="0"/>
              <a:t>When the positive side of a diode is connected to the positive side of the circuit, it is said to have </a:t>
            </a:r>
            <a:r>
              <a:rPr lang="en-US" sz="2000" b="1" dirty="0"/>
              <a:t>forward bias</a:t>
            </a:r>
            <a:r>
              <a:rPr lang="en-US" sz="2000" dirty="0"/>
              <a:t>.</a:t>
            </a:r>
          </a:p>
        </p:txBody>
      </p:sp>
      <p:pic>
        <p:nvPicPr>
          <p:cNvPr id="6" name="Picture Placeholder 5" descr="A battery source, diode, and electrical load are connected in series. The diode layer is separated by two areas labeled, P junction and N junction. The positive terminal of the battery is connected to the P junction. N junction of the diode is connected to the electrical load, which is further connected to the negative terminal of the battery. Positively charged ions are at the bottom of the P N junction, and the right arrows indicate the direction of current flow. Negatively charged ions are at the top of the P N junction, and the left arrows indicate the direction of current flow.">
            <a:extLst>
              <a:ext uri="{FF2B5EF4-FFF2-40B4-BE49-F238E27FC236}">
                <a16:creationId xmlns:a16="http://schemas.microsoft.com/office/drawing/2014/main" id="{7461A9C1-FBF0-F6D2-21D8-09A050DA174C}"/>
              </a:ext>
            </a:extLst>
          </p:cNvPr>
          <p:cNvPicPr>
            <a:picLocks noGrp="1" noChangeAspect="1"/>
          </p:cNvPicPr>
          <p:nvPr>
            <p:ph type="pic" sz="quarter" idx="10"/>
          </p:nvPr>
        </p:nvPicPr>
        <p:blipFill>
          <a:blip r:embed="rId3"/>
          <a:srcRect b="17030"/>
          <a:stretch/>
        </p:blipFill>
        <p:spPr>
          <a:xfrm>
            <a:off x="7882370" y="1991638"/>
            <a:ext cx="4032958" cy="2744749"/>
          </a:xfrm>
          <a:prstGeom prst="rect">
            <a:avLst/>
          </a:prstGeom>
        </p:spPr>
      </p:pic>
    </p:spTree>
    <p:extLst>
      <p:ext uri="{BB962C8B-B14F-4D97-AF65-F5344CB8AC3E}">
        <p14:creationId xmlns:p14="http://schemas.microsoft.com/office/powerpoint/2010/main" val="1458159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4691F-FA7F-ED43-1240-66D836329DC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66EEF1-6F4C-D17D-DBBC-5016E0D469E6}"/>
              </a:ext>
            </a:extLst>
          </p:cNvPr>
          <p:cNvSpPr>
            <a:spLocks noGrp="1"/>
          </p:cNvSpPr>
          <p:nvPr>
            <p:ph type="title"/>
          </p:nvPr>
        </p:nvSpPr>
        <p:spPr/>
        <p:txBody>
          <a:bodyPr/>
          <a:lstStyle/>
          <a:p>
            <a:r>
              <a:rPr lang="en-IN"/>
              <a:t>Diodes (2 of 2)</a:t>
            </a:r>
          </a:p>
        </p:txBody>
      </p:sp>
      <p:sp>
        <p:nvSpPr>
          <p:cNvPr id="6" name="Text Placeholder 5">
            <a:extLst>
              <a:ext uri="{FF2B5EF4-FFF2-40B4-BE49-F238E27FC236}">
                <a16:creationId xmlns:a16="http://schemas.microsoft.com/office/drawing/2014/main" id="{895496E3-AC68-D63A-3802-CD0715E95D9B}"/>
              </a:ext>
            </a:extLst>
          </p:cNvPr>
          <p:cNvSpPr>
            <a:spLocks noGrp="1"/>
          </p:cNvSpPr>
          <p:nvPr>
            <p:ph type="body" idx="1"/>
          </p:nvPr>
        </p:nvSpPr>
        <p:spPr/>
        <p:txBody>
          <a:bodyPr/>
          <a:lstStyle/>
          <a:p>
            <a:r>
              <a:rPr lang="en-US" sz="1800" dirty="0"/>
              <a:t>A </a:t>
            </a:r>
            <a:r>
              <a:rPr lang="en-US" sz="1800" b="1" dirty="0"/>
              <a:t>Zener diode </a:t>
            </a:r>
            <a:r>
              <a:rPr lang="en-US" sz="1800" dirty="0"/>
              <a:t>works like a standard diode until a certain voltage is reached.</a:t>
            </a:r>
          </a:p>
          <a:p>
            <a:r>
              <a:rPr lang="en-US" sz="1800" dirty="0"/>
              <a:t>When the voltage reaches this point, the diode allows current to flow in the reverse direction.</a:t>
            </a:r>
          </a:p>
          <a:p>
            <a:r>
              <a:rPr lang="en-US" sz="1800" dirty="0"/>
              <a:t>Zener diodes are often used in electronic voltage regulators.</a:t>
            </a:r>
          </a:p>
          <a:p>
            <a:r>
              <a:rPr lang="en-US" sz="1800" dirty="0"/>
              <a:t>LEDs emit light as current passes through them.</a:t>
            </a:r>
          </a:p>
          <a:p>
            <a:r>
              <a:rPr lang="en-US" sz="1800" dirty="0"/>
              <a:t>The color of the emitted light depends on the material used to make the LED.</a:t>
            </a:r>
          </a:p>
          <a:p>
            <a:r>
              <a:rPr lang="en-US" sz="1800" dirty="0"/>
              <a:t>Typically, LEDs are made of a variety of inorganic semiconductor materials that produce different colors.</a:t>
            </a:r>
          </a:p>
          <a:p>
            <a:r>
              <a:rPr lang="en-US" sz="1800" dirty="0"/>
              <a:t>Whenever the current flows through a coil of wire, such as used in a solenoid or relay stops, a voltage surge or spike is produced.</a:t>
            </a:r>
          </a:p>
          <a:p>
            <a:r>
              <a:rPr lang="en-US" sz="1800" dirty="0"/>
              <a:t>The movement of the field across the winding induces a very high-voltage spike, which can damage electronic components.</a:t>
            </a:r>
          </a:p>
          <a:p>
            <a:r>
              <a:rPr lang="en-US" sz="1800" dirty="0"/>
              <a:t>In the past, a capacitor was used as a “shock absorber” to prevent component damage from this surge.</a:t>
            </a:r>
          </a:p>
          <a:p>
            <a:r>
              <a:rPr lang="en-US" sz="1800" dirty="0"/>
              <a:t>On today’s vehicles, a </a:t>
            </a:r>
            <a:r>
              <a:rPr lang="en-US" sz="1800" b="1" dirty="0"/>
              <a:t>clamping diode </a:t>
            </a:r>
            <a:r>
              <a:rPr lang="en-US" sz="1800" dirty="0"/>
              <a:t>is commonly used to prevent this voltage spike.</a:t>
            </a:r>
          </a:p>
        </p:txBody>
      </p:sp>
    </p:spTree>
    <p:extLst>
      <p:ext uri="{BB962C8B-B14F-4D97-AF65-F5344CB8AC3E}">
        <p14:creationId xmlns:p14="http://schemas.microsoft.com/office/powerpoint/2010/main" val="3252540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C7CF603E-500A-89DA-657D-47F865BD0AD3}"/>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11D3C170-E200-5F27-10A5-9A3666E2E39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Transistors (1 of 3)</a:t>
            </a:r>
            <a:endParaRPr dirty="0"/>
          </a:p>
        </p:txBody>
      </p:sp>
      <p:sp>
        <p:nvSpPr>
          <p:cNvPr id="2" name="Text Placeholder 1">
            <a:extLst>
              <a:ext uri="{FF2B5EF4-FFF2-40B4-BE49-F238E27FC236}">
                <a16:creationId xmlns:a16="http://schemas.microsoft.com/office/drawing/2014/main" id="{B9625BD6-6ED9-8F69-9980-CA930412B356}"/>
              </a:ext>
            </a:extLst>
          </p:cNvPr>
          <p:cNvSpPr>
            <a:spLocks noGrp="1"/>
          </p:cNvSpPr>
          <p:nvPr>
            <p:ph type="body" idx="1"/>
          </p:nvPr>
        </p:nvSpPr>
        <p:spPr>
          <a:xfrm>
            <a:off x="476844" y="1433686"/>
            <a:ext cx="7187677" cy="4649120"/>
          </a:xfrm>
        </p:spPr>
        <p:txBody>
          <a:bodyPr/>
          <a:lstStyle/>
          <a:p>
            <a:r>
              <a:rPr lang="en-US" sz="1800" dirty="0"/>
              <a:t>A transistor is produced by joining three sections of semiconductor materials.</a:t>
            </a:r>
          </a:p>
          <a:p>
            <a:r>
              <a:rPr lang="en-US" sz="1800" dirty="0"/>
              <a:t>Like the diode, it is used as a switching device, functioning as either a conductor or an insulator.</a:t>
            </a:r>
          </a:p>
          <a:p>
            <a:r>
              <a:rPr lang="en-US" sz="1800" dirty="0"/>
              <a:t>A transistor resembles a diode with an extra side.</a:t>
            </a:r>
          </a:p>
          <a:p>
            <a:r>
              <a:rPr lang="en-US" sz="1800" dirty="0"/>
              <a:t>It can consist of two P-type materials and one N-type material or two N-type materials and one P-type material.</a:t>
            </a:r>
          </a:p>
          <a:p>
            <a:r>
              <a:rPr lang="en-US" sz="1800" dirty="0"/>
              <a:t>These are called PNP and NPN types. In both types, junctions occur where the materials are joined.</a:t>
            </a:r>
          </a:p>
          <a:p>
            <a:r>
              <a:rPr lang="en-US" sz="1800" dirty="0"/>
              <a:t>Notice that each of the three sections has a lead connected to it, and this allows any of the three sections to be connected to the circuit.</a:t>
            </a:r>
          </a:p>
          <a:p>
            <a:r>
              <a:rPr lang="en-US" sz="1800" dirty="0"/>
              <a:t>The names for the legs are the emitter, base, and collector. </a:t>
            </a:r>
          </a:p>
        </p:txBody>
      </p:sp>
      <p:pic>
        <p:nvPicPr>
          <p:cNvPr id="5" name="Picture Placeholder 4" descr="Two illustrations. The first illustration depicts a bipolar P N P transistor containing two P-N junctions. One P-type material is at the top, the N-type material is at the center, and the other P-type material, is at the bottom. The three materials are labeled as follows: P material at the top as a collector; N material in the middle as a base; P material at the bottom as an emitter. The second illustration depicts the schematic representation of the PNP transistor and the labeled parts are as follows: Collector, Base, and Emitter. The Inward arrow pointing from the emitter to the base denotes the direction of current flow.">
            <a:extLst>
              <a:ext uri="{FF2B5EF4-FFF2-40B4-BE49-F238E27FC236}">
                <a16:creationId xmlns:a16="http://schemas.microsoft.com/office/drawing/2014/main" id="{988A7177-1392-5CFA-0D22-9B177D7C93F6}"/>
              </a:ext>
            </a:extLst>
          </p:cNvPr>
          <p:cNvPicPr>
            <a:picLocks noGrp="1" noChangeAspect="1"/>
          </p:cNvPicPr>
          <p:nvPr>
            <p:ph type="pic" sz="quarter" idx="10"/>
          </p:nvPr>
        </p:nvPicPr>
        <p:blipFill>
          <a:blip r:embed="rId3"/>
          <a:srcRect b="8547"/>
          <a:stretch/>
        </p:blipFill>
        <p:spPr>
          <a:xfrm>
            <a:off x="7686754" y="2181859"/>
            <a:ext cx="4229100" cy="2883302"/>
          </a:xfrm>
          <a:prstGeom prst="rect">
            <a:avLst/>
          </a:prstGeom>
        </p:spPr>
      </p:pic>
    </p:spTree>
    <p:extLst>
      <p:ext uri="{BB962C8B-B14F-4D97-AF65-F5344CB8AC3E}">
        <p14:creationId xmlns:p14="http://schemas.microsoft.com/office/powerpoint/2010/main" val="2098579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0CF0B-62C6-8CEA-ED66-7390A9CB54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B88C19-F012-085D-5260-A8A7F9A51D58}"/>
              </a:ext>
            </a:extLst>
          </p:cNvPr>
          <p:cNvSpPr>
            <a:spLocks noGrp="1"/>
          </p:cNvSpPr>
          <p:nvPr>
            <p:ph type="title"/>
          </p:nvPr>
        </p:nvSpPr>
        <p:spPr/>
        <p:txBody>
          <a:bodyPr/>
          <a:lstStyle/>
          <a:p>
            <a:r>
              <a:rPr lang="en-IN"/>
              <a:t>Transistors (2 of 3)</a:t>
            </a:r>
          </a:p>
        </p:txBody>
      </p:sp>
      <p:sp>
        <p:nvSpPr>
          <p:cNvPr id="6" name="Text Placeholder 5">
            <a:extLst>
              <a:ext uri="{FF2B5EF4-FFF2-40B4-BE49-F238E27FC236}">
                <a16:creationId xmlns:a16="http://schemas.microsoft.com/office/drawing/2014/main" id="{549D314B-7AF7-4C26-353F-A9FE7A2D3A61}"/>
              </a:ext>
            </a:extLst>
          </p:cNvPr>
          <p:cNvSpPr>
            <a:spLocks noGrp="1"/>
          </p:cNvSpPr>
          <p:nvPr>
            <p:ph type="body" idx="1"/>
          </p:nvPr>
        </p:nvSpPr>
        <p:spPr/>
        <p:txBody>
          <a:bodyPr/>
          <a:lstStyle/>
          <a:p>
            <a:r>
              <a:rPr lang="en-US" sz="1600"/>
              <a:t>The center section is called the base and is the controlling part of the circuit or where the larger controlled part of the circuit is switched.</a:t>
            </a:r>
          </a:p>
          <a:p>
            <a:r>
              <a:rPr lang="en-US" sz="1600"/>
              <a:t>The path to ground is through the emitter.</a:t>
            </a:r>
          </a:p>
          <a:p>
            <a:r>
              <a:rPr lang="en-US" sz="1600"/>
              <a:t>A resistor is normally in the base circuit to keep current flow low which prevents damage to the transistor.</a:t>
            </a:r>
          </a:p>
          <a:p>
            <a:r>
              <a:rPr lang="en-US" sz="1600"/>
              <a:t>The emitter and collector make up the control circuit.</a:t>
            </a:r>
          </a:p>
          <a:p>
            <a:r>
              <a:rPr lang="en-US" sz="1600"/>
              <a:t>When a transistor is drawn in an electrical schematic, the arrow on the emitter points in the direction of current flow.</a:t>
            </a:r>
          </a:p>
          <a:p>
            <a:r>
              <a:rPr lang="en-US" sz="1600"/>
              <a:t>The base of a PNP transistor is controlled by its ground.</a:t>
            </a:r>
          </a:p>
          <a:p>
            <a:r>
              <a:rPr lang="en-US" sz="1600"/>
              <a:t>Current flows from the emitter through the base, then to ground.</a:t>
            </a:r>
          </a:p>
          <a:p>
            <a:r>
              <a:rPr lang="en-US" sz="1600"/>
              <a:t>A negative voltage or ground must be applied to the base to turn on a PNP transistor. When the transistor is on, the circuit from the emitter to the collector is complete.</a:t>
            </a:r>
          </a:p>
          <a:p>
            <a:r>
              <a:rPr lang="en-US" sz="1600"/>
              <a:t>An NPN transistor is the opposite of a PNP.</a:t>
            </a:r>
          </a:p>
          <a:p>
            <a:r>
              <a:rPr lang="en-US" sz="1600"/>
              <a:t>When positive voltage is applied to the base of an NPN transistor, the collector-to-emitter circuit is turned on.</a:t>
            </a:r>
          </a:p>
        </p:txBody>
      </p:sp>
    </p:spTree>
    <p:extLst>
      <p:ext uri="{BB962C8B-B14F-4D97-AF65-F5344CB8AC3E}">
        <p14:creationId xmlns:p14="http://schemas.microsoft.com/office/powerpoint/2010/main" val="41544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0CB2-ECDB-8E40-BA92-1FE6743747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959EB5-2F15-EA32-3DC0-0A3FFC2F6C0A}"/>
              </a:ext>
            </a:extLst>
          </p:cNvPr>
          <p:cNvSpPr>
            <a:spLocks noGrp="1"/>
          </p:cNvSpPr>
          <p:nvPr>
            <p:ph type="title"/>
          </p:nvPr>
        </p:nvSpPr>
        <p:spPr/>
        <p:txBody>
          <a:bodyPr/>
          <a:lstStyle/>
          <a:p>
            <a:r>
              <a:rPr lang="en-IN"/>
              <a:t>Transistors (3 of 3)</a:t>
            </a:r>
          </a:p>
        </p:txBody>
      </p:sp>
      <p:sp>
        <p:nvSpPr>
          <p:cNvPr id="6" name="Text Placeholder 5">
            <a:extLst>
              <a:ext uri="{FF2B5EF4-FFF2-40B4-BE49-F238E27FC236}">
                <a16:creationId xmlns:a16="http://schemas.microsoft.com/office/drawing/2014/main" id="{C6645864-2F6B-847E-8F0B-FA1558B8E6CB}"/>
              </a:ext>
            </a:extLst>
          </p:cNvPr>
          <p:cNvSpPr>
            <a:spLocks noGrp="1"/>
          </p:cNvSpPr>
          <p:nvPr>
            <p:ph type="body" idx="1"/>
          </p:nvPr>
        </p:nvSpPr>
        <p:spPr/>
        <p:txBody>
          <a:bodyPr/>
          <a:lstStyle/>
          <a:p>
            <a:r>
              <a:rPr lang="en-US" sz="2000"/>
              <a:t>Transistors can also function as a variable switch.</a:t>
            </a:r>
          </a:p>
          <a:p>
            <a:r>
              <a:rPr lang="en-US" sz="2000"/>
              <a:t>By varying the voltage applied to the base, the completeness of the emitter and collector circuit will also vary.</a:t>
            </a:r>
          </a:p>
          <a:p>
            <a:r>
              <a:rPr lang="en-US" sz="2000"/>
              <a:t>This is done simply by the presence of a variable resistor in the base circuit.</a:t>
            </a:r>
          </a:p>
          <a:p>
            <a:r>
              <a:rPr lang="en-US" sz="2000"/>
              <a:t>This principle is used in light-dimming circuits.</a:t>
            </a:r>
          </a:p>
          <a:p>
            <a:r>
              <a:rPr lang="en-US" sz="2000"/>
              <a:t>Insulated gate bipolar transistors (IGBTs) are a variation of standard transistors that include a metal oxide semiconductor field effect transistor (MOSFET) in the base circuit.</a:t>
            </a:r>
          </a:p>
          <a:p>
            <a:r>
              <a:rPr lang="en-US" sz="2000"/>
              <a:t>IGBTs are very fast and efficient switches that are used in the inverter power circuits in hybrid and electric drive systems.</a:t>
            </a:r>
          </a:p>
          <a:p>
            <a:r>
              <a:rPr lang="en-US" sz="2000"/>
              <a:t>The rapid and precise switching of direct current from the high-voltage battery by the inverter is transformed into alternating current for the drive motors.</a:t>
            </a:r>
          </a:p>
        </p:txBody>
      </p:sp>
    </p:spTree>
    <p:extLst>
      <p:ext uri="{BB962C8B-B14F-4D97-AF65-F5344CB8AC3E}">
        <p14:creationId xmlns:p14="http://schemas.microsoft.com/office/powerpoint/2010/main" val="405161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E5096AE5-44C7-34A7-D17E-70DB152C2A0E}"/>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A3893F7F-903F-18D2-574D-071FAD52E5B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Integrated Circuits</a:t>
            </a:r>
            <a:endParaRPr dirty="0"/>
          </a:p>
        </p:txBody>
      </p:sp>
      <p:sp>
        <p:nvSpPr>
          <p:cNvPr id="2" name="Text Placeholder 1">
            <a:extLst>
              <a:ext uri="{FF2B5EF4-FFF2-40B4-BE49-F238E27FC236}">
                <a16:creationId xmlns:a16="http://schemas.microsoft.com/office/drawing/2014/main" id="{235DEA6D-A13F-17A3-7F67-038434DDCE91}"/>
              </a:ext>
            </a:extLst>
          </p:cNvPr>
          <p:cNvSpPr>
            <a:spLocks noGrp="1"/>
          </p:cNvSpPr>
          <p:nvPr>
            <p:ph type="body" idx="1"/>
          </p:nvPr>
        </p:nvSpPr>
        <p:spPr>
          <a:xfrm>
            <a:off x="476844" y="1433686"/>
            <a:ext cx="5759569" cy="4649120"/>
          </a:xfrm>
        </p:spPr>
        <p:txBody>
          <a:bodyPr/>
          <a:lstStyle/>
          <a:p>
            <a:r>
              <a:rPr lang="en-US" sz="2000"/>
              <a:t>When many semiconductors are combined in a circuit, they can perform complex functions.</a:t>
            </a:r>
          </a:p>
          <a:p>
            <a:r>
              <a:rPr lang="en-US" sz="2000"/>
              <a:t>An integrated circuit is simply a large number of diodes, transistors, and other electronic components mounted on a single piece of semiconductor material.</a:t>
            </a:r>
          </a:p>
          <a:p>
            <a:r>
              <a:rPr lang="en-US" sz="2000"/>
              <a:t>This creates a very small package capable of performing many functions.</a:t>
            </a:r>
          </a:p>
          <a:p>
            <a:r>
              <a:rPr lang="en-US" sz="2000"/>
              <a:t>Because of the size of an integrated circuit, many transistors, diodes, and other solid-state components can be installed in a car to make logic decisions and issue commands.</a:t>
            </a:r>
          </a:p>
        </p:txBody>
      </p:sp>
      <p:pic>
        <p:nvPicPr>
          <p:cNvPr id="6" name="Picture Placeholder 5" descr="An enlarged structure of an Integrated Circuit (chip) containing P-type transistor, N-type transistor, Poly-type materials, metal, and the conductive pathways connecting all the components.">
            <a:extLst>
              <a:ext uri="{FF2B5EF4-FFF2-40B4-BE49-F238E27FC236}">
                <a16:creationId xmlns:a16="http://schemas.microsoft.com/office/drawing/2014/main" id="{922F69E3-10EE-0C11-3E65-02B210DF5072}"/>
              </a:ext>
            </a:extLst>
          </p:cNvPr>
          <p:cNvPicPr>
            <a:picLocks noGrp="1" noChangeAspect="1"/>
          </p:cNvPicPr>
          <p:nvPr>
            <p:ph type="pic" sz="quarter" idx="10"/>
          </p:nvPr>
        </p:nvPicPr>
        <p:blipFill rotWithShape="1">
          <a:blip r:embed="rId3"/>
          <a:srcRect b="10263"/>
          <a:stretch/>
        </p:blipFill>
        <p:spPr>
          <a:xfrm>
            <a:off x="6431788" y="1881089"/>
            <a:ext cx="5283368" cy="3369006"/>
          </a:xfrm>
          <a:prstGeom prst="rect">
            <a:avLst/>
          </a:prstGeom>
        </p:spPr>
      </p:pic>
    </p:spTree>
    <p:extLst>
      <p:ext uri="{BB962C8B-B14F-4D97-AF65-F5344CB8AC3E}">
        <p14:creationId xmlns:p14="http://schemas.microsoft.com/office/powerpoint/2010/main" val="2669632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EC782C-A835-5309-21DC-23A508CAED11}"/>
              </a:ext>
            </a:extLst>
          </p:cNvPr>
          <p:cNvSpPr>
            <a:spLocks noGrp="1"/>
          </p:cNvSpPr>
          <p:nvPr>
            <p:ph type="title"/>
          </p:nvPr>
        </p:nvSpPr>
        <p:spPr/>
        <p:txBody>
          <a:bodyPr/>
          <a:lstStyle/>
          <a:p>
            <a:r>
              <a:rPr lang="en-IN"/>
              <a:t>Discussion</a:t>
            </a:r>
          </a:p>
        </p:txBody>
      </p:sp>
      <p:sp>
        <p:nvSpPr>
          <p:cNvPr id="6" name="Text Placeholder 5">
            <a:extLst>
              <a:ext uri="{FF2B5EF4-FFF2-40B4-BE49-F238E27FC236}">
                <a16:creationId xmlns:a16="http://schemas.microsoft.com/office/drawing/2014/main" id="{6E67AB1C-AB74-AEF2-4397-444C4F748F62}"/>
              </a:ext>
            </a:extLst>
          </p:cNvPr>
          <p:cNvSpPr>
            <a:spLocks noGrp="1"/>
          </p:cNvSpPr>
          <p:nvPr>
            <p:ph type="body" idx="1"/>
          </p:nvPr>
        </p:nvSpPr>
        <p:spPr/>
        <p:txBody>
          <a:bodyPr/>
          <a:lstStyle/>
          <a:p>
            <a:r>
              <a:rPr lang="en-US"/>
              <a:t>You have learned about semiconductors including diodes, transistors, and integrated circuits.</a:t>
            </a:r>
          </a:p>
          <a:p>
            <a:r>
              <a:rPr lang="en-US"/>
              <a:t>Have a class discussion while providing several examples of how these technologies have replaced more traditional switches and relay-based electronics and what the advantages are of the newer solid state electronics.</a:t>
            </a:r>
          </a:p>
        </p:txBody>
      </p:sp>
    </p:spTree>
    <p:extLst>
      <p:ext uri="{BB962C8B-B14F-4D97-AF65-F5344CB8AC3E}">
        <p14:creationId xmlns:p14="http://schemas.microsoft.com/office/powerpoint/2010/main" val="3047707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2F3F56-8873-F1C2-B977-F91BFB63DC0E}"/>
              </a:ext>
            </a:extLst>
          </p:cNvPr>
          <p:cNvSpPr>
            <a:spLocks noGrp="1"/>
          </p:cNvSpPr>
          <p:nvPr>
            <p:ph type="title"/>
          </p:nvPr>
        </p:nvSpPr>
        <p:spPr/>
        <p:txBody>
          <a:bodyPr/>
          <a:lstStyle/>
          <a:p>
            <a:r>
              <a:rPr lang="en-US"/>
              <a:t>Computer Basics (1 of 2)</a:t>
            </a:r>
            <a:endParaRPr lang="en-IN"/>
          </a:p>
        </p:txBody>
      </p:sp>
      <p:sp>
        <p:nvSpPr>
          <p:cNvPr id="6" name="Text Placeholder 5">
            <a:extLst>
              <a:ext uri="{FF2B5EF4-FFF2-40B4-BE49-F238E27FC236}">
                <a16:creationId xmlns:a16="http://schemas.microsoft.com/office/drawing/2014/main" id="{042F1FB9-F776-156A-51BC-212919183ECC}"/>
              </a:ext>
            </a:extLst>
          </p:cNvPr>
          <p:cNvSpPr>
            <a:spLocks noGrp="1"/>
          </p:cNvSpPr>
          <p:nvPr>
            <p:ph type="body" idx="1"/>
          </p:nvPr>
        </p:nvSpPr>
        <p:spPr>
          <a:xfrm>
            <a:off x="476844" y="1471265"/>
            <a:ext cx="6512679" cy="3244574"/>
          </a:xfrm>
        </p:spPr>
        <p:txBody>
          <a:bodyPr/>
          <a:lstStyle/>
          <a:p>
            <a:r>
              <a:rPr lang="en-US" sz="2000" dirty="0"/>
              <a:t>Computers control nearly all of the systems in an automobile.</a:t>
            </a:r>
          </a:p>
          <a:p>
            <a:r>
              <a:rPr lang="en-US" sz="2000" dirty="0"/>
              <a:t>Systems that once were controlled by vacuum, mechanical, and electromechanical devices are now controlled and operated by electronics.</a:t>
            </a:r>
          </a:p>
          <a:p>
            <a:r>
              <a:rPr lang="en-US" sz="2000" dirty="0"/>
              <a:t>These are electronic control systems.</a:t>
            </a:r>
          </a:p>
          <a:p>
            <a:r>
              <a:rPr lang="en-US" sz="2000" dirty="0"/>
              <a:t>They are made up of sensors, outputs, and a central processing unit, sometimes called a </a:t>
            </a:r>
            <a:r>
              <a:rPr lang="en-US" sz="2000" b="1" dirty="0"/>
              <a:t>microprocessor.</a:t>
            </a:r>
          </a:p>
        </p:txBody>
      </p:sp>
      <p:pic>
        <p:nvPicPr>
          <p:cNvPr id="9" name="Picture Placeholder 8" descr="A flow diagram depicts the information flow of a computer. Inputs, Memory, Calculations, Programming, and Clock lead to the Microprocessor which further leads to commands, which in turn further leads to output. The Output feedback leads to microprocessors and inputs.">
            <a:extLst>
              <a:ext uri="{FF2B5EF4-FFF2-40B4-BE49-F238E27FC236}">
                <a16:creationId xmlns:a16="http://schemas.microsoft.com/office/drawing/2014/main" id="{99EA5848-8F3C-736F-8E40-5A02E20CC9CD}"/>
              </a:ext>
            </a:extLst>
          </p:cNvPr>
          <p:cNvPicPr>
            <a:picLocks noGrp="1" noChangeAspect="1"/>
          </p:cNvPicPr>
          <p:nvPr>
            <p:ph type="pic" sz="quarter" idx="10"/>
          </p:nvPr>
        </p:nvPicPr>
        <p:blipFill>
          <a:blip r:embed="rId2"/>
          <a:srcRect b="7923"/>
          <a:stretch/>
        </p:blipFill>
        <p:spPr>
          <a:xfrm>
            <a:off x="7200724" y="2085467"/>
            <a:ext cx="4786684" cy="1726246"/>
          </a:xfrm>
          <a:prstGeom prst="rect">
            <a:avLst/>
          </a:prstGeom>
        </p:spPr>
      </p:pic>
      <p:sp>
        <p:nvSpPr>
          <p:cNvPr id="8" name="Content Placeholder 7">
            <a:extLst>
              <a:ext uri="{FF2B5EF4-FFF2-40B4-BE49-F238E27FC236}">
                <a16:creationId xmlns:a16="http://schemas.microsoft.com/office/drawing/2014/main" id="{3C7F6D50-1738-1544-21F0-D4B3EE02C063}"/>
              </a:ext>
            </a:extLst>
          </p:cNvPr>
          <p:cNvSpPr>
            <a:spLocks noGrp="1"/>
          </p:cNvSpPr>
          <p:nvPr>
            <p:ph sz="quarter" idx="11"/>
          </p:nvPr>
        </p:nvSpPr>
        <p:spPr>
          <a:xfrm>
            <a:off x="476843" y="4643390"/>
            <a:ext cx="11241915" cy="914400"/>
          </a:xfrm>
        </p:spPr>
        <p:txBody>
          <a:bodyPr/>
          <a:lstStyle/>
          <a:p>
            <a:pPr marL="360363" indent="-360363">
              <a:spcBef>
                <a:spcPts val="624"/>
              </a:spcBef>
            </a:pPr>
            <a:r>
              <a:rPr lang="en-US" sz="2000"/>
              <a:t>Electronic controls are designed to allow a system to operate in the most efficient way it can.</a:t>
            </a:r>
          </a:p>
          <a:p>
            <a:pPr marL="360363" indent="-360363">
              <a:spcBef>
                <a:spcPts val="624"/>
              </a:spcBef>
            </a:pPr>
            <a:r>
              <a:rPr lang="en-US" sz="2000"/>
              <a:t>Although today’s vehicles have many computers, they have two main computers—the powertrain control module (PCM) and body control module (BCM).</a:t>
            </a:r>
          </a:p>
        </p:txBody>
      </p:sp>
    </p:spTree>
    <p:extLst>
      <p:ext uri="{BB962C8B-B14F-4D97-AF65-F5344CB8AC3E}">
        <p14:creationId xmlns:p14="http://schemas.microsoft.com/office/powerpoint/2010/main" val="366125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812A-D090-9154-69E6-29FD22E787D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1B9A06-B701-0B97-AAAC-9C3F91C4301E}"/>
              </a:ext>
            </a:extLst>
          </p:cNvPr>
          <p:cNvSpPr>
            <a:spLocks noGrp="1"/>
          </p:cNvSpPr>
          <p:nvPr>
            <p:ph type="title"/>
          </p:nvPr>
        </p:nvSpPr>
        <p:spPr/>
        <p:txBody>
          <a:bodyPr/>
          <a:lstStyle/>
          <a:p>
            <a:r>
              <a:rPr lang="en-US"/>
              <a:t>Computer Basics (2 of 2)</a:t>
            </a:r>
            <a:endParaRPr lang="en-IN"/>
          </a:p>
        </p:txBody>
      </p:sp>
      <p:sp>
        <p:nvSpPr>
          <p:cNvPr id="6" name="Text Placeholder 5">
            <a:extLst>
              <a:ext uri="{FF2B5EF4-FFF2-40B4-BE49-F238E27FC236}">
                <a16:creationId xmlns:a16="http://schemas.microsoft.com/office/drawing/2014/main" id="{35793097-BA77-4CFF-5500-4C1B498600C5}"/>
              </a:ext>
            </a:extLst>
          </p:cNvPr>
          <p:cNvSpPr>
            <a:spLocks noGrp="1"/>
          </p:cNvSpPr>
          <p:nvPr>
            <p:ph type="body" idx="1"/>
          </p:nvPr>
        </p:nvSpPr>
        <p:spPr/>
        <p:txBody>
          <a:bodyPr/>
          <a:lstStyle/>
          <a:p>
            <a:r>
              <a:rPr lang="en-US" sz="2000" dirty="0"/>
              <a:t>A computer is an electronic device that stores and processes data. It relies on semiconductors and is really a group of integrated circuits.</a:t>
            </a:r>
          </a:p>
          <a:p>
            <a:r>
              <a:rPr lang="en-US" sz="2000" dirty="0"/>
              <a:t>The four basic functions of a computer are:</a:t>
            </a:r>
          </a:p>
          <a:p>
            <a:pPr lvl="1">
              <a:buFont typeface="+mj-lt"/>
              <a:buAutoNum type="arabicPeriod"/>
            </a:pPr>
            <a:r>
              <a:rPr lang="en-US" sz="1800" dirty="0"/>
              <a:t>Input: A signal sent from an input device. The device can be a sensor or a switch activated by the driver, technician, or a mechanical part.</a:t>
            </a:r>
          </a:p>
          <a:p>
            <a:pPr lvl="1">
              <a:buFont typeface="+mj-lt"/>
              <a:buAutoNum type="arabicPeriod"/>
            </a:pPr>
            <a:r>
              <a:rPr lang="en-US" sz="1800" dirty="0"/>
              <a:t>Processing: The computer uses the input information and compares it to programmed instruction. This information is processed by logic circuits in the computer.</a:t>
            </a:r>
          </a:p>
          <a:p>
            <a:pPr lvl="1">
              <a:buFont typeface="+mj-lt"/>
              <a:buAutoNum type="arabicPeriod"/>
            </a:pPr>
            <a:r>
              <a:rPr lang="en-US" sz="1800" dirty="0"/>
              <a:t>Storage: The program instructions are stored in the computer’s memory. Some of the input signals are also stored for processing later.</a:t>
            </a:r>
          </a:p>
          <a:p>
            <a:pPr lvl="1">
              <a:buFont typeface="+mj-lt"/>
              <a:buAutoNum type="arabicPeriod"/>
            </a:pPr>
            <a:r>
              <a:rPr lang="en-US" sz="1800" dirty="0"/>
              <a:t>Output: After the computer has processed the inputs and checked its programmed instructions, it will issue commands to various output devices. These output devices may be instrument panel displays or output actuators. The output of one computer may also be an input to other computers.</a:t>
            </a:r>
          </a:p>
        </p:txBody>
      </p:sp>
    </p:spTree>
    <p:extLst>
      <p:ext uri="{BB962C8B-B14F-4D97-AF65-F5344CB8AC3E}">
        <p14:creationId xmlns:p14="http://schemas.microsoft.com/office/powerpoint/2010/main" val="2765290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72AA58-1832-6524-DAD2-B3DB3592C227}"/>
              </a:ext>
            </a:extLst>
          </p:cNvPr>
          <p:cNvSpPr>
            <a:spLocks noGrp="1"/>
          </p:cNvSpPr>
          <p:nvPr>
            <p:ph type="title"/>
          </p:nvPr>
        </p:nvSpPr>
        <p:spPr/>
        <p:txBody>
          <a:bodyPr/>
          <a:lstStyle/>
          <a:p>
            <a:r>
              <a:rPr lang="en-IN"/>
              <a:t>Inputs (1 of 2)</a:t>
            </a:r>
          </a:p>
        </p:txBody>
      </p:sp>
      <p:sp>
        <p:nvSpPr>
          <p:cNvPr id="6" name="Text Placeholder 5">
            <a:extLst>
              <a:ext uri="{FF2B5EF4-FFF2-40B4-BE49-F238E27FC236}">
                <a16:creationId xmlns:a16="http://schemas.microsoft.com/office/drawing/2014/main" id="{BF5C4A07-2303-1FA8-48DF-44C901263818}"/>
              </a:ext>
            </a:extLst>
          </p:cNvPr>
          <p:cNvSpPr>
            <a:spLocks noGrp="1"/>
          </p:cNvSpPr>
          <p:nvPr>
            <p:ph type="body" idx="1"/>
          </p:nvPr>
        </p:nvSpPr>
        <p:spPr>
          <a:xfrm>
            <a:off x="476843" y="1433686"/>
            <a:ext cx="11241915" cy="4613339"/>
          </a:xfrm>
        </p:spPr>
        <p:txBody>
          <a:bodyPr/>
          <a:lstStyle/>
          <a:p>
            <a:r>
              <a:rPr lang="en-US" sz="1800" dirty="0"/>
              <a:t>The PCM receives inputs that it checks against programmed values.</a:t>
            </a:r>
          </a:p>
          <a:p>
            <a:r>
              <a:rPr lang="en-US" sz="1800" dirty="0"/>
              <a:t>Depending on the input, the computer controls the actuator(s) until the programmed results are obtained.</a:t>
            </a:r>
          </a:p>
          <a:p>
            <a:r>
              <a:rPr lang="en-US" sz="1800" dirty="0"/>
              <a:t>The computer receives this signal and performs the desired functions. For example, if the driver wishes to reset the trip odometer on a digital instrument panel, a reset button is depressed.</a:t>
            </a:r>
          </a:p>
          <a:p>
            <a:r>
              <a:rPr lang="en-US" sz="1800" dirty="0"/>
              <a:t>This switch provides a momentary ground that the computer receives as an input and sets the trip odometer to zero.</a:t>
            </a:r>
          </a:p>
          <a:p>
            <a:r>
              <a:rPr lang="en-US" sz="1800" dirty="0"/>
              <a:t>Switches can be used as inputs for any operation that only requires a yes-no, or on-off, condition. Other inputs include those supplied by means of a sensor and those signals returned to the computer in the form of </a:t>
            </a:r>
            <a:r>
              <a:rPr lang="en-US" sz="1800" b="1" dirty="0"/>
              <a:t>feedback</a:t>
            </a:r>
            <a:r>
              <a:rPr lang="en-US" sz="1800" dirty="0"/>
              <a:t>.</a:t>
            </a:r>
          </a:p>
          <a:p>
            <a:r>
              <a:rPr lang="en-US" sz="1800" dirty="0"/>
              <a:t>Feedback means that data concerning the effects of the computer’s commands are fed back to the computer as an input signal.</a:t>
            </a:r>
          </a:p>
          <a:p>
            <a:r>
              <a:rPr lang="en-US" sz="1800" dirty="0"/>
              <a:t>If the computer sends a command signal to actuate an output device, a feedback signal may be sent back from the actuator to inform the computer that the task was performed.</a:t>
            </a:r>
          </a:p>
        </p:txBody>
      </p:sp>
    </p:spTree>
    <p:extLst>
      <p:ext uri="{BB962C8B-B14F-4D97-AF65-F5344CB8AC3E}">
        <p14:creationId xmlns:p14="http://schemas.microsoft.com/office/powerpoint/2010/main" val="2603804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B0AB-0493-6F3D-9891-C94582FF70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54057A-049C-A4FD-C135-1C9A51A66DC2}"/>
              </a:ext>
            </a:extLst>
          </p:cNvPr>
          <p:cNvSpPr>
            <a:spLocks noGrp="1"/>
          </p:cNvSpPr>
          <p:nvPr>
            <p:ph type="title"/>
          </p:nvPr>
        </p:nvSpPr>
        <p:spPr/>
        <p:txBody>
          <a:bodyPr/>
          <a:lstStyle/>
          <a:p>
            <a:r>
              <a:rPr lang="en-IN"/>
              <a:t>Inputs (2 of 2)</a:t>
            </a:r>
          </a:p>
        </p:txBody>
      </p:sp>
      <p:sp>
        <p:nvSpPr>
          <p:cNvPr id="6" name="Text Placeholder 5">
            <a:extLst>
              <a:ext uri="{FF2B5EF4-FFF2-40B4-BE49-F238E27FC236}">
                <a16:creationId xmlns:a16="http://schemas.microsoft.com/office/drawing/2014/main" id="{A37E47FF-60BA-AFE0-6F0A-8F944FCA3772}"/>
              </a:ext>
            </a:extLst>
          </p:cNvPr>
          <p:cNvSpPr>
            <a:spLocks noGrp="1"/>
          </p:cNvSpPr>
          <p:nvPr>
            <p:ph type="body" idx="1"/>
          </p:nvPr>
        </p:nvSpPr>
        <p:spPr/>
        <p:txBody>
          <a:bodyPr/>
          <a:lstStyle/>
          <a:p>
            <a:r>
              <a:rPr lang="en-US" sz="1800"/>
              <a:t>Another form of feedback is for the computer to monitor voltage when a switch, relay, or other actuator is activated.</a:t>
            </a:r>
          </a:p>
          <a:p>
            <a:r>
              <a:rPr lang="en-US" sz="1800"/>
              <a:t>Changing positions of an actuator should result in predictable changes in the computer’s voltage sensing circuit.</a:t>
            </a:r>
          </a:p>
          <a:p>
            <a:r>
              <a:rPr lang="en-US" sz="1800"/>
              <a:t>The computer may set a diagnostic code if it does not receive the correct feedback signal. </a:t>
            </a:r>
          </a:p>
          <a:p>
            <a:r>
              <a:rPr lang="en-US" sz="1800"/>
              <a:t>All inputs have the same basic function.</a:t>
            </a:r>
          </a:p>
          <a:p>
            <a:r>
              <a:rPr lang="en-US" sz="1800"/>
              <a:t>They detect a mechanical condition (movement or position), chemical state, or temperature condition and change it into an electrical signal that is used by the computer to make decisions.</a:t>
            </a:r>
          </a:p>
          <a:p>
            <a:r>
              <a:rPr lang="en-US" sz="1800"/>
              <a:t>Each sensor has a specific job to do (e.g., monitor throttle position, vehicle speed, and manifold pressure).</a:t>
            </a:r>
          </a:p>
          <a:p>
            <a:r>
              <a:rPr lang="en-US" sz="1800"/>
              <a:t>In addition to variable resistors, another commonly used reference voltage sensor is a switch.</a:t>
            </a:r>
          </a:p>
          <a:p>
            <a:r>
              <a:rPr lang="en-US" sz="1800"/>
              <a:t>By opening and closing a circuit, switches provide the necessary voltage information to the computer so vehicles can maintain the proper performance and driveability.</a:t>
            </a:r>
          </a:p>
        </p:txBody>
      </p:sp>
    </p:spTree>
    <p:extLst>
      <p:ext uri="{BB962C8B-B14F-4D97-AF65-F5344CB8AC3E}">
        <p14:creationId xmlns:p14="http://schemas.microsoft.com/office/powerpoint/2010/main" val="360310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B0A1C-3EB5-DE7F-2DD9-D58171A600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29C4A44-31D1-90B8-362D-A0A5758DC649}"/>
              </a:ext>
            </a:extLst>
          </p:cNvPr>
          <p:cNvSpPr>
            <a:spLocks noGrp="1"/>
          </p:cNvSpPr>
          <p:nvPr>
            <p:ph type="title"/>
          </p:nvPr>
        </p:nvSpPr>
        <p:spPr/>
        <p:txBody>
          <a:bodyPr/>
          <a:lstStyle/>
          <a:p>
            <a:r>
              <a:rPr lang="en-IN"/>
              <a:t>Communication Signals (1 of 2)</a:t>
            </a:r>
          </a:p>
        </p:txBody>
      </p:sp>
      <p:sp>
        <p:nvSpPr>
          <p:cNvPr id="6" name="Text Placeholder 5">
            <a:extLst>
              <a:ext uri="{FF2B5EF4-FFF2-40B4-BE49-F238E27FC236}">
                <a16:creationId xmlns:a16="http://schemas.microsoft.com/office/drawing/2014/main" id="{25F35BEE-AEFA-D0FF-54A0-28C5A3F60D9B}"/>
              </a:ext>
            </a:extLst>
          </p:cNvPr>
          <p:cNvSpPr>
            <a:spLocks noGrp="1"/>
          </p:cNvSpPr>
          <p:nvPr>
            <p:ph type="body" idx="1"/>
          </p:nvPr>
        </p:nvSpPr>
        <p:spPr/>
        <p:txBody>
          <a:bodyPr/>
          <a:lstStyle/>
          <a:p>
            <a:r>
              <a:rPr lang="en-US" sz="1800" dirty="0"/>
              <a:t>Voltage can be used as a signal; for example, difference in voltage levels, frequency of change, or switching from positive to negative values can be used as a signal.</a:t>
            </a:r>
          </a:p>
          <a:p>
            <a:r>
              <a:rPr lang="en-US" sz="1800" dirty="0"/>
              <a:t>A computer is capable of reading voltage signals.</a:t>
            </a:r>
          </a:p>
          <a:p>
            <a:r>
              <a:rPr lang="en-US" sz="1800" dirty="0"/>
              <a:t>The voltage signals to the computer can be either analog or digital.</a:t>
            </a:r>
          </a:p>
          <a:p>
            <a:r>
              <a:rPr lang="en-US" sz="1800" dirty="0"/>
              <a:t>Analog means a voltage signal is infinitely variable, or can be changed, within a given range.</a:t>
            </a:r>
          </a:p>
          <a:p>
            <a:r>
              <a:rPr lang="en-US" sz="1800" dirty="0"/>
              <a:t>Digital means a voltage signal that is in one of two states—either on-off, yes-no, or high-low.</a:t>
            </a:r>
          </a:p>
          <a:p>
            <a:r>
              <a:rPr lang="en-US" sz="1800" dirty="0"/>
              <a:t>Digital signals produce a square wave.</a:t>
            </a:r>
          </a:p>
          <a:p>
            <a:r>
              <a:rPr lang="en-US" sz="1800" dirty="0"/>
              <a:t>The wave represents the immediate change in the voltage signal. It is called a </a:t>
            </a:r>
            <a:r>
              <a:rPr lang="en-US" sz="1800" b="1" dirty="0"/>
              <a:t>square</a:t>
            </a:r>
            <a:r>
              <a:rPr lang="en-US" sz="1800" dirty="0"/>
              <a:t> </a:t>
            </a:r>
            <a:r>
              <a:rPr lang="en-US" sz="1800" b="1" dirty="0"/>
              <a:t>wave</a:t>
            </a:r>
            <a:r>
              <a:rPr lang="en-US" sz="1800" dirty="0"/>
              <a:t> because the digital signal creates a series of horizontal and vertical lines that connect to form a square-shaped pattern on a scope.</a:t>
            </a:r>
          </a:p>
          <a:p>
            <a:r>
              <a:rPr lang="en-US" sz="1800" dirty="0"/>
              <a:t>In a digital signal, voltage is represented by a series of digits, which create a binary code.</a:t>
            </a:r>
          </a:p>
        </p:txBody>
      </p:sp>
    </p:spTree>
    <p:extLst>
      <p:ext uri="{BB962C8B-B14F-4D97-AF65-F5344CB8AC3E}">
        <p14:creationId xmlns:p14="http://schemas.microsoft.com/office/powerpoint/2010/main" val="1086336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4755-60C2-8BE7-2851-8D66156B93A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03F500-273E-F196-2DBE-847B89F7567F}"/>
              </a:ext>
            </a:extLst>
          </p:cNvPr>
          <p:cNvSpPr>
            <a:spLocks noGrp="1"/>
          </p:cNvSpPr>
          <p:nvPr>
            <p:ph type="title"/>
          </p:nvPr>
        </p:nvSpPr>
        <p:spPr/>
        <p:txBody>
          <a:bodyPr/>
          <a:lstStyle/>
          <a:p>
            <a:r>
              <a:rPr lang="en-IN"/>
              <a:t>Communication Signals (2 of 2)</a:t>
            </a:r>
          </a:p>
        </p:txBody>
      </p:sp>
      <p:sp>
        <p:nvSpPr>
          <p:cNvPr id="6" name="Text Placeholder 5">
            <a:extLst>
              <a:ext uri="{FF2B5EF4-FFF2-40B4-BE49-F238E27FC236}">
                <a16:creationId xmlns:a16="http://schemas.microsoft.com/office/drawing/2014/main" id="{3020AFDD-AE1B-9ACB-968F-49FC800BFFA7}"/>
              </a:ext>
            </a:extLst>
          </p:cNvPr>
          <p:cNvSpPr>
            <a:spLocks noGrp="1"/>
          </p:cNvSpPr>
          <p:nvPr>
            <p:ph type="body" idx="1"/>
          </p:nvPr>
        </p:nvSpPr>
        <p:spPr/>
        <p:txBody>
          <a:bodyPr/>
          <a:lstStyle/>
          <a:p>
            <a:r>
              <a:rPr lang="en-US" sz="1800"/>
              <a:t>Most input sensors produce a constantly variable voltage signal.</a:t>
            </a:r>
          </a:p>
          <a:p>
            <a:r>
              <a:rPr lang="en-US" sz="1800"/>
              <a:t>For example, the voltage signal from an ambient temperature sensor never changes abruptly. </a:t>
            </a:r>
          </a:p>
          <a:p>
            <a:r>
              <a:rPr lang="en-US" sz="1800"/>
              <a:t>The signal corresponds with a gradual increase or decrease in temperature and is therefore an analog signal.</a:t>
            </a:r>
          </a:p>
          <a:p>
            <a:r>
              <a:rPr lang="en-US" sz="1800"/>
              <a:t>Some inputs, such as switches and some speed sensors, output a digital signal. A computer can only read a digital binary signal.</a:t>
            </a:r>
          </a:p>
          <a:p>
            <a:r>
              <a:rPr lang="en-US" sz="1800"/>
              <a:t>To overcome this communication problem, all analog voltage signals are converted to a digital format by a device known as an analog-to-digital converter (A/D converter).</a:t>
            </a:r>
          </a:p>
          <a:p>
            <a:r>
              <a:rPr lang="en-US" sz="1800"/>
              <a:t>The A/D converter is located in the processor.</a:t>
            </a:r>
          </a:p>
          <a:p>
            <a:r>
              <a:rPr lang="en-US" sz="1800"/>
              <a:t>The </a:t>
            </a:r>
            <a:r>
              <a:rPr lang="en-US" sz="1800" b="1"/>
              <a:t>A/D converter </a:t>
            </a:r>
            <a:r>
              <a:rPr lang="en-US" sz="1800"/>
              <a:t>changes a series of signals to a binary number made up of 1s and 0s.</a:t>
            </a:r>
          </a:p>
          <a:p>
            <a:r>
              <a:rPr lang="en-US" sz="1800"/>
              <a:t>Voltage above a given value converts to 1, and zero voltage converts to 0.</a:t>
            </a:r>
          </a:p>
          <a:p>
            <a:r>
              <a:rPr lang="en-US" sz="1800"/>
              <a:t>Each 1 or 0 represents a bit of information, eight bits equal a byte.</a:t>
            </a:r>
          </a:p>
          <a:p>
            <a:r>
              <a:rPr lang="en-US" sz="1800"/>
              <a:t>All communication between the CPU, the memories, and the interfaces is in binary code, with each information exchange in the form of a byte.</a:t>
            </a:r>
          </a:p>
        </p:txBody>
      </p:sp>
    </p:spTree>
    <p:extLst>
      <p:ext uri="{BB962C8B-B14F-4D97-AF65-F5344CB8AC3E}">
        <p14:creationId xmlns:p14="http://schemas.microsoft.com/office/powerpoint/2010/main" val="3606662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318AEDAB-3070-B31E-8938-34877F06C83E}"/>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E36FD53A-0E69-4CC6-4E70-C18DFCDED4B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Memories</a:t>
            </a:r>
            <a:endParaRPr dirty="0"/>
          </a:p>
        </p:txBody>
      </p:sp>
      <p:sp>
        <p:nvSpPr>
          <p:cNvPr id="2" name="Text Placeholder 1">
            <a:extLst>
              <a:ext uri="{FF2B5EF4-FFF2-40B4-BE49-F238E27FC236}">
                <a16:creationId xmlns:a16="http://schemas.microsoft.com/office/drawing/2014/main" id="{E2D56482-D6F9-5EFF-7C8A-4CE39728A1B9}"/>
              </a:ext>
            </a:extLst>
          </p:cNvPr>
          <p:cNvSpPr>
            <a:spLocks noGrp="1"/>
          </p:cNvSpPr>
          <p:nvPr>
            <p:ph type="body" idx="1"/>
          </p:nvPr>
        </p:nvSpPr>
        <p:spPr>
          <a:xfrm>
            <a:off x="476844" y="1433686"/>
            <a:ext cx="6512414" cy="4649120"/>
          </a:xfrm>
        </p:spPr>
        <p:txBody>
          <a:bodyPr/>
          <a:lstStyle/>
          <a:p>
            <a:r>
              <a:rPr lang="en-US" sz="1800" dirty="0"/>
              <a:t>A computer’s memory holds the programs and other data, such as vehicle calibrations, which the CPU refers to while making calculations.</a:t>
            </a:r>
          </a:p>
          <a:p>
            <a:r>
              <a:rPr lang="en-US" sz="1800" dirty="0"/>
              <a:t>The program is a set of instructions or procedures that it must follow.</a:t>
            </a:r>
          </a:p>
          <a:p>
            <a:r>
              <a:rPr lang="en-US" sz="1800" dirty="0"/>
              <a:t>Included in the program are look-up tables that tell the computer when to retrieve an input (based on temperature, time, etc.), how to process it, and what to do with it after it has been processed.</a:t>
            </a:r>
          </a:p>
          <a:p>
            <a:r>
              <a:rPr lang="en-US" sz="1800" b="1" dirty="0"/>
              <a:t>Look-up tables </a:t>
            </a:r>
            <a:r>
              <a:rPr lang="en-US" sz="1800" dirty="0"/>
              <a:t>are sets of instructions, and there is one for every possible condition the computer may detect.</a:t>
            </a:r>
          </a:p>
          <a:p>
            <a:r>
              <a:rPr lang="en-US" sz="1800" dirty="0"/>
              <a:t>Three types of memory are used in automotive CPUs today: read-only memory, programmable read-only memory, and random-access memory.</a:t>
            </a:r>
          </a:p>
        </p:txBody>
      </p:sp>
      <p:pic>
        <p:nvPicPr>
          <p:cNvPr id="5" name="Picture Placeholder 4" descr="The communication between microprocessor, bus unit, and memory. The Microprocessor unit consists of a Control unit, u A R T, and an Analog to digital converter. The control unit consists of the Instruction register, Accumulator, Data counter, Program counter, and A L U. The three bus units are as follows: clock bus, data bus, and address bus. The three types of memory are as follows: R A M memory, R O M memory, and P R O M memory. The data counter is connected to the clock bus, which is further connected to R A M memory. Four inputs from the control unit are connected to the data bus, which is further connected to R A M memory. The data counter in the control unit is connected to the clock bus, which is connected to ROM memory. The program counter is connected to the clock bus. Six inputs from the microprocessor are connected to R O M memory. Another six inputs from the microprocessor are connected to the data bus. u A R T is connected to the clock bus, which is further connected to P R O M memory. A/ D converter is connected to the clock bus. Six input data buses are connected to PROM memory. Six inputs from the address bus are connected to R A M memory. Six inputs from the address bus are connected to ROM memory. Six inputs from the address bus are connected to P R O M memory.">
            <a:extLst>
              <a:ext uri="{FF2B5EF4-FFF2-40B4-BE49-F238E27FC236}">
                <a16:creationId xmlns:a16="http://schemas.microsoft.com/office/drawing/2014/main" id="{D7B2D956-B524-0A66-D10A-CA5C814FC777}"/>
              </a:ext>
            </a:extLst>
          </p:cNvPr>
          <p:cNvPicPr>
            <a:picLocks noGrp="1" noChangeAspect="1"/>
          </p:cNvPicPr>
          <p:nvPr>
            <p:ph type="pic" sz="quarter" idx="10"/>
          </p:nvPr>
        </p:nvPicPr>
        <p:blipFill>
          <a:blip r:embed="rId3"/>
          <a:srcRect b="3499"/>
          <a:stretch/>
        </p:blipFill>
        <p:spPr>
          <a:xfrm>
            <a:off x="6989258" y="1538737"/>
            <a:ext cx="4500855" cy="4327807"/>
          </a:xfrm>
          <a:prstGeom prst="rect">
            <a:avLst/>
          </a:prstGeom>
        </p:spPr>
      </p:pic>
    </p:spTree>
    <p:extLst>
      <p:ext uri="{BB962C8B-B14F-4D97-AF65-F5344CB8AC3E}">
        <p14:creationId xmlns:p14="http://schemas.microsoft.com/office/powerpoint/2010/main" val="2483713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B4470-7626-07FB-FB31-8D3D9467E41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825B40-12A9-256F-A898-A450AB782C31}"/>
              </a:ext>
            </a:extLst>
          </p:cNvPr>
          <p:cNvSpPr>
            <a:spLocks noGrp="1"/>
          </p:cNvSpPr>
          <p:nvPr>
            <p:ph type="title"/>
          </p:nvPr>
        </p:nvSpPr>
        <p:spPr/>
        <p:txBody>
          <a:bodyPr/>
          <a:lstStyle/>
          <a:p>
            <a:r>
              <a:rPr lang="en-IN"/>
              <a:t>Awake/Sleep Modes</a:t>
            </a:r>
          </a:p>
        </p:txBody>
      </p:sp>
      <p:sp>
        <p:nvSpPr>
          <p:cNvPr id="6" name="Text Placeholder 5">
            <a:extLst>
              <a:ext uri="{FF2B5EF4-FFF2-40B4-BE49-F238E27FC236}">
                <a16:creationId xmlns:a16="http://schemas.microsoft.com/office/drawing/2014/main" id="{6ADD0B5D-C689-6265-835E-512FE140AB59}"/>
              </a:ext>
            </a:extLst>
          </p:cNvPr>
          <p:cNvSpPr>
            <a:spLocks noGrp="1"/>
          </p:cNvSpPr>
          <p:nvPr>
            <p:ph type="body" idx="1"/>
          </p:nvPr>
        </p:nvSpPr>
        <p:spPr/>
        <p:txBody>
          <a:bodyPr/>
          <a:lstStyle/>
          <a:p>
            <a:r>
              <a:rPr lang="en-US" sz="2400"/>
              <a:t>The control modules can control or perform all their functions in the awake mode.</a:t>
            </a:r>
          </a:p>
          <a:p>
            <a:r>
              <a:rPr lang="en-US" sz="2400"/>
              <a:t>They enter a sleep mode when normal control or monitoring of the system functions has stopped, and a time limit has passed.</a:t>
            </a:r>
          </a:p>
          <a:p>
            <a:r>
              <a:rPr lang="en-US" sz="2400"/>
              <a:t>There is still some activity during the sleep mode; what occurs depends on the system.</a:t>
            </a:r>
          </a:p>
          <a:p>
            <a:r>
              <a:rPr lang="en-US" sz="2400"/>
              <a:t>Basically, during the sleep mode, only enough power is used to maintain memory and for periodic monitoring of some systems.</a:t>
            </a:r>
          </a:p>
          <a:p>
            <a:r>
              <a:rPr lang="en-US" sz="2400"/>
              <a:t>Once normal computer activity is called for, the computer wakes up and resumes its normal functions.</a:t>
            </a:r>
          </a:p>
        </p:txBody>
      </p:sp>
    </p:spTree>
    <p:extLst>
      <p:ext uri="{BB962C8B-B14F-4D97-AF65-F5344CB8AC3E}">
        <p14:creationId xmlns:p14="http://schemas.microsoft.com/office/powerpoint/2010/main" val="4183104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F926E67E-EECE-2AB4-4176-6D9BE88E37C3}"/>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A06B756E-6162-C621-D87E-D782E5D86E6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By-Wire Technology</a:t>
            </a:r>
            <a:endParaRPr dirty="0"/>
          </a:p>
        </p:txBody>
      </p:sp>
      <p:sp>
        <p:nvSpPr>
          <p:cNvPr id="2" name="Text Placeholder 1">
            <a:extLst>
              <a:ext uri="{FF2B5EF4-FFF2-40B4-BE49-F238E27FC236}">
                <a16:creationId xmlns:a16="http://schemas.microsoft.com/office/drawing/2014/main" id="{512B65E3-1EFB-22C7-D54A-50A55519B4AF}"/>
              </a:ext>
            </a:extLst>
          </p:cNvPr>
          <p:cNvSpPr>
            <a:spLocks noGrp="1"/>
          </p:cNvSpPr>
          <p:nvPr>
            <p:ph type="body" idx="1"/>
          </p:nvPr>
        </p:nvSpPr>
        <p:spPr>
          <a:xfrm>
            <a:off x="476845" y="1433686"/>
            <a:ext cx="5266409" cy="4649120"/>
          </a:xfrm>
        </p:spPr>
        <p:txBody>
          <a:bodyPr/>
          <a:lstStyle/>
          <a:p>
            <a:r>
              <a:rPr lang="en-US" sz="1800"/>
              <a:t>One of the things that has become a reality because of the high-powered computers used in today’s vehicles is by-wire technology.</a:t>
            </a:r>
          </a:p>
          <a:p>
            <a:r>
              <a:rPr lang="en-US" sz="1800"/>
              <a:t>Currently, this technology has eliminated the mechanical connection from the throttle pedal and the fuel injection system.</a:t>
            </a:r>
          </a:p>
          <a:p>
            <a:r>
              <a:rPr lang="en-US" sz="1800"/>
              <a:t>This unit is called the electronic throttle control unit. </a:t>
            </a:r>
          </a:p>
          <a:p>
            <a:r>
              <a:rPr lang="en-US" sz="1800"/>
              <a:t>Shift-by-wire technology is also used.</a:t>
            </a:r>
          </a:p>
          <a:p>
            <a:r>
              <a:rPr lang="en-US" sz="1800"/>
              <a:t>It is also being used by manufacturers in brake systems and adaptive cruise control.</a:t>
            </a:r>
          </a:p>
          <a:p>
            <a:r>
              <a:rPr lang="en-US" sz="1800"/>
              <a:t>Nissan has a steer-by-wire system.</a:t>
            </a:r>
          </a:p>
        </p:txBody>
      </p:sp>
      <p:pic>
        <p:nvPicPr>
          <p:cNvPr id="6" name="Picture Placeholder 5" descr="An illustration depicts the mechanical linkage between the throttle pedal and fuel injection system. The parts of fuel injection system are as follows: limp mode lever, throttle valve, and acceleration pedal position sensor. The parts of the throttle pedal are as follows: Throttle position sensor, Throttle control motor, and Magnetic clutch.">
            <a:extLst>
              <a:ext uri="{FF2B5EF4-FFF2-40B4-BE49-F238E27FC236}">
                <a16:creationId xmlns:a16="http://schemas.microsoft.com/office/drawing/2014/main" id="{5A0B2AB6-3353-5AB4-9363-7FE12B160136}"/>
              </a:ext>
            </a:extLst>
          </p:cNvPr>
          <p:cNvPicPr>
            <a:picLocks noGrp="1" noChangeAspect="1"/>
          </p:cNvPicPr>
          <p:nvPr>
            <p:ph type="pic" sz="quarter" idx="10"/>
          </p:nvPr>
        </p:nvPicPr>
        <p:blipFill>
          <a:blip r:embed="rId3"/>
          <a:srcRect b="9708"/>
          <a:stretch/>
        </p:blipFill>
        <p:spPr>
          <a:xfrm>
            <a:off x="5873901" y="1972752"/>
            <a:ext cx="5930780" cy="3195149"/>
          </a:xfrm>
          <a:prstGeom prst="rect">
            <a:avLst/>
          </a:prstGeom>
        </p:spPr>
      </p:pic>
    </p:spTree>
    <p:extLst>
      <p:ext uri="{BB962C8B-B14F-4D97-AF65-F5344CB8AC3E}">
        <p14:creationId xmlns:p14="http://schemas.microsoft.com/office/powerpoint/2010/main" val="3636429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5DA65A6A-E5BF-BF4C-62F4-956B74AA1BFE}"/>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268C00C8-9CF6-8D48-DF33-6B2885A727D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Multiplexing</a:t>
            </a:r>
            <a:endParaRPr dirty="0"/>
          </a:p>
        </p:txBody>
      </p:sp>
      <p:sp>
        <p:nvSpPr>
          <p:cNvPr id="2" name="Text Placeholder 1">
            <a:extLst>
              <a:ext uri="{FF2B5EF4-FFF2-40B4-BE49-F238E27FC236}">
                <a16:creationId xmlns:a16="http://schemas.microsoft.com/office/drawing/2014/main" id="{9D211035-7687-A599-4885-6873662FBF66}"/>
              </a:ext>
            </a:extLst>
          </p:cNvPr>
          <p:cNvSpPr>
            <a:spLocks noGrp="1"/>
          </p:cNvSpPr>
          <p:nvPr>
            <p:ph type="body" idx="1"/>
          </p:nvPr>
        </p:nvSpPr>
        <p:spPr>
          <a:xfrm>
            <a:off x="476845" y="1433686"/>
            <a:ext cx="7204212" cy="4649120"/>
          </a:xfrm>
        </p:spPr>
        <p:txBody>
          <a:bodyPr/>
          <a:lstStyle/>
          <a:p>
            <a:pPr marL="0" indent="0">
              <a:buNone/>
            </a:pPr>
            <a:r>
              <a:rPr lang="en-US" sz="1800" b="1" dirty="0"/>
              <a:t>22.05 Explain the principle of multiplexing.</a:t>
            </a:r>
          </a:p>
          <a:p>
            <a:r>
              <a:rPr lang="en-US" sz="1800" dirty="0"/>
              <a:t>Communication can take place through wires connecting each sensor and circuit to the appropriate control module.</a:t>
            </a:r>
          </a:p>
          <a:p>
            <a:r>
              <a:rPr lang="en-US" sz="1800" dirty="0"/>
              <a:t>If more than one control module is involved, additional pairs of wires must connect the sensor or circuit to the other modules.</a:t>
            </a:r>
          </a:p>
          <a:p>
            <a:r>
              <a:rPr lang="en-US" sz="1800" dirty="0"/>
              <a:t>The result of this communication network is miles of wires and hundreds of connectors.</a:t>
            </a:r>
          </a:p>
          <a:p>
            <a:r>
              <a:rPr lang="en-US" sz="1800" dirty="0"/>
              <a:t>To eliminate the need for all of these wires, manufacturers are using multiplexing.</a:t>
            </a:r>
          </a:p>
          <a:p>
            <a:r>
              <a:rPr lang="en-US" sz="1800" b="1" dirty="0"/>
              <a:t>Multiplexing</a:t>
            </a:r>
            <a:r>
              <a:rPr lang="en-US" sz="1800" dirty="0"/>
              <a:t> provides efficient communications between vehicle systems.</a:t>
            </a:r>
          </a:p>
          <a:p>
            <a:r>
              <a:rPr lang="en-US" sz="1800" dirty="0"/>
              <a:t>Multiplexing relies on communication over one or two wires that allows many systems to communicate instead of using many wires. </a:t>
            </a:r>
          </a:p>
        </p:txBody>
      </p:sp>
      <p:pic>
        <p:nvPicPr>
          <p:cNvPr id="8" name="Picture Placeholder 7" descr="The communication between various control modules and a multiplexer. The serial data bus has four ports on either side. Input is fed to each of the ports. The ports on the left include the Engine management module, Transmission module, Electronic brake module, and Active suspension module. The ports on the right include the H V A C module, the Central body control module, the Adaptive cruise module, and the Occupant safety module. The serial data bus is further connected to the diagnostic port.">
            <a:extLst>
              <a:ext uri="{FF2B5EF4-FFF2-40B4-BE49-F238E27FC236}">
                <a16:creationId xmlns:a16="http://schemas.microsoft.com/office/drawing/2014/main" id="{F02DF207-0826-1A70-3276-75C3C0A10676}"/>
              </a:ext>
            </a:extLst>
          </p:cNvPr>
          <p:cNvPicPr>
            <a:picLocks noGrp="1" noChangeAspect="1"/>
          </p:cNvPicPr>
          <p:nvPr>
            <p:ph type="pic" sz="quarter" idx="10"/>
          </p:nvPr>
        </p:nvPicPr>
        <p:blipFill>
          <a:blip r:embed="rId3"/>
          <a:srcRect b="10182"/>
          <a:stretch/>
        </p:blipFill>
        <p:spPr>
          <a:xfrm>
            <a:off x="7766119" y="1826021"/>
            <a:ext cx="4034098" cy="3547363"/>
          </a:xfrm>
          <a:prstGeom prst="rect">
            <a:avLst/>
          </a:prstGeom>
        </p:spPr>
      </p:pic>
    </p:spTree>
    <p:extLst>
      <p:ext uri="{BB962C8B-B14F-4D97-AF65-F5344CB8AC3E}">
        <p14:creationId xmlns:p14="http://schemas.microsoft.com/office/powerpoint/2010/main" val="2727268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573DF-88C8-FA93-F00A-F7D677D1DAA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3357EA-A104-73BB-8419-07EDA33F8A7B}"/>
              </a:ext>
            </a:extLst>
          </p:cNvPr>
          <p:cNvSpPr>
            <a:spLocks noGrp="1"/>
          </p:cNvSpPr>
          <p:nvPr>
            <p:ph type="title"/>
          </p:nvPr>
        </p:nvSpPr>
        <p:spPr/>
        <p:txBody>
          <a:bodyPr/>
          <a:lstStyle/>
          <a:p>
            <a:r>
              <a:rPr lang="en-IN"/>
              <a:t>Advantages</a:t>
            </a:r>
          </a:p>
        </p:txBody>
      </p:sp>
      <p:sp>
        <p:nvSpPr>
          <p:cNvPr id="6" name="Text Placeholder 5">
            <a:extLst>
              <a:ext uri="{FF2B5EF4-FFF2-40B4-BE49-F238E27FC236}">
                <a16:creationId xmlns:a16="http://schemas.microsoft.com/office/drawing/2014/main" id="{B56548C7-FC4C-E388-2F7E-376D9D399F5C}"/>
              </a:ext>
            </a:extLst>
          </p:cNvPr>
          <p:cNvSpPr>
            <a:spLocks noGrp="1"/>
          </p:cNvSpPr>
          <p:nvPr>
            <p:ph type="body" idx="1"/>
          </p:nvPr>
        </p:nvSpPr>
        <p:spPr/>
        <p:txBody>
          <a:bodyPr/>
          <a:lstStyle/>
          <a:p>
            <a:pPr marL="0" indent="0">
              <a:buNone/>
            </a:pPr>
            <a:r>
              <a:rPr lang="en-US" sz="2200" b="1"/>
              <a:t>22.04 Explain the advantages of using electronic control systems.</a:t>
            </a:r>
          </a:p>
          <a:p>
            <a:r>
              <a:rPr lang="en-US" sz="2200"/>
              <a:t>Here are some of the advantages multiplexing offers over traditional wiring: </a:t>
            </a:r>
          </a:p>
          <a:p>
            <a:pPr lvl="1"/>
            <a:r>
              <a:rPr lang="en-US" sz="2000"/>
              <a:t>The need for redundant sensors is eliminated because sensor data, such as vehicle speed and engine temperature, are available on the serial data bus where they can be used by several control modules.</a:t>
            </a:r>
          </a:p>
          <a:p>
            <a:pPr lvl="1"/>
            <a:r>
              <a:rPr lang="en-US" sz="2000"/>
              <a:t>Accessories and vehicle features can be easily added to the vehicle through software changes.</a:t>
            </a:r>
          </a:p>
          <a:p>
            <a:pPr lvl="1"/>
            <a:r>
              <a:rPr lang="en-US" sz="2000"/>
              <a:t>Fewer wires are required for the operation of each system, which means smaller wiring harnesses, lower cost and weight, and improved serviceability, reliability, and installation.</a:t>
            </a:r>
          </a:p>
          <a:p>
            <a:pPr lvl="1"/>
            <a:r>
              <a:rPr lang="en-US" sz="2000"/>
              <a:t>Without multiplexing, it is necessary to add a ground, a power source, and control wires whenever an electronic component is added to the vehicle.</a:t>
            </a:r>
          </a:p>
        </p:txBody>
      </p:sp>
    </p:spTree>
    <p:extLst>
      <p:ext uri="{BB962C8B-B14F-4D97-AF65-F5344CB8AC3E}">
        <p14:creationId xmlns:p14="http://schemas.microsoft.com/office/powerpoint/2010/main" val="1596113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4529447C-61A9-0F67-04BE-B11B8A07F4F3}"/>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DB184487-5AA7-28F7-A273-5A0638FE530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Communication Protocols (1 of 2)</a:t>
            </a:r>
            <a:endParaRPr dirty="0"/>
          </a:p>
        </p:txBody>
      </p:sp>
      <p:sp>
        <p:nvSpPr>
          <p:cNvPr id="2" name="Text Placeholder 1">
            <a:extLst>
              <a:ext uri="{FF2B5EF4-FFF2-40B4-BE49-F238E27FC236}">
                <a16:creationId xmlns:a16="http://schemas.microsoft.com/office/drawing/2014/main" id="{0EA40BC0-EA23-EE7C-9555-0FC12E2E6A79}"/>
              </a:ext>
            </a:extLst>
          </p:cNvPr>
          <p:cNvSpPr>
            <a:spLocks noGrp="1"/>
          </p:cNvSpPr>
          <p:nvPr>
            <p:ph type="body" idx="1"/>
          </p:nvPr>
        </p:nvSpPr>
        <p:spPr>
          <a:xfrm>
            <a:off x="476845" y="1433686"/>
            <a:ext cx="7204212" cy="4649120"/>
          </a:xfrm>
        </p:spPr>
        <p:txBody>
          <a:bodyPr/>
          <a:lstStyle/>
          <a:p>
            <a:pPr marL="0" indent="0">
              <a:buNone/>
            </a:pPr>
            <a:r>
              <a:rPr lang="en-US" sz="2000" b="1"/>
              <a:t>22.06 Explain the principle of computer communications.</a:t>
            </a:r>
          </a:p>
          <a:p>
            <a:r>
              <a:rPr lang="en-US" sz="2000"/>
              <a:t>A protocol is the name for the language that computers speak when they are talking to each other.</a:t>
            </a:r>
          </a:p>
          <a:p>
            <a:r>
              <a:rPr lang="en-US" sz="2000"/>
              <a:t>The differences in protocol are based on the speed and the technique used. The SAE has classified the different protocols by their speed and operation.</a:t>
            </a:r>
          </a:p>
          <a:p>
            <a:r>
              <a:rPr lang="en-US" sz="2000"/>
              <a:t>Class A (low-speed communication):</a:t>
            </a:r>
          </a:p>
          <a:p>
            <a:pPr lvl="1"/>
            <a:r>
              <a:rPr lang="en-US" sz="1800"/>
              <a:t>This is used for convenience systems, such as audio, trip computer, seat controls, windows, and lighting. Most Class A functions require inexpensive, low-speed communication and use a generic universal asynchronous receiver/transmitter (UART).</a:t>
            </a:r>
          </a:p>
        </p:txBody>
      </p:sp>
      <p:pic>
        <p:nvPicPr>
          <p:cNvPr id="5" name="Picture Placeholder 4" descr="A circular flow diagram depicts the configuration of the M O S T bus. The modules are listed from the top in the clockwise direction as follows: M O S T module 2, M O S T module 3, M O S T module 4, M O S T module 5, M O S T module 6, M O S T module 7, M O S T module 8, and M O S T module 1.">
            <a:extLst>
              <a:ext uri="{FF2B5EF4-FFF2-40B4-BE49-F238E27FC236}">
                <a16:creationId xmlns:a16="http://schemas.microsoft.com/office/drawing/2014/main" id="{DC05AC2C-06B2-786C-C0EE-D6D0DDD1F712}"/>
              </a:ext>
            </a:extLst>
          </p:cNvPr>
          <p:cNvPicPr>
            <a:picLocks noGrp="1" noChangeAspect="1"/>
          </p:cNvPicPr>
          <p:nvPr>
            <p:ph type="pic" sz="quarter" idx="10"/>
          </p:nvPr>
        </p:nvPicPr>
        <p:blipFill rotWithShape="1">
          <a:blip r:embed="rId3"/>
          <a:srcRect b="9778"/>
          <a:stretch/>
        </p:blipFill>
        <p:spPr>
          <a:xfrm>
            <a:off x="7681057" y="1967583"/>
            <a:ext cx="4194345" cy="3231141"/>
          </a:xfrm>
          <a:prstGeom prst="rect">
            <a:avLst/>
          </a:prstGeom>
        </p:spPr>
      </p:pic>
    </p:spTree>
    <p:extLst>
      <p:ext uri="{BB962C8B-B14F-4D97-AF65-F5344CB8AC3E}">
        <p14:creationId xmlns:p14="http://schemas.microsoft.com/office/powerpoint/2010/main" val="3890266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5390D3-8CBF-EF04-59B5-3C5655968317}"/>
              </a:ext>
            </a:extLst>
          </p:cNvPr>
          <p:cNvSpPr>
            <a:spLocks noGrp="1"/>
          </p:cNvSpPr>
          <p:nvPr>
            <p:ph type="title"/>
          </p:nvPr>
        </p:nvSpPr>
        <p:spPr/>
        <p:txBody>
          <a:bodyPr/>
          <a:lstStyle/>
          <a:p>
            <a:r>
              <a:rPr lang="en-US"/>
              <a:t>Communication Protocols (2 of 2)</a:t>
            </a:r>
            <a:endParaRPr lang="en-IN"/>
          </a:p>
        </p:txBody>
      </p:sp>
      <p:sp>
        <p:nvSpPr>
          <p:cNvPr id="6" name="Text Placeholder 5">
            <a:extLst>
              <a:ext uri="{FF2B5EF4-FFF2-40B4-BE49-F238E27FC236}">
                <a16:creationId xmlns:a16="http://schemas.microsoft.com/office/drawing/2014/main" id="{29185531-3959-928E-F853-1C3F382AB66A}"/>
              </a:ext>
            </a:extLst>
          </p:cNvPr>
          <p:cNvSpPr>
            <a:spLocks noGrp="1"/>
          </p:cNvSpPr>
          <p:nvPr>
            <p:ph type="body" idx="1"/>
          </p:nvPr>
        </p:nvSpPr>
        <p:spPr>
          <a:xfrm>
            <a:off x="476843" y="1433686"/>
            <a:ext cx="11241915" cy="4613339"/>
          </a:xfrm>
        </p:spPr>
        <p:txBody>
          <a:bodyPr/>
          <a:lstStyle/>
          <a:p>
            <a:r>
              <a:rPr lang="en-US" sz="2000"/>
              <a:t>Class B (medium-speed communication)</a:t>
            </a:r>
          </a:p>
          <a:p>
            <a:pPr lvl="1"/>
            <a:r>
              <a:rPr lang="en-US" sz="1800"/>
              <a:t>Used primarily with the instrument cluster, vehicle speed, and emissions data recording. Contained within this classification are different standards, designated by a number. The most commonly used is the SAE J1850 standard.</a:t>
            </a:r>
          </a:p>
          <a:p>
            <a:r>
              <a:rPr lang="en-US" sz="2000"/>
              <a:t>Class C (high-speed communication):</a:t>
            </a:r>
          </a:p>
          <a:p>
            <a:pPr lvl="1"/>
            <a:r>
              <a:rPr lang="en-US" sz="1800"/>
              <a:t>For communication with powertrain, vehicle dynamics, brake-by-wire, and other systems. This protocol can use a twisted pair, but shielded coaxial cable, Category 5 (Cat 5) network cable, or fiber optics may be used for less noise interference. The predominant class C protocol is CAN 2.0.</a:t>
            </a:r>
          </a:p>
          <a:p>
            <a:r>
              <a:rPr lang="en-US" sz="2000"/>
              <a:t>LIN Bus:</a:t>
            </a:r>
          </a:p>
          <a:p>
            <a:pPr lvl="1"/>
            <a:r>
              <a:rPr lang="en-US" sz="1800"/>
              <a:t>The local interconnect network (LIN) is a single wire serial data network with a master and up to 16 slave modules. LIN is used primarily for low speed (under 20 kbits/s) non-safety-related systems such as power windows and locks, lighting, wipers, and seat controls. An individual switch or smart device may be used as a module on a LIN bus to communicate an input request, such as turning on a heated seat.</a:t>
            </a:r>
          </a:p>
        </p:txBody>
      </p:sp>
    </p:spTree>
    <p:extLst>
      <p:ext uri="{BB962C8B-B14F-4D97-AF65-F5344CB8AC3E}">
        <p14:creationId xmlns:p14="http://schemas.microsoft.com/office/powerpoint/2010/main" val="3923410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AF823A71-0554-609A-D8D5-25B01F445DC7}"/>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A5B02E0E-E8FA-1672-7AFB-125E8FCE129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Can Buses (1 of 3)</a:t>
            </a:r>
            <a:endParaRPr dirty="0"/>
          </a:p>
        </p:txBody>
      </p:sp>
      <p:sp>
        <p:nvSpPr>
          <p:cNvPr id="2" name="Text Placeholder 1">
            <a:extLst>
              <a:ext uri="{FF2B5EF4-FFF2-40B4-BE49-F238E27FC236}">
                <a16:creationId xmlns:a16="http://schemas.microsoft.com/office/drawing/2014/main" id="{82198338-620D-ABA4-8339-CEC0A4146706}"/>
              </a:ext>
            </a:extLst>
          </p:cNvPr>
          <p:cNvSpPr>
            <a:spLocks noGrp="1"/>
          </p:cNvSpPr>
          <p:nvPr>
            <p:ph type="body" idx="1"/>
          </p:nvPr>
        </p:nvSpPr>
        <p:spPr>
          <a:xfrm>
            <a:off x="476845" y="1358530"/>
            <a:ext cx="5798695" cy="4649120"/>
          </a:xfrm>
        </p:spPr>
        <p:txBody>
          <a:bodyPr/>
          <a:lstStyle/>
          <a:p>
            <a:r>
              <a:rPr lang="en-US" sz="2200" dirty="0"/>
              <a:t>The total network in most vehicles comprises three to six HS-CAN buses plus other lower-speed buses.</a:t>
            </a:r>
          </a:p>
          <a:p>
            <a:r>
              <a:rPr lang="en-US" sz="2200" dirty="0"/>
              <a:t>As manufacturers continue to add expansion buses, subdividing sections into small sub-networks, the number of networks increases.</a:t>
            </a:r>
          </a:p>
          <a:p>
            <a:r>
              <a:rPr lang="en-US" sz="2200" dirty="0"/>
              <a:t>Expansion buses are typically not accessible from the DLC.</a:t>
            </a:r>
          </a:p>
          <a:p>
            <a:r>
              <a:rPr lang="en-US" sz="2200" dirty="0"/>
              <a:t>Instead, they are accessed through a gateway or other module.</a:t>
            </a:r>
          </a:p>
          <a:p>
            <a:r>
              <a:rPr lang="en-US" sz="2200" dirty="0"/>
              <a:t>Each of these networks may operate at different speeds.</a:t>
            </a:r>
          </a:p>
        </p:txBody>
      </p:sp>
      <p:pic>
        <p:nvPicPr>
          <p:cNvPr id="6" name="Picture Placeholder 5" descr="The communication system of the Controller Area Network (C A N). Data Link Control (D L C) exchanges the data to the Central gateway module through the Diagnostic C A N C bus. The central gateway module exchanges data with all C A N C modules through the C A N C bus. The central gateway module exchanges data to all C A N B modules and L I N master. The L I N master leads to L I N bus. The L I N buses are as follows: L I N slave 1, L I N slave 2, L I N slave 3, and L I N slave 4. The data from L I N slave are exchanged to L I N master through L I N bus.">
            <a:extLst>
              <a:ext uri="{FF2B5EF4-FFF2-40B4-BE49-F238E27FC236}">
                <a16:creationId xmlns:a16="http://schemas.microsoft.com/office/drawing/2014/main" id="{016A8FE6-BD16-567E-C091-7A8B0862680D}"/>
              </a:ext>
            </a:extLst>
          </p:cNvPr>
          <p:cNvPicPr>
            <a:picLocks noGrp="1" noChangeAspect="1"/>
          </p:cNvPicPr>
          <p:nvPr>
            <p:ph type="pic" sz="quarter" idx="10"/>
          </p:nvPr>
        </p:nvPicPr>
        <p:blipFill>
          <a:blip r:embed="rId3"/>
          <a:srcRect b="6699"/>
          <a:stretch/>
        </p:blipFill>
        <p:spPr>
          <a:xfrm>
            <a:off x="6627812" y="2486411"/>
            <a:ext cx="5355093" cy="2373265"/>
          </a:xfrm>
          <a:prstGeom prst="rect">
            <a:avLst/>
          </a:prstGeom>
        </p:spPr>
      </p:pic>
    </p:spTree>
    <p:extLst>
      <p:ext uri="{BB962C8B-B14F-4D97-AF65-F5344CB8AC3E}">
        <p14:creationId xmlns:p14="http://schemas.microsoft.com/office/powerpoint/2010/main" val="3049742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5F40-142C-990C-3418-4D03CF61F2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B03F79-4318-5070-BB71-02CA44167F72}"/>
              </a:ext>
            </a:extLst>
          </p:cNvPr>
          <p:cNvSpPr>
            <a:spLocks noGrp="1"/>
          </p:cNvSpPr>
          <p:nvPr>
            <p:ph type="title"/>
          </p:nvPr>
        </p:nvSpPr>
        <p:spPr/>
        <p:txBody>
          <a:bodyPr/>
          <a:lstStyle/>
          <a:p>
            <a:r>
              <a:rPr lang="en-US"/>
              <a:t>Can Buses (2 of 3)</a:t>
            </a:r>
            <a:endParaRPr lang="en-IN"/>
          </a:p>
        </p:txBody>
      </p:sp>
      <p:sp>
        <p:nvSpPr>
          <p:cNvPr id="6" name="Text Placeholder 5">
            <a:extLst>
              <a:ext uri="{FF2B5EF4-FFF2-40B4-BE49-F238E27FC236}">
                <a16:creationId xmlns:a16="http://schemas.microsoft.com/office/drawing/2014/main" id="{F787E926-607B-2CB5-4B5A-6832313632DA}"/>
              </a:ext>
            </a:extLst>
          </p:cNvPr>
          <p:cNvSpPr>
            <a:spLocks noGrp="1"/>
          </p:cNvSpPr>
          <p:nvPr>
            <p:ph type="body" idx="1"/>
          </p:nvPr>
        </p:nvSpPr>
        <p:spPr/>
        <p:txBody>
          <a:bodyPr/>
          <a:lstStyle/>
          <a:p>
            <a:r>
              <a:rPr lang="en-US" sz="1800"/>
              <a:t>The different CAN buses are identified by a prefix or suffix.</a:t>
            </a:r>
          </a:p>
          <a:p>
            <a:r>
              <a:rPr lang="en-US" sz="1800"/>
              <a:t>For example, a medium-speed bus may be called CAN B or MS-CAN. Likewise, a high-speed bus can be called CAN C or HS-CAN.</a:t>
            </a:r>
          </a:p>
          <a:p>
            <a:r>
              <a:rPr lang="en-US" sz="1800"/>
              <a:t>Manufacturers are not consistent with these labels, so there are a variety of them. Low- or medium-speed CANs are typically used for body functions, such as:</a:t>
            </a:r>
          </a:p>
          <a:p>
            <a:pPr lvl="1"/>
            <a:r>
              <a:rPr lang="en-US" sz="1600"/>
              <a:t>Interior and exterior lights, Horn, Locks, Windshield wipers, Seats, Windows. Basic sound systems</a:t>
            </a:r>
          </a:p>
          <a:p>
            <a:pPr lvl="1"/>
            <a:r>
              <a:rPr lang="en-US" sz="1600"/>
              <a:t>A high-speed bus is used for real-time functions such as: Engine management, Antilock brake systems, Transmission control, Tire pressure monitoring systems, Vehicle stability systems. Air bag and safety systems</a:t>
            </a:r>
          </a:p>
          <a:p>
            <a:r>
              <a:rPr lang="en-US" sz="1800"/>
              <a:t>These networks are integrated through the use of a </a:t>
            </a:r>
            <a:r>
              <a:rPr lang="en-US" sz="1800" b="1"/>
              <a:t>gateway</a:t>
            </a:r>
            <a:r>
              <a:rPr lang="en-US" sz="1800"/>
              <a:t> which allows for data exchange between the different buses.</a:t>
            </a:r>
          </a:p>
          <a:p>
            <a:r>
              <a:rPr lang="en-US" sz="1800"/>
              <a:t>It translates a message on one bus and transfers that message to another bus without changing the message.</a:t>
            </a:r>
          </a:p>
          <a:p>
            <a:r>
              <a:rPr lang="en-US" sz="1800"/>
              <a:t>The gateway interacts with each bus according to that bus’s protocol. </a:t>
            </a:r>
          </a:p>
        </p:txBody>
      </p:sp>
    </p:spTree>
    <p:extLst>
      <p:ext uri="{BB962C8B-B14F-4D97-AF65-F5344CB8AC3E}">
        <p14:creationId xmlns:p14="http://schemas.microsoft.com/office/powerpoint/2010/main" val="2239871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E7A6D-108C-5702-2877-B38699D979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2E71B1-78E4-39EC-DFBB-196FBC533DA1}"/>
              </a:ext>
            </a:extLst>
          </p:cNvPr>
          <p:cNvSpPr>
            <a:spLocks noGrp="1"/>
          </p:cNvSpPr>
          <p:nvPr>
            <p:ph type="title"/>
          </p:nvPr>
        </p:nvSpPr>
        <p:spPr/>
        <p:txBody>
          <a:bodyPr/>
          <a:lstStyle/>
          <a:p>
            <a:r>
              <a:rPr lang="en-US"/>
              <a:t>Can Buses (3 of 3)</a:t>
            </a:r>
            <a:endParaRPr lang="en-IN"/>
          </a:p>
        </p:txBody>
      </p:sp>
      <p:sp>
        <p:nvSpPr>
          <p:cNvPr id="6" name="Text Placeholder 5">
            <a:extLst>
              <a:ext uri="{FF2B5EF4-FFF2-40B4-BE49-F238E27FC236}">
                <a16:creationId xmlns:a16="http://schemas.microsoft.com/office/drawing/2014/main" id="{69280B52-8E1D-EDFB-1E48-ED18D0707A03}"/>
              </a:ext>
            </a:extLst>
          </p:cNvPr>
          <p:cNvSpPr>
            <a:spLocks noGrp="1"/>
          </p:cNvSpPr>
          <p:nvPr>
            <p:ph type="body" idx="1"/>
          </p:nvPr>
        </p:nvSpPr>
        <p:spPr/>
        <p:txBody>
          <a:bodyPr/>
          <a:lstStyle/>
          <a:p>
            <a:r>
              <a:rPr lang="en-US" sz="1800"/>
              <a:t>Each network bus may carry a different voltage (Figure 22–30), such as a 5- or 7-volt communication signal with a 10- or 12-volt wake-up signal.</a:t>
            </a:r>
          </a:p>
          <a:p>
            <a:r>
              <a:rPr lang="en-US" sz="1800"/>
              <a:t>CAN bus communication uses two wires, Bus + (positive or dominate) and a Bus − (negative or recessive). Both wires carry 2.5 volts when idle or not communicating.</a:t>
            </a:r>
          </a:p>
          <a:p>
            <a:r>
              <a:rPr lang="en-US" sz="1800"/>
              <a:t>During communication, the positive wire signal switches from 2.5 to 3.5 volts and the negative wire drops from 2.5 to 1.5 volts.</a:t>
            </a:r>
          </a:p>
          <a:p>
            <a:r>
              <a:rPr lang="en-US" sz="1800"/>
              <a:t>The signals mirror each other to eliminate electrical noise and reduce communication errors. </a:t>
            </a:r>
          </a:p>
          <a:p>
            <a:r>
              <a:rPr lang="en-US" sz="1800"/>
              <a:t>The difference between the two signals is 2 volts.</a:t>
            </a:r>
          </a:p>
          <a:p>
            <a:r>
              <a:rPr lang="en-US" sz="1800"/>
              <a:t>Even the slightest change in voltage can affect the operation of one or more systems; therefore, all potential for voltage spikes, electrical noise, or induction must be eliminated.</a:t>
            </a:r>
          </a:p>
          <a:p>
            <a:r>
              <a:rPr lang="en-US" sz="1800"/>
              <a:t>Twisting the wires eliminates the possibility of voltage being induced in one wire as current flows through the other.</a:t>
            </a:r>
          </a:p>
          <a:p>
            <a:r>
              <a:rPr lang="en-US" sz="1800"/>
              <a:t>To eliminate other potential spikes and noise, two 120Ω resistors are connected in parallel across the ends of the main CAN bus wires called terminating resistors.</a:t>
            </a:r>
          </a:p>
        </p:txBody>
      </p:sp>
    </p:spTree>
    <p:extLst>
      <p:ext uri="{BB962C8B-B14F-4D97-AF65-F5344CB8AC3E}">
        <p14:creationId xmlns:p14="http://schemas.microsoft.com/office/powerpoint/2010/main" val="1295656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A9693AEC-C9FC-C58D-9AE9-F88B5F37BE33}"/>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0AA94788-074C-DF78-FF8B-2CA83130A96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Lin Buses</a:t>
            </a:r>
            <a:endParaRPr dirty="0"/>
          </a:p>
        </p:txBody>
      </p:sp>
      <p:sp>
        <p:nvSpPr>
          <p:cNvPr id="2" name="Text Placeholder 1">
            <a:extLst>
              <a:ext uri="{FF2B5EF4-FFF2-40B4-BE49-F238E27FC236}">
                <a16:creationId xmlns:a16="http://schemas.microsoft.com/office/drawing/2014/main" id="{1D74F946-DFFE-AAF9-E191-70DD894EB2BA}"/>
              </a:ext>
            </a:extLst>
          </p:cNvPr>
          <p:cNvSpPr>
            <a:spLocks noGrp="1"/>
          </p:cNvSpPr>
          <p:nvPr>
            <p:ph type="body" idx="1"/>
          </p:nvPr>
        </p:nvSpPr>
        <p:spPr>
          <a:xfrm>
            <a:off x="476846" y="1433686"/>
            <a:ext cx="5422914" cy="4649120"/>
          </a:xfrm>
        </p:spPr>
        <p:txBody>
          <a:bodyPr/>
          <a:lstStyle/>
          <a:p>
            <a:r>
              <a:rPr lang="en-US" sz="2000" dirty="0"/>
              <a:t>Local interconnect networks (LINs) are single-wire networks with a master control module, often the BCM or equivalent, and one or more smart switches or sensors.</a:t>
            </a:r>
          </a:p>
          <a:p>
            <a:r>
              <a:rPr lang="en-US" sz="2000" dirty="0"/>
              <a:t>LINs typically operate using a network voltage of 12 volts. When the system is idle, a steady 12 volts will be present on the bus.</a:t>
            </a:r>
          </a:p>
          <a:p>
            <a:r>
              <a:rPr lang="en-US" sz="2000" dirty="0"/>
              <a:t>Modules and smart devices communicate by toggling the 12 volts between approximately 1 volt below the system voltage and 1 volt above the system ground.</a:t>
            </a:r>
          </a:p>
        </p:txBody>
      </p:sp>
      <p:pic>
        <p:nvPicPr>
          <p:cNvPr id="5" name="Picture Placeholder 4" descr="One section of an L I N bus from a modern vehicle. Nine modules at the bottom are labeled in order from left to right as follows: Sunroof module, front seat heating module, Rear seat heating module, Transmission shift lever, L F window switch, L F window motor module, R F window switch, L R window switch, R R window switch. The Sunroof module is connected to the Body control module at the top. The front seat heating module is connected to A 13, the W/ O A 13 is connected rightward to J 212 and downward to the rear seat heating module and the transmission shift lever. All are connected to the body control module at the top. L F window switch and L F window motor module, are connected to J 214, the R F window switch is connected to J 213, and further connected to the Body control module. L R window switch and R R window switch, are connected to J 219, and further connected to the body control module at the top.">
            <a:extLst>
              <a:ext uri="{FF2B5EF4-FFF2-40B4-BE49-F238E27FC236}">
                <a16:creationId xmlns:a16="http://schemas.microsoft.com/office/drawing/2014/main" id="{85CA54F6-5AA0-E62A-3AA1-E3901FEC6416}"/>
              </a:ext>
            </a:extLst>
          </p:cNvPr>
          <p:cNvPicPr>
            <a:picLocks noGrp="1" noChangeAspect="1"/>
          </p:cNvPicPr>
          <p:nvPr>
            <p:ph type="pic" sz="quarter" idx="10"/>
          </p:nvPr>
        </p:nvPicPr>
        <p:blipFill>
          <a:blip r:embed="rId3"/>
          <a:srcRect b="5710"/>
          <a:stretch/>
        </p:blipFill>
        <p:spPr>
          <a:xfrm>
            <a:off x="6025874" y="1971122"/>
            <a:ext cx="5810404" cy="3546100"/>
          </a:xfrm>
          <a:prstGeom prst="rect">
            <a:avLst/>
          </a:prstGeom>
        </p:spPr>
      </p:pic>
    </p:spTree>
    <p:extLst>
      <p:ext uri="{BB962C8B-B14F-4D97-AF65-F5344CB8AC3E}">
        <p14:creationId xmlns:p14="http://schemas.microsoft.com/office/powerpoint/2010/main" val="3267494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BAF3FB88-E96F-0876-57E8-FA744505ACFA}"/>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3C6530C5-7963-BFBF-FB69-7F3039862A8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MOST Networks</a:t>
            </a:r>
            <a:endParaRPr dirty="0"/>
          </a:p>
        </p:txBody>
      </p:sp>
      <p:sp>
        <p:nvSpPr>
          <p:cNvPr id="2" name="Text Placeholder 1">
            <a:extLst>
              <a:ext uri="{FF2B5EF4-FFF2-40B4-BE49-F238E27FC236}">
                <a16:creationId xmlns:a16="http://schemas.microsoft.com/office/drawing/2014/main" id="{E5AFC7EC-9B10-82C9-CC77-ECA7697DBC28}"/>
              </a:ext>
            </a:extLst>
          </p:cNvPr>
          <p:cNvSpPr>
            <a:spLocks noGrp="1"/>
          </p:cNvSpPr>
          <p:nvPr>
            <p:ph type="body" idx="1"/>
          </p:nvPr>
        </p:nvSpPr>
        <p:spPr>
          <a:xfrm>
            <a:off x="476845" y="1433686"/>
            <a:ext cx="6571227" cy="4649120"/>
          </a:xfrm>
        </p:spPr>
        <p:txBody>
          <a:bodyPr/>
          <a:lstStyle/>
          <a:p>
            <a:r>
              <a:rPr lang="en-US" sz="1800" dirty="0"/>
              <a:t>MOST networks are dedicated high-speed</a:t>
            </a:r>
            <a:br>
              <a:rPr lang="en-US" sz="1800" dirty="0"/>
            </a:br>
            <a:r>
              <a:rPr lang="en-US" sz="1800" dirty="0"/>
              <a:t>data-streaming buses for infotainment systems.</a:t>
            </a:r>
          </a:p>
          <a:p>
            <a:r>
              <a:rPr lang="en-US" sz="1800" dirty="0"/>
              <a:t>As with LIN buses, MOST networks are separate from the other HS-CAN networks.</a:t>
            </a:r>
          </a:p>
          <a:p>
            <a:r>
              <a:rPr lang="en-US" sz="1800" dirty="0"/>
              <a:t>The radio unit is typically the MOST master module, which acts as the network controller.</a:t>
            </a:r>
          </a:p>
          <a:p>
            <a:r>
              <a:rPr lang="en-US" sz="1800" dirty="0"/>
              <a:t>Devices on the network receive a low-voltage wakeup message and then report their addresses and functions to the MOST master.</a:t>
            </a:r>
          </a:p>
          <a:p>
            <a:r>
              <a:rPr lang="en-US" sz="1800" dirty="0"/>
              <a:t>The MOST master then orders the devices based on their responses, which will show on a scan tool as nodes, typically listed 1–9 depending on the number of modules on the network.</a:t>
            </a:r>
          </a:p>
          <a:p>
            <a:r>
              <a:rPr lang="en-US" sz="1800" dirty="0"/>
              <a:t>The configuration is stored as the Last Working MOST ID.</a:t>
            </a:r>
          </a:p>
        </p:txBody>
      </p:sp>
      <p:pic>
        <p:nvPicPr>
          <p:cNvPr id="6" name="Picture Placeholder 5" descr="A circuit diagram for an example of an M O S T network with four units labeled Radio, Amplifier, Driver interface module, Instrument panel. The radio at the top left is connected to the Amplifier through four wires, U X 2, X 11, X 11, and U X 2. The amplifier is then connected to the Driver interface module, which is further connected to the instrument panel through four unlabeled connections, that are connected back to the radio at the top left. M O S T networks are dedicated high-speed data-streaming buses for infotainment systems. The radio unit is typically the M O S T master module, which acts as the network controller. Devices on the network receive a low voltage wakeup message and then report their addresses and functions to the M O S T master.">
            <a:extLst>
              <a:ext uri="{FF2B5EF4-FFF2-40B4-BE49-F238E27FC236}">
                <a16:creationId xmlns:a16="http://schemas.microsoft.com/office/drawing/2014/main" id="{971BE549-DF0E-ED66-B0BD-D4805867449A}"/>
              </a:ext>
            </a:extLst>
          </p:cNvPr>
          <p:cNvPicPr>
            <a:picLocks noGrp="1" noChangeAspect="1"/>
          </p:cNvPicPr>
          <p:nvPr>
            <p:ph type="pic" sz="quarter" idx="10"/>
          </p:nvPr>
        </p:nvPicPr>
        <p:blipFill>
          <a:blip r:embed="rId3"/>
          <a:srcRect b="5265"/>
          <a:stretch/>
        </p:blipFill>
        <p:spPr>
          <a:xfrm>
            <a:off x="7496191" y="1585374"/>
            <a:ext cx="4070798" cy="4260622"/>
          </a:xfrm>
          <a:prstGeom prst="rect">
            <a:avLst/>
          </a:prstGeom>
        </p:spPr>
      </p:pic>
    </p:spTree>
    <p:extLst>
      <p:ext uri="{BB962C8B-B14F-4D97-AF65-F5344CB8AC3E}">
        <p14:creationId xmlns:p14="http://schemas.microsoft.com/office/powerpoint/2010/main" val="1669574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63080B-A454-68E5-7EE1-0A92C5E4CDFE}"/>
              </a:ext>
            </a:extLst>
          </p:cNvPr>
          <p:cNvSpPr>
            <a:spLocks noGrp="1"/>
          </p:cNvSpPr>
          <p:nvPr>
            <p:ph type="title"/>
          </p:nvPr>
        </p:nvSpPr>
        <p:spPr/>
        <p:txBody>
          <a:bodyPr/>
          <a:lstStyle/>
          <a:p>
            <a:r>
              <a:rPr lang="en-IN"/>
              <a:t>Protecting Electronic Systems</a:t>
            </a:r>
          </a:p>
        </p:txBody>
      </p:sp>
      <p:sp>
        <p:nvSpPr>
          <p:cNvPr id="6" name="Text Placeholder 5">
            <a:extLst>
              <a:ext uri="{FF2B5EF4-FFF2-40B4-BE49-F238E27FC236}">
                <a16:creationId xmlns:a16="http://schemas.microsoft.com/office/drawing/2014/main" id="{AC23AAB2-E2AF-95B0-35B7-336C212B0157}"/>
              </a:ext>
            </a:extLst>
          </p:cNvPr>
          <p:cNvSpPr>
            <a:spLocks noGrp="1"/>
          </p:cNvSpPr>
          <p:nvPr>
            <p:ph type="body" idx="1"/>
          </p:nvPr>
        </p:nvSpPr>
        <p:spPr/>
        <p:txBody>
          <a:bodyPr/>
          <a:lstStyle/>
          <a:p>
            <a:pPr marL="0" indent="0">
              <a:buNone/>
            </a:pPr>
            <a:r>
              <a:rPr lang="en-US" sz="1800" b="1" dirty="0"/>
              <a:t>22.08 Describe the precautions that must be taken when diagnosing modules and networks.</a:t>
            </a:r>
          </a:p>
          <a:p>
            <a:r>
              <a:rPr lang="en-US" sz="1800" dirty="0"/>
              <a:t>You should be aware of the ways to protect electrical systems and electronic components during storage and repair. Keep the following in mind at all times:</a:t>
            </a:r>
          </a:p>
          <a:p>
            <a:pPr lvl="1"/>
            <a:r>
              <a:rPr lang="en-US" sz="1600" dirty="0"/>
              <a:t>Vehicle computer-controlled systems should avoid giving and receiving jump-starts due to the possibility of damage caused by voltage spikes.</a:t>
            </a:r>
          </a:p>
          <a:p>
            <a:pPr lvl="1"/>
            <a:r>
              <a:rPr lang="en-US" sz="1600" dirty="0"/>
              <a:t>Do not connect or disconnect electronic components with the key on, including scan tools. Never disconnect a scan tool while it is communicating with the vehicle.</a:t>
            </a:r>
          </a:p>
          <a:p>
            <a:pPr lvl="1"/>
            <a:r>
              <a:rPr lang="en-US" sz="1600" dirty="0"/>
              <a:t>Never touch the electrical contacts on any electrical or electronic part. Skin oils can cause corrosion and poor contact.</a:t>
            </a:r>
          </a:p>
          <a:p>
            <a:pPr lvl="1"/>
            <a:r>
              <a:rPr lang="en-US" sz="1600" dirty="0"/>
              <a:t>Before touching a computer, always touch a good ground first. This safely discharges any static electricity. </a:t>
            </a:r>
          </a:p>
          <a:p>
            <a:pPr lvl="1"/>
            <a:r>
              <a:rPr lang="en-US" sz="1600" dirty="0"/>
              <a:t>Do not connect jumper wires across a sensor unless indicated in the service information to do so.</a:t>
            </a:r>
          </a:p>
          <a:p>
            <a:pPr lvl="1"/>
            <a:r>
              <a:rPr lang="en-US" sz="1600" dirty="0"/>
              <a:t>Never apply 12 volts directly to an electronic component unless instructed to do so.</a:t>
            </a:r>
          </a:p>
          <a:p>
            <a:pPr lvl="1"/>
            <a:r>
              <a:rPr lang="en-US" sz="1600" dirty="0"/>
              <a:t>Never use a test light to test any computer-controlled system unless instructed to.</a:t>
            </a:r>
          </a:p>
        </p:txBody>
      </p:sp>
    </p:spTree>
    <p:extLst>
      <p:ext uri="{BB962C8B-B14F-4D97-AF65-F5344CB8AC3E}">
        <p14:creationId xmlns:p14="http://schemas.microsoft.com/office/powerpoint/2010/main" val="204163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C18E09-A95F-642E-D4BC-BD4A2102F6AD}"/>
              </a:ext>
            </a:extLst>
          </p:cNvPr>
          <p:cNvSpPr>
            <a:spLocks noGrp="1"/>
          </p:cNvSpPr>
          <p:nvPr>
            <p:ph type="title"/>
          </p:nvPr>
        </p:nvSpPr>
        <p:spPr/>
        <p:txBody>
          <a:bodyPr/>
          <a:lstStyle/>
          <a:p>
            <a:r>
              <a:rPr lang="en-IN"/>
              <a:t>Knowledge Check (1 of 2)</a:t>
            </a:r>
          </a:p>
        </p:txBody>
      </p:sp>
      <p:sp>
        <p:nvSpPr>
          <p:cNvPr id="6" name="Text Placeholder 5">
            <a:extLst>
              <a:ext uri="{FF2B5EF4-FFF2-40B4-BE49-F238E27FC236}">
                <a16:creationId xmlns:a16="http://schemas.microsoft.com/office/drawing/2014/main" id="{2522D8AB-F0AA-AAE0-AE84-E1129557EAEA}"/>
              </a:ext>
            </a:extLst>
          </p:cNvPr>
          <p:cNvSpPr>
            <a:spLocks noGrp="1"/>
          </p:cNvSpPr>
          <p:nvPr>
            <p:ph type="body" idx="1"/>
          </p:nvPr>
        </p:nvSpPr>
        <p:spPr/>
        <p:txBody>
          <a:bodyPr/>
          <a:lstStyle/>
          <a:p>
            <a:r>
              <a:rPr lang="en-US"/>
              <a:t>What should a technician always touch a good ground before touching a control module or computer?</a:t>
            </a:r>
          </a:p>
        </p:txBody>
      </p:sp>
    </p:spTree>
    <p:extLst>
      <p:ext uri="{BB962C8B-B14F-4D97-AF65-F5344CB8AC3E}">
        <p14:creationId xmlns:p14="http://schemas.microsoft.com/office/powerpoint/2010/main" val="923470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58C03-3A0E-588B-9404-473955C27E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550F5A-04B8-5553-4D41-4FCC5F3443D1}"/>
              </a:ext>
            </a:extLst>
          </p:cNvPr>
          <p:cNvSpPr>
            <a:spLocks noGrp="1"/>
          </p:cNvSpPr>
          <p:nvPr>
            <p:ph type="title"/>
          </p:nvPr>
        </p:nvSpPr>
        <p:spPr/>
        <p:txBody>
          <a:bodyPr/>
          <a:lstStyle/>
          <a:p>
            <a:r>
              <a:rPr lang="en-IN"/>
              <a:t>Knowledge Check Answer (1 of 2)</a:t>
            </a:r>
          </a:p>
        </p:txBody>
      </p:sp>
      <p:sp>
        <p:nvSpPr>
          <p:cNvPr id="6" name="Text Placeholder 5">
            <a:extLst>
              <a:ext uri="{FF2B5EF4-FFF2-40B4-BE49-F238E27FC236}">
                <a16:creationId xmlns:a16="http://schemas.microsoft.com/office/drawing/2014/main" id="{6647E1A2-1828-FBD4-AA73-F2A89D95382B}"/>
              </a:ext>
            </a:extLst>
          </p:cNvPr>
          <p:cNvSpPr>
            <a:spLocks noGrp="1"/>
          </p:cNvSpPr>
          <p:nvPr>
            <p:ph type="body" idx="1"/>
          </p:nvPr>
        </p:nvSpPr>
        <p:spPr/>
        <p:txBody>
          <a:bodyPr/>
          <a:lstStyle/>
          <a:p>
            <a:pPr marL="0" indent="0">
              <a:buNone/>
            </a:pPr>
            <a:r>
              <a:rPr lang="en-US" b="1" dirty="0"/>
              <a:t>Answer</a:t>
            </a:r>
            <a:r>
              <a:rPr lang="en-US" dirty="0"/>
              <a:t>:</a:t>
            </a:r>
            <a:r>
              <a:rPr lang="en-US" b="1" dirty="0"/>
              <a:t> </a:t>
            </a:r>
            <a:r>
              <a:rPr lang="en-US" dirty="0"/>
              <a:t>Before touching a computer, always touch a good ground first. This safely discharges any static electricity. Static electricity can generate up to 25,000 volts and can easily damage a computer.</a:t>
            </a:r>
          </a:p>
        </p:txBody>
      </p:sp>
    </p:spTree>
    <p:extLst>
      <p:ext uri="{BB962C8B-B14F-4D97-AF65-F5344CB8AC3E}">
        <p14:creationId xmlns:p14="http://schemas.microsoft.com/office/powerpoint/2010/main" val="2503411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BAC649-86B8-1CBD-F08B-501B49C3820C}"/>
              </a:ext>
            </a:extLst>
          </p:cNvPr>
          <p:cNvSpPr>
            <a:spLocks noGrp="1"/>
          </p:cNvSpPr>
          <p:nvPr>
            <p:ph type="title"/>
          </p:nvPr>
        </p:nvSpPr>
        <p:spPr/>
        <p:txBody>
          <a:bodyPr/>
          <a:lstStyle/>
          <a:p>
            <a:r>
              <a:rPr lang="en-IN"/>
              <a:t>Network Security</a:t>
            </a:r>
          </a:p>
        </p:txBody>
      </p:sp>
      <p:sp>
        <p:nvSpPr>
          <p:cNvPr id="6" name="Text Placeholder 5">
            <a:extLst>
              <a:ext uri="{FF2B5EF4-FFF2-40B4-BE49-F238E27FC236}">
                <a16:creationId xmlns:a16="http://schemas.microsoft.com/office/drawing/2014/main" id="{7F912648-434E-983F-57F3-67A855273109}"/>
              </a:ext>
            </a:extLst>
          </p:cNvPr>
          <p:cNvSpPr>
            <a:spLocks noGrp="1"/>
          </p:cNvSpPr>
          <p:nvPr>
            <p:ph type="body" idx="1"/>
          </p:nvPr>
        </p:nvSpPr>
        <p:spPr/>
        <p:txBody>
          <a:bodyPr/>
          <a:lstStyle/>
          <a:p>
            <a:r>
              <a:rPr lang="en-US" sz="1800"/>
              <a:t>Beginning in the 2010s, manufacturers began to protect their onboard networks using firewalls and secure gateways.</a:t>
            </a:r>
          </a:p>
          <a:p>
            <a:r>
              <a:rPr lang="en-US" sz="1800"/>
              <a:t>The need for these protocols arose from vulnerabilities discovered in the infotainment and wireless networks used on modern cars and trucks.</a:t>
            </a:r>
          </a:p>
          <a:p>
            <a:r>
              <a:rPr lang="en-US" sz="1800"/>
              <a:t>These vulnerabilities were discovered by remotely hacking into onboard systems, which allowed access to functions in the braking and steering systems without any physical connection to the vehicle.</a:t>
            </a:r>
          </a:p>
          <a:p>
            <a:r>
              <a:rPr lang="en-US" sz="1800"/>
              <a:t>Needless to say, this caused vehicle manufacturers to take steps to lock down the networks and prevent unauthorized access.</a:t>
            </a:r>
          </a:p>
          <a:p>
            <a:r>
              <a:rPr lang="en-US" sz="1800"/>
              <a:t>Secure gateway modules and similar arrangements that physically separate networks from the DLC provide isolation between networks and improve safety and security.</a:t>
            </a:r>
          </a:p>
          <a:p>
            <a:r>
              <a:rPr lang="en-US" sz="1800"/>
              <a:t>Using an aftermarket scan tool or J2534 passthrough device on some vehicles requires registering the tool and shop with AutoAuth.com to gain access to the OBD data stream.</a:t>
            </a:r>
          </a:p>
          <a:p>
            <a:r>
              <a:rPr lang="en-US" sz="1800"/>
              <a:t>Without using a registered device, passive access to the network is allowed, meaning reading codes and data. However, bidirectional functions such are blocked.</a:t>
            </a:r>
          </a:p>
        </p:txBody>
      </p:sp>
    </p:spTree>
    <p:extLst>
      <p:ext uri="{BB962C8B-B14F-4D97-AF65-F5344CB8AC3E}">
        <p14:creationId xmlns:p14="http://schemas.microsoft.com/office/powerpoint/2010/main" val="3820999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E781D-5C49-E7F4-6375-083E8CF3A5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D5AC25-699B-A352-68BA-D2D40C728543}"/>
              </a:ext>
            </a:extLst>
          </p:cNvPr>
          <p:cNvSpPr>
            <a:spLocks noGrp="1"/>
          </p:cNvSpPr>
          <p:nvPr>
            <p:ph type="title"/>
          </p:nvPr>
        </p:nvSpPr>
        <p:spPr/>
        <p:txBody>
          <a:bodyPr/>
          <a:lstStyle/>
          <a:p>
            <a:r>
              <a:rPr lang="en-IN"/>
              <a:t>Trouble Codes</a:t>
            </a:r>
          </a:p>
        </p:txBody>
      </p:sp>
      <p:sp>
        <p:nvSpPr>
          <p:cNvPr id="6" name="Text Placeholder 5">
            <a:extLst>
              <a:ext uri="{FF2B5EF4-FFF2-40B4-BE49-F238E27FC236}">
                <a16:creationId xmlns:a16="http://schemas.microsoft.com/office/drawing/2014/main" id="{DFA0CDD8-7B1B-D766-23FF-427133344869}"/>
              </a:ext>
            </a:extLst>
          </p:cNvPr>
          <p:cNvSpPr>
            <a:spLocks noGrp="1"/>
          </p:cNvSpPr>
          <p:nvPr>
            <p:ph type="body" idx="1"/>
          </p:nvPr>
        </p:nvSpPr>
        <p:spPr/>
        <p:txBody>
          <a:bodyPr/>
          <a:lstStyle/>
          <a:p>
            <a:r>
              <a:rPr lang="en-US" sz="1600"/>
              <a:t>There are as many ways to perform diagnostics as there are automobile manufacturers.</a:t>
            </a:r>
          </a:p>
          <a:p>
            <a:r>
              <a:rPr lang="en-US" sz="1600"/>
              <a:t>Nearly all vehicles require a scan tool to retrieve DTCs.</a:t>
            </a:r>
          </a:p>
          <a:p>
            <a:r>
              <a:rPr lang="en-US" sz="1600"/>
              <a:t>The scan tool is plugged into the diagnostic connector for the system being tested.</a:t>
            </a:r>
          </a:p>
          <a:p>
            <a:r>
              <a:rPr lang="en-US" sz="1600"/>
              <a:t>The technician chooses the system to be tested through the scan tool.</a:t>
            </a:r>
          </a:p>
          <a:p>
            <a:r>
              <a:rPr lang="en-US" sz="1600"/>
              <a:t>Once the DTCs are retrieved, follow the appropriate diagnostic chart to isolate the fault.</a:t>
            </a:r>
          </a:p>
          <a:p>
            <a:r>
              <a:rPr lang="en-US" sz="1600"/>
              <a:t>It is important to check the codes in the order recommended by the manufacturer.</a:t>
            </a:r>
          </a:p>
          <a:p>
            <a:r>
              <a:rPr lang="en-US" sz="1600"/>
              <a:t>Remember, the trouble code does not necessarily indicate the faulty component; it only indicates the circuit of the system that is not operating properly.</a:t>
            </a:r>
          </a:p>
          <a:p>
            <a:r>
              <a:rPr lang="en-US" sz="1600"/>
              <a:t>To locate the problem, follow the diagnostic procedure in the service information for the code received.</a:t>
            </a:r>
          </a:p>
          <a:p>
            <a:r>
              <a:rPr lang="en-US" sz="1600"/>
              <a:t>Faults with the data communication systems typically result in the setting of Uxxxx codes.</a:t>
            </a:r>
          </a:p>
          <a:p>
            <a:r>
              <a:rPr lang="en-US" sz="1600"/>
              <a:t>The U prefix is reserved for network DTCs. Diagnosis should continue with a good visual inspection of the circuit involved with the code.</a:t>
            </a:r>
          </a:p>
          <a:p>
            <a:r>
              <a:rPr lang="en-US" sz="1600"/>
              <a:t>Check all sensors and actuators for physical damage. Check all connections to sensors, actuators, control modules, and ground points.</a:t>
            </a:r>
          </a:p>
        </p:txBody>
      </p:sp>
    </p:spTree>
    <p:extLst>
      <p:ext uri="{BB962C8B-B14F-4D97-AF65-F5344CB8AC3E}">
        <p14:creationId xmlns:p14="http://schemas.microsoft.com/office/powerpoint/2010/main" val="3969363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7D91AE27-E86F-8585-3C00-85F887E3AAAD}"/>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766BAFA5-2B6A-45D3-6DC2-47302AC6A13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Communication Checks</a:t>
            </a:r>
            <a:endParaRPr dirty="0"/>
          </a:p>
        </p:txBody>
      </p:sp>
      <p:sp>
        <p:nvSpPr>
          <p:cNvPr id="2" name="Text Placeholder 1">
            <a:extLst>
              <a:ext uri="{FF2B5EF4-FFF2-40B4-BE49-F238E27FC236}">
                <a16:creationId xmlns:a16="http://schemas.microsoft.com/office/drawing/2014/main" id="{0B3CC1FF-CF49-68FC-DF5A-4FD69A6933C6}"/>
              </a:ext>
            </a:extLst>
          </p:cNvPr>
          <p:cNvSpPr>
            <a:spLocks noGrp="1"/>
          </p:cNvSpPr>
          <p:nvPr>
            <p:ph type="body" idx="1"/>
          </p:nvPr>
        </p:nvSpPr>
        <p:spPr>
          <a:xfrm>
            <a:off x="476845" y="1433686"/>
            <a:ext cx="7341789" cy="4649120"/>
          </a:xfrm>
        </p:spPr>
        <p:txBody>
          <a:bodyPr/>
          <a:lstStyle/>
          <a:p>
            <a:r>
              <a:rPr lang="en-US" sz="1800"/>
              <a:t>Performing diagnostic checks on vehicles with a multiplex system should begin with a communications check.</a:t>
            </a:r>
          </a:p>
          <a:p>
            <a:r>
              <a:rPr lang="en-US" sz="1800"/>
              <a:t>Connect the scan tool and power it on and turn the vehicle’s ignition on to the RUN position.</a:t>
            </a:r>
          </a:p>
          <a:p>
            <a:r>
              <a:rPr lang="en-US" sz="1800"/>
              <a:t>Once the scan tool is installed, try to communicate with every module that could be in the vehicle.</a:t>
            </a:r>
          </a:p>
          <a:p>
            <a:r>
              <a:rPr lang="en-US" sz="1800"/>
              <a:t>If an option is not there, the scan tool will display “No Comm” for that control module.</a:t>
            </a:r>
          </a:p>
          <a:p>
            <a:r>
              <a:rPr lang="en-US" sz="1800"/>
              <a:t>That same message will appear if the module is present but not communicating.</a:t>
            </a:r>
          </a:p>
          <a:p>
            <a:r>
              <a:rPr lang="en-US" sz="1800"/>
              <a:t>The scan tool may have a network or module test function which allows you to “ping” or communicate with each system and its modules.</a:t>
            </a:r>
          </a:p>
          <a:p>
            <a:r>
              <a:rPr lang="en-US" sz="1800"/>
              <a:t>Some modules may not communicate because that particular vehicle is not equipped with that system.</a:t>
            </a:r>
          </a:p>
        </p:txBody>
      </p:sp>
      <p:pic>
        <p:nvPicPr>
          <p:cNvPr id="9" name="Picture Placeholder 8" descr="A screenshot of a table depicts the network check using the Toyota Techstream software, titled Communication Bus Check, with the color codes of white, yellow, and red, in order from top to bottom explained as follows: White, currently communicating on the C A N B U S; Yellow, Communication re-established on the C A N B U S; red, No longer communicating on the C A N B U S. The table in two columns has the following data; Column 1 lists: Body/ Gateway, H V Battery, Power Steering, and Spiral cable (Steering Angle Sensor). Column 2 lists: E C M (Engine), Hybrid Vehicle Control, Skid Control(A B S/ V S C/ T R A C), and yaw Rate Sensor. ">
            <a:extLst>
              <a:ext uri="{FF2B5EF4-FFF2-40B4-BE49-F238E27FC236}">
                <a16:creationId xmlns:a16="http://schemas.microsoft.com/office/drawing/2014/main" id="{5F843FD3-7716-B1D3-0A4F-713DAC892366}"/>
              </a:ext>
            </a:extLst>
          </p:cNvPr>
          <p:cNvPicPr>
            <a:picLocks noGrp="1" noChangeAspect="1"/>
          </p:cNvPicPr>
          <p:nvPr>
            <p:ph type="pic" sz="quarter" idx="10"/>
          </p:nvPr>
        </p:nvPicPr>
        <p:blipFill>
          <a:blip r:embed="rId3"/>
          <a:srcRect b="8370"/>
          <a:stretch/>
        </p:blipFill>
        <p:spPr>
          <a:xfrm>
            <a:off x="8206675" y="1792899"/>
            <a:ext cx="3430683" cy="3930694"/>
          </a:xfrm>
          <a:prstGeom prst="rect">
            <a:avLst/>
          </a:prstGeom>
        </p:spPr>
      </p:pic>
    </p:spTree>
    <p:extLst>
      <p:ext uri="{BB962C8B-B14F-4D97-AF65-F5344CB8AC3E}">
        <p14:creationId xmlns:p14="http://schemas.microsoft.com/office/powerpoint/2010/main" val="3233119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050BD5-E800-3909-F980-F5BC3CDE0323}"/>
              </a:ext>
            </a:extLst>
          </p:cNvPr>
          <p:cNvSpPr>
            <a:spLocks noGrp="1"/>
          </p:cNvSpPr>
          <p:nvPr>
            <p:ph type="title"/>
          </p:nvPr>
        </p:nvSpPr>
        <p:spPr/>
        <p:txBody>
          <a:bodyPr/>
          <a:lstStyle/>
          <a:p>
            <a:r>
              <a:rPr lang="en-IN"/>
              <a:t>Reprogramming Control Modules</a:t>
            </a:r>
          </a:p>
        </p:txBody>
      </p:sp>
      <p:sp>
        <p:nvSpPr>
          <p:cNvPr id="6" name="Text Placeholder 5">
            <a:extLst>
              <a:ext uri="{FF2B5EF4-FFF2-40B4-BE49-F238E27FC236}">
                <a16:creationId xmlns:a16="http://schemas.microsoft.com/office/drawing/2014/main" id="{FC8E8961-3174-5C60-74D4-8A0873345284}"/>
              </a:ext>
            </a:extLst>
          </p:cNvPr>
          <p:cNvSpPr>
            <a:spLocks noGrp="1"/>
          </p:cNvSpPr>
          <p:nvPr>
            <p:ph type="body" idx="1"/>
          </p:nvPr>
        </p:nvSpPr>
        <p:spPr/>
        <p:txBody>
          <a:bodyPr/>
          <a:lstStyle/>
          <a:p>
            <a:pPr marL="0" indent="0">
              <a:buNone/>
            </a:pPr>
            <a:r>
              <a:rPr lang="en-US" sz="1600" b="1" dirty="0"/>
              <a:t>22.09 Reprogram a control module in a vehicle.</a:t>
            </a:r>
          </a:p>
          <a:p>
            <a:r>
              <a:rPr lang="en-US" sz="1600" dirty="0"/>
              <a:t>Before going deeply into diagnosing an electronic control circuit, it is wise to check all TSBs that may relate to the problem.</a:t>
            </a:r>
          </a:p>
          <a:p>
            <a:r>
              <a:rPr lang="en-US" sz="1600" dirty="0"/>
              <a:t>Often, there will be one that recommends reprogramming of the computer. This is typically called “flashing” the computer.</a:t>
            </a:r>
          </a:p>
          <a:p>
            <a:r>
              <a:rPr lang="en-US" sz="1600" dirty="0"/>
              <a:t>When a computer is flashed, the old program is erased and a new one written in. Reprogramming is often necessary when the manufacturer discovers a common concern that can be solved through changing the system’s software.</a:t>
            </a:r>
          </a:p>
          <a:p>
            <a:r>
              <a:rPr lang="en-US" sz="1600" dirty="0"/>
              <a:t>New programs are downloaded into the scan tool and then downloaded into the computer through a dedicated circuit.</a:t>
            </a:r>
          </a:p>
          <a:p>
            <a:r>
              <a:rPr lang="en-US" sz="1600" dirty="0"/>
              <a:t>Each type of scan tool has a different procedure for flashing. Always follow the manufacturer’s instructions.</a:t>
            </a:r>
          </a:p>
          <a:p>
            <a:r>
              <a:rPr lang="en-US" sz="1600" dirty="0"/>
              <a:t>Some scan tools are connected to a PC, and the software is transferred from a CD or a website.</a:t>
            </a:r>
          </a:p>
          <a:p>
            <a:r>
              <a:rPr lang="en-US" sz="1600" dirty="0"/>
              <a:t>It is important to know that any interruption in the flash process can ruin a new module.</a:t>
            </a:r>
          </a:p>
        </p:txBody>
      </p:sp>
    </p:spTree>
    <p:extLst>
      <p:ext uri="{BB962C8B-B14F-4D97-AF65-F5344CB8AC3E}">
        <p14:creationId xmlns:p14="http://schemas.microsoft.com/office/powerpoint/2010/main" val="3253103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5BD14-0CBD-CBD7-EA9D-873A0CBC13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CF2F66B-8081-7B6F-35DF-9F2C97B8D2D8}"/>
              </a:ext>
            </a:extLst>
          </p:cNvPr>
          <p:cNvSpPr>
            <a:spLocks noGrp="1"/>
          </p:cNvSpPr>
          <p:nvPr>
            <p:ph type="title"/>
          </p:nvPr>
        </p:nvSpPr>
        <p:spPr/>
        <p:txBody>
          <a:bodyPr/>
          <a:lstStyle/>
          <a:p>
            <a:r>
              <a:rPr lang="en-US"/>
              <a:t>Testing Electronic Circuits and Components</a:t>
            </a:r>
            <a:endParaRPr lang="en-IN"/>
          </a:p>
        </p:txBody>
      </p:sp>
      <p:sp>
        <p:nvSpPr>
          <p:cNvPr id="6" name="Text Placeholder 5">
            <a:extLst>
              <a:ext uri="{FF2B5EF4-FFF2-40B4-BE49-F238E27FC236}">
                <a16:creationId xmlns:a16="http://schemas.microsoft.com/office/drawing/2014/main" id="{665D5ED7-3E53-2D1F-6A86-E6031427D1FE}"/>
              </a:ext>
            </a:extLst>
          </p:cNvPr>
          <p:cNvSpPr>
            <a:spLocks noGrp="1"/>
          </p:cNvSpPr>
          <p:nvPr>
            <p:ph type="body" idx="1"/>
          </p:nvPr>
        </p:nvSpPr>
        <p:spPr/>
        <p:txBody>
          <a:bodyPr/>
          <a:lstStyle/>
          <a:p>
            <a:r>
              <a:rPr lang="en-US" sz="1800"/>
              <a:t>Most electronic circuits can be checked in the same way as other electrical circuits. However, only high-impedance meters should be used.</a:t>
            </a:r>
          </a:p>
          <a:p>
            <a:r>
              <a:rPr lang="en-US" sz="1800"/>
              <a:t>A lab scope is a valuable tool for diagnosing electronic circuits. The scope is primarily used to measure voltages, pulse, and duty cycle.</a:t>
            </a:r>
          </a:p>
          <a:p>
            <a:r>
              <a:rPr lang="en-US" sz="1800"/>
              <a:t>The scope displays voltage over time, and the increments for voltage and time can be modified to provide a good look at the circuit’s activity.</a:t>
            </a:r>
          </a:p>
          <a:p>
            <a:r>
              <a:rPr lang="en-US" sz="1800"/>
              <a:t>Frequency is a term that describes how often a signal performs a complete cycle and is measured in hertz. To determine the frequency of something, divide the length of time it takes to complete one cycle into 1.</a:t>
            </a:r>
          </a:p>
          <a:p>
            <a:r>
              <a:rPr lang="en-US" sz="1800"/>
              <a:t>Whenever using a scope on a circuit, always follow the meter’s instruction manual for hookup and proper settings.</a:t>
            </a:r>
          </a:p>
          <a:p>
            <a:r>
              <a:rPr lang="en-US" sz="1800"/>
              <a:t>Most service manuals have illustrations of the patterns that are expected from the different electronic components.</a:t>
            </a:r>
          </a:p>
          <a:p>
            <a:r>
              <a:rPr lang="en-US" sz="1800"/>
              <a:t>If the patterns do not match those in the manual, a problem is indicated. The problem may be in the component or in the circuit.</a:t>
            </a:r>
          </a:p>
        </p:txBody>
      </p:sp>
    </p:spTree>
    <p:extLst>
      <p:ext uri="{BB962C8B-B14F-4D97-AF65-F5344CB8AC3E}">
        <p14:creationId xmlns:p14="http://schemas.microsoft.com/office/powerpoint/2010/main" val="2025710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B6236-509B-74B0-3775-393A7B645C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59592F-D6C8-032F-023A-987088493E30}"/>
              </a:ext>
            </a:extLst>
          </p:cNvPr>
          <p:cNvSpPr>
            <a:spLocks noGrp="1"/>
          </p:cNvSpPr>
          <p:nvPr>
            <p:ph type="title"/>
          </p:nvPr>
        </p:nvSpPr>
        <p:spPr/>
        <p:txBody>
          <a:bodyPr/>
          <a:lstStyle/>
          <a:p>
            <a:r>
              <a:rPr lang="en-US"/>
              <a:t>Measuring Changing Voltages</a:t>
            </a:r>
            <a:endParaRPr lang="en-IN"/>
          </a:p>
        </p:txBody>
      </p:sp>
      <p:sp>
        <p:nvSpPr>
          <p:cNvPr id="6" name="Text Placeholder 5">
            <a:extLst>
              <a:ext uri="{FF2B5EF4-FFF2-40B4-BE49-F238E27FC236}">
                <a16:creationId xmlns:a16="http://schemas.microsoft.com/office/drawing/2014/main" id="{0A575AD1-8BD3-BE5D-4C9E-CE87179BB867}"/>
              </a:ext>
            </a:extLst>
          </p:cNvPr>
          <p:cNvSpPr>
            <a:spLocks noGrp="1"/>
          </p:cNvSpPr>
          <p:nvPr>
            <p:ph type="body" idx="1"/>
          </p:nvPr>
        </p:nvSpPr>
        <p:spPr/>
        <p:txBody>
          <a:bodyPr/>
          <a:lstStyle/>
          <a:p>
            <a:r>
              <a:rPr lang="en-US" dirty="0"/>
              <a:t>A DMM may have AC selection modes for voltage and amperage.</a:t>
            </a:r>
          </a:p>
          <a:p>
            <a:r>
              <a:rPr lang="en-US" dirty="0"/>
              <a:t>These modes are used to measure voltages and amperages that change polarity or levels very quickly.</a:t>
            </a:r>
          </a:p>
          <a:p>
            <a:r>
              <a:rPr lang="en-US" dirty="0"/>
              <a:t>Most meters display the average voltage or current in an AC circuit.</a:t>
            </a:r>
          </a:p>
          <a:p>
            <a:r>
              <a:rPr lang="en-US" dirty="0"/>
              <a:t>Some meters display root-mean-square (RMS) readings, which are very close to being average readings.</a:t>
            </a:r>
          </a:p>
          <a:p>
            <a:pPr lvl="1"/>
            <a:r>
              <a:rPr lang="en-US" dirty="0"/>
              <a:t>There may be slight differences as this scale compensates for extreme fluctuations in voltage and current flow.</a:t>
            </a:r>
          </a:p>
        </p:txBody>
      </p:sp>
    </p:spTree>
    <p:extLst>
      <p:ext uri="{BB962C8B-B14F-4D97-AF65-F5344CB8AC3E}">
        <p14:creationId xmlns:p14="http://schemas.microsoft.com/office/powerpoint/2010/main" val="30065826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719F7D49-E342-F5A9-A183-372219757EFD}"/>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E48DF167-4A19-387D-9E18-B94DE8EB2668}"/>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Testing Actuators</a:t>
            </a:r>
            <a:endParaRPr dirty="0"/>
          </a:p>
        </p:txBody>
      </p:sp>
      <p:sp>
        <p:nvSpPr>
          <p:cNvPr id="2" name="Text Placeholder 1">
            <a:extLst>
              <a:ext uri="{FF2B5EF4-FFF2-40B4-BE49-F238E27FC236}">
                <a16:creationId xmlns:a16="http://schemas.microsoft.com/office/drawing/2014/main" id="{B1507460-4B4E-E604-6DD0-B2F571A519DC}"/>
              </a:ext>
            </a:extLst>
          </p:cNvPr>
          <p:cNvSpPr>
            <a:spLocks noGrp="1"/>
          </p:cNvSpPr>
          <p:nvPr>
            <p:ph type="body" idx="1"/>
          </p:nvPr>
        </p:nvSpPr>
        <p:spPr>
          <a:xfrm>
            <a:off x="476846" y="1433686"/>
            <a:ext cx="6449566" cy="4649120"/>
          </a:xfrm>
        </p:spPr>
        <p:txBody>
          <a:bodyPr/>
          <a:lstStyle/>
          <a:p>
            <a:r>
              <a:rPr lang="en-US" dirty="0"/>
              <a:t>Each manufacturer may prescribe a specific procedure for checking an actuator .</a:t>
            </a:r>
          </a:p>
          <a:p>
            <a:r>
              <a:rPr lang="en-US" dirty="0"/>
              <a:t>The tests may rely on the use of scan tool or lab scope.</a:t>
            </a:r>
          </a:p>
          <a:p>
            <a:r>
              <a:rPr lang="en-US" dirty="0"/>
              <a:t>When checking an output, pay attention to the commands of the BCM and the response of the actuator.</a:t>
            </a:r>
          </a:p>
          <a:p>
            <a:r>
              <a:rPr lang="en-US" dirty="0"/>
              <a:t>A scan tool can not only control the actuator, but display the status.</a:t>
            </a:r>
          </a:p>
        </p:txBody>
      </p:sp>
      <p:pic>
        <p:nvPicPr>
          <p:cNvPr id="5" name="Picture Placeholder 4" descr="A screenshot depicts a typical scan tool T I P M C G W with the data tab active. A list of details is displayed in the document. Among them, four are highlighted and they are as follows: Key in Ignition, Right Low Beam State, Ignition Run Relay, and Ignition Switch Status.">
            <a:extLst>
              <a:ext uri="{FF2B5EF4-FFF2-40B4-BE49-F238E27FC236}">
                <a16:creationId xmlns:a16="http://schemas.microsoft.com/office/drawing/2014/main" id="{BA9CCD3A-055A-CE71-44A8-E2CC68F9678B}"/>
              </a:ext>
            </a:extLst>
          </p:cNvPr>
          <p:cNvPicPr>
            <a:picLocks noGrp="1" noChangeAspect="1"/>
          </p:cNvPicPr>
          <p:nvPr>
            <p:ph type="pic" sz="quarter" idx="10"/>
          </p:nvPr>
        </p:nvPicPr>
        <p:blipFill>
          <a:blip r:embed="rId3"/>
          <a:srcRect b="12939"/>
          <a:stretch/>
        </p:blipFill>
        <p:spPr>
          <a:xfrm>
            <a:off x="6926412" y="1927891"/>
            <a:ext cx="5029902" cy="3383849"/>
          </a:xfrm>
          <a:prstGeom prst="rect">
            <a:avLst/>
          </a:prstGeom>
        </p:spPr>
      </p:pic>
    </p:spTree>
    <p:extLst>
      <p:ext uri="{BB962C8B-B14F-4D97-AF65-F5344CB8AC3E}">
        <p14:creationId xmlns:p14="http://schemas.microsoft.com/office/powerpoint/2010/main" val="3387647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AB8BF6-462D-40EC-6E19-4BAD5AC89024}"/>
              </a:ext>
            </a:extLst>
          </p:cNvPr>
          <p:cNvSpPr>
            <a:spLocks noGrp="1"/>
          </p:cNvSpPr>
          <p:nvPr>
            <p:ph type="title"/>
          </p:nvPr>
        </p:nvSpPr>
        <p:spPr/>
        <p:txBody>
          <a:bodyPr/>
          <a:lstStyle/>
          <a:p>
            <a:r>
              <a:rPr lang="en-IN"/>
              <a:t>Knowledge Check (2 of 2)</a:t>
            </a:r>
          </a:p>
        </p:txBody>
      </p:sp>
      <p:sp>
        <p:nvSpPr>
          <p:cNvPr id="6" name="Text Placeholder 5">
            <a:extLst>
              <a:ext uri="{FF2B5EF4-FFF2-40B4-BE49-F238E27FC236}">
                <a16:creationId xmlns:a16="http://schemas.microsoft.com/office/drawing/2014/main" id="{8EFEB3B3-2596-4342-FAD6-AFF89CD0465F}"/>
              </a:ext>
            </a:extLst>
          </p:cNvPr>
          <p:cNvSpPr>
            <a:spLocks noGrp="1"/>
          </p:cNvSpPr>
          <p:nvPr>
            <p:ph type="body" idx="1"/>
          </p:nvPr>
        </p:nvSpPr>
        <p:spPr/>
        <p:txBody>
          <a:bodyPr/>
          <a:lstStyle/>
          <a:p>
            <a:r>
              <a:rPr lang="en-US"/>
              <a:t>What tool is able to control the output of an actuator while also showing its status?</a:t>
            </a:r>
          </a:p>
        </p:txBody>
      </p:sp>
    </p:spTree>
    <p:extLst>
      <p:ext uri="{BB962C8B-B14F-4D97-AF65-F5344CB8AC3E}">
        <p14:creationId xmlns:p14="http://schemas.microsoft.com/office/powerpoint/2010/main" val="395185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1D159-D197-9DF9-6330-A0C0537E63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9077C0-C699-A16F-8953-BADC5FE0076B}"/>
              </a:ext>
            </a:extLst>
          </p:cNvPr>
          <p:cNvSpPr>
            <a:spLocks noGrp="1"/>
          </p:cNvSpPr>
          <p:nvPr>
            <p:ph type="title"/>
          </p:nvPr>
        </p:nvSpPr>
        <p:spPr/>
        <p:txBody>
          <a:bodyPr/>
          <a:lstStyle/>
          <a:p>
            <a:r>
              <a:rPr lang="en-IN"/>
              <a:t>Knowledge Check Answer (2 of 2)</a:t>
            </a:r>
          </a:p>
        </p:txBody>
      </p:sp>
      <p:sp>
        <p:nvSpPr>
          <p:cNvPr id="6" name="Text Placeholder 5">
            <a:extLst>
              <a:ext uri="{FF2B5EF4-FFF2-40B4-BE49-F238E27FC236}">
                <a16:creationId xmlns:a16="http://schemas.microsoft.com/office/drawing/2014/main" id="{C4A7719C-9680-ABEC-D7DD-A884645765BD}"/>
              </a:ext>
            </a:extLst>
          </p:cNvPr>
          <p:cNvSpPr>
            <a:spLocks noGrp="1"/>
          </p:cNvSpPr>
          <p:nvPr>
            <p:ph type="body" idx="1"/>
          </p:nvPr>
        </p:nvSpPr>
        <p:spPr/>
        <p:txBody>
          <a:bodyPr/>
          <a:lstStyle/>
          <a:p>
            <a:r>
              <a:rPr lang="en-US" b="1" dirty="0"/>
              <a:t>Answer:</a:t>
            </a:r>
            <a:r>
              <a:rPr lang="en-US" dirty="0"/>
              <a:t> A scan tool</a:t>
            </a:r>
          </a:p>
        </p:txBody>
      </p:sp>
    </p:spTree>
    <p:extLst>
      <p:ext uri="{BB962C8B-B14F-4D97-AF65-F5344CB8AC3E}">
        <p14:creationId xmlns:p14="http://schemas.microsoft.com/office/powerpoint/2010/main" val="20557298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2CF051F9-BBE4-D1C7-D8E1-E9981F4DC139}"/>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D93F3D49-D703-48EE-E108-2A3A704EF04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Checking Diodes</a:t>
            </a:r>
            <a:endParaRPr dirty="0"/>
          </a:p>
        </p:txBody>
      </p:sp>
      <p:sp>
        <p:nvSpPr>
          <p:cNvPr id="2" name="Text Placeholder 1">
            <a:extLst>
              <a:ext uri="{FF2B5EF4-FFF2-40B4-BE49-F238E27FC236}">
                <a16:creationId xmlns:a16="http://schemas.microsoft.com/office/drawing/2014/main" id="{6CBC9D13-B7AA-5965-DCF0-3DF81DBB03B8}"/>
              </a:ext>
            </a:extLst>
          </p:cNvPr>
          <p:cNvSpPr>
            <a:spLocks noGrp="1"/>
          </p:cNvSpPr>
          <p:nvPr>
            <p:ph type="body" idx="1"/>
          </p:nvPr>
        </p:nvSpPr>
        <p:spPr>
          <a:xfrm>
            <a:off x="476846" y="1433686"/>
            <a:ext cx="6437040" cy="4649120"/>
          </a:xfrm>
        </p:spPr>
        <p:txBody>
          <a:bodyPr/>
          <a:lstStyle/>
          <a:p>
            <a:r>
              <a:rPr lang="en-US" sz="2000" dirty="0"/>
              <a:t>Multimeters can be used to check diodes, including Zener diodes and LEDs.</a:t>
            </a:r>
          </a:p>
          <a:p>
            <a:r>
              <a:rPr lang="en-US" sz="2000" dirty="0"/>
              <a:t>Regardless of the bias of the diode, it should allow current flow in one direction only.</a:t>
            </a:r>
          </a:p>
          <a:p>
            <a:r>
              <a:rPr lang="en-US" sz="2000" dirty="0"/>
              <a:t>Connect the meter’s leads across the diode. Observe the reading on the meter.</a:t>
            </a:r>
          </a:p>
          <a:p>
            <a:r>
              <a:rPr lang="en-US" sz="2000" dirty="0"/>
              <a:t>Then reverse the meter’s leads and again observe the reading.</a:t>
            </a:r>
          </a:p>
          <a:p>
            <a:pPr lvl="1"/>
            <a:r>
              <a:rPr lang="en-US" sz="1800" dirty="0"/>
              <a:t>The resistance in one direction should be very high or infinite and close to zero in the other direction.</a:t>
            </a:r>
          </a:p>
          <a:p>
            <a:pPr lvl="1"/>
            <a:r>
              <a:rPr lang="en-US" sz="1800" dirty="0"/>
              <a:t>If any other readings are observed, the diode is bad. A diode that has low resistance in both directions is shorted.</a:t>
            </a:r>
          </a:p>
        </p:txBody>
      </p:sp>
      <p:pic>
        <p:nvPicPr>
          <p:cNvPr id="6" name="Picture Placeholder 5" descr="Two illustrations. In the first illustration, the anode of a P N junction diode is connected to the positive terminal of the Ohmmeter and the negative terminal of the Ohmmeter is connected to the cathode of the diode. The reading of the Ohmmeter is 0.00. In the second illustration, the anode of the diode is connected to the negative terminal of the Ohmmeter, and the positive terminal of the Ohmmeter is connected to the cathode of the diode.">
            <a:extLst>
              <a:ext uri="{FF2B5EF4-FFF2-40B4-BE49-F238E27FC236}">
                <a16:creationId xmlns:a16="http://schemas.microsoft.com/office/drawing/2014/main" id="{2FB014EC-7CC1-07FA-EBEE-F89805E8B11E}"/>
              </a:ext>
            </a:extLst>
          </p:cNvPr>
          <p:cNvPicPr>
            <a:picLocks noGrp="1" noChangeAspect="1"/>
          </p:cNvPicPr>
          <p:nvPr>
            <p:ph type="pic" sz="quarter" idx="10"/>
          </p:nvPr>
        </p:nvPicPr>
        <p:blipFill>
          <a:blip r:embed="rId3"/>
          <a:srcRect b="13519"/>
          <a:stretch/>
        </p:blipFill>
        <p:spPr>
          <a:xfrm>
            <a:off x="7062910" y="2494415"/>
            <a:ext cx="4878898" cy="2527662"/>
          </a:xfrm>
          <a:prstGeom prst="rect">
            <a:avLst/>
          </a:prstGeom>
        </p:spPr>
      </p:pic>
    </p:spTree>
    <p:extLst>
      <p:ext uri="{BB962C8B-B14F-4D97-AF65-F5344CB8AC3E}">
        <p14:creationId xmlns:p14="http://schemas.microsoft.com/office/powerpoint/2010/main" val="16614720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AF3080-003A-B121-8BBE-0A80EB4D00FD}"/>
              </a:ext>
            </a:extLst>
          </p:cNvPr>
          <p:cNvSpPr>
            <a:spLocks noGrp="1"/>
          </p:cNvSpPr>
          <p:nvPr>
            <p:ph type="title"/>
          </p:nvPr>
        </p:nvSpPr>
        <p:spPr/>
        <p:txBody>
          <a:bodyPr/>
          <a:lstStyle/>
          <a:p>
            <a:r>
              <a:rPr lang="en-IN"/>
              <a:t>Chapter Reflection</a:t>
            </a:r>
          </a:p>
        </p:txBody>
      </p:sp>
      <p:sp>
        <p:nvSpPr>
          <p:cNvPr id="6" name="Text Placeholder 5">
            <a:extLst>
              <a:ext uri="{FF2B5EF4-FFF2-40B4-BE49-F238E27FC236}">
                <a16:creationId xmlns:a16="http://schemas.microsoft.com/office/drawing/2014/main" id="{27608126-FB28-8558-7C98-F8FC7AA35668}"/>
              </a:ext>
            </a:extLst>
          </p:cNvPr>
          <p:cNvSpPr>
            <a:spLocks noGrp="1"/>
          </p:cNvSpPr>
          <p:nvPr>
            <p:ph type="body" idx="1"/>
          </p:nvPr>
        </p:nvSpPr>
        <p:spPr/>
        <p:txBody>
          <a:bodyPr/>
          <a:lstStyle/>
          <a:p>
            <a:pPr marL="0" indent="0">
              <a:buNone/>
            </a:pPr>
            <a:r>
              <a:rPr lang="en-US"/>
              <a:t>Please take a moment to consider what you have learned about basics of electronics and computer systems. Then respond to the following questions in one or two paragraphs. Use 150–200 words in your reflection.</a:t>
            </a:r>
          </a:p>
          <a:p>
            <a:r>
              <a:rPr lang="en-US"/>
              <a:t>Did you feel you understood everything in this chapter? What do you feel you can do to better understand some of the more difficult concepts?</a:t>
            </a:r>
          </a:p>
          <a:p>
            <a:r>
              <a:rPr lang="en-US"/>
              <a:t>Considering all you have learned, do you feel prepared to perform the services and diagnosis of computer systems in the shop or lab setting? How can you better prepare?</a:t>
            </a:r>
          </a:p>
        </p:txBody>
      </p:sp>
    </p:spTree>
    <p:extLst>
      <p:ext uri="{BB962C8B-B14F-4D97-AF65-F5344CB8AC3E}">
        <p14:creationId xmlns:p14="http://schemas.microsoft.com/office/powerpoint/2010/main" val="7591091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4966</TotalTime>
  <Words>5900</Words>
  <Application>Microsoft Office PowerPoint</Application>
  <PresentationFormat>Widescreen</PresentationFormat>
  <Paragraphs>351</Paragraphs>
  <Slides>47</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Work Sans</vt:lpstr>
      <vt:lpstr>Calibri</vt:lpstr>
      <vt:lpstr>Optimized Template Master</vt:lpstr>
      <vt:lpstr>Automotive Technology: A Systems Approach, 8e</vt:lpstr>
      <vt:lpstr>Chapter Objectives (1 of 2)</vt:lpstr>
      <vt:lpstr>Chapter Objectives (2 of 2)</vt:lpstr>
      <vt:lpstr>Capacitors (1 of 3)</vt:lpstr>
      <vt:lpstr>Capacitors (2 of 3)</vt:lpstr>
      <vt:lpstr>Capacitors (3 of 3)</vt:lpstr>
      <vt:lpstr>Semiconductors (1 of 2)</vt:lpstr>
      <vt:lpstr>Semiconductors (2 of 2)</vt:lpstr>
      <vt:lpstr>Diodes (1 of 2)</vt:lpstr>
      <vt:lpstr>Diodes (2 of 2)</vt:lpstr>
      <vt:lpstr>Transistors (1 of 3)</vt:lpstr>
      <vt:lpstr>Transistors (2 of 3)</vt:lpstr>
      <vt:lpstr>Transistors (3 of 3)</vt:lpstr>
      <vt:lpstr>Integrated Circuits</vt:lpstr>
      <vt:lpstr>Discussion</vt:lpstr>
      <vt:lpstr>Computer Basics (1 of 2)</vt:lpstr>
      <vt:lpstr>Computer Basics (2 of 2)</vt:lpstr>
      <vt:lpstr>Inputs (1 of 2)</vt:lpstr>
      <vt:lpstr>Inputs (2 of 2)</vt:lpstr>
      <vt:lpstr>Communication Signals (1 of 2)</vt:lpstr>
      <vt:lpstr>Communication Signals (2 of 2)</vt:lpstr>
      <vt:lpstr>Memories</vt:lpstr>
      <vt:lpstr>Awake/Sleep Modes</vt:lpstr>
      <vt:lpstr>By-Wire Technology</vt:lpstr>
      <vt:lpstr>Multiplexing</vt:lpstr>
      <vt:lpstr>Advantages</vt:lpstr>
      <vt:lpstr>Communication Protocols (1 of 2)</vt:lpstr>
      <vt:lpstr>Communication Protocols (2 of 2)</vt:lpstr>
      <vt:lpstr>Can Buses (1 of 3)</vt:lpstr>
      <vt:lpstr>Can Buses (2 of 3)</vt:lpstr>
      <vt:lpstr>Can Buses (3 of 3)</vt:lpstr>
      <vt:lpstr>Lin Buses</vt:lpstr>
      <vt:lpstr>MOST Networks</vt:lpstr>
      <vt:lpstr>Protecting Electronic Systems</vt:lpstr>
      <vt:lpstr>Knowledge Check (1 of 2)</vt:lpstr>
      <vt:lpstr>Knowledge Check Answer (1 of 2)</vt:lpstr>
      <vt:lpstr>Network Security</vt:lpstr>
      <vt:lpstr>Trouble Codes</vt:lpstr>
      <vt:lpstr>Communication Checks</vt:lpstr>
      <vt:lpstr>Reprogramming Control Modules</vt:lpstr>
      <vt:lpstr>Testing Electronic Circuits and Components</vt:lpstr>
      <vt:lpstr>Measuring Changing Voltages</vt:lpstr>
      <vt:lpstr>Testing Actuators</vt:lpstr>
      <vt:lpstr>Knowledge Check (2 of 2)</vt:lpstr>
      <vt:lpstr>Knowledge Check Answer (2 of 2)</vt:lpstr>
      <vt:lpstr>Checking Diodes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Great Minds</cp:lastModifiedBy>
  <cp:revision>269</cp:revision>
  <dcterms:created xsi:type="dcterms:W3CDTF">2021-12-10T16:21:02Z</dcterms:created>
  <dcterms:modified xsi:type="dcterms:W3CDTF">2024-10-22T05:05:02Z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