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8"/>
  </p:notesMasterIdLst>
  <p:sldIdLst>
    <p:sldId id="256" r:id="rId2"/>
    <p:sldId id="257" r:id="rId3"/>
    <p:sldId id="259" r:id="rId4"/>
    <p:sldId id="400" r:id="rId5"/>
    <p:sldId id="401" r:id="rId6"/>
    <p:sldId id="403" r:id="rId7"/>
    <p:sldId id="404" r:id="rId8"/>
    <p:sldId id="405" r:id="rId9"/>
    <p:sldId id="433" r:id="rId10"/>
    <p:sldId id="406" r:id="rId11"/>
    <p:sldId id="407" r:id="rId12"/>
    <p:sldId id="434" r:id="rId13"/>
    <p:sldId id="435" r:id="rId14"/>
    <p:sldId id="408" r:id="rId15"/>
    <p:sldId id="409" r:id="rId16"/>
    <p:sldId id="410" r:id="rId17"/>
    <p:sldId id="436" r:id="rId18"/>
    <p:sldId id="437" r:id="rId19"/>
    <p:sldId id="411" r:id="rId20"/>
    <p:sldId id="412" r:id="rId21"/>
    <p:sldId id="413" r:id="rId22"/>
    <p:sldId id="284" r:id="rId23"/>
    <p:sldId id="285" r:id="rId24"/>
    <p:sldId id="414" r:id="rId25"/>
    <p:sldId id="415" r:id="rId26"/>
    <p:sldId id="416" r:id="rId27"/>
    <p:sldId id="417" r:id="rId28"/>
    <p:sldId id="418" r:id="rId29"/>
    <p:sldId id="419" r:id="rId30"/>
    <p:sldId id="420" r:id="rId31"/>
    <p:sldId id="421" r:id="rId32"/>
    <p:sldId id="438" r:id="rId33"/>
    <p:sldId id="422" r:id="rId34"/>
    <p:sldId id="423" r:id="rId35"/>
    <p:sldId id="424" r:id="rId36"/>
    <p:sldId id="425" r:id="rId37"/>
    <p:sldId id="426" r:id="rId38"/>
    <p:sldId id="427" r:id="rId39"/>
    <p:sldId id="439" r:id="rId40"/>
    <p:sldId id="293" r:id="rId41"/>
    <p:sldId id="294" r:id="rId42"/>
    <p:sldId id="429" r:id="rId43"/>
    <p:sldId id="430" r:id="rId44"/>
    <p:sldId id="431" r:id="rId45"/>
    <p:sldId id="432" r:id="rId46"/>
    <p:sldId id="301" r:id="rId47"/>
  </p:sldIdLst>
  <p:sldSz cx="12192000" cy="6858000"/>
  <p:notesSz cx="6858000" cy="9144000"/>
  <p:embeddedFontLst>
    <p:embeddedFont>
      <p:font typeface="Work Sans" pitchFamily="2"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29" clrIdx="1">
    <p:extLst>
      <p:ext uri="{19B8F6BF-5375-455C-9EA6-DF929625EA0E}">
        <p15:presenceInfo xmlns:p15="http://schemas.microsoft.com/office/powerpoint/2012/main" userId="6637e9e8b0383d0f" providerId="Windows Live"/>
      </p:ext>
    </p:extLst>
  </p:cmAuthor>
  <p:cmAuthor id="2" name="Paul Kelley" initials="PK [2]" lastIdx="1" clrIdx="2">
    <p:extLst>
      <p:ext uri="{19B8F6BF-5375-455C-9EA6-DF929625EA0E}">
        <p15:presenceInfo xmlns:p15="http://schemas.microsoft.com/office/powerpoint/2012/main" userId="782a4b9ae503304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75" autoAdjust="0"/>
    <p:restoredTop sz="85252" autoAdjust="0"/>
  </p:normalViewPr>
  <p:slideViewPr>
    <p:cSldViewPr snapToGrid="0">
      <p:cViewPr varScale="1">
        <p:scale>
          <a:sx n="91" d="100"/>
          <a:sy n="91" d="100"/>
        </p:scale>
        <p:origin x="714"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8"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customschemas.google.com/relationships/presentationmetadata" Target="meta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215126798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extLst>
      <p:ext uri="{BB962C8B-B14F-4D97-AF65-F5344CB8AC3E}">
        <p14:creationId xmlns:p14="http://schemas.microsoft.com/office/powerpoint/2010/main" val="17251915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986570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7058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264785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059262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32453591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3932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4112486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32215306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37740818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610779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2765376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4208830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35004933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7352975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8039293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06" name="Google Shape;306;p2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07" name="Google Shape;307;p2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41488764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0: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13" name="Google Shape;313;p30: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14" name="Google Shape;314;p30: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22977923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11991553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2710885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3602285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06" name="Google Shape;306;p2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07" name="Google Shape;307;p2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35003419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0: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13" name="Google Shape;313;p30: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14" name="Google Shape;314;p30: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18189480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550527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21846337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844698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31069308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41439727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42485710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23734135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39240067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26415421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extLst>
      <p:ext uri="{BB962C8B-B14F-4D97-AF65-F5344CB8AC3E}">
        <p14:creationId xmlns:p14="http://schemas.microsoft.com/office/powerpoint/2010/main" val="21846612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3123749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extLst>
      <p:ext uri="{BB962C8B-B14F-4D97-AF65-F5344CB8AC3E}">
        <p14:creationId xmlns:p14="http://schemas.microsoft.com/office/powerpoint/2010/main" val="23814143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extLst>
      <p:ext uri="{BB962C8B-B14F-4D97-AF65-F5344CB8AC3E}">
        <p14:creationId xmlns:p14="http://schemas.microsoft.com/office/powerpoint/2010/main" val="21186038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extLst>
      <p:ext uri="{BB962C8B-B14F-4D97-AF65-F5344CB8AC3E}">
        <p14:creationId xmlns:p14="http://schemas.microsoft.com/office/powerpoint/2010/main" val="23357443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extLst>
      <p:ext uri="{BB962C8B-B14F-4D97-AF65-F5344CB8AC3E}">
        <p14:creationId xmlns:p14="http://schemas.microsoft.com/office/powerpoint/2010/main" val="2989802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extLst>
      <p:ext uri="{BB962C8B-B14F-4D97-AF65-F5344CB8AC3E}">
        <p14:creationId xmlns:p14="http://schemas.microsoft.com/office/powerpoint/2010/main" val="30714775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8: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73" name="Google Shape;373;p38: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74" name="Google Shape;374;p38: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extLst>
      <p:ext uri="{BB962C8B-B14F-4D97-AF65-F5344CB8AC3E}">
        <p14:creationId xmlns:p14="http://schemas.microsoft.com/office/powerpoint/2010/main" val="16119715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extLst>
      <p:ext uri="{BB962C8B-B14F-4D97-AF65-F5344CB8AC3E}">
        <p14:creationId xmlns:p14="http://schemas.microsoft.com/office/powerpoint/2010/main" val="21201704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extLst>
      <p:ext uri="{BB962C8B-B14F-4D97-AF65-F5344CB8AC3E}">
        <p14:creationId xmlns:p14="http://schemas.microsoft.com/office/powerpoint/2010/main" val="32813531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extLst>
      <p:ext uri="{BB962C8B-B14F-4D97-AF65-F5344CB8AC3E}">
        <p14:creationId xmlns:p14="http://schemas.microsoft.com/office/powerpoint/2010/main" val="247828424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Tree>
    <p:extLst>
      <p:ext uri="{BB962C8B-B14F-4D97-AF65-F5344CB8AC3E}">
        <p14:creationId xmlns:p14="http://schemas.microsoft.com/office/powerpoint/2010/main" val="15638133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45</a:t>
            </a:fld>
            <a:endParaRPr/>
          </a:p>
        </p:txBody>
      </p:sp>
    </p:spTree>
    <p:extLst>
      <p:ext uri="{BB962C8B-B14F-4D97-AF65-F5344CB8AC3E}">
        <p14:creationId xmlns:p14="http://schemas.microsoft.com/office/powerpoint/2010/main" val="308066117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extLst>
      <p:ext uri="{BB962C8B-B14F-4D97-AF65-F5344CB8AC3E}">
        <p14:creationId xmlns:p14="http://schemas.microsoft.com/office/powerpoint/2010/main" val="35879656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0" y="1168663"/>
            <a:ext cx="6104302"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48"/>
          <p:cNvSpPr txBox="1">
            <a:spLocks noGrp="1"/>
          </p:cNvSpPr>
          <p:nvPr>
            <p:ph type="subTitle" idx="1"/>
          </p:nvPr>
        </p:nvSpPr>
        <p:spPr>
          <a:xfrm>
            <a:off x="5646420" y="3809720"/>
            <a:ext cx="6104302"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1000"/>
              </a:spcBef>
              <a:spcAft>
                <a:spcPts val="0"/>
              </a:spcAft>
              <a:buSzPts val="3200"/>
              <a:buNone/>
              <a:defRPr sz="32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9" name="Google Shape;19;p48"/>
          <p:cNvSpPr>
            <a:spLocks noGrp="1"/>
          </p:cNvSpPr>
          <p:nvPr>
            <p:ph type="pic" idx="2"/>
          </p:nvPr>
        </p:nvSpPr>
        <p:spPr>
          <a:xfrm>
            <a:off x="475250" y="808037"/>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3" name="Content Placeholder 2">
            <a:extLst>
              <a:ext uri="{FF2B5EF4-FFF2-40B4-BE49-F238E27FC236}">
                <a16:creationId xmlns:a16="http://schemas.microsoft.com/office/drawing/2014/main" id="{2C89A2A5-577E-CF23-3B61-C82650C9D698}"/>
              </a:ext>
            </a:extLst>
          </p:cNvPr>
          <p:cNvSpPr>
            <a:spLocks noGrp="1"/>
          </p:cNvSpPr>
          <p:nvPr>
            <p:ph sz="quarter" idx="10"/>
          </p:nvPr>
        </p:nvSpPr>
        <p:spPr>
          <a:xfrm>
            <a:off x="2003425" y="6373813"/>
            <a:ext cx="9207500" cy="366712"/>
          </a:xfrm>
        </p:spPr>
        <p:txBody>
          <a:bodyPr/>
          <a:lstStyle>
            <a:lvl1pPr marL="76200" indent="0">
              <a:lnSpc>
                <a:spcPct val="100000"/>
              </a:lnSpc>
              <a:buNone/>
              <a:defRPr>
                <a:solidFill>
                  <a:schemeClr val="bg1"/>
                </a:solidFill>
              </a:defRPr>
            </a:lvl1pPr>
            <a:lvl2pPr marL="533400" indent="0">
              <a:lnSpc>
                <a:spcPct val="100000"/>
              </a:lnSpc>
              <a:buNone/>
              <a:defRPr>
                <a:solidFill>
                  <a:schemeClr val="bg1"/>
                </a:solidFill>
              </a:defRPr>
            </a:lvl2pPr>
            <a:lvl3pPr marL="1021081" indent="0">
              <a:lnSpc>
                <a:spcPct val="100000"/>
              </a:lnSpc>
              <a:buNone/>
              <a:defRPr>
                <a:solidFill>
                  <a:schemeClr val="bg1"/>
                </a:solidFill>
              </a:defRPr>
            </a:lvl3pPr>
            <a:lvl4pPr marL="1447800" indent="0">
              <a:lnSpc>
                <a:spcPct val="100000"/>
              </a:lnSpc>
              <a:buNone/>
              <a:defRPr>
                <a:solidFill>
                  <a:schemeClr val="bg1"/>
                </a:solidFill>
              </a:defRPr>
            </a:lvl4pPr>
            <a:lvl5pPr marL="1854200" indent="0">
              <a:lnSpc>
                <a:spcPct val="100000"/>
              </a:lnSpc>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9364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9"/>
          <p:cNvSpPr txBox="1">
            <a:spLocks noGrp="1"/>
          </p:cNvSpPr>
          <p:nvPr>
            <p:ph type="body" idx="1"/>
          </p:nvPr>
        </p:nvSpPr>
        <p:spPr>
          <a:xfrm>
            <a:off x="476843" y="1563624"/>
            <a:ext cx="11241915" cy="4613339"/>
          </a:xfrm>
          <a:prstGeom prst="rect">
            <a:avLst/>
          </a:prstGeom>
          <a:noFill/>
          <a:ln>
            <a:noFill/>
          </a:ln>
        </p:spPr>
        <p:txBody>
          <a:bodyPr spcFirstLastPara="1" wrap="square" lIns="91425" tIns="45700" rIns="91425" bIns="45700" anchor="t" anchorCtr="0">
            <a:noAutofit/>
          </a:bodyPr>
          <a:lstStyle>
            <a:lvl1pPr marL="358775" lvl="0" indent="-358775" algn="l">
              <a:lnSpc>
                <a:spcPct val="100000"/>
              </a:lnSpc>
              <a:spcBef>
                <a:spcPts val="624"/>
              </a:spcBef>
              <a:spcAft>
                <a:spcPts val="0"/>
              </a:spcAft>
              <a:buSzPts val="2800"/>
              <a:buChar char="•"/>
              <a:defRPr sz="2600"/>
            </a:lvl1pPr>
            <a:lvl2pPr marL="715963" lvl="1" indent="-357188" algn="l">
              <a:lnSpc>
                <a:spcPct val="100000"/>
              </a:lnSpc>
              <a:spcBef>
                <a:spcPts val="624"/>
              </a:spcBef>
              <a:spcAft>
                <a:spcPts val="0"/>
              </a:spcAft>
              <a:buSzPts val="2600"/>
              <a:buChar char="−"/>
              <a:defRPr sz="2400" b="0"/>
            </a:lvl2pPr>
            <a:lvl3pPr marL="1074738" lvl="2" indent="-358775"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a:p>
          <a:p>
            <a:pPr lvl="1"/>
            <a:r>
              <a:rPr lang="en-IN"/>
              <a:t> </a:t>
            </a:r>
          </a:p>
          <a:p>
            <a:pPr lvl="2"/>
            <a:r>
              <a:rPr lang="en-IN"/>
              <a:t>  </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9364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9"/>
          <p:cNvSpPr txBox="1">
            <a:spLocks noGrp="1"/>
          </p:cNvSpPr>
          <p:nvPr>
            <p:ph type="body" idx="1"/>
          </p:nvPr>
        </p:nvSpPr>
        <p:spPr>
          <a:xfrm>
            <a:off x="476843" y="1563625"/>
            <a:ext cx="11241915" cy="1698050"/>
          </a:xfrm>
          <a:prstGeom prst="rect">
            <a:avLst/>
          </a:prstGeom>
          <a:noFill/>
          <a:ln>
            <a:noFill/>
          </a:ln>
        </p:spPr>
        <p:txBody>
          <a:bodyPr spcFirstLastPara="1" wrap="square" lIns="91425" tIns="45700" rIns="91425" bIns="45700" anchor="t" anchorCtr="0">
            <a:noAutofit/>
          </a:bodyPr>
          <a:lstStyle>
            <a:lvl1pPr marL="358775" lvl="0" indent="-358775" algn="l">
              <a:lnSpc>
                <a:spcPct val="100000"/>
              </a:lnSpc>
              <a:spcBef>
                <a:spcPts val="624"/>
              </a:spcBef>
              <a:spcAft>
                <a:spcPts val="0"/>
              </a:spcAft>
              <a:buSzPts val="2800"/>
              <a:buChar char="•"/>
              <a:defRPr sz="2600"/>
            </a:lvl1pPr>
            <a:lvl2pPr marL="715963" lvl="1" indent="-357188" algn="l">
              <a:lnSpc>
                <a:spcPct val="100000"/>
              </a:lnSpc>
              <a:spcBef>
                <a:spcPts val="624"/>
              </a:spcBef>
              <a:spcAft>
                <a:spcPts val="0"/>
              </a:spcAft>
              <a:buSzPts val="2600"/>
              <a:buChar char="−"/>
              <a:defRPr sz="2400" b="0"/>
            </a:lvl2pPr>
            <a:lvl3pPr marL="1074738" lvl="2" indent="-358775"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a:p>
          <a:p>
            <a:pPr lvl="1"/>
            <a:r>
              <a:rPr lang="en-IN"/>
              <a:t> </a:t>
            </a:r>
          </a:p>
          <a:p>
            <a:pPr lvl="2"/>
            <a:r>
              <a:rPr lang="en-IN"/>
              <a:t>  </a:t>
            </a:r>
          </a:p>
        </p:txBody>
      </p:sp>
      <p:sp>
        <p:nvSpPr>
          <p:cNvPr id="3" name="Content Placeholder 2">
            <a:extLst>
              <a:ext uri="{FF2B5EF4-FFF2-40B4-BE49-F238E27FC236}">
                <a16:creationId xmlns:a16="http://schemas.microsoft.com/office/drawing/2014/main" id="{FDD53FCD-F27B-216F-E2EE-249F55420E55}"/>
              </a:ext>
            </a:extLst>
          </p:cNvPr>
          <p:cNvSpPr>
            <a:spLocks noGrp="1"/>
          </p:cNvSpPr>
          <p:nvPr>
            <p:ph sz="quarter" idx="10"/>
          </p:nvPr>
        </p:nvSpPr>
        <p:spPr>
          <a:xfrm>
            <a:off x="476250" y="3429000"/>
            <a:ext cx="3576638" cy="55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Picture Placeholder 4">
            <a:extLst>
              <a:ext uri="{FF2B5EF4-FFF2-40B4-BE49-F238E27FC236}">
                <a16:creationId xmlns:a16="http://schemas.microsoft.com/office/drawing/2014/main" id="{239C53CB-D712-8C32-38BC-5F58673E3C82}"/>
              </a:ext>
            </a:extLst>
          </p:cNvPr>
          <p:cNvSpPr>
            <a:spLocks noGrp="1"/>
          </p:cNvSpPr>
          <p:nvPr>
            <p:ph type="pic" sz="quarter" idx="11"/>
          </p:nvPr>
        </p:nvSpPr>
        <p:spPr>
          <a:xfrm>
            <a:off x="4194175" y="3429000"/>
            <a:ext cx="914400" cy="914400"/>
          </a:xfrm>
        </p:spPr>
        <p:txBody>
          <a:bodyPr/>
          <a:lstStyle/>
          <a:p>
            <a:endParaRPr lang="en-IN"/>
          </a:p>
        </p:txBody>
      </p:sp>
      <p:sp>
        <p:nvSpPr>
          <p:cNvPr id="7" name="Picture Placeholder 6">
            <a:extLst>
              <a:ext uri="{FF2B5EF4-FFF2-40B4-BE49-F238E27FC236}">
                <a16:creationId xmlns:a16="http://schemas.microsoft.com/office/drawing/2014/main" id="{49858543-668E-E499-02BA-44407D14922B}"/>
              </a:ext>
            </a:extLst>
          </p:cNvPr>
          <p:cNvSpPr>
            <a:spLocks noGrp="1"/>
          </p:cNvSpPr>
          <p:nvPr>
            <p:ph type="pic" sz="quarter" idx="12"/>
          </p:nvPr>
        </p:nvSpPr>
        <p:spPr>
          <a:xfrm>
            <a:off x="5373688" y="3459163"/>
            <a:ext cx="914400" cy="914400"/>
          </a:xfrm>
        </p:spPr>
        <p:txBody>
          <a:bodyPr/>
          <a:lstStyle/>
          <a:p>
            <a:endParaRPr lang="en-IN"/>
          </a:p>
        </p:txBody>
      </p:sp>
      <p:sp>
        <p:nvSpPr>
          <p:cNvPr id="9" name="Content Placeholder 8">
            <a:extLst>
              <a:ext uri="{FF2B5EF4-FFF2-40B4-BE49-F238E27FC236}">
                <a16:creationId xmlns:a16="http://schemas.microsoft.com/office/drawing/2014/main" id="{48D9BFEA-C018-38ED-525A-F4E645ED9643}"/>
              </a:ext>
            </a:extLst>
          </p:cNvPr>
          <p:cNvSpPr>
            <a:spLocks noGrp="1"/>
          </p:cNvSpPr>
          <p:nvPr>
            <p:ph sz="quarter" idx="13"/>
          </p:nvPr>
        </p:nvSpPr>
        <p:spPr>
          <a:xfrm>
            <a:off x="476250" y="4129088"/>
            <a:ext cx="3576638" cy="55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024090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0"/>
          <p:cNvSpPr txBox="1">
            <a:spLocks noGrp="1"/>
          </p:cNvSpPr>
          <p:nvPr>
            <p:ph type="body" idx="1"/>
          </p:nvPr>
        </p:nvSpPr>
        <p:spPr>
          <a:xfrm>
            <a:off x="476843" y="1825625"/>
            <a:ext cx="5542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0"/>
          <p:cNvSpPr txBox="1">
            <a:spLocks noGrp="1"/>
          </p:cNvSpPr>
          <p:nvPr>
            <p:ph type="body" idx="2"/>
          </p:nvPr>
        </p:nvSpPr>
        <p:spPr>
          <a:xfrm>
            <a:off x="6172200" y="1825625"/>
            <a:ext cx="5542956"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1"/>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a:solidFill>
                  <a:schemeClr val="dk1"/>
                </a:solidFill>
                <a:latin typeface="Calibri"/>
                <a:ea typeface="Calibri"/>
                <a:cs typeface="Calibri"/>
                <a:sym typeface="Calibri"/>
              </a:defRPr>
            </a:lvl1pPr>
            <a:lvl2pPr marL="0" marR="0" lvl="1" indent="0" algn="l" rtl="0">
              <a:spcBef>
                <a:spcPts val="0"/>
              </a:spcBef>
              <a:spcAft>
                <a:spcPts val="0"/>
              </a:spcAft>
              <a:buNone/>
              <a:defRPr sz="1800">
                <a:solidFill>
                  <a:schemeClr val="dk1"/>
                </a:solidFill>
                <a:latin typeface="Calibri"/>
                <a:ea typeface="Calibri"/>
                <a:cs typeface="Calibri"/>
                <a:sym typeface="Calibri"/>
              </a:defRPr>
            </a:lvl2pPr>
            <a:lvl3pPr marL="0" marR="0" lvl="2" indent="0" algn="l" rtl="0">
              <a:spcBef>
                <a:spcPts val="0"/>
              </a:spcBef>
              <a:spcAft>
                <a:spcPts val="0"/>
              </a:spcAft>
              <a:buNone/>
              <a:defRPr sz="1800">
                <a:solidFill>
                  <a:schemeClr val="dk1"/>
                </a:solidFill>
                <a:latin typeface="Calibri"/>
                <a:ea typeface="Calibri"/>
                <a:cs typeface="Calibri"/>
                <a:sym typeface="Calibri"/>
              </a:defRPr>
            </a:lvl3pPr>
            <a:lvl4pPr marL="0" marR="0" lvl="3" indent="0" algn="l" rtl="0">
              <a:spcBef>
                <a:spcPts val="0"/>
              </a:spcBef>
              <a:spcAft>
                <a:spcPts val="0"/>
              </a:spcAft>
              <a:buNone/>
              <a:defRPr sz="1800">
                <a:solidFill>
                  <a:schemeClr val="dk1"/>
                </a:solidFill>
                <a:latin typeface="Calibri"/>
                <a:ea typeface="Calibri"/>
                <a:cs typeface="Calibri"/>
                <a:sym typeface="Calibri"/>
              </a:defRPr>
            </a:lvl4pPr>
            <a:lvl5pPr marL="0" marR="0" lvl="4" indent="0" algn="l" rtl="0">
              <a:spcBef>
                <a:spcPts val="0"/>
              </a:spcBef>
              <a:spcAft>
                <a:spcPts val="0"/>
              </a:spcAft>
              <a:buNone/>
              <a:defRPr sz="1800">
                <a:solidFill>
                  <a:schemeClr val="dk1"/>
                </a:solidFill>
                <a:latin typeface="Calibri"/>
                <a:ea typeface="Calibri"/>
                <a:cs typeface="Calibri"/>
                <a:sym typeface="Calibri"/>
              </a:defRPr>
            </a:lvl5pPr>
            <a:lvl6pPr marL="0" marR="0" lvl="5" indent="0" algn="l" rtl="0">
              <a:spcBef>
                <a:spcPts val="0"/>
              </a:spcBef>
              <a:spcAft>
                <a:spcPts val="0"/>
              </a:spcAft>
              <a:buNone/>
              <a:defRPr sz="1800">
                <a:solidFill>
                  <a:schemeClr val="dk1"/>
                </a:solidFill>
                <a:latin typeface="Calibri"/>
                <a:ea typeface="Calibri"/>
                <a:cs typeface="Calibri"/>
                <a:sym typeface="Calibri"/>
              </a:defRPr>
            </a:lvl6pPr>
            <a:lvl7pPr marL="0" marR="0" lvl="6" indent="0" algn="l" rtl="0">
              <a:spcBef>
                <a:spcPts val="0"/>
              </a:spcBef>
              <a:spcAft>
                <a:spcPts val="0"/>
              </a:spcAft>
              <a:buNone/>
              <a:defRPr sz="1800">
                <a:solidFill>
                  <a:schemeClr val="dk1"/>
                </a:solidFill>
                <a:latin typeface="Calibri"/>
                <a:ea typeface="Calibri"/>
                <a:cs typeface="Calibri"/>
                <a:sym typeface="Calibri"/>
              </a:defRPr>
            </a:lvl7pPr>
            <a:lvl8pPr marL="0" marR="0" lvl="7" indent="0" algn="l" rtl="0">
              <a:spcBef>
                <a:spcPts val="0"/>
              </a:spcBef>
              <a:spcAft>
                <a:spcPts val="0"/>
              </a:spcAft>
              <a:buNone/>
              <a:defRPr sz="1800">
                <a:solidFill>
                  <a:schemeClr val="dk1"/>
                </a:solidFill>
                <a:latin typeface="Calibri"/>
                <a:ea typeface="Calibri"/>
                <a:cs typeface="Calibri"/>
                <a:sym typeface="Calibri"/>
              </a:defRPr>
            </a:lvl8pPr>
            <a:lvl9pPr marL="0" marR="0" lvl="8" indent="0" algn="l" rtl="0">
              <a:spcBef>
                <a:spcPts val="0"/>
              </a:spcBef>
              <a:spcAft>
                <a:spcPts val="0"/>
              </a:spcAft>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2" name="Google Shape;42;p52"/>
          <p:cNvSpPr txBox="1"/>
          <p:nvPr/>
        </p:nvSpPr>
        <p:spPr>
          <a:xfrm>
            <a:off x="2322513" y="6393561"/>
            <a:ext cx="867727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Rob Thompson and Jack Erjavec, Automotive Technology: A Systems Approach, 8</a:t>
            </a:r>
            <a:r>
              <a:rPr lang="en-US" sz="1200" baseline="30000">
                <a:solidFill>
                  <a:schemeClr val="lt1"/>
                </a:solidFill>
                <a:latin typeface="Arial"/>
                <a:ea typeface="Arial"/>
                <a:cs typeface="Arial"/>
                <a:sym typeface="Arial"/>
              </a:rPr>
              <a:t>th</a:t>
            </a:r>
            <a:r>
              <a:rPr lang="en-US" sz="12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Content"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903067"/>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9"/>
          <p:cNvSpPr txBox="1">
            <a:spLocks noGrp="1"/>
          </p:cNvSpPr>
          <p:nvPr>
            <p:ph type="body" idx="1"/>
          </p:nvPr>
        </p:nvSpPr>
        <p:spPr>
          <a:xfrm>
            <a:off x="476843" y="1563625"/>
            <a:ext cx="11241915" cy="2169390"/>
          </a:xfrm>
          <a:prstGeom prst="rect">
            <a:avLst/>
          </a:prstGeom>
          <a:noFill/>
          <a:ln>
            <a:noFill/>
          </a:ln>
        </p:spPr>
        <p:txBody>
          <a:bodyPr spcFirstLastPara="1" wrap="square" lIns="91425" tIns="45700" rIns="91425" bIns="45700" anchor="t" anchorCtr="0">
            <a:noAutofit/>
          </a:bodyPr>
          <a:lstStyle>
            <a:lvl1pPr marL="358775" lvl="0" indent="-358775" algn="l">
              <a:lnSpc>
                <a:spcPct val="100000"/>
              </a:lnSpc>
              <a:spcBef>
                <a:spcPts val="624"/>
              </a:spcBef>
              <a:spcAft>
                <a:spcPts val="0"/>
              </a:spcAft>
              <a:buSzPts val="2800"/>
              <a:buChar char="•"/>
              <a:defRPr sz="2600"/>
            </a:lvl1pPr>
            <a:lvl2pPr marL="715963" lvl="1" indent="-357188" algn="l">
              <a:lnSpc>
                <a:spcPct val="100000"/>
              </a:lnSpc>
              <a:spcBef>
                <a:spcPts val="624"/>
              </a:spcBef>
              <a:spcAft>
                <a:spcPts val="0"/>
              </a:spcAft>
              <a:buSzPts val="2600"/>
              <a:buChar char="−"/>
              <a:defRPr sz="2400" b="0"/>
            </a:lvl2pPr>
            <a:lvl3pPr marL="1074738" lvl="2" indent="-358775"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a:p>
          <a:p>
            <a:pPr lvl="1"/>
            <a:endParaRPr lang="en-IN"/>
          </a:p>
          <a:p>
            <a:pPr lvl="2"/>
            <a:r>
              <a:rPr lang="en-IN"/>
              <a:t> </a:t>
            </a:r>
          </a:p>
        </p:txBody>
      </p:sp>
      <p:sp>
        <p:nvSpPr>
          <p:cNvPr id="3" name="Content Placeholder 2">
            <a:extLst>
              <a:ext uri="{FF2B5EF4-FFF2-40B4-BE49-F238E27FC236}">
                <a16:creationId xmlns:a16="http://schemas.microsoft.com/office/drawing/2014/main" id="{54BBEC5C-A571-5FE5-C3FD-97F7D3B440D2}"/>
              </a:ext>
            </a:extLst>
          </p:cNvPr>
          <p:cNvSpPr>
            <a:spLocks noGrp="1"/>
          </p:cNvSpPr>
          <p:nvPr>
            <p:ph sz="quarter" idx="10"/>
          </p:nvPr>
        </p:nvSpPr>
        <p:spPr>
          <a:xfrm>
            <a:off x="476250" y="3846513"/>
            <a:ext cx="3906838" cy="641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a:extLst>
              <a:ext uri="{FF2B5EF4-FFF2-40B4-BE49-F238E27FC236}">
                <a16:creationId xmlns:a16="http://schemas.microsoft.com/office/drawing/2014/main" id="{DEAD043F-3B1D-6976-01C0-78BE418E0588}"/>
              </a:ext>
            </a:extLst>
          </p:cNvPr>
          <p:cNvSpPr>
            <a:spLocks noGrp="1"/>
          </p:cNvSpPr>
          <p:nvPr>
            <p:ph sz="quarter" idx="11"/>
          </p:nvPr>
        </p:nvSpPr>
        <p:spPr>
          <a:xfrm>
            <a:off x="476250" y="4675188"/>
            <a:ext cx="3906838" cy="619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Picture Placeholder 6">
            <a:extLst>
              <a:ext uri="{FF2B5EF4-FFF2-40B4-BE49-F238E27FC236}">
                <a16:creationId xmlns:a16="http://schemas.microsoft.com/office/drawing/2014/main" id="{38ED0986-D63D-7B06-4733-F8927DD316BF}"/>
              </a:ext>
            </a:extLst>
          </p:cNvPr>
          <p:cNvSpPr>
            <a:spLocks noGrp="1"/>
          </p:cNvSpPr>
          <p:nvPr>
            <p:ph type="pic" sz="quarter" idx="12"/>
          </p:nvPr>
        </p:nvSpPr>
        <p:spPr>
          <a:xfrm>
            <a:off x="4591050" y="3919538"/>
            <a:ext cx="1225550" cy="1374775"/>
          </a:xfrm>
        </p:spPr>
        <p:txBody>
          <a:bodyPr/>
          <a:lstStyle/>
          <a:p>
            <a:endParaRPr lang="en-IN"/>
          </a:p>
        </p:txBody>
      </p:sp>
      <p:sp>
        <p:nvSpPr>
          <p:cNvPr id="9" name="Picture Placeholder 8">
            <a:extLst>
              <a:ext uri="{FF2B5EF4-FFF2-40B4-BE49-F238E27FC236}">
                <a16:creationId xmlns:a16="http://schemas.microsoft.com/office/drawing/2014/main" id="{B9F821E9-FE02-D1A1-14CB-4E03114FEA65}"/>
              </a:ext>
            </a:extLst>
          </p:cNvPr>
          <p:cNvSpPr>
            <a:spLocks noGrp="1"/>
          </p:cNvSpPr>
          <p:nvPr>
            <p:ph type="pic" sz="quarter" idx="13"/>
          </p:nvPr>
        </p:nvSpPr>
        <p:spPr>
          <a:xfrm>
            <a:off x="6096000" y="3919538"/>
            <a:ext cx="1225550" cy="1374775"/>
          </a:xfrm>
        </p:spPr>
        <p:txBody>
          <a:bodyPr/>
          <a:lstStyle/>
          <a:p>
            <a:endParaRPr lang="en-IN"/>
          </a:p>
        </p:txBody>
      </p:sp>
      <p:sp>
        <p:nvSpPr>
          <p:cNvPr id="11" name="Table Placeholder 10">
            <a:extLst>
              <a:ext uri="{FF2B5EF4-FFF2-40B4-BE49-F238E27FC236}">
                <a16:creationId xmlns:a16="http://schemas.microsoft.com/office/drawing/2014/main" id="{2ED32665-A18C-41B1-1EE6-26798668F4B9}"/>
              </a:ext>
            </a:extLst>
          </p:cNvPr>
          <p:cNvSpPr>
            <a:spLocks noGrp="1"/>
          </p:cNvSpPr>
          <p:nvPr>
            <p:ph type="tbl" sz="quarter" idx="14"/>
          </p:nvPr>
        </p:nvSpPr>
        <p:spPr>
          <a:xfrm>
            <a:off x="7475538" y="3846513"/>
            <a:ext cx="1225550" cy="1447800"/>
          </a:xfrm>
        </p:spPr>
        <p:txBody>
          <a:bodyPr/>
          <a:lstStyle/>
          <a:p>
            <a:endParaRPr lang="en-IN"/>
          </a:p>
        </p:txBody>
      </p:sp>
    </p:spTree>
    <p:extLst>
      <p:ext uri="{BB962C8B-B14F-4D97-AF65-F5344CB8AC3E}">
        <p14:creationId xmlns:p14="http://schemas.microsoft.com/office/powerpoint/2010/main" val="12223809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9">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a:solidFill>
                <a:schemeClr val="lt1"/>
              </a:solidFill>
              <a:latin typeface="Work Sans"/>
              <a:ea typeface="Work Sans"/>
              <a:cs typeface="Work Sans"/>
              <a:sym typeface="Work Sans"/>
            </a:endParaRPr>
          </a:p>
        </p:txBody>
      </p:sp>
      <p:sp>
        <p:nvSpPr>
          <p:cNvPr id="3" name="Content Placeholder 4">
            <a:extLst>
              <a:ext uri="{FF2B5EF4-FFF2-40B4-BE49-F238E27FC236}">
                <a16:creationId xmlns:a16="http://schemas.microsoft.com/office/drawing/2014/main" id="{F4DA933E-2AD6-89BF-3B65-56DE6A5FF408}"/>
              </a:ext>
            </a:extLst>
          </p:cNvPr>
          <p:cNvSpPr txBox="1">
            <a:spLocks/>
          </p:cNvSpPr>
          <p:nvPr userDrawn="1"/>
        </p:nvSpPr>
        <p:spPr>
          <a:xfrm>
            <a:off x="2034955" y="6335309"/>
            <a:ext cx="92075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a:solidFill>
                  <a:schemeClr val="bg1"/>
                </a:solidFill>
                <a:latin typeface="Work Sans" pitchFamily="2" charset="0"/>
                <a:cs typeface="Arial" panose="020B0604020202020204" pitchFamily="34" charset="0"/>
              </a:rPr>
              <a:t>th</a:t>
            </a:r>
            <a:r>
              <a:rPr lang="en-US" sz="1200" kern="120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latin typeface="Work Sans" pitchFamily="2" charset="0"/>
              <a:cs typeface="Arial" panose="020B0604020202020204" pitchFamily="34" charset="0"/>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64"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4000"/>
              <a:buFont typeface="Arial"/>
              <a:buNone/>
            </a:pPr>
            <a:r>
              <a:rPr lang="en-US" sz="4000">
                <a:latin typeface="Work Sans" pitchFamily="2" charset="0"/>
                <a:ea typeface="Arial"/>
                <a:cs typeface="Arial"/>
                <a:sym typeface="Arial"/>
              </a:rPr>
              <a:t>Automotive Technology: </a:t>
            </a:r>
            <a:br>
              <a:rPr lang="en-US" sz="4000">
                <a:latin typeface="Work Sans" pitchFamily="2" charset="0"/>
                <a:ea typeface="Arial"/>
                <a:cs typeface="Arial"/>
                <a:sym typeface="Arial"/>
              </a:rPr>
            </a:br>
            <a:r>
              <a:rPr lang="en-US" sz="4000">
                <a:latin typeface="Work Sans" pitchFamily="2" charset="0"/>
                <a:ea typeface="Arial"/>
                <a:cs typeface="Arial"/>
                <a:sym typeface="Arial"/>
              </a:rPr>
              <a:t>A Systems Approach, 8e</a:t>
            </a:r>
            <a:endParaRPr sz="400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200"/>
              <a:buNone/>
            </a:pPr>
            <a:r>
              <a:rPr lang="en-US" dirty="0">
                <a:latin typeface="Work Sans" pitchFamily="2" charset="0"/>
                <a:ea typeface="Arial"/>
                <a:cs typeface="Arial"/>
                <a:sym typeface="Arial"/>
              </a:rPr>
              <a:t>Chapter 8: </a:t>
            </a:r>
            <a:r>
              <a:rPr lang="en-US" dirty="0">
                <a:latin typeface="Work Sans" pitchFamily="2" charset="0"/>
              </a:rPr>
              <a:t>Preventive Maintenance and </a:t>
            </a:r>
          </a:p>
          <a:p>
            <a:pPr marL="0" lvl="0" indent="0" algn="l" rtl="0">
              <a:lnSpc>
                <a:spcPct val="100000"/>
              </a:lnSpc>
              <a:spcBef>
                <a:spcPts val="0"/>
              </a:spcBef>
              <a:spcAft>
                <a:spcPts val="0"/>
              </a:spcAft>
              <a:buSzPts val="3200"/>
              <a:buNone/>
            </a:pPr>
            <a:r>
              <a:rPr lang="en-US" dirty="0">
                <a:latin typeface="Work Sans" pitchFamily="2" charset="0"/>
              </a:rPr>
              <a:t>Basic Services</a:t>
            </a:r>
            <a:endParaRPr dirty="0">
              <a:latin typeface="Work Sans" pitchFamily="2" charset="0"/>
              <a:ea typeface="Arial"/>
              <a:cs typeface="Arial"/>
              <a:sym typeface="Arial"/>
            </a:endParaRPr>
          </a:p>
        </p:txBody>
      </p:sp>
      <p:sp>
        <p:nvSpPr>
          <p:cNvPr id="4" name="Content Placeholder 4">
            <a:extLst>
              <a:ext uri="{FF2B5EF4-FFF2-40B4-BE49-F238E27FC236}">
                <a16:creationId xmlns:a16="http://schemas.microsoft.com/office/drawing/2014/main" id="{77DB4594-3EA5-C0CB-8BBB-E3F5966AFEDC}"/>
              </a:ext>
            </a:extLst>
          </p:cNvPr>
          <p:cNvSpPr txBox="1">
            <a:spLocks noGrp="1"/>
          </p:cNvSpPr>
          <p:nvPr>
            <p:ph sz="quarter" idx="10"/>
          </p:nvPr>
        </p:nvSpPr>
        <p:spPr>
          <a:xfrm>
            <a:off x="2034955" y="6335309"/>
            <a:ext cx="9207500" cy="461624"/>
          </a:xfrm>
          <a:prstGeom prst="rect">
            <a:avLst/>
          </a:prstGeom>
          <a:noFill/>
        </p:spPr>
        <p:txBody>
          <a:bodyPr wrap="square" rtlCol="0">
            <a:spAutoFit/>
          </a:bodyPr>
          <a:lstStyle/>
          <a:p>
            <a:pPr marL="0" indent="0">
              <a:spcBef>
                <a:spcPts val="0"/>
              </a:spcBef>
              <a:buNone/>
            </a:pPr>
            <a:r>
              <a:rPr lang="en-US" sz="1200" kern="1200">
                <a:solidFill>
                  <a:schemeClr val="bg1"/>
                </a:solidFill>
                <a:cs typeface="Arial" panose="020B0604020202020204" pitchFamily="34" charset="0"/>
              </a:rPr>
              <a:t>Rob Thompson and Jack Erjavec, Automotive Technology: A Systems Approach, 8</a:t>
            </a:r>
            <a:r>
              <a:rPr lang="en-US" sz="1200" kern="1200" baseline="30000">
                <a:solidFill>
                  <a:schemeClr val="bg1"/>
                </a:solidFill>
                <a:cs typeface="Arial" panose="020B0604020202020204" pitchFamily="34" charset="0"/>
              </a:rPr>
              <a:t>th</a:t>
            </a:r>
            <a:r>
              <a:rPr lang="en-US" sz="1200" kern="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cs typeface="Arial" panose="020B0604020202020204" pitchFamily="34" charset="0"/>
            </a:endParaRPr>
          </a:p>
        </p:txBody>
      </p:sp>
      <p:pic>
        <p:nvPicPr>
          <p:cNvPr id="7"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69DBF45E-9A94-1636-2130-7C8BB744066A}"/>
              </a:ext>
            </a:extLst>
          </p:cNvPr>
          <p:cNvPicPr>
            <a:picLocks noGrp="1" noChangeAspect="1"/>
          </p:cNvPicPr>
          <p:nvPr>
            <p:ph type="pic" idx="2"/>
          </p:nvPr>
        </p:nvPicPr>
        <p:blipFill rotWithShape="1">
          <a:blip r:embed="rId3"/>
          <a:stretch/>
        </p:blipFill>
        <p:spPr>
          <a:xfrm>
            <a:off x="618313" y="556461"/>
            <a:ext cx="4381500" cy="56110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Chapter Objectives</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ts val="2800"/>
              <a:buChar char="•"/>
            </a:pPr>
            <a:r>
              <a:rPr lang="en-US" sz="2400" dirty="0"/>
              <a:t>08.01 Describe the information that should be included on a repair </a:t>
            </a:r>
            <a:r>
              <a:rPr lang="en-US" sz="2400"/>
              <a:t>order.</a:t>
            </a:r>
            <a:endParaRPr lang="en-US" sz="2400" dirty="0"/>
          </a:p>
          <a:p>
            <a:pPr marL="357188" marR="0" lvl="0" indent="-357188" algn="l" rtl="0">
              <a:spcAft>
                <a:spcPts val="600"/>
              </a:spcAft>
              <a:buSzPts val="2800"/>
              <a:buChar char="•"/>
            </a:pPr>
            <a:r>
              <a:rPr lang="en-US" sz="2400" dirty="0"/>
              <a:t>08.02 Explain how the vehicle and its systems can be defined by deciphering its </a:t>
            </a:r>
            <a:r>
              <a:rPr lang="en-US" sz="2400"/>
              <a:t>VIN.</a:t>
            </a:r>
            <a:endParaRPr lang="en-US" sz="2400" dirty="0"/>
          </a:p>
          <a:p>
            <a:pPr marL="357188" marR="0" lvl="0" indent="-357188" algn="l" rtl="0">
              <a:spcAft>
                <a:spcPts val="600"/>
              </a:spcAft>
              <a:buSzPts val="2800"/>
              <a:buChar char="•"/>
            </a:pPr>
            <a:r>
              <a:rPr lang="en-US" sz="2400" dirty="0"/>
              <a:t>08.03 Explain the importance of preventive maintenance.</a:t>
            </a:r>
          </a:p>
          <a:p>
            <a:pPr marL="357188" marR="0" lvl="0" indent="-357188" algn="l" rtl="0">
              <a:spcAft>
                <a:spcPts val="600"/>
              </a:spcAft>
              <a:buSzPts val="2800"/>
              <a:buChar char="•"/>
            </a:pPr>
            <a:r>
              <a:rPr lang="en-US" sz="2400" dirty="0"/>
              <a:t>08.04 List at least six examples of typical preventive maintenance services.</a:t>
            </a:r>
          </a:p>
          <a:p>
            <a:pPr marL="357188" marR="0" lvl="0" indent="-357188" algn="l" rtl="0">
              <a:spcAft>
                <a:spcPts val="600"/>
              </a:spcAft>
              <a:buSzPts val="2800"/>
              <a:buChar char="•"/>
            </a:pPr>
            <a:r>
              <a:rPr lang="en-US" sz="2400" dirty="0"/>
              <a:t>08.05 Understand the differences between the types of fluids required for preventive maintenance and know how to select the correct one for a particular vehicle.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Repair Orders (1 of 3)</a:t>
            </a:r>
            <a:endParaRPr dirty="0"/>
          </a:p>
        </p:txBody>
      </p:sp>
      <p:sp>
        <p:nvSpPr>
          <p:cNvPr id="145" name="Google Shape;145;p4"/>
          <p:cNvSpPr txBox="1">
            <a:spLocks noGrp="1"/>
          </p:cNvSpPr>
          <p:nvPr>
            <p:ph type="body" idx="1"/>
          </p:nvPr>
        </p:nvSpPr>
        <p:spPr>
          <a:xfrm>
            <a:off x="476843" y="1563624"/>
            <a:ext cx="6817335" cy="4469313"/>
          </a:xfrm>
          <a:prstGeom prst="rect">
            <a:avLst/>
          </a:prstGeom>
          <a:noFill/>
          <a:ln>
            <a:noFill/>
          </a:ln>
        </p:spPr>
        <p:txBody>
          <a:bodyPr spcFirstLastPara="1" wrap="square" lIns="91425" tIns="45700" rIns="91425" bIns="45700" anchor="t" anchorCtr="0">
            <a:noAutofit/>
          </a:bodyPr>
          <a:lstStyle/>
          <a:p>
            <a:pPr marL="0" marR="0" lvl="0" indent="0" algn="l" rtl="0">
              <a:spcAft>
                <a:spcPts val="1800"/>
              </a:spcAft>
              <a:buSzPts val="2800"/>
              <a:buNone/>
            </a:pPr>
            <a:r>
              <a:rPr lang="en-US" sz="2000" b="1" dirty="0"/>
              <a:t>08.01 Describe the information that should be included on a repair </a:t>
            </a:r>
            <a:r>
              <a:rPr lang="en-US" sz="2000" b="1"/>
              <a:t>order.</a:t>
            </a:r>
            <a:endParaRPr lang="en-US" sz="2000" b="1" dirty="0"/>
          </a:p>
          <a:p>
            <a:pPr marL="357188" marR="0" lvl="0" indent="-357188" algn="l" rtl="0">
              <a:spcAft>
                <a:spcPts val="0"/>
              </a:spcAft>
              <a:buSzPct val="100000"/>
              <a:buChar char="•"/>
            </a:pPr>
            <a:r>
              <a:rPr lang="en-US" sz="1800" dirty="0"/>
              <a:t>A </a:t>
            </a:r>
            <a:r>
              <a:rPr lang="en-US" sz="1800" b="1" dirty="0"/>
              <a:t>repair order </a:t>
            </a:r>
            <a:r>
              <a:rPr lang="en-US" sz="1800" dirty="0"/>
              <a:t>(RO) is written for every vehicle brought into the shop. </a:t>
            </a:r>
          </a:p>
          <a:p>
            <a:pPr marL="357188" marR="0" lvl="0" indent="-357188" algn="l" rtl="0">
              <a:spcAft>
                <a:spcPts val="0"/>
              </a:spcAft>
              <a:buSzPct val="100000"/>
              <a:buChar char="•"/>
            </a:pPr>
            <a:r>
              <a:rPr lang="en-US" sz="1800" dirty="0"/>
              <a:t>ROs may also be called service or work orders. </a:t>
            </a:r>
          </a:p>
          <a:p>
            <a:pPr marL="357188" marR="0" lvl="0" indent="-357188" algn="l" rtl="0">
              <a:spcAft>
                <a:spcPts val="0"/>
              </a:spcAft>
              <a:buSzPct val="100000"/>
              <a:buChar char="•"/>
            </a:pPr>
            <a:r>
              <a:rPr lang="en-US" sz="1800" dirty="0"/>
              <a:t>ROs contain information about the customer, the vehicle, the customer’s concern or request, an estimate of the cost for the services, and the time the services should be completed.</a:t>
            </a:r>
          </a:p>
          <a:p>
            <a:pPr marL="357188" marR="0" lvl="0" indent="-357188" algn="l" rtl="0">
              <a:spcAft>
                <a:spcPts val="0"/>
              </a:spcAft>
              <a:buSzPct val="100000"/>
              <a:buChar char="•"/>
            </a:pPr>
            <a:r>
              <a:rPr lang="en-US" sz="1800" dirty="0"/>
              <a:t>Completed ROs typically show the concern, cause, and correction, or the 3 Cs. </a:t>
            </a:r>
          </a:p>
          <a:p>
            <a:pPr marL="357188" marR="0" lvl="0" indent="-357188" algn="l" rtl="0">
              <a:spcAft>
                <a:spcPts val="0"/>
              </a:spcAft>
              <a:buSzPct val="100000"/>
              <a:buChar char="•"/>
            </a:pPr>
            <a:r>
              <a:rPr lang="en-US" sz="1800" dirty="0"/>
              <a:t>ROs are legal documents that are used for many other purposes.</a:t>
            </a:r>
            <a:endParaRPr lang="en-US" sz="1800" b="1" dirty="0"/>
          </a:p>
        </p:txBody>
      </p:sp>
      <p:pic>
        <p:nvPicPr>
          <p:cNvPr id="6" name="Picture Placeholder 5" descr="A screenshot of a computer-generated invoice. The data are as follows: Color: blank; Year: 05; Make/Model: Ford focus; VIN: 1 F A F P 34 N 35 W 201477; License, blank; Mileage in/out: 90474/90474; TAG : T 148; Del date: 01 Jan 05 D D; Prod . date, blank; Warr. Exp, blank; Promised: 17:00 10 Feb 15; PO no, blank; Rate, 0.00; Payment: cash; Inv. Date: 17 Feb 15; R.O. Opened, 08:56 10 Feb 15; Ready, 12:32 17 Feb 15; Options: D L R: 02215 END: 2.0_Liter_D O H C. The details about the service are as follows: A table with four columns, and its headers are as follows: Line Opcode Tech Type Hours, List, Net, and Total. The row-wise entries are as follows: Row 1: A customer states check engine light on - and hearing loud exhaust noise. Row 2: 1 A found front oxygen sensor faulty - customer. Row 3 and row 4: Declined oxygen sensor-repaired muffler and flex pipe. Row 5: tech, 2409 C P; net, 105.97; total, 105.97. row 6: Subl all star replaced muffler/flex pipe. row 7: type, C P; net, 225.00; total, 225.00. row 8: line, parts:; tech, 0.00; type, labor:; hours, 105.97; Other: 225.00; total line A: 330.97. row 9 to row 15: B Customer states when using accersories - will hear a clicking noise from the dash area - and feels like it is loose power - abs light, 1 A found bolt from lower mount broken - replaced, bolt-cased front axle shafts to pull out and leak and transmission lines pulled and leaking -. row 16: tech, 2409; type, C P; net, 105.97; total, 105.97. row 17: line, parts:; tech, 0.00; type, labor:; 105.97, other: 0.00; list, total line B:; total, 105.97. row 18 and row 19. C customer states when shifting into driver or revs there is a clunking, noise. row 20 to row 23: op code, 17000 see line B - also rack and pinion is leaking, and possible fuel pump issue also multiple, ABS codes and A I G bag front crash sensor, possible conn. row 24: tech, 2409; type, C P. row 25: line, parts:; tech, 0.00; type, labor; 0.00; other: 0.00; list, total line C:; total, 0.00. row 26 to row 28: D T H W works package change oil and filter, rotate tires, inspect brakes, perform complementary multi point inspection; N W P no work performed. row 29: tech, 2409; type, C P; net, 0.00; total, 0.00. row 30: line, parts:; tech, 0.00; type, labor:; 0.00; other: 0.00; list, total line D:; total, 0.00. The footer consists of disclaimers that include from misc. shop supply charge, shop supply costs, a disclaimer of warranty, a description along with amount distribution, and the total amount. A provision is given for customer signature under the disclaimer of warranty."/>
          <p:cNvPicPr>
            <a:picLocks noGrp="1" noChangeAspect="1"/>
          </p:cNvPicPr>
          <p:nvPr>
            <p:ph type="pic" sz="quarter" idx="11"/>
          </p:nvPr>
        </p:nvPicPr>
        <p:blipFill>
          <a:blip r:embed="rId3"/>
          <a:srcRect b="2888"/>
          <a:stretch/>
        </p:blipFill>
        <p:spPr>
          <a:xfrm>
            <a:off x="7400864" y="1713422"/>
            <a:ext cx="3908108" cy="41513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Repair Orders (2 of 3)</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lvl="0" indent="-357188">
              <a:buSzPct val="100000"/>
            </a:pPr>
            <a:r>
              <a:rPr lang="en-US" sz="1800" dirty="0">
                <a:solidFill>
                  <a:schemeClr val="accent1"/>
                </a:solidFill>
              </a:rPr>
              <a:t>Very often when a service is performed, parts are replaced and appear on the RO as “R&amp;R,” which stands for “remove and replace.”</a:t>
            </a:r>
          </a:p>
          <a:p>
            <a:pPr marL="357188" marR="0" lvl="0" indent="-357188" algn="l" rtl="0">
              <a:buSzPct val="100000"/>
              <a:buChar char="•"/>
            </a:pPr>
            <a:r>
              <a:rPr lang="en-US" sz="1800" dirty="0">
                <a:solidFill>
                  <a:schemeClr val="accent1"/>
                </a:solidFill>
              </a:rPr>
              <a:t>In a dealership, nearly all of the replacement parts are original equipment manufacturer (OEM) parts obtained through the parts department.</a:t>
            </a:r>
          </a:p>
          <a:p>
            <a:pPr marL="357188" marR="0" lvl="0" indent="-357188" algn="l" rtl="0">
              <a:buSzPct val="100000"/>
              <a:buChar char="•"/>
            </a:pPr>
            <a:r>
              <a:rPr lang="en-US" sz="1800" dirty="0">
                <a:solidFill>
                  <a:schemeClr val="accent1"/>
                </a:solidFill>
              </a:rPr>
              <a:t>Parts may be:</a:t>
            </a:r>
          </a:p>
          <a:p>
            <a:pPr marL="714375" lvl="1">
              <a:buSzPct val="100000"/>
            </a:pPr>
            <a:r>
              <a:rPr lang="en-US" sz="1600" dirty="0">
                <a:solidFill>
                  <a:schemeClr val="accent1"/>
                </a:solidFill>
              </a:rPr>
              <a:t>OEM</a:t>
            </a:r>
          </a:p>
          <a:p>
            <a:pPr marL="714375" lvl="1">
              <a:buSzPct val="100000"/>
            </a:pPr>
            <a:r>
              <a:rPr lang="en-US" sz="1600" dirty="0">
                <a:solidFill>
                  <a:schemeClr val="accent1"/>
                </a:solidFill>
              </a:rPr>
              <a:t>Aftermarket</a:t>
            </a:r>
          </a:p>
          <a:p>
            <a:pPr marL="714375" lvl="1">
              <a:buSzPct val="100000"/>
            </a:pPr>
            <a:r>
              <a:rPr lang="en-US" sz="1600" dirty="0">
                <a:solidFill>
                  <a:schemeClr val="accent1"/>
                </a:solidFill>
              </a:rPr>
              <a:t>Used</a:t>
            </a:r>
          </a:p>
          <a:p>
            <a:pPr marL="714375" lvl="1">
              <a:buSzPct val="100000"/>
            </a:pPr>
            <a:r>
              <a:rPr lang="en-US" sz="1600" dirty="0">
                <a:solidFill>
                  <a:schemeClr val="accent1"/>
                </a:solidFill>
              </a:rPr>
              <a:t>Remanufactured or rebuilt</a:t>
            </a:r>
          </a:p>
          <a:p>
            <a:pPr marL="357188" marR="0" lvl="0" indent="-357188" algn="l" rtl="0">
              <a:buSzPct val="100000"/>
              <a:buChar char="•"/>
            </a:pPr>
            <a:r>
              <a:rPr lang="en-US" sz="1800" dirty="0">
                <a:solidFill>
                  <a:schemeClr val="accent1"/>
                </a:solidFill>
              </a:rPr>
              <a:t>If the replaced part has no core value, the shop disposes of the part. However, many shops offer the part to the customer as proof that the part was removed and a new one installed.</a:t>
            </a:r>
          </a:p>
          <a:p>
            <a:pPr marL="357188" marR="0" lvl="0" indent="-357188" algn="l" rtl="0">
              <a:buSzPct val="100000"/>
              <a:buChar char="•"/>
            </a:pPr>
            <a:r>
              <a:rPr lang="en-US" sz="1800" dirty="0">
                <a:solidFill>
                  <a:schemeClr val="accent1"/>
                </a:solidFill>
              </a:rPr>
              <a:t>In many states, the shop is required by law to either return the old parts or allow the customer to inspect them.</a:t>
            </a:r>
            <a:endParaRPr lang="en-US" sz="1800" b="1" dirty="0">
              <a:solidFill>
                <a:schemeClr val="accent1"/>
              </a:solidFill>
            </a:endParaRPr>
          </a:p>
        </p:txBody>
      </p:sp>
    </p:spTree>
    <p:extLst>
      <p:ext uri="{BB962C8B-B14F-4D97-AF65-F5344CB8AC3E}">
        <p14:creationId xmlns:p14="http://schemas.microsoft.com/office/powerpoint/2010/main" val="2270991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Repair Orders (3 of 3)</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2200" dirty="0">
                <a:solidFill>
                  <a:schemeClr val="accent1"/>
                </a:solidFill>
              </a:rPr>
              <a:t>Some of the things to do when estimating the cost of a repair or service:</a:t>
            </a:r>
          </a:p>
          <a:p>
            <a:pPr marL="714375" lvl="1">
              <a:spcAft>
                <a:spcPts val="600"/>
              </a:spcAft>
              <a:buSzPct val="100000"/>
            </a:pPr>
            <a:r>
              <a:rPr lang="en-US" sz="2000" dirty="0">
                <a:solidFill>
                  <a:schemeClr val="accent1"/>
                </a:solidFill>
              </a:rPr>
              <a:t>Make sure you have the correct contact information for the customer and the correct information about the vehicle.</a:t>
            </a:r>
          </a:p>
          <a:p>
            <a:pPr marL="714375" lvl="1">
              <a:spcAft>
                <a:spcPts val="600"/>
              </a:spcAft>
              <a:buSzPct val="100000"/>
            </a:pPr>
            <a:r>
              <a:rPr lang="en-US" sz="2000" dirty="0">
                <a:solidFill>
                  <a:schemeClr val="accent1"/>
                </a:solidFill>
              </a:rPr>
              <a:t>Always use the correct labor and parts guide or database for that specific vehicle. </a:t>
            </a:r>
          </a:p>
          <a:p>
            <a:pPr marL="714375" lvl="1">
              <a:spcAft>
                <a:spcPts val="600"/>
              </a:spcAft>
              <a:buSzPct val="100000"/>
            </a:pPr>
            <a:r>
              <a:rPr lang="en-US" sz="2000" dirty="0">
                <a:solidFill>
                  <a:schemeClr val="accent1"/>
                </a:solidFill>
              </a:rPr>
              <a:t>Locate the exact service for that specific vehicle in the guide or database. </a:t>
            </a:r>
          </a:p>
          <a:p>
            <a:pPr marL="714375" lvl="1">
              <a:spcAft>
                <a:spcPts val="600"/>
              </a:spcAft>
              <a:buSzPct val="100000"/>
            </a:pPr>
            <a:r>
              <a:rPr lang="en-US" sz="2000" dirty="0">
                <a:solidFill>
                  <a:schemeClr val="accent1"/>
                </a:solidFill>
              </a:rPr>
              <a:t>Using the guidelines, choose the proper time allocation listed for the service. </a:t>
            </a:r>
          </a:p>
          <a:p>
            <a:pPr marL="714375" lvl="1">
              <a:spcAft>
                <a:spcPts val="600"/>
              </a:spcAft>
              <a:buSzPct val="100000"/>
            </a:pPr>
            <a:r>
              <a:rPr lang="en-US" sz="2000" dirty="0">
                <a:solidFill>
                  <a:schemeClr val="accent1"/>
                </a:solidFill>
              </a:rPr>
              <a:t>Multiply the allocated time by the shop’s hourly labor rate. </a:t>
            </a:r>
          </a:p>
          <a:p>
            <a:pPr marL="714375" lvl="1">
              <a:spcAft>
                <a:spcPts val="600"/>
              </a:spcAft>
              <a:buSzPct val="100000"/>
            </a:pPr>
            <a:r>
              <a:rPr lang="en-US" sz="2000" dirty="0">
                <a:solidFill>
                  <a:schemeClr val="accent1"/>
                </a:solidFill>
              </a:rPr>
              <a:t>If any sublet repairs are anticipated, list this service as a sublet repair and add the cost to the labor costs.</a:t>
            </a:r>
            <a:endParaRPr lang="en-US" sz="2000" b="1" dirty="0">
              <a:solidFill>
                <a:schemeClr val="accent1"/>
              </a:solidFill>
            </a:endParaRPr>
          </a:p>
        </p:txBody>
      </p:sp>
    </p:spTree>
    <p:extLst>
      <p:ext uri="{BB962C8B-B14F-4D97-AF65-F5344CB8AC3E}">
        <p14:creationId xmlns:p14="http://schemas.microsoft.com/office/powerpoint/2010/main" val="1094905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Vehicle Identification (1 of 2)</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a:xfrm>
            <a:off x="476844" y="1563625"/>
            <a:ext cx="11241914" cy="2829699"/>
          </a:xfrm>
        </p:spPr>
        <p:txBody>
          <a:bodyPr/>
          <a:lstStyle/>
          <a:p>
            <a:pPr marL="0" indent="0">
              <a:spcAft>
                <a:spcPts val="600"/>
              </a:spcAft>
              <a:buNone/>
            </a:pPr>
            <a:r>
              <a:rPr lang="en-US" sz="2000" b="1" dirty="0">
                <a:solidFill>
                  <a:schemeClr val="accent1"/>
                </a:solidFill>
              </a:rPr>
              <a:t>08.02 Explain how the vehicle and its systems can be defined by deciphering its VIN.</a:t>
            </a:r>
          </a:p>
          <a:p>
            <a:pPr>
              <a:spcAft>
                <a:spcPts val="600"/>
              </a:spcAft>
              <a:buSzPct val="100000"/>
            </a:pPr>
            <a:r>
              <a:rPr lang="en-US" sz="2200" dirty="0">
                <a:solidFill>
                  <a:schemeClr val="accent1"/>
                </a:solidFill>
              </a:rPr>
              <a:t>Refer to the vehicle’s identification number (VIN) before doing any service to a vehicle to know exactly what you are working on.</a:t>
            </a:r>
          </a:p>
          <a:p>
            <a:pPr>
              <a:spcAft>
                <a:spcPts val="600"/>
              </a:spcAft>
              <a:buSzPct val="100000"/>
            </a:pPr>
            <a:r>
              <a:rPr lang="en-US" sz="2200" dirty="0">
                <a:solidFill>
                  <a:schemeClr val="accent1"/>
                </a:solidFill>
              </a:rPr>
              <a:t>The VIN is on a plate behind the lower corner of the driver’s side of the windshield as well as other locations on the </a:t>
            </a:r>
            <a:r>
              <a:rPr lang="en-US" sz="2200">
                <a:solidFill>
                  <a:schemeClr val="accent1"/>
                </a:solidFill>
              </a:rPr>
              <a:t>vehicle.</a:t>
            </a:r>
            <a:endParaRPr lang="en-US" sz="2200" dirty="0">
              <a:solidFill>
                <a:schemeClr val="accent1"/>
              </a:solidFill>
            </a:endParaRPr>
          </a:p>
          <a:p>
            <a:pPr>
              <a:spcAft>
                <a:spcPts val="600"/>
              </a:spcAft>
              <a:buSzPct val="100000"/>
            </a:pPr>
            <a:r>
              <a:rPr lang="en-US" sz="2200" dirty="0">
                <a:solidFill>
                  <a:schemeClr val="accent1"/>
                </a:solidFill>
              </a:rPr>
              <a:t>It is made up of 17 characters and contains all pertinent information about the </a:t>
            </a:r>
            <a:r>
              <a:rPr lang="en-US" sz="2200">
                <a:solidFill>
                  <a:schemeClr val="accent1"/>
                </a:solidFill>
              </a:rPr>
              <a:t>vehicle.</a:t>
            </a:r>
            <a:endParaRPr lang="en-US" sz="2200" dirty="0">
              <a:solidFill>
                <a:schemeClr val="accent1"/>
              </a:solidFill>
            </a:endParaRPr>
          </a:p>
        </p:txBody>
      </p:sp>
      <p:pic>
        <p:nvPicPr>
          <p:cNvPr id="7" name="Picture Placeholder 6" descr="A V I N plate is located near the left upper instrument panel of a vehicle. The plate consists of a G M code with a combination of letters and numbers, with a bar code below it. The code reads, 1 G 1 Y Y 3 6 U 6 6 5 1 1 2 5 5 5. ">
            <a:extLst>
              <a:ext uri="{FF2B5EF4-FFF2-40B4-BE49-F238E27FC236}">
                <a16:creationId xmlns:a16="http://schemas.microsoft.com/office/drawing/2014/main" id="{8A878AAE-BC2B-CACC-96D2-F5AAE76D1E9E}"/>
              </a:ext>
            </a:extLst>
          </p:cNvPr>
          <p:cNvPicPr>
            <a:picLocks noGrp="1" noChangeAspect="1"/>
          </p:cNvPicPr>
          <p:nvPr>
            <p:ph type="pic" sz="quarter" idx="11"/>
          </p:nvPr>
        </p:nvPicPr>
        <p:blipFill>
          <a:blip r:embed="rId3"/>
          <a:srcRect b="9124"/>
          <a:stretch/>
        </p:blipFill>
        <p:spPr>
          <a:xfrm>
            <a:off x="4770759" y="4263200"/>
            <a:ext cx="4174789" cy="1759227"/>
          </a:xfrm>
          <a:prstGeom prst="rect">
            <a:avLst/>
          </a:prstGeom>
        </p:spPr>
      </p:pic>
    </p:spTree>
    <p:extLst>
      <p:ext uri="{BB962C8B-B14F-4D97-AF65-F5344CB8AC3E}">
        <p14:creationId xmlns:p14="http://schemas.microsoft.com/office/powerpoint/2010/main" val="1905117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Vehicle Identification (2 of 2)</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a:xfrm>
            <a:off x="476843" y="1563625"/>
            <a:ext cx="7405916" cy="4448292"/>
          </a:xfrm>
        </p:spPr>
        <p:txBody>
          <a:bodyPr/>
          <a:lstStyle/>
          <a:p>
            <a:pPr>
              <a:spcAft>
                <a:spcPts val="600"/>
              </a:spcAft>
              <a:buSzPct val="100000"/>
            </a:pPr>
            <a:r>
              <a:rPr lang="en-US">
                <a:solidFill>
                  <a:schemeClr val="accent1"/>
                </a:solidFill>
              </a:rPr>
              <a:t>Vehicle Inspection</a:t>
            </a:r>
            <a:endParaRPr lang="en-US" dirty="0">
              <a:solidFill>
                <a:schemeClr val="accent1"/>
              </a:solidFill>
            </a:endParaRPr>
          </a:p>
          <a:p>
            <a:pPr lvl="1">
              <a:spcAft>
                <a:spcPts val="600"/>
              </a:spcAft>
              <a:buSzPct val="100000"/>
            </a:pPr>
            <a:r>
              <a:rPr lang="en-US" dirty="0">
                <a:solidFill>
                  <a:schemeClr val="accent1"/>
                </a:solidFill>
              </a:rPr>
              <a:t>Most shops have some type of formalized inspection process.</a:t>
            </a:r>
          </a:p>
          <a:p>
            <a:pPr lvl="1">
              <a:spcAft>
                <a:spcPts val="600"/>
              </a:spcAft>
              <a:buSzPct val="100000"/>
            </a:pPr>
            <a:r>
              <a:rPr lang="en-US" dirty="0">
                <a:solidFill>
                  <a:schemeClr val="accent1"/>
                </a:solidFill>
              </a:rPr>
              <a:t>Inspect the outside of the vehicle for obvious damage and should be noted before work begins.</a:t>
            </a:r>
          </a:p>
          <a:p>
            <a:pPr lvl="1">
              <a:spcAft>
                <a:spcPts val="600"/>
              </a:spcAft>
              <a:buSzPct val="100000"/>
            </a:pPr>
            <a:r>
              <a:rPr lang="en-US" dirty="0">
                <a:solidFill>
                  <a:schemeClr val="accent1"/>
                </a:solidFill>
              </a:rPr>
              <a:t>Making notes about any damage that is present before service can help prevent problems.</a:t>
            </a:r>
          </a:p>
        </p:txBody>
      </p:sp>
      <p:pic>
        <p:nvPicPr>
          <p:cNvPr id="7" name="Picture Placeholder 6" descr="Two illustrations. (illustration A) An inspection form that has five titles with various sub-titles that carry three to four color codes each. (title 1) Interior Inspection. (subtitles with color codes) cabin air filter - red, yellow, green, blue. door latches/power lock operation - red, yellow, green. windshield wiper condition/washer operation - red, yellow, green. parking brake: with checkboxes for the text, mechanical, electronic - red, yellow, green. brake pedal &amp; master cylinder operation - red, yellow, green. clutch pedal and master cylinder operation - red, yellow, green, blue. seat belt operation - red, yellow, green. instruments, gauges, warning lights - red, yellow, green. telematics subscription - red, yellow, green, blue. horn operation - red, yellow, green. exterior lighting operation (headlamps, foglamps, signals, tail and brake lights, reverse lamps) - red, yellow, green. heating, ventilation, A C system operation (hoses/lines/leaks) - red, yellow, green. glass/power window operation - red, yellow, green. rearview and side mirror operation (auto-dimming) - red, yellow, green. 12 volt outlet(s) operation - red, yellow, green. (title 2) underhood inspection. (subtitles with color codes) accessory drive belt(s) - red, yellow, green. radiator/coolant system/hoses (condition/leaks) - red, yellow, green. engine air filter - red, yellow, green. hood latch - red, yellow, green. (title 3) fluid level inspection. (subtitles with two green color codes on the left labeled OK and filled, respectively, and a red color code on the right labeled attention required. The green and red are present by default for each subtitle and the blue color codes will be mentioned as follows) Engine oil - green, red. coolant - green, red. power steering fluid (non-EPS only) - green, red, blue. transmission fluid - green, red, blue. front differential oil - green, red, blue. rear differential oil - - green, red. brake/clutch fluid - green, red. washer fluid - green, red. (title 4) battery inspection. (subtitles with color codes) terminals/cables - red, yellow, green. battery(ies) test/condition; test code: blank - red, yellow, green. (no title) (subtitles with color codes, repeated twice adjacently but with two different color codes) brake pads blank millimeter; on left - red, yellow, green, blue; on right - red, yellow, green. Pad/caliper movement; on left - red, yellow, green, blue; on right - red, yellow, green. rotor condition blank; on left - red, yellow, green, blue; on right - red, yellow, green. Tire tread blank/32 inches; on left - red, yellow, green; on right - red, yellow, green. wear pattern blank; on left - red, yellow, green; on right - red, yellow, green. tire pressure asterisk blank P S I; on left - red, yellow, green; on right - red, yellow, green. The brake pad thickness key indicates the three color codes as red - less than 3 millimeter; yellow - 3 to 5 millimeter; green - over 5 millimeter. A check box on the left of the following texts, visual brake inspection performed, wheels: on, off. An illustration, titled Exterior body damage, is of a car with a view of it from front, rear, left-right side, and top. (title 5 and title 6) Passenger side rear and passenger side front. (both have the same subtitles with different color codes) brake pads blank millimeter; on left - red, yellow, green, blue; on right - red, yellow, green. Pad/caliper movement; on left - red, yellow, green, blue; on right - red, yellow, green. rotor condition blank; on left - red, yellow, green, blue; on right - red, yellow, green. Tire tread blank/32 inches; on left - red, yellow, green; on right - red, yellow, green. wear pattern blank; on left - red, yellow, green; on right - red, yellow, green. tire pressure asterisk blank P S I; on left - red, yellow, green; on right - red, yellow, green. A blue check box is labeled Spare tire/repair kit space P S I. Another text beside reads, Lug nut torque space feet pounds. Below these texts is a horizontal separation line, then the following text continues, check box with the text tire set matches. red check box - under 3/32 inches remaining. yellow check box - 3/32 - 5/32 inches remaining. green check box - 6/32 inches remaining. The following text with check boxes are highlighted, alignment recommended, wheel balance recommended. At the bottom of the illustration, A is the space for the technician's comments/additional recommendations. (illustration B) Three side-by-side screenshots of the mobile webpage of the inspection including the video. The first screenshot has the video with the title, multi-point vehicle inspection report. The video duration is 3.15 minutes. Below is the subtitle inspect each service and a list of services with check boxes are present. The second screenshot has a list of recommended additional services and a separate title for check tires/measure tire tread depth. The third screenshot is the continuation of check tires/measure tire tread depth, followed by another title, measure front/ rear brake linings.">
            <a:extLst>
              <a:ext uri="{FF2B5EF4-FFF2-40B4-BE49-F238E27FC236}">
                <a16:creationId xmlns:a16="http://schemas.microsoft.com/office/drawing/2014/main" id="{EE6D656F-4E1C-10C9-E795-FA020CE0BC81}"/>
              </a:ext>
            </a:extLst>
          </p:cNvPr>
          <p:cNvPicPr>
            <a:picLocks noGrp="1" noChangeAspect="1"/>
          </p:cNvPicPr>
          <p:nvPr>
            <p:ph type="pic" sz="quarter" idx="11"/>
          </p:nvPr>
        </p:nvPicPr>
        <p:blipFill>
          <a:blip r:embed="rId3"/>
          <a:srcRect b="2760"/>
          <a:stretch/>
        </p:blipFill>
        <p:spPr>
          <a:xfrm>
            <a:off x="8274274" y="1563625"/>
            <a:ext cx="3022810" cy="4448293"/>
          </a:xfrm>
          <a:prstGeom prst="rect">
            <a:avLst/>
          </a:prstGeom>
        </p:spPr>
      </p:pic>
    </p:spTree>
    <p:extLst>
      <p:ext uri="{BB962C8B-B14F-4D97-AF65-F5344CB8AC3E}">
        <p14:creationId xmlns:p14="http://schemas.microsoft.com/office/powerpoint/2010/main" val="2897131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sz="4000" dirty="0"/>
              <a:t>Preventive Maintenance </a:t>
            </a:r>
            <a:r>
              <a:rPr lang="en-US" dirty="0"/>
              <a:t>(1 of </a:t>
            </a:r>
            <a:r>
              <a:rPr lang="en-US"/>
              <a:t>2)</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p:txBody>
          <a:bodyPr/>
          <a:lstStyle/>
          <a:p>
            <a:pPr marL="0" indent="0">
              <a:spcAft>
                <a:spcPts val="600"/>
              </a:spcAft>
              <a:buNone/>
            </a:pPr>
            <a:r>
              <a:rPr lang="en-US" sz="2400" b="1" dirty="0">
                <a:solidFill>
                  <a:schemeClr val="accent1"/>
                </a:solidFill>
              </a:rPr>
              <a:t>08.03 Explain the importance of preventative maintenance.</a:t>
            </a:r>
          </a:p>
          <a:p>
            <a:pPr>
              <a:spcAft>
                <a:spcPts val="600"/>
              </a:spcAft>
              <a:buSzPct val="100000"/>
            </a:pPr>
            <a:r>
              <a:rPr lang="en-US" sz="2200" dirty="0">
                <a:solidFill>
                  <a:schemeClr val="accent1"/>
                </a:solidFill>
              </a:rPr>
              <a:t>Preventive maintenance (PM) involves performing certain services to a vehicle on a regularly scheduled basis before there is any sign of </a:t>
            </a:r>
            <a:r>
              <a:rPr lang="en-US" sz="2200">
                <a:solidFill>
                  <a:schemeClr val="accent1"/>
                </a:solidFill>
              </a:rPr>
              <a:t>trouble.</a:t>
            </a:r>
            <a:endParaRPr lang="en-US" sz="2200" dirty="0">
              <a:solidFill>
                <a:schemeClr val="accent1"/>
              </a:solidFill>
            </a:endParaRPr>
          </a:p>
          <a:p>
            <a:pPr>
              <a:spcAft>
                <a:spcPts val="600"/>
              </a:spcAft>
              <a:buSzPct val="100000"/>
            </a:pPr>
            <a:r>
              <a:rPr lang="en-US" sz="2200" dirty="0">
                <a:solidFill>
                  <a:schemeClr val="accent1"/>
                </a:solidFill>
              </a:rPr>
              <a:t>Regular inspection and routine maintenance can prevent major breakdowns and expensive repairs and also keeps cars and trucks running efficiently and </a:t>
            </a:r>
            <a:r>
              <a:rPr lang="en-US" sz="2200">
                <a:solidFill>
                  <a:schemeClr val="accent1"/>
                </a:solidFill>
              </a:rPr>
              <a:t>safely.</a:t>
            </a:r>
            <a:endParaRPr lang="en-US" sz="2200" dirty="0">
              <a:solidFill>
                <a:schemeClr val="accent1"/>
              </a:solidFill>
            </a:endParaRPr>
          </a:p>
          <a:p>
            <a:pPr>
              <a:spcAft>
                <a:spcPts val="600"/>
              </a:spcAft>
              <a:buSzPct val="100000"/>
            </a:pPr>
            <a:r>
              <a:rPr lang="en-US" sz="2200" dirty="0">
                <a:solidFill>
                  <a:schemeClr val="accent1"/>
                </a:solidFill>
              </a:rPr>
              <a:t>A 2012 study found that the average age of passenger cars in the United States is over 11 years old and increasing year over year.</a:t>
            </a:r>
          </a:p>
          <a:p>
            <a:pPr>
              <a:spcAft>
                <a:spcPts val="600"/>
              </a:spcAft>
              <a:buSzPct val="100000"/>
            </a:pPr>
            <a:r>
              <a:rPr lang="en-US" sz="2200" dirty="0">
                <a:solidFill>
                  <a:schemeClr val="accent1"/>
                </a:solidFill>
              </a:rPr>
              <a:t>PM is critical for all vehicles including new, but especially critical for keeping older vehicles safe and on the road.</a:t>
            </a:r>
          </a:p>
        </p:txBody>
      </p:sp>
    </p:spTree>
    <p:extLst>
      <p:ext uri="{BB962C8B-B14F-4D97-AF65-F5344CB8AC3E}">
        <p14:creationId xmlns:p14="http://schemas.microsoft.com/office/powerpoint/2010/main" val="3237333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sz="4000" dirty="0"/>
              <a:t>Preventive Maintenance (2 of </a:t>
            </a:r>
            <a:r>
              <a:rPr lang="en-US" sz="4000"/>
              <a:t>2)</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a:xfrm>
            <a:off x="476843" y="1563625"/>
            <a:ext cx="11241915" cy="1368761"/>
          </a:xfrm>
        </p:spPr>
        <p:txBody>
          <a:bodyPr/>
          <a:lstStyle/>
          <a:p>
            <a:pPr>
              <a:spcAft>
                <a:spcPts val="600"/>
              </a:spcAft>
              <a:buSzPct val="100000"/>
            </a:pPr>
            <a:r>
              <a:rPr lang="en-US" sz="2000" dirty="0"/>
              <a:t>A survey of 2,375 vehicles conducted during National Car Care Month found that more than 90 percent of the cars lacked some form of service. </a:t>
            </a:r>
          </a:p>
          <a:p>
            <a:pPr>
              <a:spcAft>
                <a:spcPts val="600"/>
              </a:spcAft>
              <a:buSzPct val="100000"/>
            </a:pPr>
            <a:r>
              <a:rPr lang="en-US" sz="2000" dirty="0"/>
              <a:t>The results indicated </a:t>
            </a:r>
            <a:r>
              <a:rPr lang="en-US" sz="2000"/>
              <a:t>that:</a:t>
            </a:r>
            <a:endParaRPr lang="en-US" sz="2000" dirty="0"/>
          </a:p>
        </p:txBody>
      </p:sp>
      <p:sp>
        <p:nvSpPr>
          <p:cNvPr id="9" name="Content Placeholder 8"/>
          <p:cNvSpPr txBox="1">
            <a:spLocks noGrp="1"/>
          </p:cNvSpPr>
          <p:nvPr>
            <p:ph sz="quarter" idx="10"/>
          </p:nvPr>
        </p:nvSpPr>
        <p:spPr>
          <a:xfrm>
            <a:off x="473242" y="2800615"/>
            <a:ext cx="5076220" cy="3016170"/>
          </a:xfrm>
          <a:prstGeom prst="rect">
            <a:avLst/>
          </a:prstGeom>
          <a:noFill/>
        </p:spPr>
        <p:txBody>
          <a:bodyPr wrap="square" rtlCol="0">
            <a:spAutoFit/>
          </a:bodyPr>
          <a:lstStyle/>
          <a:p>
            <a:pPr marL="342900" lvl="1" indent="-342900">
              <a:spcBef>
                <a:spcPts val="624"/>
              </a:spcBef>
              <a:spcAft>
                <a:spcPts val="600"/>
              </a:spcAft>
              <a:buSzPct val="100000"/>
              <a:buFont typeface="Arial" panose="020B0604020202020204" pitchFamily="34" charset="0"/>
              <a:buChar char="•"/>
            </a:pPr>
            <a:r>
              <a:rPr lang="en-US" sz="2000" dirty="0">
                <a:solidFill>
                  <a:schemeClr val="tx1"/>
                </a:solidFill>
                <a:latin typeface="Work Sans" panose="020B0604020202020204" charset="0"/>
              </a:rPr>
              <a:t>34% of the cars had restricted </a:t>
            </a:r>
            <a:r>
              <a:rPr lang="en-US" sz="2000">
                <a:solidFill>
                  <a:schemeClr val="tx1"/>
                </a:solidFill>
                <a:latin typeface="Work Sans" panose="020B0604020202020204" charset="0"/>
              </a:rPr>
              <a:t>air filters</a:t>
            </a:r>
            <a:endParaRPr lang="en-US" sz="2000" dirty="0">
              <a:solidFill>
                <a:schemeClr val="tx1"/>
              </a:solidFill>
              <a:latin typeface="Work Sans" panose="020B0604020202020204" charset="0"/>
            </a:endParaRPr>
          </a:p>
          <a:p>
            <a:pPr marL="342900" lvl="1" indent="-342900">
              <a:spcBef>
                <a:spcPts val="624"/>
              </a:spcBef>
              <a:spcAft>
                <a:spcPts val="600"/>
              </a:spcAft>
              <a:buSzPct val="100000"/>
              <a:buFont typeface="Arial" panose="020B0604020202020204" pitchFamily="34" charset="0"/>
              <a:buChar char="•"/>
            </a:pPr>
            <a:r>
              <a:rPr lang="en-US" sz="2000" dirty="0">
                <a:solidFill>
                  <a:schemeClr val="tx1"/>
                </a:solidFill>
                <a:latin typeface="Work Sans" panose="020B0604020202020204" charset="0"/>
              </a:rPr>
              <a:t>27% had worn belts</a:t>
            </a:r>
          </a:p>
          <a:p>
            <a:pPr marL="342900" lvl="1" indent="-342900">
              <a:spcBef>
                <a:spcPts val="624"/>
              </a:spcBef>
              <a:spcAft>
                <a:spcPts val="600"/>
              </a:spcAft>
              <a:buSzPct val="100000"/>
              <a:buFont typeface="Arial" panose="020B0604020202020204" pitchFamily="34" charset="0"/>
              <a:buChar char="•"/>
            </a:pPr>
            <a:r>
              <a:rPr lang="en-US" sz="2000" dirty="0">
                <a:solidFill>
                  <a:schemeClr val="tx1"/>
                </a:solidFill>
                <a:latin typeface="Work Sans" panose="020B0604020202020204" charset="0"/>
              </a:rPr>
              <a:t>25% had clogged PCV filters</a:t>
            </a:r>
          </a:p>
          <a:p>
            <a:pPr marL="342900" indent="-342900">
              <a:spcBef>
                <a:spcPts val="624"/>
              </a:spcBef>
              <a:spcAft>
                <a:spcPts val="600"/>
              </a:spcAft>
              <a:buSzPct val="100000"/>
              <a:buFont typeface="Arial" panose="020B0604020202020204" pitchFamily="34" charset="0"/>
              <a:buChar char="•"/>
            </a:pPr>
            <a:r>
              <a:rPr lang="en-US" sz="2000" dirty="0">
                <a:solidFill>
                  <a:schemeClr val="tx1"/>
                </a:solidFill>
                <a:latin typeface="Work Sans" panose="020B0604020202020204" charset="0"/>
              </a:rPr>
              <a:t>14% had worn hoses</a:t>
            </a:r>
          </a:p>
          <a:p>
            <a:pPr marL="342900" indent="-342900">
              <a:spcBef>
                <a:spcPts val="624"/>
              </a:spcBef>
              <a:spcAft>
                <a:spcPts val="600"/>
              </a:spcAft>
              <a:buSzPct val="100000"/>
              <a:buFont typeface="Arial" panose="020B0604020202020204" pitchFamily="34" charset="0"/>
              <a:buChar char="•"/>
            </a:pPr>
            <a:r>
              <a:rPr lang="en-US" sz="2000" dirty="0">
                <a:solidFill>
                  <a:schemeClr val="tx1"/>
                </a:solidFill>
                <a:latin typeface="Work Sans" panose="020B0604020202020204" charset="0"/>
              </a:rPr>
              <a:t>20% had bad batteries, battery cables, or </a:t>
            </a:r>
            <a:r>
              <a:rPr lang="en-US" sz="2000">
                <a:solidFill>
                  <a:schemeClr val="tx1"/>
                </a:solidFill>
                <a:latin typeface="Work Sans" panose="020B0604020202020204" charset="0"/>
              </a:rPr>
              <a:t>terminals.</a:t>
            </a:r>
            <a:endParaRPr lang="en-US" sz="2000" dirty="0">
              <a:solidFill>
                <a:schemeClr val="tx1"/>
              </a:solidFill>
              <a:latin typeface="Work Sans" panose="020B0604020202020204" charset="0"/>
            </a:endParaRPr>
          </a:p>
        </p:txBody>
      </p:sp>
      <p:sp>
        <p:nvSpPr>
          <p:cNvPr id="10" name="Content Placeholder 9"/>
          <p:cNvSpPr txBox="1">
            <a:spLocks noGrp="1"/>
          </p:cNvSpPr>
          <p:nvPr>
            <p:ph sz="quarter" idx="13"/>
          </p:nvPr>
        </p:nvSpPr>
        <p:spPr>
          <a:xfrm>
            <a:off x="5422474" y="2800615"/>
            <a:ext cx="6292683" cy="3385502"/>
          </a:xfrm>
          <a:prstGeom prst="rect">
            <a:avLst/>
          </a:prstGeom>
          <a:noFill/>
        </p:spPr>
        <p:txBody>
          <a:bodyPr wrap="square" rtlCol="0">
            <a:spAutoFit/>
          </a:bodyPr>
          <a:lstStyle/>
          <a:p>
            <a:pPr marL="0" indent="0">
              <a:spcBef>
                <a:spcPts val="624"/>
              </a:spcBef>
              <a:spcAft>
                <a:spcPts val="600"/>
              </a:spcAft>
              <a:buNone/>
            </a:pPr>
            <a:r>
              <a:rPr lang="en-US" sz="1800" dirty="0">
                <a:solidFill>
                  <a:schemeClr val="tx1"/>
                </a:solidFill>
                <a:latin typeface="Work Sans" panose="020B0604020202020204" charset="0"/>
              </a:rPr>
              <a:t>39% failed due to bad or contaminated transmission or power-steering fluid</a:t>
            </a:r>
          </a:p>
          <a:p>
            <a:pPr marL="0" indent="0">
              <a:spcBef>
                <a:spcPts val="624"/>
              </a:spcBef>
              <a:spcAft>
                <a:spcPts val="600"/>
              </a:spcAft>
              <a:buNone/>
            </a:pPr>
            <a:r>
              <a:rPr lang="en-US" sz="1800" dirty="0">
                <a:solidFill>
                  <a:schemeClr val="tx1"/>
                </a:solidFill>
                <a:latin typeface="Work Sans" panose="020B0604020202020204" charset="0"/>
              </a:rPr>
              <a:t>36 % had worn-out or dirty engine oil</a:t>
            </a:r>
          </a:p>
          <a:p>
            <a:pPr marL="0" indent="0">
              <a:spcBef>
                <a:spcPts val="624"/>
              </a:spcBef>
              <a:spcAft>
                <a:spcPts val="600"/>
              </a:spcAft>
              <a:buNone/>
            </a:pPr>
            <a:r>
              <a:rPr lang="en-US" sz="1800" dirty="0">
                <a:solidFill>
                  <a:schemeClr val="tx1"/>
                </a:solidFill>
                <a:latin typeface="Work Sans" panose="020B0604020202020204" charset="0"/>
              </a:rPr>
              <a:t>28% had inadequate cooling system protection,</a:t>
            </a:r>
          </a:p>
          <a:p>
            <a:pPr marL="0" indent="0">
              <a:spcBef>
                <a:spcPts val="624"/>
              </a:spcBef>
              <a:spcAft>
                <a:spcPts val="600"/>
              </a:spcAft>
              <a:buNone/>
            </a:pPr>
            <a:r>
              <a:rPr lang="en-US" sz="1800" dirty="0">
                <a:solidFill>
                  <a:schemeClr val="tx1"/>
                </a:solidFill>
                <a:latin typeface="Work Sans" panose="020B0604020202020204" charset="0"/>
              </a:rPr>
              <a:t>8% had a faulty radiator cap. </a:t>
            </a:r>
          </a:p>
          <a:p>
            <a:pPr marL="0" indent="0">
              <a:spcBef>
                <a:spcPts val="624"/>
              </a:spcBef>
              <a:spcAft>
                <a:spcPts val="600"/>
              </a:spcAft>
              <a:buNone/>
            </a:pPr>
            <a:r>
              <a:rPr lang="en-US" sz="1800" dirty="0">
                <a:solidFill>
                  <a:schemeClr val="tx1"/>
                </a:solidFill>
                <a:latin typeface="Work Sans" panose="020B0604020202020204" charset="0"/>
              </a:rPr>
              <a:t>50% failed due to worn or improperly inflated tires </a:t>
            </a:r>
          </a:p>
          <a:p>
            <a:pPr marL="0" indent="0">
              <a:spcBef>
                <a:spcPts val="624"/>
              </a:spcBef>
              <a:spcAft>
                <a:spcPts val="600"/>
              </a:spcAft>
              <a:buNone/>
            </a:pPr>
            <a:r>
              <a:rPr lang="en-US" sz="1800" dirty="0">
                <a:solidFill>
                  <a:schemeClr val="tx1"/>
                </a:solidFill>
                <a:latin typeface="Work Sans" panose="020B0604020202020204" charset="0"/>
              </a:rPr>
              <a:t>32% had inoperative headlights or brake lights</a:t>
            </a:r>
          </a:p>
          <a:p>
            <a:pPr marL="0" indent="0">
              <a:spcBef>
                <a:spcPts val="624"/>
              </a:spcBef>
              <a:spcAft>
                <a:spcPts val="600"/>
              </a:spcAft>
              <a:buNone/>
            </a:pPr>
            <a:r>
              <a:rPr lang="en-US" sz="1800" dirty="0">
                <a:solidFill>
                  <a:schemeClr val="tx1"/>
                </a:solidFill>
                <a:latin typeface="Work Sans" panose="020B0604020202020204" charset="0"/>
              </a:rPr>
              <a:t>14% had worn </a:t>
            </a:r>
            <a:r>
              <a:rPr lang="en-US" sz="1800">
                <a:solidFill>
                  <a:schemeClr val="tx1"/>
                </a:solidFill>
                <a:latin typeface="Work Sans" panose="020B0604020202020204" charset="0"/>
              </a:rPr>
              <a:t>wipers.</a:t>
            </a:r>
            <a:endParaRPr lang="en-US" sz="1800" dirty="0">
              <a:solidFill>
                <a:schemeClr val="tx1"/>
              </a:solidFill>
              <a:latin typeface="Work Sans" panose="020B0604020202020204" charset="0"/>
            </a:endParaRPr>
          </a:p>
        </p:txBody>
      </p:sp>
    </p:spTree>
    <p:extLst>
      <p:ext uri="{BB962C8B-B14F-4D97-AF65-F5344CB8AC3E}">
        <p14:creationId xmlns:p14="http://schemas.microsoft.com/office/powerpoint/2010/main" val="3455129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sz="4000" dirty="0"/>
              <a:t>Basic Services</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p:txBody>
          <a:bodyPr/>
          <a:lstStyle/>
          <a:p>
            <a:pPr>
              <a:spcAft>
                <a:spcPts val="600"/>
              </a:spcAft>
              <a:buSzPct val="100000"/>
            </a:pPr>
            <a:r>
              <a:rPr lang="en-US" sz="2200" dirty="0">
                <a:solidFill>
                  <a:schemeClr val="accent1"/>
                </a:solidFill>
              </a:rPr>
              <a:t>Service Bulletin and </a:t>
            </a:r>
            <a:r>
              <a:rPr lang="en-US" sz="2200">
                <a:solidFill>
                  <a:schemeClr val="accent1"/>
                </a:solidFill>
              </a:rPr>
              <a:t>Recall Check</a:t>
            </a:r>
            <a:endParaRPr lang="en-US" sz="2200" dirty="0">
              <a:solidFill>
                <a:schemeClr val="accent1"/>
              </a:solidFill>
            </a:endParaRPr>
          </a:p>
          <a:p>
            <a:pPr>
              <a:spcAft>
                <a:spcPts val="600"/>
              </a:spcAft>
              <a:buSzPct val="100000"/>
            </a:pPr>
            <a:r>
              <a:rPr lang="en-US" sz="2200" dirty="0">
                <a:solidFill>
                  <a:schemeClr val="accent1"/>
                </a:solidFill>
              </a:rPr>
              <a:t>When a vehicle is brought in for service, the shop management system will often perform a bulletin and recall check based on the </a:t>
            </a:r>
            <a:r>
              <a:rPr lang="en-US" sz="2200">
                <a:solidFill>
                  <a:schemeClr val="accent1"/>
                </a:solidFill>
              </a:rPr>
              <a:t>VIN.</a:t>
            </a:r>
            <a:endParaRPr lang="en-US" sz="2200" dirty="0">
              <a:solidFill>
                <a:schemeClr val="accent1"/>
              </a:solidFill>
            </a:endParaRPr>
          </a:p>
          <a:p>
            <a:pPr>
              <a:spcAft>
                <a:spcPts val="600"/>
              </a:spcAft>
              <a:buSzPct val="100000"/>
            </a:pPr>
            <a:r>
              <a:rPr lang="en-US" sz="2200" dirty="0">
                <a:solidFill>
                  <a:schemeClr val="accent1"/>
                </a:solidFill>
              </a:rPr>
              <a:t>Even if not performed automatically, many shops will check for applicable technical service bulletins (TSBs) and </a:t>
            </a:r>
            <a:r>
              <a:rPr lang="en-US" sz="2200">
                <a:solidFill>
                  <a:schemeClr val="accent1"/>
                </a:solidFill>
              </a:rPr>
              <a:t>recalls.</a:t>
            </a:r>
            <a:endParaRPr lang="en-US" sz="2200" dirty="0">
              <a:solidFill>
                <a:schemeClr val="accent1"/>
              </a:solidFill>
            </a:endParaRPr>
          </a:p>
          <a:p>
            <a:pPr>
              <a:spcAft>
                <a:spcPts val="600"/>
              </a:spcAft>
              <a:buSzPct val="100000"/>
            </a:pPr>
            <a:r>
              <a:rPr lang="en-US" sz="2200" dirty="0">
                <a:solidFill>
                  <a:schemeClr val="accent1"/>
                </a:solidFill>
              </a:rPr>
              <a:t>A search for TSBs often can save you time and trouble by providing you with information about a concern, an updated part or repair procedure before you spend time trying to figure out a concern on your </a:t>
            </a:r>
            <a:r>
              <a:rPr lang="en-US" sz="2200">
                <a:solidFill>
                  <a:schemeClr val="accent1"/>
                </a:solidFill>
              </a:rPr>
              <a:t>own.</a:t>
            </a:r>
            <a:endParaRPr lang="en-US" sz="2200" dirty="0">
              <a:solidFill>
                <a:schemeClr val="accent1"/>
              </a:solidFill>
            </a:endParaRPr>
          </a:p>
          <a:p>
            <a:pPr>
              <a:spcAft>
                <a:spcPts val="600"/>
              </a:spcAft>
              <a:buSzPct val="100000"/>
            </a:pPr>
            <a:r>
              <a:rPr lang="en-US" sz="2200" dirty="0">
                <a:solidFill>
                  <a:schemeClr val="accent1"/>
                </a:solidFill>
              </a:rPr>
              <a:t>Also, it is possible that the owner of the vehicle is not aware that a recall applies to their car and alerting them can help build trust and goodwill between the customer and the shop.</a:t>
            </a:r>
          </a:p>
        </p:txBody>
      </p:sp>
    </p:spTree>
    <p:extLst>
      <p:ext uri="{BB962C8B-B14F-4D97-AF65-F5344CB8AC3E}">
        <p14:creationId xmlns:p14="http://schemas.microsoft.com/office/powerpoint/2010/main" val="25173455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dirty="0"/>
              <a:t>Engine Oil (1 of </a:t>
            </a:r>
            <a:r>
              <a:rPr lang="en-US"/>
              <a:t>4)</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p:txBody>
          <a:bodyPr/>
          <a:lstStyle/>
          <a:p>
            <a:pPr>
              <a:spcAft>
                <a:spcPts val="600"/>
              </a:spcAft>
              <a:buSzPct val="100000"/>
            </a:pPr>
            <a:r>
              <a:rPr lang="en-US" sz="2000" dirty="0"/>
              <a:t>Engine oil is a clean or refined form of crude oil. Crude oil, when taken out of the ground, is dirty and does not work well as a lubricant for engines so crude oil must be refined to meet industry </a:t>
            </a:r>
            <a:r>
              <a:rPr lang="en-US" sz="2000"/>
              <a:t>standards.</a:t>
            </a:r>
            <a:endParaRPr lang="en-US" sz="2000" dirty="0"/>
          </a:p>
          <a:p>
            <a:pPr>
              <a:spcAft>
                <a:spcPts val="600"/>
              </a:spcAft>
              <a:buSzPct val="100000"/>
            </a:pPr>
            <a:r>
              <a:rPr lang="en-US" sz="2000" dirty="0"/>
              <a:t>Engine oil is specially formulated </a:t>
            </a:r>
            <a:r>
              <a:rPr lang="en-US" sz="2000"/>
              <a:t>to:</a:t>
            </a:r>
            <a:endParaRPr lang="en-US" sz="2000" dirty="0"/>
          </a:p>
        </p:txBody>
      </p:sp>
      <p:sp>
        <p:nvSpPr>
          <p:cNvPr id="9" name="Content Placeholder 8"/>
          <p:cNvSpPr txBox="1">
            <a:spLocks noGrp="1"/>
          </p:cNvSpPr>
          <p:nvPr>
            <p:ph sz="quarter" idx="10"/>
          </p:nvPr>
        </p:nvSpPr>
        <p:spPr>
          <a:xfrm>
            <a:off x="483752" y="3097050"/>
            <a:ext cx="5622758" cy="3170058"/>
          </a:xfrm>
          <a:prstGeom prst="rect">
            <a:avLst/>
          </a:prstGeom>
          <a:noFill/>
        </p:spPr>
        <p:txBody>
          <a:bodyPr wrap="square" rtlCol="0">
            <a:spAutoFit/>
          </a:bodyPr>
          <a:lstStyle/>
          <a:p>
            <a:pPr marL="342900" lvl="1" indent="-342900">
              <a:spcBef>
                <a:spcPts val="624"/>
              </a:spcBef>
              <a:spcAft>
                <a:spcPts val="600"/>
              </a:spcAft>
              <a:buSzPct val="100000"/>
              <a:buFont typeface="Arial" panose="020B0604020202020204" pitchFamily="34" charset="0"/>
              <a:buChar char="•"/>
            </a:pPr>
            <a:r>
              <a:rPr lang="en-US" sz="2000" dirty="0">
                <a:solidFill>
                  <a:schemeClr val="tx1"/>
                </a:solidFill>
                <a:latin typeface="Work Sans" panose="020B0604020202020204" charset="0"/>
              </a:rPr>
              <a:t>Flow easily through </a:t>
            </a:r>
            <a:r>
              <a:rPr lang="en-US" sz="2000">
                <a:solidFill>
                  <a:schemeClr val="tx1"/>
                </a:solidFill>
                <a:latin typeface="Work Sans" panose="020B0604020202020204" charset="0"/>
              </a:rPr>
              <a:t>the engine</a:t>
            </a:r>
            <a:endParaRPr lang="en-US" sz="2000" dirty="0">
              <a:solidFill>
                <a:schemeClr val="tx1"/>
              </a:solidFill>
              <a:latin typeface="Work Sans" panose="020B0604020202020204" charset="0"/>
            </a:endParaRPr>
          </a:p>
          <a:p>
            <a:pPr marL="342900" lvl="1" indent="-342900">
              <a:spcBef>
                <a:spcPts val="624"/>
              </a:spcBef>
              <a:spcAft>
                <a:spcPts val="600"/>
              </a:spcAft>
              <a:buSzPct val="100000"/>
              <a:buFont typeface="Arial" panose="020B0604020202020204" pitchFamily="34" charset="0"/>
              <a:buChar char="•"/>
            </a:pPr>
            <a:r>
              <a:rPr lang="en-US" sz="2000" dirty="0">
                <a:solidFill>
                  <a:schemeClr val="tx1"/>
                </a:solidFill>
                <a:latin typeface="Work Sans" panose="020B0604020202020204" charset="0"/>
              </a:rPr>
              <a:t>Provide lubrication </a:t>
            </a:r>
            <a:r>
              <a:rPr lang="en-US" sz="2000">
                <a:solidFill>
                  <a:schemeClr val="tx1"/>
                </a:solidFill>
                <a:latin typeface="Work Sans" panose="020B0604020202020204" charset="0"/>
              </a:rPr>
              <a:t>without foaming</a:t>
            </a:r>
            <a:endParaRPr lang="en-US" sz="2000" dirty="0">
              <a:solidFill>
                <a:schemeClr val="tx1"/>
              </a:solidFill>
              <a:latin typeface="Work Sans" panose="020B0604020202020204" charset="0"/>
            </a:endParaRPr>
          </a:p>
          <a:p>
            <a:pPr marL="342900" lvl="1" indent="-342900">
              <a:spcBef>
                <a:spcPts val="624"/>
              </a:spcBef>
              <a:spcAft>
                <a:spcPts val="600"/>
              </a:spcAft>
              <a:buSzPct val="100000"/>
              <a:buFont typeface="Arial" panose="020B0604020202020204" pitchFamily="34" charset="0"/>
              <a:buChar char="•"/>
            </a:pPr>
            <a:r>
              <a:rPr lang="en-US" sz="2000" dirty="0">
                <a:solidFill>
                  <a:schemeClr val="tx1"/>
                </a:solidFill>
                <a:latin typeface="Work Sans" panose="020B0604020202020204" charset="0"/>
              </a:rPr>
              <a:t>Reduce friction </a:t>
            </a:r>
            <a:r>
              <a:rPr lang="en-US" sz="2000">
                <a:solidFill>
                  <a:schemeClr val="tx1"/>
                </a:solidFill>
                <a:latin typeface="Work Sans" panose="020B0604020202020204" charset="0"/>
              </a:rPr>
              <a:t>and wear</a:t>
            </a:r>
            <a:endParaRPr lang="en-US" sz="2000" dirty="0">
              <a:solidFill>
                <a:schemeClr val="tx1"/>
              </a:solidFill>
              <a:latin typeface="Work Sans" panose="020B0604020202020204" charset="0"/>
            </a:endParaRPr>
          </a:p>
          <a:p>
            <a:pPr marL="342900" lvl="1" indent="-342900">
              <a:spcBef>
                <a:spcPts val="624"/>
              </a:spcBef>
              <a:spcAft>
                <a:spcPts val="600"/>
              </a:spcAft>
              <a:buSzPct val="100000"/>
              <a:buFont typeface="Arial" panose="020B0604020202020204" pitchFamily="34" charset="0"/>
              <a:buChar char="•"/>
            </a:pPr>
            <a:r>
              <a:rPr lang="en-US" sz="2000" dirty="0">
                <a:solidFill>
                  <a:schemeClr val="tx1"/>
                </a:solidFill>
                <a:latin typeface="Work Sans" panose="020B0604020202020204" charset="0"/>
              </a:rPr>
              <a:t>Prevent the formation of rust and corrosion </a:t>
            </a:r>
          </a:p>
          <a:p>
            <a:pPr marL="342900" lvl="1" indent="-342900">
              <a:spcBef>
                <a:spcPts val="624"/>
              </a:spcBef>
              <a:spcAft>
                <a:spcPts val="600"/>
              </a:spcAft>
              <a:buSzPct val="100000"/>
              <a:buFont typeface="Arial" panose="020B0604020202020204" pitchFamily="34" charset="0"/>
              <a:buChar char="•"/>
            </a:pPr>
            <a:r>
              <a:rPr lang="en-US" sz="2000" dirty="0">
                <a:solidFill>
                  <a:schemeClr val="tx1"/>
                </a:solidFill>
                <a:latin typeface="Work Sans" panose="020B0604020202020204" charset="0"/>
              </a:rPr>
              <a:t>Cool the engine parts it </a:t>
            </a:r>
            <a:r>
              <a:rPr lang="en-US" sz="2000">
                <a:solidFill>
                  <a:schemeClr val="tx1"/>
                </a:solidFill>
                <a:latin typeface="Work Sans" panose="020B0604020202020204" charset="0"/>
              </a:rPr>
              <a:t>flows over</a:t>
            </a:r>
            <a:endParaRPr lang="en-US" sz="2000" dirty="0">
              <a:solidFill>
                <a:schemeClr val="tx1"/>
              </a:solidFill>
              <a:latin typeface="Work Sans" panose="020B0604020202020204" charset="0"/>
            </a:endParaRPr>
          </a:p>
          <a:p>
            <a:pPr marL="342900" lvl="1" indent="-342900">
              <a:spcBef>
                <a:spcPts val="624"/>
              </a:spcBef>
              <a:spcAft>
                <a:spcPts val="600"/>
              </a:spcAft>
              <a:buSzPct val="100000"/>
              <a:buFont typeface="Arial" panose="020B0604020202020204" pitchFamily="34" charset="0"/>
              <a:buChar char="•"/>
            </a:pPr>
            <a:r>
              <a:rPr lang="en-US" sz="2000" dirty="0">
                <a:solidFill>
                  <a:schemeClr val="tx1"/>
                </a:solidFill>
                <a:latin typeface="Work Sans" panose="020B0604020202020204" charset="0"/>
              </a:rPr>
              <a:t>Keep internal engine </a:t>
            </a:r>
            <a:r>
              <a:rPr lang="en-US" sz="2000">
                <a:solidFill>
                  <a:schemeClr val="tx1"/>
                </a:solidFill>
                <a:latin typeface="Work Sans" panose="020B0604020202020204" charset="0"/>
              </a:rPr>
              <a:t>parts clean</a:t>
            </a:r>
            <a:endParaRPr lang="en-US" sz="2000" dirty="0">
              <a:solidFill>
                <a:schemeClr val="tx1"/>
              </a:solidFill>
              <a:latin typeface="Work Sans" panose="020B0604020202020204" charset="0"/>
            </a:endParaRPr>
          </a:p>
        </p:txBody>
      </p:sp>
      <p:sp>
        <p:nvSpPr>
          <p:cNvPr id="10" name="Content Placeholder 9"/>
          <p:cNvSpPr txBox="1">
            <a:spLocks noGrp="1"/>
          </p:cNvSpPr>
          <p:nvPr>
            <p:ph sz="quarter" idx="13"/>
          </p:nvPr>
        </p:nvSpPr>
        <p:spPr>
          <a:xfrm>
            <a:off x="5805488" y="3262312"/>
            <a:ext cx="5920179" cy="2400617"/>
          </a:xfrm>
          <a:prstGeom prst="rect">
            <a:avLst/>
          </a:prstGeom>
          <a:noFill/>
        </p:spPr>
        <p:txBody>
          <a:bodyPr wrap="square" rtlCol="0">
            <a:spAutoFit/>
          </a:bodyPr>
          <a:lstStyle/>
          <a:p>
            <a:pPr marL="342900" lvl="1" indent="-342900">
              <a:spcBef>
                <a:spcPts val="624"/>
              </a:spcBef>
              <a:spcAft>
                <a:spcPts val="600"/>
              </a:spcAft>
              <a:buSzPct val="100000"/>
              <a:buFont typeface="Arial" panose="020B0604020202020204" pitchFamily="34" charset="0"/>
              <a:buChar char="•"/>
            </a:pPr>
            <a:r>
              <a:rPr lang="en-US" sz="2000" dirty="0">
                <a:solidFill>
                  <a:schemeClr val="tx1"/>
                </a:solidFill>
                <a:latin typeface="Work Sans" panose="020B0604020202020204" charset="0"/>
              </a:rPr>
              <a:t>Maintain compatibility with seals to prevent leaks</a:t>
            </a:r>
          </a:p>
          <a:p>
            <a:pPr marL="342900" lvl="1" indent="-342900">
              <a:spcBef>
                <a:spcPts val="624"/>
              </a:spcBef>
              <a:spcAft>
                <a:spcPts val="600"/>
              </a:spcAft>
              <a:buSzPct val="100000"/>
              <a:buFont typeface="Arial" panose="020B0604020202020204" pitchFamily="34" charset="0"/>
              <a:buChar char="•"/>
            </a:pPr>
            <a:r>
              <a:rPr lang="en-US" sz="2000" dirty="0">
                <a:solidFill>
                  <a:schemeClr val="tx1"/>
                </a:solidFill>
                <a:latin typeface="Work Sans" panose="020B0604020202020204" charset="0"/>
              </a:rPr>
              <a:t>Provide improved fuel economy by reducing friction</a:t>
            </a:r>
          </a:p>
          <a:p>
            <a:pPr marL="342900" lvl="1" indent="-342900">
              <a:spcBef>
                <a:spcPts val="624"/>
              </a:spcBef>
              <a:spcAft>
                <a:spcPts val="600"/>
              </a:spcAft>
              <a:buSzPct val="100000"/>
              <a:buFont typeface="Arial" panose="020B0604020202020204" pitchFamily="34" charset="0"/>
              <a:buChar char="•"/>
            </a:pPr>
            <a:r>
              <a:rPr lang="en-US" sz="2000" dirty="0">
                <a:solidFill>
                  <a:schemeClr val="tx1"/>
                </a:solidFill>
                <a:latin typeface="Work Sans" panose="020B0604020202020204" charset="0"/>
              </a:rPr>
              <a:t>Not cause damage to catalytic converters and oxygen sensors</a:t>
            </a:r>
          </a:p>
        </p:txBody>
      </p:sp>
    </p:spTree>
    <p:extLst>
      <p:ext uri="{BB962C8B-B14F-4D97-AF65-F5344CB8AC3E}">
        <p14:creationId xmlns:p14="http://schemas.microsoft.com/office/powerpoint/2010/main" val="2536976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dirty="0"/>
              <a:t>Engine Oil (2 of </a:t>
            </a:r>
            <a:r>
              <a:rPr lang="en-US"/>
              <a:t>4)</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p:txBody>
          <a:bodyPr/>
          <a:lstStyle/>
          <a:p>
            <a:pPr marL="0" indent="0">
              <a:buNone/>
            </a:pPr>
            <a:r>
              <a:rPr lang="en-US" sz="1800" b="1" dirty="0">
                <a:solidFill>
                  <a:schemeClr val="accent1"/>
                </a:solidFill>
              </a:rPr>
              <a:t>08.05 Understand the differences between the types of fluids required for preventative maintenance and know how to select the correct one for a particular vehicle.</a:t>
            </a:r>
          </a:p>
          <a:p>
            <a:pPr>
              <a:buSzPct val="100000"/>
            </a:pPr>
            <a:r>
              <a:rPr lang="en-US" sz="2000" dirty="0">
                <a:solidFill>
                  <a:schemeClr val="accent1"/>
                </a:solidFill>
              </a:rPr>
              <a:t>Oil is derived from a base stock of which there are four groups used in automotive engine oils, Group I to Group IV, from lowest quality to highest. </a:t>
            </a:r>
          </a:p>
          <a:p>
            <a:pPr>
              <a:buSzPct val="100000"/>
            </a:pPr>
            <a:r>
              <a:rPr lang="en-US" sz="2000" dirty="0">
                <a:solidFill>
                  <a:schemeClr val="accent1"/>
                </a:solidFill>
              </a:rPr>
              <a:t>Engine oil contains many additives, each intended to improve the effectiveness of the </a:t>
            </a:r>
            <a:r>
              <a:rPr lang="en-US" sz="2000">
                <a:solidFill>
                  <a:schemeClr val="accent1"/>
                </a:solidFill>
              </a:rPr>
              <a:t>oil.</a:t>
            </a:r>
            <a:endParaRPr lang="en-US" sz="2000" dirty="0">
              <a:solidFill>
                <a:schemeClr val="accent1"/>
              </a:solidFill>
            </a:endParaRPr>
          </a:p>
          <a:p>
            <a:pPr>
              <a:buSzPct val="100000"/>
            </a:pPr>
            <a:r>
              <a:rPr lang="en-US" sz="2000" dirty="0">
                <a:solidFill>
                  <a:schemeClr val="accent1"/>
                </a:solidFill>
              </a:rPr>
              <a:t>The American Petroleum Institute (API) classifies engine oil as S-class for gasoline or “spark” ignition engines or C-class or F-class for diesel or “compression” ignition </a:t>
            </a:r>
            <a:r>
              <a:rPr lang="en-US" sz="2000">
                <a:solidFill>
                  <a:schemeClr val="accent1"/>
                </a:solidFill>
              </a:rPr>
              <a:t>engines.</a:t>
            </a:r>
            <a:endParaRPr lang="en-US" sz="2000" dirty="0">
              <a:solidFill>
                <a:schemeClr val="accent1"/>
              </a:solidFill>
            </a:endParaRPr>
          </a:p>
          <a:p>
            <a:pPr>
              <a:buSzPct val="100000"/>
            </a:pPr>
            <a:r>
              <a:rPr lang="en-US" sz="2000" dirty="0">
                <a:solidFill>
                  <a:schemeClr val="accent1"/>
                </a:solidFill>
              </a:rPr>
              <a:t>The various types of oil within each class are further rated according to their ability to meet the engine manufacturers’ warranty </a:t>
            </a:r>
            <a:r>
              <a:rPr lang="en-US" sz="2000">
                <a:solidFill>
                  <a:schemeClr val="accent1"/>
                </a:solidFill>
              </a:rPr>
              <a:t>specifications.</a:t>
            </a:r>
            <a:endParaRPr lang="en-US" sz="2000" dirty="0">
              <a:solidFill>
                <a:schemeClr val="accent1"/>
              </a:solidFill>
            </a:endParaRPr>
          </a:p>
          <a:p>
            <a:pPr>
              <a:buSzPct val="100000"/>
            </a:pPr>
            <a:r>
              <a:rPr lang="en-US" sz="2000" dirty="0">
                <a:solidFill>
                  <a:schemeClr val="accent1"/>
                </a:solidFill>
              </a:rPr>
              <a:t>Friction modifiers and other additives are used to achieve this. In addition to the API rating, oil viscosity is important in selecting engine </a:t>
            </a:r>
            <a:r>
              <a:rPr lang="en-US" sz="2000">
                <a:solidFill>
                  <a:schemeClr val="accent1"/>
                </a:solidFill>
              </a:rPr>
              <a:t>oil.</a:t>
            </a:r>
            <a:endParaRPr lang="en-US" sz="2000" dirty="0">
              <a:solidFill>
                <a:schemeClr val="accent1"/>
              </a:solidFill>
            </a:endParaRPr>
          </a:p>
        </p:txBody>
      </p:sp>
    </p:spTree>
    <p:extLst>
      <p:ext uri="{BB962C8B-B14F-4D97-AF65-F5344CB8AC3E}">
        <p14:creationId xmlns:p14="http://schemas.microsoft.com/office/powerpoint/2010/main" val="1709912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dirty="0"/>
              <a:t>Engine Oil (3 of </a:t>
            </a:r>
            <a:r>
              <a:rPr lang="en-US"/>
              <a:t>4)</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p:txBody>
          <a:bodyPr/>
          <a:lstStyle/>
          <a:p>
            <a:pPr>
              <a:spcAft>
                <a:spcPts val="600"/>
              </a:spcAft>
              <a:buSzPct val="100000"/>
            </a:pPr>
            <a:r>
              <a:rPr lang="en-US" sz="2000" dirty="0">
                <a:solidFill>
                  <a:schemeClr val="accent1"/>
                </a:solidFill>
              </a:rPr>
              <a:t>The ability of oil to resist flowing is its viscosity. The thicker the oil, the higher its viscosity rating.</a:t>
            </a:r>
          </a:p>
          <a:p>
            <a:pPr>
              <a:spcAft>
                <a:spcPts val="600"/>
              </a:spcAft>
              <a:buSzPct val="100000"/>
            </a:pPr>
            <a:r>
              <a:rPr lang="en-US" sz="2000" dirty="0">
                <a:solidFill>
                  <a:schemeClr val="accent1"/>
                </a:solidFill>
              </a:rPr>
              <a:t>Viscosity is affected by temperature; hot oil flows faster than cold oil.</a:t>
            </a:r>
          </a:p>
          <a:p>
            <a:pPr>
              <a:spcAft>
                <a:spcPts val="600"/>
              </a:spcAft>
              <a:buSzPct val="100000"/>
            </a:pPr>
            <a:r>
              <a:rPr lang="en-US" sz="2000" dirty="0">
                <a:solidFill>
                  <a:schemeClr val="accent1"/>
                </a:solidFill>
              </a:rPr>
              <a:t>Oil flow is important to the life of an engine, and because an engine operates under a wide range of temperatures, selecting the correct viscosity is very important.</a:t>
            </a:r>
          </a:p>
          <a:p>
            <a:pPr>
              <a:spcAft>
                <a:spcPts val="600"/>
              </a:spcAft>
              <a:buSzPct val="100000"/>
            </a:pPr>
            <a:r>
              <a:rPr lang="en-US" sz="2000" dirty="0">
                <a:solidFill>
                  <a:schemeClr val="accent1"/>
                </a:solidFill>
              </a:rPr>
              <a:t>Because of changes in engine technology such as variable valve timing, placing piston rings closer to the top of the piston, and the adoption of hybrid powertrains, using the correct grade and viscosity oil is more critical than ever.</a:t>
            </a:r>
          </a:p>
          <a:p>
            <a:pPr>
              <a:spcAft>
                <a:spcPts val="600"/>
              </a:spcAft>
              <a:buSzPct val="100000"/>
            </a:pPr>
            <a:r>
              <a:rPr lang="en-US" sz="2000" dirty="0">
                <a:solidFill>
                  <a:schemeClr val="accent1"/>
                </a:solidFill>
              </a:rPr>
              <a:t>Using the incorrect weight oil can cause excessive oil consumption, increased fuel consumption, VVT system faults, and other concerns.</a:t>
            </a:r>
          </a:p>
        </p:txBody>
      </p:sp>
    </p:spTree>
    <p:extLst>
      <p:ext uri="{BB962C8B-B14F-4D97-AF65-F5344CB8AC3E}">
        <p14:creationId xmlns:p14="http://schemas.microsoft.com/office/powerpoint/2010/main" val="1648536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dirty="0"/>
              <a:t>Engine Oil (4 </a:t>
            </a:r>
            <a:r>
              <a:rPr lang="en-US"/>
              <a:t>of 4)</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a:xfrm>
            <a:off x="476843" y="1525524"/>
            <a:ext cx="11537357" cy="4613339"/>
          </a:xfrm>
        </p:spPr>
        <p:txBody>
          <a:bodyPr/>
          <a:lstStyle/>
          <a:p>
            <a:pPr>
              <a:spcAft>
                <a:spcPts val="300"/>
              </a:spcAft>
              <a:buSzPct val="100000"/>
            </a:pPr>
            <a:r>
              <a:rPr lang="en-US" sz="2000" dirty="0">
                <a:solidFill>
                  <a:schemeClr val="accent1"/>
                </a:solidFill>
              </a:rPr>
              <a:t>The Society of Automotive Engineers (SAE) has established an oil viscosity classification system that is accepted throughout the industry which utilizes a numeric rating, the higher viscosity, or heavier weight, and oils receive the higher numbers.</a:t>
            </a:r>
          </a:p>
          <a:p>
            <a:pPr lvl="1">
              <a:spcAft>
                <a:spcPts val="300"/>
              </a:spcAft>
              <a:buSzPct val="100000"/>
            </a:pPr>
            <a:r>
              <a:rPr lang="en-US" sz="1800" dirty="0">
                <a:solidFill>
                  <a:schemeClr val="accent1"/>
                </a:solidFill>
              </a:rPr>
              <a:t>For example, oil classified as SAE 50 weight oil is heavier and flows slower than SAE 10 weight oil.</a:t>
            </a:r>
          </a:p>
          <a:p>
            <a:pPr>
              <a:spcAft>
                <a:spcPts val="300"/>
              </a:spcAft>
              <a:buSzPct val="100000"/>
            </a:pPr>
            <a:r>
              <a:rPr lang="en-US" sz="2000" dirty="0">
                <a:solidFill>
                  <a:schemeClr val="accent1"/>
                </a:solidFill>
              </a:rPr>
              <a:t>Modern engine oils are </a:t>
            </a:r>
            <a:r>
              <a:rPr lang="en-US" sz="2000" b="1" dirty="0" err="1">
                <a:solidFill>
                  <a:schemeClr val="accent1"/>
                </a:solidFill>
              </a:rPr>
              <a:t>multiviscosity</a:t>
            </a:r>
            <a:r>
              <a:rPr lang="en-US" sz="2000" b="1" dirty="0">
                <a:solidFill>
                  <a:schemeClr val="accent1"/>
                </a:solidFill>
              </a:rPr>
              <a:t> oils</a:t>
            </a:r>
            <a:r>
              <a:rPr lang="en-US" sz="2000" dirty="0">
                <a:solidFill>
                  <a:schemeClr val="accent1"/>
                </a:solidFill>
              </a:rPr>
              <a:t>. These oils carry a combined classification such as 5W-30.</a:t>
            </a:r>
          </a:p>
          <a:p>
            <a:pPr>
              <a:spcAft>
                <a:spcPts val="300"/>
              </a:spcAft>
              <a:buSzPct val="100000"/>
            </a:pPr>
            <a:r>
              <a:rPr lang="en-US" sz="2000" dirty="0">
                <a:solidFill>
                  <a:schemeClr val="accent1"/>
                </a:solidFill>
              </a:rPr>
              <a:t>The “W” after the 5 notes that the oil was tested for its cold rotational (cold cranking) ability and its pumping ability.</a:t>
            </a:r>
          </a:p>
          <a:p>
            <a:pPr>
              <a:spcAft>
                <a:spcPts val="300"/>
              </a:spcAft>
              <a:buSzPct val="100000"/>
            </a:pPr>
            <a:r>
              <a:rPr lang="en-US" sz="2000" dirty="0">
                <a:solidFill>
                  <a:schemeClr val="accent1"/>
                </a:solidFill>
              </a:rPr>
              <a:t>To formulate </a:t>
            </a:r>
            <a:r>
              <a:rPr lang="en-US" sz="2000" dirty="0" err="1">
                <a:solidFill>
                  <a:schemeClr val="accent1"/>
                </a:solidFill>
              </a:rPr>
              <a:t>multiviscosity</a:t>
            </a:r>
            <a:r>
              <a:rPr lang="en-US" sz="2000" dirty="0">
                <a:solidFill>
                  <a:schemeClr val="accent1"/>
                </a:solidFill>
              </a:rPr>
              <a:t> oils, polymers are blended into the oil which expand when heated. </a:t>
            </a:r>
          </a:p>
          <a:p>
            <a:pPr>
              <a:spcAft>
                <a:spcPts val="300"/>
              </a:spcAft>
              <a:buSzPct val="100000"/>
            </a:pPr>
            <a:r>
              <a:rPr lang="en-US" sz="2000" dirty="0">
                <a:solidFill>
                  <a:schemeClr val="accent1"/>
                </a:solidFill>
              </a:rPr>
              <a:t>With the polymers, the oil maintains its viscosity to the point where it is equal to 30-weight oil.</a:t>
            </a:r>
          </a:p>
        </p:txBody>
      </p:sp>
    </p:spTree>
    <p:extLst>
      <p:ext uri="{BB962C8B-B14F-4D97-AF65-F5344CB8AC3E}">
        <p14:creationId xmlns:p14="http://schemas.microsoft.com/office/powerpoint/2010/main" val="233094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dirty="0"/>
              <a:t>ILSAC </a:t>
            </a:r>
            <a:r>
              <a:rPr lang="en-US"/>
              <a:t>Oil Ratings</a:t>
            </a:r>
            <a:endParaRPr lang="en-US"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a:xfrm>
            <a:off x="476844" y="1563624"/>
            <a:ext cx="7854356" cy="4521865"/>
          </a:xfrm>
        </p:spPr>
        <p:txBody>
          <a:bodyPr/>
          <a:lstStyle/>
          <a:p>
            <a:pPr>
              <a:buSzPct val="100000"/>
            </a:pPr>
            <a:r>
              <a:rPr lang="en-US" sz="1800" dirty="0"/>
              <a:t>The International Lubrication Standardization and Approval Committee (ILSAC), formed by both domestic and Japanese vehicle manufacturers, has developed an oil rating that combines SAE viscosity ratings and the API service rating.</a:t>
            </a:r>
          </a:p>
          <a:p>
            <a:pPr>
              <a:buSzPct val="100000"/>
            </a:pPr>
            <a:r>
              <a:rPr lang="en-US" sz="1800" dirty="0"/>
              <a:t>ILSAC standards require an oil to meet specific standards for low- and high-temperature operation, deposit control, sludge control, and others.</a:t>
            </a:r>
          </a:p>
          <a:p>
            <a:pPr>
              <a:buSzPct val="100000"/>
            </a:pPr>
            <a:r>
              <a:rPr lang="en-US" sz="1800" dirty="0"/>
              <a:t>The current ILSAC standard, introduced in 2020, is GF-6A and GF-6B.</a:t>
            </a:r>
          </a:p>
          <a:p>
            <a:pPr>
              <a:buSzPct val="100000"/>
            </a:pPr>
            <a:r>
              <a:rPr lang="en-US" sz="1800" dirty="0"/>
              <a:t>GF-6 is formulated to offer increased high-temperature, high-shear (HTHS) performance, and reduced low speed pre-ignition (LSPI), a condition common with current turbocharged engines.</a:t>
            </a:r>
          </a:p>
          <a:p>
            <a:pPr>
              <a:buSzPct val="100000"/>
            </a:pPr>
            <a:r>
              <a:rPr lang="en-US" sz="1800" dirty="0"/>
              <a:t>The GF-6A applies to oil viscosities ranging from 0W-20 to 10W-30. GF-6B is specifically for 0W-16 oils. Introduction of GF-7 compatible oils is planned for 2028. </a:t>
            </a:r>
          </a:p>
        </p:txBody>
      </p:sp>
      <p:pic>
        <p:nvPicPr>
          <p:cNvPr id="8" name="Picture Placeholder 7" descr="The API certification mark in the form of a circle with spikes on the outer edge. A text in the center reads, For gasoline engines. The label American petroleum Institute. Certified., is along the surface of the circle.">
            <a:extLst>
              <a:ext uri="{FF2B5EF4-FFF2-40B4-BE49-F238E27FC236}">
                <a16:creationId xmlns:a16="http://schemas.microsoft.com/office/drawing/2014/main" id="{50695530-C08D-E177-C279-787759C24127}"/>
              </a:ext>
            </a:extLst>
          </p:cNvPr>
          <p:cNvPicPr>
            <a:picLocks noGrp="1" noChangeAspect="1"/>
          </p:cNvPicPr>
          <p:nvPr>
            <p:ph type="pic" sz="quarter" idx="11"/>
          </p:nvPr>
        </p:nvPicPr>
        <p:blipFill>
          <a:blip r:embed="rId3"/>
          <a:srcRect b="16729"/>
          <a:stretch/>
        </p:blipFill>
        <p:spPr>
          <a:xfrm>
            <a:off x="8153400" y="2279904"/>
            <a:ext cx="3657600" cy="1913724"/>
          </a:xfrm>
          <a:prstGeom prst="rect">
            <a:avLst/>
          </a:prstGeom>
        </p:spPr>
      </p:pic>
    </p:spTree>
    <p:extLst>
      <p:ext uri="{BB962C8B-B14F-4D97-AF65-F5344CB8AC3E}">
        <p14:creationId xmlns:p14="http://schemas.microsoft.com/office/powerpoint/2010/main" val="2668297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sz="4000" dirty="0"/>
              <a:t>Other Oil Ratings</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p:txBody>
          <a:bodyPr/>
          <a:lstStyle/>
          <a:p>
            <a:pPr>
              <a:buSzPct val="100000"/>
            </a:pPr>
            <a:r>
              <a:rPr lang="en-US" sz="2000" dirty="0">
                <a:solidFill>
                  <a:schemeClr val="accent1"/>
                </a:solidFill>
              </a:rPr>
              <a:t>The Japanese Automotive Standards Organization (JASO), similar to the Society of Automotive Engineers (SAE), works with manufacturers and petroleum associations to develop new lubrication </a:t>
            </a:r>
            <a:r>
              <a:rPr lang="en-US" sz="2000">
                <a:solidFill>
                  <a:schemeClr val="accent1"/>
                </a:solidFill>
              </a:rPr>
              <a:t>standards.</a:t>
            </a:r>
            <a:endParaRPr lang="en-US" sz="2000" dirty="0">
              <a:solidFill>
                <a:schemeClr val="accent1"/>
              </a:solidFill>
            </a:endParaRPr>
          </a:p>
          <a:p>
            <a:pPr>
              <a:buSzPct val="100000"/>
            </a:pPr>
            <a:r>
              <a:rPr lang="en-US" sz="2000" dirty="0">
                <a:solidFill>
                  <a:schemeClr val="accent1"/>
                </a:solidFill>
              </a:rPr>
              <a:t>ACEA Oil Ratings ACEA stands for the Association of Constructors of European </a:t>
            </a:r>
            <a:r>
              <a:rPr lang="en-US" sz="2000">
                <a:solidFill>
                  <a:schemeClr val="accent1"/>
                </a:solidFill>
              </a:rPr>
              <a:t>Automobiles.</a:t>
            </a:r>
            <a:endParaRPr lang="en-US" sz="2000" dirty="0">
              <a:solidFill>
                <a:schemeClr val="accent1"/>
              </a:solidFill>
            </a:endParaRPr>
          </a:p>
          <a:p>
            <a:pPr lvl="1">
              <a:buSzPct val="100000"/>
            </a:pPr>
            <a:r>
              <a:rPr lang="en-US" sz="1800" dirty="0">
                <a:solidFill>
                  <a:schemeClr val="accent1"/>
                </a:solidFill>
              </a:rPr>
              <a:t>There are ACEA oil ratings for both gasoline and diesel engines. Requirements include meeting standards for sulfated ash, phosphorus, sulfur (SAPS), and high-temperature </a:t>
            </a:r>
            <a:r>
              <a:rPr lang="en-US" sz="1800">
                <a:solidFill>
                  <a:schemeClr val="accent1"/>
                </a:solidFill>
              </a:rPr>
              <a:t>high-shear.</a:t>
            </a:r>
            <a:endParaRPr lang="en-US" sz="1800" dirty="0">
              <a:solidFill>
                <a:schemeClr val="accent1"/>
              </a:solidFill>
            </a:endParaRPr>
          </a:p>
          <a:p>
            <a:pPr lvl="1">
              <a:buSzPct val="100000"/>
            </a:pPr>
            <a:r>
              <a:rPr lang="en-US" sz="1800" dirty="0">
                <a:solidFill>
                  <a:schemeClr val="accent1"/>
                </a:solidFill>
              </a:rPr>
              <a:t>The 2021 ACEA A/B “high SAPS” ratings are for gasoline and light-duty diesel engines including the previous ratings and add A7/B7 which increases protection for LSPI and turbocharge compressor deposit protection for diesel engines.</a:t>
            </a:r>
          </a:p>
          <a:p>
            <a:pPr>
              <a:buSzPct val="100000"/>
            </a:pPr>
            <a:r>
              <a:rPr lang="en-US" sz="2000" dirty="0">
                <a:solidFill>
                  <a:schemeClr val="accent1"/>
                </a:solidFill>
              </a:rPr>
              <a:t>General Motors’ </a:t>
            </a:r>
            <a:r>
              <a:rPr lang="en-US" sz="2000" dirty="0" err="1">
                <a:solidFill>
                  <a:schemeClr val="accent1"/>
                </a:solidFill>
              </a:rPr>
              <a:t>Dexos</a:t>
            </a:r>
            <a:r>
              <a:rPr lang="en-US" sz="2000" dirty="0">
                <a:solidFill>
                  <a:schemeClr val="accent1"/>
                </a:solidFill>
              </a:rPr>
              <a:t> standard was implemented in 2010 and is now in its third generation for gasoline engines and second generation for diesel engines. The </a:t>
            </a:r>
            <a:r>
              <a:rPr lang="en-US" sz="2000" dirty="0" err="1">
                <a:solidFill>
                  <a:schemeClr val="accent1"/>
                </a:solidFill>
              </a:rPr>
              <a:t>Dexos</a:t>
            </a:r>
            <a:r>
              <a:rPr lang="en-US" sz="2000" dirty="0">
                <a:solidFill>
                  <a:schemeClr val="accent1"/>
                </a:solidFill>
              </a:rPr>
              <a:t> standard is required for all late-model GM engines.</a:t>
            </a:r>
          </a:p>
        </p:txBody>
      </p:sp>
    </p:spTree>
    <p:extLst>
      <p:ext uri="{BB962C8B-B14F-4D97-AF65-F5344CB8AC3E}">
        <p14:creationId xmlns:p14="http://schemas.microsoft.com/office/powerpoint/2010/main" val="1092081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(1 of 3)</a:t>
            </a:r>
            <a:endParaRPr/>
          </a:p>
        </p:txBody>
      </p:sp>
      <p:sp>
        <p:nvSpPr>
          <p:cNvPr id="310" name="Google Shape;310;p2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1" indent="0">
              <a:buNone/>
            </a:pPr>
            <a:r>
              <a:rPr lang="en-US" dirty="0"/>
              <a:t>What organization established an oil viscosity classification system that is accepted throughout the industry, which utilizes a numeric </a:t>
            </a:r>
            <a:r>
              <a:rPr lang="en-US"/>
              <a:t>rating?</a:t>
            </a:r>
            <a:endParaRPr lang="en-US" dirty="0"/>
          </a:p>
        </p:txBody>
      </p:sp>
    </p:spTree>
    <p:extLst>
      <p:ext uri="{BB962C8B-B14F-4D97-AF65-F5344CB8AC3E}">
        <p14:creationId xmlns:p14="http://schemas.microsoft.com/office/powerpoint/2010/main" val="12013804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Answer (1 of 3)</a:t>
            </a:r>
            <a:endParaRPr/>
          </a:p>
        </p:txBody>
      </p:sp>
      <p:sp>
        <p:nvSpPr>
          <p:cNvPr id="317" name="Google Shape;317;p30"/>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1" indent="0">
              <a:buNone/>
            </a:pPr>
            <a:r>
              <a:rPr lang="en-US" dirty="0"/>
              <a:t>What organization established an oil viscosity classification system that is accepted throughout the industry, which utilizes a numeric rating?</a:t>
            </a:r>
          </a:p>
          <a:p>
            <a:pPr marL="0" indent="0" algn="ctr">
              <a:spcAft>
                <a:spcPts val="2400"/>
              </a:spcAft>
              <a:buNone/>
            </a:pPr>
            <a:r>
              <a:rPr lang="en-US" sz="2400" b="1" dirty="0">
                <a:solidFill>
                  <a:schemeClr val="tx1"/>
                </a:solidFill>
                <a:latin typeface="Work Sans" panose="020B0604020202020204" charset="0"/>
              </a:rPr>
              <a:t>Answer: </a:t>
            </a:r>
            <a:r>
              <a:rPr lang="en-US" sz="2400" dirty="0">
                <a:solidFill>
                  <a:schemeClr val="tx1"/>
                </a:solidFill>
                <a:latin typeface="Work Sans" panose="020B0604020202020204" charset="0"/>
              </a:rPr>
              <a:t>The Society of Automotive Engineers (SAE).</a:t>
            </a:r>
          </a:p>
          <a:p>
            <a:pPr marL="0" indent="0" algn="ctr">
              <a:buNone/>
            </a:pPr>
            <a:r>
              <a:rPr lang="en-US" sz="2400" dirty="0">
                <a:solidFill>
                  <a:schemeClr val="tx1"/>
                </a:solidFill>
                <a:latin typeface="Work Sans" panose="020B0604020202020204" charset="0"/>
              </a:rPr>
              <a:t>The higher viscosity, or heavier weight, oils receive the higher numbers.</a:t>
            </a:r>
          </a:p>
        </p:txBody>
      </p:sp>
    </p:spTree>
    <p:extLst>
      <p:ext uri="{BB962C8B-B14F-4D97-AF65-F5344CB8AC3E}">
        <p14:creationId xmlns:p14="http://schemas.microsoft.com/office/powerpoint/2010/main" val="1870222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sz="4000"/>
              <a:t>Oil Filter</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a:xfrm>
            <a:off x="476843" y="1563625"/>
            <a:ext cx="5923957" cy="4427272"/>
          </a:xfrm>
        </p:spPr>
        <p:txBody>
          <a:bodyPr/>
          <a:lstStyle/>
          <a:p>
            <a:pPr>
              <a:buSzPct val="100000"/>
            </a:pPr>
            <a:r>
              <a:rPr lang="en-US" sz="2400" dirty="0">
                <a:solidFill>
                  <a:schemeClr val="accent1"/>
                </a:solidFill>
              </a:rPr>
              <a:t>The oil pumped through the system passes through an oil filter. </a:t>
            </a:r>
          </a:p>
          <a:p>
            <a:pPr>
              <a:buSzPct val="100000"/>
            </a:pPr>
            <a:r>
              <a:rPr lang="en-US" sz="2400" dirty="0">
                <a:solidFill>
                  <a:schemeClr val="accent1"/>
                </a:solidFill>
              </a:rPr>
              <a:t>This filter is changed with the </a:t>
            </a:r>
            <a:r>
              <a:rPr lang="en-US" sz="2400">
                <a:solidFill>
                  <a:schemeClr val="accent1"/>
                </a:solidFill>
              </a:rPr>
              <a:t>oil.</a:t>
            </a:r>
            <a:endParaRPr lang="en-US" sz="2400" dirty="0">
              <a:solidFill>
                <a:schemeClr val="accent1"/>
              </a:solidFill>
            </a:endParaRPr>
          </a:p>
          <a:p>
            <a:pPr>
              <a:buSzPct val="100000"/>
            </a:pPr>
            <a:r>
              <a:rPr lang="en-US" sz="2400" dirty="0">
                <a:solidFill>
                  <a:schemeClr val="accent1"/>
                </a:solidFill>
              </a:rPr>
              <a:t>There are many shapes and sizes of filters, and each may require a special tool to remove and install </a:t>
            </a:r>
            <a:r>
              <a:rPr lang="en-US" sz="2400">
                <a:solidFill>
                  <a:schemeClr val="accent1"/>
                </a:solidFill>
              </a:rPr>
              <a:t>one.</a:t>
            </a:r>
            <a:endParaRPr lang="en-US" sz="2400" dirty="0">
              <a:solidFill>
                <a:schemeClr val="accent1"/>
              </a:solidFill>
            </a:endParaRPr>
          </a:p>
          <a:p>
            <a:pPr>
              <a:buSzPct val="100000"/>
            </a:pPr>
            <a:r>
              <a:rPr lang="en-US" sz="2400" dirty="0">
                <a:solidFill>
                  <a:schemeClr val="accent1"/>
                </a:solidFill>
              </a:rPr>
              <a:t>Always use a filter that meets at minimum the OE filtration specifications</a:t>
            </a:r>
          </a:p>
        </p:txBody>
      </p:sp>
      <p:pic>
        <p:nvPicPr>
          <p:cNvPr id="8" name="Picture Placeholder 7" descr="A toolbox containing oil filter tools.">
            <a:extLst>
              <a:ext uri="{FF2B5EF4-FFF2-40B4-BE49-F238E27FC236}">
                <a16:creationId xmlns:a16="http://schemas.microsoft.com/office/drawing/2014/main" id="{5F7CCEE2-4CB4-ACA2-6A51-A4A1312AE905}"/>
              </a:ext>
            </a:extLst>
          </p:cNvPr>
          <p:cNvPicPr>
            <a:picLocks noGrp="1" noChangeAspect="1"/>
          </p:cNvPicPr>
          <p:nvPr>
            <p:ph type="pic" sz="quarter" idx="11"/>
          </p:nvPr>
        </p:nvPicPr>
        <p:blipFill>
          <a:blip r:embed="rId3"/>
          <a:srcRect b="7427"/>
          <a:stretch/>
        </p:blipFill>
        <p:spPr>
          <a:xfrm>
            <a:off x="6713005" y="1810408"/>
            <a:ext cx="4486901" cy="3465786"/>
          </a:xfrm>
          <a:prstGeom prst="rect">
            <a:avLst/>
          </a:prstGeom>
        </p:spPr>
      </p:pic>
    </p:spTree>
    <p:extLst>
      <p:ext uri="{BB962C8B-B14F-4D97-AF65-F5344CB8AC3E}">
        <p14:creationId xmlns:p14="http://schemas.microsoft.com/office/powerpoint/2010/main" val="6287582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sz="4000" dirty="0"/>
              <a:t>Cooling System (1 of </a:t>
            </a:r>
            <a:r>
              <a:rPr lang="en-US" sz="4000"/>
              <a:t>2)</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a:xfrm>
            <a:off x="476843" y="1563624"/>
            <a:ext cx="6670191" cy="4584927"/>
          </a:xfrm>
        </p:spPr>
        <p:txBody>
          <a:bodyPr/>
          <a:lstStyle/>
          <a:p>
            <a:pPr>
              <a:spcAft>
                <a:spcPts val="600"/>
              </a:spcAft>
              <a:buSzPct val="100000"/>
            </a:pPr>
            <a:r>
              <a:rPr lang="en-US" sz="1800" dirty="0"/>
              <a:t>Whenever you change an engine’s oil, you should also do a visual inspection of the different systems under the hood, including the cooling </a:t>
            </a:r>
            <a:r>
              <a:rPr lang="en-US" sz="1800"/>
              <a:t>system.</a:t>
            </a:r>
            <a:endParaRPr lang="en-US" sz="1800" dirty="0"/>
          </a:p>
          <a:p>
            <a:pPr>
              <a:spcAft>
                <a:spcPts val="600"/>
              </a:spcAft>
              <a:buSzPct val="100000"/>
            </a:pPr>
            <a:r>
              <a:rPr lang="en-US" sz="1800" dirty="0"/>
              <a:t>Inspect all cooling system hoses for signs of leakage and/or </a:t>
            </a:r>
            <a:r>
              <a:rPr lang="en-US" sz="1800"/>
              <a:t>damage.</a:t>
            </a:r>
            <a:endParaRPr lang="en-US" sz="1800" dirty="0"/>
          </a:p>
          <a:p>
            <a:pPr>
              <a:spcAft>
                <a:spcPts val="600"/>
              </a:spcAft>
              <a:buSzPct val="100000"/>
            </a:pPr>
            <a:r>
              <a:rPr lang="en-US" sz="1800" dirty="0"/>
              <a:t>Replace all hoses that are swollen, cracked, or show signs of </a:t>
            </a:r>
            <a:r>
              <a:rPr lang="en-US" sz="1800"/>
              <a:t>leakage.</a:t>
            </a:r>
            <a:endParaRPr lang="en-US" sz="1800" dirty="0"/>
          </a:p>
          <a:p>
            <a:pPr>
              <a:spcAft>
                <a:spcPts val="600"/>
              </a:spcAft>
              <a:buSzPct val="100000"/>
            </a:pPr>
            <a:r>
              <a:rPr lang="en-US" sz="1800" dirty="0"/>
              <a:t>The radiator should also be checked for signs of leaks; if any are evident the radiator should be repaired or </a:t>
            </a:r>
            <a:r>
              <a:rPr lang="en-US" sz="1800"/>
              <a:t>replaced.</a:t>
            </a:r>
            <a:endParaRPr lang="en-US" sz="1800" dirty="0"/>
          </a:p>
          <a:p>
            <a:pPr>
              <a:spcAft>
                <a:spcPts val="600"/>
              </a:spcAft>
              <a:buSzPct val="100000"/>
            </a:pPr>
            <a:r>
              <a:rPr lang="en-US" sz="1800" dirty="0"/>
              <a:t>The level and condition of the engine’s coolant should also be checked. Check the coolant’s level at the coolant recovery tank. It should be between the “low” and “full” </a:t>
            </a:r>
            <a:r>
              <a:rPr lang="en-US" sz="1800"/>
              <a:t>lines.</a:t>
            </a:r>
            <a:endParaRPr lang="en-US" sz="1800" dirty="0"/>
          </a:p>
        </p:txBody>
      </p:sp>
      <p:pic>
        <p:nvPicPr>
          <p:cNvPr id="8" name="Picture Placeholder 7" descr="A half-filled coolant in a coolant recovery tank with two knobs at the top.">
            <a:extLst>
              <a:ext uri="{FF2B5EF4-FFF2-40B4-BE49-F238E27FC236}">
                <a16:creationId xmlns:a16="http://schemas.microsoft.com/office/drawing/2014/main" id="{9ACF3F1D-D889-D0AF-332C-00DF5191D4F0}"/>
              </a:ext>
            </a:extLst>
          </p:cNvPr>
          <p:cNvPicPr>
            <a:picLocks noGrp="1" noChangeAspect="1"/>
          </p:cNvPicPr>
          <p:nvPr>
            <p:ph type="pic" sz="quarter" idx="11"/>
          </p:nvPr>
        </p:nvPicPr>
        <p:blipFill>
          <a:blip r:embed="rId3"/>
          <a:srcRect b="13213"/>
          <a:stretch/>
        </p:blipFill>
        <p:spPr>
          <a:xfrm>
            <a:off x="7256006" y="1967671"/>
            <a:ext cx="4286848" cy="3276991"/>
          </a:xfrm>
          <a:prstGeom prst="rect">
            <a:avLst/>
          </a:prstGeom>
        </p:spPr>
      </p:pic>
    </p:spTree>
    <p:extLst>
      <p:ext uri="{BB962C8B-B14F-4D97-AF65-F5344CB8AC3E}">
        <p14:creationId xmlns:p14="http://schemas.microsoft.com/office/powerpoint/2010/main" val="3554378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sz="4000" dirty="0"/>
              <a:t>Cooling System (2 of </a:t>
            </a:r>
            <a:r>
              <a:rPr lang="en-US" sz="4000"/>
              <a:t>2)</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p:txBody>
          <a:bodyPr/>
          <a:lstStyle/>
          <a:p>
            <a:pPr>
              <a:spcAft>
                <a:spcPts val="200"/>
              </a:spcAft>
              <a:buSzPct val="100000"/>
            </a:pPr>
            <a:r>
              <a:rPr lang="en-US" sz="2400" dirty="0">
                <a:solidFill>
                  <a:schemeClr val="accent1"/>
                </a:solidFill>
              </a:rPr>
              <a:t>Coolant</a:t>
            </a:r>
          </a:p>
          <a:p>
            <a:pPr lvl="1">
              <a:spcAft>
                <a:spcPts val="200"/>
              </a:spcAft>
              <a:buSzPct val="100000"/>
            </a:pPr>
            <a:r>
              <a:rPr lang="en-US" sz="2200" dirty="0">
                <a:solidFill>
                  <a:schemeClr val="accent1"/>
                </a:solidFill>
              </a:rPr>
              <a:t>Engine coolant is a mixture of water and antifreeze.</a:t>
            </a:r>
          </a:p>
          <a:p>
            <a:pPr lvl="2">
              <a:spcAft>
                <a:spcPts val="200"/>
              </a:spcAft>
              <a:buSzPct val="100000"/>
            </a:pPr>
            <a:r>
              <a:rPr lang="en-US" sz="2000" dirty="0">
                <a:solidFill>
                  <a:schemeClr val="accent1"/>
                </a:solidFill>
              </a:rPr>
              <a:t>Recommended mixture is 50/50 water and antifreeze.</a:t>
            </a:r>
          </a:p>
          <a:p>
            <a:pPr lvl="1">
              <a:spcAft>
                <a:spcPts val="200"/>
              </a:spcAft>
              <a:buSzPct val="100000"/>
            </a:pPr>
            <a:r>
              <a:rPr lang="en-US" sz="2200" dirty="0">
                <a:solidFill>
                  <a:schemeClr val="accent1"/>
                </a:solidFill>
              </a:rPr>
              <a:t>Five types of coolant are commonly available, most of which are ethylene glycol based.</a:t>
            </a:r>
          </a:p>
          <a:p>
            <a:pPr lvl="2">
              <a:spcAft>
                <a:spcPts val="200"/>
              </a:spcAft>
              <a:buSzPct val="100000"/>
            </a:pPr>
            <a:r>
              <a:rPr lang="en-US" sz="2000" dirty="0">
                <a:solidFill>
                  <a:schemeClr val="accent1"/>
                </a:solidFill>
              </a:rPr>
              <a:t>Inorganic acid technology (IAT)</a:t>
            </a:r>
          </a:p>
          <a:p>
            <a:pPr lvl="2">
              <a:spcAft>
                <a:spcPts val="200"/>
              </a:spcAft>
              <a:buSzPct val="100000"/>
            </a:pPr>
            <a:r>
              <a:rPr lang="en-US" sz="2000" dirty="0">
                <a:solidFill>
                  <a:schemeClr val="accent1"/>
                </a:solidFill>
              </a:rPr>
              <a:t>Propylene glycol</a:t>
            </a:r>
          </a:p>
          <a:p>
            <a:pPr lvl="2">
              <a:spcAft>
                <a:spcPts val="200"/>
              </a:spcAft>
              <a:buSzPct val="100000"/>
            </a:pPr>
            <a:r>
              <a:rPr lang="en-US" sz="2000" dirty="0">
                <a:solidFill>
                  <a:schemeClr val="accent1"/>
                </a:solidFill>
              </a:rPr>
              <a:t>Phosphate-free</a:t>
            </a:r>
          </a:p>
          <a:p>
            <a:pPr lvl="2">
              <a:spcAft>
                <a:spcPts val="200"/>
              </a:spcAft>
              <a:buSzPct val="100000"/>
            </a:pPr>
            <a:r>
              <a:rPr lang="en-US" sz="2000" dirty="0">
                <a:solidFill>
                  <a:schemeClr val="accent1"/>
                </a:solidFill>
              </a:rPr>
              <a:t>Organic acid technology (OAT)</a:t>
            </a:r>
          </a:p>
          <a:p>
            <a:pPr lvl="2">
              <a:spcAft>
                <a:spcPts val="200"/>
              </a:spcAft>
              <a:buSzPct val="100000"/>
            </a:pPr>
            <a:r>
              <a:rPr lang="en-US" sz="2000" dirty="0">
                <a:solidFill>
                  <a:schemeClr val="accent1"/>
                </a:solidFill>
              </a:rPr>
              <a:t>Hybrid organic acid technology (HOAT)</a:t>
            </a:r>
          </a:p>
          <a:p>
            <a:pPr lvl="2">
              <a:spcAft>
                <a:spcPts val="200"/>
              </a:spcAft>
              <a:buSzPct val="100000"/>
            </a:pPr>
            <a:r>
              <a:rPr lang="en-US" sz="2000" dirty="0">
                <a:solidFill>
                  <a:schemeClr val="accent1"/>
                </a:solidFill>
              </a:rPr>
              <a:t>Manufacturer-specific coolants</a:t>
            </a:r>
          </a:p>
        </p:txBody>
      </p:sp>
    </p:spTree>
    <p:extLst>
      <p:ext uri="{BB962C8B-B14F-4D97-AF65-F5344CB8AC3E}">
        <p14:creationId xmlns:p14="http://schemas.microsoft.com/office/powerpoint/2010/main" val="3101524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(2 of 3)</a:t>
            </a:r>
            <a:endParaRPr/>
          </a:p>
        </p:txBody>
      </p:sp>
      <p:sp>
        <p:nvSpPr>
          <p:cNvPr id="310" name="Google Shape;310;p2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1" indent="0">
              <a:buNone/>
            </a:pPr>
            <a:r>
              <a:rPr lang="en-US" sz="2400" dirty="0"/>
              <a:t>The oil pumped through the system passes through an _____ _____.</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Answer (2 of 3)</a:t>
            </a:r>
            <a:endParaRPr/>
          </a:p>
        </p:txBody>
      </p:sp>
      <p:sp>
        <p:nvSpPr>
          <p:cNvPr id="317" name="Google Shape;317;p30"/>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1" indent="0">
              <a:spcAft>
                <a:spcPts val="2400"/>
              </a:spcAft>
              <a:buNone/>
            </a:pPr>
            <a:r>
              <a:rPr lang="en-US" dirty="0"/>
              <a:t>The oil pumped through the system passes through an </a:t>
            </a:r>
            <a:r>
              <a:rPr lang="en-US"/>
              <a:t>_____ _____.</a:t>
            </a:r>
          </a:p>
          <a:p>
            <a:pPr marL="358775" lvl="1" indent="0" algn="ctr">
              <a:buNone/>
            </a:pPr>
            <a:r>
              <a:rPr lang="en-US" sz="2400" b="1">
                <a:solidFill>
                  <a:schemeClr val="dk1"/>
                </a:solidFill>
                <a:latin typeface="Work Sans"/>
                <a:ea typeface="Work Sans"/>
                <a:cs typeface="Work Sans"/>
                <a:sym typeface="Work Sans"/>
              </a:rPr>
              <a:t>Answer</a:t>
            </a:r>
            <a:r>
              <a:rPr lang="en-US" sz="2400">
                <a:solidFill>
                  <a:schemeClr val="dk1"/>
                </a:solidFill>
                <a:latin typeface="Work Sans"/>
                <a:ea typeface="Work Sans"/>
                <a:cs typeface="Work Sans"/>
                <a:sym typeface="Work Sans"/>
              </a:rPr>
              <a:t>: The oil pumped through the system passes through an oil filter.</a:t>
            </a:r>
            <a:endParaRPr lang="en-US" sz="2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sz="4000"/>
              <a:t>Drive Belts</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a:xfrm>
            <a:off x="476844" y="1563625"/>
            <a:ext cx="7651156" cy="4626968"/>
          </a:xfrm>
        </p:spPr>
        <p:txBody>
          <a:bodyPr/>
          <a:lstStyle/>
          <a:p>
            <a:pPr>
              <a:buSzPct val="100000"/>
            </a:pPr>
            <a:r>
              <a:rPr lang="en-US" sz="2000" dirty="0"/>
              <a:t>V-belts and V-ribbed belts (serpentine belts) are used to drive water pumps, power-steering pumps, air-conditioning compressors, generators, and emission control pumps.</a:t>
            </a:r>
          </a:p>
          <a:p>
            <a:pPr>
              <a:buSzPct val="100000"/>
            </a:pPr>
            <a:r>
              <a:rPr lang="en-US" sz="2000" dirty="0"/>
              <a:t>Slippage can be caused by improper belt tension or oily conditions. When there is slippage, the support bearing of the component driven by the belt can be damaged. </a:t>
            </a:r>
          </a:p>
          <a:p>
            <a:pPr>
              <a:buSzPct val="100000"/>
            </a:pPr>
            <a:r>
              <a:rPr lang="en-US" sz="2000" dirty="0"/>
              <a:t>As a V-belt wears, it begins to ride deeper in the groove. This reduces its tension and promotes slippage.</a:t>
            </a:r>
          </a:p>
          <a:p>
            <a:pPr>
              <a:buSzPct val="100000"/>
            </a:pPr>
            <a:r>
              <a:rPr lang="en-US" sz="2000" dirty="0"/>
              <a:t>Because this is a normal occurrence, periodic adjustment of belt tension is necessary. Drive belts can be used to drive a single part or a combination of parts. An engine can have three or more V-belts.</a:t>
            </a:r>
          </a:p>
        </p:txBody>
      </p:sp>
      <p:pic>
        <p:nvPicPr>
          <p:cNvPr id="8" name="Picture Placeholder 7" descr="A rib profile has a thin horizontal strip having three grooves embedded on it. The grooves are trapezoid-shaped ribs placed at equidistant from one another. Each of these ribs lose length along the top and the sides which are depicted through dashed lines along the trapezoid. The dashed lines differentiate the worn rib profile and the original rib profile. The tread or ribs of the belt shrink in profile indicating material loss."/>
          <p:cNvPicPr>
            <a:picLocks noGrp="1" noChangeAspect="1"/>
          </p:cNvPicPr>
          <p:nvPr>
            <p:ph type="pic" sz="quarter" idx="11"/>
          </p:nvPr>
        </p:nvPicPr>
        <p:blipFill>
          <a:blip r:embed="rId3"/>
          <a:srcRect b="19604"/>
          <a:stretch/>
        </p:blipFill>
        <p:spPr>
          <a:xfrm>
            <a:off x="8128000" y="2479440"/>
            <a:ext cx="3884010" cy="1714188"/>
          </a:xfrm>
          <a:prstGeom prst="rect">
            <a:avLst/>
          </a:prstGeom>
        </p:spPr>
      </p:pic>
    </p:spTree>
    <p:extLst>
      <p:ext uri="{BB962C8B-B14F-4D97-AF65-F5344CB8AC3E}">
        <p14:creationId xmlns:p14="http://schemas.microsoft.com/office/powerpoint/2010/main" val="3957725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sz="4000" dirty="0"/>
              <a:t>Drive </a:t>
            </a:r>
            <a:r>
              <a:rPr lang="en-US" sz="4000"/>
              <a:t>Belts Inspection</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a:xfrm>
            <a:off x="476844" y="1500125"/>
            <a:ext cx="7342854" cy="4500844"/>
          </a:xfrm>
        </p:spPr>
        <p:txBody>
          <a:bodyPr/>
          <a:lstStyle/>
          <a:p>
            <a:pPr>
              <a:spcBef>
                <a:spcPts val="624"/>
              </a:spcBef>
              <a:spcAft>
                <a:spcPts val="600"/>
              </a:spcAft>
              <a:buSzPct val="100000"/>
            </a:pPr>
            <a:r>
              <a:rPr lang="en-US" sz="2200" dirty="0"/>
              <a:t>Check the condition of all of the drive belts on the engine.</a:t>
            </a:r>
          </a:p>
          <a:p>
            <a:pPr>
              <a:spcBef>
                <a:spcPts val="624"/>
              </a:spcBef>
              <a:spcAft>
                <a:spcPts val="600"/>
              </a:spcAft>
              <a:buSzPct val="100000"/>
            </a:pPr>
            <a:r>
              <a:rPr lang="en-US" sz="2200" dirty="0"/>
              <a:t>Carefully look to see if they have worn or glazed edges, tears, splits, and signs of oil soaking.</a:t>
            </a:r>
          </a:p>
          <a:p>
            <a:pPr>
              <a:spcBef>
                <a:spcPts val="624"/>
              </a:spcBef>
              <a:spcAft>
                <a:spcPts val="600"/>
              </a:spcAft>
              <a:buSzPct val="100000"/>
            </a:pPr>
            <a:r>
              <a:rPr lang="en-US" sz="2200" dirty="0"/>
              <a:t>Inspect the grooves of the pulleys for rust, oil, wear, and other damage. If a pulley is damaged, it should be replaced. Rust, dirt, and oil should be cleaned off the pulley before installing a new belt.</a:t>
            </a:r>
          </a:p>
          <a:p>
            <a:pPr>
              <a:spcBef>
                <a:spcPts val="624"/>
              </a:spcBef>
              <a:spcAft>
                <a:spcPts val="600"/>
              </a:spcAft>
              <a:buSzPct val="100000"/>
            </a:pPr>
            <a:r>
              <a:rPr lang="en-US" sz="2200" dirty="0"/>
              <a:t>Misalignment of the pulleys reduces the belt’s service life and brings about rapid pulley wear, which causes thrown belts and noise.</a:t>
            </a:r>
          </a:p>
        </p:txBody>
      </p:sp>
      <p:pic>
        <p:nvPicPr>
          <p:cNvPr id="8" name="Picture Placeholder 7" descr="Two sets of drive belts under different conditions. Each set experiences six different conditions. The first drive belt of the first set labeled Frayed, has a horizontal strip appearing frilly on the lower side. The second of the first set labeled Split or torn, has a horizontal strip torn in some places. The third of the first set labeled Glazed, has a horizontal strip having streaks on it. The fourth of the first set labeled Oil soaked, has a horizontal strip appearing glossy. The fifth of the first set labeled Cracked, has a horizontal strip having splits in a few places along the edges. The sixth of the first set labeled Broken undercore, has a horizontal strip with small slits in some places. The first drive belt of the second set with the labels Abrasion and Gravel penetration, has a semicircular arc with scrapings and holes on the surface. The second of the second set labeled Improper install, has a misalignment on the surface. The third of the second set labeled Cracking, has mild cuts on the surface. The fourth of the second set labeled Chunk-out, has peeled spots on the surface. The fifth of the second set labeled Uneven rib wear, has undulating lines on the surface. The sixth of the second set labeled Pilling, has small spots on the surface.">
            <a:extLst>
              <a:ext uri="{FF2B5EF4-FFF2-40B4-BE49-F238E27FC236}">
                <a16:creationId xmlns:a16="http://schemas.microsoft.com/office/drawing/2014/main" id="{43FF249B-2F95-3AD5-28F4-91FC6CC1E844}"/>
              </a:ext>
            </a:extLst>
          </p:cNvPr>
          <p:cNvPicPr>
            <a:picLocks noGrp="1" noChangeAspect="1"/>
          </p:cNvPicPr>
          <p:nvPr>
            <p:ph type="pic" sz="quarter" idx="11"/>
          </p:nvPr>
        </p:nvPicPr>
        <p:blipFill>
          <a:blip r:embed="rId3"/>
          <a:srcRect b="5682"/>
          <a:stretch/>
        </p:blipFill>
        <p:spPr>
          <a:xfrm>
            <a:off x="7874677" y="1950101"/>
            <a:ext cx="4023360" cy="3105375"/>
          </a:xfrm>
          <a:prstGeom prst="rect">
            <a:avLst/>
          </a:prstGeom>
        </p:spPr>
      </p:pic>
    </p:spTree>
    <p:extLst>
      <p:ext uri="{BB962C8B-B14F-4D97-AF65-F5344CB8AC3E}">
        <p14:creationId xmlns:p14="http://schemas.microsoft.com/office/powerpoint/2010/main" val="25073330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a:t>Belt Replacement</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a:xfrm>
            <a:off x="476843" y="1563624"/>
            <a:ext cx="7426936" cy="4458803"/>
          </a:xfrm>
        </p:spPr>
        <p:txBody>
          <a:bodyPr/>
          <a:lstStyle/>
          <a:p>
            <a:pPr marL="0" indent="0">
              <a:spcAft>
                <a:spcPts val="400"/>
              </a:spcAft>
              <a:buNone/>
            </a:pPr>
            <a:r>
              <a:rPr lang="en-US" sz="2000" b="1" dirty="0"/>
              <a:t>08.04 List at least six examples of typical preventive maintenance services</a:t>
            </a:r>
          </a:p>
          <a:p>
            <a:pPr>
              <a:spcAft>
                <a:spcPts val="400"/>
              </a:spcAft>
              <a:buSzPct val="100000"/>
            </a:pPr>
            <a:r>
              <a:rPr lang="en-US" sz="2000" dirty="0"/>
              <a:t>If a drive belt is damaged, it should be </a:t>
            </a:r>
            <a:r>
              <a:rPr lang="en-US" sz="2000"/>
              <a:t>replaced.</a:t>
            </a:r>
            <a:endParaRPr lang="en-US" sz="2000" dirty="0"/>
          </a:p>
          <a:p>
            <a:pPr>
              <a:spcAft>
                <a:spcPts val="400"/>
              </a:spcAft>
              <a:buSzPct val="100000"/>
            </a:pPr>
            <a:r>
              <a:rPr lang="en-US" sz="2000" dirty="0"/>
              <a:t>If there is more than one drive belt, all should be replaced even if only one is </a:t>
            </a:r>
            <a:r>
              <a:rPr lang="en-US" sz="2000"/>
              <a:t>bad.</a:t>
            </a:r>
            <a:endParaRPr lang="en-US" sz="2000" dirty="0"/>
          </a:p>
          <a:p>
            <a:pPr>
              <a:spcAft>
                <a:spcPts val="400"/>
              </a:spcAft>
              <a:buSzPct val="100000"/>
            </a:pPr>
            <a:r>
              <a:rPr lang="en-US" sz="2000" dirty="0"/>
              <a:t>You can verify that the new belt is a replacement for the old one by physically comparing the two. This, however, does not account for any belt stretch that may have occurred. Therefore, only use this comparison as </a:t>
            </a:r>
            <a:r>
              <a:rPr lang="en-US" sz="2000"/>
              <a:t>verification.</a:t>
            </a:r>
            <a:endParaRPr lang="en-US" sz="2000" dirty="0"/>
          </a:p>
          <a:p>
            <a:pPr>
              <a:spcAft>
                <a:spcPts val="400"/>
              </a:spcAft>
              <a:buSzPct val="100000"/>
            </a:pPr>
            <a:r>
              <a:rPr lang="en-US" sz="2000" dirty="0"/>
              <a:t>The best way to select the correct replacement belt is with a parts catalog and/or by matching the numbers on the old belt to the numbers on the new </a:t>
            </a:r>
            <a:r>
              <a:rPr lang="en-US" sz="2000"/>
              <a:t>belt.</a:t>
            </a:r>
            <a:endParaRPr lang="en-US" sz="2000" dirty="0"/>
          </a:p>
        </p:txBody>
      </p:sp>
      <p:pic>
        <p:nvPicPr>
          <p:cNvPr id="8" name="Picture Placeholder 7" descr="An unpacked old belt on the left, and a new belt held in a container that carries its size and part number.">
            <a:extLst>
              <a:ext uri="{FF2B5EF4-FFF2-40B4-BE49-F238E27FC236}">
                <a16:creationId xmlns:a16="http://schemas.microsoft.com/office/drawing/2014/main" id="{D865B522-FAC0-F390-F112-1B94A6AB19ED}"/>
              </a:ext>
            </a:extLst>
          </p:cNvPr>
          <p:cNvPicPr>
            <a:picLocks noGrp="1" noChangeAspect="1"/>
          </p:cNvPicPr>
          <p:nvPr>
            <p:ph type="pic" sz="quarter" idx="11"/>
          </p:nvPr>
        </p:nvPicPr>
        <p:blipFill>
          <a:blip r:embed="rId3"/>
          <a:srcRect b="18399"/>
          <a:stretch/>
        </p:blipFill>
        <p:spPr>
          <a:xfrm>
            <a:off x="8057557" y="2441028"/>
            <a:ext cx="3657600" cy="2467303"/>
          </a:xfrm>
          <a:prstGeom prst="rect">
            <a:avLst/>
          </a:prstGeom>
        </p:spPr>
      </p:pic>
    </p:spTree>
    <p:extLst>
      <p:ext uri="{BB962C8B-B14F-4D97-AF65-F5344CB8AC3E}">
        <p14:creationId xmlns:p14="http://schemas.microsoft.com/office/powerpoint/2010/main" val="13259961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sz="4000"/>
              <a:t>Air Filters</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a:xfrm>
            <a:off x="476844" y="1563625"/>
            <a:ext cx="6375902" cy="4448292"/>
          </a:xfrm>
        </p:spPr>
        <p:txBody>
          <a:bodyPr/>
          <a:lstStyle/>
          <a:p>
            <a:pPr>
              <a:spcAft>
                <a:spcPts val="600"/>
              </a:spcAft>
              <a:buSzPct val="100000"/>
            </a:pPr>
            <a:r>
              <a:rPr lang="en-US" sz="1800" dirty="0">
                <a:solidFill>
                  <a:schemeClr val="accent1"/>
                </a:solidFill>
              </a:rPr>
              <a:t>Most air filters are made of pleated paper to increase the filtering </a:t>
            </a:r>
            <a:r>
              <a:rPr lang="en-US" sz="1800">
                <a:solidFill>
                  <a:schemeClr val="accent1"/>
                </a:solidFill>
              </a:rPr>
              <a:t>area.</a:t>
            </a:r>
            <a:endParaRPr lang="en-US" sz="1800" dirty="0">
              <a:solidFill>
                <a:schemeClr val="accent1"/>
              </a:solidFill>
            </a:endParaRPr>
          </a:p>
          <a:p>
            <a:pPr>
              <a:spcAft>
                <a:spcPts val="600"/>
              </a:spcAft>
              <a:buSzPct val="100000"/>
            </a:pPr>
            <a:r>
              <a:rPr lang="en-US" sz="1800" dirty="0">
                <a:solidFill>
                  <a:schemeClr val="accent1"/>
                </a:solidFill>
              </a:rPr>
              <a:t>As a filter gets dirty, the amount of air that can flow through it is reduced.</a:t>
            </a:r>
          </a:p>
          <a:p>
            <a:pPr>
              <a:spcAft>
                <a:spcPts val="600"/>
              </a:spcAft>
              <a:buSzPct val="100000"/>
            </a:pPr>
            <a:r>
              <a:rPr lang="en-US" sz="1800" dirty="0">
                <a:solidFill>
                  <a:schemeClr val="accent1"/>
                </a:solidFill>
              </a:rPr>
              <a:t>This is not a problem until less air than what the engine needs can get through the filter; however, an air filter needs to be nearly completely restricted before it will affect engine </a:t>
            </a:r>
            <a:r>
              <a:rPr lang="en-US" sz="1800">
                <a:solidFill>
                  <a:schemeClr val="accent1"/>
                </a:solidFill>
              </a:rPr>
              <a:t>performance.</a:t>
            </a:r>
            <a:endParaRPr lang="en-US" sz="1800" dirty="0">
              <a:solidFill>
                <a:schemeClr val="accent1"/>
              </a:solidFill>
            </a:endParaRPr>
          </a:p>
          <a:p>
            <a:pPr>
              <a:spcAft>
                <a:spcPts val="600"/>
              </a:spcAft>
              <a:buSzPct val="100000"/>
            </a:pPr>
            <a:r>
              <a:rPr lang="en-US" sz="1800" dirty="0">
                <a:solidFill>
                  <a:schemeClr val="accent1"/>
                </a:solidFill>
              </a:rPr>
              <a:t>Without the proper amount of air, the engine will not be able to produce the power it should; nor will it be as fuel efficient as it should </a:t>
            </a:r>
            <a:r>
              <a:rPr lang="en-US" sz="1800">
                <a:solidFill>
                  <a:schemeClr val="accent1"/>
                </a:solidFill>
              </a:rPr>
              <a:t>be.</a:t>
            </a:r>
            <a:endParaRPr lang="en-US" sz="1800" dirty="0">
              <a:solidFill>
                <a:schemeClr val="accent1"/>
              </a:solidFill>
            </a:endParaRPr>
          </a:p>
          <a:p>
            <a:pPr>
              <a:spcAft>
                <a:spcPts val="600"/>
              </a:spcAft>
              <a:buSzPct val="100000"/>
            </a:pPr>
            <a:r>
              <a:rPr lang="en-US" sz="1800" dirty="0">
                <a:solidFill>
                  <a:schemeClr val="accent1"/>
                </a:solidFill>
              </a:rPr>
              <a:t>Included in the PM plan for all vehicles is the replacement of the air </a:t>
            </a:r>
            <a:r>
              <a:rPr lang="en-US" sz="1800">
                <a:solidFill>
                  <a:schemeClr val="accent1"/>
                </a:solidFill>
              </a:rPr>
              <a:t>filter.</a:t>
            </a:r>
            <a:endParaRPr lang="en-US" sz="1800" dirty="0">
              <a:solidFill>
                <a:schemeClr val="accent1"/>
              </a:solidFill>
            </a:endParaRPr>
          </a:p>
        </p:txBody>
      </p:sp>
      <p:pic>
        <p:nvPicPr>
          <p:cNvPr id="8" name="Picture Placeholder 7" descr="Two air filters. At the top is an air filter with excessive dirt and below is a clean one.">
            <a:extLst>
              <a:ext uri="{FF2B5EF4-FFF2-40B4-BE49-F238E27FC236}">
                <a16:creationId xmlns:a16="http://schemas.microsoft.com/office/drawing/2014/main" id="{12F6BF93-4BC9-B236-0557-557BDEB67B93}"/>
              </a:ext>
            </a:extLst>
          </p:cNvPr>
          <p:cNvPicPr>
            <a:picLocks noGrp="1" noChangeAspect="1"/>
          </p:cNvPicPr>
          <p:nvPr>
            <p:ph type="pic" sz="quarter" idx="11"/>
          </p:nvPr>
        </p:nvPicPr>
        <p:blipFill>
          <a:blip r:embed="rId3"/>
          <a:srcRect b="8181"/>
          <a:stretch/>
        </p:blipFill>
        <p:spPr>
          <a:xfrm>
            <a:off x="6866254" y="2125718"/>
            <a:ext cx="4848902" cy="3297620"/>
          </a:xfrm>
          <a:prstGeom prst="rect">
            <a:avLst/>
          </a:prstGeom>
        </p:spPr>
      </p:pic>
    </p:spTree>
    <p:extLst>
      <p:ext uri="{BB962C8B-B14F-4D97-AF65-F5344CB8AC3E}">
        <p14:creationId xmlns:p14="http://schemas.microsoft.com/office/powerpoint/2010/main" val="485504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sz="4000" dirty="0"/>
              <a:t>Transmission Fluid (1 of </a:t>
            </a:r>
            <a:r>
              <a:rPr lang="en-US" sz="4000"/>
              <a:t>2)</a:t>
            </a:r>
            <a:endParaRPr dirty="0"/>
          </a:p>
        </p:txBody>
      </p:sp>
      <p:pic>
        <p:nvPicPr>
          <p:cNvPr id="8" name="Picture Placeholder 7" descr="A thin cylinder divided into five parts. Parts 1, 3, and 5 are in blue, while parts 2 and 4 are in red. Part 2 is labeled COOL and part 4 is labeled HOT. The labels corresponding to the parts are as follows: Part 1: If cold, add; Part 2: If cold, OK; Part 3: If hot, OK; and Part 4: If hot, OK."/>
          <p:cNvPicPr>
            <a:picLocks noGrp="1" noChangeAspect="1"/>
          </p:cNvPicPr>
          <p:nvPr>
            <p:ph type="pic" sz="quarter" idx="11"/>
          </p:nvPr>
        </p:nvPicPr>
        <p:blipFill>
          <a:blip r:embed="rId3"/>
          <a:srcRect b="23502"/>
          <a:stretch/>
        </p:blipFill>
        <p:spPr>
          <a:xfrm>
            <a:off x="473242" y="2163502"/>
            <a:ext cx="4424544" cy="2114208"/>
          </a:xfrm>
          <a:prstGeom prst="rect">
            <a:avLst/>
          </a:prstGeom>
        </p:spPr>
      </p:pic>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a:xfrm>
            <a:off x="5092701" y="1435100"/>
            <a:ext cx="6626058" cy="4673600"/>
          </a:xfrm>
        </p:spPr>
        <p:txBody>
          <a:bodyPr/>
          <a:lstStyle/>
          <a:p>
            <a:pPr>
              <a:buSzPct val="100000"/>
            </a:pPr>
            <a:r>
              <a:rPr lang="en-US" sz="2000" dirty="0"/>
              <a:t>The oil used in automatic transmissions is called automatic transmission fluid (ATF) and is dyed red so that it is not easily confused with engine oil.</a:t>
            </a:r>
          </a:p>
          <a:p>
            <a:pPr>
              <a:buSzPct val="100000"/>
            </a:pPr>
            <a:r>
              <a:rPr lang="en-US" sz="2000" dirty="0"/>
              <a:t>Before checking the fluid, make sure to check and follow the fluid inspection procedures.</a:t>
            </a:r>
          </a:p>
          <a:p>
            <a:pPr>
              <a:buSzPct val="100000"/>
            </a:pPr>
            <a:r>
              <a:rPr lang="en-US" sz="2000" dirty="0"/>
              <a:t>These typically include operating the vehicle until the fluid is at operating temperature, transmission in Park and the vehicle on a flat surface, engine at idle.</a:t>
            </a:r>
          </a:p>
          <a:p>
            <a:pPr>
              <a:buSzPct val="100000"/>
            </a:pPr>
            <a:r>
              <a:rPr lang="en-US" sz="2000" dirty="0"/>
              <a:t>Check the level of the fluid on the dipstick.</a:t>
            </a:r>
          </a:p>
          <a:p>
            <a:pPr>
              <a:buSzPct val="100000"/>
            </a:pPr>
            <a:r>
              <a:rPr lang="en-US" sz="2000" dirty="0"/>
              <a:t>If the transmission does not have a dipstick, refer to the service information for the steps to check the fluid level.</a:t>
            </a:r>
          </a:p>
        </p:txBody>
      </p:sp>
    </p:spTree>
    <p:extLst>
      <p:ext uri="{BB962C8B-B14F-4D97-AF65-F5344CB8AC3E}">
        <p14:creationId xmlns:p14="http://schemas.microsoft.com/office/powerpoint/2010/main" val="1165664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sz="4000" dirty="0"/>
              <a:t>Transmission Fluid (</a:t>
            </a:r>
            <a:r>
              <a:rPr lang="en-US" sz="4000"/>
              <a:t>2 of 2)</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a:xfrm>
            <a:off x="476843" y="1563625"/>
            <a:ext cx="6932949" cy="4490334"/>
          </a:xfrm>
        </p:spPr>
        <p:txBody>
          <a:bodyPr/>
          <a:lstStyle/>
          <a:p>
            <a:pPr>
              <a:spcAft>
                <a:spcPts val="600"/>
              </a:spcAft>
              <a:buSzPct val="100000"/>
            </a:pPr>
            <a:r>
              <a:rPr lang="en-US" sz="2400" dirty="0"/>
              <a:t>Manual Transmissions</a:t>
            </a:r>
          </a:p>
          <a:p>
            <a:pPr lvl="1">
              <a:spcAft>
                <a:spcPts val="600"/>
              </a:spcAft>
              <a:buSzPct val="100000"/>
            </a:pPr>
            <a:r>
              <a:rPr lang="en-US" sz="2200" dirty="0"/>
              <a:t>Manual transmissions, transaxles, and drive axle units require the use of specific lubricants or oils.</a:t>
            </a:r>
          </a:p>
          <a:p>
            <a:pPr lvl="1">
              <a:spcAft>
                <a:spcPts val="600"/>
              </a:spcAft>
              <a:buSzPct val="100000"/>
            </a:pPr>
            <a:r>
              <a:rPr lang="en-US" sz="2200" dirty="0"/>
              <a:t>The levels should be checked according to the recommended time frames.</a:t>
            </a:r>
          </a:p>
          <a:p>
            <a:pPr lvl="1">
              <a:spcAft>
                <a:spcPts val="600"/>
              </a:spcAft>
              <a:buSzPct val="100000"/>
            </a:pPr>
            <a:r>
              <a:rPr lang="en-US" sz="2200" dirty="0"/>
              <a:t>Some manufacturers recommend that the fluids be periodically changed. </a:t>
            </a:r>
          </a:p>
          <a:p>
            <a:pPr lvl="1">
              <a:spcAft>
                <a:spcPts val="600"/>
              </a:spcAft>
              <a:buSzPct val="100000"/>
            </a:pPr>
            <a:r>
              <a:rPr lang="en-US" sz="2200" dirty="0"/>
              <a:t>Many shops have a dispenser type pump to add fluid.</a:t>
            </a:r>
          </a:p>
        </p:txBody>
      </p:sp>
      <p:pic>
        <p:nvPicPr>
          <p:cNvPr id="8" name="Picture Placeholder 7" descr="A close-up view of a dispenser handle whose dial with markings and a display with a numerical value. A knob at the center points to the top.">
            <a:extLst>
              <a:ext uri="{FF2B5EF4-FFF2-40B4-BE49-F238E27FC236}">
                <a16:creationId xmlns:a16="http://schemas.microsoft.com/office/drawing/2014/main" id="{B7D3D33A-4FB9-DEB0-75FD-79150FD97039}"/>
              </a:ext>
            </a:extLst>
          </p:cNvPr>
          <p:cNvPicPr>
            <a:picLocks noGrp="1" noChangeAspect="1"/>
          </p:cNvPicPr>
          <p:nvPr>
            <p:ph type="pic" sz="quarter" idx="11"/>
          </p:nvPr>
        </p:nvPicPr>
        <p:blipFill>
          <a:blip r:embed="rId3"/>
          <a:srcRect b="10020"/>
          <a:stretch/>
        </p:blipFill>
        <p:spPr>
          <a:xfrm>
            <a:off x="7873132" y="1671272"/>
            <a:ext cx="3842024" cy="3846659"/>
          </a:xfrm>
          <a:prstGeom prst="rect">
            <a:avLst/>
          </a:prstGeom>
        </p:spPr>
      </p:pic>
    </p:spTree>
    <p:extLst>
      <p:ext uri="{BB962C8B-B14F-4D97-AF65-F5344CB8AC3E}">
        <p14:creationId xmlns:p14="http://schemas.microsoft.com/office/powerpoint/2010/main" val="21091452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sz="4000"/>
              <a:t>Power-Steering Fluid</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a:xfrm>
            <a:off x="476843" y="1563625"/>
            <a:ext cx="7069585" cy="4448292"/>
          </a:xfrm>
        </p:spPr>
        <p:txBody>
          <a:bodyPr/>
          <a:lstStyle/>
          <a:p>
            <a:pPr>
              <a:spcAft>
                <a:spcPts val="600"/>
              </a:spcAft>
              <a:buSzPct val="100000"/>
            </a:pPr>
            <a:r>
              <a:rPr lang="en-US" dirty="0">
                <a:solidFill>
                  <a:schemeClr val="accent1"/>
                </a:solidFill>
              </a:rPr>
              <a:t>Normally, the power-steering fluid level is checked with the engine warm but turned </a:t>
            </a:r>
            <a:r>
              <a:rPr lang="en-US">
                <a:solidFill>
                  <a:schemeClr val="accent1"/>
                </a:solidFill>
              </a:rPr>
              <a:t>off.</a:t>
            </a:r>
            <a:endParaRPr lang="en-US" dirty="0">
              <a:solidFill>
                <a:schemeClr val="accent1"/>
              </a:solidFill>
            </a:endParaRPr>
          </a:p>
          <a:p>
            <a:pPr>
              <a:spcAft>
                <a:spcPts val="600"/>
              </a:spcAft>
              <a:buSzPct val="100000"/>
            </a:pPr>
            <a:r>
              <a:rPr lang="en-US" dirty="0">
                <a:solidFill>
                  <a:schemeClr val="accent1"/>
                </a:solidFill>
              </a:rPr>
              <a:t>If the fluid is cold, it will read lower than </a:t>
            </a:r>
            <a:r>
              <a:rPr lang="en-US">
                <a:solidFill>
                  <a:schemeClr val="accent1"/>
                </a:solidFill>
              </a:rPr>
              <a:t>normal.</a:t>
            </a:r>
            <a:endParaRPr lang="en-US" dirty="0">
              <a:solidFill>
                <a:schemeClr val="accent1"/>
              </a:solidFill>
            </a:endParaRPr>
          </a:p>
          <a:p>
            <a:pPr>
              <a:spcAft>
                <a:spcPts val="600"/>
              </a:spcAft>
              <a:buSzPct val="100000"/>
            </a:pPr>
            <a:r>
              <a:rPr lang="en-US" dirty="0">
                <a:solidFill>
                  <a:schemeClr val="accent1"/>
                </a:solidFill>
              </a:rPr>
              <a:t>The filler cap on the power-steering pump normally has a </a:t>
            </a:r>
            <a:r>
              <a:rPr lang="en-US">
                <a:solidFill>
                  <a:schemeClr val="accent1"/>
                </a:solidFill>
              </a:rPr>
              <a:t>dipstick.</a:t>
            </a:r>
            <a:endParaRPr lang="en-US" dirty="0">
              <a:solidFill>
                <a:schemeClr val="accent1"/>
              </a:solidFill>
            </a:endParaRPr>
          </a:p>
          <a:p>
            <a:pPr>
              <a:spcAft>
                <a:spcPts val="600"/>
              </a:spcAft>
              <a:buSzPct val="100000"/>
            </a:pPr>
            <a:r>
              <a:rPr lang="en-US" dirty="0">
                <a:solidFill>
                  <a:schemeClr val="accent1"/>
                </a:solidFill>
              </a:rPr>
              <a:t>Unscrew the cap and check the level.</a:t>
            </a:r>
          </a:p>
          <a:p>
            <a:pPr lvl="1">
              <a:spcAft>
                <a:spcPts val="600"/>
              </a:spcAft>
              <a:buSzPct val="100000"/>
            </a:pPr>
            <a:r>
              <a:rPr lang="en-US" dirty="0">
                <a:solidFill>
                  <a:schemeClr val="accent1"/>
                </a:solidFill>
              </a:rPr>
              <a:t>Add fluid as necessary.</a:t>
            </a:r>
          </a:p>
        </p:txBody>
      </p:sp>
      <p:pic>
        <p:nvPicPr>
          <p:cNvPr id="8" name="Picture Placeholder 7" descr="A close-up view of a technician holding a filler cap labeled Power steering under an open power-steering pump.">
            <a:extLst>
              <a:ext uri="{FF2B5EF4-FFF2-40B4-BE49-F238E27FC236}">
                <a16:creationId xmlns:a16="http://schemas.microsoft.com/office/drawing/2014/main" id="{3C44320D-22D6-2DC4-CCA9-52E35CBDB27A}"/>
              </a:ext>
            </a:extLst>
          </p:cNvPr>
          <p:cNvPicPr>
            <a:picLocks noGrp="1" noChangeAspect="1"/>
          </p:cNvPicPr>
          <p:nvPr>
            <p:ph type="pic" sz="quarter" idx="11"/>
          </p:nvPr>
        </p:nvPicPr>
        <p:blipFill>
          <a:blip r:embed="rId3"/>
          <a:srcRect b="10956"/>
          <a:stretch/>
        </p:blipFill>
        <p:spPr>
          <a:xfrm>
            <a:off x="7904625" y="1763917"/>
            <a:ext cx="3810532" cy="3659421"/>
          </a:xfrm>
          <a:prstGeom prst="rect">
            <a:avLst/>
          </a:prstGeom>
        </p:spPr>
      </p:pic>
    </p:spTree>
    <p:extLst>
      <p:ext uri="{BB962C8B-B14F-4D97-AF65-F5344CB8AC3E}">
        <p14:creationId xmlns:p14="http://schemas.microsoft.com/office/powerpoint/2010/main" val="15870089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sz="4000" dirty="0"/>
              <a:t>Brake Fluid (1 of </a:t>
            </a:r>
            <a:r>
              <a:rPr lang="en-US" sz="4000"/>
              <a:t>2)</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a:xfrm>
            <a:off x="476843" y="1563625"/>
            <a:ext cx="7395405" cy="4574416"/>
          </a:xfrm>
        </p:spPr>
        <p:txBody>
          <a:bodyPr/>
          <a:lstStyle/>
          <a:p>
            <a:pPr>
              <a:spcAft>
                <a:spcPts val="600"/>
              </a:spcAft>
              <a:buSzPct val="100000"/>
            </a:pPr>
            <a:r>
              <a:rPr lang="en-US" sz="1800" dirty="0">
                <a:solidFill>
                  <a:schemeClr val="accent1"/>
                </a:solidFill>
              </a:rPr>
              <a:t>Brake fluid levels are checked at the master </a:t>
            </a:r>
            <a:r>
              <a:rPr lang="en-US" sz="1800">
                <a:solidFill>
                  <a:schemeClr val="accent1"/>
                </a:solidFill>
              </a:rPr>
              <a:t>cylinder.</a:t>
            </a:r>
            <a:endParaRPr lang="en-US" sz="1800" dirty="0">
              <a:solidFill>
                <a:schemeClr val="accent1"/>
              </a:solidFill>
            </a:endParaRPr>
          </a:p>
          <a:p>
            <a:pPr>
              <a:spcAft>
                <a:spcPts val="600"/>
              </a:spcAft>
              <a:buSzPct val="100000"/>
            </a:pPr>
            <a:r>
              <a:rPr lang="en-US" sz="1800" dirty="0">
                <a:solidFill>
                  <a:schemeClr val="accent1"/>
                </a:solidFill>
              </a:rPr>
              <a:t>Most new plastic reservoirs are translucent and allow the fluid level to be observed from the outside.</a:t>
            </a:r>
          </a:p>
          <a:p>
            <a:pPr>
              <a:spcAft>
                <a:spcPts val="600"/>
              </a:spcAft>
              <a:buSzPct val="100000"/>
            </a:pPr>
            <a:r>
              <a:rPr lang="en-US" sz="1800" dirty="0">
                <a:solidFill>
                  <a:schemeClr val="accent1"/>
                </a:solidFill>
              </a:rPr>
              <a:t>Do not open the master cylinder reservoir unnecessarily as this allows air and moisture to contact the brake fluid. While checking the fluid level, look at the color of the </a:t>
            </a:r>
            <a:r>
              <a:rPr lang="en-US" sz="1800">
                <a:solidFill>
                  <a:schemeClr val="accent1"/>
                </a:solidFill>
              </a:rPr>
              <a:t>fluid.</a:t>
            </a:r>
            <a:endParaRPr lang="en-US" sz="1800" dirty="0">
              <a:solidFill>
                <a:schemeClr val="accent1"/>
              </a:solidFill>
            </a:endParaRPr>
          </a:p>
          <a:p>
            <a:pPr>
              <a:spcAft>
                <a:spcPts val="600"/>
              </a:spcAft>
              <a:buSzPct val="100000"/>
            </a:pPr>
            <a:r>
              <a:rPr lang="en-US" sz="1800" dirty="0">
                <a:solidFill>
                  <a:schemeClr val="accent1"/>
                </a:solidFill>
              </a:rPr>
              <a:t>Brake fluid tends to absorb moisture, and its color gives clues as to the moisture content of the </a:t>
            </a:r>
            <a:r>
              <a:rPr lang="en-US" sz="1800">
                <a:solidFill>
                  <a:schemeClr val="accent1"/>
                </a:solidFill>
              </a:rPr>
              <a:t>fluid.</a:t>
            </a:r>
            <a:endParaRPr lang="en-US" sz="1800" dirty="0">
              <a:solidFill>
                <a:schemeClr val="accent1"/>
              </a:solidFill>
            </a:endParaRPr>
          </a:p>
          <a:p>
            <a:pPr>
              <a:spcAft>
                <a:spcPts val="600"/>
              </a:spcAft>
              <a:buSzPct val="100000"/>
            </a:pPr>
            <a:r>
              <a:rPr lang="en-US" sz="1800" dirty="0">
                <a:solidFill>
                  <a:schemeClr val="accent1"/>
                </a:solidFill>
              </a:rPr>
              <a:t>Dark- or brown-colored fluid indicates contamination, and the system may need to be flushed and the fluid </a:t>
            </a:r>
            <a:r>
              <a:rPr lang="en-US" sz="1800">
                <a:solidFill>
                  <a:schemeClr val="accent1"/>
                </a:solidFill>
              </a:rPr>
              <a:t>replaced.</a:t>
            </a:r>
            <a:endParaRPr lang="en-US" sz="1800" dirty="0">
              <a:solidFill>
                <a:schemeClr val="accent1"/>
              </a:solidFill>
            </a:endParaRPr>
          </a:p>
          <a:p>
            <a:pPr>
              <a:spcAft>
                <a:spcPts val="600"/>
              </a:spcAft>
              <a:buSzPct val="100000"/>
            </a:pPr>
            <a:r>
              <a:rPr lang="en-US" sz="1800" dirty="0">
                <a:solidFill>
                  <a:schemeClr val="accent1"/>
                </a:solidFill>
              </a:rPr>
              <a:t>When it is necessary to add brake fluid, make sure the fluid is the correct type and is fresh and </a:t>
            </a:r>
            <a:r>
              <a:rPr lang="en-US" sz="1800">
                <a:solidFill>
                  <a:schemeClr val="accent1"/>
                </a:solidFill>
              </a:rPr>
              <a:t>clean.</a:t>
            </a:r>
            <a:endParaRPr lang="en-US" sz="1800" dirty="0">
              <a:solidFill>
                <a:schemeClr val="accent1"/>
              </a:solidFill>
            </a:endParaRPr>
          </a:p>
        </p:txBody>
      </p:sp>
      <p:pic>
        <p:nvPicPr>
          <p:cNvPr id="8" name="Picture Placeholder 7" descr="A fully-filled translucent brake fluid reservoir.">
            <a:extLst>
              <a:ext uri="{FF2B5EF4-FFF2-40B4-BE49-F238E27FC236}">
                <a16:creationId xmlns:a16="http://schemas.microsoft.com/office/drawing/2014/main" id="{219AFB0F-3A0F-7C5C-BFEA-0109A7332572}"/>
              </a:ext>
            </a:extLst>
          </p:cNvPr>
          <p:cNvPicPr>
            <a:picLocks noGrp="1" noChangeAspect="1"/>
          </p:cNvPicPr>
          <p:nvPr>
            <p:ph type="pic" sz="quarter" idx="11"/>
          </p:nvPr>
        </p:nvPicPr>
        <p:blipFill>
          <a:blip r:embed="rId3"/>
          <a:srcRect b="11346"/>
          <a:stretch/>
        </p:blipFill>
        <p:spPr>
          <a:xfrm>
            <a:off x="7801799" y="2115799"/>
            <a:ext cx="4139623" cy="3178576"/>
          </a:xfrm>
          <a:prstGeom prst="rect">
            <a:avLst/>
          </a:prstGeom>
        </p:spPr>
      </p:pic>
    </p:spTree>
    <p:extLst>
      <p:ext uri="{BB962C8B-B14F-4D97-AF65-F5344CB8AC3E}">
        <p14:creationId xmlns:p14="http://schemas.microsoft.com/office/powerpoint/2010/main" val="25303125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sz="4000" dirty="0"/>
              <a:t>Brake Fluid (2 of </a:t>
            </a:r>
            <a:r>
              <a:rPr lang="en-US" sz="4000"/>
              <a:t>2)</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a:xfrm>
            <a:off x="476844" y="1563624"/>
            <a:ext cx="7405916" cy="4532375"/>
          </a:xfrm>
        </p:spPr>
        <p:txBody>
          <a:bodyPr/>
          <a:lstStyle/>
          <a:p>
            <a:pPr>
              <a:buSzPct val="100000"/>
            </a:pPr>
            <a:r>
              <a:rPr lang="en-US" sz="2000" dirty="0"/>
              <a:t>There are currently four general types of brake </a:t>
            </a:r>
            <a:r>
              <a:rPr lang="en-US" sz="2000"/>
              <a:t>fluids:</a:t>
            </a:r>
            <a:endParaRPr lang="en-US" sz="2000" dirty="0"/>
          </a:p>
          <a:p>
            <a:pPr lvl="1">
              <a:buSzPct val="100000"/>
            </a:pPr>
            <a:r>
              <a:rPr lang="en-US" sz="1800" dirty="0"/>
              <a:t>DOT 3</a:t>
            </a:r>
          </a:p>
          <a:p>
            <a:pPr lvl="1">
              <a:buSzPct val="100000"/>
            </a:pPr>
            <a:r>
              <a:rPr lang="en-US" sz="1800" dirty="0"/>
              <a:t>DOT 4</a:t>
            </a:r>
          </a:p>
          <a:p>
            <a:pPr lvl="1">
              <a:buSzPct val="100000"/>
            </a:pPr>
            <a:r>
              <a:rPr lang="en-US" sz="1800" dirty="0"/>
              <a:t>DOT 5</a:t>
            </a:r>
          </a:p>
          <a:p>
            <a:pPr lvl="1">
              <a:buSzPct val="100000"/>
            </a:pPr>
            <a:r>
              <a:rPr lang="en-US" sz="1800"/>
              <a:t>DOT 5.1</a:t>
            </a:r>
            <a:endParaRPr lang="en-US" sz="1800" dirty="0"/>
          </a:p>
          <a:p>
            <a:pPr>
              <a:buSzPct val="100000"/>
            </a:pPr>
            <a:r>
              <a:rPr lang="en-US" sz="2000" dirty="0"/>
              <a:t>DOT 3, DOT 4, and DOT 5.1 </a:t>
            </a:r>
            <a:r>
              <a:rPr lang="en-US" sz="2000"/>
              <a:t>fluids are </a:t>
            </a:r>
            <a:r>
              <a:rPr lang="en-US" sz="2000" dirty="0" err="1"/>
              <a:t>polyalkyleneglycol</a:t>
            </a:r>
            <a:r>
              <a:rPr lang="en-US" sz="2000" dirty="0"/>
              <a:t>-ether mixtures, called “</a:t>
            </a:r>
            <a:r>
              <a:rPr lang="en-US" sz="2000" b="1" dirty="0"/>
              <a:t>polyglycol</a:t>
            </a:r>
            <a:r>
              <a:rPr lang="en-US" sz="2000" dirty="0"/>
              <a:t>” for short. The color of both DOT 3 and DOT 4 fluid ranges from clear to light </a:t>
            </a:r>
            <a:r>
              <a:rPr lang="en-US" sz="2000"/>
              <a:t>amber.</a:t>
            </a:r>
            <a:endParaRPr lang="en-US" sz="2000" dirty="0"/>
          </a:p>
          <a:p>
            <a:pPr>
              <a:buSzPct val="100000"/>
            </a:pPr>
            <a:r>
              <a:rPr lang="en-US" sz="2000" dirty="0"/>
              <a:t>DOT 5 is silicone based and is not compatible with the other </a:t>
            </a:r>
            <a:r>
              <a:rPr lang="en-US" sz="2000"/>
              <a:t>fluids.</a:t>
            </a:r>
            <a:endParaRPr lang="en-US" sz="2000" dirty="0"/>
          </a:p>
          <a:p>
            <a:pPr>
              <a:buSzPct val="100000"/>
            </a:pPr>
            <a:r>
              <a:rPr lang="en-US" sz="2000" dirty="0"/>
              <a:t>DOT 5.1 is chemically similar to DOT 3 and 4 and is technically </a:t>
            </a:r>
            <a:r>
              <a:rPr lang="en-US" sz="2000"/>
              <a:t>compatible.</a:t>
            </a:r>
            <a:endParaRPr lang="en-US" sz="2000" dirty="0"/>
          </a:p>
        </p:txBody>
      </p:sp>
      <p:pic>
        <p:nvPicPr>
          <p:cNvPr id="8" name="Picture Placeholder 7" descr="Three Johnen’s brake fluid containers. The containers are labeled Heavy Duty DOT 3 Brake Fluid, Premium DOT 4 Brake Fluid, and Silicone DOT 5 Brake Fluid."/>
          <p:cNvPicPr>
            <a:picLocks noGrp="1" noChangeAspect="1"/>
          </p:cNvPicPr>
          <p:nvPr>
            <p:ph type="pic" sz="quarter" idx="11"/>
          </p:nvPr>
        </p:nvPicPr>
        <p:blipFill>
          <a:blip r:embed="rId3"/>
          <a:srcRect b="11857"/>
          <a:stretch/>
        </p:blipFill>
        <p:spPr>
          <a:xfrm>
            <a:off x="7830571" y="2032352"/>
            <a:ext cx="4069567" cy="3117717"/>
          </a:xfrm>
          <a:prstGeom prst="rect">
            <a:avLst/>
          </a:prstGeom>
        </p:spPr>
      </p:pic>
    </p:spTree>
    <p:extLst>
      <p:ext uri="{BB962C8B-B14F-4D97-AF65-F5344CB8AC3E}">
        <p14:creationId xmlns:p14="http://schemas.microsoft.com/office/powerpoint/2010/main" val="42053100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dirty="0"/>
              <a:t>Diesel </a:t>
            </a:r>
            <a:r>
              <a:rPr lang="en-US"/>
              <a:t>Exhaust </a:t>
            </a:r>
            <a:r>
              <a:rPr lang="en-US" sz="4000"/>
              <a:t>Fluid</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p:txBody>
          <a:bodyPr/>
          <a:lstStyle/>
          <a:p>
            <a:pPr>
              <a:spcAft>
                <a:spcPts val="600"/>
              </a:spcAft>
              <a:buSzPct val="100000"/>
            </a:pPr>
            <a:r>
              <a:rPr lang="en-US" sz="2400" dirty="0">
                <a:solidFill>
                  <a:schemeClr val="accent1"/>
                </a:solidFill>
              </a:rPr>
              <a:t>Newer diesel engine vehicles use a special diesel exhaust fluid (DEF) made of 33 percent urea and 67 percent pure deionized </a:t>
            </a:r>
            <a:r>
              <a:rPr lang="en-US" sz="2400">
                <a:solidFill>
                  <a:schemeClr val="accent1"/>
                </a:solidFill>
              </a:rPr>
              <a:t>water.</a:t>
            </a:r>
            <a:endParaRPr lang="en-US" sz="2400" dirty="0">
              <a:solidFill>
                <a:schemeClr val="accent1"/>
              </a:solidFill>
            </a:endParaRPr>
          </a:p>
          <a:p>
            <a:pPr>
              <a:spcAft>
                <a:spcPts val="600"/>
              </a:spcAft>
              <a:buSzPct val="100000"/>
            </a:pPr>
            <a:r>
              <a:rPr lang="en-US" sz="2400" dirty="0">
                <a:solidFill>
                  <a:schemeClr val="accent1"/>
                </a:solidFill>
              </a:rPr>
              <a:t>This mixture is stored in a tank and is injected into the diesel exhaust after-treatment system to reduce NOx </a:t>
            </a:r>
            <a:r>
              <a:rPr lang="en-US" sz="2400">
                <a:solidFill>
                  <a:schemeClr val="accent1"/>
                </a:solidFill>
              </a:rPr>
              <a:t>emissions.</a:t>
            </a:r>
            <a:endParaRPr lang="en-US" sz="2400" dirty="0">
              <a:solidFill>
                <a:schemeClr val="accent1"/>
              </a:solidFill>
            </a:endParaRPr>
          </a:p>
          <a:p>
            <a:pPr>
              <a:spcAft>
                <a:spcPts val="600"/>
              </a:spcAft>
              <a:buSzPct val="100000"/>
            </a:pPr>
            <a:r>
              <a:rPr lang="en-US" sz="2400" dirty="0">
                <a:solidFill>
                  <a:schemeClr val="accent1"/>
                </a:solidFill>
              </a:rPr>
              <a:t>How often the tank needs to be filled depends on the vehicle’s operating conditions.</a:t>
            </a:r>
          </a:p>
          <a:p>
            <a:pPr>
              <a:spcAft>
                <a:spcPts val="600"/>
              </a:spcAft>
              <a:buSzPct val="100000"/>
            </a:pPr>
            <a:r>
              <a:rPr lang="en-US" sz="2400" dirty="0">
                <a:solidFill>
                  <a:schemeClr val="accent1"/>
                </a:solidFill>
              </a:rPr>
              <a:t>If the tank runs out, the on-board computer system will limit engine and vehicle speed until the tank is refilled.</a:t>
            </a:r>
          </a:p>
          <a:p>
            <a:pPr>
              <a:spcAft>
                <a:spcPts val="600"/>
              </a:spcAft>
              <a:buSzPct val="100000"/>
            </a:pPr>
            <a:r>
              <a:rPr lang="en-US" sz="2400" dirty="0">
                <a:solidFill>
                  <a:schemeClr val="accent1"/>
                </a:solidFill>
              </a:rPr>
              <a:t>Fluid tanks are filled either under the hood or through a filler neck near the diesel fuel </a:t>
            </a:r>
            <a:r>
              <a:rPr lang="en-US" sz="2400">
                <a:solidFill>
                  <a:schemeClr val="accent1"/>
                </a:solidFill>
              </a:rPr>
              <a:t>cap.</a:t>
            </a:r>
            <a:endParaRPr lang="en-US" sz="2400" dirty="0">
              <a:solidFill>
                <a:schemeClr val="accent1"/>
              </a:solidFill>
            </a:endParaRPr>
          </a:p>
        </p:txBody>
      </p:sp>
    </p:spTree>
    <p:extLst>
      <p:ext uri="{BB962C8B-B14F-4D97-AF65-F5344CB8AC3E}">
        <p14:creationId xmlns:p14="http://schemas.microsoft.com/office/powerpoint/2010/main" val="31286649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sz="4000"/>
              <a:t>Windshield Wipers</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a:xfrm>
            <a:off x="476844" y="1563625"/>
            <a:ext cx="6724056" cy="4553396"/>
          </a:xfrm>
        </p:spPr>
        <p:txBody>
          <a:bodyPr/>
          <a:lstStyle/>
          <a:p>
            <a:pPr>
              <a:buSzPct val="100000"/>
            </a:pPr>
            <a:r>
              <a:rPr lang="en-US" sz="2000" dirty="0">
                <a:solidFill>
                  <a:schemeClr val="accent1"/>
                </a:solidFill>
              </a:rPr>
              <a:t>Wiper blades can become dull, torn, or brittle; if they are, they should be replaced.</a:t>
            </a:r>
          </a:p>
          <a:p>
            <a:pPr>
              <a:buSzPct val="100000"/>
            </a:pPr>
            <a:r>
              <a:rPr lang="en-US" sz="2000" dirty="0">
                <a:solidFill>
                  <a:schemeClr val="accent1"/>
                </a:solidFill>
              </a:rPr>
              <a:t>Check the condition of the wiper arms, looking for signs of distortion or damage.</a:t>
            </a:r>
          </a:p>
          <a:p>
            <a:pPr>
              <a:buSzPct val="100000"/>
            </a:pPr>
            <a:r>
              <a:rPr lang="en-US" sz="2000" dirty="0">
                <a:solidFill>
                  <a:schemeClr val="accent1"/>
                </a:solidFill>
              </a:rPr>
              <a:t>Check the spring on the arm. This spring is designed to keep the wiper blade fairly tight against the windshield. If the spring is weak or damaged, the blade will not do a respectable job cleaning the glass.</a:t>
            </a:r>
          </a:p>
          <a:p>
            <a:pPr>
              <a:buSzPct val="100000"/>
            </a:pPr>
            <a:r>
              <a:rPr lang="en-US" sz="2000" dirty="0">
                <a:solidFill>
                  <a:schemeClr val="accent1"/>
                </a:solidFill>
              </a:rPr>
              <a:t>Most wiper blade assemblies have replaceable blades or inserts.</a:t>
            </a:r>
          </a:p>
          <a:p>
            <a:pPr>
              <a:buSzPct val="100000"/>
            </a:pPr>
            <a:r>
              <a:rPr lang="en-US" sz="2000" dirty="0">
                <a:solidFill>
                  <a:schemeClr val="accent1"/>
                </a:solidFill>
              </a:rPr>
              <a:t>When servicing, be very careful not to damage the glass windshield.</a:t>
            </a:r>
          </a:p>
        </p:txBody>
      </p:sp>
      <p:pic>
        <p:nvPicPr>
          <p:cNvPr id="8" name="Picture Placeholder 7" descr="Three wiper inserts with refills. In the first, the wiper blades are in a slightly raised position. A small holder-like structure labeled push-button refill is labeled below the blade assembly. A push button is on the left corner of the blade assembly. In the second, the wiper blades are in a flattened position. A clamp-like structure labeled end clip refill with three arrows, two arrows pointing toward it and one arrow away from it is depicted below the blade assembly. In the third, a pair of wiper blades with clamps. A clamp-like structure labeled notched flexor refill coin removal is labeled below the blade assembly. It has a hole containing a coin underneath a spring catch at the end.">
            <a:extLst>
              <a:ext uri="{FF2B5EF4-FFF2-40B4-BE49-F238E27FC236}">
                <a16:creationId xmlns:a16="http://schemas.microsoft.com/office/drawing/2014/main" id="{722C8AE9-9291-3311-3C2C-4C07BAB9E6C7}"/>
              </a:ext>
            </a:extLst>
          </p:cNvPr>
          <p:cNvPicPr>
            <a:picLocks noGrp="1" noChangeAspect="1"/>
          </p:cNvPicPr>
          <p:nvPr>
            <p:ph type="pic" sz="quarter" idx="11"/>
          </p:nvPr>
        </p:nvPicPr>
        <p:blipFill>
          <a:blip r:embed="rId3"/>
          <a:srcRect b="13081"/>
          <a:stretch/>
        </p:blipFill>
        <p:spPr>
          <a:xfrm>
            <a:off x="7767951" y="2150072"/>
            <a:ext cx="3779040" cy="3380501"/>
          </a:xfrm>
          <a:prstGeom prst="rect">
            <a:avLst/>
          </a:prstGeom>
        </p:spPr>
      </p:pic>
    </p:spTree>
    <p:extLst>
      <p:ext uri="{BB962C8B-B14F-4D97-AF65-F5344CB8AC3E}">
        <p14:creationId xmlns:p14="http://schemas.microsoft.com/office/powerpoint/2010/main" val="22096089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sz="4000" dirty="0"/>
              <a:t>Tires (1 of </a:t>
            </a:r>
            <a:r>
              <a:rPr lang="en-US" sz="4000"/>
              <a:t>3)</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a:xfrm>
            <a:off x="476844" y="1563625"/>
            <a:ext cx="7910412" cy="4416824"/>
          </a:xfrm>
        </p:spPr>
        <p:txBody>
          <a:bodyPr/>
          <a:lstStyle/>
          <a:p>
            <a:pPr>
              <a:spcAft>
                <a:spcPts val="600"/>
              </a:spcAft>
              <a:buSzPct val="100000"/>
            </a:pPr>
            <a:r>
              <a:rPr lang="en-US" sz="2200" dirty="0"/>
              <a:t>The vehicle’s tires should be checked for damage and </a:t>
            </a:r>
            <a:r>
              <a:rPr lang="en-US" sz="2200"/>
              <a:t>wear.</a:t>
            </a:r>
            <a:endParaRPr lang="en-US" sz="2200" dirty="0"/>
          </a:p>
          <a:p>
            <a:pPr>
              <a:spcAft>
                <a:spcPts val="600"/>
              </a:spcAft>
              <a:buSzPct val="100000"/>
            </a:pPr>
            <a:r>
              <a:rPr lang="en-US" sz="2200" dirty="0"/>
              <a:t>Tires should have at least 1/16-inch (2/32nds) of tread </a:t>
            </a:r>
            <a:r>
              <a:rPr lang="en-US" sz="2200"/>
              <a:t>remaining.</a:t>
            </a:r>
            <a:endParaRPr lang="en-US" sz="2200" dirty="0"/>
          </a:p>
          <a:p>
            <a:pPr>
              <a:spcAft>
                <a:spcPts val="600"/>
              </a:spcAft>
              <a:buSzPct val="100000"/>
            </a:pPr>
            <a:r>
              <a:rPr lang="en-US" sz="2200" dirty="0"/>
              <a:t>Any less and the tire should be </a:t>
            </a:r>
            <a:r>
              <a:rPr lang="en-US" sz="2200"/>
              <a:t>replaced.</a:t>
            </a:r>
            <a:endParaRPr lang="en-US" sz="2200" dirty="0"/>
          </a:p>
          <a:p>
            <a:pPr>
              <a:spcAft>
                <a:spcPts val="600"/>
              </a:spcAft>
              <a:buSzPct val="100000"/>
            </a:pPr>
            <a:r>
              <a:rPr lang="en-US" sz="2200" dirty="0"/>
              <a:t>Tires have “tread wear indicators” molded into </a:t>
            </a:r>
            <a:r>
              <a:rPr lang="en-US" sz="2200"/>
              <a:t>them.</a:t>
            </a:r>
            <a:endParaRPr lang="en-US" sz="2200" dirty="0"/>
          </a:p>
          <a:p>
            <a:pPr>
              <a:spcAft>
                <a:spcPts val="600"/>
              </a:spcAft>
              <a:buSzPct val="100000"/>
            </a:pPr>
            <a:r>
              <a:rPr lang="en-US" sz="2200" dirty="0"/>
              <a:t>When the wear bar shows across the width of the tread, the tire is excessively </a:t>
            </a:r>
            <a:r>
              <a:rPr lang="en-US" sz="2200"/>
              <a:t>worn.</a:t>
            </a:r>
            <a:endParaRPr lang="en-US" sz="2200" dirty="0"/>
          </a:p>
          <a:p>
            <a:pPr>
              <a:spcAft>
                <a:spcPts val="600"/>
              </a:spcAft>
              <a:buSzPct val="100000"/>
            </a:pPr>
            <a:r>
              <a:rPr lang="en-US" sz="2200" dirty="0"/>
              <a:t>A tire wear gauge gives an accurate measurement of the tread depth.</a:t>
            </a:r>
          </a:p>
        </p:txBody>
      </p:sp>
      <p:pic>
        <p:nvPicPr>
          <p:cNvPr id="8" name="Picture Placeholder 7" descr="A gauge in the form of a cylinder with an indicator bar on top and a probe on bottom. The indicator bar has numerical markings.">
            <a:extLst>
              <a:ext uri="{FF2B5EF4-FFF2-40B4-BE49-F238E27FC236}">
                <a16:creationId xmlns:a16="http://schemas.microsoft.com/office/drawing/2014/main" id="{19410115-127B-183A-C414-8293DA0C79A8}"/>
              </a:ext>
            </a:extLst>
          </p:cNvPr>
          <p:cNvPicPr>
            <a:picLocks noGrp="1" noChangeAspect="1"/>
          </p:cNvPicPr>
          <p:nvPr>
            <p:ph type="pic" sz="quarter" idx="11"/>
          </p:nvPr>
        </p:nvPicPr>
        <p:blipFill>
          <a:blip r:embed="rId3"/>
          <a:srcRect b="3718"/>
          <a:stretch/>
        </p:blipFill>
        <p:spPr>
          <a:xfrm>
            <a:off x="8600861" y="1739354"/>
            <a:ext cx="2748009" cy="4083377"/>
          </a:xfrm>
          <a:prstGeom prst="rect">
            <a:avLst/>
          </a:prstGeom>
        </p:spPr>
      </p:pic>
    </p:spTree>
    <p:extLst>
      <p:ext uri="{BB962C8B-B14F-4D97-AF65-F5344CB8AC3E}">
        <p14:creationId xmlns:p14="http://schemas.microsoft.com/office/powerpoint/2010/main" val="22645468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sz="4000" dirty="0"/>
              <a:t>Tires (2 of </a:t>
            </a:r>
            <a:r>
              <a:rPr lang="en-US" sz="4000"/>
              <a:t>3)</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a:xfrm>
            <a:off x="476842" y="1563625"/>
            <a:ext cx="7397158" cy="4563906"/>
          </a:xfrm>
        </p:spPr>
        <p:txBody>
          <a:bodyPr/>
          <a:lstStyle/>
          <a:p>
            <a:pPr>
              <a:buSzPct val="100000"/>
            </a:pPr>
            <a:r>
              <a:rPr lang="en-US" sz="1800" dirty="0">
                <a:solidFill>
                  <a:schemeClr val="accent1"/>
                </a:solidFill>
              </a:rPr>
              <a:t>Check the inflation of the tires.</a:t>
            </a:r>
          </a:p>
          <a:p>
            <a:pPr>
              <a:buSzPct val="100000"/>
            </a:pPr>
            <a:r>
              <a:rPr lang="en-US" sz="1800" dirty="0">
                <a:solidFill>
                  <a:schemeClr val="accent1"/>
                </a:solidFill>
              </a:rPr>
              <a:t>Press the gauge firmly onto the tire’s valve stem, the air pressure in the tire will push the scale out of the tool, and the highest number shown on the scale is the air pressure of the tire.</a:t>
            </a:r>
          </a:p>
          <a:p>
            <a:pPr>
              <a:buSzPct val="100000"/>
            </a:pPr>
            <a:r>
              <a:rPr lang="en-US" sz="1800" dirty="0">
                <a:solidFill>
                  <a:schemeClr val="accent1"/>
                </a:solidFill>
              </a:rPr>
              <a:t>Compare this reading with the specifications for the tire.</a:t>
            </a:r>
          </a:p>
          <a:p>
            <a:pPr>
              <a:buSzPct val="100000"/>
            </a:pPr>
            <a:r>
              <a:rPr lang="en-US" sz="1800" dirty="0">
                <a:solidFill>
                  <a:schemeClr val="accent1"/>
                </a:solidFill>
              </a:rPr>
              <a:t>The correct tire pressure is listed in the vehicle’s owner’s manual or on a decal (placard) stuck on the driver’s doorjamb.</a:t>
            </a:r>
          </a:p>
          <a:p>
            <a:pPr>
              <a:buSzPct val="100000"/>
            </a:pPr>
            <a:r>
              <a:rPr lang="en-US" sz="1800" dirty="0">
                <a:solidFill>
                  <a:schemeClr val="accent1"/>
                </a:solidFill>
              </a:rPr>
              <a:t>The air pressure rating on the tire is not the amount of pressure the tire should have. Rather this rating is the maximum pressure the tire should ever have when it is cold.</a:t>
            </a:r>
          </a:p>
          <a:p>
            <a:pPr>
              <a:buSzPct val="100000"/>
            </a:pPr>
            <a:r>
              <a:rPr lang="en-US" sz="1800" dirty="0">
                <a:solidFill>
                  <a:schemeClr val="accent1"/>
                </a:solidFill>
              </a:rPr>
              <a:t>Vehicles built since 2010 are fitted with tire pressure monitoring systems (TPMS).</a:t>
            </a:r>
          </a:p>
        </p:txBody>
      </p:sp>
      <p:pic>
        <p:nvPicPr>
          <p:cNvPr id="8" name="Picture Placeholder 7" descr="A technician uses a tire pressure gauge to check the air pressure of the tire.">
            <a:extLst>
              <a:ext uri="{FF2B5EF4-FFF2-40B4-BE49-F238E27FC236}">
                <a16:creationId xmlns:a16="http://schemas.microsoft.com/office/drawing/2014/main" id="{1EE0D2DA-C21E-1108-51CB-EEF236CCCBFE}"/>
              </a:ext>
            </a:extLst>
          </p:cNvPr>
          <p:cNvPicPr>
            <a:picLocks noGrp="1" noChangeAspect="1"/>
          </p:cNvPicPr>
          <p:nvPr>
            <p:ph type="pic" sz="quarter" idx="11"/>
          </p:nvPr>
        </p:nvPicPr>
        <p:blipFill>
          <a:blip r:embed="rId3"/>
          <a:srcRect b="11453"/>
          <a:stretch/>
        </p:blipFill>
        <p:spPr>
          <a:xfrm>
            <a:off x="7907760" y="1996396"/>
            <a:ext cx="3865643" cy="2865209"/>
          </a:xfrm>
          <a:prstGeom prst="rect">
            <a:avLst/>
          </a:prstGeom>
        </p:spPr>
      </p:pic>
    </p:spTree>
    <p:extLst>
      <p:ext uri="{BB962C8B-B14F-4D97-AF65-F5344CB8AC3E}">
        <p14:creationId xmlns:p14="http://schemas.microsoft.com/office/powerpoint/2010/main" val="28792005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sz="4000" dirty="0"/>
              <a:t>Tires (3 of </a:t>
            </a:r>
            <a:r>
              <a:rPr lang="en-US" sz="4000"/>
              <a:t>3)</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a:xfrm>
            <a:off x="476843" y="1563625"/>
            <a:ext cx="6785805" cy="4500844"/>
          </a:xfrm>
        </p:spPr>
        <p:txBody>
          <a:bodyPr/>
          <a:lstStyle/>
          <a:p>
            <a:pPr>
              <a:spcAft>
                <a:spcPts val="600"/>
              </a:spcAft>
              <a:buSzPct val="100000"/>
            </a:pPr>
            <a:r>
              <a:rPr lang="en-US" sz="2400" dirty="0"/>
              <a:t>Tire Rotation</a:t>
            </a:r>
          </a:p>
          <a:p>
            <a:pPr lvl="1">
              <a:spcAft>
                <a:spcPts val="600"/>
              </a:spcAft>
              <a:buSzPct val="100000"/>
            </a:pPr>
            <a:r>
              <a:rPr lang="en-US" sz="2200" dirty="0"/>
              <a:t>To equalize tire wear, most car and tire manufacturers recommend that the tires be rotated.</a:t>
            </a:r>
          </a:p>
          <a:p>
            <a:pPr lvl="1">
              <a:spcAft>
                <a:spcPts val="600"/>
              </a:spcAft>
              <a:buSzPct val="100000"/>
            </a:pPr>
            <a:r>
              <a:rPr lang="en-US" sz="2200" dirty="0"/>
              <a:t>Front and rear tires perform different jobs and can wear differently.</a:t>
            </a:r>
          </a:p>
          <a:p>
            <a:pPr lvl="1">
              <a:spcAft>
                <a:spcPts val="600"/>
              </a:spcAft>
              <a:buSzPct val="100000"/>
            </a:pPr>
            <a:r>
              <a:rPr lang="en-US" sz="2200" dirty="0"/>
              <a:t>To equalize wear, it is recommended that tires be rotated.</a:t>
            </a:r>
          </a:p>
          <a:p>
            <a:pPr lvl="1">
              <a:spcAft>
                <a:spcPts val="600"/>
              </a:spcAft>
              <a:buSzPct val="100000"/>
            </a:pPr>
            <a:r>
              <a:rPr lang="en-US" sz="2200" dirty="0"/>
              <a:t>Radial tires should be initially rotated at 7,500 miles and then at least every 15,000 miles thereafter.</a:t>
            </a:r>
          </a:p>
        </p:txBody>
      </p:sp>
      <p:pic>
        <p:nvPicPr>
          <p:cNvPr id="8" name="Picture Placeholder 7" descr="Two structures of Radial tires. The first structure labeled 5-wheel rotation, has the front wheels labeled L F, and R F, and the rear wheels labeled L R and R R. Another wheel is placed intersecting the rear wheels. An upward and a downward arrow is drawn between L F and L R. An upward arrow points from R R to R F, while a downward arrow points from R F to the fifth wheel. An arrow points from the fifth wheel to R R. The second structure labeled 4-wheel rotation also has the above arrangement but without the fifth wheel. Arrows point from L R to L F, L F to L R, and from R R to R F.">
            <a:extLst>
              <a:ext uri="{FF2B5EF4-FFF2-40B4-BE49-F238E27FC236}">
                <a16:creationId xmlns:a16="http://schemas.microsoft.com/office/drawing/2014/main" id="{A94FA22B-FD53-1B18-C9C4-6C25EC16BDD2}"/>
              </a:ext>
            </a:extLst>
          </p:cNvPr>
          <p:cNvPicPr>
            <a:picLocks noGrp="1" noChangeAspect="1"/>
          </p:cNvPicPr>
          <p:nvPr>
            <p:ph type="pic" sz="quarter" idx="11"/>
          </p:nvPr>
        </p:nvPicPr>
        <p:blipFill>
          <a:blip r:embed="rId3"/>
          <a:srcRect b="12382"/>
          <a:stretch/>
        </p:blipFill>
        <p:spPr>
          <a:xfrm>
            <a:off x="7409256" y="1964121"/>
            <a:ext cx="4305901" cy="2929759"/>
          </a:xfrm>
          <a:prstGeom prst="rect">
            <a:avLst/>
          </a:prstGeom>
        </p:spPr>
      </p:pic>
    </p:spTree>
    <p:extLst>
      <p:ext uri="{BB962C8B-B14F-4D97-AF65-F5344CB8AC3E}">
        <p14:creationId xmlns:p14="http://schemas.microsoft.com/office/powerpoint/2010/main" val="1104776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sz="4000"/>
              <a:t>Chassis Lubrication</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a:xfrm>
            <a:off x="476844" y="1563625"/>
            <a:ext cx="7237750" cy="4500844"/>
          </a:xfrm>
        </p:spPr>
        <p:txBody>
          <a:bodyPr/>
          <a:lstStyle/>
          <a:p>
            <a:pPr>
              <a:spcAft>
                <a:spcPts val="600"/>
              </a:spcAft>
              <a:buSzPct val="100000"/>
            </a:pPr>
            <a:r>
              <a:rPr lang="en-US" sz="1800" dirty="0"/>
              <a:t>A PM procedure that is becoming less common because of changing technology is chassis lubrication. however, all technicians should know how to do </a:t>
            </a:r>
            <a:r>
              <a:rPr lang="en-US" sz="1800"/>
              <a:t>this.</a:t>
            </a:r>
            <a:endParaRPr lang="en-US" sz="1800" dirty="0"/>
          </a:p>
          <a:p>
            <a:pPr>
              <a:spcAft>
                <a:spcPts val="600"/>
              </a:spcAft>
              <a:buSzPct val="100000"/>
            </a:pPr>
            <a:r>
              <a:rPr lang="en-US" sz="1800" dirty="0"/>
              <a:t>During the lubrication procedure, grease is forced between two surfaces that move or rub against each other. The grease reduces the friction produced by the movement of the </a:t>
            </a:r>
            <a:r>
              <a:rPr lang="en-US" sz="1800"/>
              <a:t>parts.</a:t>
            </a:r>
            <a:endParaRPr lang="en-US" sz="1800" dirty="0"/>
          </a:p>
          <a:p>
            <a:pPr>
              <a:spcAft>
                <a:spcPts val="600"/>
              </a:spcAft>
              <a:buSzPct val="100000"/>
            </a:pPr>
            <a:r>
              <a:rPr lang="en-US" sz="1800" dirty="0"/>
              <a:t>During a chassis lube, grease is forced into a pivot point or joint through a grease </a:t>
            </a:r>
            <a:r>
              <a:rPr lang="en-US" sz="1800"/>
              <a:t>fitting.</a:t>
            </a:r>
            <a:endParaRPr lang="en-US" sz="1800" dirty="0"/>
          </a:p>
          <a:p>
            <a:pPr>
              <a:spcAft>
                <a:spcPts val="600"/>
              </a:spcAft>
              <a:buSzPct val="100000"/>
            </a:pPr>
            <a:r>
              <a:rPr lang="en-US" sz="1800" dirty="0"/>
              <a:t>Grease fittings are found on steering and suspension parts, which need lubrication to prevent wear and noise caused by their action during vehicle operation. Grease fittings are called </a:t>
            </a:r>
            <a:r>
              <a:rPr lang="en-US" sz="1800" dirty="0" err="1"/>
              <a:t>zerk</a:t>
            </a:r>
            <a:r>
              <a:rPr lang="en-US" sz="1800" dirty="0"/>
              <a:t> fittings and are threaded into the part that should be </a:t>
            </a:r>
            <a:r>
              <a:rPr lang="en-US" sz="1800"/>
              <a:t>lubricated.</a:t>
            </a:r>
            <a:endParaRPr lang="en-US" sz="1800" dirty="0"/>
          </a:p>
        </p:txBody>
      </p:sp>
      <p:pic>
        <p:nvPicPr>
          <p:cNvPr id="8" name="Picture Placeholder 7" descr="A technician injecting lubrication with a grease gun into a joint in the wheel of a vehicle slightly elevated from the ground level.">
            <a:extLst>
              <a:ext uri="{FF2B5EF4-FFF2-40B4-BE49-F238E27FC236}">
                <a16:creationId xmlns:a16="http://schemas.microsoft.com/office/drawing/2014/main" id="{E35C2025-5F4B-EC80-954F-D7658463A3A3}"/>
              </a:ext>
            </a:extLst>
          </p:cNvPr>
          <p:cNvPicPr>
            <a:picLocks noGrp="1" noChangeAspect="1"/>
          </p:cNvPicPr>
          <p:nvPr>
            <p:ph type="pic" sz="quarter" idx="11"/>
          </p:nvPr>
        </p:nvPicPr>
        <p:blipFill>
          <a:blip r:embed="rId3"/>
          <a:srcRect b="13776"/>
          <a:stretch/>
        </p:blipFill>
        <p:spPr>
          <a:xfrm>
            <a:off x="7795541" y="2122235"/>
            <a:ext cx="3842024" cy="2613530"/>
          </a:xfrm>
          <a:prstGeom prst="rect">
            <a:avLst/>
          </a:prstGeom>
        </p:spPr>
      </p:pic>
    </p:spTree>
    <p:extLst>
      <p:ext uri="{BB962C8B-B14F-4D97-AF65-F5344CB8AC3E}">
        <p14:creationId xmlns:p14="http://schemas.microsoft.com/office/powerpoint/2010/main" val="42767336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dirty="0"/>
              <a:t>Greases</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a:xfrm>
            <a:off x="476844" y="1563624"/>
            <a:ext cx="6616288" cy="4445289"/>
          </a:xfrm>
        </p:spPr>
        <p:txBody>
          <a:bodyPr/>
          <a:lstStyle/>
          <a:p>
            <a:pPr>
              <a:spcAft>
                <a:spcPts val="600"/>
              </a:spcAft>
              <a:buSzPct val="100000"/>
            </a:pPr>
            <a:r>
              <a:rPr lang="en-US" sz="1800" dirty="0"/>
              <a:t>Greases are made from oil blended with thickening agents.</a:t>
            </a:r>
          </a:p>
          <a:p>
            <a:pPr>
              <a:spcAft>
                <a:spcPts val="600"/>
              </a:spcAft>
              <a:buSzPct val="100000"/>
            </a:pPr>
            <a:r>
              <a:rPr lang="en-US" sz="1800" dirty="0"/>
              <a:t>There are a few synthetic greases available that meet the same standards as petroleum greases.</a:t>
            </a:r>
          </a:p>
          <a:p>
            <a:pPr>
              <a:spcAft>
                <a:spcPts val="600"/>
              </a:spcAft>
              <a:buSzPct val="100000"/>
            </a:pPr>
            <a:r>
              <a:rPr lang="en-US" sz="1800" dirty="0"/>
              <a:t>The thickening agent increases the viscosity of the grease. Greases are categorized by a National Lubricating Grease Institute (NLGI) number and by the thickeners and additives that are in the grease.</a:t>
            </a:r>
          </a:p>
          <a:p>
            <a:pPr>
              <a:spcAft>
                <a:spcPts val="600"/>
              </a:spcAft>
              <a:buSzPct val="100000"/>
            </a:pPr>
            <a:r>
              <a:rPr lang="en-US" sz="1800" dirty="0"/>
              <a:t>Some greases are also labeled with an “EP,” which means they have extreme pressure additives. The number assigned by the NLGI is based on test results and the specifications set by the American Society for Testing Materials (ASTM).</a:t>
            </a:r>
          </a:p>
        </p:txBody>
      </p:sp>
      <p:graphicFrame>
        <p:nvGraphicFramePr>
          <p:cNvPr id="7" name="Table Placeholder 6">
            <a:extLst>
              <a:ext uri="{FF2B5EF4-FFF2-40B4-BE49-F238E27FC236}">
                <a16:creationId xmlns:a16="http://schemas.microsoft.com/office/drawing/2014/main" id="{03414CA2-55DA-FC34-8C17-8EF0491ABCB6}"/>
              </a:ext>
            </a:extLst>
          </p:cNvPr>
          <p:cNvGraphicFramePr>
            <a:graphicFrameLocks noGrp="1"/>
          </p:cNvGraphicFramePr>
          <p:nvPr>
            <p:ph type="tbl" sz="quarter" idx="14"/>
          </p:nvPr>
        </p:nvGraphicFramePr>
        <p:xfrm>
          <a:off x="7211695" y="1596069"/>
          <a:ext cx="4703739" cy="3698244"/>
        </p:xfrm>
        <a:graphic>
          <a:graphicData uri="http://schemas.openxmlformats.org/drawingml/2006/table">
            <a:tbl>
              <a:tblPr firstRow="1" bandRow="1">
                <a:tableStyleId>{69012ECD-51FC-41F1-AA8D-1B2483CD663E}</a:tableStyleId>
              </a:tblPr>
              <a:tblGrid>
                <a:gridCol w="1187767">
                  <a:extLst>
                    <a:ext uri="{9D8B030D-6E8A-4147-A177-3AD203B41FA5}">
                      <a16:colId xmlns:a16="http://schemas.microsoft.com/office/drawing/2014/main" val="3377737790"/>
                    </a:ext>
                  </a:extLst>
                </a:gridCol>
                <a:gridCol w="2072617">
                  <a:extLst>
                    <a:ext uri="{9D8B030D-6E8A-4147-A177-3AD203B41FA5}">
                      <a16:colId xmlns:a16="http://schemas.microsoft.com/office/drawing/2014/main" val="2934005370"/>
                    </a:ext>
                  </a:extLst>
                </a:gridCol>
                <a:gridCol w="1443355">
                  <a:extLst>
                    <a:ext uri="{9D8B030D-6E8A-4147-A177-3AD203B41FA5}">
                      <a16:colId xmlns:a16="http://schemas.microsoft.com/office/drawing/2014/main" val="680664247"/>
                    </a:ext>
                  </a:extLst>
                </a:gridCol>
              </a:tblGrid>
              <a:tr h="329636">
                <a:tc>
                  <a:txBody>
                    <a:bodyPr/>
                    <a:lstStyle/>
                    <a:p>
                      <a:pPr algn="ctr"/>
                      <a:r>
                        <a:rPr lang="en-US" dirty="0"/>
                        <a:t>NLGI grade</a:t>
                      </a:r>
                      <a:endParaRPr lang="en-IN" dirty="0"/>
                    </a:p>
                  </a:txBody>
                  <a:tcPr/>
                </a:tc>
                <a:tc>
                  <a:txBody>
                    <a:bodyPr/>
                    <a:lstStyle/>
                    <a:p>
                      <a:pPr algn="ctr"/>
                      <a:r>
                        <a:rPr lang="en-US" dirty="0"/>
                        <a:t>Worked penetration after 60 strokes at 77°F (25°C)</a:t>
                      </a:r>
                      <a:endParaRPr lang="en-IN" dirty="0"/>
                    </a:p>
                  </a:txBody>
                  <a:tcPr/>
                </a:tc>
                <a:tc>
                  <a:txBody>
                    <a:bodyPr/>
                    <a:lstStyle/>
                    <a:p>
                      <a:r>
                        <a:rPr lang="en-US" dirty="0"/>
                        <a:t>Appearance</a:t>
                      </a:r>
                      <a:endParaRPr lang="en-IN" dirty="0"/>
                    </a:p>
                  </a:txBody>
                  <a:tcPr/>
                </a:tc>
                <a:extLst>
                  <a:ext uri="{0D108BD9-81ED-4DB2-BD59-A6C34878D82A}">
                    <a16:rowId xmlns:a16="http://schemas.microsoft.com/office/drawing/2014/main" val="2533748514"/>
                  </a:ext>
                </a:extLst>
              </a:tr>
              <a:tr h="329636">
                <a:tc>
                  <a:txBody>
                    <a:bodyPr/>
                    <a:lstStyle/>
                    <a:p>
                      <a:pPr algn="r"/>
                      <a:r>
                        <a:rPr lang="en-US" dirty="0"/>
                        <a:t>000</a:t>
                      </a:r>
                      <a:endParaRPr lang="en-IN" dirty="0"/>
                    </a:p>
                  </a:txBody>
                  <a:tcPr/>
                </a:tc>
                <a:tc>
                  <a:txBody>
                    <a:bodyPr/>
                    <a:lstStyle/>
                    <a:p>
                      <a:pPr algn="ctr"/>
                      <a:r>
                        <a:rPr lang="en-US" dirty="0"/>
                        <a:t>44.5-47.5 mm</a:t>
                      </a:r>
                      <a:endParaRPr lang="en-IN" dirty="0"/>
                    </a:p>
                  </a:txBody>
                  <a:tcPr/>
                </a:tc>
                <a:tc>
                  <a:txBody>
                    <a:bodyPr/>
                    <a:lstStyle/>
                    <a:p>
                      <a:r>
                        <a:rPr lang="en-US" dirty="0"/>
                        <a:t>fluid</a:t>
                      </a:r>
                      <a:endParaRPr lang="en-IN" dirty="0"/>
                    </a:p>
                  </a:txBody>
                  <a:tcPr/>
                </a:tc>
                <a:extLst>
                  <a:ext uri="{0D108BD9-81ED-4DB2-BD59-A6C34878D82A}">
                    <a16:rowId xmlns:a16="http://schemas.microsoft.com/office/drawing/2014/main" val="830197154"/>
                  </a:ext>
                </a:extLst>
              </a:tr>
              <a:tr h="329636">
                <a:tc>
                  <a:txBody>
                    <a:bodyPr/>
                    <a:lstStyle/>
                    <a:p>
                      <a:pPr algn="r"/>
                      <a:r>
                        <a:rPr lang="en-US" dirty="0"/>
                        <a:t>00</a:t>
                      </a:r>
                      <a:endParaRPr lang="en-IN" dirty="0"/>
                    </a:p>
                  </a:txBody>
                  <a:tcPr/>
                </a:tc>
                <a:tc>
                  <a:txBody>
                    <a:bodyPr/>
                    <a:lstStyle/>
                    <a:p>
                      <a:pPr algn="ctr"/>
                      <a:r>
                        <a:rPr lang="en-US" dirty="0"/>
                        <a:t>4.00-4.30 mm</a:t>
                      </a:r>
                      <a:endParaRPr lang="en-IN" dirty="0"/>
                    </a:p>
                  </a:txBody>
                  <a:tcPr/>
                </a:tc>
                <a:tc>
                  <a:txBody>
                    <a:bodyPr/>
                    <a:lstStyle/>
                    <a:p>
                      <a:r>
                        <a:rPr lang="en-US" dirty="0"/>
                        <a:t>fluid</a:t>
                      </a:r>
                      <a:endParaRPr lang="en-IN" dirty="0"/>
                    </a:p>
                  </a:txBody>
                  <a:tcPr/>
                </a:tc>
                <a:extLst>
                  <a:ext uri="{0D108BD9-81ED-4DB2-BD59-A6C34878D82A}">
                    <a16:rowId xmlns:a16="http://schemas.microsoft.com/office/drawing/2014/main" val="589830824"/>
                  </a:ext>
                </a:extLst>
              </a:tr>
              <a:tr h="329636">
                <a:tc>
                  <a:txBody>
                    <a:bodyPr/>
                    <a:lstStyle/>
                    <a:p>
                      <a:pPr algn="r"/>
                      <a:r>
                        <a:rPr lang="en-US" dirty="0"/>
                        <a:t>0</a:t>
                      </a:r>
                      <a:endParaRPr lang="en-IN" dirty="0"/>
                    </a:p>
                  </a:txBody>
                  <a:tcPr/>
                </a:tc>
                <a:tc>
                  <a:txBody>
                    <a:bodyPr/>
                    <a:lstStyle/>
                    <a:p>
                      <a:pPr algn="ctr"/>
                      <a:r>
                        <a:rPr lang="en-US" dirty="0"/>
                        <a:t>3.55-3.85 mm</a:t>
                      </a:r>
                      <a:endParaRPr lang="en-IN" dirty="0"/>
                    </a:p>
                  </a:txBody>
                  <a:tcPr/>
                </a:tc>
                <a:tc>
                  <a:txBody>
                    <a:bodyPr/>
                    <a:lstStyle/>
                    <a:p>
                      <a:r>
                        <a:rPr lang="en-US" dirty="0"/>
                        <a:t>very soft</a:t>
                      </a:r>
                      <a:endParaRPr lang="en-IN" dirty="0"/>
                    </a:p>
                  </a:txBody>
                  <a:tcPr/>
                </a:tc>
                <a:extLst>
                  <a:ext uri="{0D108BD9-81ED-4DB2-BD59-A6C34878D82A}">
                    <a16:rowId xmlns:a16="http://schemas.microsoft.com/office/drawing/2014/main" val="1692292415"/>
                  </a:ext>
                </a:extLst>
              </a:tr>
              <a:tr h="329636">
                <a:tc>
                  <a:txBody>
                    <a:bodyPr/>
                    <a:lstStyle/>
                    <a:p>
                      <a:pPr algn="r"/>
                      <a:r>
                        <a:rPr lang="en-US" dirty="0"/>
                        <a:t>1</a:t>
                      </a:r>
                      <a:endParaRPr lang="en-IN" dirty="0"/>
                    </a:p>
                  </a:txBody>
                  <a:tcPr/>
                </a:tc>
                <a:tc>
                  <a:txBody>
                    <a:bodyPr/>
                    <a:lstStyle/>
                    <a:p>
                      <a:pPr algn="ctr"/>
                      <a:r>
                        <a:rPr lang="en-US" dirty="0"/>
                        <a:t>3.10-3.40 mm</a:t>
                      </a:r>
                      <a:endParaRPr lang="en-IN" dirty="0"/>
                    </a:p>
                  </a:txBody>
                  <a:tcPr/>
                </a:tc>
                <a:tc>
                  <a:txBody>
                    <a:bodyPr/>
                    <a:lstStyle/>
                    <a:p>
                      <a:r>
                        <a:rPr lang="en-US" dirty="0"/>
                        <a:t>soft</a:t>
                      </a:r>
                      <a:endParaRPr lang="en-IN" dirty="0"/>
                    </a:p>
                  </a:txBody>
                  <a:tcPr/>
                </a:tc>
                <a:extLst>
                  <a:ext uri="{0D108BD9-81ED-4DB2-BD59-A6C34878D82A}">
                    <a16:rowId xmlns:a16="http://schemas.microsoft.com/office/drawing/2014/main" val="1824920594"/>
                  </a:ext>
                </a:extLst>
              </a:tr>
              <a:tr h="329636">
                <a:tc>
                  <a:txBody>
                    <a:bodyPr/>
                    <a:lstStyle/>
                    <a:p>
                      <a:pPr algn="r"/>
                      <a:r>
                        <a:rPr lang="en-US" dirty="0"/>
                        <a:t>2</a:t>
                      </a:r>
                      <a:endParaRPr lang="en-IN" dirty="0"/>
                    </a:p>
                  </a:txBody>
                  <a:tcPr/>
                </a:tc>
                <a:tc>
                  <a:txBody>
                    <a:bodyPr/>
                    <a:lstStyle/>
                    <a:p>
                      <a:pPr algn="ctr"/>
                      <a:r>
                        <a:rPr lang="en-US" dirty="0"/>
                        <a:t>2.65-2.95 mm</a:t>
                      </a:r>
                      <a:endParaRPr lang="en-IN" dirty="0"/>
                    </a:p>
                  </a:txBody>
                  <a:tcPr/>
                </a:tc>
                <a:tc>
                  <a:txBody>
                    <a:bodyPr/>
                    <a:lstStyle/>
                    <a:p>
                      <a:r>
                        <a:rPr lang="en-US" dirty="0"/>
                        <a:t>moderately soft</a:t>
                      </a:r>
                      <a:endParaRPr lang="en-IN" dirty="0"/>
                    </a:p>
                  </a:txBody>
                  <a:tcPr/>
                </a:tc>
                <a:extLst>
                  <a:ext uri="{0D108BD9-81ED-4DB2-BD59-A6C34878D82A}">
                    <a16:rowId xmlns:a16="http://schemas.microsoft.com/office/drawing/2014/main" val="2426584786"/>
                  </a:ext>
                </a:extLst>
              </a:tr>
              <a:tr h="329636">
                <a:tc>
                  <a:txBody>
                    <a:bodyPr/>
                    <a:lstStyle/>
                    <a:p>
                      <a:pPr algn="r"/>
                      <a:r>
                        <a:rPr lang="en-US" dirty="0"/>
                        <a:t>3</a:t>
                      </a:r>
                      <a:endParaRPr lang="en-IN" dirty="0"/>
                    </a:p>
                  </a:txBody>
                  <a:tcPr/>
                </a:tc>
                <a:tc>
                  <a:txBody>
                    <a:bodyPr/>
                    <a:lstStyle/>
                    <a:p>
                      <a:pPr algn="ctr"/>
                      <a:r>
                        <a:rPr lang="en-US" dirty="0"/>
                        <a:t>2.20-2.50 mm</a:t>
                      </a:r>
                      <a:endParaRPr lang="en-IN" dirty="0"/>
                    </a:p>
                  </a:txBody>
                  <a:tcPr/>
                </a:tc>
                <a:tc>
                  <a:txBody>
                    <a:bodyPr/>
                    <a:lstStyle/>
                    <a:p>
                      <a:r>
                        <a:rPr lang="en-US" dirty="0"/>
                        <a:t>semifluid</a:t>
                      </a:r>
                      <a:endParaRPr lang="en-IN" dirty="0"/>
                    </a:p>
                  </a:txBody>
                  <a:tcPr/>
                </a:tc>
                <a:extLst>
                  <a:ext uri="{0D108BD9-81ED-4DB2-BD59-A6C34878D82A}">
                    <a16:rowId xmlns:a16="http://schemas.microsoft.com/office/drawing/2014/main" val="122956540"/>
                  </a:ext>
                </a:extLst>
              </a:tr>
              <a:tr h="329636">
                <a:tc>
                  <a:txBody>
                    <a:bodyPr/>
                    <a:lstStyle/>
                    <a:p>
                      <a:pPr algn="r"/>
                      <a:r>
                        <a:rPr lang="en-US" dirty="0"/>
                        <a:t>4</a:t>
                      </a:r>
                      <a:endParaRPr lang="en-IN" dirty="0"/>
                    </a:p>
                  </a:txBody>
                  <a:tcPr/>
                </a:tc>
                <a:tc>
                  <a:txBody>
                    <a:bodyPr/>
                    <a:lstStyle/>
                    <a:p>
                      <a:pPr algn="ctr"/>
                      <a:r>
                        <a:rPr lang="en-US" dirty="0"/>
                        <a:t>1.75-2.05 mm</a:t>
                      </a:r>
                      <a:endParaRPr lang="en-IN" dirty="0"/>
                    </a:p>
                  </a:txBody>
                  <a:tcPr/>
                </a:tc>
                <a:tc>
                  <a:txBody>
                    <a:bodyPr/>
                    <a:lstStyle/>
                    <a:p>
                      <a:r>
                        <a:rPr lang="en-US" dirty="0"/>
                        <a:t>semifluid</a:t>
                      </a:r>
                      <a:endParaRPr lang="en-IN" dirty="0"/>
                    </a:p>
                  </a:txBody>
                  <a:tcPr/>
                </a:tc>
                <a:extLst>
                  <a:ext uri="{0D108BD9-81ED-4DB2-BD59-A6C34878D82A}">
                    <a16:rowId xmlns:a16="http://schemas.microsoft.com/office/drawing/2014/main" val="3981483296"/>
                  </a:ext>
                </a:extLst>
              </a:tr>
              <a:tr h="329636">
                <a:tc>
                  <a:txBody>
                    <a:bodyPr/>
                    <a:lstStyle/>
                    <a:p>
                      <a:pPr algn="r"/>
                      <a:r>
                        <a:rPr lang="en-US" dirty="0"/>
                        <a:t>5</a:t>
                      </a:r>
                      <a:endParaRPr lang="en-IN" dirty="0"/>
                    </a:p>
                  </a:txBody>
                  <a:tcPr/>
                </a:tc>
                <a:tc>
                  <a:txBody>
                    <a:bodyPr/>
                    <a:lstStyle/>
                    <a:p>
                      <a:pPr algn="ctr"/>
                      <a:r>
                        <a:rPr lang="en-US" dirty="0"/>
                        <a:t>1.30-1.60 mm</a:t>
                      </a:r>
                      <a:endParaRPr lang="en-IN" dirty="0"/>
                    </a:p>
                  </a:txBody>
                  <a:tcPr/>
                </a:tc>
                <a:tc>
                  <a:txBody>
                    <a:bodyPr/>
                    <a:lstStyle/>
                    <a:p>
                      <a:r>
                        <a:rPr lang="en-US" dirty="0"/>
                        <a:t>hard</a:t>
                      </a:r>
                      <a:endParaRPr lang="en-IN" dirty="0"/>
                    </a:p>
                  </a:txBody>
                  <a:tcPr/>
                </a:tc>
                <a:extLst>
                  <a:ext uri="{0D108BD9-81ED-4DB2-BD59-A6C34878D82A}">
                    <a16:rowId xmlns:a16="http://schemas.microsoft.com/office/drawing/2014/main" val="957579394"/>
                  </a:ext>
                </a:extLst>
              </a:tr>
              <a:tr h="329636">
                <a:tc>
                  <a:txBody>
                    <a:bodyPr/>
                    <a:lstStyle/>
                    <a:p>
                      <a:pPr algn="r"/>
                      <a:r>
                        <a:rPr lang="en-US" dirty="0"/>
                        <a:t>6</a:t>
                      </a:r>
                      <a:endParaRPr lang="en-IN" dirty="0"/>
                    </a:p>
                  </a:txBody>
                  <a:tcPr/>
                </a:tc>
                <a:tc>
                  <a:txBody>
                    <a:bodyPr/>
                    <a:lstStyle/>
                    <a:p>
                      <a:pPr algn="ctr"/>
                      <a:r>
                        <a:rPr lang="en-US" dirty="0"/>
                        <a:t>0.85-1.15 mm</a:t>
                      </a:r>
                      <a:endParaRPr lang="en-IN" dirty="0"/>
                    </a:p>
                  </a:txBody>
                  <a:tcPr/>
                </a:tc>
                <a:tc>
                  <a:txBody>
                    <a:bodyPr/>
                    <a:lstStyle/>
                    <a:p>
                      <a:r>
                        <a:rPr lang="en-US" dirty="0"/>
                        <a:t>very hard</a:t>
                      </a:r>
                      <a:endParaRPr lang="en-IN" dirty="0"/>
                    </a:p>
                  </a:txBody>
                  <a:tcPr/>
                </a:tc>
                <a:extLst>
                  <a:ext uri="{0D108BD9-81ED-4DB2-BD59-A6C34878D82A}">
                    <a16:rowId xmlns:a16="http://schemas.microsoft.com/office/drawing/2014/main" val="2436790897"/>
                  </a:ext>
                </a:extLst>
              </a:tr>
            </a:tbl>
          </a:graphicData>
        </a:graphic>
      </p:graphicFrame>
      <p:sp>
        <p:nvSpPr>
          <p:cNvPr id="4" name="Content Placeholder 3">
            <a:extLst>
              <a:ext uri="{FF2B5EF4-FFF2-40B4-BE49-F238E27FC236}">
                <a16:creationId xmlns:a16="http://schemas.microsoft.com/office/drawing/2014/main" id="{3819DC02-401C-15EC-0898-DA067E57F4D7}"/>
              </a:ext>
            </a:extLst>
          </p:cNvPr>
          <p:cNvSpPr>
            <a:spLocks noGrp="1"/>
          </p:cNvSpPr>
          <p:nvPr>
            <p:ph sz="quarter" idx="11"/>
          </p:nvPr>
        </p:nvSpPr>
        <p:spPr>
          <a:xfrm>
            <a:off x="7106195" y="5363662"/>
            <a:ext cx="4822301" cy="619125"/>
          </a:xfrm>
        </p:spPr>
        <p:txBody>
          <a:bodyPr/>
          <a:lstStyle/>
          <a:p>
            <a:pPr marL="76200" indent="0">
              <a:spcBef>
                <a:spcPts val="0"/>
              </a:spcBef>
              <a:buNone/>
            </a:pPr>
            <a:r>
              <a:rPr lang="en-US" sz="1600" b="1" dirty="0"/>
              <a:t>Figure 8-49 </a:t>
            </a:r>
            <a:r>
              <a:rPr lang="en-US" sz="1600" dirty="0"/>
              <a:t>The table shows the NLGI grades and the worked penetration ranges.</a:t>
            </a:r>
            <a:endParaRPr lang="en-IN" sz="1600" dirty="0"/>
          </a:p>
        </p:txBody>
      </p:sp>
    </p:spTree>
    <p:extLst>
      <p:ext uri="{BB962C8B-B14F-4D97-AF65-F5344CB8AC3E}">
        <p14:creationId xmlns:p14="http://schemas.microsoft.com/office/powerpoint/2010/main" val="3691861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(3 of 3)  </a:t>
            </a:r>
            <a:endParaRPr/>
          </a:p>
        </p:txBody>
      </p:sp>
      <p:sp>
        <p:nvSpPr>
          <p:cNvPr id="377" name="Google Shape;377;p38"/>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lgn="ctr">
              <a:spcBef>
                <a:spcPts val="1800"/>
              </a:spcBef>
              <a:buSzPts val="2400"/>
              <a:buNone/>
            </a:pPr>
            <a:r>
              <a:rPr lang="en-US" dirty="0"/>
              <a:t>At what tread depth reading does a tire need to be replaced?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Answer (3 of 3)</a:t>
            </a:r>
            <a:endParaRPr/>
          </a:p>
        </p:txBody>
      </p:sp>
      <p:sp>
        <p:nvSpPr>
          <p:cNvPr id="384" name="Google Shape;384;p3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lgn="ctr">
              <a:spcAft>
                <a:spcPts val="2400"/>
              </a:spcAft>
              <a:buSzPts val="2400"/>
              <a:buNone/>
            </a:pPr>
            <a:r>
              <a:rPr lang="en-US" dirty="0"/>
              <a:t>At what tread depth reading does a tire need to be </a:t>
            </a:r>
            <a:r>
              <a:rPr lang="en-US"/>
              <a:t>replaced?</a:t>
            </a:r>
          </a:p>
          <a:p>
            <a:pPr marL="0" marR="0" lvl="0" indent="0" algn="ctr" rtl="0">
              <a:spcAft>
                <a:spcPts val="0"/>
              </a:spcAft>
              <a:buNone/>
            </a:pPr>
            <a:r>
              <a:rPr lang="en-US" sz="2800" b="1">
                <a:solidFill>
                  <a:schemeClr val="dk1"/>
                </a:solidFill>
                <a:latin typeface="Work Sans"/>
                <a:ea typeface="Work Sans"/>
                <a:cs typeface="Work Sans"/>
                <a:sym typeface="Work Sans"/>
              </a:rPr>
              <a:t>Answer</a:t>
            </a:r>
            <a:r>
              <a:rPr lang="en-US" sz="2800">
                <a:solidFill>
                  <a:schemeClr val="dk1"/>
                </a:solidFill>
                <a:latin typeface="Work Sans"/>
                <a:ea typeface="Work Sans"/>
                <a:cs typeface="Work Sans"/>
                <a:sym typeface="Work Sans"/>
              </a:rPr>
              <a:t>:</a:t>
            </a:r>
          </a:p>
          <a:p>
            <a:pPr marL="0" marR="0" lvl="0" indent="0" algn="ctr" defTabSz="914400" rtl="0" eaLnBrk="1" fontAlgn="auto" latinLnBrk="0" hangingPunct="1">
              <a:lnSpc>
                <a:spcPct val="100000"/>
              </a:lnSpc>
              <a:spcAft>
                <a:spcPts val="0"/>
              </a:spcAft>
              <a:buClr>
                <a:srgbClr val="282F7C"/>
              </a:buClr>
              <a:buSzPts val="2400"/>
              <a:buNone/>
              <a:tabLst/>
              <a:defRPr/>
            </a:pPr>
            <a:r>
              <a:rPr lang="en-US" sz="2800">
                <a:solidFill>
                  <a:schemeClr val="dk1"/>
                </a:solidFill>
                <a:latin typeface="Work Sans"/>
                <a:ea typeface="Work Sans"/>
                <a:cs typeface="Work Sans"/>
                <a:sym typeface="Work Sans"/>
              </a:rPr>
              <a:t>Tires should have at least 1/16 or 2/32nds inch of tread remaining.  Any less and the tire should be replaced.</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sz="4000" dirty="0"/>
              <a:t>Hybrid Vehicles (</a:t>
            </a:r>
            <a:r>
              <a:rPr lang="en-US" dirty="0"/>
              <a:t>1</a:t>
            </a:r>
            <a:r>
              <a:rPr lang="en-US" sz="4000" dirty="0"/>
              <a:t> of </a:t>
            </a:r>
            <a:r>
              <a:rPr lang="en-US" sz="4000"/>
              <a:t>2)</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a:xfrm>
            <a:off x="476843" y="1525525"/>
            <a:ext cx="6911929" cy="4637478"/>
          </a:xfrm>
        </p:spPr>
        <p:txBody>
          <a:bodyPr/>
          <a:lstStyle/>
          <a:p>
            <a:pPr>
              <a:buSzPct val="100000"/>
            </a:pPr>
            <a:r>
              <a:rPr lang="en-US" sz="2000" dirty="0"/>
              <a:t>Hybrid vehicles are maintained and serviced in the same way as conventional vehicles, except for the hybrid components which include the high-voltage battery pack and circuits which must be respected when doing any service on the </a:t>
            </a:r>
            <a:r>
              <a:rPr lang="en-US" sz="2000"/>
              <a:t>vehicles.</a:t>
            </a:r>
            <a:endParaRPr lang="en-US" sz="2000" dirty="0"/>
          </a:p>
          <a:p>
            <a:pPr>
              <a:buSzPct val="100000"/>
            </a:pPr>
            <a:r>
              <a:rPr lang="en-US" sz="2000" dirty="0"/>
              <a:t>One of the things to pay attention to is the stop start feature you need to know when the engine will normally shut down and </a:t>
            </a:r>
            <a:r>
              <a:rPr lang="en-US" sz="2000"/>
              <a:t>restart.</a:t>
            </a:r>
            <a:endParaRPr lang="en-US" sz="2000" dirty="0"/>
          </a:p>
          <a:p>
            <a:pPr>
              <a:buSzPct val="100000"/>
            </a:pPr>
            <a:r>
              <a:rPr lang="en-US" sz="2000" dirty="0"/>
              <a:t>Without this knowledge, or the knowledge of how to prevent this, the engine may start on its own when you are working under the </a:t>
            </a:r>
            <a:r>
              <a:rPr lang="en-US" sz="2000"/>
              <a:t>hood.</a:t>
            </a:r>
            <a:endParaRPr lang="en-US" sz="2000" dirty="0"/>
          </a:p>
          <a:p>
            <a:pPr>
              <a:buSzPct val="100000"/>
            </a:pPr>
            <a:r>
              <a:rPr lang="en-US" sz="2000" dirty="0"/>
              <a:t>Make sure the “READY” lamp in the instrument cluster is off; this lets you know the system is </a:t>
            </a:r>
            <a:r>
              <a:rPr lang="en-US" sz="2000"/>
              <a:t>also off.</a:t>
            </a:r>
            <a:endParaRPr lang="en-US" sz="2000" dirty="0"/>
          </a:p>
        </p:txBody>
      </p:sp>
      <p:pic>
        <p:nvPicPr>
          <p:cNvPr id="8" name="Picture Placeholder 7" descr="Two dials of warning lights with different readings. The first dial has unnumbered markings from the bottom left to the top. A needle points to one of those markings. A label EV is close the end of the markings at the top. The center of the dial has a label READY. The second dial has markings from 0 to 160 at intervals of 20. A needle points to 0.">
            <a:extLst>
              <a:ext uri="{FF2B5EF4-FFF2-40B4-BE49-F238E27FC236}">
                <a16:creationId xmlns:a16="http://schemas.microsoft.com/office/drawing/2014/main" id="{C0A56DC1-DEB0-293C-E6BC-12FACEA6177D}"/>
              </a:ext>
            </a:extLst>
          </p:cNvPr>
          <p:cNvPicPr>
            <a:picLocks noGrp="1" noChangeAspect="1"/>
          </p:cNvPicPr>
          <p:nvPr>
            <p:ph type="pic" sz="quarter" idx="11"/>
          </p:nvPr>
        </p:nvPicPr>
        <p:blipFill>
          <a:blip r:embed="rId3"/>
          <a:srcRect b="12843"/>
          <a:stretch/>
        </p:blipFill>
        <p:spPr>
          <a:xfrm>
            <a:off x="7675392" y="1934494"/>
            <a:ext cx="4217565" cy="2989013"/>
          </a:xfrm>
          <a:prstGeom prst="rect">
            <a:avLst/>
          </a:prstGeom>
        </p:spPr>
      </p:pic>
    </p:spTree>
    <p:extLst>
      <p:ext uri="{BB962C8B-B14F-4D97-AF65-F5344CB8AC3E}">
        <p14:creationId xmlns:p14="http://schemas.microsoft.com/office/powerpoint/2010/main" val="8818803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sz="4000" dirty="0"/>
              <a:t>Hybrid Vehicles (2 of </a:t>
            </a:r>
            <a:r>
              <a:rPr lang="en-US" sz="4000"/>
              <a:t>2)</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p:txBody>
          <a:bodyPr/>
          <a:lstStyle/>
          <a:p>
            <a:pPr>
              <a:spcAft>
                <a:spcPts val="600"/>
              </a:spcAft>
              <a:buSzPct val="100000"/>
            </a:pPr>
            <a:r>
              <a:rPr lang="en-US" sz="1800" dirty="0">
                <a:solidFill>
                  <a:schemeClr val="accent1"/>
                </a:solidFill>
              </a:rPr>
              <a:t>Care needs to be taken to avoid anything orange while carrying out the maintenance </a:t>
            </a:r>
            <a:r>
              <a:rPr lang="en-US" sz="1800">
                <a:solidFill>
                  <a:schemeClr val="accent1"/>
                </a:solidFill>
              </a:rPr>
              <a:t>procedures.</a:t>
            </a:r>
            <a:endParaRPr lang="en-US" sz="1800" dirty="0">
              <a:solidFill>
                <a:schemeClr val="accent1"/>
              </a:solidFill>
            </a:endParaRPr>
          </a:p>
          <a:p>
            <a:pPr>
              <a:spcAft>
                <a:spcPts val="600"/>
              </a:spcAft>
              <a:buSzPct val="100000"/>
            </a:pPr>
            <a:r>
              <a:rPr lang="en-US" sz="1800" dirty="0">
                <a:solidFill>
                  <a:schemeClr val="accent1"/>
                </a:solidFill>
              </a:rPr>
              <a:t>The engines used in hybrids are modified versions of engines found in other models and less freedom in deciding the types of fluids that can be used and the parts that can replace the original equipment.</a:t>
            </a:r>
          </a:p>
          <a:p>
            <a:pPr>
              <a:spcAft>
                <a:spcPts val="600"/>
              </a:spcAft>
              <a:buSzPct val="100000"/>
            </a:pPr>
            <a:r>
              <a:rPr lang="en-US" sz="1800" dirty="0">
                <a:solidFill>
                  <a:schemeClr val="accent1"/>
                </a:solidFill>
              </a:rPr>
              <a:t>Typically, the engine oil used in a hybrid is very light, for example, 0W-20 or 0W-16 oil. If heavier oil is used, the computer may see this as a problem and prevent the engine from </a:t>
            </a:r>
            <a:r>
              <a:rPr lang="en-US" sz="1800">
                <a:solidFill>
                  <a:schemeClr val="accent1"/>
                </a:solidFill>
              </a:rPr>
              <a:t>starting.</a:t>
            </a:r>
            <a:endParaRPr lang="en-US" sz="1800" dirty="0">
              <a:solidFill>
                <a:schemeClr val="accent1"/>
              </a:solidFill>
            </a:endParaRPr>
          </a:p>
          <a:p>
            <a:pPr>
              <a:spcAft>
                <a:spcPts val="600"/>
              </a:spcAft>
              <a:buSzPct val="100000"/>
            </a:pPr>
            <a:r>
              <a:rPr lang="en-US" sz="1800" dirty="0">
                <a:solidFill>
                  <a:schemeClr val="accent1"/>
                </a:solidFill>
              </a:rPr>
              <a:t>Most hybrids have two cooling systems, one for the engine and one for the hybrid drive systems and/or battery packs. These cooling systems do not intermix, and different coolants are used in </a:t>
            </a:r>
            <a:r>
              <a:rPr lang="en-US" sz="1800">
                <a:solidFill>
                  <a:schemeClr val="accent1"/>
                </a:solidFill>
              </a:rPr>
              <a:t>each.</a:t>
            </a:r>
            <a:endParaRPr lang="en-US" sz="1800" dirty="0">
              <a:solidFill>
                <a:schemeClr val="accent1"/>
              </a:solidFill>
            </a:endParaRPr>
          </a:p>
          <a:p>
            <a:pPr>
              <a:spcAft>
                <a:spcPts val="600"/>
              </a:spcAft>
              <a:buSzPct val="100000"/>
            </a:pPr>
            <a:r>
              <a:rPr lang="en-US" sz="1800" dirty="0">
                <a:solidFill>
                  <a:schemeClr val="accent1"/>
                </a:solidFill>
              </a:rPr>
              <a:t>Basic items such as tires, brakes, and wheel alignment can have a negative effect, and owners of hybrids will notice the difference. These owners are constantly aware of their fuel mileage due to the displays on the instrument panel.</a:t>
            </a:r>
          </a:p>
        </p:txBody>
      </p:sp>
    </p:spTree>
    <p:extLst>
      <p:ext uri="{BB962C8B-B14F-4D97-AF65-F5344CB8AC3E}">
        <p14:creationId xmlns:p14="http://schemas.microsoft.com/office/powerpoint/2010/main" val="37110060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sz="4000" dirty="0"/>
              <a:t>Additional PM Checks (</a:t>
            </a:r>
            <a:r>
              <a:rPr lang="en-US" dirty="0"/>
              <a:t>1</a:t>
            </a:r>
            <a:r>
              <a:rPr lang="en-US" sz="4000" dirty="0"/>
              <a:t> of </a:t>
            </a:r>
            <a:r>
              <a:rPr lang="en-US" sz="4000"/>
              <a:t>2)</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p:txBody>
          <a:bodyPr/>
          <a:lstStyle/>
          <a:p>
            <a:pPr>
              <a:spcAft>
                <a:spcPts val="600"/>
              </a:spcAft>
              <a:buSzPct val="100000"/>
            </a:pPr>
            <a:r>
              <a:rPr lang="en-US" sz="2400" dirty="0"/>
              <a:t>The following are some PM checks that should be performed at these suggested time intervals.</a:t>
            </a:r>
          </a:p>
          <a:p>
            <a:pPr lvl="1">
              <a:spcAft>
                <a:spcPts val="600"/>
              </a:spcAft>
              <a:buSzPct val="100000"/>
            </a:pPr>
            <a:r>
              <a:rPr lang="en-US" sz="2200" dirty="0"/>
              <a:t>Time: While operating the vehicle.</a:t>
            </a:r>
          </a:p>
          <a:p>
            <a:pPr lvl="2">
              <a:spcAft>
                <a:spcPts val="600"/>
              </a:spcAft>
              <a:buSzPct val="100000"/>
            </a:pPr>
            <a:r>
              <a:rPr lang="en-US" sz="2000" dirty="0"/>
              <a:t>Pay attention to and note any changes in the sound of the exhaust or any smell of exhaust fumes in the vehicle.</a:t>
            </a:r>
          </a:p>
          <a:p>
            <a:pPr lvl="2">
              <a:spcAft>
                <a:spcPts val="600"/>
              </a:spcAft>
              <a:buSzPct val="100000"/>
            </a:pPr>
            <a:r>
              <a:rPr lang="en-US" sz="2000" dirty="0"/>
              <a:t>Check for vibrations in the steering wheel.</a:t>
            </a:r>
          </a:p>
          <a:p>
            <a:pPr lvl="2">
              <a:spcAft>
                <a:spcPts val="600"/>
              </a:spcAft>
              <a:buSzPct val="100000"/>
            </a:pPr>
            <a:r>
              <a:rPr lang="en-US" sz="2000" dirty="0"/>
              <a:t>Check the parking brake</a:t>
            </a:r>
            <a:endParaRPr lang="en-US" sz="2300" dirty="0"/>
          </a:p>
          <a:p>
            <a:pPr lvl="1">
              <a:spcAft>
                <a:spcPts val="600"/>
              </a:spcAft>
              <a:buSzPct val="100000"/>
            </a:pPr>
            <a:r>
              <a:rPr lang="en-US" sz="2200" dirty="0"/>
              <a:t>Time: At least monthly</a:t>
            </a:r>
          </a:p>
          <a:p>
            <a:pPr lvl="2">
              <a:spcAft>
                <a:spcPts val="600"/>
              </a:spcAft>
              <a:buSzPct val="100000"/>
            </a:pPr>
            <a:r>
              <a:rPr lang="en-US" sz="2000" dirty="0"/>
              <a:t>Check the operation of all exterior lights, including the brake lights, turn signals, and hazard warning flashers.</a:t>
            </a:r>
          </a:p>
        </p:txBody>
      </p:sp>
    </p:spTree>
    <p:extLst>
      <p:ext uri="{BB962C8B-B14F-4D97-AF65-F5344CB8AC3E}">
        <p14:creationId xmlns:p14="http://schemas.microsoft.com/office/powerpoint/2010/main" val="33837242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buSzPts val="4000"/>
            </a:pPr>
            <a:r>
              <a:rPr lang="en-US" sz="4000" dirty="0"/>
              <a:t>Additional PM Checks (2 of </a:t>
            </a:r>
            <a:r>
              <a:rPr lang="en-US" sz="4000"/>
              <a:t>2)</a:t>
            </a:r>
            <a:endParaRPr dirty="0"/>
          </a:p>
        </p:txBody>
      </p:sp>
      <p:sp>
        <p:nvSpPr>
          <p:cNvPr id="3" name="Text Placeholder 2">
            <a:extLst>
              <a:ext uri="{FF2B5EF4-FFF2-40B4-BE49-F238E27FC236}">
                <a16:creationId xmlns:a16="http://schemas.microsoft.com/office/drawing/2014/main" id="{44B900E7-42E3-64ED-D504-FBFEE82EC8ED}"/>
              </a:ext>
            </a:extLst>
          </p:cNvPr>
          <p:cNvSpPr>
            <a:spLocks noGrp="1"/>
          </p:cNvSpPr>
          <p:nvPr>
            <p:ph type="body" idx="1"/>
          </p:nvPr>
        </p:nvSpPr>
        <p:spPr/>
        <p:txBody>
          <a:bodyPr/>
          <a:lstStyle/>
          <a:p>
            <a:pPr>
              <a:spcAft>
                <a:spcPts val="600"/>
              </a:spcAft>
              <a:buSzPct val="100000"/>
            </a:pPr>
            <a:r>
              <a:rPr lang="en-US" sz="2400" dirty="0"/>
              <a:t>Time: At least twice a year</a:t>
            </a:r>
          </a:p>
          <a:p>
            <a:pPr lvl="1">
              <a:spcAft>
                <a:spcPts val="600"/>
              </a:spcAft>
              <a:buSzPct val="100000"/>
            </a:pPr>
            <a:r>
              <a:rPr lang="en-US" sz="2200" dirty="0"/>
              <a:t>Check the pressure in the spare tire.</a:t>
            </a:r>
          </a:p>
          <a:p>
            <a:pPr lvl="1">
              <a:spcAft>
                <a:spcPts val="600"/>
              </a:spcAft>
              <a:buSzPct val="100000"/>
            </a:pPr>
            <a:r>
              <a:rPr lang="en-US" sz="2200" dirty="0"/>
              <a:t>Check headlight alignment.</a:t>
            </a:r>
          </a:p>
          <a:p>
            <a:pPr lvl="1">
              <a:spcAft>
                <a:spcPts val="600"/>
              </a:spcAft>
              <a:buSzPct val="100000"/>
            </a:pPr>
            <a:r>
              <a:rPr lang="en-US" sz="2200" dirty="0"/>
              <a:t>Check the muffler, exhaust pipes, and clamps.</a:t>
            </a:r>
          </a:p>
          <a:p>
            <a:pPr>
              <a:spcAft>
                <a:spcPts val="600"/>
              </a:spcAft>
              <a:buSzPct val="100000"/>
            </a:pPr>
            <a:r>
              <a:rPr lang="en-US" sz="2400" dirty="0"/>
              <a:t>Time: At least once a year</a:t>
            </a:r>
          </a:p>
          <a:p>
            <a:pPr lvl="1">
              <a:spcAft>
                <a:spcPts val="600"/>
              </a:spcAft>
              <a:buSzPct val="100000"/>
            </a:pPr>
            <a:r>
              <a:rPr lang="en-US" sz="2200" dirty="0"/>
              <a:t>Lubricate all hinges and all outside key locks.</a:t>
            </a:r>
          </a:p>
          <a:p>
            <a:pPr lvl="1">
              <a:spcAft>
                <a:spcPts val="600"/>
              </a:spcAft>
              <a:buSzPct val="100000"/>
            </a:pPr>
            <a:r>
              <a:rPr lang="en-US" sz="2200" dirty="0"/>
              <a:t>Lubricate the rubber weather strips for the doors.</a:t>
            </a:r>
          </a:p>
          <a:p>
            <a:pPr lvl="1">
              <a:spcAft>
                <a:spcPts val="600"/>
              </a:spcAft>
              <a:buSzPct val="100000"/>
            </a:pPr>
            <a:r>
              <a:rPr lang="en-US" sz="2200" dirty="0"/>
              <a:t>Clean the body’s water drain holes.</a:t>
            </a:r>
          </a:p>
        </p:txBody>
      </p:sp>
    </p:spTree>
    <p:extLst>
      <p:ext uri="{BB962C8B-B14F-4D97-AF65-F5344CB8AC3E}">
        <p14:creationId xmlns:p14="http://schemas.microsoft.com/office/powerpoint/2010/main" val="29500289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Chapter Reflection</a:t>
            </a:r>
            <a:endParaRPr/>
          </a:p>
        </p:txBody>
      </p:sp>
      <p:sp>
        <p:nvSpPr>
          <p:cNvPr id="447" name="Google Shape;447;p4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spcAft>
                <a:spcPts val="600"/>
              </a:spcAft>
              <a:buNone/>
            </a:pPr>
            <a:r>
              <a:rPr lang="en-US" dirty="0">
                <a:solidFill>
                  <a:schemeClr val="accent1"/>
                </a:solidFill>
              </a:rPr>
              <a:t>Please take a moment to compare your perception of the automotive industry before and after you studied this chapter. Then respond to the following questions in one or two paragraphs. Use 150–200 words in your reflection.</a:t>
            </a:r>
            <a:endParaRPr dirty="0">
              <a:solidFill>
                <a:schemeClr val="accent1"/>
              </a:solidFill>
            </a:endParaRPr>
          </a:p>
          <a:p>
            <a:pPr marL="360363" lvl="0" indent="-360363" algn="l" rtl="0">
              <a:lnSpc>
                <a:spcPct val="100000"/>
              </a:lnSpc>
              <a:spcAft>
                <a:spcPts val="600"/>
              </a:spcAft>
              <a:buSzPts val="2800"/>
              <a:buFont typeface="Arial"/>
              <a:buChar char="•"/>
            </a:pPr>
            <a:r>
              <a:rPr lang="en-US" dirty="0">
                <a:solidFill>
                  <a:schemeClr val="accent1"/>
                </a:solidFill>
              </a:rPr>
              <a:t>Did anything in this chapter change your thinking about preventative maintenance?</a:t>
            </a:r>
            <a:endParaRPr dirty="0">
              <a:solidFill>
                <a:schemeClr val="accent1"/>
              </a:solidFill>
            </a:endParaRPr>
          </a:p>
          <a:p>
            <a:pPr marL="360363" lvl="0" indent="-360363" algn="l" rtl="0">
              <a:lnSpc>
                <a:spcPct val="100000"/>
              </a:lnSpc>
              <a:spcAft>
                <a:spcPts val="600"/>
              </a:spcAft>
              <a:buSzPts val="2800"/>
              <a:buFont typeface="Arial"/>
              <a:buChar char="•"/>
            </a:pPr>
            <a:r>
              <a:rPr lang="en-US" dirty="0">
                <a:solidFill>
                  <a:schemeClr val="accent1"/>
                </a:solidFill>
              </a:rPr>
              <a:t>Considering all you have learned, do you feel you are able to apply basic maintenance theories when performing this type of work?</a:t>
            </a:r>
            <a:endParaRPr dirty="0">
              <a:solidFill>
                <a:schemeClr val="accent1"/>
              </a:solidFill>
            </a:endParaRPr>
          </a:p>
        </p:txBody>
      </p:sp>
    </p:spTree>
  </p:cSld>
  <p:clrMapOvr>
    <a:masterClrMapping/>
  </p:clrMapOvr>
</p:sld>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2000</TotalTime>
  <Words>4630</Words>
  <Application>Microsoft Office PowerPoint</Application>
  <PresentationFormat>Widescreen</PresentationFormat>
  <Paragraphs>359</Paragraphs>
  <Slides>46</Slides>
  <Notes>46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Work Sans</vt:lpstr>
      <vt:lpstr>Calibri</vt:lpstr>
      <vt:lpstr>Optimized Template Master</vt:lpstr>
      <vt:lpstr>Automotive Technology:  A Systems Approach, 8e</vt:lpstr>
      <vt:lpstr>Chapter Objectives</vt:lpstr>
      <vt:lpstr>Repair Orders (1 of 3)</vt:lpstr>
      <vt:lpstr>Repair Orders (2 of 3)</vt:lpstr>
      <vt:lpstr>Repair Orders (3 of 3)</vt:lpstr>
      <vt:lpstr>Vehicle Identification (1 of 2)</vt:lpstr>
      <vt:lpstr>Vehicle Identification (2 of 2)</vt:lpstr>
      <vt:lpstr>Preventive Maintenance (1 of 2)</vt:lpstr>
      <vt:lpstr>Preventive Maintenance (2 of 2)</vt:lpstr>
      <vt:lpstr>Basic Services</vt:lpstr>
      <vt:lpstr>Engine Oil (1 of 4)</vt:lpstr>
      <vt:lpstr>Engine Oil (2 of 4)</vt:lpstr>
      <vt:lpstr>Engine Oil (3 of 4)</vt:lpstr>
      <vt:lpstr>Engine Oil (4 of 4)</vt:lpstr>
      <vt:lpstr>ILSAC Oil Ratings</vt:lpstr>
      <vt:lpstr>Other Oil Ratings</vt:lpstr>
      <vt:lpstr>Knowledge Check (1 of 3)</vt:lpstr>
      <vt:lpstr>Knowledge Check Answer (1 of 3)</vt:lpstr>
      <vt:lpstr>Oil Filter</vt:lpstr>
      <vt:lpstr>Cooling System (1 of 2)</vt:lpstr>
      <vt:lpstr>Cooling System (2 of 2)</vt:lpstr>
      <vt:lpstr>Knowledge Check (2 of 3)</vt:lpstr>
      <vt:lpstr>Knowledge Check Answer (2 of 3)</vt:lpstr>
      <vt:lpstr>Drive Belts</vt:lpstr>
      <vt:lpstr>Drive Belts Inspection</vt:lpstr>
      <vt:lpstr>Belt Replacement</vt:lpstr>
      <vt:lpstr>Air Filters</vt:lpstr>
      <vt:lpstr>Transmission Fluid (1 of 2)</vt:lpstr>
      <vt:lpstr>Transmission Fluid (2 of 2)</vt:lpstr>
      <vt:lpstr>Power-Steering Fluid</vt:lpstr>
      <vt:lpstr>Brake Fluid (1 of 2)</vt:lpstr>
      <vt:lpstr>Brake Fluid (2 of 2)</vt:lpstr>
      <vt:lpstr>Diesel Exhaust Fluid</vt:lpstr>
      <vt:lpstr>Windshield Wipers</vt:lpstr>
      <vt:lpstr>Tires (1 of 3)</vt:lpstr>
      <vt:lpstr>Tires (2 of 3)</vt:lpstr>
      <vt:lpstr>Tires (3 of 3)</vt:lpstr>
      <vt:lpstr>Chassis Lubrication</vt:lpstr>
      <vt:lpstr>Greases</vt:lpstr>
      <vt:lpstr>Knowledge Check (3 of 3)  </vt:lpstr>
      <vt:lpstr>Knowledge Check Answer (3 of 3)</vt:lpstr>
      <vt:lpstr>Hybrid Vehicles (1 of 2)</vt:lpstr>
      <vt:lpstr>Hybrid Vehicles (2 of 2)</vt:lpstr>
      <vt:lpstr>Additional PM Checks (1 of 2)</vt:lpstr>
      <vt:lpstr>Additional PM Checks (2 of 2)</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dc:title>
  <dc:creator>Owner</dc:creator>
  <cp:lastModifiedBy>Muthukrishnan, Keerthi -</cp:lastModifiedBy>
  <cp:revision>114</cp:revision>
  <dcterms:created xsi:type="dcterms:W3CDTF">2021-12-10T16:21:02Z</dcterms:created>
  <dcterms:modified xsi:type="dcterms:W3CDTF">2024-10-18T14:29:25Z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