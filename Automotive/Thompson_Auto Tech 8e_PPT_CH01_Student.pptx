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20.xml" ContentType="application/vnd.openxmlformats-officedocument.presentationml.tags+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45"/>
  </p:notesMasterIdLst>
  <p:handoutMasterIdLst>
    <p:handoutMasterId r:id="rId46"/>
  </p:handoutMasterIdLst>
  <p:sldIdLst>
    <p:sldId id="403" r:id="rId5"/>
    <p:sldId id="335" r:id="rId6"/>
    <p:sldId id="258" r:id="rId7"/>
    <p:sldId id="379" r:id="rId8"/>
    <p:sldId id="400" r:id="rId9"/>
    <p:sldId id="386" r:id="rId10"/>
    <p:sldId id="387" r:id="rId11"/>
    <p:sldId id="389" r:id="rId12"/>
    <p:sldId id="390" r:id="rId13"/>
    <p:sldId id="391" r:id="rId14"/>
    <p:sldId id="392" r:id="rId15"/>
    <p:sldId id="264" r:id="rId16"/>
    <p:sldId id="382" r:id="rId17"/>
    <p:sldId id="265" r:id="rId18"/>
    <p:sldId id="383" r:id="rId19"/>
    <p:sldId id="384" r:id="rId20"/>
    <p:sldId id="385" r:id="rId21"/>
    <p:sldId id="267" r:id="rId22"/>
    <p:sldId id="393" r:id="rId23"/>
    <p:sldId id="268" r:id="rId24"/>
    <p:sldId id="401" r:id="rId25"/>
    <p:sldId id="402" r:id="rId26"/>
    <p:sldId id="269" r:id="rId27"/>
    <p:sldId id="270" r:id="rId28"/>
    <p:sldId id="271" r:id="rId29"/>
    <p:sldId id="272" r:id="rId30"/>
    <p:sldId id="273" r:id="rId31"/>
    <p:sldId id="394" r:id="rId32"/>
    <p:sldId id="395" r:id="rId33"/>
    <p:sldId id="396" r:id="rId34"/>
    <p:sldId id="397" r:id="rId35"/>
    <p:sldId id="398" r:id="rId36"/>
    <p:sldId id="275" r:id="rId37"/>
    <p:sldId id="277" r:id="rId38"/>
    <p:sldId id="399" r:id="rId39"/>
    <p:sldId id="278" r:id="rId40"/>
    <p:sldId id="279" r:id="rId41"/>
    <p:sldId id="280" r:id="rId42"/>
    <p:sldId id="281" r:id="rId43"/>
    <p:sldId id="330" r:id="rId44"/>
  </p:sldIdLst>
  <p:sldSz cx="12192000" cy="6858000"/>
  <p:notesSz cx="6858000" cy="9144000"/>
  <p:custDataLst>
    <p:tags r:id="rId47"/>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 id="3" name="Jonathan Mastro" initials="JM" lastIdx="15" clrIdx="2">
    <p:extLst>
      <p:ext uri="{19B8F6BF-5375-455C-9EA6-DF929625EA0E}">
        <p15:presenceInfo xmlns:p15="http://schemas.microsoft.com/office/powerpoint/2012/main" userId="Jonathan Mastro" providerId="None"/>
      </p:ext>
    </p:extLst>
  </p:cmAuthor>
  <p:cmAuthor id="4" name="Paul Kelley" initials="PK" lastIdx="15" clrIdx="3">
    <p:extLst>
      <p:ext uri="{19B8F6BF-5375-455C-9EA6-DF929625EA0E}">
        <p15:presenceInfo xmlns:p15="http://schemas.microsoft.com/office/powerpoint/2012/main" userId="782a4b9ae5033047" providerId="Windows Live"/>
      </p:ext>
    </p:extLst>
  </p:cmAuthor>
  <p:cmAuthor id="5" name="CE" initials="CE" lastIdx="1"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300"/>
    <a:srgbClr val="000000"/>
    <a:srgbClr val="004A78"/>
    <a:srgbClr val="292F7C"/>
    <a:srgbClr val="F2F2F2"/>
    <a:srgbClr val="0098D4"/>
    <a:srgbClr val="003865"/>
    <a:srgbClr val="006298"/>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91" autoAdjust="0"/>
    <p:restoredTop sz="86467" autoAdjust="0"/>
  </p:normalViewPr>
  <p:slideViewPr>
    <p:cSldViewPr snapToGrid="0" snapToObjects="1">
      <p:cViewPr varScale="1">
        <p:scale>
          <a:sx n="62" d="100"/>
          <a:sy n="62" d="100"/>
        </p:scale>
        <p:origin x="918" y="60"/>
      </p:cViewPr>
      <p:guideLst>
        <p:guide orient="horz" pos="2160"/>
        <p:guide pos="3840"/>
      </p:guideLst>
    </p:cSldViewPr>
  </p:slideViewPr>
  <p:outlineViewPr>
    <p:cViewPr>
      <p:scale>
        <a:sx n="33" d="100"/>
        <a:sy n="33" d="100"/>
      </p:scale>
      <p:origin x="0" y="-2894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7.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2471683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2001609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7404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2284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557774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17569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929777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77165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41593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904297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12</a:t>
            </a:fld>
            <a:endParaRPr lang="en-US"/>
          </a:p>
        </p:txBody>
      </p:sp>
    </p:spTree>
    <p:extLst>
      <p:ext uri="{BB962C8B-B14F-4D97-AF65-F5344CB8AC3E}">
        <p14:creationId xmlns:p14="http://schemas.microsoft.com/office/powerpoint/2010/main" val="1740502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13</a:t>
            </a:fld>
            <a:endParaRPr lang="en-US"/>
          </a:p>
        </p:txBody>
      </p:sp>
    </p:spTree>
    <p:extLst>
      <p:ext uri="{BB962C8B-B14F-4D97-AF65-F5344CB8AC3E}">
        <p14:creationId xmlns:p14="http://schemas.microsoft.com/office/powerpoint/2010/main" val="898564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xfrm>
            <a:off x="685800" y="630238"/>
            <a:ext cx="3778250" cy="2125662"/>
          </a:xfrm>
          <a:ln/>
        </p:spPr>
      </p:sp>
      <p:sp>
        <p:nvSpPr>
          <p:cNvPr id="2355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1102469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xfrm>
            <a:off x="685800" y="630238"/>
            <a:ext cx="3778250" cy="2125662"/>
          </a:xfrm>
          <a:ln/>
        </p:spPr>
      </p:sp>
      <p:sp>
        <p:nvSpPr>
          <p:cNvPr id="2355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709514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xfrm>
            <a:off x="685800" y="630238"/>
            <a:ext cx="3778250" cy="2125662"/>
          </a:xfrm>
          <a:ln/>
        </p:spPr>
      </p:sp>
      <p:sp>
        <p:nvSpPr>
          <p:cNvPr id="2355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177776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0803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xfrm>
            <a:off x="685800" y="630238"/>
            <a:ext cx="3778250" cy="2125662"/>
          </a:xfrm>
          <a:ln/>
        </p:spPr>
      </p:sp>
      <p:sp>
        <p:nvSpPr>
          <p:cNvPr id="2560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058121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xfrm>
            <a:off x="685800" y="630238"/>
            <a:ext cx="3778250" cy="2125662"/>
          </a:xfrm>
          <a:ln/>
        </p:spPr>
      </p:sp>
      <p:sp>
        <p:nvSpPr>
          <p:cNvPr id="2560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605002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21</a:t>
            </a:fld>
            <a:endParaRPr lang="en-US"/>
          </a:p>
        </p:txBody>
      </p:sp>
    </p:spTree>
    <p:extLst>
      <p:ext uri="{BB962C8B-B14F-4D97-AF65-F5344CB8AC3E}">
        <p14:creationId xmlns:p14="http://schemas.microsoft.com/office/powerpoint/2010/main" val="33391475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22</a:t>
            </a:fld>
            <a:endParaRPr lang="en-US"/>
          </a:p>
        </p:txBody>
      </p:sp>
    </p:spTree>
    <p:extLst>
      <p:ext uri="{BB962C8B-B14F-4D97-AF65-F5344CB8AC3E}">
        <p14:creationId xmlns:p14="http://schemas.microsoft.com/office/powerpoint/2010/main" val="16870086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685800" y="630238"/>
            <a:ext cx="3778250" cy="2125662"/>
          </a:xfrm>
          <a:ln/>
        </p:spPr>
      </p:sp>
      <p:sp>
        <p:nvSpPr>
          <p:cNvPr id="2662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629460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685800" y="630238"/>
            <a:ext cx="3778250" cy="2125662"/>
          </a:xfrm>
          <a:ln/>
        </p:spPr>
      </p:sp>
      <p:sp>
        <p:nvSpPr>
          <p:cNvPr id="2662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247909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xfrm>
            <a:off x="685800" y="630238"/>
            <a:ext cx="3778250" cy="2125662"/>
          </a:xfrm>
          <a:ln/>
        </p:spPr>
      </p:sp>
      <p:sp>
        <p:nvSpPr>
          <p:cNvPr id="27651"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599091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685800" y="630238"/>
            <a:ext cx="3778250" cy="2125662"/>
          </a:xfrm>
          <a:ln/>
        </p:spPr>
      </p:sp>
      <p:sp>
        <p:nvSpPr>
          <p:cNvPr id="2867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9046341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xfrm>
            <a:off x="685800" y="630238"/>
            <a:ext cx="3778250" cy="2125662"/>
          </a:xfrm>
          <a:ln/>
        </p:spPr>
      </p:sp>
      <p:sp>
        <p:nvSpPr>
          <p:cNvPr id="2969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579740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xfrm>
            <a:off x="685800" y="630238"/>
            <a:ext cx="3778250" cy="2125662"/>
          </a:xfrm>
          <a:ln/>
        </p:spPr>
      </p:sp>
      <p:sp>
        <p:nvSpPr>
          <p:cNvPr id="2969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116984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33</a:t>
            </a:fld>
            <a:endParaRPr lang="en-US"/>
          </a:p>
        </p:txBody>
      </p:sp>
    </p:spTree>
    <p:extLst>
      <p:ext uri="{BB962C8B-B14F-4D97-AF65-F5344CB8AC3E}">
        <p14:creationId xmlns:p14="http://schemas.microsoft.com/office/powerpoint/2010/main" val="390878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685800" y="630238"/>
            <a:ext cx="3778250" cy="2125662"/>
          </a:xfrm>
          <a:ln/>
        </p:spPr>
      </p:sp>
      <p:sp>
        <p:nvSpPr>
          <p:cNvPr id="3174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535355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685800" y="630238"/>
            <a:ext cx="3778250" cy="2125662"/>
          </a:xfrm>
          <a:ln/>
        </p:spPr>
      </p:sp>
      <p:sp>
        <p:nvSpPr>
          <p:cNvPr id="3174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482840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685800" y="630238"/>
            <a:ext cx="3778250" cy="2125662"/>
          </a:xfrm>
          <a:ln/>
        </p:spPr>
      </p:sp>
      <p:sp>
        <p:nvSpPr>
          <p:cNvPr id="32771"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881785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dirty="0"/>
          </a:p>
        </p:txBody>
      </p:sp>
    </p:spTree>
    <p:extLst>
      <p:ext uri="{BB962C8B-B14F-4D97-AF65-F5344CB8AC3E}">
        <p14:creationId xmlns:p14="http://schemas.microsoft.com/office/powerpoint/2010/main" val="875215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2170826813"/>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pic>
        <p:nvPicPr>
          <p:cNvPr id="17" name="Picture 16">
            <a:extLst>
              <a:ext uri="{FF2B5EF4-FFF2-40B4-BE49-F238E27FC236}">
                <a16:creationId xmlns:a16="http://schemas.microsoft.com/office/drawing/2014/main" id="{EAF0C6CA-9F2E-439D-8A9B-5B8BD35A9360}"/>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5" name="TextBox 4">
            <a:extLst>
              <a:ext uri="{FF2B5EF4-FFF2-40B4-BE49-F238E27FC236}">
                <a16:creationId xmlns:a16="http://schemas.microsoft.com/office/drawing/2014/main" id="{0AC82444-0955-4D27-B77E-A9BCEA7A20A2}"/>
              </a:ext>
            </a:extLst>
          </p:cNvPr>
          <p:cNvSpPr txBox="1"/>
          <p:nvPr userDrawn="1"/>
        </p:nvSpPr>
        <p:spPr>
          <a:xfrm>
            <a:off x="2322513" y="6393561"/>
            <a:ext cx="867727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Rob Thompson and Jack Erjavec</a:t>
            </a:r>
            <a:r>
              <a:rPr lang="en-US" sz="1200" kern="1200" dirty="0">
                <a:solidFill>
                  <a:schemeClr val="bg1"/>
                </a:solidFill>
                <a:latin typeface="Arial" panose="020B0604020202020204" pitchFamily="34" charset="0"/>
                <a:cs typeface="Arial" panose="020B0604020202020204" pitchFamily="34" charset="0"/>
              </a:rPr>
              <a:t>, Automotive Technology: A Systems Approach, 8</a:t>
            </a:r>
            <a:r>
              <a:rPr lang="en-US" sz="1200" kern="1200" baseline="30000" dirty="0">
                <a:solidFill>
                  <a:schemeClr val="bg1"/>
                </a:solidFill>
                <a:latin typeface="Arial" panose="020B0604020202020204" pitchFamily="34" charset="0"/>
                <a:cs typeface="Arial" panose="020B0604020202020204" pitchFamily="34" charset="0"/>
              </a:rPr>
              <a:t>th</a:t>
            </a:r>
            <a:r>
              <a:rPr lang="en-US" sz="1200" kern="1200" dirty="0">
                <a:solidFill>
                  <a:schemeClr val="bg1"/>
                </a:solidFill>
                <a:latin typeface="Arial" panose="020B0604020202020204" pitchFamily="34" charset="0"/>
                <a:cs typeface="Arial" panose="020B0604020202020204" pitchFamily="34" charset="0"/>
              </a:rPr>
              <a:t> Edition. © 2025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6"/>
            <a:ext cx="11241915" cy="893330"/>
          </a:xfrm>
        </p:spPr>
        <p:txBody>
          <a:bodyPr anchor="ctr"/>
          <a:lstStyle>
            <a:lvl1pPr>
              <a:defRPr/>
            </a:lvl1pPr>
          </a:lstStyle>
          <a:p>
            <a:r>
              <a:rPr lang="en-US" dirty="0"/>
              <a:t>Slide Title</a:t>
            </a:r>
          </a:p>
        </p:txBody>
      </p:sp>
      <p:sp>
        <p:nvSpPr>
          <p:cNvPr id="3" name="Content Placeholder"/>
          <p:cNvSpPr>
            <a:spLocks noGrp="1"/>
          </p:cNvSpPr>
          <p:nvPr>
            <p:ph idx="1" hasCustomPrompt="1"/>
          </p:nvPr>
        </p:nvSpPr>
        <p:spPr>
          <a:xfrm>
            <a:off x="476843" y="1563624"/>
            <a:ext cx="11241915" cy="4613339"/>
          </a:xfrm>
        </p:spPr>
        <p:txBody>
          <a:bodyPr/>
          <a:lstStyle>
            <a:lvl1pPr marL="357188" indent="-357188">
              <a:lnSpc>
                <a:spcPct val="100000"/>
              </a:lnSpc>
              <a:spcBef>
                <a:spcPts val="624"/>
              </a:spcBef>
              <a:spcAft>
                <a:spcPts val="0"/>
              </a:spcAft>
              <a:defRPr sz="2600"/>
            </a:lvl1pPr>
            <a:lvl2pPr marL="712788" indent="-355600">
              <a:lnSpc>
                <a:spcPct val="100000"/>
              </a:lnSpc>
              <a:spcBef>
                <a:spcPts val="624"/>
              </a:spcBef>
              <a:spcAft>
                <a:spcPts val="0"/>
              </a:spcAft>
              <a:defRPr sz="2400" b="0"/>
            </a:lvl2pPr>
            <a:lvl3pPr marL="1079500" indent="-366713">
              <a:lnSpc>
                <a:spcPct val="100000"/>
              </a:lnSpc>
              <a:spcBef>
                <a:spcPts val="624"/>
              </a:spcBef>
              <a:spcAft>
                <a:spcPts val="0"/>
              </a:spcAft>
              <a:defRPr sz="2200" b="0"/>
            </a:lvl3pPr>
            <a:lvl4pPr marL="1371600" marR="0" indent="0" algn="l" defTabSz="914400" rtl="0" eaLnBrk="1" fontAlgn="auto" latinLnBrk="0" hangingPunct="1">
              <a:lnSpc>
                <a:spcPct val="100000"/>
              </a:lnSpc>
              <a:spcBef>
                <a:spcPts val="624"/>
              </a:spcBef>
              <a:spcAft>
                <a:spcPts val="60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6"/>
            <a:ext cx="11241915" cy="893330"/>
          </a:xfrm>
        </p:spPr>
        <p:txBody>
          <a:bodyPr anchor="ctr"/>
          <a:lstStyle>
            <a:lvl1pPr>
              <a:defRPr/>
            </a:lvl1pPr>
          </a:lstStyle>
          <a:p>
            <a:r>
              <a:rPr lang="en-US" dirty="0"/>
              <a:t>Slide Title</a:t>
            </a:r>
          </a:p>
        </p:txBody>
      </p:sp>
      <p:sp>
        <p:nvSpPr>
          <p:cNvPr id="3" name="Content Placeholder"/>
          <p:cNvSpPr>
            <a:spLocks noGrp="1"/>
          </p:cNvSpPr>
          <p:nvPr>
            <p:ph idx="1" hasCustomPrompt="1"/>
          </p:nvPr>
        </p:nvSpPr>
        <p:spPr>
          <a:xfrm>
            <a:off x="476843" y="1508125"/>
            <a:ext cx="8429413" cy="1920876"/>
          </a:xfrm>
        </p:spPr>
        <p:txBody>
          <a:bodyPr/>
          <a:lstStyle>
            <a:lvl1pPr marL="357188" indent="-357188">
              <a:lnSpc>
                <a:spcPct val="100000"/>
              </a:lnSpc>
              <a:spcBef>
                <a:spcPts val="624"/>
              </a:spcBef>
              <a:spcAft>
                <a:spcPts val="0"/>
              </a:spcAft>
              <a:defRPr sz="2600"/>
            </a:lvl1pPr>
            <a:lvl2pPr marL="712788" indent="-355600">
              <a:lnSpc>
                <a:spcPct val="100000"/>
              </a:lnSpc>
              <a:spcBef>
                <a:spcPts val="624"/>
              </a:spcBef>
              <a:spcAft>
                <a:spcPts val="0"/>
              </a:spcAft>
              <a:defRPr sz="2400" b="0"/>
            </a:lvl2pPr>
            <a:lvl3pPr marL="1079500" indent="-366713">
              <a:lnSpc>
                <a:spcPct val="100000"/>
              </a:lnSpc>
              <a:spcBef>
                <a:spcPts val="624"/>
              </a:spcBef>
              <a:spcAft>
                <a:spcPts val="0"/>
              </a:spcAft>
              <a:defRPr sz="2200" b="0"/>
            </a:lvl3pPr>
            <a:lvl4pPr marL="1371600" marR="0" indent="0" algn="l" defTabSz="914400" rtl="0" eaLnBrk="1" fontAlgn="auto" latinLnBrk="0" hangingPunct="1">
              <a:lnSpc>
                <a:spcPct val="100000"/>
              </a:lnSpc>
              <a:spcBef>
                <a:spcPts val="624"/>
              </a:spcBef>
              <a:spcAft>
                <a:spcPts val="60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p:txBody>
      </p:sp>
      <p:sp>
        <p:nvSpPr>
          <p:cNvPr id="5" name="Picture Placeholder 4">
            <a:extLst>
              <a:ext uri="{FF2B5EF4-FFF2-40B4-BE49-F238E27FC236}">
                <a16:creationId xmlns:a16="http://schemas.microsoft.com/office/drawing/2014/main" id="{E47313B8-53B1-7A6A-8F77-4F4E24937793}"/>
              </a:ext>
            </a:extLst>
          </p:cNvPr>
          <p:cNvSpPr>
            <a:spLocks noGrp="1"/>
          </p:cNvSpPr>
          <p:nvPr>
            <p:ph type="pic" sz="quarter" idx="10"/>
          </p:nvPr>
        </p:nvSpPr>
        <p:spPr>
          <a:xfrm>
            <a:off x="712788" y="3713163"/>
            <a:ext cx="3640137" cy="1636712"/>
          </a:xfrm>
        </p:spPr>
        <p:txBody>
          <a:bodyPr/>
          <a:lstStyle/>
          <a:p>
            <a:endParaRPr lang="en-IN"/>
          </a:p>
        </p:txBody>
      </p:sp>
      <p:sp>
        <p:nvSpPr>
          <p:cNvPr id="7" name="Picture Placeholder 6">
            <a:extLst>
              <a:ext uri="{FF2B5EF4-FFF2-40B4-BE49-F238E27FC236}">
                <a16:creationId xmlns:a16="http://schemas.microsoft.com/office/drawing/2014/main" id="{105267F2-31F2-77F2-A27F-B56E94585FF8}"/>
              </a:ext>
            </a:extLst>
          </p:cNvPr>
          <p:cNvSpPr>
            <a:spLocks noGrp="1"/>
          </p:cNvSpPr>
          <p:nvPr>
            <p:ph type="pic" sz="quarter" idx="11"/>
          </p:nvPr>
        </p:nvSpPr>
        <p:spPr>
          <a:xfrm>
            <a:off x="5157788" y="3713163"/>
            <a:ext cx="3062287" cy="1343025"/>
          </a:xfrm>
        </p:spPr>
        <p:txBody>
          <a:bodyPr/>
          <a:lstStyle/>
          <a:p>
            <a:endParaRPr lang="en-IN"/>
          </a:p>
        </p:txBody>
      </p:sp>
      <p:sp>
        <p:nvSpPr>
          <p:cNvPr id="9" name="Text Placeholder 8">
            <a:extLst>
              <a:ext uri="{FF2B5EF4-FFF2-40B4-BE49-F238E27FC236}">
                <a16:creationId xmlns:a16="http://schemas.microsoft.com/office/drawing/2014/main" id="{BDAE2A21-8E1D-3072-D9D5-B4ABBD4288E5}"/>
              </a:ext>
            </a:extLst>
          </p:cNvPr>
          <p:cNvSpPr>
            <a:spLocks noGrp="1"/>
          </p:cNvSpPr>
          <p:nvPr>
            <p:ph type="body" sz="quarter" idx="12"/>
          </p:nvPr>
        </p:nvSpPr>
        <p:spPr>
          <a:xfrm>
            <a:off x="7839075" y="2259013"/>
            <a:ext cx="3408363" cy="1454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Content Placeholder 5">
            <a:extLst>
              <a:ext uri="{FF2B5EF4-FFF2-40B4-BE49-F238E27FC236}">
                <a16:creationId xmlns:a16="http://schemas.microsoft.com/office/drawing/2014/main" id="{81AE453B-F2D5-46C4-9D84-9D0B64FA7F94}"/>
              </a:ext>
            </a:extLst>
          </p:cNvPr>
          <p:cNvSpPr>
            <a:spLocks noGrp="1"/>
          </p:cNvSpPr>
          <p:nvPr>
            <p:ph sz="quarter" idx="13"/>
          </p:nvPr>
        </p:nvSpPr>
        <p:spPr>
          <a:xfrm>
            <a:off x="8494713" y="485616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1801015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Content and image caption">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5"/>
            <a:ext cx="11241915" cy="920579"/>
          </a:xfrm>
        </p:spPr>
        <p:txBody>
          <a:bodyPr anchor="ctr"/>
          <a:lstStyle>
            <a:lvl1pPr>
              <a:defRPr/>
            </a:lvl1pPr>
          </a:lstStyle>
          <a:p>
            <a:r>
              <a:rPr lang="en-US" dirty="0"/>
              <a:t>Slide Title</a:t>
            </a:r>
          </a:p>
        </p:txBody>
      </p:sp>
      <p:sp>
        <p:nvSpPr>
          <p:cNvPr id="3" name="Content Placeholder"/>
          <p:cNvSpPr>
            <a:spLocks noGrp="1"/>
          </p:cNvSpPr>
          <p:nvPr>
            <p:ph idx="1" hasCustomPrompt="1"/>
          </p:nvPr>
        </p:nvSpPr>
        <p:spPr>
          <a:xfrm>
            <a:off x="476843" y="1565275"/>
            <a:ext cx="11241915" cy="1489898"/>
          </a:xfrm>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4">
            <a:extLst>
              <a:ext uri="{FF2B5EF4-FFF2-40B4-BE49-F238E27FC236}">
                <a16:creationId xmlns:a16="http://schemas.microsoft.com/office/drawing/2014/main" id="{1AC100CB-6DA0-4C44-8AA9-EF1047C778AB}"/>
              </a:ext>
            </a:extLst>
          </p:cNvPr>
          <p:cNvSpPr>
            <a:spLocks noGrp="1"/>
          </p:cNvSpPr>
          <p:nvPr>
            <p:ph sz="quarter" idx="10"/>
          </p:nvPr>
        </p:nvSpPr>
        <p:spPr>
          <a:xfrm>
            <a:off x="476250" y="3184525"/>
            <a:ext cx="4525963" cy="61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Content Placeholder 6">
            <a:extLst>
              <a:ext uri="{FF2B5EF4-FFF2-40B4-BE49-F238E27FC236}">
                <a16:creationId xmlns:a16="http://schemas.microsoft.com/office/drawing/2014/main" id="{1F7CD4DC-2798-4D91-B8F0-39A1E2678118}"/>
              </a:ext>
            </a:extLst>
          </p:cNvPr>
          <p:cNvSpPr>
            <a:spLocks noGrp="1"/>
          </p:cNvSpPr>
          <p:nvPr>
            <p:ph sz="quarter" idx="11"/>
          </p:nvPr>
        </p:nvSpPr>
        <p:spPr>
          <a:xfrm>
            <a:off x="476250" y="3925888"/>
            <a:ext cx="4525963" cy="61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Picture Placeholder 8">
            <a:extLst>
              <a:ext uri="{FF2B5EF4-FFF2-40B4-BE49-F238E27FC236}">
                <a16:creationId xmlns:a16="http://schemas.microsoft.com/office/drawing/2014/main" id="{CECB35C0-7E7B-4B64-AB45-C70040E7FA29}"/>
              </a:ext>
            </a:extLst>
          </p:cNvPr>
          <p:cNvSpPr>
            <a:spLocks noGrp="1"/>
          </p:cNvSpPr>
          <p:nvPr>
            <p:ph type="pic" sz="quarter" idx="12"/>
          </p:nvPr>
        </p:nvSpPr>
        <p:spPr>
          <a:xfrm>
            <a:off x="5745163" y="3313113"/>
            <a:ext cx="2484437" cy="1054100"/>
          </a:xfrm>
        </p:spPr>
        <p:txBody>
          <a:bodyPr/>
          <a:lstStyle/>
          <a:p>
            <a:endParaRPr lang="en-IN"/>
          </a:p>
        </p:txBody>
      </p:sp>
      <p:sp>
        <p:nvSpPr>
          <p:cNvPr id="11" name="Table Placeholder 10">
            <a:extLst>
              <a:ext uri="{FF2B5EF4-FFF2-40B4-BE49-F238E27FC236}">
                <a16:creationId xmlns:a16="http://schemas.microsoft.com/office/drawing/2014/main" id="{2B7EAAD5-547E-45DC-AFA3-8EB40988EED3}"/>
              </a:ext>
            </a:extLst>
          </p:cNvPr>
          <p:cNvSpPr>
            <a:spLocks noGrp="1"/>
          </p:cNvSpPr>
          <p:nvPr>
            <p:ph type="tbl" sz="quarter" idx="13"/>
          </p:nvPr>
        </p:nvSpPr>
        <p:spPr>
          <a:xfrm>
            <a:off x="8756650" y="3313113"/>
            <a:ext cx="2398713" cy="903287"/>
          </a:xfrm>
        </p:spPr>
        <p:txBody>
          <a:bodyPr/>
          <a:lstStyle/>
          <a:p>
            <a:endParaRPr lang="en-IN"/>
          </a:p>
        </p:txBody>
      </p:sp>
      <p:sp>
        <p:nvSpPr>
          <p:cNvPr id="13" name="Picture Placeholder 12">
            <a:extLst>
              <a:ext uri="{FF2B5EF4-FFF2-40B4-BE49-F238E27FC236}">
                <a16:creationId xmlns:a16="http://schemas.microsoft.com/office/drawing/2014/main" id="{A7F819D0-A76F-44C0-AE24-4C6C01B1D4A3}"/>
              </a:ext>
            </a:extLst>
          </p:cNvPr>
          <p:cNvSpPr>
            <a:spLocks noGrp="1"/>
          </p:cNvSpPr>
          <p:nvPr>
            <p:ph type="pic" sz="quarter" idx="14"/>
          </p:nvPr>
        </p:nvSpPr>
        <p:spPr>
          <a:xfrm>
            <a:off x="5948363" y="4538663"/>
            <a:ext cx="2033587" cy="754062"/>
          </a:xfrm>
        </p:spPr>
        <p:txBody>
          <a:bodyPr/>
          <a:lstStyle/>
          <a:p>
            <a:endParaRPr lang="en-IN"/>
          </a:p>
        </p:txBody>
      </p:sp>
    </p:spTree>
    <p:custDataLst>
      <p:tags r:id="rId1"/>
    </p:custDataLst>
    <p:extLst>
      <p:ext uri="{BB962C8B-B14F-4D97-AF65-F5344CB8AC3E}">
        <p14:creationId xmlns:p14="http://schemas.microsoft.com/office/powerpoint/2010/main" val="3642035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5"/>
            <a:ext cx="11241915" cy="514307"/>
          </a:xfrm>
        </p:spPr>
        <p:txBody>
          <a:bodyPr/>
          <a:lstStyle>
            <a:lvl1pPr>
              <a:defRPr sz="3200">
                <a:latin typeface="Arial" panose="020B0604020202020204" pitchFamily="34" charset="0"/>
                <a:cs typeface="Arial" panose="020B0604020202020204" pitchFamily="34" charset="0"/>
              </a:defRPr>
            </a:lvl1pPr>
          </a:lstStyle>
          <a:p>
            <a:r>
              <a:rPr lang="en-US" dirty="0"/>
              <a:t>Slide Title</a:t>
            </a:r>
          </a:p>
        </p:txBody>
      </p:sp>
      <p:sp>
        <p:nvSpPr>
          <p:cNvPr id="3" name="Content Placeholder 1"/>
          <p:cNvSpPr>
            <a:spLocks noGrp="1"/>
          </p:cNvSpPr>
          <p:nvPr>
            <p:ph idx="1" hasCustomPrompt="1"/>
          </p:nvPr>
        </p:nvSpPr>
        <p:spPr>
          <a:xfrm>
            <a:off x="480446" y="1176279"/>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6090" y="1176279"/>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5498" y="1185185"/>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5518" y="1185185"/>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80445" y="3359963"/>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6089" y="3359963"/>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5497" y="3368869"/>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5517" y="3368869"/>
            <a:ext cx="2563241" cy="2024480"/>
          </a:xfrm>
        </p:spPr>
        <p:txBody>
          <a:bodyPr/>
          <a:lstStyle>
            <a:lvl1pPr marL="0" indent="0" algn="ctr">
              <a:buNone/>
              <a:defRPr/>
            </a:lvl1pPr>
          </a:lstStyle>
          <a:p>
            <a:pPr lvl="0"/>
            <a:r>
              <a:rPr lang="en-US" dirty="0"/>
              <a:t>Insert here 8</a:t>
            </a:r>
          </a:p>
        </p:txBody>
      </p:sp>
      <p:sp>
        <p:nvSpPr>
          <p:cNvPr id="5" name="Content Placeholder 4">
            <a:extLst>
              <a:ext uri="{FF2B5EF4-FFF2-40B4-BE49-F238E27FC236}">
                <a16:creationId xmlns:a16="http://schemas.microsoft.com/office/drawing/2014/main" id="{35C72E4F-A7C3-409B-BAF8-F0E298B159F3}"/>
              </a:ext>
            </a:extLst>
          </p:cNvPr>
          <p:cNvSpPr>
            <a:spLocks noGrp="1"/>
          </p:cNvSpPr>
          <p:nvPr>
            <p:ph sz="quarter" idx="17"/>
          </p:nvPr>
        </p:nvSpPr>
        <p:spPr>
          <a:xfrm>
            <a:off x="741363" y="5549900"/>
            <a:ext cx="1909762" cy="430213"/>
          </a:xfrm>
        </p:spPr>
        <p:txBody>
          <a:bodyPr/>
          <a:lstStyle>
            <a:lvl1pPr marL="0" indent="0">
              <a:buNone/>
              <a:defRPr/>
            </a:lvl1pPr>
          </a:lstStyle>
          <a:p>
            <a:pPr lvl="0"/>
            <a:endParaRPr lang="en-IN" dirty="0"/>
          </a:p>
        </p:txBody>
      </p:sp>
      <p:sp>
        <p:nvSpPr>
          <p:cNvPr id="7" name="Content Placeholder 6">
            <a:extLst>
              <a:ext uri="{FF2B5EF4-FFF2-40B4-BE49-F238E27FC236}">
                <a16:creationId xmlns:a16="http://schemas.microsoft.com/office/drawing/2014/main" id="{6F86A118-C12B-4436-85D9-DB750AEF2CBF}"/>
              </a:ext>
            </a:extLst>
          </p:cNvPr>
          <p:cNvSpPr>
            <a:spLocks noGrp="1"/>
          </p:cNvSpPr>
          <p:nvPr>
            <p:ph sz="quarter" idx="18"/>
          </p:nvPr>
        </p:nvSpPr>
        <p:spPr>
          <a:xfrm>
            <a:off x="3305175" y="5549900"/>
            <a:ext cx="2562225" cy="430213"/>
          </a:xfrm>
        </p:spPr>
        <p:txBody>
          <a:bodyPr/>
          <a:lstStyle>
            <a:lvl1pPr marL="0" indent="0">
              <a:buNone/>
              <a:defRPr/>
            </a:lvl1pPr>
          </a:lstStyle>
          <a:p>
            <a:pPr lvl="0"/>
            <a:endParaRPr lang="en-IN" dirty="0"/>
          </a:p>
        </p:txBody>
      </p:sp>
      <p:sp>
        <p:nvSpPr>
          <p:cNvPr id="10" name="Content Placeholder 9">
            <a:extLst>
              <a:ext uri="{FF2B5EF4-FFF2-40B4-BE49-F238E27FC236}">
                <a16:creationId xmlns:a16="http://schemas.microsoft.com/office/drawing/2014/main" id="{C14BA7D1-7A46-4063-9F1E-B1AB6EAC6240}"/>
              </a:ext>
            </a:extLst>
          </p:cNvPr>
          <p:cNvSpPr>
            <a:spLocks noGrp="1"/>
          </p:cNvSpPr>
          <p:nvPr>
            <p:ph sz="quarter" idx="19"/>
          </p:nvPr>
        </p:nvSpPr>
        <p:spPr>
          <a:xfrm>
            <a:off x="6181725" y="5543550"/>
            <a:ext cx="2562225" cy="514350"/>
          </a:xfrm>
        </p:spPr>
        <p:txBody>
          <a:bodyPr/>
          <a:lstStyle>
            <a:lvl1pPr marL="0" indent="0">
              <a:buNone/>
              <a:defRPr/>
            </a:lvl1pPr>
          </a:lstStyle>
          <a:p>
            <a:pPr lvl="0"/>
            <a:endParaRPr lang="en-IN" dirty="0"/>
          </a:p>
        </p:txBody>
      </p:sp>
      <p:sp>
        <p:nvSpPr>
          <p:cNvPr id="21" name="Content Placeholder 9">
            <a:extLst>
              <a:ext uri="{FF2B5EF4-FFF2-40B4-BE49-F238E27FC236}">
                <a16:creationId xmlns:a16="http://schemas.microsoft.com/office/drawing/2014/main" id="{787F1E92-A8FA-4566-BE3E-EAA135FDBA53}"/>
              </a:ext>
            </a:extLst>
          </p:cNvPr>
          <p:cNvSpPr>
            <a:spLocks noGrp="1"/>
          </p:cNvSpPr>
          <p:nvPr>
            <p:ph sz="quarter" idx="20"/>
          </p:nvPr>
        </p:nvSpPr>
        <p:spPr>
          <a:xfrm>
            <a:off x="9156533" y="5549900"/>
            <a:ext cx="2562225" cy="514350"/>
          </a:xfrm>
        </p:spPr>
        <p:txBody>
          <a:bodyPr/>
          <a:lstStyle>
            <a:lvl1pPr marL="0" indent="0">
              <a:buNone/>
              <a:defRPr/>
            </a:lvl1pPr>
          </a:lstStyle>
          <a:p>
            <a:pPr lvl="0"/>
            <a:endParaRPr lang="en-IN" dirty="0"/>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0B94EA-E0FC-45F7-8A06-3CE9694ED2AD}"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1464818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176964"/>
            <a:ext cx="12192000" cy="6810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pic>
        <p:nvPicPr>
          <p:cNvPr id="14" name="Picture 13">
            <a:extLst>
              <a:ext uri="{FF2B5EF4-FFF2-40B4-BE49-F238E27FC236}">
                <a16:creationId xmlns:a16="http://schemas.microsoft.com/office/drawing/2014/main" id="{E7C5765A-7DA4-4F63-BBF6-FDB000C6FC14}"/>
              </a:ext>
              <a:ext uri="{C183D7F6-B498-43B3-948B-1728B52AA6E4}">
                <adec:decorative xmlns:adec="http://schemas.microsoft.com/office/drawing/2017/decorative" val="1"/>
              </a:ext>
            </a:extLst>
          </p:cNvPr>
          <p:cNvPicPr>
            <a:picLocks noChangeAspect="1"/>
          </p:cNvPicPr>
          <p:nvPr userDrawn="1"/>
        </p:nvPicPr>
        <p:blipFill>
          <a:blip r:embed="rId18"/>
          <a:stretch>
            <a:fillRect/>
          </a:stretch>
        </p:blipFill>
        <p:spPr>
          <a:xfrm>
            <a:off x="183087" y="6223885"/>
            <a:ext cx="1820281" cy="610675"/>
          </a:xfrm>
          <a:prstGeom prst="rect">
            <a:avLst/>
          </a:prstGeom>
        </p:spPr>
      </p:pic>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5" name="Content Placeholder 4">
            <a:extLst>
              <a:ext uri="{FF2B5EF4-FFF2-40B4-BE49-F238E27FC236}">
                <a16:creationId xmlns:a16="http://schemas.microsoft.com/office/drawing/2014/main" id="{8254C0C0-0BC0-F490-566F-15F5843ABA96}"/>
              </a:ext>
            </a:extLst>
          </p:cNvPr>
          <p:cNvSpPr txBox="1">
            <a:spLocks/>
          </p:cNvSpPr>
          <p:nvPr userDrawn="1"/>
        </p:nvSpPr>
        <p:spPr>
          <a:xfrm>
            <a:off x="2031365" y="6316519"/>
            <a:ext cx="9345472" cy="461665"/>
          </a:xfrm>
          <a:prstGeom prst="rect">
            <a:avLst/>
          </a:prstGeom>
          <a:noFill/>
        </p:spPr>
        <p:txBody>
          <a:bodyPr wrap="square" rtlCol="0">
            <a:spAutoFit/>
          </a:bodyPr>
          <a:lst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en-US" sz="1200">
                <a:solidFill>
                  <a:schemeClr val="bg1"/>
                </a:solidFill>
                <a:cs typeface="Arial" panose="020B0604020202020204" pitchFamily="34" charset="0"/>
              </a:rPr>
              <a:t>Rob Thompson and Jack Erjavec, Automotive Technology: A Systems Approach, 8</a:t>
            </a:r>
            <a:r>
              <a:rPr lang="en-US" sz="1200" baseline="30000">
                <a:solidFill>
                  <a:schemeClr val="bg1"/>
                </a:solidFill>
                <a:cs typeface="Arial" panose="020B0604020202020204" pitchFamily="34" charset="0"/>
              </a:rPr>
              <a:t>th</a:t>
            </a:r>
            <a:r>
              <a:rPr lang="en-US" sz="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dirty="0">
              <a:solidFill>
                <a:schemeClr val="bg1"/>
              </a:solidFill>
              <a:cs typeface="Arial" panose="020B0604020202020204" pitchFamily="34" charset="0"/>
            </a:endParaRPr>
          </a:p>
        </p:txBody>
      </p:sp>
    </p:spTree>
    <p:custDataLst>
      <p:tags r:id="rId17"/>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67" r:id="rId4"/>
    <p:sldLayoutId id="2147483766" r:id="rId5"/>
    <p:sldLayoutId id="2147483728" r:id="rId6"/>
    <p:sldLayoutId id="2147483736" r:id="rId7"/>
    <p:sldLayoutId id="2147483729" r:id="rId8"/>
    <p:sldLayoutId id="2147483760" r:id="rId9"/>
    <p:sldLayoutId id="2147483730" r:id="rId10"/>
    <p:sldLayoutId id="2147483732" r:id="rId11"/>
    <p:sldLayoutId id="2147483761" r:id="rId12"/>
    <p:sldLayoutId id="2147483737" r:id="rId13"/>
    <p:sldLayoutId id="2147483762" r:id="rId14"/>
    <p:sldLayoutId id="2147483769" r:id="rId15"/>
  </p:sldLayoutIdLst>
  <p:hf sldNum="0" hd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8.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19.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ags" Target="../tags/tag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t>
            </a:r>
            <a:br>
              <a:rPr lang="en-US" sz="4000" dirty="0">
                <a:cs typeface="Arial" panose="020B0604020202020204" pitchFamily="34" charset="0"/>
              </a:rPr>
            </a:br>
            <a:r>
              <a:rPr lang="en-US" sz="4000" dirty="0">
                <a:cs typeface="Arial" panose="020B0604020202020204" pitchFamily="34" charset="0"/>
              </a:rPr>
              <a:t>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1: </a:t>
            </a:r>
            <a:r>
              <a:rPr lang="en-GB" dirty="0">
                <a:cs typeface="Arial" panose="020B0604020202020204" pitchFamily="34" charset="0"/>
              </a:rPr>
              <a:t>Careers in the Automotive Industry</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31365" y="6316519"/>
            <a:ext cx="9345472" cy="461665"/>
          </a:xfrm>
          <a:prstGeom prst="rect">
            <a:avLst/>
          </a:prstGeom>
          <a:noFill/>
        </p:spPr>
        <p:txBody>
          <a:bodyPr wrap="square" rtlCol="0">
            <a:spAutoFit/>
          </a:bodyPr>
          <a:lstStyle/>
          <a:p>
            <a:pPr marL="0" indent="0">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126DF-399A-F59D-4FAD-C08801115702}"/>
              </a:ext>
            </a:extLst>
          </p:cNvPr>
          <p:cNvSpPr>
            <a:spLocks noGrp="1"/>
          </p:cNvSpPr>
          <p:nvPr>
            <p:ph type="title"/>
          </p:nvPr>
        </p:nvSpPr>
        <p:spPr/>
        <p:txBody>
          <a:bodyPr/>
          <a:lstStyle/>
          <a:p>
            <a:r>
              <a:rPr lang="en-US" dirty="0"/>
              <a:t>Icebreaker: Interview Simulation</a:t>
            </a:r>
          </a:p>
        </p:txBody>
      </p:sp>
      <p:sp>
        <p:nvSpPr>
          <p:cNvPr id="3" name="Content Placeholder 2">
            <a:extLst>
              <a:ext uri="{FF2B5EF4-FFF2-40B4-BE49-F238E27FC236}">
                <a16:creationId xmlns:a16="http://schemas.microsoft.com/office/drawing/2014/main" id="{165E3BE6-D633-7DEF-56CD-BD41E2DBB579}"/>
              </a:ext>
            </a:extLst>
          </p:cNvPr>
          <p:cNvSpPr>
            <a:spLocks noGrp="1"/>
          </p:cNvSpPr>
          <p:nvPr>
            <p:ph idx="1"/>
          </p:nvPr>
        </p:nvSpPr>
        <p:spPr/>
        <p:txBody>
          <a:bodyPr/>
          <a:lstStyle/>
          <a:p>
            <a:pPr marL="444500" indent="-444500">
              <a:spcAft>
                <a:spcPts val="1200"/>
              </a:spcAft>
              <a:buFont typeface="+mj-lt"/>
              <a:buAutoNum type="arabicPeriod"/>
            </a:pPr>
            <a:r>
              <a:rPr lang="en-US" dirty="0">
                <a:solidFill>
                  <a:schemeClr val="accent1"/>
                </a:solidFill>
              </a:rPr>
              <a:t>The class will be broken up into pairs of students.</a:t>
            </a:r>
          </a:p>
          <a:p>
            <a:pPr marL="444500" indent="-444500">
              <a:spcAft>
                <a:spcPts val="1200"/>
              </a:spcAft>
              <a:buFont typeface="+mj-lt"/>
              <a:buAutoNum type="arabicPeriod"/>
            </a:pPr>
            <a:r>
              <a:rPr lang="en-US" dirty="0">
                <a:solidFill>
                  <a:schemeClr val="accent1"/>
                </a:solidFill>
              </a:rPr>
              <a:t>Each pair of students will interview each other about their career interest and experience in the automotive field.</a:t>
            </a:r>
          </a:p>
          <a:p>
            <a:pPr marL="444500" indent="-444500">
              <a:spcAft>
                <a:spcPts val="1200"/>
              </a:spcAft>
              <a:buFont typeface="+mj-lt"/>
              <a:buAutoNum type="arabicPeriod"/>
            </a:pPr>
            <a:r>
              <a:rPr lang="en-US" dirty="0">
                <a:solidFill>
                  <a:schemeClr val="accent1"/>
                </a:solidFill>
              </a:rPr>
              <a:t>Then each pair will introduce each other to the </a:t>
            </a:r>
            <a:r>
              <a:rPr lang="en-US">
                <a:solidFill>
                  <a:schemeClr val="accent1"/>
                </a:solidFill>
              </a:rPr>
              <a:t>class.</a:t>
            </a:r>
            <a:endParaRPr lang="en-US" dirty="0">
              <a:solidFill>
                <a:schemeClr val="accent1"/>
              </a:solidFill>
            </a:endParaRPr>
          </a:p>
          <a:p>
            <a:pPr marL="444500" indent="-444500">
              <a:spcAft>
                <a:spcPts val="1200"/>
              </a:spcAft>
              <a:buFont typeface="+mj-lt"/>
              <a:buAutoNum type="arabicPeriod"/>
            </a:pPr>
            <a:r>
              <a:rPr lang="en-US" dirty="0">
                <a:solidFill>
                  <a:schemeClr val="accent1"/>
                </a:solidFill>
              </a:rPr>
              <a:t>As you respond to your interviewer’s questions, think about a personal story that connects your experience to topics that are relevant to this course.</a:t>
            </a:r>
          </a:p>
        </p:txBody>
      </p:sp>
    </p:spTree>
    <p:extLst>
      <p:ext uri="{BB962C8B-B14F-4D97-AF65-F5344CB8AC3E}">
        <p14:creationId xmlns:p14="http://schemas.microsoft.com/office/powerpoint/2010/main" val="345916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BCA28CB-E86D-4243-9B4B-3C703AE85185}"/>
              </a:ext>
            </a:extLst>
          </p:cNvPr>
          <p:cNvSpPr>
            <a:spLocks noGrp="1"/>
          </p:cNvSpPr>
          <p:nvPr>
            <p:ph type="title"/>
          </p:nvPr>
        </p:nvSpPr>
        <p:spPr/>
        <p:txBody>
          <a:bodyPr/>
          <a:lstStyle/>
          <a:p>
            <a:r>
              <a:rPr lang="en-US" dirty="0"/>
              <a:t>Chapter Objectives</a:t>
            </a:r>
            <a:endParaRPr lang="en-IN" dirty="0"/>
          </a:p>
        </p:txBody>
      </p:sp>
      <p:sp>
        <p:nvSpPr>
          <p:cNvPr id="4" name="Content Placeholder 3">
            <a:extLst>
              <a:ext uri="{FF2B5EF4-FFF2-40B4-BE49-F238E27FC236}">
                <a16:creationId xmlns:a16="http://schemas.microsoft.com/office/drawing/2014/main" id="{5537EF08-0DB3-438B-A55D-5E2D3A18F40B}"/>
              </a:ext>
            </a:extLst>
          </p:cNvPr>
          <p:cNvSpPr>
            <a:spLocks noGrp="1"/>
          </p:cNvSpPr>
          <p:nvPr>
            <p:ph idx="1"/>
          </p:nvPr>
        </p:nvSpPr>
        <p:spPr/>
        <p:txBody>
          <a:bodyPr/>
          <a:lstStyle/>
          <a:p>
            <a:pPr marR="0" lvl="0">
              <a:spcAft>
                <a:spcPts val="400"/>
              </a:spcAft>
            </a:pPr>
            <a:r>
              <a:rPr lang="en-US" sz="2400" dirty="0"/>
              <a:t>01.01 </a:t>
            </a:r>
            <a:r>
              <a:rPr lang="en-US" sz="2400" dirty="0">
                <a:effectLst/>
                <a:ea typeface="MS Mincho" panose="02020609040205080304" pitchFamily="49" charset="-128"/>
                <a:cs typeface="Times New Roman" panose="02020603050405020304" pitchFamily="18" charset="0"/>
              </a:rPr>
              <a:t>Describe the various types of jobs available in the automotive industry.</a:t>
            </a:r>
          </a:p>
          <a:p>
            <a:pPr marR="0" lvl="0">
              <a:spcAft>
                <a:spcPts val="400"/>
              </a:spcAft>
            </a:pPr>
            <a:r>
              <a:rPr lang="en-US" sz="2400" dirty="0"/>
              <a:t>01.02 </a:t>
            </a:r>
            <a:r>
              <a:rPr lang="en-US" sz="2400" dirty="0">
                <a:effectLst/>
                <a:ea typeface="MS Mincho" panose="02020609040205080304" pitchFamily="49" charset="-128"/>
                <a:cs typeface="Times New Roman" panose="02020603050405020304" pitchFamily="18" charset="0"/>
              </a:rPr>
              <a:t>Identify the many job opportunities available to people with an automotive technology background.</a:t>
            </a:r>
          </a:p>
          <a:p>
            <a:pPr marR="0" lvl="0">
              <a:spcAft>
                <a:spcPts val="400"/>
              </a:spcAft>
            </a:pPr>
            <a:r>
              <a:rPr lang="en-US" sz="2400" dirty="0"/>
              <a:t>01.03 </a:t>
            </a:r>
            <a:r>
              <a:rPr lang="en-US" sz="2400" dirty="0">
                <a:effectLst/>
                <a:ea typeface="MS Mincho" panose="02020609040205080304" pitchFamily="49" charset="-128"/>
                <a:cs typeface="Times New Roman" panose="02020603050405020304" pitchFamily="18" charset="0"/>
              </a:rPr>
              <a:t>Describe career opportunities related to the automotive industry. Explain the types of training available for technicians and why continuing education is important.</a:t>
            </a:r>
          </a:p>
          <a:p>
            <a:pPr>
              <a:spcAft>
                <a:spcPts val="400"/>
              </a:spcAft>
            </a:pPr>
            <a:r>
              <a:rPr lang="en-US" sz="2400" dirty="0"/>
              <a:t>01.04 </a:t>
            </a:r>
            <a:r>
              <a:rPr lang="en-US" sz="2400" dirty="0">
                <a:effectLst/>
                <a:ea typeface="MS Mincho" panose="02020609040205080304" pitchFamily="49" charset="-128"/>
                <a:cs typeface="Times New Roman" panose="02020603050405020304" pitchFamily="18" charset="0"/>
              </a:rPr>
              <a:t>Describe the requirements for ASE certification as an automotive technician and a master auto technician.</a:t>
            </a:r>
          </a:p>
          <a:p>
            <a:pPr eaLnBrk="1" hangingPunct="1">
              <a:spcAft>
                <a:spcPts val="400"/>
              </a:spcAft>
            </a:pPr>
            <a:r>
              <a:rPr lang="en-US" sz="2400" dirty="0"/>
              <a:t>01.05 Explain the requirements for automotive training programs to achieve ASE Accreditation.</a:t>
            </a:r>
          </a:p>
        </p:txBody>
      </p:sp>
    </p:spTree>
    <p:custDataLst>
      <p:tags r:id="rId1"/>
    </p:custDataLst>
    <p:extLst>
      <p:ext uri="{BB962C8B-B14F-4D97-AF65-F5344CB8AC3E}">
        <p14:creationId xmlns:p14="http://schemas.microsoft.com/office/powerpoint/2010/main" val="497835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pPr eaLnBrk="1" hangingPunct="1"/>
            <a:r>
              <a:rPr lang="en-US" dirty="0"/>
              <a:t>The Automotive Industry (1 of 2)</a:t>
            </a:r>
          </a:p>
        </p:txBody>
      </p:sp>
      <p:sp>
        <p:nvSpPr>
          <p:cNvPr id="3075" name="Content Placeholder 2"/>
          <p:cNvSpPr>
            <a:spLocks noGrp="1"/>
          </p:cNvSpPr>
          <p:nvPr>
            <p:ph idx="1"/>
          </p:nvPr>
        </p:nvSpPr>
        <p:spPr>
          <a:xfrm>
            <a:off x="476843" y="1508124"/>
            <a:ext cx="5958247" cy="4549775"/>
          </a:xfrm>
        </p:spPr>
        <p:txBody>
          <a:bodyPr>
            <a:normAutofit/>
          </a:bodyPr>
          <a:lstStyle/>
          <a:p>
            <a:pPr>
              <a:spcAft>
                <a:spcPts val="600"/>
              </a:spcAft>
            </a:pPr>
            <a:r>
              <a:rPr lang="en-US" dirty="0"/>
              <a:t>The U.S. automotive industry is no longer dominated by the “big three”—GM, Ford, and Chrysler.</a:t>
            </a:r>
          </a:p>
          <a:p>
            <a:pPr eaLnBrk="1" hangingPunct="1">
              <a:spcAft>
                <a:spcPts val="600"/>
              </a:spcAft>
            </a:pPr>
            <a:r>
              <a:rPr lang="en-US" dirty="0"/>
              <a:t>The industry is now global.</a:t>
            </a:r>
          </a:p>
          <a:p>
            <a:pPr eaLnBrk="1" hangingPunct="1">
              <a:spcAft>
                <a:spcPts val="600"/>
              </a:spcAft>
            </a:pPr>
            <a:r>
              <a:rPr lang="en-US" dirty="0"/>
              <a:t>While GM has the highest rating in global sales, Toyota is a close </a:t>
            </a:r>
            <a:r>
              <a:rPr lang="en-US"/>
              <a:t>second.</a:t>
            </a:r>
            <a:endParaRPr lang="en-US" dirty="0"/>
          </a:p>
          <a:p>
            <a:pPr>
              <a:spcAft>
                <a:spcPts val="600"/>
              </a:spcAft>
            </a:pPr>
            <a:r>
              <a:rPr lang="en-US" dirty="0"/>
              <a:t>Shown, the Ford F-150 pickup has been the best-selling vehicle in America for many </a:t>
            </a:r>
            <a:r>
              <a:rPr lang="en-US"/>
              <a:t>years.</a:t>
            </a:r>
            <a:endParaRPr lang="en-US" dirty="0"/>
          </a:p>
        </p:txBody>
      </p:sp>
      <p:pic>
        <p:nvPicPr>
          <p:cNvPr id="7" name="Picture Placeholder 6" descr="A brand new red ford F-150 model truck.">
            <a:extLst>
              <a:ext uri="{FF2B5EF4-FFF2-40B4-BE49-F238E27FC236}">
                <a16:creationId xmlns:a16="http://schemas.microsoft.com/office/drawing/2014/main" id="{E0C17B79-CD91-6407-92B8-EEDE013DC4EC}"/>
              </a:ext>
            </a:extLst>
          </p:cNvPr>
          <p:cNvPicPr>
            <a:picLocks noGrp="1" noChangeAspect="1"/>
          </p:cNvPicPr>
          <p:nvPr>
            <p:ph type="pic" sz="quarter" idx="10"/>
          </p:nvPr>
        </p:nvPicPr>
        <p:blipFill rotWithShape="1">
          <a:blip r:embed="rId3"/>
          <a:srcRect l="1" r="17575"/>
          <a:stretch/>
        </p:blipFill>
        <p:spPr>
          <a:xfrm>
            <a:off x="6917227" y="1804122"/>
            <a:ext cx="4817421" cy="3957778"/>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pPr eaLnBrk="1" hangingPunct="1"/>
            <a:r>
              <a:rPr lang="en-US" dirty="0"/>
              <a:t>The Automotive Industry (2 of 2)</a:t>
            </a:r>
          </a:p>
        </p:txBody>
      </p:sp>
      <p:pic>
        <p:nvPicPr>
          <p:cNvPr id="7" name="Picture Placeholder 6" descr="Two cars at a Tesla supercharging station.">
            <a:extLst>
              <a:ext uri="{FF2B5EF4-FFF2-40B4-BE49-F238E27FC236}">
                <a16:creationId xmlns:a16="http://schemas.microsoft.com/office/drawing/2014/main" id="{3E224068-42C1-34BC-CA1C-C14AB63198A2}"/>
              </a:ext>
            </a:extLst>
          </p:cNvPr>
          <p:cNvPicPr>
            <a:picLocks noGrp="1" noChangeAspect="1"/>
          </p:cNvPicPr>
          <p:nvPr>
            <p:ph type="pic" sz="quarter" idx="10"/>
          </p:nvPr>
        </p:nvPicPr>
        <p:blipFill>
          <a:blip r:embed="rId3"/>
          <a:stretch>
            <a:fillRect/>
          </a:stretch>
        </p:blipFill>
        <p:spPr>
          <a:xfrm>
            <a:off x="732362" y="2442167"/>
            <a:ext cx="5165566" cy="2621817"/>
          </a:xfrm>
          <a:prstGeom prst="rect">
            <a:avLst/>
          </a:prstGeom>
          <a:noFill/>
        </p:spPr>
      </p:pic>
      <p:sp>
        <p:nvSpPr>
          <p:cNvPr id="3075" name="Content Placeholder 2"/>
          <p:cNvSpPr>
            <a:spLocks noGrp="1"/>
          </p:cNvSpPr>
          <p:nvPr>
            <p:ph idx="1"/>
          </p:nvPr>
        </p:nvSpPr>
        <p:spPr>
          <a:xfrm>
            <a:off x="6096000" y="1508124"/>
            <a:ext cx="5622758" cy="4615949"/>
          </a:xfrm>
        </p:spPr>
        <p:txBody>
          <a:bodyPr>
            <a:normAutofit/>
          </a:bodyPr>
          <a:lstStyle/>
          <a:p>
            <a:pPr eaLnBrk="1" hangingPunct="1">
              <a:lnSpc>
                <a:spcPct val="110000"/>
              </a:lnSpc>
              <a:spcAft>
                <a:spcPts val="600"/>
              </a:spcAft>
            </a:pPr>
            <a:r>
              <a:rPr lang="en-US" sz="2200" dirty="0"/>
              <a:t>Automobile manufacturers have joined together, or merged, to reduce costs and increase market share.</a:t>
            </a:r>
          </a:p>
          <a:p>
            <a:pPr eaLnBrk="1" hangingPunct="1">
              <a:lnSpc>
                <a:spcPct val="110000"/>
              </a:lnSpc>
              <a:spcAft>
                <a:spcPts val="600"/>
              </a:spcAft>
            </a:pPr>
            <a:r>
              <a:rPr lang="en-US" sz="2200" dirty="0"/>
              <a:t>This cooperation between manufacturers has given customers more selection in </a:t>
            </a:r>
            <a:r>
              <a:rPr lang="en-US" sz="2200"/>
              <a:t>vehicles.</a:t>
            </a:r>
            <a:endParaRPr lang="en-US" sz="2200" dirty="0"/>
          </a:p>
          <a:p>
            <a:pPr eaLnBrk="1" hangingPunct="1">
              <a:lnSpc>
                <a:spcPct val="110000"/>
              </a:lnSpc>
              <a:spcAft>
                <a:spcPts val="600"/>
              </a:spcAft>
            </a:pPr>
            <a:r>
              <a:rPr lang="en-US" sz="2200" dirty="0"/>
              <a:t>It also has created new challenges for automotive technicians, because the different models come with different systems and </a:t>
            </a:r>
            <a:r>
              <a:rPr lang="en-US" sz="2200"/>
              <a:t>options.</a:t>
            </a:r>
            <a:endParaRPr lang="en-US" sz="2200" dirty="0"/>
          </a:p>
        </p:txBody>
      </p:sp>
    </p:spTree>
    <p:extLst>
      <p:ext uri="{BB962C8B-B14F-4D97-AF65-F5344CB8AC3E}">
        <p14:creationId xmlns:p14="http://schemas.microsoft.com/office/powerpoint/2010/main" val="4155666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pPr eaLnBrk="1" hangingPunct="1"/>
            <a:r>
              <a:rPr lang="en-US" b="1" dirty="0"/>
              <a:t>The Importance of Auto Technicians</a:t>
            </a:r>
            <a:endParaRPr lang="en-US" dirty="0"/>
          </a:p>
        </p:txBody>
      </p:sp>
      <p:sp>
        <p:nvSpPr>
          <p:cNvPr id="14" name="Content Placeholder 13">
            <a:extLst>
              <a:ext uri="{FF2B5EF4-FFF2-40B4-BE49-F238E27FC236}">
                <a16:creationId xmlns:a16="http://schemas.microsoft.com/office/drawing/2014/main" id="{2ED34482-0ACD-4C2F-2B92-B2BD0C63C5BC}"/>
              </a:ext>
            </a:extLst>
          </p:cNvPr>
          <p:cNvSpPr txBox="1">
            <a:spLocks noGrp="1"/>
          </p:cNvSpPr>
          <p:nvPr>
            <p:ph idx="1"/>
          </p:nvPr>
        </p:nvSpPr>
        <p:spPr>
          <a:xfrm>
            <a:off x="749074" y="1746652"/>
            <a:ext cx="10696860" cy="369332"/>
          </a:xfrm>
          <a:prstGeom prst="rect">
            <a:avLst/>
          </a:prstGeom>
          <a:noFill/>
        </p:spPr>
        <p:txBody>
          <a:bodyPr wrap="square" rtlCol="0" anchor="ctr">
            <a:spAutoFit/>
          </a:bodyPr>
          <a:lstStyle/>
          <a:p>
            <a:pPr marL="0" indent="0" algn="ctr">
              <a:buNone/>
            </a:pPr>
            <a:r>
              <a:rPr lang="en-US" sz="1800" dirty="0"/>
              <a:t>Objective 01.01 </a:t>
            </a:r>
            <a:r>
              <a:rPr lang="en-US" sz="1800" dirty="0">
                <a:effectLst/>
                <a:ea typeface="MS Mincho" panose="02020609040205080304" pitchFamily="49" charset="-128"/>
                <a:cs typeface="Times New Roman" panose="02020603050405020304" pitchFamily="18" charset="0"/>
              </a:rPr>
              <a:t>Describe the various types of jobs available in the automotive </a:t>
            </a:r>
            <a:r>
              <a:rPr lang="en-US" sz="1800">
                <a:effectLst/>
                <a:ea typeface="MS Mincho" panose="02020609040205080304" pitchFamily="49" charset="-128"/>
                <a:cs typeface="Times New Roman" panose="02020603050405020304" pitchFamily="18" charset="0"/>
              </a:rPr>
              <a:t>industry.</a:t>
            </a:r>
            <a:endParaRPr lang="en-US" sz="1800" dirty="0">
              <a:effectLst/>
              <a:ea typeface="MS Mincho" panose="02020609040205080304" pitchFamily="49" charset="-128"/>
              <a:cs typeface="Times New Roman" panose="02020603050405020304" pitchFamily="18" charset="0"/>
            </a:endParaRPr>
          </a:p>
        </p:txBody>
      </p:sp>
      <p:sp>
        <p:nvSpPr>
          <p:cNvPr id="13" name="Content Placeholder 2"/>
          <p:cNvSpPr>
            <a:spLocks noGrp="1"/>
          </p:cNvSpPr>
          <p:nvPr>
            <p:ph type="body" sz="quarter" idx="12"/>
          </p:nvPr>
        </p:nvSpPr>
        <p:spPr>
          <a:xfrm>
            <a:off x="476250" y="2417763"/>
            <a:ext cx="6213308" cy="3549900"/>
          </a:xfrm>
        </p:spPr>
        <p:txBody>
          <a:bodyPr>
            <a:normAutofit/>
          </a:bodyPr>
          <a:lstStyle/>
          <a:p>
            <a:pPr marL="360363" indent="-360363">
              <a:spcBef>
                <a:spcPts val="624"/>
              </a:spcBef>
              <a:spcAft>
                <a:spcPts val="600"/>
              </a:spcAft>
            </a:pPr>
            <a:r>
              <a:rPr lang="en-US" sz="2600" dirty="0"/>
              <a:t>An understanding of electronics is a must for all automotive technicians.</a:t>
            </a:r>
          </a:p>
          <a:p>
            <a:pPr marL="360363" indent="-360363" eaLnBrk="1" hangingPunct="1">
              <a:spcBef>
                <a:spcPts val="624"/>
              </a:spcBef>
              <a:spcAft>
                <a:spcPts val="600"/>
              </a:spcAft>
            </a:pPr>
            <a:r>
              <a:rPr lang="en-US" sz="2600" dirty="0"/>
              <a:t>Computers and electronic devices are used to control the operation of nearly all systems of an automobile.</a:t>
            </a:r>
          </a:p>
        </p:txBody>
      </p:sp>
      <p:pic>
        <p:nvPicPr>
          <p:cNvPr id="8" name="Picture Placeholder 7" descr="A close up of an automotive technician adjusting the multi-meter reading that reads, negative 0.00.">
            <a:extLst>
              <a:ext uri="{FF2B5EF4-FFF2-40B4-BE49-F238E27FC236}">
                <a16:creationId xmlns:a16="http://schemas.microsoft.com/office/drawing/2014/main" id="{9633627F-0F83-B3FD-212A-6247E13F1E6D}"/>
              </a:ext>
            </a:extLst>
          </p:cNvPr>
          <p:cNvPicPr>
            <a:picLocks noGrp="1" noChangeAspect="1"/>
          </p:cNvPicPr>
          <p:nvPr>
            <p:ph type="pic" sz="quarter" idx="10"/>
          </p:nvPr>
        </p:nvPicPr>
        <p:blipFill rotWithShape="1">
          <a:blip r:embed="rId3"/>
          <a:srcRect b="18390"/>
          <a:stretch/>
        </p:blipFill>
        <p:spPr>
          <a:xfrm>
            <a:off x="7581806" y="2405525"/>
            <a:ext cx="3862494" cy="3632793"/>
          </a:xfrm>
          <a:prstGeom prst="rect">
            <a:avLst/>
          </a:prstGeom>
          <a:noFill/>
        </p:spPr>
      </p:pic>
    </p:spTree>
    <p:extLst>
      <p:ext uri="{BB962C8B-B14F-4D97-AF65-F5344CB8AC3E}">
        <p14:creationId xmlns:p14="http://schemas.microsoft.com/office/powerpoint/2010/main" val="15102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b="1" dirty="0"/>
              <a:t>The Need for Quality Service (1 of 5)</a:t>
            </a:r>
            <a:endParaRPr lang="en-US" dirty="0"/>
          </a:p>
        </p:txBody>
      </p:sp>
      <p:sp>
        <p:nvSpPr>
          <p:cNvPr id="3075" name="Content Placeholder 2"/>
          <p:cNvSpPr>
            <a:spLocks noGrp="1"/>
          </p:cNvSpPr>
          <p:nvPr>
            <p:ph idx="1"/>
          </p:nvPr>
        </p:nvSpPr>
        <p:spPr>
          <a:xfrm>
            <a:off x="476844" y="1508124"/>
            <a:ext cx="7042894" cy="4447507"/>
          </a:xfrm>
        </p:spPr>
        <p:txBody>
          <a:bodyPr/>
          <a:lstStyle/>
          <a:p>
            <a:pPr eaLnBrk="1" hangingPunct="1">
              <a:spcAft>
                <a:spcPts val="600"/>
              </a:spcAft>
            </a:pPr>
            <a:r>
              <a:rPr lang="en-US" dirty="0">
                <a:solidFill>
                  <a:schemeClr val="accent1"/>
                </a:solidFill>
              </a:rPr>
              <a:t>Currently, there is a great shortage of qualified automotive technicians.</a:t>
            </a:r>
          </a:p>
          <a:p>
            <a:pPr eaLnBrk="1" hangingPunct="1">
              <a:spcAft>
                <a:spcPts val="600"/>
              </a:spcAft>
            </a:pPr>
            <a:r>
              <a:rPr lang="en-US" dirty="0">
                <a:solidFill>
                  <a:schemeClr val="accent1"/>
                </a:solidFill>
              </a:rPr>
              <a:t>Today’s vehicles are complex, and a great amount of knowledge and understanding is required for good diagnostic skills.</a:t>
            </a:r>
          </a:p>
          <a:p>
            <a:pPr eaLnBrk="1" hangingPunct="1">
              <a:spcAft>
                <a:spcPts val="600"/>
              </a:spcAft>
            </a:pPr>
            <a:r>
              <a:rPr lang="en-US" dirty="0">
                <a:solidFill>
                  <a:schemeClr val="accent1"/>
                </a:solidFill>
              </a:rPr>
              <a:t>Today’s technicians must be able to identify and solve problems the first time the vehicle is brought into the shop.</a:t>
            </a:r>
          </a:p>
        </p:txBody>
      </p:sp>
      <p:pic>
        <p:nvPicPr>
          <p:cNvPr id="7" name="Picture Placeholder 6" descr="A technician inside a car, reading the data displayed on her laptop.">
            <a:extLst>
              <a:ext uri="{FF2B5EF4-FFF2-40B4-BE49-F238E27FC236}">
                <a16:creationId xmlns:a16="http://schemas.microsoft.com/office/drawing/2014/main" id="{A8453304-C104-F548-E5D8-4C6FAC7C49E2}"/>
              </a:ext>
            </a:extLst>
          </p:cNvPr>
          <p:cNvPicPr>
            <a:picLocks noGrp="1" noChangeAspect="1"/>
          </p:cNvPicPr>
          <p:nvPr>
            <p:ph type="pic" sz="quarter" idx="10"/>
          </p:nvPr>
        </p:nvPicPr>
        <p:blipFill>
          <a:blip r:embed="rId3"/>
          <a:stretch>
            <a:fillRect/>
          </a:stretch>
        </p:blipFill>
        <p:spPr>
          <a:xfrm>
            <a:off x="8265218" y="1689816"/>
            <a:ext cx="2720946" cy="4119061"/>
          </a:xfrm>
          <a:prstGeom prst="rect">
            <a:avLst/>
          </a:prstGeom>
        </p:spPr>
      </p:pic>
    </p:spTree>
    <p:extLst>
      <p:ext uri="{BB962C8B-B14F-4D97-AF65-F5344CB8AC3E}">
        <p14:creationId xmlns:p14="http://schemas.microsoft.com/office/powerpoint/2010/main" val="2094940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sz="4000" b="1" dirty="0"/>
              <a:t>The Need for Ongoing </a:t>
            </a:r>
            <a:r>
              <a:rPr lang="en-US" sz="4000" b="1"/>
              <a:t>Service:</a:t>
            </a:r>
            <a:r>
              <a:rPr lang="en-US"/>
              <a:t> (</a:t>
            </a:r>
            <a:r>
              <a:rPr lang="en-US" dirty="0"/>
              <a:t>2 of 5)</a:t>
            </a:r>
          </a:p>
        </p:txBody>
      </p:sp>
      <p:pic>
        <p:nvPicPr>
          <p:cNvPr id="7" name="Picture Placeholder 6" descr="An automobile technician performs a routine service of changing engine oil.">
            <a:extLst>
              <a:ext uri="{FF2B5EF4-FFF2-40B4-BE49-F238E27FC236}">
                <a16:creationId xmlns:a16="http://schemas.microsoft.com/office/drawing/2014/main" id="{419D3967-D8C3-3150-0BA8-56FD33818600}"/>
              </a:ext>
            </a:extLst>
          </p:cNvPr>
          <p:cNvPicPr>
            <a:picLocks noGrp="1" noChangeAspect="1"/>
          </p:cNvPicPr>
          <p:nvPr>
            <p:ph type="pic" sz="quarter" idx="10"/>
          </p:nvPr>
        </p:nvPicPr>
        <p:blipFill>
          <a:blip r:embed="rId3"/>
          <a:stretch>
            <a:fillRect/>
          </a:stretch>
        </p:blipFill>
        <p:spPr>
          <a:xfrm>
            <a:off x="765825" y="1565408"/>
            <a:ext cx="2800045" cy="4356719"/>
          </a:xfrm>
          <a:prstGeom prst="rect">
            <a:avLst/>
          </a:prstGeom>
          <a:noFill/>
        </p:spPr>
      </p:pic>
      <p:sp>
        <p:nvSpPr>
          <p:cNvPr id="3075" name="Content Placeholder 2"/>
          <p:cNvSpPr>
            <a:spLocks noGrp="1"/>
          </p:cNvSpPr>
          <p:nvPr>
            <p:ph idx="1"/>
          </p:nvPr>
        </p:nvSpPr>
        <p:spPr>
          <a:xfrm>
            <a:off x="4322326" y="1508124"/>
            <a:ext cx="7319620" cy="4435475"/>
          </a:xfrm>
        </p:spPr>
        <p:txBody>
          <a:bodyPr>
            <a:normAutofit/>
          </a:bodyPr>
          <a:lstStyle/>
          <a:p>
            <a:pPr eaLnBrk="1" hangingPunct="1">
              <a:spcAft>
                <a:spcPts val="600"/>
              </a:spcAft>
            </a:pPr>
            <a:r>
              <a:rPr lang="en-US" dirty="0"/>
              <a:t>Electronic controls have not eliminated the need for routine service and scheduled maintenance.</a:t>
            </a:r>
          </a:p>
          <a:p>
            <a:pPr eaLnBrk="1" hangingPunct="1">
              <a:spcAft>
                <a:spcPts val="600"/>
              </a:spcAft>
            </a:pPr>
            <a:r>
              <a:rPr lang="en-US" dirty="0"/>
              <a:t>Each automobile manufacturer recommends that certain maintenance services be performed according to a specific schedule.</a:t>
            </a:r>
          </a:p>
          <a:p>
            <a:pPr eaLnBrk="1" hangingPunct="1">
              <a:spcAft>
                <a:spcPts val="600"/>
              </a:spcAft>
            </a:pPr>
            <a:r>
              <a:rPr lang="en-US" dirty="0"/>
              <a:t>These maintenance procedures are referred to as </a:t>
            </a:r>
            <a:r>
              <a:rPr lang="en-US" b="1" dirty="0"/>
              <a:t>preventive maintenance (PM) </a:t>
            </a:r>
            <a:r>
              <a:rPr lang="en-US" dirty="0"/>
              <a:t>because they are designed to prevent problems.</a:t>
            </a:r>
          </a:p>
        </p:txBody>
      </p:sp>
    </p:spTree>
    <p:extLst>
      <p:ext uri="{BB962C8B-B14F-4D97-AF65-F5344CB8AC3E}">
        <p14:creationId xmlns:p14="http://schemas.microsoft.com/office/powerpoint/2010/main" val="2971656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sz="4000" b="1" dirty="0"/>
              <a:t>The Need for Ongoing </a:t>
            </a:r>
            <a:r>
              <a:rPr lang="en-US" sz="4000" b="1"/>
              <a:t>Service:</a:t>
            </a:r>
            <a:r>
              <a:rPr lang="en-US"/>
              <a:t> (</a:t>
            </a:r>
            <a:r>
              <a:rPr lang="en-US" dirty="0"/>
              <a:t>3 of 5)</a:t>
            </a:r>
          </a:p>
        </p:txBody>
      </p:sp>
      <p:pic>
        <p:nvPicPr>
          <p:cNvPr id="11" name="Picture Placeholder 10" descr="Different warranties of a vehicle are marked on the outline of concentric circles. A smaller, concentric circle with many markings is displayed along its diameter. A needle positioned at the center is pointing to a marking on its top right. The set of markings to the right of the needle is highlighted. Three concentric arcs are at the top half segment between the big outer circle and the smaller inner circle. The first outermost arc displayed in a lighter shade ranges from the top left to the top of the circle. A label, 5 years is encircled near the top of this arc and a pointer from here highlights the supporting text 5 year new vehicle Limited warranty 60,000. The second arc in a slightly darker shade ranges from the top left to the middle of the top right. A label 7 years is encircled at the end of this arc and a pointer from here highlights the supporting text 7 year anti-perforation warranty unlimited. The third arc (innermost) in the darkest shade ranges from the top left to the top right of the circle. A label 10 years is encircled at the end of this arc and a pointer from here highlights the supporting text 10 year powertrain limited warranty 100,000. The fourth label is below the top left of the arcs and reads Hybrid battery warranty lifetime.">
            <a:extLst>
              <a:ext uri="{FF2B5EF4-FFF2-40B4-BE49-F238E27FC236}">
                <a16:creationId xmlns:a16="http://schemas.microsoft.com/office/drawing/2014/main" id="{EA160EDB-B5F1-2A8D-4700-02B7A21F9D82}"/>
              </a:ext>
            </a:extLst>
          </p:cNvPr>
          <p:cNvPicPr>
            <a:picLocks noGrp="1" noChangeAspect="1"/>
          </p:cNvPicPr>
          <p:nvPr>
            <p:ph type="pic" sz="quarter" idx="10"/>
          </p:nvPr>
        </p:nvPicPr>
        <p:blipFill>
          <a:blip r:embed="rId3"/>
          <a:stretch>
            <a:fillRect/>
          </a:stretch>
        </p:blipFill>
        <p:spPr>
          <a:xfrm>
            <a:off x="713761" y="2351798"/>
            <a:ext cx="4888514" cy="2742012"/>
          </a:xfrm>
          <a:prstGeom prst="rect">
            <a:avLst/>
          </a:prstGeom>
          <a:noFill/>
        </p:spPr>
      </p:pic>
      <p:sp>
        <p:nvSpPr>
          <p:cNvPr id="3075" name="Content Placeholder 2"/>
          <p:cNvSpPr>
            <a:spLocks noGrp="1"/>
          </p:cNvSpPr>
          <p:nvPr>
            <p:ph idx="1"/>
          </p:nvPr>
        </p:nvSpPr>
        <p:spPr>
          <a:xfrm>
            <a:off x="5715000" y="1508125"/>
            <a:ext cx="6003758" cy="4591886"/>
          </a:xfrm>
        </p:spPr>
        <p:txBody>
          <a:bodyPr>
            <a:normAutofit/>
          </a:bodyPr>
          <a:lstStyle/>
          <a:p>
            <a:pPr eaLnBrk="1" hangingPunct="1">
              <a:spcAft>
                <a:spcPts val="600"/>
              </a:spcAft>
            </a:pPr>
            <a:r>
              <a:rPr lang="en-US" sz="2400" b="1" dirty="0"/>
              <a:t>Warranties</a:t>
            </a:r>
            <a:endParaRPr lang="en-US" sz="2400" dirty="0"/>
          </a:p>
          <a:p>
            <a:pPr lvl="1">
              <a:spcAft>
                <a:spcPts val="600"/>
              </a:spcAft>
            </a:pPr>
            <a:r>
              <a:rPr lang="en-US" sz="2200" dirty="0"/>
              <a:t>A new car warranty is an agreement by the auto manufacturer to have its authorized dealers repair, replace, or adjust certain parts if they become defective.</a:t>
            </a:r>
          </a:p>
          <a:p>
            <a:pPr lvl="1">
              <a:spcAft>
                <a:spcPts val="600"/>
              </a:spcAft>
            </a:pPr>
            <a:r>
              <a:rPr lang="en-US" sz="2200" dirty="0"/>
              <a:t>Most manufacturers also provide a separate warranty for the powertrain (engine, transmission, and so on) that covers these parts for a longer period than the basic warranty.</a:t>
            </a:r>
          </a:p>
        </p:txBody>
      </p:sp>
    </p:spTree>
    <p:extLst>
      <p:ext uri="{BB962C8B-B14F-4D97-AF65-F5344CB8AC3E}">
        <p14:creationId xmlns:p14="http://schemas.microsoft.com/office/powerpoint/2010/main" val="2727650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sz="4000" b="1" dirty="0"/>
              <a:t>The Need for Ongoing </a:t>
            </a:r>
            <a:r>
              <a:rPr lang="en-US" sz="4000" b="1"/>
              <a:t>Service: </a:t>
            </a:r>
            <a:r>
              <a:rPr lang="en-US"/>
              <a:t>(</a:t>
            </a:r>
            <a:r>
              <a:rPr lang="en-US" dirty="0"/>
              <a:t>4 of 5)</a:t>
            </a:r>
          </a:p>
        </p:txBody>
      </p:sp>
      <p:sp>
        <p:nvSpPr>
          <p:cNvPr id="3075" name="Content Placeholder 2"/>
          <p:cNvSpPr>
            <a:spLocks noGrp="1"/>
          </p:cNvSpPr>
          <p:nvPr>
            <p:ph idx="1"/>
          </p:nvPr>
        </p:nvSpPr>
        <p:spPr/>
        <p:txBody>
          <a:bodyPr>
            <a:normAutofit/>
          </a:bodyPr>
          <a:lstStyle/>
          <a:p>
            <a:pPr eaLnBrk="1" hangingPunct="1">
              <a:spcAft>
                <a:spcPts val="600"/>
              </a:spcAft>
            </a:pPr>
            <a:r>
              <a:rPr lang="en-US" sz="2400" b="1" dirty="0"/>
              <a:t>Warranties</a:t>
            </a:r>
            <a:endParaRPr lang="en-US" sz="2400" dirty="0"/>
          </a:p>
          <a:p>
            <a:pPr lvl="1">
              <a:spcAft>
                <a:spcPts val="600"/>
              </a:spcAft>
            </a:pPr>
            <a:r>
              <a:rPr lang="en-US" sz="2200" dirty="0"/>
              <a:t>There are also two government-mandated warranties: the Federal Emissions Defect Warranty and the Federal Emissions Performance Warranty.</a:t>
            </a:r>
          </a:p>
          <a:p>
            <a:pPr lvl="1">
              <a:spcAft>
                <a:spcPts val="600"/>
              </a:spcAft>
            </a:pPr>
            <a:r>
              <a:rPr lang="en-US" sz="2200" dirty="0"/>
              <a:t>The Federal Emissions Defect Warranty ensures that the vehicle meets all required emissions regulations, and that the vehicle’s emission control system works as designed and will continue to do so for 2 years or 24,000 miles.</a:t>
            </a:r>
          </a:p>
          <a:p>
            <a:pPr lvl="1">
              <a:spcAft>
                <a:spcPts val="600"/>
              </a:spcAft>
            </a:pPr>
            <a:r>
              <a:rPr lang="en-US" sz="2200" dirty="0"/>
              <a:t>The Federal Emissions Performance Warranty covers the catalytic converter(s) and engine control module for a period of 8 years or 80,000 miles (129,000 km).</a:t>
            </a:r>
          </a:p>
        </p:txBody>
      </p:sp>
    </p:spTree>
    <p:extLst>
      <p:ext uri="{BB962C8B-B14F-4D97-AF65-F5344CB8AC3E}">
        <p14:creationId xmlns:p14="http://schemas.microsoft.com/office/powerpoint/2010/main" val="845631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sz="4000" b="1" dirty="0"/>
              <a:t>The Need for Ongoing </a:t>
            </a:r>
            <a:r>
              <a:rPr lang="en-US" sz="4000" b="1"/>
              <a:t>Service: </a:t>
            </a:r>
            <a:r>
              <a:rPr lang="en-US"/>
              <a:t>(</a:t>
            </a:r>
            <a:r>
              <a:rPr lang="en-US" dirty="0"/>
              <a:t>5 of 5)</a:t>
            </a:r>
          </a:p>
        </p:txBody>
      </p:sp>
      <p:sp>
        <p:nvSpPr>
          <p:cNvPr id="3075" name="Content Placeholder 2"/>
          <p:cNvSpPr>
            <a:spLocks noGrp="1"/>
          </p:cNvSpPr>
          <p:nvPr>
            <p:ph idx="1"/>
          </p:nvPr>
        </p:nvSpPr>
        <p:spPr/>
        <p:txBody>
          <a:bodyPr>
            <a:normAutofit/>
          </a:bodyPr>
          <a:lstStyle/>
          <a:p>
            <a:pPr eaLnBrk="1" hangingPunct="1">
              <a:spcAft>
                <a:spcPts val="600"/>
              </a:spcAft>
            </a:pPr>
            <a:r>
              <a:rPr lang="en-US" b="1" dirty="0"/>
              <a:t>Warranties</a:t>
            </a:r>
            <a:endParaRPr lang="en-US" dirty="0"/>
          </a:p>
          <a:p>
            <a:pPr lvl="1">
              <a:spcAft>
                <a:spcPts val="600"/>
              </a:spcAft>
            </a:pPr>
            <a:r>
              <a:rPr lang="en-US" dirty="0"/>
              <a:t>All warranty information can be found in the vehicle owner’s manual.</a:t>
            </a:r>
          </a:p>
          <a:p>
            <a:pPr lvl="1">
              <a:spcAft>
                <a:spcPts val="600"/>
              </a:spcAft>
            </a:pPr>
            <a:r>
              <a:rPr lang="en-US" dirty="0"/>
              <a:t>Make sure to tell the customer of any known warranties before proceeding with your work.</a:t>
            </a:r>
          </a:p>
          <a:p>
            <a:pPr lvl="1">
              <a:spcAft>
                <a:spcPts val="600"/>
              </a:spcAft>
            </a:pPr>
            <a:r>
              <a:rPr lang="en-US" b="1" dirty="0"/>
              <a:t>Aftermarket </a:t>
            </a:r>
            <a:r>
              <a:rPr lang="en-US" dirty="0"/>
              <a:t>warranties are also offered, which are typically offered on used vehicles.</a:t>
            </a:r>
          </a:p>
        </p:txBody>
      </p:sp>
    </p:spTree>
    <p:extLst>
      <p:ext uri="{BB962C8B-B14F-4D97-AF65-F5344CB8AC3E}">
        <p14:creationId xmlns:p14="http://schemas.microsoft.com/office/powerpoint/2010/main" val="3939731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Knowledge Check (1 of 2)</a:t>
            </a:r>
            <a:endParaRPr lang="en-US" dirty="0"/>
          </a:p>
        </p:txBody>
      </p:sp>
      <p:sp>
        <p:nvSpPr>
          <p:cNvPr id="3" name="Content Placeholder 2"/>
          <p:cNvSpPr>
            <a:spLocks noGrp="1"/>
          </p:cNvSpPr>
          <p:nvPr>
            <p:ph idx="1"/>
          </p:nvPr>
        </p:nvSpPr>
        <p:spPr/>
        <p:txBody>
          <a:bodyPr/>
          <a:lstStyle/>
          <a:p>
            <a:pPr marL="0" indent="0" algn="ctr" eaLnBrk="1" hangingPunct="1">
              <a:buNone/>
            </a:pPr>
            <a:r>
              <a:rPr lang="en-US" dirty="0"/>
              <a:t>Why is an understanding of electronics a must for all  automotive technicians?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a:t>
            </a:r>
            <a:r>
              <a:rPr lang="en-US"/>
              <a:t>Check Answer (1 of 2)</a:t>
            </a:r>
            <a:endParaRPr lang="en-US" dirty="0"/>
          </a:p>
        </p:txBody>
      </p:sp>
      <p:sp>
        <p:nvSpPr>
          <p:cNvPr id="3" name="Content Placeholder 2"/>
          <p:cNvSpPr>
            <a:spLocks noGrp="1"/>
          </p:cNvSpPr>
          <p:nvPr>
            <p:ph idx="1"/>
          </p:nvPr>
        </p:nvSpPr>
        <p:spPr/>
        <p:txBody>
          <a:bodyPr/>
          <a:lstStyle/>
          <a:p>
            <a:pPr marL="0" indent="0" algn="ctr">
              <a:spcAft>
                <a:spcPts val="2400"/>
              </a:spcAft>
              <a:buNone/>
            </a:pPr>
            <a:r>
              <a:rPr lang="en-US" dirty="0"/>
              <a:t>Why is an understanding of electronics a must for all  automotive technicians?</a:t>
            </a:r>
          </a:p>
          <a:p>
            <a:pPr marL="0" indent="0" algn="ctr">
              <a:buNone/>
            </a:pPr>
            <a:r>
              <a:rPr lang="en-US" b="1" dirty="0"/>
              <a:t>Answer</a:t>
            </a:r>
            <a:r>
              <a:rPr lang="en-US" dirty="0"/>
              <a:t>:</a:t>
            </a:r>
            <a:r>
              <a:rPr lang="en-US" b="1" dirty="0"/>
              <a:t> </a:t>
            </a:r>
            <a:r>
              <a:rPr lang="en-US" dirty="0"/>
              <a:t>Computers and electronic devices are used to control the operation of nearly all systems of an automobile.</a:t>
            </a:r>
          </a:p>
        </p:txBody>
      </p:sp>
    </p:spTree>
    <p:extLst>
      <p:ext uri="{BB962C8B-B14F-4D97-AF65-F5344CB8AC3E}">
        <p14:creationId xmlns:p14="http://schemas.microsoft.com/office/powerpoint/2010/main" val="1974095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76843" y="473245"/>
            <a:ext cx="11241915" cy="910387"/>
          </a:xfrm>
        </p:spPr>
        <p:txBody>
          <a:bodyPr anchor="ctr">
            <a:normAutofit/>
          </a:bodyPr>
          <a:lstStyle/>
          <a:p>
            <a:pPr eaLnBrk="1" hangingPunct="1"/>
            <a:r>
              <a:rPr lang="en-US" dirty="0"/>
              <a:t>Typical Maintenance Schedule (1 of 4)</a:t>
            </a:r>
          </a:p>
        </p:txBody>
      </p:sp>
      <p:sp>
        <p:nvSpPr>
          <p:cNvPr id="4" name="Content Placeholder 3">
            <a:extLst>
              <a:ext uri="{FF2B5EF4-FFF2-40B4-BE49-F238E27FC236}">
                <a16:creationId xmlns:a16="http://schemas.microsoft.com/office/drawing/2014/main" id="{DC678731-58A1-746B-C599-95789B19FA0C}"/>
              </a:ext>
            </a:extLst>
          </p:cNvPr>
          <p:cNvSpPr>
            <a:spLocks noGrp="1"/>
          </p:cNvSpPr>
          <p:nvPr>
            <p:ph sz="half" idx="1"/>
          </p:nvPr>
        </p:nvSpPr>
        <p:spPr>
          <a:xfrm>
            <a:off x="637673" y="1825625"/>
            <a:ext cx="5618747" cy="4351338"/>
          </a:xfrm>
        </p:spPr>
        <p:txBody>
          <a:bodyPr/>
          <a:lstStyle/>
          <a:p>
            <a:pPr marL="0" indent="0">
              <a:spcBef>
                <a:spcPts val="624"/>
              </a:spcBef>
              <a:spcAft>
                <a:spcPts val="600"/>
              </a:spcAft>
              <a:buNone/>
            </a:pPr>
            <a:r>
              <a:rPr lang="en-US" sz="1800" b="1" dirty="0"/>
              <a:t>5,000 Miles or 6 Months</a:t>
            </a:r>
          </a:p>
          <a:p>
            <a:pPr marL="360363" indent="-360363">
              <a:spcBef>
                <a:spcPts val="624"/>
              </a:spcBef>
              <a:spcAft>
                <a:spcPts val="600"/>
              </a:spcAft>
            </a:pPr>
            <a:r>
              <a:rPr lang="en-US" sz="1800" dirty="0"/>
              <a:t>Replace engine oil and oil filter</a:t>
            </a:r>
          </a:p>
          <a:p>
            <a:pPr marL="360363" indent="-360363">
              <a:spcBef>
                <a:spcPts val="624"/>
              </a:spcBef>
              <a:spcAft>
                <a:spcPts val="600"/>
              </a:spcAft>
            </a:pPr>
            <a:r>
              <a:rPr lang="en-US" sz="1800" dirty="0"/>
              <a:t>Reset service reminder indicator display</a:t>
            </a:r>
          </a:p>
          <a:p>
            <a:pPr marL="360363" indent="-360363">
              <a:spcBef>
                <a:spcPts val="624"/>
              </a:spcBef>
              <a:spcAft>
                <a:spcPts val="600"/>
              </a:spcAft>
            </a:pPr>
            <a:r>
              <a:rPr lang="en-US" sz="1800" dirty="0"/>
              <a:t>Rotate tires</a:t>
            </a:r>
          </a:p>
          <a:p>
            <a:pPr marL="360363" indent="-360363">
              <a:spcBef>
                <a:spcPts val="624"/>
              </a:spcBef>
              <a:spcAft>
                <a:spcPts val="600"/>
              </a:spcAft>
            </a:pPr>
            <a:r>
              <a:rPr lang="en-US" sz="1800" dirty="0"/>
              <a:t>Visually inspect brake linings and fluid level</a:t>
            </a:r>
          </a:p>
          <a:p>
            <a:pPr marL="360363" indent="-360363">
              <a:spcBef>
                <a:spcPts val="624"/>
              </a:spcBef>
              <a:spcAft>
                <a:spcPts val="600"/>
              </a:spcAft>
            </a:pPr>
            <a:r>
              <a:rPr lang="en-US" sz="1800" dirty="0"/>
              <a:t>Inspect wiper blades</a:t>
            </a:r>
          </a:p>
          <a:p>
            <a:pPr marL="360363" indent="-360363">
              <a:spcBef>
                <a:spcPts val="624"/>
              </a:spcBef>
              <a:spcAft>
                <a:spcPts val="600"/>
              </a:spcAft>
            </a:pPr>
            <a:r>
              <a:rPr lang="en-US" sz="1800" dirty="0"/>
              <a:t>Check windshield washer fluid level and system</a:t>
            </a:r>
          </a:p>
          <a:p>
            <a:pPr marL="360363" indent="-360363">
              <a:spcBef>
                <a:spcPts val="624"/>
              </a:spcBef>
              <a:spcAft>
                <a:spcPts val="600"/>
              </a:spcAft>
            </a:pPr>
            <a:r>
              <a:rPr lang="en-US" sz="1800" dirty="0"/>
              <a:t>Check tires and spare wheel for pressure and wear</a:t>
            </a:r>
          </a:p>
        </p:txBody>
      </p:sp>
      <p:sp>
        <p:nvSpPr>
          <p:cNvPr id="5" name="Content Placeholder 4">
            <a:extLst>
              <a:ext uri="{FF2B5EF4-FFF2-40B4-BE49-F238E27FC236}">
                <a16:creationId xmlns:a16="http://schemas.microsoft.com/office/drawing/2014/main" id="{8F5D76C9-293A-904A-4871-1068F7336185}"/>
              </a:ext>
            </a:extLst>
          </p:cNvPr>
          <p:cNvSpPr>
            <a:spLocks noGrp="1"/>
          </p:cNvSpPr>
          <p:nvPr>
            <p:ph sz="half" idx="2"/>
          </p:nvPr>
        </p:nvSpPr>
        <p:spPr>
          <a:xfrm>
            <a:off x="6605336" y="1825625"/>
            <a:ext cx="5109819" cy="4351338"/>
          </a:xfrm>
        </p:spPr>
        <p:txBody>
          <a:bodyPr/>
          <a:lstStyle/>
          <a:p>
            <a:pPr marL="0" indent="0">
              <a:spcBef>
                <a:spcPts val="624"/>
              </a:spcBef>
              <a:spcAft>
                <a:spcPts val="600"/>
              </a:spcAft>
              <a:buNone/>
            </a:pPr>
            <a:r>
              <a:rPr lang="en-US" sz="1800" b="1" dirty="0"/>
              <a:t>Additional items for special operating conditions</a:t>
            </a:r>
          </a:p>
          <a:p>
            <a:pPr marL="360363" indent="-360363">
              <a:spcBef>
                <a:spcPts val="624"/>
              </a:spcBef>
              <a:spcAft>
                <a:spcPts val="600"/>
              </a:spcAft>
            </a:pPr>
            <a:r>
              <a:rPr lang="en-US" sz="1800" dirty="0"/>
              <a:t>Rotate tires and reset TPMS</a:t>
            </a:r>
          </a:p>
          <a:p>
            <a:pPr marL="360363" indent="-360363">
              <a:spcBef>
                <a:spcPts val="624"/>
              </a:spcBef>
              <a:spcAft>
                <a:spcPts val="600"/>
              </a:spcAft>
            </a:pPr>
            <a:r>
              <a:rPr lang="en-US" sz="1800" dirty="0"/>
              <a:t>Inspect ball joints and dust covers</a:t>
            </a:r>
          </a:p>
          <a:p>
            <a:pPr marL="360363" indent="-360363">
              <a:spcBef>
                <a:spcPts val="624"/>
              </a:spcBef>
              <a:spcAft>
                <a:spcPts val="600"/>
              </a:spcAft>
            </a:pPr>
            <a:r>
              <a:rPr lang="en-US" sz="1800" dirty="0"/>
              <a:t>Inspect drive shaft boots</a:t>
            </a:r>
          </a:p>
          <a:p>
            <a:pPr marL="360363" indent="-360363">
              <a:spcBef>
                <a:spcPts val="624"/>
              </a:spcBef>
              <a:spcAft>
                <a:spcPts val="600"/>
              </a:spcAft>
            </a:pPr>
            <a:r>
              <a:rPr lang="en-US" sz="1800" dirty="0"/>
              <a:t>Inspect air filter</a:t>
            </a:r>
          </a:p>
          <a:p>
            <a:pPr marL="360363" indent="-360363">
              <a:spcBef>
                <a:spcPts val="624"/>
              </a:spcBef>
              <a:spcAft>
                <a:spcPts val="600"/>
              </a:spcAft>
            </a:pPr>
            <a:r>
              <a:rPr lang="en-US" sz="1800" dirty="0"/>
              <a:t>Inspect steering linkage and boots</a:t>
            </a:r>
          </a:p>
          <a:p>
            <a:pPr marL="360363" indent="-360363">
              <a:spcBef>
                <a:spcPts val="624"/>
              </a:spcBef>
              <a:spcAft>
                <a:spcPts val="600"/>
              </a:spcAft>
            </a:pPr>
            <a:r>
              <a:rPr lang="en-US" sz="1800" dirty="0"/>
              <a:t>Re-torque drive shaft bolt</a:t>
            </a:r>
          </a:p>
          <a:p>
            <a:pPr marL="360363" indent="-360363">
              <a:spcBef>
                <a:spcPts val="624"/>
              </a:spcBef>
              <a:spcAft>
                <a:spcPts val="600"/>
              </a:spcAft>
            </a:pPr>
            <a:r>
              <a:rPr lang="en-US" sz="1800" dirty="0"/>
              <a:t>Tighten nuts and bolts on chassis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76843" y="473245"/>
            <a:ext cx="11241915" cy="886323"/>
          </a:xfrm>
        </p:spPr>
        <p:txBody>
          <a:bodyPr anchor="ctr">
            <a:normAutofit/>
          </a:bodyPr>
          <a:lstStyle/>
          <a:p>
            <a:pPr eaLnBrk="1" hangingPunct="1"/>
            <a:r>
              <a:rPr lang="en-US" dirty="0"/>
              <a:t>Typical Maintenance Schedule (2 of 4)</a:t>
            </a:r>
          </a:p>
        </p:txBody>
      </p:sp>
      <p:sp>
        <p:nvSpPr>
          <p:cNvPr id="4" name="Content Placeholder 3">
            <a:extLst>
              <a:ext uri="{FF2B5EF4-FFF2-40B4-BE49-F238E27FC236}">
                <a16:creationId xmlns:a16="http://schemas.microsoft.com/office/drawing/2014/main" id="{DC678731-58A1-746B-C599-95789B19FA0C}"/>
              </a:ext>
            </a:extLst>
          </p:cNvPr>
          <p:cNvSpPr>
            <a:spLocks noGrp="1"/>
          </p:cNvSpPr>
          <p:nvPr>
            <p:ph sz="half" idx="1"/>
          </p:nvPr>
        </p:nvSpPr>
        <p:spPr>
          <a:xfrm>
            <a:off x="637675" y="1548895"/>
            <a:ext cx="4668252" cy="4351338"/>
          </a:xfrm>
        </p:spPr>
        <p:txBody>
          <a:bodyPr/>
          <a:lstStyle/>
          <a:p>
            <a:pPr marL="0" indent="0">
              <a:spcBef>
                <a:spcPts val="624"/>
              </a:spcBef>
              <a:spcAft>
                <a:spcPts val="600"/>
              </a:spcAft>
              <a:buNone/>
            </a:pPr>
            <a:r>
              <a:rPr lang="en-US" sz="1800" b="1" dirty="0"/>
              <a:t>15,000 or 18 Months</a:t>
            </a:r>
          </a:p>
          <a:p>
            <a:pPr marL="0" indent="0">
              <a:spcBef>
                <a:spcPts val="624"/>
              </a:spcBef>
              <a:spcAft>
                <a:spcPts val="600"/>
              </a:spcAft>
              <a:buNone/>
            </a:pPr>
            <a:r>
              <a:rPr lang="en-US" sz="1800" dirty="0"/>
              <a:t>Same as 5,000 miles or 6 months, plus:</a:t>
            </a:r>
          </a:p>
          <a:p>
            <a:pPr marL="360363" indent="-360363">
              <a:spcBef>
                <a:spcPts val="624"/>
              </a:spcBef>
              <a:spcAft>
                <a:spcPts val="600"/>
              </a:spcAft>
            </a:pPr>
            <a:r>
              <a:rPr lang="en-US" sz="1800" dirty="0"/>
              <a:t>Inspect battery and cables</a:t>
            </a:r>
          </a:p>
          <a:p>
            <a:pPr marL="360363" indent="-360363">
              <a:spcBef>
                <a:spcPts val="624"/>
              </a:spcBef>
              <a:spcAft>
                <a:spcPts val="600"/>
              </a:spcAft>
            </a:pPr>
            <a:r>
              <a:rPr lang="en-US" sz="1800" dirty="0"/>
              <a:t>Check and replenish coolant level</a:t>
            </a:r>
          </a:p>
          <a:p>
            <a:pPr marL="360363" indent="-360363">
              <a:spcBef>
                <a:spcPts val="624"/>
              </a:spcBef>
              <a:spcAft>
                <a:spcPts val="600"/>
              </a:spcAft>
            </a:pPr>
            <a:r>
              <a:rPr lang="en-US" sz="1800" dirty="0"/>
              <a:t>Clean or replace cabin air filter</a:t>
            </a:r>
          </a:p>
          <a:p>
            <a:pPr marL="360363" indent="-360363">
              <a:spcBef>
                <a:spcPts val="624"/>
              </a:spcBef>
              <a:spcAft>
                <a:spcPts val="600"/>
              </a:spcAft>
            </a:pPr>
            <a:r>
              <a:rPr lang="en-US" sz="1800" dirty="0"/>
              <a:t>Replace fuel filter</a:t>
            </a:r>
          </a:p>
          <a:p>
            <a:pPr marL="360363" indent="-360363">
              <a:spcBef>
                <a:spcPts val="624"/>
              </a:spcBef>
              <a:spcAft>
                <a:spcPts val="600"/>
              </a:spcAft>
            </a:pPr>
            <a:r>
              <a:rPr lang="en-US" sz="1800" dirty="0"/>
              <a:t>Lubricate hinges</a:t>
            </a:r>
          </a:p>
          <a:p>
            <a:pPr marL="360363" indent="-360363">
              <a:spcBef>
                <a:spcPts val="624"/>
              </a:spcBef>
              <a:spcAft>
                <a:spcPts val="600"/>
              </a:spcAft>
            </a:pPr>
            <a:r>
              <a:rPr lang="en-US" sz="1800" dirty="0"/>
              <a:t>Rotate tires and reset TPMS</a:t>
            </a:r>
          </a:p>
        </p:txBody>
      </p:sp>
      <p:sp>
        <p:nvSpPr>
          <p:cNvPr id="5" name="Content Placeholder 4">
            <a:extLst>
              <a:ext uri="{FF2B5EF4-FFF2-40B4-BE49-F238E27FC236}">
                <a16:creationId xmlns:a16="http://schemas.microsoft.com/office/drawing/2014/main" id="{8F5D76C9-293A-904A-4871-1068F7336185}"/>
              </a:ext>
            </a:extLst>
          </p:cNvPr>
          <p:cNvSpPr>
            <a:spLocks noGrp="1"/>
          </p:cNvSpPr>
          <p:nvPr>
            <p:ph sz="half" idx="2"/>
          </p:nvPr>
        </p:nvSpPr>
        <p:spPr>
          <a:xfrm>
            <a:off x="6569242" y="1548895"/>
            <a:ext cx="5145914" cy="4351338"/>
          </a:xfrm>
        </p:spPr>
        <p:txBody>
          <a:bodyPr/>
          <a:lstStyle/>
          <a:p>
            <a:pPr marL="0" indent="0">
              <a:spcBef>
                <a:spcPts val="300"/>
              </a:spcBef>
              <a:spcAft>
                <a:spcPts val="0"/>
              </a:spcAft>
              <a:buNone/>
            </a:pPr>
            <a:r>
              <a:rPr lang="en-US" sz="1600" b="1" dirty="0"/>
              <a:t>Inspect the Following:</a:t>
            </a:r>
          </a:p>
          <a:p>
            <a:pPr marL="360363" indent="-360363">
              <a:spcBef>
                <a:spcPts val="300"/>
              </a:spcBef>
              <a:spcAft>
                <a:spcPts val="0"/>
              </a:spcAft>
            </a:pPr>
            <a:r>
              <a:rPr lang="en-US" sz="1600" dirty="0"/>
              <a:t>Engine for leaks</a:t>
            </a:r>
          </a:p>
          <a:p>
            <a:pPr marL="360363" indent="-360363">
              <a:spcBef>
                <a:spcPts val="300"/>
              </a:spcBef>
              <a:spcAft>
                <a:spcPts val="0"/>
              </a:spcAft>
            </a:pPr>
            <a:r>
              <a:rPr lang="en-US" sz="1600" dirty="0"/>
              <a:t>Exhaust for leaks</a:t>
            </a:r>
          </a:p>
          <a:p>
            <a:pPr marL="360363" indent="-360363">
              <a:spcBef>
                <a:spcPts val="300"/>
              </a:spcBef>
              <a:spcAft>
                <a:spcPts val="0"/>
              </a:spcAft>
            </a:pPr>
            <a:r>
              <a:rPr lang="en-US" sz="1600" dirty="0"/>
              <a:t>Transmission for leaks</a:t>
            </a:r>
          </a:p>
          <a:p>
            <a:pPr marL="360363" indent="-360363">
              <a:spcBef>
                <a:spcPts val="300"/>
              </a:spcBef>
              <a:spcAft>
                <a:spcPts val="0"/>
              </a:spcAft>
            </a:pPr>
            <a:r>
              <a:rPr lang="en-US" sz="1600" dirty="0"/>
              <a:t>Final drive(s) for leaks</a:t>
            </a:r>
          </a:p>
          <a:p>
            <a:pPr marL="360363" indent="-360363">
              <a:spcBef>
                <a:spcPts val="300"/>
              </a:spcBef>
              <a:spcAft>
                <a:spcPts val="0"/>
              </a:spcAft>
            </a:pPr>
            <a:r>
              <a:rPr lang="en-US" sz="1600" dirty="0"/>
              <a:t>Drive belts</a:t>
            </a:r>
          </a:p>
          <a:p>
            <a:pPr marL="360363" indent="-360363">
              <a:spcBef>
                <a:spcPts val="300"/>
              </a:spcBef>
              <a:spcAft>
                <a:spcPts val="0"/>
              </a:spcAft>
            </a:pPr>
            <a:r>
              <a:rPr lang="en-US" sz="1600" dirty="0"/>
              <a:t>All lighting</a:t>
            </a:r>
          </a:p>
          <a:p>
            <a:pPr marL="360363" indent="-360363">
              <a:spcBef>
                <a:spcPts val="300"/>
              </a:spcBef>
              <a:spcAft>
                <a:spcPts val="0"/>
              </a:spcAft>
            </a:pPr>
            <a:r>
              <a:rPr lang="en-US" sz="1600" dirty="0"/>
              <a:t>Horn operation</a:t>
            </a:r>
          </a:p>
          <a:p>
            <a:pPr marL="360363" indent="-360363">
              <a:spcBef>
                <a:spcPts val="300"/>
              </a:spcBef>
              <a:spcAft>
                <a:spcPts val="0"/>
              </a:spcAft>
            </a:pPr>
            <a:r>
              <a:rPr lang="en-US" sz="1600" dirty="0"/>
              <a:t>Ball joints and dust covers</a:t>
            </a:r>
          </a:p>
          <a:p>
            <a:pPr marL="360363" indent="-360363">
              <a:spcBef>
                <a:spcPts val="300"/>
              </a:spcBef>
              <a:spcAft>
                <a:spcPts val="0"/>
              </a:spcAft>
            </a:pPr>
            <a:r>
              <a:rPr lang="en-US" sz="1600" dirty="0"/>
              <a:t>Drive shaft boots</a:t>
            </a:r>
          </a:p>
          <a:p>
            <a:pPr marL="360363" indent="-360363">
              <a:spcBef>
                <a:spcPts val="300"/>
              </a:spcBef>
              <a:spcAft>
                <a:spcPts val="0"/>
              </a:spcAft>
            </a:pPr>
            <a:r>
              <a:rPr lang="en-US" sz="1600" dirty="0"/>
              <a:t>Drive axle play</a:t>
            </a:r>
          </a:p>
          <a:p>
            <a:pPr marL="360363" indent="-360363">
              <a:spcBef>
                <a:spcPts val="300"/>
              </a:spcBef>
              <a:spcAft>
                <a:spcPts val="0"/>
              </a:spcAft>
            </a:pPr>
            <a:r>
              <a:rPr lang="en-US" sz="1600" dirty="0"/>
              <a:t>Water drain for A/C</a:t>
            </a:r>
          </a:p>
          <a:p>
            <a:pPr marL="360363" indent="-360363">
              <a:spcBef>
                <a:spcPts val="300"/>
              </a:spcBef>
              <a:spcAft>
                <a:spcPts val="0"/>
              </a:spcAft>
            </a:pPr>
            <a:r>
              <a:rPr lang="en-US" sz="1600" dirty="0"/>
              <a:t>Engine air filter</a:t>
            </a:r>
          </a:p>
          <a:p>
            <a:pPr marL="360363" indent="-360363">
              <a:spcBef>
                <a:spcPts val="300"/>
              </a:spcBef>
              <a:spcAft>
                <a:spcPts val="0"/>
              </a:spcAft>
            </a:pPr>
            <a:r>
              <a:rPr lang="en-US" sz="1600" dirty="0"/>
              <a:t>Steering linkage and boots</a:t>
            </a:r>
          </a:p>
          <a:p>
            <a:pPr marL="360363" indent="-360363">
              <a:spcBef>
                <a:spcPts val="300"/>
              </a:spcBef>
              <a:spcAft>
                <a:spcPts val="0"/>
              </a:spcAft>
            </a:pPr>
            <a:r>
              <a:rPr lang="en-US" sz="1600" dirty="0"/>
              <a:t>Re-torque drive shaft bolt</a:t>
            </a:r>
          </a:p>
          <a:p>
            <a:pPr marL="363538" indent="-363538">
              <a:spcBef>
                <a:spcPts val="300"/>
              </a:spcBef>
              <a:spcAft>
                <a:spcPts val="0"/>
              </a:spcAft>
            </a:pPr>
            <a:r>
              <a:rPr lang="en-US" sz="1600" dirty="0"/>
              <a:t>Tighten nuts and bolts on chassis</a:t>
            </a:r>
          </a:p>
        </p:txBody>
      </p:sp>
    </p:spTree>
    <p:extLst>
      <p:ext uri="{BB962C8B-B14F-4D97-AF65-F5344CB8AC3E}">
        <p14:creationId xmlns:p14="http://schemas.microsoft.com/office/powerpoint/2010/main" val="1389368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76843" y="473245"/>
            <a:ext cx="11241915" cy="910387"/>
          </a:xfrm>
        </p:spPr>
        <p:txBody>
          <a:bodyPr anchor="ctr">
            <a:normAutofit/>
          </a:bodyPr>
          <a:lstStyle/>
          <a:p>
            <a:pPr eaLnBrk="1" hangingPunct="1"/>
            <a:r>
              <a:rPr lang="en-US" dirty="0"/>
              <a:t>Typical Maintenance Schedule (3 of 4)</a:t>
            </a:r>
          </a:p>
        </p:txBody>
      </p:sp>
      <p:sp>
        <p:nvSpPr>
          <p:cNvPr id="4" name="Content Placeholder 3">
            <a:extLst>
              <a:ext uri="{FF2B5EF4-FFF2-40B4-BE49-F238E27FC236}">
                <a16:creationId xmlns:a16="http://schemas.microsoft.com/office/drawing/2014/main" id="{DC678731-58A1-746B-C599-95789B19FA0C}"/>
              </a:ext>
            </a:extLst>
          </p:cNvPr>
          <p:cNvSpPr>
            <a:spLocks noGrp="1"/>
          </p:cNvSpPr>
          <p:nvPr>
            <p:ph sz="half" idx="1"/>
          </p:nvPr>
        </p:nvSpPr>
        <p:spPr/>
        <p:txBody>
          <a:bodyPr/>
          <a:lstStyle/>
          <a:p>
            <a:pPr marL="0" indent="0">
              <a:spcBef>
                <a:spcPts val="624"/>
              </a:spcBef>
              <a:buNone/>
            </a:pPr>
            <a:r>
              <a:rPr lang="en-US" sz="2000" b="1" dirty="0"/>
              <a:t>30,000 miles or 36 Months</a:t>
            </a:r>
          </a:p>
          <a:p>
            <a:pPr marL="0" indent="0">
              <a:spcBef>
                <a:spcPts val="624"/>
              </a:spcBef>
              <a:buNone/>
            </a:pPr>
            <a:r>
              <a:rPr lang="en-US" sz="2000" dirty="0"/>
              <a:t>Same as 5,000 miles or 6 months, plus:</a:t>
            </a:r>
          </a:p>
          <a:p>
            <a:pPr marL="360363" indent="-360363">
              <a:spcBef>
                <a:spcPts val="624"/>
              </a:spcBef>
            </a:pPr>
            <a:r>
              <a:rPr lang="en-US" sz="2000" dirty="0"/>
              <a:t>Replace cabin filter</a:t>
            </a:r>
          </a:p>
          <a:p>
            <a:pPr marL="360363" indent="-360363">
              <a:spcBef>
                <a:spcPts val="624"/>
              </a:spcBef>
            </a:pPr>
            <a:r>
              <a:rPr lang="en-US" sz="2000" dirty="0"/>
              <a:t>Rotate tires and reset TPMS</a:t>
            </a:r>
          </a:p>
          <a:p>
            <a:pPr marL="360363" indent="-360363">
              <a:spcBef>
                <a:spcPts val="624"/>
              </a:spcBef>
              <a:spcAft>
                <a:spcPts val="5400"/>
              </a:spcAft>
            </a:pPr>
            <a:r>
              <a:rPr lang="en-US" sz="2000" dirty="0"/>
              <a:t>Replace engine air filter</a:t>
            </a:r>
            <a:endParaRPr lang="en-US" sz="2000" b="1" dirty="0"/>
          </a:p>
          <a:p>
            <a:pPr marL="0" indent="0">
              <a:spcBef>
                <a:spcPts val="624"/>
              </a:spcBef>
              <a:buNone/>
            </a:pPr>
            <a:r>
              <a:rPr lang="en-US" sz="2000" b="1" dirty="0"/>
              <a:t>Additional items for special operating conditions</a:t>
            </a:r>
            <a:r>
              <a:rPr lang="en-US" sz="2000" dirty="0"/>
              <a:t>: Same as 50,000 or 6 months.</a:t>
            </a:r>
          </a:p>
        </p:txBody>
      </p:sp>
      <p:sp>
        <p:nvSpPr>
          <p:cNvPr id="5" name="Content Placeholder 4">
            <a:extLst>
              <a:ext uri="{FF2B5EF4-FFF2-40B4-BE49-F238E27FC236}">
                <a16:creationId xmlns:a16="http://schemas.microsoft.com/office/drawing/2014/main" id="{8F5D76C9-293A-904A-4871-1068F7336185}"/>
              </a:ext>
            </a:extLst>
          </p:cNvPr>
          <p:cNvSpPr>
            <a:spLocks noGrp="1"/>
          </p:cNvSpPr>
          <p:nvPr>
            <p:ph sz="half" idx="2"/>
          </p:nvPr>
        </p:nvSpPr>
        <p:spPr/>
        <p:txBody>
          <a:bodyPr/>
          <a:lstStyle/>
          <a:p>
            <a:pPr marL="0" indent="0">
              <a:spcBef>
                <a:spcPts val="624"/>
              </a:spcBef>
              <a:spcAft>
                <a:spcPts val="0"/>
              </a:spcAft>
              <a:buNone/>
            </a:pPr>
            <a:r>
              <a:rPr lang="en-US" sz="1800" b="1" dirty="0"/>
              <a:t>In addition, inspect the following:</a:t>
            </a:r>
          </a:p>
          <a:p>
            <a:pPr marL="360363" indent="-360363">
              <a:spcBef>
                <a:spcPts val="624"/>
              </a:spcBef>
              <a:spcAft>
                <a:spcPts val="0"/>
              </a:spcAft>
            </a:pPr>
            <a:r>
              <a:rPr lang="en-US" sz="1800" dirty="0"/>
              <a:t>Brake lines and hoses</a:t>
            </a:r>
          </a:p>
          <a:p>
            <a:pPr marL="360363" indent="-360363">
              <a:spcBef>
                <a:spcPts val="624"/>
              </a:spcBef>
              <a:spcAft>
                <a:spcPts val="0"/>
              </a:spcAft>
            </a:pPr>
            <a:r>
              <a:rPr lang="en-US" sz="1800" dirty="0"/>
              <a:t>Differential oil</a:t>
            </a:r>
          </a:p>
          <a:p>
            <a:pPr marL="360363" indent="-360363">
              <a:spcBef>
                <a:spcPts val="624"/>
              </a:spcBef>
              <a:spcAft>
                <a:spcPts val="0"/>
              </a:spcAft>
            </a:pPr>
            <a:r>
              <a:rPr lang="en-US" sz="1800" dirty="0"/>
              <a:t>Engine coolant</a:t>
            </a:r>
          </a:p>
          <a:p>
            <a:pPr marL="360363" indent="-360363">
              <a:spcBef>
                <a:spcPts val="624"/>
              </a:spcBef>
              <a:spcAft>
                <a:spcPts val="0"/>
              </a:spcAft>
            </a:pPr>
            <a:r>
              <a:rPr lang="en-US" sz="1800" dirty="0"/>
              <a:t>Exhaust pipes and mountings</a:t>
            </a:r>
          </a:p>
          <a:p>
            <a:pPr marL="360363" indent="-360363">
              <a:spcBef>
                <a:spcPts val="624"/>
              </a:spcBef>
              <a:spcAft>
                <a:spcPts val="0"/>
              </a:spcAft>
            </a:pPr>
            <a:r>
              <a:rPr lang="en-US" sz="1800" dirty="0"/>
              <a:t>Fuel lines and connections, fuel tank band and fuel tank vapor system hoses</a:t>
            </a:r>
          </a:p>
          <a:p>
            <a:pPr marL="360363" indent="-360363">
              <a:spcBef>
                <a:spcPts val="624"/>
              </a:spcBef>
              <a:spcAft>
                <a:spcPts val="0"/>
              </a:spcAft>
            </a:pPr>
            <a:r>
              <a:rPr lang="en-US" sz="1800" dirty="0"/>
              <a:t>Fuel tank cap gasket</a:t>
            </a:r>
          </a:p>
          <a:p>
            <a:pPr marL="360363" indent="-360363">
              <a:spcBef>
                <a:spcPts val="624"/>
              </a:spcBef>
              <a:spcAft>
                <a:spcPts val="0"/>
              </a:spcAft>
            </a:pPr>
            <a:r>
              <a:rPr lang="en-US" sz="1800" dirty="0"/>
              <a:t>Radiator core and condenser</a:t>
            </a:r>
          </a:p>
          <a:p>
            <a:pPr marL="360363" indent="-360363">
              <a:spcBef>
                <a:spcPts val="624"/>
              </a:spcBef>
              <a:spcAft>
                <a:spcPts val="0"/>
              </a:spcAft>
            </a:pPr>
            <a:r>
              <a:rPr lang="en-US" sz="1800" dirty="0"/>
              <a:t>Steering gear box</a:t>
            </a:r>
          </a:p>
          <a:p>
            <a:pPr marL="360363" indent="-360363">
              <a:spcBef>
                <a:spcPts val="624"/>
              </a:spcBef>
              <a:spcAft>
                <a:spcPts val="0"/>
              </a:spcAft>
            </a:pPr>
            <a:r>
              <a:rPr lang="en-US" sz="1800" dirty="0"/>
              <a:t>Steering linkage and boots</a:t>
            </a:r>
          </a:p>
          <a:p>
            <a:pPr marL="360363" indent="-360363">
              <a:spcBef>
                <a:spcPts val="624"/>
              </a:spcBef>
              <a:spcAft>
                <a:spcPts val="0"/>
              </a:spcAft>
            </a:pPr>
            <a:r>
              <a:rPr lang="en-US" sz="1800" dirty="0"/>
              <a:t>Transmission fluid or oil</a:t>
            </a:r>
          </a:p>
        </p:txBody>
      </p:sp>
    </p:spTree>
    <p:extLst>
      <p:ext uri="{BB962C8B-B14F-4D97-AF65-F5344CB8AC3E}">
        <p14:creationId xmlns:p14="http://schemas.microsoft.com/office/powerpoint/2010/main" val="1992173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B518302-6511-45C2-346C-D8DBA0536886}"/>
              </a:ext>
            </a:extLst>
          </p:cNvPr>
          <p:cNvSpPr>
            <a:spLocks noGrp="1"/>
          </p:cNvSpPr>
          <p:nvPr>
            <p:ph type="title"/>
          </p:nvPr>
        </p:nvSpPr>
        <p:spPr>
          <a:xfrm>
            <a:off x="476843" y="473245"/>
            <a:ext cx="11241915" cy="898355"/>
          </a:xfrm>
        </p:spPr>
        <p:txBody>
          <a:bodyPr anchor="ctr"/>
          <a:lstStyle/>
          <a:p>
            <a:r>
              <a:rPr lang="en-US" dirty="0"/>
              <a:t>Typical Maintenance Schedule (4 of 4)</a:t>
            </a:r>
          </a:p>
        </p:txBody>
      </p:sp>
      <p:sp>
        <p:nvSpPr>
          <p:cNvPr id="6" name="Content Placeholder 5">
            <a:extLst>
              <a:ext uri="{FF2B5EF4-FFF2-40B4-BE49-F238E27FC236}">
                <a16:creationId xmlns:a16="http://schemas.microsoft.com/office/drawing/2014/main" id="{819D8DA6-0DDD-5EE5-E893-A5D6A150E572}"/>
              </a:ext>
            </a:extLst>
          </p:cNvPr>
          <p:cNvSpPr>
            <a:spLocks noGrp="1"/>
          </p:cNvSpPr>
          <p:nvPr>
            <p:ph sz="half" idx="1"/>
          </p:nvPr>
        </p:nvSpPr>
        <p:spPr>
          <a:xfrm>
            <a:off x="476844" y="1825625"/>
            <a:ext cx="3344530" cy="4351338"/>
          </a:xfrm>
        </p:spPr>
        <p:txBody>
          <a:bodyPr/>
          <a:lstStyle/>
          <a:p>
            <a:pPr marL="0" indent="0">
              <a:spcBef>
                <a:spcPts val="624"/>
              </a:spcBef>
              <a:spcAft>
                <a:spcPts val="600"/>
              </a:spcAft>
              <a:buNone/>
            </a:pPr>
            <a:r>
              <a:rPr lang="en-US" sz="2000" b="1" dirty="0"/>
              <a:t>45,000 Miles or 54 Months</a:t>
            </a:r>
          </a:p>
          <a:p>
            <a:pPr marL="0" indent="0">
              <a:spcBef>
                <a:spcPts val="624"/>
              </a:spcBef>
              <a:spcAft>
                <a:spcPts val="600"/>
              </a:spcAft>
              <a:buNone/>
            </a:pPr>
            <a:r>
              <a:rPr lang="en-US" sz="2000" dirty="0"/>
              <a:t>Same as 15,000 miles and 18 months</a:t>
            </a:r>
          </a:p>
          <a:p>
            <a:pPr marL="0" indent="0">
              <a:spcBef>
                <a:spcPts val="624"/>
              </a:spcBef>
              <a:spcAft>
                <a:spcPts val="600"/>
              </a:spcAft>
              <a:buNone/>
            </a:pPr>
            <a:r>
              <a:rPr lang="en-US" sz="2000" dirty="0"/>
              <a:t>Additional items for special operating conditions: Same as 6,000 miles and 6 months</a:t>
            </a:r>
          </a:p>
        </p:txBody>
      </p:sp>
      <p:sp>
        <p:nvSpPr>
          <p:cNvPr id="8" name="Content Placeholder 7">
            <a:extLst>
              <a:ext uri="{FF2B5EF4-FFF2-40B4-BE49-F238E27FC236}">
                <a16:creationId xmlns:a16="http://schemas.microsoft.com/office/drawing/2014/main" id="{8CA4D583-1828-3179-BE3B-B4DAB6E9BA6E}"/>
              </a:ext>
            </a:extLst>
          </p:cNvPr>
          <p:cNvSpPr>
            <a:spLocks noGrp="1"/>
          </p:cNvSpPr>
          <p:nvPr>
            <p:ph sz="half" idx="10"/>
          </p:nvPr>
        </p:nvSpPr>
        <p:spPr>
          <a:xfrm>
            <a:off x="3921582" y="1825625"/>
            <a:ext cx="4257914" cy="4351338"/>
          </a:xfrm>
        </p:spPr>
        <p:txBody>
          <a:bodyPr/>
          <a:lstStyle/>
          <a:p>
            <a:pPr marL="0" indent="0">
              <a:spcBef>
                <a:spcPts val="624"/>
              </a:spcBef>
              <a:spcAft>
                <a:spcPts val="0"/>
              </a:spcAft>
              <a:buNone/>
            </a:pPr>
            <a:r>
              <a:rPr lang="en-US" sz="2000" b="1" dirty="0"/>
              <a:t>60,000 Miles or 72 Months</a:t>
            </a:r>
          </a:p>
          <a:p>
            <a:pPr marL="0" indent="0">
              <a:spcBef>
                <a:spcPts val="624"/>
              </a:spcBef>
              <a:spcAft>
                <a:spcPts val="0"/>
              </a:spcAft>
              <a:buNone/>
            </a:pPr>
            <a:r>
              <a:rPr lang="en-US" sz="2000" dirty="0"/>
              <a:t>Same as 15,000 miles and 18 months, plus:</a:t>
            </a:r>
          </a:p>
          <a:p>
            <a:pPr marL="360363" indent="-360363">
              <a:spcBef>
                <a:spcPts val="624"/>
              </a:spcBef>
              <a:spcAft>
                <a:spcPts val="0"/>
              </a:spcAft>
            </a:pPr>
            <a:r>
              <a:rPr lang="en-US" sz="2000" dirty="0"/>
              <a:t>Inspect:</a:t>
            </a:r>
          </a:p>
          <a:p>
            <a:pPr marL="722313" lvl="1" indent="-361950">
              <a:spcBef>
                <a:spcPts val="624"/>
              </a:spcBef>
              <a:spcAft>
                <a:spcPts val="0"/>
              </a:spcAft>
            </a:pPr>
            <a:r>
              <a:rPr lang="en-US" sz="1800" dirty="0"/>
              <a:t>Drive belts</a:t>
            </a:r>
          </a:p>
          <a:p>
            <a:pPr marL="722313" lvl="1" indent="-361950">
              <a:spcBef>
                <a:spcPts val="624"/>
              </a:spcBef>
              <a:spcAft>
                <a:spcPts val="0"/>
              </a:spcAft>
            </a:pPr>
            <a:r>
              <a:rPr lang="en-US" sz="1800" dirty="0"/>
              <a:t>Engine valve clearance</a:t>
            </a:r>
          </a:p>
          <a:p>
            <a:pPr marL="0" indent="0">
              <a:spcBef>
                <a:spcPts val="624"/>
              </a:spcBef>
              <a:spcAft>
                <a:spcPts val="0"/>
              </a:spcAft>
              <a:buNone/>
            </a:pPr>
            <a:r>
              <a:rPr lang="en-US" sz="2000" dirty="0"/>
              <a:t>Additional items for special operating conditions: Same as 6,000 miles and 6 months, plus:</a:t>
            </a:r>
          </a:p>
          <a:p>
            <a:pPr marL="360363" indent="-360363">
              <a:spcBef>
                <a:spcPts val="624"/>
              </a:spcBef>
              <a:spcAft>
                <a:spcPts val="0"/>
              </a:spcAft>
            </a:pPr>
            <a:r>
              <a:rPr lang="en-US" sz="2000" dirty="0"/>
              <a:t>Replace differential oil</a:t>
            </a:r>
          </a:p>
          <a:p>
            <a:pPr marL="360363" indent="-360363">
              <a:spcBef>
                <a:spcPts val="624"/>
              </a:spcBef>
              <a:spcAft>
                <a:spcPts val="0"/>
              </a:spcAft>
            </a:pPr>
            <a:r>
              <a:rPr lang="en-US" sz="2000" dirty="0"/>
              <a:t>Replace transmission oil or fluid</a:t>
            </a:r>
            <a:endParaRPr lang="en-US" sz="1800" dirty="0"/>
          </a:p>
        </p:txBody>
      </p:sp>
      <p:sp>
        <p:nvSpPr>
          <p:cNvPr id="7" name="Content Placeholder 6">
            <a:extLst>
              <a:ext uri="{FF2B5EF4-FFF2-40B4-BE49-F238E27FC236}">
                <a16:creationId xmlns:a16="http://schemas.microsoft.com/office/drawing/2014/main" id="{1DE1E7EC-0B8E-6D34-027E-3DC9DA2F353F}"/>
              </a:ext>
            </a:extLst>
          </p:cNvPr>
          <p:cNvSpPr>
            <a:spLocks noGrp="1"/>
          </p:cNvSpPr>
          <p:nvPr>
            <p:ph sz="half" idx="2"/>
          </p:nvPr>
        </p:nvSpPr>
        <p:spPr>
          <a:xfrm>
            <a:off x="8320522" y="1825625"/>
            <a:ext cx="3666886" cy="4199394"/>
          </a:xfrm>
        </p:spPr>
        <p:txBody>
          <a:bodyPr/>
          <a:lstStyle/>
          <a:p>
            <a:pPr marL="0" indent="0">
              <a:spcBef>
                <a:spcPts val="624"/>
              </a:spcBef>
              <a:spcAft>
                <a:spcPts val="0"/>
              </a:spcAft>
              <a:buNone/>
            </a:pPr>
            <a:r>
              <a:rPr lang="en-US" sz="2000" b="1" dirty="0"/>
              <a:t>75,000 Miles or 84 Months</a:t>
            </a:r>
          </a:p>
          <a:p>
            <a:pPr marL="0" indent="0">
              <a:spcBef>
                <a:spcPts val="624"/>
              </a:spcBef>
              <a:spcAft>
                <a:spcPts val="0"/>
              </a:spcAft>
              <a:buNone/>
            </a:pPr>
            <a:r>
              <a:rPr lang="en-US" sz="2000" dirty="0"/>
              <a:t>Same as 15,000 miles and 18 months, plus:</a:t>
            </a:r>
          </a:p>
          <a:p>
            <a:pPr marL="360363" indent="-360363">
              <a:spcBef>
                <a:spcPts val="624"/>
              </a:spcBef>
              <a:spcAft>
                <a:spcPts val="0"/>
              </a:spcAft>
            </a:pPr>
            <a:r>
              <a:rPr lang="en-US" sz="2000" dirty="0"/>
              <a:t>Check power-steering fluid</a:t>
            </a:r>
          </a:p>
          <a:p>
            <a:pPr marL="360363" indent="-360363">
              <a:spcBef>
                <a:spcPts val="624"/>
              </a:spcBef>
              <a:spcAft>
                <a:spcPts val="0"/>
              </a:spcAft>
            </a:pPr>
            <a:r>
              <a:rPr lang="en-US" sz="2000" dirty="0"/>
              <a:t>Inspect:</a:t>
            </a:r>
          </a:p>
          <a:p>
            <a:pPr marL="722313" lvl="1" indent="-361950">
              <a:spcBef>
                <a:spcPts val="624"/>
              </a:spcBef>
              <a:spcAft>
                <a:spcPts val="0"/>
              </a:spcAft>
            </a:pPr>
            <a:r>
              <a:rPr lang="en-US" sz="1800" dirty="0"/>
              <a:t>Drive belts</a:t>
            </a:r>
          </a:p>
          <a:p>
            <a:pPr marL="722313" lvl="1" indent="-361950">
              <a:spcBef>
                <a:spcPts val="624"/>
              </a:spcBef>
              <a:spcAft>
                <a:spcPts val="0"/>
              </a:spcAft>
            </a:pPr>
            <a:r>
              <a:rPr lang="en-US" sz="1800" dirty="0"/>
              <a:t>Engine valve clearance</a:t>
            </a:r>
          </a:p>
          <a:p>
            <a:pPr marL="0" indent="0">
              <a:spcBef>
                <a:spcPts val="624"/>
              </a:spcBef>
              <a:spcAft>
                <a:spcPts val="0"/>
              </a:spcAft>
              <a:buNone/>
            </a:pPr>
            <a:r>
              <a:rPr lang="en-US" sz="2000" dirty="0"/>
              <a:t>Additional items for special operating conditions: Same as 6,000 miles and 6 months</a:t>
            </a:r>
          </a:p>
        </p:txBody>
      </p:sp>
    </p:spTree>
    <p:extLst>
      <p:ext uri="{BB962C8B-B14F-4D97-AF65-F5344CB8AC3E}">
        <p14:creationId xmlns:p14="http://schemas.microsoft.com/office/powerpoint/2010/main" val="693995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noGrp="1"/>
          </p:cNvSpPr>
          <p:nvPr>
            <p:ph type="title"/>
          </p:nvPr>
        </p:nvSpPr>
        <p:spPr>
          <a:xfrm>
            <a:off x="476250" y="473075"/>
            <a:ext cx="11242675" cy="893763"/>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kern="1200" dirty="0">
                <a:latin typeface="+mj-lt"/>
                <a:ea typeface="+mj-ea"/>
                <a:cs typeface="+mj-cs"/>
              </a:rPr>
              <a:t>Career Opportunities (1 of 3)</a:t>
            </a:r>
          </a:p>
        </p:txBody>
      </p:sp>
      <p:sp>
        <p:nvSpPr>
          <p:cNvPr id="14" name="Content Placeholder 13">
            <a:extLst>
              <a:ext uri="{FF2B5EF4-FFF2-40B4-BE49-F238E27FC236}">
                <a16:creationId xmlns:a16="http://schemas.microsoft.com/office/drawing/2014/main" id="{93FED3E6-B96F-7AC4-DB54-59342A2014C2}"/>
              </a:ext>
            </a:extLst>
          </p:cNvPr>
          <p:cNvSpPr txBox="1">
            <a:spLocks noGrp="1"/>
          </p:cNvSpPr>
          <p:nvPr>
            <p:ph idx="1"/>
          </p:nvPr>
        </p:nvSpPr>
        <p:spPr>
          <a:xfrm>
            <a:off x="910590" y="1563772"/>
            <a:ext cx="10370820" cy="369332"/>
          </a:xfrm>
          <a:prstGeom prst="rect">
            <a:avLst/>
          </a:prstGeom>
          <a:noFill/>
        </p:spPr>
        <p:txBody>
          <a:bodyPr wrap="square" rtlCol="0" anchor="ctr">
            <a:spAutoFit/>
          </a:bodyPr>
          <a:lstStyle/>
          <a:p>
            <a:pPr marL="0" indent="0" algn="ctr">
              <a:buNone/>
            </a:pPr>
            <a:r>
              <a:rPr lang="en-US" sz="1800" dirty="0"/>
              <a:t>Objective 01.01 </a:t>
            </a:r>
            <a:r>
              <a:rPr lang="en-US" sz="1800" dirty="0">
                <a:effectLst/>
                <a:ea typeface="MS Mincho" panose="02020609040205080304" pitchFamily="49" charset="-128"/>
                <a:cs typeface="Times New Roman" panose="02020603050405020304" pitchFamily="18" charset="0"/>
              </a:rPr>
              <a:t>Describe the various types of jobs available in the automotive </a:t>
            </a:r>
            <a:r>
              <a:rPr lang="en-US" sz="1800">
                <a:effectLst/>
                <a:ea typeface="MS Mincho" panose="02020609040205080304" pitchFamily="49" charset="-128"/>
                <a:cs typeface="Times New Roman" panose="02020603050405020304" pitchFamily="18" charset="0"/>
              </a:rPr>
              <a:t>industry.</a:t>
            </a:r>
            <a:endParaRPr lang="en-US" sz="1800" dirty="0">
              <a:effectLst/>
              <a:ea typeface="MS Mincho" panose="02020609040205080304" pitchFamily="49" charset="-128"/>
              <a:cs typeface="Times New Roman" panose="02020603050405020304" pitchFamily="18" charset="0"/>
            </a:endParaRPr>
          </a:p>
        </p:txBody>
      </p:sp>
      <p:sp>
        <p:nvSpPr>
          <p:cNvPr id="13" name="Rectangle 3"/>
          <p:cNvSpPr>
            <a:spLocks noGrp="1" noChangeArrowheads="1"/>
          </p:cNvSpPr>
          <p:nvPr>
            <p:ph type="body" sz="quarter" idx="12"/>
          </p:nvPr>
        </p:nvSpPr>
        <p:spPr>
          <a:xfrm>
            <a:off x="476250" y="2163209"/>
            <a:ext cx="6225339" cy="3912738"/>
          </a:xfrm>
        </p:spPr>
        <p:txBody>
          <a:bodyPr vert="horz" lIns="91440" tIns="45720" rIns="91440" bIns="45720" rtlCol="0">
            <a:normAutofit/>
          </a:bodyPr>
          <a:lstStyle/>
          <a:p>
            <a:pPr marL="360363" indent="-360363">
              <a:spcBef>
                <a:spcPts val="624"/>
              </a:spcBef>
              <a:spcAft>
                <a:spcPts val="600"/>
              </a:spcAft>
            </a:pPr>
            <a:r>
              <a:rPr lang="en-US" sz="2600" dirty="0"/>
              <a:t>Automotive technicians can enjoy careers in many different types of automotive businesses.</a:t>
            </a:r>
          </a:p>
          <a:p>
            <a:pPr marL="360363" indent="-360363">
              <a:spcBef>
                <a:spcPts val="624"/>
              </a:spcBef>
              <a:spcAft>
                <a:spcPts val="600"/>
              </a:spcAft>
            </a:pPr>
            <a:r>
              <a:rPr lang="en-US" sz="2600" b="1" dirty="0"/>
              <a:t>Independent Service Shops</a:t>
            </a:r>
          </a:p>
          <a:p>
            <a:pPr marL="722313" lvl="1" indent="-361950">
              <a:spcBef>
                <a:spcPts val="624"/>
              </a:spcBef>
              <a:spcAft>
                <a:spcPts val="600"/>
              </a:spcAft>
            </a:pPr>
            <a:r>
              <a:rPr lang="en-US" dirty="0"/>
              <a:t>They may service all types of cars or specialize in a particular brand or vehicle system.</a:t>
            </a:r>
          </a:p>
        </p:txBody>
      </p:sp>
      <p:pic>
        <p:nvPicPr>
          <p:cNvPr id="10" name="Picture Placeholder 9" descr="The rear view of a car parked in a service shop.">
            <a:extLst>
              <a:ext uri="{FF2B5EF4-FFF2-40B4-BE49-F238E27FC236}">
                <a16:creationId xmlns:a16="http://schemas.microsoft.com/office/drawing/2014/main" id="{C21B83E1-A690-0718-035C-5AD47C4F373E}"/>
              </a:ext>
            </a:extLst>
          </p:cNvPr>
          <p:cNvPicPr>
            <a:picLocks noGrp="1" noChangeAspect="1"/>
          </p:cNvPicPr>
          <p:nvPr>
            <p:ph type="pic" sz="quarter" idx="11"/>
          </p:nvPr>
        </p:nvPicPr>
        <p:blipFill rotWithShape="1">
          <a:blip r:embed="rId3"/>
          <a:stretch/>
        </p:blipFill>
        <p:spPr>
          <a:xfrm>
            <a:off x="7602730" y="2298066"/>
            <a:ext cx="3650209" cy="3507063"/>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normAutofit/>
          </a:bodyPr>
          <a:lstStyle/>
          <a:p>
            <a:r>
              <a:rPr lang="en-US" dirty="0"/>
              <a:t>Career Opportunities (2 of 3)</a:t>
            </a:r>
          </a:p>
        </p:txBody>
      </p:sp>
      <p:sp>
        <p:nvSpPr>
          <p:cNvPr id="9219" name="Rectangle 3"/>
          <p:cNvSpPr>
            <a:spLocks noGrp="1" noChangeArrowheads="1"/>
          </p:cNvSpPr>
          <p:nvPr>
            <p:ph idx="1"/>
          </p:nvPr>
        </p:nvSpPr>
        <p:spPr>
          <a:xfrm>
            <a:off x="476843" y="1508124"/>
            <a:ext cx="6003967" cy="4606925"/>
          </a:xfrm>
        </p:spPr>
        <p:txBody>
          <a:bodyPr>
            <a:normAutofit/>
          </a:bodyPr>
          <a:lstStyle/>
          <a:p>
            <a:r>
              <a:rPr lang="en-US" b="1" dirty="0"/>
              <a:t>Dealerships</a:t>
            </a:r>
          </a:p>
          <a:p>
            <a:pPr lvl="1"/>
            <a:r>
              <a:rPr lang="en-US" dirty="0"/>
              <a:t>They serve as a link between the </a:t>
            </a:r>
            <a:r>
              <a:rPr lang="en-US" b="1" dirty="0"/>
              <a:t>Original Equipment Manufacturer (OEM) </a:t>
            </a:r>
            <a:r>
              <a:rPr lang="en-US" dirty="0"/>
              <a:t>and the customer.</a:t>
            </a:r>
          </a:p>
          <a:p>
            <a:pPr lvl="1"/>
            <a:r>
              <a:rPr lang="en-US" dirty="0"/>
              <a:t>They sell new vehicles but also service vehicles under warranty, perform recalls, and customers.</a:t>
            </a:r>
          </a:p>
        </p:txBody>
      </p:sp>
      <p:pic>
        <p:nvPicPr>
          <p:cNvPr id="8" name="Picture Placeholder 7" descr="The building of a dealership showroom with a few cars parked outside.">
            <a:extLst>
              <a:ext uri="{FF2B5EF4-FFF2-40B4-BE49-F238E27FC236}">
                <a16:creationId xmlns:a16="http://schemas.microsoft.com/office/drawing/2014/main" id="{023D6802-EC24-3577-65B8-B04626A0AE15}"/>
              </a:ext>
            </a:extLst>
          </p:cNvPr>
          <p:cNvPicPr>
            <a:picLocks noGrp="1" noChangeAspect="1"/>
          </p:cNvPicPr>
          <p:nvPr>
            <p:ph type="pic" sz="quarter" idx="10"/>
          </p:nvPr>
        </p:nvPicPr>
        <p:blipFill rotWithShape="1">
          <a:blip r:embed="rId3"/>
          <a:stretch/>
        </p:blipFill>
        <p:spPr>
          <a:xfrm>
            <a:off x="6828150" y="2350162"/>
            <a:ext cx="4887007" cy="3238952"/>
          </a:xfrm>
          <a:prstGeom prst="rect">
            <a:avLst/>
          </a:prstGeom>
          <a:noFill/>
        </p:spPr>
      </p:pic>
    </p:spTree>
    <p:extLst>
      <p:ext uri="{BB962C8B-B14F-4D97-AF65-F5344CB8AC3E}">
        <p14:creationId xmlns:p14="http://schemas.microsoft.com/office/powerpoint/2010/main" val="2832934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Career Opportunities (3 of 3)</a:t>
            </a:r>
          </a:p>
        </p:txBody>
      </p:sp>
      <p:sp>
        <p:nvSpPr>
          <p:cNvPr id="9219" name="Rectangle 3"/>
          <p:cNvSpPr>
            <a:spLocks noGrp="1" noChangeArrowheads="1"/>
          </p:cNvSpPr>
          <p:nvPr>
            <p:ph idx="1"/>
          </p:nvPr>
        </p:nvSpPr>
        <p:spPr/>
        <p:txBody>
          <a:bodyPr/>
          <a:lstStyle/>
          <a:p>
            <a:pPr eaLnBrk="1" hangingPunct="1">
              <a:spcAft>
                <a:spcPts val="600"/>
              </a:spcAft>
            </a:pPr>
            <a:r>
              <a:rPr lang="en-US" b="1" dirty="0"/>
              <a:t>Franchise Repair Shops</a:t>
            </a:r>
          </a:p>
          <a:p>
            <a:pPr lvl="1" eaLnBrk="1" hangingPunct="1">
              <a:spcAft>
                <a:spcPts val="600"/>
              </a:spcAft>
            </a:pPr>
            <a:r>
              <a:rPr lang="en-US" dirty="0"/>
              <a:t>They are usually run by large companies such as tire manufacturers. They do not normally service and repair all of the systems of the automobile. Similar to a chain restaurant model.</a:t>
            </a:r>
          </a:p>
          <a:p>
            <a:pPr eaLnBrk="1" hangingPunct="1">
              <a:spcAft>
                <a:spcPts val="600"/>
              </a:spcAft>
            </a:pPr>
            <a:r>
              <a:rPr lang="en-US" b="1" dirty="0"/>
              <a:t>Store-Associated Shops</a:t>
            </a:r>
          </a:p>
          <a:p>
            <a:pPr lvl="1" eaLnBrk="1" hangingPunct="1">
              <a:spcAft>
                <a:spcPts val="600"/>
              </a:spcAft>
            </a:pPr>
            <a:r>
              <a:rPr lang="en-US" dirty="0"/>
              <a:t>These are usually associated with large department stores.</a:t>
            </a:r>
          </a:p>
          <a:p>
            <a:pPr eaLnBrk="1" hangingPunct="1">
              <a:spcAft>
                <a:spcPts val="600"/>
              </a:spcAft>
            </a:pPr>
            <a:r>
              <a:rPr lang="en-US" b="1" dirty="0"/>
              <a:t>Fleet Service and Maintenance</a:t>
            </a:r>
          </a:p>
          <a:p>
            <a:pPr lvl="1" eaLnBrk="1" hangingPunct="1">
              <a:spcAft>
                <a:spcPts val="600"/>
              </a:spcAft>
            </a:pPr>
            <a:r>
              <a:rPr lang="en-US" dirty="0"/>
              <a:t>They may be a large business or municipality. Technicians repair and maintain the fleet, they  do not work on customer vehicles.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Knowledge Check (2 of 2)</a:t>
            </a:r>
            <a:endParaRPr lang="en-US" dirty="0"/>
          </a:p>
        </p:txBody>
      </p:sp>
      <p:sp>
        <p:nvSpPr>
          <p:cNvPr id="3" name="Content Placeholder 2"/>
          <p:cNvSpPr>
            <a:spLocks noGrp="1"/>
          </p:cNvSpPr>
          <p:nvPr>
            <p:ph idx="1"/>
          </p:nvPr>
        </p:nvSpPr>
        <p:spPr/>
        <p:txBody>
          <a:bodyPr/>
          <a:lstStyle/>
          <a:p>
            <a:pPr marL="0" indent="0" algn="ctr" eaLnBrk="1" hangingPunct="1">
              <a:buNone/>
            </a:pPr>
            <a:r>
              <a:rPr lang="en-US" dirty="0"/>
              <a:t>What system do most manufacturers provide a separate and often longer warranty for?</a:t>
            </a:r>
          </a:p>
        </p:txBody>
      </p:sp>
    </p:spTree>
    <p:extLst>
      <p:ext uri="{BB962C8B-B14F-4D97-AF65-F5344CB8AC3E}">
        <p14:creationId xmlns:p14="http://schemas.microsoft.com/office/powerpoint/2010/main" val="106109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a:t>
            </a:r>
            <a:r>
              <a:rPr lang="en-US"/>
              <a:t>Check Answer (2 of 2)</a:t>
            </a:r>
            <a:endParaRPr lang="en-US" dirty="0"/>
          </a:p>
        </p:txBody>
      </p:sp>
      <p:sp>
        <p:nvSpPr>
          <p:cNvPr id="3" name="Content Placeholder 2"/>
          <p:cNvSpPr>
            <a:spLocks noGrp="1"/>
          </p:cNvSpPr>
          <p:nvPr>
            <p:ph idx="1"/>
          </p:nvPr>
        </p:nvSpPr>
        <p:spPr/>
        <p:txBody>
          <a:bodyPr/>
          <a:lstStyle/>
          <a:p>
            <a:pPr marL="0" indent="0" algn="ctr">
              <a:spcAft>
                <a:spcPts val="2400"/>
              </a:spcAft>
              <a:buNone/>
            </a:pPr>
            <a:r>
              <a:rPr lang="en-US" dirty="0"/>
              <a:t>What system do most manufacturers provide a separate and often longer warranty </a:t>
            </a:r>
            <a:r>
              <a:rPr lang="en-US"/>
              <a:t>for?</a:t>
            </a:r>
          </a:p>
          <a:p>
            <a:pPr marL="0" indent="0" algn="ctr">
              <a:buNone/>
            </a:pPr>
            <a:r>
              <a:rPr lang="en-US" b="1"/>
              <a:t>Answer: </a:t>
            </a:r>
            <a:r>
              <a:rPr lang="en-US"/>
              <a:t>Most manufacturers also provide a separate warranty for the powertrain (engine, transmission, and so on) that covers these parts for a longer period than the basic warranty</a:t>
            </a:r>
          </a:p>
        </p:txBody>
      </p:sp>
    </p:spTree>
    <p:extLst>
      <p:ext uri="{BB962C8B-B14F-4D97-AF65-F5344CB8AC3E}">
        <p14:creationId xmlns:p14="http://schemas.microsoft.com/office/powerpoint/2010/main" val="3827137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normAutofit/>
          </a:bodyPr>
          <a:lstStyle/>
          <a:p>
            <a:r>
              <a:rPr lang="en-US" dirty="0"/>
              <a:t>Job Classifications (1 of 4)</a:t>
            </a:r>
          </a:p>
        </p:txBody>
      </p:sp>
      <p:sp>
        <p:nvSpPr>
          <p:cNvPr id="12" name="Content Placeholder 11">
            <a:extLst>
              <a:ext uri="{FF2B5EF4-FFF2-40B4-BE49-F238E27FC236}">
                <a16:creationId xmlns:a16="http://schemas.microsoft.com/office/drawing/2014/main" id="{A7A93736-E509-1F7F-C79B-C15572777347}"/>
              </a:ext>
            </a:extLst>
          </p:cNvPr>
          <p:cNvSpPr txBox="1">
            <a:spLocks noGrp="1"/>
          </p:cNvSpPr>
          <p:nvPr>
            <p:ph idx="1"/>
          </p:nvPr>
        </p:nvSpPr>
        <p:spPr>
          <a:xfrm>
            <a:off x="476250" y="1508125"/>
            <a:ext cx="11242508" cy="707886"/>
          </a:xfrm>
          <a:prstGeom prst="rect">
            <a:avLst/>
          </a:prstGeom>
          <a:noFill/>
        </p:spPr>
        <p:txBody>
          <a:bodyPr wrap="square" rtlCol="0">
            <a:spAutoFit/>
          </a:bodyPr>
          <a:lstStyle/>
          <a:p>
            <a:pPr marL="0" indent="0" algn="ctr">
              <a:buNone/>
            </a:pPr>
            <a:r>
              <a:rPr lang="en-US" sz="2000" dirty="0"/>
              <a:t>Objective 01.02 Identify the many job opportunities available to people with an automotive technology background</a:t>
            </a:r>
            <a:r>
              <a:rPr lang="en-US" sz="2000" dirty="0">
                <a:solidFill>
                  <a:srgbClr val="FF0000"/>
                </a:solidFill>
              </a:rPr>
              <a:t>.</a:t>
            </a:r>
          </a:p>
        </p:txBody>
      </p:sp>
      <p:pic>
        <p:nvPicPr>
          <p:cNvPr id="9" name="Picture Placeholder 8" descr="The close up view of a car whose hood is opened and the internal components are exposed. A technician is examining another car parked adjacently.">
            <a:extLst>
              <a:ext uri="{FF2B5EF4-FFF2-40B4-BE49-F238E27FC236}">
                <a16:creationId xmlns:a16="http://schemas.microsoft.com/office/drawing/2014/main" id="{CD084106-F506-39F6-9914-4EAAF19F5A0A}"/>
              </a:ext>
            </a:extLst>
          </p:cNvPr>
          <p:cNvPicPr>
            <a:picLocks noGrp="1" noChangeAspect="1"/>
          </p:cNvPicPr>
          <p:nvPr>
            <p:ph type="pic" sz="quarter" idx="10"/>
          </p:nvPr>
        </p:nvPicPr>
        <p:blipFill rotWithShape="1">
          <a:blip r:embed="rId3"/>
          <a:stretch/>
        </p:blipFill>
        <p:spPr>
          <a:xfrm>
            <a:off x="433224" y="2457709"/>
            <a:ext cx="5172047" cy="3421959"/>
          </a:xfrm>
          <a:prstGeom prst="rect">
            <a:avLst/>
          </a:prstGeom>
          <a:noFill/>
        </p:spPr>
      </p:pic>
      <p:sp>
        <p:nvSpPr>
          <p:cNvPr id="11" name="Rectangle 3"/>
          <p:cNvSpPr>
            <a:spLocks noGrp="1" noChangeArrowheads="1"/>
          </p:cNvSpPr>
          <p:nvPr>
            <p:ph type="body" sz="quarter" idx="12"/>
          </p:nvPr>
        </p:nvSpPr>
        <p:spPr>
          <a:xfrm>
            <a:off x="5988283" y="2349956"/>
            <a:ext cx="5791610" cy="3701927"/>
          </a:xfrm>
        </p:spPr>
        <p:txBody>
          <a:bodyPr>
            <a:normAutofit lnSpcReduction="10000"/>
          </a:bodyPr>
          <a:lstStyle/>
          <a:p>
            <a:pPr marL="363538" indent="-363538" eaLnBrk="1" hangingPunct="1">
              <a:lnSpc>
                <a:spcPct val="110000"/>
              </a:lnSpc>
              <a:spcBef>
                <a:spcPts val="624"/>
              </a:spcBef>
              <a:spcAft>
                <a:spcPts val="600"/>
              </a:spcAft>
            </a:pPr>
            <a:r>
              <a:rPr lang="en-US" b="1" dirty="0">
                <a:solidFill>
                  <a:schemeClr val="accent1"/>
                </a:solidFill>
              </a:rPr>
              <a:t>Service Technician</a:t>
            </a:r>
          </a:p>
          <a:p>
            <a:pPr marL="722313" lvl="1" indent="-361950" eaLnBrk="1" hangingPunct="1">
              <a:lnSpc>
                <a:spcPct val="110000"/>
              </a:lnSpc>
              <a:spcBef>
                <a:spcPts val="624"/>
              </a:spcBef>
              <a:spcAft>
                <a:spcPts val="600"/>
              </a:spcAft>
            </a:pPr>
            <a:r>
              <a:rPr lang="en-US" sz="2200" dirty="0">
                <a:solidFill>
                  <a:schemeClr val="accent1"/>
                </a:solidFill>
              </a:rPr>
              <a:t>Diagnoses vehicle problems, performs all necessary tests, and competently repairs or replaces faulty components.</a:t>
            </a:r>
          </a:p>
          <a:p>
            <a:pPr marL="363538" indent="-363538">
              <a:lnSpc>
                <a:spcPct val="110000"/>
              </a:lnSpc>
              <a:spcBef>
                <a:spcPts val="624"/>
              </a:spcBef>
              <a:spcAft>
                <a:spcPts val="600"/>
              </a:spcAft>
            </a:pPr>
            <a:r>
              <a:rPr lang="en-US" b="1" dirty="0">
                <a:solidFill>
                  <a:schemeClr val="accent1"/>
                </a:solidFill>
              </a:rPr>
              <a:t>Shop Foreman</a:t>
            </a:r>
          </a:p>
          <a:p>
            <a:pPr marL="722313" lvl="1" indent="-361950" eaLnBrk="1" hangingPunct="1">
              <a:lnSpc>
                <a:spcPct val="110000"/>
              </a:lnSpc>
              <a:spcBef>
                <a:spcPts val="624"/>
              </a:spcBef>
              <a:spcAft>
                <a:spcPts val="600"/>
              </a:spcAft>
            </a:pPr>
            <a:r>
              <a:rPr lang="en-US" sz="2200" dirty="0">
                <a:solidFill>
                  <a:schemeClr val="accent1"/>
                </a:solidFill>
              </a:rPr>
              <a:t>Helps technicians with more difficult tasks and serves as the quality control expert.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chor="ctr">
            <a:normAutofit/>
          </a:bodyPr>
          <a:lstStyle/>
          <a:p>
            <a:pPr eaLnBrk="1" hangingPunct="1"/>
            <a:r>
              <a:rPr lang="en-US" dirty="0"/>
              <a:t>Job Classifications (2 of 4)</a:t>
            </a:r>
          </a:p>
        </p:txBody>
      </p:sp>
      <p:sp>
        <p:nvSpPr>
          <p:cNvPr id="10243" name="Rectangle 3"/>
          <p:cNvSpPr>
            <a:spLocks noGrp="1" noChangeArrowheads="1"/>
          </p:cNvSpPr>
          <p:nvPr>
            <p:ph idx="1"/>
          </p:nvPr>
        </p:nvSpPr>
        <p:spPr>
          <a:xfrm>
            <a:off x="476843" y="1508125"/>
            <a:ext cx="5619157" cy="4339222"/>
          </a:xfrm>
        </p:spPr>
        <p:txBody>
          <a:bodyPr>
            <a:normAutofit/>
          </a:bodyPr>
          <a:lstStyle/>
          <a:p>
            <a:pPr eaLnBrk="1" hangingPunct="1"/>
            <a:r>
              <a:rPr lang="en-US" b="1" dirty="0"/>
              <a:t>Service Advisor</a:t>
            </a:r>
          </a:p>
          <a:p>
            <a:pPr lvl="1" eaLnBrk="1" hangingPunct="1"/>
            <a:r>
              <a:rPr lang="en-US" dirty="0"/>
              <a:t>Greets customers and records their concerns on the repair order.</a:t>
            </a:r>
          </a:p>
        </p:txBody>
      </p:sp>
      <p:pic>
        <p:nvPicPr>
          <p:cNvPr id="7" name="Picture Placeholder 6" descr="A person explains to another person by pointing to a computer screen.">
            <a:extLst>
              <a:ext uri="{FF2B5EF4-FFF2-40B4-BE49-F238E27FC236}">
                <a16:creationId xmlns:a16="http://schemas.microsoft.com/office/drawing/2014/main" id="{690280C3-0BBC-2F96-033C-20CCE77262C0}"/>
              </a:ext>
            </a:extLst>
          </p:cNvPr>
          <p:cNvPicPr>
            <a:picLocks noGrp="1" noChangeAspect="1"/>
          </p:cNvPicPr>
          <p:nvPr>
            <p:ph type="pic" sz="quarter" idx="10"/>
          </p:nvPr>
        </p:nvPicPr>
        <p:blipFill rotWithShape="1">
          <a:blip r:embed="rId3"/>
          <a:stretch/>
        </p:blipFill>
        <p:spPr>
          <a:xfrm>
            <a:off x="6644357" y="1763406"/>
            <a:ext cx="4753638" cy="3991532"/>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dirty="0"/>
              <a:t>Job Classifications (3 of 4)</a:t>
            </a:r>
          </a:p>
        </p:txBody>
      </p:sp>
      <p:pic>
        <p:nvPicPr>
          <p:cNvPr id="7" name="Picture Placeholder 6" descr="The building of a dealership showroom with a few cars parked outside.">
            <a:extLst>
              <a:ext uri="{FF2B5EF4-FFF2-40B4-BE49-F238E27FC236}">
                <a16:creationId xmlns:a16="http://schemas.microsoft.com/office/drawing/2014/main" id="{42D1A2EF-CE28-4400-C52F-8371CC6A2C34}"/>
              </a:ext>
            </a:extLst>
          </p:cNvPr>
          <p:cNvPicPr>
            <a:picLocks noGrp="1" noChangeAspect="1"/>
          </p:cNvPicPr>
          <p:nvPr>
            <p:ph type="pic" sz="quarter" idx="10"/>
          </p:nvPr>
        </p:nvPicPr>
        <p:blipFill rotWithShape="1">
          <a:blip r:embed="rId3"/>
          <a:stretch/>
        </p:blipFill>
        <p:spPr>
          <a:xfrm>
            <a:off x="623457" y="2098891"/>
            <a:ext cx="4887007" cy="3238952"/>
          </a:xfrm>
          <a:prstGeom prst="rect">
            <a:avLst/>
          </a:prstGeom>
          <a:noFill/>
        </p:spPr>
      </p:pic>
      <p:sp>
        <p:nvSpPr>
          <p:cNvPr id="11267" name="Rectangle 3"/>
          <p:cNvSpPr>
            <a:spLocks noGrp="1" noChangeArrowheads="1"/>
          </p:cNvSpPr>
          <p:nvPr>
            <p:ph idx="1"/>
          </p:nvPr>
        </p:nvSpPr>
        <p:spPr>
          <a:xfrm>
            <a:off x="5727032" y="1508125"/>
            <a:ext cx="5883442" cy="4519696"/>
          </a:xfrm>
        </p:spPr>
        <p:txBody>
          <a:bodyPr>
            <a:normAutofit/>
          </a:bodyPr>
          <a:lstStyle/>
          <a:p>
            <a:pPr eaLnBrk="1" hangingPunct="1">
              <a:spcAft>
                <a:spcPts val="600"/>
              </a:spcAft>
            </a:pPr>
            <a:r>
              <a:rPr lang="en-US" b="1" dirty="0">
                <a:solidFill>
                  <a:schemeClr val="accent1"/>
                </a:solidFill>
              </a:rPr>
              <a:t>Service Manager</a:t>
            </a:r>
          </a:p>
          <a:p>
            <a:pPr lvl="1">
              <a:spcAft>
                <a:spcPts val="600"/>
              </a:spcAft>
            </a:pPr>
            <a:r>
              <a:rPr lang="en-US" dirty="0">
                <a:solidFill>
                  <a:schemeClr val="accent1"/>
                </a:solidFill>
              </a:rPr>
              <a:t>Is responsible for the service department which is the entire shop operation.</a:t>
            </a:r>
          </a:p>
          <a:p>
            <a:pPr eaLnBrk="1" hangingPunct="1">
              <a:spcAft>
                <a:spcPts val="600"/>
              </a:spcAft>
            </a:pPr>
            <a:r>
              <a:rPr lang="en-US" b="1" dirty="0">
                <a:solidFill>
                  <a:schemeClr val="accent1"/>
                </a:solidFill>
              </a:rPr>
              <a:t>Service Director</a:t>
            </a:r>
          </a:p>
          <a:p>
            <a:pPr lvl="1">
              <a:spcAft>
                <a:spcPts val="600"/>
              </a:spcAft>
            </a:pPr>
            <a:r>
              <a:rPr lang="en-US" dirty="0">
                <a:solidFill>
                  <a:schemeClr val="accent1"/>
                </a:solidFill>
              </a:rPr>
              <a:t>Oversees service, body, and parts departments. Typically exists only in a new car dealership since they have parts and service </a:t>
            </a:r>
            <a:r>
              <a:rPr lang="en-US">
                <a:solidFill>
                  <a:schemeClr val="accent1"/>
                </a:solidFill>
              </a:rPr>
              <a:t>departments.</a:t>
            </a:r>
            <a:endParaRPr lang="en-US" dirty="0">
              <a:solidFill>
                <a:schemeClr val="accen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normAutofit/>
          </a:bodyPr>
          <a:lstStyle/>
          <a:p>
            <a:r>
              <a:rPr lang="en-US" dirty="0"/>
              <a:t>Job Classifications (4 of 4)</a:t>
            </a:r>
          </a:p>
        </p:txBody>
      </p:sp>
      <p:sp>
        <p:nvSpPr>
          <p:cNvPr id="12291" name="Content Placeholder 2"/>
          <p:cNvSpPr>
            <a:spLocks noGrp="1"/>
          </p:cNvSpPr>
          <p:nvPr>
            <p:ph idx="1"/>
          </p:nvPr>
        </p:nvSpPr>
        <p:spPr>
          <a:xfrm>
            <a:off x="476843" y="1508125"/>
            <a:ext cx="6381157" cy="4519696"/>
          </a:xfrm>
        </p:spPr>
        <p:txBody>
          <a:bodyPr>
            <a:noAutofit/>
          </a:bodyPr>
          <a:lstStyle/>
          <a:p>
            <a:pPr eaLnBrk="1" hangingPunct="1">
              <a:spcAft>
                <a:spcPts val="600"/>
              </a:spcAft>
            </a:pPr>
            <a:r>
              <a:rPr lang="en-US" b="1" dirty="0"/>
              <a:t>Parts Counter Person</a:t>
            </a:r>
          </a:p>
          <a:p>
            <a:pPr lvl="1" eaLnBrk="1" hangingPunct="1">
              <a:spcAft>
                <a:spcPts val="600"/>
              </a:spcAft>
            </a:pPr>
            <a:r>
              <a:rPr lang="en-US" dirty="0"/>
              <a:t>Sells parts directly to customers and supplies parts to technicians</a:t>
            </a:r>
          </a:p>
          <a:p>
            <a:pPr eaLnBrk="1" hangingPunct="1">
              <a:spcAft>
                <a:spcPts val="600"/>
              </a:spcAft>
            </a:pPr>
            <a:r>
              <a:rPr lang="en-US" b="1" dirty="0"/>
              <a:t>Parts Manager</a:t>
            </a:r>
          </a:p>
          <a:p>
            <a:pPr lvl="1" eaLnBrk="1" hangingPunct="1">
              <a:spcAft>
                <a:spcPts val="600"/>
              </a:spcAft>
            </a:pPr>
            <a:r>
              <a:rPr lang="en-US" dirty="0"/>
              <a:t>Oversees ordering replacement parts and runs parts department</a:t>
            </a:r>
          </a:p>
        </p:txBody>
      </p:sp>
      <p:pic>
        <p:nvPicPr>
          <p:cNvPr id="7" name="Picture 2" descr="A counter person handing over auto parts to a customer."/>
          <p:cNvPicPr>
            <a:picLocks noGrp="1" noChangeAspect="1" noChangeArrowheads="1"/>
          </p:cNvPicPr>
          <p:nvPr>
            <p:ph type="pic" sz="quarter" idx="10"/>
          </p:nvPr>
        </p:nvPicPr>
        <p:blipFill>
          <a:blip r:embed="rId3" cstate="print"/>
          <a:stretch>
            <a:fillRect/>
          </a:stretch>
        </p:blipFill>
        <p:spPr bwMode="auto">
          <a:xfrm>
            <a:off x="6768478" y="2033561"/>
            <a:ext cx="4713598" cy="3151696"/>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nchor="ctr">
            <a:normAutofit/>
          </a:bodyPr>
          <a:lstStyle/>
          <a:p>
            <a:pPr eaLnBrk="1" hangingPunct="1"/>
            <a:r>
              <a:rPr lang="en-US" dirty="0"/>
              <a:t>Related Career Opportunities (1 of 2)</a:t>
            </a:r>
          </a:p>
        </p:txBody>
      </p:sp>
      <p:pic>
        <p:nvPicPr>
          <p:cNvPr id="7" name="Picture Placeholder 6" descr="A flow chart diagram depicts the auto parts supply network. Raw materials lead to Independent part manufacturers and Auto/truck manufacturers. Independent part manufacturers further lead to four sections: Warehouse distributors, Independent jobbers, Mass merchandisers, and Retail auto part chain distributors. Auto/truck manufacturers further lead to Zone/regional warehouses. Retail auto part chain distributors lead to Retail auto parts store which further leads to the final user/customers. Zone/regional warehouses lead to Franchised dealerships. Independent jobbers lead to Industrial accounts, fleet accounts, professional installers, and to the final user/customers. Franchised dealerships lead to fleet accounts, professional installers, and to the final user/customers. Professional installers also lead to the final user/customers.">
            <a:extLst>
              <a:ext uri="{FF2B5EF4-FFF2-40B4-BE49-F238E27FC236}">
                <a16:creationId xmlns:a16="http://schemas.microsoft.com/office/drawing/2014/main" id="{1A5DEC13-4C23-A38D-1EB7-5AE01E9A3E56}"/>
              </a:ext>
            </a:extLst>
          </p:cNvPr>
          <p:cNvPicPr>
            <a:picLocks noGrp="1" noChangeAspect="1"/>
          </p:cNvPicPr>
          <p:nvPr>
            <p:ph type="pic" sz="quarter" idx="10"/>
          </p:nvPr>
        </p:nvPicPr>
        <p:blipFill>
          <a:blip r:embed="rId3"/>
          <a:stretch>
            <a:fillRect/>
          </a:stretch>
        </p:blipFill>
        <p:spPr>
          <a:xfrm>
            <a:off x="387344" y="2305895"/>
            <a:ext cx="5511100" cy="2960249"/>
          </a:xfrm>
          <a:prstGeom prst="rect">
            <a:avLst/>
          </a:prstGeom>
          <a:noFill/>
        </p:spPr>
      </p:pic>
      <p:sp>
        <p:nvSpPr>
          <p:cNvPr id="13315" name="Content Placeholder 2"/>
          <p:cNvSpPr>
            <a:spLocks noGrp="1"/>
          </p:cNvSpPr>
          <p:nvPr>
            <p:ph idx="1"/>
          </p:nvPr>
        </p:nvSpPr>
        <p:spPr>
          <a:xfrm>
            <a:off x="6096000" y="1508124"/>
            <a:ext cx="5622758" cy="4555791"/>
          </a:xfrm>
        </p:spPr>
        <p:txBody>
          <a:bodyPr>
            <a:normAutofit/>
          </a:bodyPr>
          <a:lstStyle/>
          <a:p>
            <a:pPr eaLnBrk="1" hangingPunct="1">
              <a:spcAft>
                <a:spcPts val="600"/>
              </a:spcAft>
            </a:pPr>
            <a:r>
              <a:rPr lang="en-US" dirty="0">
                <a:solidFill>
                  <a:schemeClr val="accent1"/>
                </a:solidFill>
              </a:rPr>
              <a:t>There are many other job opportunities directly related to the automotive industry.</a:t>
            </a:r>
          </a:p>
          <a:p>
            <a:pPr eaLnBrk="1" hangingPunct="1">
              <a:spcAft>
                <a:spcPts val="600"/>
              </a:spcAft>
            </a:pPr>
            <a:r>
              <a:rPr lang="en-US" dirty="0">
                <a:solidFill>
                  <a:schemeClr val="accent1"/>
                </a:solidFill>
              </a:rPr>
              <a:t> </a:t>
            </a:r>
            <a:r>
              <a:rPr lang="en-US" b="1" dirty="0">
                <a:solidFill>
                  <a:schemeClr val="accent1"/>
                </a:solidFill>
              </a:rPr>
              <a:t>Parts Distribution</a:t>
            </a:r>
            <a:r>
              <a:rPr lang="en-US" dirty="0">
                <a:solidFill>
                  <a:schemeClr val="accent1"/>
                </a:solidFill>
              </a:rPr>
              <a:t>   </a:t>
            </a:r>
          </a:p>
          <a:p>
            <a:pPr lvl="1">
              <a:spcAft>
                <a:spcPts val="600"/>
              </a:spcAft>
            </a:pPr>
            <a:r>
              <a:rPr lang="en-US" dirty="0">
                <a:solidFill>
                  <a:schemeClr val="accent1"/>
                </a:solidFill>
              </a:rPr>
              <a:t>A network of businesses  that supplies replacement parts to independent service shops, car and truck dealerships, fleet operations, and the public. This may include </a:t>
            </a:r>
            <a:r>
              <a:rPr lang="en-US" b="1" dirty="0">
                <a:solidFill>
                  <a:schemeClr val="accent1"/>
                </a:solidFill>
              </a:rPr>
              <a:t>Warehouse Distributors (WD).</a:t>
            </a:r>
            <a:endParaRPr lang="en-US" dirty="0">
              <a:solidFill>
                <a:schemeClr val="accen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nchor="ctr">
            <a:normAutofit/>
          </a:bodyPr>
          <a:lstStyle/>
          <a:p>
            <a:pPr eaLnBrk="1" hangingPunct="1"/>
            <a:r>
              <a:rPr lang="en-US" dirty="0"/>
              <a:t>Related Career Opportunities (2 of 2)</a:t>
            </a:r>
          </a:p>
        </p:txBody>
      </p:sp>
      <p:sp>
        <p:nvSpPr>
          <p:cNvPr id="13315" name="Content Placeholder 2"/>
          <p:cNvSpPr>
            <a:spLocks noGrp="1"/>
          </p:cNvSpPr>
          <p:nvPr>
            <p:ph idx="1"/>
          </p:nvPr>
        </p:nvSpPr>
        <p:spPr/>
        <p:txBody>
          <a:bodyPr>
            <a:normAutofit/>
          </a:bodyPr>
          <a:lstStyle/>
          <a:p>
            <a:pPr eaLnBrk="1" hangingPunct="1">
              <a:spcAft>
                <a:spcPts val="600"/>
              </a:spcAft>
            </a:pPr>
            <a:r>
              <a:rPr lang="en-US" b="1" dirty="0"/>
              <a:t>Marketing and Sales</a:t>
            </a:r>
          </a:p>
          <a:p>
            <a:pPr lvl="1">
              <a:spcAft>
                <a:spcPts val="600"/>
              </a:spcAft>
            </a:pPr>
            <a:r>
              <a:rPr lang="en-US" dirty="0"/>
              <a:t>Knowledgeable people to represent and sell their products</a:t>
            </a:r>
          </a:p>
          <a:p>
            <a:pPr eaLnBrk="1" hangingPunct="1">
              <a:spcAft>
                <a:spcPts val="600"/>
              </a:spcAft>
            </a:pPr>
            <a:r>
              <a:rPr lang="en-US" b="1" dirty="0"/>
              <a:t>Other Career Opportunities</a:t>
            </a:r>
          </a:p>
          <a:p>
            <a:pPr lvl="1">
              <a:spcAft>
                <a:spcPts val="600"/>
              </a:spcAft>
            </a:pPr>
            <a:r>
              <a:rPr lang="en-US" dirty="0"/>
              <a:t>Automobile and truck recyclers</a:t>
            </a:r>
          </a:p>
          <a:p>
            <a:pPr lvl="1">
              <a:spcAft>
                <a:spcPts val="600"/>
              </a:spcAft>
            </a:pPr>
            <a:r>
              <a:rPr lang="en-US" dirty="0"/>
              <a:t>Insurance company claims adjusters</a:t>
            </a:r>
          </a:p>
          <a:p>
            <a:pPr lvl="1">
              <a:spcAft>
                <a:spcPts val="600"/>
              </a:spcAft>
            </a:pPr>
            <a:r>
              <a:rPr lang="en-US" dirty="0"/>
              <a:t>Auto body shop technicians</a:t>
            </a:r>
          </a:p>
          <a:p>
            <a:pPr lvl="1">
              <a:spcAft>
                <a:spcPts val="600"/>
              </a:spcAft>
            </a:pPr>
            <a:r>
              <a:rPr lang="en-US" dirty="0"/>
              <a:t>Trainers for various manufacturers</a:t>
            </a:r>
          </a:p>
          <a:p>
            <a:pPr lvl="1">
              <a:spcAft>
                <a:spcPts val="600"/>
              </a:spcAft>
            </a:pPr>
            <a:r>
              <a:rPr lang="en-US" dirty="0"/>
              <a:t>Instructors for automotive training or educational program</a:t>
            </a:r>
          </a:p>
        </p:txBody>
      </p:sp>
    </p:spTree>
    <p:extLst>
      <p:ext uri="{BB962C8B-B14F-4D97-AF65-F5344CB8AC3E}">
        <p14:creationId xmlns:p14="http://schemas.microsoft.com/office/powerpoint/2010/main" val="32475965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5A181-8F62-CF3D-29D4-7F592B988DEA}"/>
              </a:ext>
            </a:extLst>
          </p:cNvPr>
          <p:cNvSpPr>
            <a:spLocks noGrp="1"/>
          </p:cNvSpPr>
          <p:nvPr>
            <p:ph type="title"/>
          </p:nvPr>
        </p:nvSpPr>
        <p:spPr/>
        <p:txBody>
          <a:bodyPr/>
          <a:lstStyle/>
          <a:p>
            <a:r>
              <a:rPr lang="en-US" dirty="0"/>
              <a:t>Training for a Career in Automotive Service (1 of 4)</a:t>
            </a:r>
          </a:p>
        </p:txBody>
      </p:sp>
      <p:sp>
        <p:nvSpPr>
          <p:cNvPr id="3" name="Content Placeholder 2">
            <a:extLst>
              <a:ext uri="{FF2B5EF4-FFF2-40B4-BE49-F238E27FC236}">
                <a16:creationId xmlns:a16="http://schemas.microsoft.com/office/drawing/2014/main" id="{ABD83316-BE3D-3A8B-C31F-8EB318CE78E8}"/>
              </a:ext>
            </a:extLst>
          </p:cNvPr>
          <p:cNvSpPr>
            <a:spLocks noGrp="1"/>
          </p:cNvSpPr>
          <p:nvPr>
            <p:ph idx="1"/>
          </p:nvPr>
        </p:nvSpPr>
        <p:spPr/>
        <p:txBody>
          <a:bodyPr/>
          <a:lstStyle/>
          <a:p>
            <a:pPr marL="0" indent="0" algn="ctr">
              <a:spcAft>
                <a:spcPts val="600"/>
              </a:spcAft>
              <a:buNone/>
            </a:pPr>
            <a:r>
              <a:rPr lang="en-US" sz="2000" dirty="0"/>
              <a:t>Objective 01.03 Describe career opportunities related to the automotive industry. Explain the types of training available for technicians and why continuing education is important.</a:t>
            </a:r>
            <a:endParaRPr lang="en-US" dirty="0"/>
          </a:p>
          <a:p>
            <a:pPr marL="0" indent="0">
              <a:spcAft>
                <a:spcPts val="600"/>
              </a:spcAft>
              <a:buNone/>
            </a:pPr>
            <a:r>
              <a:rPr lang="en-US" dirty="0"/>
              <a:t>Those interested in a career in auto service can receive training in various formal school settings.</a:t>
            </a:r>
          </a:p>
          <a:p>
            <a:pPr>
              <a:spcAft>
                <a:spcPts val="600"/>
              </a:spcAft>
            </a:pPr>
            <a:r>
              <a:rPr lang="en-US" b="1" dirty="0"/>
              <a:t>Student Work Experience</a:t>
            </a:r>
          </a:p>
          <a:p>
            <a:pPr lvl="1">
              <a:spcAft>
                <a:spcPts val="600"/>
              </a:spcAft>
            </a:pPr>
            <a:r>
              <a:rPr lang="en-US" dirty="0"/>
              <a:t>There are many ways to gain work experience while you are a student.</a:t>
            </a:r>
          </a:p>
          <a:p>
            <a:pPr>
              <a:spcAft>
                <a:spcPts val="600"/>
              </a:spcAft>
            </a:pPr>
            <a:r>
              <a:rPr lang="en-US" b="1" dirty="0"/>
              <a:t>Job Shadowing Program</a:t>
            </a:r>
          </a:p>
          <a:p>
            <a:pPr lvl="1">
              <a:spcAft>
                <a:spcPts val="600"/>
              </a:spcAft>
            </a:pPr>
            <a:r>
              <a:rPr lang="en-US" dirty="0"/>
              <a:t>You follow an experienced technician or service writer.</a:t>
            </a:r>
          </a:p>
        </p:txBody>
      </p:sp>
    </p:spTree>
    <p:extLst>
      <p:ext uri="{BB962C8B-B14F-4D97-AF65-F5344CB8AC3E}">
        <p14:creationId xmlns:p14="http://schemas.microsoft.com/office/powerpoint/2010/main" val="2855333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5A181-8F62-CF3D-29D4-7F592B988DEA}"/>
              </a:ext>
            </a:extLst>
          </p:cNvPr>
          <p:cNvSpPr>
            <a:spLocks noGrp="1"/>
          </p:cNvSpPr>
          <p:nvPr>
            <p:ph type="title"/>
          </p:nvPr>
        </p:nvSpPr>
        <p:spPr/>
        <p:txBody>
          <a:bodyPr/>
          <a:lstStyle/>
          <a:p>
            <a:r>
              <a:rPr lang="en-US" dirty="0"/>
              <a:t>Training for a Career in Automotive Service (2 of 4)</a:t>
            </a:r>
          </a:p>
        </p:txBody>
      </p:sp>
      <p:sp>
        <p:nvSpPr>
          <p:cNvPr id="3" name="Content Placeholder 2">
            <a:extLst>
              <a:ext uri="{FF2B5EF4-FFF2-40B4-BE49-F238E27FC236}">
                <a16:creationId xmlns:a16="http://schemas.microsoft.com/office/drawing/2014/main" id="{ABD83316-BE3D-3A8B-C31F-8EB318CE78E8}"/>
              </a:ext>
            </a:extLst>
          </p:cNvPr>
          <p:cNvSpPr>
            <a:spLocks noGrp="1"/>
          </p:cNvSpPr>
          <p:nvPr>
            <p:ph idx="1"/>
          </p:nvPr>
        </p:nvSpPr>
        <p:spPr/>
        <p:txBody>
          <a:bodyPr/>
          <a:lstStyle/>
          <a:p>
            <a:r>
              <a:rPr kumimoji="0" lang="en-US" b="1" i="0" u="none" strike="noStrike" kern="1200" cap="none" spc="0" normalizeH="0" baseline="0" noProof="0" dirty="0">
                <a:ln>
                  <a:noFill/>
                </a:ln>
                <a:solidFill>
                  <a:srgbClr val="282F7C"/>
                </a:solidFill>
                <a:effectLst/>
                <a:uLnTx/>
                <a:uFillTx/>
              </a:rPr>
              <a:t>Cooperative Education and </a:t>
            </a:r>
            <a:r>
              <a:rPr kumimoji="0" lang="en-US" b="1" i="0" u="none" strike="noStrike" kern="1200" cap="none" spc="0" normalizeH="0" baseline="0" noProof="0">
                <a:ln>
                  <a:noFill/>
                </a:ln>
                <a:solidFill>
                  <a:srgbClr val="282F7C"/>
                </a:solidFill>
                <a:effectLst/>
                <a:uLnTx/>
                <a:uFillTx/>
              </a:rPr>
              <a:t>Apprenticeship Programs</a:t>
            </a:r>
            <a:endParaRPr kumimoji="0" lang="en-US" b="1" i="0" u="none" strike="noStrike" kern="1200" cap="none" spc="0" normalizeH="0" baseline="0" noProof="0" dirty="0">
              <a:ln>
                <a:noFill/>
              </a:ln>
              <a:solidFill>
                <a:srgbClr val="282F7C"/>
              </a:solidFill>
              <a:effectLst/>
              <a:uLnTx/>
              <a:uFillTx/>
            </a:endParaRPr>
          </a:p>
          <a:p>
            <a:pPr lvl="1">
              <a:spcAft>
                <a:spcPts val="2400"/>
              </a:spcAft>
            </a:pPr>
            <a:r>
              <a:rPr kumimoji="0" lang="en-US" b="0" i="0" u="none" strike="noStrike" kern="1200" cap="none" spc="0" normalizeH="0" baseline="0" noProof="0" dirty="0">
                <a:ln>
                  <a:noFill/>
                </a:ln>
                <a:solidFill>
                  <a:srgbClr val="282F7C"/>
                </a:solidFill>
                <a:effectLst/>
                <a:uLnTx/>
                <a:uFillTx/>
              </a:rPr>
              <a:t>These programs are usually 2 years in length. One year is spent in school and the other in a dealership or service </a:t>
            </a:r>
            <a:r>
              <a:rPr kumimoji="0" lang="en-US" b="0" i="0" u="none" strike="noStrike" kern="1200" cap="none" spc="0" normalizeH="0" baseline="0" noProof="0">
                <a:ln>
                  <a:noFill/>
                </a:ln>
                <a:solidFill>
                  <a:srgbClr val="282F7C"/>
                </a:solidFill>
                <a:effectLst/>
                <a:uLnTx/>
                <a:uFillTx/>
              </a:rPr>
              <a:t>facility.</a:t>
            </a:r>
            <a:endParaRPr lang="en-US" b="1" dirty="0"/>
          </a:p>
          <a:p>
            <a:r>
              <a:rPr lang="en-US" b="1" dirty="0"/>
              <a:t>Mentoring Program</a:t>
            </a:r>
          </a:p>
          <a:p>
            <a:pPr lvl="1"/>
            <a:r>
              <a:rPr lang="en-US" dirty="0"/>
              <a:t>You experience the duties and responsibilities of a technician while you have someone who is successful to use as an expert.</a:t>
            </a:r>
          </a:p>
        </p:txBody>
      </p:sp>
    </p:spTree>
    <p:extLst>
      <p:ext uri="{BB962C8B-B14F-4D97-AF65-F5344CB8AC3E}">
        <p14:creationId xmlns:p14="http://schemas.microsoft.com/office/powerpoint/2010/main" val="30782446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5A181-8F62-CF3D-29D4-7F592B988DEA}"/>
              </a:ext>
            </a:extLst>
          </p:cNvPr>
          <p:cNvSpPr>
            <a:spLocks noGrp="1"/>
          </p:cNvSpPr>
          <p:nvPr>
            <p:ph type="title"/>
          </p:nvPr>
        </p:nvSpPr>
        <p:spPr/>
        <p:txBody>
          <a:bodyPr/>
          <a:lstStyle/>
          <a:p>
            <a:r>
              <a:rPr lang="en-US" dirty="0"/>
              <a:t>Training for a Career in Automotive Service (3 of 4)</a:t>
            </a:r>
          </a:p>
        </p:txBody>
      </p:sp>
      <p:sp>
        <p:nvSpPr>
          <p:cNvPr id="3" name="Content Placeholder 2">
            <a:extLst>
              <a:ext uri="{FF2B5EF4-FFF2-40B4-BE49-F238E27FC236}">
                <a16:creationId xmlns:a16="http://schemas.microsoft.com/office/drawing/2014/main" id="{ABD83316-BE3D-3A8B-C31F-8EB318CE78E8}"/>
              </a:ext>
            </a:extLst>
          </p:cNvPr>
          <p:cNvSpPr>
            <a:spLocks noGrp="1"/>
          </p:cNvSpPr>
          <p:nvPr>
            <p:ph idx="1"/>
          </p:nvPr>
        </p:nvSpPr>
        <p:spPr/>
        <p:txBody>
          <a:bodyPr/>
          <a:lstStyle/>
          <a:p>
            <a:r>
              <a:rPr lang="en-US" b="1" dirty="0"/>
              <a:t>Postgraduate Education</a:t>
            </a:r>
          </a:p>
          <a:p>
            <a:pPr lvl="1">
              <a:spcAft>
                <a:spcPts val="2400"/>
              </a:spcAft>
            </a:pPr>
            <a:r>
              <a:rPr lang="en-US" dirty="0"/>
              <a:t>These programs train individuals to work on particular </a:t>
            </a:r>
            <a:r>
              <a:rPr lang="en-US"/>
              <a:t>vehicles.</a:t>
            </a:r>
            <a:endParaRPr lang="en-US" b="1" dirty="0"/>
          </a:p>
          <a:p>
            <a:r>
              <a:rPr lang="en-US" b="1" dirty="0"/>
              <a:t>Part-Time Employment </a:t>
            </a:r>
          </a:p>
          <a:p>
            <a:pPr lvl="1"/>
            <a:r>
              <a:rPr lang="en-US" dirty="0"/>
              <a:t>It gives good experience, some income, and a good start in getting a great full-time position after you have completed school.</a:t>
            </a:r>
          </a:p>
        </p:txBody>
      </p:sp>
    </p:spTree>
    <p:extLst>
      <p:ext uri="{BB962C8B-B14F-4D97-AF65-F5344CB8AC3E}">
        <p14:creationId xmlns:p14="http://schemas.microsoft.com/office/powerpoint/2010/main" val="1975878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5A181-8F62-CF3D-29D4-7F592B988DEA}"/>
              </a:ext>
            </a:extLst>
          </p:cNvPr>
          <p:cNvSpPr>
            <a:spLocks noGrp="1"/>
          </p:cNvSpPr>
          <p:nvPr>
            <p:ph type="title"/>
          </p:nvPr>
        </p:nvSpPr>
        <p:spPr/>
        <p:txBody>
          <a:bodyPr/>
          <a:lstStyle/>
          <a:p>
            <a:r>
              <a:rPr lang="en-US" dirty="0"/>
              <a:t>Training for a Career in Automotive Service (4 of 4)</a:t>
            </a:r>
          </a:p>
        </p:txBody>
      </p:sp>
      <p:sp>
        <p:nvSpPr>
          <p:cNvPr id="3" name="Content Placeholder 2">
            <a:extLst>
              <a:ext uri="{FF2B5EF4-FFF2-40B4-BE49-F238E27FC236}">
                <a16:creationId xmlns:a16="http://schemas.microsoft.com/office/drawing/2014/main" id="{ABD83316-BE3D-3A8B-C31F-8EB318CE78E8}"/>
              </a:ext>
            </a:extLst>
          </p:cNvPr>
          <p:cNvSpPr>
            <a:spLocks noGrp="1"/>
          </p:cNvSpPr>
          <p:nvPr>
            <p:ph idx="1"/>
          </p:nvPr>
        </p:nvSpPr>
        <p:spPr/>
        <p:txBody>
          <a:bodyPr/>
          <a:lstStyle/>
          <a:p>
            <a:pPr>
              <a:spcAft>
                <a:spcPts val="600"/>
              </a:spcAft>
            </a:pPr>
            <a:r>
              <a:rPr lang="en-US" b="1" dirty="0"/>
              <a:t>The Need for Continuous Learning</a:t>
            </a:r>
          </a:p>
          <a:p>
            <a:pPr lvl="1">
              <a:spcAft>
                <a:spcPts val="600"/>
              </a:spcAft>
            </a:pPr>
            <a:r>
              <a:rPr lang="en-US" dirty="0"/>
              <a:t>A professional technician constantly learns and keeps up to </a:t>
            </a:r>
            <a:r>
              <a:rPr lang="en-US"/>
              <a:t>date.</a:t>
            </a:r>
            <a:endParaRPr lang="en-US" dirty="0"/>
          </a:p>
          <a:p>
            <a:pPr lvl="1">
              <a:spcAft>
                <a:spcPts val="600"/>
              </a:spcAft>
            </a:pPr>
            <a:r>
              <a:rPr lang="en-US" dirty="0"/>
              <a:t>You need to commit yourself to lifelong learning.</a:t>
            </a:r>
          </a:p>
          <a:p>
            <a:pPr lvl="1">
              <a:spcAft>
                <a:spcPts val="600"/>
              </a:spcAft>
            </a:pPr>
            <a:r>
              <a:rPr lang="en-US" dirty="0"/>
              <a:t>There are many ways in which you can keep up with the changing technology.</a:t>
            </a:r>
          </a:p>
        </p:txBody>
      </p:sp>
    </p:spTree>
    <p:extLst>
      <p:ext uri="{BB962C8B-B14F-4D97-AF65-F5344CB8AC3E}">
        <p14:creationId xmlns:p14="http://schemas.microsoft.com/office/powerpoint/2010/main" val="1305162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 Question</a:t>
            </a:r>
          </a:p>
        </p:txBody>
      </p:sp>
      <p:sp>
        <p:nvSpPr>
          <p:cNvPr id="3" name="Content Placeholder 2"/>
          <p:cNvSpPr>
            <a:spLocks noGrp="1"/>
          </p:cNvSpPr>
          <p:nvPr>
            <p:ph idx="1"/>
          </p:nvPr>
        </p:nvSpPr>
        <p:spPr/>
        <p:txBody>
          <a:bodyPr/>
          <a:lstStyle/>
          <a:p>
            <a:pPr>
              <a:spcAft>
                <a:spcPts val="600"/>
              </a:spcAft>
            </a:pPr>
            <a:r>
              <a:rPr lang="en-US" dirty="0"/>
              <a:t>In small groups or as a class, discuss some of the job opportunities available in the automotive industry.</a:t>
            </a:r>
          </a:p>
          <a:p>
            <a:pPr lvl="1">
              <a:spcAft>
                <a:spcPts val="600"/>
              </a:spcAft>
            </a:pPr>
            <a:r>
              <a:rPr lang="en-US" dirty="0"/>
              <a:t>Which jobs interest you most, and why?</a:t>
            </a:r>
          </a:p>
          <a:p>
            <a:pPr lvl="1">
              <a:spcAft>
                <a:spcPts val="600"/>
              </a:spcAft>
            </a:pPr>
            <a:r>
              <a:rPr lang="en-US" dirty="0"/>
              <a:t>What are ways to prepare for the job you want?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a:t>ASE Certification</a:t>
            </a:r>
          </a:p>
        </p:txBody>
      </p:sp>
      <p:sp>
        <p:nvSpPr>
          <p:cNvPr id="15363" name="Rectangle 3"/>
          <p:cNvSpPr>
            <a:spLocks noGrp="1" noChangeArrowheads="1"/>
          </p:cNvSpPr>
          <p:nvPr>
            <p:ph idx="1"/>
          </p:nvPr>
        </p:nvSpPr>
        <p:spPr>
          <a:xfrm>
            <a:off x="476843" y="2627063"/>
            <a:ext cx="11241915" cy="3472949"/>
          </a:xfrm>
        </p:spPr>
        <p:txBody>
          <a:bodyPr>
            <a:normAutofit fontScale="92500" lnSpcReduction="10000"/>
          </a:bodyPr>
          <a:lstStyle/>
          <a:p>
            <a:pPr marL="0" indent="0" algn="ctr" eaLnBrk="1" hangingPunct="1">
              <a:lnSpc>
                <a:spcPct val="110000"/>
              </a:lnSpc>
              <a:buNone/>
            </a:pPr>
            <a:r>
              <a:rPr lang="en-US" sz="1900" dirty="0"/>
              <a:t>Objective 01.04 Describe the requirements for ASE certification as an automotive technician and master auto </a:t>
            </a:r>
            <a:r>
              <a:rPr lang="en-US" sz="1900"/>
              <a:t>technician.</a:t>
            </a:r>
            <a:endParaRPr lang="en-US" dirty="0"/>
          </a:p>
          <a:p>
            <a:pPr eaLnBrk="1" hangingPunct="1">
              <a:lnSpc>
                <a:spcPct val="110000"/>
              </a:lnSpc>
            </a:pPr>
            <a:r>
              <a:rPr lang="en-US" dirty="0"/>
              <a:t>The National Institute for Automotive Service Excellence (ASE)</a:t>
            </a:r>
            <a:r>
              <a:rPr lang="en-US" b="1" dirty="0"/>
              <a:t> </a:t>
            </a:r>
            <a:r>
              <a:rPr lang="en-US" dirty="0"/>
              <a:t>has established a voluntary certification program for automotive, heavy-duty truck, and auto body repair technicians along with parts specialist certifications.</a:t>
            </a:r>
          </a:p>
          <a:p>
            <a:pPr eaLnBrk="1" hangingPunct="1">
              <a:lnSpc>
                <a:spcPct val="110000"/>
              </a:lnSpc>
            </a:pPr>
            <a:r>
              <a:rPr lang="en-US" dirty="0"/>
              <a:t>Becoming ASE certified requires passing a specific test and having a verified 2 years of related work </a:t>
            </a:r>
            <a:r>
              <a:rPr lang="en-US"/>
              <a:t>experience.</a:t>
            </a:r>
            <a:endParaRPr lang="en-US" dirty="0"/>
          </a:p>
          <a:p>
            <a:pPr eaLnBrk="1" hangingPunct="1">
              <a:lnSpc>
                <a:spcPct val="110000"/>
              </a:lnSpc>
            </a:pPr>
            <a:r>
              <a:rPr lang="en-US" dirty="0"/>
              <a:t>We will focus on the automotive area of ASE </a:t>
            </a:r>
            <a:r>
              <a:rPr lang="en-US"/>
              <a:t>certification.</a:t>
            </a:r>
            <a:endParaRPr lang="en-US" dirty="0"/>
          </a:p>
        </p:txBody>
      </p:sp>
      <p:pic>
        <p:nvPicPr>
          <p:cNvPr id="7" name="Picture Placeholder 6" descr="The logo for A S E, followed by the text that reads, National Institute for Automotive Service Excellence.">
            <a:extLst>
              <a:ext uri="{FF2B5EF4-FFF2-40B4-BE49-F238E27FC236}">
                <a16:creationId xmlns:a16="http://schemas.microsoft.com/office/drawing/2014/main" id="{36E1FF8C-8FD0-B47C-8BE7-47CD063BCAA9}"/>
              </a:ext>
            </a:extLst>
          </p:cNvPr>
          <p:cNvPicPr>
            <a:picLocks noGrp="1" noChangeAspect="1"/>
          </p:cNvPicPr>
          <p:nvPr>
            <p:ph type="pic" sz="quarter" idx="10"/>
          </p:nvPr>
        </p:nvPicPr>
        <p:blipFill>
          <a:blip r:embed="rId3"/>
          <a:stretch>
            <a:fillRect/>
          </a:stretch>
        </p:blipFill>
        <p:spPr>
          <a:xfrm>
            <a:off x="4444012" y="1442334"/>
            <a:ext cx="3303977" cy="98376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normAutofit/>
          </a:bodyPr>
          <a:lstStyle/>
          <a:p>
            <a:r>
              <a:rPr lang="en-US" dirty="0"/>
              <a:t>Primary ASE Areas of</a:t>
            </a:r>
            <a:br>
              <a:rPr lang="en-US" dirty="0"/>
            </a:br>
            <a:r>
              <a:rPr lang="en-US" dirty="0"/>
              <a:t>Automotive Certification</a:t>
            </a:r>
          </a:p>
        </p:txBody>
      </p:sp>
      <p:sp>
        <p:nvSpPr>
          <p:cNvPr id="15363" name="Rectangle 3"/>
          <p:cNvSpPr>
            <a:spLocks noGrp="1" noChangeArrowheads="1"/>
          </p:cNvSpPr>
          <p:nvPr>
            <p:ph sz="half" idx="1"/>
          </p:nvPr>
        </p:nvSpPr>
        <p:spPr/>
        <p:txBody>
          <a:bodyPr>
            <a:normAutofit/>
          </a:bodyPr>
          <a:lstStyle/>
          <a:p>
            <a:pPr marL="360363" indent="-360363" eaLnBrk="1" hangingPunct="1">
              <a:spcBef>
                <a:spcPts val="624"/>
              </a:spcBef>
              <a:spcAft>
                <a:spcPts val="600"/>
              </a:spcAft>
            </a:pPr>
            <a:r>
              <a:rPr lang="en-US" dirty="0"/>
              <a:t>A1 Engine repair</a:t>
            </a:r>
          </a:p>
          <a:p>
            <a:pPr marL="360363" indent="-360363">
              <a:spcBef>
                <a:spcPts val="624"/>
              </a:spcBef>
              <a:spcAft>
                <a:spcPts val="600"/>
              </a:spcAft>
            </a:pPr>
            <a:r>
              <a:rPr lang="en-US" dirty="0"/>
              <a:t>A2 Automatic transmission/transaxle</a:t>
            </a:r>
          </a:p>
          <a:p>
            <a:pPr marL="360363" indent="-360363" eaLnBrk="1" hangingPunct="1">
              <a:spcBef>
                <a:spcPts val="624"/>
              </a:spcBef>
              <a:spcAft>
                <a:spcPts val="600"/>
              </a:spcAft>
            </a:pPr>
            <a:r>
              <a:rPr lang="en-US" dirty="0"/>
              <a:t>A3 Manual transmissions and drive axles</a:t>
            </a:r>
          </a:p>
          <a:p>
            <a:pPr marL="360363" indent="-360363" eaLnBrk="1" hangingPunct="1">
              <a:spcBef>
                <a:spcPts val="624"/>
              </a:spcBef>
              <a:spcAft>
                <a:spcPts val="600"/>
              </a:spcAft>
            </a:pPr>
            <a:r>
              <a:rPr lang="en-US" dirty="0"/>
              <a:t>A4 Suspension </a:t>
            </a:r>
            <a:r>
              <a:rPr lang="en-US"/>
              <a:t>and steering</a:t>
            </a:r>
            <a:endParaRPr lang="en-US" dirty="0"/>
          </a:p>
        </p:txBody>
      </p:sp>
      <p:sp>
        <p:nvSpPr>
          <p:cNvPr id="2" name="Content Placeholder 1">
            <a:extLst>
              <a:ext uri="{FF2B5EF4-FFF2-40B4-BE49-F238E27FC236}">
                <a16:creationId xmlns:a16="http://schemas.microsoft.com/office/drawing/2014/main" id="{6109046C-3234-0C56-F43C-D9B203537C93}"/>
              </a:ext>
            </a:extLst>
          </p:cNvPr>
          <p:cNvSpPr>
            <a:spLocks noGrp="1"/>
          </p:cNvSpPr>
          <p:nvPr>
            <p:ph sz="half" idx="10"/>
          </p:nvPr>
        </p:nvSpPr>
        <p:spPr/>
        <p:txBody>
          <a:bodyPr/>
          <a:lstStyle/>
          <a:p>
            <a:pPr marL="360363" indent="-360363">
              <a:spcBef>
                <a:spcPts val="624"/>
              </a:spcBef>
              <a:spcAft>
                <a:spcPts val="600"/>
              </a:spcAft>
            </a:pPr>
            <a:r>
              <a:rPr lang="en-US" dirty="0"/>
              <a:t>A5 Brakes</a:t>
            </a:r>
          </a:p>
          <a:p>
            <a:pPr marL="360363" indent="-360363" eaLnBrk="1" hangingPunct="1">
              <a:spcBef>
                <a:spcPts val="624"/>
              </a:spcBef>
              <a:spcAft>
                <a:spcPts val="600"/>
              </a:spcAft>
            </a:pPr>
            <a:r>
              <a:rPr lang="en-US" dirty="0"/>
              <a:t>A6 Electrical systems</a:t>
            </a:r>
          </a:p>
          <a:p>
            <a:pPr marL="360363" indent="-360363" eaLnBrk="1" hangingPunct="1">
              <a:spcBef>
                <a:spcPts val="624"/>
              </a:spcBef>
              <a:spcAft>
                <a:spcPts val="600"/>
              </a:spcAft>
            </a:pPr>
            <a:r>
              <a:rPr lang="en-US" dirty="0"/>
              <a:t>A7 Heating and air conditioning</a:t>
            </a:r>
          </a:p>
          <a:p>
            <a:pPr marL="360363" indent="-360363" eaLnBrk="1" hangingPunct="1">
              <a:spcBef>
                <a:spcPts val="624"/>
              </a:spcBef>
              <a:spcAft>
                <a:spcPts val="600"/>
              </a:spcAft>
            </a:pPr>
            <a:r>
              <a:rPr lang="en-US" dirty="0"/>
              <a:t>A8 </a:t>
            </a:r>
            <a:r>
              <a:rPr lang="en-US"/>
              <a:t>Engine performance</a:t>
            </a:r>
            <a:endParaRPr lang="en-US" dirty="0"/>
          </a:p>
        </p:txBody>
      </p:sp>
      <p:sp>
        <p:nvSpPr>
          <p:cNvPr id="15364" name="Rectangle 4"/>
          <p:cNvSpPr>
            <a:spLocks noGrp="1" noChangeArrowheads="1"/>
          </p:cNvSpPr>
          <p:nvPr>
            <p:ph sz="half" idx="2"/>
          </p:nvPr>
        </p:nvSpPr>
        <p:spPr/>
        <p:txBody>
          <a:bodyPr>
            <a:normAutofit/>
          </a:bodyPr>
          <a:lstStyle/>
          <a:p>
            <a:pPr marL="360363" indent="-360363">
              <a:spcBef>
                <a:spcPts val="624"/>
              </a:spcBef>
              <a:spcAft>
                <a:spcPts val="600"/>
              </a:spcAft>
            </a:pPr>
            <a:r>
              <a:rPr lang="en-US" dirty="0"/>
              <a:t>A9 Light duty diesel</a:t>
            </a:r>
          </a:p>
          <a:p>
            <a:pPr marL="360363" indent="-360363" eaLnBrk="1" hangingPunct="1">
              <a:spcBef>
                <a:spcPts val="624"/>
              </a:spcBef>
              <a:spcAft>
                <a:spcPts val="600"/>
              </a:spcAft>
            </a:pPr>
            <a:r>
              <a:rPr lang="en-US" dirty="0"/>
              <a:t>L1 Advanced Engine Performance</a:t>
            </a:r>
          </a:p>
          <a:p>
            <a:pPr marL="360363" indent="-360363">
              <a:spcBef>
                <a:spcPts val="624"/>
              </a:spcBef>
              <a:spcAft>
                <a:spcPts val="600"/>
              </a:spcAft>
            </a:pPr>
            <a:r>
              <a:rPr lang="en-US" dirty="0"/>
              <a:t>L2 Electronic Diesel Engine Diagnosis</a:t>
            </a:r>
          </a:p>
        </p:txBody>
      </p:sp>
    </p:spTree>
    <p:extLst>
      <p:ext uri="{BB962C8B-B14F-4D97-AF65-F5344CB8AC3E}">
        <p14:creationId xmlns:p14="http://schemas.microsoft.com/office/powerpoint/2010/main" val="10575632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noRot="1" noMove="1" noResize="1" noEditPoints="1" noAdjustHandles="1" noChangeArrowheads="1" noChangeShapeType="1"/>
          </p:cNvSpPr>
          <p:nvPr>
            <p:ph type="title"/>
          </p:nvPr>
        </p:nvSpPr>
        <p:spPr/>
        <p:txBody>
          <a:bodyPr/>
          <a:lstStyle/>
          <a:p>
            <a:r>
              <a:rPr lang="en-US" dirty="0"/>
              <a:t>Other ASE areas of Automotive Certification</a:t>
            </a:r>
          </a:p>
        </p:txBody>
      </p:sp>
      <p:sp>
        <p:nvSpPr>
          <p:cNvPr id="6" name="Content Placeholder 5"/>
          <p:cNvSpPr>
            <a:spLocks noGrp="1"/>
          </p:cNvSpPr>
          <p:nvPr>
            <p:ph idx="1"/>
          </p:nvPr>
        </p:nvSpPr>
        <p:spPr/>
        <p:txBody>
          <a:bodyPr/>
          <a:lstStyle/>
          <a:p>
            <a:pPr>
              <a:spcAft>
                <a:spcPts val="600"/>
              </a:spcAft>
            </a:pPr>
            <a:r>
              <a:rPr lang="en-US" dirty="0"/>
              <a:t>G1 Maintenance and Light Repair Technician</a:t>
            </a:r>
          </a:p>
          <a:p>
            <a:pPr>
              <a:spcAft>
                <a:spcPts val="600"/>
              </a:spcAft>
            </a:pPr>
            <a:r>
              <a:rPr lang="en-US" dirty="0"/>
              <a:t>L3 Light Duty Hybrid/Electric Vehicle Specialist</a:t>
            </a:r>
          </a:p>
          <a:p>
            <a:pPr>
              <a:spcAft>
                <a:spcPts val="600"/>
              </a:spcAft>
            </a:pPr>
            <a:r>
              <a:rPr lang="en-US" dirty="0"/>
              <a:t>L4 Advanced Driver Assist Systems (ADAS) Specialist</a:t>
            </a:r>
          </a:p>
          <a:p>
            <a:pPr>
              <a:spcAft>
                <a:spcPts val="600"/>
              </a:spcAft>
            </a:pPr>
            <a:r>
              <a:rPr lang="en-US" dirty="0" err="1"/>
              <a:t>xEV</a:t>
            </a:r>
            <a:r>
              <a:rPr lang="en-US" dirty="0"/>
              <a:t> high-voltage electrical safety certifications for light, medium, and </a:t>
            </a:r>
            <a:r>
              <a:rPr lang="en-US"/>
              <a:t>heavy-duty vehicles</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nchor="ctr"/>
          <a:lstStyle/>
          <a:p>
            <a:pPr eaLnBrk="1" hangingPunct="1"/>
            <a:r>
              <a:rPr lang="en-US" dirty="0"/>
              <a:t>Types of ASE Certification</a:t>
            </a:r>
          </a:p>
        </p:txBody>
      </p:sp>
      <p:sp>
        <p:nvSpPr>
          <p:cNvPr id="16387" name="Content Placeholder 2"/>
          <p:cNvSpPr>
            <a:spLocks noGrp="1"/>
          </p:cNvSpPr>
          <p:nvPr>
            <p:ph sz="half" idx="1"/>
          </p:nvPr>
        </p:nvSpPr>
        <p:spPr>
          <a:xfrm>
            <a:off x="1280226" y="1690692"/>
            <a:ext cx="4012392" cy="655466"/>
          </a:xfrm>
        </p:spPr>
        <p:txBody>
          <a:bodyPr/>
          <a:lstStyle/>
          <a:p>
            <a:pPr marL="360363" indent="-360363" eaLnBrk="1" hangingPunct="1"/>
            <a:r>
              <a:rPr lang="en-US" dirty="0"/>
              <a:t>One or </a:t>
            </a:r>
            <a:r>
              <a:rPr lang="en-US"/>
              <a:t>more areas</a:t>
            </a:r>
            <a:endParaRPr lang="en-US" dirty="0"/>
          </a:p>
        </p:txBody>
      </p:sp>
      <p:sp>
        <p:nvSpPr>
          <p:cNvPr id="16388" name="Content Placeholder 3"/>
          <p:cNvSpPr>
            <a:spLocks noGrp="1"/>
          </p:cNvSpPr>
          <p:nvPr>
            <p:ph sz="half" idx="2"/>
          </p:nvPr>
        </p:nvSpPr>
        <p:spPr>
          <a:xfrm>
            <a:off x="6096000" y="1690692"/>
            <a:ext cx="5542956" cy="956255"/>
          </a:xfrm>
        </p:spPr>
        <p:txBody>
          <a:bodyPr/>
          <a:lstStyle/>
          <a:p>
            <a:pPr marL="360363" indent="-360363" eaLnBrk="1" hangingPunct="1"/>
            <a:r>
              <a:rPr lang="en-US" dirty="0">
                <a:solidFill>
                  <a:schemeClr val="accent1"/>
                </a:solidFill>
              </a:rPr>
              <a:t>All eight areas of automobile certification: A1</a:t>
            </a:r>
            <a:r>
              <a:rPr lang="en-US">
                <a:solidFill>
                  <a:schemeClr val="accent1"/>
                </a:solidFill>
              </a:rPr>
              <a:t>–A8</a:t>
            </a:r>
            <a:endParaRPr lang="en-US" dirty="0">
              <a:solidFill>
                <a:schemeClr val="accent1"/>
              </a:solidFill>
            </a:endParaRPr>
          </a:p>
        </p:txBody>
      </p:sp>
      <p:pic>
        <p:nvPicPr>
          <p:cNvPr id="16389" name="Picture 5" descr="A shoulder badge is labeled, A S E Certified Automobile Technician."/>
          <p:cNvPicPr>
            <a:picLocks noChangeAspect="1" noChangeArrowheads="1"/>
          </p:cNvPicPr>
          <p:nvPr/>
        </p:nvPicPr>
        <p:blipFill>
          <a:blip r:embed="rId3" cstate="print"/>
          <a:srcRect/>
          <a:stretch>
            <a:fillRect/>
          </a:stretch>
        </p:blipFill>
        <p:spPr bwMode="auto">
          <a:xfrm>
            <a:off x="1716605" y="2752895"/>
            <a:ext cx="2235200" cy="3021013"/>
          </a:xfrm>
          <a:prstGeom prst="rect">
            <a:avLst/>
          </a:prstGeom>
          <a:noFill/>
          <a:ln w="9525">
            <a:noFill/>
            <a:miter lim="800000"/>
            <a:headEnd/>
            <a:tailEnd/>
          </a:ln>
        </p:spPr>
      </p:pic>
      <p:pic>
        <p:nvPicPr>
          <p:cNvPr id="16390" name="Picture 7" descr="A shoulder badge is labeled, A S E Certified Master Auto Technician."/>
          <p:cNvPicPr>
            <a:picLocks noChangeAspect="1" noChangeArrowheads="1"/>
          </p:cNvPicPr>
          <p:nvPr/>
        </p:nvPicPr>
        <p:blipFill>
          <a:blip r:embed="rId4" cstate="print"/>
          <a:srcRect/>
          <a:stretch>
            <a:fillRect/>
          </a:stretch>
        </p:blipFill>
        <p:spPr bwMode="auto">
          <a:xfrm>
            <a:off x="7432447" y="2753054"/>
            <a:ext cx="2233454" cy="301752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ASE Student Certification</a:t>
            </a:r>
          </a:p>
        </p:txBody>
      </p:sp>
      <p:sp>
        <p:nvSpPr>
          <p:cNvPr id="3" name="Content Placeholder 2"/>
          <p:cNvSpPr>
            <a:spLocks noGrp="1"/>
          </p:cNvSpPr>
          <p:nvPr>
            <p:ph idx="1"/>
          </p:nvPr>
        </p:nvSpPr>
        <p:spPr/>
        <p:txBody>
          <a:bodyPr/>
          <a:lstStyle/>
          <a:p>
            <a:r>
              <a:rPr lang="en-US" dirty="0"/>
              <a:t>Computer-based tests</a:t>
            </a:r>
          </a:p>
          <a:p>
            <a:r>
              <a:rPr lang="en-US" dirty="0"/>
              <a:t>Certification valid for two years</a:t>
            </a:r>
          </a:p>
          <a:p>
            <a:r>
              <a:rPr lang="en-US" dirty="0"/>
              <a:t>Tests available for</a:t>
            </a:r>
          </a:p>
          <a:p>
            <a:pPr lvl="1"/>
            <a:r>
              <a:rPr lang="en-US" dirty="0"/>
              <a:t>Automotive</a:t>
            </a:r>
          </a:p>
          <a:p>
            <a:pPr lvl="1"/>
            <a:r>
              <a:rPr lang="en-US" dirty="0"/>
              <a:t>Collision Repair and Refinishing</a:t>
            </a:r>
          </a:p>
          <a:p>
            <a:pPr lvl="1"/>
            <a:r>
              <a:rPr lang="en-US" dirty="0"/>
              <a:t>Medium and Heavy-Duty Truck</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ASE Education Foundation Program Accreditation</a:t>
            </a:r>
          </a:p>
        </p:txBody>
      </p:sp>
      <p:sp>
        <p:nvSpPr>
          <p:cNvPr id="3" name="Content Placeholder 2"/>
          <p:cNvSpPr>
            <a:spLocks noGrp="1"/>
          </p:cNvSpPr>
          <p:nvPr>
            <p:ph idx="1"/>
          </p:nvPr>
        </p:nvSpPr>
        <p:spPr>
          <a:xfrm>
            <a:off x="476843" y="2658979"/>
            <a:ext cx="11241915" cy="3392904"/>
          </a:xfrm>
        </p:spPr>
        <p:txBody>
          <a:bodyPr/>
          <a:lstStyle/>
          <a:p>
            <a:pPr marL="0" indent="0" algn="ctr">
              <a:buNone/>
            </a:pPr>
            <a:r>
              <a:rPr lang="en-US" sz="2000" dirty="0"/>
              <a:t>01.05 Explain the requirements for automotive training programs to achieve ASE Accreditation.</a:t>
            </a:r>
          </a:p>
          <a:p>
            <a:r>
              <a:rPr lang="en-US" dirty="0"/>
              <a:t>This is not to certify an individual, but to certify a training program that a student may attend.</a:t>
            </a:r>
          </a:p>
          <a:p>
            <a:r>
              <a:rPr lang="en-US" dirty="0"/>
              <a:t>Standardizes program with other automotive programs.</a:t>
            </a:r>
          </a:p>
          <a:p>
            <a:r>
              <a:rPr lang="en-US" dirty="0"/>
              <a:t>Program must  show documentation for what is covered.</a:t>
            </a:r>
          </a:p>
          <a:p>
            <a:r>
              <a:rPr lang="en-US" dirty="0"/>
              <a:t>Programs must pass an evaluation.</a:t>
            </a:r>
          </a:p>
        </p:txBody>
      </p:sp>
      <p:pic>
        <p:nvPicPr>
          <p:cNvPr id="9" name="Picture Placeholder 8" descr="The sign and logo for A S E: A S E followed by a vertical bar then the text reads, Education Foundation.">
            <a:extLst>
              <a:ext uri="{FF2B5EF4-FFF2-40B4-BE49-F238E27FC236}">
                <a16:creationId xmlns:a16="http://schemas.microsoft.com/office/drawing/2014/main" id="{C0B55D04-92CE-5B28-8484-7EEED9B841E4}"/>
              </a:ext>
            </a:extLst>
          </p:cNvPr>
          <p:cNvPicPr>
            <a:picLocks noGrp="1" noChangeAspect="1"/>
          </p:cNvPicPr>
          <p:nvPr>
            <p:ph type="pic" sz="quarter" idx="10"/>
          </p:nvPr>
        </p:nvPicPr>
        <p:blipFill rotWithShape="1">
          <a:blip r:embed="rId2"/>
          <a:stretch/>
        </p:blipFill>
        <p:spPr>
          <a:xfrm>
            <a:off x="3910785" y="1693282"/>
            <a:ext cx="4370428" cy="8774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BCA28CB-E86D-4243-9B4B-3C703AE85185}"/>
              </a:ext>
            </a:extLst>
          </p:cNvPr>
          <p:cNvSpPr>
            <a:spLocks noGrp="1"/>
          </p:cNvSpPr>
          <p:nvPr>
            <p:ph type="title"/>
          </p:nvPr>
        </p:nvSpPr>
        <p:spPr/>
        <p:txBody>
          <a:bodyPr/>
          <a:lstStyle/>
          <a:p>
            <a:r>
              <a:rPr lang="en-GB" dirty="0"/>
              <a:t>Chapter Reflection</a:t>
            </a:r>
            <a:endParaRPr lang="en-IN" dirty="0"/>
          </a:p>
        </p:txBody>
      </p:sp>
      <p:sp>
        <p:nvSpPr>
          <p:cNvPr id="4" name="Content Placeholder 3">
            <a:extLst>
              <a:ext uri="{FF2B5EF4-FFF2-40B4-BE49-F238E27FC236}">
                <a16:creationId xmlns:a16="http://schemas.microsoft.com/office/drawing/2014/main" id="{5537EF08-0DB3-438B-A55D-5E2D3A18F40B}"/>
              </a:ext>
            </a:extLst>
          </p:cNvPr>
          <p:cNvSpPr>
            <a:spLocks noGrp="1"/>
          </p:cNvSpPr>
          <p:nvPr>
            <p:ph idx="1"/>
          </p:nvPr>
        </p:nvSpPr>
        <p:spPr/>
        <p:txBody>
          <a:bodyPr/>
          <a:lstStyle/>
          <a:p>
            <a:pPr marL="0" indent="0">
              <a:spcBef>
                <a:spcPct val="20000"/>
              </a:spcBef>
              <a:spcAft>
                <a:spcPts val="1200"/>
              </a:spcAft>
              <a:buNone/>
            </a:pPr>
            <a:r>
              <a:rPr lang="en-US" dirty="0">
                <a:solidFill>
                  <a:schemeClr val="accent1"/>
                </a:solidFill>
              </a:rPr>
              <a:t>Please take a moment to compare your perception of the automotive industry before and after you studied this chapter. Then respond to the following questions in one or two paragraphs. Use 150–200 words in your reflection.</a:t>
            </a:r>
          </a:p>
          <a:p>
            <a:pPr marL="360363" indent="-360363">
              <a:spcBef>
                <a:spcPct val="20000"/>
              </a:spcBef>
              <a:buFont typeface="Arial" pitchFamily="34" charset="0"/>
              <a:buChar char="•"/>
            </a:pPr>
            <a:r>
              <a:rPr lang="en-US" dirty="0">
                <a:solidFill>
                  <a:schemeClr val="accent1"/>
                </a:solidFill>
              </a:rPr>
              <a:t>Did anything in this chapter change your thinking about automotive careers? Describe what you learned and how it changed your ideas.</a:t>
            </a:r>
          </a:p>
          <a:p>
            <a:pPr marL="360363" indent="-360363">
              <a:spcBef>
                <a:spcPct val="20000"/>
              </a:spcBef>
              <a:buFont typeface="Arial" pitchFamily="34" charset="0"/>
              <a:buChar char="•"/>
            </a:pPr>
            <a:r>
              <a:rPr lang="en-US" dirty="0">
                <a:solidFill>
                  <a:schemeClr val="accent1"/>
                </a:solidFill>
              </a:rPr>
              <a:t>If your basic perception has </a:t>
            </a:r>
            <a:r>
              <a:rPr lang="en-US" i="1" dirty="0">
                <a:solidFill>
                  <a:schemeClr val="accent1"/>
                </a:solidFill>
              </a:rPr>
              <a:t>not</a:t>
            </a:r>
            <a:r>
              <a:rPr lang="en-US" dirty="0">
                <a:solidFill>
                  <a:schemeClr val="accent1"/>
                </a:solidFill>
              </a:rPr>
              <a:t> changed, describe something in this chapter that reinforced your </a:t>
            </a:r>
            <a:r>
              <a:rPr lang="en-US">
                <a:solidFill>
                  <a:schemeClr val="accent1"/>
                </a:solidFill>
              </a:rPr>
              <a:t>ideas.</a:t>
            </a:r>
            <a:endParaRPr lang="en-US" dirty="0">
              <a:solidFill>
                <a:schemeClr val="accent1"/>
              </a:solidFill>
            </a:endParaRPr>
          </a:p>
        </p:txBody>
      </p:sp>
    </p:spTree>
    <p:custDataLst>
      <p:tags r:id="rId1"/>
    </p:custDataLst>
    <p:extLst>
      <p:ext uri="{BB962C8B-B14F-4D97-AF65-F5344CB8AC3E}">
        <p14:creationId xmlns:p14="http://schemas.microsoft.com/office/powerpoint/2010/main" val="21378858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4cbcfe0-9d9b-4b65-9b1a-e9a94908661b">
      <Terms xmlns="http://schemas.microsoft.com/office/infopath/2007/PartnerControls"/>
    </lcf76f155ced4ddcb4097134ff3c332f>
    <TaxCatchAll xmlns="3db7a360-adc4-468e-a7a4-aedd9af1b4c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A72290BDFA7C44CB3A669C535D7775C" ma:contentTypeVersion="6" ma:contentTypeDescription="Create a new document." ma:contentTypeScope="" ma:versionID="97880c4d28887ebfb4b36432ea450809">
  <xsd:schema xmlns:xsd="http://www.w3.org/2001/XMLSchema" xmlns:xs="http://www.w3.org/2001/XMLSchema" xmlns:p="http://schemas.microsoft.com/office/2006/metadata/properties" xmlns:ns2="e4cbcfe0-9d9b-4b65-9b1a-e9a94908661b" xmlns:ns3="3db7a360-adc4-468e-a7a4-aedd9af1b4ce" targetNamespace="http://schemas.microsoft.com/office/2006/metadata/properties" ma:root="true" ma:fieldsID="8599bfbb83744fc14c5dfbcd5b864898" ns2:_="" ns3:_="">
    <xsd:import namespace="e4cbcfe0-9d9b-4b65-9b1a-e9a94908661b"/>
    <xsd:import namespace="3db7a360-adc4-468e-a7a4-aedd9af1b4ce"/>
    <xsd:element name="properties">
      <xsd:complexType>
        <xsd:sequence>
          <xsd:element name="documentManagement">
            <xsd:complexType>
              <xsd:all>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cbcfe0-9d9b-4b65-9b1a-e9a94908661b"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9813c7c6-b368-4d0a-9b29-2e74b134ed1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db7a360-adc4-468e-a7a4-aedd9af1b4ce"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ab1c66ef-6276-4f1a-9819-eb42e753d24e}" ma:internalName="TaxCatchAll" ma:showField="CatchAllData" ma:web="3db7a360-adc4-468e-a7a4-aedd9af1b4c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BA9BA192-EF86-48DF-982C-2C526A268392}">
  <ds:schemaRefs>
    <ds:schemaRef ds:uri="http://purl.org/dc/terms/"/>
    <ds:schemaRef ds:uri="http://purl.org/dc/elements/1.1/"/>
    <ds:schemaRef ds:uri="http://schemas.microsoft.com/office/2006/metadata/properties"/>
    <ds:schemaRef ds:uri="e4cbcfe0-9d9b-4b65-9b1a-e9a94908661b"/>
    <ds:schemaRef ds:uri="http://purl.org/dc/dcmitype/"/>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3db7a360-adc4-468e-a7a4-aedd9af1b4ce"/>
  </ds:schemaRefs>
</ds:datastoreItem>
</file>

<file path=customXml/itemProps3.xml><?xml version="1.0" encoding="utf-8"?>
<ds:datastoreItem xmlns:ds="http://schemas.openxmlformats.org/officeDocument/2006/customXml" ds:itemID="{1AF9BA56-B2EB-43C0-A8EE-001E552C79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cbcfe0-9d9b-4b65-9b1a-e9a94908661b"/>
    <ds:schemaRef ds:uri="3db7a360-adc4-468e-a7a4-aedd9af1b4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5757</TotalTime>
  <Words>2402</Words>
  <Application>Microsoft Office PowerPoint</Application>
  <PresentationFormat>Widescreen</PresentationFormat>
  <Paragraphs>263</Paragraphs>
  <Slides>40</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MS Mincho</vt:lpstr>
      <vt:lpstr>Arial</vt:lpstr>
      <vt:lpstr>Calibri</vt:lpstr>
      <vt:lpstr>Courier New</vt:lpstr>
      <vt:lpstr>Times New Roman</vt:lpstr>
      <vt:lpstr>Wingdings</vt:lpstr>
      <vt:lpstr>Work Sans</vt:lpstr>
      <vt:lpstr>Work Sans </vt:lpstr>
      <vt:lpstr>Optimized Template Master</vt:lpstr>
      <vt:lpstr>Automotive Technology:  A Systems Approach, 8e</vt:lpstr>
      <vt:lpstr>Icebreaker: Interview Simulation</vt:lpstr>
      <vt:lpstr>Chapter Objectives</vt:lpstr>
      <vt:lpstr>The Automotive Industry (1 of 2)</vt:lpstr>
      <vt:lpstr>The Automotive Industry (2 of 2)</vt:lpstr>
      <vt:lpstr>The Importance of Auto Technicians</vt:lpstr>
      <vt:lpstr>The Need for Quality Service (1 of 5)</vt:lpstr>
      <vt:lpstr>The Need for Ongoing Service: (2 of 5)</vt:lpstr>
      <vt:lpstr>The Need for Ongoing Service: (3 of 5)</vt:lpstr>
      <vt:lpstr>The Need for Ongoing Service: (4 of 5)</vt:lpstr>
      <vt:lpstr>The Need for Ongoing Service: (5 of 5)</vt:lpstr>
      <vt:lpstr>Knowledge Check (1 of 2)</vt:lpstr>
      <vt:lpstr>Knowledge Check Answer (1 of 2)</vt:lpstr>
      <vt:lpstr>Typical Maintenance Schedule (1 of 4)</vt:lpstr>
      <vt:lpstr>Typical Maintenance Schedule (2 of 4)</vt:lpstr>
      <vt:lpstr>Typical Maintenance Schedule (3 of 4)</vt:lpstr>
      <vt:lpstr>Typical Maintenance Schedule (4 of 4)</vt:lpstr>
      <vt:lpstr>Career Opportunities (1 of 3)</vt:lpstr>
      <vt:lpstr>Career Opportunities (2 of 3)</vt:lpstr>
      <vt:lpstr>Career Opportunities (3 of 3)</vt:lpstr>
      <vt:lpstr>Knowledge Check (2 of 2)</vt:lpstr>
      <vt:lpstr>Knowledge Check Answer (2 of 2)</vt:lpstr>
      <vt:lpstr>Job Classifications (1 of 4)</vt:lpstr>
      <vt:lpstr>Job Classifications (2 of 4)</vt:lpstr>
      <vt:lpstr>Job Classifications (3 of 4)</vt:lpstr>
      <vt:lpstr>Job Classifications (4 of 4)</vt:lpstr>
      <vt:lpstr>Related Career Opportunities (1 of 2)</vt:lpstr>
      <vt:lpstr>Related Career Opportunities (2 of 2)</vt:lpstr>
      <vt:lpstr>Training for a Career in Automotive Service (1 of 4)</vt:lpstr>
      <vt:lpstr>Training for a Career in Automotive Service (2 of 4)</vt:lpstr>
      <vt:lpstr>Training for a Career in Automotive Service (3 of 4)</vt:lpstr>
      <vt:lpstr>Training for a Career in Automotive Service (4 of 4)</vt:lpstr>
      <vt:lpstr>Discussion Question</vt:lpstr>
      <vt:lpstr>ASE Certification</vt:lpstr>
      <vt:lpstr>Primary ASE Areas of Automotive Certification</vt:lpstr>
      <vt:lpstr>Other ASE areas of Automotive Certification</vt:lpstr>
      <vt:lpstr>Types of ASE Certification</vt:lpstr>
      <vt:lpstr>ASE Student Certification</vt:lpstr>
      <vt:lpstr>ASE Education Foundation Program Accreditation</vt:lpstr>
      <vt:lpstr>Chapter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Owner</dc:creator>
  <cp:lastModifiedBy>Venugopal Loganathan</cp:lastModifiedBy>
  <cp:revision>419</cp:revision>
  <cp:lastPrinted>2016-10-03T15:29:39Z</cp:lastPrinted>
  <dcterms:created xsi:type="dcterms:W3CDTF">2021-12-10T16:21:02Z</dcterms:created>
  <dcterms:modified xsi:type="dcterms:W3CDTF">2024-10-22T09:37:13Z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