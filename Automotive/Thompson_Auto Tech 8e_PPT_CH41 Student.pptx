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847" r:id="rId2"/>
    <p:sldMasterId id="2147483860" r:id="rId3"/>
    <p:sldMasterId id="2147483878" r:id="rId4"/>
  </p:sldMasterIdLst>
  <p:notesMasterIdLst>
    <p:notesMasterId r:id="rId61"/>
  </p:notesMasterIdLst>
  <p:sldIdLst>
    <p:sldId id="386" r:id="rId5"/>
    <p:sldId id="363" r:id="rId6"/>
    <p:sldId id="364" r:id="rId7"/>
    <p:sldId id="365" r:id="rId8"/>
    <p:sldId id="258" r:id="rId9"/>
    <p:sldId id="259" r:id="rId10"/>
    <p:sldId id="260" r:id="rId11"/>
    <p:sldId id="262" r:id="rId12"/>
    <p:sldId id="265" r:id="rId13"/>
    <p:sldId id="270" r:id="rId14"/>
    <p:sldId id="274" r:id="rId15"/>
    <p:sldId id="276" r:id="rId16"/>
    <p:sldId id="278" r:id="rId17"/>
    <p:sldId id="279" r:id="rId18"/>
    <p:sldId id="366" r:id="rId19"/>
    <p:sldId id="280" r:id="rId20"/>
    <p:sldId id="282" r:id="rId21"/>
    <p:sldId id="284" r:id="rId22"/>
    <p:sldId id="286" r:id="rId23"/>
    <p:sldId id="288" r:id="rId24"/>
    <p:sldId id="289" r:id="rId25"/>
    <p:sldId id="290" r:id="rId26"/>
    <p:sldId id="291" r:id="rId27"/>
    <p:sldId id="292" r:id="rId28"/>
    <p:sldId id="293" r:id="rId29"/>
    <p:sldId id="294" r:id="rId30"/>
    <p:sldId id="295" r:id="rId31"/>
    <p:sldId id="296" r:id="rId32"/>
    <p:sldId id="297" r:id="rId33"/>
    <p:sldId id="298" r:id="rId34"/>
    <p:sldId id="367" r:id="rId35"/>
    <p:sldId id="300" r:id="rId36"/>
    <p:sldId id="301" r:id="rId37"/>
    <p:sldId id="302" r:id="rId38"/>
    <p:sldId id="306" r:id="rId39"/>
    <p:sldId id="369" r:id="rId40"/>
    <p:sldId id="305" r:id="rId41"/>
    <p:sldId id="308" r:id="rId42"/>
    <p:sldId id="310" r:id="rId43"/>
    <p:sldId id="314" r:id="rId44"/>
    <p:sldId id="316" r:id="rId45"/>
    <p:sldId id="317" r:id="rId46"/>
    <p:sldId id="321" r:id="rId47"/>
    <p:sldId id="324" r:id="rId48"/>
    <p:sldId id="326" r:id="rId49"/>
    <p:sldId id="368" r:id="rId50"/>
    <p:sldId id="327" r:id="rId51"/>
    <p:sldId id="329" r:id="rId52"/>
    <p:sldId id="331" r:id="rId53"/>
    <p:sldId id="334" r:id="rId54"/>
    <p:sldId id="335" r:id="rId55"/>
    <p:sldId id="340" r:id="rId56"/>
    <p:sldId id="343" r:id="rId57"/>
    <p:sldId id="348" r:id="rId58"/>
    <p:sldId id="349" r:id="rId59"/>
    <p:sldId id="370"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2"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86375" autoAdjust="0"/>
  </p:normalViewPr>
  <p:slideViewPr>
    <p:cSldViewPr snapToGrid="0" snapToObjects="1" showGuides="1">
      <p:cViewPr varScale="1">
        <p:scale>
          <a:sx n="64" d="100"/>
          <a:sy n="64" d="100"/>
        </p:scale>
        <p:origin x="536" y="48"/>
      </p:cViewPr>
      <p:guideLst>
        <p:guide orient="horz" pos="168"/>
        <p:guide pos="3876"/>
      </p:guideLst>
    </p:cSldViewPr>
  </p:slideViewPr>
  <p:outlineViewPr>
    <p:cViewPr>
      <p:scale>
        <a:sx n="33" d="100"/>
        <a:sy n="33" d="100"/>
      </p:scale>
      <p:origin x="0" y="-27684"/>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381000" y="685800"/>
            <a:ext cx="6096000" cy="3429000"/>
          </a:xfrm>
          <a:ln/>
        </p:spPr>
      </p:sp>
      <p:sp>
        <p:nvSpPr>
          <p:cNvPr id="7577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030841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737230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130034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182681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381000" y="685800"/>
            <a:ext cx="6096000" cy="3429000"/>
          </a:xfrm>
          <a:ln/>
        </p:spPr>
      </p:sp>
      <p:sp>
        <p:nvSpPr>
          <p:cNvPr id="8397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429583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xfrm>
            <a:off x="381000" y="685800"/>
            <a:ext cx="6096000" cy="3429000"/>
          </a:xfrm>
          <a:ln/>
        </p:spPr>
      </p:sp>
      <p:sp>
        <p:nvSpPr>
          <p:cNvPr id="14233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262687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381000" y="685800"/>
            <a:ext cx="6096000" cy="3429000"/>
          </a:xfrm>
          <a:ln/>
        </p:spPr>
      </p:sp>
      <p:sp>
        <p:nvSpPr>
          <p:cNvPr id="8806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822311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4765AB1-73FA-4D14-8CC2-72365FD0156B}" type="slidenum">
              <a:rPr lang="en-US" smtClean="0"/>
              <a:pPr/>
              <a:t>14</a:t>
            </a:fld>
            <a:endParaRPr lang="en-US" dirty="0"/>
          </a:p>
        </p:txBody>
      </p:sp>
    </p:spTree>
    <p:extLst>
      <p:ext uri="{BB962C8B-B14F-4D97-AF65-F5344CB8AC3E}">
        <p14:creationId xmlns:p14="http://schemas.microsoft.com/office/powerpoint/2010/main" val="3712510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4765AB1-73FA-4D14-8CC2-72365FD0156B}" type="slidenum">
              <a:rPr lang="en-US" smtClean="0"/>
              <a:pPr/>
              <a:t>15</a:t>
            </a:fld>
            <a:endParaRPr lang="en-US" dirty="0"/>
          </a:p>
        </p:txBody>
      </p:sp>
    </p:spTree>
    <p:extLst>
      <p:ext uri="{BB962C8B-B14F-4D97-AF65-F5344CB8AC3E}">
        <p14:creationId xmlns:p14="http://schemas.microsoft.com/office/powerpoint/2010/main" val="4122443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084655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381000" y="685800"/>
            <a:ext cx="6096000" cy="3429000"/>
          </a:xfrm>
          <a:ln/>
        </p:spPr>
      </p:sp>
      <p:sp>
        <p:nvSpPr>
          <p:cNvPr id="9216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245693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919644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381000" y="685800"/>
            <a:ext cx="6096000" cy="3429000"/>
          </a:xfrm>
          <a:ln/>
        </p:spPr>
      </p:sp>
      <p:sp>
        <p:nvSpPr>
          <p:cNvPr id="9625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811364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381000" y="685800"/>
            <a:ext cx="6096000" cy="3429000"/>
          </a:xfrm>
          <a:ln/>
        </p:spPr>
      </p:sp>
      <p:sp>
        <p:nvSpPr>
          <p:cNvPr id="9728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034659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381000" y="685800"/>
            <a:ext cx="6096000" cy="3429000"/>
          </a:xfrm>
          <a:ln/>
        </p:spPr>
      </p:sp>
      <p:sp>
        <p:nvSpPr>
          <p:cNvPr id="9830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267910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381000" y="685800"/>
            <a:ext cx="6096000" cy="3429000"/>
          </a:xfrm>
          <a:ln/>
        </p:spPr>
      </p:sp>
      <p:sp>
        <p:nvSpPr>
          <p:cNvPr id="9933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823208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381000" y="685800"/>
            <a:ext cx="6096000" cy="3429000"/>
          </a:xfrm>
          <a:ln/>
        </p:spPr>
      </p:sp>
      <p:sp>
        <p:nvSpPr>
          <p:cNvPr id="10035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229309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381000" y="685800"/>
            <a:ext cx="6096000" cy="3429000"/>
          </a:xfrm>
          <a:ln/>
        </p:spPr>
      </p:sp>
      <p:sp>
        <p:nvSpPr>
          <p:cNvPr id="10240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427823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381000" y="685800"/>
            <a:ext cx="6096000" cy="3429000"/>
          </a:xfrm>
          <a:ln/>
        </p:spPr>
      </p:sp>
      <p:sp>
        <p:nvSpPr>
          <p:cNvPr id="10342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720890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4765AB1-73FA-4D14-8CC2-72365FD0156B}" type="slidenum">
              <a:rPr lang="en-US" smtClean="0"/>
              <a:pPr/>
              <a:t>30</a:t>
            </a:fld>
            <a:endParaRPr lang="en-US" dirty="0"/>
          </a:p>
        </p:txBody>
      </p:sp>
    </p:spTree>
    <p:extLst>
      <p:ext uri="{BB962C8B-B14F-4D97-AF65-F5344CB8AC3E}">
        <p14:creationId xmlns:p14="http://schemas.microsoft.com/office/powerpoint/2010/main" val="1630483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4765AB1-73FA-4D14-8CC2-72365FD0156B}" type="slidenum">
              <a:rPr lang="en-US" smtClean="0"/>
              <a:pPr/>
              <a:t>31</a:t>
            </a:fld>
            <a:endParaRPr lang="en-US" dirty="0"/>
          </a:p>
        </p:txBody>
      </p:sp>
    </p:spTree>
    <p:extLst>
      <p:ext uri="{BB962C8B-B14F-4D97-AF65-F5344CB8AC3E}">
        <p14:creationId xmlns:p14="http://schemas.microsoft.com/office/powerpoint/2010/main" val="39654119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381000" y="685800"/>
            <a:ext cx="6096000" cy="3429000"/>
          </a:xfrm>
          <a:ln/>
        </p:spPr>
      </p:sp>
      <p:sp>
        <p:nvSpPr>
          <p:cNvPr id="10649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078707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381000" y="685800"/>
            <a:ext cx="6096000" cy="3429000"/>
          </a:xfrm>
          <a:ln/>
        </p:spPr>
      </p:sp>
      <p:sp>
        <p:nvSpPr>
          <p:cNvPr id="10854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0742101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381000" y="685800"/>
            <a:ext cx="6096000" cy="3429000"/>
          </a:xfrm>
          <a:ln/>
        </p:spPr>
      </p:sp>
      <p:sp>
        <p:nvSpPr>
          <p:cNvPr id="110595"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4103366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81000" y="685800"/>
            <a:ext cx="6096000" cy="3429000"/>
          </a:xfrm>
          <a:ln/>
        </p:spPr>
      </p:sp>
      <p:sp>
        <p:nvSpPr>
          <p:cNvPr id="10752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0854818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381000" y="685800"/>
            <a:ext cx="6096000" cy="3429000"/>
          </a:xfrm>
          <a:ln/>
        </p:spPr>
      </p:sp>
      <p:sp>
        <p:nvSpPr>
          <p:cNvPr id="10752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205403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381000" y="685800"/>
            <a:ext cx="6096000" cy="3429000"/>
          </a:xfrm>
          <a:ln/>
        </p:spPr>
      </p:sp>
      <p:sp>
        <p:nvSpPr>
          <p:cNvPr id="11264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453531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381000" y="685800"/>
            <a:ext cx="6096000" cy="3429000"/>
          </a:xfrm>
          <a:ln/>
        </p:spPr>
      </p:sp>
      <p:sp>
        <p:nvSpPr>
          <p:cNvPr id="11469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3954593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xfrm>
            <a:off x="381000" y="685800"/>
            <a:ext cx="6096000" cy="3429000"/>
          </a:xfrm>
          <a:ln/>
        </p:spPr>
      </p:sp>
      <p:sp>
        <p:nvSpPr>
          <p:cNvPr id="11673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31683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381000" y="685800"/>
            <a:ext cx="6096000" cy="3429000"/>
          </a:xfrm>
          <a:ln/>
        </p:spPr>
      </p:sp>
      <p:sp>
        <p:nvSpPr>
          <p:cNvPr id="11878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875490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xfrm>
            <a:off x="381000" y="685800"/>
            <a:ext cx="6096000" cy="3429000"/>
          </a:xfrm>
          <a:ln/>
        </p:spPr>
      </p:sp>
      <p:sp>
        <p:nvSpPr>
          <p:cNvPr id="11981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4099817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381000" y="685800"/>
            <a:ext cx="6096000" cy="3429000"/>
          </a:xfrm>
          <a:ln/>
        </p:spPr>
      </p:sp>
      <p:sp>
        <p:nvSpPr>
          <p:cNvPr id="12390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418363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381000" y="685800"/>
            <a:ext cx="6096000" cy="3429000"/>
          </a:xfrm>
          <a:ln/>
        </p:spPr>
      </p:sp>
      <p:sp>
        <p:nvSpPr>
          <p:cNvPr id="126979"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9877130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4765AB1-73FA-4D14-8CC2-72365FD0156B}" type="slidenum">
              <a:rPr lang="en-US" smtClean="0"/>
              <a:pPr/>
              <a:t>45</a:t>
            </a:fld>
            <a:endParaRPr lang="en-US" dirty="0"/>
          </a:p>
        </p:txBody>
      </p:sp>
    </p:spTree>
    <p:extLst>
      <p:ext uri="{BB962C8B-B14F-4D97-AF65-F5344CB8AC3E}">
        <p14:creationId xmlns:p14="http://schemas.microsoft.com/office/powerpoint/2010/main" val="2620208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4765AB1-73FA-4D14-8CC2-72365FD0156B}" type="slidenum">
              <a:rPr lang="en-US" smtClean="0"/>
              <a:pPr/>
              <a:t>46</a:t>
            </a:fld>
            <a:endParaRPr lang="en-US" dirty="0"/>
          </a:p>
        </p:txBody>
      </p:sp>
    </p:spTree>
    <p:extLst>
      <p:ext uri="{BB962C8B-B14F-4D97-AF65-F5344CB8AC3E}">
        <p14:creationId xmlns:p14="http://schemas.microsoft.com/office/powerpoint/2010/main" val="40839911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381000" y="685800"/>
            <a:ext cx="6096000" cy="3429000"/>
          </a:xfrm>
          <a:ln/>
        </p:spPr>
      </p:sp>
      <p:sp>
        <p:nvSpPr>
          <p:cNvPr id="128003"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39533301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381000" y="685800"/>
            <a:ext cx="6096000" cy="3429000"/>
          </a:xfrm>
          <a:ln/>
        </p:spPr>
      </p:sp>
      <p:sp>
        <p:nvSpPr>
          <p:cNvPr id="129027"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8090520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381000" y="685800"/>
            <a:ext cx="6096000" cy="3429000"/>
          </a:xfrm>
          <a:ln/>
        </p:spPr>
      </p:sp>
      <p:sp>
        <p:nvSpPr>
          <p:cNvPr id="130051" name="Rectangle 3"/>
          <p:cNvSpPr>
            <a:spLocks noGrp="1" noChangeArrowheads="1"/>
          </p:cNvSpPr>
          <p:nvPr>
            <p:ph type="body" idx="1"/>
          </p:nvPr>
        </p:nvSpPr>
        <p:spPr>
          <a:noFill/>
          <a:ln/>
        </p:spPr>
        <p:txBody>
          <a:bodyPr/>
          <a:lstStyle/>
          <a:p>
            <a:endParaRPr lang="en-US" dirty="0">
              <a:latin typeface="Times New Roman" pitchFamily="18" charset="0"/>
            </a:endParaRPr>
          </a:p>
        </p:txBody>
      </p:sp>
    </p:spTree>
    <p:extLst>
      <p:ext uri="{BB962C8B-B14F-4D97-AF65-F5344CB8AC3E}">
        <p14:creationId xmlns:p14="http://schemas.microsoft.com/office/powerpoint/2010/main" val="111930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87657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668427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439318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845952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679495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735793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41871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504695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709866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724112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5496868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First Slide)">
  <p:cSld name="Title (First Slide)">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Tree>
    <p:extLst>
      <p:ext uri="{BB962C8B-B14F-4D97-AF65-F5344CB8AC3E}">
        <p14:creationId xmlns:p14="http://schemas.microsoft.com/office/powerpoint/2010/main" val="22391359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4897091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313373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690459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14211574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9964756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9371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40486601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758224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846231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81871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319549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1082165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604211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5971499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228232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7395149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68539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3055078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First Slide)"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611216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93991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Tree>
    <p:extLst>
      <p:ext uri="{BB962C8B-B14F-4D97-AF65-F5344CB8AC3E}">
        <p14:creationId xmlns:p14="http://schemas.microsoft.com/office/powerpoint/2010/main" val="30301340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93991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583501"/>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
        <p:nvSpPr>
          <p:cNvPr id="3" name="Content Placeholder 2">
            <a:extLst>
              <a:ext uri="{FF2B5EF4-FFF2-40B4-BE49-F238E27FC236}">
                <a16:creationId xmlns:a16="http://schemas.microsoft.com/office/drawing/2014/main" id="{C8CD9DB6-CC2C-B9B5-B15F-6A416843F1DA}"/>
              </a:ext>
            </a:extLst>
          </p:cNvPr>
          <p:cNvSpPr>
            <a:spLocks noGrp="1"/>
          </p:cNvSpPr>
          <p:nvPr>
            <p:ph sz="quarter" idx="10"/>
          </p:nvPr>
        </p:nvSpPr>
        <p:spPr>
          <a:xfrm>
            <a:off x="831850" y="448945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DB6AA5D2-D4F5-76A3-AEEF-07BA03B82786}"/>
              </a:ext>
            </a:extLst>
          </p:cNvPr>
          <p:cNvSpPr>
            <a:spLocks noGrp="1"/>
          </p:cNvSpPr>
          <p:nvPr>
            <p:ph type="pic" sz="quarter" idx="11"/>
          </p:nvPr>
        </p:nvSpPr>
        <p:spPr>
          <a:xfrm>
            <a:off x="2474913" y="4414838"/>
            <a:ext cx="914400" cy="914400"/>
          </a:xfrm>
        </p:spPr>
        <p:txBody>
          <a:bodyPr/>
          <a:lstStyle/>
          <a:p>
            <a:endParaRPr lang="en-IN"/>
          </a:p>
        </p:txBody>
      </p:sp>
      <p:sp>
        <p:nvSpPr>
          <p:cNvPr id="7" name="Picture Placeholder 6">
            <a:extLst>
              <a:ext uri="{FF2B5EF4-FFF2-40B4-BE49-F238E27FC236}">
                <a16:creationId xmlns:a16="http://schemas.microsoft.com/office/drawing/2014/main" id="{37B05F67-B546-9119-A597-7161D4F68239}"/>
              </a:ext>
            </a:extLst>
          </p:cNvPr>
          <p:cNvSpPr>
            <a:spLocks noGrp="1"/>
          </p:cNvSpPr>
          <p:nvPr>
            <p:ph type="pic" sz="quarter" idx="12"/>
          </p:nvPr>
        </p:nvSpPr>
        <p:spPr>
          <a:xfrm>
            <a:off x="4535488" y="4414838"/>
            <a:ext cx="914400" cy="914400"/>
          </a:xfrm>
        </p:spPr>
        <p:txBody>
          <a:bodyPr/>
          <a:lstStyle/>
          <a:p>
            <a:endParaRPr lang="en-IN"/>
          </a:p>
        </p:txBody>
      </p:sp>
      <p:sp>
        <p:nvSpPr>
          <p:cNvPr id="9" name="Table Placeholder 8">
            <a:extLst>
              <a:ext uri="{FF2B5EF4-FFF2-40B4-BE49-F238E27FC236}">
                <a16:creationId xmlns:a16="http://schemas.microsoft.com/office/drawing/2014/main" id="{BC8DE09F-00FE-2974-B2FA-63A3D2613557}"/>
              </a:ext>
            </a:extLst>
          </p:cNvPr>
          <p:cNvSpPr>
            <a:spLocks noGrp="1"/>
          </p:cNvSpPr>
          <p:nvPr>
            <p:ph type="tbl" sz="quarter" idx="13"/>
          </p:nvPr>
        </p:nvSpPr>
        <p:spPr>
          <a:xfrm>
            <a:off x="6253163" y="4414838"/>
            <a:ext cx="914400" cy="914400"/>
          </a:xfrm>
        </p:spPr>
        <p:txBody>
          <a:bodyPr/>
          <a:lstStyle/>
          <a:p>
            <a:endParaRPr lang="en-IN"/>
          </a:p>
        </p:txBody>
      </p:sp>
    </p:spTree>
    <p:extLst>
      <p:ext uri="{BB962C8B-B14F-4D97-AF65-F5344CB8AC3E}">
        <p14:creationId xmlns:p14="http://schemas.microsoft.com/office/powerpoint/2010/main" val="25613512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1967749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9147124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954018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5919958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3387013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611437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7567628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3996078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59476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199874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584236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081731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1870034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5899081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5041185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r>
              <a:rPr lang="en-US"/>
              <a:t>Click icon to add picture</a:t>
            </a:r>
          </a:p>
        </p:txBody>
      </p:sp>
      <p:sp>
        <p:nvSpPr>
          <p:cNvPr id="11" name="Picture Placeholder 10"/>
          <p:cNvSpPr>
            <a:spLocks noGrp="1"/>
          </p:cNvSpPr>
          <p:nvPr>
            <p:ph type="pic" sz="quarter" idx="15"/>
          </p:nvPr>
        </p:nvSpPr>
        <p:spPr>
          <a:xfrm>
            <a:off x="6908800" y="2819400"/>
            <a:ext cx="2540000" cy="1447800"/>
          </a:xfrm>
        </p:spPr>
        <p:txBody>
          <a:bodyPr/>
          <a:lstStyle/>
          <a:p>
            <a:r>
              <a:rPr lang="en-US"/>
              <a:t>Click icon to add picture</a:t>
            </a:r>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994080"/>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r>
              <a:rPr lang="en-US"/>
              <a:t>Click icon to add picture</a:t>
            </a:r>
          </a:p>
        </p:txBody>
      </p:sp>
      <p:sp>
        <p:nvSpPr>
          <p:cNvPr id="12" name="Picture Placeholder 11"/>
          <p:cNvSpPr>
            <a:spLocks noGrp="1"/>
          </p:cNvSpPr>
          <p:nvPr>
            <p:ph type="pic" sz="quarter" idx="15"/>
          </p:nvPr>
        </p:nvSpPr>
        <p:spPr>
          <a:xfrm>
            <a:off x="6807200" y="3124200"/>
            <a:ext cx="2438400" cy="1371600"/>
          </a:xfrm>
        </p:spPr>
        <p:txBody>
          <a:bodyPr/>
          <a:lstStyle/>
          <a:p>
            <a:r>
              <a:rPr lang="en-US"/>
              <a:t>Click icon to add picture</a:t>
            </a:r>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560368"/>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r>
              <a:rPr lang="en-US"/>
              <a:t>Click icon to add picture</a:t>
            </a:r>
          </a:p>
        </p:txBody>
      </p:sp>
      <p:sp>
        <p:nvSpPr>
          <p:cNvPr id="11" name="Picture Placeholder 10"/>
          <p:cNvSpPr>
            <a:spLocks noGrp="1"/>
          </p:cNvSpPr>
          <p:nvPr>
            <p:ph type="pic" sz="quarter" idx="15"/>
          </p:nvPr>
        </p:nvSpPr>
        <p:spPr>
          <a:xfrm>
            <a:off x="6502400" y="2895600"/>
            <a:ext cx="2743200" cy="1524000"/>
          </a:xfrm>
        </p:spPr>
        <p:txBody>
          <a:bodyPr/>
          <a:lstStyle/>
          <a:p>
            <a:r>
              <a:rPr lang="en-US"/>
              <a:t>Click icon to add picture</a:t>
            </a:r>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1879502"/>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r>
              <a:rPr lang="en-US"/>
              <a:t>Click icon to add picture</a:t>
            </a:r>
          </a:p>
        </p:txBody>
      </p:sp>
      <p:sp>
        <p:nvSpPr>
          <p:cNvPr id="11" name="Picture Placeholder 10"/>
          <p:cNvSpPr>
            <a:spLocks noGrp="1"/>
          </p:cNvSpPr>
          <p:nvPr>
            <p:ph type="pic" sz="quarter" idx="15"/>
          </p:nvPr>
        </p:nvSpPr>
        <p:spPr>
          <a:xfrm>
            <a:off x="5689600" y="3581400"/>
            <a:ext cx="2336800" cy="1295400"/>
          </a:xfrm>
        </p:spPr>
        <p:txBody>
          <a:bodyPr/>
          <a:lstStyle/>
          <a:p>
            <a:r>
              <a:rPr lang="en-US"/>
              <a:t>Click icon to add picture</a:t>
            </a:r>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844194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image" Target="../media/image3.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image" Target="../media/image3.png"/><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theme" Target="../theme/theme4.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a:p>
        </p:txBody>
      </p:sp>
      <p:sp>
        <p:nvSpPr>
          <p:cNvPr id="7" name="Rectangle 3">
            <a:extLst>
              <a:ext uri="{FF2B5EF4-FFF2-40B4-BE49-F238E27FC236}">
                <a16:creationId xmlns:a16="http://schemas.microsoft.com/office/drawing/2014/main" id="{DA78DDAE-0DE4-314A-5EF0-F4B43DBFFD2F}"/>
              </a:ext>
            </a:extLst>
          </p:cNvPr>
          <p:cNvSpPr>
            <a:spLocks noChangeArrowheads="1"/>
          </p:cNvSpPr>
          <p:nvPr userDrawn="1"/>
        </p:nvSpPr>
        <p:spPr bwMode="auto">
          <a:xfrm>
            <a:off x="4247444" y="6424082"/>
            <a:ext cx="7750595" cy="389999"/>
          </a:xfrm>
          <a:prstGeom prst="rect">
            <a:avLst/>
          </a:prstGeom>
          <a:noFill/>
          <a:ln w="9525">
            <a:noFill/>
            <a:round/>
            <a:headEnd/>
            <a:tailEnd/>
          </a:ln>
          <a:effectLst/>
        </p:spPr>
        <p:txBody>
          <a:bodyPr lIns="90000" tIns="46800" rIns="90000" bIns="46800"/>
          <a:lstStyle/>
          <a:p>
            <a:pPr algn="r" defTabSz="449263" fontAlgn="base">
              <a:spcBef>
                <a:spcPct val="0"/>
              </a:spcBef>
              <a:spcAft>
                <a:spcPct val="0"/>
              </a:spcAft>
              <a:buClr>
                <a:srgbClr val="000000"/>
              </a:buClr>
              <a:buSzPct val="100000"/>
              <a:buFont typeface="Calibri" pitchFamily="1"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GB" sz="900" dirty="0">
                <a:solidFill>
                  <a:srgbClr val="000000"/>
                </a:solidFill>
                <a:latin typeface="Calibri" pitchFamily="1" charset="0"/>
                <a:cs typeface="Arial" charset="0"/>
              </a:rPr>
              <a:t>© 2020 Cengage Learning. All Rights Reserved. May not be scanned, copied, </a:t>
            </a:r>
            <a:br>
              <a:rPr lang="en-GB" sz="900" dirty="0">
                <a:solidFill>
                  <a:srgbClr val="000000"/>
                </a:solidFill>
                <a:latin typeface="Calibri" pitchFamily="1" charset="0"/>
                <a:cs typeface="Arial" charset="0"/>
              </a:rPr>
            </a:br>
            <a:r>
              <a:rPr lang="en-GB" sz="900" dirty="0">
                <a:solidFill>
                  <a:srgbClr val="000000"/>
                </a:solidFill>
                <a:latin typeface="Calibri" pitchFamily="1" charset="0"/>
                <a:cs typeface="Arial" charset="0"/>
              </a:rPr>
              <a:t>duplicated,</a:t>
            </a:r>
            <a:r>
              <a:rPr lang="en-GB" sz="900" baseline="0" dirty="0">
                <a:solidFill>
                  <a:srgbClr val="000000"/>
                </a:solidFill>
                <a:latin typeface="Calibri" pitchFamily="1" charset="0"/>
                <a:cs typeface="Arial" charset="0"/>
              </a:rPr>
              <a:t> or posted to a publicly accessible website, in whole or in part.</a:t>
            </a:r>
            <a:endParaRPr lang="en-GB" sz="900" dirty="0">
              <a:solidFill>
                <a:srgbClr val="000000"/>
              </a:solidFill>
              <a:latin typeface="Calibri" pitchFamily="1" charset="0"/>
              <a:cs typeface="Arial" charset="0"/>
            </a:endParaRPr>
          </a:p>
        </p:txBody>
      </p:sp>
      <p:pic>
        <p:nvPicPr>
          <p:cNvPr id="8" name="Picture 7" descr="CL_Logo_RGB_R.png">
            <a:extLst>
              <a:ext uri="{FF2B5EF4-FFF2-40B4-BE49-F238E27FC236}">
                <a16:creationId xmlns:a16="http://schemas.microsoft.com/office/drawing/2014/main" id="{77868EFA-F0C1-88FA-5E65-78CC7DC9F3DF}"/>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00" y="6172200"/>
            <a:ext cx="2133600" cy="843912"/>
          </a:xfrm>
          <a:prstGeom prst="rect">
            <a:avLst/>
          </a:prstGeom>
        </p:spPr>
      </p:pic>
      <p:pic>
        <p:nvPicPr>
          <p:cNvPr id="9" name="Picture 8" descr="Erjavec_AutoTech_MASTER.jpg">
            <a:extLst>
              <a:ext uri="{FF2B5EF4-FFF2-40B4-BE49-F238E27FC236}">
                <a16:creationId xmlns:a16="http://schemas.microsoft.com/office/drawing/2014/main" id="{031B0010-161A-FE9F-6179-C85DCEC38B36}"/>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50605195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3">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B8A3AE07-80AE-00D1-A230-6F5E95CCA10A}"/>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111235459"/>
      </p:ext>
    </p:extLst>
  </p:cSld>
  <p:clrMap bg1="lt1" tx1="dk1" bg2="dk2" tx2="lt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 id="2147483877" r:id="rId17"/>
    <p:sldLayoutId id="2147483898" r:id="rId18"/>
    <p:sldLayoutId id="2147483899" r:id="rId19"/>
    <p:sldLayoutId id="2147483900" r:id="rId20"/>
    <p:sldLayoutId id="2147483901" r:id="rId2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41F936BA-03BC-2895-0E7B-39BE12EE067F}"/>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03493127"/>
      </p:ext>
    </p:extLst>
  </p:cSld>
  <p:clrMap bg1="lt1" tx1="dk1" bg2="dk2" tx2="lt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 id="2147483896" r:id="rId18"/>
    <p:sldLayoutId id="2147483897"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4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3.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4.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44.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41: Automatic Transmissions and Transaxles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D76E-2D8C-5E03-4FC6-C5A918F9F811}"/>
              </a:ext>
            </a:extLst>
          </p:cNvPr>
          <p:cNvSpPr>
            <a:spLocks noGrp="1"/>
          </p:cNvSpPr>
          <p:nvPr>
            <p:ph type="title"/>
          </p:nvPr>
        </p:nvSpPr>
        <p:spPr/>
        <p:txBody>
          <a:bodyPr/>
          <a:lstStyle/>
          <a:p>
            <a:r>
              <a:rPr lang="en-US" dirty="0"/>
              <a:t>Chapter Objectives (1 of 3)</a:t>
            </a:r>
          </a:p>
        </p:txBody>
      </p:sp>
      <p:sp>
        <p:nvSpPr>
          <p:cNvPr id="3" name="Text Placeholder 2">
            <a:extLst>
              <a:ext uri="{FF2B5EF4-FFF2-40B4-BE49-F238E27FC236}">
                <a16:creationId xmlns:a16="http://schemas.microsoft.com/office/drawing/2014/main" id="{6880116C-1E97-AA7B-E769-DB0F49662E09}"/>
              </a:ext>
            </a:extLst>
          </p:cNvPr>
          <p:cNvSpPr>
            <a:spLocks noGrp="1"/>
          </p:cNvSpPr>
          <p:nvPr>
            <p:ph type="body" idx="1"/>
          </p:nvPr>
        </p:nvSpPr>
        <p:spPr/>
        <p:txBody>
          <a:bodyPr/>
          <a:lstStyle/>
          <a:p>
            <a:r>
              <a:rPr lang="en-US" sz="2600" dirty="0">
                <a:solidFill>
                  <a:schemeClr val="tx1"/>
                </a:solidFill>
                <a:latin typeface="Work Sans" pitchFamily="2" charset="0"/>
              </a:rPr>
              <a:t>41.01 Explain the basic design and operation of standard and lockup torque converters.</a:t>
            </a:r>
          </a:p>
          <a:p>
            <a:r>
              <a:rPr lang="en-US" sz="2600" dirty="0">
                <a:solidFill>
                  <a:schemeClr val="tx1"/>
                </a:solidFill>
                <a:latin typeface="Work Sans" pitchFamily="2" charset="0"/>
              </a:rPr>
              <a:t>41.02 Describe the design and operation of a simple planetary gearset.</a:t>
            </a:r>
          </a:p>
          <a:p>
            <a:r>
              <a:rPr lang="en-US" sz="2600" dirty="0">
                <a:solidFill>
                  <a:schemeClr val="tx1"/>
                </a:solidFill>
                <a:latin typeface="Work Sans" pitchFamily="2" charset="0"/>
              </a:rPr>
              <a:t>41.03 Describe the construction and operation of common compound planetary gearsets used in transmissions and transaxles.</a:t>
            </a:r>
          </a:p>
          <a:p>
            <a:r>
              <a:rPr lang="en-US" sz="2600" dirty="0">
                <a:solidFill>
                  <a:schemeClr val="tx1"/>
                </a:solidFill>
                <a:latin typeface="Work Sans" pitchFamily="2" charset="0"/>
              </a:rPr>
              <a:t>41.04 Describe the construction and operation of CVTs.</a:t>
            </a:r>
          </a:p>
        </p:txBody>
      </p:sp>
    </p:spTree>
    <p:extLst>
      <p:ext uri="{BB962C8B-B14F-4D97-AF65-F5344CB8AC3E}">
        <p14:creationId xmlns:p14="http://schemas.microsoft.com/office/powerpoint/2010/main" val="59885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D76E-2D8C-5E03-4FC6-C5A918F9F811}"/>
              </a:ext>
            </a:extLst>
          </p:cNvPr>
          <p:cNvSpPr>
            <a:spLocks noGrp="1"/>
          </p:cNvSpPr>
          <p:nvPr>
            <p:ph type="title"/>
          </p:nvPr>
        </p:nvSpPr>
        <p:spPr/>
        <p:txBody>
          <a:bodyPr/>
          <a:lstStyle/>
          <a:p>
            <a:r>
              <a:rPr lang="en-US" dirty="0"/>
              <a:t>Chapter Objectives (2 of 3)</a:t>
            </a:r>
          </a:p>
        </p:txBody>
      </p:sp>
      <p:sp>
        <p:nvSpPr>
          <p:cNvPr id="3" name="Text Placeholder 2">
            <a:extLst>
              <a:ext uri="{FF2B5EF4-FFF2-40B4-BE49-F238E27FC236}">
                <a16:creationId xmlns:a16="http://schemas.microsoft.com/office/drawing/2014/main" id="{6880116C-1E97-AA7B-E769-DB0F49662E09}"/>
              </a:ext>
            </a:extLst>
          </p:cNvPr>
          <p:cNvSpPr>
            <a:spLocks noGrp="1"/>
          </p:cNvSpPr>
          <p:nvPr>
            <p:ph type="body" idx="1"/>
          </p:nvPr>
        </p:nvSpPr>
        <p:spPr/>
        <p:txBody>
          <a:bodyPr/>
          <a:lstStyle/>
          <a:p>
            <a:r>
              <a:rPr lang="en-US" sz="2600" dirty="0">
                <a:solidFill>
                  <a:schemeClr val="tx1"/>
                </a:solidFill>
                <a:latin typeface="Work Sans" pitchFamily="2" charset="0"/>
              </a:rPr>
              <a:t>41.05 Name the major types of planetary gear controls and explain their basic operating principles.</a:t>
            </a:r>
          </a:p>
          <a:p>
            <a:r>
              <a:rPr lang="en-US" sz="2600" dirty="0">
                <a:solidFill>
                  <a:schemeClr val="tx1"/>
                </a:solidFill>
                <a:latin typeface="Work Sans" pitchFamily="2" charset="0"/>
              </a:rPr>
              <a:t>41.06 Describe the types and operation of different one-way clutches used in transmissions and transaxles.</a:t>
            </a:r>
          </a:p>
          <a:p>
            <a:r>
              <a:rPr lang="en-US" sz="2600" dirty="0">
                <a:solidFill>
                  <a:schemeClr val="tx1"/>
                </a:solidFill>
                <a:latin typeface="Work Sans" pitchFamily="2" charset="0"/>
              </a:rPr>
              <a:t>41.07 Describe the types and operation of bearings, snap rings, washers, gaskets, and seals used in transmissions and transaxles.</a:t>
            </a:r>
          </a:p>
        </p:txBody>
      </p:sp>
    </p:spTree>
    <p:extLst>
      <p:ext uri="{BB962C8B-B14F-4D97-AF65-F5344CB8AC3E}">
        <p14:creationId xmlns:p14="http://schemas.microsoft.com/office/powerpoint/2010/main" val="170423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D76E-2D8C-5E03-4FC6-C5A918F9F811}"/>
              </a:ext>
            </a:extLst>
          </p:cNvPr>
          <p:cNvSpPr>
            <a:spLocks noGrp="1"/>
          </p:cNvSpPr>
          <p:nvPr>
            <p:ph type="title"/>
          </p:nvPr>
        </p:nvSpPr>
        <p:spPr/>
        <p:txBody>
          <a:bodyPr/>
          <a:lstStyle/>
          <a:p>
            <a:r>
              <a:rPr lang="en-US" dirty="0"/>
              <a:t>Chapter Objectives (3 of 3)</a:t>
            </a:r>
          </a:p>
        </p:txBody>
      </p:sp>
      <p:sp>
        <p:nvSpPr>
          <p:cNvPr id="3" name="Text Placeholder 2">
            <a:extLst>
              <a:ext uri="{FF2B5EF4-FFF2-40B4-BE49-F238E27FC236}">
                <a16:creationId xmlns:a16="http://schemas.microsoft.com/office/drawing/2014/main" id="{6880116C-1E97-AA7B-E769-DB0F49662E09}"/>
              </a:ext>
            </a:extLst>
          </p:cNvPr>
          <p:cNvSpPr>
            <a:spLocks noGrp="1"/>
          </p:cNvSpPr>
          <p:nvPr>
            <p:ph type="body" idx="1"/>
          </p:nvPr>
        </p:nvSpPr>
        <p:spPr/>
        <p:txBody>
          <a:bodyPr/>
          <a:lstStyle/>
          <a:p>
            <a:r>
              <a:rPr lang="en-US" sz="2600" dirty="0">
                <a:solidFill>
                  <a:schemeClr val="tx1"/>
                </a:solidFill>
                <a:latin typeface="Work Sans" pitchFamily="2" charset="0"/>
              </a:rPr>
              <a:t>41.08 Identify and explain the final drive components used in transaxles.</a:t>
            </a:r>
          </a:p>
          <a:p>
            <a:r>
              <a:rPr lang="en-US" sz="2600" dirty="0">
                <a:solidFill>
                  <a:schemeClr val="tx1"/>
                </a:solidFill>
                <a:latin typeface="Work Sans" pitchFamily="2" charset="0"/>
              </a:rPr>
              <a:t>41.09 Describe what components are used to shift gears and their effect on shift quality.</a:t>
            </a:r>
          </a:p>
          <a:p>
            <a:r>
              <a:rPr lang="en-US" sz="2600" dirty="0">
                <a:solidFill>
                  <a:schemeClr val="tx1"/>
                </a:solidFill>
                <a:latin typeface="Work Sans" pitchFamily="2" charset="0"/>
              </a:rPr>
              <a:t>41.10 Identify the various pressures in the transmission, state their purpose, and tell how they influence the operation of the transmission.</a:t>
            </a:r>
          </a:p>
        </p:txBody>
      </p:sp>
    </p:spTree>
    <p:extLst>
      <p:ext uri="{BB962C8B-B14F-4D97-AF65-F5344CB8AC3E}">
        <p14:creationId xmlns:p14="http://schemas.microsoft.com/office/powerpoint/2010/main" val="4290332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Automatic Transmissions and Transaxles</a:t>
            </a:r>
          </a:p>
        </p:txBody>
      </p:sp>
      <p:sp>
        <p:nvSpPr>
          <p:cNvPr id="5123" name="Content Placeholder 6"/>
          <p:cNvSpPr>
            <a:spLocks noGrp="1"/>
          </p:cNvSpPr>
          <p:nvPr>
            <p:ph type="body" idx="1"/>
          </p:nvPr>
        </p:nvSpPr>
        <p:spPr/>
        <p:txBody>
          <a:bodyPr/>
          <a:lstStyle/>
          <a:p>
            <a:r>
              <a:rPr lang="en-US" sz="2600" dirty="0">
                <a:solidFill>
                  <a:schemeClr val="tx1"/>
                </a:solidFill>
              </a:rPr>
              <a:t>Selects gear ratios according to engine speed, power train load, vehicle speed, and other operating factors</a:t>
            </a:r>
          </a:p>
          <a:p>
            <a:r>
              <a:rPr lang="en-US" sz="2600" dirty="0">
                <a:solidFill>
                  <a:schemeClr val="tx1"/>
                </a:solidFill>
              </a:rPr>
              <a:t>Older units have four or five speeds.</a:t>
            </a:r>
          </a:p>
          <a:p>
            <a:r>
              <a:rPr lang="en-US" sz="2600" dirty="0">
                <a:solidFill>
                  <a:schemeClr val="tx1"/>
                </a:solidFill>
              </a:rPr>
              <a:t>Current units have six to ten speeds.</a:t>
            </a:r>
          </a:p>
          <a:p>
            <a:r>
              <a:rPr lang="en-US" sz="2600" dirty="0">
                <a:solidFill>
                  <a:schemeClr val="tx1"/>
                </a:solidFill>
              </a:rPr>
              <a:t>Some have zero fixed ratios (</a:t>
            </a:r>
            <a:r>
              <a:rPr lang="en-US" sz="2600" dirty="0" err="1">
                <a:solidFill>
                  <a:schemeClr val="tx1"/>
                </a:solidFill>
              </a:rPr>
              <a:t>CVT</a:t>
            </a:r>
            <a:r>
              <a:rPr lang="en-US" sz="2600" dirty="0">
                <a:solidFill>
                  <a:schemeClr val="tx1"/>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An Eight-Speed Automatic</a:t>
            </a:r>
          </a:p>
        </p:txBody>
      </p:sp>
      <p:pic>
        <p:nvPicPr>
          <p:cNvPr id="9" name="Picture Placeholder 8" descr="A cutaway of an eight-speed automatic transmission.">
            <a:extLst>
              <a:ext uri="{FF2B5EF4-FFF2-40B4-BE49-F238E27FC236}">
                <a16:creationId xmlns:a16="http://schemas.microsoft.com/office/drawing/2014/main" id="{0B423A35-09CB-9139-C6F1-6550C4B1647C}"/>
              </a:ext>
            </a:extLst>
          </p:cNvPr>
          <p:cNvPicPr>
            <a:picLocks noGrp="1" noChangeAspect="1"/>
          </p:cNvPicPr>
          <p:nvPr>
            <p:ph type="pic" sz="quarter" idx="12"/>
          </p:nvPr>
        </p:nvPicPr>
        <p:blipFill rotWithShape="1">
          <a:blip r:embed="rId2"/>
          <a:srcRect b="8411"/>
          <a:stretch/>
        </p:blipFill>
        <p:spPr>
          <a:xfrm>
            <a:off x="3092738" y="1625941"/>
            <a:ext cx="6006524" cy="38233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5"/>
          <p:cNvSpPr>
            <a:spLocks noGrp="1"/>
          </p:cNvSpPr>
          <p:nvPr>
            <p:ph type="title"/>
          </p:nvPr>
        </p:nvSpPr>
        <p:spPr/>
        <p:txBody>
          <a:bodyPr/>
          <a:lstStyle/>
          <a:p>
            <a:r>
              <a:rPr lang="en-US" dirty="0"/>
              <a:t>Torque Converter</a:t>
            </a:r>
          </a:p>
        </p:txBody>
      </p:sp>
      <p:sp>
        <p:nvSpPr>
          <p:cNvPr id="6147" name="Content Placeholder 6"/>
          <p:cNvSpPr>
            <a:spLocks noGrp="1"/>
          </p:cNvSpPr>
          <p:nvPr>
            <p:ph type="body" idx="1"/>
          </p:nvPr>
        </p:nvSpPr>
        <p:spPr/>
        <p:txBody>
          <a:bodyPr/>
          <a:lstStyle/>
          <a:p>
            <a:pPr marL="0" indent="0">
              <a:buNone/>
            </a:pPr>
            <a:r>
              <a:rPr lang="en-US" b="1" dirty="0">
                <a:solidFill>
                  <a:schemeClr val="tx1"/>
                </a:solidFill>
              </a:rPr>
              <a:t>41.01 Explain the basic design and operation of standard and lockup torque converters.</a:t>
            </a:r>
            <a:endParaRPr lang="en-US" sz="2600" b="1" dirty="0">
              <a:solidFill>
                <a:schemeClr val="tx1"/>
              </a:solidFill>
            </a:endParaRPr>
          </a:p>
          <a:p>
            <a:r>
              <a:rPr lang="en-US" sz="2600" dirty="0">
                <a:solidFill>
                  <a:schemeClr val="tx1"/>
                </a:solidFill>
              </a:rPr>
              <a:t>A fluid clutch or coupling that transfers torque from the engine to the transmission</a:t>
            </a:r>
          </a:p>
          <a:p>
            <a:r>
              <a:rPr lang="en-US" sz="2600" dirty="0">
                <a:solidFill>
                  <a:schemeClr val="tx1"/>
                </a:solidFill>
              </a:rPr>
              <a:t>Automatically engages and disengages power from the engine in relation to RPM</a:t>
            </a:r>
          </a:p>
          <a:p>
            <a:pPr algn="l"/>
            <a:r>
              <a:rPr lang="en-US" sz="2600" dirty="0">
                <a:solidFill>
                  <a:schemeClr val="tx1"/>
                </a:solidFill>
                <a:latin typeface="Work Sans" pitchFamily="2" charset="0"/>
              </a:rPr>
              <a:t>Operates through hydraulic force provided by automatic transmission fluid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5"/>
          <p:cNvSpPr>
            <a:spLocks noGrp="1"/>
          </p:cNvSpPr>
          <p:nvPr>
            <p:ph type="title"/>
          </p:nvPr>
        </p:nvSpPr>
        <p:spPr/>
        <p:txBody>
          <a:bodyPr/>
          <a:lstStyle/>
          <a:p>
            <a:r>
              <a:rPr lang="en-US" dirty="0"/>
              <a:t>Torque Converter Operation</a:t>
            </a:r>
          </a:p>
        </p:txBody>
      </p:sp>
      <p:sp>
        <p:nvSpPr>
          <p:cNvPr id="6147" name="Content Placeholder 6"/>
          <p:cNvSpPr>
            <a:spLocks noGrp="1"/>
          </p:cNvSpPr>
          <p:nvPr>
            <p:ph type="body" idx="1"/>
          </p:nvPr>
        </p:nvSpPr>
        <p:spPr>
          <a:xfrm>
            <a:off x="476845" y="1563626"/>
            <a:ext cx="6562782" cy="3996915"/>
          </a:xfrm>
        </p:spPr>
        <p:txBody>
          <a:bodyPr/>
          <a:lstStyle/>
          <a:p>
            <a:r>
              <a:rPr lang="en-US" dirty="0">
                <a:solidFill>
                  <a:schemeClr val="tx1"/>
                </a:solidFill>
              </a:rPr>
              <a:t>At idle, there is not enough fluid flow for power transfer.</a:t>
            </a:r>
          </a:p>
          <a:p>
            <a:r>
              <a:rPr lang="en-US" dirty="0">
                <a:solidFill>
                  <a:schemeClr val="tx1"/>
                </a:solidFill>
              </a:rPr>
              <a:t>As RPM increases, fluid flow is sufficient to transmit engine power.</a:t>
            </a:r>
          </a:p>
        </p:txBody>
      </p:sp>
      <p:pic>
        <p:nvPicPr>
          <p:cNvPr id="7" name="Picture Placeholder 6" descr="Two illustrations labeled (A) and (B) depict the operation of a torque converter. The first illustration (A) is a fluid coupling. The pump/impeller (input) and turbine (output) are placed facing each other and the pump/impeller is connected to a plug. The Pump/impeller and turbine are represented by a fan. The air pressure from the pump/impeller flows toward the turbine, represented by a forward arrow. The second illustration (B), is a turbine that spins in the same direction as that of the impeller. Both spins are represented by downward arrows.">
            <a:extLst>
              <a:ext uri="{FF2B5EF4-FFF2-40B4-BE49-F238E27FC236}">
                <a16:creationId xmlns:a16="http://schemas.microsoft.com/office/drawing/2014/main" id="{7047493C-4947-40B4-C9E8-876349F703D3}"/>
              </a:ext>
            </a:extLst>
          </p:cNvPr>
          <p:cNvPicPr>
            <a:picLocks noGrp="1" noChangeAspect="1"/>
          </p:cNvPicPr>
          <p:nvPr>
            <p:ph type="pic" sz="quarter" idx="12"/>
          </p:nvPr>
        </p:nvPicPr>
        <p:blipFill rotWithShape="1">
          <a:blip r:embed="rId3"/>
          <a:srcRect b="8739"/>
          <a:stretch/>
        </p:blipFill>
        <p:spPr>
          <a:xfrm>
            <a:off x="7867804" y="1533082"/>
            <a:ext cx="3079943" cy="43660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Torque Converter Components</a:t>
            </a:r>
          </a:p>
        </p:txBody>
      </p:sp>
      <p:sp>
        <p:nvSpPr>
          <p:cNvPr id="8195" name="Rectangle 3"/>
          <p:cNvSpPr>
            <a:spLocks noGrp="1" noChangeArrowheads="1"/>
          </p:cNvSpPr>
          <p:nvPr>
            <p:ph type="body" idx="1"/>
          </p:nvPr>
        </p:nvSpPr>
        <p:spPr>
          <a:xfrm>
            <a:off x="476844" y="1563626"/>
            <a:ext cx="6220517" cy="4021628"/>
          </a:xfrm>
        </p:spPr>
        <p:txBody>
          <a:bodyPr>
            <a:normAutofit/>
          </a:bodyPr>
          <a:lstStyle/>
          <a:p>
            <a:r>
              <a:rPr lang="en-US" dirty="0">
                <a:solidFill>
                  <a:schemeClr val="tx1"/>
                </a:solidFill>
              </a:rPr>
              <a:t>Impeller or Pump Assembly</a:t>
            </a:r>
          </a:p>
          <a:p>
            <a:pPr lvl="1"/>
            <a:r>
              <a:rPr lang="en-US" sz="2400" dirty="0">
                <a:solidFill>
                  <a:schemeClr val="tx1"/>
                </a:solidFill>
              </a:rPr>
              <a:t>Receives power from engine</a:t>
            </a:r>
          </a:p>
          <a:p>
            <a:r>
              <a:rPr lang="en-US" dirty="0">
                <a:solidFill>
                  <a:schemeClr val="tx1"/>
                </a:solidFill>
              </a:rPr>
              <a:t>Turbine</a:t>
            </a:r>
          </a:p>
          <a:p>
            <a:pPr lvl="1"/>
            <a:r>
              <a:rPr lang="en-US" sz="2400" dirty="0">
                <a:solidFill>
                  <a:schemeClr val="tx1"/>
                </a:solidFill>
              </a:rPr>
              <a:t>Output member</a:t>
            </a:r>
          </a:p>
          <a:p>
            <a:r>
              <a:rPr lang="en-US" dirty="0">
                <a:solidFill>
                  <a:schemeClr val="tx1"/>
                </a:solidFill>
              </a:rPr>
              <a:t>Stator</a:t>
            </a:r>
          </a:p>
          <a:p>
            <a:pPr lvl="1"/>
            <a:r>
              <a:rPr lang="en-US" sz="2400" dirty="0">
                <a:solidFill>
                  <a:schemeClr val="tx1"/>
                </a:solidFill>
              </a:rPr>
              <a:t>Guide wheel</a:t>
            </a:r>
          </a:p>
        </p:txBody>
      </p:sp>
      <p:pic>
        <p:nvPicPr>
          <p:cNvPr id="7" name="Picture Placeholder 6" descr="Two parts of an illustration. The first part depicts a Torque converter with the parts labeled as follows: Turbine, Guide wheel, Impeller, and Outside housing. The second part depicts a magnified view of a guide wheel assembled between the turbine, and Impeller. Forward and backward arrows represent the rotation of the torque converter.">
            <a:extLst>
              <a:ext uri="{FF2B5EF4-FFF2-40B4-BE49-F238E27FC236}">
                <a16:creationId xmlns:a16="http://schemas.microsoft.com/office/drawing/2014/main" id="{160E5D49-2CD3-1BF3-F49A-73726ED230E1}"/>
              </a:ext>
            </a:extLst>
          </p:cNvPr>
          <p:cNvPicPr>
            <a:picLocks noGrp="1" noChangeAspect="1"/>
          </p:cNvPicPr>
          <p:nvPr>
            <p:ph type="pic" sz="quarter" idx="12"/>
          </p:nvPr>
        </p:nvPicPr>
        <p:blipFill rotWithShape="1">
          <a:blip r:embed="rId3"/>
          <a:srcRect b="5898"/>
          <a:stretch/>
        </p:blipFill>
        <p:spPr>
          <a:xfrm>
            <a:off x="7222649" y="1849422"/>
            <a:ext cx="3774597" cy="41380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lstStyle/>
          <a:p>
            <a:r>
              <a:rPr lang="en-US" dirty="0"/>
              <a:t>Types of Oil Flow</a:t>
            </a:r>
          </a:p>
        </p:txBody>
      </p:sp>
      <p:sp>
        <p:nvSpPr>
          <p:cNvPr id="13315" name="Content Placeholder 6"/>
          <p:cNvSpPr>
            <a:spLocks noGrp="1"/>
          </p:cNvSpPr>
          <p:nvPr>
            <p:ph type="body" idx="1"/>
          </p:nvPr>
        </p:nvSpPr>
        <p:spPr/>
        <p:txBody>
          <a:bodyPr/>
          <a:lstStyle/>
          <a:p>
            <a:r>
              <a:rPr lang="en-US" dirty="0">
                <a:solidFill>
                  <a:schemeClr val="tx1"/>
                </a:solidFill>
              </a:rPr>
              <a:t>Rotary Flow</a:t>
            </a:r>
          </a:p>
          <a:p>
            <a:pPr lvl="1"/>
            <a:r>
              <a:rPr lang="en-US" dirty="0">
                <a:solidFill>
                  <a:schemeClr val="tx1"/>
                </a:solidFill>
              </a:rPr>
              <a:t>Oil flow around the circumference caused by rotation of the torque converter on its axis.</a:t>
            </a:r>
          </a:p>
          <a:p>
            <a:r>
              <a:rPr lang="en-US" dirty="0">
                <a:solidFill>
                  <a:schemeClr val="tx1"/>
                </a:solidFill>
              </a:rPr>
              <a:t>Vortex Flow</a:t>
            </a:r>
          </a:p>
          <a:p>
            <a:pPr lvl="1"/>
            <a:r>
              <a:rPr lang="en-US" dirty="0">
                <a:solidFill>
                  <a:schemeClr val="tx1"/>
                </a:solidFill>
              </a:rPr>
              <a:t>Oil flow from the impeller to the turbine and back to the impeller.</a:t>
            </a:r>
          </a:p>
          <a:p>
            <a:r>
              <a:rPr lang="en-US" dirty="0">
                <a:solidFill>
                  <a:schemeClr val="tx1"/>
                </a:solidFill>
              </a:rPr>
              <a:t>Coupling point is when turbine speed approaches impeller speed.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7E8F1F-909E-E44B-56BB-C27E7D796147}"/>
              </a:ext>
            </a:extLst>
          </p:cNvPr>
          <p:cNvSpPr>
            <a:spLocks noGrp="1"/>
          </p:cNvSpPr>
          <p:nvPr>
            <p:ph type="title"/>
          </p:nvPr>
        </p:nvSpPr>
        <p:spPr/>
        <p:txBody>
          <a:bodyPr/>
          <a:lstStyle/>
          <a:p>
            <a:r>
              <a:rPr lang="en-US" dirty="0">
                <a:latin typeface="Work Sans" pitchFamily="2" charset="0"/>
              </a:rPr>
              <a:t>Roller Clutch in a Stator</a:t>
            </a:r>
            <a:endParaRPr lang="en-IN" dirty="0"/>
          </a:p>
        </p:txBody>
      </p:sp>
      <p:pic>
        <p:nvPicPr>
          <p:cNvPr id="10" name="Picture Placeholder 9" descr="Two illustrations. The first illustration depicts a Stator assembly with the part labeled as an Overrunning (roller) clutch. The clockwise arrow represents stator overruns and counterclockwise arrow represents stator locks up. The second illustration depicts a Roller clutch with the parts labeled as follows: Outer race (cam), Spring retainer, Spring, Roller, and Inner race (hub).">
            <a:extLst>
              <a:ext uri="{FF2B5EF4-FFF2-40B4-BE49-F238E27FC236}">
                <a16:creationId xmlns:a16="http://schemas.microsoft.com/office/drawing/2014/main" id="{969EA8FB-56B1-7CEA-AF5B-260573688EE7}"/>
              </a:ext>
            </a:extLst>
          </p:cNvPr>
          <p:cNvPicPr>
            <a:picLocks noGrp="1" noChangeAspect="1"/>
          </p:cNvPicPr>
          <p:nvPr>
            <p:ph type="pic" sz="quarter" idx="11"/>
          </p:nvPr>
        </p:nvPicPr>
        <p:blipFill rotWithShape="1">
          <a:blip r:embed="rId3"/>
          <a:srcRect b="6563"/>
          <a:stretch/>
        </p:blipFill>
        <p:spPr>
          <a:xfrm>
            <a:off x="2144422" y="1929928"/>
            <a:ext cx="7903156" cy="36060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5"/>
          <p:cNvSpPr>
            <a:spLocks noGrp="1"/>
          </p:cNvSpPr>
          <p:nvPr>
            <p:ph type="title"/>
          </p:nvPr>
        </p:nvSpPr>
        <p:spPr/>
        <p:txBody>
          <a:bodyPr/>
          <a:lstStyle/>
          <a:p>
            <a:r>
              <a:rPr lang="en-US" dirty="0"/>
              <a:t>Lockup Torque Converter</a:t>
            </a:r>
          </a:p>
        </p:txBody>
      </p:sp>
      <p:sp>
        <p:nvSpPr>
          <p:cNvPr id="17411" name="Content Placeholder 6"/>
          <p:cNvSpPr>
            <a:spLocks noGrp="1"/>
          </p:cNvSpPr>
          <p:nvPr>
            <p:ph type="body" idx="1"/>
          </p:nvPr>
        </p:nvSpPr>
        <p:spPr/>
        <p:txBody>
          <a:bodyPr/>
          <a:lstStyle/>
          <a:p>
            <a:r>
              <a:rPr lang="en-US" sz="2600" dirty="0">
                <a:solidFill>
                  <a:schemeClr val="tx1"/>
                </a:solidFill>
              </a:rPr>
              <a:t>Eliminates the 10 percent slip between the impeller and turbine.</a:t>
            </a:r>
          </a:p>
          <a:p>
            <a:r>
              <a:rPr lang="en-US" sz="2600" dirty="0">
                <a:solidFill>
                  <a:schemeClr val="tx1"/>
                </a:solidFill>
              </a:rPr>
              <a:t>Improves fuel economy.</a:t>
            </a:r>
          </a:p>
          <a:p>
            <a:r>
              <a:rPr lang="en-US" sz="2600" dirty="0">
                <a:solidFill>
                  <a:schemeClr val="tx1"/>
                </a:solidFill>
              </a:rPr>
              <a:t>Reduces operational temperature.</a:t>
            </a:r>
          </a:p>
          <a:p>
            <a:r>
              <a:rPr lang="en-US" sz="2600" dirty="0">
                <a:solidFill>
                  <a:schemeClr val="tx1"/>
                </a:solidFill>
              </a:rPr>
              <a:t>Most torque converter clutches (TCC) use electronically controlled hydraulic pistons.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Lockup Clutch</a:t>
            </a:r>
          </a:p>
        </p:txBody>
      </p:sp>
      <p:pic>
        <p:nvPicPr>
          <p:cNvPr id="9" name="Picture Placeholder 8" descr="A torque converter with its parts labeled as follows: impeller, cover, clutch facing, stator, and turbine. A magnified view of the parts is also depicted.">
            <a:extLst>
              <a:ext uri="{FF2B5EF4-FFF2-40B4-BE49-F238E27FC236}">
                <a16:creationId xmlns:a16="http://schemas.microsoft.com/office/drawing/2014/main" id="{4D52178F-7F0C-315E-C907-0D68349529DD}"/>
              </a:ext>
            </a:extLst>
          </p:cNvPr>
          <p:cNvPicPr>
            <a:picLocks noGrp="1" noChangeAspect="1"/>
          </p:cNvPicPr>
          <p:nvPr>
            <p:ph type="pic" sz="quarter" idx="12"/>
          </p:nvPr>
        </p:nvPicPr>
        <p:blipFill rotWithShape="1">
          <a:blip r:embed="rId2"/>
          <a:srcRect b="17844"/>
          <a:stretch/>
        </p:blipFill>
        <p:spPr>
          <a:xfrm>
            <a:off x="3377187" y="1593624"/>
            <a:ext cx="5437627" cy="4147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4)</a:t>
            </a:r>
          </a:p>
        </p:txBody>
      </p:sp>
      <p:sp>
        <p:nvSpPr>
          <p:cNvPr id="3" name="Content Placeholder 2"/>
          <p:cNvSpPr>
            <a:spLocks noGrp="1"/>
          </p:cNvSpPr>
          <p:nvPr>
            <p:ph type="body" idx="1"/>
          </p:nvPr>
        </p:nvSpPr>
        <p:spPr/>
        <p:txBody>
          <a:bodyPr/>
          <a:lstStyle/>
          <a:p>
            <a:r>
              <a:rPr lang="en-US" dirty="0">
                <a:solidFill>
                  <a:schemeClr val="tx1"/>
                </a:solidFill>
              </a:rPr>
              <a:t>Technician A says the overrunning clutch is part of the stator. Technician B says the overrunning clutch is part of the lockup clutch. Who is correct?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4)</a:t>
            </a:r>
          </a:p>
        </p:txBody>
      </p:sp>
      <p:sp>
        <p:nvSpPr>
          <p:cNvPr id="3" name="Content Placeholder 2"/>
          <p:cNvSpPr>
            <a:spLocks noGrp="1"/>
          </p:cNvSpPr>
          <p:nvPr>
            <p:ph type="body" idx="1"/>
          </p:nvPr>
        </p:nvSpPr>
        <p:spPr/>
        <p:txBody>
          <a:bodyPr/>
          <a:lstStyle/>
          <a:p>
            <a:pPr>
              <a:spcAft>
                <a:spcPts val="1800"/>
              </a:spcAft>
            </a:pPr>
            <a:r>
              <a:rPr lang="en-US" dirty="0"/>
              <a:t>Technician A says the overrunning clutch is part of the stator. Technician B says the overrunning clutch is part of the lockup clutch. Who is correct?</a:t>
            </a:r>
          </a:p>
          <a:p>
            <a:pPr marL="622300" indent="0">
              <a:buNone/>
            </a:pPr>
            <a:r>
              <a:rPr lang="en-US" b="1" dirty="0"/>
              <a:t>Answer: </a:t>
            </a:r>
            <a:r>
              <a:rPr lang="en-US" dirty="0"/>
              <a:t>Technician A only</a:t>
            </a:r>
          </a:p>
        </p:txBody>
      </p:sp>
    </p:spTree>
    <p:extLst>
      <p:ext uri="{BB962C8B-B14F-4D97-AF65-F5344CB8AC3E}">
        <p14:creationId xmlns:p14="http://schemas.microsoft.com/office/powerpoint/2010/main" val="326456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Planetary Gears</a:t>
            </a:r>
          </a:p>
        </p:txBody>
      </p:sp>
      <p:sp>
        <p:nvSpPr>
          <p:cNvPr id="20483" name="Content Placeholder 2"/>
          <p:cNvSpPr>
            <a:spLocks noGrp="1"/>
          </p:cNvSpPr>
          <p:nvPr>
            <p:ph type="body" idx="1"/>
          </p:nvPr>
        </p:nvSpPr>
        <p:spPr>
          <a:xfrm>
            <a:off x="476845" y="1563626"/>
            <a:ext cx="7054255" cy="4545074"/>
          </a:xfrm>
        </p:spPr>
        <p:txBody>
          <a:bodyPr/>
          <a:lstStyle/>
          <a:p>
            <a:pPr marL="0" indent="0">
              <a:buNone/>
            </a:pPr>
            <a:r>
              <a:rPr lang="en-US" b="1" dirty="0">
                <a:solidFill>
                  <a:schemeClr val="tx1"/>
                </a:solidFill>
                <a:latin typeface="Work Sans" pitchFamily="2" charset="0"/>
              </a:rPr>
              <a:t>41.02 Describe the design and operation of a simple planetary gearset.</a:t>
            </a:r>
            <a:endParaRPr lang="en-US" dirty="0">
              <a:solidFill>
                <a:schemeClr val="tx1"/>
              </a:solidFill>
            </a:endParaRPr>
          </a:p>
          <a:p>
            <a:r>
              <a:rPr lang="en-US" dirty="0">
                <a:solidFill>
                  <a:schemeClr val="tx1"/>
                </a:solidFill>
              </a:rPr>
              <a:t>Used to transfer power and multiply torque</a:t>
            </a:r>
          </a:p>
          <a:p>
            <a:r>
              <a:rPr lang="en-US" dirty="0">
                <a:solidFill>
                  <a:schemeClr val="tx1"/>
                </a:solidFill>
              </a:rPr>
              <a:t>Compound gearsets spread the load over more teeth for increased strength and to obtain the largest number of gear ratios.</a:t>
            </a:r>
          </a:p>
          <a:p>
            <a:r>
              <a:rPr lang="en-US" dirty="0">
                <a:solidFill>
                  <a:schemeClr val="tx1"/>
                </a:solidFill>
              </a:rPr>
              <a:t>Planetary carrier may be cast iron, aluminum, or steel.</a:t>
            </a:r>
          </a:p>
        </p:txBody>
      </p:sp>
      <p:pic>
        <p:nvPicPr>
          <p:cNvPr id="8" name="Picture Placeholder 7" descr="A typical single planetary gear set.">
            <a:extLst>
              <a:ext uri="{FF2B5EF4-FFF2-40B4-BE49-F238E27FC236}">
                <a16:creationId xmlns:a16="http://schemas.microsoft.com/office/drawing/2014/main" id="{81BC0E1A-8CCB-78C9-3206-F47E2463FF9D}"/>
              </a:ext>
            </a:extLst>
          </p:cNvPr>
          <p:cNvPicPr>
            <a:picLocks noGrp="1" noChangeAspect="1"/>
          </p:cNvPicPr>
          <p:nvPr>
            <p:ph type="pic" sz="quarter" idx="12"/>
          </p:nvPr>
        </p:nvPicPr>
        <p:blipFill rotWithShape="1">
          <a:blip r:embed="rId3"/>
          <a:srcRect b="9718"/>
          <a:stretch/>
        </p:blipFill>
        <p:spPr>
          <a:xfrm>
            <a:off x="7545989" y="2595705"/>
            <a:ext cx="4347741" cy="25775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Planetary Gear Components</a:t>
            </a:r>
          </a:p>
        </p:txBody>
      </p:sp>
      <p:sp>
        <p:nvSpPr>
          <p:cNvPr id="21507" name="Rectangle 3"/>
          <p:cNvSpPr>
            <a:spLocks noGrp="1" noChangeArrowheads="1"/>
          </p:cNvSpPr>
          <p:nvPr>
            <p:ph type="body" idx="1"/>
          </p:nvPr>
        </p:nvSpPr>
        <p:spPr>
          <a:xfrm>
            <a:off x="476845" y="1563626"/>
            <a:ext cx="5619155" cy="3948174"/>
          </a:xfrm>
        </p:spPr>
        <p:txBody>
          <a:bodyPr/>
          <a:lstStyle/>
          <a:p>
            <a:r>
              <a:rPr lang="en-US" dirty="0">
                <a:solidFill>
                  <a:schemeClr val="tx1"/>
                </a:solidFill>
              </a:rPr>
              <a:t>Ring Gear (Annulus)</a:t>
            </a:r>
          </a:p>
          <a:p>
            <a:pPr lvl="1"/>
            <a:r>
              <a:rPr lang="en-US" dirty="0">
                <a:solidFill>
                  <a:schemeClr val="tx1"/>
                </a:solidFill>
              </a:rPr>
              <a:t>Has internal teeth.</a:t>
            </a:r>
          </a:p>
          <a:p>
            <a:r>
              <a:rPr lang="en-US" dirty="0">
                <a:solidFill>
                  <a:schemeClr val="tx1"/>
                </a:solidFill>
              </a:rPr>
              <a:t>Sun Gear</a:t>
            </a:r>
          </a:p>
          <a:p>
            <a:pPr lvl="1"/>
            <a:r>
              <a:rPr lang="en-US" dirty="0">
                <a:solidFill>
                  <a:schemeClr val="tx1"/>
                </a:solidFill>
              </a:rPr>
              <a:t>Is located in the center of the assembly.</a:t>
            </a:r>
          </a:p>
          <a:p>
            <a:r>
              <a:rPr lang="en-US" dirty="0">
                <a:solidFill>
                  <a:schemeClr val="tx1"/>
                </a:solidFill>
              </a:rPr>
              <a:t>Planetary Carrier</a:t>
            </a:r>
          </a:p>
          <a:p>
            <a:pPr lvl="1"/>
            <a:r>
              <a:rPr lang="en-US" dirty="0">
                <a:solidFill>
                  <a:schemeClr val="tx1"/>
                </a:solidFill>
              </a:rPr>
              <a:t>Holds the planetary pinion gears.</a:t>
            </a:r>
          </a:p>
        </p:txBody>
      </p:sp>
      <p:pic>
        <p:nvPicPr>
          <p:cNvPr id="8" name="Picture Placeholder 7" descr="A planetary gear configuration with the parts labeled as follows: Ring gear, Sun gear, Planetary carrier, and Planetary pinions (3).">
            <a:extLst>
              <a:ext uri="{FF2B5EF4-FFF2-40B4-BE49-F238E27FC236}">
                <a16:creationId xmlns:a16="http://schemas.microsoft.com/office/drawing/2014/main" id="{C9E12C6F-57DC-D42A-B64B-911AA7F7CD0B}"/>
              </a:ext>
            </a:extLst>
          </p:cNvPr>
          <p:cNvPicPr>
            <a:picLocks noGrp="1" noChangeAspect="1"/>
          </p:cNvPicPr>
          <p:nvPr>
            <p:ph type="pic" sz="quarter" idx="12"/>
          </p:nvPr>
        </p:nvPicPr>
        <p:blipFill rotWithShape="1">
          <a:blip r:embed="rId3"/>
          <a:srcRect l="11540" b="25236"/>
          <a:stretch/>
        </p:blipFill>
        <p:spPr>
          <a:xfrm>
            <a:off x="6468339" y="1913720"/>
            <a:ext cx="5428625" cy="34335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Planetary Gear Operation</a:t>
            </a:r>
          </a:p>
        </p:txBody>
      </p:sp>
      <p:sp>
        <p:nvSpPr>
          <p:cNvPr id="24579" name="Rectangle 3"/>
          <p:cNvSpPr>
            <a:spLocks noGrp="1" noChangeArrowheads="1"/>
          </p:cNvSpPr>
          <p:nvPr>
            <p:ph type="body" idx="1"/>
          </p:nvPr>
        </p:nvSpPr>
        <p:spPr/>
        <p:txBody>
          <a:bodyPr/>
          <a:lstStyle/>
          <a:p>
            <a:r>
              <a:rPr lang="en-US" sz="2600" dirty="0">
                <a:solidFill>
                  <a:schemeClr val="tx1"/>
                </a:solidFill>
              </a:rPr>
              <a:t>When the planetary carrier is the input, an overdrive condition is produced.</a:t>
            </a:r>
          </a:p>
          <a:p>
            <a:r>
              <a:rPr lang="en-US" sz="2600" dirty="0">
                <a:solidFill>
                  <a:schemeClr val="tx1"/>
                </a:solidFill>
              </a:rPr>
              <a:t>When the planetary carrier is the output, an underdrive condition is produced.</a:t>
            </a:r>
          </a:p>
          <a:p>
            <a:r>
              <a:rPr lang="en-US" sz="2600" dirty="0">
                <a:solidFill>
                  <a:schemeClr val="tx1"/>
                </a:solidFill>
              </a:rPr>
              <a:t>When the planet carrier is held, reverse gear is produced.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Compound Gearsets</a:t>
            </a:r>
          </a:p>
        </p:txBody>
      </p:sp>
      <p:sp>
        <p:nvSpPr>
          <p:cNvPr id="25603" name="Rectangle 3"/>
          <p:cNvSpPr>
            <a:spLocks noGrp="1" noChangeArrowheads="1"/>
          </p:cNvSpPr>
          <p:nvPr>
            <p:ph type="body" idx="1"/>
          </p:nvPr>
        </p:nvSpPr>
        <p:spPr/>
        <p:txBody>
          <a:bodyPr/>
          <a:lstStyle/>
          <a:p>
            <a:pPr marL="0" indent="0">
              <a:buNone/>
            </a:pPr>
            <a:r>
              <a:rPr lang="en-US" b="1" dirty="0">
                <a:solidFill>
                  <a:schemeClr val="tx1"/>
                </a:solidFill>
                <a:latin typeface="Work Sans" pitchFamily="2" charset="0"/>
              </a:rPr>
              <a:t>41.03 Describe the construction and operation of common compound planetary gearsets used in transmissions and transaxles.</a:t>
            </a:r>
            <a:endParaRPr lang="en-US" dirty="0">
              <a:solidFill>
                <a:schemeClr val="tx1"/>
              </a:solidFill>
            </a:endParaRPr>
          </a:p>
          <a:p>
            <a:r>
              <a:rPr lang="en-US" dirty="0">
                <a:solidFill>
                  <a:schemeClr val="tx1"/>
                </a:solidFill>
              </a:rPr>
              <a:t>Simpson</a:t>
            </a:r>
          </a:p>
          <a:p>
            <a:pPr lvl="1"/>
            <a:r>
              <a:rPr lang="en-US" dirty="0">
                <a:solidFill>
                  <a:schemeClr val="tx1"/>
                </a:solidFill>
              </a:rPr>
              <a:t>Has two separate planetary gearsets with a common sun gear.</a:t>
            </a:r>
          </a:p>
          <a:p>
            <a:r>
              <a:rPr lang="en-US" dirty="0">
                <a:solidFill>
                  <a:schemeClr val="tx1"/>
                </a:solidFill>
              </a:rPr>
              <a:t>Ravigneaux</a:t>
            </a:r>
          </a:p>
          <a:p>
            <a:pPr lvl="1"/>
            <a:r>
              <a:rPr lang="en-US" dirty="0">
                <a:solidFill>
                  <a:schemeClr val="tx1"/>
                </a:solidFill>
              </a:rPr>
              <a:t>Has two separate sun gears, two separate planetary gears, and a common ring gear.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Simpson Gearset</a:t>
            </a:r>
          </a:p>
        </p:txBody>
      </p:sp>
      <p:pic>
        <p:nvPicPr>
          <p:cNvPr id="9" name="Picture Placeholder 8" descr="Components of a Simpson gearset with the parts labeled as follows: Front carrier, Common Sun gear, Front ring gear, Front planetary gear, Rear ring gear, Rear carrier, and Rear planetary gear. A downward arrow in the front ring gear represents the power flow. An input is given at the front end and the output is driven from the rear end.">
            <a:extLst>
              <a:ext uri="{FF2B5EF4-FFF2-40B4-BE49-F238E27FC236}">
                <a16:creationId xmlns:a16="http://schemas.microsoft.com/office/drawing/2014/main" id="{275280E2-4A4E-59F4-BABA-E56A3349E8B6}"/>
              </a:ext>
            </a:extLst>
          </p:cNvPr>
          <p:cNvPicPr>
            <a:picLocks noGrp="1" noChangeAspect="1"/>
          </p:cNvPicPr>
          <p:nvPr>
            <p:ph type="pic" sz="quarter" idx="12"/>
          </p:nvPr>
        </p:nvPicPr>
        <p:blipFill>
          <a:blip r:embed="rId3"/>
          <a:srcRect b="4463"/>
          <a:stretch/>
        </p:blipFill>
        <p:spPr>
          <a:xfrm>
            <a:off x="3954755" y="1634435"/>
            <a:ext cx="4282490" cy="422774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Ravigneaux Gearset</a:t>
            </a:r>
          </a:p>
        </p:txBody>
      </p:sp>
      <p:pic>
        <p:nvPicPr>
          <p:cNvPr id="9" name="Picture Placeholder 8" descr="Ravigneaux gearset with the parts labeled as follows: Large sun gear, Long pinion, Common ring gear, Common planet carrier, Small sun gear, and Short pinion.">
            <a:extLst>
              <a:ext uri="{FF2B5EF4-FFF2-40B4-BE49-F238E27FC236}">
                <a16:creationId xmlns:a16="http://schemas.microsoft.com/office/drawing/2014/main" id="{86CB5B25-299D-E2A9-F065-A65045043253}"/>
              </a:ext>
            </a:extLst>
          </p:cNvPr>
          <p:cNvPicPr>
            <a:picLocks noGrp="1" noChangeAspect="1"/>
          </p:cNvPicPr>
          <p:nvPr>
            <p:ph type="pic" sz="quarter" idx="12"/>
          </p:nvPr>
        </p:nvPicPr>
        <p:blipFill rotWithShape="1">
          <a:blip r:embed="rId3"/>
          <a:srcRect b="9870"/>
          <a:stretch/>
        </p:blipFill>
        <p:spPr>
          <a:xfrm>
            <a:off x="2574440" y="1882858"/>
            <a:ext cx="7043120" cy="356544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Planetary Gearsets in Tandem</a:t>
            </a:r>
          </a:p>
        </p:txBody>
      </p:sp>
      <p:sp>
        <p:nvSpPr>
          <p:cNvPr id="28675" name="Content Placeholder 2"/>
          <p:cNvSpPr>
            <a:spLocks noGrp="1"/>
          </p:cNvSpPr>
          <p:nvPr>
            <p:ph type="body" idx="1"/>
          </p:nvPr>
        </p:nvSpPr>
        <p:spPr>
          <a:xfrm>
            <a:off x="476845" y="1563626"/>
            <a:ext cx="6317656" cy="4049774"/>
          </a:xfrm>
        </p:spPr>
        <p:txBody>
          <a:bodyPr/>
          <a:lstStyle/>
          <a:p>
            <a:r>
              <a:rPr lang="en-US" dirty="0"/>
              <a:t>Some transmissions use two simple planetary gearsets in series.</a:t>
            </a:r>
          </a:p>
          <a:p>
            <a:r>
              <a:rPr lang="en-US" dirty="0"/>
              <a:t>Gearset members are not shared.</a:t>
            </a:r>
          </a:p>
          <a:p>
            <a:r>
              <a:rPr lang="en-US" dirty="0"/>
              <a:t>Each member has a holding device.</a:t>
            </a:r>
          </a:p>
        </p:txBody>
      </p:sp>
      <p:pic>
        <p:nvPicPr>
          <p:cNvPr id="7" name="Picture Placeholder 6" descr="A Planetary gear set with the parts labeled as follows: Front sun gear, Front carrier, Front ring gear and rear carrier, Rear ring gear, and Rear sun gear.">
            <a:extLst>
              <a:ext uri="{FF2B5EF4-FFF2-40B4-BE49-F238E27FC236}">
                <a16:creationId xmlns:a16="http://schemas.microsoft.com/office/drawing/2014/main" id="{8BB02431-9E22-A08C-4B30-999FF52F867F}"/>
              </a:ext>
            </a:extLst>
          </p:cNvPr>
          <p:cNvPicPr>
            <a:picLocks noGrp="1" noChangeAspect="1"/>
          </p:cNvPicPr>
          <p:nvPr>
            <p:ph type="pic" sz="quarter" idx="12"/>
          </p:nvPr>
        </p:nvPicPr>
        <p:blipFill rotWithShape="1">
          <a:blip r:embed="rId3"/>
          <a:srcRect b="8354"/>
          <a:stretch/>
        </p:blipFill>
        <p:spPr>
          <a:xfrm>
            <a:off x="7111418" y="1908510"/>
            <a:ext cx="4293765" cy="32857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Lepelletier System</a:t>
            </a:r>
          </a:p>
        </p:txBody>
      </p:sp>
      <p:sp>
        <p:nvSpPr>
          <p:cNvPr id="3" name="Content Placeholder 2"/>
          <p:cNvSpPr>
            <a:spLocks noGrp="1"/>
          </p:cNvSpPr>
          <p:nvPr>
            <p:ph type="body" idx="1"/>
          </p:nvPr>
        </p:nvSpPr>
        <p:spPr/>
        <p:txBody>
          <a:bodyPr/>
          <a:lstStyle/>
          <a:p>
            <a:r>
              <a:rPr lang="en-US" sz="2600" dirty="0">
                <a:solidFill>
                  <a:schemeClr val="tx1"/>
                </a:solidFill>
              </a:rPr>
              <a:t>Used on some six, seven, eight, and nine speed transmissions.</a:t>
            </a:r>
          </a:p>
          <a:p>
            <a:r>
              <a:rPr lang="en-US" sz="2600" dirty="0">
                <a:solidFill>
                  <a:schemeClr val="tx1"/>
                </a:solidFill>
              </a:rPr>
              <a:t>Many are more compact than most four- and five-speed automatics.</a:t>
            </a:r>
          </a:p>
          <a:p>
            <a:r>
              <a:rPr lang="en-US" sz="2600" dirty="0">
                <a:solidFill>
                  <a:schemeClr val="tx1"/>
                </a:solidFill>
              </a:rPr>
              <a:t>Connects a simple planetary gearset to a </a:t>
            </a:r>
            <a:r>
              <a:rPr lang="en-US" sz="2600" dirty="0" err="1">
                <a:solidFill>
                  <a:schemeClr val="tx1"/>
                </a:solidFill>
              </a:rPr>
              <a:t>Ravigneaux</a:t>
            </a:r>
            <a:r>
              <a:rPr lang="en-US" sz="2600" dirty="0">
                <a:solidFill>
                  <a:schemeClr val="tx1"/>
                </a:solidFill>
              </a:rPr>
              <a:t> gearset.</a:t>
            </a:r>
          </a:p>
          <a:p>
            <a:r>
              <a:rPr lang="en-US" sz="2600" dirty="0">
                <a:solidFill>
                  <a:schemeClr val="tx1"/>
                </a:solidFill>
              </a:rPr>
              <a:t>The simple gearset is used as the input.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Other Transmission Designs</a:t>
            </a:r>
          </a:p>
        </p:txBody>
      </p:sp>
      <p:sp>
        <p:nvSpPr>
          <p:cNvPr id="29699" name="Rectangle 3"/>
          <p:cNvSpPr>
            <a:spLocks noGrp="1" noChangeArrowheads="1"/>
          </p:cNvSpPr>
          <p:nvPr>
            <p:ph type="body" idx="1"/>
          </p:nvPr>
        </p:nvSpPr>
        <p:spPr/>
        <p:txBody>
          <a:bodyPr/>
          <a:lstStyle/>
          <a:p>
            <a:r>
              <a:rPr lang="en-US" dirty="0"/>
              <a:t>Nonplanetary Gearset Type</a:t>
            </a:r>
          </a:p>
          <a:p>
            <a:pPr lvl="1"/>
            <a:r>
              <a:rPr lang="en-US" dirty="0"/>
              <a:t>Uses constant mesh gears similar to a manual transmission.</a:t>
            </a:r>
          </a:p>
          <a:p>
            <a:r>
              <a:rPr lang="en-US" dirty="0"/>
              <a:t>Continuously Variable Type (CVT)</a:t>
            </a:r>
          </a:p>
          <a:p>
            <a:pPr lvl="1"/>
            <a:r>
              <a:rPr lang="en-US" dirty="0"/>
              <a:t>Has no fixed forward speeds.</a:t>
            </a:r>
          </a:p>
          <a:p>
            <a:pPr lvl="1"/>
            <a:r>
              <a:rPr lang="en-US" dirty="0"/>
              <a:t>Uses belts and pulleys to provide variable ratios.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5"/>
          <p:cNvSpPr>
            <a:spLocks noGrp="1"/>
          </p:cNvSpPr>
          <p:nvPr>
            <p:ph type="title"/>
          </p:nvPr>
        </p:nvSpPr>
        <p:spPr/>
        <p:txBody>
          <a:bodyPr/>
          <a:lstStyle/>
          <a:p>
            <a:r>
              <a:rPr lang="en-US" dirty="0"/>
              <a:t>Typical Nonplanetary Transaxle</a:t>
            </a:r>
          </a:p>
        </p:txBody>
      </p:sp>
      <p:pic>
        <p:nvPicPr>
          <p:cNvPr id="8" name="Picture Placeholder 7" descr="An arrangement of gears and reaction devices in a typical nonplanetary gearset transaxle. The parts labeled are as follows: Torque converter, first hold clutch, third clutch, fourth clutch, and parking gear. The magnified view of gears and clutch depicts the parts as follows: fourth clutch, Mainshaft fourth gear, Mainshaft reverse gear, Mainshaft idler gear, Countershaft second gear, Secondary shaft idler gear, Parking gear, Secondary shaft idler gear, Countershaft reverse gear, Secondary shaft second gear, Countershaft fourth gear, second Clutch, first Clutch, Secondary shaft first gear, first Hold clutch, Final driven gear, Countershaft third gear, Counter shaft first gear, Mainshaft third gear and third clutch.">
            <a:extLst>
              <a:ext uri="{FF2B5EF4-FFF2-40B4-BE49-F238E27FC236}">
                <a16:creationId xmlns:a16="http://schemas.microsoft.com/office/drawing/2014/main" id="{BDF6DB41-F625-4BF5-8A1C-21E20FD94602}"/>
              </a:ext>
            </a:extLst>
          </p:cNvPr>
          <p:cNvPicPr>
            <a:picLocks noGrp="1" noChangeAspect="1"/>
          </p:cNvPicPr>
          <p:nvPr>
            <p:ph type="pic" sz="quarter" idx="12"/>
          </p:nvPr>
        </p:nvPicPr>
        <p:blipFill rotWithShape="1">
          <a:blip r:embed="rId3"/>
          <a:srcRect b="4173"/>
          <a:stretch/>
        </p:blipFill>
        <p:spPr>
          <a:xfrm>
            <a:off x="4928665" y="1633654"/>
            <a:ext cx="2334671" cy="435260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4"/>
          <p:cNvSpPr>
            <a:spLocks noGrp="1"/>
          </p:cNvSpPr>
          <p:nvPr>
            <p:ph type="title"/>
          </p:nvPr>
        </p:nvSpPr>
        <p:spPr/>
        <p:txBody>
          <a:bodyPr/>
          <a:lstStyle/>
          <a:p>
            <a:r>
              <a:rPr lang="en-US" dirty="0"/>
              <a:t>CVT Transmission</a:t>
            </a:r>
          </a:p>
        </p:txBody>
      </p:sp>
      <p:sp>
        <p:nvSpPr>
          <p:cNvPr id="4" name="Text Placeholder 3">
            <a:extLst>
              <a:ext uri="{FF2B5EF4-FFF2-40B4-BE49-F238E27FC236}">
                <a16:creationId xmlns:a16="http://schemas.microsoft.com/office/drawing/2014/main" id="{E5B1A97B-5C00-29D7-F70C-A9D7C0728555}"/>
              </a:ext>
            </a:extLst>
          </p:cNvPr>
          <p:cNvSpPr>
            <a:spLocks noGrp="1"/>
          </p:cNvSpPr>
          <p:nvPr>
            <p:ph type="body" idx="1"/>
          </p:nvPr>
        </p:nvSpPr>
        <p:spPr>
          <a:xfrm>
            <a:off x="476844" y="1563627"/>
            <a:ext cx="11241915" cy="620774"/>
          </a:xfrm>
        </p:spPr>
        <p:txBody>
          <a:bodyPr/>
          <a:lstStyle/>
          <a:p>
            <a:pPr marL="0" indent="0">
              <a:buNone/>
            </a:pPr>
            <a:r>
              <a:rPr lang="en-US" b="1" dirty="0">
                <a:solidFill>
                  <a:schemeClr val="tx1"/>
                </a:solidFill>
                <a:latin typeface="Work Sans" pitchFamily="2" charset="0"/>
              </a:rPr>
              <a:t>41.04 Describe the construction and operation of CVTs.</a:t>
            </a:r>
          </a:p>
        </p:txBody>
      </p:sp>
      <p:pic>
        <p:nvPicPr>
          <p:cNvPr id="9" name="Picture Placeholder 8" descr="Three parts of an illustration. The first parts depict a Honda’s C V T. The second part depicts the parts labeled as follows: Start clutch, Ring gear, Flywheel, Steel belt, Drive pulley, Input shaft, and Driven pulley. The third part depicts a magnified view of low gear and high gear. In low gear, the drive pulley has a high r p m and the driven pulley has a low r p m. In high gear, the drive pulley has low r p m and the driven pulley has high r p m.">
            <a:extLst>
              <a:ext uri="{FF2B5EF4-FFF2-40B4-BE49-F238E27FC236}">
                <a16:creationId xmlns:a16="http://schemas.microsoft.com/office/drawing/2014/main" id="{2FA39471-2007-9C01-CF30-679F6C7E352B}"/>
              </a:ext>
            </a:extLst>
          </p:cNvPr>
          <p:cNvPicPr>
            <a:picLocks noGrp="1" noChangeAspect="1"/>
          </p:cNvPicPr>
          <p:nvPr>
            <p:ph type="pic" sz="quarter" idx="12"/>
          </p:nvPr>
        </p:nvPicPr>
        <p:blipFill>
          <a:blip r:embed="rId3"/>
          <a:srcRect b="3350"/>
          <a:stretch/>
        </p:blipFill>
        <p:spPr>
          <a:xfrm>
            <a:off x="4262228" y="2267172"/>
            <a:ext cx="3667544" cy="364511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46ACA-0B7B-B5EE-2FA3-71BA8891C588}"/>
              </a:ext>
            </a:extLst>
          </p:cNvPr>
          <p:cNvSpPr>
            <a:spLocks noGrp="1"/>
          </p:cNvSpPr>
          <p:nvPr>
            <p:ph type="title"/>
          </p:nvPr>
        </p:nvSpPr>
        <p:spPr/>
        <p:txBody>
          <a:bodyPr/>
          <a:lstStyle/>
          <a:p>
            <a:r>
              <a:rPr lang="en-IN" dirty="0"/>
              <a:t>CVTs use pulleys</a:t>
            </a:r>
          </a:p>
        </p:txBody>
      </p:sp>
      <p:pic>
        <p:nvPicPr>
          <p:cNvPr id="9" name="Picture Placeholder 8" descr="Continuous Variable Transmission consists of pulleys that are connected by a belt.">
            <a:extLst>
              <a:ext uri="{FF2B5EF4-FFF2-40B4-BE49-F238E27FC236}">
                <a16:creationId xmlns:a16="http://schemas.microsoft.com/office/drawing/2014/main" id="{05B50993-0A1B-2776-CC66-B2BAE100C73B}"/>
              </a:ext>
            </a:extLst>
          </p:cNvPr>
          <p:cNvPicPr>
            <a:picLocks noGrp="1" noChangeAspect="1"/>
          </p:cNvPicPr>
          <p:nvPr>
            <p:ph type="pic" idx="2"/>
          </p:nvPr>
        </p:nvPicPr>
        <p:blipFill rotWithShape="1">
          <a:blip r:embed="rId2"/>
          <a:srcRect b="11740"/>
          <a:stretch/>
        </p:blipFill>
        <p:spPr>
          <a:xfrm>
            <a:off x="3238500" y="1624362"/>
            <a:ext cx="5715000" cy="43630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CVT Controls</a:t>
            </a:r>
          </a:p>
        </p:txBody>
      </p:sp>
      <p:sp>
        <p:nvSpPr>
          <p:cNvPr id="3" name="Content Placeholder 2"/>
          <p:cNvSpPr>
            <a:spLocks noGrp="1"/>
          </p:cNvSpPr>
          <p:nvPr>
            <p:ph type="body" idx="1"/>
          </p:nvPr>
        </p:nvSpPr>
        <p:spPr/>
        <p:txBody>
          <a:bodyPr/>
          <a:lstStyle/>
          <a:p>
            <a:r>
              <a:rPr lang="en-US" dirty="0">
                <a:solidFill>
                  <a:schemeClr val="tx1"/>
                </a:solidFill>
              </a:rPr>
              <a:t>Controls consist of the TCM, input sensors, and solenoids.</a:t>
            </a:r>
          </a:p>
          <a:p>
            <a:r>
              <a:rPr lang="en-US" dirty="0">
                <a:solidFill>
                  <a:schemeClr val="tx1"/>
                </a:solidFill>
              </a:rPr>
              <a:t>A shift control valve controls pressure applied to the drive and driven pulleys.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Planetary Gear-Based CVTs</a:t>
            </a:r>
          </a:p>
        </p:txBody>
      </p:sp>
      <p:sp>
        <p:nvSpPr>
          <p:cNvPr id="3" name="Content Placeholder 2"/>
          <p:cNvSpPr>
            <a:spLocks noGrp="1"/>
          </p:cNvSpPr>
          <p:nvPr>
            <p:ph type="body" idx="1"/>
          </p:nvPr>
        </p:nvSpPr>
        <p:spPr>
          <a:xfrm>
            <a:off x="476845" y="1563626"/>
            <a:ext cx="6952656" cy="3173474"/>
          </a:xfrm>
        </p:spPr>
        <p:txBody>
          <a:bodyPr/>
          <a:lstStyle/>
          <a:p>
            <a:r>
              <a:rPr lang="en-US" dirty="0">
                <a:solidFill>
                  <a:schemeClr val="tx1"/>
                </a:solidFill>
              </a:rPr>
              <a:t>Used in Toyota and Ford hybrid vehicles</a:t>
            </a:r>
          </a:p>
          <a:p>
            <a:r>
              <a:rPr lang="en-US" dirty="0">
                <a:solidFill>
                  <a:schemeClr val="tx1"/>
                </a:solidFill>
              </a:rPr>
              <a:t>Contains the motor/generators and planetary gearset</a:t>
            </a:r>
          </a:p>
          <a:p>
            <a:r>
              <a:rPr lang="en-US" dirty="0">
                <a:solidFill>
                  <a:schemeClr val="tx1"/>
                </a:solidFill>
              </a:rPr>
              <a:t>Used in the 2Mode HEV transmission</a:t>
            </a:r>
          </a:p>
        </p:txBody>
      </p:sp>
      <p:pic>
        <p:nvPicPr>
          <p:cNvPr id="9" name="Picture Placeholder 8" descr="A continuously variable transmission depicts the planetary gear set located between two motors. The labeled parts are M G 1, M G 2, and planetary gear.">
            <a:extLst>
              <a:ext uri="{FF2B5EF4-FFF2-40B4-BE49-F238E27FC236}">
                <a16:creationId xmlns:a16="http://schemas.microsoft.com/office/drawing/2014/main" id="{65EC99CD-E2D8-116E-A0F0-599599393E19}"/>
              </a:ext>
            </a:extLst>
          </p:cNvPr>
          <p:cNvPicPr>
            <a:picLocks noGrp="1" noChangeAspect="1"/>
          </p:cNvPicPr>
          <p:nvPr>
            <p:ph type="pic" sz="quarter" idx="12"/>
          </p:nvPr>
        </p:nvPicPr>
        <p:blipFill rotWithShape="1">
          <a:blip r:embed="rId2"/>
          <a:srcRect b="6429"/>
          <a:stretch/>
        </p:blipFill>
        <p:spPr>
          <a:xfrm>
            <a:off x="7607546" y="1568257"/>
            <a:ext cx="3302623" cy="443973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(2 of 4)</a:t>
            </a:r>
          </a:p>
        </p:txBody>
      </p:sp>
      <p:sp>
        <p:nvSpPr>
          <p:cNvPr id="6" name="Content Placeholder 5"/>
          <p:cNvSpPr>
            <a:spLocks noGrp="1"/>
          </p:cNvSpPr>
          <p:nvPr>
            <p:ph type="body" idx="1"/>
          </p:nvPr>
        </p:nvSpPr>
        <p:spPr/>
        <p:txBody>
          <a:bodyPr/>
          <a:lstStyle/>
          <a:p>
            <a:r>
              <a:rPr lang="en-US" dirty="0">
                <a:solidFill>
                  <a:schemeClr val="tx1"/>
                </a:solidFill>
              </a:rPr>
              <a:t>What are the three gears that make up a planetary gearset?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Knowledge Check Answer (2 of 4)</a:t>
            </a:r>
          </a:p>
        </p:txBody>
      </p:sp>
      <p:sp>
        <p:nvSpPr>
          <p:cNvPr id="6" name="Content Placeholder 5"/>
          <p:cNvSpPr>
            <a:spLocks noGrp="1"/>
          </p:cNvSpPr>
          <p:nvPr>
            <p:ph type="body" idx="1"/>
          </p:nvPr>
        </p:nvSpPr>
        <p:spPr/>
        <p:txBody>
          <a:bodyPr/>
          <a:lstStyle/>
          <a:p>
            <a:pPr>
              <a:spcAft>
                <a:spcPts val="1800"/>
              </a:spcAft>
            </a:pPr>
            <a:r>
              <a:rPr lang="en-US" dirty="0">
                <a:solidFill>
                  <a:schemeClr val="tx1"/>
                </a:solidFill>
              </a:rPr>
              <a:t>What are the three gears that make up a planetary gearset?</a:t>
            </a:r>
          </a:p>
          <a:p>
            <a:pPr marL="428625" lvl="1" indent="0">
              <a:buNone/>
            </a:pPr>
            <a:r>
              <a:rPr lang="en-US" b="1" dirty="0">
                <a:solidFill>
                  <a:schemeClr val="tx1"/>
                </a:solidFill>
              </a:rPr>
              <a:t>Answer</a:t>
            </a:r>
            <a:r>
              <a:rPr lang="en-US" dirty="0">
                <a:solidFill>
                  <a:schemeClr val="tx1"/>
                </a:solidFill>
              </a:rPr>
              <a:t>: Sun, planetary, and ring or annulus</a:t>
            </a:r>
          </a:p>
        </p:txBody>
      </p:sp>
    </p:spTree>
    <p:extLst>
      <p:ext uri="{BB962C8B-B14F-4D97-AF65-F5344CB8AC3E}">
        <p14:creationId xmlns:p14="http://schemas.microsoft.com/office/powerpoint/2010/main" val="1205614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Apply Devices</a:t>
            </a:r>
          </a:p>
        </p:txBody>
      </p:sp>
      <p:sp>
        <p:nvSpPr>
          <p:cNvPr id="34819" name="Rectangle 3"/>
          <p:cNvSpPr>
            <a:spLocks noGrp="1" noChangeArrowheads="1"/>
          </p:cNvSpPr>
          <p:nvPr>
            <p:ph type="body" idx="1"/>
          </p:nvPr>
        </p:nvSpPr>
        <p:spPr/>
        <p:txBody>
          <a:bodyPr/>
          <a:lstStyle/>
          <a:p>
            <a:pPr marL="0" indent="0">
              <a:buNone/>
            </a:pPr>
            <a:r>
              <a:rPr lang="en-US" b="1" dirty="0">
                <a:solidFill>
                  <a:schemeClr val="tx1"/>
                </a:solidFill>
                <a:latin typeface="Work Sans" pitchFamily="2" charset="0"/>
              </a:rPr>
              <a:t>41.05 Name the major types of planetary gear controls and explain their basic operating principles.</a:t>
            </a:r>
            <a:endParaRPr lang="en-US" dirty="0">
              <a:solidFill>
                <a:schemeClr val="tx1"/>
              </a:solidFill>
            </a:endParaRPr>
          </a:p>
          <a:p>
            <a:r>
              <a:rPr lang="en-US" dirty="0">
                <a:solidFill>
                  <a:schemeClr val="tx1"/>
                </a:solidFill>
              </a:rPr>
              <a:t>Bands</a:t>
            </a:r>
          </a:p>
          <a:p>
            <a:pPr lvl="1"/>
            <a:r>
              <a:rPr lang="en-US" dirty="0"/>
              <a:t>Are typically used as a holding device.</a:t>
            </a:r>
          </a:p>
          <a:p>
            <a:r>
              <a:rPr lang="en-US" dirty="0"/>
              <a:t>Servos</a:t>
            </a:r>
          </a:p>
          <a:p>
            <a:pPr lvl="1"/>
            <a:r>
              <a:rPr lang="en-US" dirty="0"/>
              <a:t>Are used to apply the band.</a:t>
            </a:r>
          </a:p>
          <a:p>
            <a:r>
              <a:rPr lang="en-US" dirty="0"/>
              <a:t>Multiple Friction Disc Assemblies</a:t>
            </a:r>
          </a:p>
          <a:p>
            <a:pPr lvl="1"/>
            <a:r>
              <a:rPr lang="en-US" dirty="0"/>
              <a:t>Are used to hold or apply.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p:cNvSpPr>
          <p:nvPr>
            <p:ph type="title"/>
          </p:nvPr>
        </p:nvSpPr>
        <p:spPr/>
        <p:txBody>
          <a:bodyPr/>
          <a:lstStyle/>
          <a:p>
            <a:r>
              <a:rPr lang="en-US" dirty="0"/>
              <a:t>Transmission Bands</a:t>
            </a:r>
          </a:p>
        </p:txBody>
      </p:sp>
      <p:sp>
        <p:nvSpPr>
          <p:cNvPr id="36867" name="Content Placeholder 3"/>
          <p:cNvSpPr>
            <a:spLocks noGrp="1"/>
          </p:cNvSpPr>
          <p:nvPr>
            <p:ph type="body" idx="1"/>
          </p:nvPr>
        </p:nvSpPr>
        <p:spPr>
          <a:xfrm>
            <a:off x="476845" y="1563627"/>
            <a:ext cx="6279556" cy="1865374"/>
          </a:xfrm>
        </p:spPr>
        <p:txBody>
          <a:bodyPr/>
          <a:lstStyle/>
          <a:p>
            <a:r>
              <a:rPr lang="en-US" dirty="0"/>
              <a:t>A braking assembly positioned around a stationary or rotating drum or carrier.</a:t>
            </a:r>
          </a:p>
        </p:txBody>
      </p:sp>
      <p:pic>
        <p:nvPicPr>
          <p:cNvPr id="6" name="Picture 2" descr="Transmission bands depict the following parts: a circular band of the clutch housing, the case and the cover enclosing the servo piston, the piston stem, the passage for applying pressure, and the adjusting screw."/>
          <p:cNvPicPr>
            <a:picLocks noGrp="1" noChangeAspect="1" noChangeArrowheads="1"/>
          </p:cNvPicPr>
          <p:nvPr>
            <p:ph type="pic" sz="quarter" idx="12"/>
          </p:nvPr>
        </p:nvPicPr>
        <p:blipFill>
          <a:blip r:embed="rId3" cstate="print"/>
          <a:stretch>
            <a:fillRect/>
          </a:stretch>
        </p:blipFill>
        <p:spPr bwMode="auto">
          <a:xfrm>
            <a:off x="6378182" y="1702792"/>
            <a:ext cx="5204563" cy="4198347"/>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dirty="0"/>
              <a:t>Transmission Servos</a:t>
            </a:r>
          </a:p>
        </p:txBody>
      </p:sp>
      <p:sp>
        <p:nvSpPr>
          <p:cNvPr id="38915" name="Content Placeholder 2"/>
          <p:cNvSpPr>
            <a:spLocks noGrp="1"/>
          </p:cNvSpPr>
          <p:nvPr>
            <p:ph type="body" idx="1"/>
          </p:nvPr>
        </p:nvSpPr>
        <p:spPr>
          <a:xfrm>
            <a:off x="476845" y="1563626"/>
            <a:ext cx="6978056" cy="3313174"/>
          </a:xfrm>
        </p:spPr>
        <p:txBody>
          <a:bodyPr/>
          <a:lstStyle/>
          <a:p>
            <a:r>
              <a:rPr lang="en-US" dirty="0">
                <a:solidFill>
                  <a:schemeClr val="tx1"/>
                </a:solidFill>
              </a:rPr>
              <a:t>Covert hydraulic pressure into a mechanical force that applies a band.</a:t>
            </a:r>
          </a:p>
          <a:p>
            <a:r>
              <a:rPr lang="en-US" dirty="0">
                <a:solidFill>
                  <a:schemeClr val="tx1"/>
                </a:solidFill>
              </a:rPr>
              <a:t>Simple servos are released by spring pressure.</a:t>
            </a:r>
          </a:p>
          <a:p>
            <a:r>
              <a:rPr lang="en-US" dirty="0">
                <a:solidFill>
                  <a:schemeClr val="tx1"/>
                </a:solidFill>
              </a:rPr>
              <a:t>Compound servos are released and held by fluid pressure.</a:t>
            </a:r>
          </a:p>
        </p:txBody>
      </p:sp>
      <p:pic>
        <p:nvPicPr>
          <p:cNvPr id="7" name="Picture Placeholder 6" descr="A band and Servo assembly. The parts labeled are as follows: Servo apply piston, Adjuster screw, Brake band, Friction lining material, Strut, and apply Lever.">
            <a:extLst>
              <a:ext uri="{FF2B5EF4-FFF2-40B4-BE49-F238E27FC236}">
                <a16:creationId xmlns:a16="http://schemas.microsoft.com/office/drawing/2014/main" id="{2C5EE8D8-D954-317F-07EA-8F7AA960CE50}"/>
              </a:ext>
            </a:extLst>
          </p:cNvPr>
          <p:cNvPicPr>
            <a:picLocks noGrp="1" noChangeAspect="1"/>
          </p:cNvPicPr>
          <p:nvPr>
            <p:ph type="pic" sz="quarter" idx="12"/>
          </p:nvPr>
        </p:nvPicPr>
        <p:blipFill rotWithShape="1">
          <a:blip r:embed="rId3"/>
          <a:srcRect b="5675"/>
          <a:stretch/>
        </p:blipFill>
        <p:spPr>
          <a:xfrm>
            <a:off x="7545930" y="2072155"/>
            <a:ext cx="4123570" cy="353950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(3 of 4)</a:t>
            </a:r>
          </a:p>
        </p:txBody>
      </p:sp>
      <p:sp>
        <p:nvSpPr>
          <p:cNvPr id="35843" name="Rectangle 3"/>
          <p:cNvSpPr>
            <a:spLocks noGrp="1" noChangeArrowheads="1"/>
          </p:cNvSpPr>
          <p:nvPr>
            <p:ph type="body" idx="1"/>
          </p:nvPr>
        </p:nvSpPr>
        <p:spPr/>
        <p:txBody>
          <a:bodyPr/>
          <a:lstStyle/>
          <a:p>
            <a:r>
              <a:rPr lang="en-US" dirty="0">
                <a:solidFill>
                  <a:schemeClr val="tx1"/>
                </a:solidFill>
              </a:rPr>
              <a:t>Technician A says a band is used to keep a drum from rotating. Technician B says a band is applied by a servo. Who is correct?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Answer (3 of 4)</a:t>
            </a:r>
          </a:p>
        </p:txBody>
      </p:sp>
      <p:sp>
        <p:nvSpPr>
          <p:cNvPr id="35843" name="Rectangle 3"/>
          <p:cNvSpPr>
            <a:spLocks noGrp="1" noChangeArrowheads="1"/>
          </p:cNvSpPr>
          <p:nvPr>
            <p:ph type="body" idx="1"/>
          </p:nvPr>
        </p:nvSpPr>
        <p:spPr/>
        <p:txBody>
          <a:bodyPr/>
          <a:lstStyle/>
          <a:p>
            <a:pPr>
              <a:spcAft>
                <a:spcPts val="1800"/>
              </a:spcAft>
            </a:pPr>
            <a:r>
              <a:rPr lang="en-US" dirty="0"/>
              <a:t>Technician A says a band is used to keep a drum from rotating. Technician B says a band is applied by a servo. Who is correct?</a:t>
            </a:r>
          </a:p>
          <a:p>
            <a:pPr marL="428625" lvl="1" indent="0">
              <a:buNone/>
            </a:pPr>
            <a:r>
              <a:rPr lang="en-US" b="1" dirty="0"/>
              <a:t>Answer: </a:t>
            </a:r>
            <a:r>
              <a:rPr lang="en-US" dirty="0"/>
              <a:t>Both technicians A and B</a:t>
            </a:r>
          </a:p>
        </p:txBody>
      </p:sp>
    </p:spTree>
    <p:extLst>
      <p:ext uri="{BB962C8B-B14F-4D97-AF65-F5344CB8AC3E}">
        <p14:creationId xmlns:p14="http://schemas.microsoft.com/office/powerpoint/2010/main" val="12141722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dirty="0"/>
              <a:t>Transmission Clutches</a:t>
            </a:r>
          </a:p>
        </p:txBody>
      </p:sp>
      <p:sp>
        <p:nvSpPr>
          <p:cNvPr id="40963"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41.06 Describe the types and operation of different one-way clutches used in transmissions and transaxles.</a:t>
            </a:r>
            <a:endParaRPr lang="en-US" dirty="0">
              <a:solidFill>
                <a:schemeClr val="tx1"/>
              </a:solidFill>
            </a:endParaRPr>
          </a:p>
          <a:p>
            <a:r>
              <a:rPr lang="en-US" sz="2600" dirty="0">
                <a:solidFill>
                  <a:schemeClr val="tx1"/>
                </a:solidFill>
              </a:rPr>
              <a:t>Able to hold and drive planetary gear members.</a:t>
            </a:r>
          </a:p>
          <a:p>
            <a:r>
              <a:rPr lang="en-US" sz="2600" dirty="0">
                <a:solidFill>
                  <a:schemeClr val="tx1"/>
                </a:solidFill>
              </a:rPr>
              <a:t>Both sprag and roller overrunning clutches are used.</a:t>
            </a:r>
          </a:p>
          <a:p>
            <a:r>
              <a:rPr lang="en-US" sz="2600" dirty="0">
                <a:solidFill>
                  <a:schemeClr val="tx1"/>
                </a:solidFill>
              </a:rPr>
              <a:t>Overrunning Clutches</a:t>
            </a:r>
          </a:p>
          <a:p>
            <a:pPr lvl="1"/>
            <a:r>
              <a:rPr lang="en-US" dirty="0">
                <a:solidFill>
                  <a:schemeClr val="tx1"/>
                </a:solidFill>
              </a:rPr>
              <a:t>Can be used to hold or apply members of the gearset.</a:t>
            </a:r>
          </a:p>
          <a:p>
            <a:pPr lvl="1"/>
            <a:r>
              <a:rPr lang="en-US" dirty="0">
                <a:solidFill>
                  <a:schemeClr val="tx1"/>
                </a:solidFill>
              </a:rPr>
              <a:t>Are typically used as a holding device.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0A9C6-3589-F82A-F1DB-40583E3E2B63}"/>
              </a:ext>
            </a:extLst>
          </p:cNvPr>
          <p:cNvSpPr>
            <a:spLocks noGrp="1"/>
          </p:cNvSpPr>
          <p:nvPr>
            <p:ph type="title"/>
          </p:nvPr>
        </p:nvSpPr>
        <p:spPr/>
        <p:txBody>
          <a:bodyPr/>
          <a:lstStyle/>
          <a:p>
            <a:r>
              <a:rPr lang="en-IN" dirty="0"/>
              <a:t>One-way Roller Clutch and Sprag-type</a:t>
            </a:r>
          </a:p>
        </p:txBody>
      </p:sp>
      <p:pic>
        <p:nvPicPr>
          <p:cNvPr id="10" name="Picture Placeholder 9" descr="Two illustrations. The first illustration depicts a locked roller clutch. Both the inner race and outer race are held. A crossed-out clockwise arrow represents no rotation. The second illustration depicts an unlocked roller clutch. The inner race (hub) is rotating and the outer race (c a m) is held. The inner race rotates in a counterclockwise direction.">
            <a:extLst>
              <a:ext uri="{FF2B5EF4-FFF2-40B4-BE49-F238E27FC236}">
                <a16:creationId xmlns:a16="http://schemas.microsoft.com/office/drawing/2014/main" id="{21671A58-4283-39AE-A56B-E8861A5D89E7}"/>
              </a:ext>
            </a:extLst>
          </p:cNvPr>
          <p:cNvPicPr>
            <a:picLocks noGrp="1" noChangeAspect="1"/>
          </p:cNvPicPr>
          <p:nvPr>
            <p:ph type="pic" idx="2"/>
          </p:nvPr>
        </p:nvPicPr>
        <p:blipFill rotWithShape="1">
          <a:blip r:embed="rId2"/>
          <a:srcRect b="7077"/>
          <a:stretch/>
        </p:blipFill>
        <p:spPr>
          <a:xfrm>
            <a:off x="3949118" y="1371319"/>
            <a:ext cx="4293765" cy="2373964"/>
          </a:xfrm>
          <a:prstGeom prst="rect">
            <a:avLst/>
          </a:prstGeom>
        </p:spPr>
      </p:pic>
      <p:pic>
        <p:nvPicPr>
          <p:cNvPr id="11" name="Picture Placeholder 10" descr="Three parts of an illustration. The first part depicts a clutch. The second part depicts both inner and outer races held. The sprag is a long diagonal and there is no clockwise rotation. The third part depicts the inner race that rotates in the counterclockwise direction and the outer race that is held. The sprag is a short diagonal and there is no rotation.">
            <a:extLst>
              <a:ext uri="{FF2B5EF4-FFF2-40B4-BE49-F238E27FC236}">
                <a16:creationId xmlns:a16="http://schemas.microsoft.com/office/drawing/2014/main" id="{FB7FF429-7197-D64E-4189-308C3B995A39}"/>
              </a:ext>
            </a:extLst>
          </p:cNvPr>
          <p:cNvPicPr>
            <a:picLocks noGrp="1" noChangeAspect="1"/>
          </p:cNvPicPr>
          <p:nvPr>
            <p:ph type="pic" idx="3"/>
          </p:nvPr>
        </p:nvPicPr>
        <p:blipFill rotWithShape="1">
          <a:blip r:embed="rId3"/>
          <a:srcRect b="10309"/>
          <a:stretch/>
        </p:blipFill>
        <p:spPr>
          <a:xfrm>
            <a:off x="2952750" y="3913778"/>
            <a:ext cx="6286500" cy="197345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dirty="0"/>
              <a:t>Multiple-Disc Clutches</a:t>
            </a:r>
          </a:p>
        </p:txBody>
      </p:sp>
      <p:sp>
        <p:nvSpPr>
          <p:cNvPr id="43011" name="Content Placeholder 2"/>
          <p:cNvSpPr>
            <a:spLocks noGrp="1"/>
          </p:cNvSpPr>
          <p:nvPr>
            <p:ph type="body" idx="1"/>
          </p:nvPr>
        </p:nvSpPr>
        <p:spPr>
          <a:xfrm>
            <a:off x="476846" y="1563625"/>
            <a:ext cx="5260076" cy="4323607"/>
          </a:xfrm>
        </p:spPr>
        <p:txBody>
          <a:bodyPr/>
          <a:lstStyle/>
          <a:p>
            <a:r>
              <a:rPr lang="en-US" dirty="0">
                <a:solidFill>
                  <a:schemeClr val="tx1"/>
                </a:solidFill>
              </a:rPr>
              <a:t>A series of friction discs and steel plates used to transmit torque or apply braking force.</a:t>
            </a:r>
          </a:p>
          <a:p>
            <a:r>
              <a:rPr lang="en-US" dirty="0">
                <a:solidFill>
                  <a:schemeClr val="tx1"/>
                </a:solidFill>
              </a:rPr>
              <a:t>Internal teeth mesh with clutch hub.</a:t>
            </a:r>
          </a:p>
          <a:p>
            <a:r>
              <a:rPr lang="en-US" dirty="0">
                <a:solidFill>
                  <a:schemeClr val="tx1"/>
                </a:solidFill>
              </a:rPr>
              <a:t>External teeth mesh with internal splines in transmission housing or clutch drum.</a:t>
            </a:r>
          </a:p>
        </p:txBody>
      </p:sp>
      <p:pic>
        <p:nvPicPr>
          <p:cNvPr id="7" name="Picture Placeholder 6" descr="A multiple-disc clutch assembly. The labeled parts are as follows: Retaining ring, Pressure plate, Friction discs, Steel discs, Snapring, return springs, Piston, Seal, and Clutch housing.">
            <a:extLst>
              <a:ext uri="{FF2B5EF4-FFF2-40B4-BE49-F238E27FC236}">
                <a16:creationId xmlns:a16="http://schemas.microsoft.com/office/drawing/2014/main" id="{8C89CCF9-5A41-ADB5-C648-C73CF3398FE8}"/>
              </a:ext>
            </a:extLst>
          </p:cNvPr>
          <p:cNvPicPr>
            <a:picLocks noGrp="1" noChangeAspect="1"/>
          </p:cNvPicPr>
          <p:nvPr>
            <p:ph type="pic" sz="quarter" idx="12"/>
          </p:nvPr>
        </p:nvPicPr>
        <p:blipFill rotWithShape="1">
          <a:blip r:embed="rId3"/>
          <a:srcRect b="3992"/>
          <a:stretch/>
        </p:blipFill>
        <p:spPr>
          <a:xfrm>
            <a:off x="5984813" y="1780182"/>
            <a:ext cx="5940721" cy="426816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Bearings, Bushings, and Thrust Washers</a:t>
            </a:r>
          </a:p>
        </p:txBody>
      </p:sp>
      <p:sp>
        <p:nvSpPr>
          <p:cNvPr id="45059"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41.07 Describe the types and operation of bearings, snap rings, washers, gaskets, and seals used in transmissions and transaxles</a:t>
            </a:r>
            <a:r>
              <a:rPr lang="en-US" dirty="0">
                <a:solidFill>
                  <a:schemeClr val="tx1"/>
                </a:solidFill>
                <a:latin typeface="Work Sans" pitchFamily="2" charset="0"/>
              </a:rPr>
              <a:t>.</a:t>
            </a:r>
            <a:endParaRPr lang="en-US" dirty="0">
              <a:solidFill>
                <a:schemeClr val="tx1"/>
              </a:solidFill>
            </a:endParaRPr>
          </a:p>
          <a:p>
            <a:r>
              <a:rPr lang="en-US" dirty="0">
                <a:solidFill>
                  <a:schemeClr val="tx1"/>
                </a:solidFill>
              </a:rPr>
              <a:t>Bearings are used to reduce wear and friction.</a:t>
            </a:r>
          </a:p>
          <a:p>
            <a:pPr lvl="1"/>
            <a:r>
              <a:rPr lang="en-US" dirty="0">
                <a:solidFill>
                  <a:schemeClr val="tx1"/>
                </a:solidFill>
              </a:rPr>
              <a:t>Most either slide or roll against the surface.</a:t>
            </a:r>
          </a:p>
          <a:p>
            <a:r>
              <a:rPr lang="en-US" dirty="0">
                <a:solidFill>
                  <a:schemeClr val="tx1"/>
                </a:solidFill>
              </a:rPr>
              <a:t>Bushings are pressed into place.</a:t>
            </a:r>
          </a:p>
          <a:p>
            <a:pPr lvl="1"/>
            <a:r>
              <a:rPr lang="en-US" dirty="0">
                <a:solidFill>
                  <a:schemeClr val="tx1"/>
                </a:solidFill>
              </a:rPr>
              <a:t>Support rotating parts, guide parts, and control fluid flow.</a:t>
            </a:r>
          </a:p>
          <a:p>
            <a:r>
              <a:rPr lang="en-US" dirty="0">
                <a:solidFill>
                  <a:schemeClr val="tx1"/>
                </a:solidFill>
              </a:rPr>
              <a:t>Thrust washers may act as a bearing and a spacer to control endplay.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3"/>
          <p:cNvSpPr>
            <a:spLocks noGrp="1"/>
          </p:cNvSpPr>
          <p:nvPr>
            <p:ph type="title"/>
          </p:nvPr>
        </p:nvSpPr>
        <p:spPr/>
        <p:txBody>
          <a:bodyPr/>
          <a:lstStyle/>
          <a:p>
            <a:r>
              <a:rPr lang="en-US" dirty="0"/>
              <a:t>Typical Bearing Locations</a:t>
            </a:r>
          </a:p>
        </p:txBody>
      </p:sp>
      <p:pic>
        <p:nvPicPr>
          <p:cNvPr id="8" name="Picture Placeholder 7" descr="The location of various bearings and thrust washers in a typical Transaxle. The parts labeled are as follows: Oil pump shaft bearing, Thrust washer, Thrust washer (sprocket), Bearing, Thrust washer (selective), Input bearing, Input bearing, Carrier bearing, Sun gear bearing, Park gear bearing, Case bearing, Case washer (selective), Bearing thrust (sun gear), Input carrier bearing, Thrust bearing, second clutch thrust washer, Bearing, fourth clutch thrust washer, and fourth clutch hub bearing.">
            <a:extLst>
              <a:ext uri="{FF2B5EF4-FFF2-40B4-BE49-F238E27FC236}">
                <a16:creationId xmlns:a16="http://schemas.microsoft.com/office/drawing/2014/main" id="{93E7670A-AF37-26BD-4DD1-CD38A4602B17}"/>
              </a:ext>
            </a:extLst>
          </p:cNvPr>
          <p:cNvPicPr>
            <a:picLocks noGrp="1" noChangeAspect="1"/>
          </p:cNvPicPr>
          <p:nvPr>
            <p:ph type="pic" sz="quarter" idx="12"/>
          </p:nvPr>
        </p:nvPicPr>
        <p:blipFill rotWithShape="1">
          <a:blip r:embed="rId3"/>
          <a:srcRect b="3505"/>
          <a:stretch/>
        </p:blipFill>
        <p:spPr>
          <a:xfrm>
            <a:off x="4373899" y="1430884"/>
            <a:ext cx="3444203" cy="458089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Bushing Locations</a:t>
            </a:r>
          </a:p>
        </p:txBody>
      </p:sp>
      <p:pic>
        <p:nvPicPr>
          <p:cNvPr id="9" name="Picture Placeholder 8" descr="A typical representation of the various Bushings used throughout a transmission. The bushings are circular in shape with varying radii. The parts are numbered and labeled in order from left to right as follows: 1. Bushing, stator shaft (front), 2. Bushing, oil pump body, 3. Bushing, reverse input clutch (front), 4. Bushing, reverse input clutch (rear), 5. Bushing, stator shaft (rear), 6. Bushing, input sun gear (front), 7. Bushing, input sun gear (rear), 8. Bushing, reaction carrier shaft (front), 9. Bushing, reaction gear, 10. Bushing, reaction carrier shaft (rear), 11. Bushing, case, and 12. Bushing, case extension.">
            <a:extLst>
              <a:ext uri="{FF2B5EF4-FFF2-40B4-BE49-F238E27FC236}">
                <a16:creationId xmlns:a16="http://schemas.microsoft.com/office/drawing/2014/main" id="{E61BA9CA-663C-63B7-0695-E262809F0DF3}"/>
              </a:ext>
            </a:extLst>
          </p:cNvPr>
          <p:cNvPicPr>
            <a:picLocks noGrp="1" noChangeAspect="1"/>
          </p:cNvPicPr>
          <p:nvPr>
            <p:ph type="pic" sz="quarter" idx="12"/>
          </p:nvPr>
        </p:nvPicPr>
        <p:blipFill rotWithShape="1">
          <a:blip r:embed="rId3"/>
          <a:srcRect b="4341"/>
          <a:stretch/>
        </p:blipFill>
        <p:spPr>
          <a:xfrm>
            <a:off x="2692310" y="1524323"/>
            <a:ext cx="6807381" cy="453658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Seal Classifications</a:t>
            </a:r>
          </a:p>
        </p:txBody>
      </p:sp>
      <p:sp>
        <p:nvSpPr>
          <p:cNvPr id="52227" name="Rectangle 3"/>
          <p:cNvSpPr>
            <a:spLocks noGrp="1" noChangeArrowheads="1"/>
          </p:cNvSpPr>
          <p:nvPr>
            <p:ph type="body" idx="1"/>
          </p:nvPr>
        </p:nvSpPr>
        <p:spPr>
          <a:xfrm>
            <a:off x="476845" y="1563626"/>
            <a:ext cx="5720756" cy="3383024"/>
          </a:xfrm>
        </p:spPr>
        <p:txBody>
          <a:bodyPr/>
          <a:lstStyle/>
          <a:p>
            <a:r>
              <a:rPr lang="en-US" dirty="0"/>
              <a:t>Static</a:t>
            </a:r>
          </a:p>
          <a:p>
            <a:pPr lvl="1"/>
            <a:r>
              <a:rPr lang="en-US" sz="2400" dirty="0"/>
              <a:t>Is used between two parts that do not move.</a:t>
            </a:r>
          </a:p>
          <a:p>
            <a:r>
              <a:rPr lang="en-US" dirty="0"/>
              <a:t>Dynamic</a:t>
            </a:r>
          </a:p>
          <a:p>
            <a:pPr lvl="1"/>
            <a:r>
              <a:rPr lang="en-US" sz="2400" dirty="0"/>
              <a:t>Is used between two parts that move with either rotating or reciprocating motion.</a:t>
            </a:r>
          </a:p>
        </p:txBody>
      </p:sp>
      <p:sp>
        <p:nvSpPr>
          <p:cNvPr id="52228" name="Rectangle 4"/>
          <p:cNvSpPr>
            <a:spLocks noGrp="1" noChangeArrowheads="1"/>
          </p:cNvSpPr>
          <p:nvPr>
            <p:ph sz="quarter" idx="10"/>
          </p:nvPr>
        </p:nvSpPr>
        <p:spPr>
          <a:xfrm>
            <a:off x="6616700" y="1720850"/>
            <a:ext cx="4902200" cy="3473450"/>
          </a:xfrm>
        </p:spPr>
        <p:txBody>
          <a:bodyPr/>
          <a:lstStyle/>
          <a:p>
            <a:r>
              <a:rPr lang="en-US" sz="2600" dirty="0"/>
              <a:t>Positive</a:t>
            </a:r>
          </a:p>
          <a:p>
            <a:pPr marL="723900" lvl="1" indent="-368300"/>
            <a:r>
              <a:rPr lang="en-US" sz="2400" dirty="0"/>
              <a:t>Prevents all fluid leakage.</a:t>
            </a:r>
          </a:p>
          <a:p>
            <a:r>
              <a:rPr lang="en-US" sz="2600" dirty="0"/>
              <a:t>Non-positive</a:t>
            </a:r>
          </a:p>
          <a:p>
            <a:pPr marL="723900" lvl="1" indent="-368300"/>
            <a:r>
              <a:rPr lang="en-US" sz="2400" dirty="0"/>
              <a:t>Allows a controlled amount of leakage.</a:t>
            </a:r>
          </a:p>
          <a:p>
            <a:pPr marL="723900" lvl="1" indent="-368300"/>
            <a:r>
              <a:rPr lang="en-US" sz="2400" dirty="0"/>
              <a:t>Is used to lubricate a moving part.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dirty="0"/>
              <a:t>Final Drive Assemblies</a:t>
            </a:r>
          </a:p>
        </p:txBody>
      </p:sp>
      <p:sp>
        <p:nvSpPr>
          <p:cNvPr id="55299" name="Content Placeholder 2"/>
          <p:cNvSpPr>
            <a:spLocks noGrp="1"/>
          </p:cNvSpPr>
          <p:nvPr>
            <p:ph type="body" idx="1"/>
          </p:nvPr>
        </p:nvSpPr>
        <p:spPr/>
        <p:txBody>
          <a:bodyPr/>
          <a:lstStyle/>
          <a:p>
            <a:r>
              <a:rPr lang="en-US" sz="2600" dirty="0"/>
              <a:t>Transmit transaxle output to the differential section.</a:t>
            </a:r>
          </a:p>
          <a:p>
            <a:r>
              <a:rPr lang="en-US" sz="2600" dirty="0"/>
              <a:t>Four common configurations:</a:t>
            </a:r>
          </a:p>
          <a:p>
            <a:pPr lvl="1"/>
            <a:r>
              <a:rPr lang="en-US" dirty="0"/>
              <a:t>Helical gear</a:t>
            </a:r>
          </a:p>
          <a:p>
            <a:pPr lvl="1"/>
            <a:r>
              <a:rPr lang="en-US" dirty="0"/>
              <a:t>Planetary gear</a:t>
            </a:r>
          </a:p>
          <a:p>
            <a:pPr lvl="1"/>
            <a:r>
              <a:rPr lang="en-US" dirty="0"/>
              <a:t>Hypoid gear</a:t>
            </a:r>
          </a:p>
          <a:p>
            <a:pPr lvl="1"/>
            <a:r>
              <a:rPr lang="en-US" dirty="0"/>
              <a:t>Chain drive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(4 of 4)</a:t>
            </a:r>
          </a:p>
        </p:txBody>
      </p:sp>
      <p:sp>
        <p:nvSpPr>
          <p:cNvPr id="4" name="Content Placeholder 3"/>
          <p:cNvSpPr>
            <a:spLocks noGrp="1"/>
          </p:cNvSpPr>
          <p:nvPr>
            <p:ph type="body" idx="1"/>
          </p:nvPr>
        </p:nvSpPr>
        <p:spPr/>
        <p:txBody>
          <a:bodyPr/>
          <a:lstStyle/>
          <a:p>
            <a:r>
              <a:rPr lang="en-US" dirty="0"/>
              <a:t>Which of the following is NOT a type of apply device?</a:t>
            </a:r>
          </a:p>
          <a:p>
            <a:pPr marL="428625" lvl="1" indent="0">
              <a:buNone/>
            </a:pPr>
            <a:r>
              <a:rPr lang="en-US" dirty="0"/>
              <a:t>a. Overrunning clutch</a:t>
            </a:r>
          </a:p>
          <a:p>
            <a:pPr marL="428625" lvl="1" indent="0">
              <a:buNone/>
            </a:pPr>
            <a:r>
              <a:rPr lang="en-US" dirty="0"/>
              <a:t>b. Band</a:t>
            </a:r>
          </a:p>
          <a:p>
            <a:pPr marL="428625" lvl="1" indent="0">
              <a:buNone/>
            </a:pPr>
            <a:r>
              <a:rPr lang="en-US" dirty="0"/>
              <a:t>c. Multidisc clutch</a:t>
            </a:r>
          </a:p>
          <a:p>
            <a:pPr marL="428625" lvl="1" indent="0">
              <a:buNone/>
            </a:pPr>
            <a:r>
              <a:rPr lang="en-US" dirty="0"/>
              <a:t>d. Planetary gear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Knowledge Check Answer (4 of 4)</a:t>
            </a:r>
          </a:p>
        </p:txBody>
      </p:sp>
      <p:sp>
        <p:nvSpPr>
          <p:cNvPr id="4" name="Content Placeholder 3"/>
          <p:cNvSpPr>
            <a:spLocks noGrp="1"/>
          </p:cNvSpPr>
          <p:nvPr>
            <p:ph type="body" idx="1"/>
          </p:nvPr>
        </p:nvSpPr>
        <p:spPr/>
        <p:txBody>
          <a:bodyPr/>
          <a:lstStyle/>
          <a:p>
            <a:r>
              <a:rPr lang="en-US" dirty="0"/>
              <a:t>Which of the following is NOT a type of apply device?</a:t>
            </a:r>
          </a:p>
          <a:p>
            <a:pPr marL="428625" lvl="1" indent="0">
              <a:buNone/>
            </a:pPr>
            <a:r>
              <a:rPr lang="en-US" dirty="0"/>
              <a:t>a. Overrunning clutch</a:t>
            </a:r>
          </a:p>
          <a:p>
            <a:pPr marL="428625" lvl="1" indent="0">
              <a:buNone/>
            </a:pPr>
            <a:r>
              <a:rPr lang="en-US" dirty="0"/>
              <a:t>b. Band</a:t>
            </a:r>
          </a:p>
          <a:p>
            <a:pPr marL="428625" lvl="1" indent="0">
              <a:buNone/>
            </a:pPr>
            <a:r>
              <a:rPr lang="en-US" dirty="0"/>
              <a:t>c. Multidisc clutch</a:t>
            </a:r>
          </a:p>
          <a:p>
            <a:pPr marL="428625" lvl="1" indent="0">
              <a:spcAft>
                <a:spcPts val="2400"/>
              </a:spcAft>
              <a:buNone/>
            </a:pPr>
            <a:r>
              <a:rPr lang="en-US" dirty="0"/>
              <a:t>d. Planetary gear</a:t>
            </a:r>
          </a:p>
          <a:p>
            <a:pPr marL="428625" lvl="1" indent="0">
              <a:buNone/>
            </a:pPr>
            <a:r>
              <a:rPr lang="en-US" b="1" dirty="0"/>
              <a:t>Answer: </a:t>
            </a:r>
            <a:r>
              <a:rPr lang="en-US" dirty="0"/>
              <a:t>d. Planetary gear</a:t>
            </a:r>
          </a:p>
        </p:txBody>
      </p:sp>
    </p:spTree>
    <p:extLst>
      <p:ext uri="{BB962C8B-B14F-4D97-AF65-F5344CB8AC3E}">
        <p14:creationId xmlns:p14="http://schemas.microsoft.com/office/powerpoint/2010/main" val="38230477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dirty="0"/>
              <a:t>Hydraulic System</a:t>
            </a:r>
          </a:p>
        </p:txBody>
      </p:sp>
      <p:sp>
        <p:nvSpPr>
          <p:cNvPr id="56323" name="Content Placeholder 2"/>
          <p:cNvSpPr>
            <a:spLocks noGrp="1"/>
          </p:cNvSpPr>
          <p:nvPr>
            <p:ph type="body" idx="1"/>
          </p:nvPr>
        </p:nvSpPr>
        <p:spPr/>
        <p:txBody>
          <a:bodyPr/>
          <a:lstStyle/>
          <a:p>
            <a:r>
              <a:rPr lang="en-US" sz="2600" dirty="0">
                <a:solidFill>
                  <a:schemeClr val="tx1"/>
                </a:solidFill>
              </a:rPr>
              <a:t>The fluid operates, lubricates, and cools the transmission.</a:t>
            </a:r>
          </a:p>
          <a:p>
            <a:r>
              <a:rPr lang="en-US" sz="2600" dirty="0">
                <a:solidFill>
                  <a:schemeClr val="tx1"/>
                </a:solidFill>
              </a:rPr>
              <a:t>The pump is the source of all fluid flow.</a:t>
            </a:r>
          </a:p>
          <a:p>
            <a:pPr lvl="1"/>
            <a:r>
              <a:rPr lang="en-US" dirty="0">
                <a:solidFill>
                  <a:schemeClr val="tx1"/>
                </a:solidFill>
              </a:rPr>
              <a:t>Pressure—regulating valves change fluid pressure to control shift quality and shift points.</a:t>
            </a:r>
          </a:p>
          <a:p>
            <a:pPr lvl="1"/>
            <a:r>
              <a:rPr lang="en-US" dirty="0">
                <a:solidFill>
                  <a:schemeClr val="tx1"/>
                </a:solidFill>
              </a:rPr>
              <a:t>Flow—directing valves send to fluid to the correct apply device for gear changes.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Hydraulic System Elements</a:t>
            </a:r>
          </a:p>
        </p:txBody>
      </p:sp>
      <p:sp>
        <p:nvSpPr>
          <p:cNvPr id="57347" name="Rectangle 6"/>
          <p:cNvSpPr>
            <a:spLocks noGrp="1" noChangeArrowheads="1"/>
          </p:cNvSpPr>
          <p:nvPr>
            <p:ph type="body" idx="1"/>
          </p:nvPr>
        </p:nvSpPr>
        <p:spPr>
          <a:xfrm>
            <a:off x="476845" y="1563626"/>
            <a:ext cx="5619155" cy="3986274"/>
          </a:xfrm>
        </p:spPr>
        <p:txBody>
          <a:bodyPr/>
          <a:lstStyle/>
          <a:p>
            <a:r>
              <a:rPr lang="en-US" sz="2600" dirty="0">
                <a:solidFill>
                  <a:schemeClr val="tx1"/>
                </a:solidFill>
              </a:rPr>
              <a:t>Fluid reservoir</a:t>
            </a:r>
          </a:p>
          <a:p>
            <a:pPr lvl="1"/>
            <a:r>
              <a:rPr lang="en-US" dirty="0">
                <a:solidFill>
                  <a:schemeClr val="tx1"/>
                </a:solidFill>
              </a:rPr>
              <a:t>Oil pan</a:t>
            </a:r>
          </a:p>
          <a:p>
            <a:r>
              <a:rPr lang="en-US" sz="2600" dirty="0">
                <a:solidFill>
                  <a:schemeClr val="tx1"/>
                </a:solidFill>
              </a:rPr>
              <a:t>Pressure source</a:t>
            </a:r>
          </a:p>
          <a:p>
            <a:pPr lvl="1"/>
            <a:r>
              <a:rPr lang="en-US" dirty="0">
                <a:solidFill>
                  <a:schemeClr val="tx1"/>
                </a:solidFill>
              </a:rPr>
              <a:t>Pump</a:t>
            </a:r>
          </a:p>
          <a:p>
            <a:r>
              <a:rPr lang="en-US" sz="2600" dirty="0">
                <a:solidFill>
                  <a:schemeClr val="tx1"/>
                </a:solidFill>
              </a:rPr>
              <a:t>Vent</a:t>
            </a:r>
          </a:p>
          <a:p>
            <a:pPr lvl="1"/>
            <a:r>
              <a:rPr lang="en-US" dirty="0">
                <a:solidFill>
                  <a:schemeClr val="tx1"/>
                </a:solidFill>
              </a:rPr>
              <a:t>Necessary to draw fluid into the pump</a:t>
            </a:r>
          </a:p>
        </p:txBody>
      </p:sp>
      <p:sp>
        <p:nvSpPr>
          <p:cNvPr id="57348" name="Rectangle 7"/>
          <p:cNvSpPr>
            <a:spLocks noGrp="1" noChangeArrowheads="1"/>
          </p:cNvSpPr>
          <p:nvPr>
            <p:ph sz="quarter" idx="10"/>
          </p:nvPr>
        </p:nvSpPr>
        <p:spPr>
          <a:xfrm>
            <a:off x="6426202" y="1648876"/>
            <a:ext cx="4775198" cy="3608924"/>
          </a:xfrm>
        </p:spPr>
        <p:txBody>
          <a:bodyPr/>
          <a:lstStyle/>
          <a:p>
            <a:pPr marL="355600" indent="-355600">
              <a:spcBef>
                <a:spcPts val="624"/>
              </a:spcBef>
              <a:spcAft>
                <a:spcPts val="600"/>
              </a:spcAft>
            </a:pPr>
            <a:r>
              <a:rPr lang="en-US" sz="2600" dirty="0">
                <a:solidFill>
                  <a:schemeClr val="tx1"/>
                </a:solidFill>
              </a:rPr>
              <a:t>Transmission cooler</a:t>
            </a:r>
          </a:p>
          <a:p>
            <a:pPr marL="723900" lvl="1" indent="-368300">
              <a:spcBef>
                <a:spcPts val="624"/>
              </a:spcBef>
              <a:spcAft>
                <a:spcPts val="600"/>
              </a:spcAft>
            </a:pPr>
            <a:r>
              <a:rPr lang="en-US" dirty="0">
                <a:solidFill>
                  <a:schemeClr val="tx1"/>
                </a:solidFill>
              </a:rPr>
              <a:t>Removes excessive heat</a:t>
            </a:r>
          </a:p>
          <a:p>
            <a:pPr marL="355600" indent="-355600">
              <a:spcBef>
                <a:spcPts val="624"/>
              </a:spcBef>
              <a:spcAft>
                <a:spcPts val="600"/>
              </a:spcAft>
            </a:pPr>
            <a:r>
              <a:rPr lang="en-US" sz="2600" dirty="0">
                <a:solidFill>
                  <a:schemeClr val="tx1"/>
                </a:solidFill>
              </a:rPr>
              <a:t>Control valves</a:t>
            </a:r>
          </a:p>
          <a:p>
            <a:pPr marL="723900" lvl="1" indent="-368300">
              <a:spcBef>
                <a:spcPts val="624"/>
              </a:spcBef>
              <a:spcAft>
                <a:spcPts val="600"/>
              </a:spcAft>
            </a:pPr>
            <a:r>
              <a:rPr lang="en-US" dirty="0">
                <a:solidFill>
                  <a:schemeClr val="tx1"/>
                </a:solidFill>
              </a:rPr>
              <a:t>Valve body</a:t>
            </a:r>
          </a:p>
          <a:p>
            <a:pPr marL="355600" indent="-355600">
              <a:spcBef>
                <a:spcPts val="624"/>
              </a:spcBef>
              <a:spcAft>
                <a:spcPts val="600"/>
              </a:spcAft>
            </a:pPr>
            <a:r>
              <a:rPr lang="en-US" sz="2600" dirty="0">
                <a:solidFill>
                  <a:schemeClr val="tx1"/>
                </a:solidFill>
              </a:rPr>
              <a:t>Output devices</a:t>
            </a:r>
          </a:p>
          <a:p>
            <a:pPr marL="723900" lvl="1" indent="-368300">
              <a:spcBef>
                <a:spcPts val="624"/>
              </a:spcBef>
              <a:spcAft>
                <a:spcPts val="600"/>
              </a:spcAft>
              <a:tabLst>
                <a:tab pos="723900" algn="l"/>
              </a:tabLst>
            </a:pPr>
            <a:r>
              <a:rPr lang="en-US" dirty="0">
                <a:solidFill>
                  <a:schemeClr val="tx1"/>
                </a:solidFill>
              </a:rPr>
              <a:t>Apply devices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of ATF</a:t>
            </a:r>
          </a:p>
        </p:txBody>
      </p:sp>
      <p:sp>
        <p:nvSpPr>
          <p:cNvPr id="3" name="Content Placeholder 2"/>
          <p:cNvSpPr>
            <a:spLocks noGrp="1"/>
          </p:cNvSpPr>
          <p:nvPr>
            <p:ph type="body" idx="1"/>
          </p:nvPr>
        </p:nvSpPr>
        <p:spPr/>
        <p:txBody>
          <a:bodyPr/>
          <a:lstStyle/>
          <a:p>
            <a:r>
              <a:rPr lang="en-US" sz="2600" dirty="0">
                <a:solidFill>
                  <a:schemeClr val="tx1"/>
                </a:solidFill>
              </a:rPr>
              <a:t>Cools the transmission.</a:t>
            </a:r>
          </a:p>
          <a:p>
            <a:r>
              <a:rPr lang="en-US" sz="2600" dirty="0">
                <a:solidFill>
                  <a:schemeClr val="tx1"/>
                </a:solidFill>
              </a:rPr>
              <a:t>Cleans internal parts.</a:t>
            </a:r>
          </a:p>
          <a:p>
            <a:r>
              <a:rPr lang="en-US" sz="2600" dirty="0">
                <a:solidFill>
                  <a:schemeClr val="tx1"/>
                </a:solidFill>
              </a:rPr>
              <a:t>ATF under pressure forces valves to move.</a:t>
            </a:r>
          </a:p>
          <a:p>
            <a:r>
              <a:rPr lang="en-US" sz="2600" dirty="0">
                <a:solidFill>
                  <a:schemeClr val="tx1"/>
                </a:solidFill>
              </a:rPr>
              <a:t>Used to operate clutches and other apply devices.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Transmission Coolers</a:t>
            </a:r>
          </a:p>
        </p:txBody>
      </p:sp>
      <p:sp>
        <p:nvSpPr>
          <p:cNvPr id="3" name="Content Placeholder 2"/>
          <p:cNvSpPr>
            <a:spLocks noGrp="1"/>
          </p:cNvSpPr>
          <p:nvPr>
            <p:ph type="body" idx="1"/>
          </p:nvPr>
        </p:nvSpPr>
        <p:spPr>
          <a:xfrm>
            <a:off x="476845" y="1563626"/>
            <a:ext cx="5758855" cy="3275074"/>
          </a:xfrm>
        </p:spPr>
        <p:txBody>
          <a:bodyPr/>
          <a:lstStyle/>
          <a:p>
            <a:r>
              <a:rPr lang="en-US" dirty="0"/>
              <a:t>Remove heat from the ATF.</a:t>
            </a:r>
          </a:p>
          <a:p>
            <a:r>
              <a:rPr lang="en-US" dirty="0"/>
              <a:t>May be incorporated into the radiator.</a:t>
            </a:r>
          </a:p>
          <a:p>
            <a:r>
              <a:rPr lang="en-US" dirty="0"/>
              <a:t>May have separate cooler.</a:t>
            </a:r>
          </a:p>
          <a:p>
            <a:r>
              <a:rPr lang="en-US" dirty="0"/>
              <a:t>Lines connect the transmission and cooler.</a:t>
            </a:r>
          </a:p>
        </p:txBody>
      </p:sp>
      <p:pic>
        <p:nvPicPr>
          <p:cNvPr id="9" name="Picture Placeholder 8" descr="Two illustrations labeled (A) and (B). The first illustration (A) depicts a Transmission cooler (heat exchanger) located in the radiator with the parts labeled as follows: Inlet connector, Internal heat exchanger, and Outlet connector. The second illustration (B) depicts an auxiliary cooler with the parts labeled as follows: Auxiliary external cooler, Outlet connector, and Inlet connector.">
            <a:extLst>
              <a:ext uri="{FF2B5EF4-FFF2-40B4-BE49-F238E27FC236}">
                <a16:creationId xmlns:a16="http://schemas.microsoft.com/office/drawing/2014/main" id="{C98CCC84-4639-C9BC-CC0C-946D59E378D4}"/>
              </a:ext>
            </a:extLst>
          </p:cNvPr>
          <p:cNvPicPr>
            <a:picLocks noGrp="1" noChangeAspect="1"/>
          </p:cNvPicPr>
          <p:nvPr>
            <p:ph type="pic" sz="quarter" idx="12"/>
          </p:nvPr>
        </p:nvPicPr>
        <p:blipFill rotWithShape="1">
          <a:blip r:embed="rId2"/>
          <a:srcRect b="7678"/>
          <a:stretch/>
        </p:blipFill>
        <p:spPr>
          <a:xfrm>
            <a:off x="6600343" y="1710532"/>
            <a:ext cx="5031301" cy="396375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dirty="0"/>
              <a:t>Valve Body</a:t>
            </a:r>
          </a:p>
        </p:txBody>
      </p:sp>
      <p:sp>
        <p:nvSpPr>
          <p:cNvPr id="58371" name="Content Placeholder 2"/>
          <p:cNvSpPr>
            <a:spLocks noGrp="1"/>
          </p:cNvSpPr>
          <p:nvPr>
            <p:ph type="body" idx="1"/>
          </p:nvPr>
        </p:nvSpPr>
        <p:spPr>
          <a:xfrm>
            <a:off x="476845" y="1563626"/>
            <a:ext cx="6228756" cy="3910074"/>
          </a:xfrm>
        </p:spPr>
        <p:txBody>
          <a:bodyPr/>
          <a:lstStyle/>
          <a:p>
            <a:r>
              <a:rPr lang="en-US" dirty="0"/>
              <a:t>Distributes and controls pressurized fluid throughout the transmission.</a:t>
            </a:r>
          </a:p>
          <a:p>
            <a:r>
              <a:rPr lang="en-US" dirty="0"/>
              <a:t>Made of two or three main components</a:t>
            </a:r>
          </a:p>
          <a:p>
            <a:pPr lvl="1"/>
            <a:r>
              <a:rPr lang="en-US" dirty="0"/>
              <a:t>Valve body</a:t>
            </a:r>
          </a:p>
          <a:p>
            <a:pPr lvl="1"/>
            <a:r>
              <a:rPr lang="en-US" dirty="0"/>
              <a:t>Separator plate</a:t>
            </a:r>
          </a:p>
          <a:p>
            <a:pPr lvl="1"/>
            <a:r>
              <a:rPr lang="en-US" dirty="0"/>
              <a:t>Transfer plate</a:t>
            </a:r>
          </a:p>
        </p:txBody>
      </p:sp>
      <p:pic>
        <p:nvPicPr>
          <p:cNvPr id="7" name="Picture Placeholder 6" descr="A typical valve body along with a separator plate, a transfer plate, and other components.">
            <a:extLst>
              <a:ext uri="{FF2B5EF4-FFF2-40B4-BE49-F238E27FC236}">
                <a16:creationId xmlns:a16="http://schemas.microsoft.com/office/drawing/2014/main" id="{F1D49244-21B8-4059-EC94-2B2793B62CC8}"/>
              </a:ext>
            </a:extLst>
          </p:cNvPr>
          <p:cNvPicPr>
            <a:picLocks noGrp="1" noChangeAspect="1"/>
          </p:cNvPicPr>
          <p:nvPr>
            <p:ph type="pic" sz="quarter" idx="12"/>
          </p:nvPr>
        </p:nvPicPr>
        <p:blipFill rotWithShape="1">
          <a:blip r:embed="rId3"/>
          <a:srcRect b="7448"/>
          <a:stretch/>
        </p:blipFill>
        <p:spPr>
          <a:xfrm>
            <a:off x="7175616" y="2017027"/>
            <a:ext cx="4368568" cy="334237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Oil Pumps</a:t>
            </a:r>
          </a:p>
        </p:txBody>
      </p:sp>
      <p:sp>
        <p:nvSpPr>
          <p:cNvPr id="4" name="Content Placeholder 3"/>
          <p:cNvSpPr>
            <a:spLocks noGrp="1"/>
          </p:cNvSpPr>
          <p:nvPr>
            <p:ph type="body" idx="1"/>
          </p:nvPr>
        </p:nvSpPr>
        <p:spPr>
          <a:xfrm>
            <a:off x="476844" y="1563627"/>
            <a:ext cx="11241915" cy="1865374"/>
          </a:xfrm>
        </p:spPr>
        <p:txBody>
          <a:bodyPr/>
          <a:lstStyle/>
          <a:p>
            <a:r>
              <a:rPr lang="en-US" dirty="0">
                <a:solidFill>
                  <a:schemeClr val="tx1"/>
                </a:solidFill>
              </a:rPr>
              <a:t>Driven by the drive hub of the torque converter.</a:t>
            </a:r>
          </a:p>
          <a:p>
            <a:r>
              <a:rPr lang="en-US" dirty="0">
                <a:solidFill>
                  <a:schemeClr val="tx1"/>
                </a:solidFill>
              </a:rPr>
              <a:t>Gear and vane-type pumps are common.</a:t>
            </a:r>
          </a:p>
          <a:p>
            <a:r>
              <a:rPr lang="en-US" dirty="0">
                <a:solidFill>
                  <a:schemeClr val="tx1"/>
                </a:solidFill>
              </a:rPr>
              <a:t>Variable displacement pumps used in some transmissions.</a:t>
            </a:r>
          </a:p>
        </p:txBody>
      </p:sp>
      <p:pic>
        <p:nvPicPr>
          <p:cNvPr id="9" name="Picture Placeholder 8" descr="Two illustrations labeled (A) and (B). The first illustration (A) depicts the operation of a Gear-type pump. The parts labeled are as follows: Drive gear, Driven gear, Crescent, Outlet chamber, and Inlet chamber. Fluid from the oil pan flows into the inlet chamber. Fluid is carried by gear teeth past the crescent. Fluid is discharged from the pump near the outlet chamber which is further connected to the transmission and Torque converter. The second illustration (B) depicts the operation of a vane-type pump. The parts labeled are as follows: Sump, Filter, Vane ring, Vane, Rotor, Slide, Pivot pin, Line, and Pump chamber. The input is given from the pressure regulator toward the pump and the output from the pump is given to the Hydraulic system.">
            <a:extLst>
              <a:ext uri="{FF2B5EF4-FFF2-40B4-BE49-F238E27FC236}">
                <a16:creationId xmlns:a16="http://schemas.microsoft.com/office/drawing/2014/main" id="{77C2044D-39D2-8F92-552B-CC8FC635A983}"/>
              </a:ext>
            </a:extLst>
          </p:cNvPr>
          <p:cNvPicPr>
            <a:picLocks noGrp="1" noChangeAspect="1"/>
          </p:cNvPicPr>
          <p:nvPr>
            <p:ph type="pic" sz="quarter" idx="12"/>
          </p:nvPr>
        </p:nvPicPr>
        <p:blipFill rotWithShape="1">
          <a:blip r:embed="rId2"/>
          <a:srcRect b="6694"/>
          <a:stretch/>
        </p:blipFill>
        <p:spPr>
          <a:xfrm>
            <a:off x="3306526" y="3382401"/>
            <a:ext cx="5578949" cy="257672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Monitoring Engine Load</a:t>
            </a:r>
          </a:p>
        </p:txBody>
      </p:sp>
      <p:sp>
        <p:nvSpPr>
          <p:cNvPr id="3" name="Content Placeholder 2"/>
          <p:cNvSpPr>
            <a:spLocks noGrp="1"/>
          </p:cNvSpPr>
          <p:nvPr>
            <p:ph type="body" idx="1"/>
          </p:nvPr>
        </p:nvSpPr>
        <p:spPr/>
        <p:txBody>
          <a:bodyPr/>
          <a:lstStyle/>
          <a:p>
            <a:r>
              <a:rPr lang="en-US" dirty="0"/>
              <a:t>MAP and throttle position sensors</a:t>
            </a:r>
          </a:p>
          <a:p>
            <a:pPr lvl="1"/>
            <a:r>
              <a:rPr lang="en-US" dirty="0"/>
              <a:t>Used to monitor engine load.</a:t>
            </a:r>
          </a:p>
          <a:p>
            <a:pPr lvl="1"/>
            <a:r>
              <a:rPr lang="en-US" dirty="0"/>
              <a:t>Increased engine load requires changes in transmission operation.</a:t>
            </a:r>
          </a:p>
          <a:p>
            <a:r>
              <a:rPr lang="en-US" dirty="0"/>
              <a:t>Pressure controlled by EPC solenoid.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Gear Changes (1 of 2)</a:t>
            </a:r>
          </a:p>
        </p:txBody>
      </p:sp>
      <p:sp>
        <p:nvSpPr>
          <p:cNvPr id="3" name="Content Placeholder 2"/>
          <p:cNvSpPr>
            <a:spLocks noGrp="1"/>
          </p:cNvSpPr>
          <p:nvPr>
            <p:ph type="body" idx="1"/>
          </p:nvPr>
        </p:nvSpPr>
        <p:spPr/>
        <p:txBody>
          <a:bodyPr/>
          <a:lstStyle/>
          <a:p>
            <a:r>
              <a:rPr lang="en-US" dirty="0">
                <a:solidFill>
                  <a:schemeClr val="tx1"/>
                </a:solidFill>
              </a:rPr>
              <a:t>Gear changes occur either automatically or at the command of the driver.</a:t>
            </a:r>
          </a:p>
          <a:p>
            <a:r>
              <a:rPr lang="en-US" dirty="0">
                <a:solidFill>
                  <a:schemeClr val="tx1"/>
                </a:solidFill>
              </a:rPr>
              <a:t>The transmission cannot shift into park, reverse, or neutral by itself.</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Gear </a:t>
            </a:r>
            <a:r>
              <a:rPr lang="en-US"/>
              <a:t>Changes (2 of 2)</a:t>
            </a:r>
            <a:endParaRPr lang="en-US" dirty="0"/>
          </a:p>
        </p:txBody>
      </p:sp>
      <p:sp>
        <p:nvSpPr>
          <p:cNvPr id="3" name="Content Placeholder 2"/>
          <p:cNvSpPr>
            <a:spLocks noGrp="1"/>
          </p:cNvSpPr>
          <p:nvPr>
            <p:ph type="body" idx="1"/>
          </p:nvPr>
        </p:nvSpPr>
        <p:spPr/>
        <p:txBody>
          <a:bodyPr/>
          <a:lstStyle/>
          <a:p>
            <a:r>
              <a:rPr lang="en-US" dirty="0"/>
              <a:t>Park</a:t>
            </a:r>
          </a:p>
          <a:p>
            <a:pPr lvl="1"/>
            <a:r>
              <a:rPr lang="en-US" dirty="0"/>
              <a:t>When park is selected, the park pawl or lever engages the park gear.</a:t>
            </a:r>
          </a:p>
          <a:p>
            <a:r>
              <a:rPr lang="en-US" dirty="0"/>
              <a:t>Reverse</a:t>
            </a:r>
          </a:p>
          <a:p>
            <a:pPr lvl="1"/>
            <a:r>
              <a:rPr lang="en-US" dirty="0"/>
              <a:t>The manual shift valve allows fluid to flow to the low/reverse band.</a:t>
            </a:r>
          </a:p>
          <a:p>
            <a:r>
              <a:rPr lang="en-US" dirty="0"/>
              <a:t>Drive range</a:t>
            </a:r>
          </a:p>
          <a:p>
            <a:pPr lvl="1"/>
            <a:r>
              <a:rPr lang="en-US" dirty="0"/>
              <a:t>Front clutch engages.</a:t>
            </a:r>
          </a:p>
          <a:p>
            <a:pPr lvl="1"/>
            <a:r>
              <a:rPr lang="en-US" dirty="0"/>
              <a:t>The shift valve controls upshifting into higher gears.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457200">
              <a:spcBef>
                <a:spcPts val="0"/>
              </a:spcBef>
            </a:pPr>
            <a:r>
              <a:rPr lang="en-US" sz="2600" dirty="0">
                <a:solidFill>
                  <a:schemeClr val="tx1"/>
                </a:solidFill>
                <a:latin typeface="Work Sans" pitchFamily="2" charset="0"/>
              </a:rPr>
              <a:t>Describe the concept from this chapter that challenged you the most. Describe what made the concept difficult for you and the steps you took to improve your understanding</a:t>
            </a:r>
            <a:r>
              <a:rPr lang="en-US" dirty="0">
                <a:solidFill>
                  <a:schemeClr val="tx1"/>
                </a:solidFill>
                <a:latin typeface="Work Sans" pitchFamily="2" charset="0"/>
              </a:rPr>
              <a:t>.</a:t>
            </a:r>
            <a:endParaRPr lang="en-US" sz="2600" dirty="0">
              <a:solidFill>
                <a:schemeClr val="tx1"/>
              </a:solidFill>
              <a:latin typeface="Work Sans" pitchFamily="2" charset="0"/>
            </a:endParaRPr>
          </a:p>
          <a:p>
            <a:pPr marL="457200">
              <a:spcAft>
                <a:spcPts val="24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3D131005-E0D0-4CE1-A589-094C50A290C7}" vid="{F2384AB8-E206-4835-9F32-18C2B45E4BC4}"/>
    </a:ext>
  </a:extLst>
</a:theme>
</file>

<file path=ppt/theme/theme3.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4.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984</TotalTime>
  <Words>1846</Words>
  <Application>Microsoft Office PowerPoint</Application>
  <PresentationFormat>Widescreen</PresentationFormat>
  <Paragraphs>245</Paragraphs>
  <Slides>56</Slides>
  <Notes>39</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56</vt:i4>
      </vt:variant>
    </vt:vector>
  </HeadingPairs>
  <TitlesOfParts>
    <vt:vector size="64" baseType="lpstr">
      <vt:lpstr>Arial</vt:lpstr>
      <vt:lpstr>Calibri</vt:lpstr>
      <vt:lpstr>Times New Roman</vt:lpstr>
      <vt:lpstr>Work Sans</vt:lpstr>
      <vt:lpstr>Custom Design</vt:lpstr>
      <vt:lpstr>Theme2</vt:lpstr>
      <vt:lpstr>Theme3</vt:lpstr>
      <vt:lpstr>1_Theme3</vt:lpstr>
      <vt:lpstr>Automotive Technology: A Systems Approach, 8e</vt:lpstr>
      <vt:lpstr>Chapter Objectives (1 of 3)</vt:lpstr>
      <vt:lpstr>Chapter Objectives (2 of 3)</vt:lpstr>
      <vt:lpstr>Chapter Objectives (3 of 3)</vt:lpstr>
      <vt:lpstr>Automatic Transmissions and Transaxles</vt:lpstr>
      <vt:lpstr>An Eight-Speed Automatic</vt:lpstr>
      <vt:lpstr>Torque Converter</vt:lpstr>
      <vt:lpstr>Torque Converter Operation</vt:lpstr>
      <vt:lpstr>Torque Converter Components</vt:lpstr>
      <vt:lpstr>Types of Oil Flow</vt:lpstr>
      <vt:lpstr>Roller Clutch in a Stator</vt:lpstr>
      <vt:lpstr>Lockup Torque Converter</vt:lpstr>
      <vt:lpstr>Lockup Clutch</vt:lpstr>
      <vt:lpstr>Knowledge Check (1 of 4)</vt:lpstr>
      <vt:lpstr>Knowledge Check Answer (1 of 4)</vt:lpstr>
      <vt:lpstr>Planetary Gears</vt:lpstr>
      <vt:lpstr>Planetary Gear Components</vt:lpstr>
      <vt:lpstr>Planetary Gear Operation</vt:lpstr>
      <vt:lpstr>Types of Compound Gearsets</vt:lpstr>
      <vt:lpstr>Simpson Gearset</vt:lpstr>
      <vt:lpstr>Ravigneaux Gearset</vt:lpstr>
      <vt:lpstr>Planetary Gearsets in Tandem</vt:lpstr>
      <vt:lpstr>Lepelletier System</vt:lpstr>
      <vt:lpstr>Other Transmission Designs</vt:lpstr>
      <vt:lpstr>Typical Nonplanetary Transaxle</vt:lpstr>
      <vt:lpstr>CVT Transmission</vt:lpstr>
      <vt:lpstr>CVTs use pulleys</vt:lpstr>
      <vt:lpstr>CVT Controls</vt:lpstr>
      <vt:lpstr>Planetary Gear-Based CVTs</vt:lpstr>
      <vt:lpstr>Knowledge Check (2 of 4)</vt:lpstr>
      <vt:lpstr>Knowledge Check Answer (2 of 4)</vt:lpstr>
      <vt:lpstr>Apply Devices</vt:lpstr>
      <vt:lpstr>Transmission Bands</vt:lpstr>
      <vt:lpstr>Transmission Servos</vt:lpstr>
      <vt:lpstr>Knowledge Check (3 of 4)</vt:lpstr>
      <vt:lpstr>Knowledge Check Answer (3 of 4)</vt:lpstr>
      <vt:lpstr>Transmission Clutches</vt:lpstr>
      <vt:lpstr>One-way Roller Clutch and Sprag-type</vt:lpstr>
      <vt:lpstr>Multiple-Disc Clutches</vt:lpstr>
      <vt:lpstr>Bearings, Bushings, and Thrust Washers</vt:lpstr>
      <vt:lpstr>Typical Bearing Locations</vt:lpstr>
      <vt:lpstr>Bushing Locations</vt:lpstr>
      <vt:lpstr>Seal Classifications</vt:lpstr>
      <vt:lpstr>Final Drive Assemblies</vt:lpstr>
      <vt:lpstr>Knowledge Check (4 of 4)</vt:lpstr>
      <vt:lpstr>Knowledge Check Answer (4 of 4)</vt:lpstr>
      <vt:lpstr>Hydraulic System</vt:lpstr>
      <vt:lpstr>Hydraulic System Elements</vt:lpstr>
      <vt:lpstr>Functions of ATF</vt:lpstr>
      <vt:lpstr>Transmission Coolers</vt:lpstr>
      <vt:lpstr>Valve Body</vt:lpstr>
      <vt:lpstr>Oil Pumps</vt:lpstr>
      <vt:lpstr>Monitoring Engine Load</vt:lpstr>
      <vt:lpstr>Gear Changes (1 of 2)</vt:lpstr>
      <vt:lpstr>Gear Changes (2 of 2)</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121</cp:revision>
  <dcterms:created xsi:type="dcterms:W3CDTF">2012-09-04T13:49:02Z</dcterms:created>
  <dcterms:modified xsi:type="dcterms:W3CDTF">2024-12-04T16:19:09Z</dcterms:modified>
</cp:coreProperties>
</file>