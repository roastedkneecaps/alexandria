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notesMasterIdLst>
    <p:notesMasterId r:id="rId75"/>
  </p:notesMasterIdLst>
  <p:handoutMasterIdLst>
    <p:handoutMasterId r:id="rId76"/>
  </p:handoutMasterIdLst>
  <p:sldIdLst>
    <p:sldId id="350" r:id="rId2"/>
    <p:sldId id="337" r:id="rId3"/>
    <p:sldId id="338"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339" r:id="rId21"/>
    <p:sldId id="273" r:id="rId22"/>
    <p:sldId id="340" r:id="rId23"/>
    <p:sldId id="274" r:id="rId24"/>
    <p:sldId id="276" r:id="rId25"/>
    <p:sldId id="341" r:id="rId26"/>
    <p:sldId id="277" r:id="rId27"/>
    <p:sldId id="280" r:id="rId28"/>
    <p:sldId id="346" r:id="rId29"/>
    <p:sldId id="281" r:id="rId30"/>
    <p:sldId id="283" r:id="rId31"/>
    <p:sldId id="284" r:id="rId32"/>
    <p:sldId id="286" r:id="rId33"/>
    <p:sldId id="342" r:id="rId34"/>
    <p:sldId id="287" r:id="rId35"/>
    <p:sldId id="288" r:id="rId36"/>
    <p:sldId id="289" r:id="rId37"/>
    <p:sldId id="290" r:id="rId38"/>
    <p:sldId id="291" r:id="rId39"/>
    <p:sldId id="343" r:id="rId40"/>
    <p:sldId id="344" r:id="rId41"/>
    <p:sldId id="293" r:id="rId42"/>
    <p:sldId id="294" r:id="rId43"/>
    <p:sldId id="296" r:id="rId44"/>
    <p:sldId id="347" r:id="rId45"/>
    <p:sldId id="297" r:id="rId46"/>
    <p:sldId id="298" r:id="rId47"/>
    <p:sldId id="299" r:id="rId48"/>
    <p:sldId id="303" r:id="rId49"/>
    <p:sldId id="304" r:id="rId50"/>
    <p:sldId id="305" r:id="rId51"/>
    <p:sldId id="306" r:id="rId52"/>
    <p:sldId id="308" r:id="rId53"/>
    <p:sldId id="309" r:id="rId54"/>
    <p:sldId id="310" r:id="rId55"/>
    <p:sldId id="311" r:id="rId56"/>
    <p:sldId id="312" r:id="rId57"/>
    <p:sldId id="313" r:id="rId58"/>
    <p:sldId id="315" r:id="rId59"/>
    <p:sldId id="317" r:id="rId60"/>
    <p:sldId id="319" r:id="rId61"/>
    <p:sldId id="321" r:id="rId62"/>
    <p:sldId id="324" r:id="rId63"/>
    <p:sldId id="345" r:id="rId64"/>
    <p:sldId id="325" r:id="rId65"/>
    <p:sldId id="326" r:id="rId66"/>
    <p:sldId id="327" r:id="rId67"/>
    <p:sldId id="328" r:id="rId68"/>
    <p:sldId id="329" r:id="rId69"/>
    <p:sldId id="331" r:id="rId70"/>
    <p:sldId id="333" r:id="rId71"/>
    <p:sldId id="334" r:id="rId72"/>
    <p:sldId id="335" r:id="rId73"/>
    <p:sldId id="349" r:id="rId7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C7AEED-A584-45EE-B8DA-8CAD66176EC8}" v="18" dt="2024-11-22T17:00:08.2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5" autoAdjust="0"/>
    <p:restoredTop sz="86331" autoAdjust="0"/>
  </p:normalViewPr>
  <p:slideViewPr>
    <p:cSldViewPr>
      <p:cViewPr varScale="1">
        <p:scale>
          <a:sx n="64" d="100"/>
          <a:sy n="64" d="100"/>
        </p:scale>
        <p:origin x="588" y="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10C7AEED-A584-45EE-B8DA-8CAD66176EC8}"/>
    <pc:docChg chg="modSld">
      <pc:chgData name="venugopal Loganathan" userId="EaSm3crqCl59iHUciktDee7zyU+rF3MDLbCEjhOn3WE=" providerId="None" clId="Web-{10C7AEED-A584-45EE-B8DA-8CAD66176EC8}" dt="2024-11-22T17:00:07.266" v="14" actId="20577"/>
      <pc:docMkLst>
        <pc:docMk/>
      </pc:docMkLst>
      <pc:sldChg chg="modSp">
        <pc:chgData name="venugopal Loganathan" userId="EaSm3crqCl59iHUciktDee7zyU+rF3MDLbCEjhOn3WE=" providerId="None" clId="Web-{10C7AEED-A584-45EE-B8DA-8CAD66176EC8}" dt="2024-11-22T16:59:59.141" v="8" actId="20577"/>
        <pc:sldMkLst>
          <pc:docMk/>
          <pc:sldMk cId="0" sldId="337"/>
        </pc:sldMkLst>
        <pc:spChg chg="mod">
          <ac:chgData name="venugopal Loganathan" userId="EaSm3crqCl59iHUciktDee7zyU+rF3MDLbCEjhOn3WE=" providerId="None" clId="Web-{10C7AEED-A584-45EE-B8DA-8CAD66176EC8}" dt="2024-11-22T16:59:59.141" v="8" actId="20577"/>
          <ac:spMkLst>
            <pc:docMk/>
            <pc:sldMk cId="0" sldId="337"/>
            <ac:spMk id="132" creationId="{00000000-0000-0000-0000-000000000000}"/>
          </ac:spMkLst>
        </pc:spChg>
      </pc:sldChg>
      <pc:sldChg chg="modSp">
        <pc:chgData name="venugopal Loganathan" userId="EaSm3crqCl59iHUciktDee7zyU+rF3MDLbCEjhOn3WE=" providerId="None" clId="Web-{10C7AEED-A584-45EE-B8DA-8CAD66176EC8}" dt="2024-11-22T17:00:07.266" v="14" actId="20577"/>
        <pc:sldMkLst>
          <pc:docMk/>
          <pc:sldMk cId="2940819106" sldId="338"/>
        </pc:sldMkLst>
        <pc:spChg chg="mod">
          <ac:chgData name="venugopal Loganathan" userId="EaSm3crqCl59iHUciktDee7zyU+rF3MDLbCEjhOn3WE=" providerId="None" clId="Web-{10C7AEED-A584-45EE-B8DA-8CAD66176EC8}" dt="2024-11-22T17:00:07.266" v="14" actId="20577"/>
          <ac:spMkLst>
            <pc:docMk/>
            <pc:sldMk cId="2940819106" sldId="338"/>
            <ac:spMk id="13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9593A47F-049B-41E6-B5BE-AC9597100C70}" type="datetimeFigureOut">
              <a:t>11/22/2024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41673D7F-8B92-4E6C-B003-4EA92FFDE884}"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42766608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3B4BE458-B021-426D-95A6-2A4AA4BD1A26}" type="datetimeFigureOut">
              <a:t>11/22/2024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E935EB95-9F93-41DE-8682-3676868ADF6A}" type="slidenum">
              <a:t>‹#›</a:t>
            </a:fld>
            <a:endParaRPr lang="en-US"/>
          </a:p>
        </p:txBody>
      </p:sp>
    </p:spTree>
    <p:extLst>
      <p:ext uri="{BB962C8B-B14F-4D97-AF65-F5344CB8AC3E}">
        <p14:creationId xmlns:p14="http://schemas.microsoft.com/office/powerpoint/2010/main" val="2978073944"/>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3799450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0">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1200" cap="none" spc="0" normalizeH="0" baseline="0" noProof="0">
                <a:ln>
                  <a:noFill/>
                </a:ln>
                <a:solidFill>
                  <a:srgbClr val="000000"/>
                </a:solidFill>
                <a:effectLst/>
                <a:uLnTx/>
                <a:uFillTx/>
                <a:latin typeface="Times New Roman" pitchFamily="18"/>
                <a:cs typeface="Tahoma" pitchFamily="2"/>
                <a:sym typeface="Arial"/>
              </a:rPr>
              <a:pPr marL="0" marR="0" lvl="0" indent="0" algn="r" defTabSz="914400" rtl="0" eaLnBrk="1" fontAlgn="auto" latinLnBrk="0" hangingPunct="0">
                <a:lnSpc>
                  <a:spcPct val="100000"/>
                </a:lnSpc>
                <a:spcBef>
                  <a:spcPts val="0"/>
                </a:spcBef>
                <a:spcAft>
                  <a:spcPts val="0"/>
                </a:spcAft>
                <a:buClr>
                  <a:srgbClr val="000000"/>
                </a:buClr>
                <a:buSzTx/>
                <a:buFont typeface="Arial"/>
                <a:buNone/>
                <a:tabLst/>
                <a:defRPr/>
              </a:pPr>
              <a:t>3</a:t>
            </a:fld>
            <a:endParaRPr kumimoji="0" lang="en-US" sz="1400" b="0" i="0" u="none" strike="noStrike" kern="1200" cap="none" spc="0" normalizeH="0" baseline="0" noProof="0" dirty="0">
              <a:ln>
                <a:noFill/>
              </a:ln>
              <a:solidFill>
                <a:srgbClr val="000000"/>
              </a:solidFill>
              <a:effectLst/>
              <a:uLnTx/>
              <a:uFillTx/>
              <a:latin typeface="Times New Roman" pitchFamily="18"/>
              <a:cs typeface="Tahoma" pitchFamily="2"/>
              <a:sym typeface="Arial"/>
            </a:endParaRPr>
          </a:p>
        </p:txBody>
      </p:sp>
    </p:spTree>
    <p:extLst>
      <p:ext uri="{BB962C8B-B14F-4D97-AF65-F5344CB8AC3E}">
        <p14:creationId xmlns:p14="http://schemas.microsoft.com/office/powerpoint/2010/main" val="8501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56652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932541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73739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marL="216000" marR="0" lvl="0" indent="-216000" defTabSz="914400" rtl="0" eaLnBrk="1" fontAlgn="auto" latinLnBrk="0" hangingPunct="0">
              <a:lnSpc>
                <a:spcPct val="100000"/>
              </a:lnSpc>
              <a:spcBef>
                <a:spcPts val="0"/>
              </a:spcBef>
              <a:spcAft>
                <a:spcPts val="0"/>
              </a:spcAft>
              <a:buClrTx/>
              <a:buSzTx/>
              <a:buFontTx/>
              <a:buNone/>
              <a:tabLst/>
              <a:defRPr/>
            </a:pPr>
            <a:endParaRPr lang="en-US" sz="2000" b="1" dirty="0">
              <a:solidFill>
                <a:schemeClr val="bg2"/>
              </a:solidFill>
              <a:latin typeface="Work Sans" pitchFamily="2" charset="0"/>
            </a:endParaRPr>
          </a:p>
        </p:txBody>
      </p:sp>
    </p:spTree>
    <p:extLst>
      <p:ext uri="{BB962C8B-B14F-4D97-AF65-F5344CB8AC3E}">
        <p14:creationId xmlns:p14="http://schemas.microsoft.com/office/powerpoint/2010/main" val="1629407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51044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966301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102104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556981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148230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205099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76076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04889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56919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916851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062413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766144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2415060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898427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59116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86435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63DDED77-0F40-4636-937B-F182501FB46C}" type="slidenum">
              <a:t>27</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899136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63DDED77-0F40-4636-937B-F182501FB46C}" type="slidenum">
              <a:t>28</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1434686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658190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1774398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6573894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6414985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367192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7935500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766962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645387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733612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582520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108473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r>
              <a:rPr lang="en-US" dirty="0"/>
              <a:t>	</a:t>
            </a:r>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50293851-5F14-437E-864F-1B0C6CEAAB08}" type="slidenum">
              <a:t>43</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487402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r>
              <a:rPr lang="en-US" dirty="0"/>
              <a:t>	</a:t>
            </a:r>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50293851-5F14-437E-864F-1B0C6CEAAB08}" type="slidenum">
              <a:t>44</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6616029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075392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5442664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1450203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212935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3407502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1665563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616841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2251334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1537337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377858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5568001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129567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4255321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947181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794898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668814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469027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85700382-84B5-403A-8244-37DD82F926FE}" type="slidenum">
              <a:t>62</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4341029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85700382-84B5-403A-8244-37DD82F926FE}" type="slidenum">
              <a:t>63</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945490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8171391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9287808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792433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0318865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072637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740313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933661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96608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8944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468"/>
              </a:spcBef>
              <a:spcAft>
                <a:spcPts val="0"/>
              </a:spcAft>
              <a:buSzPct val="100000"/>
              <a:buFont typeface="Work Sans" pitchFamily="2" charset="0"/>
              <a:buChar char="•"/>
              <a:defRPr sz="2600"/>
            </a:lvl1pPr>
            <a:lvl2pPr marL="720725" lvl="1" indent="-360363" algn="l">
              <a:lnSpc>
                <a:spcPct val="100000"/>
              </a:lnSpc>
              <a:spcBef>
                <a:spcPts val="468"/>
              </a:spcBef>
              <a:spcAft>
                <a:spcPts val="0"/>
              </a:spcAft>
              <a:buSzPct val="100000"/>
              <a:buFont typeface="Arial" panose="020B0604020202020204" pitchFamily="34" charset="0"/>
              <a:buChar char="–"/>
              <a:defRPr sz="2400" b="0"/>
            </a:lvl2pPr>
            <a:lvl3pPr marL="1081088" lvl="2" indent="-360363" algn="l">
              <a:lnSpc>
                <a:spcPct val="100000"/>
              </a:lnSpc>
              <a:spcBef>
                <a:spcPts val="468"/>
              </a:spcBef>
              <a:spcAft>
                <a:spcPts val="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Tree>
    <p:extLst>
      <p:ext uri="{BB962C8B-B14F-4D97-AF65-F5344CB8AC3E}">
        <p14:creationId xmlns:p14="http://schemas.microsoft.com/office/powerpoint/2010/main" val="1621110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4"/>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468"/>
              </a:spcBef>
              <a:spcAft>
                <a:spcPts val="0"/>
              </a:spcAft>
              <a:buSzPct val="100000"/>
              <a:buFont typeface="Work Sans" pitchFamily="2" charset="0"/>
              <a:buChar char="•"/>
              <a:defRPr sz="2600"/>
            </a:lvl1pPr>
            <a:lvl2pPr marL="720725" lvl="1" indent="-360363" algn="l">
              <a:lnSpc>
                <a:spcPct val="100000"/>
              </a:lnSpc>
              <a:spcBef>
                <a:spcPts val="468"/>
              </a:spcBef>
              <a:spcAft>
                <a:spcPts val="0"/>
              </a:spcAft>
              <a:buSzPct val="100000"/>
              <a:buFont typeface="Arial" panose="020B0604020202020204" pitchFamily="34" charset="0"/>
              <a:buChar char="–"/>
              <a:defRPr sz="2400" b="0"/>
            </a:lvl2pPr>
            <a:lvl3pPr marL="1081088" lvl="2" indent="-360363" algn="l">
              <a:lnSpc>
                <a:spcPct val="100000"/>
              </a:lnSpc>
              <a:spcBef>
                <a:spcPts val="468"/>
              </a:spcBef>
              <a:spcAft>
                <a:spcPts val="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
        <p:nvSpPr>
          <p:cNvPr id="3" name="Picture Placeholder 2">
            <a:extLst>
              <a:ext uri="{FF2B5EF4-FFF2-40B4-BE49-F238E27FC236}">
                <a16:creationId xmlns:a16="http://schemas.microsoft.com/office/drawing/2014/main" id="{2C001FAB-E658-B5C0-DCE5-A536087012BF}"/>
              </a:ext>
            </a:extLst>
          </p:cNvPr>
          <p:cNvSpPr>
            <a:spLocks noGrp="1"/>
          </p:cNvSpPr>
          <p:nvPr>
            <p:ph type="pic" sz="quarter" idx="10"/>
          </p:nvPr>
        </p:nvSpPr>
        <p:spPr>
          <a:xfrm>
            <a:off x="1371600" y="4724400"/>
            <a:ext cx="914400" cy="914400"/>
          </a:xfrm>
        </p:spPr>
        <p:txBody>
          <a:bodyPr/>
          <a:lstStyle/>
          <a:p>
            <a:endParaRPr lang="en-IN"/>
          </a:p>
        </p:txBody>
      </p:sp>
      <p:sp>
        <p:nvSpPr>
          <p:cNvPr id="5" name="Content Placeholder 4">
            <a:extLst>
              <a:ext uri="{FF2B5EF4-FFF2-40B4-BE49-F238E27FC236}">
                <a16:creationId xmlns:a16="http://schemas.microsoft.com/office/drawing/2014/main" id="{70CD1693-D0B0-5C88-17B8-6C46F30E85F5}"/>
              </a:ext>
            </a:extLst>
          </p:cNvPr>
          <p:cNvSpPr>
            <a:spLocks noGrp="1"/>
          </p:cNvSpPr>
          <p:nvPr>
            <p:ph sz="quarter" idx="11"/>
          </p:nvPr>
        </p:nvSpPr>
        <p:spPr>
          <a:xfrm>
            <a:off x="381000" y="4648200"/>
            <a:ext cx="6858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Picture Placeholder 6">
            <a:extLst>
              <a:ext uri="{FF2B5EF4-FFF2-40B4-BE49-F238E27FC236}">
                <a16:creationId xmlns:a16="http://schemas.microsoft.com/office/drawing/2014/main" id="{A401D773-48EB-C31D-D541-C8287399650A}"/>
              </a:ext>
            </a:extLst>
          </p:cNvPr>
          <p:cNvSpPr>
            <a:spLocks noGrp="1"/>
          </p:cNvSpPr>
          <p:nvPr>
            <p:ph type="pic" sz="quarter" idx="12"/>
          </p:nvPr>
        </p:nvSpPr>
        <p:spPr>
          <a:xfrm>
            <a:off x="3810000" y="4634345"/>
            <a:ext cx="914400" cy="914400"/>
          </a:xfrm>
        </p:spPr>
        <p:txBody>
          <a:bodyPr/>
          <a:lstStyle/>
          <a:p>
            <a:endParaRPr lang="en-IN" dirty="0"/>
          </a:p>
        </p:txBody>
      </p:sp>
      <p:sp>
        <p:nvSpPr>
          <p:cNvPr id="9" name="Table Placeholder 8">
            <a:extLst>
              <a:ext uri="{FF2B5EF4-FFF2-40B4-BE49-F238E27FC236}">
                <a16:creationId xmlns:a16="http://schemas.microsoft.com/office/drawing/2014/main" id="{6AAF8A5C-1C86-F748-E332-2CEA8E863BF8}"/>
              </a:ext>
            </a:extLst>
          </p:cNvPr>
          <p:cNvSpPr>
            <a:spLocks noGrp="1"/>
          </p:cNvSpPr>
          <p:nvPr>
            <p:ph type="tbl" sz="quarter" idx="13"/>
          </p:nvPr>
        </p:nvSpPr>
        <p:spPr>
          <a:xfrm>
            <a:off x="6324600" y="4876800"/>
            <a:ext cx="914400" cy="914400"/>
          </a:xfrm>
        </p:spPr>
        <p:txBody>
          <a:bodyPr/>
          <a:lstStyle/>
          <a:p>
            <a:endParaRPr lang="en-IN"/>
          </a:p>
        </p:txBody>
      </p:sp>
    </p:spTree>
    <p:extLst>
      <p:ext uri="{BB962C8B-B14F-4D97-AF65-F5344CB8AC3E}">
        <p14:creationId xmlns:p14="http://schemas.microsoft.com/office/powerpoint/2010/main" val="4062756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9160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421158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95235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86291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605773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737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16066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3304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68892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85801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18207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48451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45085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endParaRPr lang="en-US"/>
          </a:p>
        </p:txBody>
      </p:sp>
      <p:sp>
        <p:nvSpPr>
          <p:cNvPr id="11" name="Picture Placeholder 10"/>
          <p:cNvSpPr>
            <a:spLocks noGrp="1"/>
          </p:cNvSpPr>
          <p:nvPr>
            <p:ph type="pic" sz="quarter" idx="15"/>
          </p:nvPr>
        </p:nvSpPr>
        <p:spPr>
          <a:xfrm>
            <a:off x="6908800" y="2819400"/>
            <a:ext cx="2540000" cy="1447800"/>
          </a:xfrm>
        </p:spPr>
        <p:txBody>
          <a:bodyPr/>
          <a:lstStyle/>
          <a:p>
            <a:endParaRPr lang="en-US"/>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89135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endParaRPr lang="en-US"/>
          </a:p>
        </p:txBody>
      </p:sp>
      <p:sp>
        <p:nvSpPr>
          <p:cNvPr id="12" name="Picture Placeholder 11"/>
          <p:cNvSpPr>
            <a:spLocks noGrp="1"/>
          </p:cNvSpPr>
          <p:nvPr>
            <p:ph type="pic" sz="quarter" idx="15"/>
          </p:nvPr>
        </p:nvSpPr>
        <p:spPr>
          <a:xfrm>
            <a:off x="6807200" y="3124200"/>
            <a:ext cx="2438400" cy="1371600"/>
          </a:xfrm>
        </p:spPr>
        <p:txBody>
          <a:bodyPr/>
          <a:lstStyle/>
          <a:p>
            <a:endParaRPr lang="en-US"/>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896249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endParaRPr lang="en-US"/>
          </a:p>
        </p:txBody>
      </p:sp>
      <p:sp>
        <p:nvSpPr>
          <p:cNvPr id="11" name="Picture Placeholder 10"/>
          <p:cNvSpPr>
            <a:spLocks noGrp="1"/>
          </p:cNvSpPr>
          <p:nvPr>
            <p:ph type="pic" sz="quarter" idx="15"/>
          </p:nvPr>
        </p:nvSpPr>
        <p:spPr>
          <a:xfrm>
            <a:off x="6502400" y="2895600"/>
            <a:ext cx="2743200" cy="1524000"/>
          </a:xfrm>
        </p:spPr>
        <p:txBody>
          <a:bodyPr/>
          <a:lstStyle/>
          <a:p>
            <a:endParaRPr lang="en-US"/>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052793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endParaRPr lang="en-US"/>
          </a:p>
        </p:txBody>
      </p:sp>
      <p:sp>
        <p:nvSpPr>
          <p:cNvPr id="11" name="Picture Placeholder 10"/>
          <p:cNvSpPr>
            <a:spLocks noGrp="1"/>
          </p:cNvSpPr>
          <p:nvPr>
            <p:ph type="pic" sz="quarter" idx="15"/>
          </p:nvPr>
        </p:nvSpPr>
        <p:spPr>
          <a:xfrm>
            <a:off x="5689600" y="3581400"/>
            <a:ext cx="2336800" cy="1295400"/>
          </a:xfrm>
        </p:spPr>
        <p:txBody>
          <a:bodyPr/>
          <a:lstStyle/>
          <a:p>
            <a:endParaRPr lang="en-US"/>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192556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1927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2">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2C96AC56-1B87-7BBF-B6DE-E189F25C2BEE}"/>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333539716"/>
      </p:ext>
    </p:extLst>
  </p:cSld>
  <p:clrMap bg1="lt1" tx1="dk1" bg2="dk2" tx2="lt2" accent1="accent1" accent2="accent2" accent3="accent3" accent4="accent4" accent5="accent5" accent6="accent6" hlink="hlink" folHlink="folHlink"/>
  <p:sldLayoutIdLst>
    <p:sldLayoutId id="2147483744" r:id="rId1"/>
    <p:sldLayoutId id="214748376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9" r:id="rId16"/>
    <p:sldLayoutId id="2147483760" r:id="rId17"/>
    <p:sldLayoutId id="2147483761" r:id="rId18"/>
    <p:sldLayoutId id="2147483762" r:id="rId19"/>
    <p:sldLayoutId id="2147483763" r:id="rId2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54: </a:t>
            </a:r>
            <a:r>
              <a:rPr lang="en-US" sz="3200" dirty="0">
                <a:solidFill>
                  <a:srgbClr val="FFFFFF"/>
                </a:solidFill>
                <a:latin typeface="Work Sans" pitchFamily="2" charset="0"/>
                <a:ea typeface="Arial"/>
                <a:cs typeface="Arial"/>
                <a:sym typeface="Arial"/>
              </a:rPr>
              <a:t>Heating and Air Conditioning</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68569" tIns="34275" rIns="68569" bIns="34275" anchor="t" anchorCtr="0">
            <a:noAutofit/>
          </a:bodyPr>
          <a:lstStyle/>
          <a:p>
            <a:r>
              <a:rPr lang="en-US" dirty="0"/>
              <a:t>Chapter Objectives (1 of 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68569" tIns="34275" rIns="68569" bIns="34275" anchor="t" anchorCtr="0">
            <a:noAutofit/>
          </a:bodyPr>
          <a:lstStyle/>
          <a:p>
            <a:pPr marL="360045" indent="-342900">
              <a:spcBef>
                <a:spcPts val="624"/>
              </a:spcBef>
              <a:spcAft>
                <a:spcPts val="600"/>
              </a:spcAft>
              <a:buClr>
                <a:schemeClr val="tx1"/>
              </a:buClr>
              <a:buFont typeface="Arial" panose="020B0604020202020204" pitchFamily="34" charset="0"/>
              <a:buChar char="•"/>
            </a:pPr>
            <a:r>
              <a:rPr lang="en-US">
                <a:solidFill>
                  <a:schemeClr val="tx1"/>
                </a:solidFill>
              </a:rPr>
              <a:t>54.01</a:t>
            </a:r>
            <a:r>
              <a:rPr lang="en-US" sz="2600">
                <a:solidFill>
                  <a:schemeClr val="tx1"/>
                </a:solidFill>
              </a:rPr>
              <a:t> Identify the common parts of a heating and ventilation </a:t>
            </a:r>
            <a:r>
              <a:rPr lang="en-US" sz="2600" dirty="0">
                <a:solidFill>
                  <a:schemeClr val="tx1"/>
                </a:solidFill>
              </a:rPr>
              <a:t>system.</a:t>
            </a:r>
            <a:endParaRPr lang="en-US">
              <a:solidFill>
                <a:schemeClr val="tx1"/>
              </a:solidFill>
            </a:endParaRPr>
          </a:p>
          <a:p>
            <a:pPr marL="360045" indent="-342900">
              <a:spcBef>
                <a:spcPts val="624"/>
              </a:spcBef>
              <a:spcAft>
                <a:spcPts val="600"/>
              </a:spcAft>
              <a:buClr>
                <a:schemeClr val="tx1"/>
              </a:buClr>
              <a:buFont typeface="Arial" panose="020B0604020202020204" pitchFamily="34" charset="0"/>
              <a:buChar char="•"/>
            </a:pPr>
            <a:r>
              <a:rPr lang="en-US" dirty="0">
                <a:solidFill>
                  <a:schemeClr val="tx1"/>
                </a:solidFill>
              </a:rPr>
              <a:t>54.02</a:t>
            </a:r>
            <a:r>
              <a:rPr lang="en-US" sz="2600" dirty="0">
                <a:solidFill>
                  <a:schemeClr val="tx1"/>
                </a:solidFill>
              </a:rPr>
              <a:t> Describe the operation of the various controls of a heating system.</a:t>
            </a:r>
          </a:p>
          <a:p>
            <a:pPr marL="360045" indent="-342900" algn="l">
              <a:spcBef>
                <a:spcPts val="624"/>
              </a:spcBef>
              <a:spcAft>
                <a:spcPts val="600"/>
              </a:spcAft>
              <a:buClr>
                <a:schemeClr val="tx1"/>
              </a:buClr>
              <a:buFont typeface="Arial" panose="020B0604020202020204" pitchFamily="34" charset="0"/>
              <a:buChar char="•"/>
            </a:pPr>
            <a:r>
              <a:rPr lang="en-US" dirty="0">
                <a:solidFill>
                  <a:schemeClr val="tx1"/>
                </a:solidFill>
              </a:rPr>
              <a:t>54.03</a:t>
            </a:r>
            <a:r>
              <a:rPr lang="en-US" sz="2600" dirty="0">
                <a:solidFill>
                  <a:schemeClr val="tx1"/>
                </a:solidFill>
              </a:rPr>
              <a:t> Diagnose temperature control problems in the heater/ventilation/air conditioning system.</a:t>
            </a:r>
          </a:p>
          <a:p>
            <a:pPr marL="360045" indent="-342900" algn="l">
              <a:spcBef>
                <a:spcPts val="624"/>
              </a:spcBef>
              <a:spcAft>
                <a:spcPts val="600"/>
              </a:spcAft>
              <a:buClr>
                <a:schemeClr val="tx1"/>
              </a:buClr>
              <a:buFont typeface="Arial" panose="020B0604020202020204" pitchFamily="34" charset="0"/>
              <a:buChar char="•"/>
            </a:pPr>
            <a:r>
              <a:rPr lang="en-US" dirty="0">
                <a:solidFill>
                  <a:schemeClr val="tx1"/>
                </a:solidFill>
              </a:rPr>
              <a:t>54.04</a:t>
            </a:r>
            <a:r>
              <a:rPr lang="en-US" sz="2600" dirty="0">
                <a:solidFill>
                  <a:schemeClr val="tx1"/>
                </a:solidFill>
              </a:rPr>
              <a:t> Describe how an automotive air-conditioning system operates.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68569" tIns="34275" rIns="68569" bIns="34275" anchor="t" anchorCtr="0">
            <a:noAutofit/>
          </a:bodyPr>
          <a:lstStyle/>
          <a:p>
            <a:r>
              <a:rPr lang="en-US" dirty="0"/>
              <a:t>Chapter Objectives (2 of 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68569" tIns="34275" rIns="68569" bIns="34275" anchor="t" anchorCtr="0">
            <a:noAutofit/>
          </a:bodyPr>
          <a:lstStyle/>
          <a:p>
            <a:pPr marL="360045" indent="-360045">
              <a:spcBef>
                <a:spcPts val="624"/>
              </a:spcBef>
              <a:spcAft>
                <a:spcPts val="600"/>
              </a:spcAft>
              <a:buFont typeface="Arial" panose="020B0604020202020204" pitchFamily="34" charset="0"/>
              <a:buChar char="•"/>
            </a:pPr>
            <a:r>
              <a:rPr lang="en-US" dirty="0">
                <a:solidFill>
                  <a:schemeClr val="tx1"/>
                </a:solidFill>
              </a:rPr>
              <a:t>54.05</a:t>
            </a:r>
            <a:r>
              <a:rPr lang="en-US" sz="2600" dirty="0">
                <a:solidFill>
                  <a:schemeClr val="tx1"/>
                </a:solidFill>
              </a:rPr>
              <a:t> Describe how refrigerants are used in the air-conditioning system.</a:t>
            </a:r>
            <a:endParaRPr lang="en-US">
              <a:solidFill>
                <a:schemeClr val="tx1"/>
              </a:solidFill>
            </a:endParaRPr>
          </a:p>
          <a:p>
            <a:pPr marL="360045" indent="-360045">
              <a:spcBef>
                <a:spcPts val="624"/>
              </a:spcBef>
              <a:spcAft>
                <a:spcPts val="600"/>
              </a:spcAft>
              <a:buFont typeface="Arial" panose="020B0604020202020204" pitchFamily="34" charset="0"/>
              <a:buChar char="•"/>
            </a:pPr>
            <a:r>
              <a:rPr lang="en-US" dirty="0">
                <a:solidFill>
                  <a:schemeClr val="tx1"/>
                </a:solidFill>
              </a:rPr>
              <a:t>54.06</a:t>
            </a:r>
            <a:r>
              <a:rPr lang="en-US" sz="2600" dirty="0">
                <a:solidFill>
                  <a:schemeClr val="tx1"/>
                </a:solidFill>
              </a:rPr>
              <a:t> Locate, identify, and describe the function of the various air-conditioning components.</a:t>
            </a:r>
          </a:p>
          <a:p>
            <a:pPr marL="360045" indent="-360045">
              <a:spcBef>
                <a:spcPts val="624"/>
              </a:spcBef>
              <a:spcAft>
                <a:spcPts val="600"/>
              </a:spcAft>
              <a:buFont typeface="Arial" panose="020B0604020202020204" pitchFamily="34" charset="0"/>
              <a:buChar char="•"/>
            </a:pPr>
            <a:r>
              <a:rPr lang="en-US" dirty="0">
                <a:solidFill>
                  <a:schemeClr val="tx1"/>
                </a:solidFill>
              </a:rPr>
              <a:t>54.07</a:t>
            </a:r>
            <a:r>
              <a:rPr lang="en-US" sz="2600" dirty="0">
                <a:solidFill>
                  <a:schemeClr val="tx1"/>
                </a:solidFill>
              </a:rPr>
              <a:t> Describe the operation of the types of air-conditioning control systems.</a:t>
            </a:r>
          </a:p>
        </p:txBody>
      </p:sp>
    </p:spTree>
    <p:extLst>
      <p:ext uri="{BB962C8B-B14F-4D97-AF65-F5344CB8AC3E}">
        <p14:creationId xmlns:p14="http://schemas.microsoft.com/office/powerpoint/2010/main" val="2940819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Ventilation System">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Ventilation System</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Supplies fresh air to the passenger compartment</a:t>
            </a:r>
          </a:p>
          <a:p>
            <a:pPr marL="355600" indent="-3556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Air can be forced (ram air) while the vehicle is moving.</a:t>
            </a:r>
          </a:p>
          <a:p>
            <a:pPr marL="355600" indent="-3556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The ventilation fan circulates air within the passenger compartment when the vehicle is stopped.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low-Through Ventilation System">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Flow-Through Ventilation System</a:t>
            </a:r>
          </a:p>
        </p:txBody>
      </p:sp>
      <p:pic>
        <p:nvPicPr>
          <p:cNvPr id="9" name="Picture Placeholder 8" descr="A flow-through ventilation system in a car. The labeled parts Outside air intake and many small arrows facing the rear go along the top and bottom edges of the inner compartment of the car. A thick arrow facing the rear is adjacent to the left rear wheel and is labeled Pressure relief valve (located in rear door sill).">
            <a:extLst>
              <a:ext uri="{FF2B5EF4-FFF2-40B4-BE49-F238E27FC236}">
                <a16:creationId xmlns:a16="http://schemas.microsoft.com/office/drawing/2014/main" id="{9F09C25D-809D-16D5-D924-7A31868869B5}"/>
              </a:ext>
            </a:extLst>
          </p:cNvPr>
          <p:cNvPicPr>
            <a:picLocks noGrp="1" noChangeAspect="1"/>
          </p:cNvPicPr>
          <p:nvPr>
            <p:ph type="pic" sz="quarter" idx="10"/>
          </p:nvPr>
        </p:nvPicPr>
        <p:blipFill>
          <a:blip r:embed="rId3"/>
          <a:srcRect b="10689"/>
          <a:stretch/>
        </p:blipFill>
        <p:spPr>
          <a:xfrm>
            <a:off x="2965204" y="2004675"/>
            <a:ext cx="6261593" cy="32483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Automotive Heating System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Automotive Heating Systems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Works with the engine’s cooling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Heat is used from the circulating coolant.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vehicles must have passenger compartment heating and windshield defrosting.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On electric vehicles (EVs), waste heat from the battery pack, inverter, and drive motor(s) may be used to help heat the passenger compartment.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Heating System Component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Heating System Components</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rPr>
              <a:t>54.01 Identify the common parts of a heating and ventilation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Heater core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Heater control valve or blend door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Blower motor and fan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Blower motor electrical controls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Heater and defroster ducts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Mode door controls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tx1"/>
                </a:solidFill>
              </a:rPr>
              <a:t>Coolant Flow-Through Heater</a:t>
            </a:r>
          </a:p>
        </p:txBody>
      </p:sp>
      <p:pic>
        <p:nvPicPr>
          <p:cNvPr id="9" name="Picture Placeholder 8" descr="Hot coolant from the engine is sent from the upper portion of the engine to the heater core. The labeled parts are as follows: Heater control valve, Heater hoses, Thermostat, Heater core, Expansion tank, Water pump, and Radiator. Arrows go in the following directions: from the heater core toward the duct coming from the engine; from the radiator through a duct to the thermostat; from the engine along a duct to the heater control valve and the engine to the radiator along the water pump.">
            <a:extLst>
              <a:ext uri="{FF2B5EF4-FFF2-40B4-BE49-F238E27FC236}">
                <a16:creationId xmlns:a16="http://schemas.microsoft.com/office/drawing/2014/main" id="{E1434688-7B8B-03E4-22AC-A83BB6F3D436}"/>
              </a:ext>
            </a:extLst>
          </p:cNvPr>
          <p:cNvPicPr>
            <a:picLocks noGrp="1" noChangeAspect="1"/>
          </p:cNvPicPr>
          <p:nvPr>
            <p:ph type="pic" sz="quarter" idx="10"/>
          </p:nvPr>
        </p:nvPicPr>
        <p:blipFill>
          <a:blip r:embed="rId3"/>
          <a:srcRect b="9230"/>
          <a:stretch/>
        </p:blipFill>
        <p:spPr>
          <a:xfrm>
            <a:off x="4461348" y="1586250"/>
            <a:ext cx="3865285" cy="4357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Heater Control Valv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 Control Valve</a:t>
            </a:r>
          </a:p>
        </p:txBody>
      </p:sp>
      <p:sp>
        <p:nvSpPr>
          <p:cNvPr id="3" name="Content Placeholder 3"/>
          <p:cNvSpPr txBox="1">
            <a:spLocks noGrp="1"/>
          </p:cNvSpPr>
          <p:nvPr>
            <p:ph sz="quarter" idx="11"/>
          </p:nvPr>
        </p:nvSpPr>
        <p:spPr>
          <a:xfrm>
            <a:off x="609600" y="1665333"/>
            <a:ext cx="5867400" cy="3827245"/>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800" b="1" dirty="0">
                <a:solidFill>
                  <a:schemeClr val="tx1"/>
                </a:solidFill>
                <a:latin typeface="Work Sans" pitchFamily="2" charset="0"/>
              </a:rPr>
              <a:t>54.02 Describe the operation of the various controls of a heating system.</a:t>
            </a:r>
            <a:endParaRPr lang="en-US" sz="2600" dirty="0">
              <a:solidFill>
                <a:schemeClr val="tx1"/>
              </a:solidFill>
              <a:latin typeface="Work Sans" pitchFamily="2" charset="0"/>
            </a:endParaRP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Controls the flow of coolant to the heater core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May be cable, vacuum, or electronically operated</a:t>
            </a:r>
          </a:p>
        </p:txBody>
      </p:sp>
      <p:pic>
        <p:nvPicPr>
          <p:cNvPr id="10" name="Picture Placeholder 9" descr="Two types of heater control valves, a vacuum-operated plastic unit and a cable operated valve.">
            <a:extLst>
              <a:ext uri="{FF2B5EF4-FFF2-40B4-BE49-F238E27FC236}">
                <a16:creationId xmlns:a16="http://schemas.microsoft.com/office/drawing/2014/main" id="{7E78232D-99AD-FBD8-9739-46C91E3FAEFE}"/>
              </a:ext>
            </a:extLst>
          </p:cNvPr>
          <p:cNvPicPr>
            <a:picLocks noGrp="1" noChangeAspect="1"/>
          </p:cNvPicPr>
          <p:nvPr>
            <p:ph type="pic" sz="quarter" idx="12"/>
          </p:nvPr>
        </p:nvPicPr>
        <p:blipFill>
          <a:blip r:embed="rId3"/>
          <a:srcRect b="17901"/>
          <a:stretch/>
        </p:blipFill>
        <p:spPr>
          <a:xfrm>
            <a:off x="6880558" y="2209800"/>
            <a:ext cx="4701842" cy="2438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TC Heater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PTC Heaters</a:t>
            </a:r>
          </a:p>
        </p:txBody>
      </p:sp>
      <p:sp>
        <p:nvSpPr>
          <p:cNvPr id="3" name="Content Placeholder 6"/>
          <p:cNvSpPr txBox="1">
            <a:spLocks noGrp="1"/>
          </p:cNvSpPr>
          <p:nvPr>
            <p:ph sz="quarter" idx="11"/>
          </p:nvPr>
        </p:nvSpPr>
        <p:spPr>
          <a:xfrm>
            <a:off x="685800" y="1676400"/>
            <a:ext cx="6096000" cy="35052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Reduces waste heat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Positive temperature coefficient heating element in the heater core</a:t>
            </a:r>
          </a:p>
        </p:txBody>
      </p:sp>
      <p:pic>
        <p:nvPicPr>
          <p:cNvPr id="9" name="Picture Placeholder 8" descr="Two parts labeled (A) and (B). (A) depicts an electronic P T C auxiliary heater. (B) depicts a P T C heater for a Tesla. (A). A heater and P T C have a magnified view of a part of the core depicting a P T C element. The P T C element has the parts labeled as follows: Electrodes and Insulation film. (B). A P T C heater has the parts connected to a colored wire.">
            <a:extLst>
              <a:ext uri="{FF2B5EF4-FFF2-40B4-BE49-F238E27FC236}">
                <a16:creationId xmlns:a16="http://schemas.microsoft.com/office/drawing/2014/main" id="{606F0FCB-4209-163F-36A3-5060876DE8BC}"/>
              </a:ext>
            </a:extLst>
          </p:cNvPr>
          <p:cNvPicPr>
            <a:picLocks noGrp="1" noChangeAspect="1"/>
          </p:cNvPicPr>
          <p:nvPr>
            <p:ph type="pic" sz="quarter" idx="10"/>
          </p:nvPr>
        </p:nvPicPr>
        <p:blipFill>
          <a:blip r:embed="rId3"/>
          <a:srcRect b="5176"/>
          <a:stretch/>
        </p:blipFill>
        <p:spPr>
          <a:xfrm>
            <a:off x="7799128" y="1704422"/>
            <a:ext cx="2363685" cy="40105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Blower Mot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Blower Motor</a:t>
            </a:r>
          </a:p>
        </p:txBody>
      </p:sp>
      <p:sp>
        <p:nvSpPr>
          <p:cNvPr id="3" name="Content Placeholder 3"/>
          <p:cNvSpPr txBox="1">
            <a:spLocks noGrp="1"/>
          </p:cNvSpPr>
          <p:nvPr>
            <p:ph sz="quarter" idx="11"/>
          </p:nvPr>
        </p:nvSpPr>
        <p:spPr>
          <a:xfrm>
            <a:off x="609600" y="1737150"/>
            <a:ext cx="6019800" cy="428265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Located in heater/evaporator housing</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be controlled by a resistor block and blower switch</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systems use pulse width modulation for blower control.</a:t>
            </a:r>
          </a:p>
        </p:txBody>
      </p:sp>
      <p:pic>
        <p:nvPicPr>
          <p:cNvPr id="9" name="Picture Placeholder 8" descr="A blower motor is connected to a resistor block.">
            <a:extLst>
              <a:ext uri="{FF2B5EF4-FFF2-40B4-BE49-F238E27FC236}">
                <a16:creationId xmlns:a16="http://schemas.microsoft.com/office/drawing/2014/main" id="{4D9DA54D-DA73-9417-77F4-6586BAB382F1}"/>
              </a:ext>
            </a:extLst>
          </p:cNvPr>
          <p:cNvPicPr>
            <a:picLocks noGrp="1" noChangeAspect="1"/>
          </p:cNvPicPr>
          <p:nvPr>
            <p:ph type="pic" sz="quarter" idx="10"/>
          </p:nvPr>
        </p:nvPicPr>
        <p:blipFill>
          <a:blip r:embed="rId3"/>
          <a:stretch>
            <a:fillRect/>
          </a:stretch>
        </p:blipFill>
        <p:spPr>
          <a:xfrm>
            <a:off x="7161309" y="1737150"/>
            <a:ext cx="3811491" cy="4130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Heater and Defroster Duct Hoses">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 and Defroster Duct Hoses</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heater/evaporator case directs air to various vents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systems provide for fresh or recirculated air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Late-model vehicles may detect inlet air quality and change airflow depending on pollution levels</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On automatic HVAC systems, when maximum cooling is requested, the control module switches to recirculated airflow.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Typical HVAC Components</a:t>
            </a:r>
          </a:p>
        </p:txBody>
      </p:sp>
      <p:pic>
        <p:nvPicPr>
          <p:cNvPr id="9" name="Picture Placeholder 8" descr="An illustration depicts three different structures in a typical H V A C airflow and heater and air conditioning system components. The first structure depicts the following components: Front ducts, Rear ducts, Heater, Evaporator, Blower, Intake and Dash ducts. The front ducts depict the air coming out to the top. The rear ducts depict air coming out from the left and the dash ducts depict air going down. The switch to the rear duct is off while the switch to the dash and front ducts are open. The switch to the blower is also on. The second structure has the following components labeled: Fresh air, Defrost, Dash outlet, and Footwell outlet. The fresh air is sucked into the element and an arrow is pointing down from the foot wall outlet. The air is coming out of the defrost and dash outlet slot. The third structure depicts the following components labeled: Blower components resistor, Recirculation control motor, Inlet duct temperature sensor, Blower unit components, A/C filter, Air mix control motor, Evaporator components, and Mode control motor.">
            <a:extLst>
              <a:ext uri="{FF2B5EF4-FFF2-40B4-BE49-F238E27FC236}">
                <a16:creationId xmlns:a16="http://schemas.microsoft.com/office/drawing/2014/main" id="{EF1C79B9-F9BE-3A8E-55AA-4807441A6D3A}"/>
              </a:ext>
            </a:extLst>
          </p:cNvPr>
          <p:cNvPicPr>
            <a:picLocks noGrp="1" noChangeAspect="1"/>
          </p:cNvPicPr>
          <p:nvPr>
            <p:ph type="pic" sz="quarter" idx="10"/>
          </p:nvPr>
        </p:nvPicPr>
        <p:blipFill>
          <a:blip r:embed="rId3"/>
          <a:srcRect b="4345"/>
          <a:stretch/>
        </p:blipFill>
        <p:spPr>
          <a:xfrm>
            <a:off x="4252590" y="1676400"/>
            <a:ext cx="3686821" cy="42671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Heaters in Hybrid Vehicle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Heaters in Hybrid Vehicles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Some have additional heating elements for when the engine is off.</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May use an auxiliary water pump for idle stop operation</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Some vehicles use coolant storage tanks to reduce start-up emissions.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oyota Prius Storage Tan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Typical Hybrid Heater System</a:t>
            </a:r>
          </a:p>
        </p:txBody>
      </p:sp>
      <p:pic>
        <p:nvPicPr>
          <p:cNvPr id="9" name="Picture Placeholder 8" descr="The coolant heat storage tank consists of a large vacuum-insulated container that is capable of storing hot coolant for a long period. The parts are labeled as follows: Engine coolant temperature sensor, Coolant flow control valve, to heater core, Water pump (for heater), Coolant heat storage tank, Coolant heat storage water pump, and Coolant heat storage outlet temperature sensor.">
            <a:extLst>
              <a:ext uri="{FF2B5EF4-FFF2-40B4-BE49-F238E27FC236}">
                <a16:creationId xmlns:a16="http://schemas.microsoft.com/office/drawing/2014/main" id="{6FC64826-FB0B-3905-F451-19C334373EEA}"/>
              </a:ext>
            </a:extLst>
          </p:cNvPr>
          <p:cNvPicPr>
            <a:picLocks noGrp="1" noChangeAspect="1"/>
          </p:cNvPicPr>
          <p:nvPr>
            <p:ph type="pic" sz="quarter" idx="10"/>
          </p:nvPr>
        </p:nvPicPr>
        <p:blipFill>
          <a:blip r:embed="rId3"/>
          <a:srcRect b="8431"/>
          <a:stretch/>
        </p:blipFill>
        <p:spPr>
          <a:xfrm>
            <a:off x="3570725" y="1858423"/>
            <a:ext cx="5050551" cy="40851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Heater System Service">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 System Service</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54-03 Diagnose temperature control problems in the heater/ventilation/air conditioning system</a:t>
            </a:r>
            <a:r>
              <a:rPr lang="en-US" sz="2600" dirty="0">
                <a:solidFill>
                  <a:schemeClr val="tx1"/>
                </a:solidFill>
                <a:latin typeface="Work Sans" pitchFamily="2" charset="0"/>
              </a:rPr>
              <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times heating system problems are also cooling system problems.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On ICE vehicles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coolant level and condition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temperature of heater inlet and outlet hoses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heater control valve for sticking open/closed and the valve’s controls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Basic Heater Inspection and Check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Heater Inspection and Checks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Begin with a visual inspection and by checking coolant level and condition.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Run engine to normal operating temperature.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Measure temperature at radiator and heater hoses.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for leaks.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heck for Leak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Evidence of a Leaking Heater Core</a:t>
            </a:r>
          </a:p>
        </p:txBody>
      </p:sp>
      <p:pic>
        <p:nvPicPr>
          <p:cNvPr id="8" name="Picture Placeholder 7" descr="A drenched spot indicates that the heater core is leaking.">
            <a:extLst>
              <a:ext uri="{FF2B5EF4-FFF2-40B4-BE49-F238E27FC236}">
                <a16:creationId xmlns:a16="http://schemas.microsoft.com/office/drawing/2014/main" id="{24DF37D7-3F22-3EBD-2E32-1BC522AC8094}"/>
              </a:ext>
            </a:extLst>
          </p:cNvPr>
          <p:cNvPicPr>
            <a:picLocks noGrp="1" noChangeAspect="1"/>
          </p:cNvPicPr>
          <p:nvPr>
            <p:ph type="pic" sz="quarter" idx="10"/>
          </p:nvPr>
        </p:nvPicPr>
        <p:blipFill>
          <a:blip r:embed="rId3"/>
          <a:srcRect b="6256"/>
          <a:stretch/>
        </p:blipFill>
        <p:spPr>
          <a:xfrm>
            <a:off x="3588950" y="1809780"/>
            <a:ext cx="5014100" cy="42100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Heater Core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 Core Service</a:t>
            </a:r>
          </a:p>
        </p:txBody>
      </p:sp>
      <p:sp>
        <p:nvSpPr>
          <p:cNvPr id="3" name="Content Placeholder 2"/>
          <p:cNvSpPr txBox="1">
            <a:spLocks noGrp="1"/>
          </p:cNvSpPr>
          <p:nvPr>
            <p:ph sz="quarter" idx="11"/>
          </p:nvPr>
        </p:nvSpPr>
        <p:spPr>
          <a:xfrm>
            <a:off x="609599" y="1600200"/>
            <a:ext cx="5181601" cy="35052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Needs to be repaired or replaced if plugged or leaking</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Normally buried inside the heater/evaporator case</a:t>
            </a:r>
          </a:p>
        </p:txBody>
      </p:sp>
      <p:pic>
        <p:nvPicPr>
          <p:cNvPr id="8" name="Picture 2" descr="The instrumental panel is removed and the heater or evaporator case is exposed.">
            <a:extLst>
              <a:ext uri="{FF2B5EF4-FFF2-40B4-BE49-F238E27FC236}">
                <a16:creationId xmlns:a16="http://schemas.microsoft.com/office/drawing/2014/main" id="{348848D9-B99C-8C1B-992B-0D168F06C0D2}"/>
              </a:ext>
            </a:extLst>
          </p:cNvPr>
          <p:cNvPicPr>
            <a:picLocks noGrp="1" noChangeAspect="1" noChangeArrowheads="1"/>
          </p:cNvPicPr>
          <p:nvPr>
            <p:ph type="pic" sz="quarter" idx="10"/>
          </p:nvPr>
        </p:nvPicPr>
        <p:blipFill rotWithShape="1">
          <a:blip r:embed="rId3">
            <a:extLst>
              <a:ext uri="{28A0092B-C50C-407E-A947-70E740481C1C}">
                <a14:useLocalDpi xmlns:a14="http://schemas.microsoft.com/office/drawing/2010/main" val="0"/>
              </a:ext>
            </a:extLst>
          </a:blip>
          <a:srcRect b="14049"/>
          <a:stretch/>
        </p:blipFill>
        <p:spPr bwMode="auto">
          <a:xfrm>
            <a:off x="6400800" y="1863757"/>
            <a:ext cx="5215125" cy="30766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19C1-3D35-315A-F3FE-41518932A3B7}"/>
              </a:ext>
            </a:extLst>
          </p:cNvPr>
          <p:cNvSpPr>
            <a:spLocks noGrp="1"/>
          </p:cNvSpPr>
          <p:nvPr>
            <p:ph type="title"/>
          </p:nvPr>
        </p:nvSpPr>
        <p:spPr/>
        <p:txBody>
          <a:bodyPr/>
          <a:lstStyle/>
          <a:p>
            <a:r>
              <a:rPr lang="en-US" dirty="0"/>
              <a:t>PTC Heaters </a:t>
            </a:r>
          </a:p>
        </p:txBody>
      </p:sp>
      <p:sp>
        <p:nvSpPr>
          <p:cNvPr id="6" name="Content Placeholder 5">
            <a:extLst>
              <a:ext uri="{FF2B5EF4-FFF2-40B4-BE49-F238E27FC236}">
                <a16:creationId xmlns:a16="http://schemas.microsoft.com/office/drawing/2014/main" id="{A71EED9C-004A-13A5-955B-3AAF51CE5420}"/>
              </a:ext>
            </a:extLst>
          </p:cNvPr>
          <p:cNvSpPr>
            <a:spLocks noGrp="1"/>
          </p:cNvSpPr>
          <p:nvPr>
            <p:ph sz="quarter" idx="11"/>
          </p:nvPr>
        </p:nvSpPr>
        <p:spPr>
          <a:xfrm>
            <a:off x="609600" y="1676400"/>
            <a:ext cx="10515600" cy="898354"/>
          </a:xfrm>
        </p:spPr>
        <p:txBody>
          <a:bodyPr/>
          <a:lstStyle/>
          <a:p>
            <a:pPr marL="358775" indent="-358775" algn="l">
              <a:spcBef>
                <a:spcPts val="624"/>
              </a:spcBef>
              <a:spcAft>
                <a:spcPts val="600"/>
              </a:spcAft>
              <a:buClr>
                <a:schemeClr val="tx1"/>
              </a:buClr>
              <a:buSzPct val="100000"/>
            </a:pPr>
            <a:r>
              <a:rPr lang="en-US" sz="2600" dirty="0">
                <a:solidFill>
                  <a:schemeClr val="tx1"/>
                </a:solidFill>
                <a:latin typeface="Work Sans" pitchFamily="2" charset="0"/>
              </a:rPr>
              <a:t>Can be checked by measuring the resistance of the heating element.</a:t>
            </a:r>
          </a:p>
        </p:txBody>
      </p:sp>
      <p:pic>
        <p:nvPicPr>
          <p:cNvPr id="9" name="Picture Placeholder 8" descr="The values in the resistance testing points at the terminals on a P T C heater. The value for the first terminal labeled Connector D 44 is 321. All the 3 digits are labeled B. The value for the second terminal labeled Connector D 45 is 21. Both the digits are labeled E. The information given under the heading Connections for testing is as follows: D44-2 (B) to D 45-1 (E), D44-2 (B) to D45-2 (E), and D44-3 (B) to D45-2 (E). The value is as given: Value for all: 0.5 to 2.5 ohms.">
            <a:extLst>
              <a:ext uri="{FF2B5EF4-FFF2-40B4-BE49-F238E27FC236}">
                <a16:creationId xmlns:a16="http://schemas.microsoft.com/office/drawing/2014/main" id="{7BCEA625-4F19-E6D6-0B00-0CE528F80FD3}"/>
              </a:ext>
            </a:extLst>
          </p:cNvPr>
          <p:cNvPicPr>
            <a:picLocks noGrp="1" noChangeAspect="1"/>
          </p:cNvPicPr>
          <p:nvPr>
            <p:ph type="pic" sz="quarter" idx="12"/>
          </p:nvPr>
        </p:nvPicPr>
        <p:blipFill>
          <a:blip r:embed="rId2"/>
          <a:srcRect b="10384"/>
          <a:stretch/>
        </p:blipFill>
        <p:spPr>
          <a:xfrm>
            <a:off x="4419600" y="2574754"/>
            <a:ext cx="4308807" cy="3288150"/>
          </a:xfrm>
          <a:prstGeom prst="rect">
            <a:avLst/>
          </a:prstGeom>
        </p:spPr>
      </p:pic>
    </p:spTree>
    <p:extLst>
      <p:ext uri="{BB962C8B-B14F-4D97-AF65-F5344CB8AC3E}">
        <p14:creationId xmlns:p14="http://schemas.microsoft.com/office/powerpoint/2010/main" val="1081450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Heater Control Valve Service">
    <p:spTree>
      <p:nvGrpSpPr>
        <p:cNvPr id="1" name=""/>
        <p:cNvGrpSpPr/>
        <p:nvPr/>
      </p:nvGrpSpPr>
      <p:grpSpPr>
        <a:xfrm>
          <a:off x="0" y="0"/>
          <a:ext cx="0" cy="0"/>
          <a:chOff x="0" y="0"/>
          <a:chExt cx="0" cy="0"/>
        </a:xfrm>
      </p:grpSpPr>
      <p:sp>
        <p:nvSpPr>
          <p:cNvPr id="2" name="Title 6"/>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 Control Valve Service</a:t>
            </a:r>
          </a:p>
        </p:txBody>
      </p:sp>
      <p:sp>
        <p:nvSpPr>
          <p:cNvPr id="3" name="Content Placeholder 7"/>
          <p:cNvSpPr txBox="1">
            <a:spLocks noGrp="1"/>
          </p:cNvSpPr>
          <p:nvPr>
            <p:ph sz="quarter" idx="11"/>
          </p:nvPr>
        </p:nvSpPr>
        <p:spPr>
          <a:xfrm>
            <a:off x="685800" y="1781714"/>
            <a:ext cx="5410200" cy="38862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Problem may be with the valve or the valve control.</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Defective valves should be replaced.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Cable-operated valves may require adjustment.</a:t>
            </a:r>
          </a:p>
        </p:txBody>
      </p:sp>
      <p:pic>
        <p:nvPicPr>
          <p:cNvPr id="8" name="Picture Placeholder 7" descr="Close up of a defective heater control valve.">
            <a:extLst>
              <a:ext uri="{FF2B5EF4-FFF2-40B4-BE49-F238E27FC236}">
                <a16:creationId xmlns:a16="http://schemas.microsoft.com/office/drawing/2014/main" id="{DAE86EAC-22A2-5AA3-4217-9CD0B0D73E3F}"/>
              </a:ext>
            </a:extLst>
          </p:cNvPr>
          <p:cNvPicPr>
            <a:picLocks noGrp="1" noChangeAspect="1"/>
          </p:cNvPicPr>
          <p:nvPr>
            <p:ph type="pic" sz="quarter" idx="10"/>
          </p:nvPr>
        </p:nvPicPr>
        <p:blipFill>
          <a:blip r:embed="rId3"/>
          <a:srcRect b="7442"/>
          <a:stretch/>
        </p:blipFill>
        <p:spPr>
          <a:xfrm>
            <a:off x="6629400" y="1752600"/>
            <a:ext cx="4513142" cy="3429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C47F4-96A4-ABA6-2ADC-7D3991F99448}"/>
              </a:ext>
            </a:extLst>
          </p:cNvPr>
          <p:cNvSpPr>
            <a:spLocks noGrp="1"/>
          </p:cNvSpPr>
          <p:nvPr>
            <p:ph type="title"/>
          </p:nvPr>
        </p:nvSpPr>
        <p:spPr/>
        <p:txBody>
          <a:bodyPr/>
          <a:lstStyle/>
          <a:p>
            <a:r>
              <a:rPr lang="en-US" dirty="0"/>
              <a:t>Trouble Codes</a:t>
            </a:r>
          </a:p>
        </p:txBody>
      </p:sp>
      <p:sp>
        <p:nvSpPr>
          <p:cNvPr id="3" name="Content Placeholder 2">
            <a:extLst>
              <a:ext uri="{FF2B5EF4-FFF2-40B4-BE49-F238E27FC236}">
                <a16:creationId xmlns:a16="http://schemas.microsoft.com/office/drawing/2014/main" id="{69399E1E-95B9-9AD1-A388-4CBB935A112A}"/>
              </a:ext>
            </a:extLst>
          </p:cNvPr>
          <p:cNvSpPr>
            <a:spLocks noGrp="1"/>
          </p:cNvSpPr>
          <p:nvPr>
            <p:ph sz="quarter" idx="11"/>
          </p:nvPr>
        </p:nvSpPr>
        <p:spPr>
          <a:xfrm>
            <a:off x="609600" y="1637785"/>
            <a:ext cx="5486400" cy="3582430"/>
          </a:xfrm>
        </p:spPr>
        <p:txBody>
          <a:bodyPr/>
          <a:lstStyle/>
          <a:p>
            <a:pPr marL="358775" indent="-358775" algn="l">
              <a:spcBef>
                <a:spcPts val="624"/>
              </a:spcBef>
              <a:spcAft>
                <a:spcPts val="600"/>
              </a:spcAft>
            </a:pPr>
            <a:r>
              <a:rPr lang="en-US" sz="2600" dirty="0">
                <a:solidFill>
                  <a:schemeClr val="tx1"/>
                </a:solidFill>
                <a:latin typeface="Work Sans" pitchFamily="2" charset="0"/>
              </a:rPr>
              <a:t>Late-model vehicles can set a DTC if the thermostat does not allow the engine to reach normal operating temperature.</a:t>
            </a:r>
          </a:p>
        </p:txBody>
      </p:sp>
      <p:pic>
        <p:nvPicPr>
          <p:cNvPr id="7" name="Picture Placeholder 6" descr="A screenshot of an example of a D T C for insufficient coolant temperature. The header reads, D T C Info. The text reads as follows: P 0128 Engine coolant temperature (E C T) Below thermostat regulating temperature; Last test: Not ran; This ignition: Not ran; Since cleared: Past and fail history. An info button is at the bottom.">
            <a:extLst>
              <a:ext uri="{FF2B5EF4-FFF2-40B4-BE49-F238E27FC236}">
                <a16:creationId xmlns:a16="http://schemas.microsoft.com/office/drawing/2014/main" id="{38D9B968-9C03-E0DB-7971-C149A635CDA2}"/>
              </a:ext>
            </a:extLst>
          </p:cNvPr>
          <p:cNvPicPr>
            <a:picLocks noGrp="1" noChangeAspect="1"/>
          </p:cNvPicPr>
          <p:nvPr>
            <p:ph type="pic" sz="quarter" idx="10"/>
          </p:nvPr>
        </p:nvPicPr>
        <p:blipFill>
          <a:blip r:embed="rId2"/>
          <a:srcRect b="12339"/>
          <a:stretch/>
        </p:blipFill>
        <p:spPr>
          <a:xfrm>
            <a:off x="6477000" y="1704976"/>
            <a:ext cx="4838700" cy="3515240"/>
          </a:xfrm>
          <a:prstGeom prst="rect">
            <a:avLst/>
          </a:prstGeom>
        </p:spPr>
      </p:pic>
    </p:spTree>
    <p:extLst>
      <p:ext uri="{BB962C8B-B14F-4D97-AF65-F5344CB8AC3E}">
        <p14:creationId xmlns:p14="http://schemas.microsoft.com/office/powerpoint/2010/main" val="3652283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Thermostat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Thermostat Service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defective thermostat can cause a lack of heat.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engine may not reach operating temperature.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stuck closed thermostat can cause the engine to overheat.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engines use electrically assisted thermostats.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Blower Motor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Blower Motor Service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lgn="l">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Use a DMM to make sure there is voltage on both sides of the fuse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Check power and ground circuits</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If it only works in certain speeds, check blower resistor and control circuits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C8B072-A808-BE69-C278-ECD0BF22A3BF}"/>
              </a:ext>
            </a:extLst>
          </p:cNvPr>
          <p:cNvSpPr>
            <a:spLocks noGrp="1"/>
          </p:cNvSpPr>
          <p:nvPr>
            <p:ph type="title"/>
          </p:nvPr>
        </p:nvSpPr>
        <p:spPr/>
        <p:txBody>
          <a:bodyPr/>
          <a:lstStyle/>
          <a:p>
            <a:r>
              <a:rPr lang="en-IN"/>
              <a:t>Table 54-1 Blower Motor Diagnosis</a:t>
            </a:r>
          </a:p>
        </p:txBody>
      </p:sp>
      <p:sp>
        <p:nvSpPr>
          <p:cNvPr id="11" name="Content Placeholder 4">
            <a:extLst>
              <a:ext uri="{FF2B5EF4-FFF2-40B4-BE49-F238E27FC236}">
                <a16:creationId xmlns:a16="http://schemas.microsoft.com/office/drawing/2014/main" id="{EE22C856-F033-3883-2BF4-43C7214038D5}"/>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graphicFrame>
        <p:nvGraphicFramePr>
          <p:cNvPr id="12" name="Table Placeholder 10">
            <a:extLst>
              <a:ext uri="{FF2B5EF4-FFF2-40B4-BE49-F238E27FC236}">
                <a16:creationId xmlns:a16="http://schemas.microsoft.com/office/drawing/2014/main" id="{9117F1A8-B693-C7E0-22B2-9B3F7EB899B4}"/>
              </a:ext>
            </a:extLst>
          </p:cNvPr>
          <p:cNvGraphicFramePr>
            <a:graphicFrameLocks noGrp="1"/>
          </p:cNvGraphicFramePr>
          <p:nvPr>
            <p:ph type="tbl" sz="quarter" idx="13"/>
            <p:extLst>
              <p:ext uri="{D42A27DB-BD31-4B8C-83A1-F6EECF244321}">
                <p14:modId xmlns:p14="http://schemas.microsoft.com/office/powerpoint/2010/main" val="981022728"/>
              </p:ext>
            </p:extLst>
          </p:nvPr>
        </p:nvGraphicFramePr>
        <p:xfrm>
          <a:off x="1964373" y="1691640"/>
          <a:ext cx="8263255" cy="3474720"/>
        </p:xfrm>
        <a:graphic>
          <a:graphicData uri="http://schemas.openxmlformats.org/drawingml/2006/table">
            <a:tbl>
              <a:tblPr firstRow="1" bandRow="1">
                <a:tableStyleId>{69012ECD-51FC-41F1-AA8D-1B2483CD663E}</a:tableStyleId>
              </a:tblPr>
              <a:tblGrid>
                <a:gridCol w="3615055">
                  <a:extLst>
                    <a:ext uri="{9D8B030D-6E8A-4147-A177-3AD203B41FA5}">
                      <a16:colId xmlns:a16="http://schemas.microsoft.com/office/drawing/2014/main" val="691617598"/>
                    </a:ext>
                  </a:extLst>
                </a:gridCol>
                <a:gridCol w="4648200">
                  <a:extLst>
                    <a:ext uri="{9D8B030D-6E8A-4147-A177-3AD203B41FA5}">
                      <a16:colId xmlns:a16="http://schemas.microsoft.com/office/drawing/2014/main" val="872973798"/>
                    </a:ext>
                  </a:extLst>
                </a:gridCol>
              </a:tblGrid>
              <a:tr h="121809">
                <a:tc>
                  <a:txBody>
                    <a:bodyPr/>
                    <a:lstStyle/>
                    <a:p>
                      <a:r>
                        <a:rPr lang="en-IN" sz="1800">
                          <a:latin typeface="Work Sans" pitchFamily="2" charset="0"/>
                        </a:rPr>
                        <a:t>Problem</a:t>
                      </a:r>
                    </a:p>
                  </a:txBody>
                  <a:tcPr/>
                </a:tc>
                <a:tc>
                  <a:txBody>
                    <a:bodyPr/>
                    <a:lstStyle/>
                    <a:p>
                      <a:r>
                        <a:rPr lang="en-IN" sz="1800">
                          <a:latin typeface="Work Sans" pitchFamily="2" charset="0"/>
                        </a:rPr>
                        <a:t>Possible Cause</a:t>
                      </a:r>
                    </a:p>
                  </a:txBody>
                  <a:tcPr/>
                </a:tc>
                <a:extLst>
                  <a:ext uri="{0D108BD9-81ED-4DB2-BD59-A6C34878D82A}">
                    <a16:rowId xmlns:a16="http://schemas.microsoft.com/office/drawing/2014/main" val="2301313578"/>
                  </a:ext>
                </a:extLst>
              </a:tr>
              <a:tr h="300350">
                <a:tc>
                  <a:txBody>
                    <a:bodyPr/>
                    <a:lstStyle/>
                    <a:p>
                      <a:r>
                        <a:rPr lang="en-IN" sz="1800">
                          <a:latin typeface="Work Sans" pitchFamily="2" charset="0"/>
                        </a:rPr>
                        <a:t>Blower inoperative all speeds</a:t>
                      </a:r>
                    </a:p>
                  </a:txBody>
                  <a:tcPr/>
                </a:tc>
                <a:tc>
                  <a:txBody>
                    <a:bodyPr/>
                    <a:lstStyle/>
                    <a:p>
                      <a:r>
                        <a:rPr lang="en-IN" sz="1800">
                          <a:latin typeface="Work Sans" pitchFamily="2" charset="0"/>
                        </a:rPr>
                        <a:t>Open fuse, defective relay, faulty blower motor, open ground circuit, faulty switch</a:t>
                      </a:r>
                    </a:p>
                  </a:txBody>
                  <a:tcPr/>
                </a:tc>
                <a:extLst>
                  <a:ext uri="{0D108BD9-81ED-4DB2-BD59-A6C34878D82A}">
                    <a16:rowId xmlns:a16="http://schemas.microsoft.com/office/drawing/2014/main" val="1785809984"/>
                  </a:ext>
                </a:extLst>
              </a:tr>
              <a:tr h="210245">
                <a:tc>
                  <a:txBody>
                    <a:bodyPr/>
                    <a:lstStyle/>
                    <a:p>
                      <a:r>
                        <a:rPr lang="en-IN" sz="1800">
                          <a:latin typeface="Work Sans" pitchFamily="2" charset="0"/>
                        </a:rPr>
                        <a:t>Works on high speed only</a:t>
                      </a:r>
                    </a:p>
                  </a:txBody>
                  <a:tcPr/>
                </a:tc>
                <a:tc>
                  <a:txBody>
                    <a:bodyPr/>
                    <a:lstStyle/>
                    <a:p>
                      <a:r>
                        <a:rPr lang="en-IN" sz="1800">
                          <a:latin typeface="Work Sans" pitchFamily="2" charset="0"/>
                        </a:rPr>
                        <a:t>Open fuse, defective relay, open blower resistor</a:t>
                      </a:r>
                    </a:p>
                  </a:txBody>
                  <a:tcPr/>
                </a:tc>
                <a:extLst>
                  <a:ext uri="{0D108BD9-81ED-4DB2-BD59-A6C34878D82A}">
                    <a16:rowId xmlns:a16="http://schemas.microsoft.com/office/drawing/2014/main" val="3848977708"/>
                  </a:ext>
                </a:extLst>
              </a:tr>
              <a:tr h="300350">
                <a:tc>
                  <a:txBody>
                    <a:bodyPr/>
                    <a:lstStyle/>
                    <a:p>
                      <a:r>
                        <a:rPr lang="en-IN" sz="1800">
                          <a:latin typeface="Work Sans" pitchFamily="2" charset="0"/>
                        </a:rPr>
                        <a:t>High speed inoperative</a:t>
                      </a:r>
                    </a:p>
                  </a:txBody>
                  <a:tcPr/>
                </a:tc>
                <a:tc>
                  <a:txBody>
                    <a:bodyPr/>
                    <a:lstStyle/>
                    <a:p>
                      <a:r>
                        <a:rPr lang="en-IN" sz="1800">
                          <a:latin typeface="Work Sans" pitchFamily="2" charset="0"/>
                        </a:rPr>
                        <a:t>Open high-speed fuse, defective high-speed relay, faulty blower switvh, open in high-speed circuit</a:t>
                      </a:r>
                    </a:p>
                  </a:txBody>
                  <a:tcPr/>
                </a:tc>
                <a:extLst>
                  <a:ext uri="{0D108BD9-81ED-4DB2-BD59-A6C34878D82A}">
                    <a16:rowId xmlns:a16="http://schemas.microsoft.com/office/drawing/2014/main" val="1184863653"/>
                  </a:ext>
                </a:extLst>
              </a:tr>
              <a:tr h="210245">
                <a:tc>
                  <a:txBody>
                    <a:bodyPr/>
                    <a:lstStyle/>
                    <a:p>
                      <a:r>
                        <a:rPr lang="en-IN" sz="1800">
                          <a:latin typeface="Work Sans" pitchFamily="2" charset="0"/>
                        </a:rPr>
                        <a:t>Inoperative on various speeds</a:t>
                      </a:r>
                    </a:p>
                  </a:txBody>
                  <a:tcPr/>
                </a:tc>
                <a:tc>
                  <a:txBody>
                    <a:bodyPr/>
                    <a:lstStyle/>
                    <a:p>
                      <a:r>
                        <a:rPr lang="en-IN" sz="1800">
                          <a:latin typeface="Work Sans" pitchFamily="2" charset="0"/>
                        </a:rPr>
                        <a:t>Open in blower resistor, faulty lower switch</a:t>
                      </a:r>
                    </a:p>
                  </a:txBody>
                  <a:tcPr/>
                </a:tc>
                <a:extLst>
                  <a:ext uri="{0D108BD9-81ED-4DB2-BD59-A6C34878D82A}">
                    <a16:rowId xmlns:a16="http://schemas.microsoft.com/office/drawing/2014/main" val="133530611"/>
                  </a:ext>
                </a:extLst>
              </a:tr>
            </a:tbl>
          </a:graphicData>
        </a:graphic>
      </p:graphicFrame>
    </p:spTree>
    <p:extLst>
      <p:ext uri="{BB962C8B-B14F-4D97-AF65-F5344CB8AC3E}">
        <p14:creationId xmlns:p14="http://schemas.microsoft.com/office/powerpoint/2010/main" val="684126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Heater and Defroster Duct Servic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Heater and Defroster Duct Service</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the blower runs but no air comes out, inspect airflow control or blend door.</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current HVAC systems use electric servomotors to move the various doors.</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Motor uses a potentiometer to relay actual door position.</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newer systems use phase detecting servo motors.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800"/>
              </a:spcAft>
              <a:buNone/>
            </a:pPr>
            <a:r>
              <a:rPr lang="en-US" sz="2600" dirty="0">
                <a:solidFill>
                  <a:schemeClr val="tx1"/>
                </a:solidFill>
                <a:latin typeface="Work Sans" pitchFamily="2" charset="0"/>
              </a:rPr>
              <a:t>Technician A says a stuck closed thermostat can cause the engine to overheat. </a:t>
            </a:r>
          </a:p>
          <a:p>
            <a:pPr marL="0" indent="0">
              <a:spcBef>
                <a:spcPts val="624"/>
              </a:spcBef>
              <a:spcAft>
                <a:spcPts val="1800"/>
              </a:spcAft>
              <a:buNone/>
            </a:pPr>
            <a:r>
              <a:rPr lang="en-US" sz="2600" dirty="0">
                <a:solidFill>
                  <a:schemeClr val="tx1"/>
                </a:solidFill>
                <a:latin typeface="Work Sans" pitchFamily="2" charset="0"/>
              </a:rPr>
              <a:t>Technician B says a stuck open thermostat can cause the engine to overheat. </a:t>
            </a:r>
          </a:p>
          <a:p>
            <a:pPr marL="0" indent="0">
              <a:spcBef>
                <a:spcPts val="624"/>
              </a:spcBef>
              <a:spcAft>
                <a:spcPts val="1800"/>
              </a:spcAft>
              <a:buNone/>
            </a:pPr>
            <a:r>
              <a:rPr lang="en-US" sz="2600" dirty="0">
                <a:solidFill>
                  <a:schemeClr val="tx1"/>
                </a:solidFill>
                <a:latin typeface="Work Sans" pitchFamily="2" charset="0"/>
              </a:rPr>
              <a:t>Who is correct?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800"/>
              </a:spcAft>
              <a:buNone/>
            </a:pPr>
            <a:r>
              <a:rPr lang="en-US" sz="2600" dirty="0">
                <a:solidFill>
                  <a:schemeClr val="tx1"/>
                </a:solidFill>
                <a:latin typeface="Work Sans" pitchFamily="2" charset="0"/>
              </a:rPr>
              <a:t>Technician A says a stuck closed thermostat can cause the engine to overheat.</a:t>
            </a:r>
          </a:p>
          <a:p>
            <a:pPr marL="0" indent="0">
              <a:spcBef>
                <a:spcPts val="624"/>
              </a:spcBef>
              <a:spcAft>
                <a:spcPts val="1800"/>
              </a:spcAft>
              <a:buNone/>
            </a:pPr>
            <a:r>
              <a:rPr lang="en-US" sz="2600" dirty="0">
                <a:solidFill>
                  <a:schemeClr val="tx1"/>
                </a:solidFill>
                <a:latin typeface="Work Sans" pitchFamily="2" charset="0"/>
              </a:rPr>
              <a:t>Technician B says a stuck open thermostat can cause the engine to overheat.</a:t>
            </a:r>
          </a:p>
          <a:p>
            <a:pPr marL="0" indent="0">
              <a:spcBef>
                <a:spcPts val="624"/>
              </a:spcBef>
              <a:spcAft>
                <a:spcPts val="1800"/>
              </a:spcAft>
              <a:buNone/>
            </a:pPr>
            <a:r>
              <a:rPr lang="en-US" sz="2600" dirty="0">
                <a:solidFill>
                  <a:schemeClr val="tx1"/>
                </a:solidFill>
                <a:latin typeface="Work Sans" pitchFamily="2" charset="0"/>
              </a:rPr>
              <a:t>Who is correct?</a:t>
            </a:r>
          </a:p>
          <a:p>
            <a:pPr marL="0" indent="0">
              <a:spcBef>
                <a:spcPts val="624"/>
              </a:spcBef>
              <a:spcAft>
                <a:spcPts val="1800"/>
              </a:spcAft>
              <a:buNone/>
            </a:pPr>
            <a:r>
              <a:rPr lang="en-US" sz="2600" dirty="0">
                <a:solidFill>
                  <a:schemeClr val="tx1"/>
                </a:solidFill>
                <a:latin typeface="Work Sans" pitchFamily="2" charset="0"/>
              </a:rPr>
              <a:t>Answer: A Only</a:t>
            </a:r>
          </a:p>
        </p:txBody>
      </p:sp>
    </p:spTree>
    <p:extLst>
      <p:ext uri="{BB962C8B-B14F-4D97-AF65-F5344CB8AC3E}">
        <p14:creationId xmlns:p14="http://schemas.microsoft.com/office/powerpoint/2010/main" val="2475073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Theory of Air-Conditioning">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pPr>
            <a:r>
              <a:rPr lang="en-US" dirty="0">
                <a:latin typeface="Work Sans" pitchFamily="2" charset="0"/>
              </a:rPr>
              <a:t>Heat Flow</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substances contain heat.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Heat always flows from a warmer object to a colder one.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greater the temperature difference, the greater the rate of heat flow.</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Theory of Air-Conditioning (Cont.)">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Heat Absorption</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lvl="1"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Objects can be in three forms</a:t>
            </a:r>
            <a:r>
              <a:rPr lang="en-US" sz="2800" dirty="0">
                <a:solidFill>
                  <a:schemeClr val="tx1"/>
                </a:solidFill>
                <a:latin typeface="Work Sans" pitchFamily="2" charset="0"/>
              </a:rPr>
              <a:t>—</a:t>
            </a:r>
            <a:r>
              <a:rPr lang="en-US" sz="2600" dirty="0">
                <a:solidFill>
                  <a:schemeClr val="tx1"/>
                </a:solidFill>
                <a:latin typeface="Work Sans" pitchFamily="2" charset="0"/>
              </a:rPr>
              <a:t>solid, liquid, or gas.</a:t>
            </a:r>
          </a:p>
          <a:p>
            <a:pPr marL="358775" lvl="1"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When objects change state, large amounts of heat can be transferred.</a:t>
            </a:r>
          </a:p>
          <a:p>
            <a:pPr marL="358775" lvl="1"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amount of heat necessary to change the state of a substance is called </a:t>
            </a:r>
            <a:r>
              <a:rPr lang="en-US" sz="2600" b="1" dirty="0">
                <a:solidFill>
                  <a:schemeClr val="tx1"/>
                </a:solidFill>
                <a:latin typeface="Work Sans" pitchFamily="2" charset="0"/>
              </a:rPr>
              <a:t>latent heat</a:t>
            </a:r>
            <a:r>
              <a:rPr lang="en-US" sz="2600" dirty="0">
                <a:solidFill>
                  <a:schemeClr val="tx1"/>
                </a:solidFill>
                <a:latin typeface="Work Sans" pitchFamily="2"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12F707-6D14-16A9-E5DA-D3B16E535522}"/>
              </a:ext>
            </a:extLst>
          </p:cNvPr>
          <p:cNvSpPr>
            <a:spLocks noGrp="1"/>
          </p:cNvSpPr>
          <p:nvPr>
            <p:ph type="title"/>
          </p:nvPr>
        </p:nvSpPr>
        <p:spPr/>
        <p:txBody>
          <a:bodyPr/>
          <a:lstStyle/>
          <a:p>
            <a:r>
              <a:rPr lang="en-US" dirty="0"/>
              <a:t>Latent Heat</a:t>
            </a:r>
          </a:p>
        </p:txBody>
      </p:sp>
      <p:pic>
        <p:nvPicPr>
          <p:cNvPr id="9" name="Picture Placeholder 8" descr="An illustration of a latent heat and change of state. The parts are labeled as follows: Heat, water, sensing element, 212 degrees Fahrenheit (100 degrees Celsius), water vapor, and a thermometer inserted with a value marked 212 degrees Fahrenheit (100 degrees Celsius).">
            <a:extLst>
              <a:ext uri="{FF2B5EF4-FFF2-40B4-BE49-F238E27FC236}">
                <a16:creationId xmlns:a16="http://schemas.microsoft.com/office/drawing/2014/main" id="{AE5F50F6-9024-2F08-4DD3-F2E1D5EDB9B5}"/>
              </a:ext>
            </a:extLst>
          </p:cNvPr>
          <p:cNvPicPr>
            <a:picLocks noGrp="1" noChangeAspect="1"/>
          </p:cNvPicPr>
          <p:nvPr>
            <p:ph type="pic" sz="quarter" idx="10"/>
          </p:nvPr>
        </p:nvPicPr>
        <p:blipFill>
          <a:blip r:embed="rId3"/>
          <a:srcRect b="10283"/>
          <a:stretch/>
        </p:blipFill>
        <p:spPr>
          <a:xfrm>
            <a:off x="3185874" y="1875520"/>
            <a:ext cx="5820252" cy="402231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Theory of Air-Conditioning (Cont.)">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Pressure and Boiling Points (1 of 2)</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Changing pressure on a substance changes its boiling point.</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The greater the pressure, the higher the boiling point.</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If pressure is raised on a vapor, the vapor condenses at a higher temperature.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D560E-0CC8-5737-D263-7C7BB812204A}"/>
              </a:ext>
            </a:extLst>
          </p:cNvPr>
          <p:cNvSpPr>
            <a:spLocks noGrp="1"/>
          </p:cNvSpPr>
          <p:nvPr>
            <p:ph type="title"/>
          </p:nvPr>
        </p:nvSpPr>
        <p:spPr/>
        <p:txBody>
          <a:bodyPr/>
          <a:lstStyle/>
          <a:p>
            <a:r>
              <a:rPr lang="en-US" dirty="0"/>
              <a:t>Pressure and Boiling Points (2 of 2) </a:t>
            </a:r>
          </a:p>
        </p:txBody>
      </p:sp>
      <p:pic>
        <p:nvPicPr>
          <p:cNvPr id="9" name="Picture Placeholder 8" descr="Two parts of an experimental setup depict Water and a refrigerant, R-134 a, illustrating that the increasing pressure raises the boiling points of water and refrigerant. Water: Two vessels, both half-filled with water, each have a thermometer inserted into them. The temperature reading on the left vessel depicts boiling at 212 degrees Fahrenheit at 14.7 p s i. The right vessel, which has a pressure gauge reading of 10 p s i fitted at the top, depicts boiling at 240 degrees Fahrenheit. R-134 a: Two vessels, both half-filled with refrigerant R-134 a, each have a thermometer inserted into them. The left vessel depicts a boiling point of negative 14.9 degrees Fahrenheit, with the temperature reading at the bottom of the thermometer. The right vessel has a pressure gauge reading of 10 p s i at the top and depicts a boiling point of 6.67 degrees Fahrenheit, with the temperature reading at the bottom of the thermometer.">
            <a:extLst>
              <a:ext uri="{FF2B5EF4-FFF2-40B4-BE49-F238E27FC236}">
                <a16:creationId xmlns:a16="http://schemas.microsoft.com/office/drawing/2014/main" id="{A5739C6C-790A-002B-2DBB-74B49E1A47D7}"/>
              </a:ext>
            </a:extLst>
          </p:cNvPr>
          <p:cNvPicPr>
            <a:picLocks noGrp="1" noChangeAspect="1"/>
          </p:cNvPicPr>
          <p:nvPr>
            <p:ph type="pic" sz="quarter" idx="12"/>
          </p:nvPr>
        </p:nvPicPr>
        <p:blipFill>
          <a:blip r:embed="rId2"/>
          <a:srcRect b="3720"/>
          <a:stretch/>
        </p:blipFill>
        <p:spPr>
          <a:xfrm>
            <a:off x="4658544" y="1694450"/>
            <a:ext cx="3037656" cy="4167632"/>
          </a:xfrm>
          <a:prstGeom prst="rect">
            <a:avLst/>
          </a:prstGeom>
        </p:spPr>
      </p:pic>
    </p:spTree>
    <p:extLst>
      <p:ext uri="{BB962C8B-B14F-4D97-AF65-F5344CB8AC3E}">
        <p14:creationId xmlns:p14="http://schemas.microsoft.com/office/powerpoint/2010/main" val="1760871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Relative Humidity">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Relative Humidity</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amount of moisture the air can hold is directly related to the air temperature.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warmer the air, the more moisture it can hold.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Lowering the temperature reduces humidity.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Refrigera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lgn="l">
              <a:spcBef>
                <a:spcPts val="624"/>
              </a:spcBef>
              <a:spcAft>
                <a:spcPts val="600"/>
              </a:spcAft>
              <a:buNone/>
            </a:pPr>
            <a:r>
              <a:rPr lang="en-US" sz="2600" b="1" dirty="0">
                <a:solidFill>
                  <a:schemeClr val="tx1"/>
                </a:solidFill>
                <a:latin typeface="Work Sans" pitchFamily="2" charset="0"/>
              </a:rPr>
              <a:t>54.05 Describe how refrigerants are used in the air-conditioning system.</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Designed to move heat from one point to another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R-12 was used until 1995.</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R-12 is dichlorodifluoromethane.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 longer used due to chlorofluorocarbon’s (CFC) effects on the ozone layer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Was replaced with R-134a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R-134a">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R-134a</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A hydrofluorocarbon (HFC)</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Less damaging to the ozone layer</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Not interchangeable with R-12</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R-134a operates at higher pressures.</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European and Japanese manufacturers began to phase out R-134a in 2013.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HFO-1234yf">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HFO-1234yf</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Replacement for R-134a</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Operating pressures and temperatures are similar to R-134a.</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Has a global warming potential (GWP) of 4 compared to 1430 for R-134a</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manufacturers held implementation due to flammability concerns.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Will require all new gauges and service tools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Alternative Refrigera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Alternative Refrigerants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EPA publishes a list of approved alternatives.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Flammable substances are illegal.</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a:t>
            </a:r>
            <a:r>
              <a:rPr lang="en-US" sz="2600" baseline="-25000" dirty="0">
                <a:solidFill>
                  <a:schemeClr val="tx1"/>
                </a:solidFill>
                <a:latin typeface="Work Sans" pitchFamily="2" charset="0"/>
              </a:rPr>
              <a:t>2</a:t>
            </a:r>
            <a:r>
              <a:rPr lang="en-US" sz="2600" dirty="0">
                <a:solidFill>
                  <a:schemeClr val="tx1"/>
                </a:solidFill>
                <a:latin typeface="Work Sans" pitchFamily="2" charset="0"/>
              </a:rPr>
              <a:t> as a refrigerant is labeled R744.</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Has a very low global warming potential (GWP)</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Can be up to 25 percent more efficient</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Operates at high pressures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F3611-CA5D-C90A-FDB8-A0B86BA5D6F6}"/>
              </a:ext>
            </a:extLst>
          </p:cNvPr>
          <p:cNvSpPr>
            <a:spLocks noGrp="1"/>
          </p:cNvSpPr>
          <p:nvPr>
            <p:ph type="title"/>
          </p:nvPr>
        </p:nvSpPr>
        <p:spPr/>
        <p:txBody>
          <a:bodyPr/>
          <a:lstStyle/>
          <a:p>
            <a:r>
              <a:rPr lang="en-US" dirty="0"/>
              <a:t>CO</a:t>
            </a:r>
            <a:r>
              <a:rPr lang="en-US" baseline="-25000" dirty="0"/>
              <a:t>2</a:t>
            </a:r>
            <a:r>
              <a:rPr lang="en-US" dirty="0"/>
              <a:t> Systems</a:t>
            </a:r>
          </a:p>
        </p:txBody>
      </p:sp>
      <p:sp>
        <p:nvSpPr>
          <p:cNvPr id="3" name="Text Placeholder 2">
            <a:extLst>
              <a:ext uri="{FF2B5EF4-FFF2-40B4-BE49-F238E27FC236}">
                <a16:creationId xmlns:a16="http://schemas.microsoft.com/office/drawing/2014/main" id="{679695FA-7724-1F08-19EC-771C99F8A98B}"/>
              </a:ext>
            </a:extLst>
          </p:cNvPr>
          <p:cNvSpPr>
            <a:spLocks noGrp="1"/>
          </p:cNvSpPr>
          <p:nvPr>
            <p:ph type="body" idx="1"/>
          </p:nvPr>
        </p:nvSpPr>
        <p:spPr/>
        <p:txBody>
          <a:bodyPr/>
          <a:lstStyle/>
          <a:p>
            <a:pPr algn="l">
              <a:spcBef>
                <a:spcPts val="624"/>
              </a:spcBef>
              <a:spcAft>
                <a:spcPts val="600"/>
              </a:spcAft>
              <a:buClr>
                <a:schemeClr val="tx1"/>
              </a:buClr>
            </a:pPr>
            <a:r>
              <a:rPr lang="en-US" sz="2600" dirty="0">
                <a:solidFill>
                  <a:schemeClr val="tx1"/>
                </a:solidFill>
                <a:latin typeface="Work Sans" pitchFamily="2" charset="0"/>
              </a:rPr>
              <a:t>It is claimed that CO</a:t>
            </a:r>
            <a:r>
              <a:rPr lang="en-US" sz="2600" baseline="-25000" dirty="0">
                <a:solidFill>
                  <a:schemeClr val="tx1"/>
                </a:solidFill>
                <a:latin typeface="Work Sans" pitchFamily="2" charset="0"/>
              </a:rPr>
              <a:t>2</a:t>
            </a:r>
            <a:r>
              <a:rPr lang="en-US" sz="2600" dirty="0">
                <a:solidFill>
                  <a:schemeClr val="tx1"/>
                </a:solidFill>
                <a:latin typeface="Work Sans" pitchFamily="2" charset="0"/>
              </a:rPr>
              <a:t>-based systems will be up to 25 percent more energy efficient than the best of today’s systems.</a:t>
            </a:r>
          </a:p>
          <a:p>
            <a:pPr algn="l">
              <a:spcBef>
                <a:spcPts val="624"/>
              </a:spcBef>
              <a:spcAft>
                <a:spcPts val="600"/>
              </a:spcAft>
              <a:buClr>
                <a:schemeClr val="tx1"/>
              </a:buClr>
            </a:pPr>
            <a:r>
              <a:rPr lang="en-US" sz="2600" dirty="0">
                <a:solidFill>
                  <a:schemeClr val="tx1"/>
                </a:solidFill>
                <a:latin typeface="Work Sans" pitchFamily="2" charset="0"/>
              </a:rPr>
              <a:t>Can be used in heat pump systems</a:t>
            </a:r>
          </a:p>
          <a:p>
            <a:pPr>
              <a:spcBef>
                <a:spcPts val="624"/>
              </a:spcBef>
              <a:spcAft>
                <a:spcPts val="600"/>
              </a:spcAft>
              <a:buClr>
                <a:schemeClr val="tx1"/>
              </a:buClr>
            </a:pPr>
            <a:r>
              <a:rPr lang="en-US" sz="2600" dirty="0">
                <a:solidFill>
                  <a:schemeClr val="tx1"/>
                </a:solidFill>
                <a:latin typeface="Work Sans" pitchFamily="2" charset="0"/>
              </a:rPr>
              <a:t>The operation of a CO</a:t>
            </a:r>
            <a:r>
              <a:rPr lang="en-US" sz="2600" baseline="-25000" dirty="0">
                <a:solidFill>
                  <a:schemeClr val="tx1"/>
                </a:solidFill>
                <a:latin typeface="Work Sans" pitchFamily="2" charset="0"/>
              </a:rPr>
              <a:t>2</a:t>
            </a:r>
            <a:r>
              <a:rPr lang="en-US" sz="2600" dirty="0">
                <a:solidFill>
                  <a:schemeClr val="tx1"/>
                </a:solidFill>
                <a:latin typeface="Work Sans" pitchFamily="2" charset="0"/>
              </a:rPr>
              <a:t> system is the same as that of any other A/C system, but the components are different due to the higher pressures.</a:t>
            </a:r>
          </a:p>
          <a:p>
            <a:pPr algn="l">
              <a:spcBef>
                <a:spcPts val="624"/>
              </a:spcBef>
              <a:spcAft>
                <a:spcPts val="600"/>
              </a:spcAft>
              <a:buClr>
                <a:schemeClr val="tx1"/>
              </a:buClr>
            </a:pPr>
            <a:r>
              <a:rPr lang="en-US" sz="2600" dirty="0">
                <a:solidFill>
                  <a:schemeClr val="tx1"/>
                </a:solidFill>
                <a:latin typeface="Work Sans" pitchFamily="2" charset="0"/>
              </a:rPr>
              <a:t>May require sensors to monitor cabin air quality</a:t>
            </a:r>
          </a:p>
        </p:txBody>
      </p:sp>
    </p:spTree>
    <p:extLst>
      <p:ext uri="{BB962C8B-B14F-4D97-AF65-F5344CB8AC3E}">
        <p14:creationId xmlns:p14="http://schemas.microsoft.com/office/powerpoint/2010/main" val="13229810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81F32-E6CC-4164-7DF1-6FCA65674D66}"/>
              </a:ext>
            </a:extLst>
          </p:cNvPr>
          <p:cNvSpPr>
            <a:spLocks noGrp="1"/>
          </p:cNvSpPr>
          <p:nvPr>
            <p:ph type="title"/>
          </p:nvPr>
        </p:nvSpPr>
        <p:spPr/>
        <p:txBody>
          <a:bodyPr/>
          <a:lstStyle/>
          <a:p>
            <a:r>
              <a:rPr lang="en-US" dirty="0">
                <a:solidFill>
                  <a:schemeClr val="tx1"/>
                </a:solidFill>
              </a:rPr>
              <a:t>CO</a:t>
            </a:r>
            <a:r>
              <a:rPr lang="en-US" baseline="-25000" dirty="0">
                <a:solidFill>
                  <a:schemeClr val="tx1"/>
                </a:solidFill>
              </a:rPr>
              <a:t>2</a:t>
            </a:r>
            <a:r>
              <a:rPr lang="en-US" dirty="0">
                <a:solidFill>
                  <a:schemeClr val="tx1"/>
                </a:solidFill>
              </a:rPr>
              <a:t> System Layout</a:t>
            </a:r>
          </a:p>
        </p:txBody>
      </p:sp>
      <p:pic>
        <p:nvPicPr>
          <p:cNvPr id="9" name="Picture Placeholder 8" descr="The layout of a C O_2 airconditioning system. The parts are labeled as follows: Compressor, Gas cooler, Expansion device, Evaporator high-performance heat exchanger, and Accumulator/internal heat exchanger. The accumulator has a double-headed vertical arrow whose top half is in one color and the bottom half is in another color. The arrow depicts the gas entering the gas cooler from the compressor. It then exits through another opening of the gas cooler and enters the accumulator/internal heat exchanger under high pressure. The accumulator/internal heat exchanger has an inlet and an outlet located at both the top and bottom. Arrows extend out of the outlet of the Accumulator/internal heat exchanger and go to the Evaporator high-performance heat exchanger through the Expansion device. Arrows also extend out of the Evaporator high-performance heat exchanger and enter the Accumulator/internal heat exchanger through an inlet at the bottom. Arrows extend out of the Accumulator/internal heat exchanger through the bottom outlet and reach the Compressor at low pressure. The flow direction of high pressure is indicated by arrows of one color, while the flow direction of low pressure is indicated by arrows of a different color.">
            <a:extLst>
              <a:ext uri="{FF2B5EF4-FFF2-40B4-BE49-F238E27FC236}">
                <a16:creationId xmlns:a16="http://schemas.microsoft.com/office/drawing/2014/main" id="{5A76E8F4-79F5-B379-7CA0-CDD14EC21D6D}"/>
              </a:ext>
            </a:extLst>
          </p:cNvPr>
          <p:cNvPicPr>
            <a:picLocks noGrp="1" noChangeAspect="1"/>
          </p:cNvPicPr>
          <p:nvPr>
            <p:ph type="pic" sz="quarter" idx="10"/>
          </p:nvPr>
        </p:nvPicPr>
        <p:blipFill>
          <a:blip r:embed="rId2"/>
          <a:srcRect b="5162"/>
          <a:stretch/>
        </p:blipFill>
        <p:spPr>
          <a:xfrm>
            <a:off x="3920856" y="1494572"/>
            <a:ext cx="4350289" cy="4421402"/>
          </a:xfrm>
          <a:prstGeom prst="rect">
            <a:avLst/>
          </a:prstGeom>
        </p:spPr>
      </p:pic>
    </p:spTree>
    <p:extLst>
      <p:ext uri="{BB962C8B-B14F-4D97-AF65-F5344CB8AC3E}">
        <p14:creationId xmlns:p14="http://schemas.microsoft.com/office/powerpoint/2010/main" val="1789904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Basic A/C System Opera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A/C System Operation</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54-04 Describe how an automotive air-conditioning system operates</a:t>
            </a:r>
            <a:r>
              <a:rPr lang="en-US" sz="2600" dirty="0">
                <a:solidFill>
                  <a:schemeClr val="tx1"/>
                </a:solidFill>
                <a:latin typeface="Work Sans" pitchFamily="2" charset="0"/>
              </a:rPr>
              <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As the refrigerant changes state, it absorbs heat.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the refrigerant pressure is high, so is its temperature.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 absorb heat, the temperature and pressure are kept low.</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 dissipate heat, temperature and pressure are high.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Basic Refrigerant Cycl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Refrigerant Cycle</a:t>
            </a:r>
          </a:p>
        </p:txBody>
      </p:sp>
      <p:pic>
        <p:nvPicPr>
          <p:cNvPr id="9" name="Picture Placeholder 8" descr="The basic refrigerant flow cycle depicts several parts along with the direction of flow. The parts labeled are as follows: Condenser, Compressor, Radiator, Accumulator/dryer, Evaporator, and Orifice tube. A colored line connects the following parts: compressor and accumulator/dryer, accumulator/dryer to evaporator. The coil in the evaporator is colored in two different colors. An upward arrow beside depicts the flow from the evaporator. A second colored line goes between the evaporator and orifice tube and a downward arrow beside depicts its flow. A third colored line goes between the compressor and the condenser and a left arrow depicts the flow. The coil in the condenser is in two different colors. A fourth colored line extends out of the condenser and reaches the orifice tube and an arrow depicts the flow. The key indicates the third, fourth, second, and first colored lines as high-pressure vapor, high-pressure liquid, low-pressure liquid, and low-pressure vapor, respectively.">
            <a:extLst>
              <a:ext uri="{FF2B5EF4-FFF2-40B4-BE49-F238E27FC236}">
                <a16:creationId xmlns:a16="http://schemas.microsoft.com/office/drawing/2014/main" id="{87CFB798-E1AD-95D3-94BE-35A9827DBB45}"/>
              </a:ext>
            </a:extLst>
          </p:cNvPr>
          <p:cNvPicPr>
            <a:picLocks noGrp="1" noChangeAspect="1"/>
          </p:cNvPicPr>
          <p:nvPr>
            <p:ph type="pic" sz="quarter" idx="10"/>
          </p:nvPr>
        </p:nvPicPr>
        <p:blipFill>
          <a:blip r:embed="rId3"/>
          <a:srcRect b="2945"/>
          <a:stretch/>
        </p:blipFill>
        <p:spPr>
          <a:xfrm>
            <a:off x="3954755" y="1752601"/>
            <a:ext cx="4282490" cy="40386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(2 of 3)</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True or False: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When the refrigerant temperature and pressure are low, it is able to absorb heat.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(2 of 3)</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38"/>
              </a:spcBef>
              <a:buClr>
                <a:schemeClr val="tx1"/>
              </a:buClr>
              <a:buSzPct val="100000"/>
              <a:buFont typeface="Arial" panose="020B0604020202020204" pitchFamily="34" charset="0"/>
              <a:buChar char="•"/>
            </a:pPr>
            <a:r>
              <a:rPr lang="en-US" sz="2600" dirty="0">
                <a:solidFill>
                  <a:schemeClr val="tx1"/>
                </a:solidFill>
                <a:latin typeface="Work Sans" pitchFamily="2" charset="0"/>
              </a:rPr>
              <a:t>True or False:</a:t>
            </a:r>
          </a:p>
          <a:p>
            <a:pPr marL="358775" indent="-358775">
              <a:spcBef>
                <a:spcPts val="624"/>
              </a:spcBef>
              <a:spcAft>
                <a:spcPts val="2400"/>
              </a:spcAft>
              <a:buClr>
                <a:schemeClr val="tx1"/>
              </a:buClr>
              <a:buSzPct val="100000"/>
              <a:buFont typeface="Arial" panose="020B0604020202020204" pitchFamily="34" charset="0"/>
              <a:buChar char="•"/>
            </a:pPr>
            <a:r>
              <a:rPr lang="en-US" sz="2600" dirty="0">
                <a:solidFill>
                  <a:schemeClr val="tx1"/>
                </a:solidFill>
                <a:latin typeface="Work Sans" pitchFamily="2" charset="0"/>
              </a:rPr>
              <a:t>When the refrigerant temperature and pressure are low, it is able to absorb heat.</a:t>
            </a:r>
          </a:p>
          <a:p>
            <a:pPr marL="0" indent="0">
              <a:spcBef>
                <a:spcPts val="638"/>
              </a:spcBef>
              <a:buNone/>
            </a:pPr>
            <a:r>
              <a:rPr lang="en-US" sz="2600" dirty="0">
                <a:solidFill>
                  <a:schemeClr val="tx1"/>
                </a:solidFill>
                <a:latin typeface="Work Sans" pitchFamily="2" charset="0"/>
              </a:rPr>
              <a:t>Answer: True</a:t>
            </a:r>
          </a:p>
        </p:txBody>
      </p:sp>
    </p:spTree>
    <p:extLst>
      <p:ext uri="{BB962C8B-B14F-4D97-AF65-F5344CB8AC3E}">
        <p14:creationId xmlns:p14="http://schemas.microsoft.com/office/powerpoint/2010/main" val="3266515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ystem Component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System Components</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800"/>
              </a:spcAft>
              <a:buClr>
                <a:schemeClr val="bg2"/>
              </a:buClr>
              <a:buNone/>
            </a:pPr>
            <a:r>
              <a:rPr lang="en-US" sz="2600" b="1" dirty="0">
                <a:solidFill>
                  <a:schemeClr val="tx1"/>
                </a:solidFill>
                <a:latin typeface="Work Sans" pitchFamily="2" charset="0"/>
              </a:rPr>
              <a:t>54.06 Locate, identify, and describe the function of the various air-conditioning components.</a:t>
            </a:r>
            <a:endParaRPr lang="en-US" sz="2600" dirty="0">
              <a:solidFill>
                <a:schemeClr val="tx1"/>
              </a:solidFill>
              <a:latin typeface="Work Sans" pitchFamily="2" charset="0"/>
            </a:endParaRP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Compressor</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Separates the high and low sides of the system</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Pumps refrigerant vapor</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Draws low-pressure low-temperature vapor from the evaporator</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Compresses vapor into high-temperature high-pressure vapor</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Circulates the vapor to the condenser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page43">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Compressor Strokes</a:t>
            </a:r>
          </a:p>
        </p:txBody>
      </p:sp>
      <p:pic>
        <p:nvPicPr>
          <p:cNvPr id="9" name="Picture Placeholder 8" descr="Two stages of a piston labeled (A) and (B). The first stage (A) depicts a piston on the downstroke (intake) pulling low-pressure refrigerant into the cylinder's cavity. The discharge valve is open. The portion from the discharge valve to the piston is shaded in a color. A downward arrow is directed above the discharge valve, and the piston is positioned to the right with a clockwise directional movement mentioned on it. The second stage (B) depicts a piston on the upstroke (discharge) compressing refrigerant vapor and forcing it out through the discharge valve. An upward arrow is present above the intake valve of the cylinder. The discharge valve is open. The portion from the intake valve to the piston is shaded in a different color. An upward arrow is on the piston and it is positioned to the left with a clockwise directional movement mentioned on it.">
            <a:extLst>
              <a:ext uri="{FF2B5EF4-FFF2-40B4-BE49-F238E27FC236}">
                <a16:creationId xmlns:a16="http://schemas.microsoft.com/office/drawing/2014/main" id="{DD099F90-C43E-F90C-9453-6D2A1CE2BF2E}"/>
              </a:ext>
            </a:extLst>
          </p:cNvPr>
          <p:cNvPicPr>
            <a:picLocks noGrp="1" noChangeAspect="1"/>
          </p:cNvPicPr>
          <p:nvPr>
            <p:ph type="pic" sz="quarter" idx="10"/>
          </p:nvPr>
        </p:nvPicPr>
        <p:blipFill>
          <a:blip r:embed="rId3"/>
          <a:srcRect b="32205"/>
          <a:stretch/>
        </p:blipFill>
        <p:spPr>
          <a:xfrm>
            <a:off x="3098297" y="1937156"/>
            <a:ext cx="5995406" cy="385404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Compressor Design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Compressor Designs</a:t>
            </a:r>
          </a:p>
        </p:txBody>
      </p:sp>
      <p:sp>
        <p:nvSpPr>
          <p:cNvPr id="3" name="Content Placeholder 3"/>
          <p:cNvSpPr txBox="1">
            <a:spLocks noGrp="1"/>
          </p:cNvSpPr>
          <p:nvPr>
            <p:ph sz="quarter" idx="11"/>
          </p:nvPr>
        </p:nvSpPr>
        <p:spPr>
          <a:xfrm>
            <a:off x="1066800" y="1631156"/>
            <a:ext cx="5181600" cy="377904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Piston-type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Variable displacement-type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Rotary vane-type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Scroll-type</a:t>
            </a:r>
          </a:p>
        </p:txBody>
      </p:sp>
      <p:pic>
        <p:nvPicPr>
          <p:cNvPr id="9" name="Picture Placeholder 8" descr="Four types of A / C compressors, piston-type, variable displacement type, rotary vane-type and scroll-type.">
            <a:extLst>
              <a:ext uri="{FF2B5EF4-FFF2-40B4-BE49-F238E27FC236}">
                <a16:creationId xmlns:a16="http://schemas.microsoft.com/office/drawing/2014/main" id="{3B2417EE-AA6E-C169-4B7C-3184040B4FAF}"/>
              </a:ext>
            </a:extLst>
          </p:cNvPr>
          <p:cNvPicPr>
            <a:picLocks noGrp="1" noChangeAspect="1"/>
          </p:cNvPicPr>
          <p:nvPr>
            <p:ph type="pic" sz="quarter" idx="12"/>
          </p:nvPr>
        </p:nvPicPr>
        <p:blipFill>
          <a:blip r:embed="rId3"/>
          <a:srcRect b="8412"/>
          <a:stretch/>
        </p:blipFill>
        <p:spPr>
          <a:xfrm>
            <a:off x="6571105" y="1863106"/>
            <a:ext cx="5011295" cy="331849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Compressor Clutch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Compressor Clutches</a:t>
            </a:r>
          </a:p>
        </p:txBody>
      </p:sp>
      <p:sp>
        <p:nvSpPr>
          <p:cNvPr id="3" name="Content Placeholder 2"/>
          <p:cNvSpPr txBox="1">
            <a:spLocks noGrp="1"/>
          </p:cNvSpPr>
          <p:nvPr>
            <p:ph sz="quarter" idx="11"/>
          </p:nvPr>
        </p:nvSpPr>
        <p:spPr>
          <a:xfrm>
            <a:off x="609600" y="1602259"/>
            <a:ext cx="10820400" cy="9144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Engages the compressor pulley to the compressor drive shaft</a:t>
            </a:r>
          </a:p>
        </p:txBody>
      </p:sp>
      <p:pic>
        <p:nvPicPr>
          <p:cNvPr id="9" name="Picture Placeholder 8" descr="An A/C compressor clutch assembly: The parts labeled are as follows: Compressor, Field coil, Snapring, shaft seals, felt dust seal, clutch pulley, Snapring, shims, and Clutch hub.">
            <a:extLst>
              <a:ext uri="{FF2B5EF4-FFF2-40B4-BE49-F238E27FC236}">
                <a16:creationId xmlns:a16="http://schemas.microsoft.com/office/drawing/2014/main" id="{F9B52E0F-06E5-9ABF-0250-42C5FB618F4E}"/>
              </a:ext>
            </a:extLst>
          </p:cNvPr>
          <p:cNvPicPr>
            <a:picLocks noGrp="1" noChangeAspect="1"/>
          </p:cNvPicPr>
          <p:nvPr>
            <p:ph type="pic" sz="quarter" idx="10"/>
          </p:nvPr>
        </p:nvPicPr>
        <p:blipFill>
          <a:blip r:embed="rId3"/>
          <a:srcRect b="6257"/>
          <a:stretch/>
        </p:blipFill>
        <p:spPr>
          <a:xfrm>
            <a:off x="2199917" y="2731986"/>
            <a:ext cx="7792166" cy="276356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Electric Drive Compresso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Electric Drive Compressors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Used for vehicles equipped with idle stop or start-stop system</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Compressor contains an electric motor drive.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Can run without the engine running</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More energy efficient than belt driven type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Requires special refrigerant oil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Electric A/C Compress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Electric A/C Compressor</a:t>
            </a:r>
          </a:p>
        </p:txBody>
      </p:sp>
      <p:pic>
        <p:nvPicPr>
          <p:cNvPr id="9" name="Picture Placeholder 8" descr="An electric A / C compressor with a colored cable.">
            <a:extLst>
              <a:ext uri="{FF2B5EF4-FFF2-40B4-BE49-F238E27FC236}">
                <a16:creationId xmlns:a16="http://schemas.microsoft.com/office/drawing/2014/main" id="{1F94775B-B545-7006-B03E-E5196338D293}"/>
              </a:ext>
            </a:extLst>
          </p:cNvPr>
          <p:cNvPicPr>
            <a:picLocks noGrp="1" noChangeAspect="1"/>
          </p:cNvPicPr>
          <p:nvPr>
            <p:ph type="pic" sz="quarter" idx="12"/>
          </p:nvPr>
        </p:nvPicPr>
        <p:blipFill>
          <a:blip r:embed="rId3"/>
          <a:stretch>
            <a:fillRect/>
          </a:stretch>
        </p:blipFill>
        <p:spPr>
          <a:xfrm>
            <a:off x="3599853" y="1950350"/>
            <a:ext cx="4992294" cy="369429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Refrigerant Oil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 Oils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Is carried through the system with the refrigerant</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R-12 systems used mineral oil.</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R-134a systems require polyalkaline glycol (PAG) or polyester (POE) oils.</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POE oils are commonly used in hybrid and EV compressors due to their low conductivity.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Condens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Condenser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Transfers heat from the refrigerant to the outside air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Mounted in front of radiator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Condenses or liquefies the high-pressure high-temperature vapor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Condens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Condenser (2 of 2)  </a:t>
            </a:r>
          </a:p>
        </p:txBody>
      </p:sp>
      <p:pic>
        <p:nvPicPr>
          <p:cNvPr id="9" name="Picture Placeholder 8" descr="A typical condenser of a car, positioned in front of the radiator. The outside air enters the condenser. A magnified view of the condenser depicts a coil mounted on a thin cooling fan.">
            <a:extLst>
              <a:ext uri="{FF2B5EF4-FFF2-40B4-BE49-F238E27FC236}">
                <a16:creationId xmlns:a16="http://schemas.microsoft.com/office/drawing/2014/main" id="{B281CC90-996D-67DC-2773-5984E26232E4}"/>
              </a:ext>
            </a:extLst>
          </p:cNvPr>
          <p:cNvPicPr>
            <a:picLocks noGrp="1" noChangeAspect="1"/>
          </p:cNvPicPr>
          <p:nvPr>
            <p:ph type="pic" sz="quarter" idx="12"/>
          </p:nvPr>
        </p:nvPicPr>
        <p:blipFill>
          <a:blip r:embed="rId3"/>
          <a:srcRect b="3920"/>
          <a:stretch/>
        </p:blipFill>
        <p:spPr>
          <a:xfrm>
            <a:off x="4450057" y="1477399"/>
            <a:ext cx="3291886" cy="45192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ubcoole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Subcoolers</a:t>
            </a:r>
          </a:p>
        </p:txBody>
      </p:sp>
      <p:sp>
        <p:nvSpPr>
          <p:cNvPr id="3" name="Content Placeholder 2"/>
          <p:cNvSpPr txBox="1">
            <a:spLocks noGrp="1"/>
          </p:cNvSpPr>
          <p:nvPr>
            <p:ph sz="quarter" idx="11"/>
          </p:nvPr>
        </p:nvSpPr>
        <p:spPr>
          <a:xfrm>
            <a:off x="609600" y="1676400"/>
            <a:ext cx="5486400" cy="38100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Removes sensible heat from liquid refrigerant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Located between the condenser and evaporator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Increases system efficiency</a:t>
            </a:r>
          </a:p>
        </p:txBody>
      </p:sp>
      <p:pic>
        <p:nvPicPr>
          <p:cNvPr id="8" name="Picture 2" descr="A condenser with a built-in subcooler. The parts labeled are as follows: Liquid refrigerant, Gas refrigerant, Modulator, Header tank, Fins, Tube, Inlet (gas refrigerant), Separator, and Outlet (liquid refrigerant). The structure depicts horizontal tubes. The top of the condenser depicts an arrow labeled Condenser part pointing to the left. The bottom of the condenser depicts an arrow labeled Subcooler part pointing to the right. Each horizontal tube in the condenser section is highlighted in one color on the left, a second on the right, and a third color at the bottom right of the subcooler section. The Inlet (gas refrigerant) is on the condenser part and the Outlet (liquid refrigerant) is in the subcooler part. A curved counterclockwise arrow goes from the condenser part to the subcooler part of the liquid refrigerant.">
            <a:extLst>
              <a:ext uri="{FF2B5EF4-FFF2-40B4-BE49-F238E27FC236}">
                <a16:creationId xmlns:a16="http://schemas.microsoft.com/office/drawing/2014/main" id="{9EB88016-E161-7903-3BFD-014F85A71B06}"/>
              </a:ext>
            </a:extLst>
          </p:cNvPr>
          <p:cNvPicPr>
            <a:picLocks noGrp="1" noChangeAspect="1" noChangeArrowheads="1"/>
          </p:cNvPicPr>
          <p:nvPr>
            <p:ph type="pic" sz="quarter" idx="12"/>
          </p:nvPr>
        </p:nvPicPr>
        <p:blipFill rotWithShape="1">
          <a:blip r:embed="rId3">
            <a:extLst>
              <a:ext uri="{28A0092B-C50C-407E-A947-70E740481C1C}">
                <a14:useLocalDpi xmlns:a14="http://schemas.microsoft.com/office/drawing/2010/main" val="0"/>
              </a:ext>
            </a:extLst>
          </a:blip>
          <a:srcRect b="7655"/>
          <a:stretch/>
        </p:blipFill>
        <p:spPr bwMode="auto">
          <a:xfrm>
            <a:off x="6330002" y="2138137"/>
            <a:ext cx="5130068" cy="20528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Receiver/Dry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Receiver/Dryer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Stores liquid refrigerant from condenser</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Contains a desiccant to remove moisture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Connected on the high side of the system</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Sometimes part of the condenser assembly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Accumulat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Accumulator</a:t>
            </a:r>
          </a:p>
        </p:txBody>
      </p:sp>
      <p:sp>
        <p:nvSpPr>
          <p:cNvPr id="3" name="Content Placeholder 2"/>
          <p:cNvSpPr txBox="1">
            <a:spLocks noGrp="1"/>
          </p:cNvSpPr>
          <p:nvPr>
            <p:ph sz="quarter" idx="11"/>
          </p:nvPr>
        </p:nvSpPr>
        <p:spPr>
          <a:xfrm>
            <a:off x="762000" y="1714500"/>
            <a:ext cx="6172200" cy="36195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as a receiver/dryer on some systems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Connected on low side of system</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Stores any liquid refrigerant that flows out of the evaporator</a:t>
            </a:r>
          </a:p>
        </p:txBody>
      </p:sp>
      <p:pic>
        <p:nvPicPr>
          <p:cNvPr id="9" name="Picture Placeholder 8" descr="An accumulator/dryer is a cylindrical structure with a lid containing three holes. The parts are labeled as follows: Test port, Desiccant, Strainer, Bleed hole, Pickup tube, From evaporator, and To compressor. Two tubes pass through the holes on top of the dryer, with the third hole containing a test port. One tube, labeled From evaporator, has arrows indicating flow into the dryer. The other tube, labeled Pickup tube, has arrows indicating flow from the dryer to the compressor.">
            <a:extLst>
              <a:ext uri="{FF2B5EF4-FFF2-40B4-BE49-F238E27FC236}">
                <a16:creationId xmlns:a16="http://schemas.microsoft.com/office/drawing/2014/main" id="{74B14EF5-2269-173A-A875-73A58BF8347B}"/>
              </a:ext>
            </a:extLst>
          </p:cNvPr>
          <p:cNvPicPr>
            <a:picLocks noGrp="1" noChangeAspect="1"/>
          </p:cNvPicPr>
          <p:nvPr>
            <p:ph type="pic" sz="quarter" idx="12"/>
          </p:nvPr>
        </p:nvPicPr>
        <p:blipFill>
          <a:blip r:embed="rId3"/>
          <a:srcRect b="4479"/>
          <a:stretch/>
        </p:blipFill>
        <p:spPr>
          <a:xfrm>
            <a:off x="7380371" y="2007876"/>
            <a:ext cx="3449864" cy="324992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Thermostatic Expansion Valve (TXV)">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sz="3600" dirty="0"/>
              <a:t>Thermostatic Expansion Valve (TXV)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Controls the flow of refrigerant to the evaporator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TEV is mounted at the evaporator inlet and separates the high side from the low side.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Regulates flow by balancing inlet flow and outlet temperature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page6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A6AA5-394B-7B8A-F9E9-2C2A21755E80}"/>
              </a:ext>
            </a:extLst>
          </p:cNvPr>
          <p:cNvSpPr>
            <a:spLocks noGrp="1"/>
          </p:cNvSpPr>
          <p:nvPr>
            <p:ph type="title"/>
          </p:nvPr>
        </p:nvSpPr>
        <p:spPr/>
        <p:txBody>
          <a:bodyPr/>
          <a:lstStyle/>
          <a:p>
            <a:r>
              <a:rPr lang="en-US" sz="3600" dirty="0"/>
              <a:t>Thermostatic Expansion Valve (TXV) (2 of 2)</a:t>
            </a:r>
            <a:endParaRPr lang="en-IN" sz="3600" dirty="0"/>
          </a:p>
        </p:txBody>
      </p:sp>
      <p:pic>
        <p:nvPicPr>
          <p:cNvPr id="9" name="Picture Placeholder 8" descr="Two parts of an illustration. The first part titled, Fully Closed depicts the thermostatic expansion valve (T X V) at the inlet to the evaporator in a closed position. The liquid refrigerant is depicted. The second part titled, Fully Open depicts the thermostatic expansion valve (T X V) at the inlet to the evaporator in an open position. Arrows depict the flow through the inlet of the evaporator and pass through the tubes before exiting. Liquid refrigerant is not depicted. The diaphragm appears sucked in. The information given for Valve position, Passenger compartment, Sensing element temperature, and Evaporator pressure for fully closed valve conditions are as follows: Closed, Desired temperature reached, Low, and High respectively. Similarly, the Valve position, Passenger compartment, Sensing element temperature, and Evaporator pressure for Fully open valve conditions are as follows: Open, Heat soaked, High, and Low respectively.">
            <a:extLst>
              <a:ext uri="{FF2B5EF4-FFF2-40B4-BE49-F238E27FC236}">
                <a16:creationId xmlns:a16="http://schemas.microsoft.com/office/drawing/2014/main" id="{296C4669-6CC4-46FC-74B1-046A55A6018C}"/>
              </a:ext>
            </a:extLst>
          </p:cNvPr>
          <p:cNvPicPr>
            <a:picLocks noGrp="1" noChangeAspect="1"/>
          </p:cNvPicPr>
          <p:nvPr>
            <p:ph type="pic" sz="quarter" idx="10"/>
          </p:nvPr>
        </p:nvPicPr>
        <p:blipFill>
          <a:blip r:embed="rId3"/>
          <a:srcRect b="6402"/>
          <a:stretch/>
        </p:blipFill>
        <p:spPr>
          <a:xfrm>
            <a:off x="2952749" y="1626870"/>
            <a:ext cx="6286501" cy="444246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Orifice Tub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Orifice Tube</a:t>
            </a:r>
          </a:p>
        </p:txBody>
      </p:sp>
      <p:sp>
        <p:nvSpPr>
          <p:cNvPr id="3" name="Content Placeholder 2"/>
          <p:cNvSpPr txBox="1">
            <a:spLocks noGrp="1"/>
          </p:cNvSpPr>
          <p:nvPr>
            <p:ph sz="quarter" idx="11"/>
          </p:nvPr>
        </p:nvSpPr>
        <p:spPr>
          <a:xfrm>
            <a:off x="685800" y="1600200"/>
            <a:ext cx="5410200" cy="3352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It is the dividing point between high and low pressure.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fixed orifice controls flow rate based on the pressure difference across the orifice.</a:t>
            </a:r>
          </a:p>
        </p:txBody>
      </p:sp>
      <p:pic>
        <p:nvPicPr>
          <p:cNvPr id="9" name="Picture Placeholder 8" descr="A typical orifice expansion tube depicts a structure with the direction of flow. The parts labeled are as follows: Color-coded body, O-rings, Outlet, Inlet, Orifice tube, and Fine-mesh screen. A right arrow depicts the Direction of flow. A flow direction with a right arrow is at the outlet.">
            <a:extLst>
              <a:ext uri="{FF2B5EF4-FFF2-40B4-BE49-F238E27FC236}">
                <a16:creationId xmlns:a16="http://schemas.microsoft.com/office/drawing/2014/main" id="{FE0EA457-4774-6C70-BD6D-5F92E5E2A41F}"/>
              </a:ext>
            </a:extLst>
          </p:cNvPr>
          <p:cNvPicPr>
            <a:picLocks noGrp="1" noChangeAspect="1"/>
          </p:cNvPicPr>
          <p:nvPr>
            <p:ph type="pic" sz="quarter" idx="10"/>
          </p:nvPr>
        </p:nvPicPr>
        <p:blipFill>
          <a:blip r:embed="rId3"/>
          <a:srcRect b="7941"/>
          <a:stretch/>
        </p:blipFill>
        <p:spPr>
          <a:xfrm>
            <a:off x="6710367" y="1776849"/>
            <a:ext cx="4857740" cy="3252351"/>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Evaporat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Evaporator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Receives atomized refrigerant spray</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Acts as a boiler or vaporizer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As the refrigerant boils, it absorbs heat.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Moisture in the air condenses on the outside of the evaporator and is drained off.</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Refrigerant Lin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 Lines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Suction Lines</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Between evaporator outlet and compressor inlet</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Carry low-pressure/temperature vapor</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Cold to the touch and larger in diameter</a:t>
            </a:r>
            <a:endParaRPr lang="en-US" sz="2200" dirty="0">
              <a:solidFill>
                <a:schemeClr val="tx1"/>
              </a:solidFill>
              <a:latin typeface="Work Sans" pitchFamily="2" charset="0"/>
            </a:endParaRP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Discharge Lines</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Connect compressor outlet to condenser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Liquid Lines</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Connect condenser to receiver/dryer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Knowledge Check ">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3538" indent="-363538">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Which component is responsible for separating the A/C system into the high- and low-pressure sides?</a:t>
            </a:r>
          </a:p>
          <a:p>
            <a:pPr marL="714375" lvl="1" indent="-350838">
              <a:spcBef>
                <a:spcPts val="624"/>
              </a:spcBef>
              <a:spcAft>
                <a:spcPts val="600"/>
              </a:spcAft>
              <a:buSzPct val="100000"/>
              <a:buFont typeface="+mj-lt"/>
              <a:buAutoNum type="alphaUcPeriod"/>
              <a:tabLst>
                <a:tab pos="989013" algn="l"/>
              </a:tabLst>
            </a:pPr>
            <a:r>
              <a:rPr lang="en-US" sz="2600" dirty="0">
                <a:solidFill>
                  <a:schemeClr val="tx1"/>
                </a:solidFill>
                <a:latin typeface="Work Sans" pitchFamily="2" charset="0"/>
              </a:rPr>
              <a:t>Evaporator</a:t>
            </a:r>
          </a:p>
          <a:p>
            <a:pPr marL="714375" lvl="1" indent="-350838">
              <a:spcBef>
                <a:spcPts val="624"/>
              </a:spcBef>
              <a:spcAft>
                <a:spcPts val="600"/>
              </a:spcAft>
              <a:buSzPct val="100000"/>
              <a:buFont typeface="+mj-lt"/>
              <a:buAutoNum type="alphaUcPeriod"/>
              <a:tabLst>
                <a:tab pos="989013" algn="l"/>
              </a:tabLst>
            </a:pPr>
            <a:r>
              <a:rPr lang="en-US" sz="2600" dirty="0">
                <a:solidFill>
                  <a:schemeClr val="tx1"/>
                </a:solidFill>
                <a:latin typeface="Work Sans" pitchFamily="2" charset="0"/>
              </a:rPr>
              <a:t>Orifice tube</a:t>
            </a:r>
          </a:p>
          <a:p>
            <a:pPr marL="714375" lvl="1" indent="-350838">
              <a:spcBef>
                <a:spcPts val="624"/>
              </a:spcBef>
              <a:spcAft>
                <a:spcPts val="600"/>
              </a:spcAft>
              <a:buSzPct val="100000"/>
              <a:buFont typeface="+mj-lt"/>
              <a:buAutoNum type="alphaUcPeriod"/>
              <a:tabLst>
                <a:tab pos="989013" algn="l"/>
              </a:tabLst>
            </a:pPr>
            <a:r>
              <a:rPr lang="en-US" sz="2600" dirty="0">
                <a:solidFill>
                  <a:schemeClr val="tx1"/>
                </a:solidFill>
                <a:latin typeface="Work Sans" pitchFamily="2" charset="0"/>
              </a:rPr>
              <a:t>Compressor</a:t>
            </a:r>
          </a:p>
          <a:p>
            <a:pPr marL="714375" lvl="1" indent="-350838">
              <a:spcBef>
                <a:spcPts val="624"/>
              </a:spcBef>
              <a:spcAft>
                <a:spcPts val="600"/>
              </a:spcAft>
              <a:buSzPct val="100000"/>
              <a:buFont typeface="+mj-lt"/>
              <a:buAutoNum type="alphaUcPeriod"/>
              <a:tabLst>
                <a:tab pos="989013" algn="l"/>
              </a:tabLst>
            </a:pPr>
            <a:r>
              <a:rPr lang="en-US" sz="2600" dirty="0">
                <a:solidFill>
                  <a:schemeClr val="tx1"/>
                </a:solidFill>
                <a:latin typeface="Work Sans" pitchFamily="2" charset="0"/>
              </a:rPr>
              <a:t>Condenser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Which component is responsible for separating the A/C system into the high- and low-pressure sides?</a:t>
            </a:r>
          </a:p>
          <a:p>
            <a:pPr marL="714375" lvl="1" indent="-350838">
              <a:spcBef>
                <a:spcPts val="624"/>
              </a:spcBef>
              <a:spcAft>
                <a:spcPts val="600"/>
              </a:spcAft>
              <a:buSzPct val="100000"/>
              <a:buFont typeface="+mj-lt"/>
              <a:buAutoNum type="alphaUcPeriod"/>
            </a:pPr>
            <a:r>
              <a:rPr lang="en-US" sz="2600" dirty="0">
                <a:solidFill>
                  <a:schemeClr val="tx1"/>
                </a:solidFill>
                <a:latin typeface="Work Sans" pitchFamily="2" charset="0"/>
              </a:rPr>
              <a:t>Evaporator</a:t>
            </a:r>
          </a:p>
          <a:p>
            <a:pPr marL="714375" lvl="1" indent="-350838">
              <a:spcBef>
                <a:spcPts val="624"/>
              </a:spcBef>
              <a:spcAft>
                <a:spcPts val="600"/>
              </a:spcAft>
              <a:buSzPct val="100000"/>
              <a:buFont typeface="+mj-lt"/>
              <a:buAutoNum type="alphaUcPeriod"/>
            </a:pPr>
            <a:r>
              <a:rPr lang="en-US" sz="2600" dirty="0">
                <a:solidFill>
                  <a:schemeClr val="tx1"/>
                </a:solidFill>
                <a:latin typeface="Work Sans" pitchFamily="2" charset="0"/>
              </a:rPr>
              <a:t>Orifice tube</a:t>
            </a:r>
          </a:p>
          <a:p>
            <a:pPr marL="714375" lvl="1" indent="-350838">
              <a:spcBef>
                <a:spcPts val="624"/>
              </a:spcBef>
              <a:spcAft>
                <a:spcPts val="600"/>
              </a:spcAft>
              <a:buSzPct val="100000"/>
              <a:buFont typeface="+mj-lt"/>
              <a:buAutoNum type="alphaUcPeriod"/>
            </a:pPr>
            <a:r>
              <a:rPr lang="en-US" sz="2600" dirty="0">
                <a:solidFill>
                  <a:schemeClr val="tx1"/>
                </a:solidFill>
                <a:latin typeface="Work Sans" pitchFamily="2" charset="0"/>
              </a:rPr>
              <a:t>Compressor</a:t>
            </a:r>
          </a:p>
          <a:p>
            <a:pPr marL="714375" lvl="1" indent="-350838">
              <a:spcBef>
                <a:spcPts val="624"/>
              </a:spcBef>
              <a:spcAft>
                <a:spcPts val="2400"/>
              </a:spcAft>
              <a:buSzPct val="100000"/>
              <a:buFont typeface="+mj-lt"/>
              <a:buAutoNum type="alphaUcPeriod"/>
            </a:pPr>
            <a:r>
              <a:rPr lang="en-US" sz="2600" dirty="0">
                <a:solidFill>
                  <a:schemeClr val="tx1"/>
                </a:solidFill>
                <a:latin typeface="Work Sans" pitchFamily="2" charset="0"/>
              </a:rPr>
              <a:t>Condenser</a:t>
            </a:r>
          </a:p>
          <a:p>
            <a:pPr marL="0" lvl="1" indent="989013">
              <a:spcBef>
                <a:spcPts val="624"/>
              </a:spcBef>
              <a:spcAft>
                <a:spcPts val="600"/>
              </a:spcAft>
              <a:buNone/>
            </a:pPr>
            <a:r>
              <a:rPr lang="en-US" sz="2600" dirty="0">
                <a:solidFill>
                  <a:schemeClr val="tx1"/>
                </a:solidFill>
                <a:latin typeface="Work Sans" pitchFamily="2" charset="0"/>
              </a:rPr>
              <a:t>Answer: B. Orifice tube</a:t>
            </a:r>
          </a:p>
        </p:txBody>
      </p:sp>
    </p:spTree>
    <p:extLst>
      <p:ext uri="{BB962C8B-B14F-4D97-AF65-F5344CB8AC3E}">
        <p14:creationId xmlns:p14="http://schemas.microsoft.com/office/powerpoint/2010/main" val="11947474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A/C Systems and Control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A/C Systems and Controls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54.07 Describe the operation of the types of air-conditioning control systems.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Cycling Clutch Systems</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Compressor runs intermittently.</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Evaporator Pressure/Temperature Control Systems</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Compressor operates continuously when A/C controls are in the on position.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Compressor Controls">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Examples of Compressor Controls</a:t>
            </a:r>
          </a:p>
        </p:txBody>
      </p:sp>
      <p:sp>
        <p:nvSpPr>
          <p:cNvPr id="2" name="Content Placeholder 3"/>
          <p:cNvSpPr txBox="1">
            <a:spLocks noGrp="1"/>
          </p:cNvSpPr>
          <p:nvPr>
            <p:ph type="body" idx="1"/>
          </p:nvPr>
        </p:nvSpPr>
        <p:spPr>
          <a:xfrm>
            <a:off x="609600" y="1857632"/>
            <a:ext cx="5335110" cy="3628768"/>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Ambient temperature switch</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Thermostatic switch</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Pressure cycling switch</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Low-pressure cut-off switch</a:t>
            </a:r>
          </a:p>
        </p:txBody>
      </p:sp>
      <p:sp>
        <p:nvSpPr>
          <p:cNvPr id="5" name="Text Placeholder 4">
            <a:extLst>
              <a:ext uri="{FF2B5EF4-FFF2-40B4-BE49-F238E27FC236}">
                <a16:creationId xmlns:a16="http://schemas.microsoft.com/office/drawing/2014/main" id="{A5BC81A1-8177-2F55-F4BD-8F5900014287}"/>
              </a:ext>
            </a:extLst>
          </p:cNvPr>
          <p:cNvSpPr>
            <a:spLocks noGrp="1"/>
          </p:cNvSpPr>
          <p:nvPr>
            <p:ph sz="quarter" idx="11"/>
          </p:nvPr>
        </p:nvSpPr>
        <p:spPr>
          <a:xfrm>
            <a:off x="6247291" y="1943100"/>
            <a:ext cx="4800600" cy="3543300"/>
          </a:xfrm>
        </p:spPr>
        <p:txBody>
          <a:bodyPr/>
          <a:lstStyle/>
          <a:p>
            <a:pPr marL="358775" indent="-358775">
              <a:spcBef>
                <a:spcPts val="624"/>
              </a:spcBef>
              <a:spcAft>
                <a:spcPts val="600"/>
              </a:spcAft>
              <a:buSzPct val="100000"/>
            </a:pPr>
            <a:r>
              <a:rPr lang="en-US" sz="2600" dirty="0">
                <a:solidFill>
                  <a:schemeClr val="tx1"/>
                </a:solidFill>
                <a:latin typeface="Work Sans" pitchFamily="2" charset="0"/>
              </a:rPr>
              <a:t>High-pressure cut-out switch</a:t>
            </a:r>
          </a:p>
          <a:p>
            <a:pPr marL="358775" indent="-358775">
              <a:spcBef>
                <a:spcPts val="624"/>
              </a:spcBef>
              <a:spcAft>
                <a:spcPts val="600"/>
              </a:spcAft>
              <a:buSzPct val="100000"/>
            </a:pPr>
            <a:r>
              <a:rPr lang="en-US" sz="2600" dirty="0">
                <a:solidFill>
                  <a:schemeClr val="tx1"/>
                </a:solidFill>
                <a:latin typeface="Work Sans" pitchFamily="2" charset="0"/>
              </a:rPr>
              <a:t>High-pressure relief valve</a:t>
            </a:r>
          </a:p>
          <a:p>
            <a:pPr marL="358775" indent="-358775">
              <a:spcBef>
                <a:spcPts val="624"/>
              </a:spcBef>
              <a:spcAft>
                <a:spcPts val="600"/>
              </a:spcAft>
              <a:buSzPct val="100000"/>
            </a:pPr>
            <a:r>
              <a:rPr lang="en-US" sz="2600" dirty="0">
                <a:solidFill>
                  <a:schemeClr val="tx1"/>
                </a:solidFill>
                <a:latin typeface="Work Sans" pitchFamily="2" charset="0"/>
              </a:rPr>
              <a:t>Compressor control valve</a:t>
            </a:r>
          </a:p>
          <a:p>
            <a:pPr marL="358775" indent="-358775">
              <a:spcBef>
                <a:spcPts val="624"/>
              </a:spcBef>
              <a:spcAft>
                <a:spcPts val="600"/>
              </a:spcAft>
              <a:buSzPct val="100000"/>
            </a:pPr>
            <a:r>
              <a:rPr lang="en-US" sz="2600" dirty="0">
                <a:solidFill>
                  <a:schemeClr val="tx1"/>
                </a:solidFill>
                <a:latin typeface="Work Sans" pitchFamily="2" charset="0"/>
              </a:rPr>
              <a:t>Electronic cycling clutch switch</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olar Sens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Solar Sensor</a:t>
            </a:r>
          </a:p>
        </p:txBody>
      </p:sp>
      <p:sp>
        <p:nvSpPr>
          <p:cNvPr id="3" name="Content Placeholder 2"/>
          <p:cNvSpPr txBox="1">
            <a:spLocks noGrp="1"/>
          </p:cNvSpPr>
          <p:nvPr>
            <p:ph sz="quarter" idx="11"/>
          </p:nvPr>
        </p:nvSpPr>
        <p:spPr>
          <a:xfrm>
            <a:off x="609600" y="2057400"/>
            <a:ext cx="5943600" cy="354227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Also called a sun load sensor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to anticipate the heat from sunlight</a:t>
            </a:r>
          </a:p>
        </p:txBody>
      </p:sp>
      <p:pic>
        <p:nvPicPr>
          <p:cNvPr id="9" name="Picture Placeholder 8" descr="A solar (sunload) sensor. The magnified view of the top of the instrument depicts a sunload sensor.">
            <a:extLst>
              <a:ext uri="{FF2B5EF4-FFF2-40B4-BE49-F238E27FC236}">
                <a16:creationId xmlns:a16="http://schemas.microsoft.com/office/drawing/2014/main" id="{0ABC92A2-5C4C-26B8-1F76-B59BC0D96488}"/>
              </a:ext>
            </a:extLst>
          </p:cNvPr>
          <p:cNvPicPr>
            <a:picLocks noGrp="1" noChangeAspect="1"/>
          </p:cNvPicPr>
          <p:nvPr>
            <p:ph type="pic" sz="quarter" idx="10"/>
          </p:nvPr>
        </p:nvPicPr>
        <p:blipFill>
          <a:blip r:embed="rId3"/>
          <a:srcRect b="7317"/>
          <a:stretch/>
        </p:blipFill>
        <p:spPr>
          <a:xfrm>
            <a:off x="7239000" y="2286000"/>
            <a:ext cx="4257675" cy="28956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Temperature Control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Temperature Control Systems</a:t>
            </a:r>
          </a:p>
        </p:txBody>
      </p:sp>
      <p:sp>
        <p:nvSpPr>
          <p:cNvPr id="3" name="Content Placeholder 4"/>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Systems may be manually or automatically controlled.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Manual controls require changes to fan speed, discharge temperature, and vent selection.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Automatic systems monitor interior temperature and adjust as needed.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Manual/Semiautomatic Control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Manual/Semiautomatic Controls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Operate similar to heater controls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Control head settings control blend door and air direction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Cooling controlled by control settings and blower speeds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Automatic Climate Control">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Automatic Climate Control</a:t>
            </a:r>
          </a:p>
        </p:txBody>
      </p:sp>
      <p:sp>
        <p:nvSpPr>
          <p:cNvPr id="3" name="Content Placeholder 6"/>
          <p:cNvSpPr txBox="1">
            <a:spLocks noGrp="1"/>
          </p:cNvSpPr>
          <p:nvPr>
            <p:ph sz="quarter" idx="11"/>
          </p:nvPr>
        </p:nvSpPr>
        <p:spPr>
          <a:xfrm>
            <a:off x="838200" y="1600200"/>
            <a:ext cx="5943600" cy="4114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Maintains specific temperature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Uses heat sensors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control module uses sensor and driver input to control the compressor and blend functions.</a:t>
            </a:r>
          </a:p>
        </p:txBody>
      </p:sp>
      <p:pic>
        <p:nvPicPr>
          <p:cNvPr id="9" name="Picture Placeholder 8" descr="A modern H V A C control panel depicts the climate control panel and selectors. The readings in the display panel depict 67 degrees Fahrenheit. Push buttons are for fan control, A C, dual, auto, off, and many other functions.">
            <a:extLst>
              <a:ext uri="{FF2B5EF4-FFF2-40B4-BE49-F238E27FC236}">
                <a16:creationId xmlns:a16="http://schemas.microsoft.com/office/drawing/2014/main" id="{13BF06F6-2688-2A11-E23C-2B047A757002}"/>
              </a:ext>
            </a:extLst>
          </p:cNvPr>
          <p:cNvPicPr>
            <a:picLocks noGrp="1" noChangeAspect="1"/>
          </p:cNvPicPr>
          <p:nvPr>
            <p:ph type="pic" sz="quarter" idx="10"/>
          </p:nvPr>
        </p:nvPicPr>
        <p:blipFill>
          <a:blip r:embed="rId3"/>
          <a:srcRect b="14099"/>
          <a:stretch/>
        </p:blipFill>
        <p:spPr>
          <a:xfrm>
            <a:off x="7037743" y="2387671"/>
            <a:ext cx="4468457" cy="210812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Typical A/C-Heater Du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E139-A6F0-9CC2-EB50-AFDDD997D60A}"/>
              </a:ext>
            </a:extLst>
          </p:cNvPr>
          <p:cNvSpPr>
            <a:spLocks noGrp="1"/>
          </p:cNvSpPr>
          <p:nvPr>
            <p:ph type="title"/>
          </p:nvPr>
        </p:nvSpPr>
        <p:spPr/>
        <p:txBody>
          <a:bodyPr/>
          <a:lstStyle/>
          <a:p>
            <a:r>
              <a:rPr lang="en-IN" dirty="0"/>
              <a:t>Typical Heater/Air Conditioner</a:t>
            </a:r>
          </a:p>
        </p:txBody>
      </p:sp>
      <p:pic>
        <p:nvPicPr>
          <p:cNvPr id="9" name="Picture Placeholder 8" descr="An illustration depicts three different structures in a typical H V A C airflow and heater and air conditioning system components. The first structure depicts the following components: Front ducts, Rear ducts, Heater, Evaporator, Blower, Intake and Dash ducts. The front ducts depict the air coming out to the top. The rear ducts depict air coming out from the left and the dash ducts depict air going down. The switch to the rear duct is off while the switch to the dash and front ducts are open. The switch to the blower is also on. The second structure has the following components labeled: Fresh air, Defrost, Dash outlet, and Footwell outlet. The fresh air is sucked into the element and an arrow is pointing down from the foot wall outlet. The air is coming out of the defrost and dash outlet slot. The third structure depicts the following components labeled: Blower components resistor, Recirculation control motor, Inlet duct temperature sensor, Blower unit components, A/C filter, Air mix control motor, Evaporator components, and Mode control motor.">
            <a:extLst>
              <a:ext uri="{FF2B5EF4-FFF2-40B4-BE49-F238E27FC236}">
                <a16:creationId xmlns:a16="http://schemas.microsoft.com/office/drawing/2014/main" id="{C52E9DB1-D23A-49B7-7F0F-9273C0852211}"/>
              </a:ext>
            </a:extLst>
          </p:cNvPr>
          <p:cNvPicPr>
            <a:picLocks noGrp="1" noChangeAspect="1"/>
          </p:cNvPicPr>
          <p:nvPr>
            <p:ph type="pic" sz="quarter" idx="10"/>
          </p:nvPr>
        </p:nvPicPr>
        <p:blipFill>
          <a:blip r:embed="rId3"/>
          <a:srcRect b="2667"/>
          <a:stretch/>
        </p:blipFill>
        <p:spPr>
          <a:xfrm>
            <a:off x="4144289" y="1371600"/>
            <a:ext cx="3903423" cy="459719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Dual Zone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Dual Zone Systems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Both driver and passenger sides have separate climate controls.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systems are tied into the navigation system.</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The A/C system calculates vehicle direction, time,  location, sun load, and other information to determine the ideal heating or cooling for each side.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Rear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Rear Systems</a:t>
            </a:r>
          </a:p>
        </p:txBody>
      </p:sp>
      <p:sp>
        <p:nvSpPr>
          <p:cNvPr id="3" name="Content Placeholder 2"/>
          <p:cNvSpPr txBox="1">
            <a:spLocks noGrp="1"/>
          </p:cNvSpPr>
          <p:nvPr>
            <p:ph sz="quarter" idx="11"/>
          </p:nvPr>
        </p:nvSpPr>
        <p:spPr>
          <a:xfrm>
            <a:off x="685800" y="1562100"/>
            <a:ext cx="6553200" cy="3733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Rear A/C systems use a separate rear A/C unit.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compressor moves refrigerant for both the front and rear systems.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Has separate controls for front and rear</a:t>
            </a:r>
          </a:p>
        </p:txBody>
      </p:sp>
      <p:pic>
        <p:nvPicPr>
          <p:cNvPr id="9" name="Picture Placeholder 8" descr="A rear A C unit of a car. The enlarged view of the component in the rear region depicts a separate evaporator.">
            <a:extLst>
              <a:ext uri="{FF2B5EF4-FFF2-40B4-BE49-F238E27FC236}">
                <a16:creationId xmlns:a16="http://schemas.microsoft.com/office/drawing/2014/main" id="{8328AD4B-E7DF-A297-E11C-D1DFC50BFBD3}"/>
              </a:ext>
            </a:extLst>
          </p:cNvPr>
          <p:cNvPicPr>
            <a:picLocks noGrp="1" noChangeAspect="1"/>
          </p:cNvPicPr>
          <p:nvPr>
            <p:ph type="pic" sz="quarter" idx="10"/>
          </p:nvPr>
        </p:nvPicPr>
        <p:blipFill>
          <a:blip r:embed="rId3"/>
          <a:srcRect b="7667"/>
          <a:stretch/>
        </p:blipFill>
        <p:spPr>
          <a:xfrm>
            <a:off x="7477677" y="1752601"/>
            <a:ext cx="4104723" cy="31242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1FCE4-B0C8-1347-A870-AD54CD537AB2}"/>
              </a:ext>
            </a:extLst>
          </p:cNvPr>
          <p:cNvSpPr>
            <a:spLocks noGrp="1"/>
          </p:cNvSpPr>
          <p:nvPr>
            <p:ph type="title"/>
          </p:nvPr>
        </p:nvSpPr>
        <p:spPr/>
        <p:txBody>
          <a:bodyPr/>
          <a:lstStyle/>
          <a:p>
            <a:r>
              <a:rPr lang="en-US" dirty="0"/>
              <a:t>Chapter Reflection</a:t>
            </a:r>
          </a:p>
        </p:txBody>
      </p:sp>
      <p:sp>
        <p:nvSpPr>
          <p:cNvPr id="3" name="Content Placeholder 2">
            <a:extLst>
              <a:ext uri="{FF2B5EF4-FFF2-40B4-BE49-F238E27FC236}">
                <a16:creationId xmlns:a16="http://schemas.microsoft.com/office/drawing/2014/main" id="{4CDEBE53-EEAB-37D8-B159-2277D068EA0F}"/>
              </a:ext>
            </a:extLst>
          </p:cNvPr>
          <p:cNvSpPr>
            <a:spLocks noGrp="1"/>
          </p:cNvSpPr>
          <p:nvPr>
            <p:ph type="body" idx="1"/>
          </p:nvPr>
        </p:nvSpPr>
        <p:spPr/>
        <p:txBody>
          <a:bodyPr/>
          <a:lstStyle/>
          <a:p>
            <a:pPr>
              <a:spcBef>
                <a:spcPts val="624"/>
              </a:spcBef>
              <a:spcAft>
                <a:spcPts val="600"/>
              </a:spcAft>
            </a:pPr>
            <a:r>
              <a:rPr lang="en-US" sz="2600" dirty="0">
                <a:solidFill>
                  <a:schemeClr val="tx1"/>
                </a:solidFill>
                <a:latin typeface="Work Sans" pitchFamily="2" charset="0"/>
              </a:rPr>
              <a:t>Write down a concept from this chapter that challenged you. </a:t>
            </a:r>
          </a:p>
          <a:p>
            <a:pPr lvl="1">
              <a:spcBef>
                <a:spcPts val="624"/>
              </a:spcBef>
              <a:spcAft>
                <a:spcPts val="600"/>
              </a:spcAft>
            </a:pPr>
            <a:r>
              <a:rPr lang="en-US" dirty="0">
                <a:solidFill>
                  <a:schemeClr val="tx1"/>
                </a:solidFill>
                <a:latin typeface="Work Sans" pitchFamily="2" charset="0"/>
              </a:rPr>
              <a:t>Describe what made the concept difficult for you. </a:t>
            </a:r>
          </a:p>
          <a:p>
            <a:pPr lvl="1">
              <a:spcBef>
                <a:spcPts val="624"/>
              </a:spcBef>
              <a:spcAft>
                <a:spcPts val="600"/>
              </a:spcAft>
            </a:pPr>
            <a:r>
              <a:rPr lang="en-US" dirty="0">
                <a:solidFill>
                  <a:schemeClr val="tx1"/>
                </a:solidFill>
                <a:latin typeface="Work Sans" pitchFamily="2" charset="0"/>
              </a:rPr>
              <a:t>What steps did you take improve your understanding? </a:t>
            </a:r>
          </a:p>
          <a:p>
            <a:pPr lvl="1">
              <a:spcBef>
                <a:spcPts val="624"/>
              </a:spcBef>
              <a:spcAft>
                <a:spcPts val="600"/>
              </a:spcAft>
            </a:pPr>
            <a:r>
              <a:rPr lang="en-US" dirty="0">
                <a:solidFill>
                  <a:schemeClr val="tx1"/>
                </a:solidFill>
                <a:latin typeface="Work Sans" pitchFamily="2" charset="0"/>
              </a:rPr>
              <a:t>How could you help another student who was struggling with the same concept?</a:t>
            </a:r>
          </a:p>
          <a:p>
            <a:pPr>
              <a:spcBef>
                <a:spcPts val="624"/>
              </a:spcBef>
              <a:spcAft>
                <a:spcPts val="600"/>
              </a:spcAft>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436148777"/>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3181</TotalTime>
  <Words>2353</Words>
  <Application>Microsoft Office PowerPoint</Application>
  <PresentationFormat>Widescreen</PresentationFormat>
  <Paragraphs>313</Paragraphs>
  <Slides>73</Slides>
  <Notes>66</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Theme3</vt:lpstr>
      <vt:lpstr>Automotive Technology: A Systems Approach, 8e</vt:lpstr>
      <vt:lpstr>Chapter Objectives (1 of 2)</vt:lpstr>
      <vt:lpstr>Chapter Objectives (2 of 2)</vt:lpstr>
      <vt:lpstr>Ventilation System</vt:lpstr>
      <vt:lpstr>Flow-Through Ventilation System</vt:lpstr>
      <vt:lpstr>Automotive Heating Systems</vt:lpstr>
      <vt:lpstr>Heating System Components</vt:lpstr>
      <vt:lpstr>Coolant Flow-Through Heater</vt:lpstr>
      <vt:lpstr>Heater Control Valve</vt:lpstr>
      <vt:lpstr>PTC Heaters</vt:lpstr>
      <vt:lpstr>Blower Motor</vt:lpstr>
      <vt:lpstr>Heater and Defroster Duct Hoses</vt:lpstr>
      <vt:lpstr>Typical HVAC Components</vt:lpstr>
      <vt:lpstr>Heaters in Hybrid Vehicles</vt:lpstr>
      <vt:lpstr>Typical Hybrid Heater System</vt:lpstr>
      <vt:lpstr>Heater System Service</vt:lpstr>
      <vt:lpstr>Basic Heater Inspection and Checks</vt:lpstr>
      <vt:lpstr>Evidence of a Leaking Heater Core</vt:lpstr>
      <vt:lpstr>Heater Core Service</vt:lpstr>
      <vt:lpstr>PTC Heaters </vt:lpstr>
      <vt:lpstr>Heater Control Valve Service</vt:lpstr>
      <vt:lpstr>Trouble Codes</vt:lpstr>
      <vt:lpstr>Thermostat Service</vt:lpstr>
      <vt:lpstr>Blower Motor Service</vt:lpstr>
      <vt:lpstr>Table 54-1 Blower Motor Diagnosis</vt:lpstr>
      <vt:lpstr>Heater and Defroster Duct Service</vt:lpstr>
      <vt:lpstr>Knowledge Check (1 of 3)</vt:lpstr>
      <vt:lpstr>Knowledge Check Answer (1 of 3)</vt:lpstr>
      <vt:lpstr>Heat Flow</vt:lpstr>
      <vt:lpstr>Heat Absorption</vt:lpstr>
      <vt:lpstr>Latent Heat</vt:lpstr>
      <vt:lpstr>Pressure and Boiling Points (1 of 2)</vt:lpstr>
      <vt:lpstr>Pressure and Boiling Points (2 of 2) </vt:lpstr>
      <vt:lpstr>Relative Humidity</vt:lpstr>
      <vt:lpstr>Refrigerants</vt:lpstr>
      <vt:lpstr>R-134a</vt:lpstr>
      <vt:lpstr>HFO-1234yf</vt:lpstr>
      <vt:lpstr>Alternative Refrigerants</vt:lpstr>
      <vt:lpstr>CO2 Systems</vt:lpstr>
      <vt:lpstr>CO2 System Layout</vt:lpstr>
      <vt:lpstr>Basic A/C System Operation</vt:lpstr>
      <vt:lpstr>Basic Refrigerant Cycle</vt:lpstr>
      <vt:lpstr>Knowledge Check (2 of 3)</vt:lpstr>
      <vt:lpstr>Knowledge Check Answer (2 of 3)</vt:lpstr>
      <vt:lpstr>System Components</vt:lpstr>
      <vt:lpstr>Compressor Strokes</vt:lpstr>
      <vt:lpstr>Compressor Designs</vt:lpstr>
      <vt:lpstr>Compressor Clutches</vt:lpstr>
      <vt:lpstr>Electric Drive Compressors</vt:lpstr>
      <vt:lpstr>Electric A/C Compressor</vt:lpstr>
      <vt:lpstr>Refrigerant Oils</vt:lpstr>
      <vt:lpstr>Condenser (1 of 2)</vt:lpstr>
      <vt:lpstr>Condenser (2 of 2)  </vt:lpstr>
      <vt:lpstr>Subcoolers</vt:lpstr>
      <vt:lpstr>Receiver/Dryer</vt:lpstr>
      <vt:lpstr>Accumulator</vt:lpstr>
      <vt:lpstr>Thermostatic Expansion Valve (TXV) (1 of 2)</vt:lpstr>
      <vt:lpstr>Thermostatic Expansion Valve (TXV) (2 of 2)</vt:lpstr>
      <vt:lpstr>Orifice Tube</vt:lpstr>
      <vt:lpstr>Evaporator</vt:lpstr>
      <vt:lpstr>Refrigerant Lines</vt:lpstr>
      <vt:lpstr>Knowledge Check (3 of 3)</vt:lpstr>
      <vt:lpstr>Knowledge Check Answer (3 of 3)</vt:lpstr>
      <vt:lpstr>A/C Systems and Controls</vt:lpstr>
      <vt:lpstr>Examples of Compressor Controls</vt:lpstr>
      <vt:lpstr>Solar Sensor</vt:lpstr>
      <vt:lpstr>Temperature Control Systems</vt:lpstr>
      <vt:lpstr>Manual/Semiautomatic Controls</vt:lpstr>
      <vt:lpstr>Automatic Climate Control</vt:lpstr>
      <vt:lpstr>Typical Heater/Air Conditioner</vt:lpstr>
      <vt:lpstr>Dual Zone Systems</vt:lpstr>
      <vt:lpstr>Rear Systems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54 Heating and Air-Conditioning</dc:title>
  <dc:creator>Erjavac</dc:creator>
  <cp:lastModifiedBy>DiCaterino, Kara</cp:lastModifiedBy>
  <cp:revision>196</cp:revision>
  <dcterms:modified xsi:type="dcterms:W3CDTF">2024-11-22T17:00:11Z</dcterms:modified>
</cp:coreProperties>
</file>