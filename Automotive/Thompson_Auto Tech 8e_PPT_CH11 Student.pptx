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6"/>
  </p:notesMasterIdLst>
  <p:sldIdLst>
    <p:sldId id="403" r:id="rId2"/>
    <p:sldId id="257" r:id="rId3"/>
    <p:sldId id="433" r:id="rId4"/>
    <p:sldId id="461" r:id="rId5"/>
    <p:sldId id="493" r:id="rId6"/>
    <p:sldId id="494" r:id="rId7"/>
    <p:sldId id="495" r:id="rId8"/>
    <p:sldId id="496" r:id="rId9"/>
    <p:sldId id="497" r:id="rId10"/>
    <p:sldId id="498" r:id="rId11"/>
    <p:sldId id="525" r:id="rId12"/>
    <p:sldId id="526" r:id="rId13"/>
    <p:sldId id="499" r:id="rId14"/>
    <p:sldId id="500" r:id="rId15"/>
    <p:sldId id="501" r:id="rId16"/>
    <p:sldId id="502" r:id="rId17"/>
    <p:sldId id="503" r:id="rId18"/>
    <p:sldId id="504" r:id="rId19"/>
    <p:sldId id="505" r:id="rId20"/>
    <p:sldId id="506" r:id="rId21"/>
    <p:sldId id="508" r:id="rId22"/>
    <p:sldId id="507" r:id="rId23"/>
    <p:sldId id="284" r:id="rId24"/>
    <p:sldId id="285" r:id="rId25"/>
    <p:sldId id="509" r:id="rId26"/>
    <p:sldId id="510" r:id="rId27"/>
    <p:sldId id="511" r:id="rId28"/>
    <p:sldId id="527" r:id="rId29"/>
    <p:sldId id="513" r:id="rId30"/>
    <p:sldId id="514" r:id="rId31"/>
    <p:sldId id="515" r:id="rId32"/>
    <p:sldId id="516" r:id="rId33"/>
    <p:sldId id="517" r:id="rId34"/>
    <p:sldId id="518" r:id="rId35"/>
    <p:sldId id="519" r:id="rId36"/>
    <p:sldId id="528" r:id="rId37"/>
    <p:sldId id="520" r:id="rId38"/>
    <p:sldId id="529" r:id="rId39"/>
    <p:sldId id="521" r:id="rId40"/>
    <p:sldId id="522" r:id="rId41"/>
    <p:sldId id="523" r:id="rId42"/>
    <p:sldId id="530" r:id="rId43"/>
    <p:sldId id="524" r:id="rId44"/>
    <p:sldId id="301" r:id="rId45"/>
  </p:sldIdLst>
  <p:sldSz cx="12192000" cy="6858000"/>
  <p:notesSz cx="6858000" cy="9144000"/>
  <p:embeddedFontLst>
    <p:embeddedFont>
      <p:font typeface="Work Sans" pitchFamily="2"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31" clrIdx="1">
    <p:extLst>
      <p:ext uri="{19B8F6BF-5375-455C-9EA6-DF929625EA0E}">
        <p15:presenceInfo xmlns:p15="http://schemas.microsoft.com/office/powerpoint/2012/main" userId="6637e9e8b0383d0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52" autoAdjust="0"/>
    <p:restoredTop sz="86655" autoAdjust="0"/>
  </p:normalViewPr>
  <p:slideViewPr>
    <p:cSldViewPr snapToGrid="0">
      <p:cViewPr varScale="1">
        <p:scale>
          <a:sx n="51" d="100"/>
          <a:sy n="51" d="100"/>
        </p:scale>
        <p:origin x="992"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a:p>
        </p:txBody>
      </p:sp>
    </p:spTree>
    <p:extLst>
      <p:ext uri="{BB962C8B-B14F-4D97-AF65-F5344CB8AC3E}">
        <p14:creationId xmlns:p14="http://schemas.microsoft.com/office/powerpoint/2010/main" val="383963197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14386201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082644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16175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858082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679074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640575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440071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78011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06" name="Google Shape;306;p2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07" name="Google Shape;307;p2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17474164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0: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13" name="Google Shape;313;p30: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14" name="Google Shape;314;p30: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4214814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583167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489884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712638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267736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63912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718204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519933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480014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292653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82425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06" name="Google Shape;306;p2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07" name="Google Shape;307;p2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0: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13" name="Google Shape;313;p30: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14" name="Google Shape;314;p30: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585685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470550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422411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697010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710673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331942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180701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451767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244649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899667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322225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939727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9491509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972308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415598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5340604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679112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408617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253" name="Google Shape;253;p2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54" name="Google Shape;254;p2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Tree>
    <p:extLst>
      <p:ext uri="{BB962C8B-B14F-4D97-AF65-F5344CB8AC3E}">
        <p14:creationId xmlns:p14="http://schemas.microsoft.com/office/powerpoint/2010/main" val="244882442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6"/>
            <a:ext cx="11241915" cy="902972"/>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9"/>
          <p:cNvSpPr txBox="1">
            <a:spLocks noGrp="1"/>
          </p:cNvSpPr>
          <p:nvPr>
            <p:ph type="body" idx="1"/>
          </p:nvPr>
        </p:nvSpPr>
        <p:spPr>
          <a:xfrm>
            <a:off x="476843" y="1563624"/>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0"/>
              </a:spcAft>
              <a:buSzPts val="2800"/>
              <a:buChar char="•"/>
              <a:defRPr sz="2600"/>
            </a:lvl1pPr>
            <a:lvl2pPr marL="720725" lvl="1" indent="-360363" algn="l">
              <a:lnSpc>
                <a:spcPct val="100000"/>
              </a:lnSpc>
              <a:spcBef>
                <a:spcPts val="624"/>
              </a:spcBef>
              <a:spcAft>
                <a:spcPts val="0"/>
              </a:spcAft>
              <a:buSzPts val="2600"/>
              <a:buChar char="−"/>
              <a:defRPr sz="2400" b="0"/>
            </a:lvl2pPr>
            <a:lvl3pPr marL="1081088" lvl="2" indent="-360363"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a:p>
          <a:p>
            <a:pPr lvl="1"/>
            <a:r>
              <a:rPr lang="en-IN"/>
              <a:t> </a:t>
            </a:r>
          </a:p>
          <a:p>
            <a:pPr lvl="2"/>
            <a:r>
              <a:rPr lang="en-IN"/>
              <a:t>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6"/>
            <a:ext cx="11241915" cy="902972"/>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9"/>
          <p:cNvSpPr txBox="1">
            <a:spLocks noGrp="1"/>
          </p:cNvSpPr>
          <p:nvPr>
            <p:ph type="body" idx="1"/>
          </p:nvPr>
        </p:nvSpPr>
        <p:spPr>
          <a:xfrm>
            <a:off x="476843" y="1563625"/>
            <a:ext cx="11241915" cy="1865376"/>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0"/>
              </a:spcAft>
              <a:buSzPts val="2800"/>
              <a:buChar char="•"/>
              <a:defRPr sz="2600"/>
            </a:lvl1pPr>
            <a:lvl2pPr marL="720725" lvl="1" indent="-360363" algn="l">
              <a:lnSpc>
                <a:spcPct val="100000"/>
              </a:lnSpc>
              <a:spcBef>
                <a:spcPts val="624"/>
              </a:spcBef>
              <a:spcAft>
                <a:spcPts val="0"/>
              </a:spcAft>
              <a:buSzPts val="2600"/>
              <a:buChar char="−"/>
              <a:defRPr sz="2400" b="0"/>
            </a:lvl2pPr>
            <a:lvl3pPr marL="1081088" lvl="2" indent="-360363"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a:p>
          <a:p>
            <a:pPr lvl="1"/>
            <a:r>
              <a:rPr lang="en-IN"/>
              <a:t> </a:t>
            </a:r>
          </a:p>
          <a:p>
            <a:pPr lvl="2"/>
            <a:r>
              <a:rPr lang="en-IN"/>
              <a:t> </a:t>
            </a:r>
          </a:p>
        </p:txBody>
      </p:sp>
      <p:sp>
        <p:nvSpPr>
          <p:cNvPr id="3" name="Content Placeholder 2">
            <a:extLst>
              <a:ext uri="{FF2B5EF4-FFF2-40B4-BE49-F238E27FC236}">
                <a16:creationId xmlns:a16="http://schemas.microsoft.com/office/drawing/2014/main" id="{04472FF9-23C9-54FD-E4FA-CD1E9AFB97D0}"/>
              </a:ext>
            </a:extLst>
          </p:cNvPr>
          <p:cNvSpPr>
            <a:spLocks noGrp="1"/>
          </p:cNvSpPr>
          <p:nvPr>
            <p:ph sz="quarter" idx="10"/>
          </p:nvPr>
        </p:nvSpPr>
        <p:spPr>
          <a:xfrm>
            <a:off x="476250" y="3536950"/>
            <a:ext cx="3273425" cy="4524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Picture Placeholder 4">
            <a:extLst>
              <a:ext uri="{FF2B5EF4-FFF2-40B4-BE49-F238E27FC236}">
                <a16:creationId xmlns:a16="http://schemas.microsoft.com/office/drawing/2014/main" id="{75B58C32-AF90-F125-FA38-0CD1CD5ECAF6}"/>
              </a:ext>
            </a:extLst>
          </p:cNvPr>
          <p:cNvSpPr>
            <a:spLocks noGrp="1"/>
          </p:cNvSpPr>
          <p:nvPr>
            <p:ph type="pic" sz="quarter" idx="11"/>
          </p:nvPr>
        </p:nvSpPr>
        <p:spPr>
          <a:xfrm>
            <a:off x="3935413" y="3536950"/>
            <a:ext cx="839787" cy="1265238"/>
          </a:xfrm>
        </p:spPr>
        <p:txBody>
          <a:bodyPr/>
          <a:lstStyle/>
          <a:p>
            <a:endParaRPr lang="en-IN"/>
          </a:p>
        </p:txBody>
      </p:sp>
      <p:sp>
        <p:nvSpPr>
          <p:cNvPr id="7" name="Picture Placeholder 6">
            <a:extLst>
              <a:ext uri="{FF2B5EF4-FFF2-40B4-BE49-F238E27FC236}">
                <a16:creationId xmlns:a16="http://schemas.microsoft.com/office/drawing/2014/main" id="{01FBDAD7-1D24-83D6-2CC3-AD0A88B9078D}"/>
              </a:ext>
            </a:extLst>
          </p:cNvPr>
          <p:cNvSpPr>
            <a:spLocks noGrp="1"/>
          </p:cNvSpPr>
          <p:nvPr>
            <p:ph type="pic" sz="quarter" idx="12"/>
          </p:nvPr>
        </p:nvSpPr>
        <p:spPr>
          <a:xfrm>
            <a:off x="4876800" y="3536950"/>
            <a:ext cx="839788" cy="1265238"/>
          </a:xfrm>
        </p:spPr>
        <p:txBody>
          <a:bodyPr/>
          <a:lstStyle/>
          <a:p>
            <a:endParaRPr lang="en-IN"/>
          </a:p>
        </p:txBody>
      </p:sp>
    </p:spTree>
    <p:extLst>
      <p:ext uri="{BB962C8B-B14F-4D97-AF65-F5344CB8AC3E}">
        <p14:creationId xmlns:p14="http://schemas.microsoft.com/office/powerpoint/2010/main" val="333509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0"/>
          <p:cNvSpPr txBox="1">
            <a:spLocks noGrp="1"/>
          </p:cNvSpPr>
          <p:nvPr>
            <p:ph type="body" idx="1"/>
          </p:nvPr>
        </p:nvSpPr>
        <p:spPr>
          <a:xfrm>
            <a:off x="476843" y="1825625"/>
            <a:ext cx="5542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50"/>
          <p:cNvSpPr txBox="1">
            <a:spLocks noGrp="1"/>
          </p:cNvSpPr>
          <p:nvPr>
            <p:ph type="body" idx="2"/>
          </p:nvPr>
        </p:nvSpPr>
        <p:spPr>
          <a:xfrm>
            <a:off x="6172200" y="1825625"/>
            <a:ext cx="5542956"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1"/>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800">
                <a:solidFill>
                  <a:schemeClr val="dk1"/>
                </a:solidFill>
                <a:latin typeface="Calibri"/>
                <a:ea typeface="Calibri"/>
                <a:cs typeface="Calibri"/>
                <a:sym typeface="Calibri"/>
              </a:defRPr>
            </a:lvl1pPr>
            <a:lvl2pPr marL="0" marR="0" lvl="1" indent="0" algn="l" rtl="0">
              <a:spcBef>
                <a:spcPts val="0"/>
              </a:spcBef>
              <a:spcAft>
                <a:spcPts val="0"/>
              </a:spcAft>
              <a:buNone/>
              <a:defRPr sz="1800">
                <a:solidFill>
                  <a:schemeClr val="dk1"/>
                </a:solidFill>
                <a:latin typeface="Calibri"/>
                <a:ea typeface="Calibri"/>
                <a:cs typeface="Calibri"/>
                <a:sym typeface="Calibri"/>
              </a:defRPr>
            </a:lvl2pPr>
            <a:lvl3pPr marL="0" marR="0" lvl="2" indent="0" algn="l" rtl="0">
              <a:spcBef>
                <a:spcPts val="0"/>
              </a:spcBef>
              <a:spcAft>
                <a:spcPts val="0"/>
              </a:spcAft>
              <a:buNone/>
              <a:defRPr sz="1800">
                <a:solidFill>
                  <a:schemeClr val="dk1"/>
                </a:solidFill>
                <a:latin typeface="Calibri"/>
                <a:ea typeface="Calibri"/>
                <a:cs typeface="Calibri"/>
                <a:sym typeface="Calibri"/>
              </a:defRPr>
            </a:lvl3pPr>
            <a:lvl4pPr marL="0" marR="0" lvl="3" indent="0" algn="l" rtl="0">
              <a:spcBef>
                <a:spcPts val="0"/>
              </a:spcBef>
              <a:spcAft>
                <a:spcPts val="0"/>
              </a:spcAft>
              <a:buNone/>
              <a:defRPr sz="1800">
                <a:solidFill>
                  <a:schemeClr val="dk1"/>
                </a:solidFill>
                <a:latin typeface="Calibri"/>
                <a:ea typeface="Calibri"/>
                <a:cs typeface="Calibri"/>
                <a:sym typeface="Calibri"/>
              </a:defRPr>
            </a:lvl4pPr>
            <a:lvl5pPr marL="0" marR="0" lvl="4" indent="0" algn="l" rtl="0">
              <a:spcBef>
                <a:spcPts val="0"/>
              </a:spcBef>
              <a:spcAft>
                <a:spcPts val="0"/>
              </a:spcAft>
              <a:buNone/>
              <a:defRPr sz="1800">
                <a:solidFill>
                  <a:schemeClr val="dk1"/>
                </a:solidFill>
                <a:latin typeface="Calibri"/>
                <a:ea typeface="Calibri"/>
                <a:cs typeface="Calibri"/>
                <a:sym typeface="Calibri"/>
              </a:defRPr>
            </a:lvl5pPr>
            <a:lvl6pPr marL="0" marR="0" lvl="5" indent="0" algn="l" rtl="0">
              <a:spcBef>
                <a:spcPts val="0"/>
              </a:spcBef>
              <a:spcAft>
                <a:spcPts val="0"/>
              </a:spcAft>
              <a:buNone/>
              <a:defRPr sz="1800">
                <a:solidFill>
                  <a:schemeClr val="dk1"/>
                </a:solidFill>
                <a:latin typeface="Calibri"/>
                <a:ea typeface="Calibri"/>
                <a:cs typeface="Calibri"/>
                <a:sym typeface="Calibri"/>
              </a:defRPr>
            </a:lvl6pPr>
            <a:lvl7pPr marL="0" marR="0" lvl="6" indent="0" algn="l" rtl="0">
              <a:spcBef>
                <a:spcPts val="0"/>
              </a:spcBef>
              <a:spcAft>
                <a:spcPts val="0"/>
              </a:spcAft>
              <a:buNone/>
              <a:defRPr sz="1800">
                <a:solidFill>
                  <a:schemeClr val="dk1"/>
                </a:solidFill>
                <a:latin typeface="Calibri"/>
                <a:ea typeface="Calibri"/>
                <a:cs typeface="Calibri"/>
                <a:sym typeface="Calibri"/>
              </a:defRPr>
            </a:lvl7pPr>
            <a:lvl8pPr marL="0" marR="0" lvl="7" indent="0" algn="l" rtl="0">
              <a:spcBef>
                <a:spcPts val="0"/>
              </a:spcBef>
              <a:spcAft>
                <a:spcPts val="0"/>
              </a:spcAft>
              <a:buNone/>
              <a:defRPr sz="1800">
                <a:solidFill>
                  <a:schemeClr val="dk1"/>
                </a:solidFill>
                <a:latin typeface="Calibri"/>
                <a:ea typeface="Calibri"/>
                <a:cs typeface="Calibri"/>
                <a:sym typeface="Calibri"/>
              </a:defRPr>
            </a:lvl8pPr>
            <a:lvl9pPr marL="0" marR="0" lvl="8" indent="0" algn="l" rtl="0">
              <a:spcBef>
                <a:spcPts val="0"/>
              </a:spcBef>
              <a:spcAft>
                <a:spcPts val="0"/>
              </a:spcAft>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2" name="Google Shape;42;p52"/>
          <p:cNvSpPr txBox="1"/>
          <p:nvPr/>
        </p:nvSpPr>
        <p:spPr>
          <a:xfrm>
            <a:off x="2322513" y="6393561"/>
            <a:ext cx="8677275"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1200">
                <a:solidFill>
                  <a:schemeClr val="lt1"/>
                </a:solidFill>
                <a:latin typeface="Arial"/>
                <a:ea typeface="Arial"/>
                <a:cs typeface="Arial"/>
                <a:sym typeface="Arial"/>
              </a:rPr>
              <a:t>Rob Thompson and Jack Erjavec, Automotive Technology: A Systems Approach, 8</a:t>
            </a:r>
            <a:r>
              <a:rPr lang="en-US" sz="1200" baseline="30000">
                <a:solidFill>
                  <a:schemeClr val="lt1"/>
                </a:solidFill>
                <a:latin typeface="Arial"/>
                <a:ea typeface="Arial"/>
                <a:cs typeface="Arial"/>
                <a:sym typeface="Arial"/>
              </a:rPr>
              <a:t>th</a:t>
            </a:r>
            <a:r>
              <a:rPr lang="en-US" sz="12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0" y="0"/>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Chapter Number</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Name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pic>
        <p:nvPicPr>
          <p:cNvPr id="21" name="Picture 20">
            <a:extLst>
              <a:ext uri="{FF2B5EF4-FFF2-40B4-BE49-F238E27FC236}">
                <a16:creationId xmlns:a16="http://schemas.microsoft.com/office/drawing/2014/main" id="{FDE6C580-026E-426D-A0EE-BDE15B891A0A}"/>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83087" y="6223885"/>
            <a:ext cx="1820281" cy="610675"/>
          </a:xfrm>
          <a:prstGeom prst="rect">
            <a:avLst/>
          </a:prstGeom>
        </p:spPr>
      </p:pic>
      <p:sp>
        <p:nvSpPr>
          <p:cNvPr id="5" name="Content Placeholder 4">
            <a:extLst>
              <a:ext uri="{FF2B5EF4-FFF2-40B4-BE49-F238E27FC236}">
                <a16:creationId xmlns:a16="http://schemas.microsoft.com/office/drawing/2014/main" id="{D13D6583-B40C-2D1D-24F2-84CA0411EB21}"/>
              </a:ext>
            </a:extLst>
          </p:cNvPr>
          <p:cNvSpPr>
            <a:spLocks noGrp="1"/>
          </p:cNvSpPr>
          <p:nvPr>
            <p:ph sz="quarter" idx="12"/>
          </p:nvPr>
        </p:nvSpPr>
        <p:spPr>
          <a:xfrm>
            <a:off x="2146300" y="6303963"/>
            <a:ext cx="8739188" cy="2698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ustDataLst>
      <p:tags r:id="rId1"/>
    </p:custDataLst>
    <p:extLst>
      <p:ext uri="{BB962C8B-B14F-4D97-AF65-F5344CB8AC3E}">
        <p14:creationId xmlns:p14="http://schemas.microsoft.com/office/powerpoint/2010/main" val="1457373921"/>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8">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a:solidFill>
                <a:schemeClr val="lt1"/>
              </a:solidFill>
              <a:latin typeface="Work Sans"/>
              <a:ea typeface="Work Sans"/>
              <a:cs typeface="Work Sans"/>
              <a:sym typeface="Work Sans"/>
            </a:endParaRPr>
          </a:p>
        </p:txBody>
      </p:sp>
      <p:sp>
        <p:nvSpPr>
          <p:cNvPr id="3" name="Content Placeholder 4">
            <a:extLst>
              <a:ext uri="{FF2B5EF4-FFF2-40B4-BE49-F238E27FC236}">
                <a16:creationId xmlns:a16="http://schemas.microsoft.com/office/drawing/2014/main" id="{061AB328-F4B5-BD9E-36B6-439D87BD4AC0}"/>
              </a:ext>
            </a:extLst>
          </p:cNvPr>
          <p:cNvSpPr txBox="1">
            <a:spLocks/>
          </p:cNvSpPr>
          <p:nvPr userDrawn="1"/>
        </p:nvSpPr>
        <p:spPr>
          <a:xfrm>
            <a:off x="2032461" y="6327949"/>
            <a:ext cx="9345472" cy="461665"/>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kern="120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a:solidFill>
                  <a:schemeClr val="bg1"/>
                </a:solidFill>
                <a:latin typeface="Work Sans" pitchFamily="2" charset="0"/>
                <a:cs typeface="Arial" panose="020B0604020202020204" pitchFamily="34" charset="0"/>
              </a:rPr>
              <a:t>th</a:t>
            </a:r>
            <a:r>
              <a:rPr lang="en-US" sz="1200" kern="120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latin typeface="Work Sans" pitchFamily="2" charset="0"/>
              <a:cs typeface="Arial" panose="020B0604020202020204" pitchFamily="34" charset="0"/>
            </a:endParaRPr>
          </a:p>
        </p:txBody>
      </p:sp>
    </p:spTree>
  </p:cSld>
  <p:clrMap bg1="lt1" tx1="dk1" bg2="dk2" tx2="lt2" accent1="accent1" accent2="accent2" accent3="accent3" accent4="accent4" accent5="accent5" accent6="accent6" hlink="hlink" folHlink="folHlink"/>
  <p:sldLayoutIdLst>
    <p:sldLayoutId id="2147483650" r:id="rId1"/>
    <p:sldLayoutId id="2147483664"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5"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6.xml"/><Relationship Id="rId1" Type="http://schemas.openxmlformats.org/officeDocument/2006/relationships/tags" Target="../tags/tag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F5FCE66-4DFC-4C59-A36E-7A4DE8D188A2}"/>
              </a:ext>
            </a:extLst>
          </p:cNvPr>
          <p:cNvSpPr>
            <a:spLocks noGrp="1"/>
          </p:cNvSpPr>
          <p:nvPr>
            <p:ph type="ctrTitle"/>
          </p:nvPr>
        </p:nvSpPr>
        <p:spPr/>
        <p:txBody>
          <a:bodyPr/>
          <a:lstStyle/>
          <a:p>
            <a:r>
              <a:rPr lang="en-US" sz="4000" dirty="0">
                <a:cs typeface="Arial" panose="020B0604020202020204" pitchFamily="34" charset="0"/>
              </a:rPr>
              <a:t>Automotive Technology: </a:t>
            </a:r>
            <a:br>
              <a:rPr lang="en-US" sz="4000" dirty="0">
                <a:cs typeface="Arial" panose="020B0604020202020204" pitchFamily="34" charset="0"/>
              </a:rPr>
            </a:br>
            <a:r>
              <a:rPr lang="en-US" sz="4000" dirty="0">
                <a:cs typeface="Arial" panose="020B0604020202020204" pitchFamily="34" charset="0"/>
              </a:rPr>
              <a:t>A Systems Approach,</a:t>
            </a:r>
            <a:r>
              <a:rPr lang="en-IN" sz="4000" dirty="0">
                <a:cs typeface="Arial" panose="020B0604020202020204" pitchFamily="34" charset="0"/>
              </a:rPr>
              <a:t> 8e</a:t>
            </a:r>
          </a:p>
        </p:txBody>
      </p:sp>
      <p:sp>
        <p:nvSpPr>
          <p:cNvPr id="9" name="Subtitle 8">
            <a:extLst>
              <a:ext uri="{FF2B5EF4-FFF2-40B4-BE49-F238E27FC236}">
                <a16:creationId xmlns:a16="http://schemas.microsoft.com/office/drawing/2014/main" id="{750BCB8A-256D-4B8C-A91A-98C6C9437858}"/>
              </a:ext>
            </a:extLst>
          </p:cNvPr>
          <p:cNvSpPr>
            <a:spLocks noGrp="1"/>
          </p:cNvSpPr>
          <p:nvPr>
            <p:ph type="subTitle" idx="1"/>
          </p:nvPr>
        </p:nvSpPr>
        <p:spPr/>
        <p:txBody>
          <a:bodyPr/>
          <a:lstStyle/>
          <a:p>
            <a:r>
              <a:rPr lang="en-US" dirty="0">
                <a:cs typeface="Arial" panose="020B0604020202020204" pitchFamily="34" charset="0"/>
              </a:rPr>
              <a:t>Chapter 11: Lower End Theory and Service</a:t>
            </a:r>
          </a:p>
        </p:txBody>
      </p:sp>
      <p:pic>
        <p:nvPicPr>
          <p:cNvPr id="2"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A722895C-D5F5-D069-5D50-81B26D9F16AA}"/>
              </a:ext>
            </a:extLst>
          </p:cNvPr>
          <p:cNvPicPr>
            <a:picLocks noGrp="1" noChangeAspect="1"/>
          </p:cNvPicPr>
          <p:nvPr>
            <p:ph type="pic" sz="quarter" idx="11"/>
          </p:nvPr>
        </p:nvPicPr>
        <p:blipFill rotWithShape="1">
          <a:blip r:embed="rId4"/>
          <a:stretch/>
        </p:blipFill>
        <p:spPr>
          <a:xfrm>
            <a:off x="653972" y="640706"/>
            <a:ext cx="4319966" cy="5532289"/>
          </a:xfrm>
          <a:prstGeom prst="rect">
            <a:avLst/>
          </a:prstGeom>
        </p:spPr>
      </p:pic>
      <p:sp>
        <p:nvSpPr>
          <p:cNvPr id="5" name="Content Placeholder 4">
            <a:extLst>
              <a:ext uri="{FF2B5EF4-FFF2-40B4-BE49-F238E27FC236}">
                <a16:creationId xmlns:a16="http://schemas.microsoft.com/office/drawing/2014/main" id="{A4B5BA96-46CA-D50E-020A-74C2CBDC89A6}"/>
              </a:ext>
            </a:extLst>
          </p:cNvPr>
          <p:cNvSpPr txBox="1">
            <a:spLocks noGrp="1"/>
          </p:cNvSpPr>
          <p:nvPr>
            <p:ph sz="quarter" idx="12"/>
          </p:nvPr>
        </p:nvSpPr>
        <p:spPr>
          <a:xfrm>
            <a:off x="2032461" y="6327949"/>
            <a:ext cx="9345472" cy="461665"/>
          </a:xfrm>
          <a:prstGeom prst="rect">
            <a:avLst/>
          </a:prstGeom>
          <a:noFill/>
        </p:spPr>
        <p:txBody>
          <a:bodyPr wrap="square" rtlCol="0">
            <a:spAutoFit/>
          </a:bodyPr>
          <a:lstStyle/>
          <a:p>
            <a:pPr marL="0" indent="0">
              <a:spcBef>
                <a:spcPts val="0"/>
              </a:spcBef>
              <a:buNone/>
            </a:pPr>
            <a:r>
              <a:rPr lang="en-US" sz="1200" kern="1200">
                <a:solidFill>
                  <a:schemeClr val="bg1"/>
                </a:solidFill>
                <a:cs typeface="Arial" panose="020B0604020202020204" pitchFamily="34" charset="0"/>
              </a:rPr>
              <a:t>Rob Thompson and Jack Erjavec, Automotive Technology: A Systems Approach, 8</a:t>
            </a:r>
            <a:r>
              <a:rPr lang="en-US" sz="1200" kern="1200" baseline="30000">
                <a:solidFill>
                  <a:schemeClr val="bg1"/>
                </a:solidFill>
                <a:cs typeface="Arial" panose="020B0604020202020204" pitchFamily="34" charset="0"/>
              </a:rPr>
              <a:t>th</a:t>
            </a:r>
            <a:r>
              <a:rPr lang="en-US" sz="1200" kern="1200">
                <a:solidFill>
                  <a:schemeClr val="bg1"/>
                </a:solidFill>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cs typeface="Arial" panose="020B0604020202020204" pitchFamily="34" charset="0"/>
            </a:endParaRPr>
          </a:p>
        </p:txBody>
      </p:sp>
    </p:spTree>
    <p:custDataLst>
      <p:tags r:id="rId1"/>
    </p:custDataLst>
    <p:extLst>
      <p:ext uri="{BB962C8B-B14F-4D97-AF65-F5344CB8AC3E}">
        <p14:creationId xmlns:p14="http://schemas.microsoft.com/office/powerpoint/2010/main" val="1105843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(1 of </a:t>
            </a:r>
            <a:r>
              <a:rPr lang="en-US"/>
              <a:t>2)</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dirty="0"/>
              <a:t>11.01 Be able to disassemble and inspect an engine’s cylinder </a:t>
            </a:r>
            <a:r>
              <a:rPr lang="en-US"/>
              <a:t>block.</a:t>
            </a:r>
            <a:endParaRPr lang="en-US" dirty="0"/>
          </a:p>
          <a:p>
            <a:pPr marL="357188" marR="0" lvl="0" indent="-357188" algn="l" rtl="0">
              <a:spcAft>
                <a:spcPts val="600"/>
              </a:spcAft>
              <a:buSzPct val="100000"/>
              <a:buChar char="•"/>
            </a:pPr>
            <a:r>
              <a:rPr lang="en-US" dirty="0"/>
              <a:t>11.02 Perform repairs to recondition an engine </a:t>
            </a:r>
            <a:r>
              <a:rPr lang="en-US"/>
              <a:t>block.</a:t>
            </a:r>
            <a:endParaRPr lang="en-US" dirty="0"/>
          </a:p>
          <a:p>
            <a:pPr marL="357188" marR="0" lvl="0" indent="-357188" algn="l" rtl="0">
              <a:spcAft>
                <a:spcPts val="600"/>
              </a:spcAft>
              <a:buSzPct val="100000"/>
              <a:buChar char="•"/>
            </a:pPr>
            <a:r>
              <a:rPr lang="en-US" dirty="0"/>
              <a:t>11.03 List the parts that make up a short block and briefly describe their </a:t>
            </a:r>
            <a:r>
              <a:rPr lang="en-US"/>
              <a:t>operation.</a:t>
            </a:r>
            <a:endParaRPr lang="en-US" dirty="0"/>
          </a:p>
          <a:p>
            <a:pPr marL="357188" marR="0" lvl="0" indent="-357188" algn="l" rtl="0">
              <a:spcAft>
                <a:spcPts val="600"/>
              </a:spcAft>
              <a:buSzPct val="100000"/>
              <a:buChar char="•"/>
            </a:pPr>
            <a:r>
              <a:rPr lang="en-US" dirty="0"/>
              <a:t>11.04 Inspect crankshafts, crankshaft dampers, and flywheels.</a:t>
            </a:r>
          </a:p>
          <a:p>
            <a:pPr marL="357188" marR="0" lvl="0" indent="-357188" algn="l" rtl="0">
              <a:spcAft>
                <a:spcPts val="600"/>
              </a:spcAft>
              <a:buSzPct val="100000"/>
              <a:buChar char="•"/>
            </a:pPr>
            <a:r>
              <a:rPr lang="en-US" dirty="0"/>
              <a:t>11.05 Explain the function of engine bearings, flywheels, and harmonic balancers.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(2 of </a:t>
            </a:r>
            <a:r>
              <a:rPr lang="en-US"/>
              <a:t>2)</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dirty="0"/>
              <a:t>11.06 Be able to perform the common service and assembly techniques used in connecting rod and piston </a:t>
            </a:r>
            <a:r>
              <a:rPr lang="en-US"/>
              <a:t>servicing.</a:t>
            </a:r>
            <a:endParaRPr lang="en-US" dirty="0"/>
          </a:p>
          <a:p>
            <a:pPr marL="357188" marR="0" lvl="0" indent="-357188" algn="l" rtl="0">
              <a:spcAft>
                <a:spcPts val="600"/>
              </a:spcAft>
              <a:buSzPct val="100000"/>
              <a:buChar char="•"/>
            </a:pPr>
            <a:r>
              <a:rPr lang="en-US" dirty="0"/>
              <a:t>11.07 Be able to install pistons in their cylinder </a:t>
            </a:r>
            <a:r>
              <a:rPr lang="en-US"/>
              <a:t>bores.</a:t>
            </a:r>
            <a:endParaRPr lang="en-US" dirty="0"/>
          </a:p>
          <a:p>
            <a:pPr marL="357188" marR="0" lvl="0" indent="-357188" algn="l" rtl="0">
              <a:spcAft>
                <a:spcPts val="600"/>
              </a:spcAft>
              <a:buSzPct val="100000"/>
              <a:buChar char="•"/>
            </a:pPr>
            <a:r>
              <a:rPr lang="en-US"/>
              <a:t>11.08 </a:t>
            </a:r>
            <a:r>
              <a:rPr lang="en-US" dirty="0"/>
              <a:t>Inspect and install an OHV camshaft and </a:t>
            </a:r>
            <a:r>
              <a:rPr lang="en-US"/>
              <a:t>bearings.</a:t>
            </a:r>
            <a:endParaRPr lang="en-US" dirty="0"/>
          </a:p>
          <a:p>
            <a:pPr marL="357188" marR="0" lvl="0" indent="-357188" algn="l" rtl="0">
              <a:spcAft>
                <a:spcPts val="600"/>
              </a:spcAft>
              <a:buSzPct val="100000"/>
              <a:buChar char="•"/>
            </a:pPr>
            <a:r>
              <a:rPr lang="en-US"/>
              <a:t>11.09 </a:t>
            </a:r>
            <a:r>
              <a:rPr lang="en-US" dirty="0"/>
              <a:t>Install crankshaft and camshaft timing components and verify correct </a:t>
            </a:r>
            <a:r>
              <a:rPr lang="en-US"/>
              <a:t>timing.</a:t>
            </a:r>
            <a:endParaRPr lang="en-US" dirty="0"/>
          </a:p>
          <a:p>
            <a:pPr marL="357188" marR="0" lvl="0" indent="-357188" algn="l" rtl="0">
              <a:spcAft>
                <a:spcPts val="600"/>
              </a:spcAft>
              <a:buSzPct val="100000"/>
              <a:buChar char="•"/>
            </a:pPr>
            <a:r>
              <a:rPr lang="en-US" dirty="0"/>
              <a:t>11.10 Inspect, service, and install an oil pump.</a:t>
            </a:r>
          </a:p>
        </p:txBody>
      </p:sp>
    </p:spTree>
    <p:extLst>
      <p:ext uri="{BB962C8B-B14F-4D97-AF65-F5344CB8AC3E}">
        <p14:creationId xmlns:p14="http://schemas.microsoft.com/office/powerpoint/2010/main" val="4141584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Short Block Disassembly </a:t>
            </a:r>
            <a:r>
              <a:rPr lang="en-US" dirty="0"/>
              <a:t>(1 of 2)</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marR="0" lvl="0" indent="0" algn="l" rtl="0">
              <a:spcAft>
                <a:spcPts val="600"/>
              </a:spcAft>
              <a:buSzPts val="2800"/>
              <a:buNone/>
            </a:pPr>
            <a:r>
              <a:rPr lang="en-US" sz="1800" b="1">
                <a:solidFill>
                  <a:schemeClr val="accent1"/>
                </a:solidFill>
              </a:rPr>
              <a:t>11.01 Be able to disassemble and inspect an engine’s cylinder block.</a:t>
            </a:r>
          </a:p>
          <a:p>
            <a:pPr>
              <a:spcAft>
                <a:spcPts val="600"/>
              </a:spcAft>
              <a:buSzPct val="100000"/>
            </a:pPr>
            <a:r>
              <a:rPr lang="en-US" sz="1800">
                <a:solidFill>
                  <a:schemeClr val="accent1"/>
                </a:solidFill>
              </a:rPr>
              <a:t>In this sample procedure, the engine is on an engine stand, and the cylinder head(s) are removed from the cylinder block.</a:t>
            </a:r>
          </a:p>
          <a:p>
            <a:pPr>
              <a:spcAft>
                <a:spcPts val="600"/>
              </a:spcAft>
              <a:buSzPct val="100000"/>
            </a:pPr>
            <a:r>
              <a:rPr lang="en-US" sz="1800">
                <a:solidFill>
                  <a:schemeClr val="accent1"/>
                </a:solidFill>
              </a:rPr>
              <a:t>If the oil pan and water pump are still attached to the block, remove them before proceeding.</a:t>
            </a:r>
          </a:p>
          <a:p>
            <a:pPr>
              <a:spcAft>
                <a:spcPts val="600"/>
              </a:spcAft>
              <a:buSzPct val="100000"/>
            </a:pPr>
            <a:r>
              <a:rPr lang="en-US" sz="1800">
                <a:solidFill>
                  <a:schemeClr val="accent1"/>
                </a:solidFill>
              </a:rPr>
              <a:t>Remove the harmonic balancer, also called a vibration damper. A careful inspection should be performed. Once the balancer is removed, carefully check</a:t>
            </a:r>
          </a:p>
          <a:p>
            <a:pPr>
              <a:spcAft>
                <a:spcPts val="600"/>
              </a:spcAft>
              <a:buSzPct val="100000"/>
            </a:pPr>
            <a:r>
              <a:rPr lang="en-US" sz="1800">
                <a:solidFill>
                  <a:schemeClr val="accent1"/>
                </a:solidFill>
              </a:rPr>
              <a:t>the rubber for tears, separation of inner and outer sections, or other damage. If there are any faults, replace the balancer.</a:t>
            </a:r>
          </a:p>
          <a:p>
            <a:pPr>
              <a:spcAft>
                <a:spcPts val="600"/>
              </a:spcAft>
              <a:buSzPct val="100000"/>
            </a:pPr>
            <a:r>
              <a:rPr lang="en-US" sz="1800">
                <a:solidFill>
                  <a:schemeClr val="accent1"/>
                </a:solidFill>
              </a:rPr>
              <a:t>On OHV engines, remove the timing cover. Under the cover are the timing gears. </a:t>
            </a:r>
          </a:p>
          <a:p>
            <a:pPr>
              <a:spcAft>
                <a:spcPts val="600"/>
              </a:spcAft>
              <a:buSzPct val="100000"/>
            </a:pPr>
            <a:r>
              <a:rPr lang="en-US" sz="1800">
                <a:solidFill>
                  <a:schemeClr val="accent1"/>
                </a:solidFill>
              </a:rPr>
              <a:t>The crankshaft’s timing sprocket has a slight interference fit and can normally be pulled off by hand, as can the camshaft sprockets. The camshaft sprocket and chain must be removed with the crankshaft sprocket.</a:t>
            </a:r>
            <a:endParaRPr lang="en-US" sz="1800" dirty="0">
              <a:solidFill>
                <a:schemeClr val="accent1"/>
              </a:solidFill>
            </a:endParaRPr>
          </a:p>
        </p:txBody>
      </p:sp>
    </p:spTree>
    <p:extLst>
      <p:ext uri="{BB962C8B-B14F-4D97-AF65-F5344CB8AC3E}">
        <p14:creationId xmlns:p14="http://schemas.microsoft.com/office/powerpoint/2010/main" val="236662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Short Block Disassembly </a:t>
            </a:r>
            <a:r>
              <a:rPr lang="en-US" dirty="0"/>
              <a:t>(2 of 2)</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1800" dirty="0"/>
              <a:t>Before removing the gears and chain, check the deflection of the timing chain.</a:t>
            </a:r>
          </a:p>
          <a:p>
            <a:pPr marL="719138" lvl="1" indent="-358775">
              <a:spcAft>
                <a:spcPts val="600"/>
              </a:spcAft>
              <a:buSzPct val="100000"/>
            </a:pPr>
            <a:r>
              <a:rPr lang="en-US" sz="1600" dirty="0"/>
              <a:t>Depress the chain at its midway point between the gears and measure the amount that the chain can be deflected.</a:t>
            </a:r>
          </a:p>
          <a:p>
            <a:pPr marL="719138" lvl="1" indent="-358775">
              <a:spcAft>
                <a:spcPts val="600"/>
              </a:spcAft>
              <a:buSzPct val="100000"/>
            </a:pPr>
            <a:r>
              <a:rPr lang="en-US" sz="1600" dirty="0"/>
              <a:t>If the deflection exceeds specifications, the timing chain and gears should be replaced. Loosen the camshaft sprocket and pull the timing gears and chain from the engine.</a:t>
            </a:r>
          </a:p>
          <a:p>
            <a:pPr marL="719138" lvl="1" indent="-358775">
              <a:spcAft>
                <a:spcPts val="600"/>
              </a:spcAft>
              <a:buSzPct val="100000"/>
            </a:pPr>
            <a:r>
              <a:rPr lang="en-US" sz="1600" dirty="0"/>
              <a:t>Normally, the timing gear assembly is replaced during an engine overhaul, as are its tensioners and guides.</a:t>
            </a:r>
          </a:p>
          <a:p>
            <a:pPr>
              <a:spcAft>
                <a:spcPts val="600"/>
              </a:spcAft>
              <a:buSzPct val="100000"/>
            </a:pPr>
            <a:r>
              <a:rPr lang="en-US" sz="1800" dirty="0"/>
              <a:t>On some engines, the oil pump is driven by the crankshaft at the front of the engine.</a:t>
            </a:r>
          </a:p>
          <a:p>
            <a:pPr>
              <a:spcAft>
                <a:spcPts val="600"/>
              </a:spcAft>
              <a:buSzPct val="100000"/>
            </a:pPr>
            <a:r>
              <a:rPr lang="en-US" sz="1800" dirty="0"/>
              <a:t>If the lifters have not been removed, do so now. Place them on a bench in the order they were removed.</a:t>
            </a:r>
          </a:p>
          <a:p>
            <a:pPr>
              <a:spcAft>
                <a:spcPts val="600"/>
              </a:spcAft>
              <a:buSzPct val="100000"/>
            </a:pPr>
            <a:r>
              <a:rPr lang="en-US" sz="1800" dirty="0"/>
              <a:t>Carefully pull the camshaft out of the block. Support the camshaft to avoid dragging its lobes over the surfaces of the camshaft bearings. This can damage the bearings and lobes.</a:t>
            </a:r>
          </a:p>
        </p:txBody>
      </p:sp>
    </p:spTree>
    <p:extLst>
      <p:ext uri="{BB962C8B-B14F-4D97-AF65-F5344CB8AC3E}">
        <p14:creationId xmlns:p14="http://schemas.microsoft.com/office/powerpoint/2010/main" val="2393512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Cylinder Block Disassembly </a:t>
            </a:r>
            <a:r>
              <a:rPr lang="en-US" dirty="0"/>
              <a:t>(1 of 3)</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1800" dirty="0"/>
              <a:t>Rotate the engine on its stand so that the bottom is facing </a:t>
            </a:r>
            <a:r>
              <a:rPr lang="en-US" sz="1800"/>
              <a:t>up.</a:t>
            </a:r>
            <a:endParaRPr lang="en-US" sz="1800" dirty="0"/>
          </a:p>
          <a:p>
            <a:pPr>
              <a:spcAft>
                <a:spcPts val="600"/>
              </a:spcAft>
              <a:buSzPct val="100000"/>
            </a:pPr>
            <a:r>
              <a:rPr lang="en-US" sz="1800" dirty="0"/>
              <a:t>Remove the oil pan if it was not previously removed, then remove the oil </a:t>
            </a:r>
            <a:r>
              <a:rPr lang="en-US" sz="1800"/>
              <a:t>pump.</a:t>
            </a:r>
            <a:endParaRPr lang="en-US" sz="1800" dirty="0"/>
          </a:p>
          <a:p>
            <a:pPr>
              <a:spcAft>
                <a:spcPts val="600"/>
              </a:spcAft>
              <a:buSzPct val="100000"/>
            </a:pPr>
            <a:r>
              <a:rPr lang="en-US" sz="1800" dirty="0"/>
              <a:t>Be careful not to lose the drive shaft while pulling the pump off the </a:t>
            </a:r>
            <a:r>
              <a:rPr lang="en-US" sz="1800"/>
              <a:t>engine.</a:t>
            </a:r>
            <a:endParaRPr lang="en-US" sz="1800" dirty="0"/>
          </a:p>
          <a:p>
            <a:pPr>
              <a:spcAft>
                <a:spcPts val="600"/>
              </a:spcAft>
              <a:buSzPct val="100000"/>
            </a:pPr>
            <a:r>
              <a:rPr lang="en-US" sz="1800" dirty="0"/>
              <a:t>If the engine has balance shafts, check the thrust clearance of the shafts before removing the assembly using a dial indicator and referencing </a:t>
            </a:r>
            <a:r>
              <a:rPr lang="en-US" sz="1800"/>
              <a:t>specifications.</a:t>
            </a:r>
            <a:endParaRPr lang="en-US" sz="1800" dirty="0"/>
          </a:p>
          <a:p>
            <a:pPr>
              <a:spcAft>
                <a:spcPts val="600"/>
              </a:spcAft>
              <a:buSzPct val="100000"/>
            </a:pPr>
            <a:r>
              <a:rPr lang="en-US" sz="1800" dirty="0"/>
              <a:t>If the reading is more than the specified maximum, the balance shaft housing and bearings should be </a:t>
            </a:r>
            <a:r>
              <a:rPr lang="en-US" sz="1800"/>
              <a:t>replaced.</a:t>
            </a:r>
            <a:endParaRPr lang="en-US" sz="1800" dirty="0"/>
          </a:p>
          <a:p>
            <a:pPr>
              <a:spcAft>
                <a:spcPts val="600"/>
              </a:spcAft>
              <a:buSzPct val="100000"/>
            </a:pPr>
            <a:r>
              <a:rPr lang="en-US" sz="1800" dirty="0"/>
              <a:t>Rotate the crankshaft to put a cylinder at </a:t>
            </a:r>
            <a:r>
              <a:rPr lang="en-US" sz="1800"/>
              <a:t>BDC.</a:t>
            </a:r>
            <a:endParaRPr lang="en-US" sz="1800" dirty="0"/>
          </a:p>
          <a:p>
            <a:pPr>
              <a:spcAft>
                <a:spcPts val="600"/>
              </a:spcAft>
              <a:buSzPct val="100000"/>
            </a:pPr>
            <a:r>
              <a:rPr lang="en-US" sz="1800" dirty="0"/>
              <a:t>Carefully remove the cylinder ridge with a ridge reamer </a:t>
            </a:r>
            <a:r>
              <a:rPr lang="en-US" sz="1800"/>
              <a:t>tool.</a:t>
            </a:r>
            <a:endParaRPr lang="en-US" sz="1800" dirty="0"/>
          </a:p>
          <a:p>
            <a:pPr>
              <a:spcAft>
                <a:spcPts val="600"/>
              </a:spcAft>
              <a:buSzPct val="100000"/>
            </a:pPr>
            <a:r>
              <a:rPr lang="en-US" sz="1800" dirty="0"/>
              <a:t>Remove just enough metal to allow the piston to slip out of the bore without causing damage to the bore. The ridge is formed at the top of </a:t>
            </a:r>
            <a:r>
              <a:rPr lang="en-US" sz="1800"/>
              <a:t>the cylinder. </a:t>
            </a:r>
            <a:r>
              <a:rPr lang="en-US" sz="1800" dirty="0"/>
              <a:t>Because the top ring stops traveling before it reaches the top of the cylinder, a ridge of unworn metal is left.</a:t>
            </a:r>
          </a:p>
        </p:txBody>
      </p:sp>
    </p:spTree>
    <p:extLst>
      <p:ext uri="{BB962C8B-B14F-4D97-AF65-F5344CB8AC3E}">
        <p14:creationId xmlns:p14="http://schemas.microsoft.com/office/powerpoint/2010/main" val="3299588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Cylinder Block Disassembly </a:t>
            </a:r>
            <a:r>
              <a:rPr lang="en-US" dirty="0"/>
              <a:t>(2 of 3)</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1800" dirty="0"/>
              <a:t>Check all connecting rods and main bearing caps for correct position and numbering. If the numbers are not visible, use a center punch or number stamp to number them.</a:t>
            </a:r>
          </a:p>
          <a:p>
            <a:pPr>
              <a:spcAft>
                <a:spcPts val="600"/>
              </a:spcAft>
              <a:buSzPct val="100000"/>
            </a:pPr>
            <a:r>
              <a:rPr lang="en-US" sz="1800" dirty="0"/>
              <a:t>To remove the piston and rod assemblies, position the throw of the crankshaft at the bottom of its stroke.</a:t>
            </a:r>
          </a:p>
          <a:p>
            <a:pPr>
              <a:spcAft>
                <a:spcPts val="600"/>
              </a:spcAft>
              <a:buSzPct val="100000"/>
            </a:pPr>
            <a:r>
              <a:rPr lang="en-US" sz="1800" dirty="0"/>
              <a:t>Remove the connecting rod nuts and cap. Remember that the caps and rods must remain as a set.</a:t>
            </a:r>
          </a:p>
          <a:p>
            <a:pPr>
              <a:spcAft>
                <a:spcPts val="600"/>
              </a:spcAft>
              <a:buSzPct val="100000"/>
            </a:pPr>
            <a:r>
              <a:rPr lang="en-US" sz="1800" dirty="0"/>
              <a:t>To help remove the cap, tap the cap lightly with a soft hammer or wood block carefully while protecting the critical surfaces.</a:t>
            </a:r>
          </a:p>
          <a:p>
            <a:pPr>
              <a:spcAft>
                <a:spcPts val="600"/>
              </a:spcAft>
              <a:buSzPct val="100000"/>
            </a:pPr>
            <a:r>
              <a:rPr lang="en-US" sz="1800" dirty="0"/>
              <a:t>Loosen and remove the main bearing cap bolts and main bearing caps.</a:t>
            </a:r>
          </a:p>
          <a:p>
            <a:pPr>
              <a:spcAft>
                <a:spcPts val="600"/>
              </a:spcAft>
              <a:buSzPct val="100000"/>
            </a:pPr>
            <a:r>
              <a:rPr lang="en-US" sz="1800" dirty="0"/>
              <a:t>After removing the main bearing caps, carefully remove the crankshaft then store the crankshaft in a vertical position to avoid damage.</a:t>
            </a:r>
          </a:p>
          <a:p>
            <a:pPr>
              <a:spcAft>
                <a:spcPts val="600"/>
              </a:spcAft>
              <a:buSzPct val="100000"/>
            </a:pPr>
            <a:r>
              <a:rPr lang="en-US" sz="1800" dirty="0"/>
              <a:t>Examine the bearings</a:t>
            </a:r>
          </a:p>
        </p:txBody>
      </p:sp>
    </p:spTree>
    <p:extLst>
      <p:ext uri="{BB962C8B-B14F-4D97-AF65-F5344CB8AC3E}">
        <p14:creationId xmlns:p14="http://schemas.microsoft.com/office/powerpoint/2010/main" val="27437001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Cylinder Block Disassembly </a:t>
            </a:r>
            <a:r>
              <a:rPr lang="en-US" dirty="0"/>
              <a:t>(3 of 3)</a:t>
            </a:r>
            <a:endParaRPr dirty="0"/>
          </a:p>
        </p:txBody>
      </p:sp>
      <p:sp>
        <p:nvSpPr>
          <p:cNvPr id="145" name="Google Shape;145;p4"/>
          <p:cNvSpPr txBox="1">
            <a:spLocks noGrp="1"/>
          </p:cNvSpPr>
          <p:nvPr>
            <p:ph type="body" idx="1"/>
          </p:nvPr>
        </p:nvSpPr>
        <p:spPr>
          <a:xfrm>
            <a:off x="476843" y="1563625"/>
            <a:ext cx="6813819" cy="4518676"/>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1600" dirty="0">
                <a:solidFill>
                  <a:schemeClr val="accent1"/>
                </a:solidFill>
              </a:rPr>
              <a:t>Inspect bearing inserts for signs of unusual wear, embedded metal particles, lack of lubrication, antifreeze contamination, oil dilution, and uneven </a:t>
            </a:r>
            <a:r>
              <a:rPr lang="en-US" sz="1600">
                <a:solidFill>
                  <a:schemeClr val="accent1"/>
                </a:solidFill>
              </a:rPr>
              <a:t>wear.</a:t>
            </a:r>
            <a:endParaRPr lang="en-US" sz="1600" dirty="0">
              <a:solidFill>
                <a:schemeClr val="accent1"/>
              </a:solidFill>
            </a:endParaRPr>
          </a:p>
          <a:p>
            <a:pPr>
              <a:spcAft>
                <a:spcPts val="600"/>
              </a:spcAft>
              <a:buSzPct val="100000"/>
            </a:pPr>
            <a:r>
              <a:rPr lang="en-US" sz="1600" dirty="0">
                <a:solidFill>
                  <a:schemeClr val="accent1"/>
                </a:solidFill>
              </a:rPr>
              <a:t>Then carefully inspect the main journals on the crankshaft for damage.</a:t>
            </a:r>
          </a:p>
          <a:p>
            <a:pPr>
              <a:spcAft>
                <a:spcPts val="600"/>
              </a:spcAft>
              <a:buSzPct val="100000"/>
            </a:pPr>
            <a:r>
              <a:rPr lang="en-US" sz="1600" dirty="0">
                <a:solidFill>
                  <a:schemeClr val="accent1"/>
                </a:solidFill>
              </a:rPr>
              <a:t>Before removing the camshaft bearings, inspect the bearing surfaces for signs of scoring or other damage. Also note the location of where the oil holes are in relation to the </a:t>
            </a:r>
            <a:r>
              <a:rPr lang="en-US" sz="1600">
                <a:solidFill>
                  <a:schemeClr val="accent1"/>
                </a:solidFill>
              </a:rPr>
              <a:t>block.</a:t>
            </a:r>
            <a:endParaRPr lang="en-US" sz="1600" dirty="0">
              <a:solidFill>
                <a:schemeClr val="accent1"/>
              </a:solidFill>
            </a:endParaRPr>
          </a:p>
          <a:p>
            <a:pPr>
              <a:spcAft>
                <a:spcPts val="600"/>
              </a:spcAft>
              <a:buSzPct val="100000"/>
            </a:pPr>
            <a:r>
              <a:rPr lang="en-US" sz="1600" dirty="0">
                <a:solidFill>
                  <a:schemeClr val="accent1"/>
                </a:solidFill>
              </a:rPr>
              <a:t>This is important for installing the new bearings </a:t>
            </a:r>
            <a:r>
              <a:rPr lang="en-US" sz="1600">
                <a:solidFill>
                  <a:schemeClr val="accent1"/>
                </a:solidFill>
              </a:rPr>
              <a:t>correctly.</a:t>
            </a:r>
            <a:endParaRPr lang="en-US" sz="1600" dirty="0">
              <a:solidFill>
                <a:schemeClr val="accent1"/>
              </a:solidFill>
            </a:endParaRPr>
          </a:p>
          <a:p>
            <a:pPr>
              <a:spcAft>
                <a:spcPts val="600"/>
              </a:spcAft>
              <a:buSzPct val="100000"/>
            </a:pPr>
            <a:r>
              <a:rPr lang="en-US" sz="1600" dirty="0">
                <a:solidFill>
                  <a:schemeClr val="accent1"/>
                </a:solidFill>
              </a:rPr>
              <a:t>To remove the camshaft bearings on an OHV block, you will need a cam bearing </a:t>
            </a:r>
            <a:r>
              <a:rPr lang="en-US" sz="1600">
                <a:solidFill>
                  <a:schemeClr val="accent1"/>
                </a:solidFill>
              </a:rPr>
              <a:t>tool.</a:t>
            </a:r>
            <a:endParaRPr lang="en-US" sz="1600" dirty="0">
              <a:solidFill>
                <a:schemeClr val="accent1"/>
              </a:solidFill>
            </a:endParaRPr>
          </a:p>
          <a:p>
            <a:pPr>
              <a:spcAft>
                <a:spcPts val="600"/>
              </a:spcAft>
              <a:buSzPct val="100000"/>
            </a:pPr>
            <a:r>
              <a:rPr lang="en-US" sz="1600" dirty="0">
                <a:solidFill>
                  <a:schemeClr val="accent1"/>
                </a:solidFill>
              </a:rPr>
              <a:t>Oil passageways must be inspected and </a:t>
            </a:r>
            <a:r>
              <a:rPr lang="en-US" sz="1600">
                <a:solidFill>
                  <a:schemeClr val="accent1"/>
                </a:solidFill>
              </a:rPr>
              <a:t>cleaned.</a:t>
            </a:r>
            <a:endParaRPr lang="en-US" sz="1600" dirty="0">
              <a:solidFill>
                <a:schemeClr val="accent1"/>
              </a:solidFill>
            </a:endParaRPr>
          </a:p>
          <a:p>
            <a:pPr>
              <a:spcAft>
                <a:spcPts val="600"/>
              </a:spcAft>
              <a:buSzPct val="100000"/>
            </a:pPr>
            <a:r>
              <a:rPr lang="en-US" sz="1600" dirty="0">
                <a:solidFill>
                  <a:schemeClr val="accent1"/>
                </a:solidFill>
              </a:rPr>
              <a:t>Core plugs should be removed for later </a:t>
            </a:r>
            <a:r>
              <a:rPr lang="en-US" sz="1600">
                <a:solidFill>
                  <a:schemeClr val="accent1"/>
                </a:solidFill>
              </a:rPr>
              <a:t>replacement.</a:t>
            </a:r>
            <a:endParaRPr lang="en-US" sz="1600" dirty="0">
              <a:solidFill>
                <a:schemeClr val="accent1"/>
              </a:solidFill>
            </a:endParaRPr>
          </a:p>
        </p:txBody>
      </p:sp>
      <p:pic>
        <p:nvPicPr>
          <p:cNvPr id="6" name="Picture Placeholder 5" descr="Four bearings. Two of the bearings have totally lost their lining material on them while the remaining have just started wearing out.">
            <a:extLst>
              <a:ext uri="{FF2B5EF4-FFF2-40B4-BE49-F238E27FC236}">
                <a16:creationId xmlns:a16="http://schemas.microsoft.com/office/drawing/2014/main" id="{9714D0E5-90AB-DC60-87B2-73B3A0F37210}"/>
              </a:ext>
            </a:extLst>
          </p:cNvPr>
          <p:cNvPicPr>
            <a:picLocks noGrp="1" noChangeAspect="1"/>
          </p:cNvPicPr>
          <p:nvPr>
            <p:ph type="pic" sz="quarter" idx="11"/>
          </p:nvPr>
        </p:nvPicPr>
        <p:blipFill>
          <a:blip r:embed="rId3"/>
          <a:srcRect b="21019"/>
          <a:stretch/>
        </p:blipFill>
        <p:spPr>
          <a:xfrm>
            <a:off x="7491775" y="2517550"/>
            <a:ext cx="4022268" cy="1976188"/>
          </a:xfrm>
          <a:prstGeom prst="rect">
            <a:avLst/>
          </a:prstGeom>
        </p:spPr>
      </p:pic>
    </p:spTree>
    <p:extLst>
      <p:ext uri="{BB962C8B-B14F-4D97-AF65-F5344CB8AC3E}">
        <p14:creationId xmlns:p14="http://schemas.microsoft.com/office/powerpoint/2010/main" val="4257649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Cylinder Block (1 of 2)</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spcAft>
                <a:spcPts val="600"/>
              </a:spcAft>
              <a:buSzPts val="2800"/>
              <a:buNone/>
            </a:pPr>
            <a:r>
              <a:rPr lang="en-US" sz="1800" b="1" dirty="0"/>
              <a:t>11.02 Perform repairs to recondition an engine </a:t>
            </a:r>
            <a:r>
              <a:rPr lang="en-US" sz="1800" b="1"/>
              <a:t>block.</a:t>
            </a:r>
            <a:endParaRPr lang="en-US" sz="1800" dirty="0"/>
          </a:p>
          <a:p>
            <a:pPr>
              <a:spcAft>
                <a:spcPts val="600"/>
              </a:spcAft>
              <a:buSzPct val="100000"/>
            </a:pPr>
            <a:r>
              <a:rPr lang="en-US" sz="1800" dirty="0"/>
              <a:t>The cylinder blocks are normally a one-piece casting which may be cast from different materials such as iron, aluminum, magnesium, or possibly, in the future, </a:t>
            </a:r>
            <a:r>
              <a:rPr lang="en-US" sz="1800"/>
              <a:t>plastic.</a:t>
            </a:r>
            <a:endParaRPr lang="en-US" sz="1800" dirty="0"/>
          </a:p>
          <a:p>
            <a:pPr>
              <a:spcAft>
                <a:spcPts val="600"/>
              </a:spcAft>
              <a:buSzPct val="100000"/>
            </a:pPr>
            <a:r>
              <a:rPr lang="en-US" sz="1800" dirty="0"/>
              <a:t>A few engine blocks have a magnesium exterior with cast-iron inserts to serve as cylinders, coolant passages, </a:t>
            </a:r>
            <a:r>
              <a:rPr lang="en-US" sz="1800"/>
              <a:t>etc.</a:t>
            </a:r>
            <a:endParaRPr lang="en-US" sz="1800" dirty="0"/>
          </a:p>
          <a:p>
            <a:pPr>
              <a:spcAft>
                <a:spcPts val="600"/>
              </a:spcAft>
              <a:buSzPct val="100000"/>
            </a:pPr>
            <a:r>
              <a:rPr lang="en-US" sz="1800" dirty="0"/>
              <a:t>Some late-model blocks are made of two pieces: an upper unit that contains the cylinders and a lower one that surrounds the </a:t>
            </a:r>
            <a:r>
              <a:rPr lang="en-US" sz="1800"/>
              <a:t>crankshaft.</a:t>
            </a:r>
            <a:endParaRPr lang="en-US" sz="1800" dirty="0"/>
          </a:p>
          <a:p>
            <a:pPr>
              <a:spcAft>
                <a:spcPts val="600"/>
              </a:spcAft>
              <a:buSzPct val="100000"/>
            </a:pPr>
            <a:r>
              <a:rPr lang="en-US" sz="1800" dirty="0"/>
              <a:t>Cast-iron blocks are very strong but </a:t>
            </a:r>
            <a:r>
              <a:rPr lang="en-US" sz="1800"/>
              <a:t>heavy.</a:t>
            </a:r>
            <a:endParaRPr lang="en-US" sz="1800" dirty="0"/>
          </a:p>
          <a:p>
            <a:pPr>
              <a:spcAft>
                <a:spcPts val="600"/>
              </a:spcAft>
              <a:buSzPct val="100000"/>
            </a:pPr>
            <a:r>
              <a:rPr lang="en-US" sz="1800" dirty="0"/>
              <a:t>Many engines have an aluminum block to reduce the vehicle’s overall weight. </a:t>
            </a:r>
          </a:p>
          <a:p>
            <a:pPr>
              <a:spcAft>
                <a:spcPts val="600"/>
              </a:spcAft>
              <a:buSzPct val="100000"/>
            </a:pPr>
            <a:r>
              <a:rPr lang="en-US" sz="1800" dirty="0"/>
              <a:t>Certain materials are added to aluminum to make it stronger and less likely to warp from the heat of combustion.</a:t>
            </a:r>
          </a:p>
        </p:txBody>
      </p:sp>
    </p:spTree>
    <p:extLst>
      <p:ext uri="{BB962C8B-B14F-4D97-AF65-F5344CB8AC3E}">
        <p14:creationId xmlns:p14="http://schemas.microsoft.com/office/powerpoint/2010/main" val="1536493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Cylinder Block (2 of 2)</a:t>
            </a:r>
            <a:endParaRPr dirty="0"/>
          </a:p>
        </p:txBody>
      </p:sp>
      <p:sp>
        <p:nvSpPr>
          <p:cNvPr id="145" name="Google Shape;145;p4"/>
          <p:cNvSpPr txBox="1">
            <a:spLocks noGrp="1"/>
          </p:cNvSpPr>
          <p:nvPr>
            <p:ph type="body" idx="1"/>
          </p:nvPr>
        </p:nvSpPr>
        <p:spPr>
          <a:xfrm>
            <a:off x="476844" y="1563625"/>
            <a:ext cx="7064388" cy="4508402"/>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200" dirty="0"/>
              <a:t>Cylinder Liners</a:t>
            </a:r>
          </a:p>
          <a:p>
            <a:pPr marL="719138" lvl="1" indent="-358775">
              <a:spcAft>
                <a:spcPts val="600"/>
              </a:spcAft>
              <a:buSzPct val="100000"/>
            </a:pPr>
            <a:r>
              <a:rPr lang="en-US" sz="2000" dirty="0"/>
              <a:t>The cylinder walls of aluminum blocks may be treated with a special coating or have a sleeve or liner to serve as cylinder walls.</a:t>
            </a:r>
          </a:p>
          <a:p>
            <a:pPr marL="719138" lvl="1" indent="-358775">
              <a:spcAft>
                <a:spcPts val="600"/>
              </a:spcAft>
              <a:buSzPct val="100000"/>
            </a:pPr>
            <a:r>
              <a:rPr lang="en-US" sz="2000" dirty="0"/>
              <a:t>The liners are  made of a cast-iron alloy.</a:t>
            </a:r>
          </a:p>
          <a:p>
            <a:pPr marL="719138" lvl="1" indent="-358775">
              <a:spcAft>
                <a:spcPts val="600"/>
              </a:spcAft>
              <a:buSzPct val="100000"/>
            </a:pPr>
            <a:r>
              <a:rPr lang="en-US" sz="2000" dirty="0"/>
              <a:t>Most are very thin and cannot be serviced and the block must be replaced if the walls are damaged.</a:t>
            </a:r>
          </a:p>
          <a:p>
            <a:pPr marL="719138" lvl="1" indent="-358775">
              <a:spcAft>
                <a:spcPts val="600"/>
              </a:spcAft>
              <a:buSzPct val="100000"/>
            </a:pPr>
            <a:r>
              <a:rPr lang="en-US" sz="2000" dirty="0"/>
              <a:t>The liners have ribs on their outside diameter.</a:t>
            </a:r>
          </a:p>
          <a:p>
            <a:pPr marL="1079500" lvl="2">
              <a:spcAft>
                <a:spcPts val="600"/>
              </a:spcAft>
              <a:buSzPct val="100000"/>
            </a:pPr>
            <a:r>
              <a:rPr lang="en-US" sz="1800" dirty="0"/>
              <a:t>These ribs hold the liner in place and increase its ability to dissipate heat. </a:t>
            </a:r>
          </a:p>
        </p:txBody>
      </p:sp>
      <p:pic>
        <p:nvPicPr>
          <p:cNvPr id="6" name="Picture Placeholder 5" descr="A cylinder wall of aluminum blocks, having a liner made of cast-iron alloy.">
            <a:extLst>
              <a:ext uri="{FF2B5EF4-FFF2-40B4-BE49-F238E27FC236}">
                <a16:creationId xmlns:a16="http://schemas.microsoft.com/office/drawing/2014/main" id="{057476E1-D64C-5892-B7C5-A826F048C2E2}"/>
              </a:ext>
            </a:extLst>
          </p:cNvPr>
          <p:cNvPicPr>
            <a:picLocks noGrp="1" noChangeAspect="1"/>
          </p:cNvPicPr>
          <p:nvPr>
            <p:ph type="pic" sz="quarter" idx="11"/>
          </p:nvPr>
        </p:nvPicPr>
        <p:blipFill>
          <a:blip r:embed="rId3"/>
          <a:srcRect b="15463"/>
          <a:stretch/>
        </p:blipFill>
        <p:spPr>
          <a:xfrm>
            <a:off x="7479353" y="2360266"/>
            <a:ext cx="4437509" cy="2530233"/>
          </a:xfrm>
          <a:prstGeom prst="rect">
            <a:avLst/>
          </a:prstGeom>
        </p:spPr>
      </p:pic>
    </p:spTree>
    <p:extLst>
      <p:ext uri="{BB962C8B-B14F-4D97-AF65-F5344CB8AC3E}">
        <p14:creationId xmlns:p14="http://schemas.microsoft.com/office/powerpoint/2010/main" val="99196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(1 of 2)</a:t>
            </a:r>
            <a:endParaRPr dirty="0"/>
          </a:p>
        </p:txBody>
      </p:sp>
      <p:sp>
        <p:nvSpPr>
          <p:cNvPr id="310" name="Google Shape;310;p29"/>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571500" lvl="1" indent="0">
              <a:buNone/>
            </a:pPr>
            <a:r>
              <a:rPr lang="en-US" sz="2400" dirty="0"/>
              <a:t>Why ar</a:t>
            </a:r>
            <a:r>
              <a:rPr lang="en-US" dirty="0"/>
              <a:t>e modern engine blocks commonly made of aluminum?</a:t>
            </a:r>
            <a:endParaRPr lang="en-US" sz="2400" dirty="0"/>
          </a:p>
        </p:txBody>
      </p:sp>
    </p:spTree>
    <p:extLst>
      <p:ext uri="{BB962C8B-B14F-4D97-AF65-F5344CB8AC3E}">
        <p14:creationId xmlns:p14="http://schemas.microsoft.com/office/powerpoint/2010/main" val="7028393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Answer (1 of 2)</a:t>
            </a:r>
            <a:endParaRPr dirty="0"/>
          </a:p>
        </p:txBody>
      </p:sp>
      <p:sp>
        <p:nvSpPr>
          <p:cNvPr id="3" name="Google Shape;318;p30"/>
          <p:cNvSpPr txBox="1">
            <a:spLocks noGrp="1"/>
          </p:cNvSpPr>
          <p:nvPr>
            <p:ph type="body" idx="1"/>
          </p:nvPr>
        </p:nvSpPr>
        <p:spPr>
          <a:xfrm>
            <a:off x="476250" y="1563688"/>
            <a:ext cx="11242675" cy="2169784"/>
          </a:xfrm>
          <a:prstGeom prst="rect">
            <a:avLst/>
          </a:prstGeom>
          <a:noFill/>
          <a:ln>
            <a:noFill/>
          </a:ln>
        </p:spPr>
        <p:txBody>
          <a:bodyPr spcFirstLastPara="1" wrap="square" lIns="91425" tIns="45700" rIns="91425" bIns="45700" anchor="t" anchorCtr="0">
            <a:spAutoFit/>
          </a:bodyPr>
          <a:lstStyle/>
          <a:p>
            <a:pPr marL="360362" lvl="1" indent="0" algn="ctr">
              <a:buNone/>
            </a:pPr>
            <a:r>
              <a:rPr lang="en-US" sz="2400" b="1" dirty="0">
                <a:solidFill>
                  <a:schemeClr val="tx1"/>
                </a:solidFill>
                <a:latin typeface="Work Sans"/>
                <a:ea typeface="Work Sans"/>
                <a:cs typeface="Work Sans"/>
                <a:sym typeface="Work Sans"/>
              </a:rPr>
              <a:t>Answer</a:t>
            </a:r>
            <a:r>
              <a:rPr lang="en-US" sz="2400" dirty="0">
                <a:solidFill>
                  <a:schemeClr val="tx1"/>
                </a:solidFill>
                <a:latin typeface="Work Sans"/>
                <a:ea typeface="Work Sans"/>
                <a:cs typeface="Work Sans"/>
                <a:sym typeface="Work Sans"/>
              </a:rPr>
              <a:t>: </a:t>
            </a:r>
            <a:r>
              <a:rPr lang="en-US" sz="2400" dirty="0">
                <a:solidFill>
                  <a:schemeClr val="tx1"/>
                </a:solidFill>
                <a:latin typeface="Work Sans" panose="020B0604020202020204" charset="0"/>
              </a:rPr>
              <a:t>Many engines have an aluminum block to reduce the vehicle’s overall weight. </a:t>
            </a:r>
            <a:endParaRPr lang="en-US" sz="2400" dirty="0">
              <a:solidFill>
                <a:schemeClr val="tx1"/>
              </a:solidFill>
              <a:latin typeface="Work Sans" panose="020B0604020202020204" charset="0"/>
              <a:ea typeface="Work Sans"/>
              <a:cs typeface="Work Sans"/>
              <a:sym typeface="Work Sans"/>
            </a:endParaRPr>
          </a:p>
          <a:p>
            <a:pPr marL="360362" lvl="1" indent="0" algn="ctr">
              <a:buNone/>
            </a:pPr>
            <a:endParaRPr lang="en-US" sz="2400" dirty="0"/>
          </a:p>
          <a:p>
            <a:pPr marL="360362" lvl="1" indent="0" algn="ctr">
              <a:buNone/>
            </a:pPr>
            <a:endParaRPr lang="en-US" sz="2400" dirty="0"/>
          </a:p>
          <a:p>
            <a:pPr marL="0" indent="0" algn="ctr">
              <a:spcBef>
                <a:spcPts val="0"/>
              </a:spcBef>
              <a:buNone/>
            </a:pPr>
            <a:endParaRPr lang="en-US" sz="2400" dirty="0">
              <a:solidFill>
                <a:schemeClr val="dk1"/>
              </a:solidFill>
              <a:latin typeface="Work Sans"/>
              <a:ea typeface="Work Sans"/>
              <a:cs typeface="Work Sans"/>
              <a:sym typeface="Work Sans"/>
            </a:endParaRPr>
          </a:p>
        </p:txBody>
      </p:sp>
    </p:spTree>
    <p:extLst>
      <p:ext uri="{BB962C8B-B14F-4D97-AF65-F5344CB8AC3E}">
        <p14:creationId xmlns:p14="http://schemas.microsoft.com/office/powerpoint/2010/main" val="349159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t" anchorCtr="0">
            <a:normAutofit fontScale="90000"/>
          </a:bodyPr>
          <a:lstStyle/>
          <a:p>
            <a:r>
              <a:rPr lang="en-US" sz="4400" dirty="0"/>
              <a:t>Cylinder Block Reconditioning </a:t>
            </a:r>
            <a:br>
              <a:rPr lang="en-US" sz="4400" dirty="0"/>
            </a:br>
            <a:r>
              <a:rPr lang="en-US" sz="4400"/>
              <a:t>Deck Flatness</a:t>
            </a:r>
            <a:endParaRPr lang="en-US" sz="4000" dirty="0"/>
          </a:p>
        </p:txBody>
      </p:sp>
      <p:sp>
        <p:nvSpPr>
          <p:cNvPr id="145" name="Google Shape;145;p4"/>
          <p:cNvSpPr txBox="1">
            <a:spLocks noGrp="1"/>
          </p:cNvSpPr>
          <p:nvPr>
            <p:ph type="body" idx="1"/>
          </p:nvPr>
        </p:nvSpPr>
        <p:spPr>
          <a:xfrm>
            <a:off x="476843" y="1563624"/>
            <a:ext cx="5619157" cy="4344015"/>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200" dirty="0"/>
              <a:t>The top of the block is called the </a:t>
            </a:r>
            <a:r>
              <a:rPr lang="en-US" sz="2200"/>
              <a:t>deck.</a:t>
            </a:r>
            <a:endParaRPr lang="en-US" sz="2200" dirty="0"/>
          </a:p>
          <a:p>
            <a:pPr>
              <a:spcAft>
                <a:spcPts val="600"/>
              </a:spcAft>
              <a:buSzPct val="100000"/>
            </a:pPr>
            <a:r>
              <a:rPr lang="en-US" sz="2200" dirty="0"/>
              <a:t>To check deck warpage, use a precision straightedge and feeler </a:t>
            </a:r>
            <a:r>
              <a:rPr lang="en-US" sz="2200"/>
              <a:t>gauge.</a:t>
            </a:r>
            <a:endParaRPr lang="en-US" sz="2200" dirty="0"/>
          </a:p>
          <a:p>
            <a:pPr>
              <a:spcAft>
                <a:spcPts val="600"/>
              </a:spcAft>
              <a:buSzPct val="100000"/>
            </a:pPr>
            <a:r>
              <a:rPr lang="en-US" sz="2200" dirty="0"/>
              <a:t>With the straightedge positioned diagonally across the deck, the amount of warpage is determined by the size of the feeler gauge that fits into the gap between the deck and the straightedge.</a:t>
            </a:r>
          </a:p>
        </p:txBody>
      </p:sp>
      <p:pic>
        <p:nvPicPr>
          <p:cNvPr id="6" name="Picture Placeholder 5" descr="A close-up view of a technician’s laying a straight edge across the deck surface. The distance between the edge and the surface is measured with a feeler gauge. ">
            <a:extLst>
              <a:ext uri="{FF2B5EF4-FFF2-40B4-BE49-F238E27FC236}">
                <a16:creationId xmlns:a16="http://schemas.microsoft.com/office/drawing/2014/main" id="{5D113704-5206-37A3-5775-BE0E9D155CE9}"/>
              </a:ext>
            </a:extLst>
          </p:cNvPr>
          <p:cNvPicPr>
            <a:picLocks noGrp="1" noChangeAspect="1"/>
          </p:cNvPicPr>
          <p:nvPr>
            <p:ph type="pic" sz="quarter" idx="11"/>
          </p:nvPr>
        </p:nvPicPr>
        <p:blipFill>
          <a:blip r:embed="rId3"/>
          <a:srcRect b="12130"/>
          <a:stretch/>
        </p:blipFill>
        <p:spPr>
          <a:xfrm>
            <a:off x="6488942" y="1887527"/>
            <a:ext cx="4795373" cy="3465309"/>
          </a:xfrm>
          <a:prstGeom prst="rect">
            <a:avLst/>
          </a:prstGeom>
        </p:spPr>
      </p:pic>
    </p:spTree>
    <p:extLst>
      <p:ext uri="{BB962C8B-B14F-4D97-AF65-F5344CB8AC3E}">
        <p14:creationId xmlns:p14="http://schemas.microsoft.com/office/powerpoint/2010/main" val="2909769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Cylinder </a:t>
            </a:r>
            <a:r>
              <a:rPr lang="en-US"/>
              <a:t>Bore Inspection</a:t>
            </a:r>
            <a:endParaRPr dirty="0"/>
          </a:p>
        </p:txBody>
      </p:sp>
      <p:sp>
        <p:nvSpPr>
          <p:cNvPr id="145" name="Google Shape;145;p4"/>
          <p:cNvSpPr txBox="1">
            <a:spLocks noGrp="1"/>
          </p:cNvSpPr>
          <p:nvPr>
            <p:ph type="body" idx="1"/>
          </p:nvPr>
        </p:nvSpPr>
        <p:spPr>
          <a:xfrm>
            <a:off x="476843" y="1563624"/>
            <a:ext cx="11385305" cy="4613339"/>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000" dirty="0"/>
              <a:t>Inspect the cylinder walls for scoring, roughness, or other signs of wear.</a:t>
            </a:r>
          </a:p>
          <a:p>
            <a:pPr>
              <a:spcAft>
                <a:spcPts val="600"/>
              </a:spcAft>
              <a:buSzPct val="100000"/>
            </a:pPr>
            <a:r>
              <a:rPr lang="en-US" sz="2000" dirty="0"/>
              <a:t>Dirt can accelerate ring and cylinder wall wear.</a:t>
            </a:r>
          </a:p>
          <a:p>
            <a:pPr>
              <a:spcAft>
                <a:spcPts val="600"/>
              </a:spcAft>
              <a:buSzPct val="100000"/>
            </a:pPr>
            <a:r>
              <a:rPr lang="en-US" sz="2000" dirty="0"/>
              <a:t>If the cylinder walls show light scratches, inspect the air induction system for leaks. Unfiltered air can allow dirt to enter the cylinders and damage the walls.</a:t>
            </a:r>
          </a:p>
          <a:p>
            <a:pPr>
              <a:spcAft>
                <a:spcPts val="600"/>
              </a:spcAft>
              <a:buSzPct val="100000"/>
            </a:pPr>
            <a:r>
              <a:rPr lang="en-US" sz="2000" dirty="0"/>
              <a:t>Most cylinder wear occurs at the top of the ring travel because pressure on the top ring is at a peak and lubrication at a minimum when the piston is at the top of its stroke.</a:t>
            </a:r>
          </a:p>
          <a:p>
            <a:pPr>
              <a:spcAft>
                <a:spcPts val="600"/>
              </a:spcAft>
              <a:buSzPct val="100000"/>
            </a:pPr>
            <a:r>
              <a:rPr lang="en-US" sz="2000" dirty="0"/>
              <a:t>A ridge of unworn material builds above the upper limit of ring travel. Below the ring travel area, wear is negligible because only the piston skirt contacts the cylinder wall.</a:t>
            </a:r>
          </a:p>
          <a:p>
            <a:pPr>
              <a:spcAft>
                <a:spcPts val="600"/>
              </a:spcAft>
              <a:buSzPct val="100000"/>
            </a:pPr>
            <a:r>
              <a:rPr lang="en-US" sz="2000" dirty="0"/>
              <a:t>A cylinder should have the correct diameter, no taper or out-of-roundness, and the surface finish must be such that the piston rings will seat to form a seal that will control oil and minimize blowby.</a:t>
            </a:r>
          </a:p>
        </p:txBody>
      </p:sp>
    </p:spTree>
    <p:extLst>
      <p:ext uri="{BB962C8B-B14F-4D97-AF65-F5344CB8AC3E}">
        <p14:creationId xmlns:p14="http://schemas.microsoft.com/office/powerpoint/2010/main" val="467066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Cylinder Bore </a:t>
            </a:r>
            <a:r>
              <a:rPr lang="en-US"/>
              <a:t>Surface Finish</a:t>
            </a:r>
            <a:endParaRPr dirty="0"/>
          </a:p>
        </p:txBody>
      </p:sp>
      <p:sp>
        <p:nvSpPr>
          <p:cNvPr id="145" name="Google Shape;145;p4"/>
          <p:cNvSpPr txBox="1">
            <a:spLocks noGrp="1"/>
          </p:cNvSpPr>
          <p:nvPr>
            <p:ph type="body" idx="1"/>
          </p:nvPr>
        </p:nvSpPr>
        <p:spPr>
          <a:xfrm>
            <a:off x="476843" y="1500994"/>
            <a:ext cx="7126033" cy="4570047"/>
          </a:xfrm>
          <a:prstGeom prst="rect">
            <a:avLst/>
          </a:prstGeom>
          <a:noFill/>
          <a:ln>
            <a:noFill/>
          </a:ln>
        </p:spPr>
        <p:txBody>
          <a:bodyPr spcFirstLastPara="1" wrap="square" lIns="91425" tIns="45700" rIns="91425" bIns="45700" anchor="t" anchorCtr="0">
            <a:noAutofit/>
          </a:bodyPr>
          <a:lstStyle/>
          <a:p>
            <a:pPr>
              <a:spcBef>
                <a:spcPts val="625"/>
              </a:spcBef>
              <a:spcAft>
                <a:spcPts val="600"/>
              </a:spcAft>
              <a:buSzPct val="100000"/>
            </a:pPr>
            <a:r>
              <a:rPr lang="en-US" sz="2200" dirty="0"/>
              <a:t>The surface finish on a cylinder wall should act as an oil reservoir to lubricate the piston rings and prevent piston and ring scuffing.</a:t>
            </a:r>
          </a:p>
          <a:p>
            <a:pPr>
              <a:spcBef>
                <a:spcPts val="625"/>
              </a:spcBef>
              <a:spcAft>
                <a:spcPts val="600"/>
              </a:spcAft>
              <a:buSzPct val="100000"/>
            </a:pPr>
            <a:r>
              <a:rPr lang="en-US" sz="2200" dirty="0"/>
              <a:t>Piston ring faces can be damaged and wear prematurely if the wall is too rough. A surface that is too smooth will not hold enough oil and scuffing may occur.</a:t>
            </a:r>
          </a:p>
          <a:p>
            <a:pPr>
              <a:spcBef>
                <a:spcPts val="625"/>
              </a:spcBef>
              <a:spcAft>
                <a:spcPts val="600"/>
              </a:spcAft>
              <a:buSzPct val="100000"/>
            </a:pPr>
            <a:r>
              <a:rPr lang="en-US" sz="2200" dirty="0"/>
              <a:t>Ideally, these grooves cross at 50- to 60-degree angles, although anything from 20 to 60 degrees is acceptable.</a:t>
            </a:r>
          </a:p>
          <a:p>
            <a:pPr>
              <a:spcBef>
                <a:spcPts val="625"/>
              </a:spcBef>
              <a:spcAft>
                <a:spcPts val="600"/>
              </a:spcAft>
              <a:buSzPct val="100000"/>
            </a:pPr>
            <a:r>
              <a:rPr lang="en-US" sz="2200" dirty="0"/>
              <a:t>This finish leaves millions of tiny diamond-shaped areas to serve as oil reservoirs.</a:t>
            </a:r>
          </a:p>
        </p:txBody>
      </p:sp>
      <p:pic>
        <p:nvPicPr>
          <p:cNvPr id="6" name="Picture Placeholder 5" descr="The top view of a cylinder with focus on its inside wall. Many crisscross lines inside the wall indicates the inner surface as rough appearance and it is labeled, crosshatch pattern. Two lines are drawn diagonally intersecting each other on the rough surface is labeled, intersect angles.">
            <a:extLst>
              <a:ext uri="{FF2B5EF4-FFF2-40B4-BE49-F238E27FC236}">
                <a16:creationId xmlns:a16="http://schemas.microsoft.com/office/drawing/2014/main" id="{BA7AF4F6-4D4C-DD7B-07A3-9164B765F0AA}"/>
              </a:ext>
            </a:extLst>
          </p:cNvPr>
          <p:cNvPicPr>
            <a:picLocks noGrp="1" noChangeAspect="1"/>
          </p:cNvPicPr>
          <p:nvPr>
            <p:ph type="pic" sz="quarter" idx="11"/>
          </p:nvPr>
        </p:nvPicPr>
        <p:blipFill rotWithShape="1">
          <a:blip r:embed="rId3"/>
          <a:srcRect b="7814"/>
          <a:stretch/>
        </p:blipFill>
        <p:spPr>
          <a:xfrm>
            <a:off x="7704718" y="1960180"/>
            <a:ext cx="4010439" cy="3053609"/>
          </a:xfrm>
          <a:prstGeom prst="rect">
            <a:avLst/>
          </a:prstGeom>
        </p:spPr>
      </p:pic>
    </p:spTree>
    <p:extLst>
      <p:ext uri="{BB962C8B-B14F-4D97-AF65-F5344CB8AC3E}">
        <p14:creationId xmlns:p14="http://schemas.microsoft.com/office/powerpoint/2010/main" val="22647714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Installing </a:t>
            </a:r>
            <a:r>
              <a:rPr lang="en-US"/>
              <a:t>Core Plugs</a:t>
            </a:r>
            <a:endParaRPr lang="en-US"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000" dirty="0"/>
              <a:t>Make sure the plugs are the correct size and </a:t>
            </a:r>
            <a:r>
              <a:rPr lang="en-US" sz="2000"/>
              <a:t>type.</a:t>
            </a:r>
            <a:endParaRPr lang="en-US" sz="2000" dirty="0"/>
          </a:p>
          <a:p>
            <a:pPr>
              <a:spcAft>
                <a:spcPts val="600"/>
              </a:spcAft>
              <a:buSzPct val="100000"/>
            </a:pPr>
            <a:r>
              <a:rPr lang="en-US" sz="2000" dirty="0"/>
              <a:t>Coat the plug or bore lightly with a nonhardening oil-resistant (oil gallery) or water-resistant (cooling jacket) </a:t>
            </a:r>
            <a:r>
              <a:rPr lang="en-US" sz="2000"/>
              <a:t>sealer.</a:t>
            </a:r>
            <a:endParaRPr lang="en-US" sz="2000" dirty="0"/>
          </a:p>
          <a:p>
            <a:pPr>
              <a:spcAft>
                <a:spcPts val="600"/>
              </a:spcAft>
              <a:buSzPct val="100000"/>
            </a:pPr>
            <a:r>
              <a:rPr lang="en-US" sz="2000" dirty="0"/>
              <a:t>If the threads for the oil plugs are damaged, run a tap through the </a:t>
            </a:r>
            <a:r>
              <a:rPr lang="en-US" sz="2000"/>
              <a:t>bore.</a:t>
            </a:r>
            <a:endParaRPr lang="en-US" sz="2000" dirty="0"/>
          </a:p>
          <a:p>
            <a:pPr>
              <a:spcAft>
                <a:spcPts val="600"/>
              </a:spcAft>
              <a:buSzPct val="100000"/>
            </a:pPr>
            <a:r>
              <a:rPr lang="en-US" sz="2000" dirty="0"/>
              <a:t>If the bore for a core plug is damaged, it should be bored out for an oversized </a:t>
            </a:r>
            <a:r>
              <a:rPr lang="en-US" sz="2000"/>
              <a:t>plug.</a:t>
            </a:r>
            <a:endParaRPr lang="en-US" sz="2000" dirty="0"/>
          </a:p>
          <a:p>
            <a:pPr>
              <a:spcAft>
                <a:spcPts val="600"/>
              </a:spcAft>
              <a:buSzPct val="100000"/>
            </a:pPr>
            <a:r>
              <a:rPr lang="en-US" sz="2000" dirty="0"/>
              <a:t>Oversize (OS) plugs are identified by the OS stamped on the </a:t>
            </a:r>
            <a:r>
              <a:rPr lang="en-US" sz="2000"/>
              <a:t>plug.</a:t>
            </a:r>
            <a:endParaRPr lang="en-US" sz="2000" dirty="0"/>
          </a:p>
          <a:p>
            <a:pPr>
              <a:spcAft>
                <a:spcPts val="600"/>
              </a:spcAft>
              <a:buSzPct val="100000"/>
            </a:pPr>
            <a:r>
              <a:rPr lang="en-US" sz="2000" dirty="0"/>
              <a:t>The correct way to install a core plug depends on the type of plug. Disc- or </a:t>
            </a:r>
            <a:r>
              <a:rPr lang="en-US" sz="2000"/>
              <a:t>Dished-Type.</a:t>
            </a:r>
            <a:endParaRPr lang="en-US" sz="2000" dirty="0"/>
          </a:p>
          <a:p>
            <a:pPr>
              <a:spcAft>
                <a:spcPts val="600"/>
              </a:spcAft>
              <a:buSzPct val="100000"/>
            </a:pPr>
            <a:r>
              <a:rPr lang="en-US" sz="2000" dirty="0"/>
              <a:t>These fit in a bore with the dished side facing </a:t>
            </a:r>
            <a:r>
              <a:rPr lang="en-US" sz="2000"/>
              <a:t>out.</a:t>
            </a:r>
            <a:endParaRPr lang="en-US" sz="2000" dirty="0"/>
          </a:p>
          <a:p>
            <a:pPr>
              <a:spcAft>
                <a:spcPts val="600"/>
              </a:spcAft>
              <a:buSzPct val="100000"/>
            </a:pPr>
            <a:r>
              <a:rPr lang="en-US" sz="2000" dirty="0"/>
              <a:t>With a hammer, hit the center of the disc’s crown and drive the plug in until just the crown becomes flat. This expands the plug so that it can make a good </a:t>
            </a:r>
            <a:r>
              <a:rPr lang="en-US" sz="2000"/>
              <a:t>seal.</a:t>
            </a:r>
            <a:endParaRPr lang="en-US" sz="2000" dirty="0"/>
          </a:p>
        </p:txBody>
      </p:sp>
    </p:spTree>
    <p:extLst>
      <p:ext uri="{BB962C8B-B14F-4D97-AF65-F5344CB8AC3E}">
        <p14:creationId xmlns:p14="http://schemas.microsoft.com/office/powerpoint/2010/main" val="25513841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a:t>Camshaft Bearings</a:t>
            </a:r>
            <a:endParaRPr dirty="0"/>
          </a:p>
        </p:txBody>
      </p:sp>
      <p:sp>
        <p:nvSpPr>
          <p:cNvPr id="145" name="Google Shape;145;p4"/>
          <p:cNvSpPr txBox="1">
            <a:spLocks noGrp="1"/>
          </p:cNvSpPr>
          <p:nvPr>
            <p:ph type="body" idx="1"/>
          </p:nvPr>
        </p:nvSpPr>
        <p:spPr>
          <a:xfrm>
            <a:off x="476844" y="1563625"/>
            <a:ext cx="6509584" cy="4508402"/>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200" dirty="0"/>
              <a:t>The camshaft is supported by several bearings, or </a:t>
            </a:r>
            <a:r>
              <a:rPr lang="en-US" sz="2200"/>
              <a:t>bushings.</a:t>
            </a:r>
            <a:endParaRPr lang="en-US" sz="2200" dirty="0"/>
          </a:p>
          <a:p>
            <a:pPr>
              <a:spcAft>
                <a:spcPts val="600"/>
              </a:spcAft>
              <a:buSzPct val="100000"/>
            </a:pPr>
            <a:r>
              <a:rPr lang="en-US" sz="2200" dirty="0"/>
              <a:t>OHV camshaft bearings are one-piece plain bearings pressed into the camshaft </a:t>
            </a:r>
            <a:r>
              <a:rPr lang="en-US" sz="2200"/>
              <a:t>bore.</a:t>
            </a:r>
            <a:endParaRPr lang="en-US" sz="2200" dirty="0"/>
          </a:p>
          <a:p>
            <a:pPr>
              <a:spcAft>
                <a:spcPts val="600"/>
              </a:spcAft>
              <a:buSzPct val="100000"/>
            </a:pPr>
            <a:r>
              <a:rPr lang="en-US" sz="2200" dirty="0"/>
              <a:t>Inspect the bearing bores for wear and </a:t>
            </a:r>
            <a:r>
              <a:rPr lang="en-US" sz="2200"/>
              <a:t>out-of-roundness.</a:t>
            </a:r>
            <a:endParaRPr lang="en-US" sz="2200" dirty="0"/>
          </a:p>
          <a:p>
            <a:pPr>
              <a:spcAft>
                <a:spcPts val="600"/>
              </a:spcAft>
              <a:buSzPct val="100000"/>
            </a:pPr>
            <a:r>
              <a:rPr lang="en-US" sz="2200" dirty="0"/>
              <a:t>Use a bore gauge or telescoping gauge to measure the bore diameter vertically and horizontally with the </a:t>
            </a:r>
            <a:r>
              <a:rPr lang="en-US" sz="2200"/>
              <a:t>block.</a:t>
            </a:r>
            <a:endParaRPr lang="en-US" sz="2200" dirty="0"/>
          </a:p>
        </p:txBody>
      </p:sp>
      <p:pic>
        <p:nvPicPr>
          <p:cNvPr id="6" name="Picture Placeholder 5" descr="An O H V camshaft bore with a one-piece full round plain bearings. The round design is pointed out using an arrow.">
            <a:extLst>
              <a:ext uri="{FF2B5EF4-FFF2-40B4-BE49-F238E27FC236}">
                <a16:creationId xmlns:a16="http://schemas.microsoft.com/office/drawing/2014/main" id="{50EAC98A-E029-A982-7C3B-96AB76E2BB0F}"/>
              </a:ext>
            </a:extLst>
          </p:cNvPr>
          <p:cNvPicPr>
            <a:picLocks noGrp="1" noChangeAspect="1"/>
          </p:cNvPicPr>
          <p:nvPr>
            <p:ph type="pic" sz="quarter" idx="11"/>
          </p:nvPr>
        </p:nvPicPr>
        <p:blipFill>
          <a:blip r:embed="rId3"/>
          <a:srcRect b="13986"/>
          <a:stretch/>
        </p:blipFill>
        <p:spPr>
          <a:xfrm>
            <a:off x="6790814" y="1798998"/>
            <a:ext cx="5227672" cy="3379177"/>
          </a:xfrm>
          <a:prstGeom prst="rect">
            <a:avLst/>
          </a:prstGeom>
        </p:spPr>
      </p:pic>
    </p:spTree>
    <p:extLst>
      <p:ext uri="{BB962C8B-B14F-4D97-AF65-F5344CB8AC3E}">
        <p14:creationId xmlns:p14="http://schemas.microsoft.com/office/powerpoint/2010/main" val="30192458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a:t>Balance Shafts</a:t>
            </a:r>
            <a:endParaRPr dirty="0"/>
          </a:p>
        </p:txBody>
      </p:sp>
      <p:sp>
        <p:nvSpPr>
          <p:cNvPr id="145" name="Google Shape;145;p4"/>
          <p:cNvSpPr txBox="1">
            <a:spLocks noGrp="1"/>
          </p:cNvSpPr>
          <p:nvPr>
            <p:ph type="body" idx="1"/>
          </p:nvPr>
        </p:nvSpPr>
        <p:spPr>
          <a:xfrm>
            <a:off x="476844" y="1563625"/>
            <a:ext cx="7691112" cy="4487854"/>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1800" dirty="0"/>
              <a:t>An engine’s crankshaft is one of the main sources of engine vibration because it is inherently out of balance. Balance shafts are designed to cancel out these </a:t>
            </a:r>
            <a:r>
              <a:rPr lang="en-US" sz="1800"/>
              <a:t>vibrations.</a:t>
            </a:r>
            <a:endParaRPr lang="en-US" sz="1800" dirty="0"/>
          </a:p>
          <a:p>
            <a:pPr>
              <a:spcAft>
                <a:spcPts val="600"/>
              </a:spcAft>
              <a:buSzPct val="100000"/>
            </a:pPr>
            <a:r>
              <a:rPr lang="en-US" sz="1800" dirty="0"/>
              <a:t>A balance shaft has counterweights designed to mirror the throws of the crankshaft. These weights are positioned to the opposite side of the weight of the crankshaft and are rotated in the opposite direction as the </a:t>
            </a:r>
            <a:r>
              <a:rPr lang="en-US" sz="1800"/>
              <a:t>crankshaft.</a:t>
            </a:r>
            <a:endParaRPr lang="en-US" sz="1800" dirty="0"/>
          </a:p>
          <a:p>
            <a:pPr>
              <a:spcAft>
                <a:spcPts val="600"/>
              </a:spcAft>
              <a:buSzPct val="100000"/>
            </a:pPr>
            <a:r>
              <a:rPr lang="en-US" sz="1800" dirty="0"/>
              <a:t>As the engine turns, the opposing weights cancel out any </a:t>
            </a:r>
            <a:r>
              <a:rPr lang="en-US" sz="1800"/>
              <a:t>vibrations.</a:t>
            </a:r>
            <a:endParaRPr lang="en-US" sz="1800" dirty="0"/>
          </a:p>
          <a:p>
            <a:pPr>
              <a:spcAft>
                <a:spcPts val="600"/>
              </a:spcAft>
              <a:buSzPct val="100000"/>
            </a:pPr>
            <a:r>
              <a:rPr lang="en-US" sz="1800" dirty="0"/>
              <a:t>Balance shafts are timed to the rotation of the crankshaft and if timed incorrectly, the engine may vibrate more than it would without a balance </a:t>
            </a:r>
            <a:r>
              <a:rPr lang="en-US" sz="1800"/>
              <a:t>shaft.</a:t>
            </a:r>
            <a:endParaRPr lang="en-US" sz="1800" dirty="0"/>
          </a:p>
        </p:txBody>
      </p:sp>
      <p:pic>
        <p:nvPicPr>
          <p:cNvPr id="6" name="Picture Placeholder 5" descr="A balance shaft assemblies for a four-cylinder engine. The first assembly has a cylindrical rod, with many circular rings. One of these rings has teeth on its surface that are labeled drive gear. The rear part of the cylinder has the label crankshaft. The second and third assemblies have a cylindrical rod which has a ring with teeth on its outer surface that are labeled as drive gears. The rear portion of the cylindrical rods is commonly labeled Balance shaft. The fourth assembly has a container-like structure labeled Balance shaft housing. A dashed line is drawn from the drive gear of the first assembly to the driven gears of the second assembly.">
            <a:extLst>
              <a:ext uri="{FF2B5EF4-FFF2-40B4-BE49-F238E27FC236}">
                <a16:creationId xmlns:a16="http://schemas.microsoft.com/office/drawing/2014/main" id="{8A0A29E9-141A-C4EA-8EAC-FA860A64EFD6}"/>
              </a:ext>
            </a:extLst>
          </p:cNvPr>
          <p:cNvPicPr>
            <a:picLocks noGrp="1" noChangeAspect="1"/>
          </p:cNvPicPr>
          <p:nvPr>
            <p:ph type="pic" sz="quarter" idx="11"/>
          </p:nvPr>
        </p:nvPicPr>
        <p:blipFill>
          <a:blip r:embed="rId3"/>
          <a:srcRect b="7612"/>
          <a:stretch/>
        </p:blipFill>
        <p:spPr>
          <a:xfrm>
            <a:off x="8390066" y="1759473"/>
            <a:ext cx="3325091" cy="3850218"/>
          </a:xfrm>
          <a:prstGeom prst="rect">
            <a:avLst/>
          </a:prstGeom>
        </p:spPr>
      </p:pic>
    </p:spTree>
    <p:extLst>
      <p:ext uri="{BB962C8B-B14F-4D97-AF65-F5344CB8AC3E}">
        <p14:creationId xmlns:p14="http://schemas.microsoft.com/office/powerpoint/2010/main" val="25016152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Crankshaft</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spcAft>
                <a:spcPts val="400"/>
              </a:spcAft>
              <a:buSzPts val="2800"/>
              <a:buNone/>
            </a:pPr>
            <a:r>
              <a:rPr lang="en-US" sz="1800" b="1" dirty="0">
                <a:solidFill>
                  <a:schemeClr val="accent1"/>
                </a:solidFill>
              </a:rPr>
              <a:t>11.04 Inspect crankshafts, crankshaft dampers, and flywheels.</a:t>
            </a:r>
          </a:p>
          <a:p>
            <a:pPr marL="285750" indent="-285750">
              <a:spcAft>
                <a:spcPts val="400"/>
              </a:spcAft>
              <a:buSzPct val="100000"/>
            </a:pPr>
            <a:r>
              <a:rPr lang="en-US" sz="1800" dirty="0">
                <a:solidFill>
                  <a:schemeClr val="accent1"/>
                </a:solidFill>
              </a:rPr>
              <a:t>Crankshafts are made of cast iron, forged cast steel, or nodular iron, and then machined.</a:t>
            </a:r>
          </a:p>
          <a:p>
            <a:pPr marL="285750" indent="-285750">
              <a:spcAft>
                <a:spcPts val="400"/>
              </a:spcAft>
              <a:buSzPct val="100000"/>
            </a:pPr>
            <a:r>
              <a:rPr lang="en-US" sz="1800" dirty="0">
                <a:solidFill>
                  <a:schemeClr val="accent1"/>
                </a:solidFill>
              </a:rPr>
              <a:t>At the centerline of the crankshaft are the main bearing </a:t>
            </a:r>
            <a:r>
              <a:rPr lang="en-US" sz="1800">
                <a:solidFill>
                  <a:schemeClr val="accent1"/>
                </a:solidFill>
              </a:rPr>
              <a:t>journals.</a:t>
            </a:r>
            <a:endParaRPr lang="en-US" sz="1800" dirty="0">
              <a:solidFill>
                <a:schemeClr val="accent1"/>
              </a:solidFill>
            </a:endParaRPr>
          </a:p>
          <a:p>
            <a:pPr marL="285750" indent="-285750">
              <a:spcAft>
                <a:spcPts val="400"/>
              </a:spcAft>
              <a:buSzPct val="100000"/>
            </a:pPr>
            <a:r>
              <a:rPr lang="en-US" sz="1800" dirty="0">
                <a:solidFill>
                  <a:schemeClr val="accent1"/>
                </a:solidFill>
              </a:rPr>
              <a:t>These journals are machined to a very close tolerance because the weight and movement of the crankshaft are supported at these </a:t>
            </a:r>
            <a:r>
              <a:rPr lang="en-US" sz="1800">
                <a:solidFill>
                  <a:schemeClr val="accent1"/>
                </a:solidFill>
              </a:rPr>
              <a:t>points.</a:t>
            </a:r>
            <a:endParaRPr lang="en-US" sz="1800" dirty="0">
              <a:solidFill>
                <a:schemeClr val="accent1"/>
              </a:solidFill>
            </a:endParaRPr>
          </a:p>
          <a:p>
            <a:pPr marL="285750" indent="-285750">
              <a:spcAft>
                <a:spcPts val="400"/>
              </a:spcAft>
              <a:buSzPct val="100000"/>
            </a:pPr>
            <a:r>
              <a:rPr lang="en-US" sz="1800" dirty="0">
                <a:solidFill>
                  <a:schemeClr val="accent1"/>
                </a:solidFill>
              </a:rPr>
              <a:t>A connecting rod journal is also called a </a:t>
            </a:r>
            <a:r>
              <a:rPr lang="en-US" sz="1800">
                <a:solidFill>
                  <a:schemeClr val="accent1"/>
                </a:solidFill>
              </a:rPr>
              <a:t>crankpin.</a:t>
            </a:r>
            <a:endParaRPr lang="en-US" sz="1800" dirty="0">
              <a:solidFill>
                <a:schemeClr val="accent1"/>
              </a:solidFill>
            </a:endParaRPr>
          </a:p>
          <a:p>
            <a:pPr marL="285750" indent="-285750">
              <a:spcAft>
                <a:spcPts val="400"/>
              </a:spcAft>
              <a:buSzPct val="100000"/>
            </a:pPr>
            <a:r>
              <a:rPr lang="en-US" sz="1800" dirty="0">
                <a:solidFill>
                  <a:schemeClr val="accent1"/>
                </a:solidFill>
              </a:rPr>
              <a:t>The position of the rod journals places the weight and pressure from the pistons away from the center of the crankshaft which creates an imbalanced </a:t>
            </a:r>
            <a:r>
              <a:rPr lang="en-US" sz="1800">
                <a:solidFill>
                  <a:schemeClr val="accent1"/>
                </a:solidFill>
              </a:rPr>
              <a:t>condition.</a:t>
            </a:r>
            <a:endParaRPr lang="en-US" sz="1800" dirty="0">
              <a:solidFill>
                <a:schemeClr val="accent1"/>
              </a:solidFill>
            </a:endParaRPr>
          </a:p>
          <a:p>
            <a:pPr marL="285750" indent="-285750">
              <a:spcAft>
                <a:spcPts val="400"/>
              </a:spcAft>
              <a:buSzPct val="100000"/>
            </a:pPr>
            <a:r>
              <a:rPr lang="en-US" sz="1800" dirty="0">
                <a:solidFill>
                  <a:schemeClr val="accent1"/>
                </a:solidFill>
              </a:rPr>
              <a:t>To overcome this imbalance, counterweights are built into the crankshaft to offset the weight of the pistons and connecting </a:t>
            </a:r>
            <a:r>
              <a:rPr lang="en-US" sz="1800">
                <a:solidFill>
                  <a:schemeClr val="accent1"/>
                </a:solidFill>
              </a:rPr>
              <a:t>rods.</a:t>
            </a:r>
            <a:endParaRPr lang="en-US" sz="1800" dirty="0">
              <a:solidFill>
                <a:schemeClr val="accent1"/>
              </a:solidFill>
            </a:endParaRPr>
          </a:p>
          <a:p>
            <a:pPr marL="285750" indent="-285750">
              <a:spcAft>
                <a:spcPts val="400"/>
              </a:spcAft>
              <a:buSzPct val="100000"/>
            </a:pPr>
            <a:r>
              <a:rPr lang="en-US" sz="1800" dirty="0">
                <a:solidFill>
                  <a:schemeClr val="accent1"/>
                </a:solidFill>
              </a:rPr>
              <a:t>These are positioned opposite the connecting rod </a:t>
            </a:r>
            <a:r>
              <a:rPr lang="en-US" sz="1800">
                <a:solidFill>
                  <a:schemeClr val="accent1"/>
                </a:solidFill>
              </a:rPr>
              <a:t>journals.</a:t>
            </a:r>
            <a:endParaRPr lang="en-US" sz="1800" dirty="0">
              <a:solidFill>
                <a:schemeClr val="accent1"/>
              </a:solidFill>
            </a:endParaRPr>
          </a:p>
          <a:p>
            <a:pPr marL="285750" indent="-285750">
              <a:spcAft>
                <a:spcPts val="400"/>
              </a:spcAft>
              <a:buSzPct val="100000"/>
            </a:pPr>
            <a:r>
              <a:rPr lang="en-US" sz="1800" dirty="0">
                <a:solidFill>
                  <a:schemeClr val="accent1"/>
                </a:solidFill>
              </a:rPr>
              <a:t>Some engines use flat-plane </a:t>
            </a:r>
            <a:r>
              <a:rPr lang="en-US" sz="1800">
                <a:solidFill>
                  <a:schemeClr val="accent1"/>
                </a:solidFill>
              </a:rPr>
              <a:t>crankshafts.</a:t>
            </a:r>
            <a:endParaRPr lang="en-US" sz="1800" dirty="0">
              <a:solidFill>
                <a:schemeClr val="accent1"/>
              </a:solidFill>
            </a:endParaRPr>
          </a:p>
        </p:txBody>
      </p:sp>
    </p:spTree>
    <p:extLst>
      <p:ext uri="{BB962C8B-B14F-4D97-AF65-F5344CB8AC3E}">
        <p14:creationId xmlns:p14="http://schemas.microsoft.com/office/powerpoint/2010/main" val="23855975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285750" indent="-285750">
              <a:lnSpc>
                <a:spcPct val="107000"/>
              </a:lnSpc>
              <a:buSzPts val="2800"/>
            </a:pPr>
            <a:r>
              <a:rPr lang="en-US" dirty="0"/>
              <a:t>Flywheel</a:t>
            </a:r>
          </a:p>
        </p:txBody>
      </p:sp>
      <p:sp>
        <p:nvSpPr>
          <p:cNvPr id="145" name="Google Shape;145;p4"/>
          <p:cNvSpPr txBox="1">
            <a:spLocks noGrp="1"/>
          </p:cNvSpPr>
          <p:nvPr>
            <p:ph type="body" idx="1"/>
          </p:nvPr>
        </p:nvSpPr>
        <p:spPr>
          <a:xfrm>
            <a:off x="476844" y="1563625"/>
            <a:ext cx="7187678" cy="4621418"/>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200" dirty="0"/>
              <a:t>The flywheel helps the engine run smoother by applying a constant moving force to carry the crankshaft from one firing stroke to the </a:t>
            </a:r>
            <a:r>
              <a:rPr lang="en-US" sz="2200"/>
              <a:t>next.</a:t>
            </a:r>
            <a:endParaRPr lang="en-US" sz="2200" dirty="0"/>
          </a:p>
          <a:p>
            <a:pPr>
              <a:spcAft>
                <a:spcPts val="600"/>
              </a:spcAft>
              <a:buSzPct val="100000"/>
            </a:pPr>
            <a:r>
              <a:rPr lang="en-US" sz="2200" dirty="0"/>
              <a:t>The large diameter supplies good gear reduction for the starter, making it easy for it to turn the engine against its </a:t>
            </a:r>
            <a:r>
              <a:rPr lang="en-US" sz="2200"/>
              <a:t>compression.</a:t>
            </a:r>
            <a:endParaRPr lang="en-US" sz="2200" dirty="0"/>
          </a:p>
          <a:p>
            <a:pPr>
              <a:spcAft>
                <a:spcPts val="600"/>
              </a:spcAft>
              <a:buSzPct val="100000"/>
            </a:pPr>
            <a:r>
              <a:rPr lang="en-US" sz="2200" dirty="0"/>
              <a:t>The surface of a flywheel may be used as part of the clutch. On a vehicle with an automatic transmission, a lighter </a:t>
            </a:r>
            <a:r>
              <a:rPr lang="en-US" sz="2200" dirty="0" err="1"/>
              <a:t>flexplate</a:t>
            </a:r>
            <a:r>
              <a:rPr lang="en-US" sz="2200" dirty="0"/>
              <a:t> is used. The torque converter provides the weight required to attain flywheel functions.</a:t>
            </a:r>
          </a:p>
        </p:txBody>
      </p:sp>
      <p:pic>
        <p:nvPicPr>
          <p:cNvPr id="6" name="Picture Placeholder 5" descr="A flywheel with a large diameter connects the starter to the engine.">
            <a:extLst>
              <a:ext uri="{FF2B5EF4-FFF2-40B4-BE49-F238E27FC236}">
                <a16:creationId xmlns:a16="http://schemas.microsoft.com/office/drawing/2014/main" id="{9D335154-E438-D7AA-4343-A6DAEF52560B}"/>
              </a:ext>
            </a:extLst>
          </p:cNvPr>
          <p:cNvPicPr>
            <a:picLocks noGrp="1" noChangeAspect="1"/>
          </p:cNvPicPr>
          <p:nvPr>
            <p:ph type="pic" sz="quarter" idx="11"/>
          </p:nvPr>
        </p:nvPicPr>
        <p:blipFill>
          <a:blip r:embed="rId3"/>
          <a:srcRect b="6777"/>
          <a:stretch/>
        </p:blipFill>
        <p:spPr>
          <a:xfrm>
            <a:off x="7740210" y="2003677"/>
            <a:ext cx="3974947" cy="3451902"/>
          </a:xfrm>
          <a:prstGeom prst="rect">
            <a:avLst/>
          </a:prstGeom>
        </p:spPr>
      </p:pic>
    </p:spTree>
    <p:extLst>
      <p:ext uri="{BB962C8B-B14F-4D97-AF65-F5344CB8AC3E}">
        <p14:creationId xmlns:p14="http://schemas.microsoft.com/office/powerpoint/2010/main" val="2392316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3600" dirty="0"/>
              <a:t>Crankshaft Inspection and Rebuilding (1 of 2)</a:t>
            </a:r>
            <a:endParaRPr sz="3600" dirty="0"/>
          </a:p>
        </p:txBody>
      </p:sp>
      <p:sp>
        <p:nvSpPr>
          <p:cNvPr id="145" name="Google Shape;145;p4"/>
          <p:cNvSpPr txBox="1">
            <a:spLocks noGrp="1"/>
          </p:cNvSpPr>
          <p:nvPr>
            <p:ph type="body" idx="1"/>
          </p:nvPr>
        </p:nvSpPr>
        <p:spPr>
          <a:xfrm>
            <a:off x="476843" y="1563624"/>
            <a:ext cx="7906869" cy="4600869"/>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1800" dirty="0"/>
              <a:t>To measure the diameter of the journals, use an outside </a:t>
            </a:r>
            <a:r>
              <a:rPr lang="en-US" sz="1800"/>
              <a:t>micrometer.</a:t>
            </a:r>
            <a:endParaRPr lang="en-US" sz="1800" dirty="0"/>
          </a:p>
          <a:p>
            <a:pPr>
              <a:spcAft>
                <a:spcPts val="600"/>
              </a:spcAft>
              <a:buSzPct val="100000"/>
            </a:pPr>
            <a:r>
              <a:rPr lang="en-US" sz="1800" dirty="0"/>
              <a:t>Measure them for size, out-of-roundness, and </a:t>
            </a:r>
            <a:r>
              <a:rPr lang="en-US" sz="1800"/>
              <a:t>taper.</a:t>
            </a:r>
            <a:endParaRPr lang="en-US" sz="1800" dirty="0"/>
          </a:p>
          <a:p>
            <a:pPr>
              <a:spcAft>
                <a:spcPts val="600"/>
              </a:spcAft>
              <a:buSzPct val="100000"/>
            </a:pPr>
            <a:r>
              <a:rPr lang="en-US" sz="1800" dirty="0"/>
              <a:t>Taper is measured from one side of the journals to the </a:t>
            </a:r>
            <a:r>
              <a:rPr lang="en-US" sz="1800"/>
              <a:t>other.</a:t>
            </a:r>
            <a:endParaRPr lang="en-US" sz="1800" dirty="0"/>
          </a:p>
          <a:p>
            <a:pPr>
              <a:spcAft>
                <a:spcPts val="600"/>
              </a:spcAft>
              <a:buSzPct val="100000"/>
            </a:pPr>
            <a:r>
              <a:rPr lang="en-US" sz="1800" dirty="0"/>
              <a:t>Compare these measurements to specifications to determine if the crankshaft needs to be reground or replaced. If the journals are within specifications, the journal area needs only to be </a:t>
            </a:r>
            <a:r>
              <a:rPr lang="en-US" sz="1800"/>
              <a:t>cleaned.</a:t>
            </a:r>
            <a:endParaRPr lang="en-US" sz="1800" dirty="0"/>
          </a:p>
          <a:p>
            <a:pPr>
              <a:spcAft>
                <a:spcPts val="600"/>
              </a:spcAft>
              <a:buSzPct val="100000"/>
            </a:pPr>
            <a:r>
              <a:rPr lang="en-US" sz="1800" dirty="0"/>
              <a:t>Check and clean the crankshaft oil passages using a small diameter bore brush</a:t>
            </a:r>
          </a:p>
          <a:p>
            <a:pPr>
              <a:spcAft>
                <a:spcPts val="600"/>
              </a:spcAft>
              <a:buSzPct val="100000"/>
            </a:pPr>
            <a:r>
              <a:rPr lang="en-US" sz="1800" dirty="0"/>
              <a:t>Check the sealing surface for the rear main seal. A worn or grooved seal flange can cause an oil leak.</a:t>
            </a:r>
          </a:p>
        </p:txBody>
      </p:sp>
      <p:pic>
        <p:nvPicPr>
          <p:cNvPr id="6" name="Picture Placeholder 5" descr="The method of measuring crank journals. Two oval structures are drawn adjacent to one another with the first one slightly bigger than the second. The longest vertical line in the first oval is labeled A and the longest horizontal line is labeled C. The left half of the second oval is represented by a dashed curve. The longest vertical line in the first oval is labeled B and the longest horizontal line is labeled D. The top and base of both the ovals are joined by a straight horizontal line. The supporting text above the illustration reads, A versus B = Vertical taper, C versus D = Horizontal taper, A versus C = Out of round, B versus D = Out of round; Check for out-of-roundness at each end of the journal.">
            <a:extLst>
              <a:ext uri="{FF2B5EF4-FFF2-40B4-BE49-F238E27FC236}">
                <a16:creationId xmlns:a16="http://schemas.microsoft.com/office/drawing/2014/main" id="{86E441E9-C183-7BDF-3BFA-79FD835B75E7}"/>
              </a:ext>
            </a:extLst>
          </p:cNvPr>
          <p:cNvPicPr>
            <a:picLocks noGrp="1" noChangeAspect="1"/>
          </p:cNvPicPr>
          <p:nvPr>
            <p:ph type="pic" sz="quarter" idx="11"/>
          </p:nvPr>
        </p:nvPicPr>
        <p:blipFill>
          <a:blip r:embed="rId3"/>
          <a:srcRect b="13244"/>
          <a:stretch/>
        </p:blipFill>
        <p:spPr>
          <a:xfrm>
            <a:off x="8515625" y="2104527"/>
            <a:ext cx="3199532" cy="2878439"/>
          </a:xfrm>
          <a:prstGeom prst="rect">
            <a:avLst/>
          </a:prstGeom>
        </p:spPr>
      </p:pic>
    </p:spTree>
    <p:extLst>
      <p:ext uri="{BB962C8B-B14F-4D97-AF65-F5344CB8AC3E}">
        <p14:creationId xmlns:p14="http://schemas.microsoft.com/office/powerpoint/2010/main" val="28656476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3600" dirty="0"/>
              <a:t>Crankshaft Inspection and Rebuilding (2 of </a:t>
            </a:r>
            <a:r>
              <a:rPr lang="en-US" sz="3600"/>
              <a:t>2)</a:t>
            </a:r>
            <a:endParaRPr sz="32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1600" dirty="0">
                <a:solidFill>
                  <a:schemeClr val="accent1"/>
                </a:solidFill>
              </a:rPr>
              <a:t>If the crankshaft is severely damaged, it should be replaced.</a:t>
            </a:r>
          </a:p>
          <a:p>
            <a:pPr>
              <a:spcAft>
                <a:spcPts val="600"/>
              </a:spcAft>
              <a:buSzPct val="100000"/>
            </a:pPr>
            <a:r>
              <a:rPr lang="en-US" sz="1600" dirty="0">
                <a:solidFill>
                  <a:schemeClr val="accent1"/>
                </a:solidFill>
              </a:rPr>
              <a:t>A crankshaft with journal taper or grooves, burnt marks, or small nicks in the journal surfaces may be reusable after the journals are refinished.</a:t>
            </a:r>
          </a:p>
          <a:p>
            <a:pPr>
              <a:spcAft>
                <a:spcPts val="600"/>
              </a:spcAft>
              <a:buSzPct val="100000"/>
            </a:pPr>
            <a:r>
              <a:rPr lang="en-US" sz="1600" dirty="0">
                <a:solidFill>
                  <a:schemeClr val="accent1"/>
                </a:solidFill>
              </a:rPr>
              <a:t>This process grinds away some of the metal on the journals to provide an even and mar-free surface. Minor journal damage may be corrected by polishing the journals with very fine sandpaper.</a:t>
            </a:r>
          </a:p>
          <a:p>
            <a:pPr>
              <a:spcAft>
                <a:spcPts val="600"/>
              </a:spcAft>
              <a:buSzPct val="100000"/>
            </a:pPr>
            <a:r>
              <a:rPr lang="en-US" sz="1600" dirty="0">
                <a:solidFill>
                  <a:schemeClr val="accent1"/>
                </a:solidFill>
              </a:rPr>
              <a:t>To check the straightness of the crankshaft, ensure that it is supported on V-blocks positioned on the end main bearing journals.</a:t>
            </a:r>
          </a:p>
          <a:p>
            <a:pPr>
              <a:spcAft>
                <a:spcPts val="600"/>
              </a:spcAft>
              <a:buSzPct val="100000"/>
            </a:pPr>
            <a:r>
              <a:rPr lang="en-US" sz="1600" dirty="0">
                <a:solidFill>
                  <a:schemeClr val="accent1"/>
                </a:solidFill>
              </a:rPr>
              <a:t>Position a dial indicator at the 3 o’clock position on the center main bearing journal. set the indicator at 0 (zero) and turn the crankshaft through one complete rotation.</a:t>
            </a:r>
          </a:p>
          <a:p>
            <a:pPr>
              <a:spcAft>
                <a:spcPts val="600"/>
              </a:spcAft>
              <a:buSzPct val="100000"/>
            </a:pPr>
            <a:r>
              <a:rPr lang="en-US" sz="1600" dirty="0">
                <a:solidFill>
                  <a:schemeClr val="accent1"/>
                </a:solidFill>
              </a:rPr>
              <a:t>The total deflection of the indicator, the amount greater than zero plus the amount less than zero, is the </a:t>
            </a:r>
            <a:r>
              <a:rPr lang="en-US" sz="1600" b="1" dirty="0">
                <a:solidFill>
                  <a:schemeClr val="accent1"/>
                </a:solidFill>
              </a:rPr>
              <a:t>total indicator reading (TIR).</a:t>
            </a:r>
          </a:p>
          <a:p>
            <a:pPr>
              <a:spcAft>
                <a:spcPts val="600"/>
              </a:spcAft>
              <a:buSzPct val="100000"/>
            </a:pPr>
            <a:r>
              <a:rPr lang="en-US" sz="1600" dirty="0">
                <a:solidFill>
                  <a:schemeClr val="accent1"/>
                </a:solidFill>
              </a:rPr>
              <a:t>A special machine is used to straighten crankshafts but will only be found in serious engine rebuilding shops. In most cases, if the crankshaft is warped, it is replaced.</a:t>
            </a:r>
          </a:p>
        </p:txBody>
      </p:sp>
    </p:spTree>
    <p:extLst>
      <p:ext uri="{BB962C8B-B14F-4D97-AF65-F5344CB8AC3E}">
        <p14:creationId xmlns:p14="http://schemas.microsoft.com/office/powerpoint/2010/main" val="42218540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(2 of 2)</a:t>
            </a:r>
            <a:endParaRPr dirty="0"/>
          </a:p>
        </p:txBody>
      </p:sp>
      <p:sp>
        <p:nvSpPr>
          <p:cNvPr id="310" name="Google Shape;310;p29"/>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spcAft>
                <a:spcPts val="600"/>
              </a:spcAft>
              <a:buSzPts val="2800"/>
            </a:pPr>
            <a:r>
              <a:rPr lang="en-US" sz="2800" dirty="0"/>
              <a:t>Using an outside micrometer in multiple points and positions on the crankshaft journal is checking for what?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Answer (2 of 2)</a:t>
            </a:r>
            <a:endParaRPr dirty="0"/>
          </a:p>
        </p:txBody>
      </p:sp>
      <p:sp>
        <p:nvSpPr>
          <p:cNvPr id="3" name="Google Shape;318;p30"/>
          <p:cNvSpPr txBox="1">
            <a:spLocks noGrp="1"/>
          </p:cNvSpPr>
          <p:nvPr>
            <p:ph type="body" idx="1"/>
          </p:nvPr>
        </p:nvSpPr>
        <p:spPr>
          <a:prstGeom prst="rect">
            <a:avLst/>
          </a:prstGeom>
          <a:noFill/>
          <a:ln>
            <a:noFill/>
          </a:ln>
        </p:spPr>
        <p:txBody>
          <a:bodyPr spcFirstLastPara="1" wrap="square" lIns="91425" tIns="45700" rIns="91425" bIns="45700" anchor="t" anchorCtr="0">
            <a:spAutoFit/>
          </a:bodyPr>
          <a:lstStyle/>
          <a:p>
            <a:pPr marL="360362" lvl="1" indent="0" algn="ctr">
              <a:buNone/>
            </a:pPr>
            <a:r>
              <a:rPr lang="en-US" sz="2800" b="1" dirty="0">
                <a:solidFill>
                  <a:schemeClr val="dk1"/>
                </a:solidFill>
                <a:latin typeface="Work Sans"/>
                <a:ea typeface="Work Sans"/>
                <a:cs typeface="Work Sans"/>
                <a:sym typeface="Work Sans"/>
              </a:rPr>
              <a:t>Answer</a:t>
            </a:r>
            <a:r>
              <a:rPr lang="en-US" sz="2800" dirty="0">
                <a:solidFill>
                  <a:schemeClr val="dk1"/>
                </a:solidFill>
                <a:latin typeface="Work Sans"/>
                <a:ea typeface="Work Sans"/>
                <a:cs typeface="Work Sans"/>
                <a:sym typeface="Work Sans"/>
              </a:rPr>
              <a:t>: Measuring them for size, out-of-roundness, and taper.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285750" indent="-285750">
              <a:lnSpc>
                <a:spcPct val="107000"/>
              </a:lnSpc>
              <a:buSzPts val="2800"/>
            </a:pPr>
            <a:r>
              <a:rPr lang="en-US" dirty="0"/>
              <a:t>Crankshaft Bearings (1 of </a:t>
            </a:r>
            <a:r>
              <a:rPr lang="en-US"/>
              <a:t>2)</a:t>
            </a:r>
            <a:endParaRPr lang="en-US" dirty="0"/>
          </a:p>
        </p:txBody>
      </p:sp>
      <p:sp>
        <p:nvSpPr>
          <p:cNvPr id="145" name="Google Shape;145;p4"/>
          <p:cNvSpPr txBox="1">
            <a:spLocks noGrp="1"/>
          </p:cNvSpPr>
          <p:nvPr>
            <p:ph type="body" idx="1"/>
          </p:nvPr>
        </p:nvSpPr>
        <p:spPr>
          <a:xfrm>
            <a:off x="476843" y="1563624"/>
            <a:ext cx="7074663" cy="4713885"/>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1600" dirty="0"/>
              <a:t>Bearings are a major wear item and require close </a:t>
            </a:r>
            <a:r>
              <a:rPr lang="en-US" sz="1600"/>
              <a:t>inspection.</a:t>
            </a:r>
            <a:endParaRPr lang="en-US" sz="1600" dirty="0"/>
          </a:p>
          <a:p>
            <a:pPr>
              <a:spcAft>
                <a:spcPts val="600"/>
              </a:spcAft>
              <a:buSzPct val="100000"/>
            </a:pPr>
            <a:r>
              <a:rPr lang="en-US" sz="1600" dirty="0"/>
              <a:t>Main bearings support the crankshaft </a:t>
            </a:r>
            <a:r>
              <a:rPr lang="en-US" sz="1600"/>
              <a:t>journals.</a:t>
            </a:r>
            <a:endParaRPr lang="en-US" sz="1600" dirty="0"/>
          </a:p>
          <a:p>
            <a:pPr>
              <a:spcAft>
                <a:spcPts val="600"/>
              </a:spcAft>
              <a:buSzPct val="100000"/>
            </a:pPr>
            <a:r>
              <a:rPr lang="en-US" sz="1600" dirty="0"/>
              <a:t>Connecting rod bearings connect the crankshaft to the connecting </a:t>
            </a:r>
            <a:r>
              <a:rPr lang="en-US" sz="1600"/>
              <a:t>rods.</a:t>
            </a:r>
            <a:endParaRPr lang="en-US" sz="1600" dirty="0"/>
          </a:p>
          <a:p>
            <a:pPr>
              <a:spcAft>
                <a:spcPts val="600"/>
              </a:spcAft>
              <a:buSzPct val="100000"/>
            </a:pPr>
            <a:r>
              <a:rPr lang="en-US" sz="1600" dirty="0"/>
              <a:t>Crankshaft bearings are known as insert </a:t>
            </a:r>
            <a:r>
              <a:rPr lang="en-US" sz="1600"/>
              <a:t>bearings.</a:t>
            </a:r>
            <a:endParaRPr lang="en-US" sz="1600" dirty="0"/>
          </a:p>
          <a:p>
            <a:pPr>
              <a:spcAft>
                <a:spcPts val="600"/>
              </a:spcAft>
              <a:buSzPct val="100000"/>
            </a:pPr>
            <a:r>
              <a:rPr lang="en-US" sz="1600" dirty="0"/>
              <a:t>There are two basic bearing designs. A </a:t>
            </a:r>
            <a:r>
              <a:rPr lang="en-US" sz="1600" b="1" dirty="0"/>
              <a:t>full-round </a:t>
            </a:r>
            <a:r>
              <a:rPr lang="en-US" sz="1600" dirty="0"/>
              <a:t>(one-piece) </a:t>
            </a:r>
            <a:r>
              <a:rPr lang="en-US" sz="1600" b="1" dirty="0"/>
              <a:t>bearing</a:t>
            </a:r>
            <a:r>
              <a:rPr lang="en-US" sz="1600" dirty="0"/>
              <a:t> is used in bores that allow the shaft’s journals to be inserted into the bearing, such as a </a:t>
            </a:r>
            <a:r>
              <a:rPr lang="en-US" sz="1600"/>
              <a:t>camshaft.</a:t>
            </a:r>
            <a:endParaRPr lang="en-US" sz="1600" dirty="0"/>
          </a:p>
          <a:p>
            <a:pPr>
              <a:spcAft>
                <a:spcPts val="600"/>
              </a:spcAft>
              <a:buSzPct val="100000"/>
            </a:pPr>
            <a:r>
              <a:rPr lang="en-US" sz="1600" dirty="0"/>
              <a:t>A </a:t>
            </a:r>
            <a:r>
              <a:rPr lang="en-US" sz="1600" b="1" dirty="0"/>
              <a:t>split</a:t>
            </a:r>
            <a:r>
              <a:rPr lang="en-US" sz="1600" dirty="0"/>
              <a:t> (two halves) bearing is used where the bearing must be assembled around the </a:t>
            </a:r>
            <a:r>
              <a:rPr lang="en-US" sz="1600"/>
              <a:t>journal.</a:t>
            </a:r>
            <a:endParaRPr lang="en-US" sz="1600" dirty="0"/>
          </a:p>
          <a:p>
            <a:pPr>
              <a:spcAft>
                <a:spcPts val="600"/>
              </a:spcAft>
              <a:buSzPct val="100000"/>
            </a:pPr>
            <a:r>
              <a:rPr lang="en-US" sz="1600" dirty="0"/>
              <a:t>Many crankshafts have a main bearing with flanged sides called a thrust bearing and is used to control the horizontal movement or end play of the </a:t>
            </a:r>
            <a:r>
              <a:rPr lang="en-US" sz="1600"/>
              <a:t>shaft.</a:t>
            </a:r>
            <a:endParaRPr lang="en-US" sz="1600" dirty="0"/>
          </a:p>
        </p:txBody>
      </p:sp>
      <p:pic>
        <p:nvPicPr>
          <p:cNvPr id="6" name="Picture Placeholder 5" descr="Five split-type main bearings in a carton.">
            <a:extLst>
              <a:ext uri="{FF2B5EF4-FFF2-40B4-BE49-F238E27FC236}">
                <a16:creationId xmlns:a16="http://schemas.microsoft.com/office/drawing/2014/main" id="{849A7AC8-AF9F-28C7-4473-A8C4E84D319C}"/>
              </a:ext>
            </a:extLst>
          </p:cNvPr>
          <p:cNvPicPr>
            <a:picLocks noGrp="1" noChangeAspect="1"/>
          </p:cNvPicPr>
          <p:nvPr>
            <p:ph type="pic" sz="quarter" idx="11"/>
          </p:nvPr>
        </p:nvPicPr>
        <p:blipFill>
          <a:blip r:embed="rId3"/>
          <a:srcRect b="9183"/>
          <a:stretch/>
        </p:blipFill>
        <p:spPr>
          <a:xfrm>
            <a:off x="7548299" y="1907336"/>
            <a:ext cx="4444015" cy="3291388"/>
          </a:xfrm>
          <a:prstGeom prst="rect">
            <a:avLst/>
          </a:prstGeom>
        </p:spPr>
      </p:pic>
    </p:spTree>
    <p:extLst>
      <p:ext uri="{BB962C8B-B14F-4D97-AF65-F5344CB8AC3E}">
        <p14:creationId xmlns:p14="http://schemas.microsoft.com/office/powerpoint/2010/main" val="41402384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Crankshaft Bearings (2 of </a:t>
            </a:r>
            <a:r>
              <a:rPr lang="en-US"/>
              <a:t>2)</a:t>
            </a:r>
            <a:endParaRPr dirty="0"/>
          </a:p>
        </p:txBody>
      </p:sp>
      <p:pic>
        <p:nvPicPr>
          <p:cNvPr id="6" name="Picture Placeholder 5" descr="A bearing made of three layers. A small portion of each layer is peeled and exposed and are labeled as follows: Steel backing, Cast copper/lead, and Babbitt.">
            <a:extLst>
              <a:ext uri="{FF2B5EF4-FFF2-40B4-BE49-F238E27FC236}">
                <a16:creationId xmlns:a16="http://schemas.microsoft.com/office/drawing/2014/main" id="{CE1A7567-8DAD-DB6F-A890-02CBEA0809DB}"/>
              </a:ext>
            </a:extLst>
          </p:cNvPr>
          <p:cNvPicPr>
            <a:picLocks noGrp="1" noChangeAspect="1"/>
          </p:cNvPicPr>
          <p:nvPr>
            <p:ph type="pic" sz="quarter" idx="11"/>
          </p:nvPr>
        </p:nvPicPr>
        <p:blipFill>
          <a:blip r:embed="rId3"/>
          <a:srcRect b="10007"/>
          <a:stretch/>
        </p:blipFill>
        <p:spPr>
          <a:xfrm>
            <a:off x="609214" y="1551100"/>
            <a:ext cx="4128741" cy="3976398"/>
          </a:xfrm>
          <a:prstGeom prst="rect">
            <a:avLst/>
          </a:prstGeom>
        </p:spPr>
      </p:pic>
      <p:sp>
        <p:nvSpPr>
          <p:cNvPr id="145" name="Google Shape;145;p4"/>
          <p:cNvSpPr txBox="1">
            <a:spLocks noGrp="1"/>
          </p:cNvSpPr>
          <p:nvPr>
            <p:ph type="body" idx="1"/>
          </p:nvPr>
        </p:nvSpPr>
        <p:spPr>
          <a:xfrm>
            <a:off x="4848417" y="1563625"/>
            <a:ext cx="7084937" cy="4128258"/>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dirty="0"/>
              <a:t>Bearing Materials</a:t>
            </a:r>
          </a:p>
          <a:p>
            <a:pPr marL="719138" lvl="1" indent="-358775">
              <a:spcAft>
                <a:spcPts val="600"/>
              </a:spcAft>
              <a:buSzPct val="100000"/>
            </a:pPr>
            <a:r>
              <a:rPr lang="en-US" dirty="0"/>
              <a:t>Bearings can be made of aluminum, aluminum alloys, copper and lead alloys, and steel backings coated with babbitt.</a:t>
            </a:r>
          </a:p>
          <a:p>
            <a:pPr marL="719138" lvl="1" indent="-358775">
              <a:spcAft>
                <a:spcPts val="600"/>
              </a:spcAft>
              <a:buSzPct val="100000"/>
            </a:pPr>
            <a:r>
              <a:rPr lang="en-US" dirty="0"/>
              <a:t>Aluminum alloy bearings are the most commonly used.</a:t>
            </a:r>
          </a:p>
          <a:p>
            <a:pPr marL="719138" lvl="1" indent="-358775">
              <a:spcAft>
                <a:spcPts val="600"/>
              </a:spcAft>
              <a:buSzPct val="100000"/>
            </a:pPr>
            <a:r>
              <a:rPr lang="en-US" dirty="0"/>
              <a:t>These bearings contain silicon, which helps to reduce wear.</a:t>
            </a:r>
          </a:p>
        </p:txBody>
      </p:sp>
    </p:spTree>
    <p:extLst>
      <p:ext uri="{BB962C8B-B14F-4D97-AF65-F5344CB8AC3E}">
        <p14:creationId xmlns:p14="http://schemas.microsoft.com/office/powerpoint/2010/main" val="27181599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r>
              <a:rPr lang="en-US" sz="4000" dirty="0"/>
              <a:t>Installing Main Bearings and Crankshaft (</a:t>
            </a:r>
            <a:r>
              <a:rPr lang="en-US" dirty="0"/>
              <a:t>1</a:t>
            </a:r>
            <a:r>
              <a:rPr lang="en-US" sz="4000" dirty="0"/>
              <a:t> of 2)</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000" dirty="0"/>
              <a:t>Before assembling the short block, make sure the engine is thoroughly </a:t>
            </a:r>
            <a:r>
              <a:rPr lang="en-US" sz="2000"/>
              <a:t>cleaned.</a:t>
            </a:r>
            <a:endParaRPr lang="en-US" sz="2000" dirty="0"/>
          </a:p>
          <a:p>
            <a:pPr>
              <a:spcAft>
                <a:spcPts val="600"/>
              </a:spcAft>
              <a:buSzPct val="100000"/>
            </a:pPr>
            <a:r>
              <a:rPr lang="en-US" sz="2000" dirty="0"/>
              <a:t>A gap or clearance between the outside diameter of the crankshaft journals and the inside diameter of its bearings is </a:t>
            </a:r>
            <a:r>
              <a:rPr lang="en-US" sz="2000"/>
              <a:t>necessary.</a:t>
            </a:r>
            <a:endParaRPr lang="en-US" sz="2000" dirty="0"/>
          </a:p>
          <a:p>
            <a:pPr>
              <a:spcAft>
                <a:spcPts val="600"/>
              </a:spcAft>
              <a:buSzPct val="100000"/>
            </a:pPr>
            <a:r>
              <a:rPr lang="en-US" sz="2000" dirty="0"/>
              <a:t>This clearance allows for the building and maintenance of an oil </a:t>
            </a:r>
            <a:r>
              <a:rPr lang="en-US" sz="2000"/>
              <a:t>film.</a:t>
            </a:r>
            <a:endParaRPr lang="en-US" sz="2000" dirty="0"/>
          </a:p>
          <a:p>
            <a:pPr>
              <a:spcAft>
                <a:spcPts val="600"/>
              </a:spcAft>
              <a:buSzPct val="100000"/>
            </a:pPr>
            <a:r>
              <a:rPr lang="en-US" sz="2000" dirty="0"/>
              <a:t>Scored bearings, worn crankshaft, excessive cylinder wear, stuck piston rings, and worn pistons can result from too small an oil </a:t>
            </a:r>
            <a:r>
              <a:rPr lang="en-US" sz="2000"/>
              <a:t>clearance.</a:t>
            </a:r>
            <a:endParaRPr lang="en-US" sz="2000" dirty="0"/>
          </a:p>
          <a:p>
            <a:pPr>
              <a:spcAft>
                <a:spcPts val="600"/>
              </a:spcAft>
              <a:buSzPct val="100000"/>
            </a:pPr>
            <a:r>
              <a:rPr lang="en-US" sz="2000" dirty="0"/>
              <a:t>If the oil clearance is too great, the crankshaft might pound up and down, overheat, and weld itself to the insert </a:t>
            </a:r>
            <a:r>
              <a:rPr lang="en-US" sz="2000"/>
              <a:t>bearings.</a:t>
            </a:r>
            <a:endParaRPr lang="en-US" sz="2000" dirty="0"/>
          </a:p>
          <a:p>
            <a:pPr>
              <a:spcAft>
                <a:spcPts val="600"/>
              </a:spcAft>
              <a:buSzPct val="100000"/>
            </a:pPr>
            <a:r>
              <a:rPr lang="en-US" sz="2000" dirty="0"/>
              <a:t>During an engine rebuild, if there is little or no wear on the journals, the proper oil clearance can be restored with the installation of standard-size </a:t>
            </a:r>
            <a:r>
              <a:rPr lang="en-US" sz="2000"/>
              <a:t>bearings.</a:t>
            </a:r>
            <a:endParaRPr lang="en-US" sz="2000" dirty="0"/>
          </a:p>
        </p:txBody>
      </p:sp>
    </p:spTree>
    <p:extLst>
      <p:ext uri="{BB962C8B-B14F-4D97-AF65-F5344CB8AC3E}">
        <p14:creationId xmlns:p14="http://schemas.microsoft.com/office/powerpoint/2010/main" val="33925840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r>
              <a:rPr lang="en-US" sz="4000" dirty="0"/>
              <a:t>Installing Main Bearings and Crankshaft (</a:t>
            </a:r>
            <a:r>
              <a:rPr lang="en-US" dirty="0"/>
              <a:t>2</a:t>
            </a:r>
            <a:r>
              <a:rPr lang="en-US" sz="4000" dirty="0"/>
              <a:t> of 2)</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200" dirty="0"/>
              <a:t>If the crankshaft is worn to the point where standard-size bearings will leave an excessive oil clearance, a bearing with a thicker wall must be used.</a:t>
            </a:r>
          </a:p>
          <a:p>
            <a:pPr>
              <a:spcAft>
                <a:spcPts val="600"/>
              </a:spcAft>
              <a:buSzPct val="100000"/>
            </a:pPr>
            <a:r>
              <a:rPr lang="en-US" sz="2200" dirty="0"/>
              <a:t>Although these bearings are thicker, they are known as undersize because the journals and crankpins are smaller in diameter. In other words, they are under the standard size.</a:t>
            </a:r>
          </a:p>
          <a:p>
            <a:pPr>
              <a:spcAft>
                <a:spcPts val="600"/>
              </a:spcAft>
              <a:buSzPct val="100000"/>
            </a:pPr>
            <a:r>
              <a:rPr lang="en-US" sz="2200" dirty="0"/>
              <a:t>Before the bearings are installed, make sure the bore is clean and dry. Use a clean, lint-free cloth to wipe the bearing back and bore surface. Put the new main bearings into each main bearing cap and the bearing bores in the cylinder block.</a:t>
            </a:r>
          </a:p>
          <a:p>
            <a:pPr>
              <a:spcAft>
                <a:spcPts val="600"/>
              </a:spcAft>
              <a:buSzPct val="100000"/>
            </a:pPr>
            <a:r>
              <a:rPr lang="en-US" sz="2200" dirty="0"/>
              <a:t>The oil clearance is now measured with </a:t>
            </a:r>
            <a:r>
              <a:rPr lang="en-US" sz="2200" dirty="0" err="1"/>
              <a:t>Plastigage</a:t>
            </a:r>
            <a:r>
              <a:rPr lang="en-US" sz="2200" dirty="0"/>
              <a:t>.</a:t>
            </a:r>
          </a:p>
        </p:txBody>
      </p:sp>
    </p:spTree>
    <p:extLst>
      <p:ext uri="{BB962C8B-B14F-4D97-AF65-F5344CB8AC3E}">
        <p14:creationId xmlns:p14="http://schemas.microsoft.com/office/powerpoint/2010/main" val="8435782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Crankshaft </a:t>
            </a:r>
            <a:r>
              <a:rPr lang="en-US"/>
              <a:t>End Play</a:t>
            </a:r>
            <a:endParaRPr dirty="0"/>
          </a:p>
        </p:txBody>
      </p:sp>
      <p:sp>
        <p:nvSpPr>
          <p:cNvPr id="145" name="Google Shape;145;p4"/>
          <p:cNvSpPr txBox="1">
            <a:spLocks noGrp="1"/>
          </p:cNvSpPr>
          <p:nvPr>
            <p:ph type="body" idx="1"/>
          </p:nvPr>
        </p:nvSpPr>
        <p:spPr>
          <a:xfrm>
            <a:off x="476843" y="1563624"/>
            <a:ext cx="7382887" cy="4477579"/>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000" dirty="0"/>
              <a:t>Crankshaft end play can be measured with a feeler gauge by prying the crankshaft rearward and measuring the clearance between the thrust bearing flange and a machined surface on the </a:t>
            </a:r>
            <a:r>
              <a:rPr lang="en-US" sz="2000"/>
              <a:t>crankshaft.</a:t>
            </a:r>
            <a:endParaRPr lang="en-US" sz="2000" dirty="0"/>
          </a:p>
          <a:p>
            <a:pPr>
              <a:spcAft>
                <a:spcPts val="600"/>
              </a:spcAft>
              <a:buSzPct val="100000"/>
            </a:pPr>
            <a:r>
              <a:rPr lang="en-US" sz="2000" dirty="0"/>
              <a:t>You may also position a dial indicator so that the fore and aft movement of the crankshaft can be </a:t>
            </a:r>
            <a:r>
              <a:rPr lang="en-US" sz="2000"/>
              <a:t>measured.</a:t>
            </a:r>
            <a:endParaRPr lang="en-US" sz="2000" dirty="0"/>
          </a:p>
          <a:p>
            <a:pPr>
              <a:spcAft>
                <a:spcPts val="600"/>
              </a:spcAft>
              <a:buSzPct val="100000"/>
            </a:pPr>
            <a:r>
              <a:rPr lang="en-US" sz="2000" dirty="0"/>
              <a:t>If the end play is less than or greater than the specified limits, the main bearing with the thrust surface must be exchanged for one with a thicker or thinner thrust </a:t>
            </a:r>
            <a:r>
              <a:rPr lang="en-US" sz="2000"/>
              <a:t>surface.</a:t>
            </a:r>
            <a:endParaRPr lang="en-US" sz="2000" dirty="0"/>
          </a:p>
          <a:p>
            <a:pPr>
              <a:spcAft>
                <a:spcPts val="600"/>
              </a:spcAft>
              <a:buSzPct val="100000"/>
            </a:pPr>
            <a:r>
              <a:rPr lang="en-US" sz="2000" dirty="0"/>
              <a:t>If the engine has thrust washers or shims, thicker or thinner washers or shims must be </a:t>
            </a:r>
            <a:r>
              <a:rPr lang="en-US" sz="2000"/>
              <a:t>used.</a:t>
            </a:r>
            <a:endParaRPr lang="en-US" sz="2000" dirty="0"/>
          </a:p>
        </p:txBody>
      </p:sp>
      <p:pic>
        <p:nvPicPr>
          <p:cNvPr id="6" name="Picture Placeholder 5" descr="A technician measures the crankshaft end play using a feeler gauge.">
            <a:extLst>
              <a:ext uri="{FF2B5EF4-FFF2-40B4-BE49-F238E27FC236}">
                <a16:creationId xmlns:a16="http://schemas.microsoft.com/office/drawing/2014/main" id="{45F06CB2-98E0-949D-A595-D64E6F25F591}"/>
              </a:ext>
            </a:extLst>
          </p:cNvPr>
          <p:cNvPicPr>
            <a:picLocks noGrp="1" noChangeAspect="1"/>
          </p:cNvPicPr>
          <p:nvPr>
            <p:ph type="pic" sz="quarter" idx="11"/>
          </p:nvPr>
        </p:nvPicPr>
        <p:blipFill>
          <a:blip r:embed="rId3"/>
          <a:srcRect b="13125"/>
          <a:stretch/>
        </p:blipFill>
        <p:spPr>
          <a:xfrm>
            <a:off x="7912255" y="2401214"/>
            <a:ext cx="4023360" cy="2633123"/>
          </a:xfrm>
          <a:prstGeom prst="rect">
            <a:avLst/>
          </a:prstGeom>
        </p:spPr>
      </p:pic>
    </p:spTree>
    <p:extLst>
      <p:ext uri="{BB962C8B-B14F-4D97-AF65-F5344CB8AC3E}">
        <p14:creationId xmlns:p14="http://schemas.microsoft.com/office/powerpoint/2010/main" val="26628634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a:t>Connecting Rod</a:t>
            </a:r>
            <a:endParaRPr dirty="0"/>
          </a:p>
        </p:txBody>
      </p:sp>
      <p:sp>
        <p:nvSpPr>
          <p:cNvPr id="145" name="Google Shape;145;p4"/>
          <p:cNvSpPr txBox="1">
            <a:spLocks noGrp="1"/>
          </p:cNvSpPr>
          <p:nvPr>
            <p:ph type="body" idx="1"/>
          </p:nvPr>
        </p:nvSpPr>
        <p:spPr>
          <a:xfrm>
            <a:off x="476843" y="1563624"/>
            <a:ext cx="8003278" cy="4559773"/>
          </a:xfrm>
          <a:prstGeom prst="rect">
            <a:avLst/>
          </a:prstGeom>
          <a:noFill/>
          <a:ln>
            <a:noFill/>
          </a:ln>
        </p:spPr>
        <p:txBody>
          <a:bodyPr spcFirstLastPara="1" wrap="square" lIns="91425" tIns="45700" rIns="91425" bIns="45700" anchor="t" anchorCtr="0">
            <a:noAutofit/>
          </a:bodyPr>
          <a:lstStyle/>
          <a:p>
            <a:pPr>
              <a:buSzPct val="100000"/>
            </a:pPr>
            <a:r>
              <a:rPr lang="en-US" sz="1600" dirty="0"/>
              <a:t>The connecting rod is used to transmit the pressure applied on the piston to the crankshaft.</a:t>
            </a:r>
          </a:p>
          <a:p>
            <a:pPr>
              <a:buSzPct val="100000"/>
            </a:pPr>
            <a:r>
              <a:rPr lang="en-US" sz="1600" dirty="0"/>
              <a:t>The piston pin is inserted into the small end or piston pin end, which connects the piston to the rod. The piston pin can be pressed-fit in the piston and free fit in the rod.</a:t>
            </a:r>
          </a:p>
          <a:p>
            <a:pPr>
              <a:buSzPct val="100000"/>
            </a:pPr>
            <a:r>
              <a:rPr lang="en-US" sz="1600" dirty="0"/>
              <a:t>The “big” end of the rod is attached to the crankshaft.</a:t>
            </a:r>
          </a:p>
          <a:p>
            <a:pPr>
              <a:buSzPct val="100000"/>
            </a:pPr>
            <a:r>
              <a:rPr lang="en-US" sz="1600" dirty="0"/>
              <a:t>It is made in two pieces. The upper half is part of the rod. The lower half is called the rod cap.</a:t>
            </a:r>
          </a:p>
          <a:p>
            <a:pPr>
              <a:buSzPct val="100000"/>
            </a:pPr>
            <a:r>
              <a:rPr lang="en-US" sz="1600" dirty="0"/>
              <a:t>The connecting rod and its cap are manufactured as a unit.</a:t>
            </a:r>
          </a:p>
          <a:p>
            <a:pPr>
              <a:buSzPct val="100000"/>
            </a:pPr>
            <a:r>
              <a:rPr lang="en-US" sz="1600" dirty="0"/>
              <a:t>During production, the rod caps are either machined off the rod or are scribed and broken off and imperfections ensure that the cap is positioned exactly where it was before it was broken off.</a:t>
            </a:r>
          </a:p>
          <a:p>
            <a:pPr>
              <a:buSzPct val="100000"/>
            </a:pPr>
            <a:r>
              <a:rPr lang="en-US" sz="1600" dirty="0"/>
              <a:t>The big end is fitted with bearing inserts made of the same material as the main bearings.</a:t>
            </a:r>
          </a:p>
          <a:p>
            <a:pPr>
              <a:buSzPct val="100000"/>
            </a:pPr>
            <a:r>
              <a:rPr lang="en-US" sz="1600" dirty="0"/>
              <a:t>Many connecting rods contain a hole for oiling the bearing area.</a:t>
            </a:r>
          </a:p>
        </p:txBody>
      </p:sp>
      <p:pic>
        <p:nvPicPr>
          <p:cNvPr id="6" name="Picture Placeholder 5" descr="A connecting rod transmits the pressure applied to the piston to the crankshaft in a piston and connecting rod assembly.">
            <a:extLst>
              <a:ext uri="{FF2B5EF4-FFF2-40B4-BE49-F238E27FC236}">
                <a16:creationId xmlns:a16="http://schemas.microsoft.com/office/drawing/2014/main" id="{300C2C5F-2C25-AB90-08F2-1A3ADBC9AB7C}"/>
              </a:ext>
            </a:extLst>
          </p:cNvPr>
          <p:cNvPicPr>
            <a:picLocks noGrp="1" noChangeAspect="1"/>
          </p:cNvPicPr>
          <p:nvPr>
            <p:ph type="pic" sz="quarter" idx="11"/>
          </p:nvPr>
        </p:nvPicPr>
        <p:blipFill>
          <a:blip r:embed="rId3"/>
          <a:srcRect b="4247"/>
          <a:stretch/>
        </p:blipFill>
        <p:spPr>
          <a:xfrm>
            <a:off x="8665453" y="1722504"/>
            <a:ext cx="3022810" cy="4061847"/>
          </a:xfrm>
          <a:prstGeom prst="rect">
            <a:avLst/>
          </a:prstGeom>
        </p:spPr>
      </p:pic>
    </p:spTree>
    <p:extLst>
      <p:ext uri="{BB962C8B-B14F-4D97-AF65-F5344CB8AC3E}">
        <p14:creationId xmlns:p14="http://schemas.microsoft.com/office/powerpoint/2010/main" val="5310053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Piston and Piston Rings (</a:t>
            </a:r>
            <a:r>
              <a:rPr lang="en-US" dirty="0"/>
              <a:t>1</a:t>
            </a:r>
            <a:r>
              <a:rPr lang="en-US" sz="4000" dirty="0"/>
              <a:t> of 3)</a:t>
            </a:r>
            <a:endParaRPr dirty="0"/>
          </a:p>
        </p:txBody>
      </p:sp>
      <p:sp>
        <p:nvSpPr>
          <p:cNvPr id="145" name="Google Shape;145;p4"/>
          <p:cNvSpPr txBox="1">
            <a:spLocks noGrp="1"/>
          </p:cNvSpPr>
          <p:nvPr>
            <p:ph type="body" idx="1"/>
          </p:nvPr>
        </p:nvSpPr>
        <p:spPr>
          <a:xfrm>
            <a:off x="476844" y="1563625"/>
            <a:ext cx="7958240" cy="4527442"/>
          </a:xfrm>
          <a:prstGeom prst="rect">
            <a:avLst/>
          </a:prstGeom>
          <a:noFill/>
          <a:ln>
            <a:noFill/>
          </a:ln>
        </p:spPr>
        <p:txBody>
          <a:bodyPr spcFirstLastPara="1" wrap="square" lIns="91425" tIns="45700" rIns="91425" bIns="45700" anchor="t" anchorCtr="0">
            <a:noAutofit/>
          </a:bodyPr>
          <a:lstStyle/>
          <a:p>
            <a:pPr marL="0" indent="0">
              <a:spcAft>
                <a:spcPts val="600"/>
              </a:spcAft>
              <a:buSzPts val="2800"/>
              <a:buNone/>
            </a:pPr>
            <a:r>
              <a:rPr lang="en-US" sz="1800" b="1" dirty="0"/>
              <a:t>11.06 Be able to perform the common service and assembly techniques used in connecting rod and piston </a:t>
            </a:r>
            <a:r>
              <a:rPr lang="en-US" sz="1800" b="1"/>
              <a:t>servicing.</a:t>
            </a:r>
            <a:endParaRPr lang="en-US" sz="1800" dirty="0"/>
          </a:p>
          <a:p>
            <a:pPr marL="285750" indent="-285750">
              <a:spcAft>
                <a:spcPts val="600"/>
              </a:spcAft>
              <a:buSzPct val="100000"/>
            </a:pPr>
            <a:r>
              <a:rPr lang="en-US" sz="1800" dirty="0"/>
              <a:t>The pressures from combustion are exerted against the top of the piston, called the head or </a:t>
            </a:r>
            <a:r>
              <a:rPr lang="en-US" sz="1800"/>
              <a:t>dome.</a:t>
            </a:r>
            <a:endParaRPr lang="en-US" sz="1800" dirty="0"/>
          </a:p>
          <a:p>
            <a:pPr marL="285750" indent="-285750">
              <a:spcAft>
                <a:spcPts val="600"/>
              </a:spcAft>
              <a:buSzPct val="100000"/>
            </a:pPr>
            <a:r>
              <a:rPr lang="en-US" sz="1800" dirty="0"/>
              <a:t>A piston must be strong enough to face this pressure; however, it should also be as light as </a:t>
            </a:r>
            <a:r>
              <a:rPr lang="en-US" sz="1800"/>
              <a:t>possible.</a:t>
            </a:r>
            <a:endParaRPr lang="en-US" sz="1800" dirty="0"/>
          </a:p>
          <a:p>
            <a:pPr marL="285750" indent="-285750">
              <a:spcAft>
                <a:spcPts val="600"/>
              </a:spcAft>
              <a:buSzPct val="100000"/>
            </a:pPr>
            <a:r>
              <a:rPr lang="en-US" sz="1800" dirty="0"/>
              <a:t>There are three basic types of aluminum silicon alloys used in pistons: hypoeutectic, eutectic, and hypereutectic. Late-model engines that are capable of running to fairly high rpm use pistons that have skirts only on the thrust sides and often have special patches or coatings to reduce friction and </a:t>
            </a:r>
            <a:r>
              <a:rPr lang="en-US" sz="1800"/>
              <a:t>wear.</a:t>
            </a:r>
            <a:endParaRPr lang="en-US" sz="1800" dirty="0"/>
          </a:p>
          <a:p>
            <a:pPr marL="285750" indent="-285750">
              <a:spcAft>
                <a:spcPts val="600"/>
              </a:spcAft>
              <a:buSzPct val="100000"/>
            </a:pPr>
            <a:r>
              <a:rPr lang="en-US" sz="1800" dirty="0"/>
              <a:t>The head of the piston can be flat, concave, convex, crowned, raised and relieved for valves, or notched for </a:t>
            </a:r>
            <a:r>
              <a:rPr lang="en-US" sz="1800"/>
              <a:t>valves.</a:t>
            </a:r>
            <a:endParaRPr lang="en-US" sz="1800" dirty="0"/>
          </a:p>
        </p:txBody>
      </p:sp>
      <p:pic>
        <p:nvPicPr>
          <p:cNvPr id="6" name="Picture Placeholder 5" descr="Pistons in a late-model engine that has special coatings to reduce friction and wear.">
            <a:extLst>
              <a:ext uri="{FF2B5EF4-FFF2-40B4-BE49-F238E27FC236}">
                <a16:creationId xmlns:a16="http://schemas.microsoft.com/office/drawing/2014/main" id="{277ABEEB-20FA-4A17-F823-881B2D78F6B1}"/>
              </a:ext>
            </a:extLst>
          </p:cNvPr>
          <p:cNvPicPr>
            <a:picLocks noGrp="1" noChangeAspect="1"/>
          </p:cNvPicPr>
          <p:nvPr>
            <p:ph type="pic" sz="quarter" idx="11"/>
          </p:nvPr>
        </p:nvPicPr>
        <p:blipFill>
          <a:blip r:embed="rId3"/>
          <a:srcRect b="6718"/>
          <a:stretch/>
        </p:blipFill>
        <p:spPr>
          <a:xfrm>
            <a:off x="8591983" y="1678402"/>
            <a:ext cx="3123174" cy="4116223"/>
          </a:xfrm>
          <a:prstGeom prst="rect">
            <a:avLst/>
          </a:prstGeom>
        </p:spPr>
      </p:pic>
    </p:spTree>
    <p:extLst>
      <p:ext uri="{BB962C8B-B14F-4D97-AF65-F5344CB8AC3E}">
        <p14:creationId xmlns:p14="http://schemas.microsoft.com/office/powerpoint/2010/main" val="22088907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Piston and Piston Rings (2 of 3)</a:t>
            </a:r>
            <a:endParaRPr dirty="0"/>
          </a:p>
        </p:txBody>
      </p:sp>
      <p:sp>
        <p:nvSpPr>
          <p:cNvPr id="145" name="Google Shape;145;p4"/>
          <p:cNvSpPr txBox="1">
            <a:spLocks noGrp="1"/>
          </p:cNvSpPr>
          <p:nvPr>
            <p:ph type="body" idx="1"/>
          </p:nvPr>
        </p:nvSpPr>
        <p:spPr>
          <a:xfrm>
            <a:off x="476843" y="1563624"/>
            <a:ext cx="7351924" cy="4282371"/>
          </a:xfrm>
          <a:prstGeom prst="rect">
            <a:avLst/>
          </a:prstGeom>
          <a:noFill/>
          <a:ln>
            <a:noFill/>
          </a:ln>
        </p:spPr>
        <p:txBody>
          <a:bodyPr spcFirstLastPara="1" wrap="square" lIns="91425" tIns="45700" rIns="91425" bIns="45700" anchor="t" anchorCtr="0">
            <a:noAutofit/>
          </a:bodyPr>
          <a:lstStyle/>
          <a:p>
            <a:pPr>
              <a:buSzPct val="100000"/>
            </a:pPr>
            <a:r>
              <a:rPr lang="en-US" sz="1800" dirty="0">
                <a:solidFill>
                  <a:schemeClr val="accent1"/>
                </a:solidFill>
              </a:rPr>
              <a:t>Just below the dome, around the sides of the piston, are grooves which are used to hold the piston rings. The areas between the grooves are called ring lands.</a:t>
            </a:r>
          </a:p>
          <a:p>
            <a:pPr>
              <a:buSzPct val="100000"/>
            </a:pPr>
            <a:r>
              <a:rPr lang="en-US" sz="1800" dirty="0">
                <a:solidFill>
                  <a:schemeClr val="accent1"/>
                </a:solidFill>
              </a:rPr>
              <a:t>Some pistons have a ceramic coating in the top ring groove to prevent the ring from being “welded” inside the groove.</a:t>
            </a:r>
          </a:p>
          <a:p>
            <a:pPr>
              <a:buSzPct val="100000"/>
            </a:pPr>
            <a:r>
              <a:rPr lang="en-US" sz="1800" dirty="0">
                <a:solidFill>
                  <a:schemeClr val="accent1"/>
                </a:solidFill>
              </a:rPr>
              <a:t>Normally, there are two compression and one oil control groove.</a:t>
            </a:r>
          </a:p>
          <a:p>
            <a:pPr>
              <a:buSzPct val="100000"/>
            </a:pPr>
            <a:r>
              <a:rPr lang="en-US" sz="1800" dirty="0">
                <a:solidFill>
                  <a:schemeClr val="accent1"/>
                </a:solidFill>
              </a:rPr>
              <a:t>The compression grooves are located toward the top of the piston.</a:t>
            </a:r>
          </a:p>
          <a:p>
            <a:pPr>
              <a:buSzPct val="100000"/>
            </a:pPr>
            <a:r>
              <a:rPr lang="en-US" sz="1800" dirty="0">
                <a:solidFill>
                  <a:schemeClr val="accent1"/>
                </a:solidFill>
              </a:rPr>
              <a:t>The oil control groove is the lowest groove on the piston and has holes or slots to allow oil to drain.</a:t>
            </a:r>
          </a:p>
          <a:p>
            <a:pPr>
              <a:buSzPct val="100000"/>
            </a:pPr>
            <a:r>
              <a:rPr lang="en-US" sz="1800" dirty="0">
                <a:solidFill>
                  <a:schemeClr val="accent1"/>
                </a:solidFill>
              </a:rPr>
              <a:t>The area below the piston pin is called the piston skirt. The area below the bottom ring groove and the tip of the skirt is the piston thrust surface.</a:t>
            </a:r>
          </a:p>
        </p:txBody>
      </p:sp>
      <p:pic>
        <p:nvPicPr>
          <p:cNvPr id="6" name="Picture Placeholder 5" descr="The structure of a piston with the connecting rod. The top of the piston has an arrow pointing to the right is labeled, the arrow must face the timing belt side of the engine. A small spot is on the connecting rod, and is labeled, connecting rod oil hole must face the rear of the engine. The base of the connecting rod is smooth and it is labeled, rubber hose.">
            <a:extLst>
              <a:ext uri="{FF2B5EF4-FFF2-40B4-BE49-F238E27FC236}">
                <a16:creationId xmlns:a16="http://schemas.microsoft.com/office/drawing/2014/main" id="{B7282606-CE87-BB17-4C03-3DD9F31A7B97}"/>
              </a:ext>
            </a:extLst>
          </p:cNvPr>
          <p:cNvPicPr>
            <a:picLocks noGrp="1" noChangeAspect="1"/>
          </p:cNvPicPr>
          <p:nvPr>
            <p:ph type="pic" sz="quarter" idx="11"/>
          </p:nvPr>
        </p:nvPicPr>
        <p:blipFill>
          <a:blip r:embed="rId3"/>
          <a:srcRect b="19100"/>
          <a:stretch/>
        </p:blipFill>
        <p:spPr>
          <a:xfrm>
            <a:off x="8154592" y="2359204"/>
            <a:ext cx="3617675" cy="2479253"/>
          </a:xfrm>
          <a:prstGeom prst="rect">
            <a:avLst/>
          </a:prstGeom>
        </p:spPr>
      </p:pic>
    </p:spTree>
    <p:extLst>
      <p:ext uri="{BB962C8B-B14F-4D97-AF65-F5344CB8AC3E}">
        <p14:creationId xmlns:p14="http://schemas.microsoft.com/office/powerpoint/2010/main" val="38756072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Piston and Piston Rings (3 of 3</a:t>
            </a:r>
            <a:r>
              <a:rPr lang="en-US" dirty="0"/>
              <a:t>)</a:t>
            </a:r>
            <a:endParaRPr dirty="0"/>
          </a:p>
        </p:txBody>
      </p:sp>
      <p:sp>
        <p:nvSpPr>
          <p:cNvPr id="145" name="Google Shape;145;p4"/>
          <p:cNvSpPr txBox="1">
            <a:spLocks noGrp="1"/>
          </p:cNvSpPr>
          <p:nvPr>
            <p:ph type="body" idx="1"/>
          </p:nvPr>
        </p:nvSpPr>
        <p:spPr>
          <a:xfrm>
            <a:off x="476844" y="1563624"/>
            <a:ext cx="7023292" cy="4549499"/>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1800" dirty="0">
                <a:solidFill>
                  <a:schemeClr val="accent1"/>
                </a:solidFill>
              </a:rPr>
              <a:t>Piston pins are basically thick-walled hollow tubes. Most are made from alloy steel and are plated with chrome, carburized, and/or heat-treated to provide good wear resistance.</a:t>
            </a:r>
          </a:p>
          <a:p>
            <a:pPr>
              <a:spcAft>
                <a:spcPts val="600"/>
              </a:spcAft>
              <a:buSzPct val="100000"/>
            </a:pPr>
            <a:r>
              <a:rPr lang="en-US" sz="1800" dirty="0">
                <a:solidFill>
                  <a:schemeClr val="accent1"/>
                </a:solidFill>
              </a:rPr>
              <a:t>Piston pins are lubricated by oil fed through passages in the connecting rods, oil splashing in the crankcase, or spray nozzles in the rods or pistons.</a:t>
            </a:r>
          </a:p>
          <a:p>
            <a:pPr>
              <a:spcAft>
                <a:spcPts val="600"/>
              </a:spcAft>
              <a:buSzPct val="100000"/>
            </a:pPr>
            <a:r>
              <a:rPr lang="en-US" sz="1800" dirty="0">
                <a:solidFill>
                  <a:schemeClr val="accent1"/>
                </a:solidFill>
              </a:rPr>
              <a:t>A piston pin fits through the connecting rod and the piston’s pin bore.</a:t>
            </a:r>
          </a:p>
          <a:p>
            <a:pPr>
              <a:spcAft>
                <a:spcPts val="600"/>
              </a:spcAft>
              <a:buSzPct val="100000"/>
            </a:pPr>
            <a:r>
              <a:rPr lang="en-US" sz="1800" dirty="0">
                <a:solidFill>
                  <a:schemeClr val="accent1"/>
                </a:solidFill>
              </a:rPr>
              <a:t>Inspect the pin boss area on the piston for signs of pin wobble. Then remove the pin to inspect it. With full-floating pins, the retaining clips are removed and the pin pushed out.</a:t>
            </a:r>
            <a:endParaRPr lang="en-US" sz="1100" dirty="0">
              <a:solidFill>
                <a:schemeClr val="accent1"/>
              </a:solidFill>
            </a:endParaRPr>
          </a:p>
        </p:txBody>
      </p:sp>
      <p:pic>
        <p:nvPicPr>
          <p:cNvPr id="6" name="Picture Placeholder 5" descr="Three structures. The first structure has a circular piston pin with four arrows pointing to the pin from all directions. The second structure has a rectangular piston pin with three forward arrows and three backward arrow pointing inward. The third structure has a rectangular piston pin held longitudinally in a vernier caliper.">
            <a:extLst>
              <a:ext uri="{FF2B5EF4-FFF2-40B4-BE49-F238E27FC236}">
                <a16:creationId xmlns:a16="http://schemas.microsoft.com/office/drawing/2014/main" id="{429C7521-D97C-74C8-BD40-988AE106886A}"/>
              </a:ext>
            </a:extLst>
          </p:cNvPr>
          <p:cNvPicPr>
            <a:picLocks noGrp="1" noChangeAspect="1"/>
          </p:cNvPicPr>
          <p:nvPr>
            <p:ph type="pic" sz="quarter" idx="11"/>
          </p:nvPr>
        </p:nvPicPr>
        <p:blipFill>
          <a:blip r:embed="rId3"/>
          <a:srcRect b="16611"/>
          <a:stretch/>
        </p:blipFill>
        <p:spPr>
          <a:xfrm>
            <a:off x="7636943" y="1767990"/>
            <a:ext cx="4078214" cy="3322021"/>
          </a:xfrm>
          <a:prstGeom prst="rect">
            <a:avLst/>
          </a:prstGeom>
        </p:spPr>
      </p:pic>
    </p:spTree>
    <p:extLst>
      <p:ext uri="{BB962C8B-B14F-4D97-AF65-F5344CB8AC3E}">
        <p14:creationId xmlns:p14="http://schemas.microsoft.com/office/powerpoint/2010/main" val="38208260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Installing Pistons and Connecting Rods</a:t>
            </a:r>
            <a:endParaRPr dirty="0"/>
          </a:p>
        </p:txBody>
      </p:sp>
      <p:sp>
        <p:nvSpPr>
          <p:cNvPr id="145" name="Google Shape;145;p4"/>
          <p:cNvSpPr txBox="1">
            <a:spLocks noGrp="1"/>
          </p:cNvSpPr>
          <p:nvPr>
            <p:ph type="body" idx="1"/>
          </p:nvPr>
        </p:nvSpPr>
        <p:spPr>
          <a:xfrm>
            <a:off x="476844" y="1563625"/>
            <a:ext cx="7403436" cy="4539224"/>
          </a:xfrm>
          <a:prstGeom prst="rect">
            <a:avLst/>
          </a:prstGeom>
          <a:noFill/>
          <a:ln>
            <a:noFill/>
          </a:ln>
        </p:spPr>
        <p:txBody>
          <a:bodyPr spcFirstLastPara="1" wrap="square" lIns="91425" tIns="45700" rIns="91425" bIns="45700" anchor="t" anchorCtr="0">
            <a:noAutofit/>
          </a:bodyPr>
          <a:lstStyle/>
          <a:p>
            <a:pPr marL="363538" indent="-363538">
              <a:spcAft>
                <a:spcPts val="600"/>
              </a:spcAft>
              <a:buSzPct val="100000"/>
            </a:pPr>
            <a:r>
              <a:rPr lang="en-US" sz="2000" dirty="0"/>
              <a:t>Before installing the piston and connecting rod assemblies, snap the bearing inserts into the connecting rods and rod caps.</a:t>
            </a:r>
          </a:p>
          <a:p>
            <a:pPr marL="363538" indent="-363538">
              <a:spcAft>
                <a:spcPts val="600"/>
              </a:spcAft>
              <a:buSzPct val="100000"/>
            </a:pPr>
            <a:r>
              <a:rPr lang="en-US" sz="2000" dirty="0"/>
              <a:t>Make sure the tang on the bearing fits snugly into the matching notch.</a:t>
            </a:r>
          </a:p>
          <a:p>
            <a:pPr marL="363538" indent="-363538">
              <a:spcAft>
                <a:spcPts val="600"/>
              </a:spcAft>
              <a:buSzPct val="100000"/>
            </a:pPr>
            <a:r>
              <a:rPr lang="en-US" sz="2000" dirty="0"/>
              <a:t>Check the clearance of the connecting rod bearings with </a:t>
            </a:r>
            <a:r>
              <a:rPr lang="en-US" sz="2000" dirty="0" err="1"/>
              <a:t>Plastigage</a:t>
            </a:r>
            <a:r>
              <a:rPr lang="en-US" sz="2000" dirty="0"/>
              <a:t> or a micrometer.</a:t>
            </a:r>
          </a:p>
          <a:p>
            <a:pPr marL="363538" indent="-363538">
              <a:spcAft>
                <a:spcPts val="600"/>
              </a:spcAft>
              <a:buSzPct val="100000"/>
            </a:pPr>
            <a:r>
              <a:rPr lang="en-US" sz="2000" dirty="0"/>
              <a:t>Make sure that the end gaps of the piston rings are staggered prior to installing the piston assembly.</a:t>
            </a:r>
          </a:p>
          <a:p>
            <a:pPr marL="363538" indent="-363538">
              <a:spcAft>
                <a:spcPts val="600"/>
              </a:spcAft>
              <a:buSzPct val="100000"/>
            </a:pPr>
            <a:r>
              <a:rPr lang="en-US" sz="2000" dirty="0"/>
              <a:t>Coat the crankshaft with clean lubricant or engine oil.</a:t>
            </a:r>
          </a:p>
          <a:p>
            <a:pPr marL="363538" indent="-363538">
              <a:spcAft>
                <a:spcPts val="600"/>
              </a:spcAft>
              <a:buSzPct val="100000"/>
            </a:pPr>
            <a:r>
              <a:rPr lang="en-US" sz="2000" dirty="0"/>
              <a:t>After each piston is installed, rotate the crankshaft and check its freedom of movement.</a:t>
            </a:r>
          </a:p>
        </p:txBody>
      </p:sp>
      <p:pic>
        <p:nvPicPr>
          <p:cNvPr id="6" name="Picture Placeholder 5" descr="A circular piston ring has two parallel, vertical dashed lines on either side of its center. A horizontal dashed line indicating diameter is drawn from the circumference of the circle to the two vertical lines, thereby dividing the circle into 4 quadrants leaving space between the two vertical dashed lines. The top right quadrant has 3 lines projecting out of the circle and is labeled Oil ring gap, Spacer gap, and Oil ring gap. The angle between the first and second lines and between the second and third lines is labeled 15 degrees. A pointer to the horizontal dashed line on the right reads, Do not position any ring gap at piston thrust surfaces. A pointer to the gap in between the vertical dashed lines reads, Do not position any ring gap in line with the piston pinhole. A line projecting from the left bottom quadrant is labeled Top ring gap. A line projecting from the left top quadrant is labeled Second ring gap. The angle between the top ring gap and the second ring gap and between the second ring gap and the spacer gap is labeled as 90 degrees. All the lines that are projected from the quadrants are split once they extend out of the circle.">
            <a:extLst>
              <a:ext uri="{FF2B5EF4-FFF2-40B4-BE49-F238E27FC236}">
                <a16:creationId xmlns:a16="http://schemas.microsoft.com/office/drawing/2014/main" id="{1142B0BD-03E5-3BF0-33BD-D8ADCE0A7708}"/>
              </a:ext>
            </a:extLst>
          </p:cNvPr>
          <p:cNvPicPr>
            <a:picLocks noGrp="1" noChangeAspect="1"/>
          </p:cNvPicPr>
          <p:nvPr>
            <p:ph type="pic" sz="quarter" idx="11"/>
          </p:nvPr>
        </p:nvPicPr>
        <p:blipFill>
          <a:blip r:embed="rId3"/>
          <a:srcRect b="13051"/>
          <a:stretch/>
        </p:blipFill>
        <p:spPr>
          <a:xfrm>
            <a:off x="7874677" y="1889757"/>
            <a:ext cx="4023360" cy="3078487"/>
          </a:xfrm>
          <a:prstGeom prst="rect">
            <a:avLst/>
          </a:prstGeom>
        </p:spPr>
      </p:pic>
    </p:spTree>
    <p:extLst>
      <p:ext uri="{BB962C8B-B14F-4D97-AF65-F5344CB8AC3E}">
        <p14:creationId xmlns:p14="http://schemas.microsoft.com/office/powerpoint/2010/main" val="885438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a:t>Timing Components</a:t>
            </a:r>
            <a:endParaRPr lang="en-US"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spcAft>
                <a:spcPts val="600"/>
              </a:spcAft>
              <a:buSzPts val="2800"/>
              <a:buNone/>
            </a:pPr>
            <a:r>
              <a:rPr lang="en-US" sz="2200" b="1" dirty="0"/>
              <a:t>11.09 Install crankshaft and camshaft timing components and verify correct timing.</a:t>
            </a:r>
            <a:endParaRPr lang="en-US" sz="2200" dirty="0"/>
          </a:p>
          <a:p>
            <a:pPr>
              <a:spcAft>
                <a:spcPts val="600"/>
              </a:spcAft>
              <a:buSzPct val="100000"/>
            </a:pPr>
            <a:r>
              <a:rPr lang="en-US" sz="2200" dirty="0"/>
              <a:t>The timing belt or chain and crankshaft/camshaft gears (sprockets) should be inspected and replaced if damaged or worn.</a:t>
            </a:r>
          </a:p>
          <a:p>
            <a:pPr>
              <a:spcAft>
                <a:spcPts val="600"/>
              </a:spcAft>
              <a:buSzPct val="100000"/>
            </a:pPr>
            <a:r>
              <a:rPr lang="en-US" sz="2200" dirty="0"/>
              <a:t>A timing gear with cracks, spalling, or excessive tooth wear is an indication of improper backlash (either insufficient or excessive). Excess backlash causes accelerated tooth wear and breakage.</a:t>
            </a:r>
          </a:p>
          <a:p>
            <a:pPr>
              <a:spcAft>
                <a:spcPts val="600"/>
              </a:spcAft>
              <a:buSzPct val="100000"/>
            </a:pPr>
            <a:r>
              <a:rPr lang="en-US" sz="2200" dirty="0"/>
              <a:t>Insufficient </a:t>
            </a:r>
            <a:r>
              <a:rPr lang="en-US" sz="2200" b="1" dirty="0"/>
              <a:t>backlash</a:t>
            </a:r>
            <a:r>
              <a:rPr lang="en-US" sz="2200" dirty="0"/>
              <a:t> can cause the gears to bind, which can cause spalling and wear. Gear backlash is checked with a dial indicator. Check the movement between the camshaft and crankshaft gears at six equally spaced teeth. Firmly hold the gear against the block while making the check. Refer to specifications for backlash limits.</a:t>
            </a:r>
          </a:p>
        </p:txBody>
      </p:sp>
    </p:spTree>
    <p:extLst>
      <p:ext uri="{BB962C8B-B14F-4D97-AF65-F5344CB8AC3E}">
        <p14:creationId xmlns:p14="http://schemas.microsoft.com/office/powerpoint/2010/main" val="17937861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Lifters</a:t>
            </a:r>
          </a:p>
        </p:txBody>
      </p:sp>
      <p:sp>
        <p:nvSpPr>
          <p:cNvPr id="145" name="Google Shape;145;p4"/>
          <p:cNvSpPr txBox="1">
            <a:spLocks noGrp="1"/>
          </p:cNvSpPr>
          <p:nvPr>
            <p:ph type="body" idx="1"/>
          </p:nvPr>
        </p:nvSpPr>
        <p:spPr>
          <a:xfrm>
            <a:off x="476843" y="1563625"/>
            <a:ext cx="5786171" cy="4539224"/>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200" dirty="0">
                <a:solidFill>
                  <a:schemeClr val="accent1"/>
                </a:solidFill>
              </a:rPr>
              <a:t>Lifters: When inspecting lifters, carefully check their bottoms and pushrod sockets.</a:t>
            </a:r>
          </a:p>
          <a:p>
            <a:pPr>
              <a:spcAft>
                <a:spcPts val="600"/>
              </a:spcAft>
              <a:buSzPct val="100000"/>
            </a:pPr>
            <a:r>
              <a:rPr lang="en-US" sz="2200" dirty="0">
                <a:solidFill>
                  <a:schemeClr val="accent1"/>
                </a:solidFill>
              </a:rPr>
              <a:t>Bottom wear should be off the center on the lobe and with no signs of edge contact.</a:t>
            </a:r>
          </a:p>
          <a:p>
            <a:pPr>
              <a:spcAft>
                <a:spcPts val="600"/>
              </a:spcAft>
              <a:buSzPct val="100000"/>
            </a:pPr>
            <a:r>
              <a:rPr lang="en-US" sz="2200" dirty="0">
                <a:solidFill>
                  <a:schemeClr val="accent1"/>
                </a:solidFill>
              </a:rPr>
              <a:t>If they show abnormal wear, scoring, or pitting, they should be replaced. </a:t>
            </a:r>
          </a:p>
          <a:p>
            <a:pPr>
              <a:spcAft>
                <a:spcPts val="600"/>
              </a:spcAft>
              <a:buSzPct val="100000"/>
            </a:pPr>
            <a:r>
              <a:rPr lang="en-US" sz="2200" dirty="0">
                <a:solidFill>
                  <a:schemeClr val="accent1"/>
                </a:solidFill>
              </a:rPr>
              <a:t>Any lifter that has its contact face worn flat or concave must also be replaced.</a:t>
            </a:r>
          </a:p>
        </p:txBody>
      </p:sp>
      <p:pic>
        <p:nvPicPr>
          <p:cNvPr id="6" name="Picture Placeholder 5" descr="Two lifters with their contacts face worn concave on the left, and worn flat on the right.">
            <a:extLst>
              <a:ext uri="{FF2B5EF4-FFF2-40B4-BE49-F238E27FC236}">
                <a16:creationId xmlns:a16="http://schemas.microsoft.com/office/drawing/2014/main" id="{C1E1F76B-356C-199E-B5A6-12EE069C2140}"/>
              </a:ext>
            </a:extLst>
          </p:cNvPr>
          <p:cNvPicPr>
            <a:picLocks noGrp="1" noChangeAspect="1"/>
          </p:cNvPicPr>
          <p:nvPr>
            <p:ph type="pic" sz="quarter" idx="11"/>
          </p:nvPr>
        </p:nvPicPr>
        <p:blipFill>
          <a:blip r:embed="rId3"/>
          <a:srcRect b="15519"/>
          <a:stretch/>
        </p:blipFill>
        <p:spPr>
          <a:xfrm>
            <a:off x="6360064" y="1856906"/>
            <a:ext cx="5355093" cy="3144188"/>
          </a:xfrm>
          <a:prstGeom prst="rect">
            <a:avLst/>
          </a:prstGeom>
        </p:spPr>
      </p:pic>
    </p:spTree>
    <p:extLst>
      <p:ext uri="{BB962C8B-B14F-4D97-AF65-F5344CB8AC3E}">
        <p14:creationId xmlns:p14="http://schemas.microsoft.com/office/powerpoint/2010/main" val="36573641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a:t>Camshaft Bearings </a:t>
            </a:r>
            <a:endParaRPr dirty="0"/>
          </a:p>
        </p:txBody>
      </p:sp>
      <p:sp>
        <p:nvSpPr>
          <p:cNvPr id="145" name="Google Shape;145;p4"/>
          <p:cNvSpPr txBox="1">
            <a:spLocks noGrp="1"/>
          </p:cNvSpPr>
          <p:nvPr>
            <p:ph type="body" idx="1"/>
          </p:nvPr>
        </p:nvSpPr>
        <p:spPr>
          <a:xfrm>
            <a:off x="476843" y="1563625"/>
            <a:ext cx="7465081" cy="4395386"/>
          </a:xfrm>
          <a:prstGeom prst="rect">
            <a:avLst/>
          </a:prstGeom>
          <a:noFill/>
          <a:ln>
            <a:noFill/>
          </a:ln>
        </p:spPr>
        <p:txBody>
          <a:bodyPr spcFirstLastPara="1" wrap="square" lIns="91425" tIns="45700" rIns="91425" bIns="45700" anchor="t" anchorCtr="0">
            <a:noAutofit/>
          </a:bodyPr>
          <a:lstStyle/>
          <a:p>
            <a:pPr marL="0" indent="0">
              <a:spcAft>
                <a:spcPts val="600"/>
              </a:spcAft>
              <a:buSzPts val="2800"/>
              <a:buNone/>
            </a:pPr>
            <a:r>
              <a:rPr lang="en-US" sz="1800" b="1" dirty="0"/>
              <a:t>11.08 Inspect and install an OHV camshaft and bearings.</a:t>
            </a:r>
          </a:p>
          <a:p>
            <a:pPr>
              <a:spcAft>
                <a:spcPts val="600"/>
              </a:spcAft>
              <a:buSzPct val="100000"/>
            </a:pPr>
            <a:r>
              <a:rPr lang="en-US" sz="1800" dirty="0"/>
              <a:t>The bearings are either aluminum or steel with a lining of </a:t>
            </a:r>
            <a:r>
              <a:rPr lang="en-US" sz="1800" b="1" dirty="0" err="1"/>
              <a:t>babbitt</a:t>
            </a:r>
            <a:r>
              <a:rPr lang="en-US" sz="1800" dirty="0"/>
              <a:t> which is a soft slippery material made of mostly lead and </a:t>
            </a:r>
            <a:r>
              <a:rPr lang="en-US" sz="1800"/>
              <a:t>tin.</a:t>
            </a:r>
            <a:endParaRPr lang="en-US" sz="1800" dirty="0"/>
          </a:p>
          <a:p>
            <a:pPr>
              <a:spcAft>
                <a:spcPts val="600"/>
              </a:spcAft>
              <a:buSzPct val="100000"/>
            </a:pPr>
            <a:r>
              <a:rPr lang="en-US" sz="1800" dirty="0"/>
              <a:t>OHV cam bearings are one piece, often called full-round bearings, and are press-fit into the block using a bushing driver and </a:t>
            </a:r>
            <a:r>
              <a:rPr lang="en-US" sz="1800"/>
              <a:t>hammer.</a:t>
            </a:r>
            <a:endParaRPr lang="en-US" sz="1800" dirty="0"/>
          </a:p>
          <a:p>
            <a:pPr>
              <a:spcAft>
                <a:spcPts val="600"/>
              </a:spcAft>
              <a:buSzPct val="100000"/>
            </a:pPr>
            <a:r>
              <a:rPr lang="en-US" sz="1800" dirty="0"/>
              <a:t>Wipe each cam bearing with a lint-free cloth, then thoroughly coat the camshaft lobes and bearing journals with assembly </a:t>
            </a:r>
            <a:r>
              <a:rPr lang="en-US" sz="1800"/>
              <a:t>lube.</a:t>
            </a:r>
            <a:endParaRPr lang="en-US" sz="1800" dirty="0"/>
          </a:p>
          <a:p>
            <a:pPr>
              <a:spcAft>
                <a:spcPts val="600"/>
              </a:spcAft>
              <a:buSzPct val="100000"/>
            </a:pPr>
            <a:r>
              <a:rPr lang="en-US" sz="1800" dirty="0"/>
              <a:t>Once all of the camshaft bearings have been installed, it is important to make sure that the holes in the bearings are properly aligned with the oiling holes in the cylinder </a:t>
            </a:r>
            <a:r>
              <a:rPr lang="en-US" sz="1800"/>
              <a:t>block.</a:t>
            </a:r>
            <a:endParaRPr lang="en-US" sz="1800" dirty="0"/>
          </a:p>
        </p:txBody>
      </p:sp>
      <p:pic>
        <p:nvPicPr>
          <p:cNvPr id="6" name="Picture Placeholder 5" descr="O H V cam bearings are single-piece full-round bearings and are press-fit into the block using a bushing driver and hammer.">
            <a:extLst>
              <a:ext uri="{FF2B5EF4-FFF2-40B4-BE49-F238E27FC236}">
                <a16:creationId xmlns:a16="http://schemas.microsoft.com/office/drawing/2014/main" id="{F21CCAD2-63D3-DAD5-95DC-C0C98D4D1F81}"/>
              </a:ext>
            </a:extLst>
          </p:cNvPr>
          <p:cNvPicPr>
            <a:picLocks noGrp="1" noChangeAspect="1"/>
          </p:cNvPicPr>
          <p:nvPr>
            <p:ph type="pic" sz="quarter" idx="11"/>
          </p:nvPr>
        </p:nvPicPr>
        <p:blipFill rotWithShape="1">
          <a:blip r:embed="rId3"/>
          <a:srcRect b="18839"/>
          <a:stretch/>
        </p:blipFill>
        <p:spPr>
          <a:xfrm>
            <a:off x="8039572" y="2220747"/>
            <a:ext cx="3850613" cy="2416507"/>
          </a:xfrm>
          <a:prstGeom prst="rect">
            <a:avLst/>
          </a:prstGeom>
        </p:spPr>
      </p:pic>
    </p:spTree>
    <p:extLst>
      <p:ext uri="{BB962C8B-B14F-4D97-AF65-F5344CB8AC3E}">
        <p14:creationId xmlns:p14="http://schemas.microsoft.com/office/powerpoint/2010/main" val="32871620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a:t>Camshaft</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1800" dirty="0">
                <a:solidFill>
                  <a:schemeClr val="accent1"/>
                </a:solidFill>
              </a:rPr>
              <a:t>Install the camshaft, taking care not to damage the bearings with the edge of a cam lobe or journal, and keep it straight while installing it.</a:t>
            </a:r>
          </a:p>
          <a:p>
            <a:pPr>
              <a:spcAft>
                <a:spcPts val="600"/>
              </a:spcAft>
              <a:buSzPct val="100000"/>
            </a:pPr>
            <a:r>
              <a:rPr lang="en-US" sz="1800" dirty="0">
                <a:solidFill>
                  <a:schemeClr val="accent1"/>
                </a:solidFill>
              </a:rPr>
              <a:t>A threaded bolt in the front of the camshaft helps guide the cam in place.</a:t>
            </a:r>
          </a:p>
          <a:p>
            <a:pPr>
              <a:spcAft>
                <a:spcPts val="600"/>
              </a:spcAft>
              <a:buSzPct val="100000"/>
            </a:pPr>
            <a:r>
              <a:rPr lang="en-US" sz="1800" dirty="0">
                <a:solidFill>
                  <a:schemeClr val="accent1"/>
                </a:solidFill>
              </a:rPr>
              <a:t>When the camshaft is in place, install the thrust plate and the timing gear.</a:t>
            </a:r>
          </a:p>
          <a:p>
            <a:pPr>
              <a:spcAft>
                <a:spcPts val="600"/>
              </a:spcAft>
              <a:buSzPct val="100000"/>
            </a:pPr>
            <a:r>
              <a:rPr lang="en-US" sz="1800" dirty="0">
                <a:solidFill>
                  <a:schemeClr val="accent1"/>
                </a:solidFill>
              </a:rPr>
              <a:t>Align the thrust plate with the woodruff key. Never hammer a gear or sprocket onto the shaft.</a:t>
            </a:r>
          </a:p>
          <a:p>
            <a:pPr>
              <a:spcAft>
                <a:spcPts val="600"/>
              </a:spcAft>
              <a:buSzPct val="100000"/>
            </a:pPr>
            <a:r>
              <a:rPr lang="en-US" sz="1800" dirty="0">
                <a:solidFill>
                  <a:schemeClr val="accent1"/>
                </a:solidFill>
              </a:rPr>
              <a:t>Heating steel gears helps with installation, but do not heat fiber gears. When installing the gears, keep the gear square and aligned with the keyway at all times. Once the shaft is in the block, it should be able to be turned by hand. If it does not turn, check for a damaged bearing, a nick on a cam’s journal, or a slight misalignment of the block journals.</a:t>
            </a:r>
          </a:p>
          <a:p>
            <a:pPr>
              <a:spcAft>
                <a:spcPts val="600"/>
              </a:spcAft>
              <a:buSzPct val="100000"/>
            </a:pPr>
            <a:r>
              <a:rPr lang="en-US" sz="1800" dirty="0">
                <a:solidFill>
                  <a:schemeClr val="accent1"/>
                </a:solidFill>
              </a:rPr>
              <a:t>Lubricate the valve lifters before installing them in their bores. Most cam wear happens within the first few minutes of operation.</a:t>
            </a:r>
          </a:p>
        </p:txBody>
      </p:sp>
    </p:spTree>
    <p:extLst>
      <p:ext uri="{BB962C8B-B14F-4D97-AF65-F5344CB8AC3E}">
        <p14:creationId xmlns:p14="http://schemas.microsoft.com/office/powerpoint/2010/main" val="38494755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Crankshaft and Camshaft Timing</a:t>
            </a:r>
            <a:endParaRPr dirty="0"/>
          </a:p>
        </p:txBody>
      </p:sp>
      <p:sp>
        <p:nvSpPr>
          <p:cNvPr id="145" name="Google Shape;145;p4"/>
          <p:cNvSpPr txBox="1">
            <a:spLocks noGrp="1"/>
          </p:cNvSpPr>
          <p:nvPr>
            <p:ph type="body" idx="1"/>
          </p:nvPr>
        </p:nvSpPr>
        <p:spPr>
          <a:xfrm>
            <a:off x="476844" y="1563625"/>
            <a:ext cx="7444532" cy="4518676"/>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000" dirty="0"/>
              <a:t>During most engine rebuilds, a completely new timing assembly is </a:t>
            </a:r>
            <a:r>
              <a:rPr lang="en-US" sz="2000"/>
              <a:t>installed.</a:t>
            </a:r>
            <a:endParaRPr lang="en-US" sz="2000" dirty="0"/>
          </a:p>
          <a:p>
            <a:pPr>
              <a:spcAft>
                <a:spcPts val="600"/>
              </a:spcAft>
              <a:buSzPct val="100000"/>
            </a:pPr>
            <a:r>
              <a:rPr lang="en-US" sz="2000" dirty="0"/>
              <a:t>The camshaft drive must be installed so that the camshaft and crankshaft are in time with each other. Both sprockets are held in position by a key or possibly a </a:t>
            </a:r>
            <a:r>
              <a:rPr lang="en-US" sz="2000"/>
              <a:t>pin.</a:t>
            </a:r>
            <a:endParaRPr lang="en-US" sz="2000" dirty="0"/>
          </a:p>
          <a:p>
            <a:pPr>
              <a:spcAft>
                <a:spcPts val="600"/>
              </a:spcAft>
              <a:buSzPct val="100000"/>
            </a:pPr>
            <a:r>
              <a:rPr lang="en-US" sz="2000" dirty="0"/>
              <a:t>There are factory timing marks on the crankshaft and camshaft gears or </a:t>
            </a:r>
            <a:r>
              <a:rPr lang="en-US" sz="2000"/>
              <a:t>sprockets</a:t>
            </a:r>
            <a:r>
              <a:rPr lang="en-US" sz="2000">
                <a:solidFill>
                  <a:srgbClr val="FF0000"/>
                </a:solidFill>
              </a:rPr>
              <a:t>.</a:t>
            </a:r>
            <a:endParaRPr lang="en-US" sz="2000" dirty="0"/>
          </a:p>
          <a:p>
            <a:pPr>
              <a:spcAft>
                <a:spcPts val="600"/>
              </a:spcAft>
              <a:buSzPct val="100000"/>
            </a:pPr>
            <a:r>
              <a:rPr lang="en-US" sz="2000" dirty="0"/>
              <a:t>Carefully place the entire assembly, as a unit, onto the shafts by evenly pressing both gears while keeping the keyways </a:t>
            </a:r>
            <a:r>
              <a:rPr lang="en-US" sz="2000"/>
              <a:t>aligned.</a:t>
            </a:r>
            <a:endParaRPr lang="en-US" sz="2000" dirty="0"/>
          </a:p>
          <a:p>
            <a:pPr>
              <a:spcAft>
                <a:spcPts val="600"/>
              </a:spcAft>
              <a:buSzPct val="100000"/>
            </a:pPr>
            <a:r>
              <a:rPr lang="en-US" sz="2000" dirty="0"/>
              <a:t>Then gently tap them in </a:t>
            </a:r>
            <a:r>
              <a:rPr lang="en-US" sz="2000"/>
              <a:t>place.</a:t>
            </a:r>
            <a:endParaRPr lang="en-US" sz="2000" dirty="0"/>
          </a:p>
        </p:txBody>
      </p:sp>
      <p:pic>
        <p:nvPicPr>
          <p:cNvPr id="6" name="Picture Placeholder 5" descr="Two structures with the align marks between Camshaft and crankshaft and camshaft to balance shaft. The first structure titled Camshaft to crankshaft has a crankshaft and a camshaft placed at a distance below it. A chain is shown on the grooves of both. A black spot is below the groove at the bottom of the crankshaft and another black spot is below the tooth at the top of the camshaft which will fit into the groove mentioned above. Both the spots are commonly labeled Align marks. The second structure titled Balance shaft to camshaft has the teeth of the camshaft fixed to the groove of the balance shaft. Two black spots, each on the camshaft and the balance shaft, similar to the first structure, and are also labeled Align marks.">
            <a:extLst>
              <a:ext uri="{FF2B5EF4-FFF2-40B4-BE49-F238E27FC236}">
                <a16:creationId xmlns:a16="http://schemas.microsoft.com/office/drawing/2014/main" id="{DCE96222-2767-CB84-203B-CD59173967D5}"/>
              </a:ext>
            </a:extLst>
          </p:cNvPr>
          <p:cNvPicPr>
            <a:picLocks noGrp="1" noChangeAspect="1"/>
          </p:cNvPicPr>
          <p:nvPr>
            <p:ph type="pic" sz="quarter" idx="11"/>
          </p:nvPr>
        </p:nvPicPr>
        <p:blipFill rotWithShape="1">
          <a:blip r:embed="rId3"/>
          <a:srcRect b="11011"/>
          <a:stretch/>
        </p:blipFill>
        <p:spPr>
          <a:xfrm>
            <a:off x="8029162" y="1718877"/>
            <a:ext cx="3685995" cy="3420247"/>
          </a:xfrm>
          <a:prstGeom prst="rect">
            <a:avLst/>
          </a:prstGeom>
        </p:spPr>
      </p:pic>
    </p:spTree>
    <p:extLst>
      <p:ext uri="{BB962C8B-B14F-4D97-AF65-F5344CB8AC3E}">
        <p14:creationId xmlns:p14="http://schemas.microsoft.com/office/powerpoint/2010/main" val="16079420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a:t>Balance Shafts </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000" dirty="0">
                <a:solidFill>
                  <a:schemeClr val="accent1"/>
                </a:solidFill>
              </a:rPr>
              <a:t>Each bearing and journal should be cleaned and carefully inspected. All worn or damaged parts should be </a:t>
            </a:r>
            <a:r>
              <a:rPr lang="en-US" sz="2000">
                <a:solidFill>
                  <a:schemeClr val="accent1"/>
                </a:solidFill>
              </a:rPr>
              <a:t>replaced.</a:t>
            </a:r>
            <a:endParaRPr lang="en-US" sz="2000" dirty="0">
              <a:solidFill>
                <a:schemeClr val="accent1"/>
              </a:solidFill>
            </a:endParaRPr>
          </a:p>
          <a:p>
            <a:pPr>
              <a:spcAft>
                <a:spcPts val="600"/>
              </a:spcAft>
              <a:buSzPct val="100000"/>
            </a:pPr>
            <a:r>
              <a:rPr lang="en-US" sz="2000" dirty="0">
                <a:solidFill>
                  <a:schemeClr val="accent1"/>
                </a:solidFill>
              </a:rPr>
              <a:t>The oil clearance between the shafts and bearings should be checked with </a:t>
            </a:r>
            <a:r>
              <a:rPr lang="en-US" sz="2000" err="1">
                <a:solidFill>
                  <a:schemeClr val="accent1"/>
                </a:solidFill>
              </a:rPr>
              <a:t>Plastigage</a:t>
            </a:r>
            <a:r>
              <a:rPr lang="en-US" sz="2000">
                <a:solidFill>
                  <a:schemeClr val="accent1"/>
                </a:solidFill>
              </a:rPr>
              <a:t>.</a:t>
            </a:r>
            <a:endParaRPr lang="en-US" sz="2000" dirty="0">
              <a:solidFill>
                <a:schemeClr val="accent1"/>
              </a:solidFill>
            </a:endParaRPr>
          </a:p>
          <a:p>
            <a:pPr>
              <a:spcAft>
                <a:spcPts val="600"/>
              </a:spcAft>
              <a:buSzPct val="100000"/>
            </a:pPr>
            <a:r>
              <a:rPr lang="en-US" sz="2000" dirty="0">
                <a:solidFill>
                  <a:schemeClr val="accent1"/>
                </a:solidFill>
              </a:rPr>
              <a:t>To install the balance shaft assembly, install the bearings in the crankcase and housing. Apply a light coat of engine oil on the </a:t>
            </a:r>
            <a:r>
              <a:rPr lang="en-US" sz="2000">
                <a:solidFill>
                  <a:schemeClr val="accent1"/>
                </a:solidFill>
              </a:rPr>
              <a:t>bearings.</a:t>
            </a:r>
            <a:endParaRPr lang="en-US" sz="2000" dirty="0">
              <a:solidFill>
                <a:schemeClr val="accent1"/>
              </a:solidFill>
            </a:endParaRPr>
          </a:p>
          <a:p>
            <a:pPr>
              <a:spcAft>
                <a:spcPts val="600"/>
              </a:spcAft>
              <a:buSzPct val="100000"/>
            </a:pPr>
            <a:r>
              <a:rPr lang="en-US" sz="2000" dirty="0">
                <a:solidFill>
                  <a:schemeClr val="accent1"/>
                </a:solidFill>
              </a:rPr>
              <a:t>The shafts must be properly timed to the crankshaft. On some engines, there are two balance shafts; these must be timed to each other, in addition to the </a:t>
            </a:r>
            <a:r>
              <a:rPr lang="en-US" sz="2000">
                <a:solidFill>
                  <a:schemeClr val="accent1"/>
                </a:solidFill>
              </a:rPr>
              <a:t>crankshaft.</a:t>
            </a:r>
            <a:endParaRPr lang="en-US" sz="2000" dirty="0">
              <a:solidFill>
                <a:schemeClr val="accent1"/>
              </a:solidFill>
            </a:endParaRPr>
          </a:p>
          <a:p>
            <a:pPr>
              <a:spcAft>
                <a:spcPts val="600"/>
              </a:spcAft>
              <a:buSzPct val="100000"/>
            </a:pPr>
            <a:r>
              <a:rPr lang="en-US" sz="2000" dirty="0">
                <a:solidFill>
                  <a:schemeClr val="accent1"/>
                </a:solidFill>
              </a:rPr>
              <a:t>Align the timing marks of the balance shaft(s). Set the shaft(s) into position in the block. Place the housing with bearings over the </a:t>
            </a:r>
            <a:r>
              <a:rPr lang="en-US" sz="2000">
                <a:solidFill>
                  <a:schemeClr val="accent1"/>
                </a:solidFill>
              </a:rPr>
              <a:t>shafts.</a:t>
            </a:r>
            <a:endParaRPr lang="en-US" sz="2000" dirty="0">
              <a:solidFill>
                <a:schemeClr val="accent1"/>
              </a:solidFill>
            </a:endParaRPr>
          </a:p>
          <a:p>
            <a:pPr>
              <a:spcAft>
                <a:spcPts val="600"/>
              </a:spcAft>
              <a:buSzPct val="100000"/>
            </a:pPr>
            <a:r>
              <a:rPr lang="en-US" sz="2000" dirty="0">
                <a:solidFill>
                  <a:schemeClr val="accent1"/>
                </a:solidFill>
              </a:rPr>
              <a:t>Install and tighten the housing bolts, according to </a:t>
            </a:r>
            <a:r>
              <a:rPr lang="en-US" sz="2000">
                <a:solidFill>
                  <a:schemeClr val="accent1"/>
                </a:solidFill>
              </a:rPr>
              <a:t>specifications.</a:t>
            </a:r>
            <a:endParaRPr lang="en-US" sz="2000" dirty="0">
              <a:solidFill>
                <a:schemeClr val="accent1"/>
              </a:solidFill>
            </a:endParaRPr>
          </a:p>
        </p:txBody>
      </p:sp>
    </p:spTree>
    <p:extLst>
      <p:ext uri="{BB962C8B-B14F-4D97-AF65-F5344CB8AC3E}">
        <p14:creationId xmlns:p14="http://schemas.microsoft.com/office/powerpoint/2010/main" val="41586522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Oil Pump Service (1 of </a:t>
            </a:r>
            <a:r>
              <a:rPr lang="en-US" sz="4000"/>
              <a:t>2)</a:t>
            </a:r>
            <a:endParaRPr dirty="0"/>
          </a:p>
        </p:txBody>
      </p:sp>
      <p:sp>
        <p:nvSpPr>
          <p:cNvPr id="145" name="Google Shape;145;p4"/>
          <p:cNvSpPr txBox="1">
            <a:spLocks noGrp="1"/>
          </p:cNvSpPr>
          <p:nvPr>
            <p:ph type="body" idx="1"/>
          </p:nvPr>
        </p:nvSpPr>
        <p:spPr>
          <a:xfrm>
            <a:off x="476843" y="1563625"/>
            <a:ext cx="7138982" cy="4508402"/>
          </a:xfrm>
          <a:prstGeom prst="rect">
            <a:avLst/>
          </a:prstGeom>
          <a:noFill/>
          <a:ln>
            <a:noFill/>
          </a:ln>
        </p:spPr>
        <p:txBody>
          <a:bodyPr spcFirstLastPara="1" wrap="square" lIns="91425" tIns="45700" rIns="91425" bIns="45700" anchor="t" anchorCtr="0">
            <a:noAutofit/>
          </a:bodyPr>
          <a:lstStyle/>
          <a:p>
            <a:pPr marL="0" indent="0">
              <a:spcAft>
                <a:spcPts val="600"/>
              </a:spcAft>
              <a:buSzPts val="2800"/>
              <a:buNone/>
            </a:pPr>
            <a:r>
              <a:rPr lang="en-US" sz="2400" b="1" dirty="0">
                <a:solidFill>
                  <a:schemeClr val="accent1"/>
                </a:solidFill>
              </a:rPr>
              <a:t>11.10 Inspect, service, and install an oil pump.</a:t>
            </a:r>
            <a:endParaRPr lang="en-US" sz="2400" dirty="0">
              <a:solidFill>
                <a:schemeClr val="accent1"/>
              </a:solidFill>
            </a:endParaRPr>
          </a:p>
          <a:p>
            <a:pPr>
              <a:spcAft>
                <a:spcPts val="600"/>
              </a:spcAft>
              <a:buSzPct val="100000"/>
            </a:pPr>
            <a:r>
              <a:rPr lang="en-US" sz="2400" dirty="0">
                <a:solidFill>
                  <a:schemeClr val="accent1"/>
                </a:solidFill>
              </a:rPr>
              <a:t>The oil pump should be carefully inspected.</a:t>
            </a:r>
          </a:p>
          <a:p>
            <a:pPr>
              <a:spcAft>
                <a:spcPts val="600"/>
              </a:spcAft>
              <a:buSzPct val="100000"/>
            </a:pPr>
            <a:r>
              <a:rPr lang="en-US" sz="2400" dirty="0">
                <a:solidFill>
                  <a:schemeClr val="accent1"/>
                </a:solidFill>
              </a:rPr>
              <a:t>Once all parts have been removed, clean them and dry them off with compressed air. Inspect the pump gears or rotors for chipping, galling, pitting, or signs of abnormal wear.</a:t>
            </a:r>
          </a:p>
          <a:p>
            <a:pPr>
              <a:spcAft>
                <a:spcPts val="600"/>
              </a:spcAft>
              <a:buSzPct val="100000"/>
            </a:pPr>
            <a:r>
              <a:rPr lang="en-US" sz="2400" dirty="0">
                <a:solidFill>
                  <a:schemeClr val="accent1"/>
                </a:solidFill>
              </a:rPr>
              <a:t>Examine the housing bores for similar signs of ear. If any part of the housing is scored or noticeably worn, replace the pump assembly. </a:t>
            </a:r>
          </a:p>
        </p:txBody>
      </p:sp>
      <p:pic>
        <p:nvPicPr>
          <p:cNvPr id="6" name="Picture Placeholder 5" descr="A gear and rotor with their gear teeth marked.">
            <a:extLst>
              <a:ext uri="{FF2B5EF4-FFF2-40B4-BE49-F238E27FC236}">
                <a16:creationId xmlns:a16="http://schemas.microsoft.com/office/drawing/2014/main" id="{1076A915-57C6-2C37-834B-C2E6D959F267}"/>
              </a:ext>
            </a:extLst>
          </p:cNvPr>
          <p:cNvPicPr>
            <a:picLocks noGrp="1" noChangeAspect="1"/>
          </p:cNvPicPr>
          <p:nvPr>
            <p:ph type="pic" sz="quarter" idx="11"/>
          </p:nvPr>
        </p:nvPicPr>
        <p:blipFill>
          <a:blip r:embed="rId3"/>
          <a:srcRect b="10299"/>
          <a:stretch/>
        </p:blipFill>
        <p:spPr>
          <a:xfrm>
            <a:off x="7721996" y="1906346"/>
            <a:ext cx="3929343" cy="3229325"/>
          </a:xfrm>
          <a:prstGeom prst="rect">
            <a:avLst/>
          </a:prstGeom>
        </p:spPr>
      </p:pic>
    </p:spTree>
    <p:extLst>
      <p:ext uri="{BB962C8B-B14F-4D97-AF65-F5344CB8AC3E}">
        <p14:creationId xmlns:p14="http://schemas.microsoft.com/office/powerpoint/2010/main" val="36934735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Oil Pump Service (2 of </a:t>
            </a:r>
            <a:r>
              <a:rPr lang="en-US" sz="4000"/>
              <a:t>2)</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200" dirty="0"/>
              <a:t>Check the mating surface for the pump cover for wear. If the cover is excessively worn, scored, or scratched, replace the </a:t>
            </a:r>
            <a:r>
              <a:rPr lang="en-US" sz="2200"/>
              <a:t>pump.</a:t>
            </a:r>
            <a:endParaRPr lang="en-US" sz="2200" dirty="0"/>
          </a:p>
          <a:p>
            <a:pPr>
              <a:spcAft>
                <a:spcPts val="600"/>
              </a:spcAft>
              <a:buSzPct val="100000"/>
            </a:pPr>
            <a:r>
              <a:rPr lang="en-US" sz="2200" dirty="0"/>
              <a:t>Use a feeler gauge and straightedge to check its flatness. There are specifications for acceptable warpage. If the cover is excessively warped, replace the </a:t>
            </a:r>
            <a:r>
              <a:rPr lang="en-US" sz="2200"/>
              <a:t>pump.</a:t>
            </a:r>
            <a:endParaRPr lang="en-US" sz="2200" dirty="0"/>
          </a:p>
          <a:p>
            <a:pPr>
              <a:spcAft>
                <a:spcPts val="600"/>
              </a:spcAft>
              <a:buSzPct val="100000"/>
            </a:pPr>
            <a:r>
              <a:rPr lang="en-US" sz="2200" dirty="0"/>
              <a:t>With gear-type pumps, reinstall the gears into the pump body. Use a feeler gauge to check the clearance between the outer gear and the pump body. If the housing-to-gear clearance exceeds specifications, replace the oil </a:t>
            </a:r>
            <a:r>
              <a:rPr lang="en-US" sz="2200"/>
              <a:t>pump.</a:t>
            </a:r>
            <a:endParaRPr lang="en-US" sz="2200" dirty="0"/>
          </a:p>
          <a:p>
            <a:pPr>
              <a:spcAft>
                <a:spcPts val="600"/>
              </a:spcAft>
              <a:buSzPct val="100000"/>
            </a:pPr>
            <a:r>
              <a:rPr lang="en-US" sz="2200" dirty="0"/>
              <a:t>Use a micrometer to measure the diameter and thickness of the rotors. </a:t>
            </a:r>
          </a:p>
          <a:p>
            <a:pPr>
              <a:spcAft>
                <a:spcPts val="600"/>
              </a:spcAft>
              <a:buSzPct val="100000"/>
            </a:pPr>
            <a:r>
              <a:rPr lang="en-US" sz="2200" dirty="0"/>
              <a:t>Position the inner and outer rotor lobes so that they face each other. Measure the clearance between them with a feeler.</a:t>
            </a:r>
          </a:p>
        </p:txBody>
      </p:sp>
    </p:spTree>
    <p:extLst>
      <p:ext uri="{BB962C8B-B14F-4D97-AF65-F5344CB8AC3E}">
        <p14:creationId xmlns:p14="http://schemas.microsoft.com/office/powerpoint/2010/main" val="22067944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Discussion</a:t>
            </a:r>
            <a:endParaRPr/>
          </a:p>
        </p:txBody>
      </p:sp>
      <p:sp>
        <p:nvSpPr>
          <p:cNvPr id="257" name="Google Shape;257;p21"/>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lvl="0" algn="l" rtl="0">
              <a:lnSpc>
                <a:spcPct val="100000"/>
              </a:lnSpc>
              <a:spcAft>
                <a:spcPts val="600"/>
              </a:spcAft>
              <a:buSzPts val="2400"/>
              <a:buChar char="•"/>
            </a:pPr>
            <a:r>
              <a:rPr lang="en-US" dirty="0">
                <a:solidFill>
                  <a:schemeClr val="accent1"/>
                </a:solidFill>
              </a:rPr>
              <a:t>Engine lower end inspection and reassembly include many steps.  </a:t>
            </a:r>
            <a:endParaRPr dirty="0">
              <a:solidFill>
                <a:schemeClr val="accent1"/>
              </a:solidFill>
            </a:endParaRPr>
          </a:p>
          <a:p>
            <a:pPr lvl="0" algn="l" rtl="0">
              <a:lnSpc>
                <a:spcPct val="100000"/>
              </a:lnSpc>
              <a:spcAft>
                <a:spcPts val="600"/>
              </a:spcAft>
              <a:buSzPts val="2400"/>
              <a:buChar char="•"/>
            </a:pPr>
            <a:r>
              <a:rPr lang="en-US" dirty="0">
                <a:solidFill>
                  <a:schemeClr val="accent1"/>
                </a:solidFill>
              </a:rPr>
              <a:t>Have a class discussion about how you would ensure that you do not miss a step or a procedure when reassembling the lower end, and what would happen if you did miss the step or </a:t>
            </a:r>
            <a:r>
              <a:rPr lang="en-US">
                <a:solidFill>
                  <a:schemeClr val="accent1"/>
                </a:solidFill>
              </a:rPr>
              <a:t>procedure.</a:t>
            </a:r>
            <a:endParaRPr lang="en-US" dirty="0">
              <a:solidFill>
                <a:schemeClr val="accent1"/>
              </a:solidFill>
            </a:endParaRPr>
          </a:p>
        </p:txBody>
      </p:sp>
    </p:spTree>
    <p:extLst>
      <p:ext uri="{BB962C8B-B14F-4D97-AF65-F5344CB8AC3E}">
        <p14:creationId xmlns:p14="http://schemas.microsoft.com/office/powerpoint/2010/main" val="337550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Chapter Reflection</a:t>
            </a:r>
            <a:endParaRPr/>
          </a:p>
        </p:txBody>
      </p:sp>
      <p:sp>
        <p:nvSpPr>
          <p:cNvPr id="447" name="Google Shape;447;p4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spcAft>
                <a:spcPts val="600"/>
              </a:spcAft>
              <a:buNone/>
            </a:pPr>
            <a:r>
              <a:rPr lang="en-US" dirty="0">
                <a:solidFill>
                  <a:schemeClr val="accent1"/>
                </a:solidFill>
              </a:rPr>
              <a:t>Please take a moment to compare your perception of the automotive industry before and after you studied this chapter. Then respond to the following questions in one or two paragraphs. Use 150–200 words in your reflection.</a:t>
            </a:r>
            <a:endParaRPr dirty="0">
              <a:solidFill>
                <a:schemeClr val="accent1"/>
              </a:solidFill>
            </a:endParaRPr>
          </a:p>
          <a:p>
            <a:pPr marL="360363" lvl="0" indent="-360363" algn="l" rtl="0">
              <a:lnSpc>
                <a:spcPct val="100000"/>
              </a:lnSpc>
              <a:spcAft>
                <a:spcPts val="600"/>
              </a:spcAft>
              <a:buSzPts val="2800"/>
              <a:buFont typeface="Arial"/>
              <a:buChar char="•"/>
            </a:pPr>
            <a:r>
              <a:rPr lang="en-US" dirty="0">
                <a:solidFill>
                  <a:schemeClr val="accent1"/>
                </a:solidFill>
              </a:rPr>
              <a:t>Did anything in this chapter change your thinking about engine lower end inspection and reassembly.</a:t>
            </a:r>
            <a:endParaRPr dirty="0">
              <a:solidFill>
                <a:schemeClr val="accent1"/>
              </a:solidFill>
            </a:endParaRPr>
          </a:p>
          <a:p>
            <a:pPr marL="360363" lvl="0" indent="-360363" algn="l" rtl="0">
              <a:lnSpc>
                <a:spcPct val="100000"/>
              </a:lnSpc>
              <a:spcAft>
                <a:spcPts val="600"/>
              </a:spcAft>
              <a:buSzPts val="2800"/>
              <a:buFont typeface="Arial"/>
              <a:buChar char="•"/>
            </a:pPr>
            <a:r>
              <a:rPr lang="en-US" dirty="0">
                <a:solidFill>
                  <a:schemeClr val="accent1"/>
                </a:solidFill>
              </a:rPr>
              <a:t>Considering all you have learned, do you feel you prepared to perform the lower end service, if not what will you do to prepare </a:t>
            </a:r>
            <a:r>
              <a:rPr lang="en-US">
                <a:solidFill>
                  <a:schemeClr val="accent1"/>
                </a:solidFill>
              </a:rPr>
              <a:t>yourself?</a:t>
            </a:r>
            <a:endParaRPr dirty="0">
              <a:solidFill>
                <a:schemeClr val="accent1"/>
              </a:solidFil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3891</TotalTime>
  <Words>4827</Words>
  <Application>Microsoft Office PowerPoint</Application>
  <PresentationFormat>Widescreen</PresentationFormat>
  <Paragraphs>271</Paragraphs>
  <Slides>44</Slides>
  <Notes>44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Work Sans</vt:lpstr>
      <vt:lpstr>Calibri</vt:lpstr>
      <vt:lpstr>Optimized Template Master</vt:lpstr>
      <vt:lpstr>Automotive Technology:  A Systems Approach, 8e</vt:lpstr>
      <vt:lpstr>Chapter Objectives (1 of 2)</vt:lpstr>
      <vt:lpstr>Chapter Objectives (2 of 2)</vt:lpstr>
      <vt:lpstr>Short Block Disassembly (1 of 2)</vt:lpstr>
      <vt:lpstr>Short Block Disassembly (2 of 2)</vt:lpstr>
      <vt:lpstr>Cylinder Block Disassembly (1 of 3)</vt:lpstr>
      <vt:lpstr>Cylinder Block Disassembly (2 of 3)</vt:lpstr>
      <vt:lpstr>Cylinder Block Disassembly (3 of 3)</vt:lpstr>
      <vt:lpstr>Cylinder Block (1 of 2)</vt:lpstr>
      <vt:lpstr>Cylinder Block (2 of 2)</vt:lpstr>
      <vt:lpstr>Knowledge Check (1 of 2)</vt:lpstr>
      <vt:lpstr>Knowledge Check Answer (1 of 2)</vt:lpstr>
      <vt:lpstr>Cylinder Block Reconditioning  Deck Flatness</vt:lpstr>
      <vt:lpstr>Cylinder Bore Inspection</vt:lpstr>
      <vt:lpstr>Cylinder Bore Surface Finish</vt:lpstr>
      <vt:lpstr>Installing Core Plugs</vt:lpstr>
      <vt:lpstr>Camshaft Bearings</vt:lpstr>
      <vt:lpstr>Balance Shafts</vt:lpstr>
      <vt:lpstr>Crankshaft</vt:lpstr>
      <vt:lpstr>Flywheel</vt:lpstr>
      <vt:lpstr>Crankshaft Inspection and Rebuilding (1 of 2)</vt:lpstr>
      <vt:lpstr>Crankshaft Inspection and Rebuilding (2 of 2)</vt:lpstr>
      <vt:lpstr>Knowledge Check (2 of 2)</vt:lpstr>
      <vt:lpstr>Knowledge Check Answer (2 of 2)</vt:lpstr>
      <vt:lpstr>Crankshaft Bearings (1 of 2)</vt:lpstr>
      <vt:lpstr>Crankshaft Bearings (2 of 2)</vt:lpstr>
      <vt:lpstr>Installing Main Bearings and Crankshaft (1 of 2)</vt:lpstr>
      <vt:lpstr>Installing Main Bearings and Crankshaft (2 of 2)</vt:lpstr>
      <vt:lpstr>Crankshaft End Play</vt:lpstr>
      <vt:lpstr>Connecting Rod</vt:lpstr>
      <vt:lpstr>Piston and Piston Rings (1 of 3)</vt:lpstr>
      <vt:lpstr>Piston and Piston Rings (2 of 3)</vt:lpstr>
      <vt:lpstr>Piston and Piston Rings (3 of 3)</vt:lpstr>
      <vt:lpstr>Installing Pistons and Connecting Rods</vt:lpstr>
      <vt:lpstr>Timing Components</vt:lpstr>
      <vt:lpstr>Lifters</vt:lpstr>
      <vt:lpstr>Camshaft Bearings </vt:lpstr>
      <vt:lpstr>Camshaft</vt:lpstr>
      <vt:lpstr>Crankshaft and Camshaft Timing</vt:lpstr>
      <vt:lpstr>Balance Shafts </vt:lpstr>
      <vt:lpstr>Oil Pump Service (1 of 2)</vt:lpstr>
      <vt:lpstr>Oil Pump Service (2 of 2)</vt:lpstr>
      <vt:lpstr>Discussion</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 </dc:title>
  <dc:creator>Owner</dc:creator>
  <cp:lastModifiedBy>Great Minds</cp:lastModifiedBy>
  <cp:revision>114</cp:revision>
  <dcterms:created xsi:type="dcterms:W3CDTF">2021-12-10T16:21:02Z</dcterms:created>
  <dcterms:modified xsi:type="dcterms:W3CDTF">2024-10-22T05:37:13Z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